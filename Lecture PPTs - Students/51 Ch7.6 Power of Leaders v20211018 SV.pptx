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792">
          <p15:clr>
            <a:srgbClr val="A4A3A4"/>
          </p15:clr>
        </p15:guide>
      </p15:sldGuideLst>
    </p:ext>
    <p:ext uri="{2D200454-40CA-4A62-9FC3-DE9A4176ACB9}">
      <p15:notesGuideLst>
        <p15:guide id="1" orient="horz" pos="2928">
          <p15:clr>
            <a:srgbClr val="A4A3A4"/>
          </p15:clr>
        </p15:guide>
        <p15:guide id="2" pos="2209">
          <p15:clr>
            <a:srgbClr val="A4A3A4"/>
          </p15:clr>
        </p15:guide>
      </p15:notesGuideLst>
    </p:ext>
    <p:ext uri="http://customooxmlschemas.google.com/">
      <go:slidesCustomData xmlns:go="http://customooxmlschemas.google.com/" r:id="rId35" roundtripDataSignature="AMtx7mjiZzahosVBL9mcD3d0IjrXuFb6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792"/>
      </p:guideLst>
    </p:cSldViewPr>
  </p:slideViewPr>
  <p:notesViewPr>
    <p:cSldViewPr snapToGrid="0">
      <p:cViewPr varScale="1">
        <p:scale>
          <a:sx n="100" d="100"/>
          <a:sy n="100" d="100"/>
        </p:scale>
        <p:origin x="0" y="0"/>
      </p:cViewPr>
      <p:guideLst>
        <p:guide pos="2928" orient="horz"/>
        <p:guide pos="2209"/>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654" y="1"/>
            <a:ext cx="3037146" cy="464504"/>
          </a:xfrm>
          <a:prstGeom prst="rect">
            <a:avLst/>
          </a:prstGeom>
          <a:noFill/>
          <a:ln>
            <a:noFill/>
          </a:ln>
        </p:spPr>
        <p:txBody>
          <a:bodyPr anchorCtr="0" anchor="t" bIns="46550" lIns="93125" spcFirstLastPara="1" rIns="93125" wrap="square" tIns="465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lvl1pPr indent="-228600" lvl="0" marL="4572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1pPr>
            <a:lvl2pPr indent="-228600" lvl="1" marL="9144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2pPr>
            <a:lvl3pPr indent="-228600" lvl="2" marL="13716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3pPr>
            <a:lvl4pPr indent="-228600" lvl="3" marL="18288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4pPr>
            <a:lvl5pPr indent="-228600" lvl="4" marL="22860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 name="Google Shape;49;p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72" name="Google Shape;72;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81" name="Google Shape;81;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95" name="Google Shape;95;p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10" name="Google Shape;110;p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26" name="Google Shape;126;p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42" name="Google Shape;142;p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67" name="Google Shape;167;p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88" name="Google Shape;188;p1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97" name="Google Shape;197;p1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1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06" name="Google Shape;206;p1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1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15" name="Google Shape;215;p1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24" name="Google Shape;224;p1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34" name="Google Shape;234;p1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55" name="Google Shape;255;p1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1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65" name="Google Shape;265;p1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74" name="Google Shape;274;p2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2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98" name="Google Shape;298;p2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2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07" name="Google Shape;307;p2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2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There is a chain of command in every organization</a:t>
            </a:r>
            <a:endParaRPr/>
          </a:p>
          <a:p>
            <a:pPr indent="0" lvl="0" marL="0" rtl="0" algn="l">
              <a:spcBef>
                <a:spcPts val="300"/>
              </a:spcBef>
              <a:spcAft>
                <a:spcPts val="0"/>
              </a:spcAft>
              <a:buNone/>
            </a:pPr>
            <a:r>
              <a:rPr lang="en-US"/>
              <a:t>Line management is responsible and accountable for managing risk of their activities and their operations not the persons in the functional expertise roles</a:t>
            </a:r>
            <a:endParaRPr/>
          </a:p>
          <a:p>
            <a:pPr indent="0" lvl="0" marL="0" rtl="0" algn="l">
              <a:spcBef>
                <a:spcPts val="300"/>
              </a:spcBef>
              <a:spcAft>
                <a:spcPts val="0"/>
              </a:spcAft>
              <a:buNone/>
            </a:pPr>
            <a:r>
              <a:rPr lang="en-US"/>
              <a:t>The functional experts are responsible for providing input to all levels of line mgmt. and are often shared amongst different levels of operations</a:t>
            </a:r>
            <a:endParaRPr/>
          </a:p>
          <a:p>
            <a:pPr indent="0" lvl="0" marL="0" rtl="0" algn="l">
              <a:spcBef>
                <a:spcPts val="300"/>
              </a:spcBef>
              <a:spcAft>
                <a:spcPts val="0"/>
              </a:spcAft>
              <a:buNone/>
            </a:pPr>
            <a:r>
              <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333" name="Google Shape;333;p2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2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343" name="Google Shape;343;p2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354" name="Google Shape;354;p2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2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364" name="Google Shape;364;p2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78" name="Google Shape;378;p2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2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There is a chain of command in every organization</a:t>
            </a:r>
            <a:endParaRPr/>
          </a:p>
          <a:p>
            <a:pPr indent="0" lvl="0" marL="0" rtl="0" algn="l">
              <a:spcBef>
                <a:spcPts val="300"/>
              </a:spcBef>
              <a:spcAft>
                <a:spcPts val="0"/>
              </a:spcAft>
              <a:buNone/>
            </a:pPr>
            <a:r>
              <a:rPr lang="en-US"/>
              <a:t>Line management is responsible and accountable for managing risk of their activities and their operations not the persons in the functional expertise roles</a:t>
            </a:r>
            <a:endParaRPr/>
          </a:p>
          <a:p>
            <a:pPr indent="0" lvl="0" marL="0" rtl="0" algn="l">
              <a:spcBef>
                <a:spcPts val="300"/>
              </a:spcBef>
              <a:spcAft>
                <a:spcPts val="0"/>
              </a:spcAft>
              <a:buNone/>
            </a:pPr>
            <a:r>
              <a:rPr lang="en-US"/>
              <a:t>The functional experts are responsible for providing input to all levels of line mgmt. and are often shared amongst different levels of operations</a:t>
            </a:r>
            <a:endParaRPr/>
          </a:p>
          <a:p>
            <a:pPr indent="0" lvl="0" marL="0" rtl="0" algn="l">
              <a:spcBef>
                <a:spcPts val="300"/>
              </a:spcBef>
              <a:spcAft>
                <a:spcPts val="0"/>
              </a:spcAft>
              <a:buNone/>
            </a:pPr>
            <a:r>
              <a:t/>
            </a: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403" name="Google Shape;403;p3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3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415" name="Google Shape;415;p3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3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425" name="Google Shape;425;p3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3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34" name="Google Shape;434;p3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3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35"/>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35"/>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9" name="Google Shape;19;p3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20" name="Google Shape;20;p3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i="0" sz="1800" u="none" cap="none" strike="noStrike">
                <a:solidFill>
                  <a:schemeClr val="dk1"/>
                </a:solidFill>
                <a:latin typeface="Arial"/>
                <a:ea typeface="Arial"/>
                <a:cs typeface="Arial"/>
                <a:sym typeface="Arial"/>
              </a:defRPr>
            </a:lvl1pPr>
            <a:lvl2pPr indent="0" lvl="1" marL="0" marR="0" rtl="0" algn="l">
              <a:spcBef>
                <a:spcPts val="0"/>
              </a:spcBef>
              <a:spcAft>
                <a:spcPts val="0"/>
              </a:spcAft>
              <a:buNone/>
              <a:defRPr b="1" i="0" sz="1800" u="none" cap="none" strike="noStrike">
                <a:solidFill>
                  <a:schemeClr val="dk1"/>
                </a:solidFill>
                <a:latin typeface="Arial"/>
                <a:ea typeface="Arial"/>
                <a:cs typeface="Arial"/>
                <a:sym typeface="Arial"/>
              </a:defRPr>
            </a:lvl2pPr>
            <a:lvl3pPr indent="0" lvl="2" marL="0" marR="0" rtl="0" algn="l">
              <a:spcBef>
                <a:spcPts val="0"/>
              </a:spcBef>
              <a:spcAft>
                <a:spcPts val="0"/>
              </a:spcAft>
              <a:buNone/>
              <a:defRPr b="1" i="0" sz="1800" u="none" cap="none" strike="noStrike">
                <a:solidFill>
                  <a:schemeClr val="dk1"/>
                </a:solidFill>
                <a:latin typeface="Arial"/>
                <a:ea typeface="Arial"/>
                <a:cs typeface="Arial"/>
                <a:sym typeface="Arial"/>
              </a:defRPr>
            </a:lvl3pPr>
            <a:lvl4pPr indent="0" lvl="3" marL="0" marR="0" rtl="0" algn="l">
              <a:spcBef>
                <a:spcPts val="0"/>
              </a:spcBef>
              <a:spcAft>
                <a:spcPts val="0"/>
              </a:spcAft>
              <a:buNone/>
              <a:defRPr b="1" i="0" sz="1800" u="none" cap="none" strike="noStrike">
                <a:solidFill>
                  <a:schemeClr val="dk1"/>
                </a:solidFill>
                <a:latin typeface="Arial"/>
                <a:ea typeface="Arial"/>
                <a:cs typeface="Arial"/>
                <a:sym typeface="Arial"/>
              </a:defRPr>
            </a:lvl4pPr>
            <a:lvl5pPr indent="0" lvl="4" marL="0" marR="0" rtl="0" algn="l">
              <a:spcBef>
                <a:spcPts val="0"/>
              </a:spcBef>
              <a:spcAft>
                <a:spcPts val="0"/>
              </a:spcAft>
              <a:buNone/>
              <a:defRPr b="1" i="0" sz="1800" u="none" cap="none" strike="noStrike">
                <a:solidFill>
                  <a:schemeClr val="dk1"/>
                </a:solidFill>
                <a:latin typeface="Arial"/>
                <a:ea typeface="Arial"/>
                <a:cs typeface="Arial"/>
                <a:sym typeface="Arial"/>
              </a:defRPr>
            </a:lvl5pPr>
            <a:lvl6pPr indent="0" lvl="5" marL="0" marR="0" rtl="0" algn="l">
              <a:spcBef>
                <a:spcPts val="0"/>
              </a:spcBef>
              <a:spcAft>
                <a:spcPts val="0"/>
              </a:spcAft>
              <a:buNone/>
              <a:defRPr b="1" i="0" sz="1800" u="none" cap="none" strike="noStrike">
                <a:solidFill>
                  <a:schemeClr val="dk1"/>
                </a:solidFill>
                <a:latin typeface="Arial"/>
                <a:ea typeface="Arial"/>
                <a:cs typeface="Arial"/>
                <a:sym typeface="Arial"/>
              </a:defRPr>
            </a:lvl6pPr>
            <a:lvl7pPr indent="0" lvl="6" marL="0" marR="0" rtl="0" algn="l">
              <a:spcBef>
                <a:spcPts val="0"/>
              </a:spcBef>
              <a:spcAft>
                <a:spcPts val="0"/>
              </a:spcAft>
              <a:buNone/>
              <a:defRPr b="1" i="0" sz="1800" u="none" cap="none" strike="noStrike">
                <a:solidFill>
                  <a:schemeClr val="dk1"/>
                </a:solidFill>
                <a:latin typeface="Arial"/>
                <a:ea typeface="Arial"/>
                <a:cs typeface="Arial"/>
                <a:sym typeface="Arial"/>
              </a:defRPr>
            </a:lvl7pPr>
            <a:lvl8pPr indent="0" lvl="7" marL="0" marR="0" rtl="0" algn="l">
              <a:spcBef>
                <a:spcPts val="0"/>
              </a:spcBef>
              <a:spcAft>
                <a:spcPts val="0"/>
              </a:spcAft>
              <a:buNone/>
              <a:defRPr b="1" i="0" sz="1800" u="none" cap="none" strike="noStrike">
                <a:solidFill>
                  <a:schemeClr val="dk1"/>
                </a:solidFill>
                <a:latin typeface="Arial"/>
                <a:ea typeface="Arial"/>
                <a:cs typeface="Arial"/>
                <a:sym typeface="Arial"/>
              </a:defRPr>
            </a:lvl8pPr>
            <a:lvl9pPr indent="0" lvl="8" marL="0" marR="0" rtl="0" algn="l">
              <a:spcBef>
                <a:spcPts val="0"/>
              </a:spcBef>
              <a:spcAft>
                <a:spcPts val="0"/>
              </a:spcAft>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9"/>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9"/>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40"/>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40"/>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40"/>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3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5" name="Google Shape;35;p3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6" name="Google Shape;36;p3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41"/>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41"/>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42"/>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42"/>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43" name="Shape 43"/>
        <p:cNvGrpSpPr/>
        <p:nvPr/>
      </p:nvGrpSpPr>
      <p:grpSpPr>
        <a:xfrm>
          <a:off x="0" y="0"/>
          <a:ext cx="0" cy="0"/>
          <a:chOff x="0" y="0"/>
          <a:chExt cx="0" cy="0"/>
        </a:xfrm>
      </p:grpSpPr>
      <p:sp>
        <p:nvSpPr>
          <p:cNvPr id="44" name="Google Shape;44;p43"/>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43"/>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46" name="Google Shape;46;p43"/>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11" name="Google Shape;11;p34"/>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34"/>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34"/>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 name="Shape 28"/>
        <p:cNvGrpSpPr/>
        <p:nvPr/>
      </p:nvGrpSpPr>
      <p:grpSpPr>
        <a:xfrm>
          <a:off x="0" y="0"/>
          <a:ext cx="0" cy="0"/>
          <a:chOff x="0" y="0"/>
          <a:chExt cx="0" cy="0"/>
        </a:xfrm>
      </p:grpSpPr>
      <p:sp>
        <p:nvSpPr>
          <p:cNvPr id="29" name="Google Shape;29;p37"/>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30" name="Google Shape;30;p37"/>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31" name="Google Shape;31;p37"/>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32" name="Google Shape;32;p37"/>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
          <p:cNvSpPr txBox="1"/>
          <p:nvPr/>
        </p:nvSpPr>
        <p:spPr>
          <a:xfrm>
            <a:off x="228600" y="838200"/>
            <a:ext cx="8610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600" u="none" cap="none" strike="noStrike">
                <a:solidFill>
                  <a:srgbClr val="000099"/>
                </a:solidFill>
                <a:latin typeface="Calibri"/>
                <a:ea typeface="Calibri"/>
                <a:cs typeface="Calibri"/>
                <a:sym typeface="Calibri"/>
              </a:rPr>
              <a:t>On Becoming a </a:t>
            </a:r>
            <a:br>
              <a:rPr b="1" i="1" lang="en-US" sz="3600" u="none" cap="none" strike="noStrike">
                <a:solidFill>
                  <a:srgbClr val="000099"/>
                </a:solidFill>
                <a:latin typeface="Calibri"/>
                <a:ea typeface="Calibri"/>
                <a:cs typeface="Calibri"/>
                <a:sym typeface="Calibri"/>
              </a:rPr>
            </a:br>
            <a:r>
              <a:rPr b="1" i="1" lang="en-US" sz="3600" u="none" cap="none" strike="noStrike">
                <a:solidFill>
                  <a:srgbClr val="000099"/>
                </a:solidFill>
                <a:latin typeface="Calibri"/>
                <a:ea typeface="Calibri"/>
                <a:cs typeface="Calibri"/>
                <a:sym typeface="Calibri"/>
              </a:rPr>
              <a:t>Leader in Risk Management</a:t>
            </a:r>
            <a:endParaRPr b="1" i="1" sz="3600" u="none" cap="none" strike="noStrike">
              <a:solidFill>
                <a:srgbClr val="000099"/>
              </a:solidFill>
              <a:latin typeface="Calibri"/>
              <a:ea typeface="Calibri"/>
              <a:cs typeface="Calibri"/>
              <a:sym typeface="Calibri"/>
            </a:endParaRPr>
          </a:p>
        </p:txBody>
      </p:sp>
      <p:sp>
        <p:nvSpPr>
          <p:cNvPr id="52" name="Google Shape;52;p1"/>
          <p:cNvSpPr txBox="1"/>
          <p:nvPr>
            <p:ph idx="1" type="subTitle"/>
          </p:nvPr>
        </p:nvSpPr>
        <p:spPr>
          <a:xfrm>
            <a:off x="838200" y="2105520"/>
            <a:ext cx="7315201" cy="2161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ENGG404 – Lecture</a:t>
            </a:r>
            <a:endParaRPr/>
          </a:p>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Chapter 7.6 The Power of Leaders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to Influence Behaviour</a:t>
            </a:r>
            <a:endParaRPr/>
          </a:p>
        </p:txBody>
      </p:sp>
      <p:sp>
        <p:nvSpPr>
          <p:cNvPr id="53" name="Google Shape;53;p1"/>
          <p:cNvSpPr txBox="1"/>
          <p:nvPr/>
        </p:nvSpPr>
        <p:spPr>
          <a:xfrm>
            <a:off x="152402" y="176015"/>
            <a:ext cx="1176817"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Fundamentals of RM</a:t>
            </a:r>
            <a:endParaRPr/>
          </a:p>
        </p:txBody>
      </p:sp>
      <p:sp>
        <p:nvSpPr>
          <p:cNvPr id="54" name="Google Shape;54;p1"/>
          <p:cNvSpPr txBox="1"/>
          <p:nvPr/>
        </p:nvSpPr>
        <p:spPr>
          <a:xfrm>
            <a:off x="1481037"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System and Process</a:t>
            </a:r>
            <a:endParaRPr/>
          </a:p>
        </p:txBody>
      </p:sp>
      <p:sp>
        <p:nvSpPr>
          <p:cNvPr id="55" name="Google Shape;55;p1"/>
          <p:cNvSpPr txBox="1"/>
          <p:nvPr/>
        </p:nvSpPr>
        <p:spPr>
          <a:xfrm>
            <a:off x="7874130" y="169908"/>
            <a:ext cx="1155550"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Application and Perspectives</a:t>
            </a:r>
            <a:endParaRPr/>
          </a:p>
        </p:txBody>
      </p:sp>
      <p:sp>
        <p:nvSpPr>
          <p:cNvPr id="56" name="Google Shape;56;p1"/>
          <p:cNvSpPr txBox="1"/>
          <p:nvPr/>
        </p:nvSpPr>
        <p:spPr>
          <a:xfrm>
            <a:off x="7051217" y="169908"/>
            <a:ext cx="671096"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People &amp; Org.</a:t>
            </a:r>
            <a:endParaRPr/>
          </a:p>
        </p:txBody>
      </p:sp>
      <p:sp>
        <p:nvSpPr>
          <p:cNvPr id="57" name="Google Shape;57;p1"/>
          <p:cNvSpPr txBox="1"/>
          <p:nvPr/>
        </p:nvSpPr>
        <p:spPr>
          <a:xfrm>
            <a:off x="3834670"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Incident Investigation</a:t>
            </a:r>
            <a:endParaRPr/>
          </a:p>
        </p:txBody>
      </p:sp>
      <p:sp>
        <p:nvSpPr>
          <p:cNvPr id="58" name="Google Shape;58;p1"/>
          <p:cNvSpPr txBox="1"/>
          <p:nvPr/>
        </p:nvSpPr>
        <p:spPr>
          <a:xfrm>
            <a:off x="5011486"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Tools &amp; Challenges</a:t>
            </a:r>
            <a:endParaRPr/>
          </a:p>
        </p:txBody>
      </p:sp>
      <p:sp>
        <p:nvSpPr>
          <p:cNvPr id="59" name="Google Shape;59;p1"/>
          <p:cNvSpPr txBox="1"/>
          <p:nvPr/>
        </p:nvSpPr>
        <p:spPr>
          <a:xfrm>
            <a:off x="2657853" y="170432"/>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Leadership in RM</a:t>
            </a:r>
            <a:endParaRPr/>
          </a:p>
        </p:txBody>
      </p:sp>
      <p:cxnSp>
        <p:nvCxnSpPr>
          <p:cNvPr id="60" name="Google Shape;60;p1"/>
          <p:cNvCxnSpPr>
            <a:stCxn id="53" idx="3"/>
            <a:endCxn id="54" idx="1"/>
          </p:cNvCxnSpPr>
          <p:nvPr/>
        </p:nvCxnSpPr>
        <p:spPr>
          <a:xfrm flipH="1" rot="10800000">
            <a:off x="1329219" y="400847"/>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61" name="Google Shape;61;p1"/>
          <p:cNvCxnSpPr>
            <a:stCxn id="54" idx="3"/>
            <a:endCxn id="59" idx="1"/>
          </p:cNvCxnSpPr>
          <p:nvPr/>
        </p:nvCxnSpPr>
        <p:spPr>
          <a:xfrm>
            <a:off x="2506036" y="400740"/>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62" name="Google Shape;62;p1"/>
          <p:cNvCxnSpPr>
            <a:stCxn id="59" idx="3"/>
            <a:endCxn id="57" idx="1"/>
          </p:cNvCxnSpPr>
          <p:nvPr/>
        </p:nvCxnSpPr>
        <p:spPr>
          <a:xfrm flipH="1" rot="10800000">
            <a:off x="3682852" y="400664"/>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63" name="Google Shape;63;p1"/>
          <p:cNvCxnSpPr>
            <a:stCxn id="57" idx="3"/>
            <a:endCxn id="58" idx="1"/>
          </p:cNvCxnSpPr>
          <p:nvPr/>
        </p:nvCxnSpPr>
        <p:spPr>
          <a:xfrm>
            <a:off x="4859669"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64" name="Google Shape;64;p1"/>
          <p:cNvCxnSpPr>
            <a:stCxn id="58" idx="3"/>
          </p:cNvCxnSpPr>
          <p:nvPr/>
        </p:nvCxnSpPr>
        <p:spPr>
          <a:xfrm>
            <a:off x="6036485"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65" name="Google Shape;65;p1"/>
          <p:cNvCxnSpPr>
            <a:endCxn id="56" idx="1"/>
          </p:cNvCxnSpPr>
          <p:nvPr/>
        </p:nvCxnSpPr>
        <p:spPr>
          <a:xfrm>
            <a:off x="6899417"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66" name="Google Shape;66;p1"/>
          <p:cNvCxnSpPr>
            <a:stCxn id="56" idx="3"/>
            <a:endCxn id="55" idx="1"/>
          </p:cNvCxnSpPr>
          <p:nvPr/>
        </p:nvCxnSpPr>
        <p:spPr>
          <a:xfrm>
            <a:off x="7722313" y="400740"/>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67" name="Google Shape;67;p1"/>
          <p:cNvSpPr txBox="1"/>
          <p:nvPr/>
        </p:nvSpPr>
        <p:spPr>
          <a:xfrm>
            <a:off x="6188301" y="169907"/>
            <a:ext cx="692362"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in Industry</a:t>
            </a:r>
            <a:endParaRPr/>
          </a:p>
        </p:txBody>
      </p:sp>
      <p:pic>
        <p:nvPicPr>
          <p:cNvPr id="68" name="Google Shape;68;p1"/>
          <p:cNvPicPr preferRelativeResize="0"/>
          <p:nvPr/>
        </p:nvPicPr>
        <p:blipFill rotWithShape="1">
          <a:blip r:embed="rId3">
            <a:alphaModFix/>
          </a:blip>
          <a:srcRect b="0" l="0" r="0" t="0"/>
          <a:stretch/>
        </p:blipFill>
        <p:spPr>
          <a:xfrm>
            <a:off x="891182" y="4114800"/>
            <a:ext cx="1766671" cy="1766671"/>
          </a:xfrm>
          <a:prstGeom prst="rect">
            <a:avLst/>
          </a:prstGeom>
          <a:noFill/>
          <a:ln>
            <a:noFill/>
          </a:ln>
        </p:spPr>
      </p:pic>
      <p:pic>
        <p:nvPicPr>
          <p:cNvPr descr="Introduction to Sociology - 2013 - The Collaboratory" id="69" name="Google Shape;69;p1"/>
          <p:cNvPicPr preferRelativeResize="0"/>
          <p:nvPr/>
        </p:nvPicPr>
        <p:blipFill rotWithShape="1">
          <a:blip r:embed="rId4">
            <a:alphaModFix/>
          </a:blip>
          <a:srcRect b="0" l="0" r="0" t="0"/>
          <a:stretch/>
        </p:blipFill>
        <p:spPr>
          <a:xfrm>
            <a:off x="6096500" y="4114613"/>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Critique the relationships between you and: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your supervisor,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your peers,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your subordinates.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Recognize challenges in those relationships.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how to and be able to adjust your interpersonal practices to ensure clear and consistent communication of expectations within those relationships. </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76" name="Google Shape;76;p2"/>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Learning Outcomes:</a:t>
            </a:r>
            <a:endParaRPr/>
          </a:p>
        </p:txBody>
      </p:sp>
      <p:sp>
        <p:nvSpPr>
          <p:cNvPr id="77" name="Google Shape;77;p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8" name="Google Shape;78;p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Organizational Culture: </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Leaders must provide an organizational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culture that holds “excellence in safety”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as a value.</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Focus on Behaviours </a:t>
            </a:r>
            <a:endParaRPr/>
          </a:p>
          <a:p>
            <a:pPr indent="-432000"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Focus on behaviours to achieve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desirable outcomes: </a:t>
            </a:r>
            <a:endParaRPr/>
          </a:p>
          <a:p>
            <a:pPr indent="-432000"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Reduces the occurrence of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at-risk behaviours …</a:t>
            </a:r>
            <a:endParaRPr/>
          </a:p>
          <a:p>
            <a:pPr indent="-432000"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Improves safety performance.</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Challenge: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The leader, as an influencer,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is in a position of authority! </a:t>
            </a:r>
            <a:endParaRPr/>
          </a:p>
        </p:txBody>
      </p:sp>
      <p:sp>
        <p:nvSpPr>
          <p:cNvPr id="85" name="Google Shape;85;p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Introduction:</a:t>
            </a:r>
            <a:endParaRPr b="0" i="0" sz="2400" u="none" cap="none" strike="noStrike">
              <a:solidFill>
                <a:schemeClr val="accent2"/>
              </a:solidFill>
              <a:latin typeface="Arial"/>
              <a:ea typeface="Arial"/>
              <a:cs typeface="Arial"/>
              <a:sym typeface="Arial"/>
            </a:endParaRPr>
          </a:p>
        </p:txBody>
      </p:sp>
      <p:sp>
        <p:nvSpPr>
          <p:cNvPr id="86" name="Google Shape;86;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7" name="Google Shape;87;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pic>
        <p:nvPicPr>
          <p:cNvPr id="88" name="Google Shape;88;p3"/>
          <p:cNvPicPr preferRelativeResize="0"/>
          <p:nvPr/>
        </p:nvPicPr>
        <p:blipFill rotWithShape="1">
          <a:blip r:embed="rId3">
            <a:alphaModFix/>
          </a:blip>
          <a:srcRect b="0" l="0" r="0" t="0"/>
          <a:stretch/>
        </p:blipFill>
        <p:spPr>
          <a:xfrm>
            <a:off x="5448241" y="2594861"/>
            <a:ext cx="1805945" cy="1694678"/>
          </a:xfrm>
          <a:prstGeom prst="rect">
            <a:avLst/>
          </a:prstGeom>
          <a:noFill/>
          <a:ln>
            <a:noFill/>
          </a:ln>
        </p:spPr>
      </p:pic>
      <p:pic>
        <p:nvPicPr>
          <p:cNvPr id="89" name="Google Shape;89;p3"/>
          <p:cNvPicPr preferRelativeResize="0"/>
          <p:nvPr/>
        </p:nvPicPr>
        <p:blipFill rotWithShape="1">
          <a:blip r:embed="rId4">
            <a:alphaModFix/>
          </a:blip>
          <a:srcRect b="0" l="0" r="0" t="0"/>
          <a:stretch/>
        </p:blipFill>
        <p:spPr>
          <a:xfrm>
            <a:off x="4436398" y="4724400"/>
            <a:ext cx="1946106" cy="1296000"/>
          </a:xfrm>
          <a:prstGeom prst="rect">
            <a:avLst/>
          </a:prstGeom>
          <a:noFill/>
          <a:ln cap="flat" cmpd="sng" w="9525">
            <a:solidFill>
              <a:schemeClr val="dk1"/>
            </a:solidFill>
            <a:prstDash val="solid"/>
            <a:round/>
            <a:headEnd len="sm" w="sm" type="none"/>
            <a:tailEnd len="sm" w="sm" type="none"/>
          </a:ln>
        </p:spPr>
      </p:pic>
      <p:pic>
        <p:nvPicPr>
          <p:cNvPr id="90" name="Google Shape;90;p3"/>
          <p:cNvPicPr preferRelativeResize="0"/>
          <p:nvPr/>
        </p:nvPicPr>
        <p:blipFill rotWithShape="1">
          <a:blip r:embed="rId5">
            <a:alphaModFix/>
          </a:blip>
          <a:srcRect b="0" l="0" r="0" t="0"/>
          <a:stretch/>
        </p:blipFill>
        <p:spPr>
          <a:xfrm>
            <a:off x="6566559" y="4724400"/>
            <a:ext cx="2044041" cy="1296000"/>
          </a:xfrm>
          <a:prstGeom prst="rect">
            <a:avLst/>
          </a:prstGeom>
          <a:noFill/>
          <a:ln cap="flat" cmpd="sng" w="9525">
            <a:solidFill>
              <a:schemeClr val="dk1"/>
            </a:solidFill>
            <a:prstDash val="solid"/>
            <a:round/>
            <a:headEnd len="sm" w="sm" type="none"/>
            <a:tailEnd len="sm" w="sm" type="none"/>
          </a:ln>
        </p:spPr>
      </p:pic>
      <p:pic>
        <p:nvPicPr>
          <p:cNvPr id="91" name="Google Shape;91;p3"/>
          <p:cNvPicPr preferRelativeResize="0"/>
          <p:nvPr/>
        </p:nvPicPr>
        <p:blipFill rotWithShape="1">
          <a:blip r:embed="rId6">
            <a:alphaModFix/>
          </a:blip>
          <a:srcRect b="0" l="0" r="0" t="0"/>
          <a:stretch/>
        </p:blipFill>
        <p:spPr>
          <a:xfrm>
            <a:off x="5473225" y="864000"/>
            <a:ext cx="1725614" cy="1296000"/>
          </a:xfrm>
          <a:prstGeom prst="rect">
            <a:avLst/>
          </a:prstGeom>
          <a:noFill/>
          <a:ln>
            <a:noFill/>
          </a:ln>
        </p:spPr>
      </p:pic>
      <p:pic>
        <p:nvPicPr>
          <p:cNvPr id="92" name="Google Shape;92;p3"/>
          <p:cNvPicPr preferRelativeResize="0"/>
          <p:nvPr/>
        </p:nvPicPr>
        <p:blipFill rotWithShape="1">
          <a:blip r:embed="rId7">
            <a:alphaModFix/>
          </a:blip>
          <a:srcRect b="0" l="0" r="0" t="0"/>
          <a:stretch/>
        </p:blipFill>
        <p:spPr>
          <a:xfrm>
            <a:off x="7302903" y="864000"/>
            <a:ext cx="1331716" cy="1296000"/>
          </a:xfrm>
          <a:prstGeom prst="rect">
            <a:avLst/>
          </a:prstGeom>
          <a:noFill/>
          <a:ln>
            <a:noFill/>
          </a:ln>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The Key Finding from the Milgram Experiments:</a:t>
            </a:r>
            <a:endParaRPr/>
          </a:p>
        </p:txBody>
      </p:sp>
      <p:sp>
        <p:nvSpPr>
          <p:cNvPr id="99" name="Google Shape;99;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00" name="Google Shape;100;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grpSp>
        <p:nvGrpSpPr>
          <p:cNvPr id="101" name="Google Shape;101;p4"/>
          <p:cNvGrpSpPr/>
          <p:nvPr/>
        </p:nvGrpSpPr>
        <p:grpSpPr>
          <a:xfrm>
            <a:off x="590550" y="1219200"/>
            <a:ext cx="2838450" cy="4667250"/>
            <a:chOff x="1968" y="816"/>
            <a:chExt cx="1788" cy="2940"/>
          </a:xfrm>
        </p:grpSpPr>
        <p:sp>
          <p:nvSpPr>
            <p:cNvPr id="102" name="Google Shape;102;p4"/>
            <p:cNvSpPr txBox="1"/>
            <p:nvPr/>
          </p:nvSpPr>
          <p:spPr>
            <a:xfrm>
              <a:off x="2216" y="816"/>
              <a:ext cx="1288" cy="366"/>
            </a:xfrm>
            <a:prstGeom prst="rect">
              <a:avLst/>
            </a:prstGeom>
            <a:solidFill>
              <a:srgbClr val="009900"/>
            </a:solidFill>
            <a:ln>
              <a:noFill/>
            </a:ln>
            <a:effectLst>
              <a:outerShdw rotWithShape="0" algn="ctr" dir="2700000" dist="107763">
                <a:srgbClr val="808080">
                  <a:alpha val="49803"/>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1" i="0" lang="en-US" sz="1600" u="none" cap="none" strike="noStrike">
                  <a:solidFill>
                    <a:srgbClr val="FFFFFF"/>
                  </a:solidFill>
                  <a:latin typeface="Arial"/>
                  <a:ea typeface="Arial"/>
                  <a:cs typeface="Arial"/>
                  <a:sym typeface="Arial"/>
                </a:rPr>
                <a:t>“Please continue”</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(the unseen voice)</a:t>
              </a:r>
              <a:endParaRPr/>
            </a:p>
          </p:txBody>
        </p:sp>
        <p:sp>
          <p:nvSpPr>
            <p:cNvPr id="103" name="Google Shape;103;p4"/>
            <p:cNvSpPr txBox="1"/>
            <p:nvPr/>
          </p:nvSpPr>
          <p:spPr>
            <a:xfrm>
              <a:off x="2256" y="1920"/>
              <a:ext cx="1211" cy="366"/>
            </a:xfrm>
            <a:prstGeom prst="rect">
              <a:avLst/>
            </a:prstGeom>
            <a:solidFill>
              <a:srgbClr val="009900"/>
            </a:solidFill>
            <a:ln>
              <a:noFill/>
            </a:ln>
            <a:effectLst>
              <a:outerShdw rotWithShape="0" algn="ctr" dir="2700000" dist="107763">
                <a:srgbClr val="808080">
                  <a:alpha val="49803"/>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1" i="0" lang="en-US" sz="1600" u="none" cap="none" strike="noStrike">
                  <a:solidFill>
                    <a:srgbClr val="FFFFFF"/>
                  </a:solidFill>
                  <a:latin typeface="Arial"/>
                  <a:ea typeface="Arial"/>
                  <a:cs typeface="Arial"/>
                  <a:sym typeface="Arial"/>
                </a:rPr>
                <a:t>The Questioner / </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Punisher</a:t>
              </a:r>
              <a:endParaRPr/>
            </a:p>
          </p:txBody>
        </p:sp>
        <p:sp>
          <p:nvSpPr>
            <p:cNvPr id="104" name="Google Shape;104;p4"/>
            <p:cNvSpPr txBox="1"/>
            <p:nvPr/>
          </p:nvSpPr>
          <p:spPr>
            <a:xfrm>
              <a:off x="1968" y="3082"/>
              <a:ext cx="1788" cy="674"/>
            </a:xfrm>
            <a:prstGeom prst="rect">
              <a:avLst/>
            </a:prstGeom>
            <a:solidFill>
              <a:srgbClr val="009900"/>
            </a:solidFill>
            <a:ln>
              <a:noFill/>
            </a:ln>
            <a:effectLst>
              <a:outerShdw rotWithShape="0" algn="ctr" dir="2700000" dist="107763">
                <a:srgbClr val="808080">
                  <a:alpha val="49803"/>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1" i="0" lang="en-US" sz="1600" u="none" cap="none" strike="noStrike">
                  <a:solidFill>
                    <a:srgbClr val="FFFFFF"/>
                  </a:solidFill>
                  <a:latin typeface="Arial"/>
                  <a:ea typeface="Arial"/>
                  <a:cs typeface="Arial"/>
                  <a:sym typeface="Arial"/>
                </a:rPr>
                <a:t>Responder</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(inside the booth, </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giving staged answers and </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getting “staged” shocks)</a:t>
              </a:r>
              <a:endParaRPr/>
            </a:p>
          </p:txBody>
        </p:sp>
        <p:cxnSp>
          <p:nvCxnSpPr>
            <p:cNvPr id="105" name="Google Shape;105;p4"/>
            <p:cNvCxnSpPr>
              <a:stCxn id="103" idx="2"/>
              <a:endCxn id="104" idx="0"/>
            </p:cNvCxnSpPr>
            <p:nvPr/>
          </p:nvCxnSpPr>
          <p:spPr>
            <a:xfrm>
              <a:off x="2862" y="2286"/>
              <a:ext cx="0" cy="900"/>
            </a:xfrm>
            <a:prstGeom prst="straightConnector1">
              <a:avLst/>
            </a:prstGeom>
            <a:noFill/>
            <a:ln cap="flat" cmpd="sng" w="25400">
              <a:solidFill>
                <a:srgbClr val="000000"/>
              </a:solidFill>
              <a:prstDash val="solid"/>
              <a:round/>
              <a:headEnd len="med" w="med" type="none"/>
              <a:tailEnd len="med" w="med" type="none"/>
            </a:ln>
          </p:spPr>
        </p:cxnSp>
        <p:cxnSp>
          <p:nvCxnSpPr>
            <p:cNvPr id="106" name="Google Shape;106;p4"/>
            <p:cNvCxnSpPr>
              <a:stCxn id="102" idx="2"/>
              <a:endCxn id="103" idx="0"/>
            </p:cNvCxnSpPr>
            <p:nvPr/>
          </p:nvCxnSpPr>
          <p:spPr>
            <a:xfrm>
              <a:off x="2860" y="1182"/>
              <a:ext cx="0" cy="600"/>
            </a:xfrm>
            <a:prstGeom prst="straightConnector1">
              <a:avLst/>
            </a:prstGeom>
            <a:noFill/>
            <a:ln cap="flat" cmpd="sng" w="25400">
              <a:solidFill>
                <a:srgbClr val="000000"/>
              </a:solidFill>
              <a:prstDash val="solid"/>
              <a:round/>
              <a:headEnd len="med" w="med" type="none"/>
              <a:tailEnd len="med" w="med" type="none"/>
            </a:ln>
          </p:spPr>
        </p:cxnSp>
      </p:grpSp>
      <p:pic>
        <p:nvPicPr>
          <p:cNvPr id="107" name="Google Shape;107;p4"/>
          <p:cNvPicPr preferRelativeResize="0"/>
          <p:nvPr/>
        </p:nvPicPr>
        <p:blipFill rotWithShape="1">
          <a:blip r:embed="rId3">
            <a:alphaModFix/>
          </a:blip>
          <a:srcRect b="0" l="0" r="0" t="0"/>
          <a:stretch/>
        </p:blipFill>
        <p:spPr>
          <a:xfrm>
            <a:off x="4247451" y="2983992"/>
            <a:ext cx="3852549" cy="2939163"/>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The Key Finding from the Milgram Experiments:</a:t>
            </a:r>
            <a:endParaRPr/>
          </a:p>
        </p:txBody>
      </p:sp>
      <p:sp>
        <p:nvSpPr>
          <p:cNvPr id="114" name="Google Shape;114;p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15" name="Google Shape;115;p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grpSp>
        <p:nvGrpSpPr>
          <p:cNvPr id="116" name="Google Shape;116;p6"/>
          <p:cNvGrpSpPr/>
          <p:nvPr/>
        </p:nvGrpSpPr>
        <p:grpSpPr>
          <a:xfrm>
            <a:off x="590550" y="1219200"/>
            <a:ext cx="2838450" cy="4667250"/>
            <a:chOff x="1968" y="816"/>
            <a:chExt cx="1788" cy="2940"/>
          </a:xfrm>
        </p:grpSpPr>
        <p:sp>
          <p:nvSpPr>
            <p:cNvPr id="117" name="Google Shape;117;p6"/>
            <p:cNvSpPr txBox="1"/>
            <p:nvPr/>
          </p:nvSpPr>
          <p:spPr>
            <a:xfrm>
              <a:off x="2216" y="816"/>
              <a:ext cx="1288" cy="366"/>
            </a:xfrm>
            <a:prstGeom prst="rect">
              <a:avLst/>
            </a:prstGeom>
            <a:solidFill>
              <a:srgbClr val="009900"/>
            </a:solidFill>
            <a:ln>
              <a:noFill/>
            </a:ln>
            <a:effectLst>
              <a:outerShdw rotWithShape="0" algn="ctr" dir="2700000" dist="107763">
                <a:srgbClr val="808080">
                  <a:alpha val="49803"/>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1" i="0" lang="en-US" sz="1600" u="none" cap="none" strike="noStrike">
                  <a:solidFill>
                    <a:srgbClr val="FFFFFF"/>
                  </a:solidFill>
                  <a:latin typeface="Arial"/>
                  <a:ea typeface="Arial"/>
                  <a:cs typeface="Arial"/>
                  <a:sym typeface="Arial"/>
                </a:rPr>
                <a:t>“Please continue”</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(the unseen voice)</a:t>
              </a:r>
              <a:endParaRPr/>
            </a:p>
          </p:txBody>
        </p:sp>
        <p:sp>
          <p:nvSpPr>
            <p:cNvPr id="118" name="Google Shape;118;p6"/>
            <p:cNvSpPr txBox="1"/>
            <p:nvPr/>
          </p:nvSpPr>
          <p:spPr>
            <a:xfrm>
              <a:off x="2256" y="1920"/>
              <a:ext cx="1211" cy="366"/>
            </a:xfrm>
            <a:prstGeom prst="rect">
              <a:avLst/>
            </a:prstGeom>
            <a:solidFill>
              <a:srgbClr val="009900"/>
            </a:solidFill>
            <a:ln>
              <a:noFill/>
            </a:ln>
            <a:effectLst>
              <a:outerShdw rotWithShape="0" algn="ctr" dir="2700000" dist="107763">
                <a:srgbClr val="808080">
                  <a:alpha val="49803"/>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1" i="0" lang="en-US" sz="1600" u="none" cap="none" strike="noStrike">
                  <a:solidFill>
                    <a:srgbClr val="FFFFFF"/>
                  </a:solidFill>
                  <a:latin typeface="Arial"/>
                  <a:ea typeface="Arial"/>
                  <a:cs typeface="Arial"/>
                  <a:sym typeface="Arial"/>
                </a:rPr>
                <a:t>The Questioner / </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Punisher</a:t>
              </a:r>
              <a:endParaRPr/>
            </a:p>
          </p:txBody>
        </p:sp>
        <p:sp>
          <p:nvSpPr>
            <p:cNvPr id="119" name="Google Shape;119;p6"/>
            <p:cNvSpPr txBox="1"/>
            <p:nvPr/>
          </p:nvSpPr>
          <p:spPr>
            <a:xfrm>
              <a:off x="1968" y="3082"/>
              <a:ext cx="1788" cy="674"/>
            </a:xfrm>
            <a:prstGeom prst="rect">
              <a:avLst/>
            </a:prstGeom>
            <a:solidFill>
              <a:srgbClr val="009900"/>
            </a:solidFill>
            <a:ln>
              <a:noFill/>
            </a:ln>
            <a:effectLst>
              <a:outerShdw rotWithShape="0" algn="ctr" dir="2700000" dist="107763">
                <a:srgbClr val="808080">
                  <a:alpha val="49803"/>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1" i="0" lang="en-US" sz="1600" u="none" cap="none" strike="noStrike">
                  <a:solidFill>
                    <a:srgbClr val="FFFFFF"/>
                  </a:solidFill>
                  <a:latin typeface="Arial"/>
                  <a:ea typeface="Arial"/>
                  <a:cs typeface="Arial"/>
                  <a:sym typeface="Arial"/>
                </a:rPr>
                <a:t>Responder</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(inside the booth, </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giving staged answers and </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getting “staged” shocks)</a:t>
              </a:r>
              <a:endParaRPr/>
            </a:p>
          </p:txBody>
        </p:sp>
        <p:cxnSp>
          <p:nvCxnSpPr>
            <p:cNvPr id="120" name="Google Shape;120;p6"/>
            <p:cNvCxnSpPr>
              <a:stCxn id="118" idx="2"/>
              <a:endCxn id="119" idx="0"/>
            </p:cNvCxnSpPr>
            <p:nvPr/>
          </p:nvCxnSpPr>
          <p:spPr>
            <a:xfrm>
              <a:off x="2862" y="2286"/>
              <a:ext cx="0" cy="900"/>
            </a:xfrm>
            <a:prstGeom prst="straightConnector1">
              <a:avLst/>
            </a:prstGeom>
            <a:noFill/>
            <a:ln cap="flat" cmpd="sng" w="25400">
              <a:solidFill>
                <a:srgbClr val="000000"/>
              </a:solidFill>
              <a:prstDash val="solid"/>
              <a:round/>
              <a:headEnd len="med" w="med" type="none"/>
              <a:tailEnd len="med" w="med" type="none"/>
            </a:ln>
          </p:spPr>
        </p:cxnSp>
        <p:cxnSp>
          <p:nvCxnSpPr>
            <p:cNvPr id="121" name="Google Shape;121;p6"/>
            <p:cNvCxnSpPr>
              <a:stCxn id="117" idx="2"/>
              <a:endCxn id="118" idx="0"/>
            </p:cNvCxnSpPr>
            <p:nvPr/>
          </p:nvCxnSpPr>
          <p:spPr>
            <a:xfrm>
              <a:off x="2860" y="1182"/>
              <a:ext cx="0" cy="600"/>
            </a:xfrm>
            <a:prstGeom prst="straightConnector1">
              <a:avLst/>
            </a:prstGeom>
            <a:noFill/>
            <a:ln cap="flat" cmpd="sng" w="25400">
              <a:solidFill>
                <a:srgbClr val="000000"/>
              </a:solidFill>
              <a:prstDash val="solid"/>
              <a:round/>
              <a:headEnd len="med" w="med" type="none"/>
              <a:tailEnd len="med" w="med" type="none"/>
            </a:ln>
          </p:spPr>
        </p:cxnSp>
      </p:grpSp>
      <p:sp>
        <p:nvSpPr>
          <p:cNvPr id="122" name="Google Shape;122;p6"/>
          <p:cNvSpPr txBox="1"/>
          <p:nvPr/>
        </p:nvSpPr>
        <p:spPr>
          <a:xfrm>
            <a:off x="3557586" y="3243072"/>
            <a:ext cx="5053013" cy="2865119"/>
          </a:xfrm>
          <a:prstGeom prst="rect">
            <a:avLst/>
          </a:prstGeom>
          <a:solidFill>
            <a:srgbClr val="000000"/>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00"/>
              </a:buClr>
              <a:buSzPts val="2000"/>
              <a:buFont typeface="Noto Sans Symbols"/>
              <a:buNone/>
            </a:pPr>
            <a:r>
              <a:rPr b="1" i="0" lang="en-US" sz="2000" u="none" cap="none" strike="noStrike">
                <a:solidFill>
                  <a:schemeClr val="lt1"/>
                </a:solidFill>
                <a:latin typeface="Arial"/>
                <a:ea typeface="Arial"/>
                <a:cs typeface="Arial"/>
                <a:sym typeface="Arial"/>
              </a:rPr>
              <a:t>Position of Authority:</a:t>
            </a:r>
            <a:endParaRPr/>
          </a:p>
          <a:p>
            <a:pPr indent="-360000" lvl="0" marL="360000" marR="0" rtl="0" algn="l">
              <a:lnSpc>
                <a:spcPct val="90000"/>
              </a:lnSpc>
              <a:spcBef>
                <a:spcPts val="0"/>
              </a:spcBef>
              <a:spcAft>
                <a:spcPts val="0"/>
              </a:spcAft>
              <a:buClr>
                <a:schemeClr val="lt1"/>
              </a:buClr>
              <a:buSzPts val="2000"/>
              <a:buFont typeface="Noto Sans Symbols"/>
              <a:buChar char="⮚"/>
            </a:pPr>
            <a:r>
              <a:rPr b="1" i="0" lang="en-US" sz="2000" u="none" cap="none" strike="noStrike">
                <a:solidFill>
                  <a:schemeClr val="lt1"/>
                </a:solidFill>
                <a:latin typeface="Arial"/>
                <a:ea typeface="Arial"/>
                <a:cs typeface="Arial"/>
                <a:sym typeface="Arial"/>
              </a:rPr>
              <a:t>In the context of the model of the Line Management so typical for almost every organization, what is the one main finding (conclusion) that we can draw from The Milgram Experiment?</a:t>
            </a:r>
            <a:endParaRPr/>
          </a:p>
        </p:txBody>
      </p:sp>
      <p:sp>
        <p:nvSpPr>
          <p:cNvPr id="123" name="Google Shape;123;p6"/>
          <p:cNvSpPr txBox="1"/>
          <p:nvPr/>
        </p:nvSpPr>
        <p:spPr>
          <a:xfrm>
            <a:off x="3557586" y="826008"/>
            <a:ext cx="5053014" cy="2310192"/>
          </a:xfrm>
          <a:prstGeom prst="rect">
            <a:avLst/>
          </a:prstGeom>
          <a:solidFill>
            <a:schemeClr val="lt1">
              <a:alpha val="69803"/>
            </a:schemeClr>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rmAutofit lnSpcReduction="10000"/>
          </a:bodyPr>
          <a:lstStyle/>
          <a:p>
            <a:pPr indent="-228600" lvl="0" marL="228600" marR="0" rtl="0" algn="l">
              <a:lnSpc>
                <a:spcPct val="90000"/>
              </a:lnSpc>
              <a:spcBef>
                <a:spcPts val="0"/>
              </a:spcBef>
              <a:spcAft>
                <a:spcPts val="0"/>
              </a:spcAft>
              <a:buClr>
                <a:srgbClr val="000000"/>
              </a:buClr>
              <a:buSzPts val="1400"/>
              <a:buFont typeface="Noto Sans Symbols"/>
              <a:buNone/>
            </a:pPr>
            <a:r>
              <a:rPr b="1" i="0" lang="en-US" sz="1400" u="none" cap="none" strike="noStrike">
                <a:solidFill>
                  <a:srgbClr val="1C1C1C"/>
                </a:solidFill>
                <a:latin typeface="Arial"/>
                <a:ea typeface="Arial"/>
                <a:cs typeface="Arial"/>
                <a:sym typeface="Arial"/>
              </a:rPr>
              <a:t>Position of Authority:</a:t>
            </a:r>
            <a:endParaRPr/>
          </a:p>
          <a:p>
            <a:pPr indent="-228600" lvl="0" marL="228600" marR="0" rtl="0" algn="l">
              <a:lnSpc>
                <a:spcPct val="90000"/>
              </a:lnSpc>
              <a:spcBef>
                <a:spcPts val="1000"/>
              </a:spcBef>
              <a:spcAft>
                <a:spcPts val="0"/>
              </a:spcAft>
              <a:buClr>
                <a:srgbClr val="000000"/>
              </a:buClr>
              <a:buSzPts val="1400"/>
              <a:buFont typeface="Noto Sans Symbols"/>
              <a:buChar char="⮚"/>
            </a:pPr>
            <a:r>
              <a:rPr b="1" i="0" lang="en-US" sz="1400" u="none" cap="none" strike="noStrike">
                <a:solidFill>
                  <a:srgbClr val="1C1C1C"/>
                </a:solidFill>
                <a:latin typeface="Arial"/>
                <a:ea typeface="Arial"/>
                <a:cs typeface="Arial"/>
                <a:sym typeface="Arial"/>
              </a:rPr>
              <a:t>“… under what conditions would a person obey authority, who commanded actions that went against conscience?” Stanley Milgram  </a:t>
            </a:r>
            <a:endParaRPr/>
          </a:p>
          <a:p>
            <a:pPr indent="-228600" lvl="0" marL="228600" marR="0" rtl="0" algn="l">
              <a:lnSpc>
                <a:spcPct val="90000"/>
              </a:lnSpc>
              <a:spcBef>
                <a:spcPts val="1000"/>
              </a:spcBef>
              <a:spcAft>
                <a:spcPts val="0"/>
              </a:spcAft>
              <a:buClr>
                <a:srgbClr val="000000"/>
              </a:buClr>
              <a:buSzPts val="1400"/>
              <a:buFont typeface="Noto Sans Symbols"/>
              <a:buChar char="⮚"/>
            </a:pPr>
            <a:r>
              <a:rPr b="1" i="0" lang="en-US" sz="1400" u="none" cap="none" strike="noStrike">
                <a:solidFill>
                  <a:srgbClr val="1C1C1C"/>
                </a:solidFill>
                <a:latin typeface="Arial"/>
                <a:ea typeface="Arial"/>
                <a:cs typeface="Arial"/>
                <a:sym typeface="Arial"/>
              </a:rPr>
              <a:t>People will do things despite conscience, ethics, values, policies …</a:t>
            </a:r>
            <a:endParaRPr/>
          </a:p>
          <a:p>
            <a:pPr indent="-228600" lvl="0" marL="228600" marR="0" rtl="0" algn="l">
              <a:lnSpc>
                <a:spcPct val="90000"/>
              </a:lnSpc>
              <a:spcBef>
                <a:spcPts val="1000"/>
              </a:spcBef>
              <a:spcAft>
                <a:spcPts val="0"/>
              </a:spcAft>
              <a:buClr>
                <a:srgbClr val="000000"/>
              </a:buClr>
              <a:buSzPts val="1400"/>
              <a:buFont typeface="Noto Sans Symbols"/>
              <a:buChar char="⮚"/>
            </a:pPr>
            <a:r>
              <a:rPr b="1" i="0" lang="en-US" sz="1400" u="none" cap="none" strike="noStrike">
                <a:solidFill>
                  <a:srgbClr val="1C1C1C"/>
                </a:solidFill>
                <a:latin typeface="Arial"/>
                <a:ea typeface="Arial"/>
                <a:cs typeface="Arial"/>
                <a:sym typeface="Arial"/>
              </a:rPr>
              <a:t>… a “state of conflict” that they can excuse themselves of by …</a:t>
            </a:r>
            <a:endParaRPr/>
          </a:p>
          <a:p>
            <a:pPr indent="-228600" lvl="0" marL="228600" marR="0" rtl="0" algn="l">
              <a:lnSpc>
                <a:spcPct val="90000"/>
              </a:lnSpc>
              <a:spcBef>
                <a:spcPts val="1000"/>
              </a:spcBef>
              <a:spcAft>
                <a:spcPts val="0"/>
              </a:spcAft>
              <a:buClr>
                <a:srgbClr val="000000"/>
              </a:buClr>
              <a:buSzPts val="1400"/>
              <a:buFont typeface="Noto Sans Symbols"/>
              <a:buChar char="⮚"/>
            </a:pPr>
            <a:r>
              <a:rPr b="1" i="0" lang="en-US" sz="1400" u="none" cap="none" strike="noStrike">
                <a:solidFill>
                  <a:srgbClr val="1C1C1C"/>
                </a:solidFill>
                <a:latin typeface="Arial"/>
                <a:ea typeface="Arial"/>
                <a:cs typeface="Arial"/>
                <a:sym typeface="Arial"/>
              </a:rPr>
              <a:t> … deferring to the higher authority and a diffusion of responsibility.</a:t>
            </a:r>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The Key Finding from the Milgram Experiments:</a:t>
            </a:r>
            <a:endParaRPr/>
          </a:p>
        </p:txBody>
      </p:sp>
      <p:sp>
        <p:nvSpPr>
          <p:cNvPr id="130" name="Google Shape;130;p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31" name="Google Shape;131;p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grpSp>
        <p:nvGrpSpPr>
          <p:cNvPr id="132" name="Google Shape;132;p7"/>
          <p:cNvGrpSpPr/>
          <p:nvPr/>
        </p:nvGrpSpPr>
        <p:grpSpPr>
          <a:xfrm>
            <a:off x="590550" y="1219200"/>
            <a:ext cx="2838450" cy="4667250"/>
            <a:chOff x="1968" y="816"/>
            <a:chExt cx="1788" cy="2940"/>
          </a:xfrm>
        </p:grpSpPr>
        <p:sp>
          <p:nvSpPr>
            <p:cNvPr id="133" name="Google Shape;133;p7"/>
            <p:cNvSpPr txBox="1"/>
            <p:nvPr/>
          </p:nvSpPr>
          <p:spPr>
            <a:xfrm>
              <a:off x="2216" y="816"/>
              <a:ext cx="1288" cy="366"/>
            </a:xfrm>
            <a:prstGeom prst="rect">
              <a:avLst/>
            </a:prstGeom>
            <a:solidFill>
              <a:srgbClr val="009900"/>
            </a:solidFill>
            <a:ln>
              <a:noFill/>
            </a:ln>
            <a:effectLst>
              <a:outerShdw rotWithShape="0" algn="ctr" dir="2700000" dist="107763">
                <a:srgbClr val="808080">
                  <a:alpha val="49803"/>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1" i="0" lang="en-US" sz="1600" u="none" cap="none" strike="noStrike">
                  <a:solidFill>
                    <a:srgbClr val="FFFFFF"/>
                  </a:solidFill>
                  <a:latin typeface="Arial"/>
                  <a:ea typeface="Arial"/>
                  <a:cs typeface="Arial"/>
                  <a:sym typeface="Arial"/>
                </a:rPr>
                <a:t>“Please continue”</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(the unseen voice)</a:t>
              </a:r>
              <a:endParaRPr/>
            </a:p>
          </p:txBody>
        </p:sp>
        <p:sp>
          <p:nvSpPr>
            <p:cNvPr id="134" name="Google Shape;134;p7"/>
            <p:cNvSpPr txBox="1"/>
            <p:nvPr/>
          </p:nvSpPr>
          <p:spPr>
            <a:xfrm>
              <a:off x="2256" y="1920"/>
              <a:ext cx="1211" cy="366"/>
            </a:xfrm>
            <a:prstGeom prst="rect">
              <a:avLst/>
            </a:prstGeom>
            <a:solidFill>
              <a:srgbClr val="009900"/>
            </a:solidFill>
            <a:ln>
              <a:noFill/>
            </a:ln>
            <a:effectLst>
              <a:outerShdw rotWithShape="0" algn="ctr" dir="2700000" dist="107763">
                <a:srgbClr val="808080">
                  <a:alpha val="49803"/>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1" i="0" lang="en-US" sz="1600" u="none" cap="none" strike="noStrike">
                  <a:solidFill>
                    <a:srgbClr val="FFFFFF"/>
                  </a:solidFill>
                  <a:latin typeface="Arial"/>
                  <a:ea typeface="Arial"/>
                  <a:cs typeface="Arial"/>
                  <a:sym typeface="Arial"/>
                </a:rPr>
                <a:t>The Questioner / </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Punisher</a:t>
              </a:r>
              <a:endParaRPr/>
            </a:p>
          </p:txBody>
        </p:sp>
        <p:sp>
          <p:nvSpPr>
            <p:cNvPr id="135" name="Google Shape;135;p7"/>
            <p:cNvSpPr txBox="1"/>
            <p:nvPr/>
          </p:nvSpPr>
          <p:spPr>
            <a:xfrm>
              <a:off x="1968" y="3082"/>
              <a:ext cx="1788" cy="674"/>
            </a:xfrm>
            <a:prstGeom prst="rect">
              <a:avLst/>
            </a:prstGeom>
            <a:solidFill>
              <a:srgbClr val="009900"/>
            </a:solidFill>
            <a:ln>
              <a:noFill/>
            </a:ln>
            <a:effectLst>
              <a:outerShdw rotWithShape="0" algn="ctr" dir="2700000" dist="107763">
                <a:srgbClr val="808080">
                  <a:alpha val="49803"/>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1" i="0" lang="en-US" sz="1600" u="none" cap="none" strike="noStrike">
                  <a:solidFill>
                    <a:srgbClr val="FFFFFF"/>
                  </a:solidFill>
                  <a:latin typeface="Arial"/>
                  <a:ea typeface="Arial"/>
                  <a:cs typeface="Arial"/>
                  <a:sym typeface="Arial"/>
                </a:rPr>
                <a:t>Responder</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(inside the booth, </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giving staged answers and </a:t>
              </a:r>
              <a:br>
                <a:rPr b="1" i="0" lang="en-US" sz="1600" u="none" cap="none" strike="noStrike">
                  <a:solidFill>
                    <a:srgbClr val="FFFFFF"/>
                  </a:solidFill>
                  <a:latin typeface="Arial"/>
                  <a:ea typeface="Arial"/>
                  <a:cs typeface="Arial"/>
                  <a:sym typeface="Arial"/>
                </a:rPr>
              </a:br>
              <a:r>
                <a:rPr b="1" i="0" lang="en-US" sz="1600" u="none" cap="none" strike="noStrike">
                  <a:solidFill>
                    <a:srgbClr val="FFFFFF"/>
                  </a:solidFill>
                  <a:latin typeface="Arial"/>
                  <a:ea typeface="Arial"/>
                  <a:cs typeface="Arial"/>
                  <a:sym typeface="Arial"/>
                </a:rPr>
                <a:t>getting “staged” shocks)</a:t>
              </a:r>
              <a:endParaRPr/>
            </a:p>
          </p:txBody>
        </p:sp>
        <p:cxnSp>
          <p:nvCxnSpPr>
            <p:cNvPr id="136" name="Google Shape;136;p7"/>
            <p:cNvCxnSpPr>
              <a:stCxn id="134" idx="2"/>
              <a:endCxn id="135" idx="0"/>
            </p:cNvCxnSpPr>
            <p:nvPr/>
          </p:nvCxnSpPr>
          <p:spPr>
            <a:xfrm>
              <a:off x="2862" y="2286"/>
              <a:ext cx="0" cy="900"/>
            </a:xfrm>
            <a:prstGeom prst="straightConnector1">
              <a:avLst/>
            </a:prstGeom>
            <a:noFill/>
            <a:ln cap="flat" cmpd="sng" w="25400">
              <a:solidFill>
                <a:srgbClr val="000000"/>
              </a:solidFill>
              <a:prstDash val="solid"/>
              <a:round/>
              <a:headEnd len="med" w="med" type="none"/>
              <a:tailEnd len="med" w="med" type="none"/>
            </a:ln>
          </p:spPr>
        </p:cxnSp>
        <p:cxnSp>
          <p:nvCxnSpPr>
            <p:cNvPr id="137" name="Google Shape;137;p7"/>
            <p:cNvCxnSpPr>
              <a:stCxn id="133" idx="2"/>
              <a:endCxn id="134" idx="0"/>
            </p:cNvCxnSpPr>
            <p:nvPr/>
          </p:nvCxnSpPr>
          <p:spPr>
            <a:xfrm>
              <a:off x="2860" y="1182"/>
              <a:ext cx="0" cy="600"/>
            </a:xfrm>
            <a:prstGeom prst="straightConnector1">
              <a:avLst/>
            </a:prstGeom>
            <a:noFill/>
            <a:ln cap="flat" cmpd="sng" w="25400">
              <a:solidFill>
                <a:srgbClr val="000000"/>
              </a:solidFill>
              <a:prstDash val="solid"/>
              <a:round/>
              <a:headEnd len="med" w="med" type="none"/>
              <a:tailEnd len="med" w="med" type="none"/>
            </a:ln>
          </p:spPr>
        </p:cxnSp>
      </p:grpSp>
      <p:sp>
        <p:nvSpPr>
          <p:cNvPr id="138" name="Google Shape;138;p7"/>
          <p:cNvSpPr txBox="1"/>
          <p:nvPr/>
        </p:nvSpPr>
        <p:spPr>
          <a:xfrm>
            <a:off x="3557586" y="3243072"/>
            <a:ext cx="5053013" cy="286511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00"/>
              </a:buClr>
              <a:buSzPts val="2000"/>
              <a:buFont typeface="Noto Sans Symbols"/>
              <a:buNone/>
            </a:pPr>
            <a:r>
              <a:rPr b="1" i="0" lang="en-US" sz="2000" u="none" cap="none" strike="noStrike">
                <a:solidFill>
                  <a:schemeClr val="lt1"/>
                </a:solidFill>
                <a:latin typeface="Arial"/>
                <a:ea typeface="Arial"/>
                <a:cs typeface="Arial"/>
                <a:sym typeface="Arial"/>
              </a:rPr>
              <a:t>Position of Authority:</a:t>
            </a:r>
            <a:endParaRPr/>
          </a:p>
          <a:p>
            <a:pPr indent="-342900" lvl="0" marL="342900" marR="0" rtl="0" algn="l">
              <a:lnSpc>
                <a:spcPct val="90000"/>
              </a:lnSpc>
              <a:spcBef>
                <a:spcPts val="400"/>
              </a:spcBef>
              <a:spcAft>
                <a:spcPts val="0"/>
              </a:spcAft>
              <a:buClr>
                <a:srgbClr val="000000"/>
              </a:buClr>
              <a:buSzPts val="2000"/>
              <a:buFont typeface="Noto Sans Symbols"/>
              <a:buNone/>
            </a:pPr>
            <a:r>
              <a:rPr b="1" i="0" lang="en-US" sz="2000" u="none" cap="none" strike="noStrike">
                <a:solidFill>
                  <a:schemeClr val="lt1"/>
                </a:solidFill>
                <a:latin typeface="Arial"/>
                <a:ea typeface="Arial"/>
                <a:cs typeface="Arial"/>
                <a:sym typeface="Arial"/>
              </a:rPr>
              <a:t>We find and conclude that … </a:t>
            </a:r>
            <a:endParaRPr/>
          </a:p>
          <a:p>
            <a:pPr indent="-342900" lvl="0" marL="342900" marR="0" rtl="0" algn="l">
              <a:lnSpc>
                <a:spcPct val="90000"/>
              </a:lnSpc>
              <a:spcBef>
                <a:spcPts val="400"/>
              </a:spcBef>
              <a:spcAft>
                <a:spcPts val="0"/>
              </a:spcAft>
              <a:buClr>
                <a:schemeClr val="lt1"/>
              </a:buClr>
              <a:buSzPts val="2000"/>
              <a:buFont typeface="Noto Sans Symbols"/>
              <a:buChar char="⮚"/>
            </a:pPr>
            <a:r>
              <a:rPr b="0" i="0" lang="en-US" sz="2000" u="none" cap="none" strike="noStrike">
                <a:solidFill>
                  <a:schemeClr val="lt1"/>
                </a:solidFill>
                <a:latin typeface="Arial"/>
                <a:ea typeface="Arial"/>
                <a:cs typeface="Arial"/>
                <a:sym typeface="Arial"/>
              </a:rPr>
              <a:t>Position of authority leads to</a:t>
            </a:r>
            <a:br>
              <a:rPr b="0" i="0" lang="en-US" sz="2000" u="none" cap="none" strike="noStrike">
                <a:solidFill>
                  <a:schemeClr val="lt1"/>
                </a:solidFill>
                <a:latin typeface="Arial"/>
                <a:ea typeface="Arial"/>
                <a:cs typeface="Arial"/>
                <a:sym typeface="Arial"/>
              </a:rPr>
            </a:br>
            <a:r>
              <a:rPr b="0" i="0" lang="en-US" sz="2000" u="none" cap="none" strike="noStrike">
                <a:solidFill>
                  <a:schemeClr val="lt1"/>
                </a:solidFill>
                <a:latin typeface="Arial"/>
                <a:ea typeface="Arial"/>
                <a:cs typeface="Arial"/>
                <a:sym typeface="Arial"/>
              </a:rPr>
              <a:t>“obedience to authority” ...</a:t>
            </a:r>
            <a:endParaRPr/>
          </a:p>
          <a:p>
            <a:pPr indent="-342900" lvl="0" marL="342900" marR="0" rtl="0" algn="l">
              <a:lnSpc>
                <a:spcPct val="90000"/>
              </a:lnSpc>
              <a:spcBef>
                <a:spcPts val="400"/>
              </a:spcBef>
              <a:spcAft>
                <a:spcPts val="0"/>
              </a:spcAft>
              <a:buClr>
                <a:schemeClr val="lt1"/>
              </a:buClr>
              <a:buSzPts val="2000"/>
              <a:buFont typeface="Noto Sans Symbols"/>
              <a:buChar char="⮚"/>
            </a:pPr>
            <a:r>
              <a:rPr b="0" i="0" lang="en-US" sz="2000" u="none" cap="none" strike="noStrike">
                <a:solidFill>
                  <a:schemeClr val="lt1"/>
                </a:solidFill>
                <a:latin typeface="Arial"/>
                <a:ea typeface="Arial"/>
                <a:cs typeface="Arial"/>
                <a:sym typeface="Arial"/>
              </a:rPr>
              <a:t>The KEY LESSON for you …</a:t>
            </a:r>
            <a:br>
              <a:rPr b="0" i="0" lang="en-US" sz="2000" u="none" cap="none" strike="noStrike">
                <a:solidFill>
                  <a:schemeClr val="lt1"/>
                </a:solidFill>
                <a:latin typeface="Arial"/>
                <a:ea typeface="Arial"/>
                <a:cs typeface="Arial"/>
                <a:sym typeface="Arial"/>
              </a:rPr>
            </a:br>
            <a:br>
              <a:rPr b="0" i="0" lang="en-US" sz="2000" u="none" cap="none" strike="noStrike">
                <a:solidFill>
                  <a:schemeClr val="lt1"/>
                </a:solidFill>
                <a:latin typeface="Arial"/>
                <a:ea typeface="Arial"/>
                <a:cs typeface="Arial"/>
                <a:sym typeface="Arial"/>
              </a:rPr>
            </a:br>
            <a:r>
              <a:rPr b="1" i="0" lang="en-US" sz="2000" u="none" cap="none" strike="noStrike">
                <a:solidFill>
                  <a:schemeClr val="lt1"/>
                </a:solidFill>
                <a:latin typeface="Arial"/>
                <a:ea typeface="Arial"/>
                <a:cs typeface="Arial"/>
                <a:sym typeface="Arial"/>
              </a:rPr>
              <a:t>A supervisor carries an incredible amount of influence, something that must be exercised </a:t>
            </a:r>
            <a:r>
              <a:rPr b="1" i="0" lang="en-US" sz="2000" u="sng" cap="none" strike="noStrike">
                <a:solidFill>
                  <a:schemeClr val="lt1"/>
                </a:solidFill>
                <a:latin typeface="Arial"/>
                <a:ea typeface="Arial"/>
                <a:cs typeface="Arial"/>
                <a:sym typeface="Arial"/>
              </a:rPr>
              <a:t>very responsibly</a:t>
            </a:r>
            <a:r>
              <a:rPr b="1" i="0" lang="en-US" sz="2000" u="none" cap="none" strike="noStrike">
                <a:solidFill>
                  <a:schemeClr val="lt1"/>
                </a:solidFill>
                <a:latin typeface="Arial"/>
                <a:ea typeface="Arial"/>
                <a:cs typeface="Arial"/>
                <a:sym typeface="Arial"/>
              </a:rPr>
              <a:t>. </a:t>
            </a:r>
            <a:endParaRPr/>
          </a:p>
        </p:txBody>
      </p:sp>
      <p:sp>
        <p:nvSpPr>
          <p:cNvPr id="139" name="Google Shape;139;p7"/>
          <p:cNvSpPr txBox="1"/>
          <p:nvPr/>
        </p:nvSpPr>
        <p:spPr>
          <a:xfrm>
            <a:off x="3557586" y="826008"/>
            <a:ext cx="5053014" cy="2310192"/>
          </a:xfrm>
          <a:prstGeom prst="rect">
            <a:avLst/>
          </a:prstGeom>
          <a:solidFill>
            <a:schemeClr val="lt1">
              <a:alpha val="69803"/>
            </a:schemeClr>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rmAutofit lnSpcReduction="10000"/>
          </a:bodyPr>
          <a:lstStyle/>
          <a:p>
            <a:pPr indent="-228600" lvl="0" marL="228600" marR="0" rtl="0" algn="l">
              <a:lnSpc>
                <a:spcPct val="90000"/>
              </a:lnSpc>
              <a:spcBef>
                <a:spcPts val="0"/>
              </a:spcBef>
              <a:spcAft>
                <a:spcPts val="0"/>
              </a:spcAft>
              <a:buClr>
                <a:srgbClr val="000000"/>
              </a:buClr>
              <a:buSzPts val="1400"/>
              <a:buFont typeface="Noto Sans Symbols"/>
              <a:buNone/>
            </a:pPr>
            <a:r>
              <a:rPr b="1" i="0" lang="en-US" sz="1400" u="none" cap="none" strike="noStrike">
                <a:solidFill>
                  <a:srgbClr val="1C1C1C"/>
                </a:solidFill>
                <a:latin typeface="Arial"/>
                <a:ea typeface="Arial"/>
                <a:cs typeface="Arial"/>
                <a:sym typeface="Arial"/>
              </a:rPr>
              <a:t>Position of Authority:</a:t>
            </a:r>
            <a:endParaRPr/>
          </a:p>
          <a:p>
            <a:pPr indent="-228600" lvl="0" marL="228600" marR="0" rtl="0" algn="l">
              <a:lnSpc>
                <a:spcPct val="90000"/>
              </a:lnSpc>
              <a:spcBef>
                <a:spcPts val="1000"/>
              </a:spcBef>
              <a:spcAft>
                <a:spcPts val="0"/>
              </a:spcAft>
              <a:buClr>
                <a:srgbClr val="000000"/>
              </a:buClr>
              <a:buSzPts val="1400"/>
              <a:buFont typeface="Noto Sans Symbols"/>
              <a:buChar char="⮚"/>
            </a:pPr>
            <a:r>
              <a:rPr b="1" i="0" lang="en-US" sz="1400" u="none" cap="none" strike="noStrike">
                <a:solidFill>
                  <a:srgbClr val="1C1C1C"/>
                </a:solidFill>
                <a:latin typeface="Arial"/>
                <a:ea typeface="Arial"/>
                <a:cs typeface="Arial"/>
                <a:sym typeface="Arial"/>
              </a:rPr>
              <a:t>“… under what conditions would a person obey authority, who commanded actions that went against conscience?” Stanley Milgram  </a:t>
            </a:r>
            <a:endParaRPr/>
          </a:p>
          <a:p>
            <a:pPr indent="-228600" lvl="0" marL="228600" marR="0" rtl="0" algn="l">
              <a:lnSpc>
                <a:spcPct val="90000"/>
              </a:lnSpc>
              <a:spcBef>
                <a:spcPts val="1000"/>
              </a:spcBef>
              <a:spcAft>
                <a:spcPts val="0"/>
              </a:spcAft>
              <a:buClr>
                <a:srgbClr val="000000"/>
              </a:buClr>
              <a:buSzPts val="1400"/>
              <a:buFont typeface="Noto Sans Symbols"/>
              <a:buChar char="⮚"/>
            </a:pPr>
            <a:r>
              <a:rPr b="1" i="0" lang="en-US" sz="1400" u="none" cap="none" strike="noStrike">
                <a:solidFill>
                  <a:srgbClr val="1C1C1C"/>
                </a:solidFill>
                <a:latin typeface="Arial"/>
                <a:ea typeface="Arial"/>
                <a:cs typeface="Arial"/>
                <a:sym typeface="Arial"/>
              </a:rPr>
              <a:t>People will do things despite conscience, ethics, values, policies …</a:t>
            </a:r>
            <a:endParaRPr/>
          </a:p>
          <a:p>
            <a:pPr indent="-228600" lvl="0" marL="228600" marR="0" rtl="0" algn="l">
              <a:lnSpc>
                <a:spcPct val="90000"/>
              </a:lnSpc>
              <a:spcBef>
                <a:spcPts val="1000"/>
              </a:spcBef>
              <a:spcAft>
                <a:spcPts val="0"/>
              </a:spcAft>
              <a:buClr>
                <a:srgbClr val="000000"/>
              </a:buClr>
              <a:buSzPts val="1400"/>
              <a:buFont typeface="Noto Sans Symbols"/>
              <a:buChar char="⮚"/>
            </a:pPr>
            <a:r>
              <a:rPr b="1" i="0" lang="en-US" sz="1400" u="none" cap="none" strike="noStrike">
                <a:solidFill>
                  <a:srgbClr val="1C1C1C"/>
                </a:solidFill>
                <a:latin typeface="Arial"/>
                <a:ea typeface="Arial"/>
                <a:cs typeface="Arial"/>
                <a:sym typeface="Arial"/>
              </a:rPr>
              <a:t>… a “state of conflict” that they can excuse themselves of by …</a:t>
            </a:r>
            <a:endParaRPr/>
          </a:p>
          <a:p>
            <a:pPr indent="-228600" lvl="0" marL="228600" marR="0" rtl="0" algn="l">
              <a:lnSpc>
                <a:spcPct val="90000"/>
              </a:lnSpc>
              <a:spcBef>
                <a:spcPts val="1000"/>
              </a:spcBef>
              <a:spcAft>
                <a:spcPts val="0"/>
              </a:spcAft>
              <a:buClr>
                <a:srgbClr val="000000"/>
              </a:buClr>
              <a:buSzPts val="1400"/>
              <a:buFont typeface="Noto Sans Symbols"/>
              <a:buChar char="⮚"/>
            </a:pPr>
            <a:r>
              <a:rPr b="1" i="0" lang="en-US" sz="1400" u="none" cap="none" strike="noStrike">
                <a:solidFill>
                  <a:srgbClr val="1C1C1C"/>
                </a:solidFill>
                <a:latin typeface="Arial"/>
                <a:ea typeface="Arial"/>
                <a:cs typeface="Arial"/>
                <a:sym typeface="Arial"/>
              </a:rPr>
              <a:t> … deferring to the higher authority and a diffusion of responsibility.</a:t>
            </a:r>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Your </a:t>
            </a:r>
            <a:r>
              <a:rPr b="1" i="0" lang="en-US" sz="2000" u="none" cap="none" strike="noStrike">
                <a:solidFill>
                  <a:srgbClr val="000000"/>
                </a:solidFill>
                <a:latin typeface="Arial"/>
                <a:ea typeface="Arial"/>
                <a:cs typeface="Arial"/>
                <a:sym typeface="Arial"/>
              </a:rPr>
              <a:t>Three Key Relationships In Your Career</a:t>
            </a:r>
            <a:r>
              <a:rPr b="0" i="0" lang="en-US" sz="2000" u="none" cap="none" strike="noStrike">
                <a:solidFill>
                  <a:srgbClr val="000000"/>
                </a:solidFill>
                <a:latin typeface="Arial"/>
                <a:ea typeface="Arial"/>
                <a:cs typeface="Arial"/>
                <a:sym typeface="Arial"/>
              </a:rPr>
              <a:t> and the Relative Positions of Authority as defined by the Line Management Model:</a:t>
            </a:r>
            <a:endParaRPr b="0" i="0" sz="2000" u="none" cap="none" strike="noStrike">
              <a:solidFill>
                <a:srgbClr val="000000"/>
              </a:solidFill>
              <a:latin typeface="Arial"/>
              <a:ea typeface="Arial"/>
              <a:cs typeface="Arial"/>
              <a:sym typeface="Arial"/>
            </a:endParaRPr>
          </a:p>
        </p:txBody>
      </p:sp>
      <p:sp>
        <p:nvSpPr>
          <p:cNvPr id="146" name="Google Shape;146;p8"/>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Your Three Key Relationships In Your Career:</a:t>
            </a:r>
            <a:endParaRPr b="0" i="0" sz="2400" u="none" cap="none" strike="noStrike">
              <a:solidFill>
                <a:schemeClr val="accent2"/>
              </a:solidFill>
              <a:latin typeface="Arial"/>
              <a:ea typeface="Arial"/>
              <a:cs typeface="Arial"/>
              <a:sym typeface="Arial"/>
            </a:endParaRPr>
          </a:p>
        </p:txBody>
      </p:sp>
      <p:sp>
        <p:nvSpPr>
          <p:cNvPr id="147" name="Google Shape;147;p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48" name="Google Shape;148;p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grpSp>
        <p:nvGrpSpPr>
          <p:cNvPr id="149" name="Google Shape;149;p8"/>
          <p:cNvGrpSpPr/>
          <p:nvPr/>
        </p:nvGrpSpPr>
        <p:grpSpPr>
          <a:xfrm>
            <a:off x="2981325" y="2133600"/>
            <a:ext cx="5400675" cy="3295650"/>
            <a:chOff x="3108325" y="2047875"/>
            <a:chExt cx="5400675" cy="3295650"/>
          </a:xfrm>
        </p:grpSpPr>
        <p:grpSp>
          <p:nvGrpSpPr>
            <p:cNvPr id="150" name="Google Shape;150;p8"/>
            <p:cNvGrpSpPr/>
            <p:nvPr/>
          </p:nvGrpSpPr>
          <p:grpSpPr>
            <a:xfrm>
              <a:off x="3108325" y="2047875"/>
              <a:ext cx="5400675" cy="3295650"/>
              <a:chOff x="1958" y="1290"/>
              <a:chExt cx="3402" cy="2076"/>
            </a:xfrm>
          </p:grpSpPr>
          <p:sp>
            <p:nvSpPr>
              <p:cNvPr id="151" name="Google Shape;151;p8"/>
              <p:cNvSpPr/>
              <p:nvPr/>
            </p:nvSpPr>
            <p:spPr>
              <a:xfrm>
                <a:off x="2352" y="1290"/>
                <a:ext cx="2213"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Your Direct Supervisor</a:t>
                </a:r>
                <a:endParaRPr/>
              </a:p>
            </p:txBody>
          </p:sp>
          <p:sp>
            <p:nvSpPr>
              <p:cNvPr id="152" name="Google Shape;152;p8"/>
              <p:cNvSpPr/>
              <p:nvPr/>
            </p:nvSpPr>
            <p:spPr>
              <a:xfrm>
                <a:off x="3110" y="2160"/>
                <a:ext cx="696"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  You  </a:t>
                </a:r>
                <a:endParaRPr/>
              </a:p>
            </p:txBody>
          </p:sp>
          <p:sp>
            <p:nvSpPr>
              <p:cNvPr id="153" name="Google Shape;153;p8"/>
              <p:cNvSpPr/>
              <p:nvPr/>
            </p:nvSpPr>
            <p:spPr>
              <a:xfrm>
                <a:off x="4224" y="2160"/>
                <a:ext cx="1136"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Your Peers</a:t>
                </a:r>
                <a:endParaRPr/>
              </a:p>
            </p:txBody>
          </p:sp>
          <p:cxnSp>
            <p:nvCxnSpPr>
              <p:cNvPr id="154" name="Google Shape;154;p8"/>
              <p:cNvCxnSpPr>
                <a:stCxn id="151" idx="2"/>
                <a:endCxn id="152" idx="0"/>
              </p:cNvCxnSpPr>
              <p:nvPr/>
            </p:nvCxnSpPr>
            <p:spPr>
              <a:xfrm>
                <a:off x="3459" y="1584"/>
                <a:ext cx="0" cy="600"/>
              </a:xfrm>
              <a:prstGeom prst="straightConnector1">
                <a:avLst/>
              </a:prstGeom>
              <a:noFill/>
              <a:ln cap="flat" cmpd="sng" w="50800">
                <a:solidFill>
                  <a:srgbClr val="000000"/>
                </a:solidFill>
                <a:prstDash val="solid"/>
                <a:round/>
                <a:headEnd len="med" w="med" type="none"/>
                <a:tailEnd len="med" w="med" type="none"/>
              </a:ln>
            </p:spPr>
          </p:cxnSp>
          <p:cxnSp>
            <p:nvCxnSpPr>
              <p:cNvPr id="155" name="Google Shape;155;p8"/>
              <p:cNvCxnSpPr>
                <a:stCxn id="152" idx="2"/>
                <a:endCxn id="156" idx="0"/>
              </p:cNvCxnSpPr>
              <p:nvPr/>
            </p:nvCxnSpPr>
            <p:spPr>
              <a:xfrm>
                <a:off x="3458" y="2454"/>
                <a:ext cx="0" cy="600"/>
              </a:xfrm>
              <a:prstGeom prst="straightConnector1">
                <a:avLst/>
              </a:prstGeom>
              <a:noFill/>
              <a:ln cap="flat" cmpd="sng" w="50800">
                <a:solidFill>
                  <a:srgbClr val="000000"/>
                </a:solidFill>
                <a:prstDash val="solid"/>
                <a:round/>
                <a:headEnd len="med" w="med" type="none"/>
                <a:tailEnd len="med" w="med" type="none"/>
              </a:ln>
            </p:spPr>
          </p:cxnSp>
          <p:cxnSp>
            <p:nvCxnSpPr>
              <p:cNvPr id="157" name="Google Shape;157;p8"/>
              <p:cNvCxnSpPr>
                <a:stCxn id="152" idx="2"/>
                <a:endCxn id="156" idx="1"/>
              </p:cNvCxnSpPr>
              <p:nvPr/>
            </p:nvCxnSpPr>
            <p:spPr>
              <a:xfrm flipH="1">
                <a:off x="1958" y="2454"/>
                <a:ext cx="1500" cy="900"/>
              </a:xfrm>
              <a:prstGeom prst="straightConnector1">
                <a:avLst/>
              </a:prstGeom>
              <a:noFill/>
              <a:ln cap="flat" cmpd="sng" w="50800">
                <a:solidFill>
                  <a:srgbClr val="000000"/>
                </a:solidFill>
                <a:prstDash val="solid"/>
                <a:round/>
                <a:headEnd len="med" w="med" type="none"/>
                <a:tailEnd len="med" w="med" type="none"/>
              </a:ln>
            </p:spPr>
          </p:cxnSp>
          <p:cxnSp>
            <p:nvCxnSpPr>
              <p:cNvPr id="158" name="Google Shape;158;p8"/>
              <p:cNvCxnSpPr>
                <a:stCxn id="152" idx="2"/>
                <a:endCxn id="156" idx="3"/>
              </p:cNvCxnSpPr>
              <p:nvPr/>
            </p:nvCxnSpPr>
            <p:spPr>
              <a:xfrm>
                <a:off x="3458" y="2454"/>
                <a:ext cx="1500" cy="900"/>
              </a:xfrm>
              <a:prstGeom prst="straightConnector1">
                <a:avLst/>
              </a:prstGeom>
              <a:noFill/>
              <a:ln cap="flat" cmpd="sng" w="50800">
                <a:solidFill>
                  <a:srgbClr val="000000"/>
                </a:solidFill>
                <a:prstDash val="solid"/>
                <a:round/>
                <a:headEnd len="med" w="med" type="none"/>
                <a:tailEnd len="med" w="med" type="none"/>
              </a:ln>
            </p:spPr>
          </p:cxnSp>
          <p:cxnSp>
            <p:nvCxnSpPr>
              <p:cNvPr id="159" name="Google Shape;159;p8"/>
              <p:cNvCxnSpPr>
                <a:stCxn id="153" idx="1"/>
                <a:endCxn id="152" idx="3"/>
              </p:cNvCxnSpPr>
              <p:nvPr/>
            </p:nvCxnSpPr>
            <p:spPr>
              <a:xfrm rot="10800000">
                <a:off x="3924" y="2307"/>
                <a:ext cx="300" cy="0"/>
              </a:xfrm>
              <a:prstGeom prst="straightConnector1">
                <a:avLst/>
              </a:prstGeom>
              <a:noFill/>
              <a:ln cap="flat" cmpd="sng" w="50800">
                <a:solidFill>
                  <a:srgbClr val="000000"/>
                </a:solidFill>
                <a:prstDash val="dot"/>
                <a:round/>
                <a:headEnd len="med" w="med" type="none"/>
                <a:tailEnd len="med" w="med" type="none"/>
              </a:ln>
            </p:spPr>
          </p:cxnSp>
          <p:sp>
            <p:nvSpPr>
              <p:cNvPr id="156" name="Google Shape;156;p8"/>
              <p:cNvSpPr/>
              <p:nvPr/>
            </p:nvSpPr>
            <p:spPr>
              <a:xfrm>
                <a:off x="2006" y="3072"/>
                <a:ext cx="2913"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The People That Work For You</a:t>
                </a:r>
                <a:endParaRPr/>
              </a:p>
            </p:txBody>
          </p:sp>
        </p:grpSp>
        <p:sp>
          <p:nvSpPr>
            <p:cNvPr id="160" name="Google Shape;160;p8"/>
            <p:cNvSpPr/>
            <p:nvPr/>
          </p:nvSpPr>
          <p:spPr>
            <a:xfrm>
              <a:off x="5307013" y="2590800"/>
              <a:ext cx="381000" cy="762000"/>
            </a:xfrm>
            <a:prstGeom prst="upDownArrow">
              <a:avLst>
                <a:gd fmla="val 50000" name="adj1"/>
                <a:gd fmla="val 40000" name="adj2"/>
              </a:avLst>
            </a:prstGeom>
            <a:solidFill>
              <a:srgbClr val="FF0000"/>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p:txBody>
        </p:sp>
        <p:sp>
          <p:nvSpPr>
            <p:cNvPr id="161" name="Google Shape;161;p8"/>
            <p:cNvSpPr/>
            <p:nvPr/>
          </p:nvSpPr>
          <p:spPr>
            <a:xfrm>
              <a:off x="5307013" y="4038600"/>
              <a:ext cx="381000" cy="762000"/>
            </a:xfrm>
            <a:prstGeom prst="upDownArrow">
              <a:avLst>
                <a:gd fmla="val 50000" name="adj1"/>
                <a:gd fmla="val 40000" name="adj2"/>
              </a:avLst>
            </a:prstGeom>
            <a:solidFill>
              <a:srgbClr val="FF0000"/>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p:txBody>
        </p:sp>
        <p:sp>
          <p:nvSpPr>
            <p:cNvPr id="162" name="Google Shape;162;p8"/>
            <p:cNvSpPr/>
            <p:nvPr/>
          </p:nvSpPr>
          <p:spPr>
            <a:xfrm rot="5400000">
              <a:off x="6134229" y="3334545"/>
              <a:ext cx="479165" cy="663576"/>
            </a:xfrm>
            <a:prstGeom prst="upDownArrow">
              <a:avLst>
                <a:gd fmla="val 50000" name="adj1"/>
                <a:gd fmla="val 40000" name="adj2"/>
              </a:avLst>
            </a:prstGeom>
            <a:solidFill>
              <a:srgbClr val="FF0000"/>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p:txBody>
        </p:sp>
      </p:grpSp>
      <p:pic>
        <p:nvPicPr>
          <p:cNvPr id="163" name="Google Shape;163;p8"/>
          <p:cNvPicPr preferRelativeResize="0"/>
          <p:nvPr/>
        </p:nvPicPr>
        <p:blipFill rotWithShape="1">
          <a:blip r:embed="rId3">
            <a:alphaModFix/>
          </a:blip>
          <a:srcRect b="0" l="0" r="0" t="0"/>
          <a:stretch/>
        </p:blipFill>
        <p:spPr>
          <a:xfrm>
            <a:off x="372672" y="2952328"/>
            <a:ext cx="2345616" cy="1591520"/>
          </a:xfrm>
          <a:prstGeom prst="rect">
            <a:avLst/>
          </a:prstGeom>
          <a:noFill/>
          <a:ln>
            <a:noFill/>
          </a:ln>
        </p:spPr>
      </p:pic>
      <p:sp>
        <p:nvSpPr>
          <p:cNvPr id="164" name="Google Shape;164;p8"/>
          <p:cNvSpPr/>
          <p:nvPr/>
        </p:nvSpPr>
        <p:spPr>
          <a:xfrm>
            <a:off x="2700000" y="1828800"/>
            <a:ext cx="6113400" cy="3733800"/>
          </a:xfrm>
          <a:prstGeom prst="bracePair">
            <a:avLst/>
          </a:prstGeom>
          <a:noFill/>
          <a:ln cap="flat" cmpd="sng" w="762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dk1"/>
              </a:solidFill>
              <a:latin typeface="Arial"/>
              <a:ea typeface="Arial"/>
              <a:cs typeface="Arial"/>
              <a:sym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1) You and Your Direct Supervisor:</a:t>
            </a:r>
            <a:endParaRPr/>
          </a:p>
        </p:txBody>
      </p:sp>
      <p:sp>
        <p:nvSpPr>
          <p:cNvPr id="171" name="Google Shape;171;p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72" name="Google Shape;172;p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grpSp>
        <p:nvGrpSpPr>
          <p:cNvPr id="173" name="Google Shape;173;p9"/>
          <p:cNvGrpSpPr/>
          <p:nvPr/>
        </p:nvGrpSpPr>
        <p:grpSpPr>
          <a:xfrm>
            <a:off x="3108325" y="2495550"/>
            <a:ext cx="5400675" cy="3295650"/>
            <a:chOff x="1958" y="1290"/>
            <a:chExt cx="3402" cy="2076"/>
          </a:xfrm>
        </p:grpSpPr>
        <p:sp>
          <p:nvSpPr>
            <p:cNvPr id="174" name="Google Shape;174;p9"/>
            <p:cNvSpPr/>
            <p:nvPr/>
          </p:nvSpPr>
          <p:spPr>
            <a:xfrm>
              <a:off x="2352" y="1290"/>
              <a:ext cx="2213"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Your Direct Supervisor</a:t>
              </a:r>
              <a:endParaRPr/>
            </a:p>
          </p:txBody>
        </p:sp>
        <p:sp>
          <p:nvSpPr>
            <p:cNvPr id="175" name="Google Shape;175;p9"/>
            <p:cNvSpPr/>
            <p:nvPr/>
          </p:nvSpPr>
          <p:spPr>
            <a:xfrm>
              <a:off x="3110" y="2160"/>
              <a:ext cx="696"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  You  </a:t>
              </a:r>
              <a:endParaRPr/>
            </a:p>
          </p:txBody>
        </p:sp>
        <p:sp>
          <p:nvSpPr>
            <p:cNvPr id="176" name="Google Shape;176;p9"/>
            <p:cNvSpPr/>
            <p:nvPr/>
          </p:nvSpPr>
          <p:spPr>
            <a:xfrm>
              <a:off x="4224" y="2160"/>
              <a:ext cx="1136"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Your Peers</a:t>
              </a:r>
              <a:endParaRPr/>
            </a:p>
          </p:txBody>
        </p:sp>
        <p:cxnSp>
          <p:nvCxnSpPr>
            <p:cNvPr id="177" name="Google Shape;177;p9"/>
            <p:cNvCxnSpPr>
              <a:stCxn id="174" idx="2"/>
              <a:endCxn id="175" idx="0"/>
            </p:cNvCxnSpPr>
            <p:nvPr/>
          </p:nvCxnSpPr>
          <p:spPr>
            <a:xfrm>
              <a:off x="3459" y="1584"/>
              <a:ext cx="0" cy="600"/>
            </a:xfrm>
            <a:prstGeom prst="straightConnector1">
              <a:avLst/>
            </a:prstGeom>
            <a:noFill/>
            <a:ln cap="flat" cmpd="sng" w="50800">
              <a:solidFill>
                <a:srgbClr val="000000"/>
              </a:solidFill>
              <a:prstDash val="solid"/>
              <a:round/>
              <a:headEnd len="med" w="med" type="none"/>
              <a:tailEnd len="med" w="med" type="none"/>
            </a:ln>
          </p:spPr>
        </p:cxnSp>
        <p:cxnSp>
          <p:nvCxnSpPr>
            <p:cNvPr id="178" name="Google Shape;178;p9"/>
            <p:cNvCxnSpPr>
              <a:stCxn id="175" idx="2"/>
              <a:endCxn id="179" idx="0"/>
            </p:cNvCxnSpPr>
            <p:nvPr/>
          </p:nvCxnSpPr>
          <p:spPr>
            <a:xfrm>
              <a:off x="3458" y="2454"/>
              <a:ext cx="0" cy="600"/>
            </a:xfrm>
            <a:prstGeom prst="straightConnector1">
              <a:avLst/>
            </a:prstGeom>
            <a:noFill/>
            <a:ln cap="flat" cmpd="sng" w="50800">
              <a:solidFill>
                <a:srgbClr val="000000"/>
              </a:solidFill>
              <a:prstDash val="solid"/>
              <a:round/>
              <a:headEnd len="med" w="med" type="none"/>
              <a:tailEnd len="med" w="med" type="none"/>
            </a:ln>
          </p:spPr>
        </p:cxnSp>
        <p:cxnSp>
          <p:nvCxnSpPr>
            <p:cNvPr id="180" name="Google Shape;180;p9"/>
            <p:cNvCxnSpPr>
              <a:stCxn id="175" idx="2"/>
              <a:endCxn id="179" idx="1"/>
            </p:cNvCxnSpPr>
            <p:nvPr/>
          </p:nvCxnSpPr>
          <p:spPr>
            <a:xfrm flipH="1">
              <a:off x="1958" y="2454"/>
              <a:ext cx="1500" cy="900"/>
            </a:xfrm>
            <a:prstGeom prst="straightConnector1">
              <a:avLst/>
            </a:prstGeom>
            <a:noFill/>
            <a:ln cap="flat" cmpd="sng" w="50800">
              <a:solidFill>
                <a:srgbClr val="000000"/>
              </a:solidFill>
              <a:prstDash val="solid"/>
              <a:round/>
              <a:headEnd len="med" w="med" type="none"/>
              <a:tailEnd len="med" w="med" type="none"/>
            </a:ln>
          </p:spPr>
        </p:cxnSp>
        <p:cxnSp>
          <p:nvCxnSpPr>
            <p:cNvPr id="181" name="Google Shape;181;p9"/>
            <p:cNvCxnSpPr>
              <a:stCxn id="175" idx="2"/>
              <a:endCxn id="179" idx="3"/>
            </p:cNvCxnSpPr>
            <p:nvPr/>
          </p:nvCxnSpPr>
          <p:spPr>
            <a:xfrm>
              <a:off x="3458" y="2454"/>
              <a:ext cx="1500" cy="900"/>
            </a:xfrm>
            <a:prstGeom prst="straightConnector1">
              <a:avLst/>
            </a:prstGeom>
            <a:noFill/>
            <a:ln cap="flat" cmpd="sng" w="50800">
              <a:solidFill>
                <a:srgbClr val="000000"/>
              </a:solidFill>
              <a:prstDash val="solid"/>
              <a:round/>
              <a:headEnd len="med" w="med" type="none"/>
              <a:tailEnd len="med" w="med" type="none"/>
            </a:ln>
          </p:spPr>
        </p:cxnSp>
        <p:cxnSp>
          <p:nvCxnSpPr>
            <p:cNvPr id="182" name="Google Shape;182;p9"/>
            <p:cNvCxnSpPr>
              <a:stCxn id="176" idx="1"/>
              <a:endCxn id="175" idx="3"/>
            </p:cNvCxnSpPr>
            <p:nvPr/>
          </p:nvCxnSpPr>
          <p:spPr>
            <a:xfrm rot="10800000">
              <a:off x="3924" y="2307"/>
              <a:ext cx="300" cy="0"/>
            </a:xfrm>
            <a:prstGeom prst="straightConnector1">
              <a:avLst/>
            </a:prstGeom>
            <a:noFill/>
            <a:ln cap="flat" cmpd="sng" w="50800">
              <a:solidFill>
                <a:srgbClr val="000000"/>
              </a:solidFill>
              <a:prstDash val="dot"/>
              <a:round/>
              <a:headEnd len="med" w="med" type="none"/>
              <a:tailEnd len="med" w="med" type="none"/>
            </a:ln>
          </p:spPr>
        </p:cxnSp>
        <p:sp>
          <p:nvSpPr>
            <p:cNvPr id="179" name="Google Shape;179;p9"/>
            <p:cNvSpPr/>
            <p:nvPr/>
          </p:nvSpPr>
          <p:spPr>
            <a:xfrm>
              <a:off x="2006" y="3072"/>
              <a:ext cx="2913"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The People That Work For You</a:t>
              </a:r>
              <a:endParaRPr/>
            </a:p>
          </p:txBody>
        </p:sp>
      </p:grpSp>
      <p:sp>
        <p:nvSpPr>
          <p:cNvPr id="183" name="Google Shape;183;p9"/>
          <p:cNvSpPr txBox="1"/>
          <p:nvPr/>
        </p:nvSpPr>
        <p:spPr>
          <a:xfrm>
            <a:off x="455612" y="1178972"/>
            <a:ext cx="8226425" cy="1207231"/>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000"/>
              <a:buFont typeface="Noto Sans Symbols"/>
              <a:buNone/>
            </a:pPr>
            <a:r>
              <a:rPr b="0" i="1" lang="en-US" sz="2000" u="none" cap="none" strike="noStrike">
                <a:solidFill>
                  <a:schemeClr val="lt1"/>
                </a:solidFill>
                <a:latin typeface="Arial"/>
                <a:ea typeface="Arial"/>
                <a:cs typeface="Arial"/>
                <a:sym typeface="Arial"/>
              </a:rPr>
              <a:t>The first relationship in your Role … you and your supervisor. </a:t>
            </a:r>
            <a:endParaRPr b="0" i="1" sz="2000" u="none" cap="none" strike="noStrike">
              <a:solidFill>
                <a:schemeClr val="lt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000"/>
              <a:buFont typeface="Noto Sans Symbols"/>
              <a:buNone/>
            </a:pPr>
            <a:r>
              <a:rPr b="0" i="1" lang="en-US" sz="2000" u="none" cap="none" strike="noStrike">
                <a:solidFill>
                  <a:schemeClr val="lt1"/>
                </a:solidFill>
                <a:latin typeface="Arial"/>
                <a:ea typeface="Arial"/>
                <a:cs typeface="Arial"/>
                <a:sym typeface="Arial"/>
              </a:rPr>
              <a:t>Why is this relationship important to you? What are the expectations of you in this role? What challenges can you expect?</a:t>
            </a:r>
            <a:endParaRPr b="0" i="1" sz="2000" u="none" cap="none" strike="noStrike">
              <a:solidFill>
                <a:schemeClr val="lt1"/>
              </a:solidFill>
              <a:latin typeface="Arial"/>
              <a:ea typeface="Arial"/>
              <a:cs typeface="Arial"/>
              <a:sym typeface="Arial"/>
            </a:endParaRPr>
          </a:p>
        </p:txBody>
      </p:sp>
      <p:sp>
        <p:nvSpPr>
          <p:cNvPr id="184" name="Google Shape;184;p9"/>
          <p:cNvSpPr/>
          <p:nvPr/>
        </p:nvSpPr>
        <p:spPr>
          <a:xfrm>
            <a:off x="579566" y="3042631"/>
            <a:ext cx="2736289" cy="757844"/>
          </a:xfrm>
          <a:prstGeom prst="wedgeRoundRectCallout">
            <a:avLst>
              <a:gd fmla="val 125403" name="adj1"/>
              <a:gd fmla="val 8788" name="adj2"/>
              <a:gd fmla="val 16667" name="adj3"/>
            </a:avLst>
          </a:prstGeom>
          <a:solidFill>
            <a:srgbClr val="FF0000"/>
          </a:solidFill>
          <a:ln cap="flat" cmpd="sng" w="952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228600" lvl="0" marL="228600" marR="0" rtl="0" algn="ctr">
              <a:lnSpc>
                <a:spcPct val="90000"/>
              </a:lnSpc>
              <a:spcBef>
                <a:spcPts val="0"/>
              </a:spcBef>
              <a:spcAft>
                <a:spcPts val="0"/>
              </a:spcAft>
              <a:buClr>
                <a:srgbClr val="000000"/>
              </a:buClr>
              <a:buSzPts val="1800"/>
              <a:buFont typeface="Noto Sans Symbols"/>
              <a:buNone/>
            </a:pPr>
            <a:r>
              <a:rPr b="1" i="0" lang="en-US" sz="1800" u="none" cap="none" strike="noStrike">
                <a:solidFill>
                  <a:schemeClr val="lt1"/>
                </a:solidFill>
                <a:latin typeface="Arial"/>
                <a:ea typeface="Arial"/>
                <a:cs typeface="Arial"/>
                <a:sym typeface="Arial"/>
              </a:rPr>
              <a:t>Position of Authority:</a:t>
            </a:r>
            <a:endParaRPr/>
          </a:p>
          <a:p>
            <a:pPr indent="-228600" lvl="0" marL="228600" marR="0" rtl="0" algn="ctr">
              <a:lnSpc>
                <a:spcPct val="90000"/>
              </a:lnSpc>
              <a:spcBef>
                <a:spcPts val="1000"/>
              </a:spcBef>
              <a:spcAft>
                <a:spcPts val="0"/>
              </a:spcAft>
              <a:buClr>
                <a:srgbClr val="000000"/>
              </a:buClr>
              <a:buSzPts val="1800"/>
              <a:buFont typeface="Noto Sans Symbols"/>
              <a:buNone/>
            </a:pPr>
            <a:r>
              <a:rPr b="1" i="0" lang="en-US" sz="1800" u="none" cap="none" strike="noStrike">
                <a:solidFill>
                  <a:schemeClr val="lt1"/>
                </a:solidFill>
                <a:latin typeface="Arial"/>
                <a:ea typeface="Arial"/>
                <a:cs typeface="Arial"/>
                <a:sym typeface="Arial"/>
              </a:rPr>
              <a:t>You &amp; Your Supervisor</a:t>
            </a:r>
            <a:endParaRPr b="1" i="0" sz="1800" u="none" cap="none" strike="noStrike">
              <a:solidFill>
                <a:schemeClr val="lt1"/>
              </a:solidFill>
              <a:latin typeface="Arial"/>
              <a:ea typeface="Arial"/>
              <a:cs typeface="Arial"/>
              <a:sym typeface="Arial"/>
            </a:endParaRPr>
          </a:p>
        </p:txBody>
      </p:sp>
      <p:sp>
        <p:nvSpPr>
          <p:cNvPr id="185" name="Google Shape;185;p9"/>
          <p:cNvSpPr/>
          <p:nvPr/>
        </p:nvSpPr>
        <p:spPr>
          <a:xfrm>
            <a:off x="5307013" y="3048000"/>
            <a:ext cx="381000" cy="762000"/>
          </a:xfrm>
          <a:prstGeom prst="upDownArrow">
            <a:avLst>
              <a:gd fmla="val 50000" name="adj1"/>
              <a:gd fmla="val 40000" name="adj2"/>
            </a:avLst>
          </a:prstGeom>
          <a:solidFill>
            <a:srgbClr val="FF0000"/>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Importance:</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Supervising, coaching, mentorship towards development of you.</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Career development and advancement. </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People are not around “forever”: managers are always looking for good talent to develop, test, and advance to grow the organization – keep it competitive. </a:t>
            </a:r>
            <a:br>
              <a:rPr b="0" i="0" lang="en-US" sz="2000" u="none" cap="none" strike="noStrike">
                <a:solidFill>
                  <a:srgbClr val="000000"/>
                </a:solidFill>
                <a:latin typeface="Arial"/>
                <a:ea typeface="Arial"/>
                <a:cs typeface="Arial"/>
                <a:sym typeface="Arial"/>
              </a:rPr>
            </a:br>
            <a:br>
              <a:rPr b="0" i="0" lang="en-US" sz="2000" u="none" cap="none" strike="noStrike">
                <a:solidFill>
                  <a:srgbClr val="000000"/>
                </a:solidFill>
                <a:latin typeface="Arial"/>
                <a:ea typeface="Arial"/>
                <a:cs typeface="Arial"/>
                <a:sym typeface="Arial"/>
              </a:rPr>
            </a:b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Expectations that Your Supervisor has of You: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Area of responsibility – ESG KP#2 “Understand Your Program”</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Objectives and goals,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Policies and procedures,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Directions on tasks, jobs and projects,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“unwritten rules”.</a:t>
            </a:r>
            <a:endParaRPr/>
          </a:p>
        </p:txBody>
      </p:sp>
      <p:sp>
        <p:nvSpPr>
          <p:cNvPr id="192" name="Google Shape;192;p10"/>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1) You and Your Direct Supervisor:</a:t>
            </a:r>
            <a:endParaRPr/>
          </a:p>
        </p:txBody>
      </p:sp>
      <p:sp>
        <p:nvSpPr>
          <p:cNvPr id="193" name="Google Shape;193;p1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94" name="Google Shape;194;p1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Challenges to expect:</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Too often the new employee, you, will not ask questions for fear of “looking stupid”. </a:t>
            </a:r>
            <a:br>
              <a:rPr b="0" i="0" lang="en-US" sz="2000" u="none" cap="none" strike="noStrike">
                <a:solidFill>
                  <a:schemeClr val="dk1"/>
                </a:solidFill>
                <a:latin typeface="Arial"/>
                <a:ea typeface="Arial"/>
                <a:cs typeface="Arial"/>
                <a:sym typeface="Arial"/>
              </a:rPr>
            </a:br>
            <a:br>
              <a:rPr b="0" i="0" lang="en-US" sz="2000" u="none" cap="none" strike="noStrike">
                <a:solidFill>
                  <a:schemeClr val="dk1"/>
                </a:solidFill>
                <a:latin typeface="Arial"/>
                <a:ea typeface="Arial"/>
                <a:cs typeface="Arial"/>
                <a:sym typeface="Arial"/>
              </a:rPr>
            </a:b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Too often the supervisor is not a skilled communicator and the message they give is not clear. </a:t>
            </a:r>
            <a:br>
              <a:rPr b="0" i="0" lang="en-US" sz="2000" u="none" cap="none" strike="noStrike">
                <a:solidFill>
                  <a:schemeClr val="dk1"/>
                </a:solidFill>
                <a:latin typeface="Arial"/>
                <a:ea typeface="Arial"/>
                <a:cs typeface="Arial"/>
                <a:sym typeface="Arial"/>
              </a:rPr>
            </a:br>
            <a:br>
              <a:rPr b="0" i="0" lang="en-US" sz="2000" u="none" cap="none" strike="noStrike">
                <a:solidFill>
                  <a:schemeClr val="dk1"/>
                </a:solidFill>
                <a:latin typeface="Arial"/>
                <a:ea typeface="Arial"/>
                <a:cs typeface="Arial"/>
                <a:sym typeface="Arial"/>
              </a:rPr>
            </a:b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chemeClr val="dk1"/>
                </a:solidFill>
                <a:latin typeface="Arial"/>
                <a:ea typeface="Arial"/>
                <a:cs typeface="Arial"/>
                <a:sym typeface="Arial"/>
              </a:rPr>
              <a:t>Too often the supervisor is busy with other duties and finds it difficult to have enough time to spend with you and does not see the benefit.</a:t>
            </a:r>
            <a:endParaRPr b="0" i="0" sz="2000" u="none" cap="none" strike="noStrike">
              <a:solidFill>
                <a:schemeClr val="dk1"/>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chemeClr val="dk1"/>
              </a:solidFill>
              <a:latin typeface="Arial"/>
              <a:ea typeface="Arial"/>
              <a:cs typeface="Arial"/>
              <a:sym typeface="Arial"/>
            </a:endParaRPr>
          </a:p>
        </p:txBody>
      </p:sp>
      <p:sp>
        <p:nvSpPr>
          <p:cNvPr id="201" name="Google Shape;201;p11"/>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1) You and Your Direct Supervisor:</a:t>
            </a:r>
            <a:endParaRPr/>
          </a:p>
        </p:txBody>
      </p:sp>
      <p:sp>
        <p:nvSpPr>
          <p:cNvPr id="202" name="Google Shape;202;p1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03" name="Google Shape;203;p1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And how to deal with those challenges:</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Too often the new employee, you, will not ask questions for fear of “looking stupid”.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Build rapport early in the relationship to overcome this challenge. “There are no dumb questions.”</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Too often the supervisor is not a skilled communicator and the message they give is not clear. </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Take the time and make the effort to understand your supervisor’s expectations – what they want from you, want you to do.</a:t>
            </a:r>
            <a:endParaRPr b="0" i="1"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Too often the supervisor is busy with other duties and finds it difficult to have enough time to spend with you and does not see the benefit.</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Take the time and make the effort to briefly review with your supervisor to seek confirmation of your understanding.</a:t>
            </a:r>
            <a:endParaRPr/>
          </a:p>
        </p:txBody>
      </p:sp>
      <p:sp>
        <p:nvSpPr>
          <p:cNvPr id="210" name="Google Shape;210;p12"/>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1) You and Your Direct Supervisor:</a:t>
            </a:r>
            <a:endParaRPr/>
          </a:p>
        </p:txBody>
      </p:sp>
      <p:sp>
        <p:nvSpPr>
          <p:cNvPr id="211" name="Google Shape;211;p1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12" name="Google Shape;212;p1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Recall what the Milgram experiments were about: </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power of a position of authority – your supervisor over you! </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 do not want to do something under direction of your supervisor, that your supervisor did NOT want you to do!</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When seeking direction and clarifying expectations, </a:t>
            </a:r>
            <a:br>
              <a:rPr b="0" i="0" lang="en-US" sz="2000" u="none" cap="none" strike="noStrike">
                <a:solidFill>
                  <a:srgbClr val="000000"/>
                </a:solidFill>
                <a:latin typeface="Arial"/>
                <a:ea typeface="Arial"/>
                <a:cs typeface="Arial"/>
                <a:sym typeface="Arial"/>
              </a:rPr>
            </a:br>
            <a:r>
              <a:rPr b="0" i="0" lang="en-US" sz="2000" u="sng" cap="none" strike="noStrike">
                <a:solidFill>
                  <a:srgbClr val="000000"/>
                </a:solidFill>
                <a:latin typeface="Arial"/>
                <a:ea typeface="Arial"/>
                <a:cs typeface="Arial"/>
                <a:sym typeface="Arial"/>
              </a:rPr>
              <a:t>especially when directions clash</a:t>
            </a:r>
            <a:r>
              <a:rPr b="0" i="0" lang="en-US" sz="2000" u="none" cap="none" strike="noStrike">
                <a:solidFill>
                  <a:srgbClr val="000000"/>
                </a:solidFill>
                <a:latin typeface="Arial"/>
                <a:ea typeface="Arial"/>
                <a:cs typeface="Arial"/>
                <a:sym typeface="Arial"/>
              </a:rPr>
              <a:t>, be open and ask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questions to verify your understanding.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What might at first seem to be conflicting directions,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may not at all be that!</a:t>
            </a:r>
            <a:endParaRPr/>
          </a:p>
        </p:txBody>
      </p:sp>
      <p:sp>
        <p:nvSpPr>
          <p:cNvPr id="219" name="Google Shape;219;p1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1) You and Your Direct Supervisor:</a:t>
            </a:r>
            <a:endParaRPr/>
          </a:p>
        </p:txBody>
      </p:sp>
      <p:sp>
        <p:nvSpPr>
          <p:cNvPr id="220" name="Google Shape;220;p1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21" name="Google Shape;221;p1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Some practical advice to work with your direct supervisor:</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Strive (work hard) to meet expectations</a:t>
            </a:r>
            <a:r>
              <a:rPr b="0" i="0" lang="en-US" sz="2000" u="none" cap="none" strike="noStrike">
                <a:solidFill>
                  <a:srgbClr val="000000"/>
                </a:solidFill>
                <a:latin typeface="Arial"/>
                <a:ea typeface="Arial"/>
                <a:cs typeface="Arial"/>
                <a:sym typeface="Arial"/>
              </a:rPr>
              <a:t>!</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Manage your responsibilities such that there are “no surprises”!</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Take the initiative to communicate. </a:t>
            </a:r>
            <a:endParaRPr b="0" i="0" sz="2000" u="sng"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Seek clarity when directions clash with ethics, values, policies, etc. </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Keep your supervisor informed especially when things are not going per the plan. </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228" name="Google Shape;228;p14"/>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1) You and Your Direct Supervisor:</a:t>
            </a:r>
            <a:endParaRPr/>
          </a:p>
        </p:txBody>
      </p:sp>
      <p:sp>
        <p:nvSpPr>
          <p:cNvPr id="229" name="Google Shape;229;p1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30" name="Google Shape;230;p1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
        <p:nvSpPr>
          <p:cNvPr id="231" name="Google Shape;231;p14"/>
          <p:cNvSpPr txBox="1"/>
          <p:nvPr/>
        </p:nvSpPr>
        <p:spPr>
          <a:xfrm>
            <a:off x="304800" y="3908425"/>
            <a:ext cx="8515200" cy="2111375"/>
          </a:xfrm>
          <a:prstGeom prst="rect">
            <a:avLst/>
          </a:prstGeom>
          <a:solidFill>
            <a:srgbClr val="FFFFFF"/>
          </a:solidFill>
          <a:ln cap="flat" cmpd="sng" w="9525">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rgbClr val="CC3300"/>
              </a:buClr>
              <a:buSzPts val="4400"/>
              <a:buFont typeface="Noto Sans Symbols"/>
              <a:buNone/>
            </a:pPr>
            <a:r>
              <a:rPr b="1" i="0" lang="en-US" sz="4400" u="none" cap="none" strike="noStrike">
                <a:solidFill>
                  <a:srgbClr val="CC3300"/>
                </a:solidFill>
                <a:latin typeface="Calibri"/>
                <a:ea typeface="Calibri"/>
                <a:cs typeface="Calibri"/>
                <a:sym typeface="Calibri"/>
              </a:rPr>
              <a:t>FYI: Supervisors want solutions! NOT excuses and </a:t>
            </a:r>
            <a:br>
              <a:rPr b="1" i="0" lang="en-US" sz="4400" u="none" cap="none" strike="noStrike">
                <a:solidFill>
                  <a:srgbClr val="CC3300"/>
                </a:solidFill>
                <a:latin typeface="Calibri"/>
                <a:ea typeface="Calibri"/>
                <a:cs typeface="Calibri"/>
                <a:sym typeface="Calibri"/>
              </a:rPr>
            </a:br>
            <a:r>
              <a:rPr b="1" i="0" lang="en-US" sz="4400" u="none" cap="none" strike="noStrike">
                <a:solidFill>
                  <a:srgbClr val="CC3300"/>
                </a:solidFill>
                <a:latin typeface="Calibri"/>
                <a:ea typeface="Calibri"/>
                <a:cs typeface="Calibri"/>
                <a:sym typeface="Calibri"/>
              </a:rPr>
              <a:t>NOT more problems!</a:t>
            </a:r>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5"/>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2) You and The People That Work For You:</a:t>
            </a:r>
            <a:endParaRPr/>
          </a:p>
        </p:txBody>
      </p:sp>
      <p:sp>
        <p:nvSpPr>
          <p:cNvPr id="238" name="Google Shape;238;p1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39" name="Google Shape;239;p1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grpSp>
        <p:nvGrpSpPr>
          <p:cNvPr id="240" name="Google Shape;240;p15"/>
          <p:cNvGrpSpPr/>
          <p:nvPr/>
        </p:nvGrpSpPr>
        <p:grpSpPr>
          <a:xfrm>
            <a:off x="3108325" y="2419350"/>
            <a:ext cx="5400675" cy="3295650"/>
            <a:chOff x="1958" y="1290"/>
            <a:chExt cx="3402" cy="2076"/>
          </a:xfrm>
        </p:grpSpPr>
        <p:sp>
          <p:nvSpPr>
            <p:cNvPr id="241" name="Google Shape;241;p15"/>
            <p:cNvSpPr/>
            <p:nvPr/>
          </p:nvSpPr>
          <p:spPr>
            <a:xfrm>
              <a:off x="2352" y="1290"/>
              <a:ext cx="2213"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Your Direct Supervisor</a:t>
              </a:r>
              <a:endParaRPr/>
            </a:p>
          </p:txBody>
        </p:sp>
        <p:sp>
          <p:nvSpPr>
            <p:cNvPr id="242" name="Google Shape;242;p15"/>
            <p:cNvSpPr/>
            <p:nvPr/>
          </p:nvSpPr>
          <p:spPr>
            <a:xfrm>
              <a:off x="3110" y="2160"/>
              <a:ext cx="696"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  You  </a:t>
              </a:r>
              <a:endParaRPr/>
            </a:p>
          </p:txBody>
        </p:sp>
        <p:sp>
          <p:nvSpPr>
            <p:cNvPr id="243" name="Google Shape;243;p15"/>
            <p:cNvSpPr/>
            <p:nvPr/>
          </p:nvSpPr>
          <p:spPr>
            <a:xfrm>
              <a:off x="4224" y="2160"/>
              <a:ext cx="1136"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Your Peers</a:t>
              </a:r>
              <a:endParaRPr/>
            </a:p>
          </p:txBody>
        </p:sp>
        <p:cxnSp>
          <p:nvCxnSpPr>
            <p:cNvPr id="244" name="Google Shape;244;p15"/>
            <p:cNvCxnSpPr>
              <a:stCxn id="241" idx="2"/>
              <a:endCxn id="242" idx="0"/>
            </p:cNvCxnSpPr>
            <p:nvPr/>
          </p:nvCxnSpPr>
          <p:spPr>
            <a:xfrm>
              <a:off x="3459" y="1584"/>
              <a:ext cx="0" cy="600"/>
            </a:xfrm>
            <a:prstGeom prst="straightConnector1">
              <a:avLst/>
            </a:prstGeom>
            <a:noFill/>
            <a:ln cap="flat" cmpd="sng" w="50800">
              <a:solidFill>
                <a:srgbClr val="000000"/>
              </a:solidFill>
              <a:prstDash val="solid"/>
              <a:round/>
              <a:headEnd len="med" w="med" type="none"/>
              <a:tailEnd len="med" w="med" type="none"/>
            </a:ln>
          </p:spPr>
        </p:cxnSp>
        <p:cxnSp>
          <p:nvCxnSpPr>
            <p:cNvPr id="245" name="Google Shape;245;p15"/>
            <p:cNvCxnSpPr>
              <a:stCxn id="242" idx="2"/>
              <a:endCxn id="246" idx="0"/>
            </p:cNvCxnSpPr>
            <p:nvPr/>
          </p:nvCxnSpPr>
          <p:spPr>
            <a:xfrm>
              <a:off x="3458" y="2454"/>
              <a:ext cx="0" cy="600"/>
            </a:xfrm>
            <a:prstGeom prst="straightConnector1">
              <a:avLst/>
            </a:prstGeom>
            <a:noFill/>
            <a:ln cap="flat" cmpd="sng" w="50800">
              <a:solidFill>
                <a:srgbClr val="000000"/>
              </a:solidFill>
              <a:prstDash val="solid"/>
              <a:round/>
              <a:headEnd len="med" w="med" type="none"/>
              <a:tailEnd len="med" w="med" type="none"/>
            </a:ln>
          </p:spPr>
        </p:cxnSp>
        <p:cxnSp>
          <p:nvCxnSpPr>
            <p:cNvPr id="247" name="Google Shape;247;p15"/>
            <p:cNvCxnSpPr>
              <a:stCxn id="242" idx="2"/>
              <a:endCxn id="246" idx="1"/>
            </p:cNvCxnSpPr>
            <p:nvPr/>
          </p:nvCxnSpPr>
          <p:spPr>
            <a:xfrm flipH="1">
              <a:off x="1958" y="2454"/>
              <a:ext cx="1500" cy="900"/>
            </a:xfrm>
            <a:prstGeom prst="straightConnector1">
              <a:avLst/>
            </a:prstGeom>
            <a:noFill/>
            <a:ln cap="flat" cmpd="sng" w="50800">
              <a:solidFill>
                <a:srgbClr val="000000"/>
              </a:solidFill>
              <a:prstDash val="solid"/>
              <a:round/>
              <a:headEnd len="med" w="med" type="none"/>
              <a:tailEnd len="med" w="med" type="none"/>
            </a:ln>
          </p:spPr>
        </p:cxnSp>
        <p:cxnSp>
          <p:nvCxnSpPr>
            <p:cNvPr id="248" name="Google Shape;248;p15"/>
            <p:cNvCxnSpPr>
              <a:stCxn id="242" idx="2"/>
              <a:endCxn id="246" idx="3"/>
            </p:cNvCxnSpPr>
            <p:nvPr/>
          </p:nvCxnSpPr>
          <p:spPr>
            <a:xfrm>
              <a:off x="3458" y="2454"/>
              <a:ext cx="1500" cy="900"/>
            </a:xfrm>
            <a:prstGeom prst="straightConnector1">
              <a:avLst/>
            </a:prstGeom>
            <a:noFill/>
            <a:ln cap="flat" cmpd="sng" w="50800">
              <a:solidFill>
                <a:srgbClr val="000000"/>
              </a:solidFill>
              <a:prstDash val="solid"/>
              <a:round/>
              <a:headEnd len="med" w="med" type="none"/>
              <a:tailEnd len="med" w="med" type="none"/>
            </a:ln>
          </p:spPr>
        </p:cxnSp>
        <p:cxnSp>
          <p:nvCxnSpPr>
            <p:cNvPr id="249" name="Google Shape;249;p15"/>
            <p:cNvCxnSpPr>
              <a:stCxn id="243" idx="1"/>
              <a:endCxn id="242" idx="3"/>
            </p:cNvCxnSpPr>
            <p:nvPr/>
          </p:nvCxnSpPr>
          <p:spPr>
            <a:xfrm rot="10800000">
              <a:off x="3924" y="2307"/>
              <a:ext cx="300" cy="0"/>
            </a:xfrm>
            <a:prstGeom prst="straightConnector1">
              <a:avLst/>
            </a:prstGeom>
            <a:noFill/>
            <a:ln cap="flat" cmpd="sng" w="50800">
              <a:solidFill>
                <a:srgbClr val="000000"/>
              </a:solidFill>
              <a:prstDash val="dot"/>
              <a:round/>
              <a:headEnd len="med" w="med" type="none"/>
              <a:tailEnd len="med" w="med" type="none"/>
            </a:ln>
          </p:spPr>
        </p:cxnSp>
        <p:sp>
          <p:nvSpPr>
            <p:cNvPr id="246" name="Google Shape;246;p15"/>
            <p:cNvSpPr/>
            <p:nvPr/>
          </p:nvSpPr>
          <p:spPr>
            <a:xfrm>
              <a:off x="2006" y="3072"/>
              <a:ext cx="2913" cy="294"/>
            </a:xfrm>
            <a:prstGeom prst="rect">
              <a:avLst/>
            </a:prstGeom>
            <a:solidFill>
              <a:srgbClr val="000000"/>
            </a:solidFill>
            <a:ln cap="flat" cmpd="sng" w="9525">
              <a:solidFill>
                <a:srgbClr val="000000"/>
              </a:solidFill>
              <a:prstDash val="solid"/>
              <a:miter lim="800000"/>
              <a:headEnd len="sm" w="sm" type="none"/>
              <a:tailEnd len="sm" w="sm" type="none"/>
            </a:ln>
          </p:spPr>
          <p:txBody>
            <a:bodyPr anchorCtr="1" anchor="ctr" bIns="45700" lIns="91425" spcFirstLastPara="1" rIns="91425" wrap="square" tIns="45700">
              <a:spAutoFit/>
            </a:bodyPr>
            <a:lstStyle/>
            <a:p>
              <a:pPr indent="0" lvl="0" marL="0" marR="0" rtl="0" algn="ctr">
                <a:spcBef>
                  <a:spcPts val="0"/>
                </a:spcBef>
                <a:spcAft>
                  <a:spcPts val="0"/>
                </a:spcAft>
                <a:buClr>
                  <a:srgbClr val="FFFFFF"/>
                </a:buClr>
                <a:buSzPts val="2400"/>
                <a:buFont typeface="Noto Sans Symbols"/>
                <a:buNone/>
              </a:pPr>
              <a:r>
                <a:rPr b="1" i="0" lang="en-US" sz="2400" u="none" cap="none" strike="noStrike">
                  <a:solidFill>
                    <a:srgbClr val="FFFFFF"/>
                  </a:solidFill>
                  <a:latin typeface="Arial"/>
                  <a:ea typeface="Arial"/>
                  <a:cs typeface="Arial"/>
                  <a:sym typeface="Arial"/>
                </a:rPr>
                <a:t>The People That Work For You</a:t>
              </a:r>
              <a:endParaRPr/>
            </a:p>
          </p:txBody>
        </p:sp>
      </p:grpSp>
      <p:sp>
        <p:nvSpPr>
          <p:cNvPr id="250" name="Google Shape;250;p15"/>
          <p:cNvSpPr/>
          <p:nvPr/>
        </p:nvSpPr>
        <p:spPr>
          <a:xfrm>
            <a:off x="5307013" y="4410075"/>
            <a:ext cx="381000" cy="762000"/>
          </a:xfrm>
          <a:prstGeom prst="upDownArrow">
            <a:avLst>
              <a:gd fmla="val 50000" name="adj1"/>
              <a:gd fmla="val 40000" name="adj2"/>
            </a:avLst>
          </a:prstGeom>
          <a:solidFill>
            <a:srgbClr val="FF0000"/>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p:txBody>
      </p:sp>
      <p:sp>
        <p:nvSpPr>
          <p:cNvPr id="251" name="Google Shape;251;p15"/>
          <p:cNvSpPr txBox="1"/>
          <p:nvPr/>
        </p:nvSpPr>
        <p:spPr>
          <a:xfrm>
            <a:off x="455612" y="1102772"/>
            <a:ext cx="8226425" cy="1207231"/>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000"/>
              <a:buFont typeface="Noto Sans Symbols"/>
              <a:buNone/>
            </a:pPr>
            <a:r>
              <a:rPr b="0" i="1" lang="en-US" sz="2000" u="none" cap="none" strike="noStrike">
                <a:solidFill>
                  <a:schemeClr val="lt1"/>
                </a:solidFill>
                <a:latin typeface="Arial"/>
                <a:ea typeface="Arial"/>
                <a:cs typeface="Arial"/>
                <a:sym typeface="Arial"/>
              </a:rPr>
              <a:t>The second relationship in your Role … you and your subordinates, </a:t>
            </a:r>
            <a:br>
              <a:rPr b="0" i="1" lang="en-US" sz="2000" u="none" cap="none" strike="noStrike">
                <a:solidFill>
                  <a:schemeClr val="lt1"/>
                </a:solidFill>
                <a:latin typeface="Arial"/>
                <a:ea typeface="Arial"/>
                <a:cs typeface="Arial"/>
                <a:sym typeface="Arial"/>
              </a:rPr>
            </a:br>
            <a:r>
              <a:rPr b="0" i="1" lang="en-US" sz="2000" u="none" cap="none" strike="noStrike">
                <a:solidFill>
                  <a:schemeClr val="lt1"/>
                </a:solidFill>
                <a:latin typeface="Arial"/>
                <a:ea typeface="Arial"/>
                <a:cs typeface="Arial"/>
                <a:sym typeface="Arial"/>
              </a:rPr>
              <a:t>the people that work for you. </a:t>
            </a:r>
            <a:endParaRPr b="0" i="1" sz="2000" u="none" cap="none" strike="noStrike">
              <a:solidFill>
                <a:schemeClr val="lt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000"/>
              <a:buFont typeface="Noto Sans Symbols"/>
              <a:buNone/>
            </a:pPr>
            <a:r>
              <a:rPr b="0" i="1" lang="en-US" sz="2000" u="none" cap="none" strike="noStrike">
                <a:solidFill>
                  <a:schemeClr val="lt1"/>
                </a:solidFill>
                <a:latin typeface="Arial"/>
                <a:ea typeface="Arial"/>
                <a:cs typeface="Arial"/>
                <a:sym typeface="Arial"/>
              </a:rPr>
              <a:t>Why is this relationship important to you? Expectations? Challenges?</a:t>
            </a:r>
            <a:endParaRPr b="0" i="1" sz="2000" u="none" cap="none" strike="noStrike">
              <a:solidFill>
                <a:schemeClr val="lt1"/>
              </a:solidFill>
              <a:latin typeface="Arial"/>
              <a:ea typeface="Arial"/>
              <a:cs typeface="Arial"/>
              <a:sym typeface="Arial"/>
            </a:endParaRPr>
          </a:p>
        </p:txBody>
      </p:sp>
      <p:sp>
        <p:nvSpPr>
          <p:cNvPr id="252" name="Google Shape;252;p15"/>
          <p:cNvSpPr/>
          <p:nvPr/>
        </p:nvSpPr>
        <p:spPr>
          <a:xfrm>
            <a:off x="580581" y="3962400"/>
            <a:ext cx="3261746" cy="828675"/>
          </a:xfrm>
          <a:prstGeom prst="wedgeRoundRectCallout">
            <a:avLst>
              <a:gd fmla="val 98141" name="adj1"/>
              <a:gd fmla="val 50759" name="adj2"/>
              <a:gd fmla="val 16667" name="adj3"/>
            </a:avLst>
          </a:prstGeom>
          <a:solidFill>
            <a:srgbClr val="FF0000"/>
          </a:solidFill>
          <a:ln cap="flat" cmpd="sng" w="952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228600" lvl="0" marL="228600" marR="0" rtl="0" algn="ctr">
              <a:lnSpc>
                <a:spcPct val="90000"/>
              </a:lnSpc>
              <a:spcBef>
                <a:spcPts val="0"/>
              </a:spcBef>
              <a:spcAft>
                <a:spcPts val="0"/>
              </a:spcAft>
              <a:buClr>
                <a:srgbClr val="000000"/>
              </a:buClr>
              <a:buSzPts val="1800"/>
              <a:buFont typeface="Noto Sans Symbols"/>
              <a:buNone/>
            </a:pPr>
            <a:r>
              <a:rPr b="1" i="0" lang="en-US" sz="1800" u="none" cap="none" strike="noStrike">
                <a:solidFill>
                  <a:schemeClr val="lt1"/>
                </a:solidFill>
                <a:latin typeface="Arial"/>
                <a:ea typeface="Arial"/>
                <a:cs typeface="Arial"/>
                <a:sym typeface="Arial"/>
              </a:rPr>
              <a:t>Position of Authority:</a:t>
            </a:r>
            <a:br>
              <a:rPr b="1" i="0" lang="en-US" sz="1800" u="none" cap="none" strike="noStrike">
                <a:solidFill>
                  <a:schemeClr val="lt1"/>
                </a:solidFill>
                <a:latin typeface="Arial"/>
                <a:ea typeface="Arial"/>
                <a:cs typeface="Arial"/>
                <a:sym typeface="Arial"/>
              </a:rPr>
            </a:br>
            <a:r>
              <a:rPr b="1" i="0" lang="en-US" sz="1800" u="none" cap="none" strike="noStrike">
                <a:solidFill>
                  <a:schemeClr val="lt1"/>
                </a:solidFill>
                <a:latin typeface="Arial"/>
                <a:ea typeface="Arial"/>
                <a:cs typeface="Arial"/>
                <a:sym typeface="Arial"/>
              </a:rPr>
              <a:t>You are Your Subordinates</a:t>
            </a:r>
            <a:endParaRPr b="1" i="0" sz="1800" u="none" cap="none" strike="noStrike">
              <a:solidFill>
                <a:schemeClr val="lt1"/>
              </a:solidFill>
              <a:latin typeface="Arial"/>
              <a:ea typeface="Arial"/>
              <a:cs typeface="Arial"/>
              <a:sym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Same relative position as you to your supervisor:</a:t>
            </a:r>
            <a:endParaRPr b="1"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Challenges:</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They don’t want to ask questions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for fear of “looking dumb”.</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They may not have the communications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skills to search or probe for clarity.</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They may not take the initiative to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schedule time with you.</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Everything you do to create a successful relationship with your supervisor, you should coach and expect the same in the people that work for you. </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Build rapport early in the relationship.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Take the time and make the effort to confirm that they understand your expectations.</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In addition, be sure to recognize and reward them …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to reinforce their (desirable) behaviours!</a:t>
            </a:r>
            <a:endParaRPr/>
          </a:p>
        </p:txBody>
      </p:sp>
      <p:sp>
        <p:nvSpPr>
          <p:cNvPr id="259" name="Google Shape;259;p16"/>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2) You and The People That Work For You:</a:t>
            </a:r>
            <a:endParaRPr/>
          </a:p>
        </p:txBody>
      </p:sp>
      <p:sp>
        <p:nvSpPr>
          <p:cNvPr id="260" name="Google Shape;260;p1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61" name="Google Shape;261;p1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pic>
        <p:nvPicPr>
          <p:cNvPr id="262" name="Google Shape;262;p16"/>
          <p:cNvPicPr preferRelativeResize="0"/>
          <p:nvPr/>
        </p:nvPicPr>
        <p:blipFill rotWithShape="1">
          <a:blip r:embed="rId3">
            <a:alphaModFix/>
          </a:blip>
          <a:srcRect b="0" l="0" r="0" t="0"/>
          <a:stretch/>
        </p:blipFill>
        <p:spPr>
          <a:xfrm>
            <a:off x="5387632" y="1357630"/>
            <a:ext cx="3146768" cy="1995170"/>
          </a:xfrm>
          <a:prstGeom prst="rect">
            <a:avLst/>
          </a:prstGeom>
          <a:noFill/>
          <a:ln>
            <a:noFill/>
          </a:ln>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Recall what the Milgram experiments were about: </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power of a position of authority – you over them! </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Let your people know what you expect.</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Don’t assume they do! Check for understanding.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If and when your expectations are confusing or conflicting, </a:t>
            </a:r>
            <a:br>
              <a:rPr b="0" i="0" lang="en-US" sz="2000" u="none" cap="none" strike="noStrike">
                <a:solidFill>
                  <a:srgbClr val="000000"/>
                </a:solidFill>
                <a:latin typeface="Arial"/>
                <a:ea typeface="Arial"/>
                <a:cs typeface="Arial"/>
                <a:sym typeface="Arial"/>
              </a:rPr>
            </a:br>
            <a:r>
              <a:rPr b="0" i="0" lang="en-US" sz="2000" u="sng" cap="none" strike="noStrike">
                <a:solidFill>
                  <a:srgbClr val="000000"/>
                </a:solidFill>
                <a:latin typeface="Arial"/>
                <a:ea typeface="Arial"/>
                <a:cs typeface="Arial"/>
                <a:sym typeface="Arial"/>
              </a:rPr>
              <a:t>you must be open and welcoming to their questions</a:t>
            </a:r>
            <a:r>
              <a:rPr b="0" i="0" lang="en-US" sz="2000" u="none" cap="none" strike="noStrike">
                <a:solidFill>
                  <a:srgbClr val="000000"/>
                </a:solidFill>
                <a:latin typeface="Arial"/>
                <a:ea typeface="Arial"/>
                <a:cs typeface="Arial"/>
                <a:sym typeface="Arial"/>
              </a:rPr>
              <a:t>.</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Respect</a:t>
            </a:r>
            <a:r>
              <a:rPr b="0" i="0" lang="en-US" sz="2000" u="none" cap="none" strike="noStrike">
                <a:solidFill>
                  <a:srgbClr val="000000"/>
                </a:solidFill>
                <a:latin typeface="Arial"/>
                <a:ea typeface="Arial"/>
                <a:cs typeface="Arial"/>
                <a:sym typeface="Arial"/>
              </a:rPr>
              <a:t> the person who comes to you seeking clarity. </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Set realistic expectations and uphold those expectations!</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“Walk the talk”. </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 by example.”</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Never compromise your expectations. </a:t>
            </a:r>
            <a:endParaRPr b="0" i="0" sz="2000" u="none" cap="none" strike="noStrike">
              <a:solidFill>
                <a:srgbClr val="000000"/>
              </a:solidFill>
              <a:latin typeface="Arial"/>
              <a:ea typeface="Arial"/>
              <a:cs typeface="Arial"/>
              <a:sym typeface="Arial"/>
            </a:endParaRPr>
          </a:p>
          <a:p>
            <a:pPr indent="-359999" lvl="2" marL="108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but adjust as work progresses and realities emerge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269" name="Google Shape;269;p17"/>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2) You and The People That Work For You:</a:t>
            </a:r>
            <a:endParaRPr/>
          </a:p>
        </p:txBody>
      </p:sp>
      <p:sp>
        <p:nvSpPr>
          <p:cNvPr id="270" name="Google Shape;270;p1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71" name="Google Shape;271;p1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The </a:t>
            </a:r>
            <a:r>
              <a:rPr b="1" i="0" lang="en-US" sz="1800" u="none" cap="none" strike="noStrike">
                <a:solidFill>
                  <a:srgbClr val="000000"/>
                </a:solidFill>
                <a:latin typeface="Arial"/>
                <a:ea typeface="Arial"/>
                <a:cs typeface="Arial"/>
                <a:sym typeface="Arial"/>
              </a:rPr>
              <a:t>Line Management Model</a:t>
            </a:r>
            <a:r>
              <a:rPr b="0" i="0" lang="en-US" sz="1800" u="none" cap="none" strike="noStrike">
                <a:solidFill>
                  <a:srgbClr val="000000"/>
                </a:solidFill>
                <a:latin typeface="Arial"/>
                <a:ea typeface="Arial"/>
                <a:cs typeface="Arial"/>
                <a:sym typeface="Arial"/>
              </a:rPr>
              <a:t> &amp; </a:t>
            </a:r>
            <a:r>
              <a:rPr b="1" i="0" lang="en-US" sz="1800" u="none" cap="none" strike="noStrike">
                <a:solidFill>
                  <a:srgbClr val="000000"/>
                </a:solidFill>
                <a:latin typeface="Arial"/>
                <a:ea typeface="Arial"/>
                <a:cs typeface="Arial"/>
                <a:sym typeface="Arial"/>
              </a:rPr>
              <a:t>Two</a:t>
            </a:r>
            <a:r>
              <a:rPr b="0" i="0" lang="en-US" sz="1800" u="none" cap="none" strike="noStrike">
                <a:solidFill>
                  <a:srgbClr val="000000"/>
                </a:solidFill>
                <a:latin typeface="Arial"/>
                <a:ea typeface="Arial"/>
                <a:cs typeface="Arial"/>
                <a:sym typeface="Arial"/>
              </a:rPr>
              <a:t> (of the 3) </a:t>
            </a:r>
            <a:r>
              <a:rPr b="1" i="0" lang="en-US" sz="1800" u="none" cap="none" strike="noStrike">
                <a:solidFill>
                  <a:srgbClr val="000000"/>
                </a:solidFill>
                <a:latin typeface="Arial"/>
                <a:ea typeface="Arial"/>
                <a:cs typeface="Arial"/>
                <a:sym typeface="Arial"/>
              </a:rPr>
              <a:t>Key Relationships</a:t>
            </a:r>
            <a:r>
              <a:rPr b="0" i="0" lang="en-US" sz="1800" u="none" cap="none" strike="noStrike">
                <a:solidFill>
                  <a:srgbClr val="000000"/>
                </a:solidFill>
                <a:latin typeface="Arial"/>
                <a:ea typeface="Arial"/>
                <a:cs typeface="Arial"/>
                <a:sym typeface="Arial"/>
              </a:rPr>
              <a:t>:</a:t>
            </a:r>
            <a:endParaRPr/>
          </a:p>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sng" cap="none" strike="noStrike">
                <a:solidFill>
                  <a:srgbClr val="000000"/>
                </a:solidFill>
                <a:latin typeface="Arial"/>
                <a:ea typeface="Arial"/>
                <a:cs typeface="Arial"/>
                <a:sym typeface="Arial"/>
              </a:rPr>
              <a:t>Relative Positions of Authority</a:t>
            </a:r>
            <a:r>
              <a:rPr b="0" i="0" lang="en-US" sz="1800" u="none" cap="none" strike="noStrike">
                <a:solidFill>
                  <a:srgbClr val="000000"/>
                </a:solidFill>
                <a:latin typeface="Arial"/>
                <a:ea typeface="Arial"/>
                <a:cs typeface="Arial"/>
                <a:sym typeface="Arial"/>
              </a:rPr>
              <a:t> as defined by the Models:</a:t>
            </a:r>
            <a:endParaRPr b="0" i="0" sz="1800" u="none" cap="none" strike="noStrike">
              <a:solidFill>
                <a:srgbClr val="000000"/>
              </a:solidFill>
              <a:latin typeface="Arial"/>
              <a:ea typeface="Arial"/>
              <a:cs typeface="Arial"/>
              <a:sym typeface="Arial"/>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Between </a:t>
            </a:r>
            <a:r>
              <a:rPr b="0" i="0" lang="en-US" sz="1800" u="sng" cap="none" strike="noStrike">
                <a:solidFill>
                  <a:srgbClr val="000000"/>
                </a:solidFill>
                <a:latin typeface="Arial"/>
                <a:ea typeface="Arial"/>
                <a:cs typeface="Arial"/>
                <a:sym typeface="Arial"/>
              </a:rPr>
              <a:t>You &amp; Your Direct Supervisor</a:t>
            </a:r>
            <a:r>
              <a:rPr b="0" i="0" lang="en-US" sz="1800" u="none" cap="none" strike="noStrike">
                <a:solidFill>
                  <a:srgbClr val="000000"/>
                </a:solidFill>
                <a:latin typeface="Arial"/>
                <a:ea typeface="Arial"/>
                <a:cs typeface="Arial"/>
                <a:sym typeface="Arial"/>
              </a:rPr>
              <a:t>, and </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Between </a:t>
            </a:r>
            <a:r>
              <a:rPr b="0" i="0" lang="en-US" sz="1800" u="sng" cap="none" strike="noStrike">
                <a:solidFill>
                  <a:srgbClr val="000000"/>
                </a:solidFill>
                <a:latin typeface="Arial"/>
                <a:ea typeface="Arial"/>
                <a:cs typeface="Arial"/>
                <a:sym typeface="Arial"/>
              </a:rPr>
              <a:t>You &amp; The People that Work </a:t>
            </a:r>
            <a:br>
              <a:rPr b="0" i="0" lang="en-US" sz="1800" u="sng" cap="none" strike="noStrike">
                <a:solidFill>
                  <a:srgbClr val="000000"/>
                </a:solidFill>
                <a:latin typeface="Arial"/>
                <a:ea typeface="Arial"/>
                <a:cs typeface="Arial"/>
                <a:sym typeface="Arial"/>
              </a:rPr>
            </a:br>
            <a:r>
              <a:rPr b="0" i="0" lang="en-US" sz="1800" u="sng" cap="none" strike="noStrike">
                <a:solidFill>
                  <a:srgbClr val="000000"/>
                </a:solidFill>
                <a:latin typeface="Arial"/>
                <a:ea typeface="Arial"/>
                <a:cs typeface="Arial"/>
                <a:sym typeface="Arial"/>
              </a:rPr>
              <a:t>for You</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Who is </a:t>
            </a:r>
            <a:r>
              <a:rPr b="0" i="0" lang="en-US" sz="1800" u="sng" cap="none" strike="noStrike">
                <a:solidFill>
                  <a:srgbClr val="000000"/>
                </a:solidFill>
                <a:latin typeface="Arial"/>
                <a:ea typeface="Arial"/>
                <a:cs typeface="Arial"/>
                <a:sym typeface="Arial"/>
              </a:rPr>
              <a:t>responsible</a:t>
            </a:r>
            <a:r>
              <a:rPr b="0" i="0" lang="en-US" sz="1800" u="none" cap="none" strike="noStrike">
                <a:solidFill>
                  <a:srgbClr val="000000"/>
                </a:solidFill>
                <a:latin typeface="Arial"/>
                <a:ea typeface="Arial"/>
                <a:cs typeface="Arial"/>
                <a:sym typeface="Arial"/>
              </a:rPr>
              <a:t>?</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Who is </a:t>
            </a:r>
            <a:r>
              <a:rPr b="0" i="0" lang="en-US" sz="1800" u="sng" cap="none" strike="noStrike">
                <a:solidFill>
                  <a:srgbClr val="000000"/>
                </a:solidFill>
                <a:latin typeface="Arial"/>
                <a:ea typeface="Arial"/>
                <a:cs typeface="Arial"/>
                <a:sym typeface="Arial"/>
              </a:rPr>
              <a:t>accountable</a:t>
            </a:r>
            <a:r>
              <a:rPr b="0" i="0" lang="en-US" sz="1800" u="none" cap="none" strike="noStrike">
                <a:solidFill>
                  <a:srgbClr val="000000"/>
                </a:solidFill>
                <a:latin typeface="Arial"/>
                <a:ea typeface="Arial"/>
                <a:cs typeface="Arial"/>
                <a:sym typeface="Arial"/>
              </a:rPr>
              <a:t>?</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78" name="Google Shape;278;p20"/>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000"/>
              <a:buFont typeface="Arial"/>
              <a:buNone/>
            </a:pPr>
            <a:r>
              <a:rPr b="0" i="0" lang="en-US" sz="2000" u="none" cap="none" strike="noStrike">
                <a:solidFill>
                  <a:schemeClr val="accent2"/>
                </a:solidFill>
                <a:latin typeface="Arial"/>
                <a:ea typeface="Arial"/>
                <a:cs typeface="Arial"/>
                <a:sym typeface="Arial"/>
              </a:rPr>
              <a:t>Responsible, Accountable, Line Management and Two Key Relationships:</a:t>
            </a:r>
            <a:endParaRPr b="0" i="0" sz="2000" u="none" cap="none" strike="noStrike">
              <a:solidFill>
                <a:schemeClr val="accent2"/>
              </a:solidFill>
              <a:latin typeface="Arial"/>
              <a:ea typeface="Arial"/>
              <a:cs typeface="Arial"/>
              <a:sym typeface="Arial"/>
            </a:endParaRPr>
          </a:p>
        </p:txBody>
      </p:sp>
      <p:sp>
        <p:nvSpPr>
          <p:cNvPr id="279" name="Google Shape;279;p2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80" name="Google Shape;280;p2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pic>
        <p:nvPicPr>
          <p:cNvPr id="281" name="Google Shape;281;p20"/>
          <p:cNvPicPr preferRelativeResize="0"/>
          <p:nvPr/>
        </p:nvPicPr>
        <p:blipFill rotWithShape="1">
          <a:blip r:embed="rId3">
            <a:alphaModFix/>
          </a:blip>
          <a:srcRect b="0" l="0" r="0" t="0"/>
          <a:stretch/>
        </p:blipFill>
        <p:spPr>
          <a:xfrm>
            <a:off x="701179" y="3324762"/>
            <a:ext cx="3997642" cy="2771238"/>
          </a:xfrm>
          <a:prstGeom prst="rect">
            <a:avLst/>
          </a:prstGeom>
          <a:noFill/>
          <a:ln cap="flat" cmpd="sng" w="9525">
            <a:solidFill>
              <a:schemeClr val="dk1"/>
            </a:solidFill>
            <a:prstDash val="solid"/>
            <a:round/>
            <a:headEnd len="sm" w="sm" type="none"/>
            <a:tailEnd len="sm" w="sm" type="none"/>
          </a:ln>
        </p:spPr>
      </p:pic>
      <p:sp>
        <p:nvSpPr>
          <p:cNvPr id="282" name="Google Shape;282;p20"/>
          <p:cNvSpPr txBox="1"/>
          <p:nvPr/>
        </p:nvSpPr>
        <p:spPr>
          <a:xfrm>
            <a:off x="5770200" y="2036056"/>
            <a:ext cx="2880000" cy="39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Stockholders / Owners</a:t>
            </a:r>
            <a:endParaRPr b="1" i="0" sz="1800" u="none" cap="none" strike="noStrike">
              <a:solidFill>
                <a:schemeClr val="dk1"/>
              </a:solidFill>
              <a:latin typeface="Arial"/>
              <a:ea typeface="Arial"/>
              <a:cs typeface="Arial"/>
              <a:sym typeface="Arial"/>
            </a:endParaRPr>
          </a:p>
        </p:txBody>
      </p:sp>
      <p:sp>
        <p:nvSpPr>
          <p:cNvPr id="283" name="Google Shape;283;p20"/>
          <p:cNvSpPr txBox="1"/>
          <p:nvPr/>
        </p:nvSpPr>
        <p:spPr>
          <a:xfrm>
            <a:off x="5770200" y="2651158"/>
            <a:ext cx="2880000" cy="39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Board of Directors</a:t>
            </a:r>
            <a:endParaRPr b="1" i="0" sz="1800" u="none" cap="none" strike="noStrike">
              <a:solidFill>
                <a:schemeClr val="dk1"/>
              </a:solidFill>
              <a:latin typeface="Arial"/>
              <a:ea typeface="Arial"/>
              <a:cs typeface="Arial"/>
              <a:sym typeface="Arial"/>
            </a:endParaRPr>
          </a:p>
        </p:txBody>
      </p:sp>
      <p:sp>
        <p:nvSpPr>
          <p:cNvPr id="284" name="Google Shape;284;p20"/>
          <p:cNvSpPr txBox="1"/>
          <p:nvPr/>
        </p:nvSpPr>
        <p:spPr>
          <a:xfrm>
            <a:off x="5770200" y="3266260"/>
            <a:ext cx="2880000"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Directors / Executives</a:t>
            </a:r>
            <a:endParaRPr b="1" i="0" sz="1800" u="none" cap="none" strike="noStrike">
              <a:solidFill>
                <a:schemeClr val="dk1"/>
              </a:solidFill>
              <a:latin typeface="Arial"/>
              <a:ea typeface="Arial"/>
              <a:cs typeface="Arial"/>
              <a:sym typeface="Arial"/>
            </a:endParaRPr>
          </a:p>
        </p:txBody>
      </p:sp>
      <p:sp>
        <p:nvSpPr>
          <p:cNvPr id="285" name="Google Shape;285;p20"/>
          <p:cNvSpPr txBox="1"/>
          <p:nvPr/>
        </p:nvSpPr>
        <p:spPr>
          <a:xfrm>
            <a:off x="5770200" y="3881362"/>
            <a:ext cx="2880000" cy="39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Managers</a:t>
            </a:r>
            <a:endParaRPr b="1" i="0" sz="1800" u="none" cap="none" strike="noStrike">
              <a:solidFill>
                <a:schemeClr val="dk1"/>
              </a:solidFill>
              <a:latin typeface="Arial"/>
              <a:ea typeface="Arial"/>
              <a:cs typeface="Arial"/>
              <a:sym typeface="Arial"/>
            </a:endParaRPr>
          </a:p>
        </p:txBody>
      </p:sp>
      <p:sp>
        <p:nvSpPr>
          <p:cNvPr id="286" name="Google Shape;286;p20"/>
          <p:cNvSpPr txBox="1"/>
          <p:nvPr/>
        </p:nvSpPr>
        <p:spPr>
          <a:xfrm>
            <a:off x="5770200" y="4496464"/>
            <a:ext cx="2880000"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Supervisors</a:t>
            </a:r>
            <a:endParaRPr/>
          </a:p>
        </p:txBody>
      </p:sp>
      <p:sp>
        <p:nvSpPr>
          <p:cNvPr id="287" name="Google Shape;287;p20"/>
          <p:cNvSpPr txBox="1"/>
          <p:nvPr/>
        </p:nvSpPr>
        <p:spPr>
          <a:xfrm>
            <a:off x="5770200" y="5111566"/>
            <a:ext cx="2880000"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Workers</a:t>
            </a:r>
            <a:endParaRPr/>
          </a:p>
        </p:txBody>
      </p:sp>
      <p:sp>
        <p:nvSpPr>
          <p:cNvPr id="288" name="Google Shape;288;p20"/>
          <p:cNvSpPr txBox="1"/>
          <p:nvPr/>
        </p:nvSpPr>
        <p:spPr>
          <a:xfrm>
            <a:off x="5770200" y="5726668"/>
            <a:ext cx="2880000" cy="369332"/>
          </a:xfrm>
          <a:prstGeom prst="rect">
            <a:avLst/>
          </a:prstGeom>
          <a:solidFill>
            <a:srgbClr val="008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lt1"/>
                </a:solidFill>
                <a:latin typeface="Arial"/>
                <a:ea typeface="Arial"/>
                <a:cs typeface="Arial"/>
                <a:sym typeface="Arial"/>
              </a:rPr>
              <a:t>Effective Action</a:t>
            </a:r>
            <a:endParaRPr b="1" i="0" sz="1800" u="none" cap="none" strike="noStrike">
              <a:solidFill>
                <a:schemeClr val="lt1"/>
              </a:solidFill>
              <a:latin typeface="Arial"/>
              <a:ea typeface="Arial"/>
              <a:cs typeface="Arial"/>
              <a:sym typeface="Arial"/>
            </a:endParaRPr>
          </a:p>
        </p:txBody>
      </p:sp>
      <p:sp>
        <p:nvSpPr>
          <p:cNvPr id="289" name="Google Shape;289;p20"/>
          <p:cNvSpPr/>
          <p:nvPr/>
        </p:nvSpPr>
        <p:spPr>
          <a:xfrm>
            <a:off x="5590200" y="1676400"/>
            <a:ext cx="3325200" cy="44958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TheLine Management Model:</a:t>
            </a:r>
            <a:endParaRPr b="0" i="0" sz="1800" u="sng"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90" name="Google Shape;290;p20"/>
          <p:cNvCxnSpPr>
            <a:stCxn id="282" idx="2"/>
            <a:endCxn id="283" idx="0"/>
          </p:cNvCxnSpPr>
          <p:nvPr/>
        </p:nvCxnSpPr>
        <p:spPr>
          <a:xfrm>
            <a:off x="7210200" y="2432056"/>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291" name="Google Shape;291;p20"/>
          <p:cNvCxnSpPr>
            <a:stCxn id="283" idx="2"/>
            <a:endCxn id="284" idx="0"/>
          </p:cNvCxnSpPr>
          <p:nvPr/>
        </p:nvCxnSpPr>
        <p:spPr>
          <a:xfrm>
            <a:off x="7210200" y="3047158"/>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292" name="Google Shape;292;p20"/>
          <p:cNvCxnSpPr>
            <a:stCxn id="284" idx="2"/>
            <a:endCxn id="285" idx="0"/>
          </p:cNvCxnSpPr>
          <p:nvPr/>
        </p:nvCxnSpPr>
        <p:spPr>
          <a:xfrm>
            <a:off x="7210200" y="3635592"/>
            <a:ext cx="0" cy="245700"/>
          </a:xfrm>
          <a:prstGeom prst="straightConnector1">
            <a:avLst/>
          </a:prstGeom>
          <a:noFill/>
          <a:ln cap="flat" cmpd="sng" w="38100">
            <a:solidFill>
              <a:schemeClr val="dk1"/>
            </a:solidFill>
            <a:prstDash val="solid"/>
            <a:round/>
            <a:headEnd len="sm" w="sm" type="none"/>
            <a:tailEnd len="med" w="med" type="triangle"/>
          </a:ln>
        </p:spPr>
      </p:cxnSp>
      <p:cxnSp>
        <p:nvCxnSpPr>
          <p:cNvPr id="293" name="Google Shape;293;p20"/>
          <p:cNvCxnSpPr>
            <a:stCxn id="285" idx="2"/>
            <a:endCxn id="286" idx="0"/>
          </p:cNvCxnSpPr>
          <p:nvPr/>
        </p:nvCxnSpPr>
        <p:spPr>
          <a:xfrm>
            <a:off x="7210200" y="4277362"/>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294" name="Google Shape;294;p20"/>
          <p:cNvCxnSpPr>
            <a:stCxn id="286" idx="2"/>
            <a:endCxn id="287" idx="0"/>
          </p:cNvCxnSpPr>
          <p:nvPr/>
        </p:nvCxnSpPr>
        <p:spPr>
          <a:xfrm>
            <a:off x="7210200" y="4865796"/>
            <a:ext cx="0" cy="245700"/>
          </a:xfrm>
          <a:prstGeom prst="straightConnector1">
            <a:avLst/>
          </a:prstGeom>
          <a:noFill/>
          <a:ln cap="flat" cmpd="sng" w="38100">
            <a:solidFill>
              <a:schemeClr val="dk1"/>
            </a:solidFill>
            <a:prstDash val="solid"/>
            <a:round/>
            <a:headEnd len="sm" w="sm" type="none"/>
            <a:tailEnd len="med" w="med" type="triangle"/>
          </a:ln>
        </p:spPr>
      </p:cxnSp>
      <p:cxnSp>
        <p:nvCxnSpPr>
          <p:cNvPr id="295" name="Google Shape;295;p20"/>
          <p:cNvCxnSpPr>
            <a:stCxn id="287" idx="2"/>
            <a:endCxn id="288" idx="0"/>
          </p:cNvCxnSpPr>
          <p:nvPr/>
        </p:nvCxnSpPr>
        <p:spPr>
          <a:xfrm>
            <a:off x="7210200" y="5480898"/>
            <a:ext cx="0" cy="245700"/>
          </a:xfrm>
          <a:prstGeom prst="straightConnector1">
            <a:avLst/>
          </a:prstGeom>
          <a:noFill/>
          <a:ln cap="flat" cmpd="sng" w="38100">
            <a:solidFill>
              <a:schemeClr val="dk1"/>
            </a:solidFill>
            <a:prstDash val="solid"/>
            <a:round/>
            <a:headEnd len="sm" w="sm" type="none"/>
            <a:tailEnd len="med" w="med" type="triangle"/>
          </a:ln>
        </p:spPr>
      </p:cxn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New Concept - RACI:</a:t>
            </a:r>
            <a:endParaRPr/>
          </a:p>
          <a:p>
            <a:pPr indent="0" lvl="0" marL="0" marR="0" rtl="0" algn="l">
              <a:lnSpc>
                <a:spcPct val="9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When clarifying roles, responsibilities, and making decisions within organizations, the acronym “RACI” is sometimes used</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If the understanding of who is responsible, who is accountable, etc. is lacking, there is confusion within the organization</a:t>
            </a:r>
            <a:endParaRPr b="0" i="0" sz="1800" u="none" cap="none" strike="noStrike">
              <a:solidFill>
                <a:srgbClr val="000000"/>
              </a:solidFill>
              <a:latin typeface="Arial"/>
              <a:ea typeface="Arial"/>
              <a:cs typeface="Arial"/>
              <a:sym typeface="Arial"/>
            </a:endParaRPr>
          </a:p>
          <a:p>
            <a:pPr indent="-245699" lvl="0" marL="720000" marR="0" rtl="0" algn="l">
              <a:lnSpc>
                <a:spcPct val="90000"/>
              </a:lnSpc>
              <a:spcBef>
                <a:spcPts val="0"/>
              </a:spcBef>
              <a:spcAft>
                <a:spcPts val="0"/>
              </a:spcAft>
              <a:buClr>
                <a:schemeClr val="dk1"/>
              </a:buClr>
              <a:buSzPts val="1800"/>
              <a:buFont typeface="Noto Sans Symbols"/>
              <a:buNone/>
            </a:pPr>
            <a:r>
              <a:t/>
            </a:r>
            <a:endParaRPr b="1" i="0" sz="1800" u="none" cap="none" strike="noStrike">
              <a:solidFill>
                <a:srgbClr val="000000"/>
              </a:solidFill>
              <a:latin typeface="Arial"/>
              <a:ea typeface="Arial"/>
              <a:cs typeface="Arial"/>
              <a:sym typeface="Arial"/>
            </a:endParaRPr>
          </a:p>
          <a:p>
            <a:pPr indent="0" lvl="0" marL="36000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R = Responsible Person</a:t>
            </a:r>
            <a:r>
              <a:rPr b="0" i="0" lang="en-US" sz="1800" u="none" cap="none" strike="noStrike">
                <a:solidFill>
                  <a:srgbClr val="000000"/>
                </a:solidFill>
                <a:latin typeface="Arial"/>
                <a:ea typeface="Arial"/>
                <a:cs typeface="Arial"/>
                <a:sym typeface="Arial"/>
              </a:rPr>
              <a:t>: the person who has a duty to perform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i.e. “is the doer of a task”, and that person is responsible for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fulfilling those duties</a:t>
            </a:r>
            <a:endParaRPr/>
          </a:p>
          <a:p>
            <a:pPr indent="0" lvl="0" marL="360000" marR="0" rtl="0" algn="l">
              <a:lnSpc>
                <a:spcPct val="90000"/>
              </a:lnSpc>
              <a:spcBef>
                <a:spcPts val="0"/>
              </a:spcBef>
              <a:spcAft>
                <a:spcPts val="0"/>
              </a:spcAft>
              <a:buClr>
                <a:schemeClr val="dk1"/>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36000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A = Accountable Person</a:t>
            </a:r>
            <a:r>
              <a:rPr b="0" i="0" lang="en-US" sz="1800" u="none" cap="none" strike="noStrike">
                <a:solidFill>
                  <a:srgbClr val="000000"/>
                </a:solidFill>
                <a:latin typeface="Arial"/>
                <a:ea typeface="Arial"/>
                <a:cs typeface="Arial"/>
                <a:sym typeface="Arial"/>
              </a:rPr>
              <a:t>: the person who makes sure a requirement is being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met, makes sure a duty is being performed</a:t>
            </a:r>
            <a:endParaRPr/>
          </a:p>
          <a:p>
            <a:pPr indent="0" lvl="0" marL="360000" marR="0" rtl="0" algn="l">
              <a:lnSpc>
                <a:spcPct val="90000"/>
              </a:lnSpc>
              <a:spcBef>
                <a:spcPts val="0"/>
              </a:spcBef>
              <a:spcAft>
                <a:spcPts val="0"/>
              </a:spcAft>
              <a:buClr>
                <a:schemeClr val="dk1"/>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36000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 = Consulted</a:t>
            </a:r>
            <a:r>
              <a:rPr b="0" i="0" lang="en-US" sz="1800" u="none" cap="none" strike="noStrike">
                <a:solidFill>
                  <a:srgbClr val="000000"/>
                </a:solidFill>
                <a:latin typeface="Arial"/>
                <a:ea typeface="Arial"/>
                <a:cs typeface="Arial"/>
                <a:sym typeface="Arial"/>
              </a:rPr>
              <a:t>: the person(s) with whom you consult for input or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feedback to reach or make decisions</a:t>
            </a:r>
            <a:endParaRPr/>
          </a:p>
          <a:p>
            <a:pPr indent="0" lvl="0" marL="360000" marR="0" rtl="0" algn="l">
              <a:lnSpc>
                <a:spcPct val="90000"/>
              </a:lnSpc>
              <a:spcBef>
                <a:spcPts val="0"/>
              </a:spcBef>
              <a:spcAft>
                <a:spcPts val="0"/>
              </a:spcAft>
              <a:buClr>
                <a:schemeClr val="dk1"/>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36000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I = Informed</a:t>
            </a:r>
            <a:r>
              <a:rPr b="0" i="0" lang="en-US" sz="1800" u="none" cap="none" strike="noStrike">
                <a:solidFill>
                  <a:srgbClr val="000000"/>
                </a:solidFill>
                <a:latin typeface="Arial"/>
                <a:ea typeface="Arial"/>
                <a:cs typeface="Arial"/>
                <a:sym typeface="Arial"/>
              </a:rPr>
              <a:t>: whom you inform about decisions being made</a:t>
            </a:r>
            <a:endParaRPr b="0" i="0" sz="1800" u="none" cap="none" strike="noStrike">
              <a:solidFill>
                <a:srgbClr val="000000"/>
              </a:solidFill>
              <a:latin typeface="Arial"/>
              <a:ea typeface="Arial"/>
              <a:cs typeface="Arial"/>
              <a:sym typeface="Arial"/>
            </a:endParaRPr>
          </a:p>
          <a:p>
            <a:pPr indent="-245699" lvl="0" marL="72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32000" lvl="0" marL="432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In your careers, you may find yourself in all of these roles as you progress.</a:t>
            </a:r>
            <a:endParaRPr b="0" i="0" sz="1800" u="none" cap="none" strike="noStrike">
              <a:solidFill>
                <a:srgbClr val="000000"/>
              </a:solidFill>
              <a:latin typeface="Arial"/>
              <a:ea typeface="Arial"/>
              <a:cs typeface="Arial"/>
              <a:sym typeface="Arial"/>
            </a:endParaRPr>
          </a:p>
        </p:txBody>
      </p:sp>
      <p:sp>
        <p:nvSpPr>
          <p:cNvPr id="302" name="Google Shape;302;p2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RACI: Responsible – Accountable – Consulted - Informed:</a:t>
            </a:r>
            <a:endParaRPr/>
          </a:p>
        </p:txBody>
      </p:sp>
      <p:sp>
        <p:nvSpPr>
          <p:cNvPr id="303" name="Google Shape;303;p2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04" name="Google Shape;304;p2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311" name="Google Shape;311;p2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Line Management and RACI:</a:t>
            </a:r>
            <a:endParaRPr b="0" i="0" sz="2400" u="none" cap="none" strike="noStrike">
              <a:solidFill>
                <a:srgbClr val="333399"/>
              </a:solidFill>
              <a:latin typeface="Arial"/>
              <a:ea typeface="Arial"/>
              <a:cs typeface="Arial"/>
              <a:sym typeface="Arial"/>
            </a:endParaRPr>
          </a:p>
        </p:txBody>
      </p:sp>
      <p:sp>
        <p:nvSpPr>
          <p:cNvPr id="312" name="Google Shape;312;p2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13" name="Google Shape;313;p22"/>
          <p:cNvSpPr/>
          <p:nvPr/>
        </p:nvSpPr>
        <p:spPr>
          <a:xfrm>
            <a:off x="3657600" y="828000"/>
            <a:ext cx="5162400" cy="53280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Responsible – Accountable in RACI:</a:t>
            </a:r>
            <a:endParaRPr b="1" i="0" sz="16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R = Responsible Person:</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Each role has a set of responsibilities </a:t>
            </a:r>
            <a:br>
              <a:rPr b="0" i="0" lang="en-US" sz="1600" u="none" cap="none" strike="noStrike">
                <a:solidFill>
                  <a:srgbClr val="000000"/>
                </a:solidFill>
                <a:latin typeface="Arial"/>
                <a:ea typeface="Arial"/>
                <a:cs typeface="Arial"/>
                <a:sym typeface="Arial"/>
              </a:rPr>
            </a:br>
            <a:endParaRPr b="0" i="0" sz="16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A = Accountable Person: </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This person holds the responsible person accountable for their work, and is normally the supervisor of the responsible person</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All roles above “Workers” hold those below them accountable for their work</a:t>
            </a:r>
            <a:endParaRPr/>
          </a:p>
          <a:p>
            <a:pPr indent="-258400" lvl="0" marL="360000" marR="0" rtl="0" algn="l">
              <a:lnSpc>
                <a:spcPct val="9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Example:</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 worker is responsible for operating heavy equipment per operating procedures</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 supervisor is </a:t>
            </a:r>
            <a:r>
              <a:rPr lang="en-US" sz="1600"/>
              <a:t>responsible </a:t>
            </a:r>
            <a:r>
              <a:rPr b="0" i="0" lang="en-US" sz="1600" u="none" cap="none" strike="noStrike">
                <a:solidFill>
                  <a:srgbClr val="000000"/>
                </a:solidFill>
                <a:latin typeface="Arial"/>
                <a:ea typeface="Arial"/>
                <a:cs typeface="Arial"/>
                <a:sym typeface="Arial"/>
              </a:rPr>
              <a:t>for the people working for them (i.e. the supervisor checks that the worker is fulfilling their duties i.e. the worker follows the operating procedures), AND holds the worker accountable for their work</a:t>
            </a:r>
            <a:endParaRPr b="0" i="0" sz="1600" u="none" cap="none" strike="noStrike">
              <a:solidFill>
                <a:srgbClr val="000000"/>
              </a:solidFill>
              <a:latin typeface="Arial"/>
              <a:ea typeface="Arial"/>
              <a:cs typeface="Arial"/>
              <a:sym typeface="Arial"/>
            </a:endParaRPr>
          </a:p>
        </p:txBody>
      </p:sp>
      <p:grpSp>
        <p:nvGrpSpPr>
          <p:cNvPr id="314" name="Google Shape;314;p22"/>
          <p:cNvGrpSpPr/>
          <p:nvPr/>
        </p:nvGrpSpPr>
        <p:grpSpPr>
          <a:xfrm>
            <a:off x="180000" y="828000"/>
            <a:ext cx="3401400" cy="5328000"/>
            <a:chOff x="180000" y="828000"/>
            <a:chExt cx="3401400" cy="5328000"/>
          </a:xfrm>
        </p:grpSpPr>
        <p:sp>
          <p:nvSpPr>
            <p:cNvPr id="315" name="Google Shape;315;p22"/>
            <p:cNvSpPr txBox="1"/>
            <p:nvPr/>
          </p:nvSpPr>
          <p:spPr>
            <a:xfrm>
              <a:off x="360000" y="1600200"/>
              <a:ext cx="2880000" cy="39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Stockholders / Owners</a:t>
              </a:r>
              <a:endParaRPr b="1" i="0" sz="1800" u="none" cap="none" strike="noStrike">
                <a:solidFill>
                  <a:schemeClr val="dk1"/>
                </a:solidFill>
                <a:latin typeface="Arial"/>
                <a:ea typeface="Arial"/>
                <a:cs typeface="Arial"/>
                <a:sym typeface="Arial"/>
              </a:endParaRPr>
            </a:p>
          </p:txBody>
        </p:sp>
        <p:sp>
          <p:nvSpPr>
            <p:cNvPr id="316" name="Google Shape;316;p22"/>
            <p:cNvSpPr txBox="1"/>
            <p:nvPr/>
          </p:nvSpPr>
          <p:spPr>
            <a:xfrm>
              <a:off x="360000" y="2215302"/>
              <a:ext cx="2880000" cy="39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Board of Directors</a:t>
              </a:r>
              <a:endParaRPr b="1" i="0" sz="1800" u="none" cap="none" strike="noStrike">
                <a:solidFill>
                  <a:schemeClr val="dk1"/>
                </a:solidFill>
                <a:latin typeface="Arial"/>
                <a:ea typeface="Arial"/>
                <a:cs typeface="Arial"/>
                <a:sym typeface="Arial"/>
              </a:endParaRPr>
            </a:p>
          </p:txBody>
        </p:sp>
        <p:sp>
          <p:nvSpPr>
            <p:cNvPr id="317" name="Google Shape;317;p22"/>
            <p:cNvSpPr txBox="1"/>
            <p:nvPr/>
          </p:nvSpPr>
          <p:spPr>
            <a:xfrm>
              <a:off x="360000" y="2830404"/>
              <a:ext cx="2880000"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Directors / Executives</a:t>
              </a:r>
              <a:endParaRPr b="1" i="0" sz="1800" u="none" cap="none" strike="noStrike">
                <a:solidFill>
                  <a:schemeClr val="dk1"/>
                </a:solidFill>
                <a:latin typeface="Arial"/>
                <a:ea typeface="Arial"/>
                <a:cs typeface="Arial"/>
                <a:sym typeface="Arial"/>
              </a:endParaRPr>
            </a:p>
          </p:txBody>
        </p:sp>
        <p:sp>
          <p:nvSpPr>
            <p:cNvPr id="318" name="Google Shape;318;p22"/>
            <p:cNvSpPr txBox="1"/>
            <p:nvPr/>
          </p:nvSpPr>
          <p:spPr>
            <a:xfrm>
              <a:off x="360000" y="3445506"/>
              <a:ext cx="2880000" cy="39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Managers</a:t>
              </a:r>
              <a:endParaRPr b="1" i="0" sz="1800" u="none" cap="none" strike="noStrike">
                <a:solidFill>
                  <a:schemeClr val="dk1"/>
                </a:solidFill>
                <a:latin typeface="Arial"/>
                <a:ea typeface="Arial"/>
                <a:cs typeface="Arial"/>
                <a:sym typeface="Arial"/>
              </a:endParaRPr>
            </a:p>
          </p:txBody>
        </p:sp>
        <p:sp>
          <p:nvSpPr>
            <p:cNvPr id="319" name="Google Shape;319;p22"/>
            <p:cNvSpPr txBox="1"/>
            <p:nvPr/>
          </p:nvSpPr>
          <p:spPr>
            <a:xfrm>
              <a:off x="360000" y="4060608"/>
              <a:ext cx="2880000" cy="396000"/>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Supervisors</a:t>
              </a:r>
              <a:endParaRPr b="1" i="0" sz="1800" u="none" cap="none" strike="noStrike">
                <a:solidFill>
                  <a:schemeClr val="dk1"/>
                </a:solidFill>
                <a:latin typeface="Arial"/>
                <a:ea typeface="Arial"/>
                <a:cs typeface="Arial"/>
                <a:sym typeface="Arial"/>
              </a:endParaRPr>
            </a:p>
          </p:txBody>
        </p:sp>
        <p:sp>
          <p:nvSpPr>
            <p:cNvPr id="320" name="Google Shape;320;p22"/>
            <p:cNvSpPr txBox="1"/>
            <p:nvPr/>
          </p:nvSpPr>
          <p:spPr>
            <a:xfrm>
              <a:off x="360000" y="4675710"/>
              <a:ext cx="2880000" cy="369332"/>
            </a:xfrm>
            <a:prstGeom prst="rect">
              <a:avLst/>
            </a:prstGeom>
            <a:solidFill>
              <a:srgbClr val="0000CC"/>
            </a:solidFill>
            <a:ln cap="flat" cmpd="sng" w="9525">
              <a:solidFill>
                <a:srgbClr val="0000C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lt1"/>
                  </a:solidFill>
                  <a:latin typeface="Arial"/>
                  <a:ea typeface="Arial"/>
                  <a:cs typeface="Arial"/>
                  <a:sym typeface="Arial"/>
                </a:rPr>
                <a:t>Workers</a:t>
              </a:r>
              <a:endParaRPr b="1" i="0" sz="1800" u="none" cap="none" strike="noStrike">
                <a:solidFill>
                  <a:schemeClr val="lt1"/>
                </a:solidFill>
                <a:latin typeface="Arial"/>
                <a:ea typeface="Arial"/>
                <a:cs typeface="Arial"/>
                <a:sym typeface="Arial"/>
              </a:endParaRPr>
            </a:p>
          </p:txBody>
        </p:sp>
        <p:sp>
          <p:nvSpPr>
            <p:cNvPr id="321" name="Google Shape;321;p22"/>
            <p:cNvSpPr txBox="1"/>
            <p:nvPr/>
          </p:nvSpPr>
          <p:spPr>
            <a:xfrm>
              <a:off x="360000" y="5290812"/>
              <a:ext cx="2880000" cy="369332"/>
            </a:xfrm>
            <a:prstGeom prst="rect">
              <a:avLst/>
            </a:prstGeom>
            <a:solidFill>
              <a:srgbClr val="008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lt1"/>
                  </a:solidFill>
                  <a:latin typeface="Arial"/>
                  <a:ea typeface="Arial"/>
                  <a:cs typeface="Arial"/>
                  <a:sym typeface="Arial"/>
                </a:rPr>
                <a:t>Effective Action</a:t>
              </a:r>
              <a:endParaRPr b="1" i="0" sz="1800" u="none" cap="none" strike="noStrike">
                <a:solidFill>
                  <a:schemeClr val="lt1"/>
                </a:solidFill>
                <a:latin typeface="Arial"/>
                <a:ea typeface="Arial"/>
                <a:cs typeface="Arial"/>
                <a:sym typeface="Arial"/>
              </a:endParaRPr>
            </a:p>
          </p:txBody>
        </p:sp>
        <p:sp>
          <p:nvSpPr>
            <p:cNvPr id="322" name="Google Shape;322;p22"/>
            <p:cNvSpPr/>
            <p:nvPr/>
          </p:nvSpPr>
          <p:spPr>
            <a:xfrm>
              <a:off x="180000" y="828000"/>
              <a:ext cx="3401400" cy="53280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TheLine Management Model:</a:t>
              </a:r>
              <a:endParaRPr b="0"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323" name="Google Shape;323;p22"/>
            <p:cNvCxnSpPr>
              <a:stCxn id="315" idx="2"/>
              <a:endCxn id="316" idx="0"/>
            </p:cNvCxnSpPr>
            <p:nvPr/>
          </p:nvCxnSpPr>
          <p:spPr>
            <a:xfrm>
              <a:off x="1800000" y="1996200"/>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324" name="Google Shape;324;p22"/>
            <p:cNvCxnSpPr>
              <a:stCxn id="316" idx="2"/>
              <a:endCxn id="317" idx="0"/>
            </p:cNvCxnSpPr>
            <p:nvPr/>
          </p:nvCxnSpPr>
          <p:spPr>
            <a:xfrm>
              <a:off x="1800000" y="2611302"/>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325" name="Google Shape;325;p22"/>
            <p:cNvCxnSpPr>
              <a:stCxn id="317" idx="2"/>
              <a:endCxn id="318" idx="0"/>
            </p:cNvCxnSpPr>
            <p:nvPr/>
          </p:nvCxnSpPr>
          <p:spPr>
            <a:xfrm>
              <a:off x="1800000" y="3199736"/>
              <a:ext cx="0" cy="245700"/>
            </a:xfrm>
            <a:prstGeom prst="straightConnector1">
              <a:avLst/>
            </a:prstGeom>
            <a:noFill/>
            <a:ln cap="flat" cmpd="sng" w="38100">
              <a:solidFill>
                <a:schemeClr val="dk1"/>
              </a:solidFill>
              <a:prstDash val="solid"/>
              <a:round/>
              <a:headEnd len="sm" w="sm" type="none"/>
              <a:tailEnd len="med" w="med" type="triangle"/>
            </a:ln>
          </p:spPr>
        </p:cxnSp>
        <p:cxnSp>
          <p:nvCxnSpPr>
            <p:cNvPr id="326" name="Google Shape;326;p22"/>
            <p:cNvCxnSpPr>
              <a:stCxn id="318" idx="2"/>
              <a:endCxn id="319" idx="0"/>
            </p:cNvCxnSpPr>
            <p:nvPr/>
          </p:nvCxnSpPr>
          <p:spPr>
            <a:xfrm>
              <a:off x="1800000" y="3841506"/>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327" name="Google Shape;327;p22"/>
            <p:cNvCxnSpPr>
              <a:stCxn id="319" idx="2"/>
              <a:endCxn id="320" idx="0"/>
            </p:cNvCxnSpPr>
            <p:nvPr/>
          </p:nvCxnSpPr>
          <p:spPr>
            <a:xfrm>
              <a:off x="1800000" y="4456608"/>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328" name="Google Shape;328;p22"/>
            <p:cNvCxnSpPr>
              <a:stCxn id="320" idx="2"/>
              <a:endCxn id="321" idx="0"/>
            </p:cNvCxnSpPr>
            <p:nvPr/>
          </p:nvCxnSpPr>
          <p:spPr>
            <a:xfrm>
              <a:off x="1800000" y="5045042"/>
              <a:ext cx="0" cy="245700"/>
            </a:xfrm>
            <a:prstGeom prst="straightConnector1">
              <a:avLst/>
            </a:prstGeom>
            <a:noFill/>
            <a:ln cap="flat" cmpd="sng" w="38100">
              <a:solidFill>
                <a:schemeClr val="dk1"/>
              </a:solidFill>
              <a:prstDash val="solid"/>
              <a:round/>
              <a:headEnd len="sm" w="sm" type="none"/>
              <a:tailEnd len="med" w="med" type="triangle"/>
            </a:ln>
          </p:spPr>
        </p:cxnSp>
        <p:sp>
          <p:nvSpPr>
            <p:cNvPr id="329" name="Google Shape;329;p22"/>
            <p:cNvSpPr/>
            <p:nvPr/>
          </p:nvSpPr>
          <p:spPr>
            <a:xfrm>
              <a:off x="228600" y="3962400"/>
              <a:ext cx="3124200" cy="1219200"/>
            </a:xfrm>
            <a:prstGeom prst="roundRect">
              <a:avLst>
                <a:gd fmla="val 16667" name="adj"/>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p:txBody>
        </p:sp>
      </p:grpSp>
      <p:sp>
        <p:nvSpPr>
          <p:cNvPr id="330" name="Google Shape;330;p2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3"/>
          <p:cNvSpPr/>
          <p:nvPr/>
        </p:nvSpPr>
        <p:spPr>
          <a:xfrm>
            <a:off x="180000" y="828000"/>
            <a:ext cx="8640000" cy="4277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Let’s examine the meanings of these words: </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 meanings sound like they are the same, but they are not!</a:t>
            </a:r>
            <a:endParaRPr/>
          </a:p>
          <a:p>
            <a:pPr indent="-258400" lvl="0" marL="360000" marR="0" rtl="0" algn="l">
              <a:lnSpc>
                <a:spcPct val="90000"/>
              </a:lnSpc>
              <a:spcBef>
                <a:spcPts val="0"/>
              </a:spcBef>
              <a:spcAft>
                <a:spcPts val="0"/>
              </a:spcAft>
              <a:buClr>
                <a:srgbClr val="000000"/>
              </a:buClr>
              <a:buSzPts val="1600"/>
              <a:buFont typeface="Noto Sans Symbols"/>
              <a:buNone/>
            </a:pPr>
            <a:r>
              <a:t/>
            </a:r>
            <a:endParaRPr b="1" i="0" sz="16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600"/>
              <a:buFont typeface="Noto Sans Symbols"/>
              <a:buChar char="⮚"/>
            </a:pPr>
            <a:r>
              <a:rPr b="1" i="0" lang="en-US" sz="1600" u="none" cap="none" strike="noStrike">
                <a:solidFill>
                  <a:srgbClr val="000000"/>
                </a:solidFill>
                <a:latin typeface="Arial"/>
                <a:ea typeface="Arial"/>
                <a:cs typeface="Arial"/>
                <a:sym typeface="Arial"/>
              </a:rPr>
              <a:t>Responsibility:</a:t>
            </a:r>
            <a:r>
              <a:rPr b="0" i="0" lang="en-US" sz="1600" u="none" cap="none" strike="noStrike">
                <a:solidFill>
                  <a:srgbClr val="000000"/>
                </a:solidFill>
                <a:latin typeface="Arial"/>
                <a:ea typeface="Arial"/>
                <a:cs typeface="Arial"/>
                <a:sym typeface="Arial"/>
              </a:rPr>
              <a:t> an expectation or obligation (i.e. a set of duties, tasks, or goals) that is imposed on or assigned to a person</a:t>
            </a:r>
            <a:endParaRPr/>
          </a:p>
          <a:p>
            <a:pPr indent="-360000" lvl="0" marL="360000" marR="0" rtl="0" algn="l">
              <a:lnSpc>
                <a:spcPct val="90000"/>
              </a:lnSpc>
              <a:spcBef>
                <a:spcPts val="0"/>
              </a:spcBef>
              <a:spcAft>
                <a:spcPts val="0"/>
              </a:spcAft>
              <a:buClr>
                <a:srgbClr val="000000"/>
              </a:buClr>
              <a:buSzPts val="1600"/>
              <a:buFont typeface="Noto Sans Symbols"/>
              <a:buChar char="⮚"/>
            </a:pPr>
            <a:r>
              <a:rPr b="1" i="0" lang="en-US" sz="1600" u="none" cap="none" strike="noStrike">
                <a:solidFill>
                  <a:srgbClr val="000000"/>
                </a:solidFill>
                <a:latin typeface="Arial"/>
                <a:ea typeface="Arial"/>
                <a:cs typeface="Arial"/>
                <a:sym typeface="Arial"/>
              </a:rPr>
              <a:t>Responsible person:</a:t>
            </a:r>
            <a:r>
              <a:rPr b="0" i="0" lang="en-US" sz="1600" u="none" cap="none" strike="noStrike">
                <a:solidFill>
                  <a:srgbClr val="000000"/>
                </a:solidFill>
                <a:latin typeface="Arial"/>
                <a:ea typeface="Arial"/>
                <a:cs typeface="Arial"/>
                <a:sym typeface="Arial"/>
              </a:rPr>
              <a:t> </a:t>
            </a:r>
            <a:endParaRPr/>
          </a:p>
          <a:p>
            <a:pPr indent="-359999" lvl="0" marL="72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 person who is expected to do something (i.e. is assigned a set of duties, tasks, or goals), and is charged with (must fulfil) meeting or exceeding those expectations; in other words, one is responsible for their work, AND</a:t>
            </a:r>
            <a:endParaRPr/>
          </a:p>
          <a:p>
            <a:pPr indent="-359999" lvl="0" marL="72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 person who either enjoys the positive consequences for meeting or exceeding those expectations, or suffers the negative consequences for failing to do so; in other words, one is accountable for the performance of their work</a:t>
            </a:r>
            <a:endParaRPr/>
          </a:p>
          <a:p>
            <a:pPr indent="-258400" lvl="0" marL="360000" marR="0" rtl="0" algn="l">
              <a:lnSpc>
                <a:spcPct val="90000"/>
              </a:lnSpc>
              <a:spcBef>
                <a:spcPts val="0"/>
              </a:spcBef>
              <a:spcAft>
                <a:spcPts val="0"/>
              </a:spcAft>
              <a:buClr>
                <a:srgbClr val="000000"/>
              </a:buClr>
              <a:buSzPts val="1600"/>
              <a:buFont typeface="Noto Sans Symbols"/>
              <a:buNone/>
            </a:pPr>
            <a:r>
              <a:t/>
            </a:r>
            <a:endParaRPr b="1" i="0" sz="16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600"/>
              <a:buFont typeface="Noto Sans Symbols"/>
              <a:buChar char="⮚"/>
            </a:pPr>
            <a:r>
              <a:rPr b="1" i="0" lang="en-US" sz="1600" u="none" cap="none" strike="noStrike">
                <a:solidFill>
                  <a:srgbClr val="000000"/>
                </a:solidFill>
                <a:latin typeface="Arial"/>
                <a:ea typeface="Arial"/>
                <a:cs typeface="Arial"/>
                <a:sym typeface="Arial"/>
              </a:rPr>
              <a:t>Accountability:</a:t>
            </a:r>
            <a:r>
              <a:rPr b="0" i="0" lang="en-US" sz="1600" u="none" cap="none" strike="noStrike">
                <a:solidFill>
                  <a:srgbClr val="000000"/>
                </a:solidFill>
                <a:latin typeface="Arial"/>
                <a:ea typeface="Arial"/>
                <a:cs typeface="Arial"/>
                <a:sym typeface="Arial"/>
              </a:rPr>
              <a:t> the application of consequences, either i) positive for meeting or exceeding those expectations, or ii) negative for failing to do so; the consequences are commensurate with the performance (quality, quantity, timing, etc.) of the work </a:t>
            </a:r>
            <a:endParaRPr/>
          </a:p>
          <a:p>
            <a:pPr indent="-360000" lvl="0" marL="360000" marR="0" rtl="0" algn="l">
              <a:lnSpc>
                <a:spcPct val="90000"/>
              </a:lnSpc>
              <a:spcBef>
                <a:spcPts val="0"/>
              </a:spcBef>
              <a:spcAft>
                <a:spcPts val="0"/>
              </a:spcAft>
              <a:buClr>
                <a:srgbClr val="000000"/>
              </a:buClr>
              <a:buSzPts val="1600"/>
              <a:buFont typeface="Noto Sans Symbols"/>
              <a:buChar char="⮚"/>
            </a:pPr>
            <a:r>
              <a:rPr b="1" i="0" lang="en-US" sz="1600" u="none" cap="none" strike="noStrike">
                <a:solidFill>
                  <a:srgbClr val="000000"/>
                </a:solidFill>
                <a:latin typeface="Arial"/>
                <a:ea typeface="Arial"/>
                <a:cs typeface="Arial"/>
                <a:sym typeface="Arial"/>
              </a:rPr>
              <a:t>Accountable person</a:t>
            </a:r>
            <a:r>
              <a:rPr b="0" i="0" lang="en-US" sz="1600" u="none" cap="none" strike="noStrike">
                <a:solidFill>
                  <a:srgbClr val="000000"/>
                </a:solidFill>
                <a:latin typeface="Arial"/>
                <a:ea typeface="Arial"/>
                <a:cs typeface="Arial"/>
                <a:sym typeface="Arial"/>
              </a:rPr>
              <a:t>.</a:t>
            </a:r>
            <a:endParaRPr/>
          </a:p>
          <a:p>
            <a:pPr indent="-359999" lvl="0" marL="72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 person who </a:t>
            </a:r>
            <a:r>
              <a:rPr b="0" i="0" lang="en-US" sz="1600" u="sng" cap="none" strike="noStrike">
                <a:solidFill>
                  <a:srgbClr val="000000"/>
                </a:solidFill>
                <a:latin typeface="Arial"/>
                <a:ea typeface="Arial"/>
                <a:cs typeface="Arial"/>
                <a:sym typeface="Arial"/>
              </a:rPr>
              <a:t>applies the consequences</a:t>
            </a:r>
            <a:r>
              <a:rPr b="0" i="0" lang="en-US" sz="1600" u="none" cap="none" strike="noStrike">
                <a:solidFill>
                  <a:srgbClr val="000000"/>
                </a:solidFill>
                <a:latin typeface="Arial"/>
                <a:ea typeface="Arial"/>
                <a:cs typeface="Arial"/>
                <a:sym typeface="Arial"/>
              </a:rPr>
              <a:t> to the responsible person.</a:t>
            </a:r>
            <a:endParaRPr/>
          </a:p>
        </p:txBody>
      </p:sp>
      <p:sp>
        <p:nvSpPr>
          <p:cNvPr id="337" name="Google Shape;337;p2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Who is </a:t>
            </a:r>
            <a:r>
              <a:rPr b="0" i="0" lang="en-US" sz="2400" u="sng" cap="none" strike="noStrike">
                <a:solidFill>
                  <a:schemeClr val="accent2"/>
                </a:solidFill>
                <a:latin typeface="Arial"/>
                <a:ea typeface="Arial"/>
                <a:cs typeface="Arial"/>
                <a:sym typeface="Arial"/>
              </a:rPr>
              <a:t>Responsible</a:t>
            </a:r>
            <a:r>
              <a:rPr b="0" i="0" lang="en-US" sz="2400" u="none" cap="none" strike="noStrike">
                <a:solidFill>
                  <a:schemeClr val="accent2"/>
                </a:solidFill>
                <a:latin typeface="Arial"/>
                <a:ea typeface="Arial"/>
                <a:cs typeface="Arial"/>
                <a:sym typeface="Arial"/>
              </a:rPr>
              <a:t> and Who is </a:t>
            </a:r>
            <a:r>
              <a:rPr b="0" i="0" lang="en-US" sz="2400" u="sng" cap="none" strike="noStrike">
                <a:solidFill>
                  <a:schemeClr val="accent2"/>
                </a:solidFill>
                <a:latin typeface="Arial"/>
                <a:ea typeface="Arial"/>
                <a:cs typeface="Arial"/>
                <a:sym typeface="Arial"/>
              </a:rPr>
              <a:t>Accountable</a:t>
            </a:r>
            <a:r>
              <a:rPr b="0" i="0" lang="en-US" sz="2400" u="none" cap="none" strike="noStrike">
                <a:solidFill>
                  <a:schemeClr val="accent2"/>
                </a:solidFill>
                <a:latin typeface="Arial"/>
                <a:ea typeface="Arial"/>
                <a:cs typeface="Arial"/>
                <a:sym typeface="Arial"/>
              </a:rPr>
              <a:t>?</a:t>
            </a:r>
            <a:endParaRPr b="0" i="0" sz="2400" u="none" cap="none" strike="noStrike">
              <a:solidFill>
                <a:schemeClr val="accent2"/>
              </a:solidFill>
              <a:latin typeface="Arial"/>
              <a:ea typeface="Arial"/>
              <a:cs typeface="Arial"/>
              <a:sym typeface="Arial"/>
            </a:endParaRPr>
          </a:p>
        </p:txBody>
      </p:sp>
      <p:sp>
        <p:nvSpPr>
          <p:cNvPr id="338" name="Google Shape;338;p2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39" name="Google Shape;339;p2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
        <p:nvSpPr>
          <p:cNvPr id="340" name="Google Shape;340;p23"/>
          <p:cNvSpPr/>
          <p:nvPr/>
        </p:nvSpPr>
        <p:spPr>
          <a:xfrm>
            <a:off x="180000" y="5105400"/>
            <a:ext cx="8640000" cy="10506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Simply:</a:t>
            </a:r>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 responsible person is “the doer”.</a:t>
            </a:r>
            <a:endParaRPr b="0" i="0" sz="1600" u="none" cap="none" strike="noStrike">
              <a:solidFill>
                <a:schemeClr val="lt1"/>
              </a:solidFill>
              <a:latin typeface="Arial"/>
              <a:ea typeface="Arial"/>
              <a:cs typeface="Arial"/>
              <a:sym typeface="Arial"/>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 accountable person “checks that the doer has done their job, and </a:t>
            </a:r>
            <a:br>
              <a:rPr b="0" i="0" lang="en-US" sz="1600" u="none" cap="none" strike="noStrike">
                <a:solidFill>
                  <a:schemeClr val="lt1"/>
                </a:solidFill>
                <a:latin typeface="Arial"/>
                <a:ea typeface="Arial"/>
                <a:cs typeface="Arial"/>
                <a:sym typeface="Arial"/>
              </a:rPr>
            </a:br>
            <a:r>
              <a:rPr b="0" i="0" lang="en-US" sz="1600" u="none" cap="none" strike="noStrike">
                <a:solidFill>
                  <a:schemeClr val="lt1"/>
                </a:solidFill>
                <a:latin typeface="Arial"/>
                <a:ea typeface="Arial"/>
                <a:cs typeface="Arial"/>
                <a:sym typeface="Arial"/>
              </a:rPr>
              <a:t>applies appropriate consequences”.</a:t>
            </a:r>
            <a:endParaRPr b="0" i="0" sz="1600" u="none" cap="none" strike="noStrike">
              <a:solidFill>
                <a:schemeClr val="lt1"/>
              </a:solidFill>
              <a:latin typeface="Arial"/>
              <a:ea typeface="Arial"/>
              <a:cs typeface="Arial"/>
              <a:sym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The </a:t>
            </a:r>
            <a:r>
              <a:rPr b="1" i="0" lang="en-US" sz="1800" u="none" cap="none" strike="noStrike">
                <a:solidFill>
                  <a:srgbClr val="000000"/>
                </a:solidFill>
                <a:latin typeface="Arial"/>
                <a:ea typeface="Arial"/>
                <a:cs typeface="Arial"/>
                <a:sym typeface="Arial"/>
              </a:rPr>
              <a:t>Two</a:t>
            </a:r>
            <a:r>
              <a:rPr b="0" i="0" lang="en-US" sz="1800" u="none" cap="none" strike="noStrike">
                <a:solidFill>
                  <a:srgbClr val="000000"/>
                </a:solidFill>
                <a:latin typeface="Arial"/>
                <a:ea typeface="Arial"/>
                <a:cs typeface="Arial"/>
                <a:sym typeface="Arial"/>
              </a:rPr>
              <a:t> (of the 3) </a:t>
            </a:r>
            <a:r>
              <a:rPr b="1" i="0" lang="en-US" sz="1800" u="none" cap="none" strike="noStrike">
                <a:solidFill>
                  <a:srgbClr val="000000"/>
                </a:solidFill>
                <a:latin typeface="Arial"/>
                <a:ea typeface="Arial"/>
                <a:cs typeface="Arial"/>
                <a:sym typeface="Arial"/>
              </a:rPr>
              <a:t>Key Relationships</a:t>
            </a:r>
            <a:r>
              <a:rPr b="0" i="0" lang="en-US" sz="1800" u="none" cap="none" strike="noStrike">
                <a:solidFill>
                  <a:srgbClr val="000000"/>
                </a:solidFill>
                <a:latin typeface="Arial"/>
                <a:ea typeface="Arial"/>
                <a:cs typeface="Arial"/>
                <a:sym typeface="Arial"/>
              </a:rPr>
              <a:t>: </a:t>
            </a:r>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sng" cap="none" strike="noStrike">
                <a:solidFill>
                  <a:srgbClr val="000000"/>
                </a:solidFill>
                <a:latin typeface="Arial"/>
                <a:ea typeface="Arial"/>
                <a:cs typeface="Arial"/>
                <a:sym typeface="Arial"/>
              </a:rPr>
              <a:t>Relative Positions of Authority</a:t>
            </a:r>
            <a:r>
              <a:rPr b="0" i="0" lang="en-US" sz="1800" u="none" cap="none" strike="noStrike">
                <a:solidFill>
                  <a:srgbClr val="000000"/>
                </a:solidFill>
                <a:latin typeface="Arial"/>
                <a:ea typeface="Arial"/>
                <a:cs typeface="Arial"/>
                <a:sym typeface="Arial"/>
              </a:rPr>
              <a:t> as defined by the Models:</a:t>
            </a:r>
            <a:endParaRPr b="0" i="0" sz="1800" u="none" cap="none" strike="noStrike">
              <a:solidFill>
                <a:srgbClr val="000000"/>
              </a:solidFill>
              <a:latin typeface="Arial"/>
              <a:ea typeface="Arial"/>
              <a:cs typeface="Arial"/>
              <a:sym typeface="Arial"/>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Between </a:t>
            </a:r>
            <a:r>
              <a:rPr b="0" i="0" lang="en-US" sz="1800" u="sng" cap="none" strike="noStrike">
                <a:solidFill>
                  <a:srgbClr val="000000"/>
                </a:solidFill>
                <a:latin typeface="Arial"/>
                <a:ea typeface="Arial"/>
                <a:cs typeface="Arial"/>
                <a:sym typeface="Arial"/>
              </a:rPr>
              <a:t>You and Your Direct Supervisor</a:t>
            </a:r>
            <a:r>
              <a:rPr b="0" i="0" lang="en-US" sz="1800" u="none" cap="none" strike="noStrike">
                <a:solidFill>
                  <a:srgbClr val="000000"/>
                </a:solidFill>
                <a:latin typeface="Arial"/>
                <a:ea typeface="Arial"/>
                <a:cs typeface="Arial"/>
                <a:sym typeface="Arial"/>
              </a:rPr>
              <a:t>, and </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Between </a:t>
            </a:r>
            <a:r>
              <a:rPr b="0" i="0" lang="en-US" sz="1800" u="sng" cap="none" strike="noStrike">
                <a:solidFill>
                  <a:srgbClr val="000000"/>
                </a:solidFill>
                <a:latin typeface="Arial"/>
                <a:ea typeface="Arial"/>
                <a:cs typeface="Arial"/>
                <a:sym typeface="Arial"/>
              </a:rPr>
              <a:t>You and The People that Work for You</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So, in the context of the two models:</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a:t>
            </a:r>
            <a:r>
              <a:rPr b="0" i="0" lang="en-US" sz="1800" u="sng" cap="none" strike="noStrike">
                <a:solidFill>
                  <a:srgbClr val="000000"/>
                </a:solidFill>
                <a:latin typeface="Arial"/>
                <a:ea typeface="Arial"/>
                <a:cs typeface="Arial"/>
                <a:sym typeface="Arial"/>
              </a:rPr>
              <a:t>people</a:t>
            </a:r>
            <a:r>
              <a:rPr b="0" i="0" lang="en-US" sz="1800" u="none" cap="none" strike="noStrike">
                <a:solidFill>
                  <a:srgbClr val="000000"/>
                </a:solidFill>
                <a:latin typeface="Arial"/>
                <a:ea typeface="Arial"/>
                <a:cs typeface="Arial"/>
                <a:sym typeface="Arial"/>
              </a:rPr>
              <a:t> that work for you are </a:t>
            </a:r>
            <a:r>
              <a:rPr b="0" i="0" lang="en-US" sz="1800" u="sng" cap="none" strike="noStrike">
                <a:solidFill>
                  <a:srgbClr val="000000"/>
                </a:solidFill>
                <a:latin typeface="Arial"/>
                <a:ea typeface="Arial"/>
                <a:cs typeface="Arial"/>
                <a:sym typeface="Arial"/>
              </a:rPr>
              <a:t>responsible for </a:t>
            </a:r>
            <a:br>
              <a:rPr b="0" i="0" lang="en-US" sz="1800" u="sng" cap="none" strike="noStrike">
                <a:solidFill>
                  <a:srgbClr val="000000"/>
                </a:solidFill>
                <a:latin typeface="Arial"/>
                <a:ea typeface="Arial"/>
                <a:cs typeface="Arial"/>
                <a:sym typeface="Arial"/>
              </a:rPr>
            </a:br>
            <a:r>
              <a:rPr b="0" i="0" lang="en-US" sz="1800" u="sng" cap="none" strike="noStrike">
                <a:solidFill>
                  <a:srgbClr val="000000"/>
                </a:solidFill>
                <a:latin typeface="Arial"/>
                <a:ea typeface="Arial"/>
                <a:cs typeface="Arial"/>
                <a:sym typeface="Arial"/>
              </a:rPr>
              <a:t>the work they do</a:t>
            </a:r>
            <a:r>
              <a:rPr b="0" i="0" lang="en-US" sz="1800" u="none" cap="none" strike="noStrike">
                <a:solidFill>
                  <a:srgbClr val="000000"/>
                </a:solidFill>
                <a:latin typeface="Arial"/>
                <a:ea typeface="Arial"/>
                <a:cs typeface="Arial"/>
                <a:sym typeface="Arial"/>
              </a:rPr>
              <a:t>.</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sng" cap="none" strike="noStrike">
                <a:solidFill>
                  <a:srgbClr val="000000"/>
                </a:solidFill>
                <a:latin typeface="Arial"/>
                <a:ea typeface="Arial"/>
                <a:cs typeface="Arial"/>
                <a:sym typeface="Arial"/>
              </a:rPr>
              <a:t>You</a:t>
            </a:r>
            <a:r>
              <a:rPr b="0" i="0" lang="en-US" sz="1800" u="none" cap="none" strike="noStrike">
                <a:solidFill>
                  <a:srgbClr val="000000"/>
                </a:solidFill>
                <a:latin typeface="Arial"/>
                <a:ea typeface="Arial"/>
                <a:cs typeface="Arial"/>
                <a:sym typeface="Arial"/>
              </a:rPr>
              <a:t>, the supervisor, are accountable for your people and</a:t>
            </a:r>
            <a:br>
              <a:rPr b="0" i="0" lang="en-US" sz="1800" u="none" cap="none" strike="noStrike">
                <a:solidFill>
                  <a:srgbClr val="000000"/>
                </a:solidFill>
                <a:latin typeface="Arial"/>
                <a:ea typeface="Arial"/>
                <a:cs typeface="Arial"/>
                <a:sym typeface="Arial"/>
              </a:rPr>
            </a:br>
            <a:r>
              <a:rPr b="0" i="0" lang="en-US" sz="1800" u="sng" cap="none" strike="noStrike">
                <a:solidFill>
                  <a:srgbClr val="000000"/>
                </a:solidFill>
                <a:latin typeface="Arial"/>
                <a:ea typeface="Arial"/>
                <a:cs typeface="Arial"/>
                <a:sym typeface="Arial"/>
              </a:rPr>
              <a:t>must hold your people accountable</a:t>
            </a:r>
            <a:r>
              <a:rPr b="0" i="0" lang="en-US" sz="1800" u="none" cap="none" strike="noStrike">
                <a:solidFill>
                  <a:srgbClr val="000000"/>
                </a:solidFill>
                <a:latin typeface="Arial"/>
                <a:ea typeface="Arial"/>
                <a:cs typeface="Arial"/>
                <a:sym typeface="Arial"/>
              </a:rPr>
              <a:t> for the performance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of their work.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Moving up in the Models, </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sng" cap="none" strike="noStrike">
                <a:solidFill>
                  <a:srgbClr val="000000"/>
                </a:solidFill>
                <a:latin typeface="Arial"/>
                <a:ea typeface="Arial"/>
                <a:cs typeface="Arial"/>
                <a:sym typeface="Arial"/>
              </a:rPr>
              <a:t>You</a:t>
            </a:r>
            <a:r>
              <a:rPr b="0" i="0" lang="en-US" sz="1800" u="none" cap="none" strike="noStrike">
                <a:solidFill>
                  <a:srgbClr val="000000"/>
                </a:solidFill>
                <a:latin typeface="Arial"/>
                <a:ea typeface="Arial"/>
                <a:cs typeface="Arial"/>
                <a:sym typeface="Arial"/>
              </a:rPr>
              <a:t>, the supervisor, are </a:t>
            </a:r>
            <a:r>
              <a:rPr b="0" i="0" lang="en-US" sz="1800" u="sng" cap="none" strike="noStrike">
                <a:solidFill>
                  <a:srgbClr val="000000"/>
                </a:solidFill>
                <a:latin typeface="Arial"/>
                <a:ea typeface="Arial"/>
                <a:cs typeface="Arial"/>
                <a:sym typeface="Arial"/>
              </a:rPr>
              <a:t>responsible for supervising </a:t>
            </a:r>
            <a:br>
              <a:rPr b="0" i="0" lang="en-US" sz="1800" u="sng" cap="none" strike="noStrike">
                <a:solidFill>
                  <a:srgbClr val="000000"/>
                </a:solidFill>
                <a:latin typeface="Arial"/>
                <a:ea typeface="Arial"/>
                <a:cs typeface="Arial"/>
                <a:sym typeface="Arial"/>
              </a:rPr>
            </a:br>
            <a:r>
              <a:rPr b="0" i="0" lang="en-US" sz="1800" u="sng" cap="none" strike="noStrike">
                <a:solidFill>
                  <a:srgbClr val="000000"/>
                </a:solidFill>
                <a:latin typeface="Arial"/>
                <a:ea typeface="Arial"/>
                <a:cs typeface="Arial"/>
                <a:sym typeface="Arial"/>
              </a:rPr>
              <a:t>your people</a:t>
            </a:r>
            <a:r>
              <a:rPr b="0" i="0" lang="en-US" sz="1800" u="none" cap="none" strike="noStrike">
                <a:solidFill>
                  <a:srgbClr val="000000"/>
                </a:solidFill>
                <a:latin typeface="Arial"/>
                <a:ea typeface="Arial"/>
                <a:cs typeface="Arial"/>
                <a:sym typeface="Arial"/>
              </a:rPr>
              <a:t> e.g. directing their work and holding them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accountable for the performance of their work.</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sng" cap="none" strike="noStrike">
                <a:solidFill>
                  <a:srgbClr val="000000"/>
                </a:solidFill>
                <a:latin typeface="Arial"/>
                <a:ea typeface="Arial"/>
                <a:cs typeface="Arial"/>
                <a:sym typeface="Arial"/>
              </a:rPr>
              <a:t>Your direct supervisor</a:t>
            </a:r>
            <a:r>
              <a:rPr b="0" i="0" lang="en-US" sz="1800" u="none" cap="none" strike="noStrike">
                <a:solidFill>
                  <a:srgbClr val="000000"/>
                </a:solidFill>
                <a:latin typeface="Arial"/>
                <a:ea typeface="Arial"/>
                <a:cs typeface="Arial"/>
                <a:sym typeface="Arial"/>
              </a:rPr>
              <a:t> </a:t>
            </a:r>
            <a:r>
              <a:rPr b="0" i="0" lang="en-US" sz="1800" u="sng" cap="none" strike="noStrike">
                <a:solidFill>
                  <a:srgbClr val="000000"/>
                </a:solidFill>
                <a:latin typeface="Arial"/>
                <a:ea typeface="Arial"/>
                <a:cs typeface="Arial"/>
                <a:sym typeface="Arial"/>
              </a:rPr>
              <a:t>must hold you accountable</a:t>
            </a:r>
            <a:r>
              <a:rPr b="0" i="0" lang="en-US" sz="1800" u="none" cap="none" strike="noStrike">
                <a:solidFill>
                  <a:srgbClr val="000000"/>
                </a:solidFill>
                <a:latin typeface="Arial"/>
                <a:ea typeface="Arial"/>
                <a:cs typeface="Arial"/>
                <a:sym typeface="Arial"/>
              </a:rPr>
              <a:t> for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your performance in supervising the people that work for you.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347" name="Google Shape;347;p24"/>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000"/>
              <a:buFont typeface="Arial"/>
              <a:buNone/>
            </a:pPr>
            <a:r>
              <a:rPr b="0" i="0" lang="en-US" sz="2000" u="none" cap="none" strike="noStrike">
                <a:solidFill>
                  <a:schemeClr val="accent2"/>
                </a:solidFill>
                <a:latin typeface="Arial"/>
                <a:ea typeface="Arial"/>
                <a:cs typeface="Arial"/>
                <a:sym typeface="Arial"/>
              </a:rPr>
              <a:t>Responsible, Accountable, Line Management and Two Key Relationships:</a:t>
            </a:r>
            <a:endParaRPr b="0" i="0" sz="2000" u="none" cap="none" strike="noStrike">
              <a:solidFill>
                <a:schemeClr val="accent2"/>
              </a:solidFill>
              <a:latin typeface="Arial"/>
              <a:ea typeface="Arial"/>
              <a:cs typeface="Arial"/>
              <a:sym typeface="Arial"/>
            </a:endParaRPr>
          </a:p>
        </p:txBody>
      </p:sp>
      <p:sp>
        <p:nvSpPr>
          <p:cNvPr id="348" name="Google Shape;348;p2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49" name="Google Shape;349;p2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pic>
        <p:nvPicPr>
          <p:cNvPr id="350" name="Google Shape;350;p24"/>
          <p:cNvPicPr preferRelativeResize="0"/>
          <p:nvPr/>
        </p:nvPicPr>
        <p:blipFill rotWithShape="1">
          <a:blip r:embed="rId3">
            <a:alphaModFix/>
          </a:blip>
          <a:srcRect b="0" l="0" r="0" t="0"/>
          <a:stretch/>
        </p:blipFill>
        <p:spPr>
          <a:xfrm>
            <a:off x="7121670" y="3492000"/>
            <a:ext cx="1869930" cy="1613400"/>
          </a:xfrm>
          <a:prstGeom prst="rect">
            <a:avLst/>
          </a:prstGeom>
          <a:noFill/>
          <a:ln cap="flat" cmpd="sng" w="9525">
            <a:solidFill>
              <a:schemeClr val="dk1"/>
            </a:solidFill>
            <a:prstDash val="solid"/>
            <a:round/>
            <a:headEnd len="sm" w="sm" type="none"/>
            <a:tailEnd len="sm" w="sm" type="none"/>
          </a:ln>
        </p:spPr>
      </p:pic>
      <p:pic>
        <p:nvPicPr>
          <p:cNvPr id="351" name="Google Shape;351;p24"/>
          <p:cNvPicPr preferRelativeResize="0"/>
          <p:nvPr/>
        </p:nvPicPr>
        <p:blipFill rotWithShape="1">
          <a:blip r:embed="rId4">
            <a:alphaModFix/>
          </a:blip>
          <a:srcRect b="0" l="0" r="0" t="0"/>
          <a:stretch/>
        </p:blipFill>
        <p:spPr>
          <a:xfrm>
            <a:off x="7106949" y="864000"/>
            <a:ext cx="1884651" cy="2511750"/>
          </a:xfrm>
          <a:prstGeom prst="rect">
            <a:avLst/>
          </a:prstGeom>
          <a:noFill/>
          <a:ln>
            <a:no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The People that Work for You</a:t>
            </a:r>
            <a:r>
              <a:rPr b="1" i="0" lang="en-US" sz="1800" u="none" cap="none" strike="noStrike">
                <a:solidFill>
                  <a:srgbClr val="000000"/>
                </a:solidFill>
                <a:latin typeface="Arial"/>
                <a:ea typeface="Arial"/>
                <a:cs typeface="Arial"/>
                <a:sym typeface="Arial"/>
              </a:rPr>
              <a:t> and </a:t>
            </a:r>
            <a:r>
              <a:rPr b="1" i="0" lang="en-US" sz="1800" u="sng" cap="none" strike="noStrike">
                <a:solidFill>
                  <a:srgbClr val="000000"/>
                </a:solidFill>
                <a:latin typeface="Arial"/>
                <a:ea typeface="Arial"/>
                <a:cs typeface="Arial"/>
                <a:sym typeface="Arial"/>
              </a:rPr>
              <a:t>You</a:t>
            </a:r>
            <a:r>
              <a:rPr b="1" i="0" lang="en-US" sz="1800" u="none" cap="none" strike="noStrike">
                <a:solidFill>
                  <a:srgbClr val="000000"/>
                </a:solidFill>
                <a:latin typeface="Arial"/>
                <a:ea typeface="Arial"/>
                <a:cs typeface="Arial"/>
                <a:sym typeface="Arial"/>
              </a:rPr>
              <a:t> – an explanation in more detail:</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a:t>
            </a:r>
            <a:r>
              <a:rPr b="0" i="0" lang="en-US" sz="1800" u="sng" cap="none" strike="noStrike">
                <a:solidFill>
                  <a:srgbClr val="000000"/>
                </a:solidFill>
                <a:latin typeface="Arial"/>
                <a:ea typeface="Arial"/>
                <a:cs typeface="Arial"/>
                <a:sym typeface="Arial"/>
              </a:rPr>
              <a:t>people that work for you</a:t>
            </a:r>
            <a:r>
              <a:rPr b="0" i="0" lang="en-US" sz="1800" u="none" cap="none" strike="noStrike">
                <a:solidFill>
                  <a:srgbClr val="000000"/>
                </a:solidFill>
                <a:latin typeface="Arial"/>
                <a:ea typeface="Arial"/>
                <a:cs typeface="Arial"/>
                <a:sym typeface="Arial"/>
              </a:rPr>
              <a:t> (the workers) are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responsible for the duties that they perform.</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sng"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sng" cap="none" strike="noStrike">
                <a:solidFill>
                  <a:srgbClr val="000000"/>
                </a:solidFill>
                <a:latin typeface="Arial"/>
                <a:ea typeface="Arial"/>
                <a:cs typeface="Arial"/>
                <a:sym typeface="Arial"/>
              </a:rPr>
              <a:t>You</a:t>
            </a:r>
            <a:r>
              <a:rPr b="0" i="0" lang="en-US" sz="1800" u="none" cap="none" strike="noStrike">
                <a:solidFill>
                  <a:srgbClr val="000000"/>
                </a:solidFill>
                <a:latin typeface="Arial"/>
                <a:ea typeface="Arial"/>
                <a:cs typeface="Arial"/>
                <a:sym typeface="Arial"/>
              </a:rPr>
              <a:t>, the  supervisor of the workers, are responsible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for the </a:t>
            </a:r>
            <a:r>
              <a:rPr b="0" i="0" lang="en-US" sz="1800" u="sng" cap="none" strike="noStrike">
                <a:solidFill>
                  <a:srgbClr val="000000"/>
                </a:solidFill>
                <a:latin typeface="Arial"/>
                <a:ea typeface="Arial"/>
                <a:cs typeface="Arial"/>
                <a:sym typeface="Arial"/>
              </a:rPr>
              <a:t>people that work for you</a:t>
            </a:r>
            <a:r>
              <a:rPr b="0" i="0" lang="en-US" sz="1800" u="none" cap="none" strike="noStrike">
                <a:solidFill>
                  <a:srgbClr val="000000"/>
                </a:solidFill>
                <a:latin typeface="Arial"/>
                <a:ea typeface="Arial"/>
                <a:cs typeface="Arial"/>
                <a:sym typeface="Arial"/>
              </a:rPr>
              <a:t>:</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 direct them in their work i.e. you assign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work to them, and</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 </a:t>
            </a:r>
            <a:r>
              <a:rPr b="0" i="0" lang="en-US" sz="1800" u="sng" cap="none" strike="noStrike">
                <a:solidFill>
                  <a:srgbClr val="000000"/>
                </a:solidFill>
                <a:latin typeface="Arial"/>
                <a:ea typeface="Arial"/>
                <a:cs typeface="Arial"/>
                <a:sym typeface="Arial"/>
              </a:rPr>
              <a:t>must hold</a:t>
            </a:r>
            <a:r>
              <a:rPr b="0" i="0" lang="en-US" sz="1800" u="none" cap="none" strike="noStrike">
                <a:solidFill>
                  <a:srgbClr val="000000"/>
                </a:solidFill>
                <a:latin typeface="Arial"/>
                <a:ea typeface="Arial"/>
                <a:cs typeface="Arial"/>
                <a:sym typeface="Arial"/>
              </a:rPr>
              <a:t> the people that work for you </a:t>
            </a:r>
            <a:br>
              <a:rPr b="0" i="0" lang="en-US" sz="1800" u="none" cap="none" strike="noStrike">
                <a:solidFill>
                  <a:srgbClr val="000000"/>
                </a:solidFill>
                <a:latin typeface="Arial"/>
                <a:ea typeface="Arial"/>
                <a:cs typeface="Arial"/>
                <a:sym typeface="Arial"/>
              </a:rPr>
            </a:br>
            <a:r>
              <a:rPr b="0" i="0" lang="en-US" sz="1800" u="sng" cap="none" strike="noStrike">
                <a:solidFill>
                  <a:srgbClr val="000000"/>
                </a:solidFill>
                <a:latin typeface="Arial"/>
                <a:ea typeface="Arial"/>
                <a:cs typeface="Arial"/>
                <a:sym typeface="Arial"/>
              </a:rPr>
              <a:t>accountable</a:t>
            </a:r>
            <a:r>
              <a:rPr b="0" i="0" lang="en-US" sz="1800" u="none" cap="none" strike="noStrike">
                <a:solidFill>
                  <a:srgbClr val="000000"/>
                </a:solidFill>
                <a:latin typeface="Arial"/>
                <a:ea typeface="Arial"/>
                <a:cs typeface="Arial"/>
                <a:sym typeface="Arial"/>
              </a:rPr>
              <a:t> for their performance:</a:t>
            </a:r>
            <a:endParaRPr/>
          </a:p>
          <a:p>
            <a:pPr indent="-359999" lvl="0" marL="108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 </a:t>
            </a:r>
            <a:r>
              <a:rPr b="0" i="0" lang="en-US" sz="1800" u="sng" cap="none" strike="noStrike">
                <a:solidFill>
                  <a:srgbClr val="000000"/>
                </a:solidFill>
                <a:latin typeface="Arial"/>
                <a:ea typeface="Arial"/>
                <a:cs typeface="Arial"/>
                <a:sym typeface="Arial"/>
              </a:rPr>
              <a:t>check</a:t>
            </a:r>
            <a:r>
              <a:rPr b="0" i="0" lang="en-US" sz="1800" u="none" cap="none" strike="noStrike">
                <a:solidFill>
                  <a:srgbClr val="000000"/>
                </a:solidFill>
                <a:latin typeface="Arial"/>
                <a:ea typeface="Arial"/>
                <a:cs typeface="Arial"/>
                <a:sym typeface="Arial"/>
              </a:rPr>
              <a:t> on their performance AND</a:t>
            </a:r>
            <a:endParaRPr/>
          </a:p>
          <a:p>
            <a:pPr indent="-359999" lvl="0" marL="108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You </a:t>
            </a:r>
            <a:r>
              <a:rPr b="0" i="0" lang="en-US" sz="1800" u="sng" cap="none" strike="noStrike">
                <a:solidFill>
                  <a:srgbClr val="000000"/>
                </a:solidFill>
                <a:latin typeface="Arial"/>
                <a:ea typeface="Arial"/>
                <a:cs typeface="Arial"/>
                <a:sym typeface="Arial"/>
              </a:rPr>
              <a:t>apply consequences</a:t>
            </a:r>
            <a:r>
              <a:rPr b="0" i="0" lang="en-US" sz="1800" u="none" cap="none" strike="noStrike">
                <a:solidFill>
                  <a:srgbClr val="000000"/>
                </a:solidFill>
                <a:latin typeface="Arial"/>
                <a:ea typeface="Arial"/>
                <a:cs typeface="Arial"/>
                <a:sym typeface="Arial"/>
              </a:rPr>
              <a:t> based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on their performance:</a:t>
            </a:r>
            <a:endParaRPr/>
          </a:p>
          <a:p>
            <a:pPr indent="-360000" lvl="0" marL="144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Positive: you commend your workers for their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performance that meets or exceeds expectations;</a:t>
            </a:r>
            <a:endParaRPr/>
          </a:p>
          <a:p>
            <a:pPr indent="-360000" lvl="0" marL="144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Negative: you “coach your workers to be successful ”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i.e. re-train, mentor, correct their behaviours, perhaps reprimand or demote or terminate, for work that does not meet expectations. </a:t>
            </a:r>
            <a:endParaRPr b="0" i="0" sz="1800" u="none" cap="none" strike="noStrike">
              <a:solidFill>
                <a:srgbClr val="000000"/>
              </a:solidFill>
              <a:latin typeface="Arial"/>
              <a:ea typeface="Arial"/>
              <a:cs typeface="Arial"/>
              <a:sym typeface="Arial"/>
            </a:endParaRPr>
          </a:p>
        </p:txBody>
      </p:sp>
      <p:sp>
        <p:nvSpPr>
          <p:cNvPr id="358" name="Google Shape;358;p25"/>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000"/>
              <a:buFont typeface="Arial"/>
              <a:buNone/>
            </a:pPr>
            <a:r>
              <a:rPr b="0" i="0" lang="en-US" sz="2000" u="none" cap="none" strike="noStrike">
                <a:solidFill>
                  <a:schemeClr val="accent2"/>
                </a:solidFill>
                <a:latin typeface="Arial"/>
                <a:ea typeface="Arial"/>
                <a:cs typeface="Arial"/>
                <a:sym typeface="Arial"/>
              </a:rPr>
              <a:t>Responsible, Accountable, Line Management and Two Key Relationships:</a:t>
            </a:r>
            <a:endParaRPr/>
          </a:p>
        </p:txBody>
      </p:sp>
      <p:sp>
        <p:nvSpPr>
          <p:cNvPr id="359" name="Google Shape;359;p2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60" name="Google Shape;360;p2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pic>
        <p:nvPicPr>
          <p:cNvPr id="361" name="Google Shape;361;p25"/>
          <p:cNvPicPr preferRelativeResize="0"/>
          <p:nvPr/>
        </p:nvPicPr>
        <p:blipFill rotWithShape="1">
          <a:blip r:embed="rId3">
            <a:alphaModFix/>
          </a:blip>
          <a:srcRect b="0" l="0" r="0" t="0"/>
          <a:stretch/>
        </p:blipFill>
        <p:spPr>
          <a:xfrm>
            <a:off x="5940000" y="1260000"/>
            <a:ext cx="2880000" cy="1980000"/>
          </a:xfrm>
          <a:prstGeom prst="rect">
            <a:avLst/>
          </a:prstGeom>
          <a:noFill/>
          <a:ln>
            <a:noFill/>
          </a:ln>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In any organization, people are assigned responsibilities and are held accountable for the performance of their responsibilities. </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This </a:t>
            </a:r>
            <a:r>
              <a:rPr b="0" i="0" lang="en-US" sz="1800" u="sng" cap="none" strike="noStrike">
                <a:solidFill>
                  <a:srgbClr val="000000"/>
                </a:solidFill>
                <a:latin typeface="Arial"/>
                <a:ea typeface="Arial"/>
                <a:cs typeface="Arial"/>
                <a:sym typeface="Arial"/>
              </a:rPr>
              <a:t>interconnection</a:t>
            </a:r>
            <a:r>
              <a:rPr b="0" i="0" lang="en-US" sz="1800" u="none" cap="none" strike="noStrike">
                <a:solidFill>
                  <a:srgbClr val="000000"/>
                </a:solidFill>
                <a:latin typeface="Arial"/>
                <a:ea typeface="Arial"/>
                <a:cs typeface="Arial"/>
                <a:sym typeface="Arial"/>
              </a:rPr>
              <a:t> of responsibilities and accountabilities</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Moves up through the Models …</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Drives individuals and the organization towards successful achievement of mutual goals.</a:t>
            </a:r>
            <a:endParaRPr/>
          </a:p>
          <a:p>
            <a:pPr indent="-245700" lvl="0" marL="360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368" name="Google Shape;368;p27"/>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000"/>
              <a:buFont typeface="Arial"/>
              <a:buNone/>
            </a:pPr>
            <a:r>
              <a:rPr b="0" i="0" lang="en-US" sz="2000" u="none" cap="none" strike="noStrike">
                <a:solidFill>
                  <a:schemeClr val="accent2"/>
                </a:solidFill>
                <a:latin typeface="Arial"/>
                <a:ea typeface="Arial"/>
                <a:cs typeface="Arial"/>
                <a:sym typeface="Arial"/>
              </a:rPr>
              <a:t>Responsible, Accountable, Line Management and Two Key Relationships:</a:t>
            </a:r>
            <a:endParaRPr/>
          </a:p>
        </p:txBody>
      </p:sp>
      <p:sp>
        <p:nvSpPr>
          <p:cNvPr id="369" name="Google Shape;369;p2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70" name="Google Shape;370;p2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pic>
        <p:nvPicPr>
          <p:cNvPr id="371" name="Google Shape;371;p27"/>
          <p:cNvPicPr preferRelativeResize="0"/>
          <p:nvPr/>
        </p:nvPicPr>
        <p:blipFill rotWithShape="1">
          <a:blip r:embed="rId3">
            <a:alphaModFix/>
          </a:blip>
          <a:srcRect b="0" l="0" r="0" t="0"/>
          <a:stretch/>
        </p:blipFill>
        <p:spPr>
          <a:xfrm>
            <a:off x="4953000" y="2590800"/>
            <a:ext cx="3327000" cy="2370600"/>
          </a:xfrm>
          <a:prstGeom prst="rect">
            <a:avLst/>
          </a:prstGeom>
          <a:noFill/>
          <a:ln cap="flat" cmpd="sng" w="9525">
            <a:solidFill>
              <a:schemeClr val="dk1"/>
            </a:solidFill>
            <a:prstDash val="solid"/>
            <a:round/>
            <a:headEnd len="sm" w="sm" type="none"/>
            <a:tailEnd len="sm" w="sm" type="none"/>
          </a:ln>
        </p:spPr>
      </p:pic>
      <p:cxnSp>
        <p:nvCxnSpPr>
          <p:cNvPr id="372" name="Google Shape;372;p27"/>
          <p:cNvCxnSpPr/>
          <p:nvPr/>
        </p:nvCxnSpPr>
        <p:spPr>
          <a:xfrm rot="10800000">
            <a:off x="6172200" y="2971800"/>
            <a:ext cx="0" cy="1447800"/>
          </a:xfrm>
          <a:prstGeom prst="straightConnector1">
            <a:avLst/>
          </a:prstGeom>
          <a:noFill/>
          <a:ln cap="flat" cmpd="sng" w="76200">
            <a:solidFill>
              <a:srgbClr val="0000CC"/>
            </a:solidFill>
            <a:prstDash val="dash"/>
            <a:round/>
            <a:headEnd len="sm" w="sm" type="none"/>
            <a:tailEnd len="lg" w="lg" type="triangle"/>
          </a:ln>
        </p:spPr>
      </p:cxnSp>
      <p:sp>
        <p:nvSpPr>
          <p:cNvPr id="373" name="Google Shape;373;p27"/>
          <p:cNvSpPr/>
          <p:nvPr/>
        </p:nvSpPr>
        <p:spPr>
          <a:xfrm>
            <a:off x="180000" y="5105400"/>
            <a:ext cx="8640000" cy="10506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Does an example of this model come to mind?</a:t>
            </a:r>
            <a:endParaRPr b="1" i="0" sz="1600" u="none" cap="none" strike="noStrike">
              <a:solidFill>
                <a:schemeClr val="lt1"/>
              </a:solidFill>
              <a:latin typeface="Arial"/>
              <a:ea typeface="Arial"/>
              <a:cs typeface="Arial"/>
              <a:sym typeface="Arial"/>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 responsible person is “the doer”.</a:t>
            </a:r>
            <a:endParaRPr b="0" i="0" sz="1600" u="none" cap="none" strike="noStrike">
              <a:solidFill>
                <a:schemeClr val="lt1"/>
              </a:solidFill>
              <a:latin typeface="Arial"/>
              <a:ea typeface="Arial"/>
              <a:cs typeface="Arial"/>
              <a:sym typeface="Arial"/>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 accountable person “checks that the doer has done their job, and </a:t>
            </a:r>
            <a:br>
              <a:rPr b="0" i="0" lang="en-US" sz="1600" u="none" cap="none" strike="noStrike">
                <a:solidFill>
                  <a:schemeClr val="lt1"/>
                </a:solidFill>
                <a:latin typeface="Arial"/>
                <a:ea typeface="Arial"/>
                <a:cs typeface="Arial"/>
                <a:sym typeface="Arial"/>
              </a:rPr>
            </a:br>
            <a:r>
              <a:rPr b="0" i="0" lang="en-US" sz="1600" u="none" cap="none" strike="noStrike">
                <a:solidFill>
                  <a:schemeClr val="lt1"/>
                </a:solidFill>
                <a:latin typeface="Arial"/>
                <a:ea typeface="Arial"/>
                <a:cs typeface="Arial"/>
                <a:sym typeface="Arial"/>
              </a:rPr>
              <a:t>applies appropriate consequences”.</a:t>
            </a:r>
            <a:endParaRPr b="0" i="0" sz="1600" u="none" cap="none" strike="noStrike">
              <a:solidFill>
                <a:schemeClr val="lt1"/>
              </a:solidFill>
              <a:latin typeface="Arial"/>
              <a:ea typeface="Arial"/>
              <a:cs typeface="Arial"/>
              <a:sym typeface="Arial"/>
            </a:endParaRPr>
          </a:p>
        </p:txBody>
      </p:sp>
      <p:pic>
        <p:nvPicPr>
          <p:cNvPr id="374" name="Google Shape;374;p27"/>
          <p:cNvPicPr preferRelativeResize="0"/>
          <p:nvPr/>
        </p:nvPicPr>
        <p:blipFill rotWithShape="1">
          <a:blip r:embed="rId4">
            <a:alphaModFix/>
          </a:blip>
          <a:srcRect b="0" l="0" r="0" t="0"/>
          <a:stretch/>
        </p:blipFill>
        <p:spPr>
          <a:xfrm>
            <a:off x="981585" y="2590800"/>
            <a:ext cx="1805753" cy="2406600"/>
          </a:xfrm>
          <a:prstGeom prst="rect">
            <a:avLst/>
          </a:prstGeom>
          <a:noFill/>
          <a:ln>
            <a:noFill/>
          </a:ln>
        </p:spPr>
      </p:pic>
      <p:cxnSp>
        <p:nvCxnSpPr>
          <p:cNvPr id="375" name="Google Shape;375;p27"/>
          <p:cNvCxnSpPr/>
          <p:nvPr/>
        </p:nvCxnSpPr>
        <p:spPr>
          <a:xfrm rot="10800000">
            <a:off x="1219200" y="2971800"/>
            <a:ext cx="0" cy="1524000"/>
          </a:xfrm>
          <a:prstGeom prst="straightConnector1">
            <a:avLst/>
          </a:prstGeom>
          <a:noFill/>
          <a:ln cap="flat" cmpd="sng" w="76200">
            <a:solidFill>
              <a:srgbClr val="0000CC"/>
            </a:solidFill>
            <a:prstDash val="dash"/>
            <a:round/>
            <a:headEnd len="sm" w="sm" type="none"/>
            <a:tailEnd len="lg" w="lg" type="triangle"/>
          </a:ln>
        </p:spPr>
      </p:cxn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382" name="Google Shape;382;p28"/>
          <p:cNvSpPr/>
          <p:nvPr/>
        </p:nvSpPr>
        <p:spPr>
          <a:xfrm>
            <a:off x="180000" y="216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Example: Line Management and RACI</a:t>
            </a:r>
            <a:endParaRPr b="0" i="0" sz="2400" u="none" cap="none" strike="noStrike">
              <a:solidFill>
                <a:srgbClr val="F8F8F8"/>
              </a:solidFill>
              <a:latin typeface="Arial"/>
              <a:ea typeface="Arial"/>
              <a:cs typeface="Arial"/>
              <a:sym typeface="Arial"/>
            </a:endParaRPr>
          </a:p>
        </p:txBody>
      </p:sp>
      <p:sp>
        <p:nvSpPr>
          <p:cNvPr id="383" name="Google Shape;383;p2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84" name="Google Shape;384;p28"/>
          <p:cNvSpPr txBox="1"/>
          <p:nvPr/>
        </p:nvSpPr>
        <p:spPr>
          <a:xfrm>
            <a:off x="360000" y="1600200"/>
            <a:ext cx="2880000" cy="39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Stockholders / Owners</a:t>
            </a:r>
            <a:endParaRPr b="1" i="0" sz="1800" u="none" cap="none" strike="noStrike">
              <a:solidFill>
                <a:schemeClr val="dk1"/>
              </a:solidFill>
              <a:latin typeface="Arial"/>
              <a:ea typeface="Arial"/>
              <a:cs typeface="Arial"/>
              <a:sym typeface="Arial"/>
            </a:endParaRPr>
          </a:p>
        </p:txBody>
      </p:sp>
      <p:sp>
        <p:nvSpPr>
          <p:cNvPr id="385" name="Google Shape;385;p28"/>
          <p:cNvSpPr txBox="1"/>
          <p:nvPr/>
        </p:nvSpPr>
        <p:spPr>
          <a:xfrm>
            <a:off x="360000" y="2215302"/>
            <a:ext cx="2880000" cy="39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Board of Directors</a:t>
            </a:r>
            <a:endParaRPr b="1" i="0" sz="1800" u="none" cap="none" strike="noStrike">
              <a:solidFill>
                <a:schemeClr val="dk1"/>
              </a:solidFill>
              <a:latin typeface="Arial"/>
              <a:ea typeface="Arial"/>
              <a:cs typeface="Arial"/>
              <a:sym typeface="Arial"/>
            </a:endParaRPr>
          </a:p>
        </p:txBody>
      </p:sp>
      <p:sp>
        <p:nvSpPr>
          <p:cNvPr id="386" name="Google Shape;386;p28"/>
          <p:cNvSpPr txBox="1"/>
          <p:nvPr/>
        </p:nvSpPr>
        <p:spPr>
          <a:xfrm>
            <a:off x="360000" y="2830404"/>
            <a:ext cx="2880000" cy="396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Directors Executives</a:t>
            </a:r>
            <a:endParaRPr b="1" i="0" sz="1800" u="none" cap="none" strike="noStrike">
              <a:solidFill>
                <a:schemeClr val="dk1"/>
              </a:solidFill>
              <a:latin typeface="Arial"/>
              <a:ea typeface="Arial"/>
              <a:cs typeface="Arial"/>
              <a:sym typeface="Arial"/>
            </a:endParaRPr>
          </a:p>
        </p:txBody>
      </p:sp>
      <p:sp>
        <p:nvSpPr>
          <p:cNvPr id="387" name="Google Shape;387;p28"/>
          <p:cNvSpPr txBox="1"/>
          <p:nvPr/>
        </p:nvSpPr>
        <p:spPr>
          <a:xfrm>
            <a:off x="360000" y="3445506"/>
            <a:ext cx="2880000" cy="369332"/>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Managers</a:t>
            </a:r>
            <a:endParaRPr/>
          </a:p>
        </p:txBody>
      </p:sp>
      <p:sp>
        <p:nvSpPr>
          <p:cNvPr id="388" name="Google Shape;388;p28"/>
          <p:cNvSpPr txBox="1"/>
          <p:nvPr/>
        </p:nvSpPr>
        <p:spPr>
          <a:xfrm>
            <a:off x="360000" y="4060608"/>
            <a:ext cx="2880000" cy="369332"/>
          </a:xfrm>
          <a:prstGeom prst="rect">
            <a:avLst/>
          </a:prstGeom>
          <a:solidFill>
            <a:srgbClr val="0000CC"/>
          </a:solidFill>
          <a:ln cap="flat" cmpd="sng" w="9525">
            <a:solidFill>
              <a:srgbClr val="0000C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lt1"/>
                </a:solidFill>
                <a:latin typeface="Arial"/>
                <a:ea typeface="Arial"/>
                <a:cs typeface="Arial"/>
                <a:sym typeface="Arial"/>
              </a:rPr>
              <a:t>Supervisors</a:t>
            </a:r>
            <a:endParaRPr/>
          </a:p>
        </p:txBody>
      </p:sp>
      <p:sp>
        <p:nvSpPr>
          <p:cNvPr id="389" name="Google Shape;389;p28"/>
          <p:cNvSpPr txBox="1"/>
          <p:nvPr/>
        </p:nvSpPr>
        <p:spPr>
          <a:xfrm>
            <a:off x="360000" y="4675710"/>
            <a:ext cx="2880000"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Workers</a:t>
            </a:r>
            <a:endParaRPr/>
          </a:p>
        </p:txBody>
      </p:sp>
      <p:sp>
        <p:nvSpPr>
          <p:cNvPr id="390" name="Google Shape;390;p28"/>
          <p:cNvSpPr txBox="1"/>
          <p:nvPr/>
        </p:nvSpPr>
        <p:spPr>
          <a:xfrm>
            <a:off x="360000" y="5290812"/>
            <a:ext cx="2880000" cy="369332"/>
          </a:xfrm>
          <a:prstGeom prst="rect">
            <a:avLst/>
          </a:prstGeom>
          <a:solidFill>
            <a:srgbClr val="008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lt1"/>
                </a:solidFill>
                <a:latin typeface="Arial"/>
                <a:ea typeface="Arial"/>
                <a:cs typeface="Arial"/>
                <a:sym typeface="Arial"/>
              </a:rPr>
              <a:t>Effective Action</a:t>
            </a:r>
            <a:endParaRPr b="1" i="0" sz="1800" u="none" cap="none" strike="noStrike">
              <a:solidFill>
                <a:schemeClr val="lt1"/>
              </a:solidFill>
              <a:latin typeface="Arial"/>
              <a:ea typeface="Arial"/>
              <a:cs typeface="Arial"/>
              <a:sym typeface="Arial"/>
            </a:endParaRPr>
          </a:p>
        </p:txBody>
      </p:sp>
      <p:sp>
        <p:nvSpPr>
          <p:cNvPr id="391" name="Google Shape;391;p28"/>
          <p:cNvSpPr/>
          <p:nvPr/>
        </p:nvSpPr>
        <p:spPr>
          <a:xfrm>
            <a:off x="180000" y="828000"/>
            <a:ext cx="3401400" cy="53280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TheLine Management Model:</a:t>
            </a:r>
            <a:endParaRPr b="0"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392" name="Google Shape;392;p28"/>
          <p:cNvCxnSpPr>
            <a:stCxn id="384" idx="2"/>
            <a:endCxn id="385" idx="0"/>
          </p:cNvCxnSpPr>
          <p:nvPr/>
        </p:nvCxnSpPr>
        <p:spPr>
          <a:xfrm>
            <a:off x="1800000" y="1996200"/>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393" name="Google Shape;393;p28"/>
          <p:cNvCxnSpPr>
            <a:stCxn id="385" idx="2"/>
            <a:endCxn id="386" idx="0"/>
          </p:cNvCxnSpPr>
          <p:nvPr/>
        </p:nvCxnSpPr>
        <p:spPr>
          <a:xfrm>
            <a:off x="1800000" y="2611302"/>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394" name="Google Shape;394;p28"/>
          <p:cNvCxnSpPr>
            <a:stCxn id="386" idx="2"/>
            <a:endCxn id="387" idx="0"/>
          </p:cNvCxnSpPr>
          <p:nvPr/>
        </p:nvCxnSpPr>
        <p:spPr>
          <a:xfrm>
            <a:off x="1800000" y="3226404"/>
            <a:ext cx="0" cy="219000"/>
          </a:xfrm>
          <a:prstGeom prst="straightConnector1">
            <a:avLst/>
          </a:prstGeom>
          <a:noFill/>
          <a:ln cap="flat" cmpd="sng" w="38100">
            <a:solidFill>
              <a:schemeClr val="dk1"/>
            </a:solidFill>
            <a:prstDash val="solid"/>
            <a:round/>
            <a:headEnd len="sm" w="sm" type="none"/>
            <a:tailEnd len="med" w="med" type="triangle"/>
          </a:ln>
        </p:spPr>
      </p:cxnSp>
      <p:cxnSp>
        <p:nvCxnSpPr>
          <p:cNvPr id="395" name="Google Shape;395;p28"/>
          <p:cNvCxnSpPr>
            <a:stCxn id="387" idx="2"/>
            <a:endCxn id="388" idx="0"/>
          </p:cNvCxnSpPr>
          <p:nvPr/>
        </p:nvCxnSpPr>
        <p:spPr>
          <a:xfrm>
            <a:off x="1800000" y="3814838"/>
            <a:ext cx="0" cy="245700"/>
          </a:xfrm>
          <a:prstGeom prst="straightConnector1">
            <a:avLst/>
          </a:prstGeom>
          <a:noFill/>
          <a:ln cap="flat" cmpd="sng" w="38100">
            <a:solidFill>
              <a:schemeClr val="dk1"/>
            </a:solidFill>
            <a:prstDash val="solid"/>
            <a:round/>
            <a:headEnd len="sm" w="sm" type="none"/>
            <a:tailEnd len="med" w="med" type="triangle"/>
          </a:ln>
        </p:spPr>
      </p:cxnSp>
      <p:cxnSp>
        <p:nvCxnSpPr>
          <p:cNvPr id="396" name="Google Shape;396;p28"/>
          <p:cNvCxnSpPr>
            <a:stCxn id="388" idx="2"/>
            <a:endCxn id="389" idx="0"/>
          </p:cNvCxnSpPr>
          <p:nvPr/>
        </p:nvCxnSpPr>
        <p:spPr>
          <a:xfrm>
            <a:off x="1800000" y="4429940"/>
            <a:ext cx="0" cy="245700"/>
          </a:xfrm>
          <a:prstGeom prst="straightConnector1">
            <a:avLst/>
          </a:prstGeom>
          <a:noFill/>
          <a:ln cap="flat" cmpd="sng" w="38100">
            <a:solidFill>
              <a:schemeClr val="dk1"/>
            </a:solidFill>
            <a:prstDash val="solid"/>
            <a:round/>
            <a:headEnd len="sm" w="sm" type="none"/>
            <a:tailEnd len="med" w="med" type="triangle"/>
          </a:ln>
        </p:spPr>
      </p:cxnSp>
      <p:cxnSp>
        <p:nvCxnSpPr>
          <p:cNvPr id="397" name="Google Shape;397;p28"/>
          <p:cNvCxnSpPr>
            <a:stCxn id="389" idx="2"/>
            <a:endCxn id="390" idx="0"/>
          </p:cNvCxnSpPr>
          <p:nvPr/>
        </p:nvCxnSpPr>
        <p:spPr>
          <a:xfrm>
            <a:off x="1800000" y="5045042"/>
            <a:ext cx="0" cy="245700"/>
          </a:xfrm>
          <a:prstGeom prst="straightConnector1">
            <a:avLst/>
          </a:prstGeom>
          <a:noFill/>
          <a:ln cap="flat" cmpd="sng" w="38100">
            <a:solidFill>
              <a:schemeClr val="dk1"/>
            </a:solidFill>
            <a:prstDash val="solid"/>
            <a:round/>
            <a:headEnd len="sm" w="sm" type="none"/>
            <a:tailEnd len="med" w="med" type="triangle"/>
          </a:ln>
        </p:spPr>
      </p:cxnSp>
      <p:sp>
        <p:nvSpPr>
          <p:cNvPr id="398" name="Google Shape;398;p28"/>
          <p:cNvSpPr/>
          <p:nvPr/>
        </p:nvSpPr>
        <p:spPr>
          <a:xfrm>
            <a:off x="3657600" y="828000"/>
            <a:ext cx="51624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Responsible and Accountable:</a:t>
            </a:r>
            <a:endParaRPr b="1" i="0" sz="1600"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In the model depicted, given that the </a:t>
            </a:r>
            <a:r>
              <a:rPr b="1" i="0" lang="en-US" sz="1600" u="none" cap="none" strike="noStrike">
                <a:solidFill>
                  <a:schemeClr val="lt1"/>
                </a:solidFill>
                <a:latin typeface="Arial"/>
                <a:ea typeface="Arial"/>
                <a:cs typeface="Arial"/>
                <a:sym typeface="Arial"/>
              </a:rPr>
              <a:t>Supervisor</a:t>
            </a:r>
            <a:r>
              <a:rPr b="0" i="0" lang="en-US" sz="1600" u="none" cap="none" strike="noStrike">
                <a:solidFill>
                  <a:schemeClr val="lt1"/>
                </a:solidFill>
                <a:latin typeface="Arial"/>
                <a:ea typeface="Arial"/>
                <a:cs typeface="Arial"/>
                <a:sym typeface="Arial"/>
              </a:rPr>
              <a:t> is:</a:t>
            </a:r>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sng" cap="none" strike="noStrike">
                <a:solidFill>
                  <a:schemeClr val="lt1"/>
                </a:solidFill>
                <a:latin typeface="Arial"/>
                <a:ea typeface="Arial"/>
                <a:cs typeface="Arial"/>
                <a:sym typeface="Arial"/>
              </a:rPr>
              <a:t>responsible</a:t>
            </a:r>
            <a:r>
              <a:rPr b="0" i="0" lang="en-US" sz="1600" u="none" cap="none" strike="noStrike">
                <a:solidFill>
                  <a:schemeClr val="lt1"/>
                </a:solidFill>
                <a:latin typeface="Arial"/>
                <a:ea typeface="Arial"/>
                <a:cs typeface="Arial"/>
                <a:sym typeface="Arial"/>
              </a:rPr>
              <a:t> for checking that the worker is fulfilling their duties AND </a:t>
            </a:r>
            <a:endParaRPr b="0" i="0" sz="1600" u="none" cap="none" strike="noStrike">
              <a:solidFill>
                <a:schemeClr val="lt1"/>
              </a:solidFill>
              <a:latin typeface="Arial"/>
              <a:ea typeface="Arial"/>
              <a:cs typeface="Arial"/>
              <a:sym typeface="Arial"/>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sng" cap="none" strike="noStrike">
                <a:solidFill>
                  <a:schemeClr val="lt1"/>
                </a:solidFill>
                <a:latin typeface="Arial"/>
                <a:ea typeface="Arial"/>
                <a:cs typeface="Arial"/>
                <a:sym typeface="Arial"/>
              </a:rPr>
              <a:t>responsible</a:t>
            </a:r>
            <a:r>
              <a:rPr b="0" i="0" lang="en-US" sz="1600" u="none" cap="none" strike="noStrike">
                <a:solidFill>
                  <a:schemeClr val="lt1"/>
                </a:solidFill>
                <a:latin typeface="Arial"/>
                <a:ea typeface="Arial"/>
                <a:cs typeface="Arial"/>
                <a:sym typeface="Arial"/>
              </a:rPr>
              <a:t> for holding the worker accountable for their work, </a:t>
            </a:r>
            <a:endParaRPr b="0" i="0" sz="1600"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600"/>
              <a:buFont typeface="Arial"/>
              <a:buNone/>
            </a:pPr>
            <a:r>
              <a:t/>
            </a:r>
            <a:endParaRPr b="0" i="0" sz="1600" u="none" cap="none" strike="noStrike">
              <a:solidFill>
                <a:schemeClr val="lt1"/>
              </a:solidFill>
              <a:latin typeface="Arial"/>
              <a:ea typeface="Arial"/>
              <a:cs typeface="Arial"/>
              <a:sym typeface="Arial"/>
            </a:endParaRPr>
          </a:p>
          <a:p>
            <a:pPr indent="-258400" lvl="0" marL="360000" marR="0" rtl="0" algn="l">
              <a:lnSpc>
                <a:spcPct val="90000"/>
              </a:lnSpc>
              <a:spcBef>
                <a:spcPts val="0"/>
              </a:spcBef>
              <a:spcAft>
                <a:spcPts val="0"/>
              </a:spcAft>
              <a:buClr>
                <a:schemeClr val="dk1"/>
              </a:buClr>
              <a:buSzPts val="1600"/>
              <a:buFont typeface="Noto Sans Symbols"/>
              <a:buNone/>
            </a:pPr>
            <a:r>
              <a:t/>
            </a:r>
            <a:endParaRPr b="0" i="0" sz="1600"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1600"/>
              <a:buFont typeface="Arial"/>
              <a:buNone/>
            </a:pPr>
            <a:r>
              <a:rPr b="0" i="0" lang="en-US" sz="1600" u="none" cap="none" strike="noStrike">
                <a:solidFill>
                  <a:schemeClr val="lt1"/>
                </a:solidFill>
                <a:latin typeface="Arial"/>
                <a:ea typeface="Arial"/>
                <a:cs typeface="Arial"/>
                <a:sym typeface="Arial"/>
              </a:rPr>
              <a:t>The Manager is the person accountable for:</a:t>
            </a:r>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 supervisor’s performance.</a:t>
            </a:r>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Checking that the Supervisor has fulfilled their duties and holds the Supervisor accountable for their work.</a:t>
            </a:r>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 overall performance of the organization based on the performance of the workers and their supervisor.</a:t>
            </a:r>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Directing on a daily basis the activities of the workers.   </a:t>
            </a:r>
            <a:r>
              <a:rPr b="0" i="0" lang="en-US" sz="2400" u="none" cap="none" strike="noStrike">
                <a:solidFill>
                  <a:srgbClr val="FF0000"/>
                </a:solidFill>
                <a:latin typeface="Arial"/>
                <a:ea typeface="Arial"/>
                <a:cs typeface="Arial"/>
                <a:sym typeface="Arial"/>
              </a:rPr>
              <a:t>X</a:t>
            </a:r>
            <a:endParaRPr b="0" i="0" sz="1600" u="none" cap="none" strike="noStrike">
              <a:solidFill>
                <a:srgbClr val="FF0000"/>
              </a:solidFill>
              <a:latin typeface="Arial"/>
              <a:ea typeface="Arial"/>
              <a:cs typeface="Arial"/>
              <a:sym typeface="Arial"/>
            </a:endParaRPr>
          </a:p>
          <a:p>
            <a:pPr indent="-360000" lvl="0" marL="36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Checking on the daily basis the activities of the workers.   </a:t>
            </a:r>
            <a:r>
              <a:rPr b="0" i="0" lang="en-US" sz="2400" u="none" cap="none" strike="noStrike">
                <a:solidFill>
                  <a:srgbClr val="FF0000"/>
                </a:solidFill>
                <a:latin typeface="Arial"/>
                <a:ea typeface="Arial"/>
                <a:cs typeface="Arial"/>
                <a:sym typeface="Arial"/>
              </a:rPr>
              <a:t>X</a:t>
            </a:r>
            <a:endParaRPr b="0" i="0" sz="1600" u="none" cap="none" strike="noStrike">
              <a:solidFill>
                <a:srgbClr val="FF0000"/>
              </a:solidFill>
              <a:latin typeface="Arial"/>
              <a:ea typeface="Arial"/>
              <a:cs typeface="Arial"/>
              <a:sym typeface="Arial"/>
            </a:endParaRPr>
          </a:p>
          <a:p>
            <a:pPr indent="-258400" lvl="0" marL="360000" marR="0" rtl="0" algn="l">
              <a:lnSpc>
                <a:spcPct val="90000"/>
              </a:lnSpc>
              <a:spcBef>
                <a:spcPts val="0"/>
              </a:spcBef>
              <a:spcAft>
                <a:spcPts val="0"/>
              </a:spcAft>
              <a:buClr>
                <a:schemeClr val="dk1"/>
              </a:buClr>
              <a:buSzPts val="1600"/>
              <a:buFont typeface="Noto Sans Symbols"/>
              <a:buNone/>
            </a:pPr>
            <a:r>
              <a:t/>
            </a:r>
            <a:endParaRPr b="0" i="0" sz="1600"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1600"/>
              <a:buFont typeface="Arial"/>
              <a:buNone/>
            </a:pPr>
            <a:r>
              <a:rPr b="0" i="0" lang="en-US" sz="1600" u="none" cap="none" strike="noStrike">
                <a:solidFill>
                  <a:schemeClr val="lt1"/>
                </a:solidFill>
                <a:latin typeface="Arial"/>
                <a:ea typeface="Arial"/>
                <a:cs typeface="Arial"/>
                <a:sym typeface="Arial"/>
              </a:rPr>
              <a:t>The last two are the responsibilities of the Supervisor!</a:t>
            </a:r>
            <a:endParaRPr b="0" i="0" sz="1600" u="none" cap="none" strike="noStrike">
              <a:solidFill>
                <a:schemeClr val="lt1"/>
              </a:solidFill>
              <a:latin typeface="Arial"/>
              <a:ea typeface="Arial"/>
              <a:cs typeface="Arial"/>
              <a:sym typeface="Arial"/>
            </a:endParaRPr>
          </a:p>
        </p:txBody>
      </p:sp>
      <p:sp>
        <p:nvSpPr>
          <p:cNvPr id="399" name="Google Shape;399;p28"/>
          <p:cNvSpPr/>
          <p:nvPr/>
        </p:nvSpPr>
        <p:spPr>
          <a:xfrm>
            <a:off x="228600" y="3352800"/>
            <a:ext cx="3124200" cy="1219200"/>
          </a:xfrm>
          <a:prstGeom prst="roundRect">
            <a:avLst>
              <a:gd fmla="val 16667" name="adj"/>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p:txBody>
      </p:sp>
      <p:sp>
        <p:nvSpPr>
          <p:cNvPr id="400" name="Google Shape;400;p2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Relate An Individuals’ Responsibility And Accountability To </a:t>
            </a:r>
            <a:br>
              <a:rPr b="1" i="0" lang="en-US" sz="1800" u="none" cap="none" strike="noStrike">
                <a:solidFill>
                  <a:srgbClr val="000000"/>
                </a:solidFill>
                <a:latin typeface="Arial"/>
                <a:ea typeface="Arial"/>
                <a:cs typeface="Arial"/>
                <a:sym typeface="Arial"/>
              </a:rPr>
            </a:br>
            <a:r>
              <a:rPr b="1" i="0" lang="en-US" sz="1800" u="none" cap="none" strike="noStrike">
                <a:solidFill>
                  <a:srgbClr val="000000"/>
                </a:solidFill>
                <a:latin typeface="Arial"/>
                <a:ea typeface="Arial"/>
                <a:cs typeface="Arial"/>
                <a:sym typeface="Arial"/>
              </a:rPr>
              <a:t>A Loss Incident and Latencies in a RM System / Program</a:t>
            </a:r>
            <a:r>
              <a:rPr b="0" i="0" lang="en-US" sz="1800" u="none" cap="none" strike="noStrike">
                <a:solidFill>
                  <a:srgbClr val="000000"/>
                </a:solidFill>
                <a:latin typeface="Arial"/>
                <a:ea typeface="Arial"/>
                <a:cs typeface="Arial"/>
                <a:sym typeface="Arial"/>
              </a:rPr>
              <a:t>:</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In dealing with a person(s) involved in a loss incident within the field of risk management, it is WRONG to immediately assign blame to the worker and punish the worker i.e. to terminate or “fire” the worker. </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Instead, leaders must first search for latent causes:</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What in the risk management system and its programs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allowed the worker(s) to “do something wrong”?</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Did the RMS/RMP give “only bad choices” to the worker? </a:t>
            </a:r>
            <a:endParaRPr b="0" i="0" sz="1800" u="none" cap="none" strike="noStrike">
              <a:solidFill>
                <a:srgbClr val="000000"/>
              </a:solidFill>
              <a:latin typeface="Arial"/>
              <a:ea typeface="Arial"/>
              <a:cs typeface="Arial"/>
              <a:sym typeface="Arial"/>
            </a:endParaRPr>
          </a:p>
        </p:txBody>
      </p:sp>
      <p:sp>
        <p:nvSpPr>
          <p:cNvPr id="407" name="Google Shape;407;p30"/>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RME #1 MLCA and Responsibility and Accountability:</a:t>
            </a:r>
            <a:endParaRPr/>
          </a:p>
        </p:txBody>
      </p:sp>
      <p:sp>
        <p:nvSpPr>
          <p:cNvPr id="408" name="Google Shape;408;p3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09" name="Google Shape;409;p3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pic>
        <p:nvPicPr>
          <p:cNvPr id="410" name="Google Shape;410;p30"/>
          <p:cNvPicPr preferRelativeResize="0"/>
          <p:nvPr/>
        </p:nvPicPr>
        <p:blipFill rotWithShape="1">
          <a:blip r:embed="rId3">
            <a:alphaModFix/>
          </a:blip>
          <a:srcRect b="0" l="0" r="0" t="0"/>
          <a:stretch/>
        </p:blipFill>
        <p:spPr>
          <a:xfrm>
            <a:off x="6851112" y="2133600"/>
            <a:ext cx="2118992" cy="1539925"/>
          </a:xfrm>
          <a:prstGeom prst="rect">
            <a:avLst/>
          </a:prstGeom>
          <a:noFill/>
          <a:ln>
            <a:noFill/>
          </a:ln>
        </p:spPr>
      </p:pic>
      <p:pic>
        <p:nvPicPr>
          <p:cNvPr id="411" name="Google Shape;411;p30"/>
          <p:cNvPicPr preferRelativeResize="0"/>
          <p:nvPr/>
        </p:nvPicPr>
        <p:blipFill rotWithShape="1">
          <a:blip r:embed="rId4">
            <a:alphaModFix/>
          </a:blip>
          <a:srcRect b="0" l="0" r="0" t="0"/>
          <a:stretch/>
        </p:blipFill>
        <p:spPr>
          <a:xfrm>
            <a:off x="6851112" y="3826002"/>
            <a:ext cx="2118992" cy="1544535"/>
          </a:xfrm>
          <a:prstGeom prst="rect">
            <a:avLst/>
          </a:prstGeom>
          <a:noFill/>
          <a:ln cap="flat" cmpd="sng" w="9525">
            <a:solidFill>
              <a:schemeClr val="dk1"/>
            </a:solidFill>
            <a:prstDash val="solid"/>
            <a:round/>
            <a:headEnd len="sm" w="sm" type="none"/>
            <a:tailEnd len="sm" w="sm" type="none"/>
          </a:ln>
        </p:spPr>
      </p:pic>
      <p:pic>
        <p:nvPicPr>
          <p:cNvPr id="412" name="Google Shape;412;p30"/>
          <p:cNvPicPr preferRelativeResize="0"/>
          <p:nvPr/>
        </p:nvPicPr>
        <p:blipFill rotWithShape="1">
          <a:blip r:embed="rId5">
            <a:alphaModFix/>
          </a:blip>
          <a:srcRect b="0" l="7521" r="0" t="0"/>
          <a:stretch/>
        </p:blipFill>
        <p:spPr>
          <a:xfrm>
            <a:off x="533400" y="3581400"/>
            <a:ext cx="5867400" cy="2733795"/>
          </a:xfrm>
          <a:prstGeom prst="rect">
            <a:avLst/>
          </a:prstGeom>
          <a:noFill/>
          <a:ln>
            <a:noFill/>
          </a:ln>
        </p:spPr>
      </p:pic>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31"/>
          <p:cNvPicPr preferRelativeResize="0"/>
          <p:nvPr/>
        </p:nvPicPr>
        <p:blipFill rotWithShape="1">
          <a:blip r:embed="rId3">
            <a:alphaModFix/>
          </a:blip>
          <a:srcRect b="0" l="0" r="0" t="0"/>
          <a:stretch/>
        </p:blipFill>
        <p:spPr>
          <a:xfrm>
            <a:off x="1981200" y="1676400"/>
            <a:ext cx="5711374" cy="4323004"/>
          </a:xfrm>
          <a:prstGeom prst="rect">
            <a:avLst/>
          </a:prstGeom>
          <a:noFill/>
          <a:ln>
            <a:noFill/>
          </a:ln>
        </p:spPr>
      </p:pic>
      <p:sp>
        <p:nvSpPr>
          <p:cNvPr id="419" name="Google Shape;419;p31"/>
          <p:cNvSpPr/>
          <p:nvPr/>
        </p:nvSpPr>
        <p:spPr>
          <a:xfrm>
            <a:off x="180000" y="828000"/>
            <a:ext cx="8640000" cy="5328000"/>
          </a:xfrm>
          <a:prstGeom prst="rect">
            <a:avLst/>
          </a:prstGeom>
          <a:solidFill>
            <a:srgbClr val="FFFFFF">
              <a:alpha val="69803"/>
            </a:srgbClr>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The question, “What in the risk management system and its programs allowed the worker(s) to ‘do something wrong’?”, may cause – should cause – the leader to ask through an RCA to find the LC’s in the RME”s, any question such as: </a:t>
            </a:r>
            <a:endParaRPr b="1" i="0" sz="1600" u="none" cap="none" strike="noStrike">
              <a:solidFill>
                <a:srgbClr val="000000"/>
              </a:solidFill>
              <a:latin typeface="Arial"/>
              <a:ea typeface="Arial"/>
              <a:cs typeface="Arial"/>
              <a:sym typeface="Arial"/>
            </a:endParaRPr>
          </a:p>
          <a:p>
            <a:pPr indent="-258400" lvl="0" marL="360000" marR="0" rtl="0" algn="l">
              <a:lnSpc>
                <a:spcPct val="90000"/>
              </a:lnSpc>
              <a:spcBef>
                <a:spcPts val="0"/>
              </a:spcBef>
              <a:spcAft>
                <a:spcPts val="0"/>
              </a:spcAft>
              <a:buClr>
                <a:srgbClr val="000000"/>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Were the hazards of the activities adequately assessed and were the control measures adequately implemented? LC’s in #2 RAMR</a:t>
            </a:r>
            <a:endParaRPr b="0" i="0" sz="16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Was the worker adequately prepared (communications, training) for any changes that were made? LC’s in #4 MOC</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Were any previous incidents, near misses, or sub-standard conditions / practices reported, investigated, analyzed, and corrected? LC’s in #5 IRIAA</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Was management oversight checked (audited, verified) for adequacy and were actions taken to correct or improve on any of the risk management programs and standards of the system elements? LC’s in #6 PECI</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Was the design and/or construction and/or startup (commissioning) of the equipment / process / materials suitable for human interfaces? #7 DCSU</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Was the equipment / process / materials  operated / maintained to standards? #8 OM </a:t>
            </a:r>
            <a:endParaRPr b="0" i="0" sz="16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Was the worker properly trained in the activity, the risks associated with the activity, and the control measures for those risks? LC’s in #9 EC&amp;T</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Was the contractor (as a worker or as a company) adequately screened for competencies, and suitably integrated into the organization’s RMP/RMS to perform work at an acceptable level? #10 CCI</a:t>
            </a:r>
            <a:endParaRPr/>
          </a:p>
          <a:p>
            <a:pPr indent="-360000" lvl="0" marL="360000" marR="0" rtl="0" algn="l">
              <a:lnSpc>
                <a:spcPct val="9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Was all information up-to-date, and readily and easily available and accessible to the workers? #11 OFID</a:t>
            </a:r>
            <a:endParaRPr b="0" i="0" sz="1600" u="none" cap="none" strike="noStrike">
              <a:solidFill>
                <a:srgbClr val="000000"/>
              </a:solidFill>
              <a:latin typeface="Arial"/>
              <a:ea typeface="Arial"/>
              <a:cs typeface="Arial"/>
              <a:sym typeface="Arial"/>
            </a:endParaRPr>
          </a:p>
        </p:txBody>
      </p:sp>
      <p:sp>
        <p:nvSpPr>
          <p:cNvPr id="420" name="Google Shape;420;p31"/>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RME #1 MLCA and Responsibility and Accountability:</a:t>
            </a:r>
            <a:endParaRPr/>
          </a:p>
        </p:txBody>
      </p:sp>
      <p:sp>
        <p:nvSpPr>
          <p:cNvPr id="421" name="Google Shape;421;p3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22" name="Google Shape;422;p3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Finally, if all LC’s </a:t>
            </a:r>
            <a:r>
              <a:rPr b="0" i="0" lang="en-US" sz="1800" u="none" cap="none" strike="noStrike">
                <a:solidFill>
                  <a:srgbClr val="000000"/>
                </a:solidFill>
                <a:latin typeface="Arial"/>
                <a:ea typeface="Arial"/>
                <a:cs typeface="Arial"/>
                <a:sym typeface="Arial"/>
              </a:rPr>
              <a:t>relating to management system elements and their programs and program standards </a:t>
            </a:r>
            <a:r>
              <a:rPr b="1" i="0" lang="en-US" sz="1800" u="none" cap="none" strike="noStrike">
                <a:solidFill>
                  <a:srgbClr val="000000"/>
                </a:solidFill>
                <a:latin typeface="Arial"/>
                <a:ea typeface="Arial"/>
                <a:cs typeface="Arial"/>
                <a:sym typeface="Arial"/>
              </a:rPr>
              <a:t>have been resolved, then LC’s in #1 MLCA become evident </a:t>
            </a:r>
            <a:r>
              <a:rPr b="0" i="0" lang="en-US" sz="1800" u="none" cap="none" strike="noStrike">
                <a:solidFill>
                  <a:srgbClr val="000000"/>
                </a:solidFill>
                <a:latin typeface="Arial"/>
                <a:ea typeface="Arial"/>
                <a:cs typeface="Arial"/>
                <a:sym typeface="Arial"/>
              </a:rPr>
              <a:t>and relate to lack of compliance with program standards of all other elements.</a:t>
            </a:r>
            <a:endParaRPr/>
          </a:p>
          <a:p>
            <a:pPr indent="0" lvl="0" marL="0" marR="0" rtl="0" algn="l">
              <a:lnSpc>
                <a:spcPct val="9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So, is now the time to “fire” the worker i.e. apply severe consequences)?</a:t>
            </a:r>
            <a:endParaRPr/>
          </a:p>
          <a:p>
            <a:pPr indent="0" lvl="0" marL="0" marR="0" rtl="0" algn="l">
              <a:lnSpc>
                <a:spcPct val="9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No, not yet!</a:t>
            </a:r>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Two questions now arise:</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Has Leadership set expectations, and does the leader demonstrate commitment to those expectations?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Is it clear that the worker knowingly, or purposefully, or repeatedly, disregarded those standards and put themself or others (or environment, assets, or productive output) at risk of harm? </a:t>
            </a:r>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If the responses </a:t>
            </a:r>
            <a:r>
              <a:rPr b="0" i="0" lang="en-US" sz="1800" u="sng" cap="none" strike="noStrike">
                <a:solidFill>
                  <a:srgbClr val="000000"/>
                </a:solidFill>
                <a:latin typeface="Arial"/>
                <a:ea typeface="Arial"/>
                <a:cs typeface="Arial"/>
                <a:sym typeface="Arial"/>
              </a:rPr>
              <a:t>are “yes” to both</a:t>
            </a:r>
            <a:r>
              <a:rPr b="0" i="0" lang="en-US" sz="1800" u="none" cap="none" strike="noStrike">
                <a:solidFill>
                  <a:srgbClr val="000000"/>
                </a:solidFill>
                <a:latin typeface="Arial"/>
                <a:ea typeface="Arial"/>
                <a:cs typeface="Arial"/>
                <a:sym typeface="Arial"/>
              </a:rPr>
              <a:t>, then the leader moves into a situation where the leader </a:t>
            </a:r>
            <a:r>
              <a:rPr b="0" i="0" lang="en-US" sz="1800" u="sng" cap="none" strike="noStrike">
                <a:solidFill>
                  <a:srgbClr val="000000"/>
                </a:solidFill>
                <a:latin typeface="Arial"/>
                <a:ea typeface="Arial"/>
                <a:cs typeface="Arial"/>
                <a:sym typeface="Arial"/>
              </a:rPr>
              <a:t>MUST hold the worker accountable</a:t>
            </a:r>
            <a:r>
              <a:rPr b="0" i="0" lang="en-US" sz="1800" u="none" cap="none" strike="noStrike">
                <a:solidFill>
                  <a:srgbClr val="000000"/>
                </a:solidFill>
                <a:latin typeface="Arial"/>
                <a:ea typeface="Arial"/>
                <a:cs typeface="Arial"/>
                <a:sym typeface="Arial"/>
              </a:rPr>
              <a:t> for putting themself or others (or E, A, or P) at risk, and </a:t>
            </a:r>
            <a:r>
              <a:rPr b="0" i="0" lang="en-US" sz="1800" u="sng" cap="none" strike="noStrike">
                <a:solidFill>
                  <a:srgbClr val="000000"/>
                </a:solidFill>
                <a:latin typeface="Arial"/>
                <a:ea typeface="Arial"/>
                <a:cs typeface="Arial"/>
                <a:sym typeface="Arial"/>
              </a:rPr>
              <a:t>MUST terminate the worker</a:t>
            </a: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sp>
        <p:nvSpPr>
          <p:cNvPr id="429" name="Google Shape;429;p32"/>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#1 MLCA and Responsibility and Accountability:</a:t>
            </a:r>
            <a:endParaRPr/>
          </a:p>
        </p:txBody>
      </p:sp>
      <p:sp>
        <p:nvSpPr>
          <p:cNvPr id="430" name="Google Shape;430;p3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31" name="Google Shape;431;p3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432000" lvl="0" marL="432000" marR="0" rtl="0" algn="l">
              <a:lnSpc>
                <a:spcPct val="95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Position of authority leads to “obedience to authority”:  </a:t>
            </a:r>
            <a:endParaRPr b="0" i="0" sz="2000" u="none" cap="none" strike="noStrike">
              <a:solidFill>
                <a:srgbClr val="000000"/>
              </a:solidFill>
              <a:latin typeface="Arial"/>
              <a:ea typeface="Arial"/>
              <a:cs typeface="Arial"/>
              <a:sym typeface="Arial"/>
            </a:endParaRPr>
          </a:p>
          <a:p>
            <a:pPr indent="-305000" lvl="0" marL="432000" marR="0" rtl="0" algn="l">
              <a:lnSpc>
                <a:spcPct val="95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95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KEY LESSON for you:</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 supervisor carries an incredible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amount of influence, something that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must be exercised very responsibly. </a:t>
            </a:r>
            <a:endParaRPr/>
          </a:p>
          <a:p>
            <a:pPr indent="-305000" lvl="0" marL="432000" marR="0" rtl="0" algn="l">
              <a:lnSpc>
                <a:spcPct val="95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95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three key relationships in your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career have challenges and these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must be managed for a successful career. </a:t>
            </a:r>
            <a:endParaRPr b="0" i="0" sz="2000" u="none" cap="none" strike="noStrike">
              <a:solidFill>
                <a:srgbClr val="000000"/>
              </a:solidFill>
              <a:latin typeface="Arial"/>
              <a:ea typeface="Arial"/>
              <a:cs typeface="Arial"/>
              <a:sym typeface="Arial"/>
            </a:endParaRPr>
          </a:p>
          <a:p>
            <a:pPr indent="-305000" lvl="0" marL="432000" marR="0" rtl="0" algn="l">
              <a:lnSpc>
                <a:spcPct val="95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95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 the position and exercising of authority,</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there is an interconnection of responsibilities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and accountabilities which drives individuals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and organizations towards achieving mutual goals. </a:t>
            </a:r>
            <a:endParaRPr/>
          </a:p>
          <a:p>
            <a:pPr indent="-305000" lvl="0" marL="432000" marR="0" rtl="0" algn="l">
              <a:lnSpc>
                <a:spcPct val="95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95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Effective leadership includes not only commitment,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but also accountability. #1 MLCA!</a:t>
            </a:r>
            <a:endParaRPr b="0" i="0" sz="2000" u="none" cap="none" strike="noStrike">
              <a:solidFill>
                <a:srgbClr val="000000"/>
              </a:solidFill>
              <a:latin typeface="Arial"/>
              <a:ea typeface="Arial"/>
              <a:cs typeface="Arial"/>
              <a:sym typeface="Arial"/>
            </a:endParaRPr>
          </a:p>
        </p:txBody>
      </p:sp>
      <p:sp>
        <p:nvSpPr>
          <p:cNvPr id="438" name="Google Shape;438;p3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Summary and Key Lesson:</a:t>
            </a:r>
            <a:endParaRPr b="0" i="0" sz="2400" u="none" cap="none" strike="noStrike">
              <a:solidFill>
                <a:srgbClr val="333399"/>
              </a:solidFill>
              <a:latin typeface="Arial"/>
              <a:ea typeface="Arial"/>
              <a:cs typeface="Arial"/>
              <a:sym typeface="Arial"/>
            </a:endParaRPr>
          </a:p>
        </p:txBody>
      </p:sp>
      <p:sp>
        <p:nvSpPr>
          <p:cNvPr id="439" name="Google Shape;439;p3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40" name="Google Shape;440;p3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7.6 The Power of Leaders to Influence Behaviour</a:t>
            </a:r>
            <a:endParaRPr b="1" i="1" sz="1200" u="none" cap="none" strike="noStrike">
              <a:solidFill>
                <a:srgbClr val="000000"/>
              </a:solidFill>
              <a:latin typeface="Arial"/>
              <a:ea typeface="Arial"/>
              <a:cs typeface="Arial"/>
              <a:sym typeface="Arial"/>
            </a:endParaRPr>
          </a:p>
        </p:txBody>
      </p:sp>
      <p:pic>
        <p:nvPicPr>
          <p:cNvPr id="441" name="Google Shape;441;p33"/>
          <p:cNvPicPr preferRelativeResize="0"/>
          <p:nvPr/>
        </p:nvPicPr>
        <p:blipFill rotWithShape="1">
          <a:blip r:embed="rId3">
            <a:alphaModFix/>
          </a:blip>
          <a:srcRect b="0" l="0" r="0" t="0"/>
          <a:stretch/>
        </p:blipFill>
        <p:spPr>
          <a:xfrm>
            <a:off x="5791200" y="1189217"/>
            <a:ext cx="3121259" cy="1981200"/>
          </a:xfrm>
          <a:prstGeom prst="rect">
            <a:avLst/>
          </a:prstGeom>
          <a:noFill/>
          <a:ln>
            <a:noFill/>
          </a:ln>
        </p:spPr>
      </p:pic>
      <p:pic>
        <p:nvPicPr>
          <p:cNvPr id="442" name="Google Shape;442;p33"/>
          <p:cNvPicPr preferRelativeResize="0"/>
          <p:nvPr/>
        </p:nvPicPr>
        <p:blipFill rotWithShape="1">
          <a:blip r:embed="rId4">
            <a:alphaModFix/>
          </a:blip>
          <a:srcRect b="0" l="0" r="0" t="0"/>
          <a:stretch/>
        </p:blipFill>
        <p:spPr>
          <a:xfrm>
            <a:off x="7004159" y="3159907"/>
            <a:ext cx="1805753" cy="2406600"/>
          </a:xfrm>
          <a:prstGeom prst="rect">
            <a:avLst/>
          </a:prstGeom>
          <a:noFill/>
          <a:ln>
            <a:noFill/>
          </a:ln>
        </p:spPr>
      </p:pic>
    </p:spTree>
  </p:cSld>
  <p:clrMapOvr>
    <a:masterClrMapping/>
  </p:clrMapOvr>
  <p:transition>
    <p:fade/>
  </p:transition>
</p:sld>
</file>

<file path=ppt/theme/theme1.xml><?xml version="1.0" encoding="utf-8"?>
<a:theme xmlns:a="http://schemas.openxmlformats.org/drawingml/2006/main" xmlns:r="http://schemas.openxmlformats.org/officeDocument/2006/relationships"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2007-03-28T16:18:47Z</dcterms:created>
  <dc:creator>MSB</dc:creator>
</cp:coreProperties>
</file>