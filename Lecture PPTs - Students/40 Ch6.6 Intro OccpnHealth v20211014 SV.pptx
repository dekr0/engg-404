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51"/>
  </p:notesMasterIdLst>
  <p:handoutMasterIdLst>
    <p:handoutMasterId r:id="rId52"/>
  </p:handoutMasterIdLst>
  <p:sldIdLst>
    <p:sldId id="929" r:id="rId3"/>
    <p:sldId id="880" r:id="rId4"/>
    <p:sldId id="928" r:id="rId5"/>
    <p:sldId id="955" r:id="rId6"/>
    <p:sldId id="956" r:id="rId7"/>
    <p:sldId id="957" r:id="rId8"/>
    <p:sldId id="961" r:id="rId9"/>
    <p:sldId id="959" r:id="rId10"/>
    <p:sldId id="1047" r:id="rId11"/>
    <p:sldId id="944" r:id="rId12"/>
    <p:sldId id="967" r:id="rId13"/>
    <p:sldId id="970" r:id="rId14"/>
    <p:sldId id="1006" r:id="rId15"/>
    <p:sldId id="978" r:id="rId16"/>
    <p:sldId id="975" r:id="rId17"/>
    <p:sldId id="923" r:id="rId18"/>
    <p:sldId id="900" r:id="rId19"/>
    <p:sldId id="1046" r:id="rId20"/>
    <p:sldId id="1015" r:id="rId21"/>
    <p:sldId id="1045" r:id="rId22"/>
    <p:sldId id="1017" r:id="rId23"/>
    <p:sldId id="1018" r:id="rId24"/>
    <p:sldId id="1019" r:id="rId25"/>
    <p:sldId id="1020" r:id="rId26"/>
    <p:sldId id="1021" r:id="rId27"/>
    <p:sldId id="1022" r:id="rId28"/>
    <p:sldId id="1023" r:id="rId29"/>
    <p:sldId id="1024" r:id="rId30"/>
    <p:sldId id="1025" r:id="rId31"/>
    <p:sldId id="1026" r:id="rId32"/>
    <p:sldId id="1027" r:id="rId33"/>
    <p:sldId id="1028" r:id="rId34"/>
    <p:sldId id="1029" r:id="rId35"/>
    <p:sldId id="1030" r:id="rId36"/>
    <p:sldId id="1031" r:id="rId37"/>
    <p:sldId id="1032" r:id="rId38"/>
    <p:sldId id="1033" r:id="rId39"/>
    <p:sldId id="1048" r:id="rId40"/>
    <p:sldId id="1049" r:id="rId41"/>
    <p:sldId id="1035" r:id="rId42"/>
    <p:sldId id="1036" r:id="rId43"/>
    <p:sldId id="1037" r:id="rId44"/>
    <p:sldId id="1038" r:id="rId45"/>
    <p:sldId id="1039" r:id="rId46"/>
    <p:sldId id="1040" r:id="rId47"/>
    <p:sldId id="1041" r:id="rId48"/>
    <p:sldId id="1042" r:id="rId49"/>
    <p:sldId id="1043" r:id="rId50"/>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29"/>
            <p14:sldId id="880"/>
            <p14:sldId id="928"/>
            <p14:sldId id="955"/>
            <p14:sldId id="956"/>
            <p14:sldId id="957"/>
            <p14:sldId id="961"/>
            <p14:sldId id="959"/>
            <p14:sldId id="1047"/>
            <p14:sldId id="944"/>
            <p14:sldId id="967"/>
            <p14:sldId id="970"/>
            <p14:sldId id="1006"/>
            <p14:sldId id="978"/>
            <p14:sldId id="975"/>
            <p14:sldId id="923"/>
            <p14:sldId id="900"/>
            <p14:sldId id="1046"/>
            <p14:sldId id="1015"/>
            <p14:sldId id="1045"/>
            <p14:sldId id="1017"/>
            <p14:sldId id="1018"/>
            <p14:sldId id="1019"/>
            <p14:sldId id="1020"/>
            <p14:sldId id="1021"/>
            <p14:sldId id="1022"/>
            <p14:sldId id="1023"/>
            <p14:sldId id="1024"/>
            <p14:sldId id="1025"/>
            <p14:sldId id="1026"/>
            <p14:sldId id="1027"/>
            <p14:sldId id="1028"/>
            <p14:sldId id="1029"/>
            <p14:sldId id="1030"/>
            <p14:sldId id="1031"/>
            <p14:sldId id="1032"/>
            <p14:sldId id="1033"/>
            <p14:sldId id="1048"/>
            <p14:sldId id="1049"/>
            <p14:sldId id="1035"/>
            <p14:sldId id="1036"/>
            <p14:sldId id="1037"/>
            <p14:sldId id="1038"/>
            <p14:sldId id="1039"/>
            <p14:sldId id="1040"/>
            <p14:sldId id="1041"/>
            <p14:sldId id="1042"/>
            <p14:sldId id="1043"/>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33CC"/>
    <a:srgbClr val="99FF99"/>
    <a:srgbClr val="00CC00"/>
    <a:srgbClr val="000000"/>
    <a:srgbClr val="F8F8F8"/>
    <a:srgbClr val="0000CC"/>
    <a:srgbClr val="F5D7F1"/>
    <a:srgbClr val="5F5F5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4" autoAdjust="0"/>
    <p:restoredTop sz="98116" autoAdjust="0"/>
  </p:normalViewPr>
  <p:slideViewPr>
    <p:cSldViewPr>
      <p:cViewPr varScale="1">
        <p:scale>
          <a:sx n="77" d="100"/>
          <a:sy n="77" d="100"/>
        </p:scale>
        <p:origin x="1004" y="64"/>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commentAuthors" Target="commentAuthor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10/21/2021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10/21/2021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xfrm>
            <a:off x="1181100" y="698500"/>
            <a:ext cx="46482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3327217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7501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8896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9109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8701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1005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0694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158" name="Google Shape;158;p6: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a:t>
            </a:fld>
            <a:endParaRPr sz="1200">
              <a:solidFill>
                <a:schemeClr val="dk1"/>
              </a:solidFill>
              <a:latin typeface="Times New Roman"/>
              <a:ea typeface="Times New Roman"/>
              <a:cs typeface="Times New Roman"/>
              <a:sym typeface="Times New Roman"/>
            </a:endParaRPr>
          </a:p>
        </p:txBody>
      </p:sp>
      <p:sp>
        <p:nvSpPr>
          <p:cNvPr id="159" name="Google Shape;159;p6: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a:t>
            </a:fld>
            <a:endParaRPr sz="1200">
              <a:solidFill>
                <a:schemeClr val="dk1"/>
              </a:solidFill>
              <a:latin typeface="Times New Roman"/>
              <a:ea typeface="Times New Roman"/>
              <a:cs typeface="Times New Roman"/>
              <a:sym typeface="Times New Roman"/>
            </a:endParaRPr>
          </a:p>
        </p:txBody>
      </p:sp>
      <p:sp>
        <p:nvSpPr>
          <p:cNvPr id="160" name="Google Shape;160;p6: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 name="Google Shape;161;p6: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22644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8383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7437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13</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13</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192334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14</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14</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2055240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71552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9145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xfrm>
            <a:off x="1181100" y="698500"/>
            <a:ext cx="46482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283668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2742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5061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36771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20691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3301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67555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10239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1643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77241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00317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39657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97181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35296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42834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70521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158" name="Google Shape;158;p6: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35</a:t>
            </a:fld>
            <a:endParaRPr sz="1200">
              <a:solidFill>
                <a:schemeClr val="dk1"/>
              </a:solidFill>
              <a:latin typeface="Times New Roman"/>
              <a:ea typeface="Times New Roman"/>
              <a:cs typeface="Times New Roman"/>
              <a:sym typeface="Times New Roman"/>
            </a:endParaRPr>
          </a:p>
        </p:txBody>
      </p:sp>
      <p:sp>
        <p:nvSpPr>
          <p:cNvPr id="159" name="Google Shape;159;p6: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35</a:t>
            </a:fld>
            <a:endParaRPr sz="1200">
              <a:solidFill>
                <a:schemeClr val="dk1"/>
              </a:solidFill>
              <a:latin typeface="Times New Roman"/>
              <a:ea typeface="Times New Roman"/>
              <a:cs typeface="Times New Roman"/>
              <a:sym typeface="Times New Roman"/>
            </a:endParaRPr>
          </a:p>
        </p:txBody>
      </p:sp>
      <p:sp>
        <p:nvSpPr>
          <p:cNvPr id="160" name="Google Shape;160;p6: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 name="Google Shape;161;p6: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42030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75144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95020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38</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38</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7185576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40699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dirty="0">
                <a:solidFill>
                  <a:schemeClr val="dk1"/>
                </a:solidFill>
                <a:latin typeface="Times New Roman"/>
                <a:ea typeface="Times New Roman"/>
                <a:cs typeface="Times New Roman"/>
                <a:sym typeface="Times New Roman"/>
              </a:rPr>
              <a:t>2015-2016</a:t>
            </a:r>
            <a:endParaRPr dirty="0"/>
          </a:p>
        </p:txBody>
      </p:sp>
      <p:sp>
        <p:nvSpPr>
          <p:cNvPr id="336" name="Google Shape;336;p2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40</a:t>
            </a:fld>
            <a:endParaRPr sz="1200" dirty="0">
              <a:solidFill>
                <a:schemeClr val="dk1"/>
              </a:solidFill>
              <a:latin typeface="Times New Roman"/>
              <a:ea typeface="Times New Roman"/>
              <a:cs typeface="Times New Roman"/>
              <a:sym typeface="Times New Roman"/>
            </a:endParaRPr>
          </a:p>
        </p:txBody>
      </p:sp>
      <p:sp>
        <p:nvSpPr>
          <p:cNvPr id="337" name="Google Shape;337;p2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40</a:t>
            </a:fld>
            <a:endParaRPr sz="1200" dirty="0">
              <a:solidFill>
                <a:schemeClr val="dk1"/>
              </a:solidFill>
              <a:latin typeface="Times New Roman"/>
              <a:ea typeface="Times New Roman"/>
              <a:cs typeface="Times New Roman"/>
              <a:sym typeface="Times New Roman"/>
            </a:endParaRPr>
          </a:p>
        </p:txBody>
      </p:sp>
      <p:sp>
        <p:nvSpPr>
          <p:cNvPr id="338" name="Google Shape;338;p2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9" name="Google Shape;339;p2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lang="en-CA" dirty="0"/>
          </a:p>
        </p:txBody>
      </p:sp>
    </p:spTree>
    <p:extLst>
      <p:ext uri="{BB962C8B-B14F-4D97-AF65-F5344CB8AC3E}">
        <p14:creationId xmlns:p14="http://schemas.microsoft.com/office/powerpoint/2010/main" val="17553402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03257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5503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43</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43</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5645128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20697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87853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3113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87067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7690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10/21/2021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4"/>
            <a:ext cx="7772400" cy="1470025"/>
          </a:xfrm>
        </p:spPr>
        <p:txBody>
          <a:bodyPr/>
          <a:lstStyle>
            <a:lvl1pPr>
              <a:spcBef>
                <a:spcPct val="20000"/>
              </a:spcBef>
              <a:defRPr sz="27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350267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257175" indent="-257175">
              <a:buClrTx/>
              <a:buFont typeface="Wingdings" charset="2"/>
              <a:buChar char="§"/>
              <a:defRPr sz="1800">
                <a:solidFill>
                  <a:schemeClr val="tx1"/>
                </a:solidFill>
              </a:defRPr>
            </a:lvl1pPr>
            <a:lvl2pPr marL="557213" indent="-214313">
              <a:buClrTx/>
              <a:buFont typeface="Arial"/>
              <a:buChar char="•"/>
              <a:defRPr sz="1650">
                <a:solidFill>
                  <a:schemeClr val="tx1"/>
                </a:solidFill>
              </a:defRPr>
            </a:lvl2pPr>
            <a:lvl3pPr marL="857250" indent="-171450">
              <a:buClrTx/>
              <a:buFont typeface="Arial"/>
              <a:buChar char="•"/>
              <a:defRPr sz="1500">
                <a:solidFill>
                  <a:schemeClr val="tx1"/>
                </a:solidFill>
              </a:defRPr>
            </a:lvl3pPr>
            <a:lvl4pPr marL="1200150" indent="-171450">
              <a:buClrTx/>
              <a:buFont typeface="Arial"/>
              <a:buChar char="•"/>
              <a:defRPr>
                <a:solidFill>
                  <a:schemeClr val="tx1"/>
                </a:solidFill>
              </a:defRPr>
            </a:lvl4pPr>
            <a:lvl5pPr marL="1543050" indent="-17145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4931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9"/>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9"/>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322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10/21/2021</a:t>
            </a:fld>
            <a:endParaRPr kumimoji="0" 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33591283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42"/>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830290"/>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2700" b="1">
          <a:solidFill>
            <a:schemeClr val="accent2"/>
          </a:solidFill>
          <a:latin typeface="Calibri" pitchFamily="34" charset="0"/>
          <a:ea typeface="+mj-ea"/>
          <a:cs typeface="+mj-cs"/>
        </a:defRPr>
      </a:lvl1pPr>
      <a:lvl2pPr algn="ctr" rtl="0" eaLnBrk="0" fontAlgn="base" hangingPunct="0">
        <a:spcBef>
          <a:spcPct val="0"/>
        </a:spcBef>
        <a:spcAft>
          <a:spcPct val="0"/>
        </a:spcAft>
        <a:defRPr sz="2700">
          <a:solidFill>
            <a:srgbClr val="002C5F"/>
          </a:solidFill>
          <a:latin typeface="Calibri" pitchFamily="34" charset="0"/>
        </a:defRPr>
      </a:lvl2pPr>
      <a:lvl3pPr algn="ctr" rtl="0" eaLnBrk="0" fontAlgn="base" hangingPunct="0">
        <a:spcBef>
          <a:spcPct val="0"/>
        </a:spcBef>
        <a:spcAft>
          <a:spcPct val="0"/>
        </a:spcAft>
        <a:defRPr sz="2700">
          <a:solidFill>
            <a:srgbClr val="002C5F"/>
          </a:solidFill>
          <a:latin typeface="Calibri" pitchFamily="34" charset="0"/>
        </a:defRPr>
      </a:lvl3pPr>
      <a:lvl4pPr algn="ctr" rtl="0" eaLnBrk="0" fontAlgn="base" hangingPunct="0">
        <a:spcBef>
          <a:spcPct val="0"/>
        </a:spcBef>
        <a:spcAft>
          <a:spcPct val="0"/>
        </a:spcAft>
        <a:defRPr sz="2700">
          <a:solidFill>
            <a:srgbClr val="002C5F"/>
          </a:solidFill>
          <a:latin typeface="Calibri" pitchFamily="34" charset="0"/>
        </a:defRPr>
      </a:lvl4pPr>
      <a:lvl5pPr algn="ctr" rtl="0" eaLnBrk="0" fontAlgn="base" hangingPunct="0">
        <a:spcBef>
          <a:spcPct val="0"/>
        </a:spcBef>
        <a:spcAft>
          <a:spcPct val="0"/>
        </a:spcAft>
        <a:defRPr sz="2700">
          <a:solidFill>
            <a:srgbClr val="002C5F"/>
          </a:solidFill>
          <a:latin typeface="Calibri" pitchFamily="34" charset="0"/>
        </a:defRPr>
      </a:lvl5pPr>
      <a:lvl6pPr marL="342900" algn="ctr" rtl="0" fontAlgn="base">
        <a:spcBef>
          <a:spcPct val="0"/>
        </a:spcBef>
        <a:spcAft>
          <a:spcPct val="0"/>
        </a:spcAft>
        <a:defRPr sz="2700" b="1">
          <a:solidFill>
            <a:srgbClr val="002C5F"/>
          </a:solidFill>
          <a:latin typeface="Arial" charset="0"/>
        </a:defRPr>
      </a:lvl6pPr>
      <a:lvl7pPr marL="685800" algn="ctr" rtl="0" fontAlgn="base">
        <a:spcBef>
          <a:spcPct val="0"/>
        </a:spcBef>
        <a:spcAft>
          <a:spcPct val="0"/>
        </a:spcAft>
        <a:defRPr sz="2700" b="1">
          <a:solidFill>
            <a:srgbClr val="002C5F"/>
          </a:solidFill>
          <a:latin typeface="Arial" charset="0"/>
        </a:defRPr>
      </a:lvl7pPr>
      <a:lvl8pPr marL="1028700" algn="ctr" rtl="0" fontAlgn="base">
        <a:spcBef>
          <a:spcPct val="0"/>
        </a:spcBef>
        <a:spcAft>
          <a:spcPct val="0"/>
        </a:spcAft>
        <a:defRPr sz="2700" b="1">
          <a:solidFill>
            <a:srgbClr val="002C5F"/>
          </a:solidFill>
          <a:latin typeface="Arial" charset="0"/>
        </a:defRPr>
      </a:lvl8pPr>
      <a:lvl9pPr marL="1371600" algn="ctr" rtl="0" fontAlgn="base">
        <a:spcBef>
          <a:spcPct val="0"/>
        </a:spcBef>
        <a:spcAft>
          <a:spcPct val="0"/>
        </a:spcAft>
        <a:defRPr sz="2700" b="1">
          <a:solidFill>
            <a:srgbClr val="002C5F"/>
          </a:solidFill>
          <a:latin typeface="Arial" charset="0"/>
        </a:defRPr>
      </a:lvl9pPr>
    </p:titleStyle>
    <p:bodyStyle>
      <a:lvl1pPr marL="257175" indent="-257175" algn="l" rtl="0" eaLnBrk="0" fontAlgn="base" hangingPunct="0">
        <a:spcBef>
          <a:spcPct val="20000"/>
        </a:spcBef>
        <a:spcAft>
          <a:spcPct val="0"/>
        </a:spcAft>
        <a:buClr>
          <a:srgbClr val="AA9C8F"/>
        </a:buClr>
        <a:buFont typeface="Wingdings" pitchFamily="2" charset="2"/>
        <a:buChar char="§"/>
        <a:defRPr sz="2100">
          <a:solidFill>
            <a:srgbClr val="4D4D4D"/>
          </a:solidFill>
          <a:latin typeface="Calibri" pitchFamily="34" charset="0"/>
          <a:ea typeface="+mn-ea"/>
          <a:cs typeface="+mn-cs"/>
        </a:defRPr>
      </a:lvl1pPr>
      <a:lvl2pPr marL="557213" indent="-214313" algn="l" rtl="0" eaLnBrk="0" fontAlgn="base" hangingPunct="0">
        <a:spcBef>
          <a:spcPct val="20000"/>
        </a:spcBef>
        <a:spcAft>
          <a:spcPct val="0"/>
        </a:spcAft>
        <a:buClr>
          <a:srgbClr val="C75B12"/>
        </a:buClr>
        <a:buFont typeface="Wingdings" pitchFamily="2" charset="2"/>
        <a:buChar char="§"/>
        <a:defRPr sz="1950">
          <a:solidFill>
            <a:schemeClr val="tx1"/>
          </a:solidFill>
          <a:latin typeface="Calibri" pitchFamily="34" charset="0"/>
        </a:defRPr>
      </a:lvl2pPr>
      <a:lvl3pPr marL="857250" indent="-171450" algn="l" rtl="0" eaLnBrk="0" fontAlgn="base" hangingPunct="0">
        <a:spcBef>
          <a:spcPct val="20000"/>
        </a:spcBef>
        <a:spcAft>
          <a:spcPct val="0"/>
        </a:spcAft>
        <a:buClr>
          <a:srgbClr val="C75B12"/>
        </a:buClr>
        <a:buFont typeface="Wingdings" pitchFamily="2" charset="2"/>
        <a:buChar char="§"/>
        <a:defRPr sz="1800">
          <a:solidFill>
            <a:schemeClr val="tx1"/>
          </a:solidFill>
          <a:latin typeface="Calibri" pitchFamily="34" charset="0"/>
        </a:defRPr>
      </a:lvl3pPr>
      <a:lvl4pPr marL="1200150" indent="-171450" algn="l" rtl="0" eaLnBrk="0" fontAlgn="base" hangingPunct="0">
        <a:spcBef>
          <a:spcPct val="20000"/>
        </a:spcBef>
        <a:spcAft>
          <a:spcPct val="0"/>
        </a:spcAft>
        <a:buClr>
          <a:srgbClr val="C75B12"/>
        </a:buClr>
        <a:buFont typeface="Wingdings" pitchFamily="2" charset="2"/>
        <a:buChar char="§"/>
        <a:defRPr sz="1500">
          <a:solidFill>
            <a:schemeClr val="tx1"/>
          </a:solidFill>
          <a:latin typeface="Calibri" pitchFamily="34" charset="0"/>
        </a:defRPr>
      </a:lvl4pPr>
      <a:lvl5pPr marL="1543050" indent="-171450" algn="l" rtl="0" eaLnBrk="0" fontAlgn="base" hangingPunct="0">
        <a:spcBef>
          <a:spcPct val="20000"/>
        </a:spcBef>
        <a:spcAft>
          <a:spcPct val="0"/>
        </a:spcAft>
        <a:buClr>
          <a:srgbClr val="C75B12"/>
        </a:buClr>
        <a:buFont typeface="Wingdings" pitchFamily="2" charset="2"/>
        <a:buChar char="§"/>
        <a:defRPr sz="1500">
          <a:solidFill>
            <a:schemeClr val="tx1"/>
          </a:solidFill>
          <a:latin typeface="Calibri" pitchFamily="34" charset="0"/>
        </a:defRPr>
      </a:lvl5pPr>
      <a:lvl6pPr marL="18859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6pPr>
      <a:lvl7pPr marL="22288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7pPr>
      <a:lvl8pPr marL="25717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8pPr>
      <a:lvl9pPr marL="29146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80000" y="864000"/>
            <a:ext cx="882000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180000" y="2412000"/>
            <a:ext cx="8820000"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marL="0" indent="0" algn="ctr" eaLnBrk="1" hangingPunct="1">
              <a:spcBef>
                <a:spcPct val="0"/>
              </a:spcBef>
              <a:buNone/>
            </a:pPr>
            <a:r>
              <a:rPr lang="en-US" altLang="en-US" sz="36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6.6 </a:t>
            </a:r>
            <a:r>
              <a:rPr lang="en-US" altLang="en-US" sz="36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 Introduction </a:t>
            </a:r>
            <a: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36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Occupational Health</a:t>
            </a:r>
          </a:p>
        </p:txBody>
      </p:sp>
      <p:sp>
        <p:nvSpPr>
          <p:cNvPr id="9" name="TextBox 8">
            <a:extLst>
              <a:ext uri="{FF2B5EF4-FFF2-40B4-BE49-F238E27FC236}">
                <a16:creationId xmlns:a16="http://schemas.microsoft.com/office/drawing/2014/main" id="{45837290-7F22-4D42-BFDD-D5AD4C09C01F}"/>
              </a:ext>
            </a:extLst>
          </p:cNvPr>
          <p:cNvSpPr txBox="1"/>
          <p:nvPr/>
        </p:nvSpPr>
        <p:spPr>
          <a:xfrm>
            <a:off x="13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Fundamentals of Risk Management</a:t>
            </a:r>
          </a:p>
        </p:txBody>
      </p:sp>
      <p:sp>
        <p:nvSpPr>
          <p:cNvPr id="10" name="TextBox 9">
            <a:extLst>
              <a:ext uri="{FF2B5EF4-FFF2-40B4-BE49-F238E27FC236}">
                <a16:creationId xmlns:a16="http://schemas.microsoft.com/office/drawing/2014/main" id="{7618FDCA-D6EA-3540-8AE2-F6CD31336ABE}"/>
              </a:ext>
            </a:extLst>
          </p:cNvPr>
          <p:cNvSpPr txBox="1"/>
          <p:nvPr/>
        </p:nvSpPr>
        <p:spPr>
          <a:xfrm>
            <a:off x="121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System, </a:t>
            </a:r>
            <a:r>
              <a:rPr kumimoji="0" lang="en-US" sz="1000" b="0" i="0" u="none" strike="noStrike" kern="0" cap="none" spc="0" normalizeH="0" baseline="0" noProof="0" dirty="0" smtClean="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Process, </a:t>
            </a: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&amp; Program</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69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Applications &amp;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445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People &amp; Organizations</a:t>
            </a:r>
          </a:p>
        </p:txBody>
      </p:sp>
      <p:sp>
        <p:nvSpPr>
          <p:cNvPr id="13" name="TextBox 12">
            <a:extLst>
              <a:ext uri="{FF2B5EF4-FFF2-40B4-BE49-F238E27FC236}">
                <a16:creationId xmlns:a16="http://schemas.microsoft.com/office/drawing/2014/main" id="{00457A8C-8AD1-BC48-A393-2CA6461462C7}"/>
              </a:ext>
            </a:extLst>
          </p:cNvPr>
          <p:cNvSpPr txBox="1"/>
          <p:nvPr/>
        </p:nvSpPr>
        <p:spPr>
          <a:xfrm>
            <a:off x="2295000" y="108000"/>
            <a:ext cx="900000" cy="540000"/>
          </a:xfrm>
          <a:prstGeom prst="rect">
            <a:avLst/>
          </a:prstGeom>
          <a:solidFill>
            <a:srgbClr val="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Incident Investigation &amp; Analysis</a:t>
            </a:r>
          </a:p>
        </p:txBody>
      </p:sp>
      <p:sp>
        <p:nvSpPr>
          <p:cNvPr id="14" name="TextBox 13">
            <a:extLst>
              <a:ext uri="{FF2B5EF4-FFF2-40B4-BE49-F238E27FC236}">
                <a16:creationId xmlns:a16="http://schemas.microsoft.com/office/drawing/2014/main" id="{D7E14612-2C60-CA49-88DC-A40274E52BE8}"/>
              </a:ext>
            </a:extLst>
          </p:cNvPr>
          <p:cNvSpPr txBox="1"/>
          <p:nvPr/>
        </p:nvSpPr>
        <p:spPr>
          <a:xfrm>
            <a:off x="3375000" y="108000"/>
            <a:ext cx="8100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6615000" y="108000"/>
            <a:ext cx="81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Leadership in RM</a:t>
            </a:r>
          </a:p>
        </p:txBody>
      </p:sp>
      <p:sp>
        <p:nvSpPr>
          <p:cNvPr id="23" name="TextBox 22">
            <a:extLst>
              <a:ext uri="{FF2B5EF4-FFF2-40B4-BE49-F238E27FC236}">
                <a16:creationId xmlns:a16="http://schemas.microsoft.com/office/drawing/2014/main" id="{E97011C2-9A0B-664B-83CB-DE2410B86B87}"/>
              </a:ext>
            </a:extLst>
          </p:cNvPr>
          <p:cNvSpPr txBox="1"/>
          <p:nvPr/>
        </p:nvSpPr>
        <p:spPr>
          <a:xfrm>
            <a:off x="5535000" y="108000"/>
            <a:ext cx="9000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as Applied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00" y="4320000"/>
            <a:ext cx="1800000" cy="1800000"/>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0313" y="4320000"/>
            <a:ext cx="2638887" cy="1800000"/>
          </a:xfrm>
          <a:prstGeom prst="rect">
            <a:avLst/>
          </a:prstGeom>
        </p:spPr>
      </p:pic>
      <p:cxnSp>
        <p:nvCxnSpPr>
          <p:cNvPr id="5" name="Straight Arrow Connector 4"/>
          <p:cNvCxnSpPr>
            <a:stCxn id="9" idx="3"/>
            <a:endCxn id="10" idx="1"/>
          </p:cNvCxnSpPr>
          <p:nvPr/>
        </p:nvCxnSpPr>
        <p:spPr>
          <a:xfrm>
            <a:off x="1126800" y="378000"/>
            <a:ext cx="88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0" idx="3"/>
            <a:endCxn id="13" idx="1"/>
          </p:cNvCxnSpPr>
          <p:nvPr/>
        </p:nvCxnSpPr>
        <p:spPr>
          <a:xfrm>
            <a:off x="211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3"/>
            <a:endCxn id="14" idx="1"/>
          </p:cNvCxnSpPr>
          <p:nvPr/>
        </p:nvCxnSpPr>
        <p:spPr>
          <a:xfrm>
            <a:off x="319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4" idx="3"/>
            <a:endCxn id="12" idx="1"/>
          </p:cNvCxnSpPr>
          <p:nvPr/>
        </p:nvCxnSpPr>
        <p:spPr>
          <a:xfrm>
            <a:off x="418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12" idx="3"/>
            <a:endCxn id="23" idx="1"/>
          </p:cNvCxnSpPr>
          <p:nvPr/>
        </p:nvCxnSpPr>
        <p:spPr>
          <a:xfrm>
            <a:off x="535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3" idx="3"/>
            <a:endCxn id="15" idx="1"/>
          </p:cNvCxnSpPr>
          <p:nvPr/>
        </p:nvCxnSpPr>
        <p:spPr>
          <a:xfrm>
            <a:off x="643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15" idx="3"/>
            <a:endCxn id="11" idx="1"/>
          </p:cNvCxnSpPr>
          <p:nvPr/>
        </p:nvCxnSpPr>
        <p:spPr>
          <a:xfrm>
            <a:off x="742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27917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relationship between health &amp; safety in the workplace</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importance of understanding health related risks &amp; the role of leadership to address them</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key concepts of occupational health</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order of preference in controlling workplace exposures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relationship between a Health Hazards Review and a Health Risk Assessment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Describe the engineering leadership role in supporting a Health Plan</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role of leadership in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Workplace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Surveillance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Program</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and health - closely related but not the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same!</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Safety: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injury-causing situations / acute, sudden, severe</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Health: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disease-causing conditions / adverse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reaction to prolonged exposure 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difference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always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clear:</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Stress - psychological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&amp; physiological problems over a prolonged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period.</a:t>
            </a:r>
          </a:p>
          <a:p>
            <a:pPr marL="1080000" indent="-360000" eaLnBrk="0" hangingPunct="0">
              <a:lnSpc>
                <a:spcPct val="9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concern.</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However, a stressed worker may be more prone 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rush or unintentionally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forget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overlook safety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precautions &amp; thus lead to an incident.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080000" indent="-360000" eaLnBrk="0" hangingPunct="0">
              <a:lnSpc>
                <a:spcPct val="9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concern.</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are responsible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both, so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 need to have an appreciation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both.</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Introduction:</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8517005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Canada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the world's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SECOND largest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producer &amp; exporter of uranium.</a:t>
            </a:r>
          </a:p>
          <a:p>
            <a:pPr marL="0" indent="0" eaLnBrk="0" hangingPunct="0">
              <a:lnSpc>
                <a:spcPct val="90000"/>
              </a:lnSpc>
              <a:spcBef>
                <a:spcPts val="0"/>
              </a:spcBef>
              <a:buClrTx/>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Uranium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naturally-occurring radioactive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material (NORM)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is mined. </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Commercial uses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uranium: weapons &amp;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reactors (energy, medicine, engineering diagnostic tools, food sterilization)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Medical science 1930’s: airborne radioactivity likely causes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lung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cancer: mining releases radon gas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odourless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colourless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inert, half-life = 3.8 days.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to disease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prevention – control the mine atmosphere:</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dust and improve ventilation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 ventilation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 contamination with dust and radon “daughters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 radiation dose right inside the lungs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 such thing as a "safe dose"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radiation although we live with and are immersed in background radiation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higher incidence of lung cancer may take years to occur</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health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issue!</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Prolonged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leads to disease years and decades later!</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Uranium </a:t>
            </a:r>
            <a:r>
              <a:rPr lang="en-US" altLang="en-US" sz="2400" b="0" dirty="0" smtClean="0">
                <a:solidFill>
                  <a:schemeClr val="accent2"/>
                </a:solidFill>
                <a:latin typeface="Arial" panose="020B0604020202020204" pitchFamily="34" charset="0"/>
                <a:ea typeface="+mj-ea"/>
                <a:cs typeface="Arial" panose="020B0604020202020204" pitchFamily="34" charset="0"/>
              </a:rPr>
              <a:t>and Mining:</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3617875"/>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a:fillRect/>
          </a:stretch>
        </p:blipFill>
        <p:spPr>
          <a:xfrm rot="19174838">
            <a:off x="4481921" y="4731407"/>
            <a:ext cx="1116247" cy="838200"/>
          </a:xfrm>
          <a:prstGeom prst="rect">
            <a:avLst/>
          </a:prstGeom>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1973: “… an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increasing number of miners in Elliot Lake who are starting to show the effects of dust in their lungs.  When we consider that there is also radiation exposure involved, this could lead to a very dangerous situation”.</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response, Rio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Tinto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VP: “Menace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dust exposure in these uranium mines we believe is not yet generally understood” &amp; “take some time before all its particular hazards are fully recognized</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Annual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x-rays &amp; medical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examinations of workers; results not disclosed.</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Paris Conference on uranium mining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attended by mine union members and provincial government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officials; officials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spoke about the harmful effects of radiation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based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studies of Elliot Lake miners.</a:t>
            </a:r>
          </a:p>
          <a:p>
            <a:pPr marL="720000" indent="-360000" eaLnBrk="0" hangingPunct="0">
              <a:lnSpc>
                <a:spcPct val="90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1974 – Elliot Lake Uranium miners at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Denison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Mines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wildcat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strike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protest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unhealthy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working conditions</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Uranium and the Elliot </a:t>
            </a:r>
            <a:r>
              <a:rPr lang="en-US" altLang="en-US" sz="2400" b="0" dirty="0">
                <a:solidFill>
                  <a:schemeClr val="accent2"/>
                </a:solidFill>
                <a:latin typeface="Arial" panose="020B0604020202020204" pitchFamily="34" charset="0"/>
                <a:ea typeface="+mj-ea"/>
                <a:cs typeface="Arial" panose="020B0604020202020204" pitchFamily="34" charset="0"/>
              </a:rPr>
              <a:t>Lake </a:t>
            </a:r>
            <a:r>
              <a:rPr lang="en-US" altLang="en-US" sz="2400" b="0" dirty="0" smtClean="0">
                <a:solidFill>
                  <a:schemeClr val="accent2"/>
                </a:solidFill>
                <a:latin typeface="Arial" panose="020B0604020202020204" pitchFamily="34" charset="0"/>
                <a:ea typeface="+mj-ea"/>
                <a:cs typeface="Arial" panose="020B0604020202020204" pitchFamily="34" charset="0"/>
              </a:rPr>
              <a:t>Tragedy:</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7" name="Picture 6" descr="The Marxist-Leninist Daily"/>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87275" y="4648200"/>
            <a:ext cx="3326125" cy="1446864"/>
          </a:xfrm>
          <a:prstGeom prst="rect">
            <a:avLst/>
          </a:prstGeom>
        </p:spPr>
      </p:pic>
    </p:spTree>
    <p:extLst>
      <p:ext uri="{BB962C8B-B14F-4D97-AF65-F5344CB8AC3E}">
        <p14:creationId xmlns:p14="http://schemas.microsoft.com/office/powerpoint/2010/main" val="2341789487"/>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Uranium, Elliot Lake, &amp; Ham </a:t>
            </a:r>
            <a:r>
              <a:rPr lang="en-US" altLang="en-US" sz="2400" b="0" dirty="0">
                <a:solidFill>
                  <a:schemeClr val="accent2"/>
                </a:solidFill>
                <a:latin typeface="Arial" panose="020B0604020202020204" pitchFamily="34" charset="0"/>
                <a:ea typeface="+mj-ea"/>
                <a:cs typeface="Arial" panose="020B0604020202020204" pitchFamily="34" charset="0"/>
              </a:rPr>
              <a:t>Report Excerpts &amp; </a:t>
            </a:r>
            <a:r>
              <a:rPr lang="en-US" altLang="en-US" sz="2400" b="0" dirty="0" smtClean="0">
                <a:solidFill>
                  <a:schemeClr val="accent2"/>
                </a:solidFill>
                <a:latin typeface="Arial" panose="020B0604020202020204" pitchFamily="34" charset="0"/>
                <a:ea typeface="+mj-ea"/>
                <a:cs typeface="Arial" panose="020B0604020202020204" pitchFamily="34" charset="0"/>
              </a:rPr>
              <a:t>Leadership:</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
        <p:nvSpPr>
          <p:cNvPr id="6" name="Google Shape;341;p20"/>
          <p:cNvSpPr txBox="1">
            <a:spLocks/>
          </p:cNvSpPr>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marL="0" indent="0">
              <a:lnSpc>
                <a:spcPct val="90000"/>
              </a:lnSpc>
              <a:spcBef>
                <a:spcPts val="0"/>
              </a:spcBef>
              <a:buClr>
                <a:srgbClr val="000000"/>
              </a:buClr>
              <a:buSzPts val="2000"/>
              <a:buNone/>
            </a:pPr>
            <a:r>
              <a:rPr lang="en-CA" sz="2000" kern="0" dirty="0" smtClean="0">
                <a:solidFill>
                  <a:srgbClr val="000000"/>
                </a:solidFill>
                <a:latin typeface="Arial"/>
                <a:ea typeface="Arial"/>
                <a:cs typeface="Arial"/>
              </a:rPr>
              <a:t>The “Ham Report”:</a:t>
            </a:r>
          </a:p>
          <a:p>
            <a:pPr marL="360000" indent="-360000">
              <a:lnSpc>
                <a:spcPct val="90000"/>
              </a:lnSpc>
              <a:spcBef>
                <a:spcPts val="0"/>
              </a:spcBef>
              <a:buClr>
                <a:srgbClr val="000000"/>
              </a:buClr>
              <a:buSzPts val="2000"/>
              <a:buFont typeface="Noto Sans Symbols"/>
              <a:buChar char="⮚"/>
            </a:pPr>
            <a:r>
              <a:rPr lang="en-CA" sz="2000" b="0" kern="0" dirty="0" smtClean="0">
                <a:solidFill>
                  <a:srgbClr val="000000"/>
                </a:solidFill>
                <a:latin typeface="Arial"/>
                <a:ea typeface="Arial"/>
                <a:cs typeface="Arial"/>
              </a:rPr>
              <a:t>Ontario government established the </a:t>
            </a:r>
            <a:r>
              <a:rPr lang="en-CA" sz="2000" b="0" i="1" kern="0" dirty="0" smtClean="0">
                <a:solidFill>
                  <a:srgbClr val="000000"/>
                </a:solidFill>
                <a:latin typeface="Arial"/>
                <a:ea typeface="Arial"/>
                <a:cs typeface="Arial"/>
              </a:rPr>
              <a:t>Royal </a:t>
            </a:r>
            <a:br>
              <a:rPr lang="en-CA" sz="2000" b="0" i="1" kern="0" dirty="0" smtClean="0">
                <a:solidFill>
                  <a:srgbClr val="000000"/>
                </a:solidFill>
                <a:latin typeface="Arial"/>
                <a:ea typeface="Arial"/>
                <a:cs typeface="Arial"/>
              </a:rPr>
            </a:br>
            <a:r>
              <a:rPr lang="en-CA" sz="2000" b="0" i="1" kern="0" dirty="0" smtClean="0">
                <a:solidFill>
                  <a:srgbClr val="000000"/>
                </a:solidFill>
                <a:latin typeface="Arial"/>
                <a:ea typeface="Arial"/>
                <a:cs typeface="Arial"/>
              </a:rPr>
              <a:t>Commission the Health and Safety of Workers</a:t>
            </a:r>
            <a:br>
              <a:rPr lang="en-CA" sz="2000" b="0" i="1" kern="0" dirty="0" smtClean="0">
                <a:solidFill>
                  <a:srgbClr val="000000"/>
                </a:solidFill>
                <a:latin typeface="Arial"/>
                <a:ea typeface="Arial"/>
                <a:cs typeface="Arial"/>
              </a:rPr>
            </a:br>
            <a:r>
              <a:rPr lang="en-CA" sz="2000" b="0" i="1" kern="0" dirty="0" smtClean="0">
                <a:solidFill>
                  <a:srgbClr val="000000"/>
                </a:solidFill>
                <a:latin typeface="Arial"/>
                <a:ea typeface="Arial"/>
                <a:cs typeface="Arial"/>
              </a:rPr>
              <a:t> in Mines</a:t>
            </a:r>
            <a:r>
              <a:rPr lang="en-CA" sz="2000" b="0" kern="0" dirty="0" smtClean="0">
                <a:solidFill>
                  <a:srgbClr val="000000"/>
                </a:solidFill>
                <a:latin typeface="Arial"/>
                <a:ea typeface="Arial"/>
                <a:cs typeface="Arial"/>
              </a:rPr>
              <a:t> (the Ham Commission 1976-June-30).</a:t>
            </a:r>
          </a:p>
          <a:p>
            <a:pPr marL="0" indent="0">
              <a:lnSpc>
                <a:spcPct val="90000"/>
              </a:lnSpc>
              <a:spcBef>
                <a:spcPts val="0"/>
              </a:spcBef>
              <a:buClr>
                <a:srgbClr val="000000"/>
              </a:buClr>
              <a:buSzPts val="2000"/>
              <a:buNone/>
            </a:pPr>
            <a:r>
              <a:rPr lang="en-CA" sz="1400" b="0" i="1" kern="0" dirty="0" smtClean="0">
                <a:solidFill>
                  <a:srgbClr val="000000"/>
                </a:solidFill>
                <a:latin typeface="Arial"/>
                <a:ea typeface="Arial"/>
                <a:cs typeface="Arial"/>
              </a:rPr>
              <a:t>https</a:t>
            </a:r>
            <a:r>
              <a:rPr lang="en-CA" sz="1400" b="0" i="1" kern="0" dirty="0">
                <a:solidFill>
                  <a:srgbClr val="000000"/>
                </a:solidFill>
                <a:latin typeface="Arial"/>
                <a:ea typeface="Arial"/>
                <a:cs typeface="Arial"/>
              </a:rPr>
              <a:t>://archive.org/details/reportofroyworkmine00onta/page/n3/mode/2up</a:t>
            </a:r>
            <a:endParaRPr lang="en-CA" sz="1400" b="0" i="1"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endParaRPr lang="en-CA" sz="2000" b="0"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2000" b="0" kern="0" dirty="0" smtClean="0">
                <a:solidFill>
                  <a:srgbClr val="000000"/>
                </a:solidFill>
                <a:latin typeface="Arial"/>
                <a:ea typeface="Arial"/>
                <a:cs typeface="Arial"/>
              </a:rPr>
              <a:t>The Ham Report </a:t>
            </a:r>
            <a:r>
              <a:rPr lang="en-CA" sz="2000" b="0" u="sng" kern="0" dirty="0" smtClean="0">
                <a:solidFill>
                  <a:srgbClr val="000000"/>
                </a:solidFill>
                <a:latin typeface="Arial"/>
                <a:ea typeface="Arial"/>
                <a:cs typeface="Arial"/>
              </a:rPr>
              <a:t>criticized</a:t>
            </a:r>
            <a:r>
              <a:rPr lang="en-CA" sz="2000" b="0" kern="0" dirty="0" smtClean="0">
                <a:solidFill>
                  <a:srgbClr val="000000"/>
                </a:solidFill>
                <a:latin typeface="Arial"/>
                <a:ea typeface="Arial"/>
                <a:cs typeface="Arial"/>
              </a:rPr>
              <a:t> government &amp; mining </a:t>
            </a:r>
            <a:br>
              <a:rPr lang="en-CA" sz="2000" b="0" kern="0" dirty="0" smtClean="0">
                <a:solidFill>
                  <a:srgbClr val="000000"/>
                </a:solidFill>
                <a:latin typeface="Arial"/>
                <a:ea typeface="Arial"/>
                <a:cs typeface="Arial"/>
              </a:rPr>
            </a:br>
            <a:r>
              <a:rPr lang="en-CA" sz="2000" b="0" kern="0" dirty="0" smtClean="0">
                <a:solidFill>
                  <a:srgbClr val="000000"/>
                </a:solidFill>
                <a:latin typeface="Arial"/>
                <a:ea typeface="Arial"/>
                <a:cs typeface="Arial"/>
              </a:rPr>
              <a:t>companies </a:t>
            </a:r>
            <a:r>
              <a:rPr lang="en-CA" sz="2000" b="0" u="sng" kern="0" dirty="0" smtClean="0">
                <a:solidFill>
                  <a:srgbClr val="000000"/>
                </a:solidFill>
                <a:latin typeface="Arial"/>
                <a:ea typeface="Arial"/>
                <a:cs typeface="Arial"/>
              </a:rPr>
              <a:t>for lacking transparency and failing to </a:t>
            </a:r>
            <a:br>
              <a:rPr lang="en-CA" sz="2000" b="0" u="sng" kern="0" dirty="0" smtClean="0">
                <a:solidFill>
                  <a:srgbClr val="000000"/>
                </a:solidFill>
                <a:latin typeface="Arial"/>
                <a:ea typeface="Arial"/>
                <a:cs typeface="Arial"/>
              </a:rPr>
            </a:br>
            <a:r>
              <a:rPr lang="en-CA" sz="2000" b="0" u="sng" kern="0" dirty="0" smtClean="0">
                <a:solidFill>
                  <a:srgbClr val="000000"/>
                </a:solidFill>
                <a:latin typeface="Arial"/>
                <a:ea typeface="Arial"/>
                <a:cs typeface="Arial"/>
              </a:rPr>
              <a:t>protect</a:t>
            </a:r>
            <a:r>
              <a:rPr lang="en-CA" sz="2000" b="0" kern="0" dirty="0" smtClean="0">
                <a:solidFill>
                  <a:srgbClr val="000000"/>
                </a:solidFill>
                <a:latin typeface="Arial"/>
                <a:ea typeface="Arial"/>
                <a:cs typeface="Arial"/>
              </a:rPr>
              <a:t> 30,000 Ontario mine workers from </a:t>
            </a:r>
            <a:br>
              <a:rPr lang="en-CA" sz="2000" b="0" kern="0" dirty="0" smtClean="0">
                <a:solidFill>
                  <a:srgbClr val="000000"/>
                </a:solidFill>
                <a:latin typeface="Arial"/>
                <a:ea typeface="Arial"/>
                <a:cs typeface="Arial"/>
              </a:rPr>
            </a:br>
            <a:r>
              <a:rPr lang="en-CA" sz="2000" b="0" kern="0" dirty="0" smtClean="0">
                <a:solidFill>
                  <a:srgbClr val="000000"/>
                </a:solidFill>
                <a:latin typeface="Arial"/>
                <a:ea typeface="Arial"/>
                <a:cs typeface="Arial"/>
              </a:rPr>
              <a:t>hazardous conditions.</a:t>
            </a:r>
          </a:p>
          <a:p>
            <a:pPr marL="360000" indent="-360000">
              <a:lnSpc>
                <a:spcPct val="90000"/>
              </a:lnSpc>
              <a:spcBef>
                <a:spcPts val="0"/>
              </a:spcBef>
              <a:buClr>
                <a:srgbClr val="000000"/>
              </a:buClr>
              <a:buSzPts val="2000"/>
              <a:buFont typeface="Noto Sans Symbols"/>
              <a:buChar char="⮚"/>
            </a:pPr>
            <a:endParaRPr lang="en-CA" sz="2000" b="0"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2000" b="0" kern="0" dirty="0" smtClean="0">
                <a:solidFill>
                  <a:srgbClr val="000000"/>
                </a:solidFill>
                <a:latin typeface="Arial"/>
                <a:ea typeface="Arial"/>
                <a:cs typeface="Arial"/>
              </a:rPr>
              <a:t>Report had 117 recommendations with implications beyond Ontario.</a:t>
            </a:r>
          </a:p>
          <a:p>
            <a:pPr>
              <a:lnSpc>
                <a:spcPct val="90000"/>
              </a:lnSpc>
              <a:spcBef>
                <a:spcPts val="0"/>
              </a:spcBef>
              <a:buClr>
                <a:srgbClr val="000000"/>
              </a:buClr>
              <a:buSzPts val="2000"/>
              <a:buFont typeface="Noto Sans Symbols"/>
              <a:buChar char="⮚"/>
            </a:pPr>
            <a:endParaRPr lang="en-CA" sz="2000" b="0"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2000" kern="0" dirty="0" smtClean="0">
                <a:solidFill>
                  <a:srgbClr val="000000"/>
                </a:solidFill>
                <a:latin typeface="Arial"/>
                <a:ea typeface="Arial"/>
                <a:cs typeface="Arial"/>
              </a:rPr>
              <a:t>Key outcome – </a:t>
            </a:r>
            <a:r>
              <a:rPr lang="en-CA" sz="2000" kern="0" dirty="0" smtClean="0">
                <a:solidFill>
                  <a:srgbClr val="FF0000"/>
                </a:solidFill>
                <a:latin typeface="Arial"/>
                <a:ea typeface="Arial"/>
                <a:cs typeface="Arial"/>
              </a:rPr>
              <a:t>Internal Responsibility System</a:t>
            </a:r>
            <a:r>
              <a:rPr lang="en-CA" sz="2000" kern="0" dirty="0" smtClean="0">
                <a:solidFill>
                  <a:srgbClr val="000000"/>
                </a:solidFill>
                <a:latin typeface="Arial"/>
                <a:ea typeface="Arial"/>
                <a:cs typeface="Arial"/>
              </a:rPr>
              <a:t> (IRS) for OHS</a:t>
            </a:r>
          </a:p>
          <a:p>
            <a:pPr marL="720000" lvl="1" indent="-360000">
              <a:lnSpc>
                <a:spcPct val="90000"/>
              </a:lnSpc>
              <a:spcBef>
                <a:spcPts val="0"/>
              </a:spcBef>
              <a:buClr>
                <a:srgbClr val="000000"/>
              </a:buClr>
              <a:buSzPts val="2000"/>
              <a:buFont typeface="Noto Sans Symbols"/>
              <a:buChar char="⮚"/>
            </a:pPr>
            <a:r>
              <a:rPr lang="en-US" sz="2000" b="0" kern="0" dirty="0" smtClean="0">
                <a:solidFill>
                  <a:srgbClr val="000000"/>
                </a:solidFill>
                <a:latin typeface="Arial"/>
                <a:ea typeface="Arial"/>
                <a:cs typeface="Arial"/>
              </a:rPr>
              <a:t>Underlying philosophy of the OHS legislation in all Canadian jurisdictions: everyone in the workplace - both employees and employers - is responsible for his or her own safety and for the safety of co-workers</a:t>
            </a:r>
          </a:p>
        </p:txBody>
      </p:sp>
      <p:pic>
        <p:nvPicPr>
          <p:cNvPr id="20" name="Picture 19"/>
          <p:cNvPicPr>
            <a:picLocks noChangeAspect="1"/>
          </p:cNvPicPr>
          <p:nvPr/>
        </p:nvPicPr>
        <p:blipFill>
          <a:blip r:embed="rId3"/>
          <a:stretch>
            <a:fillRect/>
          </a:stretch>
        </p:blipFill>
        <p:spPr>
          <a:xfrm>
            <a:off x="6685600" y="828000"/>
            <a:ext cx="2134400" cy="2905800"/>
          </a:xfrm>
          <a:prstGeom prst="rect">
            <a:avLst/>
          </a:prstGeom>
        </p:spPr>
      </p:pic>
    </p:spTree>
    <p:extLst>
      <p:ext uri="{BB962C8B-B14F-4D97-AF65-F5344CB8AC3E}">
        <p14:creationId xmlns:p14="http://schemas.microsoft.com/office/powerpoint/2010/main" val="83433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5305035" y="3048000"/>
            <a:ext cx="3235569" cy="2902767"/>
          </a:xfrm>
          <a:prstGeom prst="rect">
            <a:avLst/>
          </a:prstGeom>
        </p:spPr>
      </p:pic>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Alberta </a:t>
            </a:r>
            <a:r>
              <a:rPr lang="en-US" altLang="en-US" sz="2400" b="0" dirty="0" smtClean="0">
                <a:solidFill>
                  <a:schemeClr val="accent2"/>
                </a:solidFill>
                <a:latin typeface="Arial" panose="020B0604020202020204" pitchFamily="34" charset="0"/>
                <a:ea typeface="+mj-ea"/>
                <a:cs typeface="Arial" panose="020B0604020202020204" pitchFamily="34" charset="0"/>
              </a:rPr>
              <a:t>Context: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
        <p:nvSpPr>
          <p:cNvPr id="3" name="Right Arrow 2"/>
          <p:cNvSpPr/>
          <p:nvPr/>
        </p:nvSpPr>
        <p:spPr>
          <a:xfrm rot="1664950">
            <a:off x="1237500" y="4015446"/>
            <a:ext cx="4708861" cy="914400"/>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Health and Safety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Act - Excerpts:</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Employers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ensure that worker exposure to a harmful substance is kept as low as reasonably practicable/reasonably achievable and does not exceed the substance’s Occupational Exposure </a:t>
            </a:r>
            <a:r>
              <a:rPr lang="en-US" altLang="en-US" sz="1800" b="0">
                <a:solidFill>
                  <a:srgbClr val="000000"/>
                </a:solidFill>
                <a:latin typeface="Arial" panose="020B0604020202020204" pitchFamily="34" charset="0"/>
                <a:ea typeface="ＭＳ Ｐゴシック" panose="020B0600070205080204" pitchFamily="34" charset="-128"/>
                <a:cs typeface="Arial" panose="020B0604020202020204" pitchFamily="34" charset="0"/>
              </a:rPr>
              <a:t>Limit </a:t>
            </a:r>
            <a:r>
              <a:rPr lang="en-US" altLang="en-US" sz="1800" b="0">
                <a:solidFill>
                  <a:srgbClr val="000000"/>
                </a:solidFill>
                <a:latin typeface="Arial" panose="020B0604020202020204" pitchFamily="34" charset="0"/>
                <a:ea typeface="ＭＳ Ｐゴシック" panose="020B0600070205080204" pitchFamily="34" charset="-128"/>
                <a:cs typeface="Arial" panose="020B0604020202020204" pitchFamily="34" charset="0"/>
              </a:rPr>
              <a:t>(OEL: simply, the concentration under which exposure is generally believed to not cause </a:t>
            </a:r>
            <a:r>
              <a:rPr lang="en-US" altLang="en-US" sz="1800" b="0">
                <a:solidFill>
                  <a:srgbClr val="000000"/>
                </a:solidFill>
                <a:latin typeface="Arial" panose="020B0604020202020204" pitchFamily="34" charset="0"/>
                <a:ea typeface="ＭＳ Ｐゴシック" panose="020B0600070205080204" pitchFamily="34" charset="-128"/>
                <a:cs typeface="Arial" panose="020B0604020202020204" pitchFamily="34" charset="0"/>
              </a:rPr>
              <a:t>harm</a:t>
            </a:r>
            <a:r>
              <a:rPr lang="en-US" altLang="en-US" sz="1800" b="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Specific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requirements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asbestos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silica, coal dust 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Consequences of Exposure:</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2018,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45%</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work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fatalities were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associated with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occupational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disease.</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9119117"/>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categories of OHH’s:</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Chemical –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sulphuric</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acid, H2S, coal dust</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Physical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noise; heat/cold stress;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lighting; ergonomic factors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iological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airborne-virus, animal-borne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virus;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animal-borne bacteria; sanitary waste; natural pathogens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Chemical hazards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combination of concentration and duration of exposure</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Biological hazards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combination of virulence of the micro-organism &amp; extent of exposure.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chemical has the potential to be a toxicant (a toxic substance)</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Hazardous effects depend on three main factors: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Dose i.e. how much?</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 exposure i.e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how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long, how often?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routes: how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the person exposed?</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Typically, as concentration increases, time decreases.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Occupational Health Hazards: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51546262"/>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Many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substances have toxic properties - we need to have a basic understanding of toxicology to use these substances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safely:</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Toxicology: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scientific discipline that involves studying the adverse effects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chemical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substances on living organisms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Toxicant: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substance that is toxic, causing harm or is fatal to living organisms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Industrial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Hygiene:</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Concerned with environmental factors that can lead to sickness, disease, or other forms of impaired health</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 or reduce entry: biological agents, chemical agents, physical agents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Industrial Hygiene surveys of work environment have four parts</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Anticipation – expectation of hazard existence</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Identification – presence of workplace exposure</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Evaluation – magnitude of exposure</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 reduction to acceptable levels</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Definitions: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6.13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92477651"/>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0"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Tx/>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hazardous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substances:</a:t>
            </a: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Inhalation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airborne gases, vapors or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particulates</a:t>
            </a: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ngestion of liquids or particulates</a:t>
            </a: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Skin absorption after contact with liquids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Exposure </a:t>
            </a:r>
            <a:r>
              <a:rPr lang="en-US" altLang="en-US" sz="2400" b="0" dirty="0">
                <a:solidFill>
                  <a:schemeClr val="accent2"/>
                </a:solidFill>
                <a:latin typeface="Arial" panose="020B0604020202020204" pitchFamily="34" charset="0"/>
                <a:ea typeface="+mj-ea"/>
                <a:cs typeface="Arial" panose="020B0604020202020204" pitchFamily="34" charset="0"/>
              </a:rPr>
              <a:t>Routes for </a:t>
            </a:r>
            <a:r>
              <a:rPr lang="en-US" altLang="en-US" sz="2400" b="0" dirty="0" smtClean="0">
                <a:solidFill>
                  <a:schemeClr val="accent2"/>
                </a:solidFill>
                <a:latin typeface="Arial" panose="020B0604020202020204" pitchFamily="34" charset="0"/>
                <a:ea typeface="+mj-ea"/>
                <a:cs typeface="Arial" panose="020B0604020202020204" pitchFamily="34" charset="0"/>
              </a:rPr>
              <a:t>Toxicants: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344159070"/>
              </p:ext>
            </p:extLst>
          </p:nvPr>
        </p:nvGraphicFramePr>
        <p:xfrm>
          <a:off x="180000" y="2133600"/>
          <a:ext cx="8642771" cy="3576320"/>
        </p:xfrm>
        <a:graphic>
          <a:graphicData uri="http://schemas.openxmlformats.org/drawingml/2006/table">
            <a:tbl>
              <a:tblPr firstRow="1" bandRow="1">
                <a:tableStyleId>{5C22544A-7EE6-4342-B048-85BDC9FD1C3A}</a:tableStyleId>
              </a:tblPr>
              <a:tblGrid>
                <a:gridCol w="2278829">
                  <a:extLst>
                    <a:ext uri="{9D8B030D-6E8A-4147-A177-3AD203B41FA5}">
                      <a16:colId xmlns:a16="http://schemas.microsoft.com/office/drawing/2014/main" val="276954185"/>
                    </a:ext>
                  </a:extLst>
                </a:gridCol>
                <a:gridCol w="2012867">
                  <a:extLst>
                    <a:ext uri="{9D8B030D-6E8A-4147-A177-3AD203B41FA5}">
                      <a16:colId xmlns:a16="http://schemas.microsoft.com/office/drawing/2014/main" val="2349653219"/>
                    </a:ext>
                  </a:extLst>
                </a:gridCol>
                <a:gridCol w="4351075">
                  <a:extLst>
                    <a:ext uri="{9D8B030D-6E8A-4147-A177-3AD203B41FA5}">
                      <a16:colId xmlns:a16="http://schemas.microsoft.com/office/drawing/2014/main" val="1592509755"/>
                    </a:ext>
                  </a:extLst>
                </a:gridCol>
              </a:tblGrid>
              <a:tr h="370840">
                <a:tc>
                  <a:txBody>
                    <a:bodyPr/>
                    <a:lstStyle/>
                    <a:p>
                      <a:r>
                        <a:rPr lang="en-US" dirty="0" smtClean="0">
                          <a:solidFill>
                            <a:schemeClr val="tx1"/>
                          </a:solidFill>
                        </a:rPr>
                        <a:t>ROUTE</a:t>
                      </a:r>
                      <a:endParaRPr lang="en-US" dirty="0">
                        <a:solidFill>
                          <a:schemeClr val="tx1"/>
                        </a:solidFill>
                      </a:endParaRPr>
                    </a:p>
                  </a:txBody>
                  <a:tcPr/>
                </a:tc>
                <a:tc>
                  <a:txBody>
                    <a:bodyPr/>
                    <a:lstStyle/>
                    <a:p>
                      <a:r>
                        <a:rPr lang="en-US" dirty="0" smtClean="0">
                          <a:solidFill>
                            <a:schemeClr val="tx1"/>
                          </a:solidFill>
                        </a:rPr>
                        <a:t>ENTRY</a:t>
                      </a:r>
                      <a:endParaRPr lang="en-US" dirty="0">
                        <a:solidFill>
                          <a:schemeClr val="tx1"/>
                        </a:solidFill>
                      </a:endParaRPr>
                    </a:p>
                  </a:txBody>
                  <a:tcPr/>
                </a:tc>
                <a:tc>
                  <a:txBody>
                    <a:bodyPr/>
                    <a:lstStyle/>
                    <a:p>
                      <a:r>
                        <a:rPr lang="en-US" dirty="0" smtClean="0">
                          <a:solidFill>
                            <a:schemeClr val="tx1"/>
                          </a:solidFill>
                        </a:rPr>
                        <a:t>CONTROL</a:t>
                      </a:r>
                      <a:endParaRPr lang="en-US" dirty="0">
                        <a:solidFill>
                          <a:schemeClr val="tx1"/>
                        </a:solidFill>
                      </a:endParaRPr>
                    </a:p>
                  </a:txBody>
                  <a:tcPr/>
                </a:tc>
                <a:extLst>
                  <a:ext uri="{0D108BD9-81ED-4DB2-BD59-A6C34878D82A}">
                    <a16:rowId xmlns:a16="http://schemas.microsoft.com/office/drawing/2014/main" val="34241328"/>
                  </a:ext>
                </a:extLst>
              </a:tr>
              <a:tr h="370840">
                <a:tc>
                  <a:txBody>
                    <a:bodyPr/>
                    <a:lstStyle/>
                    <a:p>
                      <a:r>
                        <a:rPr lang="en-US" b="0" dirty="0" smtClean="0"/>
                        <a:t>Inhalation*</a:t>
                      </a:r>
                      <a:endParaRPr lang="en-US" b="0" dirty="0"/>
                    </a:p>
                  </a:txBody>
                  <a:tcPr/>
                </a:tc>
                <a:tc>
                  <a:txBody>
                    <a:bodyPr/>
                    <a:lstStyle/>
                    <a:p>
                      <a:r>
                        <a:rPr lang="en-US" b="0" dirty="0" smtClean="0"/>
                        <a:t>Mouth, nose</a:t>
                      </a:r>
                      <a:endParaRPr lang="en-US" b="0" dirty="0"/>
                    </a:p>
                  </a:txBody>
                  <a:tcPr/>
                </a:tc>
                <a:tc>
                  <a:txBody>
                    <a:bodyPr/>
                    <a:lstStyle/>
                    <a:p>
                      <a:r>
                        <a:rPr lang="en-US" b="0" dirty="0" smtClean="0"/>
                        <a:t>Ventilation,</a:t>
                      </a:r>
                      <a:r>
                        <a:rPr lang="en-US" b="0" baseline="0" dirty="0" smtClean="0"/>
                        <a:t> fume hoods,</a:t>
                      </a:r>
                      <a:r>
                        <a:rPr lang="en-US" b="0" dirty="0" smtClean="0"/>
                        <a:t> respirators, face hoods, personal protective equipment</a:t>
                      </a:r>
                      <a:endParaRPr lang="en-US" b="0" dirty="0"/>
                    </a:p>
                  </a:txBody>
                  <a:tcPr/>
                </a:tc>
                <a:extLst>
                  <a:ext uri="{0D108BD9-81ED-4DB2-BD59-A6C34878D82A}">
                    <a16:rowId xmlns:a16="http://schemas.microsoft.com/office/drawing/2014/main" val="2041885677"/>
                  </a:ext>
                </a:extLst>
              </a:tr>
              <a:tr h="370840">
                <a:tc>
                  <a:txBody>
                    <a:bodyPr/>
                    <a:lstStyle/>
                    <a:p>
                      <a:r>
                        <a:rPr lang="en-US" b="0" dirty="0" smtClean="0"/>
                        <a:t>Dermal Absorption*</a:t>
                      </a:r>
                      <a:endParaRPr lang="en-US" b="0" dirty="0"/>
                    </a:p>
                  </a:txBody>
                  <a:tcPr/>
                </a:tc>
                <a:tc>
                  <a:txBody>
                    <a:bodyPr/>
                    <a:lstStyle/>
                    <a:p>
                      <a:r>
                        <a:rPr lang="en-US" b="0" dirty="0" smtClean="0"/>
                        <a:t>Skin</a:t>
                      </a:r>
                      <a:endParaRPr lang="en-US" b="0" dirty="0"/>
                    </a:p>
                  </a:txBody>
                  <a:tcPr/>
                </a:tc>
                <a:tc>
                  <a:txBody>
                    <a:bodyPr/>
                    <a:lstStyle/>
                    <a:p>
                      <a:r>
                        <a:rPr lang="en-US" b="0" dirty="0" smtClean="0"/>
                        <a:t>Protective clothing</a:t>
                      </a:r>
                      <a:endParaRPr lang="en-US" b="0" dirty="0"/>
                    </a:p>
                  </a:txBody>
                  <a:tcPr/>
                </a:tc>
                <a:extLst>
                  <a:ext uri="{0D108BD9-81ED-4DB2-BD59-A6C34878D82A}">
                    <a16:rowId xmlns:a16="http://schemas.microsoft.com/office/drawing/2014/main" val="2316203952"/>
                  </a:ext>
                </a:extLst>
              </a:tr>
              <a:tr h="370840">
                <a:tc>
                  <a:txBody>
                    <a:bodyPr/>
                    <a:lstStyle/>
                    <a:p>
                      <a:r>
                        <a:rPr lang="en-US" b="0" dirty="0" smtClean="0"/>
                        <a:t>Injection</a:t>
                      </a:r>
                      <a:endParaRPr lang="en-US" b="0" dirty="0"/>
                    </a:p>
                  </a:txBody>
                  <a:tcPr/>
                </a:tc>
                <a:tc>
                  <a:txBody>
                    <a:bodyPr/>
                    <a:lstStyle/>
                    <a:p>
                      <a:r>
                        <a:rPr lang="en-US" b="0" dirty="0" smtClean="0"/>
                        <a:t>Cuts or punctures in skin</a:t>
                      </a:r>
                      <a:endParaRPr lang="en-US" b="0" dirty="0"/>
                    </a:p>
                  </a:txBody>
                  <a:tcPr/>
                </a:tc>
                <a:tc>
                  <a:txBody>
                    <a:bodyPr/>
                    <a:lstStyle/>
                    <a:p>
                      <a:r>
                        <a:rPr lang="en-US" b="0" dirty="0" smtClean="0"/>
                        <a:t>Protective clothing </a:t>
                      </a:r>
                      <a:endParaRPr lang="en-US" b="0" dirty="0"/>
                    </a:p>
                  </a:txBody>
                  <a:tcPr/>
                </a:tc>
                <a:extLst>
                  <a:ext uri="{0D108BD9-81ED-4DB2-BD59-A6C34878D82A}">
                    <a16:rowId xmlns:a16="http://schemas.microsoft.com/office/drawing/2014/main" val="2905587045"/>
                  </a:ext>
                </a:extLst>
              </a:tr>
              <a:tr h="370840">
                <a:tc>
                  <a:txBody>
                    <a:bodyPr/>
                    <a:lstStyle/>
                    <a:p>
                      <a:r>
                        <a:rPr lang="en-US" sz="1800" b="0" dirty="0" smtClean="0">
                          <a:latin typeface="Arial" charset="0"/>
                        </a:rPr>
                        <a:t>Ingestion</a:t>
                      </a:r>
                      <a:endParaRPr lang="en-US" b="0" dirty="0"/>
                    </a:p>
                  </a:txBody>
                  <a:tcPr/>
                </a:tc>
                <a:tc>
                  <a:txBody>
                    <a:bodyPr/>
                    <a:lstStyle/>
                    <a:p>
                      <a:r>
                        <a:rPr lang="en-US" sz="1800" b="0" dirty="0" smtClean="0">
                          <a:latin typeface="Arial" charset="0"/>
                        </a:rPr>
                        <a:t>Mouth, stomach</a:t>
                      </a:r>
                      <a:endParaRPr lang="en-US" b="0" dirty="0"/>
                    </a:p>
                  </a:txBody>
                  <a:tcPr/>
                </a:tc>
                <a:tc>
                  <a:txBody>
                    <a:bodyPr/>
                    <a:lstStyle/>
                    <a:p>
                      <a:r>
                        <a:rPr lang="en-US" b="0" dirty="0" smtClean="0"/>
                        <a:t>Enforcement of rules on eating, drinking,</a:t>
                      </a:r>
                      <a:r>
                        <a:rPr lang="en-US" b="0" baseline="0" dirty="0" smtClean="0"/>
                        <a:t> </a:t>
                      </a:r>
                      <a:r>
                        <a:rPr lang="en-US" b="0" dirty="0" smtClean="0"/>
                        <a:t>smoking</a:t>
                      </a:r>
                    </a:p>
                    <a:p>
                      <a:endParaRPr lang="en-US" b="0" dirty="0"/>
                    </a:p>
                  </a:txBody>
                  <a:tcPr/>
                </a:tc>
                <a:extLst>
                  <a:ext uri="{0D108BD9-81ED-4DB2-BD59-A6C34878D82A}">
                    <a16:rowId xmlns:a16="http://schemas.microsoft.com/office/drawing/2014/main" val="3028846152"/>
                  </a:ext>
                </a:extLst>
              </a:tr>
              <a:tr h="370840">
                <a:tc>
                  <a:txBody>
                    <a:bodyPr/>
                    <a:lstStyle/>
                    <a:p>
                      <a:endParaRPr lang="en-US" b="0" dirty="0"/>
                    </a:p>
                  </a:txBody>
                  <a:tcPr/>
                </a:tc>
                <a:tc>
                  <a:txBody>
                    <a:bodyPr/>
                    <a:lstStyle/>
                    <a:p>
                      <a:endParaRPr lang="en-US" b="0" dirty="0"/>
                    </a:p>
                  </a:txBody>
                  <a:tcPr/>
                </a:tc>
                <a:tc>
                  <a:txBody>
                    <a:bodyPr/>
                    <a:lstStyle/>
                    <a:p>
                      <a:r>
                        <a:rPr lang="en-US" b="0" i="1" dirty="0" smtClean="0"/>
                        <a:t>* industrially most significant but</a:t>
                      </a:r>
                      <a:r>
                        <a:rPr lang="en-US" b="0" i="1" baseline="0" dirty="0" smtClean="0"/>
                        <a:t> can vary for different industries</a:t>
                      </a:r>
                      <a:endParaRPr lang="en-US" b="0" i="1" dirty="0"/>
                    </a:p>
                  </a:txBody>
                  <a:tcPr/>
                </a:tc>
                <a:extLst>
                  <a:ext uri="{0D108BD9-81ED-4DB2-BD59-A6C34878D82A}">
                    <a16:rowId xmlns:a16="http://schemas.microsoft.com/office/drawing/2014/main" val="2899595572"/>
                  </a:ext>
                </a:extLst>
              </a:tr>
            </a:tbl>
          </a:graphicData>
        </a:graphic>
      </p:graphicFrame>
      <p:sp>
        <p:nvSpPr>
          <p:cNvPr id="2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747759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Order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preference for controlling exposure to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hazards: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PPE a “last resort</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Exposure </a:t>
            </a:r>
            <a:r>
              <a:rPr lang="en-US" altLang="en-US" sz="2400" b="0" dirty="0" smtClean="0">
                <a:solidFill>
                  <a:schemeClr val="accent2"/>
                </a:solidFill>
                <a:latin typeface="Arial" panose="020B0604020202020204" pitchFamily="34" charset="0"/>
                <a:ea typeface="+mj-ea"/>
                <a:cs typeface="Arial" panose="020B0604020202020204" pitchFamily="34" charset="0"/>
              </a:rPr>
              <a:t>Control: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1447800" y="1295400"/>
            <a:ext cx="5715000" cy="4286251"/>
          </a:xfrm>
          <a:prstGeom prst="rect">
            <a:avLst/>
          </a:prstGeom>
          <a:ln>
            <a:solidFill>
              <a:schemeClr val="tx1"/>
            </a:solidFill>
          </a:ln>
        </p:spPr>
      </p:pic>
    </p:spTree>
    <p:extLst>
      <p:ext uri="{BB962C8B-B14F-4D97-AF65-F5344CB8AC3E}">
        <p14:creationId xmlns:p14="http://schemas.microsoft.com/office/powerpoint/2010/main" val="4160586542"/>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Tx/>
              <a:buSzPct val="100000"/>
              <a:buNone/>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 Review and Health Risk Assessment</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Experts</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Medical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Scientists, Toxicologists, Epidemiologists, Industrial Hygienists</a:t>
            </a:r>
          </a:p>
          <a:p>
            <a:pPr marL="36000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Identify hazards</a:t>
            </a:r>
          </a:p>
          <a:p>
            <a:pPr marL="36000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 exposures to hazards and determine if acceptable or not</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Tx/>
              <a:buSzPct val="100000"/>
              <a:buNone/>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
                <a:srgbClr val="000000"/>
              </a:buClr>
              <a:buSzPct val="100000"/>
              <a:buNone/>
            </a:pP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Plan:</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Proactive organizations develop,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maintain/update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plans to manage their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exposures (risk)</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objectives of a health plan are to:</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 health incidents and adverse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long-term exposures</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Minimize the seriousness of injuries and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illness / access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quality medical care</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Integrate health </a:t>
            </a:r>
            <a:r>
              <a:rPr lang="en-US" altLang="en-US" sz="16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measures</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into facility </a:t>
            </a:r>
            <a:r>
              <a:rPr lang="en-US" altLang="en-US" sz="16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a:t>
            </a:r>
            <a:r>
              <a:rPr lang="en-US" altLang="en-US" sz="16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&amp; </a:t>
            </a:r>
            <a:r>
              <a:rPr lang="en-US" altLang="en-US" sz="16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design</a:t>
            </a:r>
          </a:p>
          <a:p>
            <a:pPr marL="360000" lvl="0" indent="0" eaLnBrk="0" hangingPunct="0">
              <a:lnSpc>
                <a:spcPct val="90000"/>
              </a:lnSpc>
              <a:spcBef>
                <a:spcPts val="0"/>
              </a:spcBef>
              <a:buClrTx/>
              <a:buSzPct val="100000"/>
              <a:buNone/>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does the Health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Periodic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reassessment</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Collect more data</a:t>
            </a: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controls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engineers (as leaders and designers), </a:t>
            </a:r>
            <a:b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could be our role in supporting a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a:t>
            </a:r>
            <a:b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 within our facilities and operations?</a:t>
            </a:r>
            <a:endPar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Health Exposure </a:t>
            </a:r>
            <a:r>
              <a:rPr lang="en-US" altLang="en-US" sz="2400" b="0" dirty="0" smtClean="0">
                <a:solidFill>
                  <a:schemeClr val="accent2"/>
                </a:solidFill>
                <a:latin typeface="Arial" panose="020B0604020202020204" pitchFamily="34" charset="0"/>
                <a:ea typeface="+mj-ea"/>
                <a:cs typeface="Arial" panose="020B0604020202020204" pitchFamily="34" charset="0"/>
              </a:rPr>
              <a:t>Methods: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5179602" y="3571059"/>
            <a:ext cx="3624100" cy="2584941"/>
          </a:xfrm>
          <a:prstGeom prst="rect">
            <a:avLst/>
          </a:prstGeom>
          <a:ln>
            <a:solidFill>
              <a:schemeClr val="tx1"/>
            </a:solidFill>
          </a:ln>
        </p:spPr>
      </p:pic>
    </p:spTree>
    <p:extLst>
      <p:ext uri="{BB962C8B-B14F-4D97-AF65-F5344CB8AC3E}">
        <p14:creationId xmlns:p14="http://schemas.microsoft.com/office/powerpoint/2010/main" val="1828707398"/>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#2: Supporting a Health Plan</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a:spcBef>
                <a:spcPts val="0"/>
              </a:spcBef>
              <a:spcAft>
                <a:spcPts val="0"/>
              </a:spcAft>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(pen-to-paper, respond on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MM-Poll):</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spcBef>
                <a:spcPts val="0"/>
              </a:spcBef>
              <a:buSzPct val="100000"/>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Consider any kind of material(s) that would be handled or used or manufactured in your engineering discipline</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As engineers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(as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leaders and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designers),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could be our role in supporting a Health Plan</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inherently safer design principles into our engineering work</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Conduct an industrial hygiene survey when the facility is operational</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health considerations into the MOC process</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Establish an electronic system to maintain safety data sheets on site</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health considerations into the scope of risk assessments</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5894813"/>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Supporting a Health Plan</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00"/>
          </a:solidFill>
          <a:ln>
            <a:solidFill>
              <a:schemeClr val="tx1"/>
            </a:solidFill>
          </a:ln>
        </p:spPr>
        <p:txBody>
          <a:bodyPr wrap="square">
            <a:noAutofit/>
          </a:bodyPr>
          <a:lstStyle/>
          <a:p>
            <a:pPr lvl="0" eaLnBrk="0" hangingPunct="0">
              <a:spcBef>
                <a:spcPts val="0"/>
              </a:spcBef>
              <a:buSzPct val="100000"/>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We can support a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Plan :</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inherently safer design principles into our engineering work</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Conduct an industrial hygiene survey when the facility is operational</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health considerations into the MOC process</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Establish an electronic system to maintain safety data sheets on site</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health considerations into the scope of risk assessments</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71211172"/>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WHSP’s can be implemented:</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required per regulatory requirements</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Voluntarily to inform management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Examples: hearing conservation, respiratory protection, medical surveillance guidelines for benzene chemical exposure</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Objective of a WHSP:</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guidance to management for further investigation or action based upon the identification of trends suggesting a potential adverse health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role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support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WHSP’s: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 resources, </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 access, </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 transparent, </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take action to address issues.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Workplace Health Surveillance Programs: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983028575"/>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terms health &amp; safety are related but there are important distinctions between them</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Leadership understanding of health related risks associated with our activities is required for us to prevent and/or control these exposures</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Like other workplaces hazards, we have an order of preference for addressing potential worker health exposures</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We can use a Health Hazards Review and a Health Risk Assessment to define a health exposure assessment strategy</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As engineers, we have a leadership role in supporting the development of a Health Plan</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Organizations employ </a:t>
            </a: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Workplace Health Surveillance Programs as </a:t>
            </a: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part of their ongoing worker monitoring </a:t>
            </a: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efforts; and require leadership support. </a:t>
            </a: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Summary:</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187505649"/>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auto" latinLnBrk="0" hangingPunct="0">
              <a:lnSpc>
                <a:spcPct val="100000"/>
              </a:lnSpc>
              <a:spcBef>
                <a:spcPts val="0"/>
              </a:spcBef>
              <a:spcAft>
                <a:spcPts val="0"/>
              </a:spcAft>
              <a:buClrTx/>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auto"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auto"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Complete Slide Deck</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follows with details.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47739915"/>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80000" y="864000"/>
            <a:ext cx="882000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180000" y="2412000"/>
            <a:ext cx="8820000" cy="1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marL="0" indent="0" algn="ctr" eaLnBrk="1" hangingPunct="1">
              <a:spcBef>
                <a:spcPct val="0"/>
              </a:spcBef>
              <a:buNone/>
            </a:pPr>
            <a:r>
              <a:rPr lang="en-US" altLang="en-US" sz="36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6.6 </a:t>
            </a:r>
            <a:r>
              <a:rPr lang="en-US" altLang="en-US" sz="36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 Introduction </a:t>
            </a:r>
            <a: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6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36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Occupational Health</a:t>
            </a:r>
          </a:p>
        </p:txBody>
      </p:sp>
      <p:sp>
        <p:nvSpPr>
          <p:cNvPr id="9" name="TextBox 8">
            <a:extLst>
              <a:ext uri="{FF2B5EF4-FFF2-40B4-BE49-F238E27FC236}">
                <a16:creationId xmlns:a16="http://schemas.microsoft.com/office/drawing/2014/main" id="{45837290-7F22-4D42-BFDD-D5AD4C09C01F}"/>
              </a:ext>
            </a:extLst>
          </p:cNvPr>
          <p:cNvSpPr txBox="1"/>
          <p:nvPr/>
        </p:nvSpPr>
        <p:spPr>
          <a:xfrm>
            <a:off x="13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Fundamentals of Risk Management</a:t>
            </a:r>
          </a:p>
        </p:txBody>
      </p:sp>
      <p:sp>
        <p:nvSpPr>
          <p:cNvPr id="10" name="TextBox 9">
            <a:extLst>
              <a:ext uri="{FF2B5EF4-FFF2-40B4-BE49-F238E27FC236}">
                <a16:creationId xmlns:a16="http://schemas.microsoft.com/office/drawing/2014/main" id="{7618FDCA-D6EA-3540-8AE2-F6CD31336ABE}"/>
              </a:ext>
            </a:extLst>
          </p:cNvPr>
          <p:cNvSpPr txBox="1"/>
          <p:nvPr/>
        </p:nvSpPr>
        <p:spPr>
          <a:xfrm>
            <a:off x="121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System, </a:t>
            </a:r>
            <a:r>
              <a:rPr kumimoji="0" lang="en-US" sz="1000" b="0" i="0" u="none" strike="noStrike" kern="0" cap="none" spc="0" normalizeH="0" baseline="0" noProof="0" dirty="0" smtClean="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Process, </a:t>
            </a: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&amp; Program</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69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Applications &amp;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445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People &amp; Organizations</a:t>
            </a:r>
          </a:p>
        </p:txBody>
      </p:sp>
      <p:sp>
        <p:nvSpPr>
          <p:cNvPr id="13" name="TextBox 12">
            <a:extLst>
              <a:ext uri="{FF2B5EF4-FFF2-40B4-BE49-F238E27FC236}">
                <a16:creationId xmlns:a16="http://schemas.microsoft.com/office/drawing/2014/main" id="{00457A8C-8AD1-BC48-A393-2CA6461462C7}"/>
              </a:ext>
            </a:extLst>
          </p:cNvPr>
          <p:cNvSpPr txBox="1"/>
          <p:nvPr/>
        </p:nvSpPr>
        <p:spPr>
          <a:xfrm>
            <a:off x="2295000" y="108000"/>
            <a:ext cx="900000" cy="540000"/>
          </a:xfrm>
          <a:prstGeom prst="rect">
            <a:avLst/>
          </a:prstGeom>
          <a:solidFill>
            <a:srgbClr val="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Incident Investigation &amp; Analysis</a:t>
            </a:r>
          </a:p>
        </p:txBody>
      </p:sp>
      <p:sp>
        <p:nvSpPr>
          <p:cNvPr id="14" name="TextBox 13">
            <a:extLst>
              <a:ext uri="{FF2B5EF4-FFF2-40B4-BE49-F238E27FC236}">
                <a16:creationId xmlns:a16="http://schemas.microsoft.com/office/drawing/2014/main" id="{D7E14612-2C60-CA49-88DC-A40274E52BE8}"/>
              </a:ext>
            </a:extLst>
          </p:cNvPr>
          <p:cNvSpPr txBox="1"/>
          <p:nvPr/>
        </p:nvSpPr>
        <p:spPr>
          <a:xfrm>
            <a:off x="3375000" y="108000"/>
            <a:ext cx="8100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6615000" y="108000"/>
            <a:ext cx="81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Leadership in RM</a:t>
            </a:r>
          </a:p>
        </p:txBody>
      </p:sp>
      <p:sp>
        <p:nvSpPr>
          <p:cNvPr id="23" name="TextBox 22">
            <a:extLst>
              <a:ext uri="{FF2B5EF4-FFF2-40B4-BE49-F238E27FC236}">
                <a16:creationId xmlns:a16="http://schemas.microsoft.com/office/drawing/2014/main" id="{E97011C2-9A0B-664B-83CB-DE2410B86B87}"/>
              </a:ext>
            </a:extLst>
          </p:cNvPr>
          <p:cNvSpPr txBox="1"/>
          <p:nvPr/>
        </p:nvSpPr>
        <p:spPr>
          <a:xfrm>
            <a:off x="5535000" y="108000"/>
            <a:ext cx="9000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as Applied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00" y="4320000"/>
            <a:ext cx="1800000" cy="1800000"/>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0313" y="4320000"/>
            <a:ext cx="2638887" cy="1800000"/>
          </a:xfrm>
          <a:prstGeom prst="rect">
            <a:avLst/>
          </a:prstGeom>
        </p:spPr>
      </p:pic>
      <p:cxnSp>
        <p:nvCxnSpPr>
          <p:cNvPr id="5" name="Straight Arrow Connector 4"/>
          <p:cNvCxnSpPr>
            <a:stCxn id="9" idx="3"/>
            <a:endCxn id="10" idx="1"/>
          </p:cNvCxnSpPr>
          <p:nvPr/>
        </p:nvCxnSpPr>
        <p:spPr>
          <a:xfrm>
            <a:off x="1126800" y="378000"/>
            <a:ext cx="88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0" idx="3"/>
            <a:endCxn id="13" idx="1"/>
          </p:cNvCxnSpPr>
          <p:nvPr/>
        </p:nvCxnSpPr>
        <p:spPr>
          <a:xfrm>
            <a:off x="211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3"/>
            <a:endCxn id="14" idx="1"/>
          </p:cNvCxnSpPr>
          <p:nvPr/>
        </p:nvCxnSpPr>
        <p:spPr>
          <a:xfrm>
            <a:off x="319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4" idx="3"/>
            <a:endCxn id="12" idx="1"/>
          </p:cNvCxnSpPr>
          <p:nvPr/>
        </p:nvCxnSpPr>
        <p:spPr>
          <a:xfrm>
            <a:off x="418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12" idx="3"/>
            <a:endCxn id="23" idx="1"/>
          </p:cNvCxnSpPr>
          <p:nvPr/>
        </p:nvCxnSpPr>
        <p:spPr>
          <a:xfrm>
            <a:off x="535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3" idx="3"/>
            <a:endCxn id="15" idx="1"/>
          </p:cNvCxnSpPr>
          <p:nvPr/>
        </p:nvCxnSpPr>
        <p:spPr>
          <a:xfrm>
            <a:off x="643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15" idx="3"/>
            <a:endCxn id="11" idx="1"/>
          </p:cNvCxnSpPr>
          <p:nvPr/>
        </p:nvCxnSpPr>
        <p:spPr>
          <a:xfrm>
            <a:off x="742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79213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relationship between health &amp; safety in the workplace</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importance of understanding health related risks &amp; the role of leadership to address them</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key concepts of occupational health</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order of preference in controlling workplace exposures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relationship between a Health Hazards Review and a Health Risk Assessment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Describe the engineering leadership role in supporting a Health Plan</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role of leadership in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Workplace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Surveillance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Program</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073436206"/>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and health - closely related but not the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same!</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Safety”:</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Concerned with injury-causing situations</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to acute, sudden, severe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conditions</a:t>
            </a: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Health”:</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Concerned with disease-causing conditions</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Adverse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reaction to prolonged exposure 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difference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always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clear:</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Stress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 hazard, can cause both psychological &amp; physiological problems over a prolonged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period.</a:t>
            </a:r>
          </a:p>
          <a:p>
            <a:pPr marL="1080000" indent="-360000" eaLnBrk="0" hangingPunct="0">
              <a:lnSpc>
                <a:spcPct val="9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concern.</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However, a stressed worker may be more prone 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rush or unintentionally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forget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overlook safety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precautions &amp; thus lead to an incident.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080000" indent="-360000" eaLnBrk="0" hangingPunct="0">
              <a:lnSpc>
                <a:spcPct val="9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concern.</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are responsible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both, so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 need to have an appreciation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both.</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Introduction:</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92941920"/>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Canada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the world's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SECOND largest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producer &amp; exporter of uranium.</a:t>
            </a:r>
          </a:p>
          <a:p>
            <a:pPr marL="0" indent="0" eaLnBrk="0" hangingPunct="0">
              <a:lnSpc>
                <a:spcPct val="90000"/>
              </a:lnSpc>
              <a:spcBef>
                <a:spcPts val="0"/>
              </a:spcBef>
              <a:buClrTx/>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Uranium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naturally-occurring radioactive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material (NORM)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is mined. </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commercially important uses for uranium: weapons &amp;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reactors (energy, medicine, engineering diagnostic tools, food sterilization)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Airborne radioactivity in mines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likely caused lung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cancer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(1930s science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pub’ns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While mining, radioactive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radon gas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released into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mine atmosphere.</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Radon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odourless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colourless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inert,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&amp; has a short half-life (3.8 days).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to disease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prevention – mine atmosphere:</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dust levels containing silicosis particles &amp; radon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gas.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 ventilation (engineering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can cause contamination with dust and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radon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“daughters”.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Tiny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dust particles can lodge in 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miners' lungs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deliver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dose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radiation.</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no such thing as a "safe dose"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radiation although we live with and are immersed in background radiation</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higher incidence of lung cancer may take years to occur</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health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issue!</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Prolonged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leads to disease years and decades later!</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Uranium </a:t>
            </a:r>
            <a:r>
              <a:rPr lang="en-US" altLang="en-US" sz="2400" b="0" dirty="0" smtClean="0">
                <a:solidFill>
                  <a:schemeClr val="accent2"/>
                </a:solidFill>
                <a:latin typeface="Arial" panose="020B0604020202020204" pitchFamily="34" charset="0"/>
                <a:ea typeface="+mj-ea"/>
                <a:cs typeface="Arial" panose="020B0604020202020204" pitchFamily="34" charset="0"/>
              </a:rPr>
              <a:t>and Mining:</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28799992"/>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By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1958, 11 uranium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mines</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23</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all mining activity in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Ontario; (several boom &amp; bust cycles with last mine closing in 1996)</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1973: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union representative noted “an increasing number of miners in Elliot Lake who are starting to show the effects of dust in their lungs.  When we consider that there is also radiation exposure involved, this could lead to a very dangerous situation”.</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response, Rio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Tinto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VP: “Menace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dust exposure in these uranium mines we believe is not yet generally understood” &amp; “take some time before all its particular hazards are fully recognized</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Annual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x-rays &amp; medical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examinations of workers; results not disclosed.</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Paris Conference on uranium mining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attended by mine union members and provincial government officials; officials spoke about the harmful effects of radiation based on studies of Elliot Lake miners.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1974 – Elliot Lake Uranium miners at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Denison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Mines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staged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wildcat strike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protest unhealthy working conditions</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Uranium and the Elliot </a:t>
            </a:r>
            <a:r>
              <a:rPr lang="en-US" altLang="en-US" sz="2400" b="0" dirty="0">
                <a:solidFill>
                  <a:schemeClr val="accent2"/>
                </a:solidFill>
                <a:latin typeface="Arial" panose="020B0604020202020204" pitchFamily="34" charset="0"/>
                <a:ea typeface="+mj-ea"/>
                <a:cs typeface="Arial" panose="020B0604020202020204" pitchFamily="34" charset="0"/>
              </a:rPr>
              <a:t>Lake </a:t>
            </a:r>
            <a:r>
              <a:rPr lang="en-US" altLang="en-US" sz="2400" b="0" dirty="0" smtClean="0">
                <a:solidFill>
                  <a:schemeClr val="accent2"/>
                </a:solidFill>
                <a:latin typeface="Arial" panose="020B0604020202020204" pitchFamily="34" charset="0"/>
                <a:ea typeface="+mj-ea"/>
                <a:cs typeface="Arial" panose="020B0604020202020204" pitchFamily="34" charset="0"/>
              </a:rPr>
              <a:t>Tragedy:</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7" name="Picture 6" descr="The Marxist-Leninist Dail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7275" y="4648200"/>
            <a:ext cx="3326125" cy="1446864"/>
          </a:xfrm>
          <a:prstGeom prst="rect">
            <a:avLst/>
          </a:prstGeom>
        </p:spPr>
      </p:pic>
      <p:pic>
        <p:nvPicPr>
          <p:cNvPr id="10" name="Picture 9"/>
          <p:cNvPicPr>
            <a:picLocks noChangeAspect="1"/>
          </p:cNvPicPr>
          <p:nvPr/>
        </p:nvPicPr>
        <p:blipFill>
          <a:blip r:embed="rId4"/>
          <a:stretch>
            <a:fillRect/>
          </a:stretch>
        </p:blipFill>
        <p:spPr>
          <a:xfrm>
            <a:off x="4343400" y="4953000"/>
            <a:ext cx="1116247" cy="838200"/>
          </a:xfrm>
          <a:prstGeom prst="rect">
            <a:avLst/>
          </a:prstGeom>
        </p:spPr>
      </p:pic>
    </p:spTree>
    <p:extLst>
      <p:ext uri="{BB962C8B-B14F-4D97-AF65-F5344CB8AC3E}">
        <p14:creationId xmlns:p14="http://schemas.microsoft.com/office/powerpoint/2010/main" val="2821902259"/>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Uranium, Elliot Lake, &amp; Ham </a:t>
            </a:r>
            <a:r>
              <a:rPr lang="en-US" altLang="en-US" sz="2400" b="0" dirty="0">
                <a:solidFill>
                  <a:schemeClr val="accent2"/>
                </a:solidFill>
                <a:latin typeface="Arial" panose="020B0604020202020204" pitchFamily="34" charset="0"/>
                <a:ea typeface="+mj-ea"/>
                <a:cs typeface="Arial" panose="020B0604020202020204" pitchFamily="34" charset="0"/>
              </a:rPr>
              <a:t>Report Excerpts &amp; </a:t>
            </a:r>
            <a:r>
              <a:rPr lang="en-US" altLang="en-US" sz="2400" b="0" dirty="0" smtClean="0">
                <a:solidFill>
                  <a:schemeClr val="accent2"/>
                </a:solidFill>
                <a:latin typeface="Arial" panose="020B0604020202020204" pitchFamily="34" charset="0"/>
                <a:ea typeface="+mj-ea"/>
                <a:cs typeface="Arial" panose="020B0604020202020204" pitchFamily="34" charset="0"/>
              </a:rPr>
              <a:t>Leadership:</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
        <p:nvSpPr>
          <p:cNvPr id="6" name="Google Shape;341;p20"/>
          <p:cNvSpPr txBox="1">
            <a:spLocks/>
          </p:cNvSpPr>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marL="0" indent="0">
              <a:lnSpc>
                <a:spcPct val="90000"/>
              </a:lnSpc>
              <a:spcBef>
                <a:spcPts val="0"/>
              </a:spcBef>
              <a:buClr>
                <a:srgbClr val="000000"/>
              </a:buClr>
              <a:buSzPts val="2000"/>
              <a:buNone/>
            </a:pPr>
            <a:r>
              <a:rPr lang="en-CA" sz="2000" kern="0" dirty="0" smtClean="0">
                <a:solidFill>
                  <a:srgbClr val="000000"/>
                </a:solidFill>
                <a:latin typeface="Arial"/>
                <a:ea typeface="Arial"/>
                <a:cs typeface="Arial"/>
              </a:rPr>
              <a:t>The “Ham Report”:</a:t>
            </a:r>
          </a:p>
          <a:p>
            <a:pPr marL="360000" indent="-360000">
              <a:lnSpc>
                <a:spcPct val="90000"/>
              </a:lnSpc>
              <a:spcBef>
                <a:spcPts val="0"/>
              </a:spcBef>
              <a:buClr>
                <a:srgbClr val="000000"/>
              </a:buClr>
              <a:buSzPts val="2000"/>
              <a:buFont typeface="Noto Sans Symbols"/>
              <a:buChar char="⮚"/>
            </a:pPr>
            <a:r>
              <a:rPr lang="en-CA" sz="2000" b="0" kern="0" dirty="0" smtClean="0">
                <a:solidFill>
                  <a:srgbClr val="000000"/>
                </a:solidFill>
                <a:latin typeface="Arial"/>
                <a:ea typeface="Arial"/>
                <a:cs typeface="Arial"/>
              </a:rPr>
              <a:t>Strike led Ontario government to establish the </a:t>
            </a:r>
            <a:br>
              <a:rPr lang="en-CA" sz="2000" b="0" kern="0" dirty="0" smtClean="0">
                <a:solidFill>
                  <a:srgbClr val="000000"/>
                </a:solidFill>
                <a:latin typeface="Arial"/>
                <a:ea typeface="Arial"/>
                <a:cs typeface="Arial"/>
              </a:rPr>
            </a:br>
            <a:r>
              <a:rPr lang="en-CA" sz="2000" b="0" i="1" kern="0" dirty="0" smtClean="0">
                <a:solidFill>
                  <a:srgbClr val="000000"/>
                </a:solidFill>
                <a:latin typeface="Arial"/>
                <a:ea typeface="Arial"/>
                <a:cs typeface="Arial"/>
              </a:rPr>
              <a:t>Royal Commission the Health and Safety of Workers</a:t>
            </a:r>
            <a:br>
              <a:rPr lang="en-CA" sz="2000" b="0" i="1" kern="0" dirty="0" smtClean="0">
                <a:solidFill>
                  <a:srgbClr val="000000"/>
                </a:solidFill>
                <a:latin typeface="Arial"/>
                <a:ea typeface="Arial"/>
                <a:cs typeface="Arial"/>
              </a:rPr>
            </a:br>
            <a:r>
              <a:rPr lang="en-CA" sz="2000" b="0" i="1" kern="0" dirty="0" smtClean="0">
                <a:solidFill>
                  <a:srgbClr val="000000"/>
                </a:solidFill>
                <a:latin typeface="Arial"/>
                <a:ea typeface="Arial"/>
                <a:cs typeface="Arial"/>
              </a:rPr>
              <a:t> in Mines</a:t>
            </a:r>
            <a:r>
              <a:rPr lang="en-CA" sz="2000" b="0" kern="0" dirty="0" smtClean="0">
                <a:solidFill>
                  <a:srgbClr val="000000"/>
                </a:solidFill>
                <a:latin typeface="Arial"/>
                <a:ea typeface="Arial"/>
                <a:cs typeface="Arial"/>
              </a:rPr>
              <a:t> (the Ham Commission 1976-June-30).</a:t>
            </a:r>
          </a:p>
          <a:p>
            <a:pPr marL="0" indent="0">
              <a:lnSpc>
                <a:spcPct val="90000"/>
              </a:lnSpc>
              <a:spcBef>
                <a:spcPts val="0"/>
              </a:spcBef>
              <a:buClr>
                <a:srgbClr val="000000"/>
              </a:buClr>
              <a:buSzPts val="2000"/>
              <a:buNone/>
            </a:pPr>
            <a:r>
              <a:rPr lang="en-CA" sz="1400" b="0" i="1" kern="0" dirty="0" smtClean="0">
                <a:solidFill>
                  <a:srgbClr val="000000"/>
                </a:solidFill>
                <a:latin typeface="Arial"/>
                <a:ea typeface="Arial"/>
                <a:cs typeface="Arial"/>
              </a:rPr>
              <a:t>https</a:t>
            </a:r>
            <a:r>
              <a:rPr lang="en-CA" sz="1400" b="0" i="1" kern="0" dirty="0">
                <a:solidFill>
                  <a:srgbClr val="000000"/>
                </a:solidFill>
                <a:latin typeface="Arial"/>
                <a:ea typeface="Arial"/>
                <a:cs typeface="Arial"/>
              </a:rPr>
              <a:t>://archive.org/details/reportofroyworkmine00onta/page/n3/mode/2up</a:t>
            </a:r>
            <a:endParaRPr lang="en-CA" sz="1400" b="0" i="1"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endParaRPr lang="en-CA" sz="2000" b="0"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2000" b="0" kern="0" dirty="0" smtClean="0">
                <a:solidFill>
                  <a:srgbClr val="000000"/>
                </a:solidFill>
                <a:latin typeface="Arial"/>
                <a:ea typeface="Arial"/>
                <a:cs typeface="Arial"/>
              </a:rPr>
              <a:t>The Ham Commission Report criticized </a:t>
            </a:r>
            <a:br>
              <a:rPr lang="en-CA" sz="2000" b="0" kern="0" dirty="0" smtClean="0">
                <a:solidFill>
                  <a:srgbClr val="000000"/>
                </a:solidFill>
                <a:latin typeface="Arial"/>
                <a:ea typeface="Arial"/>
                <a:cs typeface="Arial"/>
              </a:rPr>
            </a:br>
            <a:r>
              <a:rPr lang="en-CA" sz="2000" b="0" kern="0" dirty="0" smtClean="0">
                <a:solidFill>
                  <a:srgbClr val="000000"/>
                </a:solidFill>
                <a:latin typeface="Arial"/>
                <a:ea typeface="Arial"/>
                <a:cs typeface="Arial"/>
              </a:rPr>
              <a:t>government &amp; mining companies for lacking </a:t>
            </a:r>
            <a:br>
              <a:rPr lang="en-CA" sz="2000" b="0" kern="0" dirty="0" smtClean="0">
                <a:solidFill>
                  <a:srgbClr val="000000"/>
                </a:solidFill>
                <a:latin typeface="Arial"/>
                <a:ea typeface="Arial"/>
                <a:cs typeface="Arial"/>
              </a:rPr>
            </a:br>
            <a:r>
              <a:rPr lang="en-CA" sz="2000" b="0" kern="0" dirty="0" smtClean="0">
                <a:solidFill>
                  <a:srgbClr val="000000"/>
                </a:solidFill>
                <a:latin typeface="Arial"/>
                <a:ea typeface="Arial"/>
                <a:cs typeface="Arial"/>
              </a:rPr>
              <a:t>transparency and failing to protect 30,000 </a:t>
            </a:r>
            <a:br>
              <a:rPr lang="en-CA" sz="2000" b="0" kern="0" dirty="0" smtClean="0">
                <a:solidFill>
                  <a:srgbClr val="000000"/>
                </a:solidFill>
                <a:latin typeface="Arial"/>
                <a:ea typeface="Arial"/>
                <a:cs typeface="Arial"/>
              </a:rPr>
            </a:br>
            <a:r>
              <a:rPr lang="en-CA" sz="2000" b="0" kern="0" dirty="0" smtClean="0">
                <a:solidFill>
                  <a:srgbClr val="000000"/>
                </a:solidFill>
                <a:latin typeface="Arial"/>
                <a:ea typeface="Arial"/>
                <a:cs typeface="Arial"/>
              </a:rPr>
              <a:t>Ontario mine workers from hazardous conditions.</a:t>
            </a:r>
          </a:p>
          <a:p>
            <a:pPr marL="360000" indent="-360000">
              <a:lnSpc>
                <a:spcPct val="90000"/>
              </a:lnSpc>
              <a:spcBef>
                <a:spcPts val="0"/>
              </a:spcBef>
              <a:buClr>
                <a:srgbClr val="000000"/>
              </a:buClr>
              <a:buSzPts val="2000"/>
              <a:buFont typeface="Noto Sans Symbols"/>
              <a:buChar char="⮚"/>
            </a:pPr>
            <a:endParaRPr lang="en-CA" sz="2000" b="0"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2000" b="0" kern="0" dirty="0" smtClean="0">
                <a:solidFill>
                  <a:srgbClr val="000000"/>
                </a:solidFill>
                <a:latin typeface="Arial"/>
                <a:ea typeface="Arial"/>
                <a:cs typeface="Arial"/>
              </a:rPr>
              <a:t>Report had 117 recommendations with implications beyond Ontario.</a:t>
            </a:r>
          </a:p>
          <a:p>
            <a:pPr>
              <a:lnSpc>
                <a:spcPct val="90000"/>
              </a:lnSpc>
              <a:spcBef>
                <a:spcPts val="0"/>
              </a:spcBef>
              <a:buClr>
                <a:srgbClr val="000000"/>
              </a:buClr>
              <a:buSzPts val="2000"/>
              <a:buFont typeface="Noto Sans Symbols"/>
              <a:buChar char="⮚"/>
            </a:pPr>
            <a:endParaRPr lang="en-CA" sz="2000" b="0" kern="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2000" kern="0" dirty="0" smtClean="0">
                <a:solidFill>
                  <a:srgbClr val="000000"/>
                </a:solidFill>
                <a:latin typeface="Arial"/>
                <a:ea typeface="Arial"/>
                <a:cs typeface="Arial"/>
              </a:rPr>
              <a:t>Key outcome – </a:t>
            </a:r>
            <a:r>
              <a:rPr lang="en-CA" sz="2000" kern="0" dirty="0" smtClean="0">
                <a:solidFill>
                  <a:srgbClr val="FF0000"/>
                </a:solidFill>
                <a:latin typeface="Arial"/>
                <a:ea typeface="Arial"/>
                <a:cs typeface="Arial"/>
              </a:rPr>
              <a:t>Internal Responsibility System</a:t>
            </a:r>
            <a:r>
              <a:rPr lang="en-CA" sz="2000" kern="0" dirty="0" smtClean="0">
                <a:solidFill>
                  <a:srgbClr val="000000"/>
                </a:solidFill>
                <a:latin typeface="Arial"/>
                <a:ea typeface="Arial"/>
                <a:cs typeface="Arial"/>
              </a:rPr>
              <a:t> (IRS) for OHS</a:t>
            </a:r>
          </a:p>
          <a:p>
            <a:pPr marL="720000" lvl="1" indent="-360000">
              <a:lnSpc>
                <a:spcPct val="90000"/>
              </a:lnSpc>
              <a:spcBef>
                <a:spcPts val="0"/>
              </a:spcBef>
              <a:buClr>
                <a:srgbClr val="000000"/>
              </a:buClr>
              <a:buSzPts val="2000"/>
              <a:buFont typeface="Noto Sans Symbols"/>
              <a:buChar char="⮚"/>
            </a:pPr>
            <a:r>
              <a:rPr lang="en-US" sz="2000" b="0" kern="0" dirty="0" smtClean="0">
                <a:solidFill>
                  <a:srgbClr val="000000"/>
                </a:solidFill>
                <a:latin typeface="Arial"/>
                <a:ea typeface="Arial"/>
                <a:cs typeface="Arial"/>
              </a:rPr>
              <a:t>Underlying philosophy of the OHS legislation in all Canadian jurisdictions: everyone in the workplace - both employees and employers - is responsible for his or her own safety and for the safety of co-workers</a:t>
            </a:r>
          </a:p>
        </p:txBody>
      </p:sp>
      <p:pic>
        <p:nvPicPr>
          <p:cNvPr id="20" name="Picture 19"/>
          <p:cNvPicPr>
            <a:picLocks noChangeAspect="1"/>
          </p:cNvPicPr>
          <p:nvPr/>
        </p:nvPicPr>
        <p:blipFill>
          <a:blip r:embed="rId3"/>
          <a:stretch>
            <a:fillRect/>
          </a:stretch>
        </p:blipFill>
        <p:spPr>
          <a:xfrm>
            <a:off x="6685600" y="828000"/>
            <a:ext cx="2134400" cy="2905800"/>
          </a:xfrm>
          <a:prstGeom prst="rect">
            <a:avLst/>
          </a:prstGeom>
        </p:spPr>
      </p:pic>
    </p:spTree>
    <p:extLst>
      <p:ext uri="{BB962C8B-B14F-4D97-AF65-F5344CB8AC3E}">
        <p14:creationId xmlns:p14="http://schemas.microsoft.com/office/powerpoint/2010/main" val="2668216781"/>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Uranium, Elliot Lake, &amp; Ham </a:t>
            </a:r>
            <a:r>
              <a:rPr lang="en-US" altLang="en-US" sz="2400" b="0" dirty="0">
                <a:solidFill>
                  <a:schemeClr val="accent2"/>
                </a:solidFill>
                <a:latin typeface="Arial" panose="020B0604020202020204" pitchFamily="34" charset="0"/>
                <a:ea typeface="+mj-ea"/>
                <a:cs typeface="Arial" panose="020B0604020202020204" pitchFamily="34" charset="0"/>
              </a:rPr>
              <a:t>Report Excerpts &amp; </a:t>
            </a:r>
            <a:r>
              <a:rPr lang="en-US" altLang="en-US" sz="2400" b="0" dirty="0" smtClean="0">
                <a:solidFill>
                  <a:schemeClr val="accent2"/>
                </a:solidFill>
                <a:latin typeface="Arial" panose="020B0604020202020204" pitchFamily="34" charset="0"/>
                <a:ea typeface="+mj-ea"/>
                <a:cs typeface="Arial" panose="020B0604020202020204" pitchFamily="34" charset="0"/>
              </a:rPr>
              <a:t>Leadership:</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
        <p:nvSpPr>
          <p:cNvPr id="6" name="Google Shape;341;p20"/>
          <p:cNvSpPr txBox="1">
            <a:spLocks/>
          </p:cNvSpPr>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marL="0" lvl="1" indent="0">
              <a:spcBef>
                <a:spcPts val="0"/>
              </a:spcBef>
              <a:buClr>
                <a:srgbClr val="000000"/>
              </a:buClr>
              <a:buSzPts val="2000"/>
              <a:buNone/>
            </a:pPr>
            <a:r>
              <a:rPr lang="en-US" sz="2000" kern="0" dirty="0" smtClean="0">
                <a:latin typeface="Arial"/>
                <a:ea typeface="Arial"/>
                <a:cs typeface="Arial"/>
              </a:rPr>
              <a:t>The Internal Responsibility System!</a:t>
            </a:r>
          </a:p>
          <a:p>
            <a:pPr marL="360000" lvl="1" indent="-360000">
              <a:lnSpc>
                <a:spcPct val="90000"/>
              </a:lnSpc>
              <a:spcBef>
                <a:spcPts val="0"/>
              </a:spcBef>
              <a:buClr>
                <a:srgbClr val="000000"/>
              </a:buClr>
              <a:buSzPts val="2000"/>
              <a:buFont typeface="Noto Sans Symbols"/>
              <a:buChar char="⮚"/>
            </a:pPr>
            <a:r>
              <a:rPr lang="en-US" sz="2000" b="0" kern="0" dirty="0" smtClean="0">
                <a:solidFill>
                  <a:srgbClr val="000000"/>
                </a:solidFill>
                <a:latin typeface="Arial"/>
                <a:ea typeface="Arial"/>
                <a:cs typeface="Arial"/>
              </a:rPr>
              <a:t>Eight (8) sets of responsibilities over six (6) levels of occupation within the organization</a:t>
            </a:r>
          </a:p>
          <a:p>
            <a:pPr marL="360000" lvl="1" indent="-360000">
              <a:lnSpc>
                <a:spcPct val="90000"/>
              </a:lnSpc>
              <a:spcBef>
                <a:spcPts val="0"/>
              </a:spcBef>
              <a:buClr>
                <a:srgbClr val="000000"/>
              </a:buClr>
              <a:buSzPts val="2000"/>
              <a:buFont typeface="Noto Sans Symbols"/>
              <a:buChar char="⮚"/>
            </a:pPr>
            <a:r>
              <a:rPr lang="en-US" sz="2000" b="0" kern="0" dirty="0" smtClean="0">
                <a:solidFill>
                  <a:srgbClr val="000000"/>
                </a:solidFill>
                <a:latin typeface="Arial"/>
                <a:ea typeface="Arial"/>
                <a:cs typeface="Arial"/>
              </a:rPr>
              <a:t>The Ham Report was a game-changer for initiating internal performance driven not only on legislation but also on </a:t>
            </a:r>
            <a:r>
              <a:rPr lang="en-US" sz="2000" b="0" u="sng" kern="0" dirty="0" smtClean="0">
                <a:solidFill>
                  <a:srgbClr val="000000"/>
                </a:solidFill>
                <a:latin typeface="Arial"/>
                <a:ea typeface="Arial"/>
                <a:cs typeface="Arial"/>
              </a:rPr>
              <a:t>social trends</a:t>
            </a:r>
            <a:r>
              <a:rPr lang="en-US" sz="2000" b="0" kern="0" dirty="0" smtClean="0">
                <a:solidFill>
                  <a:srgbClr val="000000"/>
                </a:solidFill>
                <a:latin typeface="Arial"/>
                <a:ea typeface="Arial"/>
                <a:cs typeface="Arial"/>
              </a:rPr>
              <a:t> </a:t>
            </a:r>
          </a:p>
          <a:p>
            <a:pPr marL="360000" lvl="1" indent="-360000">
              <a:lnSpc>
                <a:spcPct val="90000"/>
              </a:lnSpc>
              <a:spcBef>
                <a:spcPts val="0"/>
              </a:spcBef>
              <a:buClr>
                <a:srgbClr val="000000"/>
              </a:buClr>
              <a:buSzPts val="2000"/>
              <a:buFont typeface="Noto Sans Symbols"/>
              <a:buChar char="⮚"/>
            </a:pPr>
            <a:r>
              <a:rPr lang="en-US" sz="2000" b="0" kern="0" dirty="0" smtClean="0">
                <a:solidFill>
                  <a:srgbClr val="000000"/>
                </a:solidFill>
                <a:latin typeface="Arial"/>
                <a:ea typeface="Arial"/>
                <a:cs typeface="Arial"/>
              </a:rPr>
              <a:t>Leadership gets the impetus to “change culture” of the organization; </a:t>
            </a:r>
            <a:br>
              <a:rPr lang="en-US" sz="2000" b="0" kern="0" dirty="0" smtClean="0">
                <a:solidFill>
                  <a:srgbClr val="000000"/>
                </a:solidFill>
                <a:latin typeface="Arial"/>
                <a:ea typeface="Arial"/>
                <a:cs typeface="Arial"/>
              </a:rPr>
            </a:br>
            <a:r>
              <a:rPr lang="en-US" sz="2000" b="0" kern="0" dirty="0" smtClean="0">
                <a:solidFill>
                  <a:srgbClr val="000000"/>
                </a:solidFill>
                <a:latin typeface="Arial"/>
                <a:ea typeface="Arial"/>
                <a:cs typeface="Arial"/>
              </a:rPr>
              <a:t>thus “leadership </a:t>
            </a:r>
            <a:r>
              <a:rPr lang="en-US" sz="2000" b="0" kern="0" dirty="0">
                <a:solidFill>
                  <a:srgbClr val="000000"/>
                </a:solidFill>
                <a:latin typeface="Arial"/>
                <a:ea typeface="Arial"/>
                <a:cs typeface="Arial"/>
              </a:rPr>
              <a:t>in risk </a:t>
            </a:r>
            <a:r>
              <a:rPr lang="en-US" sz="2000" b="0" kern="0" dirty="0" smtClean="0">
                <a:solidFill>
                  <a:srgbClr val="000000"/>
                </a:solidFill>
                <a:latin typeface="Arial"/>
                <a:ea typeface="Arial"/>
                <a:cs typeface="Arial"/>
              </a:rPr>
              <a:t>management” </a:t>
            </a:r>
            <a:r>
              <a:rPr lang="en-US" sz="2000" b="0" kern="0" dirty="0">
                <a:solidFill>
                  <a:srgbClr val="000000"/>
                </a:solidFill>
                <a:latin typeface="Arial"/>
                <a:ea typeface="Arial"/>
                <a:cs typeface="Arial"/>
              </a:rPr>
              <a:t>is essential for an IRS!</a:t>
            </a:r>
          </a:p>
        </p:txBody>
      </p:sp>
      <p:pic>
        <p:nvPicPr>
          <p:cNvPr id="3" name="Picture 2"/>
          <p:cNvPicPr>
            <a:picLocks noChangeAspect="1"/>
          </p:cNvPicPr>
          <p:nvPr/>
        </p:nvPicPr>
        <p:blipFill rotWithShape="1">
          <a:blip r:embed="rId3"/>
          <a:srcRect t="1" b="69450"/>
          <a:stretch/>
        </p:blipFill>
        <p:spPr>
          <a:xfrm>
            <a:off x="252000" y="2856600"/>
            <a:ext cx="8640000" cy="1786345"/>
          </a:xfrm>
          <a:prstGeom prst="rect">
            <a:avLst/>
          </a:prstGeom>
        </p:spPr>
      </p:pic>
      <p:pic>
        <p:nvPicPr>
          <p:cNvPr id="7" name="Picture 6"/>
          <p:cNvPicPr>
            <a:picLocks noChangeAspect="1"/>
          </p:cNvPicPr>
          <p:nvPr/>
        </p:nvPicPr>
        <p:blipFill rotWithShape="1">
          <a:blip r:embed="rId4"/>
          <a:srcRect t="68706" b="11335"/>
          <a:stretch/>
        </p:blipFill>
        <p:spPr>
          <a:xfrm>
            <a:off x="252000" y="4656600"/>
            <a:ext cx="8640000" cy="1166457"/>
          </a:xfrm>
          <a:prstGeom prst="rect">
            <a:avLst/>
          </a:prstGeom>
        </p:spPr>
      </p:pic>
      <p:sp>
        <p:nvSpPr>
          <p:cNvPr id="8" name="Rounded Rectangle 7"/>
          <p:cNvSpPr/>
          <p:nvPr/>
        </p:nvSpPr>
        <p:spPr>
          <a:xfrm>
            <a:off x="6096000" y="4750945"/>
            <a:ext cx="2667000" cy="1116455"/>
          </a:xfrm>
          <a:prstGeom prst="roundRect">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3430094"/>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Cancer Research Center (OCRC) 2019 Report</a:t>
            </a: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Collectively, exposure to cancer causing agents in the workplace cause approx. 10,000 cancers in Canada each year</a:t>
            </a: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Solar radiation: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Approx. 1.4 million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Canadian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are exposed, causing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estimated 4600 non-melanoma skin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cancer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cases per year</a:t>
            </a: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Asbestos: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More than 150,000 workers are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exposed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but it is estimated to cause 1900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lung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cancers, 430 mesotheliomas, 45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laryngeal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cancers annually</a:t>
            </a: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Diesel engine exhaust: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About 897,000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exposed every year &amp; it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accounts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560 lung &amp; 200 suspected bladder cancers annually</a:t>
            </a: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Crystalline silica: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estimated 382,000 workers are exposed which causes almost 570 cases of lung cancer each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year</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Burden of Occupational Cancer in </a:t>
            </a:r>
            <a:r>
              <a:rPr lang="en-US" altLang="en-US" sz="2400" b="0" dirty="0" smtClean="0">
                <a:solidFill>
                  <a:schemeClr val="accent2"/>
                </a:solidFill>
                <a:latin typeface="Arial" panose="020B0604020202020204" pitchFamily="34" charset="0"/>
                <a:ea typeface="+mj-ea"/>
                <a:cs typeface="Arial" panose="020B0604020202020204" pitchFamily="34" charset="0"/>
              </a:rPr>
              <a:t>Canada:</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5461267" y="1981200"/>
            <a:ext cx="3358733" cy="2588151"/>
          </a:xfrm>
          <a:prstGeom prst="rect">
            <a:avLst/>
          </a:prstGeom>
          <a:ln>
            <a:solidFill>
              <a:schemeClr val="tx1"/>
            </a:solidFill>
          </a:ln>
        </p:spPr>
      </p:pic>
    </p:spTree>
    <p:extLst>
      <p:ext uri="{BB962C8B-B14F-4D97-AF65-F5344CB8AC3E}">
        <p14:creationId xmlns:p14="http://schemas.microsoft.com/office/powerpoint/2010/main" val="481528947"/>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Health and Safety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Act - Excerpts:</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hazard has the potential to cause an injury, illness or loss</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Employers must ensure that worker exposure to a harmful substance is kept as low as reasonably practicable/reasonably achievable and does not exceed the substance’s Occupational Exposure Limit (OEL)</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Specific requirements in place for situations where asbestos, silica, coal dust or lead are present at a work site</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Note: OEL is based on the principle that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each substance there is a safe 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tolerable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level of exposure below which no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significant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adverse health effects are likely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occur</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Consequences of Exposure:</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2018, 45%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work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fatalities were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associated with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occupational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disease, a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result of prolonged and long-term exposure to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hazardous substances during their careers.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Alberta </a:t>
            </a:r>
            <a:r>
              <a:rPr lang="en-US" altLang="en-US" sz="2400" b="0" dirty="0" smtClean="0">
                <a:solidFill>
                  <a:schemeClr val="accent2"/>
                </a:solidFill>
                <a:latin typeface="Arial" panose="020B0604020202020204" pitchFamily="34" charset="0"/>
                <a:ea typeface="+mj-ea"/>
                <a:cs typeface="Arial" panose="020B0604020202020204" pitchFamily="34" charset="0"/>
              </a:rPr>
              <a:t>Context: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5486400" y="2819400"/>
            <a:ext cx="3235569" cy="2902767"/>
          </a:xfrm>
          <a:prstGeom prst="rect">
            <a:avLst/>
          </a:prstGeom>
        </p:spPr>
      </p:pic>
    </p:spTree>
    <p:extLst>
      <p:ext uri="{BB962C8B-B14F-4D97-AF65-F5344CB8AC3E}">
        <p14:creationId xmlns:p14="http://schemas.microsoft.com/office/powerpoint/2010/main" val="2745163122"/>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SDS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 common,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valuable,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essential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source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information about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hazardous properties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materials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Safety Data </a:t>
            </a:r>
            <a:r>
              <a:rPr lang="en-US" altLang="en-US" sz="2400" b="0" dirty="0" smtClean="0">
                <a:solidFill>
                  <a:schemeClr val="accent2"/>
                </a:solidFill>
                <a:latin typeface="Arial" panose="020B0604020202020204" pitchFamily="34" charset="0"/>
                <a:ea typeface="+mj-ea"/>
                <a:cs typeface="Arial" panose="020B0604020202020204" pitchFamily="34" charset="0"/>
              </a:rPr>
              <a:t>Sheets (or Material Safety Data Sheets):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2819400" y="1577705"/>
            <a:ext cx="3981851" cy="4589013"/>
          </a:xfrm>
          <a:prstGeom prst="rect">
            <a:avLst/>
          </a:prstGeom>
          <a:ln>
            <a:solidFill>
              <a:schemeClr val="tx1"/>
            </a:solidFill>
          </a:ln>
        </p:spPr>
      </p:pic>
    </p:spTree>
    <p:extLst>
      <p:ext uri="{BB962C8B-B14F-4D97-AF65-F5344CB8AC3E}">
        <p14:creationId xmlns:p14="http://schemas.microsoft.com/office/powerpoint/2010/main" val="2994546547"/>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Many substances have toxic properties - we need to have a basic understanding of toxicology to use these substances safely:</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Toxicology: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scientific discipline that involves studying the adverse effects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chemical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substances on living organisms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Toxicant: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substance that is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toxic – can cause harm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fatal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living organisms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Industrial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Hygiene:</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Technical discipline concerned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environmental factors that can lead to sickness, disease, or other forms of impaired health</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 or reduce entry: biological agents, chemical agents, physical agents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Industrial Hygiene surveys of work environment have four parts</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Anticipation – expectation of hazard existence</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Identification – presence of workplace exposure</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Evaluation – magnitude of exposure</a:t>
            </a:r>
          </a:p>
          <a:p>
            <a:pPr marL="1080000" indent="-360000" eaLnBrk="0" hangingPunct="0">
              <a:lnSpc>
                <a:spcPct val="100000"/>
              </a:lnSpc>
              <a:spcBef>
                <a:spcPts val="0"/>
              </a:spcBef>
              <a:buClrTx/>
              <a:buSzPct val="100000"/>
              <a:buFont typeface="+mj-lt"/>
              <a:buAutoNum type="arabicParenR"/>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 reduction to acceptable levels</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Occupational Health </a:t>
            </a:r>
            <a:r>
              <a:rPr lang="en-US" altLang="en-US" sz="2400" b="0" dirty="0" smtClean="0">
                <a:solidFill>
                  <a:schemeClr val="accent2"/>
                </a:solidFill>
                <a:latin typeface="Arial" panose="020B0604020202020204" pitchFamily="34" charset="0"/>
                <a:ea typeface="+mj-ea"/>
                <a:cs typeface="Arial" panose="020B0604020202020204" pitchFamily="34" charset="0"/>
              </a:rPr>
              <a:t>Definitions: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654981866"/>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hazards are generally grouped into three categories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Chemical hazards - </a:t>
            </a:r>
            <a:r>
              <a:rPr lang="pt-BR"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sulphuric acid, H2S, coal dust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Physical – noise; heat/cold stress;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lighting; hard human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actors (human-machine interface i.e. ergonomics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Biological –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airborne, animal borne; virus, bacteria;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sanitary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waste; natural pathogens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Chemical hazards are generally defined by a combination of concentration and duration of exposure</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Biological hazards are generally defined by a combination of virulence of the micro-organism &amp; extent of exposure.  Some micro-organisms are considered hazardous at any level of exposure.</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Occupational Health Hazards: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63288848"/>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chemical has the potential to be a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toxicant (a toxic substance)</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Hazardous effects depend 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main factors: </a:t>
            </a:r>
          </a:p>
          <a:p>
            <a:pPr marL="720000" lvl="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Dose: the concentration of the toxic substance during exposure</a:t>
            </a:r>
          </a:p>
          <a:p>
            <a:pPr marL="720000" lvl="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 of Exposure: for how long was the persons exposed to the toxic substance and how often the persons are exposed</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routes: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manner in which the person was exposed to the toxic substance</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hazardous chemicals &amp; biological agents is usually by inhalation of airborne gases, vapors or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particulates, ingestion of liquids or particulates, or skin absorption after contact with liquids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Occupational Health Hazards: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18717469"/>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Dose: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concentration of a substance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required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cause a health effect that is minor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reversible (such as minor skin or eye irritation</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Toxic Dose: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concentration of a substance required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 a health effect that is irreversible but not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lethal</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Lethal Dose: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concentration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 substance being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tested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which will kill a test animal</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Dose: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grpSp>
        <p:nvGrpSpPr>
          <p:cNvPr id="2" name="Group 1"/>
          <p:cNvGrpSpPr/>
          <p:nvPr/>
        </p:nvGrpSpPr>
        <p:grpSpPr>
          <a:xfrm>
            <a:off x="7162800" y="1295400"/>
            <a:ext cx="1260000" cy="2647811"/>
            <a:chOff x="7200000" y="2480989"/>
            <a:chExt cx="1260000" cy="2647811"/>
          </a:xfrm>
        </p:grpSpPr>
        <p:sp>
          <p:nvSpPr>
            <p:cNvPr id="6" name="Rectangle 5"/>
            <p:cNvSpPr/>
            <p:nvPr/>
          </p:nvSpPr>
          <p:spPr>
            <a:xfrm>
              <a:off x="7200000" y="2480989"/>
              <a:ext cx="1260000" cy="7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1600" dirty="0" smtClean="0">
                  <a:solidFill>
                    <a:schemeClr val="tx1"/>
                  </a:solidFill>
                </a:rPr>
                <a:t>Effective</a:t>
              </a:r>
            </a:p>
          </p:txBody>
        </p:sp>
        <p:sp>
          <p:nvSpPr>
            <p:cNvPr id="7" name="Rectangle 6"/>
            <p:cNvSpPr/>
            <p:nvPr/>
          </p:nvSpPr>
          <p:spPr>
            <a:xfrm>
              <a:off x="7200000" y="3508189"/>
              <a:ext cx="1260000" cy="72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1600" dirty="0" smtClean="0"/>
                <a:t>Toxic </a:t>
              </a:r>
            </a:p>
          </p:txBody>
        </p:sp>
        <p:sp>
          <p:nvSpPr>
            <p:cNvPr id="10" name="Rectangle 9"/>
            <p:cNvSpPr/>
            <p:nvPr/>
          </p:nvSpPr>
          <p:spPr>
            <a:xfrm>
              <a:off x="7200000" y="4408800"/>
              <a:ext cx="1260000" cy="72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1600" dirty="0" smtClean="0"/>
                <a:t>Lethal</a:t>
              </a:r>
              <a:endParaRPr lang="en-US" sz="1600" dirty="0"/>
            </a:p>
          </p:txBody>
        </p:sp>
      </p:grpSp>
    </p:spTree>
    <p:extLst>
      <p:ext uri="{BB962C8B-B14F-4D97-AF65-F5344CB8AC3E}">
        <p14:creationId xmlns:p14="http://schemas.microsoft.com/office/powerpoint/2010/main" val="2955581472"/>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Tx/>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Exposure Limits (OEL</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Limits are based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the principle that each substance has a safe, tolerable level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time-based exposure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below which no significant adverse health effects are likely to occur</a:t>
            </a: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Developed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communicate hazardous conditions and to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protect the workers against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to harmful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substances or situations.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goal and basis are:</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 harmful effect over working lifetime.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Based on science: epidemiology or toxicological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studies, and what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reasonably achievable by the industry.</a:t>
            </a: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limits are “escalating”:</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Threshold Limit Value</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(TLV</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maximum concentration of a substance that an individual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 exposed to without experiencing adverse effects.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Threshold Limit Value-time Weighted Average (TLV-TWA): </a:t>
            </a:r>
            <a:b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concentration for a conventional 8-hour workday and a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40-hour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workweek, to which it is believed that nearly all workers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 repeatedly exposed, day after day, for a working lifetime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without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adverse effect</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Occupational Exposure </a:t>
            </a:r>
            <a:r>
              <a:rPr lang="en-US" altLang="en-US" sz="2400" b="0" dirty="0" smtClean="0">
                <a:solidFill>
                  <a:schemeClr val="accent2"/>
                </a:solidFill>
                <a:latin typeface="Arial" panose="020B0604020202020204" pitchFamily="34" charset="0"/>
                <a:ea typeface="+mj-ea"/>
                <a:cs typeface="Arial" panose="020B0604020202020204" pitchFamily="34" charset="0"/>
              </a:rPr>
              <a:t>Limits </a:t>
            </a:r>
            <a:r>
              <a:rPr lang="en-US" altLang="en-US" sz="2400" b="0" dirty="0">
                <a:solidFill>
                  <a:schemeClr val="accent2"/>
                </a:solidFill>
                <a:latin typeface="Arial" panose="020B0604020202020204" pitchFamily="34" charset="0"/>
                <a:ea typeface="+mj-ea"/>
                <a:cs typeface="Arial" panose="020B0604020202020204" pitchFamily="34" charset="0"/>
              </a:rPr>
              <a:t>(OEL</a:t>
            </a:r>
            <a:r>
              <a:rPr lang="en-US" altLang="en-US" sz="2400" b="0" dirty="0" smtClean="0">
                <a:solidFill>
                  <a:schemeClr val="accent2"/>
                </a:solidFill>
                <a:latin typeface="Arial" panose="020B0604020202020204" pitchFamily="34" charset="0"/>
                <a:ea typeface="+mj-ea"/>
                <a:cs typeface="Arial" panose="020B0604020202020204" pitchFamily="34" charset="0"/>
              </a:rPr>
              <a:t>) Terminology (</a:t>
            </a:r>
            <a:r>
              <a:rPr lang="en-US" altLang="en-US" sz="2400" b="0" dirty="0">
                <a:solidFill>
                  <a:schemeClr val="accent2"/>
                </a:solidFill>
                <a:latin typeface="Arial" panose="020B0604020202020204" pitchFamily="34" charset="0"/>
                <a:ea typeface="+mj-ea"/>
                <a:cs typeface="Arial" panose="020B0604020202020204" pitchFamily="34" charset="0"/>
              </a:rPr>
              <a:t>Duration</a:t>
            </a:r>
            <a:r>
              <a:rPr lang="en-US" altLang="en-US" sz="2400" b="0" dirty="0" smtClean="0">
                <a:solidFill>
                  <a:schemeClr val="accent2"/>
                </a:solidFill>
                <a:latin typeface="Arial" panose="020B0604020202020204" pitchFamily="34" charset="0"/>
                <a:ea typeface="+mj-ea"/>
                <a:cs typeface="Arial" panose="020B0604020202020204" pitchFamily="34" charset="0"/>
              </a:rPr>
              <a: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5"/>
          <p:cNvSpPr/>
          <p:nvPr/>
        </p:nvSpPr>
        <p:spPr>
          <a:xfrm>
            <a:off x="7436749" y="3877200"/>
            <a:ext cx="1260000" cy="720000"/>
          </a:xfrm>
          <a:prstGeom prst="rect">
            <a:avLst/>
          </a:prstGeom>
          <a:solidFill>
            <a:srgbClr val="00CC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1600" dirty="0" smtClean="0">
                <a:solidFill>
                  <a:schemeClr val="tx1"/>
                </a:solidFill>
              </a:rPr>
              <a:t>TLV </a:t>
            </a:r>
          </a:p>
          <a:p>
            <a:pPr algn="ctr"/>
            <a:r>
              <a:rPr lang="en-US" sz="1600" dirty="0" smtClean="0">
                <a:solidFill>
                  <a:schemeClr val="tx1"/>
                </a:solidFill>
              </a:rPr>
              <a:t>– no harm</a:t>
            </a:r>
            <a:endParaRPr lang="en-US" sz="1600" dirty="0">
              <a:solidFill>
                <a:schemeClr val="tx1"/>
              </a:solidFill>
            </a:endParaRPr>
          </a:p>
        </p:txBody>
      </p:sp>
      <p:sp>
        <p:nvSpPr>
          <p:cNvPr id="7" name="Rectangle 6"/>
          <p:cNvSpPr/>
          <p:nvPr/>
        </p:nvSpPr>
        <p:spPr>
          <a:xfrm>
            <a:off x="7470000" y="5029200"/>
            <a:ext cx="1260000" cy="720000"/>
          </a:xfrm>
          <a:prstGeom prst="rect">
            <a:avLst/>
          </a:prstGeom>
          <a:solidFill>
            <a:srgbClr val="99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1600" dirty="0" smtClean="0">
                <a:solidFill>
                  <a:schemeClr val="tx1"/>
                </a:solidFill>
              </a:rPr>
              <a:t>TLV-TWA </a:t>
            </a:r>
          </a:p>
          <a:p>
            <a:pPr algn="ctr"/>
            <a:r>
              <a:rPr lang="en-US" sz="1600" dirty="0" smtClean="0">
                <a:solidFill>
                  <a:schemeClr val="tx1"/>
                </a:solidFill>
              </a:rPr>
              <a:t>– no harm</a:t>
            </a:r>
            <a:endParaRPr lang="en-US" sz="1600" dirty="0">
              <a:solidFill>
                <a:schemeClr val="tx1"/>
              </a:solidFill>
            </a:endParaRPr>
          </a:p>
        </p:txBody>
      </p:sp>
    </p:spTree>
    <p:extLst>
      <p:ext uri="{BB962C8B-B14F-4D97-AF65-F5344CB8AC3E}">
        <p14:creationId xmlns:p14="http://schemas.microsoft.com/office/powerpoint/2010/main" val="4164494989"/>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Threshold Limit Short Term Exposure Limit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TLV-STEL):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concentration of a chemical that should not be exceeded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more than 15 minutes during a workday.  At or beyond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concentration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 worker exposed for a 15-minute period may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suffer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irritation, potentially irreversible tissue damage, toxic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mental impairment.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Threshold Limit Value – Ceiling (TLV-C):</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concentration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should not be exceeded during any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part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working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Immediately Dangerous to Life and Health (IDLH):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atmospheric concentration of any toxic, corrosive, or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asphyxiating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substance that poses an immediate threat to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life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 would cause irreversible or delayed adverse health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would interfere with an individuals ability to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escape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a dangerous atmosphere.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Occupational Exposure Limits </a:t>
            </a:r>
            <a:r>
              <a:rPr lang="en-US" altLang="en-US" sz="2400" b="0" dirty="0" smtClean="0">
                <a:solidFill>
                  <a:schemeClr val="accent2"/>
                </a:solidFill>
                <a:latin typeface="Arial" panose="020B0604020202020204" pitchFamily="34" charset="0"/>
                <a:ea typeface="+mj-ea"/>
                <a:cs typeface="Arial" panose="020B0604020202020204" pitchFamily="34" charset="0"/>
              </a:rPr>
              <a:t>(OELs) – Terminology:</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5"/>
          <p:cNvSpPr/>
          <p:nvPr/>
        </p:nvSpPr>
        <p:spPr>
          <a:xfrm>
            <a:off x="7651244" y="1219200"/>
            <a:ext cx="1260000" cy="7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1600" dirty="0" smtClean="0">
                <a:solidFill>
                  <a:schemeClr val="tx1"/>
                </a:solidFill>
              </a:rPr>
              <a:t>TLV-STEL </a:t>
            </a:r>
          </a:p>
        </p:txBody>
      </p:sp>
      <p:sp>
        <p:nvSpPr>
          <p:cNvPr id="7" name="Rectangle 6"/>
          <p:cNvSpPr/>
          <p:nvPr/>
        </p:nvSpPr>
        <p:spPr>
          <a:xfrm>
            <a:off x="7655400" y="3021600"/>
            <a:ext cx="1260000" cy="720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1600" dirty="0" smtClean="0"/>
              <a:t>TLV-C </a:t>
            </a:r>
          </a:p>
        </p:txBody>
      </p:sp>
      <p:sp>
        <p:nvSpPr>
          <p:cNvPr id="10" name="Rectangle 9"/>
          <p:cNvSpPr/>
          <p:nvPr/>
        </p:nvSpPr>
        <p:spPr>
          <a:xfrm>
            <a:off x="7655400" y="4461600"/>
            <a:ext cx="1260000" cy="72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1600" dirty="0" smtClean="0"/>
              <a:t>IDLH </a:t>
            </a:r>
          </a:p>
          <a:p>
            <a:pPr algn="ctr"/>
            <a:r>
              <a:rPr lang="en-US" sz="1600" dirty="0" smtClean="0"/>
              <a:t>– fatal</a:t>
            </a:r>
            <a:endParaRPr lang="en-US" sz="1600" dirty="0"/>
          </a:p>
        </p:txBody>
      </p:sp>
    </p:spTree>
    <p:extLst>
      <p:ext uri="{BB962C8B-B14F-4D97-AF65-F5344CB8AC3E}">
        <p14:creationId xmlns:p14="http://schemas.microsoft.com/office/powerpoint/2010/main" val="578316996"/>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0"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Tx/>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hazardous chemicals &amp; biological agents is usually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by:</a:t>
            </a: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Inhalation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airborne gases, vapors or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particulates</a:t>
            </a: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ngestion of liquids or particulates</a:t>
            </a: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Skin absorption after contact with liquids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Exposure </a:t>
            </a:r>
            <a:r>
              <a:rPr lang="en-US" altLang="en-US" sz="2400" b="0" dirty="0">
                <a:solidFill>
                  <a:schemeClr val="accent2"/>
                </a:solidFill>
                <a:latin typeface="Arial" panose="020B0604020202020204" pitchFamily="34" charset="0"/>
                <a:ea typeface="+mj-ea"/>
                <a:cs typeface="Arial" panose="020B0604020202020204" pitchFamily="34" charset="0"/>
              </a:rPr>
              <a:t>Routes for </a:t>
            </a:r>
            <a:r>
              <a:rPr lang="en-US" altLang="en-US" sz="2400" b="0" dirty="0" smtClean="0">
                <a:solidFill>
                  <a:schemeClr val="accent2"/>
                </a:solidFill>
                <a:latin typeface="Arial" panose="020B0604020202020204" pitchFamily="34" charset="0"/>
                <a:ea typeface="+mj-ea"/>
                <a:cs typeface="Arial" panose="020B0604020202020204" pitchFamily="34" charset="0"/>
              </a:rPr>
              <a:t>Toxicants: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graphicFrame>
        <p:nvGraphicFramePr>
          <p:cNvPr id="2" name="Table 1"/>
          <p:cNvGraphicFramePr>
            <a:graphicFrameLocks noGrp="1"/>
          </p:cNvGraphicFramePr>
          <p:nvPr/>
        </p:nvGraphicFramePr>
        <p:xfrm>
          <a:off x="180000" y="2133600"/>
          <a:ext cx="8642771" cy="3576320"/>
        </p:xfrm>
        <a:graphic>
          <a:graphicData uri="http://schemas.openxmlformats.org/drawingml/2006/table">
            <a:tbl>
              <a:tblPr firstRow="1" bandRow="1">
                <a:tableStyleId>{5C22544A-7EE6-4342-B048-85BDC9FD1C3A}</a:tableStyleId>
              </a:tblPr>
              <a:tblGrid>
                <a:gridCol w="2278829">
                  <a:extLst>
                    <a:ext uri="{9D8B030D-6E8A-4147-A177-3AD203B41FA5}">
                      <a16:colId xmlns:a16="http://schemas.microsoft.com/office/drawing/2014/main" val="276954185"/>
                    </a:ext>
                  </a:extLst>
                </a:gridCol>
                <a:gridCol w="2012867">
                  <a:extLst>
                    <a:ext uri="{9D8B030D-6E8A-4147-A177-3AD203B41FA5}">
                      <a16:colId xmlns:a16="http://schemas.microsoft.com/office/drawing/2014/main" val="2349653219"/>
                    </a:ext>
                  </a:extLst>
                </a:gridCol>
                <a:gridCol w="4351075">
                  <a:extLst>
                    <a:ext uri="{9D8B030D-6E8A-4147-A177-3AD203B41FA5}">
                      <a16:colId xmlns:a16="http://schemas.microsoft.com/office/drawing/2014/main" val="1592509755"/>
                    </a:ext>
                  </a:extLst>
                </a:gridCol>
              </a:tblGrid>
              <a:tr h="370840">
                <a:tc>
                  <a:txBody>
                    <a:bodyPr/>
                    <a:lstStyle/>
                    <a:p>
                      <a:r>
                        <a:rPr lang="en-US" dirty="0" smtClean="0">
                          <a:solidFill>
                            <a:schemeClr val="tx1"/>
                          </a:solidFill>
                        </a:rPr>
                        <a:t>ROUTE</a:t>
                      </a:r>
                      <a:endParaRPr lang="en-US" dirty="0">
                        <a:solidFill>
                          <a:schemeClr val="tx1"/>
                        </a:solidFill>
                      </a:endParaRPr>
                    </a:p>
                  </a:txBody>
                  <a:tcPr/>
                </a:tc>
                <a:tc>
                  <a:txBody>
                    <a:bodyPr/>
                    <a:lstStyle/>
                    <a:p>
                      <a:r>
                        <a:rPr lang="en-US" dirty="0" smtClean="0">
                          <a:solidFill>
                            <a:schemeClr val="tx1"/>
                          </a:solidFill>
                        </a:rPr>
                        <a:t>ENTRY</a:t>
                      </a:r>
                      <a:endParaRPr lang="en-US" dirty="0">
                        <a:solidFill>
                          <a:schemeClr val="tx1"/>
                        </a:solidFill>
                      </a:endParaRPr>
                    </a:p>
                  </a:txBody>
                  <a:tcPr/>
                </a:tc>
                <a:tc>
                  <a:txBody>
                    <a:bodyPr/>
                    <a:lstStyle/>
                    <a:p>
                      <a:r>
                        <a:rPr lang="en-US" dirty="0" smtClean="0">
                          <a:solidFill>
                            <a:schemeClr val="tx1"/>
                          </a:solidFill>
                        </a:rPr>
                        <a:t>CONTROL</a:t>
                      </a:r>
                      <a:endParaRPr lang="en-US" dirty="0">
                        <a:solidFill>
                          <a:schemeClr val="tx1"/>
                        </a:solidFill>
                      </a:endParaRPr>
                    </a:p>
                  </a:txBody>
                  <a:tcPr/>
                </a:tc>
                <a:extLst>
                  <a:ext uri="{0D108BD9-81ED-4DB2-BD59-A6C34878D82A}">
                    <a16:rowId xmlns:a16="http://schemas.microsoft.com/office/drawing/2014/main" val="34241328"/>
                  </a:ext>
                </a:extLst>
              </a:tr>
              <a:tr h="370840">
                <a:tc>
                  <a:txBody>
                    <a:bodyPr/>
                    <a:lstStyle/>
                    <a:p>
                      <a:r>
                        <a:rPr lang="en-US" b="0" dirty="0" smtClean="0"/>
                        <a:t>Inhalation*</a:t>
                      </a:r>
                      <a:endParaRPr lang="en-US" b="0" dirty="0"/>
                    </a:p>
                  </a:txBody>
                  <a:tcPr/>
                </a:tc>
                <a:tc>
                  <a:txBody>
                    <a:bodyPr/>
                    <a:lstStyle/>
                    <a:p>
                      <a:r>
                        <a:rPr lang="en-US" b="0" dirty="0" smtClean="0"/>
                        <a:t>Mouth, nose</a:t>
                      </a:r>
                      <a:endParaRPr lang="en-US" b="0" dirty="0"/>
                    </a:p>
                  </a:txBody>
                  <a:tcPr/>
                </a:tc>
                <a:tc>
                  <a:txBody>
                    <a:bodyPr/>
                    <a:lstStyle/>
                    <a:p>
                      <a:r>
                        <a:rPr lang="en-US" b="0" dirty="0" smtClean="0"/>
                        <a:t>Ventilation,</a:t>
                      </a:r>
                      <a:r>
                        <a:rPr lang="en-US" b="0" baseline="0" dirty="0" smtClean="0"/>
                        <a:t> fume hoods,</a:t>
                      </a:r>
                      <a:r>
                        <a:rPr lang="en-US" b="0" dirty="0" smtClean="0"/>
                        <a:t> respirators, face hoods, personal protective equipment</a:t>
                      </a:r>
                      <a:endParaRPr lang="en-US" b="0" dirty="0"/>
                    </a:p>
                  </a:txBody>
                  <a:tcPr/>
                </a:tc>
                <a:extLst>
                  <a:ext uri="{0D108BD9-81ED-4DB2-BD59-A6C34878D82A}">
                    <a16:rowId xmlns:a16="http://schemas.microsoft.com/office/drawing/2014/main" val="2041885677"/>
                  </a:ext>
                </a:extLst>
              </a:tr>
              <a:tr h="370840">
                <a:tc>
                  <a:txBody>
                    <a:bodyPr/>
                    <a:lstStyle/>
                    <a:p>
                      <a:r>
                        <a:rPr lang="en-US" b="0" dirty="0" smtClean="0"/>
                        <a:t>Dermal Absorption*</a:t>
                      </a:r>
                      <a:endParaRPr lang="en-US" b="0" dirty="0"/>
                    </a:p>
                  </a:txBody>
                  <a:tcPr/>
                </a:tc>
                <a:tc>
                  <a:txBody>
                    <a:bodyPr/>
                    <a:lstStyle/>
                    <a:p>
                      <a:r>
                        <a:rPr lang="en-US" b="0" dirty="0" smtClean="0"/>
                        <a:t>Skin</a:t>
                      </a:r>
                      <a:endParaRPr lang="en-US" b="0" dirty="0"/>
                    </a:p>
                  </a:txBody>
                  <a:tcPr/>
                </a:tc>
                <a:tc>
                  <a:txBody>
                    <a:bodyPr/>
                    <a:lstStyle/>
                    <a:p>
                      <a:r>
                        <a:rPr lang="en-US" b="0" dirty="0" smtClean="0"/>
                        <a:t>Protective clothing</a:t>
                      </a:r>
                      <a:endParaRPr lang="en-US" b="0" dirty="0"/>
                    </a:p>
                  </a:txBody>
                  <a:tcPr/>
                </a:tc>
                <a:extLst>
                  <a:ext uri="{0D108BD9-81ED-4DB2-BD59-A6C34878D82A}">
                    <a16:rowId xmlns:a16="http://schemas.microsoft.com/office/drawing/2014/main" val="2316203952"/>
                  </a:ext>
                </a:extLst>
              </a:tr>
              <a:tr h="370840">
                <a:tc>
                  <a:txBody>
                    <a:bodyPr/>
                    <a:lstStyle/>
                    <a:p>
                      <a:r>
                        <a:rPr lang="en-US" b="0" dirty="0" smtClean="0"/>
                        <a:t>Injection</a:t>
                      </a:r>
                      <a:endParaRPr lang="en-US" b="0" dirty="0"/>
                    </a:p>
                  </a:txBody>
                  <a:tcPr/>
                </a:tc>
                <a:tc>
                  <a:txBody>
                    <a:bodyPr/>
                    <a:lstStyle/>
                    <a:p>
                      <a:r>
                        <a:rPr lang="en-US" b="0" dirty="0" smtClean="0"/>
                        <a:t>Cuts or punctures in skin</a:t>
                      </a:r>
                      <a:endParaRPr lang="en-US" b="0" dirty="0"/>
                    </a:p>
                  </a:txBody>
                  <a:tcPr/>
                </a:tc>
                <a:tc>
                  <a:txBody>
                    <a:bodyPr/>
                    <a:lstStyle/>
                    <a:p>
                      <a:r>
                        <a:rPr lang="en-US" b="0" dirty="0" smtClean="0"/>
                        <a:t>Protective clothing </a:t>
                      </a:r>
                      <a:endParaRPr lang="en-US" b="0" dirty="0"/>
                    </a:p>
                  </a:txBody>
                  <a:tcPr/>
                </a:tc>
                <a:extLst>
                  <a:ext uri="{0D108BD9-81ED-4DB2-BD59-A6C34878D82A}">
                    <a16:rowId xmlns:a16="http://schemas.microsoft.com/office/drawing/2014/main" val="2905587045"/>
                  </a:ext>
                </a:extLst>
              </a:tr>
              <a:tr h="370840">
                <a:tc>
                  <a:txBody>
                    <a:bodyPr/>
                    <a:lstStyle/>
                    <a:p>
                      <a:r>
                        <a:rPr lang="en-US" sz="1800" b="0" dirty="0" smtClean="0">
                          <a:latin typeface="Arial" charset="0"/>
                        </a:rPr>
                        <a:t>Ingestion</a:t>
                      </a:r>
                      <a:endParaRPr lang="en-US" b="0" dirty="0"/>
                    </a:p>
                  </a:txBody>
                  <a:tcPr/>
                </a:tc>
                <a:tc>
                  <a:txBody>
                    <a:bodyPr/>
                    <a:lstStyle/>
                    <a:p>
                      <a:r>
                        <a:rPr lang="en-US" sz="1800" b="0" dirty="0" smtClean="0">
                          <a:latin typeface="Arial" charset="0"/>
                        </a:rPr>
                        <a:t>Mouth, stomach</a:t>
                      </a:r>
                      <a:endParaRPr lang="en-US" b="0" dirty="0"/>
                    </a:p>
                  </a:txBody>
                  <a:tcPr/>
                </a:tc>
                <a:tc>
                  <a:txBody>
                    <a:bodyPr/>
                    <a:lstStyle/>
                    <a:p>
                      <a:r>
                        <a:rPr lang="en-US" b="0" dirty="0" smtClean="0"/>
                        <a:t>Enforcement of rules on eating, drinking,</a:t>
                      </a:r>
                      <a:r>
                        <a:rPr lang="en-US" b="0" baseline="0" dirty="0" smtClean="0"/>
                        <a:t> </a:t>
                      </a:r>
                      <a:r>
                        <a:rPr lang="en-US" b="0" dirty="0" smtClean="0"/>
                        <a:t>smoking</a:t>
                      </a:r>
                    </a:p>
                    <a:p>
                      <a:endParaRPr lang="en-US" b="0" dirty="0"/>
                    </a:p>
                  </a:txBody>
                  <a:tcPr/>
                </a:tc>
                <a:extLst>
                  <a:ext uri="{0D108BD9-81ED-4DB2-BD59-A6C34878D82A}">
                    <a16:rowId xmlns:a16="http://schemas.microsoft.com/office/drawing/2014/main" val="3028846152"/>
                  </a:ext>
                </a:extLst>
              </a:tr>
              <a:tr h="370840">
                <a:tc>
                  <a:txBody>
                    <a:bodyPr/>
                    <a:lstStyle/>
                    <a:p>
                      <a:endParaRPr lang="en-US" b="0" dirty="0"/>
                    </a:p>
                  </a:txBody>
                  <a:tcPr/>
                </a:tc>
                <a:tc>
                  <a:txBody>
                    <a:bodyPr/>
                    <a:lstStyle/>
                    <a:p>
                      <a:endParaRPr lang="en-US" b="0" dirty="0"/>
                    </a:p>
                  </a:txBody>
                  <a:tcPr/>
                </a:tc>
                <a:tc>
                  <a:txBody>
                    <a:bodyPr/>
                    <a:lstStyle/>
                    <a:p>
                      <a:r>
                        <a:rPr lang="en-US" b="0" i="1" dirty="0" smtClean="0"/>
                        <a:t>* industrially most significant but</a:t>
                      </a:r>
                      <a:r>
                        <a:rPr lang="en-US" b="0" i="1" baseline="0" dirty="0" smtClean="0"/>
                        <a:t> can vary for different industries</a:t>
                      </a:r>
                      <a:endParaRPr lang="en-US" b="0" i="1" dirty="0"/>
                    </a:p>
                  </a:txBody>
                  <a:tcPr/>
                </a:tc>
                <a:extLst>
                  <a:ext uri="{0D108BD9-81ED-4DB2-BD59-A6C34878D82A}">
                    <a16:rowId xmlns:a16="http://schemas.microsoft.com/office/drawing/2014/main" val="2899595572"/>
                  </a:ext>
                </a:extLst>
              </a:tr>
            </a:tbl>
          </a:graphicData>
        </a:graphic>
      </p:graphicFrame>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318139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response to toxicants covers a spectrum</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Allergic reactions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Immediate vs delayed toxicity (carcinogens)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Local vs systemic (target organs)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Effects that are irreversible:</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Carcinogen - causes cancer (asbestos, radon, vinyl chloride)</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Mutagen - causes chromosome damage (x-rays, UV radiation)</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Reproductive hazard - causes damage to reproductive system (radiation)</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Teratogen - causes birth defects (rubella, PCBs)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Effects that may or may not be reversible:</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Dermatotoxic</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affects skin (methylene chloride)</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Hemotoxic - affects blood (ethylene-oxide, glycol ethers)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Hepatotoxic - affects liver (organic solvents)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Nephrotoxic - affects kidneys (heavy metals – mercury, cadmium)</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Neurotoxic - affects nervous system (lead, n-hexane)</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Pulmonotoxic</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affects lungs (phosgene, chlorine, ammonia)</a:t>
            </a:r>
          </a:p>
          <a:p>
            <a:pPr marL="72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Toxicants </a:t>
            </a:r>
            <a:r>
              <a:rPr lang="en-US" altLang="en-US" sz="2400" b="0" dirty="0" smtClean="0">
                <a:solidFill>
                  <a:schemeClr val="accent2"/>
                </a:solidFill>
                <a:latin typeface="Arial" panose="020B0604020202020204" pitchFamily="34" charset="0"/>
                <a:ea typeface="+mj-ea"/>
                <a:cs typeface="Arial" panose="020B0604020202020204" pitchFamily="34" charset="0"/>
              </a:rPr>
              <a:t>and Effects: </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973850349"/>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order of preference for controlling exposure to occupational health hazards is as follows</a:t>
            </a:r>
          </a:p>
          <a:p>
            <a:pPr marL="72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Eliminate the chemical or biological agent</a:t>
            </a:r>
          </a:p>
          <a:p>
            <a:pPr marL="72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Substitute a less hazardous chemical or biological agent</a:t>
            </a:r>
          </a:p>
          <a:p>
            <a:pPr marL="72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controls to prevent exposure of people to the occupational health hazard</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Administrative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controls to control exposure, mitigate exposure,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prevent exposure</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Personal protective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equipment</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PPE a “last resort” &amp; 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reserved for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situations where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other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methods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either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unknown, inadequate, or where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impracticable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reduce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below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limits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Exposure </a:t>
            </a:r>
            <a:r>
              <a:rPr lang="en-US" altLang="en-US" sz="2400" b="0" dirty="0" smtClean="0">
                <a:solidFill>
                  <a:schemeClr val="accent2"/>
                </a:solidFill>
                <a:latin typeface="Arial" panose="020B0604020202020204" pitchFamily="34" charset="0"/>
                <a:ea typeface="+mj-ea"/>
                <a:cs typeface="Arial" panose="020B0604020202020204" pitchFamily="34" charset="0"/>
              </a:rPr>
              <a:t>Control: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4671844" y="2971800"/>
            <a:ext cx="4121832" cy="3091375"/>
          </a:xfrm>
          <a:prstGeom prst="rect">
            <a:avLst/>
          </a:prstGeom>
          <a:ln>
            <a:solidFill>
              <a:schemeClr val="tx1"/>
            </a:solidFill>
          </a:ln>
        </p:spPr>
      </p:pic>
    </p:spTree>
    <p:extLst>
      <p:ext uri="{BB962C8B-B14F-4D97-AF65-F5344CB8AC3E}">
        <p14:creationId xmlns:p14="http://schemas.microsoft.com/office/powerpoint/2010/main" val="4215568245"/>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Apply Hierarchy of Controls for Asbestos</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a:spcBef>
                <a:spcPts val="0"/>
              </a:spcBef>
              <a:spcAft>
                <a:spcPts val="0"/>
              </a:spcAft>
            </a:pPr>
            <a:r>
              <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(pen-to-paper, respond on </a:t>
            </a:r>
            <a:r>
              <a:rPr 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Zoom-Chat-Open):</a:t>
            </a:r>
            <a:endParaRPr 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spcBef>
                <a:spcPts val="0"/>
              </a:spcBef>
              <a:buSzPct val="100000"/>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Consider a small insulation company that specializes in the removal of legacy construction materials that contain asbestos (wallboard, insulation, concrete). What can you do to control or mitigate exposure to asbestos particles?</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Prefix your response with </a:t>
            </a:r>
            <a:b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 “S”, “EC”, AC”, or “PPE”.</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5029200" y="3200400"/>
            <a:ext cx="3624654" cy="2718491"/>
          </a:xfrm>
          <a:prstGeom prst="rect">
            <a:avLst/>
          </a:prstGeom>
          <a:ln>
            <a:solidFill>
              <a:schemeClr val="tx1"/>
            </a:solidFill>
          </a:ln>
        </p:spPr>
      </p:pic>
    </p:spTree>
    <p:extLst>
      <p:ext uri="{BB962C8B-B14F-4D97-AF65-F5344CB8AC3E}">
        <p14:creationId xmlns:p14="http://schemas.microsoft.com/office/powerpoint/2010/main" val="799925951"/>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Tx/>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Man-Made Mineral </a:t>
            </a: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Fibres</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substituted for asbestos.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developed to replace asbestos, a known carcinogen</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Includes fibrous glass (glass, wool, glass filament), ceramic </a:t>
            </a: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fibre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(alumina silicate) and mineral wool (glass, rock and slag wools)</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Tx/>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MMMF Dust:</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Generally about 10x the diameter of asbestos </a:t>
            </a: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fibres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Cannot be split along their length into thinner </a:t>
            </a: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fibres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(asbestos splits)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Thus,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MMMF dust does not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reach the deep lung spaces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alveoli) whereas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asbestos </a:t>
            </a: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fibres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reach deeply</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Majority is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filtered in the upper respiratory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system; coughed up and ingested</a:t>
            </a: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Traditionally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considered a nuisance dust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i.e. short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term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irritation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the skin, eyes, nose, throat,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lungs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Inhalation is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primary long term health concern (chronic exposure) and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MMF dust is considered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possible carcinogen for humans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Thus substituting MMMF for asbestos still has a potential health exposure (risk is not zero). </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Long-term monitoring and research are needed to resolve this question</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Man-Made Mineral </a:t>
            </a:r>
            <a:r>
              <a:rPr lang="en-US" altLang="en-US" sz="2400" b="0" dirty="0" err="1">
                <a:solidFill>
                  <a:schemeClr val="accent2"/>
                </a:solidFill>
                <a:latin typeface="Arial" panose="020B0604020202020204" pitchFamily="34" charset="0"/>
                <a:ea typeface="+mj-ea"/>
                <a:cs typeface="Arial" panose="020B0604020202020204" pitchFamily="34" charset="0"/>
              </a:rPr>
              <a:t>Fibres</a:t>
            </a:r>
            <a:r>
              <a:rPr lang="en-US" altLang="en-US" sz="2400" b="0" dirty="0">
                <a:solidFill>
                  <a:schemeClr val="accent2"/>
                </a:solidFill>
                <a:latin typeface="Arial" panose="020B0604020202020204" pitchFamily="34" charset="0"/>
                <a:ea typeface="+mj-ea"/>
                <a:cs typeface="Arial" panose="020B0604020202020204" pitchFamily="34" charset="0"/>
              </a:rPr>
              <a:t> – </a:t>
            </a:r>
            <a:r>
              <a:rPr lang="en-US" altLang="en-US" sz="2400" b="0" dirty="0" smtClean="0">
                <a:solidFill>
                  <a:schemeClr val="accent2"/>
                </a:solidFill>
                <a:latin typeface="Arial" panose="020B0604020202020204" pitchFamily="34" charset="0"/>
                <a:ea typeface="+mj-ea"/>
                <a:cs typeface="Arial" panose="020B0604020202020204" pitchFamily="34" charset="0"/>
              </a:rPr>
              <a:t>Are They Better</a:t>
            </a:r>
            <a:r>
              <a:rPr lang="en-US" altLang="en-US" sz="2400" b="0" dirty="0">
                <a:solidFill>
                  <a:schemeClr val="accent2"/>
                </a:solidFill>
                <a:latin typeface="Arial" panose="020B0604020202020204" pitchFamily="34" charset="0"/>
                <a:ea typeface="+mj-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682377682"/>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717358" y="775652"/>
            <a:ext cx="7677228" cy="5472748"/>
          </a:xfrm>
          <a:prstGeom prst="rect">
            <a:avLst/>
          </a:prstGeom>
        </p:spPr>
      </p:pic>
      <p:sp>
        <p:nvSpPr>
          <p:cNvPr id="6"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A Generic Health Exposure Assessment </a:t>
            </a:r>
            <a:r>
              <a:rPr lang="en-US" altLang="en-US" sz="2400" b="0" dirty="0" smtClean="0">
                <a:solidFill>
                  <a:schemeClr val="accent2"/>
                </a:solidFill>
                <a:latin typeface="Arial" panose="020B0604020202020204" pitchFamily="34" charset="0"/>
                <a:ea typeface="+mj-ea"/>
                <a:cs typeface="Arial" panose="020B0604020202020204" pitchFamily="34" charset="0"/>
              </a:rPr>
              <a:t>Flowchart: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3" name="Rounded Rectangle 2"/>
          <p:cNvSpPr/>
          <p:nvPr/>
        </p:nvSpPr>
        <p:spPr>
          <a:xfrm>
            <a:off x="2667000" y="5181600"/>
            <a:ext cx="3352800" cy="457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eft Arrow 3"/>
          <p:cNvSpPr/>
          <p:nvPr/>
        </p:nvSpPr>
        <p:spPr>
          <a:xfrm>
            <a:off x="6248400" y="5105400"/>
            <a:ext cx="1828800" cy="609600"/>
          </a:xfrm>
          <a:prstGeom prst="leftArrow">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Health Plan</a:t>
            </a:r>
            <a:endParaRPr lang="en-US" dirty="0">
              <a:solidFill>
                <a:schemeClr val="tx1"/>
              </a:solidFill>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73186133"/>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85000"/>
              </a:lnSpc>
              <a:spcBef>
                <a:spcPts val="0"/>
              </a:spcBef>
              <a:buClrTx/>
              <a:buSzPct val="100000"/>
              <a:buNone/>
            </a:pP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Hazards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Review and Health Risk Assessments:</a:t>
            </a:r>
            <a:endPar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85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Experts: Medical Scientists, Toxicologists,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Epidemiologists, Industrial Hygienists</a:t>
            </a:r>
          </a:p>
          <a:p>
            <a:pPr marL="360000" indent="-360000" eaLnBrk="0" hangingPunct="0">
              <a:lnSpc>
                <a:spcPct val="85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85000"/>
              </a:lnSpc>
              <a:spcBef>
                <a:spcPts val="0"/>
              </a:spcBef>
              <a:buClrTx/>
              <a:buSzPct val="100000"/>
              <a:buNone/>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Review</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85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Provides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information on agents,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equipment,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processes</a:t>
            </a:r>
          </a:p>
          <a:p>
            <a:pPr marL="360000" indent="-360000" eaLnBrk="0" hangingPunct="0">
              <a:lnSpc>
                <a:spcPct val="85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review along with personnel and tasks information is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used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establish assessment (exposure) groups</a:t>
            </a:r>
          </a:p>
          <a:p>
            <a:pPr marL="360000" indent="-360000" eaLnBrk="0" hangingPunct="0">
              <a:lnSpc>
                <a:spcPct val="85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assessment groups are workers who conduct similar activities at a particular operating site or location that may result in similar health risks</a:t>
            </a:r>
          </a:p>
          <a:p>
            <a:pPr marL="360000" indent="-360000" eaLnBrk="0" hangingPunct="0">
              <a:lnSpc>
                <a:spcPct val="85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ratings are based on exposure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intensity (dose), duration,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frequency</a:t>
            </a:r>
          </a:p>
          <a:p>
            <a:pPr marL="360000" indent="-360000" eaLnBrk="0" hangingPunct="0">
              <a:lnSpc>
                <a:spcPct val="85000"/>
              </a:lnSpc>
              <a:spcBef>
                <a:spcPts val="0"/>
              </a:spcBef>
              <a:buClrTx/>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85000"/>
              </a:lnSpc>
              <a:spcBef>
                <a:spcPts val="0"/>
              </a:spcBef>
              <a:buClrTx/>
              <a:buSzPct val="100000"/>
              <a:buNone/>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Assessment</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85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uses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estimates or measured exposures to risk rank the hazardous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scenarios</a:t>
            </a:r>
          </a:p>
          <a:p>
            <a:pPr marL="360000" indent="-360000" eaLnBrk="0" hangingPunct="0">
              <a:lnSpc>
                <a:spcPct val="85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may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 additional recommendations for hazard mitigation. </a:t>
            </a: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Health Exposure </a:t>
            </a:r>
            <a:r>
              <a:rPr lang="en-US" altLang="en-US" sz="2400" b="0" dirty="0" smtClean="0">
                <a:solidFill>
                  <a:schemeClr val="accent2"/>
                </a:solidFill>
                <a:latin typeface="Arial" panose="020B0604020202020204" pitchFamily="34" charset="0"/>
                <a:ea typeface="+mj-ea"/>
                <a:cs typeface="Arial" panose="020B0604020202020204" pitchFamily="34" charset="0"/>
              </a:rPr>
              <a:t>Methods: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236445411"/>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85000"/>
              </a:lnSpc>
              <a:spcBef>
                <a:spcPts val="0"/>
              </a:spcBef>
              <a:buClr>
                <a:srgbClr val="000000"/>
              </a:buClr>
              <a:buSzPct val="100000"/>
              <a:buNone/>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a:t>
            </a:r>
          </a:p>
          <a:p>
            <a:pPr marL="360000" lvl="0" indent="-360000" eaLnBrk="0" hangingPunct="0">
              <a:lnSpc>
                <a:spcPct val="85000"/>
              </a:lnSpc>
              <a:spcBef>
                <a:spcPts val="0"/>
              </a:spcBef>
              <a:buClrTx/>
              <a:buSzPct val="100000"/>
              <a:buFont typeface="Wingdings" panose="05000000000000000000" pitchFamily="2" charset="2"/>
              <a:buChar char="Ø"/>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85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Proactive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organizations develop,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maintain/update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plans to manage their occupational health exposures (risk)</a:t>
            </a:r>
          </a:p>
          <a:p>
            <a:pPr marL="360000" lvl="0" indent="-360000" eaLnBrk="0" hangingPunct="0">
              <a:lnSpc>
                <a:spcPct val="85000"/>
              </a:lnSpc>
              <a:spcBef>
                <a:spcPts val="0"/>
              </a:spcBef>
              <a:buClrTx/>
              <a:buSzPct val="100000"/>
              <a:buFont typeface="Wingdings" panose="05000000000000000000" pitchFamily="2" charset="2"/>
              <a:buChar char="Ø"/>
            </a:pPr>
            <a:endPar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85000"/>
              </a:lnSpc>
              <a:spcBef>
                <a:spcPts val="0"/>
              </a:spcBef>
              <a:buClrTx/>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objectives of a health plan are to:</a:t>
            </a:r>
          </a:p>
          <a:p>
            <a:pPr marL="720000" lvl="0" indent="-360000" eaLnBrk="0" hangingPunct="0">
              <a:lnSpc>
                <a:spcPct val="85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Prevent health incidents and adverse long-term exposures associated with the activities of the organization</a:t>
            </a:r>
          </a:p>
          <a:p>
            <a:pPr marL="720000" lvl="0" indent="-360000" eaLnBrk="0" hangingPunct="0">
              <a:lnSpc>
                <a:spcPct val="85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Minimize the seriousness of injuries and illness by having access to quality medical care</a:t>
            </a:r>
          </a:p>
          <a:p>
            <a:pPr marL="720000" lvl="0" indent="-360000" eaLnBrk="0" hangingPunct="0">
              <a:lnSpc>
                <a:spcPct val="85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Integrate </a:t>
            </a:r>
            <a:r>
              <a:rPr lang="en-US" altLang="en-US" sz="16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control measures</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into </a:t>
            </a:r>
            <a:r>
              <a:rPr lang="en-US" altLang="en-US" sz="16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facility engineering &amp; </a:t>
            </a:r>
            <a:r>
              <a:rPr lang="en-US" altLang="en-US" sz="16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design</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85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Health Plan includes:</a:t>
            </a: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Periodic reassessment of acceptable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exposures</a:t>
            </a: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Collect more data where risk exposure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levels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uncertain</a:t>
            </a:r>
          </a:p>
          <a:p>
            <a:pPr marL="720000" indent="-360000" eaLnBrk="0" hangingPunct="0">
              <a:lnSpc>
                <a:spcPct val="90000"/>
              </a:lnSpc>
              <a:spcBef>
                <a:spcPts val="0"/>
              </a:spcBef>
              <a:buClrTx/>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Develop and implement control measures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b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reduce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 levels to acceptable levels. </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engineers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and designers),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could be our role in supporting a Health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within our facilities and operations?</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Health Exposure </a:t>
            </a:r>
            <a:r>
              <a:rPr lang="en-US" altLang="en-US" sz="2400" b="0" dirty="0" smtClean="0">
                <a:solidFill>
                  <a:schemeClr val="accent2"/>
                </a:solidFill>
                <a:latin typeface="Arial" panose="020B0604020202020204" pitchFamily="34" charset="0"/>
                <a:ea typeface="+mj-ea"/>
                <a:cs typeface="Arial" panose="020B0604020202020204" pitchFamily="34" charset="0"/>
              </a:rPr>
              <a:t>Methods: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5189300" y="3352800"/>
            <a:ext cx="3624100" cy="2584941"/>
          </a:xfrm>
          <a:prstGeom prst="rect">
            <a:avLst/>
          </a:prstGeom>
          <a:ln>
            <a:solidFill>
              <a:schemeClr val="tx1"/>
            </a:solidFill>
          </a:ln>
        </p:spPr>
      </p:pic>
    </p:spTree>
    <p:extLst>
      <p:ext uri="{BB962C8B-B14F-4D97-AF65-F5344CB8AC3E}">
        <p14:creationId xmlns:p14="http://schemas.microsoft.com/office/powerpoint/2010/main" val="3453442065"/>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Supporting a Health Plan</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00"/>
          </a:solidFill>
          <a:ln>
            <a:solidFill>
              <a:schemeClr val="tx1"/>
            </a:solidFill>
          </a:ln>
        </p:spPr>
        <p:txBody>
          <a:bodyPr wrap="square">
            <a:noAutofit/>
          </a:bodyPr>
          <a:lstStyle/>
          <a:p>
            <a:pPr lvl="0" eaLnBrk="0" hangingPunct="0">
              <a:spcBef>
                <a:spcPts val="0"/>
              </a:spcBef>
              <a:buSzPct val="100000"/>
            </a:pP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Engineers can support a </a:t>
            </a: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Health </a:t>
            </a:r>
            <a:r>
              <a:rPr lang="en-US" altLang="en-US" sz="2000" b="0" i="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Plan :</a:t>
            </a: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inherently safer design principles into our engineering work</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Conduct an industrial hygiene survey when the facility is operational</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health considerations into the MOC process</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Establish an electronic system to maintain safety data sheets on site</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spcBef>
                <a:spcPts val="0"/>
              </a:spcBef>
              <a:buSzPct val="100000"/>
              <a:buFont typeface="Wingdings" panose="05000000000000000000" pitchFamily="2" charset="2"/>
              <a:buChar char="Ø"/>
            </a:pPr>
            <a:r>
              <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Incorporate health considerations into the scope of risk assessments</a:t>
            </a:r>
          </a:p>
          <a:p>
            <a:pPr marL="432000" lvl="0" indent="-432000" eaLnBrk="0" hangingPunct="0">
              <a:spcBef>
                <a:spcPts val="0"/>
              </a:spcBef>
              <a:buSzPct val="100000"/>
              <a:buFont typeface="Wingdings" panose="05000000000000000000" pitchFamily="2" charset="2"/>
              <a:buChar char="Ø"/>
            </a:pPr>
            <a:endParaRPr lang="en-US" altLang="en-US" sz="2000"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777474874"/>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Tx/>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may sometimes be required to work in areas where noise levels and duration cause exposures which exceed occupational exposure limits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85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dBA</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is often considered the level where workers may be noise exposed</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controls to reduce high noise levels include silencers, barriers, enclosures, acoustical cladding, isolation</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dBA</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 of sound pressure level according to the A weighting scale of a sound level meter (the A scale is designed to respond to noise in a similar manner to the human ear)</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Noise Level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Survey: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using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sound level meter to measure noise levels in different areas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Noise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Dosimetry: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personal monitoring of worker’s actual noise exposure accumulated throughout their shift</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Noise </a:t>
            </a:r>
            <a:r>
              <a:rPr lang="en-US" altLang="en-US" sz="2400" b="0" dirty="0" smtClean="0">
                <a:solidFill>
                  <a:schemeClr val="accent2"/>
                </a:solidFill>
                <a:latin typeface="Arial" panose="020B0604020202020204" pitchFamily="34" charset="0"/>
                <a:ea typeface="+mj-ea"/>
                <a:cs typeface="Arial" panose="020B0604020202020204" pitchFamily="34" charset="0"/>
              </a:rPr>
              <a:t>Exposure: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063243964"/>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Environmental and Work-Specific:</a:t>
            </a:r>
          </a:p>
          <a:p>
            <a:pPr marL="0" indent="0" eaLnBrk="0" hangingPunct="0">
              <a:lnSpc>
                <a:spcPct val="100000"/>
              </a:lnSpc>
              <a:spcBef>
                <a:spcPts val="0"/>
              </a:spcBef>
              <a:buClrTx/>
              <a:buSzPct val="100000"/>
              <a:buNone/>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Environmental – ambient, inclement weather:</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Southern Alberta may exceed 40</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 in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summer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Anywhere in Alberta may drop below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40˚C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winter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pecific work spaces e.g. boiler rooms, fired equipment, mines, freezers, cryogenic equipment, refrigeration equipment, confined spaces, co-gen plants: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Thermal extremes and excesses effect the comfort &amp; safety of workers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body functions best within a narrow body temp range (36C – 38C) </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Humans work comfortably within a narrow range (10C – 25C) </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Hyperpyrexia:</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occurs when a combination of factors result in body temperature above 38˚C.  Symptoms vary from fatigue to even a coma</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Hypopyrexia</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occurs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a combination of factors result in body temperature below 38˚C.  Symptoms vary from fatigue, weakness and shivering to unconsciousness and death.</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Working in Extreme </a:t>
            </a:r>
            <a:r>
              <a:rPr lang="en-US" altLang="en-US" sz="2400" b="0" dirty="0" smtClean="0">
                <a:solidFill>
                  <a:schemeClr val="accent2"/>
                </a:solidFill>
                <a:latin typeface="Arial" panose="020B0604020202020204" pitchFamily="34" charset="0"/>
                <a:ea typeface="+mj-ea"/>
                <a:cs typeface="Arial" panose="020B0604020202020204" pitchFamily="34" charset="0"/>
              </a:rPr>
              <a:t>Temperatures: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57242559"/>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Natural Environment and Workplace-Specific:</a:t>
            </a:r>
          </a:p>
          <a:p>
            <a:pPr marL="0" indent="0" eaLnBrk="0" hangingPunct="0">
              <a:lnSpc>
                <a:spcPct val="100000"/>
              </a:lnSpc>
              <a:spcBef>
                <a:spcPts val="0"/>
              </a:spcBef>
              <a:buClrTx/>
              <a:buSzPct val="100000"/>
              <a:buNone/>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Environmental –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natural sources: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Insect-borne and animal-borne diseases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Decomposition in nature, a natural process </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Typically affects workers who work outdoors in a natural environment</a:t>
            </a:r>
          </a:p>
          <a:p>
            <a:pPr marL="720000" indent="-360000" eaLnBrk="0" hangingPunct="0">
              <a:lnSpc>
                <a:spcPct val="10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pecific work places – can be natural and anthropogenic:</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Food processing and refrigeration – </a:t>
            </a:r>
            <a:r>
              <a:rPr lang="en-US" altLang="en-US" sz="18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mould</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mildew</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Disaster Rehabilitation – black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mould</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Medical environments</a:t>
            </a:r>
          </a:p>
          <a:p>
            <a:pPr marL="720000" indent="-360000" eaLnBrk="0" hangingPunct="0">
              <a:lnSpc>
                <a:spcPct val="10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Sanitary waste treatment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Biological – Natural and Anthropogenic:</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5260877"/>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Workplace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health surveillance programs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be implemented in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accordance with regulatory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requirements, or voluntarily to gain information and inform management on on-going managed risks or emerging risks</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Examples: hearing conservation, respiratory protection, medical surveillance guidelines for benzene chemical exposure</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Objectives of health surveillance include:</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Identify physiological indicators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attributable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potential exposures</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Detect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early adverse health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 health information and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counselling</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 an ongoing database for epidemiological assessment of worker health trends</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Provide guidance to management for further investigation or action based upon the identification of trends suggesting a potential adverse health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 of a potentially harmful substance</a:t>
            </a:r>
          </a:p>
          <a:p>
            <a:pPr marL="36000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can play a significant role here by supporting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WHSP’s: provide resources, provide access, be transparent about the activities and findings, take action to address issues.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Workplace Health Surveillance Programs: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695031535"/>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smtClean="0">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terms health &amp; safety are related but there are important distinctions between them</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Leadership understanding of health related risks associated with our activities is required for us to prevent and/or control these exposures</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Like other workplaces hazards, we have an order of preference for addressing potential worker health exposures</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We can use a Health Hazards Review and a Health Risk Assessment to define a health exposure assessment strategy</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As engineers, we have a leadership role in supporting the development of a Health Plan</a:t>
            </a:r>
          </a:p>
          <a:p>
            <a:pPr marL="360000" lvl="0" indent="-360000" eaLnBrk="0" hangingPunct="0">
              <a:lnSpc>
                <a:spcPct val="10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Organizations employ Workplace Health Surveillance Programs as part of their ongoing worker monitoring efforts; and require leadership support.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Summary:</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6.6 An Introduction to Occupational Health</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96600651"/>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71167</TotalTime>
  <Words>4594</Words>
  <Application>Microsoft Office PowerPoint</Application>
  <PresentationFormat>On-screen Show (4:3)</PresentationFormat>
  <Paragraphs>739</Paragraphs>
  <Slides>48</Slides>
  <Notes>48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48</vt:i4>
      </vt:variant>
    </vt:vector>
  </HeadingPairs>
  <TitlesOfParts>
    <vt:vector size="56" baseType="lpstr">
      <vt:lpstr>ＭＳ Ｐゴシック</vt:lpstr>
      <vt:lpstr>Arial</vt:lpstr>
      <vt:lpstr>Calibri</vt:lpstr>
      <vt:lpstr>Noto Sans Symbols</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1989</cp:revision>
  <cp:lastPrinted>2018-12-17T22:21:47Z</cp:lastPrinted>
  <dcterms:created xsi:type="dcterms:W3CDTF">2007-03-28T16:18:47Z</dcterms:created>
  <dcterms:modified xsi:type="dcterms:W3CDTF">2021-10-21T14:36:12Z</dcterms:modified>
</cp:coreProperties>
</file>