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895" r:id="rId2"/>
    <p:sldId id="880" r:id="rId3"/>
    <p:sldId id="923" r:id="rId4"/>
    <p:sldId id="907" r:id="rId5"/>
    <p:sldId id="924" r:id="rId6"/>
    <p:sldId id="908" r:id="rId7"/>
    <p:sldId id="926" r:id="rId8"/>
    <p:sldId id="928" r:id="rId9"/>
    <p:sldId id="944" r:id="rId10"/>
    <p:sldId id="929" r:id="rId11"/>
    <p:sldId id="946" r:id="rId12"/>
    <p:sldId id="948" r:id="rId13"/>
    <p:sldId id="949" r:id="rId14"/>
    <p:sldId id="950" r:id="rId15"/>
    <p:sldId id="951" r:id="rId16"/>
    <p:sldId id="952" r:id="rId17"/>
    <p:sldId id="913" r:id="rId18"/>
    <p:sldId id="945" r:id="rId19"/>
    <p:sldId id="934" r:id="rId20"/>
    <p:sldId id="935" r:id="rId21"/>
    <p:sldId id="943" r:id="rId22"/>
    <p:sldId id="937" r:id="rId23"/>
    <p:sldId id="920" r:id="rId24"/>
    <p:sldId id="938" r:id="rId25"/>
    <p:sldId id="942" r:id="rId26"/>
    <p:sldId id="980" r:id="rId27"/>
    <p:sldId id="981" r:id="rId28"/>
    <p:sldId id="953" r:id="rId29"/>
    <p:sldId id="954" r:id="rId30"/>
    <p:sldId id="955" r:id="rId31"/>
    <p:sldId id="956" r:id="rId32"/>
    <p:sldId id="957" r:id="rId33"/>
    <p:sldId id="958" r:id="rId34"/>
    <p:sldId id="979" r:id="rId35"/>
    <p:sldId id="960" r:id="rId36"/>
    <p:sldId id="983" r:id="rId37"/>
    <p:sldId id="984" r:id="rId38"/>
    <p:sldId id="985" r:id="rId39"/>
    <p:sldId id="986" r:id="rId40"/>
    <p:sldId id="987" r:id="rId41"/>
    <p:sldId id="988" r:id="rId42"/>
    <p:sldId id="967" r:id="rId43"/>
    <p:sldId id="969" r:id="rId44"/>
    <p:sldId id="970" r:id="rId45"/>
    <p:sldId id="971" r:id="rId46"/>
    <p:sldId id="972" r:id="rId47"/>
    <p:sldId id="973" r:id="rId48"/>
    <p:sldId id="974" r:id="rId49"/>
    <p:sldId id="976" r:id="rId50"/>
    <p:sldId id="977" r:id="rId51"/>
    <p:sldId id="978" r:id="rId52"/>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3"/>
            <p14:sldId id="907"/>
            <p14:sldId id="924"/>
            <p14:sldId id="908"/>
            <p14:sldId id="926"/>
            <p14:sldId id="928"/>
            <p14:sldId id="944"/>
            <p14:sldId id="929"/>
            <p14:sldId id="946"/>
            <p14:sldId id="948"/>
            <p14:sldId id="949"/>
            <p14:sldId id="950"/>
            <p14:sldId id="951"/>
            <p14:sldId id="952"/>
            <p14:sldId id="913"/>
            <p14:sldId id="945"/>
            <p14:sldId id="934"/>
            <p14:sldId id="935"/>
            <p14:sldId id="943"/>
            <p14:sldId id="937"/>
            <p14:sldId id="920"/>
            <p14:sldId id="938"/>
            <p14:sldId id="942"/>
            <p14:sldId id="980"/>
            <p14:sldId id="981"/>
            <p14:sldId id="953"/>
            <p14:sldId id="954"/>
            <p14:sldId id="955"/>
            <p14:sldId id="956"/>
            <p14:sldId id="957"/>
            <p14:sldId id="958"/>
            <p14:sldId id="979"/>
            <p14:sldId id="960"/>
            <p14:sldId id="983"/>
            <p14:sldId id="984"/>
            <p14:sldId id="985"/>
            <p14:sldId id="986"/>
            <p14:sldId id="987"/>
            <p14:sldId id="988"/>
            <p14:sldId id="967"/>
            <p14:sldId id="969"/>
            <p14:sldId id="970"/>
            <p14:sldId id="971"/>
            <p14:sldId id="972"/>
            <p14:sldId id="973"/>
            <p14:sldId id="974"/>
            <p14:sldId id="976"/>
            <p14:sldId id="977"/>
            <p14:sldId id="978"/>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70" d="100"/>
          <a:sy n="70" d="100"/>
        </p:scale>
        <p:origin x="1220"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0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10/21/2021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10/21/2021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126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62" name="Google Shape;162;p5: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63" name="Google Shape;163;p5: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
        <p:nvSpPr>
          <p:cNvPr id="164" name="Google Shape;164;p5: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65" name="Google Shape;165;p5: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
        <p:nvSpPr>
          <p:cNvPr id="166" name="Google Shape;166;p5: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4</a:t>
            </a:fld>
            <a:endParaRPr sz="1200" b="0" i="0" u="none" strike="noStrike" cap="none">
              <a:solidFill>
                <a:schemeClr val="dk1"/>
              </a:solidFill>
              <a:latin typeface="Times New Roman"/>
              <a:ea typeface="Times New Roman"/>
              <a:cs typeface="Times New Roman"/>
              <a:sym typeface="Times New Roman"/>
            </a:endParaRPr>
          </a:p>
        </p:txBody>
      </p:sp>
      <p:sp>
        <p:nvSpPr>
          <p:cNvPr id="167" name="Google Shape;167;p5: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5: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suggest that they listen for the details of the technology, especially for the engineers who do not study petroleum engineering. Briefly explain: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distance between the rig and the sea-floor.</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depth beyond the sea-floor that the drill goes.</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and basic design of drilling fluid (mud).</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basic theory of a “kick”. </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need to ensure that the drill bit speed does not exceed specified conditions (cracks the formation).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cementing and location of plugs after drilling is complete and the well is being sealed in for future production.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a BOP.  </a:t>
            </a:r>
            <a:endParaRPr>
              <a:latin typeface="Arial"/>
              <a:ea typeface="Arial"/>
              <a:cs typeface="Arial"/>
              <a:sym typeface="Arial"/>
            </a:endParaRPr>
          </a:p>
        </p:txBody>
      </p:sp>
    </p:spTree>
    <p:extLst>
      <p:ext uri="{BB962C8B-B14F-4D97-AF65-F5344CB8AC3E}">
        <p14:creationId xmlns:p14="http://schemas.microsoft.com/office/powerpoint/2010/main" val="516875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018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79" name="Google Shape;179;p6: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80" name="Google Shape;180;p6: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
        <p:nvSpPr>
          <p:cNvPr id="181" name="Google Shape;181;p6: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82" name="Google Shape;182;p6: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
        <p:nvSpPr>
          <p:cNvPr id="183" name="Google Shape;183;p6: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6</a:t>
            </a:fld>
            <a:endParaRPr sz="1200" b="0" i="0" u="none" strike="noStrike" cap="none">
              <a:solidFill>
                <a:schemeClr val="dk1"/>
              </a:solidFill>
              <a:latin typeface="Times New Roman"/>
              <a:ea typeface="Times New Roman"/>
              <a:cs typeface="Times New Roman"/>
              <a:sym typeface="Times New Roman"/>
            </a:endParaRPr>
          </a:p>
        </p:txBody>
      </p:sp>
      <p:sp>
        <p:nvSpPr>
          <p:cNvPr id="184" name="Google Shape;184;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provide a very brief overview of the corporations involved and the Impacts on PEAP. </a:t>
            </a:r>
            <a:endParaRPr>
              <a:latin typeface="Arial"/>
              <a:ea typeface="Arial"/>
              <a:cs typeface="Arial"/>
              <a:sym typeface="Arial"/>
            </a:endParaRPr>
          </a:p>
        </p:txBody>
      </p:sp>
    </p:spTree>
    <p:extLst>
      <p:ext uri="{BB962C8B-B14F-4D97-AF65-F5344CB8AC3E}">
        <p14:creationId xmlns:p14="http://schemas.microsoft.com/office/powerpoint/2010/main" val="1031342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251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3027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3214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6964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7221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2020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849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9399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183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060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17</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17</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17</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1994306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18</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18</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18</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3253736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2355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5747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2589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1104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47" name="Google Shape;347;p18: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48" name="Google Shape;348;p18: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23</a:t>
            </a:fld>
            <a:endParaRPr sz="1200">
              <a:solidFill>
                <a:schemeClr val="dk1"/>
              </a:solidFill>
              <a:latin typeface="Arial"/>
              <a:ea typeface="Arial"/>
              <a:cs typeface="Arial"/>
              <a:sym typeface="Arial"/>
            </a:endParaRPr>
          </a:p>
        </p:txBody>
      </p:sp>
      <p:sp>
        <p:nvSpPr>
          <p:cNvPr id="349" name="Google Shape;349;p18: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50" name="Google Shape;350;p18: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23</a:t>
            </a:fld>
            <a:endParaRPr sz="1200">
              <a:solidFill>
                <a:schemeClr val="dk1"/>
              </a:solidFill>
              <a:latin typeface="Arial"/>
              <a:ea typeface="Arial"/>
              <a:cs typeface="Arial"/>
              <a:sym typeface="Arial"/>
            </a:endParaRPr>
          </a:p>
        </p:txBody>
      </p:sp>
      <p:sp>
        <p:nvSpPr>
          <p:cNvPr id="351" name="Google Shape;351;p18: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23</a:t>
            </a:fld>
            <a:endParaRPr sz="1200">
              <a:solidFill>
                <a:schemeClr val="dk1"/>
              </a:solidFill>
              <a:latin typeface="Times New Roman"/>
              <a:ea typeface="Times New Roman"/>
              <a:cs typeface="Times New Roman"/>
              <a:sym typeface="Times New Roman"/>
            </a:endParaRPr>
          </a:p>
        </p:txBody>
      </p:sp>
      <p:sp>
        <p:nvSpPr>
          <p:cNvPr id="352" name="Google Shape;352;p18: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18: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3034331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675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6594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3943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953417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3926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53913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8941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62" name="Google Shape;162;p5: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63" name="Google Shape;163;p5: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31</a:t>
            </a:fld>
            <a:endParaRPr sz="1200" b="0" i="0" u="none" strike="noStrike" cap="none">
              <a:solidFill>
                <a:schemeClr val="dk1"/>
              </a:solidFill>
              <a:latin typeface="Arial"/>
              <a:ea typeface="Arial"/>
              <a:cs typeface="Arial"/>
              <a:sym typeface="Arial"/>
            </a:endParaRPr>
          </a:p>
        </p:txBody>
      </p:sp>
      <p:sp>
        <p:nvSpPr>
          <p:cNvPr id="164" name="Google Shape;164;p5: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65" name="Google Shape;165;p5: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31</a:t>
            </a:fld>
            <a:endParaRPr sz="1200" b="0" i="0" u="none" strike="noStrike" cap="none">
              <a:solidFill>
                <a:schemeClr val="dk1"/>
              </a:solidFill>
              <a:latin typeface="Arial"/>
              <a:ea typeface="Arial"/>
              <a:cs typeface="Arial"/>
              <a:sym typeface="Arial"/>
            </a:endParaRPr>
          </a:p>
        </p:txBody>
      </p:sp>
      <p:sp>
        <p:nvSpPr>
          <p:cNvPr id="166" name="Google Shape;166;p5: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31</a:t>
            </a:fld>
            <a:endParaRPr sz="1200" b="0" i="0" u="none" strike="noStrike" cap="none">
              <a:solidFill>
                <a:schemeClr val="dk1"/>
              </a:solidFill>
              <a:latin typeface="Times New Roman"/>
              <a:ea typeface="Times New Roman"/>
              <a:cs typeface="Times New Roman"/>
              <a:sym typeface="Times New Roman"/>
            </a:endParaRPr>
          </a:p>
        </p:txBody>
      </p:sp>
      <p:sp>
        <p:nvSpPr>
          <p:cNvPr id="167" name="Google Shape;167;p5: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5: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suggest that they listen for the details of the technology, especially for the engineers who do not study petroleum engineering. Briefly explain: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distance between the rig and the sea-floor.</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depth beyond the sea-floor that the drill goes.</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and basic design of drilling fluid (mud).</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basic theory of a “kick”. </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need to ensure that the drill bit speed does not exceed specified conditions (cracks the formation).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cementing and location of plugs after drilling is complete and the well is being sealed in for future production.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a BOP.  </a:t>
            </a:r>
            <a:endParaRPr>
              <a:latin typeface="Arial"/>
              <a:ea typeface="Arial"/>
              <a:cs typeface="Arial"/>
              <a:sym typeface="Arial"/>
            </a:endParaRPr>
          </a:p>
        </p:txBody>
      </p:sp>
    </p:spTree>
    <p:extLst>
      <p:ext uri="{BB962C8B-B14F-4D97-AF65-F5344CB8AC3E}">
        <p14:creationId xmlns:p14="http://schemas.microsoft.com/office/powerpoint/2010/main" val="20878673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79" name="Google Shape;179;p6: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80" name="Google Shape;180;p6: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32</a:t>
            </a:fld>
            <a:endParaRPr sz="1200" b="0" i="0" u="none" strike="noStrike" cap="none">
              <a:solidFill>
                <a:schemeClr val="dk1"/>
              </a:solidFill>
              <a:latin typeface="Arial"/>
              <a:ea typeface="Arial"/>
              <a:cs typeface="Arial"/>
              <a:sym typeface="Arial"/>
            </a:endParaRPr>
          </a:p>
        </p:txBody>
      </p:sp>
      <p:sp>
        <p:nvSpPr>
          <p:cNvPr id="181" name="Google Shape;181;p6: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82" name="Google Shape;182;p6: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32</a:t>
            </a:fld>
            <a:endParaRPr sz="1200" b="0" i="0" u="none" strike="noStrike" cap="none">
              <a:solidFill>
                <a:schemeClr val="dk1"/>
              </a:solidFill>
              <a:latin typeface="Arial"/>
              <a:ea typeface="Arial"/>
              <a:cs typeface="Arial"/>
              <a:sym typeface="Arial"/>
            </a:endParaRPr>
          </a:p>
        </p:txBody>
      </p:sp>
      <p:sp>
        <p:nvSpPr>
          <p:cNvPr id="183" name="Google Shape;183;p6: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32</a:t>
            </a:fld>
            <a:endParaRPr sz="1200" b="0" i="0" u="none" strike="noStrike" cap="none">
              <a:solidFill>
                <a:schemeClr val="dk1"/>
              </a:solidFill>
              <a:latin typeface="Times New Roman"/>
              <a:ea typeface="Times New Roman"/>
              <a:cs typeface="Times New Roman"/>
              <a:sym typeface="Times New Roman"/>
            </a:endParaRPr>
          </a:p>
        </p:txBody>
      </p:sp>
      <p:sp>
        <p:nvSpPr>
          <p:cNvPr id="184" name="Google Shape;184;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provide a very brief overview of the corporations involved and the Impacts on PEAP. </a:t>
            </a:r>
            <a:endParaRPr>
              <a:latin typeface="Arial"/>
              <a:ea typeface="Arial"/>
              <a:cs typeface="Arial"/>
              <a:sym typeface="Arial"/>
            </a:endParaRPr>
          </a:p>
        </p:txBody>
      </p:sp>
    </p:spTree>
    <p:extLst>
      <p:ext uri="{BB962C8B-B14F-4D97-AF65-F5344CB8AC3E}">
        <p14:creationId xmlns:p14="http://schemas.microsoft.com/office/powerpoint/2010/main" val="15326442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329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4879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04489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22646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8696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756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398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05394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67532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0385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43</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43</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43</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4260337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44</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44</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44</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17032552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33137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767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67277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09891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47" name="Google Shape;347;p18: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48" name="Google Shape;348;p18: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49</a:t>
            </a:fld>
            <a:endParaRPr sz="1200">
              <a:solidFill>
                <a:schemeClr val="dk1"/>
              </a:solidFill>
              <a:latin typeface="Arial"/>
              <a:ea typeface="Arial"/>
              <a:cs typeface="Arial"/>
              <a:sym typeface="Arial"/>
            </a:endParaRPr>
          </a:p>
        </p:txBody>
      </p:sp>
      <p:sp>
        <p:nvSpPr>
          <p:cNvPr id="349" name="Google Shape;349;p18: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50" name="Google Shape;350;p18: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49</a:t>
            </a:fld>
            <a:endParaRPr sz="1200">
              <a:solidFill>
                <a:schemeClr val="dk1"/>
              </a:solidFill>
              <a:latin typeface="Arial"/>
              <a:ea typeface="Arial"/>
              <a:cs typeface="Arial"/>
              <a:sym typeface="Arial"/>
            </a:endParaRPr>
          </a:p>
        </p:txBody>
      </p:sp>
      <p:sp>
        <p:nvSpPr>
          <p:cNvPr id="351" name="Google Shape;351;p18: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49</a:t>
            </a:fld>
            <a:endParaRPr sz="1200">
              <a:solidFill>
                <a:schemeClr val="dk1"/>
              </a:solidFill>
              <a:latin typeface="Times New Roman"/>
              <a:ea typeface="Times New Roman"/>
              <a:cs typeface="Times New Roman"/>
              <a:sym typeface="Times New Roman"/>
            </a:endParaRPr>
          </a:p>
        </p:txBody>
      </p:sp>
      <p:sp>
        <p:nvSpPr>
          <p:cNvPr id="352" name="Google Shape;352;p18: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18: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13143173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4791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2560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10/21/2021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energycommerce.house.gov/documents/20100614/Hayward.BP.2010.6.14.pdf"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energycommerce.house.gov/documents/20100614/Hayward.BP.2010.6.14.pdf" TargetMode="External"/><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7: BP-</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Oilfield and </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Horizon Rig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(2010)</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management has the responsibility for sound risk management systems covering both occupational safety and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why 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smartly allocate finite resources to ensure high-hazard operations (i.e. with significant process safety hazards) are sustainably managed to acceptable risk exposure levels.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loss incident to identify the latent causes and associated management system improvement opportunities.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Sub-sea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 catastrophic event: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Low likelihood,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extremely high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corporations: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BP Energy</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Halliburton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pic>
        <p:nvPicPr>
          <p:cNvPr id="6" name="Google Shape;141;p3"/>
          <p:cNvPicPr preferRelativeResize="0">
            <a:picLocks noChangeAspect="1"/>
          </p:cNvPicPr>
          <p:nvPr/>
        </p:nvPicPr>
        <p:blipFill rotWithShape="1">
          <a:blip r:embed="rId3">
            <a:alphaModFix/>
          </a:blip>
          <a:srcRect t="26031"/>
          <a:stretch/>
        </p:blipFill>
        <p:spPr>
          <a:xfrm>
            <a:off x="5029197" y="3096000"/>
            <a:ext cx="3070154" cy="3060000"/>
          </a:xfrm>
          <a:prstGeom prst="rect">
            <a:avLst/>
          </a:prstGeom>
          <a:noFill/>
          <a:ln>
            <a:noFill/>
          </a:ln>
        </p:spPr>
      </p:pic>
      <p:pic>
        <p:nvPicPr>
          <p:cNvPr id="7" name="Google Shape;143;p3"/>
          <p:cNvPicPr preferRelativeResize="0">
            <a:picLocks noChangeAspect="1"/>
          </p:cNvPicPr>
          <p:nvPr/>
        </p:nvPicPr>
        <p:blipFill rotWithShape="1">
          <a:blip r:embed="rId4">
            <a:alphaModFix/>
          </a:blip>
          <a:srcRect/>
          <a:stretch/>
        </p:blipFill>
        <p:spPr>
          <a:xfrm>
            <a:off x="725489" y="3096000"/>
            <a:ext cx="3882833" cy="3060000"/>
          </a:xfrm>
          <a:prstGeom prst="rect">
            <a:avLst/>
          </a:prstGeom>
          <a:noFill/>
          <a:ln>
            <a:noFill/>
          </a:ln>
        </p:spPr>
      </p:pic>
    </p:spTree>
    <p:extLst>
      <p:ext uri="{BB962C8B-B14F-4D97-AF65-F5344CB8AC3E}">
        <p14:creationId xmlns:p14="http://schemas.microsoft.com/office/powerpoint/2010/main" val="366483011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0" name="Google Shape;187;p6"/>
          <p:cNvSpPr/>
          <p:nvPr/>
        </p:nvSpPr>
        <p:spPr>
          <a:xfrm>
            <a:off x="180000" y="828000"/>
            <a:ext cx="8640000" cy="5364000"/>
          </a:xfrm>
          <a:prstGeom prst="rect">
            <a:avLst/>
          </a:prstGeom>
          <a:noFill/>
          <a:ln w="9525" cap="flat" cmpd="sng">
            <a:solidFill>
              <a:schemeClr val="tx1"/>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rtl="0">
              <a:lnSpc>
                <a:spcPct val="80000"/>
              </a:lnSpc>
              <a:spcBef>
                <a:spcPts val="0"/>
              </a:spcBef>
              <a:spcAft>
                <a:spcPts val="0"/>
              </a:spcAft>
              <a:buClr>
                <a:srgbClr val="000000"/>
              </a:buClr>
              <a:buSzPts val="2000"/>
              <a:buFont typeface="Noto Sans Symbols"/>
              <a:buNone/>
            </a:pPr>
            <a:r>
              <a:rPr lang="en-US" sz="1600" b="0" i="0" u="none" strike="noStrike" cap="none" dirty="0" smtClean="0">
                <a:solidFill>
                  <a:srgbClr val="000000"/>
                </a:solidFill>
                <a:latin typeface="Arial"/>
                <a:ea typeface="Arial"/>
                <a:cs typeface="Arial"/>
                <a:sym typeface="Arial"/>
              </a:rPr>
              <a:t>Surface to sea-floor          BOP ~15 </a:t>
            </a:r>
            <a:r>
              <a:rPr lang="en-US" sz="1600" b="0" i="0" u="none" strike="noStrike" cap="none" dirty="0" err="1" smtClean="0">
                <a:solidFill>
                  <a:srgbClr val="000000"/>
                </a:solidFill>
                <a:latin typeface="Arial"/>
                <a:ea typeface="Arial"/>
                <a:cs typeface="Arial"/>
                <a:sym typeface="Arial"/>
              </a:rPr>
              <a:t>metres</a:t>
            </a:r>
            <a:r>
              <a:rPr lang="en-US" sz="1600" b="0" i="0" u="none" strike="noStrike" cap="none" dirty="0" smtClean="0">
                <a:solidFill>
                  <a:srgbClr val="000000"/>
                </a:solidFill>
                <a:latin typeface="Arial"/>
                <a:ea typeface="Arial"/>
                <a:cs typeface="Arial"/>
                <a:sym typeface="Arial"/>
              </a:rPr>
              <a:t>                           Drilling End ~ 3 </a:t>
            </a:r>
            <a:r>
              <a:rPr lang="en-US" sz="1600" b="0" i="0" u="none" strike="noStrike" cap="none" dirty="0" err="1" smtClean="0">
                <a:solidFill>
                  <a:srgbClr val="000000"/>
                </a:solidFill>
                <a:latin typeface="Arial"/>
                <a:ea typeface="Arial"/>
                <a:cs typeface="Arial"/>
                <a:sym typeface="Arial"/>
              </a:rPr>
              <a:t>metres</a:t>
            </a:r>
            <a:endParaRPr sz="1600" b="0" i="0" u="none" strike="noStrike" cap="none" dirty="0">
              <a:solidFill>
                <a:srgbClr val="000000"/>
              </a:solidFill>
              <a:latin typeface="Arial"/>
              <a:ea typeface="Arial"/>
              <a:cs typeface="Arial"/>
              <a:sym typeface="Arial"/>
            </a:endParaRPr>
          </a:p>
        </p:txBody>
      </p:sp>
      <p:pic>
        <p:nvPicPr>
          <p:cNvPr id="173" name="Google Shape;173;p5"/>
          <p:cNvPicPr preferRelativeResize="0"/>
          <p:nvPr/>
        </p:nvPicPr>
        <p:blipFill rotWithShape="1">
          <a:blip r:embed="rId3">
            <a:alphaModFix/>
          </a:blip>
          <a:srcRect/>
          <a:stretch/>
        </p:blipFill>
        <p:spPr>
          <a:xfrm>
            <a:off x="304800" y="1116000"/>
            <a:ext cx="1600200" cy="5040000"/>
          </a:xfrm>
          <a:prstGeom prst="rect">
            <a:avLst/>
          </a:prstGeom>
          <a:noFill/>
          <a:ln>
            <a:solidFill>
              <a:schemeClr val="tx1"/>
            </a:solidFill>
          </a:ln>
        </p:spPr>
      </p:pic>
      <p:pic>
        <p:nvPicPr>
          <p:cNvPr id="174" name="Google Shape;174;p5"/>
          <p:cNvPicPr preferRelativeResize="0"/>
          <p:nvPr/>
        </p:nvPicPr>
        <p:blipFill rotWithShape="1">
          <a:blip r:embed="rId4">
            <a:alphaModFix/>
          </a:blip>
          <a:srcRect/>
          <a:stretch/>
        </p:blipFill>
        <p:spPr>
          <a:xfrm>
            <a:off x="1983646" y="1116000"/>
            <a:ext cx="3121754" cy="5040000"/>
          </a:xfrm>
          <a:prstGeom prst="rect">
            <a:avLst/>
          </a:prstGeom>
          <a:noFill/>
          <a:ln>
            <a:solidFill>
              <a:schemeClr val="tx1"/>
            </a:solidFill>
          </a:ln>
        </p:spPr>
      </p:pic>
      <p:pic>
        <p:nvPicPr>
          <p:cNvPr id="175" name="Google Shape;175;p5"/>
          <p:cNvPicPr preferRelativeResize="0"/>
          <p:nvPr/>
        </p:nvPicPr>
        <p:blipFill rotWithShape="1">
          <a:blip r:embed="rId5">
            <a:alphaModFix/>
          </a:blip>
          <a:srcRect/>
          <a:stretch/>
        </p:blipFill>
        <p:spPr>
          <a:xfrm>
            <a:off x="5184046" y="1116000"/>
            <a:ext cx="3578954" cy="5040000"/>
          </a:xfrm>
          <a:prstGeom prst="rect">
            <a:avLst/>
          </a:prstGeom>
          <a:noFill/>
          <a:ln>
            <a:solidFill>
              <a:schemeClr val="tx1"/>
            </a:solidFill>
          </a:ln>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Basics Of Well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604733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Deepest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oil well in history - 35,000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ft</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(10,500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 Record!</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ush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weeks normal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21 days target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Rig operated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(7)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years without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Lost-Time Injury</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great </a:t>
            </a: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achievement!</a:t>
            </a:r>
          </a:p>
          <a:p>
            <a:pPr marL="565350" lvl="1" indent="-432000" eaLnBrk="0" hangingPunct="0">
              <a:lnSpc>
                <a:spcPct val="9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BOP had been damaged 4 weeks before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“Wasn’t important”; wasn’t fixed; operations continued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Unclear chain of command for changes made to activities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was in charge? BP or </a:t>
            </a:r>
            <a:r>
              <a:rPr lang="en-US" altLang="en-US" sz="20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8886276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p:nvPr/>
        </p:nvSpPr>
        <p:spPr>
          <a:xfrm>
            <a:off x="180000" y="828000"/>
            <a:ext cx="8640000" cy="5328000"/>
          </a:xfrm>
          <a:prstGeom prst="rect">
            <a:avLst/>
          </a:prstGeom>
          <a:solidFill>
            <a:schemeClr val="accent1">
              <a:alpha val="6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algn="l" rtl="0">
              <a:lnSpc>
                <a:spcPct val="8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89" name="Google Shape;189;p6"/>
          <p:cNvSpPr/>
          <p:nvPr/>
        </p:nvSpPr>
        <p:spPr>
          <a:xfrm>
            <a:off x="0" y="4659313"/>
            <a:ext cx="269875" cy="27463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b="0" i="0" u="none" strike="noStrike" cap="none">
                <a:solidFill>
                  <a:schemeClr val="dk1"/>
                </a:solidFill>
                <a:latin typeface="Times"/>
                <a:ea typeface="Times"/>
                <a:cs typeface="Times"/>
                <a:sym typeface="Times"/>
              </a:rPr>
              <a:t>  </a:t>
            </a:r>
            <a:endParaRPr sz="2400" b="0" i="0" u="none" strike="noStrike" cap="none">
              <a:solidFill>
                <a:schemeClr val="dk1"/>
              </a:solidFill>
              <a:latin typeface="Times New Roman"/>
              <a:ea typeface="Times New Roman"/>
              <a:cs typeface="Times New Roman"/>
              <a:sym typeface="Times New Roman"/>
            </a:endParaRPr>
          </a:p>
        </p:txBody>
      </p:sp>
      <p:pic>
        <p:nvPicPr>
          <p:cNvPr id="190" name="Google Shape;190;p6"/>
          <p:cNvPicPr preferRelativeResize="0"/>
          <p:nvPr/>
        </p:nvPicPr>
        <p:blipFill rotWithShape="1">
          <a:blip r:embed="rId3">
            <a:alphaModFix/>
          </a:blip>
          <a:srcRect/>
          <a:stretch/>
        </p:blipFill>
        <p:spPr>
          <a:xfrm>
            <a:off x="457200" y="873676"/>
            <a:ext cx="4495800" cy="2814638"/>
          </a:xfrm>
          <a:prstGeom prst="rect">
            <a:avLst/>
          </a:prstGeom>
          <a:noFill/>
          <a:ln>
            <a:solidFill>
              <a:schemeClr val="tx2"/>
            </a:solidFill>
          </a:ln>
        </p:spPr>
      </p:pic>
      <p:pic>
        <p:nvPicPr>
          <p:cNvPr id="191" name="Google Shape;191;p6"/>
          <p:cNvPicPr preferRelativeResize="0"/>
          <p:nvPr/>
        </p:nvPicPr>
        <p:blipFill rotWithShape="1">
          <a:blip r:embed="rId4">
            <a:alphaModFix/>
          </a:blip>
          <a:srcRect/>
          <a:stretch/>
        </p:blipFill>
        <p:spPr>
          <a:xfrm>
            <a:off x="4673601" y="3077638"/>
            <a:ext cx="3962400" cy="2971800"/>
          </a:xfrm>
          <a:prstGeom prst="rect">
            <a:avLst/>
          </a:prstGeom>
          <a:noFill/>
          <a:ln>
            <a:solidFill>
              <a:schemeClr val="tx2"/>
            </a:solidFill>
          </a:ln>
        </p:spPr>
      </p:pic>
      <p:sp>
        <p:nvSpPr>
          <p:cNvPr id="192" name="Google Shape;192;p6"/>
          <p:cNvSpPr txBox="1"/>
          <p:nvPr/>
        </p:nvSpPr>
        <p:spPr>
          <a:xfrm>
            <a:off x="4656398" y="1247014"/>
            <a:ext cx="3962400" cy="1492250"/>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The Loss Incident: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Date: 20-April-2010 to 15-July-2010</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Platform: Deepwater Horizon Drilling Rig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Location: The </a:t>
            </a:r>
            <a:r>
              <a:rPr lang="en-US" sz="1300" b="0" i="0" u="none" strike="noStrike" cap="none" dirty="0" err="1">
                <a:solidFill>
                  <a:srgbClr val="FFFFFF"/>
                </a:solidFill>
                <a:latin typeface="Arial"/>
                <a:ea typeface="Arial"/>
                <a:cs typeface="Arial"/>
                <a:sym typeface="Arial"/>
              </a:rPr>
              <a:t>Macondo</a:t>
            </a:r>
            <a:r>
              <a:rPr lang="en-US" sz="1300" b="0" i="0" u="none" strike="noStrike" cap="none" dirty="0">
                <a:solidFill>
                  <a:srgbClr val="FFFFFF"/>
                </a:solidFill>
                <a:latin typeface="Arial"/>
                <a:ea typeface="Arial"/>
                <a:cs typeface="Arial"/>
                <a:sym typeface="Arial"/>
              </a:rPr>
              <a:t> Prospect, Gulf of Mexico</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Corporations: BP plc, </a:t>
            </a:r>
            <a:r>
              <a:rPr lang="en-US" sz="1300" b="0" i="0" u="none" strike="noStrike" cap="none" dirty="0" err="1">
                <a:solidFill>
                  <a:srgbClr val="FFFFFF"/>
                </a:solidFill>
                <a:latin typeface="Arial"/>
                <a:ea typeface="Arial"/>
                <a:cs typeface="Arial"/>
                <a:sym typeface="Arial"/>
              </a:rPr>
              <a:t>TransOcean</a:t>
            </a:r>
            <a:r>
              <a:rPr lang="en-US" sz="1300" b="0" i="0" u="none" strike="noStrike" cap="none" dirty="0">
                <a:solidFill>
                  <a:srgbClr val="FFFFFF"/>
                </a:solidFill>
                <a:latin typeface="Arial"/>
                <a:ea typeface="Arial"/>
                <a:cs typeface="Arial"/>
                <a:sym typeface="Arial"/>
              </a:rPr>
              <a:t>, Halliburton</a:t>
            </a:r>
            <a:endParaRPr dirty="0"/>
          </a:p>
        </p:txBody>
      </p:sp>
      <p:sp>
        <p:nvSpPr>
          <p:cNvPr id="193" name="Google Shape;193;p6"/>
          <p:cNvSpPr txBox="1"/>
          <p:nvPr/>
        </p:nvSpPr>
        <p:spPr>
          <a:xfrm>
            <a:off x="449875" y="3657600"/>
            <a:ext cx="4223725" cy="2392362"/>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Impact on PEAP:</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11 killed, 16 seriously injured</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E: Inestimable impact</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A: </a:t>
            </a:r>
            <a:r>
              <a:rPr lang="en-US" sz="1300" b="1" i="0" u="none" strike="noStrike" cap="none" dirty="0">
                <a:solidFill>
                  <a:srgbClr val="FFFFFF"/>
                </a:solidFill>
                <a:latin typeface="Arial"/>
                <a:ea typeface="Arial"/>
                <a:cs typeface="Arial"/>
                <a:sym typeface="Arial"/>
              </a:rPr>
              <a:t>Tens of billions of dollars</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Broad interruptions for US Gulf of Mexico offshore drilling industry; and Significant regulator intervention with regulatory impact</a:t>
            </a:r>
            <a:endParaRPr dirty="0"/>
          </a:p>
          <a:p>
            <a:pPr marL="0" marR="0" lvl="0" indent="0" algn="l" rtl="0">
              <a:spcBef>
                <a:spcPts val="65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a:t>
            </a:r>
            <a:r>
              <a:rPr lang="en-US" sz="1300" b="1" i="0" u="sng" strike="noStrike" cap="none" dirty="0">
                <a:solidFill>
                  <a:srgbClr val="FFFFFF"/>
                </a:solidFill>
                <a:latin typeface="Arial"/>
                <a:ea typeface="Arial"/>
                <a:cs typeface="Arial"/>
                <a:sym typeface="Arial"/>
              </a:rPr>
              <a:t>Prolonged and extensive media coverage (reputational impact)</a:t>
            </a:r>
            <a:endParaRPr dirty="0"/>
          </a:p>
        </p:txBody>
      </p:sp>
      <p:sp>
        <p:nvSpPr>
          <p:cNvPr id="10"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 The Loss Incident &amp; Impacts on PEAP</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651442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Documentary Videos on the BP DWH Blowout, Gulf of Mexico,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 are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posted on </a:t>
            </a:r>
            <a:r>
              <a:rPr lang="en-US" altLang="en-US" sz="18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viewing prior to the lecture.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Video:</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00:00-01:20 Introduction and CSB Investigation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01:21-02:35 Technical explanation – drilling, mud, kicks</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02:36-03:38 BOP Operation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03:39-04:57 The Kick initiates the incident</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04:58-05:24 Buckled Pipe and Effective Compression</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1: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02:03-03:04 Background</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02:18-03:04 Technical explanation - rate of penetration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03:05-04:36 “Tension” – push to do things safely but fast (competing priorities)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2: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02:40-7:15 Professor Bob Bea – discussion points akin to “The Engineer’s Survival Guide”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Documentary Videos – Viewed via </a:t>
            </a:r>
            <a:r>
              <a:rPr lang="en-US" altLang="en-US" sz="2400" b="0" dirty="0" err="1">
                <a:solidFill>
                  <a:schemeClr val="accent2"/>
                </a:solidFill>
                <a:latin typeface="Arial" panose="020B0604020202020204" pitchFamily="34" charset="0"/>
                <a:ea typeface="+mj-ea"/>
                <a:cs typeface="Arial" panose="020B0604020202020204" pitchFamily="34" charset="0"/>
              </a:rPr>
              <a:t>eClass</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1517996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7354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the job done”: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rate faster than specified for formation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barrier (plug) not effectively installed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Premature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removal of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fluid / mud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 cement plugs were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(cured)</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Defective Blowout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Preventer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 – a “safety-critical device”: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Annular on the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BOP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Inoperative Control Pods on the BOP</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hydraulic line and weak battery on the BOP</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Incorrect interpretation of well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data:</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standards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inadequate compliance with standards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signals of a “kick” ignored (the lead-up prior to a blow-out)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integrity test did not give a clear “pass / fail</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 pressure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failed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confirm mud and plug integrity (pressure should have remained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static / less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mud returned to surface)</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Incident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9385852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60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effective safeguards were in place to eliminate or minimize the consequences of a process safety incident.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safeguards (the physical barriers such as drilling mud, steel casing, cement plugs, “kick” detection, cement barrier testing, and BOP) intended to prevent such a disaster were not properly constructed, tested, or maintained, or they had been removed.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management systems intended to ensure functionality, availability, and reliability of these safety-critical safeguards were inadequate.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 meant to prevent, mitigate, or control a blowout failed on the day of the accident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drilling column fluid (mud weight) barrier and the cement barrier both fail, and the well is still open (no plug installed), drilling crews depend on a blowout preventer (BOP) to control pore pressures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60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 Chemical Safety And Hazard Investigation Board;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Report, Volume 1; Explosion And Fire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Well; Report No. 2010-10-I-OS;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5-June-2014</a:t>
            </a:r>
          </a:p>
          <a:p>
            <a:pPr marL="0" indent="0" algn="r" eaLnBrk="0" hangingPunct="0">
              <a:lnSpc>
                <a:spcPct val="100000"/>
              </a:lnSpc>
              <a:spcBef>
                <a:spcPts val="0"/>
              </a:spcBef>
              <a:spcAft>
                <a:spcPts val="600"/>
              </a:spcAft>
              <a:buClr>
                <a:srgbClr val="000000"/>
              </a:buClr>
              <a:buSzPct val="100000"/>
              <a:buNone/>
            </a:pP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Layers of Protection</a:t>
            </a:r>
            <a:endPar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Incident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2" name="Left Arrow 1"/>
          <p:cNvSpPr/>
          <p:nvPr/>
        </p:nvSpPr>
        <p:spPr>
          <a:xfrm rot="1087676">
            <a:off x="5845115" y="5013118"/>
            <a:ext cx="2675623" cy="745128"/>
          </a:xfrm>
          <a:prstGeom prst="lef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Three </a:t>
            </a:r>
            <a:r>
              <a:rPr lang="en-US" sz="2000" dirty="0" err="1" smtClean="0">
                <a:solidFill>
                  <a:schemeClr val="bg1"/>
                </a:solidFill>
                <a:latin typeface="Arial" panose="020B0604020202020204" pitchFamily="34" charset="0"/>
                <a:cs typeface="Arial" panose="020B0604020202020204" pitchFamily="34" charset="0"/>
              </a:rPr>
              <a:t>LoP</a:t>
            </a:r>
            <a:r>
              <a:rPr lang="en-US" sz="2000" dirty="0" smtClean="0">
                <a:solidFill>
                  <a:schemeClr val="bg1"/>
                </a:solidFill>
                <a:latin typeface="Arial" panose="020B0604020202020204" pitchFamily="34" charset="0"/>
                <a:cs typeface="Arial" panose="020B0604020202020204" pitchFamily="34" charset="0"/>
              </a:rPr>
              <a:t>* </a:t>
            </a:r>
            <a:r>
              <a:rPr lang="en-US" sz="2000" dirty="0" smtClean="0">
                <a:solidFill>
                  <a:schemeClr val="bg1"/>
                </a:solidFill>
                <a:latin typeface="Arial" panose="020B0604020202020204" pitchFamily="34" charset="0"/>
                <a:cs typeface="Arial" panose="020B0604020202020204" pitchFamily="34" charset="0"/>
              </a:rPr>
              <a:t>failed!</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1544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in the RCA:</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preceding pages provide sufficient content for any ENGG404 team of students to generate an RCA chart and drill down to latent causes.</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what would we find? Given the magnitude of this event, would we expect to find latent causes categorized as “P” or “S” or “C”?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report: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were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inadequately implemented</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while BP and Transocean had </a:t>
            </a:r>
            <a:r>
              <a:rPr lang="en-US" altLang="en-US" sz="1800" b="0" i="1"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rigourous</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corporate polices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risk management,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neither</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company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ensured their implementation</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t>
            </a:r>
            <a:r>
              <a:rPr lang="en-US" altLang="en-US" sz="18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 hazards of drilling associated with process safety (containment of hydrocarbons under pressure)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compared to occupational safety.”</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Sounds like a “C” … but let’s read 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Immediate and Basic Causes … Latent Causes? 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34173639"/>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Letter to Tony Hayward, CEO, BP from U.S. House Committee on Energy and Commerce officials: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appears to have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increased the danger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 catastrophic well failure.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several instances, 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appear to violate industry guidelines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were made despite warnings from BP’s own personnel and its contractors.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effect, it appears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repeatedly chose risky procedures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order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reduce costs and save time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minimal efforts to contain the added risks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Waxman, Henry, Committee Chair</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and Bart Stupak, Chair of Subcommittee on Oversight and Investigation</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2010. Letter to Tony Hayward, Chief Executive Officer, BP PLC.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http://energycommerce.house.gov/documents/20100614/Hayward.BP.2010.6.14.pdf</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accessed 10-June-2010</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47</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Culture and Organizational Factors</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1372506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to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“My initial assessment of the MC252 (BP-</a:t>
            </a:r>
            <a:r>
              <a:rPr lang="en-US" altLang="en-US" sz="18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 is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by BP management to manage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series of technical and operational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to conduct a proper hazard analysis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the first change was a secondary change.</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MC252 loss incident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an operator nor mechanic (i.e. technical) root cause but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corporate management root cause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J. Frank.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6438771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4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4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has been much discussion of the immediate technical causes of the 2010 BP oil leaks, but the underlying or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was a change in the culture of the company as a whole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particularly in the U.S. Back in the 1960s and 1970s, BP had a good safety record and safety culture. Why has it changed?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Every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chemical and oil industries (and no doubt many others)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knows</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many operators, maintenance workers, foremen, and shift managers …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start taking short cuts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stop following instructions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Their attitude is a macho one, there their job is to make product, not fill in forms such as a permit –to-work. Professional staff, at all levels, should check details frequently or the procedures will corrode faster than the steelwork and soon vanish without trace. It is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enough for the professional staff (leadership) to take a helicopter view</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many, perhaps most, offshore rigs and platforms, the senior person in charge is usually someone who has risen form the ranks and would have been a foreman or shift manager if he had stayed onshore. While professional staff visit from time to time,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day-to-day checking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(by someone at a higher level). When there is a problem, the attitude of the senior person on the rig or platform is often a macho one: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the rules. Let’s get stuck in a finish the job</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parlance is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Git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er</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easy to point the finger at the management and assume that a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motivated by money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worth remembering that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same culture can also originate at the bottom</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driven by the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 to get the job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task of management is to know this and make sure it is done properly.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Trevor.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803106"/>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Journal of Drilling Engineering:</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majority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factors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associated with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are provided to the drilling and workover personnel.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most often are those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and safety</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unique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drilling and workover operations in this industry or even to the oil and gas industry.”</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Bea, R.G. 1998. “Real-time Prevention of Drilling and Workover Blowouts: Management Rapidly Developing Crises.” Journal of Drilling Engineering, May:1-10.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0056792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Cultural Issues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Competing objectives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(conflicting incentives) of costs, schedule, and production over safety!</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made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 that increased the danger of a catastrophic well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repeatedly chose risky procedures in order 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costs and save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Normalization of Deviance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(Atrophy of Compliance):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will start taking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short cuts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stop following instructions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easy to point the finger at the management and assume that a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motivated by money. It is worth remembering that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culture can also originate at the bottom, driven by the desire to get the job done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task of management is to know this and make sure it is done properly</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2010.</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62749680"/>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Cultural Issues about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happened after drilling &amp; cement job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and nearing well-completion! Rush to complete, our guard drops – we become complacent.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a similar rig incident which demonstrated the need for well monitoring (lower consequences) in the UK just four months prior, but no transfer of lessons to Gulf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Mexico.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hazards of drilling associated with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(containment of hydrocarbons under pressure)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compared to occupational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experienced a significant process safety-related loss at their Texas City refinery in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2005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shift of the risk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paradigm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more on process safety was lacking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BP drilling organization in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2010</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 It takes time to change culture!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0560407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But there was minimal focus on process safety. </a:t>
            </a:r>
            <a:endParaRPr sz="2000" b="0" dirty="0">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Disregard for critical safety engineered systems for controlling down-hole pressures, detection of leakage, and blow-out prevention.</a:t>
            </a:r>
            <a:endParaRPr sz="2000" b="0" dirty="0">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1448142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But there was minimal focus on process safety. </a:t>
            </a:r>
            <a:endParaRPr sz="2000" b="0" dirty="0">
              <a:solidFill>
                <a:srgbClr val="FFFFFF"/>
              </a:solidFill>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solidFill>
                <a:srgbClr val="FFFFFF"/>
              </a:solidFill>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Disregard for critical safety engineered systems for controlling down-hole pressures, detection of leakage, and blow-out prevention.</a:t>
            </a:r>
            <a:endParaRPr sz="2000" b="0"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6092155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safeguards were in place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eliminate the likelihood of or minimize the consequences of a blow-out, a process safety incident.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mud, steel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casing,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plugs, “kick” detection, cement barrier testing, and BOP) intended to prevent such a disaster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properly constructed, tested, or maintained, or they had been removed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inadequate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the safeguards meant to prevent, mitigate, or control a blowout failed on the day of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5020783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BP, Transocean, and all other contractor / service companies recognized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Years without an LTI</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remarkable achievement, yet there was a catastrophic incident with tragic losses.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focus (measurement, recognition, reward) was on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much less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gets measured gets managed!</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means to motivate managers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misdirected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well-meaning goals and targets, but the down-side: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NOT measured is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well-managed!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 risks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associated with the drilling operations &amp; well status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appropriately considered, evaluated, or managed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 pressure was on, process safety management lacked visibility and leadership attention.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87282722"/>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80000"/>
              </a:lnSpc>
              <a:spcBef>
                <a:spcPts val="0"/>
              </a:spcBef>
              <a:spcAft>
                <a:spcPct val="0"/>
              </a:spcAft>
              <a:buClr>
                <a:srgbClr val="000000"/>
              </a:buClr>
              <a:buSzPct val="100000"/>
              <a:buFont typeface="Arial" panose="020B0604020202020204" pitchFamily="34" charset="0"/>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“Mine the diamond</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allocate finite resources to make sure high-hazard operations (i.e.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facilities and operations with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significant process safety hazards) are sustainably managed to acceptable risk exposure levels.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need to understand our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risks to </a:t>
            </a: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focus </a:t>
            </a:r>
            <a:b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limited resources </a:t>
            </a:r>
            <a:r>
              <a:rPr kumimoji="0" lang="en-US"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the right areas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hazards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the </a:t>
            </a:r>
            <a:r>
              <a:rPr kumimoji="0" lang="en-US"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strategic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thinking</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a clear understanding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our major hazards,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are better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prepared to ask the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questions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e.g. SC’s and SP’s relating to process safety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a:t>
            </a:r>
            <a:r>
              <a:rPr kumimoji="0" lang="en-US" altLang="en-US" sz="1800" b="1"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Anomalies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resolve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themselves with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immediate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negative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consequences are a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 that something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wrong and needs to be investigated!</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BP and </a:t>
            </a:r>
            <a:r>
              <a:rPr kumimoji="0" lang="en-US" altLang="en-US" sz="18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TransOcean</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were certainly focused on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occupational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but what about process safety?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signals were available?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System Did Not Focus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on Process Safety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Risks: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7: BP-</a:t>
            </a:r>
            <a:r>
              <a:rPr kumimoji="0" lang="en-US"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Macondo</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DWH 2010 </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6114793" y="1950958"/>
            <a:ext cx="2698607" cy="1650161"/>
          </a:xfrm>
          <a:prstGeom prst="rect">
            <a:avLst/>
          </a:prstGeom>
        </p:spPr>
      </p:pic>
      <p:pic>
        <p:nvPicPr>
          <p:cNvPr id="2" name="Picture 1"/>
          <p:cNvPicPr>
            <a:picLocks noChangeAspect="1"/>
          </p:cNvPicPr>
          <p:nvPr/>
        </p:nvPicPr>
        <p:blipFill>
          <a:blip r:embed="rId4"/>
          <a:stretch>
            <a:fillRect/>
          </a:stretch>
        </p:blipFill>
        <p:spPr>
          <a:xfrm>
            <a:off x="6114793" y="3709119"/>
            <a:ext cx="2698607" cy="1831981"/>
          </a:xfrm>
          <a:prstGeom prst="rect">
            <a:avLst/>
          </a:prstGeom>
          <a:ln>
            <a:solidFill>
              <a:schemeClr val="tx1"/>
            </a:solidFill>
          </a:ln>
        </p:spPr>
      </p:pic>
    </p:spTree>
    <p:extLst>
      <p:ext uri="{BB962C8B-B14F-4D97-AF65-F5344CB8AC3E}">
        <p14:creationId xmlns:p14="http://schemas.microsoft.com/office/powerpoint/2010/main" val="3982769917"/>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change – different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spec’ns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seal the well – managed?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differences of opinion on how to seal the well …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Transocean Manager vs the BP Manager</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BP Manager wanted … because it expedites the process.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Well, my process is different. I think we are going to do it this way.”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became clear who was ultimately responsible and accountable.</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decision was made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despite knowing the deficiencies in the Blowout Preventer (BOP)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appropriate decision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should have been to stop.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Stop. Think. Don’t do something stupid.” </a:t>
            </a:r>
            <a:endPar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Professor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Bob Bea</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#4: Management of </a:t>
            </a:r>
            <a:r>
              <a:rPr lang="en-US" altLang="en-US" sz="2400" b="0" dirty="0" smtClean="0">
                <a:solidFill>
                  <a:schemeClr val="accent2"/>
                </a:solidFill>
                <a:latin typeface="Arial" panose="020B0604020202020204" pitchFamily="34" charset="0"/>
                <a:ea typeface="+mj-ea"/>
                <a:cs typeface="Arial" panose="020B0604020202020204" pitchFamily="34" charset="0"/>
              </a:rPr>
              <a:t>Change: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20174879"/>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8"/>
          <p:cNvSpPr txBox="1">
            <a:spLocks noGrp="1"/>
          </p:cNvSpPr>
          <p:nvPr>
            <p:ph type="body" idx="4294967295"/>
          </p:nvPr>
        </p:nvSpPr>
        <p:spPr>
          <a:xfrm>
            <a:off x="179999"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1800" u="sng" dirty="0">
                <a:solidFill>
                  <a:srgbClr val="000000"/>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1800" dirty="0">
                <a:solidFill>
                  <a:srgbClr val="000000"/>
                </a:solidFill>
                <a:latin typeface="Arial" panose="020B0604020202020204" pitchFamily="34" charset="0"/>
                <a:ea typeface="Arial"/>
                <a:cs typeface="Arial" panose="020B0604020202020204" pitchFamily="34" charset="0"/>
                <a:sym typeface="Arial"/>
              </a:rPr>
              <a:t>. </a:t>
            </a:r>
          </a:p>
          <a:p>
            <a:pPr marL="360000" lvl="0" indent="-360000">
              <a:lnSpc>
                <a:spcPct val="80000"/>
              </a:lnSpc>
              <a:spcBef>
                <a:spcPts val="0"/>
              </a:spcBef>
              <a:spcAft>
                <a:spcPts val="0"/>
              </a:spcAft>
              <a:buClrTx/>
              <a:buSzPts val="2000"/>
              <a:buFont typeface="Wingdings" panose="05000000000000000000" pitchFamily="2" charset="2"/>
              <a:buChar char="Ø"/>
            </a:pP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Yet the companies </a:t>
            </a:r>
            <a:r>
              <a:rPr lang="en-US" sz="1800" u="sng" dirty="0">
                <a:solidFill>
                  <a:srgbClr val="000000"/>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1800" dirty="0">
                <a:solidFill>
                  <a:srgbClr val="000000"/>
                </a:solidFill>
                <a:latin typeface="Arial" panose="020B0604020202020204" pitchFamily="34" charset="0"/>
                <a:ea typeface="Arial"/>
                <a:cs typeface="Arial" panose="020B0604020202020204" pitchFamily="34" charset="0"/>
                <a:sym typeface="Arial"/>
              </a:rPr>
              <a:t>of the </a:t>
            </a:r>
            <a:r>
              <a:rPr lang="en-US" sz="1800" dirty="0" err="1">
                <a:solidFill>
                  <a:srgbClr val="000000"/>
                </a:solidFill>
                <a:latin typeface="Arial" panose="020B0604020202020204" pitchFamily="34" charset="0"/>
                <a:ea typeface="Arial"/>
                <a:cs typeface="Arial" panose="020B0604020202020204" pitchFamily="34" charset="0"/>
                <a:sym typeface="Arial"/>
              </a:rPr>
              <a:t>Macondo</a:t>
            </a:r>
            <a:r>
              <a:rPr lang="en-US" sz="1800" dirty="0">
                <a:solidFill>
                  <a:srgbClr val="000000"/>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114300" lvl="0" indent="0" algn="l" rtl="0">
              <a:lnSpc>
                <a:spcPct val="80000"/>
              </a:lnSpc>
              <a:spcBef>
                <a:spcPts val="0"/>
              </a:spcBef>
              <a:spcAft>
                <a:spcPts val="0"/>
              </a:spcAft>
              <a:buClrTx/>
              <a:buSzPts val="1800"/>
              <a:buNone/>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Through Formal Audits, driven by a robust PE&amp;CI program and committed leadership, senior leadership would have discovered that:</a:t>
            </a:r>
            <a:endParaRPr sz="1800" dirty="0">
              <a:solidFill>
                <a:schemeClr val="tx1"/>
              </a:solidFill>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Critical changes were being made without adequate, thorough reviews, and </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risks were not being managed to any great degree, certainly not as thorough as were the risks for occupational activities.</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issues (SC’s, SP’s, NM’s, and lower-impact LI’s) were not being investigated nor addressed.  </a:t>
            </a:r>
            <a:endParaRPr sz="1800" dirty="0">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Our management system will only be effective when it is developed, </a:t>
            </a:r>
            <a:br>
              <a:rPr lang="en-US" sz="1800" dirty="0">
                <a:solidFill>
                  <a:schemeClr val="tx1"/>
                </a:solidFill>
                <a:latin typeface="Arial" panose="020B0604020202020204" pitchFamily="34" charset="0"/>
                <a:ea typeface="Arial"/>
                <a:cs typeface="Arial" panose="020B0604020202020204" pitchFamily="34" charset="0"/>
                <a:sym typeface="Arial"/>
              </a:rPr>
            </a:br>
            <a:r>
              <a:rPr lang="en-US" sz="1800" dirty="0">
                <a:solidFill>
                  <a:schemeClr val="tx1"/>
                </a:solidFill>
                <a:latin typeface="Arial" panose="020B0604020202020204" pitchFamily="34" charset="0"/>
                <a:ea typeface="Arial"/>
                <a:cs typeface="Arial" panose="020B0604020202020204" pitchFamily="34" charset="0"/>
                <a:sym typeface="Arial"/>
              </a:rPr>
              <a:t>implemented, and maintained through </a:t>
            </a:r>
            <a:r>
              <a:rPr lang="en-US" sz="1800" u="sng" dirty="0">
                <a:solidFill>
                  <a:schemeClr val="tx1"/>
                </a:solidFill>
                <a:latin typeface="Arial" panose="020B0604020202020204" pitchFamily="34" charset="0"/>
                <a:ea typeface="Arial"/>
                <a:cs typeface="Arial" panose="020B0604020202020204" pitchFamily="34" charset="0"/>
                <a:sym typeface="Arial"/>
              </a:rPr>
              <a:t>active program evaluation and </a:t>
            </a:r>
            <a:br>
              <a:rPr lang="en-US" sz="1800" u="sng" dirty="0">
                <a:solidFill>
                  <a:schemeClr val="tx1"/>
                </a:solidFill>
                <a:latin typeface="Arial" panose="020B0604020202020204" pitchFamily="34" charset="0"/>
                <a:ea typeface="Arial"/>
                <a:cs typeface="Arial" panose="020B0604020202020204" pitchFamily="34" charset="0"/>
                <a:sym typeface="Arial"/>
              </a:rPr>
            </a:br>
            <a:r>
              <a:rPr lang="en-US" sz="1800" u="sng" dirty="0">
                <a:solidFill>
                  <a:schemeClr val="tx1"/>
                </a:solidFill>
                <a:latin typeface="Arial" panose="020B0604020202020204" pitchFamily="34" charset="0"/>
                <a:ea typeface="Arial"/>
                <a:cs typeface="Arial" panose="020B0604020202020204" pitchFamily="34" charset="0"/>
                <a:sym typeface="Arial"/>
              </a:rPr>
              <a:t>continuous improvement</a:t>
            </a:r>
            <a:r>
              <a:rPr lang="en-US" sz="1800" dirty="0">
                <a:solidFill>
                  <a:schemeClr val="tx1"/>
                </a:solidFill>
                <a:latin typeface="Arial" panose="020B0604020202020204" pitchFamily="34" charset="0"/>
                <a:ea typeface="Arial"/>
                <a:cs typeface="Arial" panose="020B0604020202020204" pitchFamily="34" charset="0"/>
                <a:sym typeface="Arial"/>
              </a:rPr>
              <a:t>.</a:t>
            </a:r>
            <a:endParaRPr sz="1800" dirty="0">
              <a:solidFill>
                <a:schemeClr val="tx1"/>
              </a:solidFill>
              <a:latin typeface="Arial" panose="020B0604020202020204" pitchFamily="34" charset="0"/>
              <a:cs typeface="Arial" panose="020B0604020202020204" pitchFamily="34" charset="0"/>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p:txBody>
      </p:sp>
      <p:sp>
        <p:nvSpPr>
          <p:cNvPr id="359" name="Google Shape;359;p18"/>
          <p:cNvSpPr txBox="1"/>
          <p:nvPr/>
        </p:nvSpPr>
        <p:spPr>
          <a:xfrm>
            <a:off x="186095" y="2667000"/>
            <a:ext cx="8640000" cy="9144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i="1" dirty="0">
                <a:solidFill>
                  <a:srgbClr val="FFFFFF"/>
                </a:solidFill>
                <a:latin typeface="Arial"/>
                <a:ea typeface="Arial"/>
                <a:cs typeface="Arial"/>
                <a:sym typeface="Arial"/>
              </a:rPr>
              <a:t>Q: What needed to change in order to prevent an incident</a:t>
            </a:r>
            <a:r>
              <a:rPr lang="en-US" i="1" dirty="0" smtClean="0">
                <a:solidFill>
                  <a:srgbClr val="FFFFFF"/>
                </a:solidFill>
                <a:latin typeface="Arial"/>
                <a:ea typeface="Arial"/>
                <a:cs typeface="Arial"/>
                <a:sym typeface="Arial"/>
              </a:rPr>
              <a:t>?</a:t>
            </a:r>
            <a:endParaRPr i="1" dirty="0">
              <a:solidFill>
                <a:srgbClr val="FFFFFF"/>
              </a:solidFill>
              <a:latin typeface="Arial"/>
              <a:ea typeface="Arial"/>
              <a:cs typeface="Arial"/>
              <a:sym typeface="Arial"/>
            </a:endParaRPr>
          </a:p>
          <a:p>
            <a:pPr marL="342900" marR="0" lvl="0" indent="-342900" algn="l" rtl="0">
              <a:spcBef>
                <a:spcPts val="0"/>
              </a:spcBef>
              <a:spcAft>
                <a:spcPts val="0"/>
              </a:spcAft>
              <a:buClr>
                <a:srgbClr val="FFFFFF"/>
              </a:buClr>
              <a:buSzPts val="2000"/>
              <a:buFont typeface="Noto Sans Symbols"/>
              <a:buChar char="⮚"/>
            </a:pPr>
            <a:r>
              <a:rPr lang="en-US" i="1" dirty="0">
                <a:solidFill>
                  <a:srgbClr val="FFFFFF"/>
                </a:solidFill>
                <a:latin typeface="Arial"/>
                <a:ea typeface="Arial"/>
                <a:cs typeface="Arial"/>
                <a:sym typeface="Arial"/>
              </a:rPr>
              <a:t>“Implement those ESRM policies” - far easier said than done. </a:t>
            </a:r>
            <a:endParaRPr dirty="0"/>
          </a:p>
          <a:p>
            <a:pPr marL="342900" marR="0" lvl="0" indent="-342900" algn="l" rtl="0">
              <a:spcBef>
                <a:spcPts val="0"/>
              </a:spcBef>
              <a:spcAft>
                <a:spcPts val="0"/>
              </a:spcAft>
              <a:buClr>
                <a:srgbClr val="FFFFFF"/>
              </a:buClr>
              <a:buSzPts val="2000"/>
              <a:buFont typeface="Noto Sans Symbols"/>
              <a:buChar char="⮚"/>
            </a:pPr>
            <a:r>
              <a:rPr lang="en-US" i="1" dirty="0" smtClean="0">
                <a:solidFill>
                  <a:srgbClr val="FFFFFF"/>
                </a:solidFill>
                <a:latin typeface="Arial"/>
                <a:ea typeface="Arial"/>
                <a:cs typeface="Arial"/>
                <a:sym typeface="Arial"/>
              </a:rPr>
              <a:t>What </a:t>
            </a:r>
            <a:r>
              <a:rPr lang="en-US" i="1" dirty="0">
                <a:solidFill>
                  <a:srgbClr val="FFFFFF"/>
                </a:solidFill>
                <a:latin typeface="Arial"/>
                <a:ea typeface="Arial"/>
                <a:cs typeface="Arial"/>
                <a:sym typeface="Arial"/>
              </a:rPr>
              <a:t>could we do as leaders to push implementation?</a:t>
            </a:r>
            <a:endParaRPr i="1"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5798378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report stated that "whether purposeful or not, many of the decisions that BP, Halliburton, and Transocean made that increased the risk of the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blowout clearly saved those companies significant time (and money).”</a:t>
            </a:r>
          </a:p>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company values!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your program!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you make decisions, put safety ahead of any other objective!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failures in safety systems and take action!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Application of the Engineer’s Survival </a:t>
            </a:r>
            <a:r>
              <a:rPr lang="en-US" altLang="en-US" sz="2400" b="0" dirty="0" smtClean="0">
                <a:solidFill>
                  <a:schemeClr val="accent2"/>
                </a:solidFill>
                <a:latin typeface="Arial" panose="020B0604020202020204" pitchFamily="34" charset="0"/>
                <a:ea typeface="+mj-ea"/>
                <a:cs typeface="Arial" panose="020B0604020202020204" pitchFamily="34" charset="0"/>
              </a:rPr>
              <a:t>Guide: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59;p18"/>
          <p:cNvSpPr txBox="1"/>
          <p:nvPr/>
        </p:nvSpPr>
        <p:spPr>
          <a:xfrm>
            <a:off x="180000" y="4032000"/>
            <a:ext cx="8640000" cy="21600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lvl="0"/>
            <a:r>
              <a:rPr lang="en-US" sz="2000" b="0" i="1" dirty="0" smtClean="0">
                <a:solidFill>
                  <a:srgbClr val="FFFFFF"/>
                </a:solidFill>
              </a:rPr>
              <a:t>An opportunity </a:t>
            </a:r>
            <a:r>
              <a:rPr lang="en-US" sz="2000" b="0" i="1" dirty="0">
                <a:solidFill>
                  <a:srgbClr val="FFFFFF"/>
                </a:solidFill>
              </a:rPr>
              <a:t>to apply the Engineer’s Survival Guide:</a:t>
            </a:r>
          </a:p>
          <a:p>
            <a:pPr marL="457200" lvl="0" indent="-457200">
              <a:buClrTx/>
              <a:buFont typeface="+mj-lt"/>
              <a:buAutoNum type="alphaLcParenR"/>
            </a:pPr>
            <a:r>
              <a:rPr lang="en-US" sz="2000" b="0" i="1" dirty="0">
                <a:solidFill>
                  <a:srgbClr val="FFFFFF"/>
                </a:solidFill>
              </a:rPr>
              <a:t>What was the situation?</a:t>
            </a:r>
          </a:p>
          <a:p>
            <a:pPr marL="457200" lvl="0" indent="-457200">
              <a:buClrTx/>
              <a:buFont typeface="+mj-lt"/>
              <a:buAutoNum type="alphaLcParenR"/>
            </a:pPr>
            <a:r>
              <a:rPr lang="en-US" sz="2000" b="0" i="1" dirty="0">
                <a:solidFill>
                  <a:srgbClr val="FFFFFF"/>
                </a:solidFill>
              </a:rPr>
              <a:t>What was the issue with that situation?</a:t>
            </a:r>
          </a:p>
          <a:p>
            <a:pPr marL="457200" lvl="0" indent="-457200">
              <a:buClrTx/>
              <a:buFont typeface="+mj-lt"/>
              <a:buAutoNum type="alphaLcParenR"/>
            </a:pPr>
            <a:r>
              <a:rPr lang="en-US" sz="2000" b="0" i="1" dirty="0">
                <a:solidFill>
                  <a:srgbClr val="FFFFFF"/>
                </a:solidFill>
              </a:rPr>
              <a:t>What Key Point was violated?</a:t>
            </a:r>
          </a:p>
          <a:p>
            <a:pPr marL="457200" lvl="0" indent="-457200">
              <a:buClrTx/>
              <a:buFont typeface="+mj-lt"/>
              <a:buAutoNum type="alphaLcParenR"/>
            </a:pPr>
            <a:r>
              <a:rPr lang="en-US" sz="2000" b="0" i="1" dirty="0">
                <a:solidFill>
                  <a:srgbClr val="FFFFFF"/>
                </a:solidFill>
              </a:rPr>
              <a:t>What would you have done in that situation?</a:t>
            </a:r>
          </a:p>
          <a:p>
            <a:pPr marL="457200" lvl="0" indent="-457200">
              <a:buClrTx/>
              <a:buFont typeface="+mj-lt"/>
              <a:buAutoNum type="alphaLcParenR"/>
            </a:pPr>
            <a:r>
              <a:rPr lang="en-US" sz="2000" b="0" i="1" dirty="0">
                <a:solidFill>
                  <a:srgbClr val="FFFFFF"/>
                </a:solidFill>
              </a:rPr>
              <a:t>What would have been the probable outcome had you done it?</a:t>
            </a:r>
          </a:p>
          <a:p>
            <a:pPr lvl="0"/>
            <a:endParaRPr lang="en-US" sz="2000" b="0" i="1" dirty="0">
              <a:solidFill>
                <a:srgbClr val="FFFFFF"/>
              </a:solidFill>
            </a:endParaRPr>
          </a:p>
          <a:p>
            <a:pPr marL="342900" marR="0" lvl="0" indent="-215900" algn="l" rtl="0">
              <a:spcBef>
                <a:spcPts val="0"/>
              </a:spcBef>
              <a:spcAft>
                <a:spcPts val="0"/>
              </a:spcAft>
              <a:buClr>
                <a:schemeClr val="dk1"/>
              </a:buClr>
              <a:buSzPts val="2000"/>
              <a:buFont typeface="Noto Sans Symbols"/>
              <a:buNone/>
            </a:pPr>
            <a:endParaRPr sz="2000" b="0" i="1"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3841144538"/>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 the Diamond!</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must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smartly allocate finite resources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ensure high-hazard operations (i.e. with significant process safety hazards) are sustainably managed to acceptable risk exposure levels.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need to understand our major risks to focus limited resources on the right areas (major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a:t>
            </a:r>
            <a:r>
              <a:rPr lang="en-US" altLang="en-US" sz="20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strategic thinking!</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clear understanding of our major hazards, we are better prepared to ask the right questions to manage them.</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Anomalies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do resolve themselves with no immediate negative consequences are a signal.</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e.g. SC’s and SP’s relating to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management system will only be effective when it is developed,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implemented, and maintained through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active program evaluation and continuous improvement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&amp;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4766490"/>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auto" latinLnBrk="0" hangingPunct="0">
              <a:lnSpc>
                <a:spcPct val="100000"/>
              </a:lnSpc>
              <a:spcBef>
                <a:spcPts val="0"/>
              </a:spcBef>
              <a:spcAft>
                <a:spcPts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Complete Slide Deck</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follows with details.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70730057"/>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7: BP-</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Oilfield and </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Horizon Rig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(2010)</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1522792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management has the responsibility for sound risk management systems covering both occupational safety and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why 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smartly allocate finite resources to ensure high-hazard operations (i.e. with significant process safety hazards) are sustainably managed to acceptable risk exposure levels.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loss incident to identify the latent causes and associated management system improvement opportunities.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0754828"/>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Sub-sea Drilling: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low likelihood of something going wrong, but with extremely high consequence if it does</a:t>
            </a: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corporations: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BP Energy: awarded the mineral rights to drill &amp; produce</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rig owner (contracted by BP to drill the well)</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Halliburton: well services (under contract to BP for mud &amp; cement)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pic>
        <p:nvPicPr>
          <p:cNvPr id="6" name="Google Shape;141;p3"/>
          <p:cNvPicPr preferRelativeResize="0">
            <a:picLocks noChangeAspect="1"/>
          </p:cNvPicPr>
          <p:nvPr/>
        </p:nvPicPr>
        <p:blipFill rotWithShape="1">
          <a:blip r:embed="rId3">
            <a:alphaModFix/>
          </a:blip>
          <a:srcRect t="26031"/>
          <a:stretch/>
        </p:blipFill>
        <p:spPr>
          <a:xfrm>
            <a:off x="5029197" y="3096000"/>
            <a:ext cx="3070154" cy="3060000"/>
          </a:xfrm>
          <a:prstGeom prst="rect">
            <a:avLst/>
          </a:prstGeom>
          <a:noFill/>
          <a:ln>
            <a:noFill/>
          </a:ln>
        </p:spPr>
      </p:pic>
      <p:pic>
        <p:nvPicPr>
          <p:cNvPr id="7" name="Google Shape;143;p3"/>
          <p:cNvPicPr preferRelativeResize="0">
            <a:picLocks noChangeAspect="1"/>
          </p:cNvPicPr>
          <p:nvPr/>
        </p:nvPicPr>
        <p:blipFill rotWithShape="1">
          <a:blip r:embed="rId4">
            <a:alphaModFix/>
          </a:blip>
          <a:srcRect/>
          <a:stretch/>
        </p:blipFill>
        <p:spPr>
          <a:xfrm>
            <a:off x="725489" y="3096000"/>
            <a:ext cx="3882833" cy="3060000"/>
          </a:xfrm>
          <a:prstGeom prst="rect">
            <a:avLst/>
          </a:prstGeom>
          <a:noFill/>
          <a:ln>
            <a:noFill/>
          </a:ln>
        </p:spPr>
      </p:pic>
    </p:spTree>
    <p:extLst>
      <p:ext uri="{BB962C8B-B14F-4D97-AF65-F5344CB8AC3E}">
        <p14:creationId xmlns:p14="http://schemas.microsoft.com/office/powerpoint/2010/main" val="3798629605"/>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Deepest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oil well in history - 35,000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ft</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(10,500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 Record!</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was a rush to get to production</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6 weeks normal versus 21 days target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Previous well into the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formation had to be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abandoned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because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was rushed.</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 had operated for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(7)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years without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Lost-Time Injury</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great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achievement!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were on the rig that day to give the crew a safety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award.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9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BOP had been damaged 4 weeks before the incident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were told it wasn’t important, it wasn’t fixed, and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continued as though it was working properly</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Unclear chain of command for changes made to activities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was in charge? BP or </a:t>
            </a:r>
            <a:r>
              <a:rPr lang="en-US" altLang="en-US" sz="20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55877567"/>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0" name="Google Shape;187;p6"/>
          <p:cNvSpPr/>
          <p:nvPr/>
        </p:nvSpPr>
        <p:spPr>
          <a:xfrm>
            <a:off x="180000" y="828000"/>
            <a:ext cx="8640000" cy="5364000"/>
          </a:xfrm>
          <a:prstGeom prst="rect">
            <a:avLst/>
          </a:prstGeom>
          <a:noFill/>
          <a:ln w="9525" cap="flat" cmpd="sng">
            <a:solidFill>
              <a:schemeClr val="tx1"/>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rtl="0">
              <a:lnSpc>
                <a:spcPct val="80000"/>
              </a:lnSpc>
              <a:spcBef>
                <a:spcPts val="0"/>
              </a:spcBef>
              <a:spcAft>
                <a:spcPts val="0"/>
              </a:spcAft>
              <a:buClr>
                <a:srgbClr val="000000"/>
              </a:buClr>
              <a:buSzPts val="2000"/>
              <a:buFont typeface="Noto Sans Symbols"/>
              <a:buNone/>
            </a:pPr>
            <a:r>
              <a:rPr lang="en-US" sz="1600" b="0" i="0" u="none" strike="noStrike" cap="none" dirty="0" smtClean="0">
                <a:solidFill>
                  <a:srgbClr val="000000"/>
                </a:solidFill>
                <a:latin typeface="Arial"/>
                <a:ea typeface="Arial"/>
                <a:cs typeface="Arial"/>
                <a:sym typeface="Arial"/>
              </a:rPr>
              <a:t>Surface to sea-floor          BOP ~15 </a:t>
            </a:r>
            <a:r>
              <a:rPr lang="en-US" sz="1600" b="0" i="0" u="none" strike="noStrike" cap="none" dirty="0" err="1" smtClean="0">
                <a:solidFill>
                  <a:srgbClr val="000000"/>
                </a:solidFill>
                <a:latin typeface="Arial"/>
                <a:ea typeface="Arial"/>
                <a:cs typeface="Arial"/>
                <a:sym typeface="Arial"/>
              </a:rPr>
              <a:t>metres</a:t>
            </a:r>
            <a:r>
              <a:rPr lang="en-US" sz="1600" b="0" i="0" u="none" strike="noStrike" cap="none" dirty="0" smtClean="0">
                <a:solidFill>
                  <a:srgbClr val="000000"/>
                </a:solidFill>
                <a:latin typeface="Arial"/>
                <a:ea typeface="Arial"/>
                <a:cs typeface="Arial"/>
                <a:sym typeface="Arial"/>
              </a:rPr>
              <a:t>                           Drilling End ~ 3 </a:t>
            </a:r>
            <a:r>
              <a:rPr lang="en-US" sz="1600" b="0" i="0" u="none" strike="noStrike" cap="none" dirty="0" err="1" smtClean="0">
                <a:solidFill>
                  <a:srgbClr val="000000"/>
                </a:solidFill>
                <a:latin typeface="Arial"/>
                <a:ea typeface="Arial"/>
                <a:cs typeface="Arial"/>
                <a:sym typeface="Arial"/>
              </a:rPr>
              <a:t>metres</a:t>
            </a:r>
            <a:endParaRPr sz="1600" b="0" i="0" u="none" strike="noStrike" cap="none" dirty="0">
              <a:solidFill>
                <a:srgbClr val="000000"/>
              </a:solidFill>
              <a:latin typeface="Arial"/>
              <a:ea typeface="Arial"/>
              <a:cs typeface="Arial"/>
              <a:sym typeface="Arial"/>
            </a:endParaRPr>
          </a:p>
        </p:txBody>
      </p:sp>
      <p:pic>
        <p:nvPicPr>
          <p:cNvPr id="173" name="Google Shape;173;p5"/>
          <p:cNvPicPr preferRelativeResize="0"/>
          <p:nvPr/>
        </p:nvPicPr>
        <p:blipFill rotWithShape="1">
          <a:blip r:embed="rId3">
            <a:alphaModFix/>
          </a:blip>
          <a:srcRect/>
          <a:stretch/>
        </p:blipFill>
        <p:spPr>
          <a:xfrm>
            <a:off x="304800" y="1116000"/>
            <a:ext cx="1600200" cy="5040000"/>
          </a:xfrm>
          <a:prstGeom prst="rect">
            <a:avLst/>
          </a:prstGeom>
          <a:noFill/>
          <a:ln>
            <a:solidFill>
              <a:schemeClr val="tx1"/>
            </a:solidFill>
          </a:ln>
        </p:spPr>
      </p:pic>
      <p:pic>
        <p:nvPicPr>
          <p:cNvPr id="174" name="Google Shape;174;p5"/>
          <p:cNvPicPr preferRelativeResize="0"/>
          <p:nvPr/>
        </p:nvPicPr>
        <p:blipFill rotWithShape="1">
          <a:blip r:embed="rId4">
            <a:alphaModFix/>
          </a:blip>
          <a:srcRect/>
          <a:stretch/>
        </p:blipFill>
        <p:spPr>
          <a:xfrm>
            <a:off x="1983646" y="1116000"/>
            <a:ext cx="3121754" cy="5040000"/>
          </a:xfrm>
          <a:prstGeom prst="rect">
            <a:avLst/>
          </a:prstGeom>
          <a:noFill/>
          <a:ln>
            <a:solidFill>
              <a:schemeClr val="tx1"/>
            </a:solidFill>
          </a:ln>
        </p:spPr>
      </p:pic>
      <p:pic>
        <p:nvPicPr>
          <p:cNvPr id="175" name="Google Shape;175;p5"/>
          <p:cNvPicPr preferRelativeResize="0"/>
          <p:nvPr/>
        </p:nvPicPr>
        <p:blipFill rotWithShape="1">
          <a:blip r:embed="rId5">
            <a:alphaModFix/>
          </a:blip>
          <a:srcRect/>
          <a:stretch/>
        </p:blipFill>
        <p:spPr>
          <a:xfrm>
            <a:off x="5184046" y="1116000"/>
            <a:ext cx="3578954" cy="5040000"/>
          </a:xfrm>
          <a:prstGeom prst="rect">
            <a:avLst/>
          </a:prstGeom>
          <a:noFill/>
          <a:ln>
            <a:solidFill>
              <a:schemeClr val="tx1"/>
            </a:solidFill>
          </a:ln>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Basics Of Well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704876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p:nvPr/>
        </p:nvSpPr>
        <p:spPr>
          <a:xfrm>
            <a:off x="180000" y="828000"/>
            <a:ext cx="8640000" cy="5328000"/>
          </a:xfrm>
          <a:prstGeom prst="rect">
            <a:avLst/>
          </a:prstGeom>
          <a:solidFill>
            <a:schemeClr val="accent1">
              <a:alpha val="6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algn="l" rtl="0">
              <a:lnSpc>
                <a:spcPct val="8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89" name="Google Shape;189;p6"/>
          <p:cNvSpPr/>
          <p:nvPr/>
        </p:nvSpPr>
        <p:spPr>
          <a:xfrm>
            <a:off x="0" y="4659313"/>
            <a:ext cx="269875" cy="27463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b="0" i="0" u="none" strike="noStrike" cap="none">
                <a:solidFill>
                  <a:schemeClr val="dk1"/>
                </a:solidFill>
                <a:latin typeface="Times"/>
                <a:ea typeface="Times"/>
                <a:cs typeface="Times"/>
                <a:sym typeface="Times"/>
              </a:rPr>
              <a:t>  </a:t>
            </a:r>
            <a:endParaRPr sz="2400" b="0" i="0" u="none" strike="noStrike" cap="none">
              <a:solidFill>
                <a:schemeClr val="dk1"/>
              </a:solidFill>
              <a:latin typeface="Times New Roman"/>
              <a:ea typeface="Times New Roman"/>
              <a:cs typeface="Times New Roman"/>
              <a:sym typeface="Times New Roman"/>
            </a:endParaRPr>
          </a:p>
        </p:txBody>
      </p:sp>
      <p:pic>
        <p:nvPicPr>
          <p:cNvPr id="190" name="Google Shape;190;p6"/>
          <p:cNvPicPr preferRelativeResize="0"/>
          <p:nvPr/>
        </p:nvPicPr>
        <p:blipFill rotWithShape="1">
          <a:blip r:embed="rId3">
            <a:alphaModFix/>
          </a:blip>
          <a:srcRect/>
          <a:stretch/>
        </p:blipFill>
        <p:spPr>
          <a:xfrm>
            <a:off x="457200" y="873676"/>
            <a:ext cx="4495800" cy="2814638"/>
          </a:xfrm>
          <a:prstGeom prst="rect">
            <a:avLst/>
          </a:prstGeom>
          <a:noFill/>
          <a:ln>
            <a:solidFill>
              <a:schemeClr val="tx2"/>
            </a:solidFill>
          </a:ln>
        </p:spPr>
      </p:pic>
      <p:pic>
        <p:nvPicPr>
          <p:cNvPr id="191" name="Google Shape;191;p6"/>
          <p:cNvPicPr preferRelativeResize="0"/>
          <p:nvPr/>
        </p:nvPicPr>
        <p:blipFill rotWithShape="1">
          <a:blip r:embed="rId4">
            <a:alphaModFix/>
          </a:blip>
          <a:srcRect/>
          <a:stretch/>
        </p:blipFill>
        <p:spPr>
          <a:xfrm>
            <a:off x="4673601" y="3077638"/>
            <a:ext cx="3962400" cy="2971800"/>
          </a:xfrm>
          <a:prstGeom prst="rect">
            <a:avLst/>
          </a:prstGeom>
          <a:noFill/>
          <a:ln>
            <a:solidFill>
              <a:schemeClr val="tx2"/>
            </a:solidFill>
          </a:ln>
        </p:spPr>
      </p:pic>
      <p:sp>
        <p:nvSpPr>
          <p:cNvPr id="192" name="Google Shape;192;p6"/>
          <p:cNvSpPr txBox="1"/>
          <p:nvPr/>
        </p:nvSpPr>
        <p:spPr>
          <a:xfrm>
            <a:off x="4656398" y="1247014"/>
            <a:ext cx="3962400" cy="1492250"/>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The Loss Incident: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Date: 20-April-2010 to 15-July-2010</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Platform: Deepwater Horizon Drilling Rig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Location: The </a:t>
            </a:r>
            <a:r>
              <a:rPr lang="en-US" sz="1300" b="0" i="0" u="none" strike="noStrike" cap="none" dirty="0" err="1">
                <a:solidFill>
                  <a:srgbClr val="FFFFFF"/>
                </a:solidFill>
                <a:latin typeface="Arial"/>
                <a:ea typeface="Arial"/>
                <a:cs typeface="Arial"/>
                <a:sym typeface="Arial"/>
              </a:rPr>
              <a:t>Macondo</a:t>
            </a:r>
            <a:r>
              <a:rPr lang="en-US" sz="1300" b="0" i="0" u="none" strike="noStrike" cap="none" dirty="0">
                <a:solidFill>
                  <a:srgbClr val="FFFFFF"/>
                </a:solidFill>
                <a:latin typeface="Arial"/>
                <a:ea typeface="Arial"/>
                <a:cs typeface="Arial"/>
                <a:sym typeface="Arial"/>
              </a:rPr>
              <a:t> Prospect, Gulf of Mexico</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Corporations: BP plc, </a:t>
            </a:r>
            <a:r>
              <a:rPr lang="en-US" sz="1300" b="0" i="0" u="none" strike="noStrike" cap="none" dirty="0" err="1">
                <a:solidFill>
                  <a:srgbClr val="FFFFFF"/>
                </a:solidFill>
                <a:latin typeface="Arial"/>
                <a:ea typeface="Arial"/>
                <a:cs typeface="Arial"/>
                <a:sym typeface="Arial"/>
              </a:rPr>
              <a:t>TransOcean</a:t>
            </a:r>
            <a:r>
              <a:rPr lang="en-US" sz="1300" b="0" i="0" u="none" strike="noStrike" cap="none" dirty="0">
                <a:solidFill>
                  <a:srgbClr val="FFFFFF"/>
                </a:solidFill>
                <a:latin typeface="Arial"/>
                <a:ea typeface="Arial"/>
                <a:cs typeface="Arial"/>
                <a:sym typeface="Arial"/>
              </a:rPr>
              <a:t>, Halliburton</a:t>
            </a:r>
            <a:endParaRPr dirty="0"/>
          </a:p>
        </p:txBody>
      </p:sp>
      <p:sp>
        <p:nvSpPr>
          <p:cNvPr id="193" name="Google Shape;193;p6"/>
          <p:cNvSpPr txBox="1"/>
          <p:nvPr/>
        </p:nvSpPr>
        <p:spPr>
          <a:xfrm>
            <a:off x="449875" y="3657600"/>
            <a:ext cx="4223725" cy="2392362"/>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Impact on PEAP:</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11 killed, 16 seriously injured</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E: Inestimable impact</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A: </a:t>
            </a:r>
            <a:r>
              <a:rPr lang="en-US" sz="1300" b="1" i="0" u="none" strike="noStrike" cap="none" dirty="0">
                <a:solidFill>
                  <a:srgbClr val="FFFFFF"/>
                </a:solidFill>
                <a:latin typeface="Arial"/>
                <a:ea typeface="Arial"/>
                <a:cs typeface="Arial"/>
                <a:sym typeface="Arial"/>
              </a:rPr>
              <a:t>Tens of billions of dollars</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Broad interruptions for US Gulf of Mexico offshore drilling industry; and Significant regulator intervention with regulatory impact</a:t>
            </a:r>
            <a:endParaRPr dirty="0"/>
          </a:p>
          <a:p>
            <a:pPr marL="0" marR="0" lvl="0" indent="0" algn="l" rtl="0">
              <a:spcBef>
                <a:spcPts val="65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a:t>
            </a:r>
            <a:r>
              <a:rPr lang="en-US" sz="1300" b="1" i="0" u="sng" strike="noStrike" cap="none" dirty="0">
                <a:solidFill>
                  <a:srgbClr val="FFFFFF"/>
                </a:solidFill>
                <a:latin typeface="Arial"/>
                <a:ea typeface="Arial"/>
                <a:cs typeface="Arial"/>
                <a:sym typeface="Arial"/>
              </a:rPr>
              <a:t>Prolonged and extensive media coverage (reputational impact)</a:t>
            </a:r>
            <a:endParaRPr dirty="0"/>
          </a:p>
        </p:txBody>
      </p:sp>
      <p:sp>
        <p:nvSpPr>
          <p:cNvPr id="10"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 The Loss Incident &amp; Impacts on PEAP</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0995985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Documentary Videos on the BP DWH Blowout, Gulf of Mexico,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 are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posted on </a:t>
            </a:r>
            <a:r>
              <a:rPr lang="en-US" altLang="en-US" sz="18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viewing prior to the lecture.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Video:</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00:00-01:20 Introduction and CSB Investigation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01:21-02:35 Technical explanation – drilling, mud, kicks</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02:36-03:38 BOP Operation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03:39-04:57 The Kick initiates the incident</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04:58-05:24 Buckled Pipe and Effective Compression</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1: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02:03-03:04 Background</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02:18-03:04 Technical explanation - rate of penetration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03:05-04:36 “Tension” – push to do things safely but fast (competing priorities)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2: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02:40-7:15 Professor Bob Bea – discussion points akin to “The Engineer’s Survival Guide”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Documentary Videos – Viewed via </a:t>
            </a:r>
            <a:r>
              <a:rPr lang="en-US" altLang="en-US" sz="2400" b="0" dirty="0" err="1">
                <a:solidFill>
                  <a:schemeClr val="accent2"/>
                </a:solidFill>
                <a:latin typeface="Arial" panose="020B0604020202020204" pitchFamily="34" charset="0"/>
                <a:ea typeface="+mj-ea"/>
                <a:cs typeface="Arial" panose="020B0604020202020204" pitchFamily="34" charset="0"/>
              </a:rPr>
              <a:t>eClass</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0589856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7354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the job done”: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rate faster than specified for formation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barrier (plug) not effectively installed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Premature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removal of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fluid / mud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 cement plugs were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(cured)</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Defective Blowout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Preventer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 – a “safety-critical device”: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Annular on the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BOP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Inoperative Control Pods on the BOP</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hydraulic line and weak battery on the BOP</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Incorrect interpretation of well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data:</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standards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inadequate compliance with standards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signals of a “kick” ignored (the lead-up prior to a blow-out)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integrity test did not give a clear “pass / fail</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 pressure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failed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confirm mud and plug integrity (pressure should have remained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static / less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mud returned to surface)</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Incident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52067997"/>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60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the day of the April 20 tragedy, no effective safeguards were in place to eliminate or minimize the consequences of a process safety incident.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safeguards (the physical barriers such as drilling mud, steel casing, cement plugs, “kick” detection, cement barrier testing, and BOP) intended to prevent such a disaster were not properly constructed, tested, or maintained, or they had been removed.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management systems intended to ensure the required functionality, availability, and reliability of these safety-critical safeguards were inadequate.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safeguards meant to prevent, mitigate, or control a blowout failed on the day of the accident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drilling column fluid (mud weight) barrier and the cement barrier both fail, and the well is still open (no plug installed), drilling crews depend on a blowout preventer (BOP) to control pore pressures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600"/>
              </a:spcAft>
              <a:buClr>
                <a:srgbClr val="000000"/>
              </a:buClr>
              <a:buSzPct val="100000"/>
              <a:buNone/>
            </a:pP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 Chemical Safety And Hazard Investigation Board; </a:t>
            </a:r>
            <a:b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Report, Volume 1; Explosion And Fire At </a:t>
            </a:r>
            <a:b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Well; Report No. 2010-10-I-OS; 5-June-2014</a:t>
            </a:r>
          </a:p>
          <a:p>
            <a:pPr marL="0" indent="0" algn="r" eaLnBrk="0" hangingPunct="0">
              <a:lnSpc>
                <a:spcPct val="100000"/>
              </a:lnSpc>
              <a:spcBef>
                <a:spcPts val="0"/>
              </a:spcBef>
              <a:spcAft>
                <a:spcPts val="600"/>
              </a:spcAft>
              <a:buClr>
                <a:srgbClr val="000000"/>
              </a:buClr>
              <a:buSzPct val="100000"/>
              <a:buNone/>
            </a:pP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Layers of Protection</a:t>
            </a:r>
            <a:endPar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Incident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Left Arrow 5"/>
          <p:cNvSpPr/>
          <p:nvPr/>
        </p:nvSpPr>
        <p:spPr>
          <a:xfrm rot="1087676">
            <a:off x="5845115" y="5013118"/>
            <a:ext cx="2675623" cy="745128"/>
          </a:xfrm>
          <a:prstGeom prst="lef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Three </a:t>
            </a:r>
            <a:r>
              <a:rPr lang="en-US" sz="2000" dirty="0" err="1" smtClean="0">
                <a:solidFill>
                  <a:schemeClr val="bg1"/>
                </a:solidFill>
                <a:latin typeface="Arial" panose="020B0604020202020204" pitchFamily="34" charset="0"/>
                <a:cs typeface="Arial" panose="020B0604020202020204" pitchFamily="34" charset="0"/>
              </a:rPr>
              <a:t>LoP</a:t>
            </a:r>
            <a:r>
              <a:rPr lang="en-US" sz="2000" dirty="0" smtClean="0">
                <a:solidFill>
                  <a:schemeClr val="bg1"/>
                </a:solidFill>
                <a:latin typeface="Arial" panose="020B0604020202020204" pitchFamily="34" charset="0"/>
                <a:cs typeface="Arial" panose="020B0604020202020204" pitchFamily="34" charset="0"/>
              </a:rPr>
              <a:t>* </a:t>
            </a:r>
            <a:r>
              <a:rPr lang="en-US" sz="2000" dirty="0" smtClean="0">
                <a:solidFill>
                  <a:schemeClr val="bg1"/>
                </a:solidFill>
                <a:latin typeface="Arial" panose="020B0604020202020204" pitchFamily="34" charset="0"/>
                <a:cs typeface="Arial" panose="020B0604020202020204" pitchFamily="34" charset="0"/>
              </a:rPr>
              <a:t>failed!</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132367"/>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in the RCA:</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preceding pages provide sufficient content for any ENGG404 team of students to generate an RCA chart and drill down to latent causes.</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what would we find? Given the magnitude of this event, would we expect to find latent causes categorized as “P” or “S” or “C”?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report: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were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inadequately implemented</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while BP and Transocean had </a:t>
            </a:r>
            <a:r>
              <a:rPr lang="en-US" altLang="en-US" sz="1800" b="0" i="1"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rigourous</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corporate polices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risk management,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neither</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company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ensured their implementation</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t>
            </a:r>
            <a:r>
              <a:rPr lang="en-US" altLang="en-US" sz="18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 hazards of drilling associated with process safety (containment of hydrocarbons under pressure)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compared to occupational safety.”</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Sounds like a “C” … but let’s read 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Immediate and Basic Causes … Latent Causes? 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87800948"/>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Letter to Tony Hayward, CEO, BP from U.S. House Committee on Energy and Commerce officials: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appears to have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increased the danger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 catastrophic well failure.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several instances, 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appear to violate industry guidelines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were made despite warnings from BP’s own personnel and its contractors.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effect, it appears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repeatedly chose risky procedures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order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reduce costs and save time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minimal efforts to contain the added risks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Waxman, Henry, Committee Chair</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and Bart Stupak, Chair of Subcommittee on Oversight and Investigation</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2010. Letter to Tony Hayward, Chief Executive Officer, BP PLC.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http://energycommerce.house.gov/documents/20100614/Hayward.BP.2010.6.14.pdf</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accessed 10-June-2010</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47</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Culture and Organizational Factors</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71524308"/>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to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“My initial assessment of the MC252 (BP-</a:t>
            </a:r>
            <a:r>
              <a:rPr lang="en-US" altLang="en-US" sz="18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 is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by BP management to manage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series of technical and operational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to conduct a proper hazard analysis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the first change was a secondary change.</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MC252 loss incident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an operator nor mechanic (i.e. technical) root cause but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corporate management root cause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J. Frank.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576179"/>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4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4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has been much discussion of the immediate technical causes of the 2010 BP oil leaks, but the underlying or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was a change in the culture of the company as a whole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particularly in the U.S. Back in the 1960s and 1970s, BP had a good safety record and safety culture. Why has it changed?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Every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chemical and oil industries (and no doubt many others)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knows</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many operators, maintenance workers, foremen, and shift managers …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start taking short cuts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stop following instructions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Their attitude is a macho one, there their job is to make product, not fill in forms such as a permit –to-work. Professional staff, at all levels, should check details frequently or the procedures will corrode faster than the steelwork and soon vanish without trace. It is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enough for the professional staff (leadership) to take a helicopter view</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many, perhaps most, offshore rigs and platforms, the senior person in charge is usually someone who has risen form the ranks and would have been a foreman or shift manager if he had stayed onshore. While professional staff visit from time to time,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day-to-day checking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(by someone at a higher level). When there is a problem, the attitude of the senior person on the rig or platform is often a macho one: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the rules. Let’s get stuck in a finish the job</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parlance is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Git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er</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easy to point the finger at the management and assume that a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motivated by money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worth remembering that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same culture can also originate at the bottom</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driven by the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 to get the job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task of management is to know this and make sure it is done properly.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Trevor.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4706722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Journal of Drilling Engineering:</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majority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factors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associated with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are provided to the drilling and workover personnel.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most often are those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and safety</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unique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drilling and workover operations in this industry or even to the oil and gas industry.”</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Bea, R.G. 1998. “Real-time Prevention of Drilling and Workover Blowouts: Management Rapidly Developing Crises.” Journal of Drilling Engineering, May:1-10.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01702538"/>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Cultural Issues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Competing objectives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(conflicting incentives) of costs, schedule, and production over safety!</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made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 that increased the danger of a catastrophic well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repeatedly chose risky procedures in order 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costs and save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Normalization of Deviance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(Atrophy of Compliance):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will start taking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short cuts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stop following instructions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easy to point the finger at the management and assume that a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motivated by money. It is worth remembering that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culture can also originate at the bottom, driven by the desire to get the job done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task of management is to know this and make sure it is done properly</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2010.</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4691897"/>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Cultural Issues about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happened after drilling &amp; cement job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and nearing well-completion!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a similar rig incident which demonstrated the need for well monitoring (lower consequences) in the UK just four months prior, but no transfer of lessons to Gulf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Mexico.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hazards of drilling associated with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(containment of hydrocarbons under pressure)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compared to occupational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experienced a significant process safety-related loss at their Texas City refinery in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2005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shift of the risk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paradigm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more on process safety was lacking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BP drilling organization in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2010</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 It takes time to change culture!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77066692"/>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But there was minimal focus on process safety. </a:t>
            </a:r>
            <a:endParaRPr sz="2000" b="0" dirty="0">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Disregard for critical safety engineered systems for controlling down-hole pressures, detection of leakage, and blow-out prevention.</a:t>
            </a:r>
            <a:endParaRPr sz="2000" b="0" dirty="0">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0349925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But there was minimal focus on process safety. </a:t>
            </a:r>
            <a:endParaRPr sz="2000" b="0" dirty="0">
              <a:solidFill>
                <a:srgbClr val="FFFFFF"/>
              </a:solidFill>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solidFill>
                <a:srgbClr val="FFFFFF"/>
              </a:solidFill>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Disregard for critical safety engineered systems for controlling down-hole pressures, detection of leakage, and blow-out prevention.</a:t>
            </a:r>
            <a:endParaRPr sz="2000" b="0"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41772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safeguards were in place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eliminate the likelihood of or minimize the consequences of a blow-out, a process safety incident.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mud, steel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casing,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plugs, “kick” detection, cement barrier testing, and BOP) intended to prevent such a disaster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properly constructed, tested, or maintained, or they had been removed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inadequate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the safeguards meant to prevent, mitigate, or control a blowout failed on the day of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82249077"/>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BP, Transocean, and all other contractor / service companies recognized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Years without an LTI</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remarkable achievement, yet there was a catastrophic incident with tragic losses.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focus (measurement, recognition, reward) was on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much less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gets measured gets managed!</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means to motivate managers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misdirected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well-meaning goals and targets, but the down-side: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NOT measured is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well-managed!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 risks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associated with the drilling operations &amp; well status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appropriately considered, evaluated, or managed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 pressure was on, process safety management lacked visibility and leadership attention.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98335295"/>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80000"/>
              </a:lnSpc>
              <a:spcBef>
                <a:spcPts val="0"/>
              </a:spcBef>
              <a:spcAft>
                <a:spcPct val="0"/>
              </a:spcAft>
              <a:buClr>
                <a:srgbClr val="000000"/>
              </a:buClr>
              <a:buSzPct val="100000"/>
              <a:buFont typeface="Arial" panose="020B0604020202020204" pitchFamily="34" charset="0"/>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“Mine the diamond</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allocate finite resources to make sure high-hazard operations (i.e.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facilities and operations with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significant process safety hazards) are sustainably managed to acceptable risk exposure levels.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need to understand our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risks to </a:t>
            </a: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focus </a:t>
            </a:r>
            <a:b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limited resources </a:t>
            </a:r>
            <a:r>
              <a:rPr kumimoji="0" lang="en-US"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the right areas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hazards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the </a:t>
            </a:r>
            <a:r>
              <a:rPr kumimoji="0" lang="en-US"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strategic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thinking</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a clear understanding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our major hazards,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are better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prepared to ask the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questions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e.g. SC’s and SP’s relating to process safety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a:t>
            </a:r>
            <a:r>
              <a:rPr kumimoji="0" lang="en-US" altLang="en-US" sz="1800" b="1"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Anomalies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resolve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themselves with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immediate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negative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consequences are a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 that something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wrong and needs to be investigated!</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BP and </a:t>
            </a:r>
            <a:r>
              <a:rPr kumimoji="0" lang="en-US" altLang="en-US" sz="18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TransOcean</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were certainly focused on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occupational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but what about process safety?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signals were available?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System Did Not Focus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on Process Safety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Risks: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7: BP-</a:t>
            </a:r>
            <a:r>
              <a:rPr kumimoji="0" lang="en-US"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Macondo</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DWH 2010 </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6114793" y="1950958"/>
            <a:ext cx="2698607" cy="1650161"/>
          </a:xfrm>
          <a:prstGeom prst="rect">
            <a:avLst/>
          </a:prstGeom>
        </p:spPr>
      </p:pic>
      <p:pic>
        <p:nvPicPr>
          <p:cNvPr id="2" name="Picture 1"/>
          <p:cNvPicPr>
            <a:picLocks noChangeAspect="1"/>
          </p:cNvPicPr>
          <p:nvPr/>
        </p:nvPicPr>
        <p:blipFill>
          <a:blip r:embed="rId4"/>
          <a:stretch>
            <a:fillRect/>
          </a:stretch>
        </p:blipFill>
        <p:spPr>
          <a:xfrm>
            <a:off x="6114793" y="3709119"/>
            <a:ext cx="2698607" cy="1831981"/>
          </a:xfrm>
          <a:prstGeom prst="rect">
            <a:avLst/>
          </a:prstGeom>
          <a:ln>
            <a:solidFill>
              <a:schemeClr val="tx1"/>
            </a:solidFill>
          </a:ln>
        </p:spPr>
      </p:pic>
    </p:spTree>
    <p:extLst>
      <p:ext uri="{BB962C8B-B14F-4D97-AF65-F5344CB8AC3E}">
        <p14:creationId xmlns:p14="http://schemas.microsoft.com/office/powerpoint/2010/main" val="3252706150"/>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change – different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spec’ns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seal the well – managed?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differences of opinion on how to seal the well …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Transocean Manager vs the BP Manager</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BP Manager wanted … because it expedites the process.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Well, my process is different. I think we are going to do it this way.”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became clear who was ultimately responsible and accountable.</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decision was made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despite knowing the deficiencies in the Blowout Preventer (BOP)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appropriate decision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should have been to stop.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Stop. Think. Don’t do something stupid.” </a:t>
            </a:r>
            <a:endPar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Professor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Bob Bea</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#4: Management of </a:t>
            </a:r>
            <a:r>
              <a:rPr lang="en-US" altLang="en-US" sz="2400" b="0" dirty="0" smtClean="0">
                <a:solidFill>
                  <a:schemeClr val="accent2"/>
                </a:solidFill>
                <a:latin typeface="Arial" panose="020B0604020202020204" pitchFamily="34" charset="0"/>
                <a:ea typeface="+mj-ea"/>
                <a:cs typeface="Arial" panose="020B0604020202020204" pitchFamily="34" charset="0"/>
              </a:rPr>
              <a:t>Change: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80476548"/>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8"/>
          <p:cNvSpPr txBox="1">
            <a:spLocks noGrp="1"/>
          </p:cNvSpPr>
          <p:nvPr>
            <p:ph type="body" idx="4294967295"/>
          </p:nvPr>
        </p:nvSpPr>
        <p:spPr>
          <a:xfrm>
            <a:off x="179999"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1800" u="sng" dirty="0">
                <a:solidFill>
                  <a:srgbClr val="000000"/>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1800" dirty="0">
                <a:solidFill>
                  <a:srgbClr val="000000"/>
                </a:solidFill>
                <a:latin typeface="Arial" panose="020B0604020202020204" pitchFamily="34" charset="0"/>
                <a:ea typeface="Arial"/>
                <a:cs typeface="Arial" panose="020B0604020202020204" pitchFamily="34" charset="0"/>
                <a:sym typeface="Arial"/>
              </a:rPr>
              <a:t>. </a:t>
            </a:r>
          </a:p>
          <a:p>
            <a:pPr marL="360000" lvl="0" indent="-360000">
              <a:lnSpc>
                <a:spcPct val="80000"/>
              </a:lnSpc>
              <a:spcBef>
                <a:spcPts val="0"/>
              </a:spcBef>
              <a:spcAft>
                <a:spcPts val="0"/>
              </a:spcAft>
              <a:buClrTx/>
              <a:buSzPts val="2000"/>
              <a:buFont typeface="Wingdings" panose="05000000000000000000" pitchFamily="2" charset="2"/>
              <a:buChar char="Ø"/>
            </a:pP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Yet the companies </a:t>
            </a:r>
            <a:r>
              <a:rPr lang="en-US" sz="1800" u="sng" dirty="0">
                <a:solidFill>
                  <a:srgbClr val="000000"/>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1800" dirty="0">
                <a:solidFill>
                  <a:srgbClr val="000000"/>
                </a:solidFill>
                <a:latin typeface="Arial" panose="020B0604020202020204" pitchFamily="34" charset="0"/>
                <a:ea typeface="Arial"/>
                <a:cs typeface="Arial" panose="020B0604020202020204" pitchFamily="34" charset="0"/>
                <a:sym typeface="Arial"/>
              </a:rPr>
              <a:t>of the </a:t>
            </a:r>
            <a:r>
              <a:rPr lang="en-US" sz="1800" dirty="0" err="1">
                <a:solidFill>
                  <a:srgbClr val="000000"/>
                </a:solidFill>
                <a:latin typeface="Arial" panose="020B0604020202020204" pitchFamily="34" charset="0"/>
                <a:ea typeface="Arial"/>
                <a:cs typeface="Arial" panose="020B0604020202020204" pitchFamily="34" charset="0"/>
                <a:sym typeface="Arial"/>
              </a:rPr>
              <a:t>Macondo</a:t>
            </a:r>
            <a:r>
              <a:rPr lang="en-US" sz="1800" dirty="0">
                <a:solidFill>
                  <a:srgbClr val="000000"/>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114300" lvl="0" indent="0" algn="l" rtl="0">
              <a:lnSpc>
                <a:spcPct val="80000"/>
              </a:lnSpc>
              <a:spcBef>
                <a:spcPts val="0"/>
              </a:spcBef>
              <a:spcAft>
                <a:spcPts val="0"/>
              </a:spcAft>
              <a:buClrTx/>
              <a:buSzPts val="1800"/>
              <a:buNone/>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Through Formal Audits, driven by a robust PE&amp;CI program and committed leadership, senior leadership would have discovered that:</a:t>
            </a:r>
            <a:endParaRPr sz="1800" dirty="0">
              <a:solidFill>
                <a:schemeClr val="tx1"/>
              </a:solidFill>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Critical changes were being made without adequate, thorough reviews, and </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risks were not being managed to any great degree, certainly not as thorough as were the risks for occupational activities.</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issues (SC’s, SP’s, NM’s, and lower-impact LI’s) were not being investigated nor addressed.  </a:t>
            </a:r>
            <a:endParaRPr sz="1800" dirty="0">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Our management system will only be effective when it is developed, </a:t>
            </a:r>
            <a:br>
              <a:rPr lang="en-US" sz="1800" dirty="0">
                <a:solidFill>
                  <a:schemeClr val="tx1"/>
                </a:solidFill>
                <a:latin typeface="Arial" panose="020B0604020202020204" pitchFamily="34" charset="0"/>
                <a:ea typeface="Arial"/>
                <a:cs typeface="Arial" panose="020B0604020202020204" pitchFamily="34" charset="0"/>
                <a:sym typeface="Arial"/>
              </a:rPr>
            </a:br>
            <a:r>
              <a:rPr lang="en-US" sz="1800" dirty="0">
                <a:solidFill>
                  <a:schemeClr val="tx1"/>
                </a:solidFill>
                <a:latin typeface="Arial" panose="020B0604020202020204" pitchFamily="34" charset="0"/>
                <a:ea typeface="Arial"/>
                <a:cs typeface="Arial" panose="020B0604020202020204" pitchFamily="34" charset="0"/>
                <a:sym typeface="Arial"/>
              </a:rPr>
              <a:t>implemented, and maintained through </a:t>
            </a:r>
            <a:r>
              <a:rPr lang="en-US" sz="1800" u="sng" dirty="0">
                <a:solidFill>
                  <a:schemeClr val="tx1"/>
                </a:solidFill>
                <a:latin typeface="Arial" panose="020B0604020202020204" pitchFamily="34" charset="0"/>
                <a:ea typeface="Arial"/>
                <a:cs typeface="Arial" panose="020B0604020202020204" pitchFamily="34" charset="0"/>
                <a:sym typeface="Arial"/>
              </a:rPr>
              <a:t>active program evaluation and </a:t>
            </a:r>
            <a:br>
              <a:rPr lang="en-US" sz="1800" u="sng" dirty="0">
                <a:solidFill>
                  <a:schemeClr val="tx1"/>
                </a:solidFill>
                <a:latin typeface="Arial" panose="020B0604020202020204" pitchFamily="34" charset="0"/>
                <a:ea typeface="Arial"/>
                <a:cs typeface="Arial" panose="020B0604020202020204" pitchFamily="34" charset="0"/>
                <a:sym typeface="Arial"/>
              </a:rPr>
            </a:br>
            <a:r>
              <a:rPr lang="en-US" sz="1800" u="sng" dirty="0">
                <a:solidFill>
                  <a:schemeClr val="tx1"/>
                </a:solidFill>
                <a:latin typeface="Arial" panose="020B0604020202020204" pitchFamily="34" charset="0"/>
                <a:ea typeface="Arial"/>
                <a:cs typeface="Arial" panose="020B0604020202020204" pitchFamily="34" charset="0"/>
                <a:sym typeface="Arial"/>
              </a:rPr>
              <a:t>continuous improvement</a:t>
            </a:r>
            <a:r>
              <a:rPr lang="en-US" sz="1800" dirty="0">
                <a:solidFill>
                  <a:schemeClr val="tx1"/>
                </a:solidFill>
                <a:latin typeface="Arial" panose="020B0604020202020204" pitchFamily="34" charset="0"/>
                <a:ea typeface="Arial"/>
                <a:cs typeface="Arial" panose="020B0604020202020204" pitchFamily="34" charset="0"/>
                <a:sym typeface="Arial"/>
              </a:rPr>
              <a:t>.</a:t>
            </a:r>
            <a:endParaRPr sz="1800" dirty="0">
              <a:solidFill>
                <a:schemeClr val="tx1"/>
              </a:solidFill>
              <a:latin typeface="Arial" panose="020B0604020202020204" pitchFamily="34" charset="0"/>
              <a:cs typeface="Arial" panose="020B0604020202020204" pitchFamily="34" charset="0"/>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p:txBody>
      </p:sp>
      <p:sp>
        <p:nvSpPr>
          <p:cNvPr id="359" name="Google Shape;359;p18"/>
          <p:cNvSpPr txBox="1"/>
          <p:nvPr/>
        </p:nvSpPr>
        <p:spPr>
          <a:xfrm>
            <a:off x="186095" y="2667000"/>
            <a:ext cx="8640000" cy="9144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i="1" dirty="0">
                <a:solidFill>
                  <a:srgbClr val="FFFFFF"/>
                </a:solidFill>
                <a:latin typeface="Arial"/>
                <a:ea typeface="Arial"/>
                <a:cs typeface="Arial"/>
                <a:sym typeface="Arial"/>
              </a:rPr>
              <a:t>Q: What needed to change in order to prevent an incident</a:t>
            </a:r>
            <a:r>
              <a:rPr lang="en-US" i="1" dirty="0" smtClean="0">
                <a:solidFill>
                  <a:srgbClr val="FFFFFF"/>
                </a:solidFill>
                <a:latin typeface="Arial"/>
                <a:ea typeface="Arial"/>
                <a:cs typeface="Arial"/>
                <a:sym typeface="Arial"/>
              </a:rPr>
              <a:t>?</a:t>
            </a:r>
            <a:endParaRPr i="1" dirty="0">
              <a:solidFill>
                <a:srgbClr val="FFFFFF"/>
              </a:solidFill>
              <a:latin typeface="Arial"/>
              <a:ea typeface="Arial"/>
              <a:cs typeface="Arial"/>
              <a:sym typeface="Arial"/>
            </a:endParaRPr>
          </a:p>
          <a:p>
            <a:pPr marL="342900" marR="0" lvl="0" indent="-342900" algn="l" rtl="0">
              <a:spcBef>
                <a:spcPts val="0"/>
              </a:spcBef>
              <a:spcAft>
                <a:spcPts val="0"/>
              </a:spcAft>
              <a:buClr>
                <a:srgbClr val="FFFFFF"/>
              </a:buClr>
              <a:buSzPts val="2000"/>
              <a:buFont typeface="Noto Sans Symbols"/>
              <a:buChar char="⮚"/>
            </a:pPr>
            <a:r>
              <a:rPr lang="en-US" i="1" dirty="0">
                <a:solidFill>
                  <a:srgbClr val="FFFFFF"/>
                </a:solidFill>
                <a:latin typeface="Arial"/>
                <a:ea typeface="Arial"/>
                <a:cs typeface="Arial"/>
                <a:sym typeface="Arial"/>
              </a:rPr>
              <a:t>“Implement those ESRM policies” - far easier said than done. </a:t>
            </a:r>
            <a:endParaRPr dirty="0"/>
          </a:p>
          <a:p>
            <a:pPr marL="342900" marR="0" lvl="0" indent="-342900" algn="l" rtl="0">
              <a:spcBef>
                <a:spcPts val="0"/>
              </a:spcBef>
              <a:spcAft>
                <a:spcPts val="0"/>
              </a:spcAft>
              <a:buClr>
                <a:srgbClr val="FFFFFF"/>
              </a:buClr>
              <a:buSzPts val="2000"/>
              <a:buFont typeface="Noto Sans Symbols"/>
              <a:buChar char="⮚"/>
            </a:pPr>
            <a:r>
              <a:rPr lang="en-US" i="1" dirty="0" smtClean="0">
                <a:solidFill>
                  <a:srgbClr val="FFFFFF"/>
                </a:solidFill>
                <a:latin typeface="Arial"/>
                <a:ea typeface="Arial"/>
                <a:cs typeface="Arial"/>
                <a:sym typeface="Arial"/>
              </a:rPr>
              <a:t>What </a:t>
            </a:r>
            <a:r>
              <a:rPr lang="en-US" i="1" dirty="0">
                <a:solidFill>
                  <a:srgbClr val="FFFFFF"/>
                </a:solidFill>
                <a:latin typeface="Arial"/>
                <a:ea typeface="Arial"/>
                <a:cs typeface="Arial"/>
                <a:sym typeface="Arial"/>
              </a:rPr>
              <a:t>could we do as leaders to push implementation?</a:t>
            </a:r>
            <a:endParaRPr i="1"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090392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report stated that "whether purposeful or not, many of the decisions that BP, Halliburton, and Transocean made that increased the risk of the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blowout clearly saved those companies significant time (and money).”</a:t>
            </a:r>
          </a:p>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company values!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your program!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you make decisions, put safety ahead of any other objective!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failures in safety systems and take action!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Application of the Engineer’s Survival </a:t>
            </a:r>
            <a:r>
              <a:rPr lang="en-US" altLang="en-US" sz="2400" b="0" dirty="0" smtClean="0">
                <a:solidFill>
                  <a:schemeClr val="accent2"/>
                </a:solidFill>
                <a:latin typeface="Arial" panose="020B0604020202020204" pitchFamily="34" charset="0"/>
                <a:ea typeface="+mj-ea"/>
                <a:cs typeface="Arial" panose="020B0604020202020204" pitchFamily="34" charset="0"/>
              </a:rPr>
              <a:t>Guide: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59;p18"/>
          <p:cNvSpPr txBox="1"/>
          <p:nvPr/>
        </p:nvSpPr>
        <p:spPr>
          <a:xfrm>
            <a:off x="180000" y="4032000"/>
            <a:ext cx="8640000" cy="21600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lvl="0"/>
            <a:r>
              <a:rPr lang="en-US" sz="2000" b="0" i="1" dirty="0" smtClean="0">
                <a:solidFill>
                  <a:srgbClr val="FFFFFF"/>
                </a:solidFill>
              </a:rPr>
              <a:t>An opportunity </a:t>
            </a:r>
            <a:r>
              <a:rPr lang="en-US" sz="2000" b="0" i="1" dirty="0">
                <a:solidFill>
                  <a:srgbClr val="FFFFFF"/>
                </a:solidFill>
              </a:rPr>
              <a:t>to apply the Engineer’s Survival Guide:</a:t>
            </a:r>
          </a:p>
          <a:p>
            <a:pPr marL="457200" lvl="0" indent="-457200">
              <a:buClrTx/>
              <a:buFont typeface="+mj-lt"/>
              <a:buAutoNum type="alphaLcParenR"/>
            </a:pPr>
            <a:r>
              <a:rPr lang="en-US" sz="2000" b="0" i="1" dirty="0">
                <a:solidFill>
                  <a:srgbClr val="FFFFFF"/>
                </a:solidFill>
              </a:rPr>
              <a:t>What was the situation?</a:t>
            </a:r>
          </a:p>
          <a:p>
            <a:pPr marL="457200" lvl="0" indent="-457200">
              <a:buClrTx/>
              <a:buFont typeface="+mj-lt"/>
              <a:buAutoNum type="alphaLcParenR"/>
            </a:pPr>
            <a:r>
              <a:rPr lang="en-US" sz="2000" b="0" i="1" dirty="0">
                <a:solidFill>
                  <a:srgbClr val="FFFFFF"/>
                </a:solidFill>
              </a:rPr>
              <a:t>What was the issue with that situation?</a:t>
            </a:r>
          </a:p>
          <a:p>
            <a:pPr marL="457200" lvl="0" indent="-457200">
              <a:buClrTx/>
              <a:buFont typeface="+mj-lt"/>
              <a:buAutoNum type="alphaLcParenR"/>
            </a:pPr>
            <a:r>
              <a:rPr lang="en-US" sz="2000" b="0" i="1" dirty="0">
                <a:solidFill>
                  <a:srgbClr val="FFFFFF"/>
                </a:solidFill>
              </a:rPr>
              <a:t>What Key Point was violated?</a:t>
            </a:r>
          </a:p>
          <a:p>
            <a:pPr marL="457200" lvl="0" indent="-457200">
              <a:buClrTx/>
              <a:buFont typeface="+mj-lt"/>
              <a:buAutoNum type="alphaLcParenR"/>
            </a:pPr>
            <a:r>
              <a:rPr lang="en-US" sz="2000" b="0" i="1" dirty="0">
                <a:solidFill>
                  <a:srgbClr val="FFFFFF"/>
                </a:solidFill>
              </a:rPr>
              <a:t>What would you have done in that situation?</a:t>
            </a:r>
          </a:p>
          <a:p>
            <a:pPr marL="457200" lvl="0" indent="-457200">
              <a:buClrTx/>
              <a:buFont typeface="+mj-lt"/>
              <a:buAutoNum type="alphaLcParenR"/>
            </a:pPr>
            <a:r>
              <a:rPr lang="en-US" sz="2000" b="0" i="1" dirty="0">
                <a:solidFill>
                  <a:srgbClr val="FFFFFF"/>
                </a:solidFill>
              </a:rPr>
              <a:t>What would have been the probable outcome had you done it?</a:t>
            </a:r>
          </a:p>
          <a:p>
            <a:pPr lvl="0"/>
            <a:endParaRPr lang="en-US" sz="2000" b="0" i="1" dirty="0">
              <a:solidFill>
                <a:srgbClr val="FFFFFF"/>
              </a:solidFill>
            </a:endParaRPr>
          </a:p>
          <a:p>
            <a:pPr marL="342900" marR="0" lvl="0" indent="-215900" algn="l" rtl="0">
              <a:spcBef>
                <a:spcPts val="0"/>
              </a:spcBef>
              <a:spcAft>
                <a:spcPts val="0"/>
              </a:spcAft>
              <a:buClr>
                <a:schemeClr val="dk1"/>
              </a:buClr>
              <a:buSzPts val="2000"/>
              <a:buFont typeface="Noto Sans Symbols"/>
              <a:buNone/>
            </a:pPr>
            <a:endParaRPr sz="2000" b="0" i="1"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870955376"/>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 the Diamond!</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must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smartly allocate finite resources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ensure high-hazard operations (i.e. with significant process safety hazards) are sustainably managed to acceptable risk exposure levels.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need to understand our major risks to focus limited resources on the right areas (major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a:t>
            </a:r>
            <a:r>
              <a:rPr lang="en-US" altLang="en-US" sz="20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strategic thinking!</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clear understanding of our major hazards, we are better prepared to ask the right questions to manage them.</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Anomalies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do resolve themselves with no immediate negative consequences are a signal.</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e.g. SC’s and SP’s relating to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management system will only be effective when it is developed,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implemented, and maintained through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active program evaluation and continuous improvement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&amp;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55057785"/>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70231</TotalTime>
  <Words>7133</Words>
  <Application>Microsoft Office PowerPoint</Application>
  <PresentationFormat>On-screen Show (4:3)</PresentationFormat>
  <Paragraphs>790</Paragraphs>
  <Slides>51</Slides>
  <Notes>51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ＭＳ Ｐゴシック</vt:lpstr>
      <vt:lpstr>Arial</vt:lpstr>
      <vt:lpstr>Calibri</vt:lpstr>
      <vt:lpstr>Noto Sans Symbols</vt:lpstr>
      <vt:lpstr>Times</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1959</cp:revision>
  <cp:lastPrinted>2018-12-17T22:21:47Z</cp:lastPrinted>
  <dcterms:created xsi:type="dcterms:W3CDTF">2007-03-28T16:18:47Z</dcterms:created>
  <dcterms:modified xsi:type="dcterms:W3CDTF">2021-10-21T16:21:40Z</dcterms:modified>
</cp:coreProperties>
</file>