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903" r:id="rId2"/>
    <p:sldId id="895" r:id="rId3"/>
    <p:sldId id="880" r:id="rId4"/>
    <p:sldId id="912" r:id="rId5"/>
    <p:sldId id="913" r:id="rId6"/>
    <p:sldId id="916" r:id="rId7"/>
    <p:sldId id="917" r:id="rId8"/>
    <p:sldId id="918" r:id="rId9"/>
    <p:sldId id="914" r:id="rId10"/>
    <p:sldId id="919" r:id="rId11"/>
    <p:sldId id="911" r:id="rId1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903"/>
            <p14:sldId id="895"/>
            <p14:sldId id="880"/>
            <p14:sldId id="912"/>
            <p14:sldId id="913"/>
            <p14:sldId id="916"/>
            <p14:sldId id="917"/>
            <p14:sldId id="918"/>
            <p14:sldId id="914"/>
            <p14:sldId id="919"/>
            <p14:sldId id="9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FF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2018-2019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C1B2D4-D253-4E31-9E2D-1C0C9E43F40F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7103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07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59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86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57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800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67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910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7FB433E-B2BE-4F8E-9362-C5950E381217}" type="datetime1">
              <a:rPr lang="en-US" altLang="en-US" sz="1200"/>
              <a:pPr/>
              <a:t>11/14/2021</a:t>
            </a:fld>
            <a:endParaRPr lang="en-US" altLang="en-US" sz="1200"/>
          </a:p>
        </p:txBody>
      </p:sp>
      <p:sp>
        <p:nvSpPr>
          <p:cNvPr id="174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A3F1085-B46D-4221-A134-30F2D94A60BB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74084" name="Rectangle 7"/>
          <p:cNvSpPr txBox="1">
            <a:spLocks noGrp="1" noChangeArrowheads="1"/>
          </p:cNvSpPr>
          <p:nvPr/>
        </p:nvSpPr>
        <p:spPr bwMode="auto">
          <a:xfrm>
            <a:off x="3956572" y="8958495"/>
            <a:ext cx="3025545" cy="47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81" tIns="47789" rIns="95581" bIns="47789" anchor="b"/>
          <a:lstStyle>
            <a:lvl1pPr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55650" indent="-290513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62050" indent="-231775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27188" indent="-231775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90738" indent="-233363" defTabSz="9556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479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0051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623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919538" indent="-233363" defTabSz="955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1113FA26-F495-40FA-8CA3-216A94C1DA1B}" type="slidenum">
              <a:rPr lang="en-US" altLang="en-US" sz="1300"/>
              <a:pPr algn="r"/>
              <a:t>11</a:t>
            </a:fld>
            <a:endParaRPr lang="en-US" altLang="en-US" sz="1300"/>
          </a:p>
        </p:txBody>
      </p:sp>
      <p:sp>
        <p:nvSpPr>
          <p:cNvPr id="1740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8238" y="709613"/>
            <a:ext cx="4710112" cy="3533775"/>
          </a:xfrm>
          <a:ln/>
        </p:spPr>
      </p:sp>
      <p:sp>
        <p:nvSpPr>
          <p:cNvPr id="174086" name="Notes Placeholder 2"/>
          <p:cNvSpPr>
            <a:spLocks noGrp="1"/>
          </p:cNvSpPr>
          <p:nvPr>
            <p:ph type="body" idx="1"/>
          </p:nvPr>
        </p:nvSpPr>
        <p:spPr>
          <a:xfrm>
            <a:off x="931029" y="4477123"/>
            <a:ext cx="5120060" cy="4243385"/>
          </a:xfrm>
          <a:noFill/>
        </p:spPr>
        <p:txBody>
          <a:bodyPr wrap="none" lIns="94724" tIns="47363" rIns="94724" bIns="47363"/>
          <a:lstStyle/>
          <a:p>
            <a:endParaRPr lang="en-CA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74087" name="Slide Number Placeholder 3"/>
          <p:cNvSpPr txBox="1">
            <a:spLocks noGrp="1"/>
          </p:cNvSpPr>
          <p:nvPr/>
        </p:nvSpPr>
        <p:spPr bwMode="auto">
          <a:xfrm>
            <a:off x="3954200" y="8958495"/>
            <a:ext cx="3027917" cy="47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98" tIns="47549" rIns="95098" bIns="47549" anchor="b"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0D8560-A881-4723-A282-B1C81640168A}" type="slidenum">
              <a:rPr lang="en-US" altLang="en-US"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2018-2019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62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le:Kodak Instamatic 100.jpg - Wikipedi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0" y="864000"/>
            <a:ext cx="6809887" cy="53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114300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Let’s take a class picture!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2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 on Career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Lessons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few pointers to help you as you begin your careers: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 your Business: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in Risk Management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 Your Relationships: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Your Job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With Your Direct Supervisor: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a Professional! 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Establish </a:t>
            </a: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professional values:</a:t>
            </a:r>
          </a:p>
          <a:p>
            <a:pPr marL="1390650" lvl="2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i="1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“Integrity. Initiative. Innovation. Industriousness</a:t>
            </a:r>
            <a:r>
              <a:rPr lang="en-US" altLang="en-US" sz="2000" b="0" i="1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.”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Competent</a:t>
            </a:r>
          </a:p>
          <a:p>
            <a:pPr marL="1390650" lvl="2" indent="-53340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altLang="en-US" sz="2000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Quebec Bridge Loss Incident</a:t>
            </a:r>
            <a:endParaRPr lang="en-US" altLang="en-US" sz="2000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AutoNum type="arabicParenR"/>
            </a:pPr>
            <a:r>
              <a:rPr lang="en-US" altLang="en-US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</a:t>
            </a: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Guidance - Leadership in RM and Your Career</a:t>
            </a:r>
            <a:r>
              <a:rPr lang="en-US" altLang="en-US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lang="en-US" alt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Our Personal Lessons To You: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lvl="0" indent="-342900">
              <a:lnSpc>
                <a:spcPct val="10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Can you become and be a “Leader in Risk Management?”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If you were asked these questions, how would you reply?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Q: </a:t>
            </a:r>
            <a:r>
              <a:rPr lang="en-US" altLang="en-US" b="0" dirty="0" smtClean="0">
                <a:solidFill>
                  <a:srgbClr val="000000"/>
                </a:solidFill>
                <a:latin typeface="Arial" charset="0"/>
              </a:rPr>
              <a:t>“What </a:t>
            </a: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is a Manager? What is a Leader</a:t>
            </a:r>
            <a:r>
              <a:rPr lang="en-US" altLang="en-US" b="0" dirty="0" smtClean="0">
                <a:solidFill>
                  <a:srgbClr val="000000"/>
                </a:solidFill>
                <a:latin typeface="Arial" charset="0"/>
              </a:rPr>
              <a:t>?”</a:t>
            </a: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b="0" dirty="0">
                <a:solidFill>
                  <a:srgbClr val="000000"/>
                </a:solidFill>
                <a:latin typeface="Arial" charset="0"/>
              </a:rPr>
              <a:t>Q: “What is Leadership in Risk Management</a:t>
            </a:r>
            <a:r>
              <a:rPr lang="en-US" altLang="en-US" b="0" dirty="0" smtClean="0">
                <a:solidFill>
                  <a:srgbClr val="000000"/>
                </a:solidFill>
                <a:latin typeface="Arial" charset="0"/>
              </a:rPr>
              <a:t>?”</a:t>
            </a:r>
            <a:endParaRPr lang="en-US" altLang="en-US" b="0" dirty="0">
              <a:solidFill>
                <a:srgbClr val="000000"/>
              </a:solidFill>
              <a:latin typeface="Arial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altLang="en-US" b="0" i="1" dirty="0">
                <a:solidFill>
                  <a:srgbClr val="000000"/>
                </a:solidFill>
                <a:latin typeface="Arial" charset="0"/>
              </a:rPr>
              <a:t>… that’s what this course is about!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1) Manage Your Business!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6125"/>
              </p:ext>
            </p:extLst>
          </p:nvPr>
        </p:nvGraphicFramePr>
        <p:xfrm>
          <a:off x="180000" y="2514600"/>
          <a:ext cx="86400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7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Manager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Keeps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</a:t>
                      </a:r>
                      <a:b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organization going.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Leaders </a:t>
                      </a:r>
                      <a:r>
                        <a:rPr lang="en-CA" u="sng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make things happen</a:t>
                      </a: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(in a principled manner) that would not have happened otherwise.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Maintains the </a:t>
                      </a:r>
                      <a:b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“status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quo”.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Envisions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how the organization can improve, and </a:t>
                      </a:r>
                      <a:r>
                        <a:rPr lang="en-CA" u="sng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to improve and advance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organization. 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satisfied with current performance.</a:t>
                      </a:r>
                      <a:r>
                        <a:rPr lang="en-CA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 </a:t>
                      </a:r>
                      <a:r>
                        <a:rPr lang="en-CA" u="sng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proactive</a:t>
                      </a:r>
                      <a:r>
                        <a:rPr lang="en-CA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“making things happen”.</a:t>
                      </a:r>
                      <a:endParaRPr lang="en-CA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8675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your job: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have professional responsibilities and are accountable!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 your objectives! 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Execute all steps of the fundamental function of management.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2) Manage Your Relationships!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14600"/>
            <a:ext cx="3017520" cy="3017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49167" r="11670"/>
          <a:stretch/>
        </p:blipFill>
        <p:spPr>
          <a:xfrm>
            <a:off x="3973110" y="2514600"/>
            <a:ext cx="4465087" cy="30175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87420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practical advice to work with your direct supervisor: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Ensure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are meeting expectations, and managing your responsibilities such that there are “no surprises”!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Take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initiative to communicate. Seek clarity when directions clash with ethics, values, policies, etc. Keep your supervisor informed especially when things are not going per the plan. </a:t>
            </a:r>
          </a:p>
          <a:p>
            <a:pPr lvl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Supervisors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want solutions, not excuses, and not more problems. 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SzPct val="100000"/>
              <a:buNone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2) Manage Your Relationships!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81000" y="3636000"/>
            <a:ext cx="5342286" cy="18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457200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en-US" sz="3600" b="1" dirty="0">
                <a:solidFill>
                  <a:srgbClr val="CC3300"/>
                </a:solidFill>
                <a:latin typeface="Calibri" panose="020F0502020204030204" pitchFamily="34" charset="0"/>
              </a:rPr>
              <a:t>FYI: Bosses want solutions! NOT excuses and </a:t>
            </a:r>
            <a:br>
              <a:rPr lang="en-US" altLang="en-US" sz="3600" b="1" dirty="0">
                <a:solidFill>
                  <a:srgbClr val="CC3300"/>
                </a:solidFill>
                <a:latin typeface="Calibri" panose="020F0502020204030204" pitchFamily="34" charset="0"/>
              </a:rPr>
            </a:br>
            <a:r>
              <a:rPr lang="en-US" altLang="en-US" sz="3600" b="1" dirty="0">
                <a:solidFill>
                  <a:srgbClr val="CC3300"/>
                </a:solidFill>
                <a:latin typeface="Calibri" panose="020F0502020204030204" pitchFamily="34" charset="0"/>
              </a:rPr>
              <a:t>NOT more problems!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84" y="3636000"/>
            <a:ext cx="2629853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151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professional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values:</a:t>
            </a:r>
          </a:p>
          <a:p>
            <a:pPr lvl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two “ideas” about of integrity!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Initiative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anticipate and get ahead of what is needed, </a:t>
            </a:r>
            <a:b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on what you can deliver!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use your smarts to develop solutions.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Industriousness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put in the effort, but </a:t>
            </a:r>
            <a:r>
              <a:rPr lang="en-US" altLang="en-US" b="0" u="sng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smart about your work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endParaRPr lang="en-US" altLang="en-US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3) Be a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Professional, Be a Leader!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13948573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Performance is built on culture …</a:t>
            </a: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2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culture is built by YOU!</a:t>
            </a:r>
            <a:endParaRPr kumimoji="0" lang="en-US" altLang="en-US" sz="2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Be a Professional, Be a Leader!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92725"/>
            <a:ext cx="4435093" cy="3998550"/>
          </a:xfrm>
          <a:prstGeom prst="rect">
            <a:avLst/>
          </a:prstGeom>
        </p:spPr>
      </p:pic>
      <p:sp>
        <p:nvSpPr>
          <p:cNvPr id="1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</p:spTree>
    <p:extLst>
      <p:ext uri="{BB962C8B-B14F-4D97-AF65-F5344CB8AC3E}">
        <p14:creationId xmlns:p14="http://schemas.microsoft.com/office/powerpoint/2010/main" val="255684808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competent in your career!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proud of your profession’s achievements and contributions </a:t>
            </a:r>
            <a:b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society, but also of your own personal triumphs!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But don’t let your pride and arrogance get ahead of yourself. </a:t>
            </a:r>
          </a:p>
          <a:p>
            <a:pPr marL="720000" lvl="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lang="en-US" altLang="en-US" b="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 not want to be the author of a case study.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3) Be a Professional, Be a Leader!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238" y="3204000"/>
            <a:ext cx="3071562" cy="25920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94790" y="3204000"/>
            <a:ext cx="4648994" cy="2592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000000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The Quebec Bridge Disaster, near Quebec City, August 29, 1907: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Reputations ruined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Capital investment lost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years to clean up.</a:t>
            </a:r>
          </a:p>
          <a:p>
            <a:pPr marL="609600" indent="-6096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1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75 workers were killed</a:t>
            </a:r>
          </a:p>
          <a:p>
            <a:pPr marL="0" indent="0">
              <a:buClr>
                <a:srgbClr val="000000"/>
              </a:buClr>
              <a:buSzPct val="100000"/>
              <a:buNone/>
            </a:pPr>
            <a:r>
              <a:rPr lang="en-US" altLang="en-US" sz="1800" b="1" kern="0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 and the significance of your Iron Ring</a:t>
            </a:r>
          </a:p>
        </p:txBody>
      </p:sp>
    </p:spTree>
    <p:extLst>
      <p:ext uri="{BB962C8B-B14F-4D97-AF65-F5344CB8AC3E}">
        <p14:creationId xmlns:p14="http://schemas.microsoft.com/office/powerpoint/2010/main" val="32666382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course is based on the “real workplace” 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experience with well over 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150 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expertise-years in industry. 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 guidance for you as you embark on your career:</a:t>
            </a: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success (or failure) in your career rests on: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</a:t>
            </a:r>
            <a:r>
              <a:rPr 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skills</a:t>
            </a:r>
            <a:r>
              <a:rPr 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(or lack of) </a:t>
            </a: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RM.</a:t>
            </a:r>
            <a:endParaRPr 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sz="18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desire to “be” an engineer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whether as a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leader/manager</a:t>
            </a:r>
            <a:r>
              <a:rPr kumimoji="0" lang="en-US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or individual contributor.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b="0" baseline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Leading organizations have been practicing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RM for &gt;50 years, have benefitted from RM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a competitive advantage, and continue to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evolve towards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“Zero Incidents”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Evolving organizations recognize that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excellence in RM is necessary to be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sustainable and to compete.</a:t>
            </a:r>
          </a:p>
          <a:p>
            <a:pPr marL="36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Excellence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 safety and risk management will be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career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success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…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don't "get it", you will not succeed!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Some Guidance for You: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00" y="1667938"/>
            <a:ext cx="2160000" cy="13611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00" y="3102301"/>
            <a:ext cx="2160000" cy="16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00" y="4776347"/>
            <a:ext cx="2160000" cy="1414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98691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0" name="Rectangle 5"/>
          <p:cNvSpPr>
            <a:spLocks noChangeArrowheads="1"/>
          </p:cNvSpPr>
          <p:nvPr/>
        </p:nvSpPr>
        <p:spPr bwMode="auto">
          <a:xfrm>
            <a:off x="0" y="1785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en-US" sz="2400"/>
          </a:p>
        </p:txBody>
      </p:sp>
      <p:sp>
        <p:nvSpPr>
          <p:cNvPr id="173061" name="Text Box 7"/>
          <p:cNvSpPr txBox="1">
            <a:spLocks noChangeArrowheads="1"/>
          </p:cNvSpPr>
          <p:nvPr/>
        </p:nvSpPr>
        <p:spPr bwMode="auto">
          <a:xfrm>
            <a:off x="180000" y="828000"/>
            <a:ext cx="8811600" cy="5328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/>
          <a:lstStyle>
            <a:lvl1pPr marL="457200" indent="-4572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86000" indent="-4572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/>
              <a:t>This brings us to the conclusion of our lectures. </a:t>
            </a:r>
            <a:endParaRPr lang="en-US" altLang="en-US" sz="20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 smtClean="0"/>
              <a:t>Your </a:t>
            </a:r>
            <a:r>
              <a:rPr lang="en-US" altLang="en-US" sz="2000" i="1" dirty="0"/>
              <a:t>future employer will be well supported by your efforts </a:t>
            </a:r>
            <a:r>
              <a:rPr lang="en-US" altLang="en-US" sz="2000" i="1" dirty="0" smtClean="0"/>
              <a:t/>
            </a:r>
            <a:br>
              <a:rPr lang="en-US" altLang="en-US" sz="2000" i="1" dirty="0" smtClean="0"/>
            </a:br>
            <a:r>
              <a:rPr lang="en-US" altLang="en-US" sz="2000" i="1" dirty="0" smtClean="0"/>
              <a:t>in </a:t>
            </a:r>
            <a:r>
              <a:rPr lang="en-US" altLang="en-US" sz="2000" i="1" dirty="0"/>
              <a:t>safety and risk management. </a:t>
            </a:r>
            <a:endParaRPr lang="en-US" altLang="en-US" sz="20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 smtClean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 smtClean="0"/>
              <a:t>Thank </a:t>
            </a:r>
            <a:r>
              <a:rPr lang="en-US" altLang="en-US" sz="2000" i="1" dirty="0"/>
              <a:t>you for your participation, and for your commitment to learning and applying the principles of engineering safety and risk management in your careers</a:t>
            </a:r>
            <a:r>
              <a:rPr lang="en-US" altLang="en-US" sz="2000" i="1" dirty="0" smtClean="0"/>
              <a:t>.</a:t>
            </a:r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 smtClean="0"/>
              <a:t>We </a:t>
            </a:r>
            <a:r>
              <a:rPr lang="en-US" altLang="en-US" sz="2000" i="1" dirty="0"/>
              <a:t>sincerely wish you the best of success on all of your final exams and for a bright future in your careers</a:t>
            </a:r>
            <a:r>
              <a:rPr lang="en-US" altLang="en-US" sz="2000" i="1" dirty="0" smtClean="0"/>
              <a:t>!</a:t>
            </a:r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i="1" dirty="0"/>
          </a:p>
          <a:p>
            <a:pPr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i="1" dirty="0"/>
              <a:t>It truly has been a privilege teaching you, and learning together with you</a:t>
            </a:r>
            <a:r>
              <a:rPr lang="en-US" altLang="en-US" sz="2000" i="1" dirty="0" smtClean="0"/>
              <a:t>.</a:t>
            </a:r>
            <a:endParaRPr lang="en-US" altLang="en-US" sz="2000" i="1" dirty="0"/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endParaRPr lang="en-US" altLang="en-US" sz="1600" i="1" dirty="0" smtClean="0"/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2000" i="1" dirty="0" smtClean="0"/>
              <a:t>Thank you!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endParaRPr lang="en-US" altLang="en-US" sz="2000" i="1" dirty="0"/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</a:pPr>
            <a:r>
              <a:rPr lang="en-US" altLang="en-US" sz="2000" i="1" dirty="0" smtClean="0"/>
              <a:t>Dr</a:t>
            </a:r>
            <a:r>
              <a:rPr lang="en-US" altLang="en-US" sz="2000" i="1" dirty="0"/>
              <a:t>. White, Dr</a:t>
            </a:r>
            <a:r>
              <a:rPr lang="en-US" altLang="en-US" sz="2000" i="1" dirty="0" smtClean="0"/>
              <a:t>. </a:t>
            </a:r>
            <a:r>
              <a:rPr lang="en-US" altLang="en-US" sz="2000" i="1" dirty="0" err="1" smtClean="0"/>
              <a:t>Macciotta</a:t>
            </a:r>
            <a:r>
              <a:rPr lang="en-US" altLang="en-US" sz="2000" i="1" dirty="0" smtClean="0"/>
              <a:t>, Professor Coles, Professor </a:t>
            </a:r>
            <a:r>
              <a:rPr lang="en-US" altLang="en-US" sz="2000" i="1" dirty="0" err="1" smtClean="0"/>
              <a:t>Winkel</a:t>
            </a:r>
            <a:r>
              <a:rPr lang="en-US" altLang="en-US" sz="2000" i="1" dirty="0" smtClean="0"/>
              <a:t>, &amp; </a:t>
            </a:r>
            <a:r>
              <a:rPr lang="en-US" altLang="en-US" sz="2000" i="1" dirty="0"/>
              <a:t>Professor </a:t>
            </a:r>
            <a:r>
              <a:rPr lang="en-US" altLang="en-US" sz="2000" i="1" dirty="0" smtClean="0"/>
              <a:t>Cocchio</a:t>
            </a:r>
            <a:endParaRPr lang="en-US" altLang="en-US" sz="2000" i="1" dirty="0"/>
          </a:p>
        </p:txBody>
      </p:sp>
      <p:sp>
        <p:nvSpPr>
          <p:cNvPr id="7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Final Lecture on Career Lessons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On Becoming a Leader in Risk Management!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00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69092</TotalTime>
  <Words>644</Words>
  <Application>Microsoft Office PowerPoint</Application>
  <PresentationFormat>On-screen Show (4:3)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1932</cp:revision>
  <cp:lastPrinted>2018-12-17T22:21:47Z</cp:lastPrinted>
  <dcterms:created xsi:type="dcterms:W3CDTF">2007-03-28T16:18:47Z</dcterms:created>
  <dcterms:modified xsi:type="dcterms:W3CDTF">2021-11-14T18:03:34Z</dcterms:modified>
</cp:coreProperties>
</file>