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5"/>
  </p:notesMasterIdLst>
  <p:sldIdLst>
    <p:sldId id="934" r:id="rId2"/>
    <p:sldId id="936" r:id="rId3"/>
    <p:sldId id="946" r:id="rId4"/>
    <p:sldId id="947" r:id="rId5"/>
    <p:sldId id="927" r:id="rId6"/>
    <p:sldId id="926" r:id="rId7"/>
    <p:sldId id="937" r:id="rId8"/>
    <p:sldId id="938" r:id="rId9"/>
    <p:sldId id="943" r:id="rId10"/>
    <p:sldId id="942" r:id="rId11"/>
    <p:sldId id="944" r:id="rId12"/>
    <p:sldId id="941" r:id="rId13"/>
    <p:sldId id="90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CC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463" autoAdjust="0"/>
  </p:normalViewPr>
  <p:slideViewPr>
    <p:cSldViewPr snapToGrid="0">
      <p:cViewPr varScale="1">
        <p:scale>
          <a:sx n="65" d="100"/>
          <a:sy n="65" d="100"/>
        </p:scale>
        <p:origin x="13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B33E5-8C4C-4E85-BEBF-D3242DFF86DC}" type="datetimeFigureOut">
              <a:rPr lang="en-US" smtClean="0"/>
              <a:t>5/18/2022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A2075-A6F1-4E03-8896-95FD9C4B7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636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APEGA’ minimum requirements</a:t>
            </a:r>
            <a:endParaRPr lang="en-US" dirty="0"/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85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APEGA’ minimum requirements</a:t>
            </a:r>
            <a:endParaRPr lang="en-US" dirty="0"/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018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APEGA’ minimum requirements</a:t>
            </a:r>
            <a:endParaRPr lang="en-US" dirty="0"/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947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APEGA’ minimum requirements</a:t>
            </a:r>
            <a:endParaRPr lang="en-US" dirty="0"/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7603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APEGA’ minimum requirements</a:t>
            </a:r>
            <a:endParaRPr lang="en-US" dirty="0"/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8852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Order of effectiveness, not priority!!! Maybe you prioritize using PPE in a lab because it’s easy, but not the most effective way of reducing risk.</a:t>
            </a:r>
          </a:p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Apply engineering controls – encompasses substitute, isolate/separate, engineer</a:t>
            </a:r>
          </a:p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Apply admin controls – organization and procedures (there’s a policy for when you wear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ppe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PPE – work practices (I am wearing my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ppe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They work together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357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3127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>
                <a:latin typeface="Arial"/>
                <a:ea typeface="Arial"/>
                <a:cs typeface="Arial"/>
                <a:sym typeface="Arial"/>
              </a:rPr>
              <a:t>Potentially tie in Fernie example with regard to engineering controls (substitute, isolate, engineer)</a:t>
            </a:r>
            <a:endParaRPr lang="en-CA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>
                <a:latin typeface="Arial"/>
                <a:ea typeface="Arial"/>
                <a:cs typeface="Arial"/>
                <a:sym typeface="Arial"/>
              </a:rPr>
              <a:t>-replace the brine with ethylene glycol (antifreeze) – substitute, or replace the ammonia with </a:t>
            </a:r>
            <a:r>
              <a:rPr lang="en-CA" dirty="0" err="1">
                <a:latin typeface="Arial"/>
                <a:ea typeface="Arial"/>
                <a:cs typeface="Arial"/>
                <a:sym typeface="Arial"/>
              </a:rPr>
              <a:t>freeon</a:t>
            </a:r>
            <a:r>
              <a:rPr lang="en-CA" dirty="0">
                <a:latin typeface="Arial"/>
                <a:ea typeface="Arial"/>
                <a:cs typeface="Arial"/>
                <a:sym typeface="Arial"/>
              </a:rPr>
              <a:t> - substitute</a:t>
            </a:r>
            <a:endParaRPr lang="en-CA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>
                <a:latin typeface="Arial"/>
                <a:ea typeface="Arial"/>
                <a:cs typeface="Arial"/>
                <a:sym typeface="Arial"/>
              </a:rPr>
              <a:t>-use a more corrosion resistant heat exchanger (</a:t>
            </a:r>
            <a:r>
              <a:rPr lang="en-CA" dirty="0" err="1">
                <a:latin typeface="Arial"/>
                <a:ea typeface="Arial"/>
                <a:cs typeface="Arial"/>
                <a:sym typeface="Arial"/>
              </a:rPr>
              <a:t>shellen</a:t>
            </a:r>
            <a:r>
              <a:rPr lang="en-CA" dirty="0">
                <a:latin typeface="Arial"/>
                <a:ea typeface="Arial"/>
                <a:cs typeface="Arial"/>
                <a:sym typeface="Arial"/>
              </a:rPr>
              <a:t> tube?) - 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7210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>
                <a:latin typeface="Arial"/>
                <a:ea typeface="Arial"/>
                <a:cs typeface="Arial"/>
                <a:sym typeface="Arial"/>
              </a:rPr>
              <a:t>Potentially tie in Fernie example with regard to engineering controls (substitute, isolate, engineer)</a:t>
            </a:r>
            <a:endParaRPr lang="en-CA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>
                <a:latin typeface="Arial"/>
                <a:ea typeface="Arial"/>
                <a:cs typeface="Arial"/>
                <a:sym typeface="Arial"/>
              </a:rPr>
              <a:t>-replace the brine with ethylene glycol (antifreeze) – substitute, or replace the ammonia with </a:t>
            </a:r>
            <a:r>
              <a:rPr lang="en-CA" dirty="0" err="1" smtClean="0">
                <a:latin typeface="Arial"/>
                <a:ea typeface="Arial"/>
                <a:cs typeface="Arial"/>
                <a:sym typeface="Arial"/>
              </a:rPr>
              <a:t>freon</a:t>
            </a:r>
            <a:r>
              <a:rPr lang="en-CA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CA" dirty="0">
                <a:latin typeface="Arial"/>
                <a:ea typeface="Arial"/>
                <a:cs typeface="Arial"/>
                <a:sym typeface="Arial"/>
              </a:rPr>
              <a:t>- substitute</a:t>
            </a:r>
            <a:endParaRPr lang="en-CA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>
                <a:latin typeface="Arial"/>
                <a:ea typeface="Arial"/>
                <a:cs typeface="Arial"/>
                <a:sym typeface="Arial"/>
              </a:rPr>
              <a:t>-use a more corrosion resistant heat exchanger </a:t>
            </a:r>
            <a:r>
              <a:rPr lang="en-CA" dirty="0" smtClean="0">
                <a:latin typeface="Arial"/>
                <a:ea typeface="Arial"/>
                <a:cs typeface="Arial"/>
                <a:sym typeface="Arial"/>
              </a:rPr>
              <a:t>(higher</a:t>
            </a:r>
            <a:r>
              <a:rPr lang="en-CA" baseline="0" dirty="0" smtClean="0">
                <a:latin typeface="Arial"/>
                <a:ea typeface="Arial"/>
                <a:cs typeface="Arial"/>
                <a:sym typeface="Arial"/>
              </a:rPr>
              <a:t> alloys)</a:t>
            </a:r>
            <a:endParaRPr lang="en-CA" dirty="0">
              <a:latin typeface="Arial"/>
              <a:ea typeface="Arial"/>
              <a:cs typeface="Arial"/>
              <a:sym typeface="Arial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76033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APEGA’ minimum requirements</a:t>
            </a:r>
            <a:endParaRPr lang="en-US" dirty="0"/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458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>
                <a:latin typeface="Arial"/>
                <a:ea typeface="Arial"/>
                <a:cs typeface="Arial"/>
                <a:sym typeface="Arial"/>
              </a:rPr>
              <a:t>I.e. PPE – you prioritize it because it’s easy and cheap, but it is not the most effective risk reduction solution!</a:t>
            </a:r>
            <a:endParaRPr lang="en-CA" dirty="0"/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9749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23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99185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1830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3806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5/18/2022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976770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66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419062"/>
            <a:ext cx="7315201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5.2: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Fundamental Approach to </a:t>
            </a:r>
            <a:b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All Risks </a:t>
            </a:r>
            <a:b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(Hierarchy of Effectiveness)</a:t>
            </a:r>
            <a:endParaRPr lang="en-CA" altLang="en-US" sz="3200" b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3600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561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256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two different approaches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 a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Reduction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Hierarchy: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 OH&amp;S Code Part 2 Hazard Assessment, Elimination, and Control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ANSI Z10-2012: Risk Reduction Hierarchy </a:t>
            </a: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&amp; </a:t>
            </a:r>
            <a:r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Hierarchy of Effectiveness</a:t>
            </a:r>
            <a:endParaRPr lang="en-CA" altLang="en-US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the two different approaches to </a:t>
            </a:r>
            <a:r>
              <a:rPr lang="en-CA" altLang="en-US" b="1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identify</a:t>
            </a:r>
            <a:r>
              <a:rPr lang="en-CA" altLang="en-US" b="1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evaluate, and select 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most effective risk reduction 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solution(s).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that order of effectiveness is NOT an order of priority.</a:t>
            </a: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5.2: Fundamental Approach to Control All Risks</a:t>
            </a:r>
          </a:p>
        </p:txBody>
      </p:sp>
    </p:spTree>
    <p:extLst>
      <p:ext uri="{BB962C8B-B14F-4D97-AF65-F5344CB8AC3E}">
        <p14:creationId xmlns:p14="http://schemas.microsoft.com/office/powerpoint/2010/main" val="348004036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want to implement the most effective risk reduction solutions 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i.e. the safeguards or control measures in the form of engineering 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controls &amp; administrative 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controls.</a:t>
            </a: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 you </a:t>
            </a:r>
            <a:r>
              <a:rPr lang="en-CA" altLang="en-US" b="1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identify, evaluate, and select 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most effective risk reduction solutions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i.e. the most effective safeguard / control measure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fundamental approach to control all risks is simply a hierarchy.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approaches (of many) are: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 OH&amp;S Code Part 2 Hazard Assessment, Elimination, and Control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ANSI Z10-2012: Risk Reduction Hierarchy </a:t>
            </a: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&amp; </a:t>
            </a:r>
            <a:r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Hierarchy of Effectiveness</a:t>
            </a:r>
            <a:endParaRPr lang="en-CA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Reduction Hierarchy </a:t>
            </a:r>
            <a:r>
              <a:rPr lang="en-US" altLang="en-US" sz="240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  <a:r>
              <a:rPr lang="en-US" altLang="en-US" sz="240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Hierarchy of Effectiveness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5.2: Fundamental Approach to Control All Risks</a:t>
            </a:r>
          </a:p>
        </p:txBody>
      </p:sp>
    </p:spTree>
    <p:extLst>
      <p:ext uri="{BB962C8B-B14F-4D97-AF65-F5344CB8AC3E}">
        <p14:creationId xmlns:p14="http://schemas.microsoft.com/office/powerpoint/2010/main" val="86891091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 OH&amp;S Code Part 2 Hazard Assessment, Elimination, and Control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OH&amp;S Code Part 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 Section 9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specifies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order of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effectiveness,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 basic approach 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a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Reduction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Hierarchy: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990600" marR="0" lvl="1" indent="-5334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arenR"/>
              <a:tabLst/>
              <a:defRPr/>
            </a:pP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Eliminate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990600" marR="0" lvl="1" indent="-5334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arenR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Apply Engineering Controls to Reduce the Exposure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990600" marR="0" lvl="1" indent="-5334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arenR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Apply Administrative Controls and Work Practices </a:t>
            </a:r>
            <a:b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to Reduce the Exposure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990600" marR="0" lvl="1" indent="-5334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arenR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Use PPE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990600" marR="0" lvl="1" indent="-5334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arenR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Use combinations of above. </a:t>
            </a:r>
            <a:endParaRPr kumimoji="0" lang="en-CA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990600" marR="0" lvl="1" indent="-5334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arenR"/>
              <a:tabLst/>
              <a:defRPr/>
            </a:pPr>
            <a:endParaRPr lang="en-CA" sz="2000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Most facilities usually apply and “prioritize” PPE first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” because it is easy even though it is the least effective!</a:t>
            </a:r>
          </a:p>
          <a:p>
            <a:pPr marL="990600" marR="0" lvl="1" indent="-5334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arenR"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altLang="en-US" sz="240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 OH&amp;S Code Part 2: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5.2: Fundamental Approach to Control All Risks</a:t>
            </a:r>
          </a:p>
        </p:txBody>
      </p:sp>
    </p:spTree>
    <p:extLst>
      <p:ext uri="{BB962C8B-B14F-4D97-AF65-F5344CB8AC3E}">
        <p14:creationId xmlns:p14="http://schemas.microsoft.com/office/powerpoint/2010/main" val="248197129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 anchor="ctr" anchorCtr="0">
            <a:noAutofit/>
          </a:bodyPr>
          <a:lstStyle/>
          <a:p>
            <a:pPr lvl="0" fontAlgn="base"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ALE #1</a:t>
            </a:r>
            <a:r>
              <a:rPr lang="en-CA" altLang="en-US" sz="240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CA" altLang="en-US" sz="240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AB OH&amp;S Code Part </a:t>
            </a:r>
            <a:r>
              <a:rPr lang="en-CA" altLang="en-US" sz="240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 to Spray-Patch Crew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Please confer and respond </a:t>
            </a:r>
            <a:r>
              <a:rPr kumimoji="0" lang="en-CA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</a:t>
            </a:r>
            <a:r>
              <a:rPr lang="en-CA" sz="200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Open discussion</a:t>
            </a:r>
            <a:r>
              <a:rPr kumimoji="0" lang="en-CA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):</a:t>
            </a:r>
            <a:endParaRPr kumimoji="0" lang="en-CA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Consider this job (activity) and its hazards: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Job: typical spray-patch crew: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crack is gouged,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sprayed with hot tar-oil,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filled and tamped with pea gravel.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 to address: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exposure to traffic,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crushed by moving dump truck,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repetitive shoveling / spraying motions,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contact with hot tar.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Choose 1 hazard and apply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AB OH&amp;S Code Part 2. 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5.2: Fundamental Approach to Control All Risks</a:t>
            </a:r>
          </a:p>
        </p:txBody>
      </p:sp>
      <p:sp>
        <p:nvSpPr>
          <p:cNvPr id="6" name="Google Shape;1015;p14">
            <a:extLst>
              <a:ext uri="{FF2B5EF4-FFF2-40B4-BE49-F238E27FC236}">
                <a16:creationId xmlns:a16="http://schemas.microsoft.com/office/drawing/2014/main" id="{E39AED8B-C42E-471D-8C95-EA0A8359977F}"/>
              </a:ext>
            </a:extLst>
          </p:cNvPr>
          <p:cNvSpPr txBox="1">
            <a:spLocks/>
          </p:cNvSpPr>
          <p:nvPr/>
        </p:nvSpPr>
        <p:spPr>
          <a:xfrm>
            <a:off x="554182" y="4826000"/>
            <a:ext cx="4904509" cy="131650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068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080"/>
              <a:buFont typeface="Noto Sans Symbols"/>
              <a:buChar char="❖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33400" indent="-533400">
              <a:spcBef>
                <a:spcPts val="0"/>
              </a:spcBef>
              <a:buClrTx/>
              <a:buSzPct val="100000"/>
              <a:buFont typeface="Noto Sans Symbols"/>
              <a:buAutoNum type="arabicParenR"/>
              <a:defRPr/>
            </a:pPr>
            <a:r>
              <a:rPr lang="en-US" sz="1400" kern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Eliminate</a:t>
            </a:r>
            <a:endParaRPr lang="en-US" sz="14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3400" indent="-533400">
              <a:spcBef>
                <a:spcPts val="0"/>
              </a:spcBef>
              <a:buClrTx/>
              <a:buSzPct val="100000"/>
              <a:buFont typeface="Noto Sans Symbols"/>
              <a:buAutoNum type="arabicParenR"/>
              <a:defRPr/>
            </a:pPr>
            <a:r>
              <a:rPr lang="en-US" sz="1400" kern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Apply Engineering Controls to Reduce the Exposure</a:t>
            </a:r>
            <a:endParaRPr lang="en-US" sz="14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3400" indent="-533400">
              <a:spcBef>
                <a:spcPts val="0"/>
              </a:spcBef>
              <a:buClrTx/>
              <a:buSzPct val="100000"/>
              <a:buFont typeface="Noto Sans Symbols"/>
              <a:buAutoNum type="arabicParenR"/>
              <a:defRPr/>
            </a:pPr>
            <a:r>
              <a:rPr lang="en-US" sz="1400" kern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Apply Administrative Controls and Work Practices </a:t>
            </a:r>
            <a:br>
              <a:rPr lang="en-US" sz="1400" kern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</a:br>
            <a:r>
              <a:rPr lang="en-US" sz="1400" kern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to Reduce the Exposure</a:t>
            </a:r>
            <a:endParaRPr lang="en-US" sz="14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3400" indent="-533400">
              <a:spcBef>
                <a:spcPts val="0"/>
              </a:spcBef>
              <a:buClrTx/>
              <a:buSzPct val="100000"/>
              <a:buFont typeface="Noto Sans Symbols"/>
              <a:buAutoNum type="arabicParenR"/>
              <a:defRPr/>
            </a:pPr>
            <a:r>
              <a:rPr lang="en-US" sz="1400" kern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Use PPE</a:t>
            </a:r>
            <a:endParaRPr lang="en-US" sz="14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3400" indent="-533400">
              <a:spcBef>
                <a:spcPts val="0"/>
              </a:spcBef>
              <a:buClrTx/>
              <a:buSzPct val="100000"/>
              <a:buFont typeface="Noto Sans Symbols"/>
              <a:buAutoNum type="arabicParenR"/>
              <a:defRPr/>
            </a:pPr>
            <a:r>
              <a:rPr lang="en-US" sz="1400" kern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Use combinations of above.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08AC0F-D863-459B-A01D-D83D1B235B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938" y="1061925"/>
            <a:ext cx="2149462" cy="16120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DCDB6F-A9E6-4363-87E5-73FAB4A360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120" y="4432002"/>
            <a:ext cx="2804280" cy="17059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0FD639-FB8C-4544-9D62-5727683782A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407" y="2674021"/>
            <a:ext cx="2843993" cy="175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98807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lvl="0" fontAlgn="base"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</a:t>
            </a:r>
            <a:r>
              <a:rPr lang="en-CA" altLang="en-US" sz="240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40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</a:t>
            </a:r>
            <a:r>
              <a:rPr lang="en-US" altLang="en-US" sz="240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 OH&amp;S Code Part 2 to Spray-Patch Crew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5.2: Fundamental Approach to Control All Risks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Google Shape;1033;p15">
            <a:extLst>
              <a:ext uri="{FF2B5EF4-FFF2-40B4-BE49-F238E27FC236}">
                <a16:creationId xmlns:a16="http://schemas.microsoft.com/office/drawing/2014/main" id="{76F12B50-4841-4E04-BADC-E572265482B1}"/>
              </a:ext>
            </a:extLst>
          </p:cNvPr>
          <p:cNvSpPr/>
          <p:nvPr/>
        </p:nvSpPr>
        <p:spPr>
          <a:xfrm>
            <a:off x="650463" y="1026158"/>
            <a:ext cx="3919950" cy="4857405"/>
          </a:xfrm>
          <a:prstGeom prst="rect">
            <a:avLst/>
          </a:prstGeom>
          <a:solidFill>
            <a:srgbClr val="000000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  <a:t>Eliminates: </a:t>
            </a:r>
            <a:b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</a:b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  <a:t>crushed by moving dump truck, </a:t>
            </a:r>
            <a:b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</a:b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  <a:t>repetitive shoveling motion,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  <a:t>contact with hot tar.</a:t>
            </a:r>
            <a:endParaRPr kumimoji="0" sz="1100" b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C0FA49-A4E9-4E92-B46F-15CAB4001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81" y="2484520"/>
            <a:ext cx="3694514" cy="2706315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1" name="Google Shape;1033;p15">
            <a:extLst>
              <a:ext uri="{FF2B5EF4-FFF2-40B4-BE49-F238E27FC236}">
                <a16:creationId xmlns:a16="http://schemas.microsoft.com/office/drawing/2014/main" id="{2AF2116B-64AE-4DBD-9D23-07A648356C9E}"/>
              </a:ext>
            </a:extLst>
          </p:cNvPr>
          <p:cNvSpPr/>
          <p:nvPr/>
        </p:nvSpPr>
        <p:spPr>
          <a:xfrm>
            <a:off x="4834350" y="1026160"/>
            <a:ext cx="3657600" cy="4857403"/>
          </a:xfrm>
          <a:prstGeom prst="rect">
            <a:avLst/>
          </a:prstGeom>
          <a:solidFill>
            <a:srgbClr val="000000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  <a:t>Eliminates: </a:t>
            </a:r>
            <a:b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</a:b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  <a:t>crushed by moving dump truck, </a:t>
            </a:r>
            <a:b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</a:b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  <a:t>all repetitive motions, </a:t>
            </a:r>
            <a:b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</a:b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  <a:t>contact with hot tar AND </a:t>
            </a:r>
            <a:b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</a:b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  <a:t>exposure to traffic. </a:t>
            </a:r>
            <a:endParaRPr kumimoji="0" sz="1100" b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/>
              <a:sym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52B5A8-4C1B-489C-940A-72E3984432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683" y="2484520"/>
            <a:ext cx="3017936" cy="3268009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975049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en-US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ANSI Z10-2012: Risk Reduction Hierarchy </a:t>
            </a:r>
            <a:r>
              <a:rPr lang="en-US" altLang="en-US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  <a:r>
              <a:rPr lang="en-US" altLang="en-US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Hierarchy of Effectiveness</a:t>
            </a:r>
            <a:endParaRPr lang="en-US" altLang="en-US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5.2: Fundamental Approach to Control All Risks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452057-F194-4545-AA0B-98F6DF34D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63" y="1378113"/>
            <a:ext cx="8590637" cy="4826846"/>
          </a:xfrm>
          <a:prstGeom prst="rect">
            <a:avLst/>
          </a:prstGeom>
        </p:spPr>
      </p:pic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32400" y="9804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ANSI Z10-2012 has same order as AB OH&amp;S but includes “substitution”. 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99441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82550" y="185520"/>
            <a:ext cx="4179668" cy="10971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en-US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ANSI </a:t>
            </a:r>
            <a:r>
              <a:rPr lang="en-US" altLang="en-US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Z10-2012: Risk </a:t>
            </a:r>
            <a:r>
              <a:rPr lang="en-US" altLang="en-US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Reduction Hierarchy </a:t>
            </a:r>
            <a:r>
              <a:rPr lang="en-US" altLang="en-US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  <a:r>
              <a:rPr lang="en-US" altLang="en-US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Hierarchy of Effectiveness</a:t>
            </a:r>
            <a:endParaRPr lang="en-US" altLang="en-US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5.2: Fundamental Approach to Control All Risks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100A21-F2E7-4A11-9CA2-678C57E82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64" y="1772944"/>
            <a:ext cx="4010914" cy="22536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F088DD-6499-476F-BE8E-F97E22714B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73" t="1238" r="2978" b="2324"/>
          <a:stretch/>
        </p:blipFill>
        <p:spPr>
          <a:xfrm>
            <a:off x="4262218" y="19200"/>
            <a:ext cx="4588262" cy="61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10943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Examples</a:t>
            </a: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Application of ANSI Z10-21012: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5.2: Fundamental Approach to Control All Risks</a:t>
            </a:r>
          </a:p>
        </p:txBody>
      </p:sp>
      <p:graphicFrame>
        <p:nvGraphicFramePr>
          <p:cNvPr id="10" name="Google Shape;1095;p19">
            <a:extLst>
              <a:ext uri="{FF2B5EF4-FFF2-40B4-BE49-F238E27FC236}">
                <a16:creationId xmlns:a16="http://schemas.microsoft.com/office/drawing/2014/main" id="{606B0D9A-F5C7-43AC-961E-5D77D23DB2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2212068"/>
              </p:ext>
            </p:extLst>
          </p:nvPr>
        </p:nvGraphicFramePr>
        <p:xfrm>
          <a:off x="180000" y="828000"/>
          <a:ext cx="8633400" cy="545264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18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4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0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Hierarchy Level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Example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5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Eliminate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Evacuate the piping system of the hazard.</a:t>
                      </a:r>
                      <a:endParaRPr sz="1600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Fill in the hole to eliminate a fall hazard.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0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Substitute</a:t>
                      </a:r>
                      <a:endParaRPr sz="1600" b="1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non-toxic substance instead of a toxic substance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5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Isolate / Separate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work platform instead of using personal fall arrest.</a:t>
                      </a:r>
                      <a:endParaRPr sz="1600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Closed-loop sampling system.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6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Engineering Controls</a:t>
                      </a:r>
                      <a:endParaRPr sz="1600" b="1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Noise-dampening technology to reduce noise levels.</a:t>
                      </a:r>
                      <a:endParaRPr sz="1600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Mechanical-assist lifting devices instead of physical effort.</a:t>
                      </a:r>
                      <a:endParaRPr sz="1600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Exhaust ventilation system to draw away contaminated air e.g. fume hood or welding hood. 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1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 smtClean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Warnings / Organization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 workers to observe warning </a:t>
                      </a:r>
                      <a:r>
                        <a:rPr lang="en-US" sz="1600" b="1" dirty="0" smtClean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signs, labels, alarms,</a:t>
                      </a:r>
                      <a:r>
                        <a:rPr lang="en-US" sz="1600" b="1" baseline="0" dirty="0" smtClean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and how to respond</a:t>
                      </a:r>
                      <a:endParaRPr sz="1600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Additional workers for relief and rotation in hazardous conditions e.g. hot weather / hot environments.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1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Administrative Controls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Policies / procedures (PTWs, checklists, JSAs, FLRAs, SQRAs, etc.) that describe how to do the safe execution of work e.g. walk on designated in-plant walkways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72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PPE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Flame retardant clothing, hard hats, eye protection, respiratory</a:t>
                      </a:r>
                      <a:r>
                        <a:rPr lang="en-US" sz="1600" b="1" baseline="0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protection, face protection, gloves, safety boots, flash suit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280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61324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ALE #2: Apply ANSI Z10</a:t>
            </a:r>
            <a:r>
              <a:rPr kumimoji="0" lang="en-US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</a:t>
            </a:r>
            <a:r>
              <a:rPr kumimoji="0" lang="en-US" alt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Fernie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Arena Refrigeration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Please confer 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(Open discussion):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would you apply the </a:t>
            </a: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ANSI</a:t>
            </a:r>
            <a:r>
              <a:rPr kumimoji="0" lang="en-CA" altLang="en-US" b="0" i="0" u="none" strike="noStrike" kern="1200" cap="none" spc="0" normalizeH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Z10-2012 </a:t>
            </a: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hierarchy </a:t>
            </a:r>
            <a:b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controls to </a:t>
            </a: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refrigeration system hazards at the </a:t>
            </a: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Fernie</a:t>
            </a: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Arena? </a:t>
            </a: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Identify 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 or 2 examples. 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600"/>
              <a:defRPr/>
            </a:pPr>
            <a:r>
              <a:rPr lang="en-US" sz="1200" b="1" i="1" kern="0" dirty="0">
                <a:solidFill>
                  <a:srgbClr val="000000"/>
                </a:solidFill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5.2: Fundamental Approach to Control All Risks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7456C4-17BA-4913-8AAB-145D6E120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805" y="893633"/>
            <a:ext cx="2384895" cy="1082895"/>
          </a:xfrm>
          <a:prstGeom prst="rect">
            <a:avLst/>
          </a:prstGeom>
        </p:spPr>
      </p:pic>
      <p:graphicFrame>
        <p:nvGraphicFramePr>
          <p:cNvPr id="10" name="Google Shape;1095;p19">
            <a:extLst>
              <a:ext uri="{FF2B5EF4-FFF2-40B4-BE49-F238E27FC236}">
                <a16:creationId xmlns:a16="http://schemas.microsoft.com/office/drawing/2014/main" id="{8B151359-B2DE-40AF-A8A6-5B6AE3676C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6765843"/>
              </p:ext>
            </p:extLst>
          </p:nvPr>
        </p:nvGraphicFramePr>
        <p:xfrm>
          <a:off x="324000" y="2032000"/>
          <a:ext cx="8351370" cy="412399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13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7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0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Hierarchy Level</a:t>
                      </a:r>
                      <a:endParaRPr sz="14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Example</a:t>
                      </a:r>
                      <a:endParaRPr sz="14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Eliminate</a:t>
                      </a:r>
                      <a:endParaRPr sz="14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400"/>
                        <a:buFont typeface="Noto Sans Symbols"/>
                        <a:buChar char="⮚"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400" b="1" dirty="0" smtClean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400"/>
                        <a:buFont typeface="Noto Sans Symbols"/>
                        <a:buChar char="⮚"/>
                      </a:pPr>
                      <a:r>
                        <a:rPr lang="en-US" sz="1400" b="1" dirty="0" smtClean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4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Substitute</a:t>
                      </a:r>
                      <a:endParaRPr sz="14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400"/>
                        <a:buFont typeface="Noto Sans Symbols"/>
                        <a:buChar char="⮚"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Freon-type refrigerant instead of ammonia</a:t>
                      </a: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400"/>
                        <a:buFont typeface="Noto Sans Symbols"/>
                        <a:buChar char="⮚"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4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Isolate / Separate</a:t>
                      </a:r>
                      <a:endParaRPr sz="14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400"/>
                        <a:buFont typeface="Noto Sans Symbols"/>
                        <a:buChar char="⮚"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400"/>
                        <a:buFont typeface="Noto Sans Symbols"/>
                        <a:buChar char="⮚"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4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Engineering Controls</a:t>
                      </a:r>
                      <a:endParaRPr sz="14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400"/>
                        <a:buFont typeface="Noto Sans Symbols"/>
                        <a:buChar char="⮚"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400"/>
                        <a:buFont typeface="Noto Sans Symbols"/>
                        <a:buChar char="⮚"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4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smtClean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Warnings / Organization</a:t>
                      </a:r>
                      <a:endParaRPr sz="14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400"/>
                        <a:buFont typeface="Noto Sans Symbols"/>
                        <a:buChar char="⮚"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400"/>
                        <a:buFont typeface="Noto Sans Symbols"/>
                        <a:buChar char="⮚"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4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Administrative Controls</a:t>
                      </a:r>
                      <a:endParaRPr sz="14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400"/>
                        <a:buFont typeface="Noto Sans Symbols"/>
                        <a:buChar char="⮚"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400"/>
                        <a:buFont typeface="Noto Sans Symbols"/>
                        <a:buChar char="⮚"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4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PPE</a:t>
                      </a:r>
                      <a:endParaRPr sz="14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400"/>
                        <a:buFont typeface="Noto Sans Symbols"/>
                        <a:buChar char="⮚"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self-contained breathing air</a:t>
                      </a: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400"/>
                        <a:buFont typeface="Noto Sans Symbols"/>
                        <a:buChar char="⮚"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4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280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518505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defRPr/>
            </a:pP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 OH&amp;S Code Part 2 to Spray-Patch Crew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defRPr/>
            </a:pP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ANSI Z10 to </a:t>
            </a:r>
            <a:r>
              <a:rPr lang="en-US" altLang="en-US" b="1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Fernie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Arena Refrigeration System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intent is to give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you an opportunity to practice these approaches, and NOT to instruct you on specific solutions to these problems. 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Intent of These Active Learning Exercises: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5.2: Fundamental Approach to Control All Risks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00" y="2240040"/>
            <a:ext cx="4320000" cy="32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341" y="2916000"/>
            <a:ext cx="4320000" cy="324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4552787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Key Difference Between </a:t>
            </a: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Hierarchy 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 Effectiveness &amp; Order of </a:t>
            </a: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Priority:</a:t>
            </a:r>
            <a:endParaRPr kumimoji="0" lang="en-CA" altLang="en-US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5.2: Fundamental Approach to Control All Risks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313290-5204-44EB-B152-17E86E668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00" y="954464"/>
            <a:ext cx="4296875" cy="2414297"/>
          </a:xfrm>
          <a:prstGeom prst="rect">
            <a:avLst/>
          </a:prstGeom>
        </p:spPr>
      </p:pic>
      <p:pic>
        <p:nvPicPr>
          <p:cNvPr id="7" name="Google Shape;1111;p20">
            <a:extLst>
              <a:ext uri="{FF2B5EF4-FFF2-40B4-BE49-F238E27FC236}">
                <a16:creationId xmlns:a16="http://schemas.microsoft.com/office/drawing/2014/main" id="{BEDD46B0-C543-4330-B9DA-3A3986FB107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1894" y="3620394"/>
            <a:ext cx="4105403" cy="254756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112;p20">
            <a:extLst>
              <a:ext uri="{FF2B5EF4-FFF2-40B4-BE49-F238E27FC236}">
                <a16:creationId xmlns:a16="http://schemas.microsoft.com/office/drawing/2014/main" id="{885952AB-927E-4A1E-9299-6BCE07C7C388}"/>
              </a:ext>
            </a:extLst>
          </p:cNvPr>
          <p:cNvSpPr/>
          <p:nvPr/>
        </p:nvSpPr>
        <p:spPr>
          <a:xfrm>
            <a:off x="4500000" y="1356227"/>
            <a:ext cx="4178595" cy="1305312"/>
          </a:xfrm>
          <a:prstGeom prst="leftArrow">
            <a:avLst>
              <a:gd name="adj1" fmla="val 100000"/>
              <a:gd name="adj2" fmla="val 51081"/>
            </a:avLst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36000" rIns="72000" bIns="3600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1800"/>
              <a:defRPr/>
            </a:pPr>
            <a:r>
              <a:rPr lang="en-US" i="1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This tool is a hierarchy of effectiveness and yields an order of effectiveness,</a:t>
            </a:r>
            <a:br>
              <a:rPr lang="en-US" i="1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</a:br>
            <a:r>
              <a:rPr lang="en-US" i="1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NOT an order of priority. </a:t>
            </a:r>
          </a:p>
        </p:txBody>
      </p:sp>
      <p:sp>
        <p:nvSpPr>
          <p:cNvPr id="11" name="Google Shape;1108;p20">
            <a:extLst>
              <a:ext uri="{FF2B5EF4-FFF2-40B4-BE49-F238E27FC236}">
                <a16:creationId xmlns:a16="http://schemas.microsoft.com/office/drawing/2014/main" id="{FA8FF6AB-2902-43F4-B1AD-4F42D4609746}"/>
              </a:ext>
            </a:extLst>
          </p:cNvPr>
          <p:cNvSpPr/>
          <p:nvPr/>
        </p:nvSpPr>
        <p:spPr>
          <a:xfrm>
            <a:off x="481053" y="4000783"/>
            <a:ext cx="4437893" cy="1980395"/>
          </a:xfrm>
          <a:prstGeom prst="rightArrow">
            <a:avLst>
              <a:gd name="adj1" fmla="val 100000"/>
              <a:gd name="adj2" fmla="val 46625"/>
            </a:avLst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36000" rIns="72000" bIns="3600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1800"/>
              <a:defRPr/>
            </a:pPr>
            <a:r>
              <a:rPr lang="en-US" i="1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In a future seminar, the </a:t>
            </a:r>
            <a:r>
              <a:rPr lang="en-US" b="1" i="1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Complex Effort </a:t>
            </a:r>
            <a:r>
              <a:rPr lang="en-US" b="1" i="1" kern="0" dirty="0" smtClean="0">
                <a:solidFill>
                  <a:srgbClr val="FFFFFF"/>
                </a:solidFill>
                <a:ea typeface="Arial"/>
                <a:cs typeface="Arial"/>
                <a:sym typeface="Arial"/>
              </a:rPr>
              <a:t>vs </a:t>
            </a:r>
            <a:r>
              <a:rPr lang="en-US" b="1" i="1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Gain Tool</a:t>
            </a:r>
            <a:r>
              <a:rPr lang="en-US" i="1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 will be presented; this tool </a:t>
            </a:r>
            <a:r>
              <a:rPr lang="en-US" i="1" kern="0" dirty="0" smtClean="0">
                <a:solidFill>
                  <a:srgbClr val="FFFFFF"/>
                </a:solidFill>
                <a:ea typeface="Arial"/>
                <a:cs typeface="Arial"/>
                <a:sym typeface="Arial"/>
              </a:rPr>
              <a:t>helps </a:t>
            </a:r>
            <a:r>
              <a:rPr lang="en-US" i="1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us to </a:t>
            </a:r>
            <a:r>
              <a:rPr lang="en-US" i="1" u="sng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prioritize </a:t>
            </a:r>
            <a:r>
              <a:rPr lang="en-US" i="1" u="sng" kern="0" dirty="0" smtClean="0">
                <a:solidFill>
                  <a:srgbClr val="FFFFFF"/>
                </a:solidFill>
                <a:ea typeface="Arial"/>
                <a:cs typeface="Arial"/>
                <a:sym typeface="Arial"/>
              </a:rPr>
              <a:t>the  implementation </a:t>
            </a:r>
            <a:r>
              <a:rPr lang="en-US" i="1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/>
            </a:r>
            <a:br>
              <a:rPr lang="en-US" i="1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</a:br>
            <a:r>
              <a:rPr lang="en-US" i="1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of recommendations. </a:t>
            </a:r>
          </a:p>
        </p:txBody>
      </p:sp>
    </p:spTree>
    <p:extLst>
      <p:ext uri="{BB962C8B-B14F-4D97-AF65-F5344CB8AC3E}">
        <p14:creationId xmlns:p14="http://schemas.microsoft.com/office/powerpoint/2010/main" val="4062877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0779535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206</TotalTime>
  <Words>1061</Words>
  <Application>Microsoft Office PowerPoint</Application>
  <PresentationFormat>On-screen Show (4:3)</PresentationFormat>
  <Paragraphs>182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ＭＳ Ｐゴシック</vt:lpstr>
      <vt:lpstr>Arial</vt:lpstr>
      <vt:lpstr>Calibri</vt:lpstr>
      <vt:lpstr>Noto Sans Symbols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Faculty of engineering, University of Alberta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JR Cocchio</dc:creator>
  <cp:lastModifiedBy>John Cocchio</cp:lastModifiedBy>
  <cp:revision>57</cp:revision>
  <dcterms:created xsi:type="dcterms:W3CDTF">2020-05-22T23:48:02Z</dcterms:created>
  <dcterms:modified xsi:type="dcterms:W3CDTF">2022-05-18T19:40:20Z</dcterms:modified>
</cp:coreProperties>
</file>