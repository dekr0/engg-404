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13" r:id="rId2"/>
    <p:sldMasterId id="2147483718" r:id="rId3"/>
    <p:sldMasterId id="2147483723" r:id="rId4"/>
  </p:sldMasterIdLst>
  <p:notesMasterIdLst>
    <p:notesMasterId r:id="rId19"/>
  </p:notesMasterIdLst>
  <p:sldIdLst>
    <p:sldId id="895" r:id="rId5"/>
    <p:sldId id="880" r:id="rId6"/>
    <p:sldId id="951" r:id="rId7"/>
    <p:sldId id="953" r:id="rId8"/>
    <p:sldId id="929" r:id="rId9"/>
    <p:sldId id="934" r:id="rId10"/>
    <p:sldId id="935" r:id="rId11"/>
    <p:sldId id="936" r:id="rId12"/>
    <p:sldId id="937" r:id="rId13"/>
    <p:sldId id="946" r:id="rId14"/>
    <p:sldId id="932" r:id="rId15"/>
    <p:sldId id="958" r:id="rId16"/>
    <p:sldId id="933" r:id="rId17"/>
    <p:sldId id="90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66FFFF"/>
    <a:srgbClr val="CCECFF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73" autoAdjust="0"/>
  </p:normalViewPr>
  <p:slideViewPr>
    <p:cSldViewPr snapToGrid="0">
      <p:cViewPr varScale="1">
        <p:scale>
          <a:sx n="74" d="100"/>
          <a:sy n="74" d="100"/>
        </p:scale>
        <p:origin x="10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50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B33E5-8C4C-4E85-BEBF-D3242DFF86DC}" type="datetimeFigureOut">
              <a:rPr lang="en-US" smtClean="0"/>
              <a:t>5/29/2022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A2075-A6F1-4E03-8896-95FD9C4B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3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99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3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783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514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401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3128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6661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45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13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680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93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18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83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380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5/29/2022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7677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2724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810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8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5/29/2022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47135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218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695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3372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5/29/2022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49693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526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2865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177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5/29/2022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74539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jpe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6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56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79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76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5.1: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Introduction to Tools that </a:t>
            </a:r>
            <a:b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Support Leadership in </a:t>
            </a:r>
            <a:b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Recognize the tools for leadership in risk management, and explain the overall purpose of these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resolve risk concerns by applying a risk reduction hierarchy (order of effectiveness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Interpret, critique, and create the following risk management tools: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all of these tools as a rudimentary skill of leadership to observe, interact, commend or intervene / coach employees in the work-place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ask and the benefits of asking “open-ended questions”. 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(pen-to-paper, respond on 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MM-Poll):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Select the best response for each item: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 fontAlgn="base"/>
            <a:r>
              <a:rPr lang="en-US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#1: </a:t>
            </a:r>
            <a:r>
              <a:rPr lang="en-US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“Something Bad Could Happen”: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79" y="1650848"/>
            <a:ext cx="7837359" cy="399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471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is a function of consequence and likelihood of an uncontrolled hazard.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A potential source of serious harm to people, environment, assets or production.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Consequence: The harm imparted on people, environment, assets or production, when the hazard is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uncontrolled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“Something Bad Could Happen”: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60" y="2947744"/>
            <a:ext cx="5691162" cy="2893296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0854683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RM work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 / without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measures, but can also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control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Various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can be used to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and reduce risk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an </a:t>
            </a:r>
            <a:b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reduce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</a:t>
            </a: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likelihood, or </a:t>
            </a:r>
            <a:b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eliminate the hazard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Management Work Process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877;p4">
            <a:extLst>
              <a:ext uri="{FF2B5EF4-FFF2-40B4-BE49-F238E27FC236}">
                <a16:creationId xmlns:a16="http://schemas.microsoft.com/office/drawing/2014/main" id="{115EB0BB-1DD2-41F7-9B88-E457F42545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864000"/>
            <a:ext cx="3972560" cy="5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69" y="4026969"/>
            <a:ext cx="3852605" cy="19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418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this course:</a:t>
            </a:r>
            <a:endParaRPr kumimoji="0" lang="en-CA" altLang="en-US" sz="2000" b="1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Evaluations (Audits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0000" y="2520000"/>
            <a:ext cx="8640000" cy="2160000"/>
            <a:chOff x="324000" y="2829430"/>
            <a:chExt cx="8489400" cy="2150396"/>
          </a:xfrm>
        </p:grpSpPr>
        <p:sp>
          <p:nvSpPr>
            <p:cNvPr id="10" name="Google Shape;700;p2">
              <a:extLst>
                <a:ext uri="{FF2B5EF4-FFF2-40B4-BE49-F238E27FC236}">
                  <a16:creationId xmlns:a16="http://schemas.microsoft.com/office/drawing/2014/main" id="{C60DAF2D-312C-427D-B8FC-4BB46919D377}"/>
                </a:ext>
              </a:extLst>
            </p:cNvPr>
            <p:cNvSpPr/>
            <p:nvPr/>
          </p:nvSpPr>
          <p:spPr>
            <a:xfrm>
              <a:off x="324000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2000"/>
                <a:buFont typeface="Arial"/>
                <a:buNone/>
                <a:defRPr/>
              </a:pPr>
              <a:r>
                <a:rPr lang="en-US" sz="2000" b="1" ker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FLRAs</a:t>
              </a:r>
              <a:endParaRPr sz="2000" kern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01;p2">
              <a:extLst>
                <a:ext uri="{FF2B5EF4-FFF2-40B4-BE49-F238E27FC236}">
                  <a16:creationId xmlns:a16="http://schemas.microsoft.com/office/drawing/2014/main" id="{559D24CF-85D1-4415-BFD0-879BE5339ED8}"/>
                </a:ext>
              </a:extLst>
            </p:cNvPr>
            <p:cNvSpPr/>
            <p:nvPr/>
          </p:nvSpPr>
          <p:spPr>
            <a:xfrm>
              <a:off x="1941029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 ker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SQRAs</a:t>
              </a:r>
              <a:endParaRPr sz="2000" kern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02;p2">
              <a:extLst>
                <a:ext uri="{FF2B5EF4-FFF2-40B4-BE49-F238E27FC236}">
                  <a16:creationId xmlns:a16="http://schemas.microsoft.com/office/drawing/2014/main" id="{6146329D-C620-4B8E-BC00-B5E00F4DEDF1}"/>
                </a:ext>
              </a:extLst>
            </p:cNvPr>
            <p:cNvSpPr/>
            <p:nvPr/>
          </p:nvSpPr>
          <p:spPr>
            <a:xfrm>
              <a:off x="3558057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 dirty="0">
                  <a:solidFill>
                    <a:schemeClr val="accent5">
                      <a:lumMod val="25000"/>
                    </a:schemeClr>
                  </a:solidFill>
                  <a:ea typeface="Arial"/>
                  <a:cs typeface="Arial"/>
                  <a:sym typeface="Arial"/>
                </a:rPr>
                <a:t>JSAs</a:t>
              </a:r>
              <a:endParaRPr sz="2000" b="1" kern="0" dirty="0">
                <a:solidFill>
                  <a:schemeClr val="accent5">
                    <a:lumMod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03;p2">
              <a:extLst>
                <a:ext uri="{FF2B5EF4-FFF2-40B4-BE49-F238E27FC236}">
                  <a16:creationId xmlns:a16="http://schemas.microsoft.com/office/drawing/2014/main" id="{A4453192-F82C-4F77-9CAE-18F431E0E63E}"/>
                </a:ext>
              </a:extLst>
            </p:cNvPr>
            <p:cNvSpPr/>
            <p:nvPr/>
          </p:nvSpPr>
          <p:spPr>
            <a:xfrm>
              <a:off x="517508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>
                  <a:solidFill>
                    <a:schemeClr val="accent5">
                      <a:lumMod val="25000"/>
                    </a:schemeClr>
                  </a:solidFill>
                  <a:ea typeface="Arial"/>
                  <a:cs typeface="Arial"/>
                  <a:sym typeface="Arial"/>
                </a:rPr>
                <a:t>Checklists</a:t>
              </a:r>
              <a:endParaRPr sz="2000" b="1" kern="0">
                <a:solidFill>
                  <a:schemeClr val="accent5">
                    <a:lumMod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04;p2">
              <a:extLst>
                <a:ext uri="{FF2B5EF4-FFF2-40B4-BE49-F238E27FC236}">
                  <a16:creationId xmlns:a16="http://schemas.microsoft.com/office/drawing/2014/main" id="{BA99B1E6-4050-4835-9231-A54FA8A13FE2}"/>
                </a:ext>
              </a:extLst>
            </p:cNvPr>
            <p:cNvSpPr/>
            <p:nvPr/>
          </p:nvSpPr>
          <p:spPr>
            <a:xfrm>
              <a:off x="679211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 dirty="0" smtClea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Evaluations</a:t>
              </a:r>
            </a:p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 dirty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(</a:t>
              </a:r>
              <a:r>
                <a:rPr lang="en-US" sz="2000" b="1" kern="0" dirty="0" smtClea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Audits)</a:t>
              </a:r>
              <a:endParaRPr sz="2000" b="1" kern="0" dirty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903;p6">
            <a:extLst>
              <a:ext uri="{FF2B5EF4-FFF2-40B4-BE49-F238E27FC236}">
                <a16:creationId xmlns:a16="http://schemas.microsoft.com/office/drawing/2014/main" id="{5BE426E2-117D-4B20-84BB-D60843F7FB1E}"/>
              </a:ext>
            </a:extLst>
          </p:cNvPr>
          <p:cNvSpPr txBox="1"/>
          <p:nvPr/>
        </p:nvSpPr>
        <p:spPr>
          <a:xfrm>
            <a:off x="180000" y="4932000"/>
            <a:ext cx="8640000" cy="10800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2000"/>
              <a:buFont typeface="Noto Sans Symbols"/>
              <a:buNone/>
              <a:defRPr/>
            </a:pPr>
            <a:r>
              <a:rPr lang="en-US" sz="2000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What tools have you used in your work terms? </a:t>
            </a:r>
            <a:r>
              <a:rPr lang="en-US" sz="2000" kern="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(Show of hands)</a:t>
            </a:r>
            <a:endParaRPr sz="2000" kern="0" dirty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218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approach to these and similar risk reduction tools is the same: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doing?” (Activity)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can go wrong?” (Hazards and Risks)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going to do about it?”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CA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Approach: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answers these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questions in order to identify control measure to reduce risk to an acceptable level:</a:t>
            </a: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</a:t>
            </a:r>
            <a:r>
              <a:rPr lang="en-CA" altLang="en-US" i="1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Eng’g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000" y="1251627"/>
            <a:ext cx="3110080" cy="157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659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Apply Risk Reduction!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(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pen-to-paper</a:t>
            </a:r>
            <a:r>
              <a:rPr 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open discussion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):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Think of a common activity that “needs to be done carefully”: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Now, ask yourself</a:t>
            </a:r>
            <a:r>
              <a:rPr kumimoji="0" lang="en-US" altLang="en-US" sz="2000" b="0" i="1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these questions, and respond: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</a:t>
            </a:r>
            <a:r>
              <a:rPr kumimoji="0" lang="en-US" altLang="en-US" sz="2000" b="0" i="1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you doing i.e. </a:t>
            </a: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the key activity?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go wrong i.e. what is a hazard or risk with that key activity?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going to do about it i.e. what control measure </a:t>
            </a:r>
            <a:b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you put in place to control</a:t>
            </a:r>
            <a:r>
              <a:rPr kumimoji="0" lang="en-US" altLang="en-US" sz="2000" b="0" i="1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reduce that hazard or risk?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6874361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 fontAlgn="base"/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Risk </a:t>
            </a:r>
            <a:r>
              <a:rPr lang="en-US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Reduction to Making Soup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Common activity: “cooking noodle soup for lunch” and it needs </a:t>
            </a: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be done </a:t>
            </a: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carefully to “prevent burning yourself”.</a:t>
            </a: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Responses to the questions:</a:t>
            </a: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activity: holding pot of boiling soup</a:t>
            </a: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</a:t>
            </a: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</a:t>
            </a: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risk: hot handle, burn hand on hot handle</a:t>
            </a: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measure: use a pot holder or oven mitt.</a:t>
            </a: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 descr="single word requests - What is the name for the &lt;strong&gt;glove&lt;/strong&gt; worn ..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80" b="2332"/>
          <a:stretch/>
        </p:blipFill>
        <p:spPr>
          <a:xfrm>
            <a:off x="4893686" y="3304898"/>
            <a:ext cx="3386314" cy="2424000"/>
          </a:xfrm>
          <a:prstGeom prst="rect">
            <a:avLst/>
          </a:prstGeom>
        </p:spPr>
      </p:pic>
      <p:pic>
        <p:nvPicPr>
          <p:cNvPr id="4" name="Picture 3" descr="food science - Is this &lt;strong&gt;soup&lt;/strong&gt;, stew, or something else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43" y="3304898"/>
            <a:ext cx="3232000" cy="242400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7013673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Management: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8E0F5EE3-8FDA-4679-9DF1-8170DAF22A2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5640" y="1656080"/>
            <a:ext cx="5068720" cy="4499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206981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lang="en-CA" altLang="en-US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powerful </a:t>
            </a:r>
            <a:r>
              <a:rPr lang="en-CA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lang="en-CA" altLang="en-US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can positively </a:t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in two ways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Application: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risks to acceptable </a:t>
            </a:r>
            <a:b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levels and prevent incidents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Coaching &amp; Mentoring: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Trains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managers to be 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effective;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Raises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visibility: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“walk the talk”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“lead by example”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CA" sz="20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Engages workers and sets expectations for leader-worker interactions!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Q: How </a:t>
            </a: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Why?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Management – Application &amp; 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327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these powerful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applied and why?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 this Key Leadership Skill: 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Successful leaders must develop and practice </a:t>
            </a:r>
            <a:b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their ability to ask “</a:t>
            </a: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open-ended questions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”: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“Help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me understand the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work you are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doing and its hazards.”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explain to me how your work is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how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to improve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it?”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tell me about the hazards and safeguards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that are associated with your work?”</a:t>
            </a:r>
            <a:endParaRPr lang="en-CA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Why?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Demonstrates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management commitment and leadership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(#1 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MLCA)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Coach 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in a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visible and effective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manner (supportive, not adversarial, not confrontational).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– Application &amp; </a:t>
            </a: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3896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questions: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Eng’g)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different risk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reductions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with </a:t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same basic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approach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same outcome.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leader uses these tools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positively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by demonstrating commitment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leadership. 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Leadership Skill: Ability to ask “open-ended questions”.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388B05BF-C68C-4DE7-81C0-F5899CED416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0203" y="3850640"/>
            <a:ext cx="2356497" cy="215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971" y="1053276"/>
            <a:ext cx="3109229" cy="15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907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</TotalTime>
  <Words>679</Words>
  <Application>Microsoft Office PowerPoint</Application>
  <PresentationFormat>On-screen Show (4:3)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1_Default Design</vt:lpstr>
      <vt:lpstr>2_Default Design</vt:lpstr>
      <vt:lpstr>3_Default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65</cp:revision>
  <dcterms:created xsi:type="dcterms:W3CDTF">2020-05-22T23:48:02Z</dcterms:created>
  <dcterms:modified xsi:type="dcterms:W3CDTF">2022-05-30T00:03:11Z</dcterms:modified>
</cp:coreProperties>
</file>