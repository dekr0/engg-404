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77" r:id="rId2"/>
    <p:sldMasterId id="2147483682" r:id="rId3"/>
  </p:sldMasterIdLst>
  <p:notesMasterIdLst>
    <p:notesMasterId r:id="rId16"/>
  </p:notesMasterIdLst>
  <p:sldIdLst>
    <p:sldId id="930" r:id="rId4"/>
    <p:sldId id="964" r:id="rId5"/>
    <p:sldId id="934" r:id="rId6"/>
    <p:sldId id="929" r:id="rId7"/>
    <p:sldId id="971" r:id="rId8"/>
    <p:sldId id="933" r:id="rId9"/>
    <p:sldId id="935" r:id="rId10"/>
    <p:sldId id="983" r:id="rId11"/>
    <p:sldId id="981" r:id="rId12"/>
    <p:sldId id="965" r:id="rId13"/>
    <p:sldId id="966" r:id="rId14"/>
    <p:sldId id="963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66FFFF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82365" autoAdjust="0"/>
  </p:normalViewPr>
  <p:slideViewPr>
    <p:cSldViewPr snapToGrid="0">
      <p:cViewPr varScale="1">
        <p:scale>
          <a:sx n="58" d="100"/>
          <a:sy n="58" d="100"/>
        </p:scale>
        <p:origin x="154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D01605-9933-414D-AAEA-A731BC5BC7A0}" type="datetimeFigureOut">
              <a:rPr lang="en-US" smtClean="0"/>
              <a:t>5/25/2022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23C8-CA35-437B-A178-6A5CC5604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661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Aka FLHA</a:t>
            </a:r>
            <a:endParaRPr lang="en-US" dirty="0"/>
          </a:p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24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9376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Use your risk matrix and risk criteria table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6634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CA" dirty="0"/>
              <a:t>On the job, field level risk assessment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CA" dirty="0"/>
              <a:t>Requirement as a field engineer to complete one for every job (Geotech drilling, construction project, </a:t>
            </a:r>
            <a:r>
              <a:rPr lang="en-CA" dirty="0" err="1"/>
              <a:t>etc</a:t>
            </a:r>
            <a:r>
              <a:rPr lang="en-CA" dirty="0"/>
              <a:t>)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CA" dirty="0"/>
              <a:t>Needs to be redone every time working conditions change (weather, season, new equipment, </a:t>
            </a:r>
            <a:r>
              <a:rPr lang="en-CA" dirty="0" err="1"/>
              <a:t>etc</a:t>
            </a:r>
            <a:r>
              <a:rPr lang="en-CA" dirty="0"/>
              <a:t>)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CA" dirty="0"/>
              <a:t>There are no FLHAs done for tailings facilities – how do you see underground geohazards (leaking pipeline, tailings storage/dam breach)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CA" dirty="0"/>
              <a:t>Many hazards when working around tailings facilities – soft ground, working on water, working on ice, steam/fog, changing weather conditions, </a:t>
            </a:r>
            <a:r>
              <a:rPr lang="en-CA" dirty="0" err="1"/>
              <a:t>etc</a:t>
            </a:r>
            <a:endParaRPr lang="en-CA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CA" dirty="0"/>
              <a:t>Suncor tailings pond inspection – worker went out at 5am and drowned because the tailings release wasn’t obvious b/c it was below ground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CA" dirty="0"/>
              <a:t>Suncor was charged with not doing an FLHA, Tailings facilities don’t do FLHAs generally (not required to by law)</a:t>
            </a:r>
          </a:p>
        </p:txBody>
      </p:sp>
    </p:spTree>
    <p:extLst>
      <p:ext uri="{BB962C8B-B14F-4D97-AF65-F5344CB8AC3E}">
        <p14:creationId xmlns:p14="http://schemas.microsoft.com/office/powerpoint/2010/main" val="40657489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CA" dirty="0"/>
              <a:t>Similar to the general Risk management work process!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CA" dirty="0"/>
              <a:t>Steps listed in the handbook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CA" dirty="0"/>
              <a:t>Includes contractors, colleagues, </a:t>
            </a:r>
            <a:r>
              <a:rPr lang="en-CA" dirty="0" err="1"/>
              <a:t>etc</a:t>
            </a:r>
            <a:r>
              <a:rPr lang="en-CA" dirty="0"/>
              <a:t> (everyone on site)</a:t>
            </a: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lang="en-CA"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CA" dirty="0"/>
              <a:t>So how can a job change? Weather, new equipment, management/personnel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9515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5673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1182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38:notes"/>
          <p:cNvSpPr txBox="1">
            <a:spLocks noGrp="1"/>
          </p:cNvSpPr>
          <p:nvPr>
            <p:ph type="body" idx="1"/>
          </p:nvPr>
        </p:nvSpPr>
        <p:spPr>
          <a:xfrm>
            <a:off x="701398" y="4415686"/>
            <a:ext cx="5607605" cy="4183171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8" name="Google Shape;1808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2688" y="698500"/>
            <a:ext cx="4645025" cy="34845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11811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8102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4444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38916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19422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368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1171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5/25/2022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481613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objOnly">
  <p:cSld name="Content"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1"/>
          <p:cNvSpPr txBox="1">
            <a:spLocks noGrp="1"/>
          </p:cNvSpPr>
          <p:nvPr>
            <p:ph type="body" idx="1"/>
          </p:nvPr>
        </p:nvSpPr>
        <p:spPr>
          <a:xfrm>
            <a:off x="457200" y="274638"/>
            <a:ext cx="8229600" cy="5859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0" name="Google Shape;490;p51"/>
          <p:cNvSpPr txBox="1">
            <a:spLocks noGrp="1"/>
          </p:cNvSpPr>
          <p:nvPr>
            <p:ph type="sldNum" idx="12"/>
          </p:nvPr>
        </p:nvSpPr>
        <p:spPr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91" name="Google Shape;491;p51"/>
          <p:cNvSpPr txBox="1">
            <a:spLocks noGrp="1"/>
          </p:cNvSpPr>
          <p:nvPr>
            <p:ph type="dt" idx="10"/>
          </p:nvPr>
        </p:nvSpPr>
        <p:spPr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92" name="Google Shape;492;p51"/>
          <p:cNvSpPr txBox="1">
            <a:spLocks noGrp="1"/>
          </p:cNvSpPr>
          <p:nvPr>
            <p:ph type="ftr" idx="11"/>
          </p:nvPr>
        </p:nvSpPr>
        <p:spPr>
          <a:xfrm>
            <a:off x="3124200" y="624363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08418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48577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1580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45349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5/25/2022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0385829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60461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9462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56247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118CC2-884A-4430-8B4F-9976F3C29C24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5/25/2022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1823322-A425-42F9-B4E6-DE1BA6748FF3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394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.jpe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274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87" r:id="rId4"/>
    <p:sldLayoutId id="2147483688" r:id="rId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1003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8719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66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On Becoming a </a:t>
            </a:r>
            <a:b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</a:b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Leader in Risk Management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A9C8F"/>
              </a:buClr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Lecture</a:t>
            </a:r>
            <a:endParaRPr kumimoji="0" lang="en-US" altLang="en-US" sz="3600" b="1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itchFamily="34" charset="0"/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500342"/>
            <a:ext cx="7315201" cy="222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5.3:</a:t>
            </a:r>
            <a:b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Field Level Risk Assessment (FLRA)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405529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405342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675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the purpose of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Field</a:t>
            </a: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-Level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Risk Assessment (FLRA) Tool,</a:t>
            </a: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Risk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Management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tool,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manner in which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it is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used, and the benefits for planning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work using the FLRA</a:t>
            </a: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this tool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 a rudimentary skill of leadership to observe, interact,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commend,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or intervene / coach employees in the work-place.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5.3 Field Level Risk Assessment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08D308-443E-4056-AF5E-AEFC5B070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146" y="3338818"/>
            <a:ext cx="2740996" cy="251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09456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Our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“Discovery Model” for identifying </a:t>
            </a: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hazards asks</a:t>
            </a:r>
            <a:r>
              <a:rPr kumimoji="0" lang="en-CA" altLang="en-US" sz="2000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these questions:</a:t>
            </a: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Find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 sources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Look for</a:t>
            </a: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CA" altLang="en-US" sz="2000" b="0" i="0" u="sng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loss of control</a:t>
            </a: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  <a:r>
              <a:rPr kumimoji="0" lang="en-CA" altLang="en-US" sz="20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Look for the </a:t>
            </a:r>
            <a:r>
              <a:rPr kumimoji="0" lang="en-CA" altLang="en-US" sz="2000" b="0" i="0" u="sng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line-of-fire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en-CA" altLang="en-US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en-CA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None/>
              <a:defRPr/>
            </a:pP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CA" altLang="en-US" b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fundamental approach for any risk assessment methodology</a:t>
            </a: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answers these questions: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are you doing? </a:t>
            </a: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(Activity)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could go wrong? </a:t>
            </a: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(Hazard)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bad could it be? </a:t>
            </a: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(Consequence)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likely is it to happen? </a:t>
            </a: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(Likelihood)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 it acceptable? </a:t>
            </a: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(Risk)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can I do about it? </a:t>
            </a:r>
            <a: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CA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</a:t>
            </a: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 Measures – Admin or </a:t>
            </a:r>
            <a:r>
              <a:rPr lang="en-CA" altLang="en-US" i="1" dirty="0" err="1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Eng’g</a:t>
            </a: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does the control measure change the L and C? </a:t>
            </a:r>
            <a:br>
              <a:rPr lang="en-CA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(Reduce, remain unchanged, or increase?)</a:t>
            </a:r>
          </a:p>
          <a:p>
            <a:pPr marL="432000" lvl="0" indent="-432000" eaLnBrk="0" fontAlgn="base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buClrTx/>
              <a:buSzPct val="100000"/>
              <a:buNone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Recall … The Discovery Model</a:t>
            </a:r>
            <a:r>
              <a:rPr lang="en-CA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altLang="en-US" sz="240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</a:t>
            </a:r>
            <a:r>
              <a:rPr lang="en-US" altLang="en-US" sz="2400" dirty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Fundamental </a:t>
            </a:r>
            <a:r>
              <a:rPr lang="en-US" altLang="en-US" sz="240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Approach: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5.3 Field Level Risk Assessment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112" y="3651432"/>
            <a:ext cx="3399386" cy="16064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000" y="1207322"/>
            <a:ext cx="1238925" cy="1209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9833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638078"/>
              </p:ext>
            </p:extLst>
          </p:nvPr>
        </p:nvGraphicFramePr>
        <p:xfrm>
          <a:off x="660000" y="4547812"/>
          <a:ext cx="7886700" cy="1458188"/>
        </p:xfrm>
        <a:graphic>
          <a:graphicData uri="http://schemas.openxmlformats.org/drawingml/2006/table">
            <a:tbl>
              <a:tblPr/>
              <a:tblGrid>
                <a:gridCol w="1577340">
                  <a:extLst>
                    <a:ext uri="{9D8B030D-6E8A-4147-A177-3AD203B41FA5}">
                      <a16:colId xmlns:a16="http://schemas.microsoft.com/office/drawing/2014/main" val="4148336003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3722194936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4037035773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4223577488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982954051"/>
                    </a:ext>
                  </a:extLst>
                </a:gridCol>
              </a:tblGrid>
              <a:tr h="283694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300" b="1" i="0" u="sng" strike="noStrike">
                          <a:effectLst/>
                          <a:latin typeface="Arial" panose="020B0604020202020204" pitchFamily="34" charset="0"/>
                        </a:rPr>
                        <a:t>FIELD-LEVEL RISK ASSESSMENT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345624"/>
                  </a:ext>
                </a:extLst>
              </a:tr>
              <a:tr h="4085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effectLst/>
                          <a:latin typeface="Arial" panose="020B0604020202020204" pitchFamily="34" charset="0"/>
                        </a:rPr>
                        <a:t>Job Step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effectLst/>
                          <a:latin typeface="Arial" panose="020B0604020202020204" pitchFamily="34" charset="0"/>
                        </a:rPr>
                        <a:t>Hazards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effectLst/>
                          <a:latin typeface="Arial" panose="020B0604020202020204" pitchFamily="34" charset="0"/>
                        </a:rPr>
                        <a:t>Risk Level Before Control Measures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effectLst/>
                          <a:latin typeface="Arial" panose="020B0604020202020204" pitchFamily="34" charset="0"/>
                        </a:rPr>
                        <a:t>Control Measures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effectLst/>
                          <a:latin typeface="Arial" panose="020B0604020202020204" pitchFamily="34" charset="0"/>
                        </a:rPr>
                        <a:t>Risk Level After Control Measures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716473"/>
                  </a:ext>
                </a:extLst>
              </a:tr>
              <a:tr h="76597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655136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10" y="900000"/>
            <a:ext cx="4223999" cy="3168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991" y="900000"/>
            <a:ext cx="4223999" cy="3168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786485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Use </a:t>
            </a: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Risk Matrix and Risk Criteria </a:t>
            </a:r>
            <a:r>
              <a:rPr lang="en-CA" altLang="en-US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the FLRA</a:t>
            </a:r>
            <a:r>
              <a:rPr kumimoji="0" lang="en-CA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</a:t>
            </a:r>
            <a:endParaRPr kumimoji="0" lang="en-CA" altLang="en-US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1" name="Google Shape;1673;p24">
            <a:extLst>
              <a:ext uri="{FF2B5EF4-FFF2-40B4-BE49-F238E27FC236}">
                <a16:creationId xmlns:a16="http://schemas.microsoft.com/office/drawing/2014/main" id="{E6D15343-29FA-467F-B725-6F9EAD86FEBC}"/>
              </a:ext>
            </a:extLst>
          </p:cNvPr>
          <p:cNvSpPr>
            <a:spLocks noChangeAspect="1"/>
          </p:cNvSpPr>
          <p:nvPr/>
        </p:nvSpPr>
        <p:spPr>
          <a:xfrm>
            <a:off x="3891839" y="1751143"/>
            <a:ext cx="1212669" cy="1212669"/>
          </a:xfrm>
          <a:prstGeom prst="plus">
            <a:avLst>
              <a:gd name="adj" fmla="val 36361"/>
            </a:avLst>
          </a:prstGeom>
          <a:solidFill>
            <a:srgbClr val="0099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None/>
              <a:tabLst/>
              <a:defRPr/>
            </a:pPr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Google Shape;1674;p24">
            <a:extLst>
              <a:ext uri="{FF2B5EF4-FFF2-40B4-BE49-F238E27FC236}">
                <a16:creationId xmlns:a16="http://schemas.microsoft.com/office/drawing/2014/main" id="{19F1F05F-F76F-48DD-A2B8-5A11D1B04C9B}"/>
              </a:ext>
            </a:extLst>
          </p:cNvPr>
          <p:cNvSpPr/>
          <p:nvPr/>
        </p:nvSpPr>
        <p:spPr>
          <a:xfrm rot="5400000">
            <a:off x="3808297" y="3226949"/>
            <a:ext cx="1379752" cy="1228928"/>
          </a:xfrm>
          <a:prstGeom prst="stripedRightArrow">
            <a:avLst>
              <a:gd name="adj1" fmla="val 42340"/>
              <a:gd name="adj2" fmla="val 41540"/>
            </a:avLst>
          </a:prstGeom>
          <a:solidFill>
            <a:srgbClr val="0099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141559" y="5602417"/>
            <a:ext cx="972000" cy="46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80068" y="5618949"/>
            <a:ext cx="972000" cy="46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</a:p>
        </p:txBody>
      </p:sp>
      <p:cxnSp>
        <p:nvCxnSpPr>
          <p:cNvPr id="62" name="Curved Connector 61"/>
          <p:cNvCxnSpPr>
            <a:stCxn id="36" idx="0"/>
            <a:endCxn id="37" idx="0"/>
          </p:cNvCxnSpPr>
          <p:nvPr/>
        </p:nvCxnSpPr>
        <p:spPr>
          <a:xfrm rot="16200000" flipH="1">
            <a:off x="6188547" y="4041429"/>
            <a:ext cx="16532" cy="3138509"/>
          </a:xfrm>
          <a:prstGeom prst="curvedConnector3">
            <a:avLst>
              <a:gd name="adj1" fmla="val -1382773"/>
            </a:avLst>
          </a:prstGeom>
          <a:ln w="762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5.3 Field Level Risk Assessment</a:t>
            </a:r>
          </a:p>
        </p:txBody>
      </p:sp>
    </p:spTree>
    <p:extLst>
      <p:ext uri="{BB962C8B-B14F-4D97-AF65-F5344CB8AC3E}">
        <p14:creationId xmlns:p14="http://schemas.microsoft.com/office/powerpoint/2010/main" val="29608383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42900" marR="0" lvl="0" indent="-257175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A9C8F"/>
              </a:buClr>
              <a:buSzPts val="2000"/>
              <a:buFont typeface="Noto Sans Symbols"/>
              <a:buNone/>
              <a:tabLst/>
              <a:defRPr/>
            </a:pPr>
            <a:r>
              <a:rPr kumimoji="0" lang="en-CA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Key purposes </a:t>
            </a:r>
            <a:r>
              <a:rPr kumimoji="0" lang="en-CA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of the FLRA:</a:t>
            </a:r>
          </a:p>
          <a:p>
            <a:pPr marL="342900" marR="0" lvl="0" indent="-257175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A9C8F"/>
              </a:buClr>
              <a:buSzPts val="2000"/>
              <a:buFont typeface="Noto Sans Symbols"/>
              <a:buNone/>
              <a:tabLst/>
              <a:defRPr/>
            </a:pP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200" marR="0" lvl="0" indent="-327025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arenR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It is for workers to assess hazards and to eliminate or control those hazards before starting to work (the job at hand). </a:t>
            </a:r>
            <a:endParaRPr kumimoji="0" lang="en-CA" sz="20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200" marR="0" lvl="0" indent="-327025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arenR"/>
              <a:tabLst/>
              <a:defRPr/>
            </a:pP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200" marR="0" lvl="0" indent="-327025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arenR"/>
              <a:tabLst/>
              <a:defRPr/>
            </a:pPr>
            <a:r>
              <a:rPr kumimoji="0" lang="en-CA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It is used immediately before starting the task or job at hand; typically the team /crew /shift leader leads the workers through its use.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200" marR="0" lvl="0" indent="-327025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arenR"/>
              <a:tabLst/>
              <a:defRPr/>
            </a:pP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200" marR="0" lvl="0" indent="-327025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arenR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It is used to share and communicate the nature of the job and the hazards associated with that job when working on a crew / team / group.</a:t>
            </a:r>
          </a:p>
          <a:p>
            <a:pPr marL="457200" marR="0" lvl="0" indent="-327025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arenR"/>
              <a:tabLst/>
              <a:defRPr/>
            </a:pP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200" marR="0" lvl="0" indent="-327025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arenR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It is used to ensure understanding of the control measures to eliminate or mitigate the hazards when working on a crew / team / group.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Purpose of an FLRA: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5.3 Field Level Risk Assessment</a:t>
            </a:r>
          </a:p>
        </p:txBody>
      </p:sp>
    </p:spTree>
    <p:extLst>
      <p:ext uri="{BB962C8B-B14F-4D97-AF65-F5344CB8AC3E}">
        <p14:creationId xmlns:p14="http://schemas.microsoft.com/office/powerpoint/2010/main" val="31984625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032752"/>
              </p:ext>
            </p:extLst>
          </p:nvPr>
        </p:nvGraphicFramePr>
        <p:xfrm>
          <a:off x="556650" y="4219651"/>
          <a:ext cx="7886700" cy="1458188"/>
        </p:xfrm>
        <a:graphic>
          <a:graphicData uri="http://schemas.openxmlformats.org/drawingml/2006/table">
            <a:tbl>
              <a:tblPr/>
              <a:tblGrid>
                <a:gridCol w="1577340">
                  <a:extLst>
                    <a:ext uri="{9D8B030D-6E8A-4147-A177-3AD203B41FA5}">
                      <a16:colId xmlns:a16="http://schemas.microsoft.com/office/drawing/2014/main" val="3433562115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1454330917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307510255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4149723269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41361877"/>
                    </a:ext>
                  </a:extLst>
                </a:gridCol>
              </a:tblGrid>
              <a:tr h="283694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300" b="1" i="0" u="sng" strike="noStrike">
                          <a:effectLst/>
                          <a:latin typeface="Arial" panose="020B0604020202020204" pitchFamily="34" charset="0"/>
                        </a:rPr>
                        <a:t>FIELD-LEVEL RISK ASSESSMENT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069770"/>
                  </a:ext>
                </a:extLst>
              </a:tr>
              <a:tr h="40852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effectLst/>
                          <a:latin typeface="Arial" panose="020B0604020202020204" pitchFamily="34" charset="0"/>
                        </a:rPr>
                        <a:t>Job Step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effectLst/>
                          <a:latin typeface="Arial" panose="020B0604020202020204" pitchFamily="34" charset="0"/>
                        </a:rPr>
                        <a:t>Hazards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effectLst/>
                          <a:latin typeface="Arial" panose="020B0604020202020204" pitchFamily="34" charset="0"/>
                        </a:rPr>
                        <a:t>Risk Level Before Control Measures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effectLst/>
                          <a:latin typeface="Arial" panose="020B0604020202020204" pitchFamily="34" charset="0"/>
                        </a:rPr>
                        <a:t>Control Measures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effectLst/>
                          <a:latin typeface="Arial" panose="020B0604020202020204" pitchFamily="34" charset="0"/>
                        </a:rPr>
                        <a:t>Risk Level After Control Measures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055695"/>
                  </a:ext>
                </a:extLst>
              </a:tr>
              <a:tr h="76597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5674" marR="5674" marT="56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276130"/>
                  </a:ext>
                </a:extLst>
              </a:tr>
            </a:tbl>
          </a:graphicData>
        </a:graphic>
      </p:graphicFrame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+mj-lt"/>
              <a:buAutoNum type="arabicParenR"/>
              <a:tabLst/>
              <a:defRPr/>
            </a:pP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Identify job and scope. 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+mj-lt"/>
              <a:buAutoNum type="arabicParenR"/>
              <a:tabLst/>
              <a:defRPr/>
            </a:pP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Determine </a:t>
            </a:r>
            <a:r>
              <a:rPr kumimoji="0" lang="en-CA" b="0" i="0" u="sng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job steps</a:t>
            </a:r>
            <a:r>
              <a:rPr kumimoji="0" lang="en-CA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(major </a:t>
            </a: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tasks, or tasks not anticipated in the JSA/SOP if being </a:t>
            </a:r>
            <a:r>
              <a:rPr kumimoji="0" lang="en-CA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used).</a:t>
            </a:r>
            <a:endParaRPr kumimoji="0" lang="en-CA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+mj-lt"/>
              <a:buAutoNum type="arabicParenR"/>
              <a:tabLst/>
              <a:defRPr/>
            </a:pPr>
            <a:r>
              <a:rPr kumimoji="0" lang="en-CA" b="0" i="0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Identify </a:t>
            </a:r>
            <a:r>
              <a:rPr kumimoji="0" lang="en-CA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hazards</a:t>
            </a: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associated with </a:t>
            </a:r>
            <a:r>
              <a:rPr lang="en-CA" kern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job steps</a:t>
            </a:r>
            <a:r>
              <a:rPr kumimoji="0" lang="en-CA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</a:t>
            </a:r>
            <a:endParaRPr kumimoji="0" lang="en-CA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+mj-lt"/>
              <a:buAutoNum type="arabicParenR"/>
              <a:tabLst/>
              <a:defRPr/>
            </a:pP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Determine </a:t>
            </a:r>
            <a:r>
              <a:rPr kumimoji="0" lang="en-CA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risks</a:t>
            </a: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posed by each hazard.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+mj-lt"/>
              <a:buAutoNum type="arabicParenR"/>
              <a:tabLst/>
              <a:defRPr/>
            </a:pP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Identify suitable </a:t>
            </a:r>
            <a:r>
              <a:rPr kumimoji="0" lang="en-CA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control measures</a:t>
            </a: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for each hazard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+mj-lt"/>
              <a:buAutoNum type="arabicParenR"/>
              <a:tabLst/>
              <a:defRPr/>
            </a:pPr>
            <a:r>
              <a:rPr lang="en-CA" kern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</a:t>
            </a:r>
            <a:r>
              <a:rPr lang="en-CA" u="sng" kern="0" dirty="0" smtClean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level after or with control measures</a:t>
            </a:r>
            <a:r>
              <a:rPr kumimoji="0" lang="en-CA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</a:t>
            </a:r>
            <a:endParaRPr kumimoji="0" lang="en-CA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+mj-lt"/>
              <a:buAutoNum type="arabicParenR"/>
              <a:tabLst/>
              <a:defRPr/>
            </a:pP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Most importantly, communicate / share the FLRA with co-workers. 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+mj-lt"/>
              <a:buAutoNum type="arabicParenR"/>
              <a:tabLst/>
              <a:defRPr/>
            </a:pP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Implement control measures, execute / perform / do the job. 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+mj-lt"/>
              <a:buAutoNum type="arabicParenR"/>
              <a:tabLst/>
              <a:defRPr/>
            </a:pP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Continually re-assess risk through-out the job.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Basic Steps to Create an FLRA: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5.3 Field Level Risk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14000" y="5255393"/>
            <a:ext cx="972000" cy="46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6000" y="5255393"/>
            <a:ext cx="972000" cy="46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</a:t>
            </a:r>
          </a:p>
        </p:txBody>
      </p:sp>
      <p:cxnSp>
        <p:nvCxnSpPr>
          <p:cNvPr id="14" name="Curved Connector 13"/>
          <p:cNvCxnSpPr>
            <a:stCxn id="10" idx="0"/>
            <a:endCxn id="11" idx="0"/>
          </p:cNvCxnSpPr>
          <p:nvPr/>
        </p:nvCxnSpPr>
        <p:spPr>
          <a:xfrm rot="5400000" flipH="1" flipV="1">
            <a:off x="6111000" y="3644393"/>
            <a:ext cx="12700" cy="3222000"/>
          </a:xfrm>
          <a:prstGeom prst="curvedConnector3">
            <a:avLst>
              <a:gd name="adj1" fmla="val 2407228"/>
            </a:avLst>
          </a:prstGeom>
          <a:ln w="762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88567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80000" y="864000"/>
            <a:ext cx="8792400" cy="5444400"/>
          </a:xfrm>
          <a:prstGeom prst="rect">
            <a:avLst/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9C8F"/>
              </a:buClr>
              <a:buSzPts val="2000"/>
              <a:buFont typeface="Noto Sans Symbols"/>
              <a:buNone/>
              <a:tabLst/>
              <a:defRPr/>
            </a:pPr>
            <a:r>
              <a:rPr lang="en-CA" i="1" kern="0" dirty="0" smtClean="0">
                <a:solidFill>
                  <a:schemeClr val="bg1"/>
                </a:solidFill>
                <a:latin typeface="+mn-lt"/>
              </a:rPr>
              <a:t>Please confer and </a:t>
            </a:r>
            <a:r>
              <a:rPr lang="en-CA" i="1" kern="0" dirty="0" smtClean="0">
                <a:solidFill>
                  <a:schemeClr val="bg1"/>
                </a:solidFill>
                <a:latin typeface="+mn-lt"/>
              </a:rPr>
              <a:t>respond to</a:t>
            </a:r>
            <a:br>
              <a:rPr lang="en-CA" i="1" kern="0" dirty="0" smtClean="0">
                <a:solidFill>
                  <a:schemeClr val="bg1"/>
                </a:solidFill>
                <a:latin typeface="+mn-lt"/>
              </a:rPr>
            </a:br>
            <a:r>
              <a:rPr lang="en-CA" i="1" kern="0" dirty="0" smtClean="0">
                <a:solidFill>
                  <a:schemeClr val="bg1"/>
                </a:solidFill>
                <a:latin typeface="+mn-lt"/>
              </a:rPr>
              <a:t>complete this FLRA </a:t>
            </a:r>
            <a:br>
              <a:rPr lang="en-CA" i="1" kern="0" dirty="0" smtClean="0">
                <a:solidFill>
                  <a:schemeClr val="bg1"/>
                </a:solidFill>
                <a:latin typeface="+mn-lt"/>
              </a:rPr>
            </a:br>
            <a:r>
              <a:rPr lang="en-CA" i="1" kern="0" dirty="0" smtClean="0">
                <a:solidFill>
                  <a:schemeClr val="bg1"/>
                </a:solidFill>
                <a:latin typeface="+mn-lt"/>
              </a:rPr>
              <a:t>(</a:t>
            </a:r>
            <a:r>
              <a:rPr lang="en-CA" i="1" kern="0" dirty="0" smtClean="0">
                <a:solidFill>
                  <a:schemeClr val="bg1"/>
                </a:solidFill>
                <a:latin typeface="+mn-lt"/>
              </a:rPr>
              <a:t>Open discussion):</a:t>
            </a:r>
            <a:endParaRPr kumimoji="0" lang="en-CA" i="1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ALE #1: 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Environmental Drilling Program FLRA: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5.3 Field Level Risk Assessment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3DE592-8294-4A79-8536-F93B7A7FE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67" y="2180484"/>
            <a:ext cx="8253065" cy="401115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" name="Rectangle 3"/>
          <p:cNvSpPr/>
          <p:nvPr/>
        </p:nvSpPr>
        <p:spPr>
          <a:xfrm>
            <a:off x="5001658" y="2941504"/>
            <a:ext cx="2886419" cy="3206071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i="1" dirty="0" smtClean="0"/>
              <a:t>1)</a:t>
            </a:r>
          </a:p>
          <a:p>
            <a:endParaRPr lang="en-US" sz="1600" i="1" dirty="0" smtClean="0"/>
          </a:p>
          <a:p>
            <a:r>
              <a:rPr lang="en-US" sz="1600" i="1" dirty="0" smtClean="0"/>
              <a:t>2)</a:t>
            </a:r>
          </a:p>
          <a:p>
            <a:endParaRPr lang="en-US" sz="1600" i="1" dirty="0" smtClean="0"/>
          </a:p>
          <a:p>
            <a:r>
              <a:rPr lang="en-US" sz="1600" i="1" dirty="0" smtClean="0"/>
              <a:t>3)</a:t>
            </a:r>
          </a:p>
          <a:p>
            <a:endParaRPr lang="en-US" sz="1600" i="1" dirty="0"/>
          </a:p>
          <a:p>
            <a:r>
              <a:rPr lang="en-US" sz="1600" i="1" dirty="0" smtClean="0"/>
              <a:t>4)</a:t>
            </a:r>
          </a:p>
          <a:p>
            <a:endParaRPr lang="en-US" sz="1600" i="1" dirty="0"/>
          </a:p>
          <a:p>
            <a:r>
              <a:rPr lang="en-US" sz="1600" i="1" dirty="0" smtClean="0"/>
              <a:t>5)</a:t>
            </a:r>
          </a:p>
          <a:p>
            <a:endParaRPr lang="en-US" sz="1600" i="1" dirty="0"/>
          </a:p>
          <a:p>
            <a:r>
              <a:rPr lang="en-US" sz="1600" i="1" dirty="0" smtClean="0"/>
              <a:t>6)</a:t>
            </a:r>
          </a:p>
          <a:p>
            <a:endParaRPr lang="en-US" sz="1600" i="1" dirty="0"/>
          </a:p>
          <a:p>
            <a:r>
              <a:rPr lang="en-US" sz="1600" i="1" dirty="0" smtClean="0"/>
              <a:t>7)</a:t>
            </a:r>
            <a:endParaRPr lang="en-US" sz="1600" i="1" dirty="0"/>
          </a:p>
        </p:txBody>
      </p:sp>
      <p:sp>
        <p:nvSpPr>
          <p:cNvPr id="14" name="Down Arrow Callout 13"/>
          <p:cNvSpPr/>
          <p:nvPr/>
        </p:nvSpPr>
        <p:spPr>
          <a:xfrm>
            <a:off x="5001658" y="1233892"/>
            <a:ext cx="2677099" cy="1486222"/>
          </a:xfrm>
          <a:prstGeom prst="downArrowCallout">
            <a:avLst>
              <a:gd name="adj1" fmla="val 50000"/>
              <a:gd name="adj2" fmla="val 82078"/>
              <a:gd name="adj3" fmla="val 25000"/>
              <a:gd name="adj4" fmla="val 64977"/>
            </a:avLst>
          </a:prstGeom>
          <a:solidFill>
            <a:srgbClr val="0000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/>
              <a:t>What are some control measures for each </a:t>
            </a:r>
            <a:br>
              <a:rPr lang="en-US" i="1" dirty="0" smtClean="0"/>
            </a:br>
            <a:r>
              <a:rPr lang="en-US" i="1" dirty="0" smtClean="0"/>
              <a:t>of the hazards?</a:t>
            </a:r>
            <a:endParaRPr lang="en-US" i="1" dirty="0"/>
          </a:p>
        </p:txBody>
      </p:sp>
      <p:sp>
        <p:nvSpPr>
          <p:cNvPr id="3" name="Down Arrow 2"/>
          <p:cNvSpPr/>
          <p:nvPr/>
        </p:nvSpPr>
        <p:spPr>
          <a:xfrm>
            <a:off x="3591499" y="1522064"/>
            <a:ext cx="1850834" cy="82453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Risk Before</a:t>
            </a:r>
            <a:endParaRPr lang="en-US" dirty="0"/>
          </a:p>
        </p:txBody>
      </p:sp>
      <p:sp>
        <p:nvSpPr>
          <p:cNvPr id="10" name="Down Arrow 9"/>
          <p:cNvSpPr/>
          <p:nvPr/>
        </p:nvSpPr>
        <p:spPr>
          <a:xfrm>
            <a:off x="7159134" y="1520226"/>
            <a:ext cx="1850834" cy="82453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Risk After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57804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Example</a:t>
            </a: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Environmental Drilling Program FLRA: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5.3 Field Level Risk Assessment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3DE592-8294-4A79-8536-F93B7A7FE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67" y="1772861"/>
            <a:ext cx="8253065" cy="4011159"/>
          </a:xfrm>
          <a:prstGeom prst="rect">
            <a:avLst/>
          </a:prstGeom>
        </p:spPr>
      </p:pic>
      <p:sp>
        <p:nvSpPr>
          <p:cNvPr id="3" name="Down Arrow 2"/>
          <p:cNvSpPr/>
          <p:nvPr/>
        </p:nvSpPr>
        <p:spPr>
          <a:xfrm>
            <a:off x="3591499" y="1114441"/>
            <a:ext cx="1850834" cy="82453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Risk Before</a:t>
            </a:r>
            <a:endParaRPr lang="en-US" dirty="0"/>
          </a:p>
        </p:txBody>
      </p:sp>
      <p:sp>
        <p:nvSpPr>
          <p:cNvPr id="10" name="Down Arrow 9"/>
          <p:cNvSpPr/>
          <p:nvPr/>
        </p:nvSpPr>
        <p:spPr>
          <a:xfrm>
            <a:off x="7159134" y="1112603"/>
            <a:ext cx="1850834" cy="824530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Risk After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429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p38"/>
          <p:cNvSpPr txBox="1"/>
          <p:nvPr/>
        </p:nvSpPr>
        <p:spPr>
          <a:xfrm>
            <a:off x="7620000" y="64770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oto Sans Symbols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Noto Sans Symbols"/>
                <a:buNone/>
                <a:tabLst/>
                <a:defRPr/>
              </a:pPr>
              <a:t>9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2" name="Google Shape;181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0000" y="4104000"/>
            <a:ext cx="8640000" cy="198000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13" name="Google Shape;1813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000" y="1933672"/>
            <a:ext cx="8640000" cy="1980000"/>
          </a:xfrm>
          <a:prstGeom prst="rect">
            <a:avLst/>
          </a:prstGeom>
          <a:noFill/>
          <a:ln w="57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14" name="Google Shape;1814;p38"/>
          <p:cNvSpPr/>
          <p:nvPr/>
        </p:nvSpPr>
        <p:spPr>
          <a:xfrm>
            <a:off x="454027" y="274320"/>
            <a:ext cx="823118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Noto Sans Symbols"/>
              <a:buNone/>
              <a:tabLst/>
              <a:defRPr/>
            </a:pPr>
            <a:r>
              <a:rPr kumimoji="0" lang="en-US" sz="2400" b="1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FLRA Variations:</a:t>
            </a:r>
            <a:endParaRPr kumimoji="0" sz="2400" b="1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Google Shape;852;p2"/>
          <p:cNvSpPr/>
          <p:nvPr/>
        </p:nvSpPr>
        <p:spPr>
          <a:xfrm>
            <a:off x="457199" y="6400800"/>
            <a:ext cx="568796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None/>
              <a:tabLst/>
              <a:defRPr/>
            </a:pPr>
            <a:r>
              <a:rPr kumimoji="0" lang="en-US" sz="16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Chapter 5.3: Field Level Risk Assessment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FLRA: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come in different forms – all for the same purposes.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Given a commonly known task or job, you should be able to create an FLRA given the basic tools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633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arenR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arenR"/>
              <a:tabLst/>
              <a:defRPr/>
            </a:pPr>
            <a:r>
              <a:rPr kumimoji="0" lang="en-US" altLang="en-US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FLRA to reduce risks</a:t>
            </a:r>
            <a:r>
              <a:rPr kumimoji="0" lang="en-US" altLang="en-US" sz="2000" b="0" i="0" u="none" strike="noStrike" kern="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to acceptable levels</a:t>
            </a:r>
            <a:r>
              <a:rPr kumimoji="0" lang="en-US" altLang="en-US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arenR"/>
              <a:tabLst/>
              <a:defRPr/>
            </a:pPr>
            <a:endParaRPr kumimoji="0" lang="en-US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+mj-lt"/>
              <a:buAutoNum type="arabicParenR"/>
              <a:tabLst/>
              <a:defRPr/>
            </a:pPr>
            <a:r>
              <a:rPr kumimoji="0" lang="en-US" altLang="en-US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Coach and mentor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others </a:t>
            </a:r>
            <a:r>
              <a:rPr kumimoji="0" lang="en-US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</a:t>
            </a:r>
            <a:r>
              <a:rPr kumimoji="0" lang="en-US" altLang="en-US" sz="20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its </a:t>
            </a:r>
            <a:r>
              <a: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effective use.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en-US" sz="240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 as a Leadership Tool: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108D308-443E-4056-AF5E-AEFC5B070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117" y="2273820"/>
            <a:ext cx="3985902" cy="3656791"/>
          </a:xfrm>
          <a:prstGeom prst="rect">
            <a:avLst/>
          </a:prstGeom>
        </p:spPr>
      </p:pic>
      <p:sp>
        <p:nvSpPr>
          <p:cNvPr id="24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5.4 Semi-Quantitative Risk Assessment</a:t>
            </a:r>
          </a:p>
        </p:txBody>
      </p:sp>
    </p:spTree>
    <p:extLst>
      <p:ext uri="{BB962C8B-B14F-4D97-AF65-F5344CB8AC3E}">
        <p14:creationId xmlns:p14="http://schemas.microsoft.com/office/powerpoint/2010/main" val="138376068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FLRA: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Used immediately prior to starting work.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One 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many different risk assessment tool; </a:t>
            </a:r>
          </a:p>
          <a:p>
            <a:pPr marL="72000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Forms come in may different formats, columns, column names, etc.</a:t>
            </a:r>
          </a:p>
          <a:p>
            <a:pPr marL="72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Others 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noted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below are 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described in the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textbook, and</a:t>
            </a:r>
          </a:p>
          <a:p>
            <a:pPr marL="72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Are similar in 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approach but have applications best suited for the job or activity!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Systematically identifies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hazards associated with any activity, the risk levels, and specify the appropriate control measures.</a:t>
            </a: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</a:t>
            </a:r>
            <a:r>
              <a:rPr kumimoji="0" lang="en-CA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 complemented with the application of incident models i.e. knowledge-based and discovery-based approaches for hazard </a:t>
            </a: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identification.</a:t>
            </a:r>
          </a:p>
          <a:p>
            <a:pPr marL="360000" lvl="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 your expertise to coach others!</a:t>
            </a: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Summary and Key</a:t>
            </a:r>
            <a:r>
              <a:rPr kumimoji="0" lang="en-US" alt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Lessons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943" y="5013714"/>
            <a:ext cx="5021373" cy="121041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7421" y="3909170"/>
            <a:ext cx="1621822" cy="149018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1581" y="3654659"/>
            <a:ext cx="4041841" cy="246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45690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66342543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964</TotalTime>
  <Words>892</Words>
  <Application>Microsoft Office PowerPoint</Application>
  <PresentationFormat>On-screen Show (4:3)</PresentationFormat>
  <Paragraphs>167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ＭＳ Ｐゴシック</vt:lpstr>
      <vt:lpstr>Arial</vt:lpstr>
      <vt:lpstr>Calibri</vt:lpstr>
      <vt:lpstr>Noto Sans Symbols</vt:lpstr>
      <vt:lpstr>Times New Roman</vt:lpstr>
      <vt:lpstr>Wingdings</vt:lpstr>
      <vt:lpstr>Default Design</vt:lpstr>
      <vt:lpstr>1_Default Design</vt:lpstr>
      <vt:lpstr>2_Default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Faculty of engineering, University of Alberta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JR Cocchio</dc:creator>
  <cp:lastModifiedBy>John Cocchio</cp:lastModifiedBy>
  <cp:revision>83</cp:revision>
  <dcterms:created xsi:type="dcterms:W3CDTF">2020-05-24T15:55:07Z</dcterms:created>
  <dcterms:modified xsi:type="dcterms:W3CDTF">2022-05-25T15:24:36Z</dcterms:modified>
</cp:coreProperties>
</file>