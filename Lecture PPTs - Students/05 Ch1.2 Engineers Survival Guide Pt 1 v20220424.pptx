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11" r:id="rId1"/>
  </p:sldMasterIdLst>
  <p:notesMasterIdLst>
    <p:notesMasterId r:id="rId16"/>
  </p:notesMasterIdLst>
  <p:handoutMasterIdLst>
    <p:handoutMasterId r:id="rId17"/>
  </p:handoutMasterIdLst>
  <p:sldIdLst>
    <p:sldId id="895" r:id="rId2"/>
    <p:sldId id="880" r:id="rId3"/>
    <p:sldId id="928" r:id="rId4"/>
    <p:sldId id="938" r:id="rId5"/>
    <p:sldId id="953" r:id="rId6"/>
    <p:sldId id="929" r:id="rId7"/>
    <p:sldId id="956" r:id="rId8"/>
    <p:sldId id="957" r:id="rId9"/>
    <p:sldId id="958" r:id="rId10"/>
    <p:sldId id="959" r:id="rId11"/>
    <p:sldId id="930" r:id="rId12"/>
    <p:sldId id="935" r:id="rId13"/>
    <p:sldId id="936" r:id="rId14"/>
    <p:sldId id="900" r:id="rId15"/>
  </p:sldIdLst>
  <p:sldSz cx="9144000" cy="6858000" type="screen4x3"/>
  <p:notesSz cx="7045325" cy="9345613"/>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44">
          <p15:clr>
            <a:srgbClr val="A4A3A4"/>
          </p15:clr>
        </p15:guide>
        <p15:guide id="2" pos="2219">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nato Macciotta" initials="RM" lastIdx="2" clrIdx="0">
    <p:extLst>
      <p:ext uri="{19B8F6BF-5375-455C-9EA6-DF929625EA0E}">
        <p15:presenceInfo xmlns:p15="http://schemas.microsoft.com/office/powerpoint/2012/main" userId="f1fc2b90-d807-49e3-856f-0640b045ce4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F9DBD3"/>
    <a:srgbClr val="000099"/>
    <a:srgbClr val="3366CC"/>
    <a:srgbClr val="000000"/>
    <a:srgbClr val="4F76F1"/>
    <a:srgbClr val="48945C"/>
    <a:srgbClr val="82C293"/>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54" autoAdjust="0"/>
    <p:restoredTop sz="91251" autoAdjust="0"/>
  </p:normalViewPr>
  <p:slideViewPr>
    <p:cSldViewPr>
      <p:cViewPr varScale="1">
        <p:scale>
          <a:sx n="74" d="100"/>
          <a:sy n="74" d="100"/>
        </p:scale>
        <p:origin x="1120" y="60"/>
      </p:cViewPr>
      <p:guideLst>
        <p:guide orient="horz" pos="211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28"/>
    </p:cViewPr>
  </p:sorterViewPr>
  <p:notesViewPr>
    <p:cSldViewPr>
      <p:cViewPr varScale="1">
        <p:scale>
          <a:sx n="51" d="100"/>
          <a:sy n="51" d="100"/>
        </p:scale>
        <p:origin x="2664" y="44"/>
      </p:cViewPr>
      <p:guideLst>
        <p:guide orient="horz" pos="2944"/>
        <p:guide pos="221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70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112" tIns="46056" rIns="92112" bIns="46056" numCol="1" anchor="t" anchorCtr="0" compatLnSpc="1">
            <a:prstTxWarp prst="textNoShape">
              <a:avLst/>
            </a:prstTxWarp>
          </a:bodyPr>
          <a:lstStyle>
            <a:lvl1pPr defTabSz="919163">
              <a:defRPr sz="1200"/>
            </a:lvl1pPr>
          </a:lstStyle>
          <a:p>
            <a:pPr>
              <a:defRPr/>
            </a:pPr>
            <a:r>
              <a:rPr lang="en-US" altLang="en-US" dirty="0"/>
              <a:t>2017-18</a:t>
            </a:r>
          </a:p>
        </p:txBody>
      </p:sp>
      <p:sp>
        <p:nvSpPr>
          <p:cNvPr id="13316" name="Rectangle 4"/>
          <p:cNvSpPr>
            <a:spLocks noGrp="1" noChangeArrowheads="1"/>
          </p:cNvSpPr>
          <p:nvPr>
            <p:ph type="ftr" sz="quarter" idx="2"/>
          </p:nvPr>
        </p:nvSpPr>
        <p:spPr bwMode="auto">
          <a:xfrm>
            <a:off x="0" y="8910638"/>
            <a:ext cx="3070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112" tIns="46056" rIns="92112" bIns="46056" numCol="1" anchor="b" anchorCtr="0" compatLnSpc="1">
            <a:prstTxWarp prst="textNoShape">
              <a:avLst/>
            </a:prstTxWarp>
          </a:bodyPr>
          <a:lstStyle>
            <a:lvl1pPr defTabSz="919163">
              <a:defRPr sz="1200"/>
            </a:lvl1pPr>
          </a:lstStyle>
          <a:p>
            <a:pPr>
              <a:defRPr/>
            </a:pPr>
            <a:endParaRPr lang="en-CA" altLang="en-US"/>
          </a:p>
        </p:txBody>
      </p:sp>
      <p:sp>
        <p:nvSpPr>
          <p:cNvPr id="13317" name="Rectangle 5"/>
          <p:cNvSpPr>
            <a:spLocks noGrp="1" noChangeArrowheads="1"/>
          </p:cNvSpPr>
          <p:nvPr>
            <p:ph type="sldNum" sz="quarter" idx="3"/>
          </p:nvPr>
        </p:nvSpPr>
        <p:spPr bwMode="auto">
          <a:xfrm>
            <a:off x="3987800" y="8910638"/>
            <a:ext cx="3070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112" tIns="46056" rIns="92112" bIns="46056" numCol="1" anchor="b" anchorCtr="0" compatLnSpc="1">
            <a:prstTxWarp prst="textNoShape">
              <a:avLst/>
            </a:prstTxWarp>
          </a:bodyPr>
          <a:lstStyle>
            <a:lvl1pPr algn="r" defTabSz="919163">
              <a:defRPr sz="1200"/>
            </a:lvl1pPr>
          </a:lstStyle>
          <a:p>
            <a:pPr>
              <a:defRPr/>
            </a:pPr>
            <a:fld id="{8534BCCC-6D23-4E61-B462-D18510A6D56A}" type="slidenum">
              <a:rPr lang="en-US" altLang="en-US"/>
              <a:pPr>
                <a:defRPr/>
              </a:pPr>
              <a:t>‹#›</a:t>
            </a:fld>
            <a:endParaRPr lang="en-US" altLang="en-US"/>
          </a:p>
        </p:txBody>
      </p:sp>
    </p:spTree>
    <p:extLst>
      <p:ext uri="{BB962C8B-B14F-4D97-AF65-F5344CB8AC3E}">
        <p14:creationId xmlns:p14="http://schemas.microsoft.com/office/powerpoint/2010/main" val="17908621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5435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641" tIns="46821" rIns="93641" bIns="46821" numCol="1" anchor="t" anchorCtr="0" compatLnSpc="1">
            <a:prstTxWarp prst="textNoShape">
              <a:avLst/>
            </a:prstTxWarp>
          </a:bodyPr>
          <a:lstStyle>
            <a:lvl1pPr defTabSz="936625">
              <a:defRPr sz="1200"/>
            </a:lvl1pPr>
          </a:lstStyle>
          <a:p>
            <a:pPr>
              <a:defRPr/>
            </a:pPr>
            <a:r>
              <a:rPr lang="en-US" altLang="en-US"/>
              <a:t>2015-2016ENGG404/406 Lecture 00 - Day 1</a:t>
            </a:r>
          </a:p>
        </p:txBody>
      </p:sp>
      <p:sp>
        <p:nvSpPr>
          <p:cNvPr id="3075" name="Rectangle 3"/>
          <p:cNvSpPr>
            <a:spLocks noGrp="1" noChangeArrowheads="1"/>
          </p:cNvSpPr>
          <p:nvPr>
            <p:ph type="dt" idx="1"/>
          </p:nvPr>
        </p:nvSpPr>
        <p:spPr bwMode="auto">
          <a:xfrm>
            <a:off x="3990975" y="0"/>
            <a:ext cx="305435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641" tIns="46821" rIns="93641" bIns="46821" numCol="1" anchor="t" anchorCtr="0" compatLnSpc="1">
            <a:prstTxWarp prst="textNoShape">
              <a:avLst/>
            </a:prstTxWarp>
          </a:bodyPr>
          <a:lstStyle>
            <a:lvl1pPr algn="r" defTabSz="936625">
              <a:defRPr sz="1200"/>
            </a:lvl1pPr>
          </a:lstStyle>
          <a:p>
            <a:pPr>
              <a:defRPr/>
            </a:pPr>
            <a:fld id="{BFE603A0-85CA-43FD-A043-F1243D0E53A2}" type="datetimeFigureOut">
              <a:rPr lang="en-US" altLang="en-US"/>
              <a:pPr>
                <a:defRPr/>
              </a:pPr>
              <a:t>5/2/2022</a:t>
            </a:fld>
            <a:endParaRPr lang="en-US" altLang="en-US"/>
          </a:p>
        </p:txBody>
      </p:sp>
      <p:sp>
        <p:nvSpPr>
          <p:cNvPr id="3076" name="Rectangle 4"/>
          <p:cNvSpPr>
            <a:spLocks noGrp="1" noRot="1" noChangeAspect="1" noChangeArrowheads="1" noTextEdit="1"/>
          </p:cNvSpPr>
          <p:nvPr>
            <p:ph type="sldImg" idx="2"/>
          </p:nvPr>
        </p:nvSpPr>
        <p:spPr bwMode="auto">
          <a:xfrm>
            <a:off x="1185863" y="700088"/>
            <a:ext cx="4673600" cy="3505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39800" y="4440238"/>
            <a:ext cx="5165725" cy="420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641" tIns="46821" rIns="93641" bIns="4682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877300"/>
            <a:ext cx="305435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641" tIns="46821" rIns="93641" bIns="46821" numCol="1" anchor="b" anchorCtr="0" compatLnSpc="1">
            <a:prstTxWarp prst="textNoShape">
              <a:avLst/>
            </a:prstTxWarp>
          </a:bodyPr>
          <a:lstStyle>
            <a:lvl1pPr defTabSz="936625">
              <a:defRPr sz="1200"/>
            </a:lvl1pPr>
          </a:lstStyle>
          <a:p>
            <a:pPr>
              <a:defRPr/>
            </a:pPr>
            <a:r>
              <a:rPr lang="en-US" altLang="en-US"/>
              <a:t>2012 Fall</a:t>
            </a:r>
          </a:p>
        </p:txBody>
      </p:sp>
      <p:sp>
        <p:nvSpPr>
          <p:cNvPr id="3079" name="Rectangle 7"/>
          <p:cNvSpPr>
            <a:spLocks noGrp="1" noChangeArrowheads="1"/>
          </p:cNvSpPr>
          <p:nvPr>
            <p:ph type="sldNum" sz="quarter" idx="5"/>
          </p:nvPr>
        </p:nvSpPr>
        <p:spPr bwMode="auto">
          <a:xfrm>
            <a:off x="3990975" y="8877300"/>
            <a:ext cx="305435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641" tIns="46821" rIns="93641" bIns="46821" numCol="1" anchor="b" anchorCtr="0" compatLnSpc="1">
            <a:prstTxWarp prst="textNoShape">
              <a:avLst/>
            </a:prstTxWarp>
          </a:bodyPr>
          <a:lstStyle>
            <a:lvl1pPr algn="r" defTabSz="936625">
              <a:defRPr sz="1200"/>
            </a:lvl1pPr>
          </a:lstStyle>
          <a:p>
            <a:pPr>
              <a:defRPr/>
            </a:pPr>
            <a:fld id="{A8978F05-17BA-412D-BDD1-B4C0C0428FD2}" type="slidenum">
              <a:rPr lang="en-US" altLang="en-US"/>
              <a:pPr>
                <a:defRPr/>
              </a:pPr>
              <a:t>‹#›</a:t>
            </a:fld>
            <a:endParaRPr lang="en-US" altLang="en-US"/>
          </a:p>
        </p:txBody>
      </p:sp>
    </p:spTree>
    <p:extLst>
      <p:ext uri="{BB962C8B-B14F-4D97-AF65-F5344CB8AC3E}">
        <p14:creationId xmlns:p14="http://schemas.microsoft.com/office/powerpoint/2010/main" val="3069013940"/>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The compressor story "The Compressor Noise and The Company’s Responsible Care Code of Ethics" is one of my own experiences that I use to demonstrate KP "#3 When you make decisions, put safety ahead of any other objective!"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You could use your own experience - I think Renato and Lisa have done that in the past. But certainly, you are welcome to tell my story - from the mid 1980's, very early in my career. I'll try to </a:t>
            </a:r>
            <a:r>
              <a:rPr lang="en-US" altLang="en-US" dirty="0" err="1" smtClean="0">
                <a:latin typeface="Arial" panose="020B0604020202020204" pitchFamily="34" charset="0"/>
                <a:cs typeface="Arial" panose="020B0604020202020204" pitchFamily="34" charset="0"/>
              </a:rPr>
              <a:t>summarise</a:t>
            </a:r>
            <a:r>
              <a:rPr lang="en-US" altLang="en-US" dirty="0" smtClean="0">
                <a:latin typeface="Arial" panose="020B0604020202020204" pitchFamily="34" charset="0"/>
                <a:cs typeface="Arial" panose="020B0604020202020204" pitchFamily="34" charset="0"/>
              </a:rPr>
              <a:t> it here along with the slide prompts:</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Slide 4 prompt:</a:t>
            </a:r>
          </a:p>
          <a:p>
            <a:pPr eaLnBrk="1" hangingPunct="1"/>
            <a:r>
              <a:rPr lang="en-US" altLang="en-US" dirty="0" smtClean="0">
                <a:latin typeface="Arial" panose="020B0604020202020204" pitchFamily="34" charset="0"/>
                <a:cs typeface="Arial" panose="020B0604020202020204" pitchFamily="34" charset="0"/>
              </a:rPr>
              <a:t>Professor relates the situation and issue about their real workplace experience:</a:t>
            </a:r>
          </a:p>
          <a:p>
            <a:pPr eaLnBrk="1" hangingPunct="1"/>
            <a:r>
              <a:rPr lang="en-US" altLang="en-US" dirty="0" smtClean="0">
                <a:latin typeface="Arial" panose="020B0604020202020204" pitchFamily="34" charset="0"/>
                <a:cs typeface="Arial" panose="020B0604020202020204" pitchFamily="34" charset="0"/>
              </a:rPr>
              <a:t>The Compressor Noise and The Company’s Responsible Care Code of Ethics</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"During a </a:t>
            </a:r>
            <a:r>
              <a:rPr lang="en-US" altLang="en-US" dirty="0" err="1" smtClean="0">
                <a:latin typeface="Arial" panose="020B0604020202020204" pitchFamily="34" charset="0"/>
                <a:cs typeface="Arial" panose="020B0604020202020204" pitchFamily="34" charset="0"/>
              </a:rPr>
              <a:t>labour</a:t>
            </a:r>
            <a:r>
              <a:rPr lang="en-US" altLang="en-US" dirty="0" smtClean="0">
                <a:latin typeface="Arial" panose="020B0604020202020204" pitchFamily="34" charset="0"/>
                <a:cs typeface="Arial" panose="020B0604020202020204" pitchFamily="34" charset="0"/>
              </a:rPr>
              <a:t> disruption, the managers and engineering staff were assigned to run the plants in the company. My job was in a plastics manufacturing plant. While operating a large HP reciprocating compressor on a rotating 12-hour shift, I detected an unusual noise in it. Of course, mechanical engineers know that unusual noises in machinery is not a good sign. I asked another person on my crew if they heard the noise, but they indicated that there was nothing unusual. At the turn-over at the end of my shift, I asked the incoming operator and crew to check for unusual noise and monitor it. When my night shift resumed, they indicated at the shift turn-over that there was no noise. 'We should not shut-down. We need to keep the plant running.  You are just hearing things!'</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Nevertheless, I was persistent in checking and I could hear the unusual noise - it was a knocking sound at roughly half the RPM speed of the compressor. I asked my night crew colleagues but they indicated no noise. Same thing on the day shift - they did not hear a noise. On my third night shift, I could hear the noise and it was getting louder - again not a good sign for machinery. The issue was conflicting - others did not hear the unusual noise and the plant manager had relayed through the day shift that we needed to keep running to meet the production goals.  I was 'stuck' in trying to determine what to do."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Slide 4 prompt:</a:t>
            </a:r>
          </a:p>
          <a:p>
            <a:pPr eaLnBrk="1" hangingPunct="1"/>
            <a:r>
              <a:rPr lang="en-US" altLang="en-US" dirty="0" smtClean="0">
                <a:latin typeface="Arial" panose="020B0604020202020204" pitchFamily="34" charset="0"/>
                <a:cs typeface="Arial" panose="020B0604020202020204" pitchFamily="34" charset="0"/>
              </a:rPr>
              <a:t>Please confer on this question and respond on MM: What would you have done in this situation about keeping the plant running?</a:t>
            </a:r>
          </a:p>
          <a:p>
            <a:pPr eaLnBrk="1" hangingPunct="1"/>
            <a:r>
              <a:rPr lang="en-US" altLang="en-US" dirty="0" smtClean="0">
                <a:latin typeface="Arial" panose="020B0604020202020204" pitchFamily="34" charset="0"/>
                <a:cs typeface="Arial" panose="020B0604020202020204" pitchFamily="34" charset="0"/>
              </a:rPr>
              <a:t>(Give the students a bit of time to respond. You will likely have some time to use </a:t>
            </a:r>
            <a:r>
              <a:rPr lang="en-US" altLang="en-US" dirty="0" err="1" smtClean="0">
                <a:latin typeface="Arial" panose="020B0604020202020204" pitchFamily="34" charset="0"/>
                <a:cs typeface="Arial" panose="020B0604020202020204" pitchFamily="34" charset="0"/>
              </a:rPr>
              <a:t>Mentimeter</a:t>
            </a:r>
            <a:r>
              <a:rPr lang="en-US" altLang="en-US" dirty="0" smtClean="0">
                <a:latin typeface="Arial" panose="020B0604020202020204" pitchFamily="34" charset="0"/>
                <a:cs typeface="Arial" panose="020B0604020202020204" pitchFamily="34" charset="0"/>
              </a:rPr>
              <a:t>.)</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Slide 5 prompt:</a:t>
            </a:r>
          </a:p>
          <a:p>
            <a:pPr eaLnBrk="1" hangingPunct="1"/>
            <a:r>
              <a:rPr lang="en-US" altLang="en-US" dirty="0" smtClean="0">
                <a:latin typeface="Arial" panose="020B0604020202020204" pitchFamily="34" charset="0"/>
                <a:cs typeface="Arial" panose="020B0604020202020204" pitchFamily="34" charset="0"/>
              </a:rPr>
              <a:t>Professor resumes with how the situation and issue were managed, and demonstrates the value of having the ESG!</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"Well, some weeks before this event, the company had communicated widely to its employees and to the public that it had committed to the "Responsible Care Code of Ethics" and had been recognized as "A Responsible Care Company", a very significant step in the right direction. I knew that if a mechanical component failed, the reciprocating compressor would fail catastrophically. I should state the compressor was 10,000 HP and operated at 40,000 psi (260 MPa) discharge pressure.  Such a failure would definitely result in a fire, possible an explosion, possible injuries (as the compressor operator, the compressor was my work-space), and definitely would have an adverse impact on the environment.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So, recalling the  "Responsible Care Code of Ethics" which effectively stated that "Our company shall operate its facilities in a manner to protect the environment." So, feeling empowered, I stated to my shift supervisor that the unusual noise was really concerning me, and I believed that the compressor would fail, thus resulting in harm to the environment. It was my duty to live by the "Responsible Care Code of Ethics". The shut-</a:t>
            </a:r>
            <a:r>
              <a:rPr lang="en-US" altLang="en-US" dirty="0" err="1" smtClean="0">
                <a:latin typeface="Arial" panose="020B0604020202020204" pitchFamily="34" charset="0"/>
                <a:cs typeface="Arial" panose="020B0604020202020204" pitchFamily="34" charset="0"/>
              </a:rPr>
              <a:t>doiwn</a:t>
            </a:r>
            <a:r>
              <a:rPr lang="en-US" altLang="en-US" dirty="0" smtClean="0">
                <a:latin typeface="Arial" panose="020B0604020202020204" pitchFamily="34" charset="0"/>
                <a:cs typeface="Arial" panose="020B0604020202020204" pitchFamily="34" charset="0"/>
              </a:rPr>
              <a:t> was initiated in order to inspect the mechanical components of the compressor. The plant manager was 'not happy' with my decision. About 6 hours later, the industrial mechanics reported that they found one of the 'drive rods' (basically, a connecting rod bearing the full load on a compression stroke) had cracked and was in a state of imminent failure.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At the time, mid-1980's, I had not known about the Engineer's Survival Guide, but I had based my decision to protect the environment and prevent injuries to others. This practical real situation  clearly aligns with 'Key Point #3 When you make decisions, put safety ahead of any other objective.' I could have used an Engineer's Survival Guide at that early point in my career.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The Engineer's Survival Guide is a compass to help you make decisions in your careers. Let's explore them."</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The compressor story "The Compressor Noise and The Company’s Responsible Care Code of Ethics" is one of my own experiences that I use to demonstrate KP "#3 When you make decisions, put safety ahead of any other objective!"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You could use your own experience - I think Renato and Lisa have done that in the past. But certainly, you are welcome to tell my story - from the mid 1980's, very early in my career. I'll try to </a:t>
            </a:r>
            <a:r>
              <a:rPr lang="en-US" altLang="en-US" dirty="0" err="1" smtClean="0">
                <a:latin typeface="Arial" panose="020B0604020202020204" pitchFamily="34" charset="0"/>
                <a:cs typeface="Arial" panose="020B0604020202020204" pitchFamily="34" charset="0"/>
              </a:rPr>
              <a:t>summarise</a:t>
            </a:r>
            <a:r>
              <a:rPr lang="en-US" altLang="en-US" dirty="0" smtClean="0">
                <a:latin typeface="Arial" panose="020B0604020202020204" pitchFamily="34" charset="0"/>
                <a:cs typeface="Arial" panose="020B0604020202020204" pitchFamily="34" charset="0"/>
              </a:rPr>
              <a:t> it here along with the slide prompts:</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Slide 4 prompt:</a:t>
            </a:r>
          </a:p>
          <a:p>
            <a:pPr eaLnBrk="1" hangingPunct="1"/>
            <a:r>
              <a:rPr lang="en-US" altLang="en-US" dirty="0" smtClean="0">
                <a:latin typeface="Arial" panose="020B0604020202020204" pitchFamily="34" charset="0"/>
                <a:cs typeface="Arial" panose="020B0604020202020204" pitchFamily="34" charset="0"/>
              </a:rPr>
              <a:t>Professor relates the situation and issue about their real workplace experience:</a:t>
            </a:r>
          </a:p>
          <a:p>
            <a:pPr eaLnBrk="1" hangingPunct="1"/>
            <a:r>
              <a:rPr lang="en-US" altLang="en-US" dirty="0" smtClean="0">
                <a:latin typeface="Arial" panose="020B0604020202020204" pitchFamily="34" charset="0"/>
                <a:cs typeface="Arial" panose="020B0604020202020204" pitchFamily="34" charset="0"/>
              </a:rPr>
              <a:t>The Compressor Noise and The Company’s Responsible Care Code of Ethics</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"During a </a:t>
            </a:r>
            <a:r>
              <a:rPr lang="en-US" altLang="en-US" dirty="0" err="1" smtClean="0">
                <a:latin typeface="Arial" panose="020B0604020202020204" pitchFamily="34" charset="0"/>
                <a:cs typeface="Arial" panose="020B0604020202020204" pitchFamily="34" charset="0"/>
              </a:rPr>
              <a:t>labour</a:t>
            </a:r>
            <a:r>
              <a:rPr lang="en-US" altLang="en-US" dirty="0" smtClean="0">
                <a:latin typeface="Arial" panose="020B0604020202020204" pitchFamily="34" charset="0"/>
                <a:cs typeface="Arial" panose="020B0604020202020204" pitchFamily="34" charset="0"/>
              </a:rPr>
              <a:t> disruption, the managers and engineering staff were assigned to run the plants in the company. My job was in a plastics manufacturing plant. While operating a large HP reciprocating compressor on a rotating 12-hour shift, I detected an unusual noise in it. Of course, mechanical engineers know that unusual noises in machinery is not a good sign. I asked another person on my crew if they heard the noise, but they indicated that there was nothing unusual. At the turn-over at the end of my shift, I asked the incoming operator and crew to check for unusual noise and monitor it. When my night shift resumed, they indicated at the shift turn-over that there was no noise. 'We should not shut-down. We need to keep the plant running.  You are just hearing things!'</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Nevertheless, I was persistent in checking and I could hear the unusual noise - it was a knocking sound at roughly half the RPM speed of the compressor. I asked my night crew colleagues but they indicated no noise. Same thing on the day shift - they did not hear a noise. On my third night shift, I could hear the noise and it was getting louder - again not a good sign for machinery. The issue was conflicting - others did not hear the unusual noise and the plant manager had relayed through the day shift that we needed to keep running to meet the production goals.  I was 'stuck' in trying to determine what to do."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Slide 4 prompt:</a:t>
            </a:r>
          </a:p>
          <a:p>
            <a:pPr eaLnBrk="1" hangingPunct="1"/>
            <a:r>
              <a:rPr lang="en-US" altLang="en-US" dirty="0" smtClean="0">
                <a:latin typeface="Arial" panose="020B0604020202020204" pitchFamily="34" charset="0"/>
                <a:cs typeface="Arial" panose="020B0604020202020204" pitchFamily="34" charset="0"/>
              </a:rPr>
              <a:t>Please confer on this question and respond on MM: What would you have done in this situation about keeping the plant running?</a:t>
            </a:r>
          </a:p>
          <a:p>
            <a:pPr eaLnBrk="1" hangingPunct="1"/>
            <a:r>
              <a:rPr lang="en-US" altLang="en-US" dirty="0" smtClean="0">
                <a:latin typeface="Arial" panose="020B0604020202020204" pitchFamily="34" charset="0"/>
                <a:cs typeface="Arial" panose="020B0604020202020204" pitchFamily="34" charset="0"/>
              </a:rPr>
              <a:t>(Give the students a bit of time to respond. You will likely have some time to use </a:t>
            </a:r>
            <a:r>
              <a:rPr lang="en-US" altLang="en-US" dirty="0" err="1" smtClean="0">
                <a:latin typeface="Arial" panose="020B0604020202020204" pitchFamily="34" charset="0"/>
                <a:cs typeface="Arial" panose="020B0604020202020204" pitchFamily="34" charset="0"/>
              </a:rPr>
              <a:t>Mentimeter</a:t>
            </a:r>
            <a:r>
              <a:rPr lang="en-US" altLang="en-US" dirty="0" smtClean="0">
                <a:latin typeface="Arial" panose="020B0604020202020204" pitchFamily="34" charset="0"/>
                <a:cs typeface="Arial" panose="020B0604020202020204" pitchFamily="34" charset="0"/>
              </a:rPr>
              <a:t>.)</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Slide 5 prompt:</a:t>
            </a:r>
          </a:p>
          <a:p>
            <a:pPr eaLnBrk="1" hangingPunct="1"/>
            <a:r>
              <a:rPr lang="en-US" altLang="en-US" dirty="0" smtClean="0">
                <a:latin typeface="Arial" panose="020B0604020202020204" pitchFamily="34" charset="0"/>
                <a:cs typeface="Arial" panose="020B0604020202020204" pitchFamily="34" charset="0"/>
              </a:rPr>
              <a:t>Professor resumes with how the situation and issue were managed, and demonstrates the value of having the ESG!</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"Well, some weeks before this event, the company had communicated widely to its employees and to the public that it had committed to the "Responsible Care Code of Ethics" and had been recognized as "A Responsible Care Company", a very significant step in the right direction. I knew that if a mechanical component failed, the reciprocating compressor would fail catastrophically. I should state the compressor was 10,000 HP and operated at 40,000 psi (260 MPa) discharge pressure.  Such a failure would definitely result in a fire, possible an explosion, possible injuries (as the compressor operator, the compressor was my work-space), and definitely would have an adverse impact on the environment.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So, recalling the  "Responsible Care Code of Ethics" which effectively stated that "Our company shall operate its facilities in a manner to protect the environment." So, feeling empowered, I stated to my shift supervisor that the unusual noise was really concerning me, and I believed that the compressor would fail, thus resulting in harm to the environment. It was my duty to live by the "Responsible Care Code of Ethics". The shut-</a:t>
            </a:r>
            <a:r>
              <a:rPr lang="en-US" altLang="en-US" dirty="0" err="1" smtClean="0">
                <a:latin typeface="Arial" panose="020B0604020202020204" pitchFamily="34" charset="0"/>
                <a:cs typeface="Arial" panose="020B0604020202020204" pitchFamily="34" charset="0"/>
              </a:rPr>
              <a:t>doiwn</a:t>
            </a:r>
            <a:r>
              <a:rPr lang="en-US" altLang="en-US" dirty="0" smtClean="0">
                <a:latin typeface="Arial" panose="020B0604020202020204" pitchFamily="34" charset="0"/>
                <a:cs typeface="Arial" panose="020B0604020202020204" pitchFamily="34" charset="0"/>
              </a:rPr>
              <a:t> was initiated in order to inspect the mechanical components of the compressor. The plant manager was 'not happy' with my decision. About 6 hours later, the industrial mechanics reported that they found one of the 'drive rods' (basically, a connecting rod bearing the full load on a compression stroke) had cracked and was in a state of imminent failure.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At the time, mid-1980's, I had not known about the Engineer's Survival Guide, but I had based my decision to protect the environment and prevent injuries to others. This practical real situation  clearly aligns with 'Key Point #3 When you make decisions, put safety ahead of any other objective.' I could have used an Engineer's Survival Guide at that early point in my career.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The Engineer's Survival Guide is a compass to help you make decisions in your careers. Let's explore them."</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6744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4492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3467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2990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8060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322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1818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5489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78195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180406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7085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7231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5/2/2022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55785719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36016"/>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1.2:</a:t>
            </a: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(Part 1)</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State the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Four Key Points of the Engineer's Survival Guide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Examine and connect the lessons learned in the case studies to the key principles of the Engineer’s Survival Guide.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Judge a situation where issues/concerns are evident or perceived, in order to make a decision or recommendation.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Make decisions in an enabled and empowered manner, when faced with incomplete information, guidance, direction, or messaging, and often under significant time constraints.</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indent="0" algn="ctr" eaLnBrk="1" hangingPunct="1">
              <a:spcBef>
                <a:spcPct val="0"/>
              </a:spcBef>
              <a:buNone/>
            </a:pPr>
            <a:r>
              <a:rPr lang="en-CA" altLang="en-US" sz="1200" b="1"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1.2: </a:t>
            </a:r>
            <a:r>
              <a:rPr lang="en-CA" altLang="en-US" sz="1200" b="1"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based on the experiences of a highly successful engineer.</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Endorsed … by many who have learned the hard way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Experienced-hardened wisdom …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class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keep The Engineer’s Survival Guide in mind when reviewing case studies.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your careers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help you avoid making a poor decision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Survival Guide will be introduced with an example: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Survival Guide: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indent="0" algn="ctr" eaLnBrk="1" hangingPunct="1">
              <a:spcBef>
                <a:spcPct val="0"/>
              </a:spcBef>
              <a:buNone/>
            </a:pPr>
            <a:r>
              <a:rPr lang="en-CA" altLang="en-US" sz="1200" b="1"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1.2: </a:t>
            </a:r>
            <a:r>
              <a:rPr lang="en-CA" altLang="en-US" sz="1200" b="1"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Tree>
    <p:extLst>
      <p:ext uri="{BB962C8B-B14F-4D97-AF65-F5344CB8AC3E}">
        <p14:creationId xmlns:p14="http://schemas.microsoft.com/office/powerpoint/2010/main" val="128517005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Engineer’s Survival Guide: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1.2: </a:t>
            </a: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The Engineer’s Survival Guide</a:t>
            </a:r>
          </a:p>
        </p:txBody>
      </p:sp>
      <p:sp>
        <p:nvSpPr>
          <p:cNvPr id="6" name="TextBox 5">
            <a:extLst>
              <a:ext uri="{FF2B5EF4-FFF2-40B4-BE49-F238E27FC236}">
                <a16:creationId xmlns:a16="http://schemas.microsoft.com/office/drawing/2014/main" id="{BCA808AC-4232-4F67-BB10-EB888DA40ECD}"/>
              </a:ext>
            </a:extLst>
          </p:cNvPr>
          <p:cNvSpPr txBox="1"/>
          <p:nvPr/>
        </p:nvSpPr>
        <p:spPr>
          <a:xfrm>
            <a:off x="455610" y="1286728"/>
            <a:ext cx="8226425" cy="1938992"/>
          </a:xfrm>
          <a:prstGeom prst="rect">
            <a:avLst/>
          </a:prstGeom>
          <a:solidFill>
            <a:srgbClr val="000000"/>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Professor relates the </a:t>
            </a:r>
            <a:r>
              <a:rPr kumimoji="0" lang="en-CA" b="0" i="0" u="sng"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situation</a:t>
            </a: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and </a:t>
            </a:r>
            <a:r>
              <a:rPr kumimoji="0" lang="en-CA" b="0" i="0" u="sng"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issue</a:t>
            </a: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about their real workplace </a:t>
            </a:r>
            <a:r>
              <a:rPr kumimoji="0" lang="en-CA" b="0" i="0"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experience</a:t>
            </a:r>
            <a:r>
              <a:rPr lang="en-CA" kern="0" dirty="0">
                <a:solidFill>
                  <a:srgbClr val="FFFFFF"/>
                </a:solidFill>
                <a:latin typeface="Arial" panose="020B0604020202020204" pitchFamily="34" charset="0"/>
                <a:cs typeface="Arial" panose="020B0604020202020204" pitchFamily="34" charset="0"/>
              </a:rPr>
              <a:t>:</a:t>
            </a:r>
            <a:endPar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The Compressor Noise and </a:t>
            </a:r>
            <a:b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b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The Company’s Responsible Care Code of </a:t>
            </a:r>
            <a:r>
              <a:rPr kumimoji="0" lang="en-CA" b="0" i="0"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Ethics</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CA" kern="0" dirty="0" smtClean="0">
                <a:solidFill>
                  <a:srgbClr val="FFFFFF"/>
                </a:solidFill>
                <a:latin typeface="Arial" panose="020B0604020202020204" pitchFamily="34" charset="0"/>
                <a:cs typeface="Arial" panose="020B0604020202020204" pitchFamily="34" charset="0"/>
              </a:rPr>
              <a:t>(review “Notes”)</a:t>
            </a:r>
            <a:endPar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31B37FB-EA97-48F5-890C-A0926254612B}"/>
              </a:ext>
            </a:extLst>
          </p:cNvPr>
          <p:cNvSpPr txBox="1"/>
          <p:nvPr/>
        </p:nvSpPr>
        <p:spPr>
          <a:xfrm>
            <a:off x="455608" y="3530940"/>
            <a:ext cx="8226425" cy="1200329"/>
          </a:xfrm>
          <a:prstGeom prst="rect">
            <a:avLst/>
          </a:prstGeom>
          <a:solidFill>
            <a:srgbClr val="0000FF"/>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Please confer on this question and respond on MM:</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What would you have done in this situation about keeping the plant running?</a:t>
            </a:r>
          </a:p>
        </p:txBody>
      </p:sp>
    </p:spTree>
    <p:extLst>
      <p:ext uri="{BB962C8B-B14F-4D97-AF65-F5344CB8AC3E}">
        <p14:creationId xmlns:p14="http://schemas.microsoft.com/office/powerpoint/2010/main" val="5194825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Engineer’s Survival Guide: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1.2: </a:t>
            </a: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The Engineer’s Survival Guide</a:t>
            </a:r>
          </a:p>
        </p:txBody>
      </p:sp>
      <p:sp>
        <p:nvSpPr>
          <p:cNvPr id="6" name="TextBox 5">
            <a:extLst>
              <a:ext uri="{FF2B5EF4-FFF2-40B4-BE49-F238E27FC236}">
                <a16:creationId xmlns:a16="http://schemas.microsoft.com/office/drawing/2014/main" id="{BCA808AC-4232-4F67-BB10-EB888DA40ECD}"/>
              </a:ext>
            </a:extLst>
          </p:cNvPr>
          <p:cNvSpPr txBox="1"/>
          <p:nvPr/>
        </p:nvSpPr>
        <p:spPr>
          <a:xfrm>
            <a:off x="455610" y="1286728"/>
            <a:ext cx="8226425" cy="1938992"/>
          </a:xfrm>
          <a:prstGeom prst="rect">
            <a:avLst/>
          </a:prstGeom>
          <a:solidFill>
            <a:srgbClr val="000000"/>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Professor relates the </a:t>
            </a:r>
            <a:r>
              <a:rPr kumimoji="0" lang="en-CA" b="0" i="0" u="sng"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situation</a:t>
            </a: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and </a:t>
            </a:r>
            <a:r>
              <a:rPr kumimoji="0" lang="en-CA" b="0" i="0" u="sng"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issue</a:t>
            </a: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about their real workplace </a:t>
            </a:r>
            <a:r>
              <a:rPr kumimoji="0" lang="en-CA" b="0" i="0"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experience</a:t>
            </a:r>
            <a:r>
              <a:rPr lang="en-CA" kern="0" dirty="0">
                <a:solidFill>
                  <a:srgbClr val="FFFFFF"/>
                </a:solidFill>
                <a:latin typeface="Arial" panose="020B0604020202020204" pitchFamily="34" charset="0"/>
                <a:cs typeface="Arial" panose="020B0604020202020204" pitchFamily="34" charset="0"/>
              </a:rPr>
              <a:t>:</a:t>
            </a:r>
            <a:endPar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The Compressor Noise and </a:t>
            </a:r>
            <a:b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b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The Company’s Responsible Care Code of </a:t>
            </a:r>
            <a:r>
              <a:rPr kumimoji="0" lang="en-CA" b="0" i="0"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Ethics</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CA" kern="0" dirty="0" smtClean="0">
                <a:solidFill>
                  <a:srgbClr val="FFFFFF"/>
                </a:solidFill>
                <a:latin typeface="Arial" panose="020B0604020202020204" pitchFamily="34" charset="0"/>
                <a:cs typeface="Arial" panose="020B0604020202020204" pitchFamily="34" charset="0"/>
              </a:rPr>
              <a:t>(review “Notes”)</a:t>
            </a:r>
            <a:endPar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31B37FB-EA97-48F5-890C-A0926254612B}"/>
              </a:ext>
            </a:extLst>
          </p:cNvPr>
          <p:cNvSpPr txBox="1"/>
          <p:nvPr/>
        </p:nvSpPr>
        <p:spPr>
          <a:xfrm>
            <a:off x="455608" y="3530940"/>
            <a:ext cx="8226425" cy="1200329"/>
          </a:xfrm>
          <a:prstGeom prst="rect">
            <a:avLst/>
          </a:prstGeom>
          <a:solidFill>
            <a:srgbClr val="0000FF"/>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Please confer on this question and respond on MM:</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What would you have done in this situation about keeping the plant running?</a:t>
            </a:r>
          </a:p>
        </p:txBody>
      </p:sp>
      <p:sp>
        <p:nvSpPr>
          <p:cNvPr id="10" name="TextBox 9">
            <a:extLst>
              <a:ext uri="{FF2B5EF4-FFF2-40B4-BE49-F238E27FC236}">
                <a16:creationId xmlns:a16="http://schemas.microsoft.com/office/drawing/2014/main" id="{6BA36E9B-D709-4C5D-8656-40719E7D0179}"/>
              </a:ext>
            </a:extLst>
          </p:cNvPr>
          <p:cNvSpPr txBox="1"/>
          <p:nvPr/>
        </p:nvSpPr>
        <p:spPr>
          <a:xfrm>
            <a:off x="461962" y="5036403"/>
            <a:ext cx="8226425" cy="830997"/>
          </a:xfrm>
          <a:prstGeom prst="rect">
            <a:avLst/>
          </a:prstGeom>
          <a:solidFill>
            <a:srgbClr val="000000"/>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Professor resumes with how the situation and issue were managed, and demonstrates the value of having the ESG!</a:t>
            </a:r>
          </a:p>
        </p:txBody>
      </p:sp>
    </p:spTree>
    <p:extLst>
      <p:ext uri="{BB962C8B-B14F-4D97-AF65-F5344CB8AC3E}">
        <p14:creationId xmlns:p14="http://schemas.microsoft.com/office/powerpoint/2010/main" val="29995733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10000"/>
              </a:lnSpc>
              <a:buClr>
                <a:srgbClr val="000000"/>
              </a:buClr>
              <a:buSzPct val="100000"/>
              <a:buFont typeface="Times New Roman" panose="02020603050405020304" pitchFamily="18" charset="0"/>
              <a:buAutoNum type="arabicParenR"/>
            </a:pPr>
            <a:r>
              <a:rPr lang="en-US" altLang="en-US" sz="2000" dirty="0">
                <a:solidFill>
                  <a:srgbClr val="000000"/>
                </a:solidFill>
                <a:latin typeface="Arial" panose="020B0604020202020204" pitchFamily="34" charset="0"/>
              </a:rPr>
              <a:t>Understand company values! </a:t>
            </a:r>
          </a:p>
          <a:p>
            <a:pPr eaLnBrk="1" hangingPunct="1">
              <a:lnSpc>
                <a:spcPct val="110000"/>
              </a:lnSpc>
              <a:buClr>
                <a:srgbClr val="000000"/>
              </a:buClr>
              <a:buSzPct val="100000"/>
              <a:buFont typeface="Times New Roman" panose="02020603050405020304" pitchFamily="18" charset="0"/>
              <a:buAutoNum type="arabicParenR"/>
            </a:pPr>
            <a:endParaRPr lang="en-US" altLang="en-US" sz="1000" dirty="0">
              <a:solidFill>
                <a:srgbClr val="000000"/>
              </a:solidFill>
              <a:latin typeface="Arial" panose="020B0604020202020204" pitchFamily="34" charset="0"/>
            </a:endParaRPr>
          </a:p>
          <a:p>
            <a:pPr eaLnBrk="1" hangingPunct="1">
              <a:lnSpc>
                <a:spcPct val="110000"/>
              </a:lnSpc>
              <a:buClr>
                <a:srgbClr val="000000"/>
              </a:buClr>
              <a:buSzPct val="100000"/>
              <a:buFont typeface="Times New Roman" panose="02020603050405020304" pitchFamily="18" charset="0"/>
              <a:buAutoNum type="arabicParenR"/>
            </a:pPr>
            <a:r>
              <a:rPr lang="en-US" altLang="en-US" sz="2000" dirty="0" smtClean="0">
                <a:solidFill>
                  <a:srgbClr val="000000"/>
                </a:solidFill>
                <a:latin typeface="Arial" panose="020B0604020202020204" pitchFamily="34" charset="0"/>
              </a:rPr>
              <a:t>Know </a:t>
            </a:r>
            <a:r>
              <a:rPr lang="en-US" altLang="en-US" sz="2000" dirty="0">
                <a:solidFill>
                  <a:srgbClr val="000000"/>
                </a:solidFill>
                <a:latin typeface="Arial" panose="020B0604020202020204" pitchFamily="34" charset="0"/>
              </a:rPr>
              <a:t>your program! </a:t>
            </a:r>
          </a:p>
          <a:p>
            <a:pPr eaLnBrk="1" hangingPunct="1">
              <a:lnSpc>
                <a:spcPct val="110000"/>
              </a:lnSpc>
              <a:buClr>
                <a:srgbClr val="000000"/>
              </a:buClr>
              <a:buSzPct val="100000"/>
              <a:buFont typeface="Times New Roman" panose="02020603050405020304" pitchFamily="18" charset="0"/>
              <a:buAutoNum type="arabicParenR"/>
            </a:pPr>
            <a:endParaRPr lang="en-US" altLang="en-US" sz="1000" dirty="0">
              <a:solidFill>
                <a:srgbClr val="000000"/>
              </a:solidFill>
              <a:latin typeface="Arial" panose="020B0604020202020204" pitchFamily="34" charset="0"/>
            </a:endParaRPr>
          </a:p>
          <a:p>
            <a:pPr eaLnBrk="1" hangingPunct="1">
              <a:lnSpc>
                <a:spcPct val="110000"/>
              </a:lnSpc>
              <a:buClr>
                <a:srgbClr val="000000"/>
              </a:buClr>
              <a:buSzPct val="100000"/>
              <a:buFont typeface="Times New Roman" panose="02020603050405020304" pitchFamily="18" charset="0"/>
              <a:buAutoNum type="arabicParenR"/>
            </a:pPr>
            <a:r>
              <a:rPr lang="en-US" altLang="en-US" sz="2000" dirty="0">
                <a:solidFill>
                  <a:srgbClr val="000000"/>
                </a:solidFill>
                <a:latin typeface="Arial" panose="020B0604020202020204" pitchFamily="34" charset="0"/>
              </a:rPr>
              <a:t>When you make decisions, put safety ahead of any other objective! </a:t>
            </a:r>
          </a:p>
          <a:p>
            <a:pPr eaLnBrk="1" hangingPunct="1">
              <a:lnSpc>
                <a:spcPct val="110000"/>
              </a:lnSpc>
              <a:buClr>
                <a:srgbClr val="000000"/>
              </a:buClr>
              <a:buSzPct val="100000"/>
              <a:buFont typeface="Times New Roman" panose="02020603050405020304" pitchFamily="18" charset="0"/>
              <a:buAutoNum type="arabicParenR"/>
            </a:pPr>
            <a:endParaRPr lang="en-US" altLang="en-US" sz="1000" dirty="0">
              <a:solidFill>
                <a:srgbClr val="000000"/>
              </a:solidFill>
              <a:latin typeface="Arial" panose="020B0604020202020204" pitchFamily="34" charset="0"/>
            </a:endParaRPr>
          </a:p>
          <a:p>
            <a:pPr eaLnBrk="1" hangingPunct="1">
              <a:lnSpc>
                <a:spcPct val="110000"/>
              </a:lnSpc>
              <a:buClr>
                <a:srgbClr val="000000"/>
              </a:buClr>
              <a:buSzPct val="100000"/>
              <a:buFont typeface="Times New Roman" panose="02020603050405020304" pitchFamily="18" charset="0"/>
              <a:buAutoNum type="arabicParenR"/>
            </a:pPr>
            <a:r>
              <a:rPr lang="en-US" altLang="en-US" sz="2000" dirty="0">
                <a:solidFill>
                  <a:srgbClr val="000000"/>
                </a:solidFill>
                <a:latin typeface="Arial" panose="020B0604020202020204" pitchFamily="34" charset="0"/>
              </a:rPr>
              <a:t>Pay attention to failures in safety systems and take action! </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12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1.2: </a:t>
            </a:r>
            <a:r>
              <a:rPr kumimoji="0" lang="en-CA"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
        <p:nvSpPr>
          <p:cNvPr id="6" name="Text Box 7">
            <a:extLst>
              <a:ext uri="{FF2B5EF4-FFF2-40B4-BE49-F238E27FC236}">
                <a16:creationId xmlns:a16="http://schemas.microsoft.com/office/drawing/2014/main" id="{9DFC7752-53CB-4F9E-900F-854733A3460B}"/>
              </a:ext>
            </a:extLst>
          </p:cNvPr>
          <p:cNvSpPr txBox="1">
            <a:spLocks noChangeArrowheads="1"/>
          </p:cNvSpPr>
          <p:nvPr/>
        </p:nvSpPr>
        <p:spPr bwMode="auto">
          <a:xfrm>
            <a:off x="324000" y="4419600"/>
            <a:ext cx="8496000" cy="1736400"/>
          </a:xfrm>
          <a:prstGeom prst="rect">
            <a:avLst/>
          </a:prstGeom>
          <a:solidFill>
            <a:srgbClr val="FFFF00"/>
          </a:solidFill>
          <a:ln w="9525">
            <a:solidFill>
              <a:srgbClr val="000000"/>
            </a:solidFill>
            <a:miter lim="800000"/>
            <a:headEnd/>
            <a:tailEnd/>
          </a:ln>
          <a:effectLst/>
        </p:spPr>
        <p:txBody>
          <a:bodyPr wrap="square"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eaLnBrk="1" fontAlgn="auto" latinLnBrk="0" hangingPunct="1">
              <a:lnSpc>
                <a:spcPct val="110000"/>
              </a:lnSpc>
              <a:spcBef>
                <a:spcPct val="20000"/>
              </a:spcBef>
              <a:spcAft>
                <a:spcPts val="0"/>
              </a:spcAft>
              <a:buClr>
                <a:srgbClr val="000000"/>
              </a:buClr>
              <a:buSzPct val="100000"/>
              <a:buFont typeface="Times New Roman" panose="02020603050405020304" pitchFamily="18" charset="0"/>
              <a:buNone/>
              <a:tabLst/>
              <a:defRPr/>
            </a:pPr>
            <a:r>
              <a:rPr kumimoji="0" lang="en-US" altLang="en-US" sz="2000" b="1" i="1" u="none" strike="noStrike" kern="0" cap="none" spc="0" normalizeH="0" baseline="0" noProof="0" dirty="0">
                <a:ln>
                  <a:noFill/>
                </a:ln>
                <a:solidFill>
                  <a:srgbClr val="000000"/>
                </a:solidFill>
                <a:effectLst/>
                <a:uLnTx/>
                <a:uFillTx/>
                <a:latin typeface="+mn-lt"/>
              </a:rPr>
              <a:t>Memorize these Four Key Points!</a:t>
            </a:r>
          </a:p>
          <a:p>
            <a:pPr marL="0" marR="0" lvl="0" indent="0" algn="ctr" defTabSz="914400" eaLnBrk="1" fontAlgn="auto" latinLnBrk="0" hangingPunct="1">
              <a:lnSpc>
                <a:spcPct val="110000"/>
              </a:lnSpc>
              <a:spcBef>
                <a:spcPct val="20000"/>
              </a:spcBef>
              <a:spcAft>
                <a:spcPts val="0"/>
              </a:spcAft>
              <a:buClr>
                <a:srgbClr val="000000"/>
              </a:buClr>
              <a:buSzPct val="100000"/>
              <a:buFont typeface="Times New Roman" panose="02020603050405020304" pitchFamily="18" charset="0"/>
              <a:buNone/>
              <a:tabLst/>
              <a:defRPr/>
            </a:pPr>
            <a:r>
              <a:rPr kumimoji="0" lang="en-US" altLang="en-US" sz="2000" b="1" i="1" u="none" strike="noStrike" kern="0" cap="none" spc="0" normalizeH="0" baseline="0" noProof="0" dirty="0">
                <a:ln>
                  <a:noFill/>
                </a:ln>
                <a:solidFill>
                  <a:srgbClr val="000000"/>
                </a:solidFill>
                <a:effectLst/>
                <a:uLnTx/>
                <a:uFillTx/>
                <a:latin typeface="+mn-lt"/>
              </a:rPr>
              <a:t>Explain what they mean.</a:t>
            </a:r>
          </a:p>
          <a:p>
            <a:pPr marL="0" marR="0" lvl="0" indent="0" algn="ctr" defTabSz="914400" eaLnBrk="1" fontAlgn="auto" latinLnBrk="0" hangingPunct="1">
              <a:lnSpc>
                <a:spcPct val="110000"/>
              </a:lnSpc>
              <a:spcBef>
                <a:spcPct val="20000"/>
              </a:spcBef>
              <a:spcAft>
                <a:spcPts val="0"/>
              </a:spcAft>
              <a:buClr>
                <a:srgbClr val="000000"/>
              </a:buClr>
              <a:buSzPct val="100000"/>
              <a:buFont typeface="Times New Roman" panose="02020603050405020304" pitchFamily="18" charset="0"/>
              <a:buNone/>
              <a:tabLst/>
              <a:defRPr/>
            </a:pPr>
            <a:r>
              <a:rPr kumimoji="0" lang="en-US" altLang="en-US" sz="2000" b="1" i="1" u="none" strike="noStrike" kern="0" cap="none" spc="0" normalizeH="0" baseline="0" noProof="0" dirty="0">
                <a:ln>
                  <a:noFill/>
                </a:ln>
                <a:solidFill>
                  <a:srgbClr val="000000"/>
                </a:solidFill>
                <a:effectLst/>
                <a:uLnTx/>
                <a:uFillTx/>
                <a:latin typeface="+mn-lt"/>
              </a:rPr>
              <a:t>Apply these to real-world situations</a:t>
            </a:r>
            <a:r>
              <a:rPr kumimoji="0" lang="en-US" altLang="en-US" sz="2000" b="1" i="1" u="none" strike="noStrike" kern="0" cap="none" spc="0" normalizeH="0" baseline="0" noProof="0" dirty="0" smtClean="0">
                <a:ln>
                  <a:noFill/>
                </a:ln>
                <a:solidFill>
                  <a:srgbClr val="000000"/>
                </a:solidFill>
                <a:effectLst/>
                <a:uLnTx/>
                <a:uFillTx/>
                <a:latin typeface="+mn-lt"/>
              </a:rPr>
              <a:t>.</a:t>
            </a:r>
            <a:endParaRPr lang="en-US" altLang="en-US" sz="2000" b="1" i="1" kern="0" dirty="0">
              <a:solidFill>
                <a:srgbClr val="000000"/>
              </a:solidFill>
              <a:latin typeface="+mn-lt"/>
            </a:endParaRPr>
          </a:p>
        </p:txBody>
      </p:sp>
    </p:spTree>
    <p:extLst>
      <p:ext uri="{BB962C8B-B14F-4D97-AF65-F5344CB8AC3E}">
        <p14:creationId xmlns:p14="http://schemas.microsoft.com/office/powerpoint/2010/main" val="3778339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0" fill="hold"/>
                                        <p:tgtEl>
                                          <p:spTgt spid="6"/>
                                        </p:tgtEl>
                                        <p:attrNameLst>
                                          <p:attrName>ppt_w</p:attrName>
                                        </p:attrNameLst>
                                      </p:cBhvr>
                                      <p:tavLst>
                                        <p:tav tm="0" fmla="#ppt_w*sin(2.5*pi*$)">
                                          <p:val>
                                            <p:fltVal val="0"/>
                                          </p:val>
                                        </p:tav>
                                        <p:tav tm="100000">
                                          <p:val>
                                            <p:fltVal val="1"/>
                                          </p:val>
                                        </p:tav>
                                      </p:tavLst>
                                    </p:anim>
                                    <p:anim calcmode="lin" valueType="num">
                                      <p:cBhvr>
                                        <p:cTn id="8" dur="5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sz="2000" dirty="0">
                <a:solidFill>
                  <a:srgbClr val="000000"/>
                </a:solidFill>
                <a:latin typeface="Arial" panose="020B0604020202020204" pitchFamily="34" charset="0"/>
              </a:rPr>
              <a:t>Review company policy (core values and corporate ethics) and determine if safety is a value.</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When safety is a </a:t>
            </a:r>
            <a:r>
              <a:rPr lang="en-US" altLang="en-US" sz="2000" b="1" dirty="0">
                <a:solidFill>
                  <a:srgbClr val="000000"/>
                </a:solidFill>
                <a:latin typeface="Arial" panose="020B0604020202020204" pitchFamily="34" charset="0"/>
              </a:rPr>
              <a:t>value</a:t>
            </a:r>
            <a:r>
              <a:rPr lang="en-US" altLang="en-US" sz="2000" dirty="0">
                <a:solidFill>
                  <a:srgbClr val="000000"/>
                </a:solidFill>
                <a:latin typeface="Arial" panose="020B0604020202020204" pitchFamily="34" charset="0"/>
              </a:rPr>
              <a:t> – NOT a priority – it supports sustainable ESRM. Values are the compass. </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Check if the company has a </a:t>
            </a:r>
            <a:r>
              <a:rPr lang="en-US" altLang="en-US" sz="2000" u="sng" dirty="0">
                <a:solidFill>
                  <a:srgbClr val="000000"/>
                </a:solidFill>
                <a:latin typeface="Arial" panose="020B0604020202020204" pitchFamily="34" charset="0"/>
              </a:rPr>
              <a:t>safety culture </a:t>
            </a:r>
            <a:r>
              <a:rPr lang="en-US" altLang="en-US" sz="2000" dirty="0">
                <a:solidFill>
                  <a:srgbClr val="000000"/>
                </a:solidFill>
                <a:latin typeface="Arial" panose="020B0604020202020204" pitchFamily="34" charset="0"/>
              </a:rPr>
              <a:t>where:</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considerations come ahead of any action to complete a task;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considerations are the basis for decision making when considering a course of action</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1) Understand company values!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12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1.2: </a:t>
            </a:r>
            <a:r>
              <a:rPr kumimoji="0" lang="en-CA"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Tree>
    <p:extLst>
      <p:ext uri="{BB962C8B-B14F-4D97-AF65-F5344CB8AC3E}">
        <p14:creationId xmlns:p14="http://schemas.microsoft.com/office/powerpoint/2010/main" val="68228290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nSpc>
                <a:spcPct val="100000"/>
              </a:lnSpc>
              <a:spcBef>
                <a:spcPts val="0"/>
              </a:spcBef>
              <a:buClr>
                <a:srgbClr val="000000"/>
              </a:buClr>
              <a:buSzPct val="100000"/>
              <a:buNone/>
            </a:pPr>
            <a:endParaRPr lang="en-US" altLang="en-US" sz="2000" dirty="0">
              <a:solidFill>
                <a:srgbClr val="000000"/>
              </a:solidFill>
              <a:latin typeface="Arial" panose="020B0604020202020204" pitchFamily="34" charset="0"/>
            </a:endParaRPr>
          </a:p>
          <a:p>
            <a:pPr marL="0" indent="0">
              <a:lnSpc>
                <a:spcPct val="100000"/>
              </a:lnSpc>
              <a:spcBef>
                <a:spcPts val="0"/>
              </a:spcBef>
              <a:buClr>
                <a:srgbClr val="000000"/>
              </a:buClr>
              <a:buSzPct val="100000"/>
              <a:buNone/>
            </a:pPr>
            <a:r>
              <a:rPr lang="en-US" altLang="en-US" sz="2000" dirty="0">
                <a:solidFill>
                  <a:srgbClr val="000000"/>
                </a:solidFill>
                <a:latin typeface="Arial" panose="020B0604020202020204" pitchFamily="34" charset="0"/>
              </a:rPr>
              <a:t>Determine if the company has a safety and risk management program.</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
            </a:r>
            <a:br>
              <a:rPr lang="en-US" altLang="en-US" sz="2000" dirty="0">
                <a:solidFill>
                  <a:srgbClr val="000000"/>
                </a:solidFill>
                <a:latin typeface="Arial" panose="020B0604020202020204" pitchFamily="34" charset="0"/>
              </a:rPr>
            </a:br>
            <a:r>
              <a:rPr lang="en-US" altLang="en-US" sz="2000" dirty="0" smtClean="0">
                <a:solidFill>
                  <a:srgbClr val="000000"/>
                </a:solidFill>
                <a:latin typeface="Arial" panose="020B0604020202020204" pitchFamily="34" charset="0"/>
              </a:rPr>
              <a:t>Know </a:t>
            </a:r>
            <a:r>
              <a:rPr lang="en-US" altLang="en-US" sz="2000" dirty="0">
                <a:solidFill>
                  <a:srgbClr val="000000"/>
                </a:solidFill>
                <a:latin typeface="Arial" panose="020B0604020202020204" pitchFamily="34" charset="0"/>
              </a:rPr>
              <a:t>your personal responsibilities to meet program requirements.</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Undertake those responsibilities diligently. </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
            </a:r>
            <a:br>
              <a:rPr lang="en-US" altLang="en-US" sz="2000" dirty="0">
                <a:solidFill>
                  <a:srgbClr val="000000"/>
                </a:solidFill>
                <a:latin typeface="Arial" panose="020B0604020202020204" pitchFamily="34" charset="0"/>
              </a:rPr>
            </a:br>
            <a:r>
              <a:rPr lang="en-US" altLang="en-US" sz="2000" i="1" dirty="0">
                <a:solidFill>
                  <a:srgbClr val="000000"/>
                </a:solidFill>
                <a:latin typeface="Arial" panose="020B0604020202020204" pitchFamily="34" charset="0"/>
              </a:rPr>
              <a:t>People’s lives and your company’s business may depend on it.</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2)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Know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your program!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12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1.2: </a:t>
            </a:r>
            <a:r>
              <a:rPr kumimoji="0" lang="en-CA"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Tree>
    <p:extLst>
      <p:ext uri="{BB962C8B-B14F-4D97-AF65-F5344CB8AC3E}">
        <p14:creationId xmlns:p14="http://schemas.microsoft.com/office/powerpoint/2010/main" val="206699231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Even under stressful circumstances or time constraints, safety takes precedence over:</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Production, </a:t>
            </a:r>
          </a:p>
          <a:p>
            <a:pPr marL="360000" marR="0" lvl="0" indent="-36000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Cost, </a:t>
            </a:r>
          </a:p>
          <a:p>
            <a:pPr marL="360000" marR="0" lvl="0" indent="-36000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Schedule,</a:t>
            </a:r>
          </a:p>
          <a:p>
            <a:pPr marL="360000" marR="0" lvl="0" indent="-36000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any other competing objective.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lang="en-US" altLang="en-US" sz="2000" dirty="0">
                <a:solidFill>
                  <a:srgbClr val="000000"/>
                </a:solidFill>
                <a:latin typeface="Arial" panose="020B0604020202020204" pitchFamily="34" charset="0"/>
              </a:rPr>
              <a:t>When we only prioritize safety – “when it takes a backseat” – we expose people, the environment, and the company to increased risk.</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3) When you make decisions, put safety ahead of any other objective! </a:t>
            </a:r>
            <a:endPar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12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1.2: </a:t>
            </a:r>
            <a:r>
              <a:rPr kumimoji="0" lang="en-CA"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Tree>
    <p:extLst>
      <p:ext uri="{BB962C8B-B14F-4D97-AF65-F5344CB8AC3E}">
        <p14:creationId xmlns:p14="http://schemas.microsoft.com/office/powerpoint/2010/main" val="343517366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US"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You must intervene</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when there are deviations and variances in the intended engineering controls and/or the administrative controls</a:t>
            </a:r>
            <a:b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b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i.e. bypassed, deactivated, circumvented, etc. </a:t>
            </a:r>
            <a:b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b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r>
            <a:b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br>
            <a:r>
              <a:rPr kumimoji="0" lang="en-US"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You must work</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to correct these deviations and variances / sub-standard conditions and sub-standard work practice. </a:t>
            </a:r>
            <a:b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b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r>
            <a:b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b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Accepting these variances means you will be part of the inevitable spiral to disaster, and you don’t want to be the author of your own case study.</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4) Pay attention to failures in safety systems and take action!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12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1.2: </a:t>
            </a:r>
            <a:r>
              <a:rPr kumimoji="0" lang="en-CA"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Tree>
    <p:extLst>
      <p:ext uri="{BB962C8B-B14F-4D97-AF65-F5344CB8AC3E}">
        <p14:creationId xmlns:p14="http://schemas.microsoft.com/office/powerpoint/2010/main" val="151301609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eaLnBrk="1" hangingPunct="1">
              <a:lnSpc>
                <a:spcPct val="11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Unfortunately, disasters have happened. </a:t>
            </a:r>
          </a:p>
          <a:p>
            <a:pPr eaLnBrk="1" hangingPunct="1">
              <a:lnSpc>
                <a:spcPct val="11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Decisions made with the with the best of intentions …</a:t>
            </a:r>
            <a:b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b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 ended in disaster far beyond envisioned. </a:t>
            </a:r>
          </a:p>
          <a:p>
            <a:pPr eaLnBrk="1" hangingPunct="1">
              <a:lnSpc>
                <a:spcPct val="11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None set out to cause harm.</a:t>
            </a:r>
          </a:p>
          <a:p>
            <a:pPr eaLnBrk="1" hangingPunct="1">
              <a:lnSpc>
                <a:spcPct val="11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These people tragically understood the impact of their decisions after the fact.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US" altLang="en-US" sz="2000" i="1" dirty="0">
                <a:solidFill>
                  <a:srgbClr val="000000"/>
                </a:solidFill>
                <a:latin typeface="Arial" panose="020B0604020202020204" pitchFamily="34" charset="0"/>
                <a:ea typeface="Times New Roman" panose="02020603050405020304" pitchFamily="18" charset="0"/>
                <a:cs typeface="Arial" panose="020B0604020202020204" pitchFamily="34" charset="0"/>
              </a:rPr>
              <a:t>It is our express intent that </a:t>
            </a:r>
            <a:r>
              <a:rPr lang="en-US" altLang="en-US" sz="2000" i="1" u="sng" dirty="0">
                <a:solidFill>
                  <a:srgbClr val="000000"/>
                </a:solidFill>
                <a:latin typeface="Arial" panose="020B0604020202020204" pitchFamily="34" charset="0"/>
                <a:ea typeface="Times New Roman" panose="02020603050405020304" pitchFamily="18" charset="0"/>
                <a:cs typeface="Arial" panose="020B0604020202020204" pitchFamily="34" charset="0"/>
              </a:rPr>
              <a:t>you apply sound risk management principles</a:t>
            </a:r>
            <a:r>
              <a:rPr lang="en-US" altLang="en-US" sz="2000" i="1" dirty="0">
                <a:solidFill>
                  <a:srgbClr val="000000"/>
                </a:solidFill>
                <a:latin typeface="Arial" panose="020B0604020202020204" pitchFamily="34" charset="0"/>
                <a:ea typeface="Times New Roman" panose="02020603050405020304" pitchFamily="18" charset="0"/>
                <a:cs typeface="Arial" panose="020B0604020202020204" pitchFamily="34" charset="0"/>
              </a:rPr>
              <a:t>, that none of you becomes central to a tragic incident, and that </a:t>
            </a:r>
            <a:r>
              <a:rPr lang="en-US" altLang="en-US" sz="2000" i="1" u="sng" dirty="0">
                <a:solidFill>
                  <a:srgbClr val="000000"/>
                </a:solidFill>
                <a:latin typeface="Arial" panose="020B0604020202020204" pitchFamily="34" charset="0"/>
                <a:ea typeface="Times New Roman" panose="02020603050405020304" pitchFamily="18" charset="0"/>
                <a:cs typeface="Arial" panose="020B0604020202020204" pitchFamily="34" charset="0"/>
              </a:rPr>
              <a:t>none of you becomes the author of a future case study</a:t>
            </a:r>
            <a:r>
              <a:rPr lang="en-US" altLang="en-US" sz="2000" i="1" dirty="0">
                <a:solidFill>
                  <a:srgbClr val="000000"/>
                </a:solidFill>
                <a:latin typeface="Arial" panose="020B0604020202020204" pitchFamily="34" charset="0"/>
                <a:ea typeface="Times New Roman" panose="02020603050405020304" pitchFamily="18" charset="0"/>
                <a:cs typeface="Arial" panose="020B0604020202020204" pitchFamily="34" charset="0"/>
              </a:rPr>
              <a:t> in engineering safety and risk management.</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What is the Value in The Guide?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12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1.2: </a:t>
            </a:r>
            <a:r>
              <a:rPr kumimoji="0" lang="en-CA"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Tree>
    <p:extLst>
      <p:ext uri="{BB962C8B-B14F-4D97-AF65-F5344CB8AC3E}">
        <p14:creationId xmlns:p14="http://schemas.microsoft.com/office/powerpoint/2010/main" val="25133217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Key Points can be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applied in any situation for any decision-making process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e.g. a case study or a dilemma in the workplace.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purpose is to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make a decision or recommendation</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consistent with the Engineer’s Survival Guide,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Given the available data, information, and resources In order to maximize or optimize the realization of a desired outcome or acceptable condition.</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How To Apply the 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12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1.2: </a:t>
            </a:r>
            <a:r>
              <a:rPr kumimoji="0" lang="en-CA"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pic>
        <p:nvPicPr>
          <p:cNvPr id="3" name="Picture 2"/>
          <p:cNvPicPr>
            <a:picLocks noChangeAspect="1"/>
          </p:cNvPicPr>
          <p:nvPr/>
        </p:nvPicPr>
        <p:blipFill>
          <a:blip r:embed="rId3"/>
          <a:stretch>
            <a:fillRect/>
          </a:stretch>
        </p:blipFill>
        <p:spPr>
          <a:xfrm>
            <a:off x="4081736" y="3330852"/>
            <a:ext cx="3766864" cy="2825148"/>
          </a:xfrm>
          <a:prstGeom prst="rect">
            <a:avLst/>
          </a:prstGeom>
          <a:ln>
            <a:solidFill>
              <a:schemeClr val="tx1"/>
            </a:solidFill>
          </a:ln>
        </p:spPr>
      </p:pic>
      <p:sp>
        <p:nvSpPr>
          <p:cNvPr id="10" name="Right Arrow 5">
            <a:extLst>
              <a:ext uri="{FF2B5EF4-FFF2-40B4-BE49-F238E27FC236}">
                <a16:creationId xmlns:a16="http://schemas.microsoft.com/office/drawing/2014/main" id="{E9C9661D-6424-4BF4-B1D8-3DF38F344CD0}"/>
              </a:ext>
            </a:extLst>
          </p:cNvPr>
          <p:cNvSpPr/>
          <p:nvPr/>
        </p:nvSpPr>
        <p:spPr bwMode="auto">
          <a:xfrm>
            <a:off x="1668995" y="5040692"/>
            <a:ext cx="2831005" cy="1187308"/>
          </a:xfrm>
          <a:prstGeom prst="rightArrow">
            <a:avLst/>
          </a:prstGeom>
          <a:solidFill>
            <a:srgbClr val="FFFF00"/>
          </a:solid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1" u="none" strike="noStrike" kern="0" cap="none" spc="0" normalizeH="0" baseline="0" noProof="0" dirty="0">
                <a:ln>
                  <a:noFill/>
                </a:ln>
                <a:solidFill>
                  <a:srgbClr val="000000"/>
                </a:solidFill>
                <a:effectLst/>
                <a:uLnTx/>
                <a:uFillTx/>
                <a:latin typeface="+mn-lt"/>
                <a:cs typeface="Calibri" panose="020F0502020204030204" pitchFamily="34" charset="0"/>
              </a:rPr>
              <a:t>Final Exam Question!</a:t>
            </a:r>
          </a:p>
        </p:txBody>
      </p:sp>
    </p:spTree>
    <p:extLst>
      <p:ext uri="{BB962C8B-B14F-4D97-AF65-F5344CB8AC3E}">
        <p14:creationId xmlns:p14="http://schemas.microsoft.com/office/powerpoint/2010/main" val="130945161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Use a “structure” to</a:t>
            </a:r>
            <a:r>
              <a:rPr kumimoji="0" lang="en-CA" altLang="en-US" sz="20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formulate your application:</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these points and answer in terms relative to a Key Point: </a:t>
            </a:r>
          </a:p>
          <a:p>
            <a:pPr lvl="1" eaLnBrk="1" hangingPunct="1">
              <a:spcBef>
                <a:spcPct val="0"/>
              </a:spcBef>
              <a:buClr>
                <a:srgbClr val="000000"/>
              </a:buClr>
              <a:buFont typeface="Wingdings" panose="05000000000000000000" pitchFamily="2" charset="2"/>
              <a:buAutoNum type="alphaLcParenR"/>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What is the Loss Incident?</a:t>
            </a:r>
          </a:p>
          <a:p>
            <a:pPr lvl="1" eaLnBrk="1" hangingPunct="1">
              <a:spcBef>
                <a:spcPct val="0"/>
              </a:spcBef>
              <a:buClr>
                <a:srgbClr val="000000"/>
              </a:buClr>
              <a:buFont typeface="Wingdings" panose="05000000000000000000" pitchFamily="2" charset="2"/>
              <a:buAutoNum type="alphaLcParenR"/>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What Key Point is being applied?</a:t>
            </a:r>
          </a:p>
          <a:p>
            <a:pPr lvl="1" eaLnBrk="1" hangingPunct="1">
              <a:spcBef>
                <a:spcPct val="0"/>
              </a:spcBef>
              <a:buClr>
                <a:srgbClr val="000000"/>
              </a:buClr>
              <a:buFont typeface="Wingdings" panose="05000000000000000000" pitchFamily="2" charset="2"/>
              <a:buAutoNum type="alphaLcParenR"/>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What is the situation?</a:t>
            </a:r>
          </a:p>
          <a:p>
            <a:pPr lvl="1" eaLnBrk="1" hangingPunct="1">
              <a:spcBef>
                <a:spcPct val="0"/>
              </a:spcBef>
              <a:buClr>
                <a:srgbClr val="000000"/>
              </a:buClr>
              <a:buFont typeface="Wingdings" panose="05000000000000000000" pitchFamily="2" charset="2"/>
              <a:buAutoNum type="alphaLcParenR"/>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What is the issue with that situation?</a:t>
            </a:r>
          </a:p>
          <a:p>
            <a:pPr lvl="1" eaLnBrk="1" hangingPunct="1">
              <a:spcBef>
                <a:spcPct val="0"/>
              </a:spcBef>
              <a:buClr>
                <a:srgbClr val="000000"/>
              </a:buClr>
              <a:buFont typeface="Wingdings" panose="05000000000000000000" pitchFamily="2" charset="2"/>
              <a:buAutoNum type="alphaLcParenR"/>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What would you have done or what should have been done?</a:t>
            </a:r>
          </a:p>
          <a:p>
            <a:pPr lvl="1" eaLnBrk="1" hangingPunct="1">
              <a:spcBef>
                <a:spcPct val="0"/>
              </a:spcBef>
              <a:buClr>
                <a:srgbClr val="000000"/>
              </a:buClr>
              <a:buFont typeface="Wingdings" panose="05000000000000000000" pitchFamily="2" charset="2"/>
              <a:buAutoNum type="alphaLcParenR"/>
            </a:pPr>
            <a:r>
              <a:rPr lang="en-US" alt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What would have been the probable outcome had it been done?</a:t>
            </a:r>
          </a:p>
          <a:p>
            <a:pPr marL="36000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will revisit the application later in the term.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How To Apply the 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12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1.2: </a:t>
            </a:r>
            <a:r>
              <a:rPr kumimoji="0" lang="en-CA"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Engineer’s Survival Guide</a:t>
            </a:r>
          </a:p>
        </p:txBody>
      </p:sp>
    </p:spTree>
    <p:extLst>
      <p:ext uri="{BB962C8B-B14F-4D97-AF65-F5344CB8AC3E}">
        <p14:creationId xmlns:p14="http://schemas.microsoft.com/office/powerpoint/2010/main" val="82072223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18788</TotalTime>
  <Words>2490</Words>
  <Application>Microsoft Office PowerPoint</Application>
  <PresentationFormat>On-screen Show (4:3)</PresentationFormat>
  <Paragraphs>193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Alberta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ESRM</dc:title>
  <dc:creator>JR Cocchio</dc:creator>
  <cp:lastModifiedBy>John Cocchio</cp:lastModifiedBy>
  <cp:revision>338</cp:revision>
  <cp:lastPrinted>2013-09-06T14:05:34Z</cp:lastPrinted>
  <dcterms:created xsi:type="dcterms:W3CDTF">2011-09-07T03:22:54Z</dcterms:created>
  <dcterms:modified xsi:type="dcterms:W3CDTF">2022-05-02T17:36:26Z</dcterms:modified>
</cp:coreProperties>
</file>