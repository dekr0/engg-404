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0"/>
  </p:notesMasterIdLst>
  <p:handoutMasterIdLst>
    <p:handoutMasterId r:id="rId21"/>
  </p:handoutMasterIdLst>
  <p:sldIdLst>
    <p:sldId id="929" r:id="rId3"/>
    <p:sldId id="880" r:id="rId4"/>
    <p:sldId id="928" r:id="rId5"/>
    <p:sldId id="955" r:id="rId6"/>
    <p:sldId id="956" r:id="rId7"/>
    <p:sldId id="957" r:id="rId8"/>
    <p:sldId id="961" r:id="rId9"/>
    <p:sldId id="959" r:id="rId10"/>
    <p:sldId id="1047" r:id="rId11"/>
    <p:sldId id="944" r:id="rId12"/>
    <p:sldId id="967" r:id="rId13"/>
    <p:sldId id="970" r:id="rId14"/>
    <p:sldId id="1006" r:id="rId15"/>
    <p:sldId id="978" r:id="rId16"/>
    <p:sldId id="975" r:id="rId17"/>
    <p:sldId id="923" r:id="rId18"/>
    <p:sldId id="900" r:id="rId19"/>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29"/>
            <p14:sldId id="880"/>
            <p14:sldId id="928"/>
            <p14:sldId id="955"/>
            <p14:sldId id="956"/>
            <p14:sldId id="957"/>
            <p14:sldId id="961"/>
            <p14:sldId id="959"/>
            <p14:sldId id="1047"/>
            <p14:sldId id="944"/>
            <p14:sldId id="967"/>
            <p14:sldId id="970"/>
            <p14:sldId id="1006"/>
            <p14:sldId id="978"/>
            <p14:sldId id="975"/>
            <p14:sldId id="923"/>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33CC"/>
    <a:srgbClr val="99FF99"/>
    <a:srgbClr val="00CC00"/>
    <a:srgbClr val="000000"/>
    <a:srgbClr val="F8F8F8"/>
    <a:srgbClr val="0000CC"/>
    <a:srgbClr val="F5D7F1"/>
    <a:srgbClr val="5F5F5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4" autoAdjust="0"/>
    <p:restoredTop sz="98116" autoAdjust="0"/>
  </p:normalViewPr>
  <p:slideViewPr>
    <p:cSldViewPr>
      <p:cViewPr varScale="1">
        <p:scale>
          <a:sx n="70" d="100"/>
          <a:sy n="70" d="100"/>
        </p:scale>
        <p:origin x="1204"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112"/>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5/31/2022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5/31/2022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xfrm>
            <a:off x="1181100" y="698500"/>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332721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7501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8896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9109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8701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1005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0694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58" name="Google Shape;158;p6: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159" name="Google Shape;159;p6: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160" name="Google Shape;160;p6: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p6: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22644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8383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7437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192334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14</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14</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205524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155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5/31/2022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4"/>
            <a:ext cx="7772400" cy="1470025"/>
          </a:xfrm>
        </p:spPr>
        <p:txBody>
          <a:bodyPr/>
          <a:lstStyle>
            <a:lvl1pPr>
              <a:spcBef>
                <a:spcPct val="20000"/>
              </a:spcBef>
              <a:defRPr sz="27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350267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257175" indent="-257175">
              <a:buClrTx/>
              <a:buFont typeface="Wingdings" charset="2"/>
              <a:buChar char="§"/>
              <a:defRPr sz="1800">
                <a:solidFill>
                  <a:schemeClr val="tx1"/>
                </a:solidFill>
              </a:defRPr>
            </a:lvl1pPr>
            <a:lvl2pPr marL="557213" indent="-214313">
              <a:buClrTx/>
              <a:buFont typeface="Arial"/>
              <a:buChar char="•"/>
              <a:defRPr sz="1650">
                <a:solidFill>
                  <a:schemeClr val="tx1"/>
                </a:solidFill>
              </a:defRPr>
            </a:lvl2pPr>
            <a:lvl3pPr marL="857250" indent="-171450">
              <a:buClrTx/>
              <a:buFont typeface="Arial"/>
              <a:buChar char="•"/>
              <a:defRPr sz="1500">
                <a:solidFill>
                  <a:schemeClr val="tx1"/>
                </a:solidFill>
              </a:defRPr>
            </a:lvl3pPr>
            <a:lvl4pPr marL="1200150" indent="-171450">
              <a:buClrTx/>
              <a:buFont typeface="Arial"/>
              <a:buChar char="•"/>
              <a:defRPr>
                <a:solidFill>
                  <a:schemeClr val="tx1"/>
                </a:solidFill>
              </a:defRPr>
            </a:lvl4pPr>
            <a:lvl5pPr marL="1543050" indent="-17145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4931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32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5/31/2022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3591283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42"/>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830290"/>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2700" b="1">
          <a:solidFill>
            <a:schemeClr val="accent2"/>
          </a:solidFill>
          <a:latin typeface="Calibri" pitchFamily="34" charset="0"/>
          <a:ea typeface="+mj-ea"/>
          <a:cs typeface="+mj-cs"/>
        </a:defRPr>
      </a:lvl1pPr>
      <a:lvl2pPr algn="ctr" rtl="0" eaLnBrk="0" fontAlgn="base" hangingPunct="0">
        <a:spcBef>
          <a:spcPct val="0"/>
        </a:spcBef>
        <a:spcAft>
          <a:spcPct val="0"/>
        </a:spcAft>
        <a:defRPr sz="2700">
          <a:solidFill>
            <a:srgbClr val="002C5F"/>
          </a:solidFill>
          <a:latin typeface="Calibri" pitchFamily="34" charset="0"/>
        </a:defRPr>
      </a:lvl2pPr>
      <a:lvl3pPr algn="ctr" rtl="0" eaLnBrk="0" fontAlgn="base" hangingPunct="0">
        <a:spcBef>
          <a:spcPct val="0"/>
        </a:spcBef>
        <a:spcAft>
          <a:spcPct val="0"/>
        </a:spcAft>
        <a:defRPr sz="2700">
          <a:solidFill>
            <a:srgbClr val="002C5F"/>
          </a:solidFill>
          <a:latin typeface="Calibri" pitchFamily="34" charset="0"/>
        </a:defRPr>
      </a:lvl3pPr>
      <a:lvl4pPr algn="ctr" rtl="0" eaLnBrk="0" fontAlgn="base" hangingPunct="0">
        <a:spcBef>
          <a:spcPct val="0"/>
        </a:spcBef>
        <a:spcAft>
          <a:spcPct val="0"/>
        </a:spcAft>
        <a:defRPr sz="2700">
          <a:solidFill>
            <a:srgbClr val="002C5F"/>
          </a:solidFill>
          <a:latin typeface="Calibri" pitchFamily="34" charset="0"/>
        </a:defRPr>
      </a:lvl4pPr>
      <a:lvl5pPr algn="ctr" rtl="0" eaLnBrk="0" fontAlgn="base" hangingPunct="0">
        <a:spcBef>
          <a:spcPct val="0"/>
        </a:spcBef>
        <a:spcAft>
          <a:spcPct val="0"/>
        </a:spcAft>
        <a:defRPr sz="2700">
          <a:solidFill>
            <a:srgbClr val="002C5F"/>
          </a:solidFill>
          <a:latin typeface="Calibri" pitchFamily="34" charset="0"/>
        </a:defRPr>
      </a:lvl5pPr>
      <a:lvl6pPr marL="342900" algn="ctr" rtl="0" fontAlgn="base">
        <a:spcBef>
          <a:spcPct val="0"/>
        </a:spcBef>
        <a:spcAft>
          <a:spcPct val="0"/>
        </a:spcAft>
        <a:defRPr sz="2700" b="1">
          <a:solidFill>
            <a:srgbClr val="002C5F"/>
          </a:solidFill>
          <a:latin typeface="Arial" charset="0"/>
        </a:defRPr>
      </a:lvl6pPr>
      <a:lvl7pPr marL="685800" algn="ctr" rtl="0" fontAlgn="base">
        <a:spcBef>
          <a:spcPct val="0"/>
        </a:spcBef>
        <a:spcAft>
          <a:spcPct val="0"/>
        </a:spcAft>
        <a:defRPr sz="2700" b="1">
          <a:solidFill>
            <a:srgbClr val="002C5F"/>
          </a:solidFill>
          <a:latin typeface="Arial" charset="0"/>
        </a:defRPr>
      </a:lvl7pPr>
      <a:lvl8pPr marL="1028700" algn="ctr" rtl="0" fontAlgn="base">
        <a:spcBef>
          <a:spcPct val="0"/>
        </a:spcBef>
        <a:spcAft>
          <a:spcPct val="0"/>
        </a:spcAft>
        <a:defRPr sz="2700" b="1">
          <a:solidFill>
            <a:srgbClr val="002C5F"/>
          </a:solidFill>
          <a:latin typeface="Arial" charset="0"/>
        </a:defRPr>
      </a:lvl8pPr>
      <a:lvl9pPr marL="1371600" algn="ctr" rtl="0" fontAlgn="base">
        <a:spcBef>
          <a:spcPct val="0"/>
        </a:spcBef>
        <a:spcAft>
          <a:spcPct val="0"/>
        </a:spcAft>
        <a:defRPr sz="2700" b="1">
          <a:solidFill>
            <a:srgbClr val="002C5F"/>
          </a:solidFill>
          <a:latin typeface="Arial" charset="0"/>
        </a:defRPr>
      </a:lvl9pPr>
    </p:titleStyle>
    <p:bodyStyle>
      <a:lvl1pPr marL="257175" indent="-257175" algn="l" rtl="0" eaLnBrk="0" fontAlgn="base" hangingPunct="0">
        <a:spcBef>
          <a:spcPct val="20000"/>
        </a:spcBef>
        <a:spcAft>
          <a:spcPct val="0"/>
        </a:spcAft>
        <a:buClr>
          <a:srgbClr val="AA9C8F"/>
        </a:buClr>
        <a:buFont typeface="Wingdings" pitchFamily="2" charset="2"/>
        <a:buChar char="§"/>
        <a:defRPr sz="2100">
          <a:solidFill>
            <a:srgbClr val="4D4D4D"/>
          </a:solidFill>
          <a:latin typeface="Calibri" pitchFamily="34" charset="0"/>
          <a:ea typeface="+mn-ea"/>
          <a:cs typeface="+mn-cs"/>
        </a:defRPr>
      </a:lvl1pPr>
      <a:lvl2pPr marL="557213" indent="-214313" algn="l" rtl="0" eaLnBrk="0" fontAlgn="base" hangingPunct="0">
        <a:spcBef>
          <a:spcPct val="20000"/>
        </a:spcBef>
        <a:spcAft>
          <a:spcPct val="0"/>
        </a:spcAft>
        <a:buClr>
          <a:srgbClr val="C75B12"/>
        </a:buClr>
        <a:buFont typeface="Wingdings" pitchFamily="2" charset="2"/>
        <a:buChar char="§"/>
        <a:defRPr sz="1950">
          <a:solidFill>
            <a:schemeClr val="tx1"/>
          </a:solidFill>
          <a:latin typeface="Calibri" pitchFamily="34" charset="0"/>
        </a:defRPr>
      </a:lvl2pPr>
      <a:lvl3pPr marL="857250" indent="-171450" algn="l" rtl="0" eaLnBrk="0" fontAlgn="base" hangingPunct="0">
        <a:spcBef>
          <a:spcPct val="20000"/>
        </a:spcBef>
        <a:spcAft>
          <a:spcPct val="0"/>
        </a:spcAft>
        <a:buClr>
          <a:srgbClr val="C75B12"/>
        </a:buClr>
        <a:buFont typeface="Wingdings" pitchFamily="2" charset="2"/>
        <a:buChar char="§"/>
        <a:defRPr sz="1800">
          <a:solidFill>
            <a:schemeClr val="tx1"/>
          </a:solidFill>
          <a:latin typeface="Calibri" pitchFamily="34" charset="0"/>
        </a:defRPr>
      </a:lvl3pPr>
      <a:lvl4pPr marL="12001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4pPr>
      <a:lvl5pPr marL="15430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5pPr>
      <a:lvl6pPr marL="18859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6pPr>
      <a:lvl7pPr marL="22288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7pPr>
      <a:lvl8pPr marL="25717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8pPr>
      <a:lvl9pPr marL="29146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80000" y="864000"/>
            <a:ext cx="882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80000" y="2412000"/>
            <a:ext cx="882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indent="0" algn="ctr" eaLnBrk="1" hangingPunct="1">
              <a:spcBef>
                <a:spcPct val="0"/>
              </a:spcBef>
              <a:buNone/>
            </a:pP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6.6 </a:t>
            </a: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 Introduction </a:t>
            </a: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Occupational Health</a:t>
            </a:r>
          </a:p>
        </p:txBody>
      </p:sp>
      <p:sp>
        <p:nvSpPr>
          <p:cNvPr id="9" name="TextBox 8">
            <a:extLst>
              <a:ext uri="{FF2B5EF4-FFF2-40B4-BE49-F238E27FC236}">
                <a16:creationId xmlns:a16="http://schemas.microsoft.com/office/drawing/2014/main" id="{45837290-7F22-4D42-BFDD-D5AD4C09C01F}"/>
              </a:ext>
            </a:extLst>
          </p:cNvPr>
          <p:cNvSpPr txBox="1"/>
          <p:nvPr/>
        </p:nvSpPr>
        <p:spPr>
          <a:xfrm>
            <a:off x="13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Fundamentals of Risk Management</a:t>
            </a:r>
          </a:p>
        </p:txBody>
      </p:sp>
      <p:sp>
        <p:nvSpPr>
          <p:cNvPr id="10" name="TextBox 9">
            <a:extLst>
              <a:ext uri="{FF2B5EF4-FFF2-40B4-BE49-F238E27FC236}">
                <a16:creationId xmlns:a16="http://schemas.microsoft.com/office/drawing/2014/main" id="{7618FDCA-D6EA-3540-8AE2-F6CD31336ABE}"/>
              </a:ext>
            </a:extLst>
          </p:cNvPr>
          <p:cNvSpPr txBox="1"/>
          <p:nvPr/>
        </p:nvSpPr>
        <p:spPr>
          <a:xfrm>
            <a:off x="121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a:t>
            </a:r>
            <a:r>
              <a:rPr kumimoji="0" lang="en-US" sz="1000" b="0" i="0" u="none" strike="noStrike" kern="0" cap="none" spc="0" normalizeH="0" baseline="0" noProof="0" dirty="0" smtClean="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Process, </a:t>
            </a: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&amp; Program</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69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Applications &amp;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445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People &amp; Organizations</a:t>
            </a:r>
          </a:p>
        </p:txBody>
      </p:sp>
      <p:sp>
        <p:nvSpPr>
          <p:cNvPr id="13" name="TextBox 12">
            <a:extLst>
              <a:ext uri="{FF2B5EF4-FFF2-40B4-BE49-F238E27FC236}">
                <a16:creationId xmlns:a16="http://schemas.microsoft.com/office/drawing/2014/main" id="{00457A8C-8AD1-BC48-A393-2CA6461462C7}"/>
              </a:ext>
            </a:extLst>
          </p:cNvPr>
          <p:cNvSpPr txBox="1"/>
          <p:nvPr/>
        </p:nvSpPr>
        <p:spPr>
          <a:xfrm>
            <a:off x="2295000" y="108000"/>
            <a:ext cx="90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 &amp; Analysis</a:t>
            </a:r>
          </a:p>
        </p:txBody>
      </p:sp>
      <p:sp>
        <p:nvSpPr>
          <p:cNvPr id="14" name="TextBox 13">
            <a:extLst>
              <a:ext uri="{FF2B5EF4-FFF2-40B4-BE49-F238E27FC236}">
                <a16:creationId xmlns:a16="http://schemas.microsoft.com/office/drawing/2014/main" id="{D7E14612-2C60-CA49-88DC-A40274E52BE8}"/>
              </a:ext>
            </a:extLst>
          </p:cNvPr>
          <p:cNvSpPr txBox="1"/>
          <p:nvPr/>
        </p:nvSpPr>
        <p:spPr>
          <a:xfrm>
            <a:off x="3375000" y="108000"/>
            <a:ext cx="81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6615000" y="108000"/>
            <a:ext cx="81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sp>
        <p:nvSpPr>
          <p:cNvPr id="23" name="TextBox 22">
            <a:extLst>
              <a:ext uri="{FF2B5EF4-FFF2-40B4-BE49-F238E27FC236}">
                <a16:creationId xmlns:a16="http://schemas.microsoft.com/office/drawing/2014/main" id="{E97011C2-9A0B-664B-83CB-DE2410B86B87}"/>
              </a:ext>
            </a:extLst>
          </p:cNvPr>
          <p:cNvSpPr txBox="1"/>
          <p:nvPr/>
        </p:nvSpPr>
        <p:spPr>
          <a:xfrm>
            <a:off x="5535000" y="108000"/>
            <a:ext cx="90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as Applied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4320000"/>
            <a:ext cx="1800000" cy="1800000"/>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313" y="4320000"/>
            <a:ext cx="2638887" cy="1800000"/>
          </a:xfrm>
          <a:prstGeom prst="rect">
            <a:avLst/>
          </a:prstGeom>
        </p:spPr>
      </p:pic>
      <p:cxnSp>
        <p:nvCxnSpPr>
          <p:cNvPr id="5" name="Straight Arrow Connector 4"/>
          <p:cNvCxnSpPr>
            <a:stCxn id="9" idx="3"/>
            <a:endCxn id="10" idx="1"/>
          </p:cNvCxnSpPr>
          <p:nvPr/>
        </p:nvCxnSpPr>
        <p:spPr>
          <a:xfrm>
            <a:off x="1126800" y="378000"/>
            <a:ext cx="8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0" idx="3"/>
            <a:endCxn id="13" idx="1"/>
          </p:cNvCxnSpPr>
          <p:nvPr/>
        </p:nvCxnSpPr>
        <p:spPr>
          <a:xfrm>
            <a:off x="211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3"/>
            <a:endCxn id="14" idx="1"/>
          </p:cNvCxnSpPr>
          <p:nvPr/>
        </p:nvCxnSpPr>
        <p:spPr>
          <a:xfrm>
            <a:off x="319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4" idx="3"/>
            <a:endCxn id="12" idx="1"/>
          </p:cNvCxnSpPr>
          <p:nvPr/>
        </p:nvCxnSpPr>
        <p:spPr>
          <a:xfrm>
            <a:off x="418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3"/>
            <a:endCxn id="23" idx="1"/>
          </p:cNvCxnSpPr>
          <p:nvPr/>
        </p:nvCxnSpPr>
        <p:spPr>
          <a:xfrm>
            <a:off x="535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3" idx="3"/>
            <a:endCxn id="15" idx="1"/>
          </p:cNvCxnSpPr>
          <p:nvPr/>
        </p:nvCxnSpPr>
        <p:spPr>
          <a:xfrm>
            <a:off x="643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15" idx="3"/>
            <a:endCxn id="11" idx="1"/>
          </p:cNvCxnSpPr>
          <p:nvPr/>
        </p:nvCxnSpPr>
        <p:spPr>
          <a:xfrm>
            <a:off x="742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791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relationship between health &amp; safety in the workplace</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importance of understanding health related risks &amp; the role of leadership to address them</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key concepts of occupational health</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order of preference in controlling workplace exposures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Describe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engineering leadership role in supporting a Health Plan</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role of leadership in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Workplace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Surveillance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85000"/>
              </a:lnSpc>
              <a:spcBef>
                <a:spcPts val="0"/>
              </a:spcBef>
              <a:buClr>
                <a:srgbClr val="000000"/>
              </a:buClr>
              <a:buSzPct val="100000"/>
              <a:buNone/>
            </a:pPr>
            <a:r>
              <a:rPr lang="en-US" altLang="en-US" sz="180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sz="180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closely related but not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85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Safety: </a:t>
            </a:r>
            <a:endPar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Injury-causing situations</a:t>
            </a: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Acute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sudden,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severe</a:t>
            </a: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also be chronic</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long-term on-set,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severe </a:t>
            </a: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include ergonomics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AKA industrial hygiene</a:t>
            </a: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Disease-causing conditions</a:t>
            </a: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dverse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reaction to prolonged exposure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hazardous substances</a:t>
            </a: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Usually chronic, long-term on-set, severe</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difference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always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clear; consider “Stress” as the hazard:</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Psychological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physiological problems over a prolonged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period.</a:t>
            </a:r>
          </a:p>
          <a:p>
            <a:pPr marL="1080000" indent="-360000" eaLnBrk="0" hangingPunct="0">
              <a:lnSpc>
                <a:spcPct val="85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concern.</a:t>
            </a:r>
          </a:p>
          <a:p>
            <a:pPr marL="720000" indent="-360000" eaLnBrk="0" hangingPunct="0">
              <a:lnSpc>
                <a:spcPct val="85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However, a stressed worker may be more prone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rush or unintentionally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forget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overlook safety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precautions &amp; thus lead to an incident.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080000" indent="-360000" eaLnBrk="0" hangingPunct="0">
              <a:lnSpc>
                <a:spcPct val="85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concern.</a:t>
            </a:r>
          </a:p>
          <a:p>
            <a:pPr marL="360000" indent="-360000" eaLnBrk="0" hangingPunct="0">
              <a:lnSpc>
                <a:spcPct val="85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are responsible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both, so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need to have an appreciation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both.</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Introduction: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Canada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world's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SECOND largest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producer &amp; exporter of uranium.</a:t>
            </a:r>
          </a:p>
          <a:p>
            <a:pPr marL="0" indent="0" eaLnBrk="0" hangingPunct="0">
              <a:lnSpc>
                <a:spcPct val="90000"/>
              </a:lnSpc>
              <a:spcBef>
                <a:spcPts val="0"/>
              </a:spcBef>
              <a:buClrTx/>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Uranium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naturally-occurring radioactive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material</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(NORM)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is mined. </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Commercial uses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uranium: weapons &amp;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reactors (energy, medicine, engineering diagnostic tools, food sterilization)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Medical science 1930’s: airborne radioactivity likely causes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lung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cancer: mining releases radon gas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odourless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colourless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inert, half-life = 3.8 days.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to disease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prevention – control the mine atmosphere:</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dust and improve ventilation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ventilation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 contamination with dust and radon “daughters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radiation dose right inside the lungs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 such thing as a "safe dose"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radiation although we live with and are immersed in background radiation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higher incidence of lung cancer may take years to occur</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issue!</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Prolonged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leads to disease years and decades later!</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Uranium </a:t>
            </a:r>
            <a:r>
              <a:rPr lang="en-US" altLang="en-US" sz="2400" b="0" dirty="0" smtClean="0">
                <a:solidFill>
                  <a:schemeClr val="accent2"/>
                </a:solidFill>
                <a:latin typeface="Arial" panose="020B0604020202020204" pitchFamily="34" charset="0"/>
                <a:ea typeface="+mj-ea"/>
                <a:cs typeface="Arial" panose="020B0604020202020204" pitchFamily="34" charset="0"/>
              </a:rPr>
              <a:t>and Mining:</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361787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a:fillRect/>
          </a:stretch>
        </p:blipFill>
        <p:spPr>
          <a:xfrm rot="19174838">
            <a:off x="3978441" y="4580417"/>
            <a:ext cx="1564146" cy="1174531"/>
          </a:xfrm>
          <a:prstGeom prst="rect">
            <a:avLst/>
          </a:prstGeom>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1973</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increasing number of miners in Elliot Lake who are starting to show the effects of dust in their lungs.  When we consider that there is also radiation exposure involved, this could lead to a very dangerous situation”.</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response, Rio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Tinto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VP: “Menace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dust exposure in these uranium mines we believe is not yet generally understood” &amp; “take some time before all its particular hazards are fully recognized</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Annual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x-rays &amp; medical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examinations of workers; results not disclosed.</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Paris Conference on uranium mining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attended by mine union members and provincial government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officials; officials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spoke about the harmful effects of radiation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based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studies of Elliot Lake miners.</a:t>
            </a:r>
          </a:p>
          <a:p>
            <a:pPr marL="72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1974 – Elliot Lake Uranium miners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Denison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wildcat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strike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protest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unhealthy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working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conditions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Uranium and the Elliot </a:t>
            </a:r>
            <a:r>
              <a:rPr lang="en-US" altLang="en-US" sz="2400" b="0" dirty="0">
                <a:solidFill>
                  <a:schemeClr val="accent2"/>
                </a:solidFill>
                <a:latin typeface="Arial" panose="020B0604020202020204" pitchFamily="34" charset="0"/>
                <a:ea typeface="+mj-ea"/>
                <a:cs typeface="Arial" panose="020B0604020202020204" pitchFamily="34" charset="0"/>
              </a:rPr>
              <a:t>Lake </a:t>
            </a:r>
            <a:r>
              <a:rPr lang="en-US" altLang="en-US" sz="2400" b="0" dirty="0" smtClean="0">
                <a:solidFill>
                  <a:schemeClr val="accent2"/>
                </a:solidFill>
                <a:latin typeface="Arial" panose="020B0604020202020204" pitchFamily="34" charset="0"/>
                <a:ea typeface="+mj-ea"/>
                <a:cs typeface="Arial" panose="020B0604020202020204" pitchFamily="34" charset="0"/>
              </a:rPr>
              <a:t>Tragedy: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7" name="Picture 6" descr="The Marxist-Leninist Daily"/>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87275" y="4648200"/>
            <a:ext cx="3326125" cy="1446864"/>
          </a:xfrm>
          <a:prstGeom prst="rect">
            <a:avLst/>
          </a:prstGeom>
        </p:spPr>
      </p:pic>
    </p:spTree>
    <p:extLst>
      <p:ext uri="{BB962C8B-B14F-4D97-AF65-F5344CB8AC3E}">
        <p14:creationId xmlns:p14="http://schemas.microsoft.com/office/powerpoint/2010/main" val="234178948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Uranium, Elliot Lake, &amp; Ham </a:t>
            </a:r>
            <a:r>
              <a:rPr lang="en-US" altLang="en-US" sz="2400" b="0" dirty="0">
                <a:solidFill>
                  <a:schemeClr val="accent2"/>
                </a:solidFill>
                <a:latin typeface="Arial" panose="020B0604020202020204" pitchFamily="34" charset="0"/>
                <a:ea typeface="+mj-ea"/>
                <a:cs typeface="Arial" panose="020B0604020202020204" pitchFamily="34" charset="0"/>
              </a:rPr>
              <a:t>Report Excerpts &amp; </a:t>
            </a:r>
            <a:r>
              <a:rPr lang="en-US" altLang="en-US" sz="2400" b="0" dirty="0" smtClean="0">
                <a:solidFill>
                  <a:schemeClr val="accent2"/>
                </a:solidFill>
                <a:latin typeface="Arial" panose="020B0604020202020204" pitchFamily="34" charset="0"/>
                <a:ea typeface="+mj-ea"/>
                <a:cs typeface="Arial" panose="020B0604020202020204" pitchFamily="34" charset="0"/>
              </a:rPr>
              <a:t>Leadership:</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41;p20"/>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marL="0" indent="0">
              <a:lnSpc>
                <a:spcPct val="90000"/>
              </a:lnSpc>
              <a:spcBef>
                <a:spcPts val="0"/>
              </a:spcBef>
              <a:buClr>
                <a:srgbClr val="000000"/>
              </a:buClr>
              <a:buSzPts val="2000"/>
              <a:buNone/>
            </a:pPr>
            <a:r>
              <a:rPr lang="en-CA" sz="2000" kern="0" dirty="0" smtClean="0">
                <a:solidFill>
                  <a:srgbClr val="000000"/>
                </a:solidFill>
                <a:latin typeface="Arial"/>
                <a:ea typeface="Arial"/>
                <a:cs typeface="Arial"/>
              </a:rPr>
              <a:t>The “Ham Report”:</a:t>
            </a: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Ontario government established the </a:t>
            </a:r>
            <a:r>
              <a:rPr lang="en-CA" sz="2000" b="0" i="1" kern="0" dirty="0" smtClean="0">
                <a:solidFill>
                  <a:srgbClr val="000000"/>
                </a:solidFill>
                <a:latin typeface="Arial"/>
                <a:ea typeface="Arial"/>
                <a:cs typeface="Arial"/>
              </a:rPr>
              <a:t>Royal </a:t>
            </a:r>
            <a:br>
              <a:rPr lang="en-CA" sz="2000" b="0" i="1" kern="0" dirty="0" smtClean="0">
                <a:solidFill>
                  <a:srgbClr val="000000"/>
                </a:solidFill>
                <a:latin typeface="Arial"/>
                <a:ea typeface="Arial"/>
                <a:cs typeface="Arial"/>
              </a:rPr>
            </a:br>
            <a:r>
              <a:rPr lang="en-CA" sz="2000" b="0" i="1" kern="0" dirty="0" smtClean="0">
                <a:solidFill>
                  <a:srgbClr val="000000"/>
                </a:solidFill>
                <a:latin typeface="Arial"/>
                <a:ea typeface="Arial"/>
                <a:cs typeface="Arial"/>
              </a:rPr>
              <a:t>Commission the Health and Safety of Workers</a:t>
            </a:r>
            <a:br>
              <a:rPr lang="en-CA" sz="2000" b="0" i="1" kern="0" dirty="0" smtClean="0">
                <a:solidFill>
                  <a:srgbClr val="000000"/>
                </a:solidFill>
                <a:latin typeface="Arial"/>
                <a:ea typeface="Arial"/>
                <a:cs typeface="Arial"/>
              </a:rPr>
            </a:br>
            <a:r>
              <a:rPr lang="en-CA" sz="2000" b="0" i="1" kern="0" dirty="0" smtClean="0">
                <a:solidFill>
                  <a:srgbClr val="000000"/>
                </a:solidFill>
                <a:latin typeface="Arial"/>
                <a:ea typeface="Arial"/>
                <a:cs typeface="Arial"/>
              </a:rPr>
              <a:t> in Mines</a:t>
            </a:r>
            <a:r>
              <a:rPr lang="en-CA" sz="2000" b="0" kern="0" dirty="0" smtClean="0">
                <a:solidFill>
                  <a:srgbClr val="000000"/>
                </a:solidFill>
                <a:latin typeface="Arial"/>
                <a:ea typeface="Arial"/>
                <a:cs typeface="Arial"/>
              </a:rPr>
              <a:t> (the Ham Commission 1976-June-30).</a:t>
            </a:r>
          </a:p>
          <a:p>
            <a:pPr marL="0" indent="0">
              <a:lnSpc>
                <a:spcPct val="90000"/>
              </a:lnSpc>
              <a:spcBef>
                <a:spcPts val="0"/>
              </a:spcBef>
              <a:buClr>
                <a:srgbClr val="000000"/>
              </a:buClr>
              <a:buSzPts val="2000"/>
              <a:buNone/>
            </a:pPr>
            <a:r>
              <a:rPr lang="en-CA" sz="1400" b="0" i="1" kern="0" dirty="0" smtClean="0">
                <a:solidFill>
                  <a:srgbClr val="000000"/>
                </a:solidFill>
                <a:latin typeface="Arial"/>
                <a:ea typeface="Arial"/>
                <a:cs typeface="Arial"/>
              </a:rPr>
              <a:t>https</a:t>
            </a:r>
            <a:r>
              <a:rPr lang="en-CA" sz="1400" b="0" i="1" kern="0" dirty="0">
                <a:solidFill>
                  <a:srgbClr val="000000"/>
                </a:solidFill>
                <a:latin typeface="Arial"/>
                <a:ea typeface="Arial"/>
                <a:cs typeface="Arial"/>
              </a:rPr>
              <a:t>://archive.org/details/reportofroyworkmine00onta/page/n3/mode/2up</a:t>
            </a:r>
            <a:endParaRPr lang="en-CA" sz="1400" b="0" i="1"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The Ham Report </a:t>
            </a:r>
            <a:r>
              <a:rPr lang="en-CA" sz="2000" b="0" u="sng" kern="0" dirty="0" smtClean="0">
                <a:solidFill>
                  <a:srgbClr val="000000"/>
                </a:solidFill>
                <a:latin typeface="Arial"/>
                <a:ea typeface="Arial"/>
                <a:cs typeface="Arial"/>
              </a:rPr>
              <a:t>criticized</a:t>
            </a:r>
            <a:r>
              <a:rPr lang="en-CA" sz="2000" b="0" kern="0" dirty="0" smtClean="0">
                <a:solidFill>
                  <a:srgbClr val="000000"/>
                </a:solidFill>
                <a:latin typeface="Arial"/>
                <a:ea typeface="Arial"/>
                <a:cs typeface="Arial"/>
              </a:rPr>
              <a:t> government &amp; mining </a:t>
            </a:r>
            <a:br>
              <a:rPr lang="en-CA" sz="2000" b="0" kern="0" dirty="0" smtClean="0">
                <a:solidFill>
                  <a:srgbClr val="000000"/>
                </a:solidFill>
                <a:latin typeface="Arial"/>
                <a:ea typeface="Arial"/>
                <a:cs typeface="Arial"/>
              </a:rPr>
            </a:br>
            <a:r>
              <a:rPr lang="en-CA" sz="2000" b="0" kern="0" dirty="0" smtClean="0">
                <a:solidFill>
                  <a:srgbClr val="000000"/>
                </a:solidFill>
                <a:latin typeface="Arial"/>
                <a:ea typeface="Arial"/>
                <a:cs typeface="Arial"/>
              </a:rPr>
              <a:t>companies </a:t>
            </a:r>
            <a:r>
              <a:rPr lang="en-CA" sz="2000" b="0" u="sng" kern="0" dirty="0" smtClean="0">
                <a:solidFill>
                  <a:srgbClr val="000000"/>
                </a:solidFill>
                <a:latin typeface="Arial"/>
                <a:ea typeface="Arial"/>
                <a:cs typeface="Arial"/>
              </a:rPr>
              <a:t>for lacking transparency and failing to </a:t>
            </a:r>
            <a:br>
              <a:rPr lang="en-CA" sz="2000" b="0" u="sng" kern="0" dirty="0" smtClean="0">
                <a:solidFill>
                  <a:srgbClr val="000000"/>
                </a:solidFill>
                <a:latin typeface="Arial"/>
                <a:ea typeface="Arial"/>
                <a:cs typeface="Arial"/>
              </a:rPr>
            </a:br>
            <a:r>
              <a:rPr lang="en-CA" sz="2000" b="0" u="sng" kern="0" dirty="0" smtClean="0">
                <a:solidFill>
                  <a:srgbClr val="000000"/>
                </a:solidFill>
                <a:latin typeface="Arial"/>
                <a:ea typeface="Arial"/>
                <a:cs typeface="Arial"/>
              </a:rPr>
              <a:t>protect</a:t>
            </a:r>
            <a:r>
              <a:rPr lang="en-CA" sz="2000" b="0" kern="0" dirty="0" smtClean="0">
                <a:solidFill>
                  <a:srgbClr val="000000"/>
                </a:solidFill>
                <a:latin typeface="Arial"/>
                <a:ea typeface="Arial"/>
                <a:cs typeface="Arial"/>
              </a:rPr>
              <a:t> 30,000 Ontario mine workers from </a:t>
            </a:r>
            <a:br>
              <a:rPr lang="en-CA" sz="2000" b="0" kern="0" dirty="0" smtClean="0">
                <a:solidFill>
                  <a:srgbClr val="000000"/>
                </a:solidFill>
                <a:latin typeface="Arial"/>
                <a:ea typeface="Arial"/>
                <a:cs typeface="Arial"/>
              </a:rPr>
            </a:br>
            <a:r>
              <a:rPr lang="en-CA" sz="2000" b="0" kern="0" dirty="0" smtClean="0">
                <a:solidFill>
                  <a:srgbClr val="000000"/>
                </a:solidFill>
                <a:latin typeface="Arial"/>
                <a:ea typeface="Arial"/>
                <a:cs typeface="Arial"/>
              </a:rPr>
              <a:t>hazardous conditions.</a:t>
            </a:r>
          </a:p>
          <a:p>
            <a:pPr marL="360000" indent="-360000">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Report had 117 recommendations with implications beyond Ontario.</a:t>
            </a:r>
          </a:p>
          <a:p>
            <a:pPr>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kern="0" dirty="0" smtClean="0">
                <a:solidFill>
                  <a:srgbClr val="000000"/>
                </a:solidFill>
                <a:latin typeface="Arial"/>
                <a:ea typeface="Arial"/>
                <a:cs typeface="Arial"/>
              </a:rPr>
              <a:t>Key outcome – </a:t>
            </a:r>
            <a:r>
              <a:rPr lang="en-CA" sz="2000" kern="0" dirty="0" smtClean="0">
                <a:solidFill>
                  <a:srgbClr val="FF0000"/>
                </a:solidFill>
                <a:latin typeface="Arial"/>
                <a:ea typeface="Arial"/>
                <a:cs typeface="Arial"/>
              </a:rPr>
              <a:t>Internal Responsibility System</a:t>
            </a:r>
            <a:r>
              <a:rPr lang="en-CA" sz="2000" kern="0" dirty="0" smtClean="0">
                <a:solidFill>
                  <a:srgbClr val="000000"/>
                </a:solidFill>
                <a:latin typeface="Arial"/>
                <a:ea typeface="Arial"/>
                <a:cs typeface="Arial"/>
              </a:rPr>
              <a:t> (IRS) for OHS</a:t>
            </a:r>
          </a:p>
          <a:p>
            <a:pPr marL="720000" lvl="1" indent="-360000">
              <a:lnSpc>
                <a:spcPct val="90000"/>
              </a:lnSpc>
              <a:spcBef>
                <a:spcPts val="0"/>
              </a:spcBef>
              <a:buClr>
                <a:srgbClr val="000000"/>
              </a:buClr>
              <a:buSzPts val="2000"/>
              <a:buFont typeface="Noto Sans Symbols"/>
              <a:buChar char="⮚"/>
            </a:pPr>
            <a:r>
              <a:rPr lang="en-US" sz="2000" b="0" kern="0" dirty="0" smtClean="0">
                <a:solidFill>
                  <a:srgbClr val="000000"/>
                </a:solidFill>
                <a:latin typeface="Arial"/>
                <a:ea typeface="Arial"/>
                <a:cs typeface="Arial"/>
              </a:rPr>
              <a:t>Underlying philosophy of the OHS legislation in all Canadian jurisdictions: everyone in the workplace - both employees and employers - is responsible for his or her own safety and for the safety of co-workers</a:t>
            </a:r>
          </a:p>
        </p:txBody>
      </p:sp>
      <p:pic>
        <p:nvPicPr>
          <p:cNvPr id="20" name="Picture 19"/>
          <p:cNvPicPr>
            <a:picLocks noChangeAspect="1"/>
          </p:cNvPicPr>
          <p:nvPr/>
        </p:nvPicPr>
        <p:blipFill>
          <a:blip r:embed="rId3"/>
          <a:stretch>
            <a:fillRect/>
          </a:stretch>
        </p:blipFill>
        <p:spPr>
          <a:xfrm>
            <a:off x="6685600" y="828000"/>
            <a:ext cx="2134400" cy="2905800"/>
          </a:xfrm>
          <a:prstGeom prst="rect">
            <a:avLst/>
          </a:prstGeom>
        </p:spPr>
      </p:pic>
    </p:spTree>
    <p:extLst>
      <p:ext uri="{BB962C8B-B14F-4D97-AF65-F5344CB8AC3E}">
        <p14:creationId xmlns:p14="http://schemas.microsoft.com/office/powerpoint/2010/main" val="83433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05035" y="3048000"/>
            <a:ext cx="3235569" cy="2902767"/>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Alberta </a:t>
            </a:r>
            <a:r>
              <a:rPr lang="en-US" altLang="en-US" sz="2400" b="0" dirty="0" smtClean="0">
                <a:solidFill>
                  <a:schemeClr val="accent2"/>
                </a:solidFill>
                <a:latin typeface="Arial" panose="020B0604020202020204" pitchFamily="34" charset="0"/>
                <a:ea typeface="+mj-ea"/>
                <a:cs typeface="Arial" panose="020B0604020202020204" pitchFamily="34" charset="0"/>
              </a:rPr>
              <a:t>Context: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3" name="Right Arrow 2"/>
          <p:cNvSpPr/>
          <p:nvPr/>
        </p:nvSpPr>
        <p:spPr>
          <a:xfrm rot="1664950">
            <a:off x="3297365" y="4524241"/>
            <a:ext cx="2523321" cy="914400"/>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 and Safety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 - Excerpts: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Employers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ensure that worker exposure to a harmful substance is kept as low as reasonably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practicable / reasonably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achievable and does not exceed the substance’s Occupational Exposure Limit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(OEL</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simply, the concentration under which exposure is generally believed to not cause harm</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Specific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requirements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asbestos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silica, coal dust 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Consequences of Exposure: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2018,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45%</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work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fatalities were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associated with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occupational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disease.</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911911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categories of OHH’s:</a:t>
            </a:r>
          </a:p>
          <a:p>
            <a:pPr marL="0" indent="0" eaLnBrk="0" hangingPunct="0">
              <a:lnSpc>
                <a:spcPct val="90000"/>
              </a:lnSpc>
              <a:spcBef>
                <a:spcPts val="0"/>
              </a:spcBef>
              <a:buClrTx/>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 Chemical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sulphuric</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acid, H2S, coal dust</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combination of concentration and duration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has the potential to be a toxicant (a toxic substance)</a:t>
            </a:r>
          </a:p>
          <a:p>
            <a:pPr marL="0" indent="0" eaLnBrk="0" hangingPunct="0">
              <a:lnSpc>
                <a:spcPct val="90000"/>
              </a:lnSpc>
              <a:spcBef>
                <a:spcPts val="0"/>
              </a:spcBef>
              <a:buClrTx/>
              <a:buSzPct val="100000"/>
              <a:buNone/>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 Physical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noise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heat/cold stress;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lighting; ergonomic factors </a:t>
            </a:r>
          </a:p>
          <a:p>
            <a:pPr marL="0" indent="0" eaLnBrk="0" hangingPunct="0">
              <a:lnSpc>
                <a:spcPct val="90000"/>
              </a:lnSpc>
              <a:spcBef>
                <a:spcPts val="0"/>
              </a:spcBef>
              <a:buClrTx/>
              <a:buSzPct val="100000"/>
              <a:buNone/>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3) Biological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airborne-virus; animal-borne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virus;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animal-borne bacteria; sanitary waste; natural pathogens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combination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virulence of the micro-organism &amp; extent of exposure. </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Hazardous effects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OHH’s depend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three main factors: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Dose i.e. how much?</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 exposure i.e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how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long, how often?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routes: how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person exposed?</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Typically, as concentration increases, time decreases.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Occupational Health Hazards: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5154626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 have toxic properties - we need to have a basic understanding of toxicology to use these substances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safely:</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Toxicology: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scientific discipline that involves studying the adverse effects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 on living organisms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Toxicant: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substance that is toxic, causing harm or is fatal to living organisms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Industrial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Hygiene: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Concerned with environmental factors that can lead to sickness, disease, or other forms of impaired health</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 or reduce entry: biological agents, chemical agents, physical agents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Industrial Hygiene surveys of work environment have four parts</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Anticipation – expectation of hazard existence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Identification – presence of workplace exposure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Evaluation – magnitude of exposure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 reduction to acceptable levels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Definitions: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6.13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9247765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0"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hazardous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Inhalation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airborne gases, vapors 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particulates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ngestion of liquids or particulates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Skin absorption after contact with liquids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Exposure </a:t>
            </a:r>
            <a:r>
              <a:rPr lang="en-US" altLang="en-US" sz="2400" b="0" dirty="0">
                <a:solidFill>
                  <a:schemeClr val="accent2"/>
                </a:solidFill>
                <a:latin typeface="Arial" panose="020B0604020202020204" pitchFamily="34" charset="0"/>
                <a:ea typeface="+mj-ea"/>
                <a:cs typeface="Arial" panose="020B0604020202020204" pitchFamily="34" charset="0"/>
              </a:rPr>
              <a:t>Routes for </a:t>
            </a:r>
            <a:r>
              <a:rPr lang="en-US" altLang="en-US" sz="2400" b="0" dirty="0" smtClean="0">
                <a:solidFill>
                  <a:schemeClr val="accent2"/>
                </a:solidFill>
                <a:latin typeface="Arial" panose="020B0604020202020204" pitchFamily="34" charset="0"/>
                <a:ea typeface="+mj-ea"/>
                <a:cs typeface="Arial" panose="020B0604020202020204" pitchFamily="34" charset="0"/>
              </a:rPr>
              <a:t>Toxicants: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344159070"/>
              </p:ext>
            </p:extLst>
          </p:nvPr>
        </p:nvGraphicFramePr>
        <p:xfrm>
          <a:off x="180000" y="2133600"/>
          <a:ext cx="8642771" cy="3576320"/>
        </p:xfrm>
        <a:graphic>
          <a:graphicData uri="http://schemas.openxmlformats.org/drawingml/2006/table">
            <a:tbl>
              <a:tblPr firstRow="1" bandRow="1">
                <a:tableStyleId>{5C22544A-7EE6-4342-B048-85BDC9FD1C3A}</a:tableStyleId>
              </a:tblPr>
              <a:tblGrid>
                <a:gridCol w="2278829">
                  <a:extLst>
                    <a:ext uri="{9D8B030D-6E8A-4147-A177-3AD203B41FA5}">
                      <a16:colId xmlns:a16="http://schemas.microsoft.com/office/drawing/2014/main" val="276954185"/>
                    </a:ext>
                  </a:extLst>
                </a:gridCol>
                <a:gridCol w="2012867">
                  <a:extLst>
                    <a:ext uri="{9D8B030D-6E8A-4147-A177-3AD203B41FA5}">
                      <a16:colId xmlns:a16="http://schemas.microsoft.com/office/drawing/2014/main" val="2349653219"/>
                    </a:ext>
                  </a:extLst>
                </a:gridCol>
                <a:gridCol w="4351075">
                  <a:extLst>
                    <a:ext uri="{9D8B030D-6E8A-4147-A177-3AD203B41FA5}">
                      <a16:colId xmlns:a16="http://schemas.microsoft.com/office/drawing/2014/main" val="1592509755"/>
                    </a:ext>
                  </a:extLst>
                </a:gridCol>
              </a:tblGrid>
              <a:tr h="370840">
                <a:tc>
                  <a:txBody>
                    <a:bodyPr/>
                    <a:lstStyle/>
                    <a:p>
                      <a:r>
                        <a:rPr lang="en-US" dirty="0" smtClean="0">
                          <a:solidFill>
                            <a:schemeClr val="tx1"/>
                          </a:solidFill>
                        </a:rPr>
                        <a:t>ROUTE</a:t>
                      </a:r>
                      <a:endParaRPr lang="en-US" dirty="0">
                        <a:solidFill>
                          <a:schemeClr val="tx1"/>
                        </a:solidFill>
                      </a:endParaRPr>
                    </a:p>
                  </a:txBody>
                  <a:tcPr/>
                </a:tc>
                <a:tc>
                  <a:txBody>
                    <a:bodyPr/>
                    <a:lstStyle/>
                    <a:p>
                      <a:r>
                        <a:rPr lang="en-US" dirty="0" smtClean="0">
                          <a:solidFill>
                            <a:schemeClr val="tx1"/>
                          </a:solidFill>
                        </a:rPr>
                        <a:t>ENTRY</a:t>
                      </a:r>
                      <a:endParaRPr lang="en-US" dirty="0">
                        <a:solidFill>
                          <a:schemeClr val="tx1"/>
                        </a:solidFill>
                      </a:endParaRPr>
                    </a:p>
                  </a:txBody>
                  <a:tcPr/>
                </a:tc>
                <a:tc>
                  <a:txBody>
                    <a:bodyPr/>
                    <a:lstStyle/>
                    <a:p>
                      <a:r>
                        <a:rPr lang="en-US" dirty="0" smtClean="0">
                          <a:solidFill>
                            <a:schemeClr val="tx1"/>
                          </a:solidFill>
                        </a:rPr>
                        <a:t>CONTROL</a:t>
                      </a:r>
                      <a:endParaRPr lang="en-US" dirty="0">
                        <a:solidFill>
                          <a:schemeClr val="tx1"/>
                        </a:solidFill>
                      </a:endParaRPr>
                    </a:p>
                  </a:txBody>
                  <a:tcPr/>
                </a:tc>
                <a:extLst>
                  <a:ext uri="{0D108BD9-81ED-4DB2-BD59-A6C34878D82A}">
                    <a16:rowId xmlns:a16="http://schemas.microsoft.com/office/drawing/2014/main" val="34241328"/>
                  </a:ext>
                </a:extLst>
              </a:tr>
              <a:tr h="370840">
                <a:tc>
                  <a:txBody>
                    <a:bodyPr/>
                    <a:lstStyle/>
                    <a:p>
                      <a:r>
                        <a:rPr lang="en-US" b="0" dirty="0" smtClean="0"/>
                        <a:t>Inhalation*</a:t>
                      </a:r>
                      <a:endParaRPr lang="en-US" b="0" dirty="0"/>
                    </a:p>
                  </a:txBody>
                  <a:tcPr/>
                </a:tc>
                <a:tc>
                  <a:txBody>
                    <a:bodyPr/>
                    <a:lstStyle/>
                    <a:p>
                      <a:r>
                        <a:rPr lang="en-US" b="0" dirty="0" smtClean="0"/>
                        <a:t>Mouth, nose</a:t>
                      </a:r>
                      <a:endParaRPr lang="en-US" b="0" dirty="0"/>
                    </a:p>
                  </a:txBody>
                  <a:tcPr/>
                </a:tc>
                <a:tc>
                  <a:txBody>
                    <a:bodyPr/>
                    <a:lstStyle/>
                    <a:p>
                      <a:r>
                        <a:rPr lang="en-US" b="0" dirty="0" smtClean="0"/>
                        <a:t>Ventilation,</a:t>
                      </a:r>
                      <a:r>
                        <a:rPr lang="en-US" b="0" baseline="0" dirty="0" smtClean="0"/>
                        <a:t> fume hoods,</a:t>
                      </a:r>
                      <a:r>
                        <a:rPr lang="en-US" b="0" dirty="0" smtClean="0"/>
                        <a:t> respirators, face hoods, personal protective equipment</a:t>
                      </a:r>
                      <a:endParaRPr lang="en-US" b="0" dirty="0"/>
                    </a:p>
                  </a:txBody>
                  <a:tcPr/>
                </a:tc>
                <a:extLst>
                  <a:ext uri="{0D108BD9-81ED-4DB2-BD59-A6C34878D82A}">
                    <a16:rowId xmlns:a16="http://schemas.microsoft.com/office/drawing/2014/main" val="2041885677"/>
                  </a:ext>
                </a:extLst>
              </a:tr>
              <a:tr h="370840">
                <a:tc>
                  <a:txBody>
                    <a:bodyPr/>
                    <a:lstStyle/>
                    <a:p>
                      <a:r>
                        <a:rPr lang="en-US" b="0" dirty="0" smtClean="0"/>
                        <a:t>Dermal Absorption*</a:t>
                      </a:r>
                      <a:endParaRPr lang="en-US" b="0" dirty="0"/>
                    </a:p>
                  </a:txBody>
                  <a:tcPr/>
                </a:tc>
                <a:tc>
                  <a:txBody>
                    <a:bodyPr/>
                    <a:lstStyle/>
                    <a:p>
                      <a:r>
                        <a:rPr lang="en-US" b="0" dirty="0" smtClean="0"/>
                        <a:t>Skin</a:t>
                      </a:r>
                      <a:endParaRPr lang="en-US" b="0" dirty="0"/>
                    </a:p>
                  </a:txBody>
                  <a:tcPr/>
                </a:tc>
                <a:tc>
                  <a:txBody>
                    <a:bodyPr/>
                    <a:lstStyle/>
                    <a:p>
                      <a:r>
                        <a:rPr lang="en-US" b="0" dirty="0" smtClean="0"/>
                        <a:t>Protective clothing</a:t>
                      </a:r>
                      <a:endParaRPr lang="en-US" b="0" dirty="0"/>
                    </a:p>
                  </a:txBody>
                  <a:tcPr/>
                </a:tc>
                <a:extLst>
                  <a:ext uri="{0D108BD9-81ED-4DB2-BD59-A6C34878D82A}">
                    <a16:rowId xmlns:a16="http://schemas.microsoft.com/office/drawing/2014/main" val="2316203952"/>
                  </a:ext>
                </a:extLst>
              </a:tr>
              <a:tr h="370840">
                <a:tc>
                  <a:txBody>
                    <a:bodyPr/>
                    <a:lstStyle/>
                    <a:p>
                      <a:r>
                        <a:rPr lang="en-US" b="0" dirty="0" smtClean="0"/>
                        <a:t>Injection</a:t>
                      </a:r>
                      <a:endParaRPr lang="en-US" b="0" dirty="0"/>
                    </a:p>
                  </a:txBody>
                  <a:tcPr/>
                </a:tc>
                <a:tc>
                  <a:txBody>
                    <a:bodyPr/>
                    <a:lstStyle/>
                    <a:p>
                      <a:r>
                        <a:rPr lang="en-US" b="0" dirty="0" smtClean="0"/>
                        <a:t>Cuts or punctures in skin</a:t>
                      </a:r>
                      <a:endParaRPr lang="en-US" b="0" dirty="0"/>
                    </a:p>
                  </a:txBody>
                  <a:tcPr/>
                </a:tc>
                <a:tc>
                  <a:txBody>
                    <a:bodyPr/>
                    <a:lstStyle/>
                    <a:p>
                      <a:r>
                        <a:rPr lang="en-US" b="0" dirty="0" smtClean="0"/>
                        <a:t>Protective clothing </a:t>
                      </a:r>
                      <a:endParaRPr lang="en-US" b="0" dirty="0"/>
                    </a:p>
                  </a:txBody>
                  <a:tcPr/>
                </a:tc>
                <a:extLst>
                  <a:ext uri="{0D108BD9-81ED-4DB2-BD59-A6C34878D82A}">
                    <a16:rowId xmlns:a16="http://schemas.microsoft.com/office/drawing/2014/main" val="2905587045"/>
                  </a:ext>
                </a:extLst>
              </a:tr>
              <a:tr h="370840">
                <a:tc>
                  <a:txBody>
                    <a:bodyPr/>
                    <a:lstStyle/>
                    <a:p>
                      <a:r>
                        <a:rPr lang="en-US" sz="1800" b="0" dirty="0" smtClean="0">
                          <a:latin typeface="Arial" charset="0"/>
                        </a:rPr>
                        <a:t>Ingestion</a:t>
                      </a:r>
                      <a:endParaRPr lang="en-US" b="0" dirty="0"/>
                    </a:p>
                  </a:txBody>
                  <a:tcPr/>
                </a:tc>
                <a:tc>
                  <a:txBody>
                    <a:bodyPr/>
                    <a:lstStyle/>
                    <a:p>
                      <a:r>
                        <a:rPr lang="en-US" sz="1800" b="0" dirty="0" smtClean="0">
                          <a:latin typeface="Arial" charset="0"/>
                        </a:rPr>
                        <a:t>Mouth, stomach</a:t>
                      </a:r>
                      <a:endParaRPr lang="en-US" b="0" dirty="0"/>
                    </a:p>
                  </a:txBody>
                  <a:tcPr/>
                </a:tc>
                <a:tc>
                  <a:txBody>
                    <a:bodyPr/>
                    <a:lstStyle/>
                    <a:p>
                      <a:r>
                        <a:rPr lang="en-US" b="0" dirty="0" smtClean="0"/>
                        <a:t>Enforcement of rules on eating, drinking,</a:t>
                      </a:r>
                      <a:r>
                        <a:rPr lang="en-US" b="0" baseline="0" dirty="0" smtClean="0"/>
                        <a:t> </a:t>
                      </a:r>
                      <a:r>
                        <a:rPr lang="en-US" b="0" dirty="0" smtClean="0"/>
                        <a:t>smoking</a:t>
                      </a:r>
                    </a:p>
                    <a:p>
                      <a:endParaRPr lang="en-US" b="0" dirty="0"/>
                    </a:p>
                  </a:txBody>
                  <a:tcPr/>
                </a:tc>
                <a:extLst>
                  <a:ext uri="{0D108BD9-81ED-4DB2-BD59-A6C34878D82A}">
                    <a16:rowId xmlns:a16="http://schemas.microsoft.com/office/drawing/2014/main" val="3028846152"/>
                  </a:ext>
                </a:extLst>
              </a:tr>
              <a:tr h="370840">
                <a:tc>
                  <a:txBody>
                    <a:bodyPr/>
                    <a:lstStyle/>
                    <a:p>
                      <a:endParaRPr lang="en-US" b="0" dirty="0"/>
                    </a:p>
                  </a:txBody>
                  <a:tcPr/>
                </a:tc>
                <a:tc>
                  <a:txBody>
                    <a:bodyPr/>
                    <a:lstStyle/>
                    <a:p>
                      <a:endParaRPr lang="en-US" b="0" dirty="0"/>
                    </a:p>
                  </a:txBody>
                  <a:tcPr/>
                </a:tc>
                <a:tc>
                  <a:txBody>
                    <a:bodyPr/>
                    <a:lstStyle/>
                    <a:p>
                      <a:r>
                        <a:rPr lang="en-US" b="0" i="1" dirty="0" smtClean="0"/>
                        <a:t>* industrially most significant but</a:t>
                      </a:r>
                      <a:r>
                        <a:rPr lang="en-US" b="0" i="1" baseline="0" dirty="0" smtClean="0"/>
                        <a:t> can vary for different industries</a:t>
                      </a:r>
                      <a:endParaRPr lang="en-US" b="0" i="1" dirty="0"/>
                    </a:p>
                  </a:txBody>
                  <a:tcPr/>
                </a:tc>
                <a:extLst>
                  <a:ext uri="{0D108BD9-81ED-4DB2-BD59-A6C34878D82A}">
                    <a16:rowId xmlns:a16="http://schemas.microsoft.com/office/drawing/2014/main" val="2899595572"/>
                  </a:ext>
                </a:extLst>
              </a:tr>
            </a:tbl>
          </a:graphicData>
        </a:graphic>
      </p:graphicFrame>
      <p:sp>
        <p:nvSpPr>
          <p:cNvPr id="2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74775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Order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preference for controlling exposure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hazards: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PPE a “last resort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Exposure </a:t>
            </a:r>
            <a:r>
              <a:rPr lang="en-US" altLang="en-US" sz="2400" b="0" dirty="0" smtClean="0">
                <a:solidFill>
                  <a:schemeClr val="accent2"/>
                </a:solidFill>
                <a:latin typeface="Arial" panose="020B0604020202020204" pitchFamily="34" charset="0"/>
                <a:ea typeface="+mj-ea"/>
                <a:cs typeface="Arial" panose="020B0604020202020204" pitchFamily="34" charset="0"/>
              </a:rPr>
              <a:t>Control: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1447800" y="1295400"/>
            <a:ext cx="5715000" cy="4286251"/>
          </a:xfrm>
          <a:prstGeom prst="rect">
            <a:avLst/>
          </a:prstGeom>
          <a:ln>
            <a:solidFill>
              <a:schemeClr val="tx1"/>
            </a:solidFill>
          </a:ln>
        </p:spPr>
      </p:pic>
    </p:spTree>
    <p:extLst>
      <p:ext uri="{BB962C8B-B14F-4D97-AF65-F5344CB8AC3E}">
        <p14:creationId xmlns:p14="http://schemas.microsoft.com/office/powerpoint/2010/main" val="416058654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Review and Health Risk Assessment</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Medical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Scientists, Toxicologists, Epidemiologists, Industrial Hygienists</a:t>
            </a: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Identify hazards</a:t>
            </a: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exposures to hazards and determine if acceptable or not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
                <a:srgbClr val="000000"/>
              </a:buClr>
              <a:buSzPct val="100000"/>
              <a:buNone/>
            </a:pP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Plan:</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 organizations develop,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maintain/update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plans to manage their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exposures (risk)</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objectives of a health plan are to:</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 health incidents and adverse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long-term exposures</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Minimize the seriousness of injuries and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illness / access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quality medical care</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Integrate health </a:t>
            </a:r>
            <a:r>
              <a:rPr lang="en-US" altLang="en-US" sz="16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measures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into facility </a:t>
            </a:r>
            <a:r>
              <a:rPr lang="en-US" altLang="en-US" sz="16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a:t>
            </a:r>
            <a:r>
              <a:rPr lang="en-US" altLang="en-US" sz="16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a:t>
            </a:r>
            <a:r>
              <a:rPr lang="en-US" altLang="en-US" sz="16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design</a:t>
            </a:r>
          </a:p>
          <a:p>
            <a:pPr marL="360000" lvl="0" indent="0" eaLnBrk="0" hangingPunct="0">
              <a:lnSpc>
                <a:spcPct val="90000"/>
              </a:lnSpc>
              <a:spcBef>
                <a:spcPts val="0"/>
              </a:spcBef>
              <a:buClrTx/>
              <a:buSzPct val="100000"/>
              <a:buNone/>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does the Health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Periodic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reassessment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Collect more data</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controls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engineers (as leaders and designers), </a:t>
            </a:r>
            <a:b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could be our role in supporting a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b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 within our facilities and operations?</a:t>
            </a:r>
            <a:endPar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Health Exposure </a:t>
            </a:r>
            <a:r>
              <a:rPr lang="en-US" altLang="en-US" sz="2400" b="0" dirty="0" smtClean="0">
                <a:solidFill>
                  <a:schemeClr val="accent2"/>
                </a:solidFill>
                <a:latin typeface="Arial" panose="020B0604020202020204" pitchFamily="34" charset="0"/>
                <a:ea typeface="+mj-ea"/>
                <a:cs typeface="Arial" panose="020B0604020202020204" pitchFamily="34" charset="0"/>
              </a:rPr>
              <a:t>Methods: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5179602" y="3571059"/>
            <a:ext cx="3624100" cy="2584941"/>
          </a:xfrm>
          <a:prstGeom prst="rect">
            <a:avLst/>
          </a:prstGeom>
          <a:ln>
            <a:solidFill>
              <a:schemeClr val="tx1"/>
            </a:solidFill>
          </a:ln>
        </p:spPr>
      </p:pic>
    </p:spTree>
    <p:extLst>
      <p:ext uri="{BB962C8B-B14F-4D97-AF65-F5344CB8AC3E}">
        <p14:creationId xmlns:p14="http://schemas.microsoft.com/office/powerpoint/2010/main" val="1828707398"/>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#1: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Supporting a Health Plan</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respond (MM-Poll</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SzPct val="100000"/>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Consider any kind of material(s) that would be handled or used or manufactured in your engineering discipline</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As engineers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leaders and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designers),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could be our role in supporting a Health Plan</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inherently safer design principles into our engineering work</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Conduct an industrial hygiene survey when the facility is operational</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MOC process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Establish an electronic system to maintain safety data sheets on site</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scope of risk assessments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5894813"/>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Supporting a Health Plan</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chemeClr val="tx1"/>
            </a:solidFill>
          </a:ln>
        </p:spPr>
        <p:txBody>
          <a:bodyPr wrap="square">
            <a:noAutofit/>
          </a:bodyPr>
          <a:lstStyle/>
          <a:p>
            <a:pPr lvl="0" eaLnBrk="0" hangingPunct="0">
              <a:spcBef>
                <a:spcPts val="0"/>
              </a:spcBef>
              <a:buSzPct val="100000"/>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We can support a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Plan :</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inherently safer design principles into our engineering work</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Conduct an industrial hygiene survey when the facility is operational</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MOC process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Establish an electronic system to maintain safety data sheets on site</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scope of risk assessments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7121117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WHSP’s can be implemented:</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required per regulatory requirements</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Voluntarily to inform management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Examples: hearing conservation, respiratory protection, medical surveillance guidelines for benzene chemical exposure</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Objective of a WHSP:</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guidance to management for further investigation or action based upon the identification of trends suggesting a potential adverse health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role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support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WHSP’s: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resources,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access,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transparent,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take action to address issues.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Workplace Health Surveillance Programs: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83028575"/>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terms health &amp; safety are related but there are important distinctions between them</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Leadership understanding of health related risks associated with our activities is required for us to prevent and/or control these exposures</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Like other workplaces hazards, we have an order of preference for addressing potential worker health exposures</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We can use a Health Hazards Review and a Health Risk Assessment to define a health exposure assessment strategy</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As engineers, we have a leadership role in supporting the development of a Health Plan</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Organizations employ </a:t>
            </a: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Workplace Health Surveillance Programs as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part of their ongoing worker monitoring </a:t>
            </a: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efforts; and require leadership support. </a:t>
            </a: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87505649"/>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71184</TotalTime>
  <Words>1608</Words>
  <Application>Microsoft Office PowerPoint</Application>
  <PresentationFormat>On-screen Show (4:3)</PresentationFormat>
  <Paragraphs>297</Paragraphs>
  <Slides>17</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ＭＳ Ｐゴシック</vt:lpstr>
      <vt:lpstr>Arial</vt:lpstr>
      <vt:lpstr>Calibri</vt:lpstr>
      <vt:lpstr>Noto Sans Symbols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1992</cp:revision>
  <cp:lastPrinted>2018-12-17T22:21:47Z</cp:lastPrinted>
  <dcterms:created xsi:type="dcterms:W3CDTF">2007-03-28T16:18:47Z</dcterms:created>
  <dcterms:modified xsi:type="dcterms:W3CDTF">2022-05-31T18:31:25Z</dcterms:modified>
</cp:coreProperties>
</file>