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895" r:id="rId2"/>
    <p:sldId id="880" r:id="rId3"/>
    <p:sldId id="935" r:id="rId4"/>
    <p:sldId id="936" r:id="rId5"/>
    <p:sldId id="937" r:id="rId6"/>
    <p:sldId id="923" r:id="rId7"/>
    <p:sldId id="924" r:id="rId8"/>
    <p:sldId id="925" r:id="rId9"/>
    <p:sldId id="926" r:id="rId10"/>
    <p:sldId id="927" r:id="rId11"/>
    <p:sldId id="928" r:id="rId12"/>
    <p:sldId id="929" r:id="rId13"/>
    <p:sldId id="941" r:id="rId14"/>
    <p:sldId id="942" r:id="rId15"/>
    <p:sldId id="930" r:id="rId16"/>
    <p:sldId id="932" r:id="rId17"/>
    <p:sldId id="938" r:id="rId18"/>
    <p:sldId id="901" r:id="rId19"/>
    <p:sldId id="940" r:id="rId20"/>
    <p:sldId id="944" r:id="rId21"/>
    <p:sldId id="945" r:id="rId22"/>
    <p:sldId id="934" r:id="rId23"/>
    <p:sldId id="900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35"/>
            <p14:sldId id="936"/>
            <p14:sldId id="937"/>
            <p14:sldId id="923"/>
            <p14:sldId id="924"/>
            <p14:sldId id="925"/>
            <p14:sldId id="926"/>
            <p14:sldId id="927"/>
            <p14:sldId id="928"/>
            <p14:sldId id="929"/>
            <p14:sldId id="941"/>
            <p14:sldId id="942"/>
            <p14:sldId id="930"/>
            <p14:sldId id="932"/>
            <p14:sldId id="938"/>
            <p14:sldId id="901"/>
            <p14:sldId id="940"/>
            <p14:sldId id="944"/>
            <p14:sldId id="945"/>
            <p14:sldId id="934"/>
            <p14:sldId id="9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00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1220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5/31/2022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5/31/2022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790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2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420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901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9797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2726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04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7154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18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5427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08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7321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0871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395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7659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07471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19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19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31132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i="1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defTabSz="91199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t>2015-2016</a:t>
            </a:r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11994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EDCD44F-3FD7-499D-A8C1-CBAE8644EED9}" type="slidenum">
              <a:rPr lang="en-US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 defTabSz="911994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altLang="en-US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6011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4463" y="1162050"/>
            <a:ext cx="4181475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42799-FACC-42FF-909A-DD74213EF59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30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579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dirty="0"/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2E0E8D8-AE63-4BAB-AE10-86197CF9CB04}" type="slidenum">
              <a:rPr lang="en-US" altLang="en-US" sz="1200"/>
              <a:pPr/>
              <a:t>23</a:t>
            </a:fld>
            <a:endParaRPr lang="en-US" altLang="en-US" sz="1200" dirty="0"/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B6B2B90-B612-42CC-80D2-4870E63A5117}" type="slidenum">
              <a:rPr lang="en-US" altLang="en-US" sz="1200"/>
              <a:pPr algn="r"/>
              <a:t>23</a:t>
            </a:fld>
            <a:endParaRPr lang="en-US" altLang="en-US" sz="1200" dirty="0"/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5/31/2022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hyperlink" Target="http://commons.wikimedia.org/wiki/File:Westraymem.jpg" TargetMode="External"/><Relationship Id="rId4" Type="http://schemas.openxmlformats.org/officeDocument/2006/relationships/hyperlink" Target="http://novascotia.ca/lae/pubs/westray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.alberta.ca/publications/e1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hyperlink" Target="https://open.alberta.ca/publications/1999_150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ega.ca/about-apega/publications/engineering-and-geoscience-professions-act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ega.ca/members/legal-obligation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www.apega.ca/docs/default-source/pdfs/standards-guidelines/ethical-practice.pdf?sfvrsn=78261e0b_8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news.ca/news/3647630/21-year-old-dead-in-apparent-workplace-injury-in-drayton-valley-source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lobalnews.ca/news/6330995/drayton-valley-fined-2017-lawnmower-workplace-fatality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focolare.org/usa/en/professional-life/law-ethics/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Leader </a:t>
            </a:r>
            <a:b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6.5: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Health &amp; Safety Regulatory Framework in Canada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6" name="Picture 25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applicable OH&amp;S legislation in Canada.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responsibilities of Engineers and Managers under OH&amp;S legislation.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Analyze a case study to apply professional engineering OH&amp;S responsibilities.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are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three basic</a:t>
            </a:r>
            <a:r>
              <a:rPr kumimoji="0" lang="en-US" altLang="en-US" sz="18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en-US" sz="18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rights of workers in Canada:</a:t>
            </a: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 to Know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have the right to be informed of known or likely workplace hazards by their employer. They also have the right to be provided with information, training, and supervision. 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resources should be provided to workers before any work begins.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 to Participate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have the right to provide input on steps taken by their employer to ensure health and safety. Methods to participate include: 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Participating in the health and safety committee 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Acting as a health and safety representative for the workplace 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Reporting heath and safety concerns  </a:t>
            </a: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 to Refuse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can refuse to perform work if they believe it will endanger the health and safety of themselves or others.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Usually used when the first 2 rights fail to ensure worker heath and safety.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Involves several common steps, with slight differences in every province and territory.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OH&amp;S Legislation in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Canada – Worker Rights: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316458093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rights have implications</a:t>
            </a:r>
            <a:r>
              <a:rPr kumimoji="0" lang="en-US" altLang="en-US" sz="18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on the </a:t>
            </a:r>
            <a:r>
              <a:rPr kumimoji="0" lang="en-US" altLang="en-US" sz="1800" i="0" u="sng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duties of workers</a:t>
            </a:r>
            <a:r>
              <a:rPr kumimoji="0" lang="en-US" altLang="en-US" sz="180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fulfil their rights:</a:t>
            </a:r>
            <a:endParaRPr kumimoji="0" lang="en-US" altLang="en-US" sz="180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Duty to Know: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should learn the information provided to them, take the training required, and abide by supervision directions. 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Duty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Participate: 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participate in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health and safety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committees and meetings, report health and safety concerns, and when appropriate act as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health and safety representative for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their workplace.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Duty to Refuse: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should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refuse to perform work if they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validly believe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will endanger the health and safety of themselves or others.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kumimoji="0" lang="en-US" altLang="en-US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should NOT perform work that is or is likely to endanger the health and safety of themselves or others.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1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duties are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implied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i.e.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 stated in legislation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0" lvl="1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1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Good leadership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can shape the culture of the organization so as to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encourage workers to fulfil their duties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OH&amp;S Legislation in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Canada – Worker Duties: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267653708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60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 must enable these workers’ rights.</a:t>
            </a:r>
            <a:endParaRPr kumimoji="0" lang="en-US" altLang="en-US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 to </a:t>
            </a:r>
            <a:r>
              <a:rPr lang="en-US" altLang="en-US" sz="16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Know -&gt; apply risk management programs:</a:t>
            </a: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programs</a:t>
            </a:r>
            <a:r>
              <a:rPr kumimoji="0" lang="en-US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</a:t>
            </a: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RME#</a:t>
            </a:r>
            <a:r>
              <a:rPr kumimoji="0" lang="en-US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2 RA&amp;MR,</a:t>
            </a:r>
            <a:r>
              <a:rPr lang="en-US" altLang="en-US" sz="1600" b="0" noProof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600" b="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#3 CA&amp;EP, #8 O&amp;M, #9 EC&amp;T, #10 CC&amp;I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 to </a:t>
            </a:r>
            <a:r>
              <a:rPr lang="en-US" altLang="en-US" sz="16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Participate -&gt; select and mentor:</a:t>
            </a: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 should recognize employees with expertise and leadership skills, and mentor them as advocates for balanced voices on safety &amp; health committees.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Right to Refuse </a:t>
            </a:r>
            <a:r>
              <a:rPr lang="en-US" altLang="en-US" sz="16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-&gt; apply organization’s polices:</a:t>
            </a:r>
            <a:endParaRPr lang="en-US" altLang="en-US" sz="16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Leaders can be challenged when a worker exercises their “right to refuse”</a:t>
            </a: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Leading organizations rarely have such refusals, but when they occur, these leading organizations do have internal policies for managing these situations.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</a:t>
            </a:r>
            <a:r>
              <a:rPr kumimoji="0" lang="en-US" altLang="en-US" sz="1600" b="0" i="0" u="none" strike="noStrike" kern="1200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points to engage workers: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kumimoji="0" lang="en-US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Acknowledge the worker’s right to refuse,</a:t>
            </a:r>
            <a:r>
              <a:rPr kumimoji="0" lang="en-US" alt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stop the job, and ask about their concerns.</a:t>
            </a:r>
            <a:endParaRPr kumimoji="0" lang="en-US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600" b="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Assess the hazards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US" altLang="en-US" sz="16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/</a:t>
            </a:r>
            <a:r>
              <a:rPr lang="en-US" altLang="en-US" sz="1600" b="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risks that the worker has raised.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kumimoji="0" lang="en-US" altLang="en-US" sz="1600" b="0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</a:t>
            </a:r>
            <a:r>
              <a:rPr kumimoji="0" lang="en-US" altLang="en-US" sz="1600" b="0" i="0" u="none" strike="noStrike" kern="1200" cap="none" spc="0" normalizeH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those hazards / risks, apply risk assessments tools to identify any inadequate safeguards / control measures, and rectify.</a:t>
            </a:r>
          </a:p>
          <a:p>
            <a:pPr marL="72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arenR"/>
            </a:pPr>
            <a:r>
              <a:rPr lang="en-US" altLang="en-US" sz="1600" b="0" baseline="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Review</a:t>
            </a:r>
            <a:r>
              <a:rPr lang="en-US" altLang="en-US" sz="1600" b="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your findings with the worker, specifically the safeguards / control measures that address those hazards / risks, and dialogue with the worker to uncover any other concerns. Typically, this process manages MOST situations.</a:t>
            </a:r>
            <a:endParaRPr lang="en-US" altLang="en-US" sz="16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Don't Do!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"</a:t>
            </a: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Step aside and I'll get someone else to do the job“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16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"Do the job or you are fired".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OH&amp;S Legislation in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Canada – Leadership Responses: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297794422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err="1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Westray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Mine, A “Watershed Incident” -  What Happened: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828000"/>
            <a:ext cx="8640000" cy="5328000"/>
          </a:xfrm>
          <a:prstGeom prst="roundRect">
            <a:avLst>
              <a:gd name="adj" fmla="val 479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Plymouth, Nova Scotia; 9-May-1992)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Methane-triggered coal dust explosion, </a:t>
            </a:r>
            <a:r>
              <a:rPr kumimoji="0" 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26 fatalities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Owned by Curragh Resources Inc.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“The most important thing to come out of a mine is the miner.” 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(Frederic Le Play, 1806-1882, French sociologist and inspector general of mines in France)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5800" y="3200226"/>
            <a:ext cx="4431771" cy="28195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ounded Rectangle 9"/>
          <p:cNvSpPr/>
          <p:nvPr/>
        </p:nvSpPr>
        <p:spPr>
          <a:xfrm>
            <a:off x="5501640" y="5411521"/>
            <a:ext cx="3108959" cy="5777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Westray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Coal Mine (Nova Scotia)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Source: 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4"/>
              </a:rPr>
              <a:t>The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4"/>
              </a:rPr>
              <a:t>Westray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4"/>
              </a:rPr>
              <a:t> Story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Image: 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63634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5"/>
              </a:rPr>
              <a:t>Wikimedia Commons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6363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Picture 4" descr="File:Westraymem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01640" y="2971800"/>
            <a:ext cx="3108960" cy="2331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585865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Substandard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Practices: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Poor housekeeping with respect to build up of coal dust in mine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 effort to reduce make coal dust inert by adding rock dust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Continuation of mining in spite of inoperable methane detection devices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Storage of fuel and re-fueling of vehicles underground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Inadequate follow up by NS Gov’t inspectors to address regulatory deficiencies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Substandard Conditions: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Inadequate ventilation system design and capability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Thick layers of coal dust with unacceptably high levels of combustible matter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Inadequate system to warn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conditions leading to explosions </a:t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(coal dust and methane)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err="1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Westray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Mine Incident – Immediate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73623981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Engineering and Design Factors: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Poor regulating control of and maintaining air flow (inadequate technical design)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Job Factors: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Workers not engaged in day to day decision-making, just follow orders (organizational factors)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Unqualified personnel &amp; poor employee training (inadequate training)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Poor compliance to best industry practices and legislated safety requirements (inadequate job procedures)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Personal Factors: 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Fear of reprisal on part of workers (perceived mental or psychological stress)</a:t>
            </a: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Corporate </a:t>
            </a: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Culture was at the root of this incident. 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err="1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Westray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Mine Incident – Basic Causes: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215850654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err="1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Westray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Mine, A “Watershed Incident” -  The Aftermath: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0000" y="828000"/>
            <a:ext cx="8640000" cy="5328000"/>
          </a:xfrm>
          <a:prstGeom prst="roundRect">
            <a:avLst>
              <a:gd name="adj" fmla="val 699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 public inquiry determined that the mine was mismanaged, miners' safety was ignored, and poor oversight by government regulators led to the disaster. 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Criminal charges against the company and two mine managers were laid, and</a:t>
            </a: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went to trial but dropped (stayed) by the Crown in 1998.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CA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mine was dismantled and permanently sealed in November 1998.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lang="en-CA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the failure to successfully prosecute the mine’s owners and managers, the Canadian </a:t>
            </a:r>
            <a:r>
              <a:rPr lang="en-US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Congress lobbied the federal government to amend the Criminal Code of Canada in order to hold managers, directors, and corporations criminally liable for incidents.</a:t>
            </a: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2003, Bill C-45 was passed and was enacted as law in 2004. The legislation resulted in Criminal Code amendments that allow prosecution of corporations</a:t>
            </a:r>
            <a:b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their directors in workplace incidents.</a:t>
            </a: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in corporate culture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was driven by </a:t>
            </a:r>
            <a:r>
              <a:rPr lang="en-US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legislation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88792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What OH&amp;S Rules &amp; </a:t>
            </a:r>
            <a:r>
              <a:rPr lang="en-US" altLang="en-US" sz="2400" b="0" dirty="0" err="1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Reg’ns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Cover Engineering Practice?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886210" y="903161"/>
            <a:ext cx="5162255" cy="4978563"/>
            <a:chOff x="1886210" y="903161"/>
            <a:chExt cx="5162255" cy="4978563"/>
          </a:xfrm>
        </p:grpSpPr>
        <p:sp>
          <p:nvSpPr>
            <p:cNvPr id="3" name="Freeform 2"/>
            <p:cNvSpPr/>
            <p:nvPr/>
          </p:nvSpPr>
          <p:spPr>
            <a:xfrm>
              <a:off x="3572153" y="2621195"/>
              <a:ext cx="1790369" cy="1919331"/>
            </a:xfrm>
            <a:custGeom>
              <a:avLst/>
              <a:gdLst>
                <a:gd name="connsiteX0" fmla="*/ 0 w 1790369"/>
                <a:gd name="connsiteY0" fmla="*/ 959666 h 1919331"/>
                <a:gd name="connsiteX1" fmla="*/ 895185 w 1790369"/>
                <a:gd name="connsiteY1" fmla="*/ 0 h 1919331"/>
                <a:gd name="connsiteX2" fmla="*/ 1790370 w 1790369"/>
                <a:gd name="connsiteY2" fmla="*/ 959666 h 1919331"/>
                <a:gd name="connsiteX3" fmla="*/ 895185 w 1790369"/>
                <a:gd name="connsiteY3" fmla="*/ 1919332 h 1919331"/>
                <a:gd name="connsiteX4" fmla="*/ 0 w 1790369"/>
                <a:gd name="connsiteY4" fmla="*/ 959666 h 1919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90369" h="1919331">
                  <a:moveTo>
                    <a:pt x="0" y="959666"/>
                  </a:moveTo>
                  <a:cubicBezTo>
                    <a:pt x="0" y="429657"/>
                    <a:pt x="400788" y="0"/>
                    <a:pt x="895185" y="0"/>
                  </a:cubicBezTo>
                  <a:cubicBezTo>
                    <a:pt x="1389582" y="0"/>
                    <a:pt x="1790370" y="429657"/>
                    <a:pt x="1790370" y="959666"/>
                  </a:cubicBezTo>
                  <a:cubicBezTo>
                    <a:pt x="1790370" y="1489675"/>
                    <a:pt x="1389582" y="1919332"/>
                    <a:pt x="895185" y="1919332"/>
                  </a:cubicBezTo>
                  <a:cubicBezTo>
                    <a:pt x="400788" y="1919332"/>
                    <a:pt x="0" y="1489675"/>
                    <a:pt x="0" y="959666"/>
                  </a:cubicBez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8000" tIns="108000" rIns="108000" bIns="10800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b="1" kern="12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Engineering OH&amp;S Responsibilities</a:t>
              </a:r>
            </a:p>
          </p:txBody>
        </p:sp>
        <p:sp>
          <p:nvSpPr>
            <p:cNvPr id="4" name="Freeform 3"/>
            <p:cNvSpPr/>
            <p:nvPr/>
          </p:nvSpPr>
          <p:spPr>
            <a:xfrm rot="16200000">
              <a:off x="4385475" y="2231821"/>
              <a:ext cx="163725" cy="479100"/>
            </a:xfrm>
            <a:custGeom>
              <a:avLst/>
              <a:gdLst>
                <a:gd name="connsiteX0" fmla="*/ 0 w 163725"/>
                <a:gd name="connsiteY0" fmla="*/ 95820 h 479100"/>
                <a:gd name="connsiteX1" fmla="*/ 81863 w 163725"/>
                <a:gd name="connsiteY1" fmla="*/ 95820 h 479100"/>
                <a:gd name="connsiteX2" fmla="*/ 81863 w 163725"/>
                <a:gd name="connsiteY2" fmla="*/ 0 h 479100"/>
                <a:gd name="connsiteX3" fmla="*/ 163725 w 163725"/>
                <a:gd name="connsiteY3" fmla="*/ 239550 h 479100"/>
                <a:gd name="connsiteX4" fmla="*/ 81863 w 163725"/>
                <a:gd name="connsiteY4" fmla="*/ 479100 h 479100"/>
                <a:gd name="connsiteX5" fmla="*/ 81863 w 163725"/>
                <a:gd name="connsiteY5" fmla="*/ 383280 h 479100"/>
                <a:gd name="connsiteX6" fmla="*/ 0 w 163725"/>
                <a:gd name="connsiteY6" fmla="*/ 383280 h 479100"/>
                <a:gd name="connsiteX7" fmla="*/ 0 w 163725"/>
                <a:gd name="connsiteY7" fmla="*/ 95820 h 4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725" h="479100">
                  <a:moveTo>
                    <a:pt x="0" y="95820"/>
                  </a:moveTo>
                  <a:lnTo>
                    <a:pt x="81863" y="95820"/>
                  </a:lnTo>
                  <a:lnTo>
                    <a:pt x="81863" y="0"/>
                  </a:lnTo>
                  <a:lnTo>
                    <a:pt x="163725" y="239550"/>
                  </a:lnTo>
                  <a:lnTo>
                    <a:pt x="81863" y="479100"/>
                  </a:lnTo>
                  <a:lnTo>
                    <a:pt x="81863" y="383280"/>
                  </a:lnTo>
                  <a:lnTo>
                    <a:pt x="0" y="383280"/>
                  </a:lnTo>
                  <a:lnTo>
                    <a:pt x="0" y="95820"/>
                  </a:ln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-1" tIns="95821" rIns="49117" bIns="95819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1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3762778" y="903161"/>
              <a:ext cx="1409118" cy="1409118"/>
            </a:xfrm>
            <a:custGeom>
              <a:avLst/>
              <a:gdLst>
                <a:gd name="connsiteX0" fmla="*/ 0 w 1409118"/>
                <a:gd name="connsiteY0" fmla="*/ 704559 h 1409118"/>
                <a:gd name="connsiteX1" fmla="*/ 704559 w 1409118"/>
                <a:gd name="connsiteY1" fmla="*/ 0 h 1409118"/>
                <a:gd name="connsiteX2" fmla="*/ 1409118 w 1409118"/>
                <a:gd name="connsiteY2" fmla="*/ 704559 h 1409118"/>
                <a:gd name="connsiteX3" fmla="*/ 704559 w 1409118"/>
                <a:gd name="connsiteY3" fmla="*/ 1409118 h 1409118"/>
                <a:gd name="connsiteX4" fmla="*/ 0 w 1409118"/>
                <a:gd name="connsiteY4" fmla="*/ 704559 h 140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118" h="1409118">
                  <a:moveTo>
                    <a:pt x="0" y="704559"/>
                  </a:moveTo>
                  <a:cubicBezTo>
                    <a:pt x="0" y="315442"/>
                    <a:pt x="315442" y="0"/>
                    <a:pt x="704559" y="0"/>
                  </a:cubicBezTo>
                  <a:cubicBezTo>
                    <a:pt x="1093676" y="0"/>
                    <a:pt x="1409118" y="315442"/>
                    <a:pt x="1409118" y="704559"/>
                  </a:cubicBezTo>
                  <a:cubicBezTo>
                    <a:pt x="1409118" y="1093676"/>
                    <a:pt x="1093676" y="1409118"/>
                    <a:pt x="704559" y="1409118"/>
                  </a:cubicBezTo>
                  <a:cubicBezTo>
                    <a:pt x="315442" y="1409118"/>
                    <a:pt x="0" y="1093676"/>
                    <a:pt x="0" y="704559"/>
                  </a:cubicBez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8000" tIns="108000" rIns="108000" bIns="10800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b="1" kern="1200" dirty="0">
                  <a:solidFill>
                    <a:srgbClr val="FF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Canada’s Criminal Code</a:t>
              </a:r>
            </a:p>
          </p:txBody>
        </p:sp>
        <p:sp>
          <p:nvSpPr>
            <p:cNvPr id="7" name="Freeform 6"/>
            <p:cNvSpPr/>
            <p:nvPr/>
          </p:nvSpPr>
          <p:spPr>
            <a:xfrm rot="20520000">
              <a:off x="5396221" y="3007830"/>
              <a:ext cx="194930" cy="479100"/>
            </a:xfrm>
            <a:custGeom>
              <a:avLst/>
              <a:gdLst>
                <a:gd name="connsiteX0" fmla="*/ 0 w 194930"/>
                <a:gd name="connsiteY0" fmla="*/ 95820 h 479100"/>
                <a:gd name="connsiteX1" fmla="*/ 97465 w 194930"/>
                <a:gd name="connsiteY1" fmla="*/ 95820 h 479100"/>
                <a:gd name="connsiteX2" fmla="*/ 97465 w 194930"/>
                <a:gd name="connsiteY2" fmla="*/ 0 h 479100"/>
                <a:gd name="connsiteX3" fmla="*/ 194930 w 194930"/>
                <a:gd name="connsiteY3" fmla="*/ 239550 h 479100"/>
                <a:gd name="connsiteX4" fmla="*/ 97465 w 194930"/>
                <a:gd name="connsiteY4" fmla="*/ 479100 h 479100"/>
                <a:gd name="connsiteX5" fmla="*/ 97465 w 194930"/>
                <a:gd name="connsiteY5" fmla="*/ 383280 h 479100"/>
                <a:gd name="connsiteX6" fmla="*/ 0 w 194930"/>
                <a:gd name="connsiteY6" fmla="*/ 383280 h 479100"/>
                <a:gd name="connsiteX7" fmla="*/ 0 w 194930"/>
                <a:gd name="connsiteY7" fmla="*/ 95820 h 4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930" h="479100">
                  <a:moveTo>
                    <a:pt x="0" y="95820"/>
                  </a:moveTo>
                  <a:lnTo>
                    <a:pt x="97465" y="95820"/>
                  </a:lnTo>
                  <a:lnTo>
                    <a:pt x="97465" y="0"/>
                  </a:lnTo>
                  <a:lnTo>
                    <a:pt x="194930" y="239550"/>
                  </a:lnTo>
                  <a:lnTo>
                    <a:pt x="97465" y="479100"/>
                  </a:lnTo>
                  <a:lnTo>
                    <a:pt x="97465" y="383280"/>
                  </a:lnTo>
                  <a:lnTo>
                    <a:pt x="0" y="383280"/>
                  </a:lnTo>
                  <a:lnTo>
                    <a:pt x="0" y="95820"/>
                  </a:ln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-1" tIns="95820" rIns="58479" bIns="95819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1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5639347" y="2266568"/>
              <a:ext cx="1409118" cy="1409118"/>
            </a:xfrm>
            <a:custGeom>
              <a:avLst/>
              <a:gdLst>
                <a:gd name="connsiteX0" fmla="*/ 0 w 1409118"/>
                <a:gd name="connsiteY0" fmla="*/ 704559 h 1409118"/>
                <a:gd name="connsiteX1" fmla="*/ 704559 w 1409118"/>
                <a:gd name="connsiteY1" fmla="*/ 0 h 1409118"/>
                <a:gd name="connsiteX2" fmla="*/ 1409118 w 1409118"/>
                <a:gd name="connsiteY2" fmla="*/ 704559 h 1409118"/>
                <a:gd name="connsiteX3" fmla="*/ 704559 w 1409118"/>
                <a:gd name="connsiteY3" fmla="*/ 1409118 h 1409118"/>
                <a:gd name="connsiteX4" fmla="*/ 0 w 1409118"/>
                <a:gd name="connsiteY4" fmla="*/ 704559 h 140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118" h="1409118">
                  <a:moveTo>
                    <a:pt x="0" y="704559"/>
                  </a:moveTo>
                  <a:cubicBezTo>
                    <a:pt x="0" y="315442"/>
                    <a:pt x="315442" y="0"/>
                    <a:pt x="704559" y="0"/>
                  </a:cubicBezTo>
                  <a:cubicBezTo>
                    <a:pt x="1093676" y="0"/>
                    <a:pt x="1409118" y="315442"/>
                    <a:pt x="1409118" y="704559"/>
                  </a:cubicBezTo>
                  <a:cubicBezTo>
                    <a:pt x="1409118" y="1093676"/>
                    <a:pt x="1093676" y="1409118"/>
                    <a:pt x="704559" y="1409118"/>
                  </a:cubicBezTo>
                  <a:cubicBezTo>
                    <a:pt x="315442" y="1409118"/>
                    <a:pt x="0" y="1093676"/>
                    <a:pt x="0" y="704559"/>
                  </a:cubicBez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8000" tIns="108000" rIns="108000" bIns="10800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b="1" kern="1200" dirty="0">
                  <a:solidFill>
                    <a:srgbClr val="FF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APEGA Engineering Act</a:t>
              </a:r>
            </a:p>
          </p:txBody>
        </p:sp>
        <p:sp>
          <p:nvSpPr>
            <p:cNvPr id="11" name="Freeform 10"/>
            <p:cNvSpPr/>
            <p:nvPr/>
          </p:nvSpPr>
          <p:spPr>
            <a:xfrm rot="3240000">
              <a:off x="5024091" y="4228981"/>
              <a:ext cx="176352" cy="479100"/>
            </a:xfrm>
            <a:custGeom>
              <a:avLst/>
              <a:gdLst>
                <a:gd name="connsiteX0" fmla="*/ 0 w 176352"/>
                <a:gd name="connsiteY0" fmla="*/ 95820 h 479100"/>
                <a:gd name="connsiteX1" fmla="*/ 88176 w 176352"/>
                <a:gd name="connsiteY1" fmla="*/ 95820 h 479100"/>
                <a:gd name="connsiteX2" fmla="*/ 88176 w 176352"/>
                <a:gd name="connsiteY2" fmla="*/ 0 h 479100"/>
                <a:gd name="connsiteX3" fmla="*/ 176352 w 176352"/>
                <a:gd name="connsiteY3" fmla="*/ 239550 h 479100"/>
                <a:gd name="connsiteX4" fmla="*/ 88176 w 176352"/>
                <a:gd name="connsiteY4" fmla="*/ 479100 h 479100"/>
                <a:gd name="connsiteX5" fmla="*/ 88176 w 176352"/>
                <a:gd name="connsiteY5" fmla="*/ 383280 h 479100"/>
                <a:gd name="connsiteX6" fmla="*/ 0 w 176352"/>
                <a:gd name="connsiteY6" fmla="*/ 383280 h 479100"/>
                <a:gd name="connsiteX7" fmla="*/ 0 w 176352"/>
                <a:gd name="connsiteY7" fmla="*/ 95820 h 4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52" h="479100">
                  <a:moveTo>
                    <a:pt x="0" y="95820"/>
                  </a:moveTo>
                  <a:lnTo>
                    <a:pt x="88176" y="95820"/>
                  </a:lnTo>
                  <a:lnTo>
                    <a:pt x="88176" y="0"/>
                  </a:lnTo>
                  <a:lnTo>
                    <a:pt x="176352" y="239550"/>
                  </a:lnTo>
                  <a:lnTo>
                    <a:pt x="88176" y="479100"/>
                  </a:lnTo>
                  <a:lnTo>
                    <a:pt x="88176" y="383280"/>
                  </a:lnTo>
                  <a:lnTo>
                    <a:pt x="0" y="383280"/>
                  </a:lnTo>
                  <a:lnTo>
                    <a:pt x="0" y="95820"/>
                  </a:ln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-1" tIns="95820" rIns="52906" bIns="95819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1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4922561" y="4472606"/>
              <a:ext cx="1409118" cy="1409118"/>
            </a:xfrm>
            <a:custGeom>
              <a:avLst/>
              <a:gdLst>
                <a:gd name="connsiteX0" fmla="*/ 0 w 1409118"/>
                <a:gd name="connsiteY0" fmla="*/ 704559 h 1409118"/>
                <a:gd name="connsiteX1" fmla="*/ 704559 w 1409118"/>
                <a:gd name="connsiteY1" fmla="*/ 0 h 1409118"/>
                <a:gd name="connsiteX2" fmla="*/ 1409118 w 1409118"/>
                <a:gd name="connsiteY2" fmla="*/ 704559 h 1409118"/>
                <a:gd name="connsiteX3" fmla="*/ 704559 w 1409118"/>
                <a:gd name="connsiteY3" fmla="*/ 1409118 h 1409118"/>
                <a:gd name="connsiteX4" fmla="*/ 0 w 1409118"/>
                <a:gd name="connsiteY4" fmla="*/ 704559 h 140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118" h="1409118">
                  <a:moveTo>
                    <a:pt x="0" y="704559"/>
                  </a:moveTo>
                  <a:cubicBezTo>
                    <a:pt x="0" y="315442"/>
                    <a:pt x="315442" y="0"/>
                    <a:pt x="704559" y="0"/>
                  </a:cubicBezTo>
                  <a:cubicBezTo>
                    <a:pt x="1093676" y="0"/>
                    <a:pt x="1409118" y="315442"/>
                    <a:pt x="1409118" y="704559"/>
                  </a:cubicBezTo>
                  <a:cubicBezTo>
                    <a:pt x="1409118" y="1093676"/>
                    <a:pt x="1093676" y="1409118"/>
                    <a:pt x="704559" y="1409118"/>
                  </a:cubicBezTo>
                  <a:cubicBezTo>
                    <a:pt x="315442" y="1409118"/>
                    <a:pt x="0" y="1093676"/>
                    <a:pt x="0" y="704559"/>
                  </a:cubicBez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8000" tIns="108000" rIns="108000" bIns="10800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b="1" kern="12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Canada’s Labour Code</a:t>
              </a:r>
            </a:p>
          </p:txBody>
        </p:sp>
        <p:sp>
          <p:nvSpPr>
            <p:cNvPr id="15" name="Freeform 14"/>
            <p:cNvSpPr/>
            <p:nvPr/>
          </p:nvSpPr>
          <p:spPr>
            <a:xfrm rot="18360000">
              <a:off x="3734231" y="4228980"/>
              <a:ext cx="176353" cy="479101"/>
            </a:xfrm>
            <a:custGeom>
              <a:avLst/>
              <a:gdLst>
                <a:gd name="connsiteX0" fmla="*/ 0 w 176352"/>
                <a:gd name="connsiteY0" fmla="*/ 95820 h 479100"/>
                <a:gd name="connsiteX1" fmla="*/ 88176 w 176352"/>
                <a:gd name="connsiteY1" fmla="*/ 95820 h 479100"/>
                <a:gd name="connsiteX2" fmla="*/ 88176 w 176352"/>
                <a:gd name="connsiteY2" fmla="*/ 0 h 479100"/>
                <a:gd name="connsiteX3" fmla="*/ 176352 w 176352"/>
                <a:gd name="connsiteY3" fmla="*/ 239550 h 479100"/>
                <a:gd name="connsiteX4" fmla="*/ 88176 w 176352"/>
                <a:gd name="connsiteY4" fmla="*/ 479100 h 479100"/>
                <a:gd name="connsiteX5" fmla="*/ 88176 w 176352"/>
                <a:gd name="connsiteY5" fmla="*/ 383280 h 479100"/>
                <a:gd name="connsiteX6" fmla="*/ 0 w 176352"/>
                <a:gd name="connsiteY6" fmla="*/ 383280 h 479100"/>
                <a:gd name="connsiteX7" fmla="*/ 0 w 176352"/>
                <a:gd name="connsiteY7" fmla="*/ 95820 h 4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6352" h="479100">
                  <a:moveTo>
                    <a:pt x="176351" y="383280"/>
                  </a:moveTo>
                  <a:lnTo>
                    <a:pt x="88176" y="383280"/>
                  </a:lnTo>
                  <a:lnTo>
                    <a:pt x="88176" y="479100"/>
                  </a:lnTo>
                  <a:lnTo>
                    <a:pt x="1" y="239550"/>
                  </a:lnTo>
                  <a:lnTo>
                    <a:pt x="88176" y="0"/>
                  </a:lnTo>
                  <a:lnTo>
                    <a:pt x="88176" y="95820"/>
                  </a:lnTo>
                  <a:lnTo>
                    <a:pt x="176351" y="95820"/>
                  </a:lnTo>
                  <a:lnTo>
                    <a:pt x="176351" y="383280"/>
                  </a:ln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2905" tIns="95820" rIns="1" bIns="9582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1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2602995" y="4472606"/>
              <a:ext cx="1409118" cy="1409118"/>
            </a:xfrm>
            <a:custGeom>
              <a:avLst/>
              <a:gdLst>
                <a:gd name="connsiteX0" fmla="*/ 0 w 1409118"/>
                <a:gd name="connsiteY0" fmla="*/ 704559 h 1409118"/>
                <a:gd name="connsiteX1" fmla="*/ 704559 w 1409118"/>
                <a:gd name="connsiteY1" fmla="*/ 0 h 1409118"/>
                <a:gd name="connsiteX2" fmla="*/ 1409118 w 1409118"/>
                <a:gd name="connsiteY2" fmla="*/ 704559 h 1409118"/>
                <a:gd name="connsiteX3" fmla="*/ 704559 w 1409118"/>
                <a:gd name="connsiteY3" fmla="*/ 1409118 h 1409118"/>
                <a:gd name="connsiteX4" fmla="*/ 0 w 1409118"/>
                <a:gd name="connsiteY4" fmla="*/ 704559 h 140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118" h="1409118">
                  <a:moveTo>
                    <a:pt x="0" y="704559"/>
                  </a:moveTo>
                  <a:cubicBezTo>
                    <a:pt x="0" y="315442"/>
                    <a:pt x="315442" y="0"/>
                    <a:pt x="704559" y="0"/>
                  </a:cubicBezTo>
                  <a:cubicBezTo>
                    <a:pt x="1093676" y="0"/>
                    <a:pt x="1409118" y="315442"/>
                    <a:pt x="1409118" y="704559"/>
                  </a:cubicBezTo>
                  <a:cubicBezTo>
                    <a:pt x="1409118" y="1093676"/>
                    <a:pt x="1093676" y="1409118"/>
                    <a:pt x="704559" y="1409118"/>
                  </a:cubicBezTo>
                  <a:cubicBezTo>
                    <a:pt x="315442" y="1409118"/>
                    <a:pt x="0" y="1093676"/>
                    <a:pt x="0" y="704559"/>
                  </a:cubicBez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8000" tIns="108000" rIns="108000" bIns="10800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b="1" kern="1200" dirty="0">
                  <a:solidFill>
                    <a:srgbClr val="00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Alberta Labour Code</a:t>
              </a:r>
            </a:p>
          </p:txBody>
        </p:sp>
        <p:sp>
          <p:nvSpPr>
            <p:cNvPr id="17" name="Freeform 16"/>
            <p:cNvSpPr/>
            <p:nvPr/>
          </p:nvSpPr>
          <p:spPr>
            <a:xfrm rot="22680000">
              <a:off x="3343523" y="3007829"/>
              <a:ext cx="194931" cy="479101"/>
            </a:xfrm>
            <a:custGeom>
              <a:avLst/>
              <a:gdLst>
                <a:gd name="connsiteX0" fmla="*/ 0 w 194930"/>
                <a:gd name="connsiteY0" fmla="*/ 95820 h 479100"/>
                <a:gd name="connsiteX1" fmla="*/ 97465 w 194930"/>
                <a:gd name="connsiteY1" fmla="*/ 95820 h 479100"/>
                <a:gd name="connsiteX2" fmla="*/ 97465 w 194930"/>
                <a:gd name="connsiteY2" fmla="*/ 0 h 479100"/>
                <a:gd name="connsiteX3" fmla="*/ 194930 w 194930"/>
                <a:gd name="connsiteY3" fmla="*/ 239550 h 479100"/>
                <a:gd name="connsiteX4" fmla="*/ 97465 w 194930"/>
                <a:gd name="connsiteY4" fmla="*/ 479100 h 479100"/>
                <a:gd name="connsiteX5" fmla="*/ 97465 w 194930"/>
                <a:gd name="connsiteY5" fmla="*/ 383280 h 479100"/>
                <a:gd name="connsiteX6" fmla="*/ 0 w 194930"/>
                <a:gd name="connsiteY6" fmla="*/ 383280 h 479100"/>
                <a:gd name="connsiteX7" fmla="*/ 0 w 194930"/>
                <a:gd name="connsiteY7" fmla="*/ 95820 h 4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930" h="479100">
                  <a:moveTo>
                    <a:pt x="194929" y="383280"/>
                  </a:moveTo>
                  <a:lnTo>
                    <a:pt x="97465" y="383280"/>
                  </a:lnTo>
                  <a:lnTo>
                    <a:pt x="97465" y="479100"/>
                  </a:lnTo>
                  <a:lnTo>
                    <a:pt x="1" y="239550"/>
                  </a:lnTo>
                  <a:lnTo>
                    <a:pt x="97465" y="0"/>
                  </a:lnTo>
                  <a:lnTo>
                    <a:pt x="97465" y="95820"/>
                  </a:lnTo>
                  <a:lnTo>
                    <a:pt x="194929" y="95820"/>
                  </a:lnTo>
                  <a:lnTo>
                    <a:pt x="194929" y="383280"/>
                  </a:ln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8479" tIns="95821" rIns="0" bIns="95819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CA" sz="160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1886210" y="2266568"/>
              <a:ext cx="1409118" cy="1409118"/>
            </a:xfrm>
            <a:custGeom>
              <a:avLst/>
              <a:gdLst>
                <a:gd name="connsiteX0" fmla="*/ 0 w 1409118"/>
                <a:gd name="connsiteY0" fmla="*/ 704559 h 1409118"/>
                <a:gd name="connsiteX1" fmla="*/ 704559 w 1409118"/>
                <a:gd name="connsiteY1" fmla="*/ 0 h 1409118"/>
                <a:gd name="connsiteX2" fmla="*/ 1409118 w 1409118"/>
                <a:gd name="connsiteY2" fmla="*/ 704559 h 1409118"/>
                <a:gd name="connsiteX3" fmla="*/ 704559 w 1409118"/>
                <a:gd name="connsiteY3" fmla="*/ 1409118 h 1409118"/>
                <a:gd name="connsiteX4" fmla="*/ 0 w 1409118"/>
                <a:gd name="connsiteY4" fmla="*/ 704559 h 1409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118" h="1409118">
                  <a:moveTo>
                    <a:pt x="0" y="704559"/>
                  </a:moveTo>
                  <a:cubicBezTo>
                    <a:pt x="0" y="315442"/>
                    <a:pt x="315442" y="0"/>
                    <a:pt x="704559" y="0"/>
                  </a:cubicBezTo>
                  <a:cubicBezTo>
                    <a:pt x="1093676" y="0"/>
                    <a:pt x="1409118" y="315442"/>
                    <a:pt x="1409118" y="704559"/>
                  </a:cubicBezTo>
                  <a:cubicBezTo>
                    <a:pt x="1409118" y="1093676"/>
                    <a:pt x="1093676" y="1409118"/>
                    <a:pt x="704559" y="1409118"/>
                  </a:cubicBezTo>
                  <a:cubicBezTo>
                    <a:pt x="315442" y="1409118"/>
                    <a:pt x="0" y="1093676"/>
                    <a:pt x="0" y="704559"/>
                  </a:cubicBezTo>
                  <a:close/>
                </a:path>
              </a:pathLst>
            </a:custGeom>
            <a:solidFill>
              <a:srgbClr val="66CCFF">
                <a:alpha val="80000"/>
              </a:srgbClr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p:spPr>
          <p:style>
            <a:lnRef idx="0">
              <a:scrgbClr r="0" g="0" b="0"/>
            </a:lnRef>
            <a:fillRef idx="3">
              <a:scrgbClr r="0" g="0" b="0"/>
            </a:fillRef>
            <a:effectRef idx="3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8000" tIns="108000" rIns="108000" bIns="10800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CA" sz="1600" b="1" kern="1200" dirty="0">
                  <a:solidFill>
                    <a:srgbClr val="FF0000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Alberta OH&amp;S Reg &amp;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310579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Criminal Code of Canada R.S.C. C-46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a codified law for most criminal offences and procedures. 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a result of the </a:t>
            </a:r>
            <a:r>
              <a:rPr lang="en-US" altLang="en-US" b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Westray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LI, the Criminal Code now states: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2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Duty of persons directing work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217.1 Every one who undertakes, or has the </a:t>
            </a:r>
            <a:r>
              <a:rPr lang="en-US" altLang="en-US" sz="18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authority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 direct how another person does work or performs a task is under a </a:t>
            </a:r>
            <a:r>
              <a:rPr lang="en-US" altLang="en-US" sz="18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 duty to take reasonable steps to prevent bodily harm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that person, or any other person, arising from that work or task. 2003, c. 21, s. 3.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8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Criminal Negligence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219 (1) </a:t>
            </a:r>
            <a:r>
              <a:rPr lang="en-US" altLang="en-US" sz="18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one is criminally negligent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who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(a) in doing anything, or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(b) in </a:t>
            </a:r>
            <a:r>
              <a:rPr lang="en-US" altLang="en-US" sz="1800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omitting to do anything that it is his duty</a:t>
            </a: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do, </a:t>
            </a:r>
            <a:b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shows wanton or reckless disregard for the lives or </a:t>
            </a:r>
            <a:b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8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of other persons.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2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4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of duty 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4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219 (2) For the purposes of this section, duty means a duty </a:t>
            </a:r>
            <a:br>
              <a:rPr lang="en-US" altLang="en-US" sz="14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4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imposed by law. R.S., c. C-34, s. 202.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OH&amp;S Under the Criminal Code of Canada: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00400"/>
            <a:ext cx="2526900" cy="278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1741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1376" y="8382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Geoscience Professions Act of Alberta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open.alberta.ca/publications/e11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6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engineering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its provincial legislation, self-governing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APEGA - regulatory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agency that ensures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compliance with 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 </a:t>
            </a: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2(1):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individual, corporation, 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partnership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other entity, except a 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 … shall engage 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practice of engineering … </a:t>
            </a:r>
            <a:endParaRPr lang="en-US" altLang="en-US" b="0" i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Geoscience Professions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</a:t>
            </a: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://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open.alberta.ca/publications/1999_150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Engineering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&amp; Geoscience Professions Act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&amp; Regulation: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pic>
        <p:nvPicPr>
          <p:cNvPr id="10" name="Picture 2" descr="Image result for government of alberta logo">
            <a:extLst>
              <a:ext uri="{FF2B5EF4-FFF2-40B4-BE49-F238E27FC236}">
                <a16:creationId xmlns:a16="http://schemas.microsoft.com/office/drawing/2014/main" id="{6286B185-BA24-48B5-9802-46AC1E26A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83110"/>
            <a:ext cx="3489960" cy="19362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003327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1376" y="8382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Geoscience Professions Act of Alberta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Geoscience Professions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Regulation</a:t>
            </a: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APEGA By-laws!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by-laws specify (describe) how the </a:t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 of the EGP Act and EGP Regulation are met: </a:t>
            </a:r>
          </a:p>
          <a:p>
            <a:pPr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of Ethics</a:t>
            </a:r>
          </a:p>
          <a:p>
            <a:pPr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Practice Management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</a:t>
            </a:r>
          </a:p>
          <a:p>
            <a:pPr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 &amp; Professional Practice Standards</a:t>
            </a: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https://www.apega.ca/about-apega/publications/engineering-and-geoscience-professions-act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endParaRPr lang="en-US" altLang="en-US" sz="1600" b="0" i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6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Act, Regulations, and APEGA by-laws do not distinguish </a:t>
            </a:r>
            <a:b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between consulting practice and practice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within an operating company; 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apply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forms of professional practice</a:t>
            </a:r>
            <a:r>
              <a:rPr lang="en-US" alt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OH&amp;S per the Engineering &amp; Geoscience Professions Act AB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29368-29DE-4E15-92F7-C614EA74FD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5207" y="3276600"/>
            <a:ext cx="1419781" cy="1242309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288000" y="1288500"/>
            <a:ext cx="1800000" cy="9000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/>
          <p:cNvSpPr/>
          <p:nvPr/>
        </p:nvSpPr>
        <p:spPr>
          <a:xfrm>
            <a:off x="288000" y="2517648"/>
            <a:ext cx="1800000" cy="900000"/>
          </a:xfrm>
          <a:prstGeom prst="down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138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61376" y="8382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APEGA Code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Ethics (Rules of Conduct):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https://www.apega.ca/members/legal-obligations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www.apega.ca/docs/default-source/pdfs/standards-guidelines/ethical-practice.pdf?sfvrsn=78261e0b_8</a:t>
            </a: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6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6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+mj-lt"/>
              <a:buAutoNum type="arabicParenR"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engineers and geoscientists shall, in their areas of practice, hold paramount the health, safety and welfare of the public and have regard for the environment.</a:t>
            </a:r>
          </a:p>
          <a:p>
            <a:pPr marL="342900" indent="-34290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+mj-lt"/>
              <a:buAutoNum type="arabicParenR"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engineers and geoscientists shall undertake only work that they are competent to perform by virtue of their training and experience.</a:t>
            </a:r>
          </a:p>
          <a:p>
            <a:pPr marL="342900" indent="-34290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+mj-lt"/>
              <a:buAutoNum type="arabicParenR"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engineers and geoscientists shall conduct themselves with integrity, honesty, fairness and objectivity in their professional activities.</a:t>
            </a:r>
          </a:p>
          <a:p>
            <a:pPr marL="342900" indent="-34290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+mj-lt"/>
              <a:buAutoNum type="arabicParenR"/>
              <a:defRPr/>
            </a:pP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engineers and geoscientists shall comply with applicable statutes, </a:t>
            </a:r>
            <a:r>
              <a:rPr lang="en-US" altLang="en-US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regulations, </a:t>
            </a: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bylaws in their professional practices.</a:t>
            </a:r>
          </a:p>
          <a:p>
            <a:pPr marL="342900" indent="-34290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+mj-lt"/>
              <a:buAutoNum type="arabicParenR"/>
              <a:defRPr/>
            </a:pP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Professional engineers and geoscientists shall uphold and enhance the </a:t>
            </a:r>
            <a:r>
              <a:rPr lang="en-US" altLang="en-US" sz="1600" b="0" i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honour</a:t>
            </a: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dignity and reputation of their professions and thus the ability of the professions to serve the public interest.</a:t>
            </a: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600" b="0" i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 be several pieces of legislation, codes, and regulations that apply to your work. </a:t>
            </a:r>
            <a:endParaRPr lang="en-US" altLang="en-US" sz="1600" b="0" i="1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85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600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en-US" altLang="en-US" sz="1600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your obligation to remain up to date on this information.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OH&amp;S per the Engineering &amp; Geoscience Professions Act AB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29368-29DE-4E15-92F7-C614EA74F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853800"/>
            <a:ext cx="1419781" cy="124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6406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Professional Engineer and The AB OH&amp;S Code: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 has 41 parts &amp; 543 pages</a:t>
            </a: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200+ references to “engineer” (latest amendments effective June 1, 2018) covering (not comprehensive):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Cranes, hoists, lifting devices, rigging, ladders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Electrical (hazardous area) classification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Fall protection equipment, scaffolding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Compressed &amp; liquefied gas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Restraining hoses &amp; piping 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Isolating piping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Powered mobile equipment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Elevators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Ventilation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Mining, Oil &amp; Gas Wells</a:t>
            </a:r>
          </a:p>
          <a:p>
            <a:pPr marL="990600" lvl="1" indent="-53340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 stability, excavations, </a:t>
            </a:r>
            <a:b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underground shafts, tunnels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Engineering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Under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Alberta OH&amp;S Code: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35066"/>
            <a:ext cx="2412600" cy="35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5701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 responsibilities for </a:t>
            </a:r>
            <a:r>
              <a:rPr lang="en-US" altLang="en-US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professional engineers: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0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 3 Specifications and Certifications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0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 Following specifications: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employer must ensure that …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(d) equipment and supplies are erected, installed, assembled, started, operated, handled, stored, serviced, tested, adjusted, calibrated, maintained, repaired and dismantled in accordance with the manufacturer’s specifications or the </a:t>
            </a:r>
            <a:r>
              <a:rPr lang="en-US" altLang="en-US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specifications certified by a professional engineer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sz="1200" b="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13(1) Manufacturer’s and professional engineer’s specifications: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this Code requires anything to be done in accordance with a manufacturer’s specifications, an employer may, instead of complying strictly with the manufacturer’s specifications, comply with </a:t>
            </a:r>
            <a:r>
              <a:rPr lang="en-US" altLang="en-US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 specifications certified by a professional engineer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Engineering Under </a:t>
            </a: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Alberta OH&amp;S Code, Part 3: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88886590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Province Investigates and Prosecutes under Part 12: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News,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3-Aug-2017; 21-year-old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 in apparent workplace injury in Drayton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Valley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spokesperson with Alberta Occupational Health and Safety (OHS) confirmed it was investigating the death. According to OHS, the man was injured </a:t>
            </a:r>
            <a:r>
              <a:rPr lang="en-US" altLang="en-US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operating a “ride-on lawnmower”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before he was airlifted to the University of Alberta Hospital in Edmonton where he was pronounced dead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2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</a:t>
            </a:r>
            <a:r>
              <a:rPr lang="en-US" alt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://globalnews.ca/news/3647630/21-year-old-dead-in-apparent-workplace-injury-in-drayton-valley-source</a:t>
            </a:r>
            <a:r>
              <a:rPr lang="en-US" altLang="en-US" sz="12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endParaRPr lang="en-US" altLang="en-US" sz="1200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News, 23-Dec-2019; Town of Drayton Valley fined $325K in 2017 workplace death;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town proceeded to plead guilty to one charge of </a:t>
            </a:r>
            <a:r>
              <a:rPr lang="en-US" altLang="en-US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failing to ensure the equipment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 John Deere riding lawn mower, </a:t>
            </a:r>
            <a:r>
              <a:rPr lang="en-US" altLang="en-US" b="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operated in accordance with the manufacturer’s </a:t>
            </a:r>
            <a:r>
              <a:rPr lang="en-US" altLang="en-US" b="0" i="1" u="sng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specifications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(or with </a:t>
            </a:r>
            <a:r>
              <a:rPr lang="en-US" altLang="en-US" b="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specifications of a professional </a:t>
            </a:r>
            <a:r>
              <a:rPr lang="en-US" altLang="en-US" b="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engineer), …</a:t>
            </a:r>
            <a:r>
              <a:rPr lang="en-US" altLang="en-US" b="0" i="1" u="sng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</a:p>
          <a:p>
            <a:pPr marL="0" lvl="0" indent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12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ttps</a:t>
            </a:r>
            <a:r>
              <a:rPr lang="en-US" altLang="en-US" sz="1200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://globalnews.ca/news/6330995/drayton-valley-fined-2017-lawnmower-workplace-fatality</a:t>
            </a:r>
            <a:r>
              <a:rPr lang="en-US" altLang="en-US" sz="12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</a:t>
            </a:r>
            <a:r>
              <a:rPr lang="en-US" altLang="en-US" sz="1200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1200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hangingPunct="0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AB OH&amp;S </a:t>
            </a:r>
            <a:r>
              <a:rPr lang="en-US" altLang="en-US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Code Part 3 </a:t>
            </a:r>
            <a:r>
              <a:rPr lang="en-US" altLang="en-US" b="0" dirty="0" err="1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Spec’ns</a:t>
            </a:r>
            <a:r>
              <a:rPr lang="en-US" altLang="en-US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&amp; </a:t>
            </a:r>
            <a:r>
              <a:rPr lang="en-US" altLang="en-US" b="0" dirty="0" err="1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Cert’ns</a:t>
            </a:r>
            <a:r>
              <a:rPr lang="en-US" altLang="en-US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Part 12 </a:t>
            </a:r>
            <a:r>
              <a:rPr lang="en-US" altLang="en-US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Following </a:t>
            </a:r>
            <a:r>
              <a:rPr lang="en-US" altLang="en-US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Specifications:</a:t>
            </a:r>
            <a:endParaRPr lang="en-US" altLang="en-US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167317582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#1: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Engineering Under Alberta OH&amp;S Code: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</p:spPr>
        <p:txBody>
          <a:bodyPr wrap="square">
            <a:noAutofit/>
          </a:bodyPr>
          <a:lstStyle/>
          <a:p>
            <a:pPr lvl="0" eaLnBrk="0" hangingPunct="0">
              <a:lnSpc>
                <a:spcPct val="90000"/>
              </a:lnSpc>
              <a:spcBef>
                <a:spcPts val="0"/>
              </a:spcBef>
              <a:defRPr/>
            </a:pP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Please </a:t>
            </a: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confer to complete the sentence, and respond </a:t>
            </a:r>
            <a:r>
              <a:rPr lang="en-CA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(MM Poll)!</a:t>
            </a:r>
          </a:p>
          <a:p>
            <a:pPr marL="342900" lvl="0" indent="-342900" eaLnBrk="0" hangingPunc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lvl="0" indent="-342900" eaLnBrk="0" hangingPunc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Global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News, 23-Dec-2019; Town of Drayton Valley fined $325K in 2017 workplace death; “The town proceeded to plead guilty to one charge of failing to ensure the equipment, a John Deere riding lawn mower, was operated in accordance with the manufacturer’s specifications (or with the specifications of a professional engineer), which state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______</a:t>
            </a:r>
            <a:b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_______________________________________________________.” 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32400" y="3276600"/>
            <a:ext cx="84306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 3 Specifications and Certifications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12 Following specifications: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 employer must ensure that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(a) … </a:t>
            </a:r>
            <a:b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(b) … </a:t>
            </a:r>
            <a:b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(c) … </a:t>
            </a:r>
            <a:b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(d) equipment and supplies are erected, installed, assembled, started, operated, handled, stored, serviced, tested, adjusted, calibrated, maintained, repaired and dismantled in accordance with the </a:t>
            </a:r>
            <a:r>
              <a:rPr kumimoji="0" lang="en-US" alt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manufacturer’s specifications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or the </a:t>
            </a:r>
            <a:r>
              <a:rPr kumimoji="0" lang="en-US" alt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specifications certified by a professional engineer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355494207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5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Example: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Engineering Under Alberta OH&amp;S Code:</a:t>
            </a:r>
          </a:p>
        </p:txBody>
      </p:sp>
      <p:sp>
        <p:nvSpPr>
          <p:cNvPr id="2" name="Rectangle 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 lvl="0" eaLnBrk="0" hangingPunct="0">
              <a:lnSpc>
                <a:spcPct val="90000"/>
              </a:lnSpc>
              <a:spcBef>
                <a:spcPts val="0"/>
              </a:spcBef>
              <a:defRPr/>
            </a:pP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incident is not trivial, neither for the family of the deceased person nor the application and enforcement of the AB OH&amp;S Code. </a:t>
            </a:r>
            <a:endParaRPr lang="en-CA" altLang="en-US" sz="2000" b="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lvl="0" indent="-342900" eaLnBrk="0" hangingPunct="0">
              <a:lnSpc>
                <a:spcPct val="9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Global News, 23-Dec-2019; Town of Drayton Valley fined $325K in 2017 workplace death; “The town proceeded to plead guilty to one charge of failing to ensure the equipment, a John Deere riding lawn mower, was operated in accordance with the manufacturer’s specifications (or with the specifications of a professional engineer), which </a:t>
            </a:r>
            <a:r>
              <a:rPr lang="en-US" altLang="en-US" sz="2000" b="0" i="1" u="sng" dirty="0">
                <a:solidFill>
                  <a:srgbClr val="FFFFFF"/>
                </a:solidFill>
                <a:latin typeface="Arial" panose="020B0604020202020204" pitchFamily="34" charset="0"/>
              </a:rPr>
              <a:t>state the equipment not be used near ditches, drop-offs, embankments or bodies of water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.” </a:t>
            </a:r>
          </a:p>
        </p:txBody>
      </p:sp>
      <p:sp>
        <p:nvSpPr>
          <p:cNvPr id="8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32400" y="3276600"/>
            <a:ext cx="843060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 3 Specifications and Certifications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12 Following specifications: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 employer must ensure that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(a) … </a:t>
            </a:r>
            <a:b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(b) … </a:t>
            </a:r>
            <a:b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(c) … </a:t>
            </a:r>
            <a:b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(d) equipment and supplies are erected, installed, assembled, started, operated, handled, stored, serviced, tested, adjusted, calibrated, maintained, repaired and dismantled in accordance with the </a:t>
            </a:r>
            <a:r>
              <a:rPr kumimoji="0" lang="en-US" alt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manufacturer’s specifications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or the </a:t>
            </a:r>
            <a:r>
              <a:rPr kumimoji="0" lang="en-US" altLang="en-US" sz="18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specifications certified by a professional engineer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95661343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99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Typical cultural issues, as found by OH&amp;S Investigations that are behind workplace injuries. Please confer and match the workplace attitudes (cultural issues) to the </a:t>
            </a:r>
            <a:r>
              <a:rPr lang="en-CA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RMEs (open discussion):</a:t>
            </a:r>
            <a:endParaRPr lang="en-CA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Inadequate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training/competency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(a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common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theme for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incidents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during an economic boom).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Failure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to stop and re-assess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when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the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scope </a:t>
            </a:r>
            <a:b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of work changes or the conditions on the job </a:t>
            </a:r>
            <a:b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change.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“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I was only going to be up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there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for a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minute.”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Failure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to learn lessons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after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“near misses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”.</a:t>
            </a:r>
            <a:endParaRPr lang="en-US" altLang="en-US" sz="2000" b="0" i="1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Failure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to recognize and act on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signals </a:t>
            </a:r>
            <a:r>
              <a:rPr lang="en-US" altLang="en-US" sz="2000" b="0" i="1" dirty="0">
                <a:solidFill>
                  <a:srgbClr val="FFFFFF"/>
                </a:solidFill>
                <a:latin typeface="Arial" panose="020B0604020202020204" pitchFamily="34" charset="0"/>
              </a:rPr>
              <a:t>before </a:t>
            </a: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</a:br>
            <a:r>
              <a:rPr lang="en-US" altLang="en-US" sz="2000" b="0" i="1" dirty="0" smtClean="0">
                <a:solidFill>
                  <a:srgbClr val="FFFFFF"/>
                </a:solidFill>
                <a:latin typeface="Arial" panose="020B0604020202020204" pitchFamily="34" charset="0"/>
              </a:rPr>
              <a:t>the incident happens.</a:t>
            </a:r>
            <a:endParaRPr lang="en-US" altLang="en-US" sz="2000" b="0" i="1" dirty="0" smtClean="0">
              <a:solidFill>
                <a:srgbClr val="FFFFFF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80000" y="182880"/>
            <a:ext cx="8639999" cy="548640"/>
          </a:xfrm>
          <a:prstGeom prst="rect">
            <a:avLst/>
          </a:prstGeom>
          <a:solidFill>
            <a:srgbClr val="0000CC"/>
          </a:solidFill>
          <a:ln>
            <a:solidFill>
              <a:srgbClr val="0000CC"/>
            </a:solidFill>
          </a:ln>
          <a:extLst/>
        </p:spPr>
        <p:txBody>
          <a:bodyPr wrap="square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ALE #2: </a:t>
            </a:r>
            <a:r>
              <a:rPr lang="en-US" altLang="en-US" sz="2400" b="0" dirty="0" smtClean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Cultural Issues and the RM </a:t>
            </a:r>
            <a:r>
              <a:rPr lang="en-US" altLang="en-US" sz="2400" b="0" dirty="0">
                <a:solidFill>
                  <a:srgbClr val="F8F8F8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Elements: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172200" y="1676400"/>
            <a:ext cx="2561617" cy="4396248"/>
          </a:xfrm>
          <a:prstGeom prst="rect">
            <a:avLst/>
          </a:prstGeom>
          <a:solidFill>
            <a:srgbClr val="FFFFFF"/>
          </a:solidFill>
          <a:ln w="76200" algn="ctr">
            <a:solidFill>
              <a:srgbClr val="3366CC"/>
            </a:solidFill>
            <a:miter lim="800000"/>
            <a:headEnd/>
            <a:tailEnd/>
          </a:ln>
          <a:effectLst/>
          <a:extLst/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en-US" sz="1800" b="1" dirty="0" smtClean="0">
                <a:solidFill>
                  <a:schemeClr val="tx2"/>
                </a:solidFill>
                <a:latin typeface="Arial" panose="020B0604020202020204" pitchFamily="34" charset="0"/>
              </a:rPr>
              <a:t>RM Elements</a:t>
            </a:r>
            <a:endParaRPr lang="en-US" altLang="en-US" sz="1800" b="1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MLC&amp;A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RA&amp;MR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CA&amp;EP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MOC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IRIA&amp;A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PE&amp;CI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DC&amp;SU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O&amp;M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EC&amp;T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CC&amp;I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Clr>
                <a:srgbClr val="000000"/>
              </a:buClr>
              <a:buFont typeface="Times New Roman" panose="02020603050405020304" pitchFamily="18" charset="0"/>
              <a:buAutoNum type="arabicParenR"/>
            </a:pPr>
            <a:r>
              <a:rPr lang="en-US" altLang="en-US" sz="1800" dirty="0" smtClean="0">
                <a:solidFill>
                  <a:schemeClr val="tx2"/>
                </a:solidFill>
                <a:latin typeface="Arial" panose="020B0604020202020204" pitchFamily="34" charset="0"/>
              </a:rPr>
              <a:t>O&amp;F I&amp;D</a:t>
            </a:r>
            <a:endParaRPr lang="en-US" altLang="en-US" sz="1800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OH&amp;S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3983996825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90600" indent="-5334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752600" indent="-3810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09800" indent="-3810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670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242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814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38600" indent="-3810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lvl="0" indent="0" eaLnBrk="0" hangingPunct="0">
              <a:spcBef>
                <a:spcPct val="0"/>
              </a:spcBef>
              <a:buClrTx/>
              <a:buSzPct val="100000"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Typical </a:t>
            </a:r>
            <a:r>
              <a:rPr lang="en-US" altLang="en-US" sz="1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workplace attitudes (cultural issues) and relevance to RMEs: </a:t>
            </a:r>
          </a:p>
          <a:p>
            <a:pPr marL="0" lvl="0" indent="0" eaLnBrk="0" hangingPunct="0">
              <a:spcBef>
                <a:spcPct val="0"/>
              </a:spcBef>
              <a:buClrTx/>
              <a:buSzPct val="100000"/>
              <a:buNone/>
            </a:pPr>
            <a:endParaRPr lang="en-US" altLang="en-US" sz="1800" b="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Inadequate training/competency</a:t>
            </a: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9) Employee Competency and Training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 to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stop and re-assess when the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/ conditions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changes</a:t>
            </a: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4) Management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“I was only going to be up there for a minute”</a:t>
            </a: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Management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Leadership, Commitment, and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Accountability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Risk Assessment and Management of Risk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 to learn lessons after “near misses”</a:t>
            </a: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5) Incident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Reporting, Investigation, Analysis and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lvl="0" indent="-360000" eaLnBrk="0" fontAlgn="base" hangingPunct="0">
              <a:spcBef>
                <a:spcPct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Failure to recognize and act on signals before the incident happens</a:t>
            </a: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Management Leadership, Commitment, and Accountability</a:t>
            </a:r>
          </a:p>
          <a:p>
            <a:pPr marL="720000" lvl="1" indent="-360000" eaLnBrk="0" fontAlgn="base" hangingPunct="0">
              <a:spcBef>
                <a:spcPct val="0"/>
              </a:spcBef>
              <a:spcAft>
                <a:spcPct val="0"/>
              </a:spcAft>
              <a:buSzPct val="100000"/>
              <a:buNone/>
            </a:pP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Risk </a:t>
            </a:r>
            <a:r>
              <a:rPr lang="en-US" altLang="en-US" sz="180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and Management of </a:t>
            </a:r>
            <a:r>
              <a:rPr lang="en-US" altLang="en-US" sz="1800" b="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0001" y="182880"/>
            <a:ext cx="8640000" cy="548640"/>
          </a:xfrm>
          <a:prstGeom prst="rect">
            <a:avLst/>
          </a:prstGeom>
          <a:solidFill>
            <a:srgbClr val="000000"/>
          </a:solidFill>
          <a:ln>
            <a:solidFill>
              <a:schemeClr val="tx1"/>
            </a:solidFill>
          </a:ln>
          <a:extLst/>
        </p:spPr>
        <p:txBody>
          <a:bodyPr anchor="ctr"/>
          <a:lstStyle/>
          <a:p>
            <a:pPr>
              <a:buFont typeface="Arial" panose="020B0604020202020204" pitchFamily="34" charset="0"/>
              <a:buNone/>
            </a:pPr>
            <a:r>
              <a:rPr lang="en-US" altLang="en-US" sz="2400" b="0" dirty="0" smtClean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Example: Workplace Attitudes and RM Elements:</a:t>
            </a:r>
            <a:endParaRPr lang="en-US" altLang="en-US" sz="2400" b="0" dirty="0">
              <a:solidFill>
                <a:schemeClr val="bg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6.5: OH&amp;S </a:t>
            </a:r>
            <a:r>
              <a:rPr lang="en-US" sz="1200" i="1" kern="0" dirty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Regulatory Framework in Canada</a:t>
            </a:r>
          </a:p>
        </p:txBody>
      </p:sp>
    </p:spTree>
    <p:extLst>
      <p:ext uri="{BB962C8B-B14F-4D97-AF65-F5344CB8AC3E}">
        <p14:creationId xmlns:p14="http://schemas.microsoft.com/office/powerpoint/2010/main" val="3668202384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Westray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tragedy led to changes in the Canadian Criminal Code to include OH&amp;S related offences.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Engineers are responsible for adhering to OH&amp;S requirements from a number of professional and governmental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bodies: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EGP Act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EGP Regulation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APEGA By-laws</a:t>
            </a:r>
          </a:p>
          <a:p>
            <a:pPr marL="72000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OH&amp;S Code: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Specific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example of the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responsibility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that universally applies to any </a:t>
            </a: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professional </a:t>
            </a:r>
            <a:r>
              <a:rPr lang="en-US" altLang="en-US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pertains to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AB OH&amp;S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Code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Part 3 Specifications and Certifications,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Section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12 Following Specifications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Engineers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their employers can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held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liable for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incidents if they do not adhere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 </a:t>
            </a:r>
            <a:b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requirements; penalties can be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severe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FFFFFF">
              <a:alpha val="6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</a:t>
            </a: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6.5: </a:t>
            </a: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OH&amp;S Regulatory Framework in Canada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690205-2915-4326-B7E8-791C1FF103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4"/>
              </a:ext>
            </a:extLst>
          </a:blip>
          <a:stretch>
            <a:fillRect/>
          </a:stretch>
        </p:blipFill>
        <p:spPr>
          <a:xfrm>
            <a:off x="6123895" y="2133600"/>
            <a:ext cx="2702201" cy="2987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46729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70679</TotalTime>
  <Words>2525</Words>
  <Application>Microsoft Office PowerPoint</Application>
  <PresentationFormat>On-screen Show (4:3)</PresentationFormat>
  <Paragraphs>366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1966</cp:revision>
  <cp:lastPrinted>2018-12-17T22:21:47Z</cp:lastPrinted>
  <dcterms:created xsi:type="dcterms:W3CDTF">2007-03-28T16:18:47Z</dcterms:created>
  <dcterms:modified xsi:type="dcterms:W3CDTF">2022-05-31T18:10:25Z</dcterms:modified>
</cp:coreProperties>
</file>