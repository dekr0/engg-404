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 id="2147484155" r:id="rId3"/>
  </p:sldMasterIdLst>
  <p:notesMasterIdLst>
    <p:notesMasterId r:id="rId42"/>
  </p:notesMasterIdLst>
  <p:handoutMasterIdLst>
    <p:handoutMasterId r:id="rId43"/>
  </p:handoutMasterIdLst>
  <p:sldIdLst>
    <p:sldId id="895" r:id="rId4"/>
    <p:sldId id="917" r:id="rId5"/>
    <p:sldId id="919" r:id="rId6"/>
    <p:sldId id="976" r:id="rId7"/>
    <p:sldId id="975" r:id="rId8"/>
    <p:sldId id="939" r:id="rId9"/>
    <p:sldId id="921" r:id="rId10"/>
    <p:sldId id="948" r:id="rId11"/>
    <p:sldId id="942" r:id="rId12"/>
    <p:sldId id="967" r:id="rId13"/>
    <p:sldId id="968" r:id="rId14"/>
    <p:sldId id="949" r:id="rId15"/>
    <p:sldId id="944" r:id="rId16"/>
    <p:sldId id="943" r:id="rId17"/>
    <p:sldId id="945" r:id="rId18"/>
    <p:sldId id="946" r:id="rId19"/>
    <p:sldId id="925" r:id="rId20"/>
    <p:sldId id="977" r:id="rId21"/>
    <p:sldId id="926" r:id="rId22"/>
    <p:sldId id="927" r:id="rId23"/>
    <p:sldId id="929" r:id="rId24"/>
    <p:sldId id="972" r:id="rId25"/>
    <p:sldId id="935" r:id="rId26"/>
    <p:sldId id="947" r:id="rId27"/>
    <p:sldId id="930" r:id="rId28"/>
    <p:sldId id="934" r:id="rId29"/>
    <p:sldId id="953" r:id="rId30"/>
    <p:sldId id="951" r:id="rId31"/>
    <p:sldId id="937" r:id="rId32"/>
    <p:sldId id="955" r:id="rId33"/>
    <p:sldId id="957" r:id="rId34"/>
    <p:sldId id="958" r:id="rId35"/>
    <p:sldId id="959" r:id="rId36"/>
    <p:sldId id="969" r:id="rId37"/>
    <p:sldId id="961" r:id="rId38"/>
    <p:sldId id="974" r:id="rId39"/>
    <p:sldId id="956" r:id="rId40"/>
    <p:sldId id="973" r:id="rId41"/>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895"/>
            <p14:sldId id="917"/>
            <p14:sldId id="919"/>
            <p14:sldId id="976"/>
            <p14:sldId id="975"/>
            <p14:sldId id="939"/>
            <p14:sldId id="921"/>
            <p14:sldId id="948"/>
            <p14:sldId id="942"/>
            <p14:sldId id="967"/>
            <p14:sldId id="968"/>
            <p14:sldId id="949"/>
            <p14:sldId id="944"/>
            <p14:sldId id="943"/>
            <p14:sldId id="945"/>
            <p14:sldId id="946"/>
            <p14:sldId id="925"/>
            <p14:sldId id="977"/>
            <p14:sldId id="926"/>
            <p14:sldId id="927"/>
            <p14:sldId id="929"/>
            <p14:sldId id="972"/>
            <p14:sldId id="935"/>
            <p14:sldId id="947"/>
            <p14:sldId id="930"/>
            <p14:sldId id="934"/>
            <p14:sldId id="953"/>
            <p14:sldId id="951"/>
            <p14:sldId id="937"/>
            <p14:sldId id="955"/>
            <p14:sldId id="957"/>
            <p14:sldId id="958"/>
            <p14:sldId id="959"/>
            <p14:sldId id="969"/>
            <p14:sldId id="961"/>
            <p14:sldId id="974"/>
            <p14:sldId id="956"/>
            <p14:sldId id="973"/>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CC"/>
    <a:srgbClr val="00FF00"/>
    <a:srgbClr val="0000FF"/>
    <a:srgbClr val="000000"/>
    <a:srgbClr val="3333FF"/>
    <a:srgbClr val="0000CC"/>
    <a:srgbClr val="F8F8F8"/>
    <a:srgbClr val="F5D7F1"/>
    <a:srgbClr val="5F5F5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8" autoAdjust="0"/>
    <p:restoredTop sz="76607" autoAdjust="0"/>
  </p:normalViewPr>
  <p:slideViewPr>
    <p:cSldViewPr>
      <p:cViewPr varScale="1">
        <p:scale>
          <a:sx n="53" d="100"/>
          <a:sy n="53" d="100"/>
        </p:scale>
        <p:origin x="1684" y="52"/>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commentAuthors" Target="commentAuthor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10/18/2021</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10/18/2021</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180076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52083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Who can tell me in their own words what culture means to you?</a:t>
            </a:r>
          </a:p>
          <a:p>
            <a:pPr eaLnBrk="1" hangingPunct="1"/>
            <a:r>
              <a:rPr lang="en-US" altLang="en-US" dirty="0" smtClean="0">
                <a:latin typeface="Arial" panose="020B0604020202020204" pitchFamily="34" charset="0"/>
                <a:cs typeface="Arial" panose="020B0604020202020204" pitchFamily="34" charset="0"/>
              </a:rPr>
              <a:t>The manner in which we act around others is a manifestation of our values, beliefs, opinions, attitudes, training, education, etc. It</a:t>
            </a:r>
            <a:r>
              <a:rPr lang="en-US" altLang="en-US" baseline="0" dirty="0" smtClean="0">
                <a:latin typeface="Arial" panose="020B0604020202020204" pitchFamily="34" charset="0"/>
                <a:cs typeface="Arial" panose="020B0604020202020204" pitchFamily="34" charset="0"/>
              </a:rPr>
              <a:t> also includes our </a:t>
            </a:r>
            <a:r>
              <a:rPr lang="en-US" altLang="en-US" dirty="0" smtClean="0">
                <a:latin typeface="Arial" panose="020B0604020202020204" pitchFamily="34" charset="0"/>
                <a:cs typeface="Arial" panose="020B0604020202020204" pitchFamily="34" charset="0"/>
              </a:rPr>
              <a:t>exposure to others and their cultures</a:t>
            </a:r>
            <a:r>
              <a:rPr lang="en-US" altLang="en-US" baseline="0" dirty="0" smtClean="0">
                <a:latin typeface="Arial" panose="020B0604020202020204" pitchFamily="34" charset="0"/>
                <a:cs typeface="Arial" panose="020B0604020202020204" pitchFamily="34" charset="0"/>
              </a:rPr>
              <a:t> – ethnic as well as workplaces, teams, volunteer organizations, religious organizations, and so on. </a:t>
            </a:r>
            <a:endParaRPr lang="en-US" altLang="en-US" dirty="0" smtClean="0">
              <a:latin typeface="Arial" panose="020B0604020202020204" pitchFamily="34" charset="0"/>
              <a:cs typeface="Arial" panose="020B0604020202020204" pitchFamily="34" charset="0"/>
            </a:endParaRP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11610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2015-2016</a:t>
            </a: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The path to </a:t>
            </a:r>
            <a:r>
              <a:rPr kumimoji="0" lang="en-CA" sz="1000" b="0" i="0" u="sng" strike="noStrike" kern="1200" cap="none" spc="0" normalizeH="0" baseline="0" noProof="0" dirty="0" smtClean="0">
                <a:ln>
                  <a:noFill/>
                </a:ln>
                <a:solidFill>
                  <a:srgbClr val="000000"/>
                </a:solidFill>
                <a:effectLst/>
                <a:uLnTx/>
                <a:uFillTx/>
                <a:latin typeface="Arial"/>
                <a:ea typeface="Arial"/>
                <a:cs typeface="Arial"/>
                <a:sym typeface="Times New Roman"/>
              </a:rPr>
              <a:t>unwanted outcomes</a:t>
            </a: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 for an organization is </a:t>
            </a:r>
            <a:r>
              <a:rPr kumimoji="0" lang="en-CA" sz="1000" b="0" i="0" u="sng" strike="noStrike" kern="1200" cap="none" spc="0" normalizeH="0" baseline="0" noProof="0" dirty="0" smtClean="0">
                <a:ln>
                  <a:noFill/>
                </a:ln>
                <a:solidFill>
                  <a:srgbClr val="000000"/>
                </a:solidFill>
                <a:effectLst/>
                <a:uLnTx/>
                <a:uFillTx/>
                <a:latin typeface="Arial"/>
                <a:ea typeface="Arial"/>
                <a:cs typeface="Arial"/>
                <a:sym typeface="Times New Roman"/>
              </a:rPr>
              <a:t>due to weaknesses</a:t>
            </a: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 in the defenses provided by the culture, management system, and supporting management processes and management programs.  </a:t>
            </a:r>
          </a:p>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The residual level of risk is determined by the weakness in these defence layers.  </a:t>
            </a:r>
          </a:p>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An unacceptable level of residual risk leads to undesired outcomes. </a:t>
            </a:r>
          </a:p>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Thus,</a:t>
            </a:r>
            <a:r>
              <a:rPr kumimoji="0" lang="en-CA" sz="1000" b="0" i="0" u="none" strike="noStrike" kern="1200" cap="none" spc="0" normalizeH="0" noProof="0" dirty="0" smtClean="0">
                <a:ln>
                  <a:noFill/>
                </a:ln>
                <a:solidFill>
                  <a:srgbClr val="000000"/>
                </a:solidFill>
                <a:effectLst/>
                <a:uLnTx/>
                <a:uFillTx/>
                <a:latin typeface="Arial"/>
                <a:ea typeface="Arial"/>
                <a:cs typeface="Arial"/>
                <a:sym typeface="Times New Roman"/>
              </a:rPr>
              <a:t> not only must leaders work on the management systems, processes, and programs, leaders must also build and promote a positive safety culture!</a:t>
            </a: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 </a:t>
            </a:r>
          </a:p>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396173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t>2015-2016</a:t>
            </a: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000000-1234-1234-1234-123412341234}" type="slidenum">
              <a:rPr kumimoji="0" lang="en-US"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sz="1200" b="0" i="0" u="none" strike="noStrike" kern="1200" cap="none" spc="0" normalizeH="0" baseline="0" noProof="0">
              <a:ln>
                <a:noFill/>
              </a:ln>
              <a:solidFill>
                <a:prstClr val="black"/>
              </a:solidFill>
              <a:effectLst/>
              <a:uLnTx/>
              <a:uFillTx/>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The path to </a:t>
            </a:r>
            <a:r>
              <a:rPr kumimoji="0" lang="en-CA" sz="1000" b="0" i="0" u="sng" strike="noStrike" kern="1200" cap="none" spc="0" normalizeH="0" baseline="0" noProof="0" dirty="0" smtClean="0">
                <a:ln>
                  <a:noFill/>
                </a:ln>
                <a:solidFill>
                  <a:srgbClr val="000000"/>
                </a:solidFill>
                <a:effectLst/>
                <a:uLnTx/>
                <a:uFillTx/>
                <a:latin typeface="Arial"/>
                <a:ea typeface="Arial"/>
                <a:cs typeface="Arial"/>
                <a:sym typeface="Times New Roman"/>
              </a:rPr>
              <a:t>unwanted outcomes</a:t>
            </a: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 for an organization is </a:t>
            </a:r>
            <a:r>
              <a:rPr kumimoji="0" lang="en-CA" sz="1000" b="0" i="0" u="sng" strike="noStrike" kern="1200" cap="none" spc="0" normalizeH="0" baseline="0" noProof="0" dirty="0" smtClean="0">
                <a:ln>
                  <a:noFill/>
                </a:ln>
                <a:solidFill>
                  <a:srgbClr val="000000"/>
                </a:solidFill>
                <a:effectLst/>
                <a:uLnTx/>
                <a:uFillTx/>
                <a:latin typeface="Arial"/>
                <a:ea typeface="Arial"/>
                <a:cs typeface="Arial"/>
                <a:sym typeface="Times New Roman"/>
              </a:rPr>
              <a:t>due to weaknesses</a:t>
            </a: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 in the defenses provided by the culture, management system, and supporting management processes and management programs.  </a:t>
            </a:r>
          </a:p>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The residual level of risk is determined by the weakness in these defence layers.  </a:t>
            </a:r>
          </a:p>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An unacceptable level of residual risk leads to undesired outcomes. </a:t>
            </a:r>
          </a:p>
          <a:p>
            <a:pPr marL="285750" marR="0" lvl="0" indent="-285750" algn="l" defTabSz="457200" rtl="0" eaLnBrk="1" fontAlgn="auto" latinLnBrk="0" hangingPunct="1">
              <a:lnSpc>
                <a:spcPct val="100000"/>
              </a:lnSpc>
              <a:spcBef>
                <a:spcPts val="0"/>
              </a:spcBef>
              <a:spcAft>
                <a:spcPts val="0"/>
              </a:spcAft>
              <a:buClr>
                <a:srgbClr val="000000"/>
              </a:buClr>
              <a:buSzPts val="2000"/>
              <a:buFont typeface="Wingdings" panose="05000000000000000000" pitchFamily="2" charset="2"/>
              <a:buChar char="Ø"/>
              <a:tabLst/>
              <a:defRPr/>
            </a:pP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Thus,</a:t>
            </a:r>
            <a:r>
              <a:rPr kumimoji="0" lang="en-CA" sz="1000" b="0" i="0" u="none" strike="noStrike" kern="1200" cap="none" spc="0" normalizeH="0" noProof="0" dirty="0" smtClean="0">
                <a:ln>
                  <a:noFill/>
                </a:ln>
                <a:solidFill>
                  <a:srgbClr val="000000"/>
                </a:solidFill>
                <a:effectLst/>
                <a:uLnTx/>
                <a:uFillTx/>
                <a:latin typeface="Arial"/>
                <a:ea typeface="Arial"/>
                <a:cs typeface="Arial"/>
                <a:sym typeface="Times New Roman"/>
              </a:rPr>
              <a:t> not only must leaders work on the management systems, processes, and programs, leaders must also build and promote a positive safety culture!</a:t>
            </a:r>
            <a:r>
              <a:rPr kumimoji="0" lang="en-CA" sz="1000" b="0" i="0" u="none" strike="noStrike" kern="1200" cap="none" spc="0" normalizeH="0" baseline="0" noProof="0" dirty="0" smtClean="0">
                <a:ln>
                  <a:noFill/>
                </a:ln>
                <a:solidFill>
                  <a:srgbClr val="000000"/>
                </a:solidFill>
                <a:effectLst/>
                <a:uLnTx/>
                <a:uFillTx/>
                <a:latin typeface="Arial"/>
                <a:ea typeface="Arial"/>
                <a:cs typeface="Arial"/>
                <a:sym typeface="Times New Roman"/>
              </a:rPr>
              <a:t> </a:t>
            </a:r>
          </a:p>
          <a:p>
            <a:pPr marL="0" lvl="0" indent="0" algn="l" rtl="0">
              <a:spcBef>
                <a:spcPts val="0"/>
              </a:spcBef>
              <a:spcAft>
                <a:spcPts val="0"/>
              </a:spcAft>
              <a:buNone/>
            </a:pPr>
            <a:endParaRPr lang="en-CA" dirty="0" smtClean="0"/>
          </a:p>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3228525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581962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88313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7475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7584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dirty="0"/>
              <a:t>Let’s examine a possible decision pathway</a:t>
            </a:r>
            <a:r>
              <a:rPr lang="en-CA" baseline="0" dirty="0"/>
              <a:t> that a leader faces. The organization has a set of administrative controls; these document the most effective way, the efficient way to do work with acceptable level of risk to do work. The leader can </a:t>
            </a:r>
            <a:r>
              <a:rPr lang="en-CA" baseline="0" dirty="0" smtClean="0"/>
              <a:t>choose </a:t>
            </a:r>
            <a:r>
              <a:rPr lang="en-CA" baseline="0" dirty="0"/>
              <a:t>to either: a) disregard these administrative controls in terms of not following them or not insisting that the workers follow them, or b) accept these administrative controls, follow them, and insist that the workers follow and comply with them. </a:t>
            </a:r>
          </a:p>
          <a:p>
            <a:endParaRPr lang="en-CA" baseline="0" dirty="0"/>
          </a:p>
          <a:p>
            <a:r>
              <a:rPr lang="en-CA" baseline="0" dirty="0"/>
              <a:t>The “YES” pathway results in a positive culture, the “NO” pathway results in a negative culture. In both cases, the leader set the example; therefore it is of utmost importance for leader to “lead by example”, the right example in order for the organization to be successful. </a:t>
            </a:r>
            <a:endParaRPr lang="en-CA" dirty="0"/>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2463378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dirty="0"/>
              <a:t>Let’s examine a possible decision pathway</a:t>
            </a:r>
            <a:r>
              <a:rPr lang="en-CA" baseline="0" dirty="0"/>
              <a:t> that a leader faces. The organization has </a:t>
            </a:r>
            <a:r>
              <a:rPr lang="en-CA" baseline="0" dirty="0" smtClean="0"/>
              <a:t>a number of engineering controls installed in the facility. These engineering controls manage hazards and risks associated with the operations of the facility. The </a:t>
            </a:r>
            <a:r>
              <a:rPr lang="en-CA" baseline="0" dirty="0"/>
              <a:t>leader can </a:t>
            </a:r>
            <a:r>
              <a:rPr lang="en-CA" baseline="0" dirty="0" smtClean="0"/>
              <a:t>choose </a:t>
            </a:r>
            <a:r>
              <a:rPr lang="en-CA" baseline="0" dirty="0"/>
              <a:t>to either: a) </a:t>
            </a:r>
            <a:r>
              <a:rPr lang="en-CA" baseline="0" dirty="0" smtClean="0"/>
              <a:t>allow the engineering controls to degrade (deteriorate, fall into a state of disrepair) </a:t>
            </a:r>
            <a:r>
              <a:rPr lang="en-CA" baseline="0" dirty="0"/>
              <a:t>or b</a:t>
            </a:r>
            <a:r>
              <a:rPr lang="en-CA" baseline="0" dirty="0" smtClean="0"/>
              <a:t>) actively check / inspect, maintain, and repair the engineering controls to ensure that the hazards and risks are being controlled to an acceptable level, per the design intent of the engineering controls. </a:t>
            </a:r>
            <a:endParaRPr lang="en-CA" baseline="0" dirty="0"/>
          </a:p>
          <a:p>
            <a:endParaRPr lang="en-CA" baseline="0" dirty="0"/>
          </a:p>
          <a:p>
            <a:r>
              <a:rPr lang="en-CA" baseline="0" dirty="0"/>
              <a:t>The “YES” pathway results in a positive culture, the “NO” pathway results in a negative culture. In both cases, the leader set the example; therefore it is of utmost importance for leader to “lead by example”, the right example in order for the organization to be successful. </a:t>
            </a: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4039017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4389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13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13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3341847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14</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33038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dirty="0" smtClean="0"/>
              <a:t>Two basic measures of workplace injury and disease risks are LTC and DI rates.</a:t>
            </a:r>
          </a:p>
          <a:p>
            <a:pPr eaLnBrk="1" hangingPunct="1"/>
            <a:r>
              <a:rPr lang="en-US" dirty="0" smtClean="0"/>
              <a:t>These rates represent the number of injury or disease claims per 100 person-years worked.</a:t>
            </a:r>
          </a:p>
          <a:p>
            <a:pPr eaLnBrk="1" hangingPunct="1"/>
            <a:r>
              <a:rPr lang="en-US" dirty="0" smtClean="0"/>
              <a:t>DIs include LTCs and modified-work claims. The LTC rate of Alberta workplaces increased from 1.42 in 2017 to 1.46 in 2018. The DI rate increased from 2.67 in 2017 to 2.71 in 2018. Compared to 2009, the current LTC rate decreased 8.2 per cent (1.59 in 2009 versus 1.46 in 2018); and the DI rate decreased 4.6 per cent (2.84 in 2009 versus 2.71 in 2018).</a:t>
            </a:r>
          </a:p>
          <a:p>
            <a:pPr eaLnBrk="1" hangingPunct="1"/>
            <a:r>
              <a:rPr lang="en-US" dirty="0" smtClean="0"/>
              <a:t>Several factors can contribute to changes in LTC and DI rates, including but not limited to:</a:t>
            </a:r>
          </a:p>
          <a:p>
            <a:pPr marL="171450" indent="-171450" eaLnBrk="1" hangingPunct="1">
              <a:buFont typeface="Arial" panose="020B0604020202020204" pitchFamily="34" charset="0"/>
              <a:buChar char="•"/>
            </a:pPr>
            <a:r>
              <a:rPr lang="en-US" dirty="0" smtClean="0"/>
              <a:t>changes in workplace health and safety culture</a:t>
            </a:r>
          </a:p>
          <a:p>
            <a:pPr marL="171450" indent="-171450" eaLnBrk="1" hangingPunct="1">
              <a:buFont typeface="Arial" panose="020B0604020202020204" pitchFamily="34" charset="0"/>
              <a:buChar char="•"/>
            </a:pPr>
            <a:r>
              <a:rPr lang="en-US" dirty="0" smtClean="0"/>
              <a:t>enhanced OHS compliance</a:t>
            </a:r>
          </a:p>
          <a:p>
            <a:pPr marL="171450" indent="-171450" eaLnBrk="1" hangingPunct="1">
              <a:buFont typeface="Arial" panose="020B0604020202020204" pitchFamily="34" charset="0"/>
              <a:buChar char="•"/>
            </a:pPr>
            <a:r>
              <a:rPr lang="en-US" dirty="0" smtClean="0"/>
              <a:t>improved support for modified-work arrangements</a:t>
            </a:r>
          </a:p>
          <a:p>
            <a:pPr marL="171450" indent="-171450" eaLnBrk="1" hangingPunct="1">
              <a:buFont typeface="Arial" panose="020B0604020202020204" pitchFamily="34" charset="0"/>
              <a:buChar char="•"/>
            </a:pPr>
            <a:r>
              <a:rPr lang="en-US" dirty="0" smtClean="0"/>
              <a:t>industry-led initiatives to improve workers’ health and safety</a:t>
            </a:r>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822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dirty="0" smtClean="0"/>
              <a:t>In 2018, the number of occupational fatalities was 126, down 24.6 per cent from 167 in 2017. The fatality rate is the number of fatalities per million person-years worked. The fatality rate decreased from 90 in 2017 to 67 in 2018.</a:t>
            </a:r>
          </a:p>
          <a:p>
            <a:pPr eaLnBrk="1" hangingPunct="1"/>
            <a:r>
              <a:rPr lang="en-US" dirty="0" smtClean="0"/>
              <a:t>Occupational fatalities are classified into three general types: motor vehicle incidents, workplace incidents and occupational disease.</a:t>
            </a:r>
          </a:p>
          <a:p>
            <a:pPr eaLnBrk="1" hangingPunct="1"/>
            <a:r>
              <a:rPr lang="en-US" dirty="0" smtClean="0"/>
              <a:t>The proportion of fatalities by type in 2018 was:</a:t>
            </a:r>
          </a:p>
          <a:p>
            <a:pPr marL="171450" indent="-171450" eaLnBrk="1" hangingPunct="1">
              <a:buFont typeface="Arial" panose="020B0604020202020204" pitchFamily="34" charset="0"/>
              <a:buChar char="•"/>
            </a:pPr>
            <a:r>
              <a:rPr lang="en-US" dirty="0" smtClean="0"/>
              <a:t>Occupational diseases – 45.2%</a:t>
            </a:r>
          </a:p>
          <a:p>
            <a:pPr marL="171450" indent="-171450" eaLnBrk="1" hangingPunct="1">
              <a:buFont typeface="Arial" panose="020B0604020202020204" pitchFamily="34" charset="0"/>
              <a:buChar char="•"/>
            </a:pPr>
            <a:r>
              <a:rPr lang="en-US" dirty="0" smtClean="0"/>
              <a:t>Motor vehicle incidents – 21.4 %</a:t>
            </a:r>
          </a:p>
          <a:p>
            <a:pPr marL="171450" indent="-171450" eaLnBrk="1" hangingPunct="1">
              <a:buFont typeface="Arial" panose="020B0604020202020204" pitchFamily="34" charset="0"/>
              <a:buChar char="•"/>
            </a:pPr>
            <a:r>
              <a:rPr lang="en-US" dirty="0" smtClean="0"/>
              <a:t>Workplace incidents – 33.3 %</a:t>
            </a:r>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3346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24077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18</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These</a:t>
            </a:r>
            <a:r>
              <a:rPr lang="en-US" altLang="en-US" baseline="0" dirty="0" smtClean="0">
                <a:latin typeface="Arial" panose="020B0604020202020204" pitchFamily="34" charset="0"/>
                <a:cs typeface="Arial" panose="020B0604020202020204" pitchFamily="34" charset="0"/>
              </a:rPr>
              <a:t> two models are similar – increasing severity with fewer “counts” as one moves up. As was identified in the topic Chapter 6.2: Safety Metrics, </a:t>
            </a:r>
            <a:br>
              <a:rPr lang="en-US" altLang="en-US" baseline="0" dirty="0" smtClean="0">
                <a:latin typeface="Arial" panose="020B0604020202020204" pitchFamily="34" charset="0"/>
                <a:cs typeface="Arial" panose="020B0604020202020204" pitchFamily="34" charset="0"/>
              </a:rPr>
            </a:br>
            <a:r>
              <a:rPr lang="en-US" altLang="en-US" baseline="0" dirty="0" smtClean="0">
                <a:latin typeface="Arial" panose="020B0604020202020204" pitchFamily="34" charset="0"/>
                <a:cs typeface="Arial" panose="020B0604020202020204" pitchFamily="34" charset="0"/>
              </a:rPr>
              <a:t>Lagging and Leading Indicators, some sub-standard conditions and some standard practices are the “fast track to disaster”. </a:t>
            </a:r>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3619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19</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5494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Within each layer, some of those incidents have the potential to become fatalities. As a leader, you need to pay attention to the </a:t>
            </a:r>
            <a:r>
              <a:rPr lang="en-US" altLang="en-US" dirty="0" err="1" smtClean="0">
                <a:latin typeface="Arial" panose="020B0604020202020204" pitchFamily="34" charset="0"/>
                <a:cs typeface="Arial" panose="020B0604020202020204" pitchFamily="34" charset="0"/>
              </a:rPr>
              <a:t>HiPo</a:t>
            </a:r>
            <a:r>
              <a:rPr lang="en-US" altLang="en-US" dirty="0" smtClean="0">
                <a:latin typeface="Arial" panose="020B0604020202020204" pitchFamily="34" charset="0"/>
                <a:cs typeface="Arial" panose="020B0604020202020204" pitchFamily="34" charset="0"/>
              </a:rPr>
              <a:t> incidents.</a:t>
            </a:r>
          </a:p>
        </p:txBody>
      </p:sp>
    </p:spTree>
    <p:extLst>
      <p:ext uri="{BB962C8B-B14F-4D97-AF65-F5344CB8AC3E}">
        <p14:creationId xmlns:p14="http://schemas.microsoft.com/office/powerpoint/2010/main" val="905529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21</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en-US" dirty="0" smtClean="0">
                <a:latin typeface="Arial" panose="020B0604020202020204" pitchFamily="34" charset="0"/>
                <a:cs typeface="Arial" panose="020B0604020202020204" pitchFamily="34" charset="0"/>
              </a:rPr>
              <a:t>In other words, there will be relatively few – a low number – of near miss incidents, sub-standard</a:t>
            </a:r>
            <a:r>
              <a:rPr lang="en-US" altLang="en-US" baseline="0" dirty="0" smtClean="0">
                <a:latin typeface="Arial" panose="020B0604020202020204" pitchFamily="34" charset="0"/>
                <a:cs typeface="Arial" panose="020B0604020202020204" pitchFamily="34" charset="0"/>
              </a:rPr>
              <a:t> practices, and sub-standard conditions </a:t>
            </a:r>
            <a:r>
              <a:rPr lang="en-US" altLang="en-US" dirty="0" smtClean="0">
                <a:latin typeface="Arial" panose="020B0604020202020204" pitchFamily="34" charset="0"/>
                <a:cs typeface="Arial" panose="020B0604020202020204" pitchFamily="34" charset="0"/>
              </a:rPr>
              <a:t>that have the potential to become a fatality.</a:t>
            </a:r>
            <a:r>
              <a:rPr lang="en-US" altLang="en-US" baseline="0" dirty="0" smtClean="0">
                <a:latin typeface="Arial" panose="020B0604020202020204" pitchFamily="34" charset="0"/>
                <a:cs typeface="Arial" panose="020B0604020202020204" pitchFamily="34" charset="0"/>
              </a:rPr>
              <a:t> As each layer is examined, there will be relatively</a:t>
            </a:r>
            <a:r>
              <a:rPr lang="en-US" altLang="en-US" dirty="0" smtClean="0">
                <a:latin typeface="Arial" panose="020B0604020202020204" pitchFamily="34" charset="0"/>
                <a:cs typeface="Arial" panose="020B0604020202020204" pitchFamily="34" charset="0"/>
              </a:rPr>
              <a:t> more as you move up the pyramid i.e. </a:t>
            </a:r>
          </a:p>
          <a:p>
            <a:pPr eaLnBrk="1" hangingPunct="1"/>
            <a:r>
              <a:rPr lang="en-US" altLang="en-US" baseline="0" dirty="0" smtClean="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more LTIs that have the potential to become a fatality.</a:t>
            </a:r>
          </a:p>
        </p:txBody>
      </p:sp>
    </p:spTree>
    <p:extLst>
      <p:ext uri="{BB962C8B-B14F-4D97-AF65-F5344CB8AC3E}">
        <p14:creationId xmlns:p14="http://schemas.microsoft.com/office/powerpoint/2010/main" val="566831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22</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en-US" dirty="0" smtClean="0">
                <a:latin typeface="Arial" panose="020B0604020202020204" pitchFamily="34" charset="0"/>
                <a:cs typeface="Arial" panose="020B0604020202020204" pitchFamily="34" charset="0"/>
              </a:rPr>
              <a:t>In other words, there will be relatively few – a low number – of near miss incidents, sub-standard</a:t>
            </a:r>
            <a:r>
              <a:rPr lang="en-US" altLang="en-US" baseline="0" dirty="0" smtClean="0">
                <a:latin typeface="Arial" panose="020B0604020202020204" pitchFamily="34" charset="0"/>
                <a:cs typeface="Arial" panose="020B0604020202020204" pitchFamily="34" charset="0"/>
              </a:rPr>
              <a:t> practices, and sub-standard conditions </a:t>
            </a:r>
            <a:r>
              <a:rPr lang="en-US" altLang="en-US" dirty="0" smtClean="0">
                <a:latin typeface="Arial" panose="020B0604020202020204" pitchFamily="34" charset="0"/>
                <a:cs typeface="Arial" panose="020B0604020202020204" pitchFamily="34" charset="0"/>
              </a:rPr>
              <a:t>that have the potential to become a fatality.</a:t>
            </a:r>
            <a:r>
              <a:rPr lang="en-US" altLang="en-US" baseline="0" dirty="0" smtClean="0">
                <a:latin typeface="Arial" panose="020B0604020202020204" pitchFamily="34" charset="0"/>
                <a:cs typeface="Arial" panose="020B0604020202020204" pitchFamily="34" charset="0"/>
              </a:rPr>
              <a:t> As each layer is examined, there will be relatively</a:t>
            </a:r>
            <a:r>
              <a:rPr lang="en-US" altLang="en-US" dirty="0" smtClean="0">
                <a:latin typeface="Arial" panose="020B0604020202020204" pitchFamily="34" charset="0"/>
                <a:cs typeface="Arial" panose="020B0604020202020204" pitchFamily="34" charset="0"/>
              </a:rPr>
              <a:t> more as you move up the pyramid i.e. </a:t>
            </a:r>
          </a:p>
          <a:p>
            <a:pPr eaLnBrk="1" hangingPunct="1"/>
            <a:r>
              <a:rPr lang="en-US" altLang="en-US" baseline="0" dirty="0" smtClean="0">
                <a:latin typeface="Arial" panose="020B0604020202020204" pitchFamily="34" charset="0"/>
                <a:cs typeface="Arial" panose="020B0604020202020204" pitchFamily="34" charset="0"/>
              </a:rPr>
              <a:t> </a:t>
            </a:r>
            <a:r>
              <a:rPr lang="en-US" altLang="en-US" dirty="0" smtClean="0">
                <a:latin typeface="Arial" panose="020B0604020202020204" pitchFamily="34" charset="0"/>
                <a:cs typeface="Arial" panose="020B0604020202020204" pitchFamily="34" charset="0"/>
              </a:rPr>
              <a:t>more LTIs that have the potential to become a fatality.</a:t>
            </a:r>
          </a:p>
        </p:txBody>
      </p:sp>
    </p:spTree>
    <p:extLst>
      <p:ext uri="{BB962C8B-B14F-4D97-AF65-F5344CB8AC3E}">
        <p14:creationId xmlns:p14="http://schemas.microsoft.com/office/powerpoint/2010/main" val="35269306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23</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23</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9437661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24</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76120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25</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76670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26</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1955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61172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r>
              <a:rPr lang="en-US" altLang="en-US" sz="1200" dirty="0"/>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fld id="{E2E0E8D8-AE63-4BAB-AE10-86197CF9CB04}" type="slidenum">
              <a:rPr lang="en-US" altLang="en-US" sz="1200"/>
              <a:pPr/>
              <a:t>28</a:t>
            </a:fld>
            <a:endParaRPr lang="en-US" altLang="en-US" sz="1200" dirty="0"/>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fld id="{0B6B2B90-B612-42CC-80D2-4870E63A5117}" type="slidenum">
              <a:rPr lang="en-US" altLang="en-US" sz="1200"/>
              <a:pPr algn="r"/>
              <a:t>28</a:t>
            </a:fld>
            <a:endParaRPr lang="en-US" altLang="en-US" sz="1200" dirty="0"/>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ea typeface="ＭＳ Ｐゴシック" panose="020B0600070205080204" pitchFamily="34" charset="-128"/>
            </a:endParaRPr>
          </a:p>
        </p:txBody>
      </p:sp>
    </p:spTree>
    <p:extLst>
      <p:ext uri="{BB962C8B-B14F-4D97-AF65-F5344CB8AC3E}">
        <p14:creationId xmlns:p14="http://schemas.microsoft.com/office/powerpoint/2010/main" val="29722957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29</a:t>
            </a:fld>
            <a:endParaRPr lang="en-US" altLang="en-US" dirty="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8844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30</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0624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smtClean="0">
                <a:ln>
                  <a:noFill/>
                </a:ln>
                <a:solidFill>
                  <a:srgbClr val="FF0000"/>
                </a:solidFill>
                <a:effectLst/>
                <a:uLnTx/>
                <a:uFillTx/>
                <a:latin typeface="Arial"/>
                <a:ea typeface="+mn-ea"/>
                <a:cs typeface="+mn-cs"/>
              </a:rPr>
              <a:t>Performance in Response to the Evolution of Culture: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smtClean="0">
                <a:ln>
                  <a:noFill/>
                </a:ln>
                <a:solidFill>
                  <a:srgbClr val="FF0000"/>
                </a:solidFill>
                <a:effectLst/>
                <a:uLnTx/>
                <a:uFillTx/>
                <a:latin typeface="Arial"/>
                <a:ea typeface="+mn-ea"/>
                <a:cs typeface="+mn-cs"/>
              </a:rPr>
              <a:t>5</a:t>
            </a:r>
            <a:r>
              <a:rPr kumimoji="0" lang="en-US" sz="1200" b="0" i="0" u="none" strike="noStrike" kern="1200" cap="none" spc="0" normalizeH="0" baseline="0" noProof="0" dirty="0">
                <a:ln>
                  <a:noFill/>
                </a:ln>
                <a:solidFill>
                  <a:srgbClr val="FF0000"/>
                </a:solidFill>
                <a:effectLst/>
                <a:uLnTx/>
                <a:uFillTx/>
                <a:latin typeface="Arial"/>
                <a:ea typeface="+mn-ea"/>
                <a:cs typeface="+mn-cs"/>
              </a:rPr>
              <a:t>)  Adapting</a:t>
            </a:r>
            <a:r>
              <a:rPr kumimoji="0" lang="en-US" sz="1200" b="0" i="0" u="none" strike="noStrike" kern="1200" cap="none" spc="0" normalizeH="0" baseline="0" noProof="0" dirty="0">
                <a:ln>
                  <a:noFill/>
                </a:ln>
                <a:solidFill>
                  <a:srgbClr val="000000"/>
                </a:solidFill>
                <a:effectLst/>
                <a:uLnTx/>
                <a:uFillTx/>
                <a:latin typeface="Arial"/>
                <a:ea typeface="+mn-ea"/>
                <a:cs typeface="+mn-cs"/>
              </a:rPr>
              <a:t> - safety is a core value of the organization and a primary driver for successful enterprise.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4) p</a:t>
            </a:r>
            <a:r>
              <a:rPr kumimoji="0" lang="en-US" sz="1200" b="0" i="0" u="none" strike="noStrike" kern="1200" cap="none" spc="0" normalizeH="0" baseline="0" noProof="0" dirty="0">
                <a:ln>
                  <a:noFill/>
                </a:ln>
                <a:solidFill>
                  <a:srgbClr val="FF0000"/>
                </a:solidFill>
                <a:effectLst/>
                <a:uLnTx/>
                <a:uFillTx/>
                <a:latin typeface="Arial"/>
                <a:ea typeface="+mn-ea"/>
                <a:cs typeface="+mn-cs"/>
              </a:rPr>
              <a:t>erformance monitoring </a:t>
            </a:r>
            <a:r>
              <a:rPr kumimoji="0" lang="en-US" sz="1200" b="0" i="0" u="none" strike="noStrike" kern="1200" cap="none" spc="0" normalizeH="0" baseline="0" noProof="0" dirty="0">
                <a:ln>
                  <a:noFill/>
                </a:ln>
                <a:solidFill>
                  <a:srgbClr val="000000"/>
                </a:solidFill>
                <a:effectLst/>
                <a:uLnTx/>
                <a:uFillTx/>
                <a:latin typeface="Arial"/>
                <a:ea typeface="+mn-ea"/>
                <a:cs typeface="+mn-cs"/>
              </a:rPr>
              <a:t>using statistics to drive continuous improvement.</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3) m</a:t>
            </a:r>
            <a:r>
              <a:rPr kumimoji="0" lang="en-US" sz="1200" b="0" i="0" u="none" strike="noStrike" kern="1200" cap="none" spc="0" normalizeH="0" baseline="0" noProof="0" dirty="0">
                <a:ln>
                  <a:noFill/>
                </a:ln>
                <a:solidFill>
                  <a:srgbClr val="FF0000"/>
                </a:solidFill>
                <a:effectLst/>
                <a:uLnTx/>
                <a:uFillTx/>
                <a:latin typeface="Arial"/>
                <a:ea typeface="+mn-ea"/>
                <a:cs typeface="+mn-cs"/>
              </a:rPr>
              <a:t>anagement systems </a:t>
            </a:r>
            <a:r>
              <a:rPr kumimoji="0" lang="en-US" sz="1200" b="0" i="0" u="none" strike="noStrike" kern="1200" cap="none" spc="0" normalizeH="0" baseline="0" noProof="0" dirty="0">
                <a:ln>
                  <a:noFill/>
                </a:ln>
                <a:solidFill>
                  <a:srgbClr val="000000"/>
                </a:solidFill>
                <a:effectLst/>
                <a:uLnTx/>
                <a:uFillTx/>
                <a:latin typeface="Arial"/>
                <a:ea typeface="+mn-ea"/>
                <a:cs typeface="+mn-cs"/>
              </a:rPr>
              <a:t>based such as Job Safety Assessment (JSA), Isolation and Lock-out, etc.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2) </a:t>
            </a:r>
            <a:r>
              <a:rPr kumimoji="0" lang="en-US" sz="1200" b="0" i="0" u="none" strike="noStrike" kern="1200" cap="none" spc="0" normalizeH="0" baseline="0" noProof="0" dirty="0">
                <a:ln>
                  <a:noFill/>
                </a:ln>
                <a:solidFill>
                  <a:srgbClr val="FF0000"/>
                </a:solidFill>
                <a:effectLst/>
                <a:uLnTx/>
                <a:uFillTx/>
                <a:latin typeface="Arial"/>
                <a:ea typeface="+mn-ea"/>
                <a:cs typeface="+mn-cs"/>
              </a:rPr>
              <a:t>Complying</a:t>
            </a:r>
            <a:r>
              <a:rPr kumimoji="0" lang="en-US" sz="1200" b="0" i="0" u="none" strike="noStrike" kern="1200" cap="none" spc="0" normalizeH="0" baseline="0" noProof="0" dirty="0">
                <a:ln>
                  <a:noFill/>
                </a:ln>
                <a:solidFill>
                  <a:srgbClr val="000000"/>
                </a:solidFill>
                <a:effectLst/>
                <a:uLnTx/>
                <a:uFillTx/>
                <a:latin typeface="Arial"/>
                <a:ea typeface="+mn-ea"/>
                <a:cs typeface="+mn-cs"/>
              </a:rPr>
              <a:t> to rules and regulations.</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1) </a:t>
            </a:r>
            <a:r>
              <a:rPr kumimoji="0" lang="en-US" sz="1200" b="0" i="0" u="none" strike="noStrike" kern="1200" cap="none" spc="0" normalizeH="0" baseline="0" noProof="0" dirty="0">
                <a:ln>
                  <a:noFill/>
                </a:ln>
                <a:solidFill>
                  <a:srgbClr val="FF0000"/>
                </a:solidFill>
                <a:effectLst/>
                <a:uLnTx/>
                <a:uFillTx/>
                <a:latin typeface="Arial"/>
                <a:ea typeface="+mn-ea"/>
                <a:cs typeface="+mn-cs"/>
              </a:rPr>
              <a:t>Reacting</a:t>
            </a:r>
            <a:r>
              <a:rPr kumimoji="0" lang="en-US" sz="1200" b="0" i="0" u="none" strike="noStrike" kern="1200" cap="none" spc="0" normalizeH="0" baseline="0" noProof="0" dirty="0">
                <a:ln>
                  <a:noFill/>
                </a:ln>
                <a:solidFill>
                  <a:srgbClr val="000000"/>
                </a:solidFill>
                <a:effectLst/>
                <a:uLnTx/>
                <a:uFillTx/>
                <a:latin typeface="Arial"/>
                <a:ea typeface="+mn-ea"/>
                <a:cs typeface="+mn-cs"/>
              </a:rPr>
              <a:t> to incidents as they occur.</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mn-cs"/>
              </a:rPr>
              <a:t>0) </a:t>
            </a:r>
            <a:r>
              <a:rPr kumimoji="0" lang="en-US" sz="1200" b="0" i="0" u="none" strike="noStrike" kern="1200" cap="none" spc="0" normalizeH="0" baseline="0" noProof="0" dirty="0">
                <a:ln>
                  <a:noFill/>
                </a:ln>
                <a:solidFill>
                  <a:srgbClr val="FF0000"/>
                </a:solidFill>
                <a:effectLst/>
                <a:uLnTx/>
                <a:uFillTx/>
                <a:latin typeface="Arial"/>
                <a:ea typeface="+mn-ea"/>
                <a:cs typeface="+mn-cs"/>
              </a:rPr>
              <a:t>No safety program </a:t>
            </a:r>
            <a:r>
              <a:rPr kumimoji="0" lang="en-US" sz="1200" b="0" i="0" u="none" strike="noStrike" kern="1200" cap="none" spc="0" normalizeH="0" baseline="0" noProof="0" dirty="0">
                <a:ln>
                  <a:noFill/>
                </a:ln>
                <a:solidFill>
                  <a:srgbClr val="000000"/>
                </a:solidFill>
                <a:effectLst/>
                <a:uLnTx/>
                <a:uFillTx/>
                <a:latin typeface="Arial"/>
                <a:ea typeface="+mn-ea"/>
                <a:cs typeface="+mn-cs"/>
              </a:rPr>
              <a:t>- maybe even disdain for safety.</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mn-cs"/>
            </a:endParaRPr>
          </a:p>
          <a:p>
            <a:pPr marL="285750" marR="0" lvl="0" indent="-285750" algn="l" defTabSz="457200" rtl="0" eaLnBrk="1" fontAlgn="base" latinLnBrk="0" hangingPunct="1">
              <a:lnSpc>
                <a:spcPct val="100000"/>
              </a:lnSpc>
              <a:spcBef>
                <a:spcPct val="0"/>
              </a:spcBef>
              <a:spcAft>
                <a:spcPct val="0"/>
              </a:spcAft>
              <a:buClr>
                <a:srgbClr val="000000"/>
              </a:buClr>
              <a:buSzTx/>
              <a:buFont typeface="Wingdings" panose="05000000000000000000" pitchFamily="2" charset="2"/>
              <a:buChar char="Ø"/>
              <a:tabLst>
                <a:tab pos="1070372" algn="l"/>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Need to work from bottom up, can’t leapfrog.</a:t>
            </a:r>
          </a:p>
          <a:p>
            <a:pPr marL="285750" marR="0" lvl="0" indent="-285750" algn="l" defTabSz="457200" rtl="0" eaLnBrk="1" fontAlgn="base" latinLnBrk="0" hangingPunct="1">
              <a:lnSpc>
                <a:spcPct val="100000"/>
              </a:lnSpc>
              <a:spcBef>
                <a:spcPct val="0"/>
              </a:spcBef>
              <a:spcAft>
                <a:spcPct val="0"/>
              </a:spcAft>
              <a:buClr>
                <a:srgbClr val="000000"/>
              </a:buClr>
              <a:buSzTx/>
              <a:buFont typeface="Wingdings" panose="05000000000000000000" pitchFamily="2" charset="2"/>
              <a:buChar char="Ø"/>
              <a:tabLst>
                <a:tab pos="1070372" algn="l"/>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Rules and regulations do not make a safety program, only at level 2.</a:t>
            </a:r>
          </a:p>
          <a:p>
            <a:pPr marL="285750" marR="0" lvl="0" indent="-285750" algn="l" defTabSz="457200" rtl="0" eaLnBrk="1" fontAlgn="base" latinLnBrk="0" hangingPunct="1">
              <a:lnSpc>
                <a:spcPct val="100000"/>
              </a:lnSpc>
              <a:spcBef>
                <a:spcPct val="0"/>
              </a:spcBef>
              <a:spcAft>
                <a:spcPct val="0"/>
              </a:spcAft>
              <a:buClr>
                <a:srgbClr val="000000"/>
              </a:buClr>
              <a:buSzTx/>
              <a:buFont typeface="Wingdings" panose="05000000000000000000" pitchFamily="2" charset="2"/>
              <a:buChar char="Ø"/>
              <a:tabLst>
                <a:tab pos="1070372" algn="l"/>
              </a:tabLst>
              <a:defRPr/>
            </a:pP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Industry needs students prepared to work at level 5. </a:t>
            </a:r>
            <a:endParaRPr kumimoji="0" lang="en-US" sz="1100" b="0" i="1" u="none" strike="noStrike" kern="1200" cap="none" spc="0" normalizeH="0" baseline="0" noProof="0" dirty="0" smtClean="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285750" marR="0" lvl="0" indent="-285750" algn="l" defTabSz="457200" rtl="0" eaLnBrk="1" fontAlgn="base" latinLnBrk="0" hangingPunct="1">
              <a:lnSpc>
                <a:spcPct val="100000"/>
              </a:lnSpc>
              <a:spcBef>
                <a:spcPct val="0"/>
              </a:spcBef>
              <a:spcAft>
                <a:spcPct val="0"/>
              </a:spcAft>
              <a:buClr>
                <a:srgbClr val="000000"/>
              </a:buClr>
              <a:buSzTx/>
              <a:buFont typeface="Wingdings" panose="05000000000000000000" pitchFamily="2" charset="2"/>
              <a:buChar char="Ø"/>
              <a:tabLst>
                <a:tab pos="1070372" algn="l"/>
              </a:tabLst>
              <a:defRPr/>
            </a:pPr>
            <a:r>
              <a:rPr kumimoji="0" lang="en-US" sz="1100" b="0" i="1" u="none" strike="noStrike" kern="1200" cap="none" spc="0" normalizeH="0" baseline="0" noProof="0" dirty="0" smtClean="0">
                <a:ln>
                  <a:noFill/>
                </a:ln>
                <a:solidFill>
                  <a:prstClr val="black"/>
                </a:solidFill>
                <a:effectLst/>
                <a:uLnTx/>
                <a:uFillTx/>
                <a:latin typeface="Arial" panose="020B0604020202020204" pitchFamily="34" charset="0"/>
                <a:ea typeface="ＭＳ Ｐゴシック" panose="020B0600070205080204" pitchFamily="34" charset="-128"/>
                <a:cs typeface="+mn-cs"/>
              </a:rPr>
              <a:t>Most </a:t>
            </a:r>
            <a:r>
              <a:rPr kumimoji="0" lang="en-US" sz="1100" b="0" i="1"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universities are probably sending out students at level 2.</a:t>
            </a:r>
            <a:endParaRPr kumimoji="0" lang="en-US" sz="1200" b="0" i="1" u="none" strike="noStrike" kern="120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326960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32</a:t>
            </a:fld>
            <a:endParaRPr sz="1200">
              <a:solidFill>
                <a:schemeClr val="dk1"/>
              </a:solidFill>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32</a:t>
            </a:fld>
            <a:endParaRPr sz="1200">
              <a:solidFill>
                <a:schemeClr val="dk1"/>
              </a:solidFill>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33473712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33</a:t>
            </a:fld>
            <a:endParaRPr sz="1200">
              <a:solidFill>
                <a:schemeClr val="dk1"/>
              </a:solidFill>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33</a:t>
            </a:fld>
            <a:endParaRPr sz="1200">
              <a:solidFill>
                <a:schemeClr val="dk1"/>
              </a:solidFill>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6666976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34</a:t>
            </a:fld>
            <a:endParaRPr sz="1200">
              <a:solidFill>
                <a:schemeClr val="dk1"/>
              </a:solidFill>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34</a:t>
            </a:fld>
            <a:endParaRPr sz="1200">
              <a:solidFill>
                <a:schemeClr val="dk1"/>
              </a:solidFill>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6028348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35</a:t>
            </a:fld>
            <a:endParaRPr sz="1200">
              <a:solidFill>
                <a:schemeClr val="dk1"/>
              </a:solidFill>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35</a:t>
            </a:fld>
            <a:endParaRPr sz="1200">
              <a:solidFill>
                <a:schemeClr val="dk1"/>
              </a:solidFill>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20477278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123" name="Google Shape;123;p3: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36</a:t>
            </a:fld>
            <a:endParaRPr sz="1200">
              <a:solidFill>
                <a:schemeClr val="dk1"/>
              </a:solidFill>
              <a:latin typeface="Times New Roman"/>
              <a:ea typeface="Times New Roman"/>
              <a:cs typeface="Times New Roman"/>
              <a:sym typeface="Times New Roman"/>
            </a:endParaRPr>
          </a:p>
        </p:txBody>
      </p:sp>
      <p:sp>
        <p:nvSpPr>
          <p:cNvPr id="124" name="Google Shape;124;p3:notes"/>
          <p:cNvSpPr txBox="1"/>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36</a:t>
            </a:fld>
            <a:endParaRPr sz="1200">
              <a:solidFill>
                <a:schemeClr val="dk1"/>
              </a:solidFill>
              <a:latin typeface="Times New Roman"/>
              <a:ea typeface="Times New Roman"/>
              <a:cs typeface="Times New Roman"/>
              <a:sym typeface="Times New Roman"/>
            </a:endParaRPr>
          </a:p>
        </p:txBody>
      </p:sp>
      <p:sp>
        <p:nvSpPr>
          <p:cNvPr id="125" name="Google Shape;125;p3:notes"/>
          <p:cNvSpPr>
            <a:spLocks noGrp="1" noRot="1" noChangeAspect="1"/>
          </p:cNvSpPr>
          <p:nvPr>
            <p:ph type="sldImg" idx="3"/>
          </p:nvPr>
        </p:nvSpPr>
        <p:spPr>
          <a:xfrm>
            <a:off x="1150938" y="696913"/>
            <a:ext cx="4652962" cy="34909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p3: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endParaRPr lang="en-CA" dirty="0"/>
          </a:p>
        </p:txBody>
      </p:sp>
    </p:spTree>
    <p:extLst>
      <p:ext uri="{BB962C8B-B14F-4D97-AF65-F5344CB8AC3E}">
        <p14:creationId xmlns:p14="http://schemas.microsoft.com/office/powerpoint/2010/main" val="24790135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41DADFD-3BE4-4AB0-B910-544CAFF0BCC2}" type="slidenum">
              <a:rPr lang="en-US" altLang="en-US"/>
              <a:pPr algn="r" eaLnBrk="1" hangingPunct="1">
                <a:spcBef>
                  <a:spcPct val="0"/>
                </a:spcBef>
              </a:pPr>
              <a:t>37</a:t>
            </a:fld>
            <a:endParaRPr lang="en-US" alt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r>
              <a:rPr lang="en-US" altLang="en-US" dirty="0" smtClean="0">
                <a:latin typeface="Arial" panose="020B0604020202020204" pitchFamily="34" charset="0"/>
                <a:cs typeface="Arial" panose="020B0604020202020204" pitchFamily="34" charset="0"/>
              </a:rPr>
              <a:t>Culture eats performance!</a:t>
            </a:r>
          </a:p>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092081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dirty="0" smtClean="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4107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10/18/2021</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1266303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412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463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938922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3392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21361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53118CC2-884A-4430-8B4F-9976F3C29C24}" type="datetimeFigureOut">
              <a:rPr kumimoji="0" 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10/18/2021</a:t>
            </a:fld>
            <a:endParaRPr kumimoji="0" 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fld id="{91823322-A425-42F9-B4E6-DE1BA6748FF3}" type="slidenum">
              <a:rPr kumimoji="0" lang="en-US" altLang="en-US" sz="1800" b="1" i="0" u="none" strike="noStrike" kern="1200" cap="none" spc="0" normalizeH="0" baseline="0" noProof="0">
                <a:ln>
                  <a:noFill/>
                </a:ln>
                <a:solidFill>
                  <a:srgbClr val="000000"/>
                </a:solidFill>
                <a:effectLst/>
                <a:uLnTx/>
                <a:uFillTx/>
                <a:latin typeface="Arial" charset="0"/>
                <a:ea typeface="+mn-ea"/>
                <a:cs typeface="+mn-cs"/>
              </a:rPr>
              <a:pPr marL="0" marR="0" lvl="0" indent="0" algn="l" defTabSz="914400" rtl="0" eaLnBrk="1" fontAlgn="base" latinLnBrk="0" hangingPunct="1">
                <a:lnSpc>
                  <a:spcPct val="100000"/>
                </a:lnSpc>
                <a:spcBef>
                  <a:spcPct val="0"/>
                </a:spcBef>
                <a:spcAft>
                  <a:spcPct val="0"/>
                </a:spcAft>
                <a:buClrTx/>
                <a:buSzTx/>
                <a:buFontTx/>
                <a:buNone/>
                <a:tabLst/>
                <a:defRPr/>
              </a:pPr>
              <a:t>‹#›</a:t>
            </a:fld>
            <a:endParaRPr kumimoji="0" lang="en-US" altLang="en-US" sz="1800" b="1" i="0" u="none" strike="noStrike" kern="1200" cap="none" spc="0" normalizeH="0" baseline="0" noProof="0">
              <a:ln>
                <a:noFill/>
              </a:ln>
              <a:solidFill>
                <a:srgbClr val="000000"/>
              </a:solidFill>
              <a:effectLst/>
              <a:uLnTx/>
              <a:uFillTx/>
              <a:latin typeface="Arial" charset="0"/>
              <a:ea typeface="+mn-ea"/>
              <a:cs typeface="+mn-cs"/>
            </a:endParaRPr>
          </a:p>
        </p:txBody>
      </p:sp>
    </p:spTree>
    <p:extLst>
      <p:ext uri="{BB962C8B-B14F-4D97-AF65-F5344CB8AC3E}">
        <p14:creationId xmlns:p14="http://schemas.microsoft.com/office/powerpoint/2010/main" val="2332296284"/>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jpe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1.jpeg"/><Relationship Id="rId5" Type="http://schemas.openxmlformats.org/officeDocument/2006/relationships/theme" Target="../theme/theme3.xml"/><Relationship Id="rId4"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250492"/>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557673"/>
      </p:ext>
    </p:extLst>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1.gif"/></Relationships>
</file>

<file path=ppt/slides/_rels/slide32.xml.rels><?xml version="1.0" encoding="UTF-8" standalone="yes"?>
<Relationships xmlns="http://schemas.openxmlformats.org/package/2006/relationships"><Relationship Id="rId3" Type="http://schemas.openxmlformats.org/officeDocument/2006/relationships/hyperlink" Target="https://www.consultdss.com/bradley-curve-video/" TargetMode="External"/><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22.jpeg"/></Relationships>
</file>

<file path=ppt/slides/_rels/slide3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4.xml"/><Relationship Id="rId5" Type="http://schemas.openxmlformats.org/officeDocument/2006/relationships/image" Target="../media/image22.jpeg"/><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eaLnBrk="1" hangingPunct="1"/>
            <a:r>
              <a:rPr lang="en-CA" altLang="en-US" i="1" kern="0" dirty="0" smtClean="0">
                <a:solidFill>
                  <a:srgbClr val="000099"/>
                </a:solidFill>
                <a:ea typeface="ＭＳ Ｐゴシック" panose="020B0600070205080204" pitchFamily="34" charset="-128"/>
              </a:rPr>
              <a:t>On Becoming a </a:t>
            </a:r>
            <a:br>
              <a:rPr lang="en-CA" altLang="en-US" i="1" kern="0" dirty="0" smtClean="0">
                <a:solidFill>
                  <a:srgbClr val="000099"/>
                </a:solidFill>
                <a:ea typeface="ＭＳ Ｐゴシック" panose="020B0600070205080204" pitchFamily="34" charset="-128"/>
              </a:rPr>
            </a:br>
            <a:r>
              <a:rPr lang="en-CA" altLang="en-US" i="1" kern="0" dirty="0" smtClean="0">
                <a:solidFill>
                  <a:srgbClr val="000099"/>
                </a:solidFill>
                <a:ea typeface="ＭＳ Ｐゴシック" panose="020B0600070205080204" pitchFamily="34" charset="-128"/>
              </a:rPr>
              <a:t>Leader in Risk Management</a:t>
            </a:r>
            <a:endParaRPr lang="en-US" altLang="en-US" i="1" kern="0" dirty="0">
              <a:solidFill>
                <a:srgbClr val="000099"/>
              </a:solidFill>
              <a:ea typeface="ＭＳ Ｐゴシック" panose="020B0600070205080204" pitchFamily="34" charset="-128"/>
            </a:endParaRPr>
          </a:p>
        </p:txBody>
      </p:sp>
      <p:sp>
        <p:nvSpPr>
          <p:cNvPr id="8" name="Rectangle 3"/>
          <p:cNvSpPr>
            <a:spLocks noGrp="1" noChangeArrowheads="1"/>
          </p:cNvSpPr>
          <p:nvPr>
            <p:ph type="subTitle" idx="4294967295"/>
          </p:nvPr>
        </p:nvSpPr>
        <p:spPr>
          <a:xfrm>
            <a:off x="457200" y="2105519"/>
            <a:ext cx="8153400" cy="3512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ENGG404 -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Lecture</a:t>
            </a:r>
          </a:p>
          <a:p>
            <a:pPr marL="0" indent="0" algn="ctr" eaLnBrk="1" hangingPunct="1">
              <a:spcBef>
                <a:spcPct val="0"/>
              </a:spcBef>
              <a:buNone/>
            </a:pPr>
            <a:r>
              <a:rPr lang="en-US"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7.5: The Importance of Leadership and The </a:t>
            </a:r>
            <a:r>
              <a:rPr lang="en-US"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Links Between </a:t>
            </a:r>
            <a:r>
              <a:rPr lang="en-US"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Safety </a:t>
            </a:r>
            <a:r>
              <a:rPr lang="en-US"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Performance, Culture, and the Role of Leadership </a:t>
            </a:r>
            <a:r>
              <a:rPr lang="en-US" altLang="en-US"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in Shaping </a:t>
            </a:r>
            <a:r>
              <a:rPr lang="en-US" altLang="en-US"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Culture</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r>
              <a:rPr lang="en-US" dirty="0"/>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114800"/>
            <a:ext cx="1766671" cy="1766671"/>
          </a:xfrm>
          <a:prstGeom prst="rect">
            <a:avLst/>
          </a:prstGeom>
        </p:spPr>
      </p:pic>
      <p:pic>
        <p:nvPicPr>
          <p:cNvPr id="4" name="Picture 3"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114613"/>
            <a:ext cx="2590300" cy="1766857"/>
          </a:xfrm>
          <a:prstGeom prst="rect">
            <a:avLst/>
          </a:prstGeom>
        </p:spPr>
      </p:pic>
    </p:spTree>
    <p:extLst>
      <p:ext uri="{BB962C8B-B14F-4D97-AF65-F5344CB8AC3E}">
        <p14:creationId xmlns:p14="http://schemas.microsoft.com/office/powerpoint/2010/main" val="33949375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6"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demonstrate the link between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safety performance, and how culture affects performance.</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and demonstrate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link between leadership actions and culture.</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how desirable behaviours and undesirable behaviours of the leader directly impact the culture of the organization.</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concept of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“high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explain how leaders can identify these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 and use leading indicators to influence culture, and explain the rationale why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need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focus on these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DuPont-Bradley Curve and demonstrate how one can </a:t>
            </a:r>
            <a:r>
              <a:rPr lang="en-US" altLang="en-US" sz="18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an organization to determine its phase of development.</a:t>
            </a: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Explain the integration of The Fundamental Process of Management, RME #6 Program Evaluation and Continuous Improvement, and the DuPont-Bradley Curve.</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920198770"/>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57189" lvl="0" indent="-457189" defTabSz="457189" fontAlgn="auto">
              <a:lnSpc>
                <a:spcPct val="100000"/>
              </a:lnSpc>
              <a:spcBef>
                <a:spcPts val="0"/>
              </a:spcBef>
              <a:spcAft>
                <a:spcPts val="0"/>
              </a:spcAft>
              <a:buClr>
                <a:srgbClr val="000000"/>
              </a:buClr>
              <a:buNone/>
              <a:defRPr/>
            </a:pPr>
            <a:r>
              <a:rPr lang="en-US" altLang="en-US" dirty="0">
                <a:solidFill>
                  <a:srgbClr val="000000"/>
                </a:solidFill>
                <a:latin typeface="Arial" panose="020B0604020202020204" pitchFamily="34" charset="0"/>
              </a:rPr>
              <a:t>A: From The Merriam-Webster Dictionary:</a:t>
            </a:r>
          </a:p>
          <a:p>
            <a:pPr marL="457189" lvl="0" indent="-457189" defTabSz="457189" fontAlgn="auto">
              <a:lnSpc>
                <a:spcPct val="100000"/>
              </a:lnSpc>
              <a:spcBef>
                <a:spcPts val="0"/>
              </a:spcBef>
              <a:spcAft>
                <a:spcPts val="0"/>
              </a:spcAft>
              <a:buClr>
                <a:srgbClr val="000000"/>
              </a:buClr>
              <a:buNone/>
              <a:defRPr/>
            </a:pPr>
            <a:endParaRPr lang="en-US" altLang="en-US" i="1" dirty="0" smtClean="0">
              <a:solidFill>
                <a:srgbClr val="000000"/>
              </a:solidFill>
              <a:latin typeface="Arial" panose="020B0604020202020204" pitchFamily="34" charset="0"/>
            </a:endParaRPr>
          </a:p>
          <a:p>
            <a:pPr marL="457189" lvl="0" indent="-457189" defTabSz="457189" fontAlgn="auto">
              <a:lnSpc>
                <a:spcPct val="100000"/>
              </a:lnSpc>
              <a:spcBef>
                <a:spcPts val="0"/>
              </a:spcBef>
              <a:spcAft>
                <a:spcPts val="0"/>
              </a:spcAft>
              <a:buClr>
                <a:srgbClr val="000000"/>
              </a:buClr>
              <a:buNone/>
              <a:defRPr/>
            </a:pPr>
            <a:r>
              <a:rPr lang="en-US" altLang="en-US" i="1" dirty="0" smtClean="0">
                <a:solidFill>
                  <a:srgbClr val="000000"/>
                </a:solidFill>
                <a:latin typeface="Arial" panose="020B0604020202020204" pitchFamily="34" charset="0"/>
              </a:rPr>
              <a:t>Culture</a:t>
            </a:r>
            <a:r>
              <a:rPr lang="en-US" altLang="en-US" i="1" dirty="0">
                <a:solidFill>
                  <a:srgbClr val="000000"/>
                </a:solidFill>
                <a:latin typeface="Arial" panose="020B0604020202020204" pitchFamily="34" charset="0"/>
              </a:rPr>
              <a:t>: c: the set of shared attitudes, values, goals, and practices that characterizes an institution or organization </a:t>
            </a:r>
          </a:p>
          <a:p>
            <a:pPr marL="457189" lvl="0" indent="-457189" defTabSz="457189" fontAlgn="auto">
              <a:lnSpc>
                <a:spcPct val="100000"/>
              </a:lnSpc>
              <a:spcBef>
                <a:spcPts val="0"/>
              </a:spcBef>
              <a:spcAft>
                <a:spcPts val="0"/>
              </a:spcAft>
              <a:buClr>
                <a:srgbClr val="000000"/>
              </a:buClr>
              <a:buNone/>
              <a:defRPr/>
            </a:pPr>
            <a:r>
              <a:rPr lang="en-US" altLang="en-US" i="1" dirty="0">
                <a:solidFill>
                  <a:srgbClr val="000000"/>
                </a:solidFill>
                <a:latin typeface="Arial" panose="020B0604020202020204" pitchFamily="34" charset="0"/>
              </a:rPr>
              <a:t>	Example: A corporate culture that is focused on the bottom line</a:t>
            </a:r>
          </a:p>
          <a:p>
            <a:pPr marL="457189" lvl="0" indent="-457189" algn="r" defTabSz="457189" fontAlgn="auto">
              <a:lnSpc>
                <a:spcPct val="100000"/>
              </a:lnSpc>
              <a:spcBef>
                <a:spcPts val="0"/>
              </a:spcBef>
              <a:spcAft>
                <a:spcPts val="0"/>
              </a:spcAft>
              <a:buClr>
                <a:srgbClr val="000000"/>
              </a:buClr>
              <a:buNone/>
              <a:defRPr/>
            </a:pPr>
            <a:r>
              <a:rPr lang="en-US" altLang="en-US" sz="1600" dirty="0">
                <a:solidFill>
                  <a:srgbClr val="000000"/>
                </a:solidFill>
                <a:latin typeface="Arial" panose="020B0604020202020204" pitchFamily="34" charset="0"/>
              </a:rPr>
              <a:t>http://www.merriam-webster.com/dictionary/culture </a:t>
            </a:r>
          </a:p>
          <a:p>
            <a:pPr marL="0" lvl="0" indent="0" defTabSz="457189" fontAlgn="auto">
              <a:lnSpc>
                <a:spcPct val="100000"/>
              </a:lnSpc>
              <a:spcBef>
                <a:spcPts val="0"/>
              </a:spcBef>
              <a:spcAft>
                <a:spcPts val="0"/>
              </a:spcAft>
              <a:buClr>
                <a:srgbClr val="000000"/>
              </a:buClr>
              <a:buFont typeface="Wingdings" panose="05000000000000000000" pitchFamily="2" charset="2"/>
              <a:buChar char="Ø"/>
              <a:defRPr/>
            </a:pPr>
            <a:endParaRPr lang="en-US" altLang="en-US" b="0" dirty="0">
              <a:solidFill>
                <a:srgbClr val="000000"/>
              </a:solidFill>
              <a:latin typeface="Arial" panose="020B0604020202020204" pitchFamily="34" charset="0"/>
              <a:ea typeface="ＭＳ Ｐゴシック" panose="020B0600070205080204" pitchFamily="34" charset="-128"/>
            </a:endParaRPr>
          </a:p>
          <a:p>
            <a:pPr marL="0" lvl="0" indent="0">
              <a:lnSpc>
                <a:spcPct val="100000"/>
              </a:lnSpc>
              <a:spcBef>
                <a:spcPts val="0"/>
              </a:spcBef>
              <a:spcAft>
                <a:spcPts val="0"/>
              </a:spcAft>
              <a:buClr>
                <a:srgbClr val="000000"/>
              </a:buClr>
              <a:buNone/>
            </a:pPr>
            <a:r>
              <a:rPr lang="en-US" altLang="en-US" dirty="0">
                <a:solidFill>
                  <a:srgbClr val="000000"/>
                </a:solidFill>
                <a:latin typeface="Arial" panose="020B0604020202020204" pitchFamily="34" charset="0"/>
              </a:rPr>
              <a:t>Safety Culture:</a:t>
            </a:r>
          </a:p>
          <a:p>
            <a:pPr marL="432000" lvl="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primary value</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that adds to the total corporate culture. </a:t>
            </a:r>
          </a:p>
          <a:p>
            <a:pPr marL="432000" lvl="0" indent="-432000" eaLnBrk="0" hangingPunct="0">
              <a:lnSpc>
                <a:spcPct val="100000"/>
              </a:lnSpc>
              <a:spcBef>
                <a:spcPts val="0"/>
              </a:spcBef>
              <a:buClr>
                <a:srgbClr val="000000"/>
              </a:buClr>
              <a:buSzPct val="100000"/>
              <a:buFont typeface="Wingdings" panose="05000000000000000000" pitchFamily="2" charset="2"/>
              <a:buChar char="Ø"/>
            </a:pPr>
            <a:endPar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lvl="0" indent="-432000" eaLnBrk="0" hangingPunct="0">
              <a:lnSpc>
                <a:spcPct val="100000"/>
              </a:lnSpc>
              <a:spcBef>
                <a:spcPts val="0"/>
              </a:spcBef>
              <a:buClr>
                <a:srgbClr val="000000"/>
              </a:buClr>
              <a:buSzPct val="100000"/>
              <a:buFont typeface="Wingdings" panose="05000000000000000000" pitchFamily="2" charset="2"/>
              <a:buChar char="Ø"/>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is a </a:t>
            </a:r>
            <a:r>
              <a:rPr lang="en-CA"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slice of the total corporate culture</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its set </a:t>
            </a:r>
            <a:r>
              <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values such </a:t>
            </a: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respect</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diversity, learning, integrity, advancing the organization. </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Q: What </a:t>
            </a:r>
            <a:r>
              <a:rPr lang="en-US" altLang="en-US" sz="2400" b="0" dirty="0">
                <a:solidFill>
                  <a:schemeClr val="accent2"/>
                </a:solidFill>
                <a:latin typeface="Arial" panose="020B0604020202020204" pitchFamily="34" charset="0"/>
                <a:ea typeface="+mj-ea"/>
                <a:cs typeface="Arial" panose="020B0604020202020204" pitchFamily="34" charset="0"/>
              </a:rPr>
              <a:t>are “Culture” and “Safety Culture”?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44364097"/>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4" name="Google Shape;128;p3"/>
          <p:cNvSpPr txBox="1">
            <a:spLocks/>
          </p:cNvSpPr>
          <p:nvPr/>
        </p:nvSpPr>
        <p:spPr>
          <a:xfrm>
            <a:off x="180000" y="820043"/>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marR="0" lvl="0" indent="0" algn="l" defTabSz="457200" rtl="0" eaLnBrk="1" fontAlgn="auto" latinLnBrk="0" hangingPunct="1">
              <a:lnSpc>
                <a:spcPct val="100000"/>
              </a:lnSpc>
              <a:spcBef>
                <a:spcPts val="0"/>
              </a:spcBef>
              <a:spcAft>
                <a:spcPts val="0"/>
              </a:spcAft>
              <a:buClr>
                <a:srgbClr val="000000"/>
              </a:buClr>
              <a:buSzPts val="2000"/>
              <a:buNone/>
              <a:tabLst/>
              <a:defRPr/>
            </a:pPr>
            <a:r>
              <a:rPr kumimoji="0" lang="en-CA" sz="1800" b="1" i="0" u="none" strike="noStrike" kern="1200" cap="none" spc="0" normalizeH="0" baseline="0" noProof="0" dirty="0" smtClean="0">
                <a:ln>
                  <a:noFill/>
                </a:ln>
                <a:solidFill>
                  <a:srgbClr val="000000"/>
                </a:solidFill>
                <a:effectLst/>
                <a:uLnTx/>
                <a:uFillTx/>
                <a:latin typeface="Arial"/>
                <a:ea typeface="Arial"/>
                <a:cs typeface="Arial"/>
                <a:sym typeface="Times New Roman"/>
              </a:rPr>
              <a:t>The path to unwanted outcomes … (see notes):</a:t>
            </a:r>
            <a:endParaRPr kumimoji="0" lang="en-CA" sz="1800" b="1" i="0" u="none" strike="noStrike" kern="1200" cap="none" spc="0" normalizeH="0" baseline="0" noProof="0" dirty="0" smtClean="0">
              <a:ln>
                <a:noFill/>
              </a:ln>
              <a:solidFill>
                <a:srgbClr val="000000"/>
              </a:solidFill>
              <a:effectLst/>
              <a:uLnTx/>
              <a:uFillTx/>
              <a:latin typeface="Arial"/>
              <a:ea typeface="Arial"/>
              <a:cs typeface="Arial"/>
              <a:sym typeface="Times New Roman"/>
            </a:endParaRPr>
          </a:p>
        </p:txBody>
      </p:sp>
      <p:sp>
        <p:nvSpPr>
          <p:cNvPr id="6" name="Google Shape;166;p6"/>
          <p:cNvSpPr/>
          <p:nvPr/>
        </p:nvSpPr>
        <p:spPr>
          <a:xfrm>
            <a:off x="180000" y="180000"/>
            <a:ext cx="8640000" cy="540000"/>
          </a:xfrm>
          <a:prstGeom prst="rect">
            <a:avLst/>
          </a:prstGeom>
          <a:no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20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Times New Roman"/>
              </a:rPr>
              <a:t>Why the Emphasis on Culture? The Culture-to-Outcomes Relationship:</a:t>
            </a:r>
            <a:endParaRPr kumimoji="0" 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Times New Roman"/>
            </a:endParaRPr>
          </a:p>
        </p:txBody>
      </p:sp>
      <p:sp>
        <p:nvSpPr>
          <p:cNvPr id="5" name="Right Arrow 4"/>
          <p:cNvSpPr/>
          <p:nvPr/>
        </p:nvSpPr>
        <p:spPr>
          <a:xfrm>
            <a:off x="432000" y="2520000"/>
            <a:ext cx="7316787" cy="2938856"/>
          </a:xfrm>
          <a:prstGeom prst="rightArrow">
            <a:avLst/>
          </a:prstGeom>
          <a:solidFill>
            <a:schemeClr val="accent5">
              <a:lumMod val="75000"/>
            </a:schemeClr>
          </a:solidFill>
          <a:ln>
            <a:solidFill>
              <a:schemeClr val="tx2">
                <a:lumMod val="75000"/>
                <a:lumOff val="2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7" name="Freeform 6"/>
          <p:cNvSpPr/>
          <p:nvPr/>
        </p:nvSpPr>
        <p:spPr>
          <a:xfrm>
            <a:off x="5370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sz="1600" dirty="0">
                <a:solidFill>
                  <a:schemeClr val="tx2"/>
                </a:solidFill>
              </a:rPr>
              <a:t>Culture</a:t>
            </a:r>
            <a:endParaRPr lang="en-US" sz="1600" dirty="0">
              <a:solidFill>
                <a:schemeClr val="tx2"/>
              </a:solidFill>
            </a:endParaRPr>
          </a:p>
        </p:txBody>
      </p:sp>
      <p:sp>
        <p:nvSpPr>
          <p:cNvPr id="8" name="Freeform 7"/>
          <p:cNvSpPr/>
          <p:nvPr/>
        </p:nvSpPr>
        <p:spPr>
          <a:xfrm>
            <a:off x="19812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sz="1600" dirty="0">
                <a:solidFill>
                  <a:schemeClr val="tx2"/>
                </a:solidFill>
              </a:rPr>
              <a:t>Management Systems</a:t>
            </a:r>
            <a:endParaRPr lang="en-US" sz="1600" dirty="0">
              <a:solidFill>
                <a:schemeClr val="tx2"/>
              </a:solidFill>
            </a:endParaRPr>
          </a:p>
        </p:txBody>
      </p:sp>
      <p:sp>
        <p:nvSpPr>
          <p:cNvPr id="9" name="Freeform 8"/>
          <p:cNvSpPr/>
          <p:nvPr/>
        </p:nvSpPr>
        <p:spPr>
          <a:xfrm>
            <a:off x="34290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sz="1600" dirty="0">
                <a:solidFill>
                  <a:schemeClr val="tx2"/>
                </a:solidFill>
              </a:rPr>
              <a:t>Processes &amp; Programs</a:t>
            </a:r>
            <a:endParaRPr lang="en-US" sz="1600" dirty="0">
              <a:solidFill>
                <a:schemeClr val="tx2"/>
              </a:solidFill>
            </a:endParaRPr>
          </a:p>
        </p:txBody>
      </p:sp>
      <p:sp>
        <p:nvSpPr>
          <p:cNvPr id="16" name="Freeform 15"/>
          <p:cNvSpPr/>
          <p:nvPr/>
        </p:nvSpPr>
        <p:spPr>
          <a:xfrm>
            <a:off x="49566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lvl="0" algn="ctr" defTabSz="622300">
              <a:lnSpc>
                <a:spcPct val="90000"/>
              </a:lnSpc>
              <a:spcBef>
                <a:spcPct val="0"/>
              </a:spcBef>
              <a:spcAft>
                <a:spcPct val="35000"/>
              </a:spcAft>
            </a:pPr>
            <a:r>
              <a:rPr lang="en-US" sz="1600" kern="1200" dirty="0" smtClean="0">
                <a:solidFill>
                  <a:schemeClr val="tx2"/>
                </a:solidFill>
              </a:rPr>
              <a:t>Residual</a:t>
            </a:r>
          </a:p>
          <a:p>
            <a:pPr lvl="0" algn="ctr" defTabSz="622300">
              <a:lnSpc>
                <a:spcPct val="90000"/>
              </a:lnSpc>
              <a:spcBef>
                <a:spcPct val="0"/>
              </a:spcBef>
              <a:spcAft>
                <a:spcPct val="35000"/>
              </a:spcAft>
            </a:pPr>
            <a:r>
              <a:rPr lang="en-US" sz="1600" kern="1200" dirty="0" smtClean="0">
                <a:solidFill>
                  <a:schemeClr val="tx2"/>
                </a:solidFill>
              </a:rPr>
              <a:t>Risk</a:t>
            </a:r>
            <a:endParaRPr lang="en-US" sz="1600" kern="1200" dirty="0">
              <a:solidFill>
                <a:schemeClr val="tx2"/>
              </a:solidFill>
            </a:endParaRPr>
          </a:p>
        </p:txBody>
      </p:sp>
      <p:sp>
        <p:nvSpPr>
          <p:cNvPr id="17" name="Freeform 16"/>
          <p:cNvSpPr/>
          <p:nvPr/>
        </p:nvSpPr>
        <p:spPr>
          <a:xfrm>
            <a:off x="6990366" y="3420000"/>
            <a:ext cx="1620234"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FF00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lvl="0" algn="ctr" defTabSz="622300">
              <a:lnSpc>
                <a:spcPct val="90000"/>
              </a:lnSpc>
              <a:spcBef>
                <a:spcPct val="0"/>
              </a:spcBef>
              <a:spcAft>
                <a:spcPct val="35000"/>
              </a:spcAft>
            </a:pPr>
            <a:r>
              <a:rPr lang="en-US" sz="1600" kern="1200" dirty="0" smtClean="0">
                <a:solidFill>
                  <a:schemeClr val="bg1"/>
                </a:solidFill>
              </a:rPr>
              <a:t>Performance Outcomes</a:t>
            </a:r>
          </a:p>
          <a:p>
            <a:pPr lvl="0" algn="ctr" defTabSz="622300">
              <a:lnSpc>
                <a:spcPct val="90000"/>
              </a:lnSpc>
              <a:spcBef>
                <a:spcPct val="0"/>
              </a:spcBef>
              <a:spcAft>
                <a:spcPct val="35000"/>
              </a:spcAft>
            </a:pPr>
            <a:r>
              <a:rPr lang="en-US" sz="1600" dirty="0" smtClean="0">
                <a:solidFill>
                  <a:schemeClr val="bg1"/>
                </a:solidFill>
              </a:rPr>
              <a:t>(Poor Results</a:t>
            </a:r>
            <a:r>
              <a:rPr lang="en-US" sz="1600" dirty="0" smtClean="0">
                <a:solidFill>
                  <a:schemeClr val="bg1"/>
                </a:solidFill>
              </a:rPr>
              <a:t>)</a:t>
            </a:r>
            <a:endParaRPr lang="en-US" sz="1600" kern="1200" dirty="0">
              <a:solidFill>
                <a:schemeClr val="bg1"/>
              </a:solidFill>
            </a:endParaRPr>
          </a:p>
        </p:txBody>
      </p:sp>
      <p:sp>
        <p:nvSpPr>
          <p:cNvPr id="4" name="TextBox 3"/>
          <p:cNvSpPr txBox="1"/>
          <p:nvPr/>
        </p:nvSpPr>
        <p:spPr>
          <a:xfrm>
            <a:off x="455613" y="5035396"/>
            <a:ext cx="1463040"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Organizational &amp; operational factors</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TextBox 9"/>
          <p:cNvSpPr txBox="1"/>
          <p:nvPr/>
        </p:nvSpPr>
        <p:spPr>
          <a:xfrm>
            <a:off x="1838936" y="5041979"/>
            <a:ext cx="1463040" cy="9541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Common management system elements</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Box 10"/>
          <p:cNvSpPr txBox="1"/>
          <p:nvPr/>
        </p:nvSpPr>
        <p:spPr>
          <a:xfrm>
            <a:off x="3222259" y="5041979"/>
            <a:ext cx="1463040" cy="9541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Requirements driven by management system</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TextBox 11"/>
          <p:cNvSpPr txBox="1"/>
          <p:nvPr/>
        </p:nvSpPr>
        <p:spPr>
          <a:xfrm>
            <a:off x="4685299" y="5042105"/>
            <a:ext cx="1699016" cy="9541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Risk level for organization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(what we tolerate or accept) </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Box 12"/>
          <p:cNvSpPr txBox="1"/>
          <p:nvPr/>
        </p:nvSpPr>
        <p:spPr>
          <a:xfrm>
            <a:off x="6828691" y="5041979"/>
            <a:ext cx="1781909"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Actual &amp; potential losses (close calls)</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2" name="Rounded Rectangular Callout 1"/>
          <p:cNvSpPr/>
          <p:nvPr/>
        </p:nvSpPr>
        <p:spPr>
          <a:xfrm>
            <a:off x="442002" y="1371600"/>
            <a:ext cx="2605998" cy="719951"/>
          </a:xfrm>
          <a:prstGeom prst="wedgeRoundRectCallout">
            <a:avLst>
              <a:gd name="adj1" fmla="val 36855"/>
              <a:gd name="adj2" fmla="val 157952"/>
              <a:gd name="adj3" fmla="val 16667"/>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Weaknesses here …</a:t>
            </a:r>
            <a:endParaRPr lang="en-US" dirty="0">
              <a:solidFill>
                <a:schemeClr val="tx1"/>
              </a:solidFill>
            </a:endParaRPr>
          </a:p>
        </p:txBody>
      </p:sp>
      <p:sp>
        <p:nvSpPr>
          <p:cNvPr id="19" name="Rounded Rectangular Callout 18"/>
          <p:cNvSpPr/>
          <p:nvPr/>
        </p:nvSpPr>
        <p:spPr>
          <a:xfrm>
            <a:off x="3301976" y="1371599"/>
            <a:ext cx="2699061" cy="1148275"/>
          </a:xfrm>
          <a:prstGeom prst="wedgeRoundRectCallout">
            <a:avLst>
              <a:gd name="adj1" fmla="val 32019"/>
              <a:gd name="adj2" fmla="val 132281"/>
              <a:gd name="adj3" fmla="val 16667"/>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 result in operating at higher than acceptable residual risk levels</a:t>
            </a:r>
            <a:endParaRPr lang="en-US" dirty="0">
              <a:solidFill>
                <a:schemeClr val="tx1"/>
              </a:solidFill>
            </a:endParaRPr>
          </a:p>
        </p:txBody>
      </p:sp>
      <p:sp>
        <p:nvSpPr>
          <p:cNvPr id="20" name="Rounded Rectangular Callout 19"/>
          <p:cNvSpPr/>
          <p:nvPr/>
        </p:nvSpPr>
        <p:spPr>
          <a:xfrm>
            <a:off x="6255013" y="1371599"/>
            <a:ext cx="2431787" cy="1148275"/>
          </a:xfrm>
          <a:prstGeom prst="wedgeRoundRectCallout">
            <a:avLst>
              <a:gd name="adj1" fmla="val 11947"/>
              <a:gd name="adj2" fmla="val 122038"/>
              <a:gd name="adj3" fmla="val 16667"/>
            </a:avLst>
          </a:prstGeom>
          <a:solidFill>
            <a:srgbClr val="FF0000"/>
          </a:solidFill>
          <a:ln w="28575">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dirty="0" smtClean="0">
                <a:solidFill>
                  <a:schemeClr val="bg1"/>
                </a:solidFill>
              </a:rPr>
              <a:t>… which will </a:t>
            </a:r>
            <a:r>
              <a:rPr lang="en-US" dirty="0">
                <a:solidFill>
                  <a:schemeClr val="bg1"/>
                </a:solidFill>
              </a:rPr>
              <a:t>eventually but ultimately result in poor outcomes</a:t>
            </a:r>
          </a:p>
        </p:txBody>
      </p:sp>
      <p:sp>
        <p:nvSpPr>
          <p:cNvPr id="21" name="Left Brace 20"/>
          <p:cNvSpPr/>
          <p:nvPr/>
        </p:nvSpPr>
        <p:spPr>
          <a:xfrm rot="5400000">
            <a:off x="2413350" y="1130309"/>
            <a:ext cx="573299" cy="3999499"/>
          </a:xfrm>
          <a:prstGeom prst="leftBrace">
            <a:avLst>
              <a:gd name="adj1" fmla="val 21936"/>
              <a:gd name="adj2" fmla="val 49759"/>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011549554"/>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4" name="Google Shape;128;p3"/>
          <p:cNvSpPr txBox="1">
            <a:spLocks/>
          </p:cNvSpPr>
          <p:nvPr/>
        </p:nvSpPr>
        <p:spPr>
          <a:xfrm>
            <a:off x="180000" y="827999"/>
            <a:ext cx="8640000" cy="5328000"/>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0" marR="0" lvl="0" indent="0" algn="l" defTabSz="457200" rtl="0" eaLnBrk="1" fontAlgn="auto" latinLnBrk="0" hangingPunct="1">
              <a:lnSpc>
                <a:spcPct val="100000"/>
              </a:lnSpc>
              <a:spcBef>
                <a:spcPts val="0"/>
              </a:spcBef>
              <a:spcAft>
                <a:spcPts val="0"/>
              </a:spcAft>
              <a:buClr>
                <a:srgbClr val="000000"/>
              </a:buClr>
              <a:buSzPts val="2000"/>
              <a:buNone/>
              <a:tabLst/>
              <a:defRPr/>
            </a:pPr>
            <a:r>
              <a:rPr kumimoji="0" lang="en-CA" sz="1800" b="1" i="0" u="none" strike="noStrike" kern="1200" cap="none" spc="0" normalizeH="0" baseline="0" noProof="0" dirty="0" smtClean="0">
                <a:ln>
                  <a:noFill/>
                </a:ln>
                <a:solidFill>
                  <a:srgbClr val="000000"/>
                </a:solidFill>
                <a:effectLst/>
                <a:uLnTx/>
                <a:uFillTx/>
                <a:latin typeface="Arial"/>
                <a:ea typeface="Arial"/>
                <a:cs typeface="Arial"/>
                <a:sym typeface="Times New Roman"/>
              </a:rPr>
              <a:t>The path to </a:t>
            </a:r>
            <a:r>
              <a:rPr kumimoji="0" lang="en-CA" sz="1800" b="1" i="0" u="sng" strike="noStrike" kern="1200" cap="none" spc="0" normalizeH="0" baseline="0" noProof="0" dirty="0" smtClean="0">
                <a:ln>
                  <a:noFill/>
                </a:ln>
                <a:solidFill>
                  <a:srgbClr val="000000"/>
                </a:solidFill>
                <a:effectLst/>
                <a:uLnTx/>
                <a:uFillTx/>
                <a:latin typeface="Arial"/>
                <a:ea typeface="Arial"/>
                <a:cs typeface="Arial"/>
                <a:sym typeface="Times New Roman"/>
              </a:rPr>
              <a:t>desirable </a:t>
            </a:r>
            <a:r>
              <a:rPr kumimoji="0" lang="en-CA" sz="1800" b="1" i="0" u="sng" strike="noStrike" kern="1200" cap="none" spc="0" normalizeH="0" baseline="0" noProof="0" dirty="0" smtClean="0">
                <a:ln>
                  <a:noFill/>
                </a:ln>
                <a:solidFill>
                  <a:srgbClr val="000000"/>
                </a:solidFill>
                <a:effectLst/>
                <a:uLnTx/>
                <a:uFillTx/>
                <a:latin typeface="Arial"/>
                <a:ea typeface="Arial"/>
                <a:cs typeface="Arial"/>
                <a:sym typeface="Times New Roman"/>
              </a:rPr>
              <a:t>outcomes</a:t>
            </a:r>
            <a:r>
              <a:rPr kumimoji="0" lang="en-CA" sz="1800" b="1" i="0" u="none" strike="noStrike" kern="1200" cap="none" spc="0" normalizeH="0" baseline="0" noProof="0" dirty="0" smtClean="0">
                <a:ln>
                  <a:noFill/>
                </a:ln>
                <a:solidFill>
                  <a:srgbClr val="000000"/>
                </a:solidFill>
                <a:effectLst/>
                <a:uLnTx/>
                <a:uFillTx/>
                <a:latin typeface="Arial"/>
                <a:ea typeface="Arial"/>
                <a:cs typeface="Arial"/>
                <a:sym typeface="Times New Roman"/>
              </a:rPr>
              <a:t> </a:t>
            </a:r>
            <a:r>
              <a:rPr kumimoji="0" lang="en-CA" sz="1800" b="1" i="0" u="none" strike="noStrike" kern="1200" cap="none" spc="0" normalizeH="0" baseline="0" noProof="0" dirty="0" smtClean="0">
                <a:ln>
                  <a:noFill/>
                </a:ln>
                <a:solidFill>
                  <a:srgbClr val="000000"/>
                </a:solidFill>
                <a:effectLst/>
                <a:uLnTx/>
                <a:uFillTx/>
                <a:latin typeface="Arial"/>
                <a:ea typeface="Arial"/>
                <a:cs typeface="Arial"/>
                <a:sym typeface="Times New Roman"/>
              </a:rPr>
              <a:t>… (see notes): </a:t>
            </a:r>
          </a:p>
          <a:p>
            <a:pPr marL="609600" marR="0" lvl="0" indent="-609600" algn="l" defTabSz="457200" rtl="0" eaLnBrk="1" fontAlgn="auto" latinLnBrk="0" hangingPunct="1">
              <a:lnSpc>
                <a:spcPct val="100000"/>
              </a:lnSpc>
              <a:spcBef>
                <a:spcPts val="0"/>
              </a:spcBef>
              <a:spcAft>
                <a:spcPts val="0"/>
              </a:spcAft>
              <a:buClr>
                <a:srgbClr val="000000"/>
              </a:buClr>
              <a:buSzPts val="2000"/>
              <a:buFont typeface="Noto Sans Symbols"/>
              <a:buChar char="⮚"/>
              <a:tabLst/>
              <a:defRPr/>
            </a:pPr>
            <a:endParaRPr kumimoji="0" lang="en-CA" sz="1800" b="0" i="0" u="none" strike="noStrike" kern="1200" cap="none" spc="0" normalizeH="0" baseline="0" noProof="0" dirty="0" smtClean="0">
              <a:ln>
                <a:noFill/>
              </a:ln>
              <a:solidFill>
                <a:srgbClr val="000000"/>
              </a:solidFill>
              <a:effectLst/>
              <a:uLnTx/>
              <a:uFillTx/>
              <a:latin typeface="Arial"/>
              <a:ea typeface="Arial"/>
              <a:cs typeface="Arial"/>
              <a:sym typeface="Times New Roman"/>
            </a:endParaRPr>
          </a:p>
        </p:txBody>
      </p:sp>
      <p:sp>
        <p:nvSpPr>
          <p:cNvPr id="6" name="Google Shape;166;p6"/>
          <p:cNvSpPr/>
          <p:nvPr/>
        </p:nvSpPr>
        <p:spPr>
          <a:xfrm>
            <a:off x="180000" y="180000"/>
            <a:ext cx="8640000" cy="540000"/>
          </a:xfrm>
          <a:prstGeom prst="rect">
            <a:avLst/>
          </a:prstGeom>
          <a:noFill/>
          <a:ln>
            <a:noFill/>
          </a:ln>
        </p:spPr>
        <p:txBody>
          <a:bodyPr anchor="ct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sz="20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sym typeface="Times New Roman"/>
              </a:rPr>
              <a:t>Why the Emphasis on Culture? The Culture-to-Outcomes Relationship:</a:t>
            </a:r>
            <a:endParaRPr kumimoji="0" lang="en-US" sz="20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sym typeface="Times New Roman"/>
            </a:endParaRPr>
          </a:p>
        </p:txBody>
      </p:sp>
      <p:sp>
        <p:nvSpPr>
          <p:cNvPr id="5" name="Right Arrow 4"/>
          <p:cNvSpPr/>
          <p:nvPr/>
        </p:nvSpPr>
        <p:spPr>
          <a:xfrm>
            <a:off x="432000" y="2520000"/>
            <a:ext cx="7316787" cy="2938856"/>
          </a:xfrm>
          <a:prstGeom prst="rightArrow">
            <a:avLst/>
          </a:prstGeom>
          <a:solidFill>
            <a:schemeClr val="accent5">
              <a:lumMod val="75000"/>
            </a:schemeClr>
          </a:solidFill>
          <a:ln>
            <a:solidFill>
              <a:schemeClr val="tx2">
                <a:lumMod val="75000"/>
                <a:lumOff val="25000"/>
              </a:schemeClr>
            </a:solidFill>
          </a:ln>
        </p:spPr>
        <p:style>
          <a:lnRef idx="0">
            <a:scrgbClr r="0" g="0" b="0"/>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sp>
        <p:nvSpPr>
          <p:cNvPr id="7" name="Freeform 6"/>
          <p:cNvSpPr/>
          <p:nvPr/>
        </p:nvSpPr>
        <p:spPr>
          <a:xfrm>
            <a:off x="5370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CC"/>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lvl="0" algn="ctr" defTabSz="622300">
              <a:lnSpc>
                <a:spcPct val="90000"/>
              </a:lnSpc>
              <a:spcBef>
                <a:spcPct val="0"/>
              </a:spcBef>
              <a:spcAft>
                <a:spcPct val="35000"/>
              </a:spcAft>
            </a:pPr>
            <a:r>
              <a:rPr lang="en-US" sz="1600" kern="1200" dirty="0" smtClean="0">
                <a:solidFill>
                  <a:schemeClr val="tx2"/>
                </a:solidFill>
              </a:rPr>
              <a:t>Culture</a:t>
            </a:r>
            <a:endParaRPr lang="en-US" sz="1600" kern="1200" dirty="0">
              <a:solidFill>
                <a:schemeClr val="tx2"/>
              </a:solidFill>
            </a:endParaRPr>
          </a:p>
        </p:txBody>
      </p:sp>
      <p:sp>
        <p:nvSpPr>
          <p:cNvPr id="8" name="Freeform 7"/>
          <p:cNvSpPr/>
          <p:nvPr/>
        </p:nvSpPr>
        <p:spPr>
          <a:xfrm>
            <a:off x="19812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lvl="0" algn="ctr" defTabSz="622300">
              <a:lnSpc>
                <a:spcPct val="90000"/>
              </a:lnSpc>
              <a:spcBef>
                <a:spcPct val="0"/>
              </a:spcBef>
              <a:spcAft>
                <a:spcPct val="35000"/>
              </a:spcAft>
            </a:pPr>
            <a:r>
              <a:rPr lang="en-US" sz="1600" kern="1200" dirty="0" smtClean="0">
                <a:solidFill>
                  <a:schemeClr val="tx2"/>
                </a:solidFill>
              </a:rPr>
              <a:t>Management Systems</a:t>
            </a:r>
            <a:endParaRPr lang="en-US" sz="1600" kern="1200" dirty="0">
              <a:solidFill>
                <a:schemeClr val="tx2"/>
              </a:solidFill>
            </a:endParaRPr>
          </a:p>
        </p:txBody>
      </p:sp>
      <p:sp>
        <p:nvSpPr>
          <p:cNvPr id="9" name="Freeform 8"/>
          <p:cNvSpPr/>
          <p:nvPr/>
        </p:nvSpPr>
        <p:spPr>
          <a:xfrm>
            <a:off x="34290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lvl="0" algn="ctr" defTabSz="622300">
              <a:lnSpc>
                <a:spcPct val="90000"/>
              </a:lnSpc>
              <a:spcBef>
                <a:spcPct val="0"/>
              </a:spcBef>
              <a:spcAft>
                <a:spcPct val="35000"/>
              </a:spcAft>
            </a:pPr>
            <a:r>
              <a:rPr lang="en-US" sz="1600" kern="1200" dirty="0" smtClean="0">
                <a:solidFill>
                  <a:schemeClr val="tx2"/>
                </a:solidFill>
              </a:rPr>
              <a:t>Processes &amp; Programs</a:t>
            </a:r>
            <a:endParaRPr lang="en-US" sz="1600" kern="1200" dirty="0">
              <a:solidFill>
                <a:schemeClr val="tx2"/>
              </a:solidFill>
            </a:endParaRPr>
          </a:p>
        </p:txBody>
      </p:sp>
      <p:sp>
        <p:nvSpPr>
          <p:cNvPr id="16" name="Freeform 15"/>
          <p:cNvSpPr/>
          <p:nvPr/>
        </p:nvSpPr>
        <p:spPr>
          <a:xfrm>
            <a:off x="4956600" y="3420000"/>
            <a:ext cx="1368000"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sz="1600" dirty="0">
                <a:solidFill>
                  <a:schemeClr val="tx2"/>
                </a:solidFill>
              </a:rPr>
              <a:t>Residual</a:t>
            </a:r>
          </a:p>
          <a:p>
            <a:pPr algn="ctr" defTabSz="622300">
              <a:lnSpc>
                <a:spcPct val="90000"/>
              </a:lnSpc>
              <a:spcAft>
                <a:spcPct val="35000"/>
              </a:spcAft>
            </a:pPr>
            <a:r>
              <a:rPr lang="en-US" sz="1600" dirty="0">
                <a:solidFill>
                  <a:schemeClr val="tx2"/>
                </a:solidFill>
              </a:rPr>
              <a:t>Risk</a:t>
            </a:r>
            <a:endParaRPr lang="en-US" sz="1600" dirty="0">
              <a:solidFill>
                <a:schemeClr val="tx2"/>
              </a:solidFill>
            </a:endParaRPr>
          </a:p>
        </p:txBody>
      </p:sp>
      <p:sp>
        <p:nvSpPr>
          <p:cNvPr id="17" name="Freeform 16"/>
          <p:cNvSpPr/>
          <p:nvPr/>
        </p:nvSpPr>
        <p:spPr>
          <a:xfrm>
            <a:off x="6990366" y="3420000"/>
            <a:ext cx="1620234" cy="1188000"/>
          </a:xfrm>
          <a:custGeom>
            <a:avLst/>
            <a:gdLst>
              <a:gd name="connsiteX0" fmla="*/ 0 w 1315434"/>
              <a:gd name="connsiteY0" fmla="*/ 195928 h 1175542"/>
              <a:gd name="connsiteX1" fmla="*/ 195928 w 1315434"/>
              <a:gd name="connsiteY1" fmla="*/ 0 h 1175542"/>
              <a:gd name="connsiteX2" fmla="*/ 1119506 w 1315434"/>
              <a:gd name="connsiteY2" fmla="*/ 0 h 1175542"/>
              <a:gd name="connsiteX3" fmla="*/ 1315434 w 1315434"/>
              <a:gd name="connsiteY3" fmla="*/ 195928 h 1175542"/>
              <a:gd name="connsiteX4" fmla="*/ 1315434 w 1315434"/>
              <a:gd name="connsiteY4" fmla="*/ 979614 h 1175542"/>
              <a:gd name="connsiteX5" fmla="*/ 1119506 w 1315434"/>
              <a:gd name="connsiteY5" fmla="*/ 1175542 h 1175542"/>
              <a:gd name="connsiteX6" fmla="*/ 195928 w 1315434"/>
              <a:gd name="connsiteY6" fmla="*/ 1175542 h 1175542"/>
              <a:gd name="connsiteX7" fmla="*/ 0 w 1315434"/>
              <a:gd name="connsiteY7" fmla="*/ 979614 h 1175542"/>
              <a:gd name="connsiteX8" fmla="*/ 0 w 1315434"/>
              <a:gd name="connsiteY8" fmla="*/ 195928 h 1175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5434" h="1175542">
                <a:moveTo>
                  <a:pt x="0" y="195928"/>
                </a:moveTo>
                <a:cubicBezTo>
                  <a:pt x="0" y="87720"/>
                  <a:pt x="87720" y="0"/>
                  <a:pt x="195928" y="0"/>
                </a:cubicBezTo>
                <a:lnTo>
                  <a:pt x="1119506" y="0"/>
                </a:lnTo>
                <a:cubicBezTo>
                  <a:pt x="1227714" y="0"/>
                  <a:pt x="1315434" y="87720"/>
                  <a:pt x="1315434" y="195928"/>
                </a:cubicBezTo>
                <a:lnTo>
                  <a:pt x="1315434" y="979614"/>
                </a:lnTo>
                <a:cubicBezTo>
                  <a:pt x="1315434" y="1087822"/>
                  <a:pt x="1227714" y="1175542"/>
                  <a:pt x="1119506" y="1175542"/>
                </a:cubicBezTo>
                <a:lnTo>
                  <a:pt x="195928" y="1175542"/>
                </a:lnTo>
                <a:cubicBezTo>
                  <a:pt x="87720" y="1175542"/>
                  <a:pt x="0" y="1087822"/>
                  <a:pt x="0" y="979614"/>
                </a:cubicBezTo>
                <a:lnTo>
                  <a:pt x="0" y="195928"/>
                </a:lnTo>
                <a:close/>
              </a:path>
            </a:pathLst>
          </a:custGeom>
          <a:solidFill>
            <a:srgbClr val="00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sz="1600" dirty="0">
                <a:solidFill>
                  <a:schemeClr val="tx2"/>
                </a:solidFill>
              </a:rPr>
              <a:t>Performance Outcomes</a:t>
            </a:r>
          </a:p>
          <a:p>
            <a:pPr algn="ctr" defTabSz="622300">
              <a:lnSpc>
                <a:spcPct val="90000"/>
              </a:lnSpc>
              <a:spcAft>
                <a:spcPct val="35000"/>
              </a:spcAft>
            </a:pPr>
            <a:r>
              <a:rPr lang="en-US" sz="1600" dirty="0" smtClean="0">
                <a:solidFill>
                  <a:schemeClr val="tx2"/>
                </a:solidFill>
              </a:rPr>
              <a:t>(Good Results</a:t>
            </a:r>
            <a:r>
              <a:rPr lang="en-US" sz="1600" dirty="0">
                <a:solidFill>
                  <a:schemeClr val="tx2"/>
                </a:solidFill>
              </a:rPr>
              <a:t>)</a:t>
            </a:r>
            <a:endParaRPr lang="en-US" sz="1600" dirty="0">
              <a:solidFill>
                <a:schemeClr val="tx2"/>
              </a:solidFill>
            </a:endParaRPr>
          </a:p>
        </p:txBody>
      </p:sp>
      <p:sp>
        <p:nvSpPr>
          <p:cNvPr id="4" name="TextBox 3"/>
          <p:cNvSpPr txBox="1"/>
          <p:nvPr/>
        </p:nvSpPr>
        <p:spPr>
          <a:xfrm>
            <a:off x="455613" y="5035396"/>
            <a:ext cx="1463040" cy="73866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Organizational &amp; operational factors</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0" name="TextBox 9"/>
          <p:cNvSpPr txBox="1"/>
          <p:nvPr/>
        </p:nvSpPr>
        <p:spPr>
          <a:xfrm>
            <a:off x="1838936" y="5041979"/>
            <a:ext cx="1463040" cy="9541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Common management system elements</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1" name="TextBox 10"/>
          <p:cNvSpPr txBox="1"/>
          <p:nvPr/>
        </p:nvSpPr>
        <p:spPr>
          <a:xfrm>
            <a:off x="3222259" y="5041979"/>
            <a:ext cx="1463040" cy="9541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Requirements driven by management system</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2" name="TextBox 11"/>
          <p:cNvSpPr txBox="1"/>
          <p:nvPr/>
        </p:nvSpPr>
        <p:spPr>
          <a:xfrm>
            <a:off x="4685299" y="5042105"/>
            <a:ext cx="1699016" cy="95410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Risk level for organization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(what we tolerate or accept) </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3" name="TextBox 12"/>
          <p:cNvSpPr txBox="1"/>
          <p:nvPr/>
        </p:nvSpPr>
        <p:spPr>
          <a:xfrm>
            <a:off x="6828691" y="5041979"/>
            <a:ext cx="1781909"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smtClean="0">
                <a:ln>
                  <a:noFill/>
                </a:ln>
                <a:solidFill>
                  <a:srgbClr val="000000"/>
                </a:solidFill>
                <a:effectLst/>
                <a:uLnTx/>
                <a:uFillTx/>
                <a:latin typeface="Arial"/>
                <a:ea typeface="+mn-ea"/>
                <a:cs typeface="+mn-cs"/>
              </a:rPr>
              <a:t>Actual &amp; potential losses (close calls)</a:t>
            </a:r>
            <a:endParaRPr kumimoji="0" lang="en-US" sz="1400" b="0" i="0" u="none" strike="noStrike" kern="1200" cap="none" spc="0" normalizeH="0" baseline="0" noProof="0" dirty="0">
              <a:ln>
                <a:noFill/>
              </a:ln>
              <a:solidFill>
                <a:srgbClr val="000000"/>
              </a:solidFill>
              <a:effectLst/>
              <a:uLnTx/>
              <a:uFillTx/>
              <a:latin typeface="Arial"/>
              <a:ea typeface="+mn-ea"/>
              <a:cs typeface="+mn-cs"/>
            </a:endParaRPr>
          </a:p>
        </p:txBody>
      </p:sp>
      <p:sp>
        <p:nvSpPr>
          <p:cNvPr id="1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8"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19" name="Rounded Rectangular Callout 18"/>
          <p:cNvSpPr/>
          <p:nvPr/>
        </p:nvSpPr>
        <p:spPr>
          <a:xfrm>
            <a:off x="4419600" y="1273360"/>
            <a:ext cx="4267200" cy="867883"/>
          </a:xfrm>
          <a:prstGeom prst="wedgeRoundRectCallout">
            <a:avLst>
              <a:gd name="adj1" fmla="val -54937"/>
              <a:gd name="adj2" fmla="val 133283"/>
              <a:gd name="adj3" fmla="val 16667"/>
            </a:avLst>
          </a:prstGeom>
          <a:solidFill>
            <a:srgbClr val="00FF00"/>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dirty="0" smtClean="0">
                <a:solidFill>
                  <a:schemeClr val="tx2"/>
                </a:solidFill>
              </a:rPr>
              <a:t>1) We should </a:t>
            </a:r>
            <a:r>
              <a:rPr lang="en-US" dirty="0">
                <a:solidFill>
                  <a:schemeClr val="tx2"/>
                </a:solidFill>
              </a:rPr>
              <a:t>readily see the connections </a:t>
            </a:r>
            <a:r>
              <a:rPr lang="en-US" dirty="0" smtClean="0">
                <a:solidFill>
                  <a:schemeClr val="tx2"/>
                </a:solidFill>
              </a:rPr>
              <a:t>for actions here </a:t>
            </a:r>
            <a:r>
              <a:rPr lang="en-US" dirty="0">
                <a:solidFill>
                  <a:schemeClr val="tx2"/>
                </a:solidFill>
              </a:rPr>
              <a:t>to reduce and improve </a:t>
            </a:r>
            <a:r>
              <a:rPr lang="en-US" dirty="0" smtClean="0">
                <a:solidFill>
                  <a:schemeClr val="tx2"/>
                </a:solidFill>
              </a:rPr>
              <a:t>performance.</a:t>
            </a:r>
            <a:endParaRPr lang="en-US" dirty="0">
              <a:solidFill>
                <a:schemeClr val="tx2"/>
              </a:solidFill>
            </a:endParaRPr>
          </a:p>
        </p:txBody>
      </p:sp>
      <p:sp>
        <p:nvSpPr>
          <p:cNvPr id="20" name="Left Brace 19"/>
          <p:cNvSpPr/>
          <p:nvPr/>
        </p:nvSpPr>
        <p:spPr>
          <a:xfrm rot="5400000">
            <a:off x="3866249" y="1034558"/>
            <a:ext cx="573299" cy="4191001"/>
          </a:xfrm>
          <a:prstGeom prst="leftBrace">
            <a:avLst>
              <a:gd name="adj1" fmla="val 21936"/>
              <a:gd name="adj2" fmla="val 49759"/>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ounded Rectangular Callout 20"/>
          <p:cNvSpPr/>
          <p:nvPr/>
        </p:nvSpPr>
        <p:spPr>
          <a:xfrm>
            <a:off x="537000" y="1288500"/>
            <a:ext cx="3577800" cy="1172970"/>
          </a:xfrm>
          <a:prstGeom prst="wedgeRoundRectCallout">
            <a:avLst>
              <a:gd name="adj1" fmla="val -28218"/>
              <a:gd name="adj2" fmla="val 135565"/>
              <a:gd name="adj3" fmla="val 16667"/>
            </a:avLst>
          </a:prstGeom>
          <a:solidFill>
            <a:srgbClr val="00FFCC"/>
          </a:solidFill>
          <a:ln w="12700">
            <a:solidFill>
              <a:schemeClr val="tx1"/>
            </a:solidFill>
          </a:ln>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spcFirstLastPara="0" vert="horz" wrap="square" lIns="36000" tIns="36000" rIns="36000" bIns="36000" numCol="1" spcCol="1270" anchor="ctr" anchorCtr="1">
            <a:noAutofit/>
          </a:bodyPr>
          <a:lstStyle/>
          <a:p>
            <a:pPr algn="ctr" defTabSz="622300">
              <a:lnSpc>
                <a:spcPct val="90000"/>
              </a:lnSpc>
              <a:spcAft>
                <a:spcPct val="35000"/>
              </a:spcAft>
            </a:pPr>
            <a:r>
              <a:rPr lang="en-US" dirty="0">
                <a:solidFill>
                  <a:schemeClr val="tx2"/>
                </a:solidFill>
              </a:rPr>
              <a:t>2) We now transition to where we, </a:t>
            </a:r>
            <a:r>
              <a:rPr lang="en-US" dirty="0" smtClean="0">
                <a:solidFill>
                  <a:schemeClr val="tx2"/>
                </a:solidFill>
              </a:rPr>
              <a:t>as </a:t>
            </a:r>
            <a:r>
              <a:rPr lang="en-CA" dirty="0" smtClean="0">
                <a:solidFill>
                  <a:schemeClr val="tx2"/>
                </a:solidFill>
                <a:sym typeface="Times New Roman"/>
              </a:rPr>
              <a:t>leaders</a:t>
            </a:r>
            <a:r>
              <a:rPr lang="en-CA" dirty="0">
                <a:solidFill>
                  <a:schemeClr val="tx2"/>
                </a:solidFill>
                <a:sym typeface="Times New Roman"/>
              </a:rPr>
              <a:t>, must also build and promote a positive safety culture</a:t>
            </a:r>
            <a:r>
              <a:rPr lang="en-US" dirty="0">
                <a:solidFill>
                  <a:schemeClr val="tx2"/>
                </a:solidFill>
              </a:rPr>
              <a:t>.</a:t>
            </a:r>
          </a:p>
        </p:txBody>
      </p:sp>
    </p:spTree>
    <p:extLst>
      <p:ext uri="{BB962C8B-B14F-4D97-AF65-F5344CB8AC3E}">
        <p14:creationId xmlns:p14="http://schemas.microsoft.com/office/powerpoint/2010/main" val="3717178371"/>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that safety culture determines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performance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Q: So, how does leadership shape </a:t>
            </a:r>
            <a:b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that culture?</a:t>
            </a:r>
          </a:p>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Through their actions!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Just as performance is founded on</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culture is founded on</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actions.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explore leadership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Leadership Actions Determines </a:t>
            </a:r>
            <a:r>
              <a:rPr lang="en-US" altLang="en-US" sz="2400" b="0" dirty="0">
                <a:solidFill>
                  <a:schemeClr val="accent2"/>
                </a:solidFill>
                <a:latin typeface="Arial" panose="020B0604020202020204" pitchFamily="34" charset="0"/>
                <a:ea typeface="+mj-ea"/>
                <a:cs typeface="Arial" panose="020B0604020202020204" pitchFamily="34" charset="0"/>
              </a:rPr>
              <a:t>Safety </a:t>
            </a:r>
            <a:r>
              <a:rPr lang="en-US" altLang="en-US" sz="2400" b="0" dirty="0" smtClean="0">
                <a:solidFill>
                  <a:schemeClr val="accent2"/>
                </a:solidFill>
                <a:latin typeface="Arial" panose="020B0604020202020204" pitchFamily="34" charset="0"/>
                <a:ea typeface="+mj-ea"/>
                <a:cs typeface="Arial" panose="020B0604020202020204" pitchFamily="34" charset="0"/>
              </a:rPr>
              <a:t>Culture: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501637" y="1285880"/>
            <a:ext cx="1780906" cy="1335680"/>
          </a:xfrm>
          <a:prstGeom prst="rect">
            <a:avLst/>
          </a:prstGeom>
          <a:ln>
            <a:solidFill>
              <a:schemeClr val="tx1"/>
            </a:solidFill>
          </a:ln>
        </p:spPr>
      </p:pic>
      <p:sp>
        <p:nvSpPr>
          <p:cNvPr id="5" name="Isosceles Triangle 4"/>
          <p:cNvSpPr/>
          <p:nvPr/>
        </p:nvSpPr>
        <p:spPr>
          <a:xfrm>
            <a:off x="5442857" y="1579639"/>
            <a:ext cx="2286472" cy="1954792"/>
          </a:xfrm>
          <a:prstGeom prst="triangle">
            <a:avLst>
              <a:gd name="adj" fmla="val 5069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sz="1600" dirty="0">
              <a:solidFill>
                <a:schemeClr val="tx1"/>
              </a:solidFill>
            </a:endParaRPr>
          </a:p>
        </p:txBody>
      </p:sp>
      <p:sp>
        <p:nvSpPr>
          <p:cNvPr id="6" name="Trapezoid 5"/>
          <p:cNvSpPr/>
          <p:nvPr/>
        </p:nvSpPr>
        <p:spPr>
          <a:xfrm>
            <a:off x="4800599" y="4038600"/>
            <a:ext cx="3528000" cy="828000"/>
          </a:xfrm>
          <a:prstGeom prst="trapezoid">
            <a:avLst>
              <a:gd name="adj" fmla="val 58631"/>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a:solidFill>
                  <a:schemeClr val="tx1"/>
                </a:solidFill>
              </a:rPr>
              <a:t>Culture</a:t>
            </a:r>
          </a:p>
        </p:txBody>
      </p:sp>
      <p:sp>
        <p:nvSpPr>
          <p:cNvPr id="11" name="Trapezoid 10"/>
          <p:cNvSpPr/>
          <p:nvPr/>
        </p:nvSpPr>
        <p:spPr>
          <a:xfrm>
            <a:off x="4191000" y="5370769"/>
            <a:ext cx="4752000" cy="828000"/>
          </a:xfrm>
          <a:prstGeom prst="trapezoid">
            <a:avLst>
              <a:gd name="adj" fmla="val 5968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Leadership Actions</a:t>
            </a:r>
            <a:endParaRPr lang="en-US" dirty="0">
              <a:solidFill>
                <a:schemeClr val="tx1"/>
              </a:solidFill>
            </a:endParaRPr>
          </a:p>
        </p:txBody>
      </p:sp>
      <p:sp>
        <p:nvSpPr>
          <p:cNvPr id="22" name="Rectangle 21"/>
          <p:cNvSpPr/>
          <p:nvPr/>
        </p:nvSpPr>
        <p:spPr>
          <a:xfrm>
            <a:off x="5442858" y="2590800"/>
            <a:ext cx="2286472" cy="7786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Performance</a:t>
            </a:r>
            <a:endParaRPr lang="en-US" dirty="0">
              <a:solidFill>
                <a:schemeClr val="tx1"/>
              </a:solidFill>
            </a:endParaRPr>
          </a:p>
        </p:txBody>
      </p:sp>
      <p:sp>
        <p:nvSpPr>
          <p:cNvPr id="24" name="Up Arrow 23"/>
          <p:cNvSpPr/>
          <p:nvPr/>
        </p:nvSpPr>
        <p:spPr>
          <a:xfrm>
            <a:off x="5780999" y="4707768"/>
            <a:ext cx="1534200" cy="828001"/>
          </a:xfrm>
          <a:prstGeom prst="up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 Arrow 24"/>
          <p:cNvSpPr/>
          <p:nvPr/>
        </p:nvSpPr>
        <p:spPr>
          <a:xfrm>
            <a:off x="5840699" y="3369431"/>
            <a:ext cx="1534200" cy="834168"/>
          </a:xfrm>
          <a:prstGeom prst="up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4"/>
          <a:stretch>
            <a:fillRect/>
          </a:stretch>
        </p:blipFill>
        <p:spPr>
          <a:xfrm>
            <a:off x="2604180" y="1255819"/>
            <a:ext cx="3117926" cy="1353500"/>
          </a:xfrm>
          <a:prstGeom prst="rect">
            <a:avLst/>
          </a:prstGeom>
        </p:spPr>
      </p:pic>
    </p:spTree>
    <p:extLst>
      <p:ext uri="{BB962C8B-B14F-4D97-AF65-F5344CB8AC3E}">
        <p14:creationId xmlns:p14="http://schemas.microsoft.com/office/powerpoint/2010/main" val="62116388"/>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a:lnSpc>
                <a:spcPct val="110000"/>
              </a:lnSpc>
              <a:buClr>
                <a:srgbClr val="000000"/>
              </a:buClr>
              <a:buNone/>
            </a:pPr>
            <a:r>
              <a:rPr lang="en-US" altLang="en-US" dirty="0">
                <a:solidFill>
                  <a:srgbClr val="000000"/>
                </a:solidFill>
                <a:latin typeface="Arial" panose="020B0604020202020204" pitchFamily="34" charset="0"/>
              </a:rPr>
              <a:t>Five key factors for </a:t>
            </a:r>
            <a:r>
              <a:rPr lang="en-US" altLang="en-US" u="sng" dirty="0">
                <a:solidFill>
                  <a:srgbClr val="000000"/>
                </a:solidFill>
                <a:latin typeface="Arial" panose="020B0604020202020204" pitchFamily="34" charset="0"/>
              </a:rPr>
              <a:t>sound leadership in risk management</a:t>
            </a:r>
            <a:r>
              <a:rPr lang="en-US" altLang="en-US" dirty="0">
                <a:solidFill>
                  <a:srgbClr val="000000"/>
                </a:solidFill>
                <a:latin typeface="Arial" panose="020B0604020202020204" pitchFamily="34" charset="0"/>
              </a:rPr>
              <a:t>:</a:t>
            </a:r>
          </a:p>
          <a:p>
            <a:pPr eaLnBrk="1" hangingPunct="1">
              <a:lnSpc>
                <a:spcPct val="110000"/>
              </a:lnSpc>
              <a:buClrTx/>
              <a:buSzPct val="100000"/>
              <a:buFont typeface="Wingdings" panose="05000000000000000000" pitchFamily="2" charset="2"/>
              <a:buAutoNum type="arabicParenR"/>
            </a:pPr>
            <a:r>
              <a:rPr lang="en-US" altLang="en-US" b="0" dirty="0" smtClean="0">
                <a:solidFill>
                  <a:srgbClr val="000000"/>
                </a:solidFill>
                <a:latin typeface="Arial" panose="020B0604020202020204" pitchFamily="34" charset="0"/>
              </a:rPr>
              <a:t>Management </a:t>
            </a:r>
            <a:r>
              <a:rPr lang="en-US" altLang="en-US" b="0" dirty="0">
                <a:solidFill>
                  <a:srgbClr val="000000"/>
                </a:solidFill>
                <a:latin typeface="Arial" panose="020B0604020202020204" pitchFamily="34" charset="0"/>
              </a:rPr>
              <a:t>belief that “safety is a value”. </a:t>
            </a:r>
            <a:endParaRPr lang="en-US" altLang="en-US" b="0" dirty="0" smtClean="0">
              <a:solidFill>
                <a:srgbClr val="000000"/>
              </a:solidFill>
              <a:latin typeface="Arial" panose="020B0604020202020204" pitchFamily="34" charset="0"/>
            </a:endParaRPr>
          </a:p>
          <a:p>
            <a:pPr eaLnBrk="1" hangingPunct="1">
              <a:lnSpc>
                <a:spcPct val="110000"/>
              </a:lnSpc>
              <a:buClrTx/>
              <a:buSzPct val="100000"/>
              <a:buFont typeface="Wingdings" panose="05000000000000000000" pitchFamily="2" charset="2"/>
              <a:buAutoNum type="arabicParenR"/>
            </a:pPr>
            <a:r>
              <a:rPr lang="en-US" altLang="en-US" b="0" dirty="0" smtClean="0">
                <a:solidFill>
                  <a:srgbClr val="000000"/>
                </a:solidFill>
                <a:latin typeface="Arial" panose="020B0604020202020204" pitchFamily="34" charset="0"/>
              </a:rPr>
              <a:t>Management </a:t>
            </a:r>
            <a:r>
              <a:rPr lang="en-US" altLang="en-US" b="0" dirty="0">
                <a:solidFill>
                  <a:srgbClr val="000000"/>
                </a:solidFill>
                <a:latin typeface="Arial" panose="020B0604020202020204" pitchFamily="34" charset="0"/>
              </a:rPr>
              <a:t>sets clear expectations.</a:t>
            </a:r>
          </a:p>
          <a:p>
            <a:pPr eaLnBrk="1" hangingPunct="1">
              <a:lnSpc>
                <a:spcPct val="110000"/>
              </a:lnSpc>
              <a:buClrTx/>
              <a:buSzPct val="100000"/>
              <a:buFont typeface="Wingdings" panose="05000000000000000000" pitchFamily="2" charset="2"/>
              <a:buAutoNum type="arabicParenR"/>
            </a:pPr>
            <a:r>
              <a:rPr lang="en-US" altLang="en-US" b="0" dirty="0">
                <a:solidFill>
                  <a:srgbClr val="000000"/>
                </a:solidFill>
                <a:latin typeface="Arial" panose="020B0604020202020204" pitchFamily="34" charset="0"/>
              </a:rPr>
              <a:t>Management is fully committed and is seen to be committed </a:t>
            </a:r>
            <a:br>
              <a:rPr lang="en-US" altLang="en-US" b="0" dirty="0">
                <a:solidFill>
                  <a:srgbClr val="000000"/>
                </a:solidFill>
                <a:latin typeface="Arial" panose="020B0604020202020204" pitchFamily="34" charset="0"/>
              </a:rPr>
            </a:br>
            <a:r>
              <a:rPr lang="en-US" altLang="en-US" b="0" dirty="0">
                <a:solidFill>
                  <a:srgbClr val="000000"/>
                </a:solidFill>
                <a:latin typeface="Arial" panose="020B0604020202020204" pitchFamily="34" charset="0"/>
              </a:rPr>
              <a:t>i.e. management is visible.</a:t>
            </a:r>
          </a:p>
          <a:p>
            <a:pPr eaLnBrk="1" hangingPunct="1">
              <a:lnSpc>
                <a:spcPct val="110000"/>
              </a:lnSpc>
              <a:buClrTx/>
              <a:buSzPct val="100000"/>
              <a:buFont typeface="Wingdings" panose="05000000000000000000" pitchFamily="2" charset="2"/>
              <a:buAutoNum type="arabicParenR"/>
            </a:pPr>
            <a:r>
              <a:rPr lang="en-US" altLang="en-US" b="0" dirty="0">
                <a:solidFill>
                  <a:srgbClr val="000000"/>
                </a:solidFill>
                <a:latin typeface="Arial" panose="020B0604020202020204" pitchFamily="34" charset="0"/>
              </a:rPr>
              <a:t>Management’s actions are always consistent with words.</a:t>
            </a:r>
          </a:p>
          <a:p>
            <a:pPr eaLnBrk="1" hangingPunct="1">
              <a:lnSpc>
                <a:spcPct val="110000"/>
              </a:lnSpc>
              <a:buClrTx/>
              <a:buSzPct val="100000"/>
              <a:buFont typeface="Wingdings" panose="05000000000000000000" pitchFamily="2" charset="2"/>
              <a:buAutoNum type="arabicParenR"/>
            </a:pPr>
            <a:r>
              <a:rPr lang="en-US" altLang="en-US" b="0" dirty="0">
                <a:solidFill>
                  <a:srgbClr val="000000"/>
                </a:solidFill>
                <a:latin typeface="Arial" panose="020B0604020202020204" pitchFamily="34" charset="0"/>
              </a:rPr>
              <a:t>Management views this as a proactive, long-term undertaking that requires constant attention</a:t>
            </a:r>
            <a:r>
              <a:rPr lang="en-US" altLang="en-US" b="0" dirty="0" smtClean="0">
                <a:solidFill>
                  <a:srgbClr val="000000"/>
                </a:solidFill>
                <a:latin typeface="Arial" panose="020B0604020202020204" pitchFamily="34" charset="0"/>
              </a:rPr>
              <a:t>.</a:t>
            </a:r>
          </a:p>
          <a:p>
            <a:pPr eaLnBrk="1" hangingPunct="1">
              <a:lnSpc>
                <a:spcPct val="110000"/>
              </a:lnSpc>
              <a:buClrTx/>
              <a:buSzPct val="100000"/>
              <a:buFont typeface="Wingdings" panose="05000000000000000000" pitchFamily="2" charset="2"/>
              <a:buAutoNum type="arabicParenR"/>
            </a:pPr>
            <a:endParaRPr lang="en-US" altLang="en-US" dirty="0">
              <a:solidFill>
                <a:srgbClr val="000000"/>
              </a:solidFill>
              <a:latin typeface="Arial" panose="020B0604020202020204" pitchFamily="34" charset="0"/>
            </a:endParaRPr>
          </a:p>
          <a:p>
            <a:pPr marL="0" indent="0" eaLnBrk="1" hangingPunct="1">
              <a:lnSpc>
                <a:spcPct val="110000"/>
              </a:lnSpc>
              <a:buClrTx/>
              <a:buSzPct val="100000"/>
              <a:buNone/>
            </a:pPr>
            <a:r>
              <a:rPr lang="en-US" altLang="en-US" dirty="0" smtClean="0">
                <a:solidFill>
                  <a:srgbClr val="000000"/>
                </a:solidFill>
                <a:latin typeface="Arial" panose="020B0604020202020204" pitchFamily="34" charset="0"/>
              </a:rPr>
              <a:t>Q: So </a:t>
            </a:r>
            <a:r>
              <a:rPr lang="en-US" altLang="en-US" dirty="0">
                <a:solidFill>
                  <a:srgbClr val="000000"/>
                </a:solidFill>
                <a:latin typeface="Arial" panose="020B0604020202020204" pitchFamily="34" charset="0"/>
              </a:rPr>
              <a:t>how do leader put these factors into practice</a:t>
            </a:r>
            <a:r>
              <a:rPr lang="en-US" altLang="en-US" dirty="0" smtClean="0">
                <a:solidFill>
                  <a:srgbClr val="000000"/>
                </a:solidFill>
                <a:latin typeface="Arial" panose="020B0604020202020204" pitchFamily="34" charset="0"/>
              </a:rPr>
              <a:t>?</a:t>
            </a:r>
          </a:p>
          <a:p>
            <a:pPr marL="0" indent="0" eaLnBrk="1" hangingPunct="1">
              <a:lnSpc>
                <a:spcPct val="110000"/>
              </a:lnSpc>
              <a:buClrTx/>
              <a:buSzPct val="100000"/>
              <a:buNone/>
            </a:pPr>
            <a:r>
              <a:rPr lang="en-US" altLang="en-US" dirty="0" smtClean="0">
                <a:solidFill>
                  <a:srgbClr val="000000"/>
                </a:solidFill>
                <a:latin typeface="Arial" panose="020B0604020202020204" pitchFamily="34" charset="0"/>
              </a:rPr>
              <a:t>A: Through their actions. </a:t>
            </a:r>
            <a:endParaRPr lang="en-US" altLang="en-US" dirty="0">
              <a:solidFill>
                <a:srgbClr val="000000"/>
              </a:solidFill>
              <a:latin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Leadership Actions Determines Safety Culture:</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114166120"/>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Setting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“Tone at the Top”- an example: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Video: Rex </a:t>
            </a:r>
            <a:r>
              <a:rPr lang="en-US" altLang="en-US" b="0" dirty="0" err="1">
                <a:solidFill>
                  <a:srgbClr val="000000"/>
                </a:solidFill>
                <a:latin typeface="Arial" panose="020B0604020202020204" pitchFamily="34" charset="0"/>
                <a:ea typeface="ＭＳ Ｐゴシック" panose="020B0600070205080204" pitchFamily="34" charset="-128"/>
                <a:cs typeface="Arial" panose="020B0604020202020204" pitchFamily="34" charset="0"/>
              </a:rPr>
              <a:t>Tillerson</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Exxon-Mobil CEO,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addresses employees at a Technology Conference,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November 3, 2010; 0:00 – 3:05</a:t>
            </a: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Leaders Shape Corporate Safety Culture – Tone at the Top:</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725405071"/>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Speak Louder than Words”: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Although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set expectations through communications </a:t>
            </a:r>
            <a:b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(e.g. the “Tone at the Top”), 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actions are </a:t>
            </a:r>
            <a:r>
              <a:rPr lang="en-US" altLang="en-US"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strongest form of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messaging</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Ultimately</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the actions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an organization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shape / influence /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create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culture. </a:t>
            </a:r>
          </a:p>
          <a:p>
            <a:pPr marL="565350" lvl="1" indent="-432000" eaLnBrk="0" hangingPunct="0">
              <a:lnSpc>
                <a:spcPct val="100000"/>
              </a:lnSpc>
              <a:spcBef>
                <a:spcPts val="0"/>
              </a:spcBef>
              <a:buClr>
                <a:srgbClr val="000000"/>
              </a:buClr>
              <a:buSzPct val="100000"/>
              <a:buFont typeface="Wingdings" panose="05000000000000000000" pitchFamily="2" charset="2"/>
              <a:buChar char="Ø"/>
            </a:pP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56535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behaviours</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their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position)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must be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consistent with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communicated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expectations …</a:t>
            </a:r>
          </a:p>
          <a:p>
            <a:pPr marL="56535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by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example!” and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alk the talk”. </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Leaders Shape </a:t>
            </a:r>
            <a:r>
              <a:rPr lang="en-US" altLang="en-US" sz="2400" b="0" dirty="0" smtClean="0">
                <a:solidFill>
                  <a:schemeClr val="accent2"/>
                </a:solidFill>
                <a:latin typeface="Arial" panose="020B0604020202020204" pitchFamily="34" charset="0"/>
                <a:ea typeface="+mj-ea"/>
                <a:cs typeface="Arial" panose="020B0604020202020204" pitchFamily="34" charset="0"/>
              </a:rPr>
              <a:t>Safety </a:t>
            </a:r>
            <a:r>
              <a:rPr lang="en-US" altLang="en-US" sz="2400" b="0" dirty="0">
                <a:solidFill>
                  <a:schemeClr val="accent2"/>
                </a:solidFill>
                <a:latin typeface="Arial" panose="020B0604020202020204" pitchFamily="34" charset="0"/>
                <a:ea typeface="+mj-ea"/>
                <a:cs typeface="Arial" panose="020B0604020202020204" pitchFamily="34" charset="0"/>
              </a:rPr>
              <a:t>Culture </a:t>
            </a:r>
            <a:r>
              <a:rPr lang="en-US" altLang="en-US" sz="2400" b="0" dirty="0" smtClean="0">
                <a:solidFill>
                  <a:schemeClr val="accent2"/>
                </a:solidFill>
                <a:latin typeface="Arial" panose="020B0604020202020204" pitchFamily="34" charset="0"/>
                <a:ea typeface="+mj-ea"/>
                <a:cs typeface="Arial" panose="020B0604020202020204" pitchFamily="34" charset="0"/>
              </a:rPr>
              <a:t>Through Their Actions: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6" name="Picture 5"/>
          <p:cNvPicPr>
            <a:picLocks noChangeAspect="1"/>
          </p:cNvPicPr>
          <p:nvPr/>
        </p:nvPicPr>
        <p:blipFill>
          <a:blip r:embed="rId3"/>
          <a:stretch>
            <a:fillRect/>
          </a:stretch>
        </p:blipFill>
        <p:spPr>
          <a:xfrm>
            <a:off x="4940108" y="2209800"/>
            <a:ext cx="3907324" cy="3136964"/>
          </a:xfrm>
          <a:prstGeom prst="rect">
            <a:avLst/>
          </a:prstGeom>
        </p:spPr>
      </p:pic>
    </p:spTree>
    <p:extLst>
      <p:ext uri="{BB962C8B-B14F-4D97-AF65-F5344CB8AC3E}">
        <p14:creationId xmlns:p14="http://schemas.microsoft.com/office/powerpoint/2010/main" val="660319674"/>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Actions Speak Louder</a:t>
            </a:r>
            <a:r>
              <a:rPr kumimoji="0" lang="en-CA" altLang="en-US" sz="2400" b="0" i="0" u="none" strike="noStrike" kern="1200" cap="none" spc="0" normalizeH="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Than Words:</a:t>
            </a:r>
            <a:endParaRPr kumimoji="0" lang="en-US"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R="0" lvl="0" algn="l" defTabSz="914400" rtl="0" eaLnBrk="0" fontAlgn="base" latinLnBrk="0" hangingPunct="0">
              <a:lnSpc>
                <a:spcPct val="100000"/>
              </a:lnSpc>
              <a:spcBef>
                <a:spcPts val="0"/>
              </a:spcBef>
              <a:spcAft>
                <a:spcPct val="0"/>
              </a:spcAft>
              <a:buClrTx/>
              <a:buSzPct val="100000"/>
              <a:tabLst/>
              <a:defRPr/>
            </a:pPr>
            <a:r>
              <a:rPr kumimoji="0" lang="en-CA" altLang="en-US"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Q: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How do managers and leaders influence culture?</a:t>
            </a:r>
          </a:p>
          <a:p>
            <a:pPr marL="360000" indent="-360000" defTabSz="914400" eaLnBrk="0" fontAlgn="base" hangingPunct="0">
              <a:spcAft>
                <a:spcPct val="0"/>
              </a:spcAft>
              <a:buSzPct val="100000"/>
              <a:buFont typeface="Wingdings" panose="05000000000000000000" pitchFamily="2" charset="2"/>
              <a:buChar char="Ø"/>
              <a:defRPr/>
            </a:pP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a:t>
            </a:r>
            <a:r>
              <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possible decision pathways: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r>
              <a:rPr kumimoji="0" lang="en-CA" altLang="en-US"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Lead by </a:t>
            </a:r>
            <a:r>
              <a:rPr kumimoji="0" lang="en-CA" altLang="en-US"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good</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example: “by the way I do work around here.”</a:t>
            </a:r>
          </a:p>
          <a:p>
            <a:pPr algn="r" defTabSz="914400" eaLnBrk="0" fontAlgn="base" hangingPunct="0">
              <a:spcAft>
                <a:spcPct val="0"/>
              </a:spcAft>
              <a:buSzPct val="100000"/>
              <a:defRPr/>
            </a:pPr>
            <a:r>
              <a:rPr lang="en-US" i="1" cap="none" dirty="0">
                <a:solidFill>
                  <a:schemeClr val="bg1"/>
                </a:solidFill>
                <a:latin typeface="Arial" panose="020B0604020202020204" pitchFamily="34" charset="0"/>
                <a:cs typeface="Arial" panose="020B0604020202020204" pitchFamily="34" charset="0"/>
              </a:rPr>
              <a:t>(Read the notes page for this slide</a:t>
            </a:r>
            <a:r>
              <a:rPr lang="en-US" i="1" cap="none" dirty="0" smtClean="0">
                <a:solidFill>
                  <a:schemeClr val="bg1"/>
                </a:solidFill>
                <a:latin typeface="Arial" panose="020B0604020202020204" pitchFamily="34" charset="0"/>
                <a:cs typeface="Arial" panose="020B0604020202020204" pitchFamily="34" charset="0"/>
              </a:rPr>
              <a:t>.)</a:t>
            </a:r>
            <a:endParaRPr kumimoji="0" lang="en-US"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TextBox 6">
            <a:extLst>
              <a:ext uri="{FF2B5EF4-FFF2-40B4-BE49-F238E27FC236}">
                <a16:creationId xmlns:a16="http://schemas.microsoft.com/office/drawing/2014/main" id="{B1EFBD83-DD23-4D05-96E2-B794525FD3DE}"/>
              </a:ext>
            </a:extLst>
          </p:cNvPr>
          <p:cNvSpPr txBox="1"/>
          <p:nvPr/>
        </p:nvSpPr>
        <p:spPr>
          <a:xfrm>
            <a:off x="3040562" y="1589794"/>
            <a:ext cx="2880000" cy="369332"/>
          </a:xfrm>
          <a:prstGeom prst="rect">
            <a:avLst/>
          </a:prstGeom>
          <a:solidFill>
            <a:sysClr val="window" lastClr="FFFFFF"/>
          </a:solidFill>
          <a:ln w="38100">
            <a:solidFill>
              <a:srgbClr val="00B0F0"/>
            </a:solidFill>
          </a:ln>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smtClean="0">
                <a:ln>
                  <a:noFill/>
                </a:ln>
                <a:solidFill>
                  <a:prstClr val="black"/>
                </a:solidFill>
                <a:effectLst/>
                <a:uLnTx/>
                <a:uFillTx/>
                <a:latin typeface="Tw Cen MT" panose="020B0602020104020603"/>
              </a:rPr>
              <a:t>ADMINISTRATIVE CONTROLS</a:t>
            </a:r>
            <a:endParaRPr kumimoji="0" lang="en-US" sz="1800" b="0" i="0" u="none" strike="noStrike" kern="0" cap="none" spc="0" normalizeH="0" baseline="0" noProof="0" dirty="0">
              <a:ln>
                <a:noFill/>
              </a:ln>
              <a:solidFill>
                <a:prstClr val="black"/>
              </a:solidFill>
              <a:effectLst/>
              <a:uLnTx/>
              <a:uFillTx/>
              <a:latin typeface="Tw Cen MT" panose="020B0602020104020603"/>
            </a:endParaRPr>
          </a:p>
        </p:txBody>
      </p:sp>
      <p:sp>
        <p:nvSpPr>
          <p:cNvPr id="10" name="Flowchart: Decision 9">
            <a:extLst>
              <a:ext uri="{FF2B5EF4-FFF2-40B4-BE49-F238E27FC236}">
                <a16:creationId xmlns:a16="http://schemas.microsoft.com/office/drawing/2014/main" id="{00FD66D0-CAB5-4B6B-81C0-5220D267B3E8}"/>
              </a:ext>
            </a:extLst>
          </p:cNvPr>
          <p:cNvSpPr/>
          <p:nvPr/>
        </p:nvSpPr>
        <p:spPr>
          <a:xfrm>
            <a:off x="1610031" y="2225704"/>
            <a:ext cx="5760000" cy="1270895"/>
          </a:xfrm>
          <a:prstGeom prst="flowChartDecision">
            <a:avLst/>
          </a:prstGeom>
          <a:solidFill>
            <a:sysClr val="window" lastClr="FFFFFF"/>
          </a:solidFill>
        </p:spPr>
        <p:txBody>
          <a:bodyPr wrap="square" lIns="0" tIns="0" rIns="0" bIns="0" rtlCol="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Tw Cen MT" panose="020B0602020104020603"/>
              </a:rPr>
              <a:t>Does the Leader follow the </a:t>
            </a:r>
            <a:r>
              <a:rPr kumimoji="0" lang="en-US" sz="1800" b="0" i="0" u="none" strike="noStrike" kern="0" cap="none" spc="0" normalizeH="0" baseline="0" noProof="0" dirty="0" smtClean="0">
                <a:ln>
                  <a:noFill/>
                </a:ln>
                <a:solidFill>
                  <a:prstClr val="black"/>
                </a:solidFill>
                <a:effectLst/>
                <a:uLnTx/>
                <a:uFillTx/>
                <a:latin typeface="Tw Cen MT" panose="020B0602020104020603"/>
              </a:rPr>
              <a:t>AC’s, </a:t>
            </a:r>
            <a:r>
              <a:rPr kumimoji="0" lang="en-US" sz="1800" b="0" i="0" u="none" strike="noStrike" kern="0" cap="none" spc="0" normalizeH="0" baseline="0" noProof="0" dirty="0">
                <a:ln>
                  <a:noFill/>
                </a:ln>
                <a:solidFill>
                  <a:prstClr val="black"/>
                </a:solidFill>
                <a:effectLst/>
                <a:uLnTx/>
                <a:uFillTx/>
                <a:latin typeface="Tw Cen MT" panose="020B0602020104020603"/>
              </a:rPr>
              <a:t>and </a:t>
            </a:r>
            <a:r>
              <a:rPr kumimoji="0" lang="en-US" sz="1800" b="0" i="0" u="none" strike="noStrike" kern="0" cap="none" spc="0" normalizeH="0" baseline="0" noProof="0" dirty="0" smtClean="0">
                <a:ln>
                  <a:noFill/>
                </a:ln>
                <a:solidFill>
                  <a:prstClr val="black"/>
                </a:solidFill>
                <a:effectLst/>
                <a:uLnTx/>
                <a:uFillTx/>
                <a:latin typeface="Tw Cen MT" panose="020B0602020104020603"/>
              </a:rPr>
              <a:t>coach </a:t>
            </a:r>
            <a:r>
              <a:rPr kumimoji="0" lang="en-US" sz="1800" b="0" i="0" u="none" strike="noStrike" kern="0" cap="none" spc="0" normalizeH="0" baseline="0" noProof="0" dirty="0">
                <a:ln>
                  <a:noFill/>
                </a:ln>
                <a:solidFill>
                  <a:prstClr val="black"/>
                </a:solidFill>
                <a:effectLst/>
                <a:uLnTx/>
                <a:uFillTx/>
                <a:latin typeface="Tw Cen MT" panose="020B0602020104020603"/>
              </a:rPr>
              <a:t>workers </a:t>
            </a:r>
            <a:r>
              <a:rPr kumimoji="0" lang="en-US" sz="1800" b="0" i="0" u="none" strike="noStrike" kern="0" cap="none" spc="0" normalizeH="0" baseline="0" noProof="0" dirty="0" smtClean="0">
                <a:ln>
                  <a:noFill/>
                </a:ln>
                <a:solidFill>
                  <a:prstClr val="black"/>
                </a:solidFill>
                <a:effectLst/>
                <a:uLnTx/>
                <a:uFillTx/>
                <a:latin typeface="Tw Cen MT" panose="020B0602020104020603"/>
              </a:rPr>
              <a:t>to follow the AC’s?</a:t>
            </a:r>
            <a:endParaRPr kumimoji="0" lang="en-US" sz="1800" b="0" i="0" u="none" strike="noStrike" kern="0" cap="none" spc="0" normalizeH="0" baseline="0" noProof="0" dirty="0">
              <a:ln>
                <a:noFill/>
              </a:ln>
              <a:solidFill>
                <a:prstClr val="black"/>
              </a:solidFill>
              <a:effectLst/>
              <a:uLnTx/>
              <a:uFillTx/>
              <a:latin typeface="Tw Cen MT" panose="020B0602020104020603"/>
            </a:endParaRPr>
          </a:p>
        </p:txBody>
      </p:sp>
      <p:sp>
        <p:nvSpPr>
          <p:cNvPr id="11" name="TextBox 10">
            <a:extLst>
              <a:ext uri="{FF2B5EF4-FFF2-40B4-BE49-F238E27FC236}">
                <a16:creationId xmlns:a16="http://schemas.microsoft.com/office/drawing/2014/main" id="{89297AE1-A19F-4423-BD97-979E65CD2D73}"/>
              </a:ext>
            </a:extLst>
          </p:cNvPr>
          <p:cNvSpPr txBox="1"/>
          <p:nvPr/>
        </p:nvSpPr>
        <p:spPr>
          <a:xfrm>
            <a:off x="998142" y="2338431"/>
            <a:ext cx="638759" cy="400110"/>
          </a:xfrm>
          <a:prstGeom prst="rect">
            <a:avLst/>
          </a:prstGeom>
          <a:solidFill>
            <a:srgbClr val="FF0000"/>
          </a:solidFill>
          <a:ln>
            <a:solidFill>
              <a:srgbClr val="FF0000"/>
            </a:solidFill>
          </a:ln>
        </p:spPr>
        <p:txBody>
          <a:bodyPr wrap="square" rtlCol="0">
            <a:spAutoFit/>
          </a:bodyPr>
          <a:lstStyle/>
          <a:p>
            <a:pPr algn="ctr"/>
            <a:r>
              <a:rPr lang="en-US" sz="2000" b="1" i="1" dirty="0">
                <a:solidFill>
                  <a:prstClr val="white"/>
                </a:solidFill>
                <a:latin typeface="Tw Cen MT" panose="020B0602020104020603"/>
              </a:rPr>
              <a:t>NO</a:t>
            </a:r>
          </a:p>
        </p:txBody>
      </p:sp>
      <p:sp>
        <p:nvSpPr>
          <p:cNvPr id="12" name="TextBox 11">
            <a:extLst>
              <a:ext uri="{FF2B5EF4-FFF2-40B4-BE49-F238E27FC236}">
                <a16:creationId xmlns:a16="http://schemas.microsoft.com/office/drawing/2014/main" id="{6B63EAB2-60AE-4714-AF1A-CBE2F004F3E9}"/>
              </a:ext>
            </a:extLst>
          </p:cNvPr>
          <p:cNvSpPr txBox="1"/>
          <p:nvPr/>
        </p:nvSpPr>
        <p:spPr>
          <a:xfrm>
            <a:off x="7210671" y="2308677"/>
            <a:ext cx="906634" cy="461665"/>
          </a:xfrm>
          <a:prstGeom prst="rect">
            <a:avLst/>
          </a:prstGeom>
          <a:solidFill>
            <a:srgbClr val="00FF00"/>
          </a:solidFill>
          <a:ln>
            <a:solidFill>
              <a:srgbClr val="00FF00"/>
            </a:solidFill>
          </a:ln>
        </p:spPr>
        <p:txBody>
          <a:bodyPr wrap="square" rtlCol="0">
            <a:spAutoFit/>
          </a:bodyPr>
          <a:lstStyle/>
          <a:p>
            <a:pPr algn="ctr"/>
            <a:r>
              <a:rPr lang="en-US" sz="2400" b="1" i="1" dirty="0">
                <a:solidFill>
                  <a:prstClr val="white"/>
                </a:solidFill>
                <a:latin typeface="Tw Cen MT" panose="020B0602020104020603"/>
              </a:rPr>
              <a:t>YES</a:t>
            </a:r>
          </a:p>
        </p:txBody>
      </p:sp>
      <p:sp>
        <p:nvSpPr>
          <p:cNvPr id="13" name="TextBox 12">
            <a:extLst>
              <a:ext uri="{FF2B5EF4-FFF2-40B4-BE49-F238E27FC236}">
                <a16:creationId xmlns:a16="http://schemas.microsoft.com/office/drawing/2014/main" id="{A6D44E32-5666-4D61-8CFA-B003ED35AC54}"/>
              </a:ext>
            </a:extLst>
          </p:cNvPr>
          <p:cNvSpPr txBox="1"/>
          <p:nvPr/>
        </p:nvSpPr>
        <p:spPr>
          <a:xfrm>
            <a:off x="246888" y="3500830"/>
            <a:ext cx="3899374" cy="1089529"/>
          </a:xfrm>
          <a:prstGeom prst="rect">
            <a:avLst/>
          </a:prstGeom>
          <a:solidFill>
            <a:sysClr val="window" lastClr="FFFFFF"/>
          </a:solidFill>
          <a:ln w="28575">
            <a:solidFill>
              <a:srgbClr val="FF0000"/>
            </a:solidFill>
          </a:ln>
        </p:spPr>
        <p:txBody>
          <a:bodyPr wrap="square" rtlCol="0">
            <a:spAutoFit/>
          </a:bodyPr>
          <a:lstStyle>
            <a:defPPr>
              <a:defRPr lang="en-US"/>
            </a:defPPr>
            <a:lvl1pPr algn="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Tw Cen MT" panose="020B0602020104020603"/>
              </a:rPr>
              <a:t>“The way we do work around here”, but it is NOT a positive culture. </a:t>
            </a:r>
            <a:r>
              <a:rPr kumimoji="0" lang="en-US" sz="1800" b="0" i="0" u="none" strike="noStrike" kern="0" cap="none" spc="0" normalizeH="0" baseline="0" noProof="0" dirty="0" smtClean="0">
                <a:ln>
                  <a:noFill/>
                </a:ln>
                <a:solidFill>
                  <a:prstClr val="black"/>
                </a:solidFill>
                <a:effectLst/>
                <a:uLnTx/>
                <a:uFillTx/>
                <a:latin typeface="Tw Cen MT" panose="020B0602020104020603"/>
              </a:rPr>
              <a:t>The leader has allowed</a:t>
            </a:r>
            <a:r>
              <a:rPr kumimoji="0" lang="en-US" sz="1800" b="0" i="0" u="none" strike="noStrike" kern="0" cap="none" spc="0" normalizeH="0" noProof="0" dirty="0" smtClean="0">
                <a:ln>
                  <a:noFill/>
                </a:ln>
                <a:solidFill>
                  <a:prstClr val="black"/>
                </a:solidFill>
                <a:effectLst/>
                <a:uLnTx/>
                <a:uFillTx/>
                <a:latin typeface="Tw Cen MT" panose="020B0602020104020603"/>
              </a:rPr>
              <a:t> adherence to AC’s to “slide” i.e. complacency sets in.</a:t>
            </a:r>
            <a:endParaRPr kumimoji="0" lang="en-US" sz="1800" b="0" i="0" u="none" strike="noStrike" kern="0" cap="none" spc="0" normalizeH="0" baseline="0" noProof="0" dirty="0">
              <a:ln>
                <a:noFill/>
              </a:ln>
              <a:solidFill>
                <a:prstClr val="black"/>
              </a:solidFill>
              <a:effectLst/>
              <a:uLnTx/>
              <a:uFillTx/>
              <a:latin typeface="Tw Cen MT" panose="020B0602020104020603"/>
            </a:endParaRPr>
          </a:p>
        </p:txBody>
      </p:sp>
      <p:cxnSp>
        <p:nvCxnSpPr>
          <p:cNvPr id="14" name="Elbow Connector 24">
            <a:extLst>
              <a:ext uri="{FF2B5EF4-FFF2-40B4-BE49-F238E27FC236}">
                <a16:creationId xmlns:a16="http://schemas.microsoft.com/office/drawing/2014/main" id="{A9202BCD-3B78-4326-AC77-D437CDCFD1EA}"/>
              </a:ext>
            </a:extLst>
          </p:cNvPr>
          <p:cNvCxnSpPr>
            <a:stCxn id="10" idx="1"/>
          </p:cNvCxnSpPr>
          <p:nvPr/>
        </p:nvCxnSpPr>
        <p:spPr>
          <a:xfrm rot="10800000" flipV="1">
            <a:off x="1316741" y="2861152"/>
            <a:ext cx="293291" cy="661222"/>
          </a:xfrm>
          <a:prstGeom prst="bentConnector2">
            <a:avLst/>
          </a:prstGeom>
          <a:noFill/>
          <a:ln w="57150" cap="flat" cmpd="sng" algn="ctr">
            <a:solidFill>
              <a:sysClr val="window" lastClr="FFFFFF"/>
            </a:solidFill>
            <a:prstDash val="solid"/>
            <a:tailEnd type="triangle"/>
          </a:ln>
          <a:effectLst/>
        </p:spPr>
      </p:cxnSp>
      <p:sp>
        <p:nvSpPr>
          <p:cNvPr id="15" name="TextBox 14">
            <a:extLst>
              <a:ext uri="{FF2B5EF4-FFF2-40B4-BE49-F238E27FC236}">
                <a16:creationId xmlns:a16="http://schemas.microsoft.com/office/drawing/2014/main" id="{0B6AC98F-88D6-49ED-BA13-BC25D15584B8}"/>
              </a:ext>
            </a:extLst>
          </p:cNvPr>
          <p:cNvSpPr txBox="1"/>
          <p:nvPr/>
        </p:nvSpPr>
        <p:spPr>
          <a:xfrm>
            <a:off x="4800600" y="3537406"/>
            <a:ext cx="3877056" cy="1089529"/>
          </a:xfrm>
          <a:prstGeom prst="rect">
            <a:avLst/>
          </a:prstGeom>
          <a:solidFill>
            <a:sysClr val="window" lastClr="FFFFFF"/>
          </a:solidFill>
          <a:ln w="28575">
            <a:solidFill>
              <a:srgbClr val="00FF00"/>
            </a:solidFill>
          </a:ln>
        </p:spPr>
        <p:txBody>
          <a:bodyPr wrap="square" rtlCol="0">
            <a:spAutoFit/>
          </a:bodyPr>
          <a:lstStyle>
            <a:defPPr>
              <a:defRPr lang="en-US"/>
            </a:defPPr>
            <a:lvl1pPr algn="ctr"/>
          </a:lstStyle>
          <a:p>
            <a:pPr lvl="0" defTabSz="914400">
              <a:lnSpc>
                <a:spcPct val="90000"/>
              </a:lnSpc>
              <a:defRPr/>
            </a:pPr>
            <a:r>
              <a:rPr kumimoji="0" lang="en-US" sz="1800" b="0" i="0" u="none" strike="noStrike" kern="0" cap="none" spc="0" normalizeH="0" baseline="0" noProof="0" dirty="0">
                <a:ln>
                  <a:noFill/>
                </a:ln>
                <a:solidFill>
                  <a:prstClr val="black"/>
                </a:solidFill>
                <a:effectLst/>
                <a:uLnTx/>
                <a:uFillTx/>
                <a:latin typeface="Tw Cen MT" panose="020B0602020104020603"/>
              </a:rPr>
              <a:t>“The way we do work around here”, but it IS a positive culture</a:t>
            </a:r>
            <a:r>
              <a:rPr lang="en-US" b="0" kern="0" dirty="0">
                <a:solidFill>
                  <a:prstClr val="black"/>
                </a:solidFill>
                <a:latin typeface="Tw Cen MT" panose="020B0602020104020603"/>
              </a:rPr>
              <a:t>. The leader </a:t>
            </a:r>
            <a:r>
              <a:rPr lang="en-US" b="0" kern="0" dirty="0" smtClean="0">
                <a:solidFill>
                  <a:prstClr val="black"/>
                </a:solidFill>
                <a:latin typeface="Tw Cen MT" panose="020B0602020104020603"/>
              </a:rPr>
              <a:t>checks adherence </a:t>
            </a:r>
            <a:r>
              <a:rPr lang="en-US" b="0" kern="0" dirty="0">
                <a:solidFill>
                  <a:prstClr val="black"/>
                </a:solidFill>
                <a:latin typeface="Tw Cen MT" panose="020B0602020104020603"/>
              </a:rPr>
              <a:t>to AC’s </a:t>
            </a:r>
            <a:r>
              <a:rPr lang="en-US" b="0" kern="0" dirty="0" smtClean="0">
                <a:solidFill>
                  <a:prstClr val="black"/>
                </a:solidFill>
                <a:latin typeface="Tw Cen MT" panose="020B0602020104020603"/>
              </a:rPr>
              <a:t>and acts on deficiencies i.e</a:t>
            </a:r>
            <a:r>
              <a:rPr lang="en-US" b="0" kern="0" dirty="0">
                <a:solidFill>
                  <a:prstClr val="black"/>
                </a:solidFill>
                <a:latin typeface="Tw Cen MT" panose="020B0602020104020603"/>
              </a:rPr>
              <a:t>. </a:t>
            </a:r>
            <a:r>
              <a:rPr lang="en-US" b="0" kern="0" dirty="0" smtClean="0">
                <a:solidFill>
                  <a:prstClr val="black"/>
                </a:solidFill>
                <a:latin typeface="Tw Cen MT" panose="020B0602020104020603"/>
              </a:rPr>
              <a:t>combats complacency.</a:t>
            </a:r>
            <a:endParaRPr kumimoji="0" lang="en-US" sz="1800" b="0" i="0" u="none" strike="noStrike" kern="0" cap="none" spc="0" normalizeH="0" baseline="0" noProof="0" dirty="0">
              <a:ln>
                <a:noFill/>
              </a:ln>
              <a:solidFill>
                <a:prstClr val="black"/>
              </a:solidFill>
              <a:effectLst/>
              <a:uLnTx/>
              <a:uFillTx/>
              <a:latin typeface="Tw Cen MT" panose="020B0602020104020603"/>
            </a:endParaRPr>
          </a:p>
        </p:txBody>
      </p:sp>
      <p:cxnSp>
        <p:nvCxnSpPr>
          <p:cNvPr id="16" name="Elbow Connector 26">
            <a:extLst>
              <a:ext uri="{FF2B5EF4-FFF2-40B4-BE49-F238E27FC236}">
                <a16:creationId xmlns:a16="http://schemas.microsoft.com/office/drawing/2014/main" id="{66D0F6C7-D556-49BB-B816-8BFE5E87BA93}"/>
              </a:ext>
            </a:extLst>
          </p:cNvPr>
          <p:cNvCxnSpPr>
            <a:stCxn id="10" idx="3"/>
          </p:cNvCxnSpPr>
          <p:nvPr/>
        </p:nvCxnSpPr>
        <p:spPr>
          <a:xfrm>
            <a:off x="7370031" y="2861152"/>
            <a:ext cx="612681" cy="676254"/>
          </a:xfrm>
          <a:prstGeom prst="bentConnector2">
            <a:avLst/>
          </a:prstGeom>
          <a:noFill/>
          <a:ln w="57150" cap="flat" cmpd="sng" algn="ctr">
            <a:solidFill>
              <a:sysClr val="window" lastClr="FFFFFF"/>
            </a:solidFill>
            <a:prstDash val="solid"/>
            <a:tailEnd type="triangle"/>
          </a:ln>
          <a:effectLst/>
        </p:spPr>
      </p:cxnSp>
      <p:sp>
        <p:nvSpPr>
          <p:cNvPr id="17" name="TextBox 16">
            <a:extLst>
              <a:ext uri="{FF2B5EF4-FFF2-40B4-BE49-F238E27FC236}">
                <a16:creationId xmlns:a16="http://schemas.microsoft.com/office/drawing/2014/main" id="{6156C51B-5D73-45C9-83BD-3A1EC425AEE8}"/>
              </a:ext>
            </a:extLst>
          </p:cNvPr>
          <p:cNvSpPr txBox="1"/>
          <p:nvPr/>
        </p:nvSpPr>
        <p:spPr>
          <a:xfrm>
            <a:off x="246888" y="4597846"/>
            <a:ext cx="3899374" cy="923330"/>
          </a:xfrm>
          <a:prstGeom prst="rect">
            <a:avLst/>
          </a:prstGeom>
          <a:solidFill>
            <a:srgbClr val="FF0000"/>
          </a:solidFill>
          <a:ln>
            <a:solidFill>
              <a:srgbClr val="FF0000"/>
            </a:solidFill>
          </a:ln>
        </p:spPr>
        <p:txBody>
          <a:bodyPr wrap="square" rtlCol="0">
            <a:spAutoFit/>
          </a:bodyPr>
          <a:lstStyle/>
          <a:p>
            <a:pPr algn="ctr">
              <a:lnSpc>
                <a:spcPct val="90000"/>
              </a:lnSpc>
            </a:pPr>
            <a:r>
              <a:rPr lang="en-US" sz="2000" i="1" dirty="0">
                <a:solidFill>
                  <a:prstClr val="white"/>
                </a:solidFill>
                <a:latin typeface="Tw Cen MT" panose="020B0602020104020603"/>
              </a:rPr>
              <a:t>Undesirable: The leader </a:t>
            </a:r>
            <a:r>
              <a:rPr lang="en-US" sz="2000" i="1" dirty="0" smtClean="0">
                <a:solidFill>
                  <a:prstClr val="white"/>
                </a:solidFill>
                <a:latin typeface="Tw Cen MT" panose="020B0602020104020603"/>
              </a:rPr>
              <a:t>has set </a:t>
            </a:r>
            <a:r>
              <a:rPr lang="en-US" sz="2000" i="1" dirty="0">
                <a:solidFill>
                  <a:prstClr val="white"/>
                </a:solidFill>
                <a:latin typeface="Tw Cen MT" panose="020B0602020104020603"/>
              </a:rPr>
              <a:t>the </a:t>
            </a:r>
            <a:br>
              <a:rPr lang="en-US" sz="2000" i="1" dirty="0">
                <a:solidFill>
                  <a:prstClr val="white"/>
                </a:solidFill>
                <a:latin typeface="Tw Cen MT" panose="020B0602020104020603"/>
              </a:rPr>
            </a:br>
            <a:r>
              <a:rPr lang="en-US" sz="2000" i="1" u="sng" dirty="0">
                <a:solidFill>
                  <a:prstClr val="white"/>
                </a:solidFill>
                <a:latin typeface="Tw Cen MT" panose="020B0602020104020603"/>
              </a:rPr>
              <a:t>WRONG</a:t>
            </a:r>
            <a:r>
              <a:rPr lang="en-US" sz="2000" i="1" dirty="0">
                <a:solidFill>
                  <a:prstClr val="white"/>
                </a:solidFill>
                <a:latin typeface="Tw Cen MT" panose="020B0602020104020603"/>
              </a:rPr>
              <a:t> example. </a:t>
            </a:r>
            <a:r>
              <a:rPr lang="en-US" sz="2000" i="1" dirty="0" smtClean="0">
                <a:solidFill>
                  <a:prstClr val="white"/>
                </a:solidFill>
                <a:latin typeface="Tw Cen MT" panose="020B0602020104020603"/>
              </a:rPr>
              <a:t/>
            </a:r>
            <a:br>
              <a:rPr lang="en-US" sz="2000" i="1" dirty="0" smtClean="0">
                <a:solidFill>
                  <a:prstClr val="white"/>
                </a:solidFill>
                <a:latin typeface="Tw Cen MT" panose="020B0602020104020603"/>
              </a:rPr>
            </a:br>
            <a:r>
              <a:rPr lang="en-US" sz="2000" i="1" dirty="0" smtClean="0">
                <a:solidFill>
                  <a:prstClr val="white"/>
                </a:solidFill>
                <a:latin typeface="Tw Cen MT" panose="020B0602020104020603"/>
              </a:rPr>
              <a:t>Substandard Practices!</a:t>
            </a:r>
            <a:endParaRPr lang="en-US" sz="2000" i="1" dirty="0">
              <a:solidFill>
                <a:prstClr val="white"/>
              </a:solidFill>
              <a:latin typeface="Tw Cen MT" panose="020B0602020104020603"/>
            </a:endParaRPr>
          </a:p>
        </p:txBody>
      </p:sp>
      <p:sp>
        <p:nvSpPr>
          <p:cNvPr id="18" name="TextBox 17">
            <a:extLst>
              <a:ext uri="{FF2B5EF4-FFF2-40B4-BE49-F238E27FC236}">
                <a16:creationId xmlns:a16="http://schemas.microsoft.com/office/drawing/2014/main" id="{F932E577-30A5-4A99-A2B3-8AC4CDB7C326}"/>
              </a:ext>
            </a:extLst>
          </p:cNvPr>
          <p:cNvSpPr txBox="1"/>
          <p:nvPr/>
        </p:nvSpPr>
        <p:spPr>
          <a:xfrm>
            <a:off x="4800602" y="4643566"/>
            <a:ext cx="3877056" cy="923330"/>
          </a:xfrm>
          <a:prstGeom prst="rect">
            <a:avLst/>
          </a:prstGeom>
          <a:solidFill>
            <a:srgbClr val="00FF00"/>
          </a:solidFill>
          <a:ln>
            <a:solidFill>
              <a:srgbClr val="00FF00"/>
            </a:solidFill>
          </a:ln>
        </p:spPr>
        <p:txBody>
          <a:bodyPr wrap="square" rtlCol="0">
            <a:spAutoFit/>
          </a:bodyPr>
          <a:lstStyle/>
          <a:p>
            <a:pPr algn="ctr">
              <a:lnSpc>
                <a:spcPct val="90000"/>
              </a:lnSpc>
            </a:pPr>
            <a:r>
              <a:rPr lang="en-US" sz="2000" i="1" dirty="0">
                <a:solidFill>
                  <a:prstClr val="black"/>
                </a:solidFill>
                <a:latin typeface="Tw Cen MT" panose="020B0602020104020603"/>
              </a:rPr>
              <a:t>Desirable: The leader </a:t>
            </a:r>
            <a:r>
              <a:rPr lang="en-US" sz="2000" i="1" dirty="0" smtClean="0">
                <a:solidFill>
                  <a:prstClr val="black"/>
                </a:solidFill>
                <a:latin typeface="Tw Cen MT" panose="020B0602020104020603"/>
              </a:rPr>
              <a:t>has set </a:t>
            </a:r>
            <a:r>
              <a:rPr lang="en-US" sz="2000" i="1" dirty="0">
                <a:solidFill>
                  <a:prstClr val="black"/>
                </a:solidFill>
                <a:latin typeface="Tw Cen MT" panose="020B0602020104020603"/>
              </a:rPr>
              <a:t>the </a:t>
            </a:r>
            <a:br>
              <a:rPr lang="en-US" sz="2000" i="1" dirty="0">
                <a:solidFill>
                  <a:prstClr val="black"/>
                </a:solidFill>
                <a:latin typeface="Tw Cen MT" panose="020B0602020104020603"/>
              </a:rPr>
            </a:br>
            <a:r>
              <a:rPr lang="en-US" sz="2000" i="1" u="sng" dirty="0">
                <a:solidFill>
                  <a:prstClr val="black"/>
                </a:solidFill>
                <a:latin typeface="Tw Cen MT" panose="020B0602020104020603"/>
              </a:rPr>
              <a:t>RIGHT</a:t>
            </a:r>
            <a:r>
              <a:rPr lang="en-US" sz="2000" i="1" dirty="0">
                <a:solidFill>
                  <a:prstClr val="black"/>
                </a:solidFill>
                <a:latin typeface="Tw Cen MT" panose="020B0602020104020603"/>
              </a:rPr>
              <a:t> example. </a:t>
            </a:r>
            <a:r>
              <a:rPr lang="en-US" sz="2000" i="1" dirty="0" smtClean="0">
                <a:solidFill>
                  <a:prstClr val="black"/>
                </a:solidFill>
                <a:latin typeface="Tw Cen MT" panose="020B0602020104020603"/>
              </a:rPr>
              <a:t/>
            </a:r>
            <a:br>
              <a:rPr lang="en-US" sz="2000" i="1" dirty="0" smtClean="0">
                <a:solidFill>
                  <a:prstClr val="black"/>
                </a:solidFill>
                <a:latin typeface="Tw Cen MT" panose="020B0602020104020603"/>
              </a:rPr>
            </a:br>
            <a:r>
              <a:rPr lang="en-US" sz="2000" i="1" dirty="0" smtClean="0">
                <a:solidFill>
                  <a:prstClr val="black"/>
                </a:solidFill>
                <a:latin typeface="Tw Cen MT" panose="020B0602020104020603"/>
              </a:rPr>
              <a:t>Acceptable Practices!</a:t>
            </a:r>
            <a:endParaRPr lang="en-US" sz="2000" i="1" dirty="0">
              <a:solidFill>
                <a:prstClr val="black"/>
              </a:solidFill>
              <a:latin typeface="Tw Cen MT" panose="020B0602020104020603"/>
            </a:endParaRPr>
          </a:p>
        </p:txBody>
      </p:sp>
      <p:cxnSp>
        <p:nvCxnSpPr>
          <p:cNvPr id="19" name="Elbow Connector 29">
            <a:extLst>
              <a:ext uri="{FF2B5EF4-FFF2-40B4-BE49-F238E27FC236}">
                <a16:creationId xmlns:a16="http://schemas.microsoft.com/office/drawing/2014/main" id="{84D0C1FD-25B3-43A0-AC5C-6D5B85175FFF}"/>
              </a:ext>
            </a:extLst>
          </p:cNvPr>
          <p:cNvCxnSpPr>
            <a:endCxn id="10" idx="0"/>
          </p:cNvCxnSpPr>
          <p:nvPr/>
        </p:nvCxnSpPr>
        <p:spPr>
          <a:xfrm rot="5400000">
            <a:off x="4356747" y="2092412"/>
            <a:ext cx="266577" cy="7"/>
          </a:xfrm>
          <a:prstGeom prst="bentConnector3">
            <a:avLst>
              <a:gd name="adj1" fmla="val 50000"/>
            </a:avLst>
          </a:prstGeom>
          <a:noFill/>
          <a:ln w="57150" cap="flat" cmpd="sng" algn="ctr">
            <a:solidFill>
              <a:sysClr val="window" lastClr="FFFFFF"/>
            </a:solidFill>
            <a:prstDash val="solid"/>
            <a:tailEnd type="triangle"/>
          </a:ln>
          <a:effectLst/>
        </p:spPr>
      </p:cxnSp>
      <p:sp>
        <p:nvSpPr>
          <p:cNvPr id="2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7512450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lvl="0">
              <a:spcBef>
                <a:spcPts val="0"/>
              </a:spcBef>
              <a:spcAft>
                <a:spcPts val="0"/>
              </a:spcAft>
              <a:defRPr/>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Actions Speak Louder Than Words:</a:t>
            </a: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R="0" lvl="0" algn="l" defTabSz="914400" rtl="0" eaLnBrk="0" fontAlgn="base" latinLnBrk="0" hangingPunct="0">
              <a:lnSpc>
                <a:spcPct val="100000"/>
              </a:lnSpc>
              <a:spcBef>
                <a:spcPts val="0"/>
              </a:spcBef>
              <a:spcAft>
                <a:spcPct val="0"/>
              </a:spcAft>
              <a:buClrTx/>
              <a:buSzPct val="100000"/>
              <a:tabLst/>
              <a:defRPr/>
            </a:pPr>
            <a:r>
              <a:rPr kumimoji="0" lang="en-CA" altLang="en-US"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Q: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How do managers and leaders influence culture?</a:t>
            </a:r>
          </a:p>
          <a:p>
            <a:pPr marL="360000" indent="-360000" defTabSz="914400" eaLnBrk="0" fontAlgn="base" hangingPunct="0">
              <a:spcAft>
                <a:spcPct val="0"/>
              </a:spcAft>
              <a:buSzPct val="100000"/>
              <a:buFont typeface="Wingdings" panose="05000000000000000000" pitchFamily="2" charset="2"/>
              <a:buChar char="Ø"/>
              <a:defRPr/>
            </a:pP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a:t>
            </a:r>
            <a:r>
              <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possible decision pathways: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R="0" lvl="0" algn="l" defTabSz="914400" rtl="0" eaLnBrk="0" fontAlgn="base" latinLnBrk="0" hangingPunct="0">
              <a:lnSpc>
                <a:spcPct val="100000"/>
              </a:lnSpc>
              <a:spcBef>
                <a:spcPts val="0"/>
              </a:spcBef>
              <a:spcAft>
                <a:spcPct val="0"/>
              </a:spcAft>
              <a:buClrTx/>
              <a:buSzPct val="100000"/>
              <a:tabLst/>
              <a:defRPr/>
            </a:pPr>
            <a:r>
              <a:rPr kumimoji="0" lang="en-CA" altLang="en-US" b="1"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Lead by </a:t>
            </a:r>
            <a:r>
              <a:rPr kumimoji="0" lang="en-CA" altLang="en-US" b="0" i="1"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good</a:t>
            </a:r>
            <a:r>
              <a:rPr kumimoji="0" lang="en-CA"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example: “by the way I do work around here.”</a:t>
            </a:r>
          </a:p>
          <a:p>
            <a:pPr algn="r" defTabSz="914400" eaLnBrk="0" fontAlgn="base" hangingPunct="0">
              <a:spcAft>
                <a:spcPct val="0"/>
              </a:spcAft>
              <a:buSzPct val="100000"/>
              <a:defRPr/>
            </a:pPr>
            <a:r>
              <a:rPr lang="en-US" i="1" cap="none" dirty="0">
                <a:solidFill>
                  <a:schemeClr val="bg1"/>
                </a:solidFill>
                <a:latin typeface="Arial" panose="020B0604020202020204" pitchFamily="34" charset="0"/>
                <a:cs typeface="Arial" panose="020B0604020202020204" pitchFamily="34" charset="0"/>
              </a:rPr>
              <a:t>(Read the notes page for this slide</a:t>
            </a:r>
            <a:r>
              <a:rPr lang="en-US" i="1" cap="none" dirty="0" smtClean="0">
                <a:solidFill>
                  <a:schemeClr val="bg1"/>
                </a:solidFill>
                <a:latin typeface="Arial" panose="020B0604020202020204" pitchFamily="34" charset="0"/>
                <a:cs typeface="Arial" panose="020B0604020202020204" pitchFamily="34" charset="0"/>
              </a:rPr>
              <a:t>.)</a:t>
            </a:r>
            <a:endParaRPr kumimoji="0" lang="en-US" altLang="en-US"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TextBox 6">
            <a:extLst>
              <a:ext uri="{FF2B5EF4-FFF2-40B4-BE49-F238E27FC236}">
                <a16:creationId xmlns:a16="http://schemas.microsoft.com/office/drawing/2014/main" id="{B1EFBD83-DD23-4D05-96E2-B794525FD3DE}"/>
              </a:ext>
            </a:extLst>
          </p:cNvPr>
          <p:cNvSpPr txBox="1"/>
          <p:nvPr/>
        </p:nvSpPr>
        <p:spPr>
          <a:xfrm>
            <a:off x="3040562" y="1589794"/>
            <a:ext cx="2880000" cy="369332"/>
          </a:xfrm>
          <a:prstGeom prst="rect">
            <a:avLst/>
          </a:prstGeom>
          <a:solidFill>
            <a:sysClr val="window" lastClr="FFFFFF"/>
          </a:solidFill>
          <a:ln w="38100">
            <a:solidFill>
              <a:srgbClr val="00B0F0"/>
            </a:solidFill>
          </a:ln>
        </p:spPr>
        <p:txBody>
          <a:bodyPr wrap="square" rtlCol="0">
            <a:spAutoFit/>
          </a:bodyPr>
          <a:lstStyle/>
          <a:p>
            <a:pPr lvl="0" algn="ctr" defTabSz="914400">
              <a:defRPr/>
            </a:pPr>
            <a:r>
              <a:rPr lang="en-US" b="0" kern="0" dirty="0">
                <a:solidFill>
                  <a:prstClr val="black"/>
                </a:solidFill>
                <a:latin typeface="Tw Cen MT" panose="020B0602020104020603"/>
              </a:rPr>
              <a:t>ENGINEERING CONTROLS</a:t>
            </a:r>
          </a:p>
        </p:txBody>
      </p:sp>
      <p:sp>
        <p:nvSpPr>
          <p:cNvPr id="10" name="Flowchart: Decision 9">
            <a:extLst>
              <a:ext uri="{FF2B5EF4-FFF2-40B4-BE49-F238E27FC236}">
                <a16:creationId xmlns:a16="http://schemas.microsoft.com/office/drawing/2014/main" id="{00FD66D0-CAB5-4B6B-81C0-5220D267B3E8}"/>
              </a:ext>
            </a:extLst>
          </p:cNvPr>
          <p:cNvSpPr/>
          <p:nvPr/>
        </p:nvSpPr>
        <p:spPr>
          <a:xfrm>
            <a:off x="1610031" y="2225704"/>
            <a:ext cx="5760000" cy="1270895"/>
          </a:xfrm>
          <a:prstGeom prst="flowChartDecision">
            <a:avLst/>
          </a:prstGeom>
          <a:solidFill>
            <a:sysClr val="window" lastClr="FFFFFF"/>
          </a:solidFill>
        </p:spPr>
        <p:txBody>
          <a:bodyPr wrap="square" lIns="0" tIns="0" rIns="0" bIns="0" rtlCol="0">
            <a:noAutofit/>
          </a:bodyPr>
          <a:lstStyle/>
          <a:p>
            <a:pPr lvl="0" algn="ctr" defTabSz="914400">
              <a:defRPr/>
            </a:pPr>
            <a:r>
              <a:rPr lang="en-US" b="0" kern="0" dirty="0">
                <a:solidFill>
                  <a:prstClr val="black"/>
                </a:solidFill>
                <a:latin typeface="Tw Cen MT" panose="020B0602020104020603"/>
              </a:rPr>
              <a:t>Does the Leader address deficiencies in </a:t>
            </a:r>
            <a:r>
              <a:rPr lang="en-US" b="0" kern="0" dirty="0" smtClean="0">
                <a:solidFill>
                  <a:prstClr val="black"/>
                </a:solidFill>
                <a:latin typeface="Tw Cen MT" panose="020B0602020104020603"/>
              </a:rPr>
              <a:t>EC’s </a:t>
            </a:r>
            <a:r>
              <a:rPr lang="en-US" b="0" kern="0" dirty="0">
                <a:solidFill>
                  <a:prstClr val="black"/>
                </a:solidFill>
                <a:latin typeface="Tw Cen MT" panose="020B0602020104020603"/>
              </a:rPr>
              <a:t>in a timely manner?</a:t>
            </a:r>
          </a:p>
        </p:txBody>
      </p:sp>
      <p:sp>
        <p:nvSpPr>
          <p:cNvPr id="11" name="TextBox 10">
            <a:extLst>
              <a:ext uri="{FF2B5EF4-FFF2-40B4-BE49-F238E27FC236}">
                <a16:creationId xmlns:a16="http://schemas.microsoft.com/office/drawing/2014/main" id="{89297AE1-A19F-4423-BD97-979E65CD2D73}"/>
              </a:ext>
            </a:extLst>
          </p:cNvPr>
          <p:cNvSpPr txBox="1"/>
          <p:nvPr/>
        </p:nvSpPr>
        <p:spPr>
          <a:xfrm>
            <a:off x="998142" y="2338431"/>
            <a:ext cx="638759" cy="400110"/>
          </a:xfrm>
          <a:prstGeom prst="rect">
            <a:avLst/>
          </a:prstGeom>
          <a:solidFill>
            <a:srgbClr val="FF0000"/>
          </a:solidFill>
          <a:ln>
            <a:solidFill>
              <a:srgbClr val="FF0000"/>
            </a:solidFill>
          </a:ln>
        </p:spPr>
        <p:txBody>
          <a:bodyPr wrap="square" rtlCol="0">
            <a:spAutoFit/>
          </a:bodyPr>
          <a:lstStyle/>
          <a:p>
            <a:pPr algn="ctr"/>
            <a:r>
              <a:rPr lang="en-US" sz="2000" b="1" i="1" dirty="0">
                <a:solidFill>
                  <a:prstClr val="white"/>
                </a:solidFill>
                <a:latin typeface="Tw Cen MT" panose="020B0602020104020603"/>
              </a:rPr>
              <a:t>NO</a:t>
            </a:r>
          </a:p>
        </p:txBody>
      </p:sp>
      <p:sp>
        <p:nvSpPr>
          <p:cNvPr id="12" name="TextBox 11">
            <a:extLst>
              <a:ext uri="{FF2B5EF4-FFF2-40B4-BE49-F238E27FC236}">
                <a16:creationId xmlns:a16="http://schemas.microsoft.com/office/drawing/2014/main" id="{6B63EAB2-60AE-4714-AF1A-CBE2F004F3E9}"/>
              </a:ext>
            </a:extLst>
          </p:cNvPr>
          <p:cNvSpPr txBox="1"/>
          <p:nvPr/>
        </p:nvSpPr>
        <p:spPr>
          <a:xfrm>
            <a:off x="7210671" y="2308677"/>
            <a:ext cx="906634" cy="461665"/>
          </a:xfrm>
          <a:prstGeom prst="rect">
            <a:avLst/>
          </a:prstGeom>
          <a:solidFill>
            <a:srgbClr val="00FF00"/>
          </a:solidFill>
          <a:ln>
            <a:solidFill>
              <a:srgbClr val="00FF00"/>
            </a:solidFill>
          </a:ln>
        </p:spPr>
        <p:txBody>
          <a:bodyPr wrap="square" rtlCol="0">
            <a:spAutoFit/>
          </a:bodyPr>
          <a:lstStyle/>
          <a:p>
            <a:pPr algn="ctr"/>
            <a:r>
              <a:rPr lang="en-US" sz="2400" b="1" i="1" dirty="0">
                <a:solidFill>
                  <a:prstClr val="white"/>
                </a:solidFill>
                <a:latin typeface="Tw Cen MT" panose="020B0602020104020603"/>
              </a:rPr>
              <a:t>YES</a:t>
            </a:r>
          </a:p>
        </p:txBody>
      </p:sp>
      <p:sp>
        <p:nvSpPr>
          <p:cNvPr id="13" name="TextBox 12">
            <a:extLst>
              <a:ext uri="{FF2B5EF4-FFF2-40B4-BE49-F238E27FC236}">
                <a16:creationId xmlns:a16="http://schemas.microsoft.com/office/drawing/2014/main" id="{A6D44E32-5666-4D61-8CFA-B003ED35AC54}"/>
              </a:ext>
            </a:extLst>
          </p:cNvPr>
          <p:cNvSpPr txBox="1"/>
          <p:nvPr/>
        </p:nvSpPr>
        <p:spPr>
          <a:xfrm>
            <a:off x="246888" y="3500830"/>
            <a:ext cx="3899374" cy="1089529"/>
          </a:xfrm>
          <a:prstGeom prst="rect">
            <a:avLst/>
          </a:prstGeom>
          <a:solidFill>
            <a:sysClr val="window" lastClr="FFFFFF"/>
          </a:solidFill>
          <a:ln w="28575">
            <a:solidFill>
              <a:srgbClr val="FF0000"/>
            </a:solidFill>
          </a:ln>
        </p:spPr>
        <p:txBody>
          <a:bodyPr wrap="square" rtlCol="0">
            <a:spAutoFit/>
          </a:bodyPr>
          <a:lstStyle>
            <a:defPPr>
              <a:defRPr lang="en-US"/>
            </a:defPPr>
            <a:lvl1pPr algn="ctr"/>
          </a:lstStyle>
          <a:p>
            <a:pPr lvl="0" defTabSz="914400">
              <a:lnSpc>
                <a:spcPct val="90000"/>
              </a:lnSpc>
              <a:defRPr/>
            </a:pPr>
            <a:r>
              <a:rPr lang="en-US" b="0" kern="0" dirty="0">
                <a:solidFill>
                  <a:prstClr val="black"/>
                </a:solidFill>
                <a:latin typeface="Tw Cen MT" panose="020B0602020104020603"/>
              </a:rPr>
              <a:t>“The way we do work around here”, but it is NOT a positive culture. The leader has allowed the condition of EC’s to degrade i.e. </a:t>
            </a:r>
            <a:r>
              <a:rPr lang="en-US" b="0" kern="0" dirty="0" smtClean="0">
                <a:solidFill>
                  <a:prstClr val="black"/>
                </a:solidFill>
                <a:latin typeface="Tw Cen MT" panose="020B0602020104020603"/>
              </a:rPr>
              <a:t>complacency sets in.</a:t>
            </a:r>
            <a:endParaRPr lang="en-US" b="0" kern="0" dirty="0">
              <a:solidFill>
                <a:prstClr val="black"/>
              </a:solidFill>
              <a:latin typeface="Tw Cen MT" panose="020B0602020104020603"/>
            </a:endParaRPr>
          </a:p>
        </p:txBody>
      </p:sp>
      <p:cxnSp>
        <p:nvCxnSpPr>
          <p:cNvPr id="14" name="Elbow Connector 24">
            <a:extLst>
              <a:ext uri="{FF2B5EF4-FFF2-40B4-BE49-F238E27FC236}">
                <a16:creationId xmlns:a16="http://schemas.microsoft.com/office/drawing/2014/main" id="{A9202BCD-3B78-4326-AC77-D437CDCFD1EA}"/>
              </a:ext>
            </a:extLst>
          </p:cNvPr>
          <p:cNvCxnSpPr>
            <a:stCxn id="10" idx="1"/>
          </p:cNvCxnSpPr>
          <p:nvPr/>
        </p:nvCxnSpPr>
        <p:spPr>
          <a:xfrm rot="10800000" flipV="1">
            <a:off x="1316741" y="2861152"/>
            <a:ext cx="293291" cy="661222"/>
          </a:xfrm>
          <a:prstGeom prst="bentConnector2">
            <a:avLst/>
          </a:prstGeom>
          <a:noFill/>
          <a:ln w="57150" cap="flat" cmpd="sng" algn="ctr">
            <a:solidFill>
              <a:sysClr val="window" lastClr="FFFFFF"/>
            </a:solidFill>
            <a:prstDash val="solid"/>
            <a:tailEnd type="triangle"/>
          </a:ln>
          <a:effectLst/>
        </p:spPr>
      </p:cxnSp>
      <p:sp>
        <p:nvSpPr>
          <p:cNvPr id="15" name="TextBox 14">
            <a:extLst>
              <a:ext uri="{FF2B5EF4-FFF2-40B4-BE49-F238E27FC236}">
                <a16:creationId xmlns:a16="http://schemas.microsoft.com/office/drawing/2014/main" id="{0B6AC98F-88D6-49ED-BA13-BC25D15584B8}"/>
              </a:ext>
            </a:extLst>
          </p:cNvPr>
          <p:cNvSpPr txBox="1"/>
          <p:nvPr/>
        </p:nvSpPr>
        <p:spPr>
          <a:xfrm>
            <a:off x="4800600" y="3537406"/>
            <a:ext cx="3877056" cy="1089529"/>
          </a:xfrm>
          <a:prstGeom prst="rect">
            <a:avLst/>
          </a:prstGeom>
          <a:solidFill>
            <a:sysClr val="window" lastClr="FFFFFF"/>
          </a:solidFill>
          <a:ln w="28575">
            <a:solidFill>
              <a:srgbClr val="00FF00"/>
            </a:solidFill>
          </a:ln>
        </p:spPr>
        <p:txBody>
          <a:bodyPr wrap="square" rtlCol="0">
            <a:spAutoFit/>
          </a:bodyPr>
          <a:lstStyle>
            <a:defPPr>
              <a:defRPr lang="en-US"/>
            </a:defPPr>
            <a:lvl1pPr algn="ctr"/>
          </a:lstStyle>
          <a:p>
            <a:pPr lvl="0" defTabSz="914400">
              <a:lnSpc>
                <a:spcPct val="90000"/>
              </a:lnSpc>
              <a:defRPr/>
            </a:pPr>
            <a:r>
              <a:rPr lang="en-US" b="0" kern="0" dirty="0">
                <a:solidFill>
                  <a:prstClr val="black"/>
                </a:solidFill>
                <a:latin typeface="Tw Cen MT" panose="020B0602020104020603"/>
              </a:rPr>
              <a:t>“The way we do work around here”, but it IS a positive culture. The leader checks that EC’s are sound, and addresses deficiencies i.e. combats complacency.</a:t>
            </a:r>
          </a:p>
        </p:txBody>
      </p:sp>
      <p:cxnSp>
        <p:nvCxnSpPr>
          <p:cNvPr id="16" name="Elbow Connector 26">
            <a:extLst>
              <a:ext uri="{FF2B5EF4-FFF2-40B4-BE49-F238E27FC236}">
                <a16:creationId xmlns:a16="http://schemas.microsoft.com/office/drawing/2014/main" id="{66D0F6C7-D556-49BB-B816-8BFE5E87BA93}"/>
              </a:ext>
            </a:extLst>
          </p:cNvPr>
          <p:cNvCxnSpPr>
            <a:stCxn id="10" idx="3"/>
          </p:cNvCxnSpPr>
          <p:nvPr/>
        </p:nvCxnSpPr>
        <p:spPr>
          <a:xfrm>
            <a:off x="7370031" y="2861152"/>
            <a:ext cx="612681" cy="676254"/>
          </a:xfrm>
          <a:prstGeom prst="bentConnector2">
            <a:avLst/>
          </a:prstGeom>
          <a:noFill/>
          <a:ln w="57150" cap="flat" cmpd="sng" algn="ctr">
            <a:solidFill>
              <a:sysClr val="window" lastClr="FFFFFF"/>
            </a:solidFill>
            <a:prstDash val="solid"/>
            <a:tailEnd type="triangle"/>
          </a:ln>
          <a:effectLst/>
        </p:spPr>
      </p:cxnSp>
      <p:sp>
        <p:nvSpPr>
          <p:cNvPr id="17" name="TextBox 16">
            <a:extLst>
              <a:ext uri="{FF2B5EF4-FFF2-40B4-BE49-F238E27FC236}">
                <a16:creationId xmlns:a16="http://schemas.microsoft.com/office/drawing/2014/main" id="{6156C51B-5D73-45C9-83BD-3A1EC425AEE8}"/>
              </a:ext>
            </a:extLst>
          </p:cNvPr>
          <p:cNvSpPr txBox="1"/>
          <p:nvPr/>
        </p:nvSpPr>
        <p:spPr>
          <a:xfrm>
            <a:off x="246888" y="4597846"/>
            <a:ext cx="3899374" cy="923330"/>
          </a:xfrm>
          <a:prstGeom prst="rect">
            <a:avLst/>
          </a:prstGeom>
          <a:solidFill>
            <a:srgbClr val="FF0000"/>
          </a:solidFill>
          <a:ln>
            <a:solidFill>
              <a:srgbClr val="FF0000"/>
            </a:solidFill>
          </a:ln>
        </p:spPr>
        <p:txBody>
          <a:bodyPr wrap="square" rtlCol="0">
            <a:spAutoFit/>
          </a:bodyPr>
          <a:lstStyle/>
          <a:p>
            <a:pPr algn="ctr">
              <a:lnSpc>
                <a:spcPct val="90000"/>
              </a:lnSpc>
            </a:pPr>
            <a:r>
              <a:rPr lang="en-US" sz="2000" i="1" dirty="0">
                <a:solidFill>
                  <a:prstClr val="white"/>
                </a:solidFill>
                <a:latin typeface="Tw Cen MT" panose="020B0602020104020603"/>
              </a:rPr>
              <a:t>Undesirable: The leader </a:t>
            </a:r>
            <a:r>
              <a:rPr lang="en-US" sz="2000" i="1" dirty="0" smtClean="0">
                <a:solidFill>
                  <a:prstClr val="white"/>
                </a:solidFill>
                <a:latin typeface="Tw Cen MT" panose="020B0602020104020603"/>
              </a:rPr>
              <a:t>has set </a:t>
            </a:r>
            <a:r>
              <a:rPr lang="en-US" sz="2000" i="1" dirty="0">
                <a:solidFill>
                  <a:prstClr val="white"/>
                </a:solidFill>
                <a:latin typeface="Tw Cen MT" panose="020B0602020104020603"/>
              </a:rPr>
              <a:t>the </a:t>
            </a:r>
            <a:br>
              <a:rPr lang="en-US" sz="2000" i="1" dirty="0">
                <a:solidFill>
                  <a:prstClr val="white"/>
                </a:solidFill>
                <a:latin typeface="Tw Cen MT" panose="020B0602020104020603"/>
              </a:rPr>
            </a:br>
            <a:r>
              <a:rPr lang="en-US" sz="2000" i="1" u="sng" dirty="0">
                <a:solidFill>
                  <a:prstClr val="white"/>
                </a:solidFill>
                <a:latin typeface="Tw Cen MT" panose="020B0602020104020603"/>
              </a:rPr>
              <a:t>WRONG</a:t>
            </a:r>
            <a:r>
              <a:rPr lang="en-US" sz="2000" i="1" dirty="0">
                <a:solidFill>
                  <a:prstClr val="white"/>
                </a:solidFill>
                <a:latin typeface="Tw Cen MT" panose="020B0602020104020603"/>
              </a:rPr>
              <a:t> example. </a:t>
            </a:r>
            <a:r>
              <a:rPr lang="en-US" sz="2000" i="1" dirty="0" smtClean="0">
                <a:solidFill>
                  <a:prstClr val="white"/>
                </a:solidFill>
                <a:latin typeface="Tw Cen MT" panose="020B0602020104020603"/>
              </a:rPr>
              <a:t/>
            </a:r>
            <a:br>
              <a:rPr lang="en-US" sz="2000" i="1" dirty="0" smtClean="0">
                <a:solidFill>
                  <a:prstClr val="white"/>
                </a:solidFill>
                <a:latin typeface="Tw Cen MT" panose="020B0602020104020603"/>
              </a:rPr>
            </a:br>
            <a:r>
              <a:rPr lang="en-US" sz="2000" i="1" dirty="0" smtClean="0">
                <a:solidFill>
                  <a:prstClr val="white"/>
                </a:solidFill>
                <a:latin typeface="Tw Cen MT" panose="020B0602020104020603"/>
              </a:rPr>
              <a:t>Substandard Conditions!</a:t>
            </a:r>
            <a:endParaRPr lang="en-US" sz="2000" i="1" dirty="0">
              <a:solidFill>
                <a:prstClr val="white"/>
              </a:solidFill>
              <a:latin typeface="Tw Cen MT" panose="020B0602020104020603"/>
            </a:endParaRPr>
          </a:p>
        </p:txBody>
      </p:sp>
      <p:sp>
        <p:nvSpPr>
          <p:cNvPr id="18" name="TextBox 17">
            <a:extLst>
              <a:ext uri="{FF2B5EF4-FFF2-40B4-BE49-F238E27FC236}">
                <a16:creationId xmlns:a16="http://schemas.microsoft.com/office/drawing/2014/main" id="{F932E577-30A5-4A99-A2B3-8AC4CDB7C326}"/>
              </a:ext>
            </a:extLst>
          </p:cNvPr>
          <p:cNvSpPr txBox="1"/>
          <p:nvPr/>
        </p:nvSpPr>
        <p:spPr>
          <a:xfrm>
            <a:off x="4800602" y="4643566"/>
            <a:ext cx="3877056" cy="923330"/>
          </a:xfrm>
          <a:prstGeom prst="rect">
            <a:avLst/>
          </a:prstGeom>
          <a:solidFill>
            <a:srgbClr val="00FF00"/>
          </a:solidFill>
          <a:ln>
            <a:solidFill>
              <a:srgbClr val="00FF00"/>
            </a:solidFill>
          </a:ln>
        </p:spPr>
        <p:txBody>
          <a:bodyPr wrap="square" rtlCol="0">
            <a:spAutoFit/>
          </a:bodyPr>
          <a:lstStyle/>
          <a:p>
            <a:pPr algn="ctr">
              <a:lnSpc>
                <a:spcPct val="90000"/>
              </a:lnSpc>
            </a:pPr>
            <a:r>
              <a:rPr lang="en-US" sz="2000" i="1" dirty="0">
                <a:solidFill>
                  <a:prstClr val="black"/>
                </a:solidFill>
                <a:latin typeface="Tw Cen MT" panose="020B0602020104020603"/>
              </a:rPr>
              <a:t>Desirable: The leader </a:t>
            </a:r>
            <a:r>
              <a:rPr lang="en-US" sz="2000" i="1" dirty="0" smtClean="0">
                <a:solidFill>
                  <a:prstClr val="black"/>
                </a:solidFill>
                <a:latin typeface="Tw Cen MT" panose="020B0602020104020603"/>
              </a:rPr>
              <a:t>has set </a:t>
            </a:r>
            <a:r>
              <a:rPr lang="en-US" sz="2000" i="1" dirty="0">
                <a:solidFill>
                  <a:prstClr val="black"/>
                </a:solidFill>
                <a:latin typeface="Tw Cen MT" panose="020B0602020104020603"/>
              </a:rPr>
              <a:t>the </a:t>
            </a:r>
            <a:br>
              <a:rPr lang="en-US" sz="2000" i="1" dirty="0">
                <a:solidFill>
                  <a:prstClr val="black"/>
                </a:solidFill>
                <a:latin typeface="Tw Cen MT" panose="020B0602020104020603"/>
              </a:rPr>
            </a:br>
            <a:r>
              <a:rPr lang="en-US" sz="2000" i="1" u="sng" dirty="0">
                <a:solidFill>
                  <a:prstClr val="black"/>
                </a:solidFill>
                <a:latin typeface="Tw Cen MT" panose="020B0602020104020603"/>
              </a:rPr>
              <a:t>RIGHT</a:t>
            </a:r>
            <a:r>
              <a:rPr lang="en-US" sz="2000" i="1" dirty="0">
                <a:solidFill>
                  <a:prstClr val="black"/>
                </a:solidFill>
                <a:latin typeface="Tw Cen MT" panose="020B0602020104020603"/>
              </a:rPr>
              <a:t> example. </a:t>
            </a:r>
            <a:r>
              <a:rPr lang="en-US" sz="2000" i="1" dirty="0" smtClean="0">
                <a:solidFill>
                  <a:prstClr val="black"/>
                </a:solidFill>
                <a:latin typeface="Tw Cen MT" panose="020B0602020104020603"/>
              </a:rPr>
              <a:t/>
            </a:r>
            <a:br>
              <a:rPr lang="en-US" sz="2000" i="1" dirty="0" smtClean="0">
                <a:solidFill>
                  <a:prstClr val="black"/>
                </a:solidFill>
                <a:latin typeface="Tw Cen MT" panose="020B0602020104020603"/>
              </a:rPr>
            </a:br>
            <a:r>
              <a:rPr lang="en-US" sz="2000" i="1" dirty="0" smtClean="0">
                <a:solidFill>
                  <a:prstClr val="black"/>
                </a:solidFill>
                <a:latin typeface="Tw Cen MT" panose="020B0602020104020603"/>
              </a:rPr>
              <a:t>Acceptable Conditions!</a:t>
            </a:r>
            <a:endParaRPr lang="en-US" sz="2000" i="1" dirty="0">
              <a:solidFill>
                <a:prstClr val="black"/>
              </a:solidFill>
              <a:latin typeface="Tw Cen MT" panose="020B0602020104020603"/>
            </a:endParaRPr>
          </a:p>
        </p:txBody>
      </p:sp>
      <p:cxnSp>
        <p:nvCxnSpPr>
          <p:cNvPr id="19" name="Elbow Connector 29">
            <a:extLst>
              <a:ext uri="{FF2B5EF4-FFF2-40B4-BE49-F238E27FC236}">
                <a16:creationId xmlns:a16="http://schemas.microsoft.com/office/drawing/2014/main" id="{84D0C1FD-25B3-43A0-AC5C-6D5B85175FFF}"/>
              </a:ext>
            </a:extLst>
          </p:cNvPr>
          <p:cNvCxnSpPr>
            <a:endCxn id="10" idx="0"/>
          </p:cNvCxnSpPr>
          <p:nvPr/>
        </p:nvCxnSpPr>
        <p:spPr>
          <a:xfrm rot="5400000">
            <a:off x="4356747" y="2092412"/>
            <a:ext cx="266577" cy="7"/>
          </a:xfrm>
          <a:prstGeom prst="bentConnector3">
            <a:avLst>
              <a:gd name="adj1" fmla="val 50000"/>
            </a:avLst>
          </a:prstGeom>
          <a:noFill/>
          <a:ln w="57150" cap="flat" cmpd="sng" algn="ctr">
            <a:solidFill>
              <a:sysClr val="window" lastClr="FFFFFF"/>
            </a:solidFill>
            <a:prstDash val="solid"/>
            <a:tailEnd type="triangle"/>
          </a:ln>
          <a:effectLst/>
        </p:spPr>
      </p:cxnSp>
      <p:sp>
        <p:nvSpPr>
          <p:cNvPr id="21"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76916900"/>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actions of the leader</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will </a:t>
            </a:r>
            <a:r>
              <a:rPr lang="en-US" altLang="en-US"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directly influence the culture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of the organization.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Good Leaders (and good managers) influence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culture in a desirable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manner directly through their positive actions: “Walk the Talk!” </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Any negative action can undermine and degrade the desired culture.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 as I say, not as I do” is NEVER acceptable for a leader!</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“Actions Speak Louder than Words”: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4" name="Picture 3"/>
          <p:cNvPicPr>
            <a:picLocks noChangeAspect="1"/>
          </p:cNvPicPr>
          <p:nvPr/>
        </p:nvPicPr>
        <p:blipFill>
          <a:blip r:embed="rId3"/>
          <a:stretch>
            <a:fillRect/>
          </a:stretch>
        </p:blipFill>
        <p:spPr>
          <a:xfrm>
            <a:off x="535800" y="3096000"/>
            <a:ext cx="3960000" cy="2970000"/>
          </a:xfrm>
          <a:prstGeom prst="rect">
            <a:avLst/>
          </a:prstGeom>
          <a:ln>
            <a:solidFill>
              <a:schemeClr val="tx1"/>
            </a:solidFill>
          </a:ln>
        </p:spPr>
      </p:pic>
      <p:pic>
        <p:nvPicPr>
          <p:cNvPr id="5" name="Picture 4"/>
          <p:cNvPicPr>
            <a:picLocks noChangeAspect="1"/>
          </p:cNvPicPr>
          <p:nvPr/>
        </p:nvPicPr>
        <p:blipFill>
          <a:blip r:embed="rId4"/>
          <a:stretch>
            <a:fillRect/>
          </a:stretch>
        </p:blipFill>
        <p:spPr>
          <a:xfrm>
            <a:off x="4650600" y="3096000"/>
            <a:ext cx="3960000" cy="2970000"/>
          </a:xfrm>
          <a:prstGeom prst="rect">
            <a:avLst/>
          </a:prstGeom>
          <a:ln>
            <a:solidFill>
              <a:schemeClr val="tx1"/>
            </a:solidFill>
          </a:ln>
        </p:spPr>
      </p:pic>
    </p:spTree>
    <p:extLst>
      <p:ext uri="{BB962C8B-B14F-4D97-AF65-F5344CB8AC3E}">
        <p14:creationId xmlns:p14="http://schemas.microsoft.com/office/powerpoint/2010/main" val="2880086452"/>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2"/>
          </a:solidFill>
          <a:ln>
            <a:solidFill>
              <a:srgbClr val="0000CC"/>
            </a:solidFill>
          </a:ln>
          <a:extLst/>
        </p:spPr>
        <p:txBody>
          <a:bodyPr wrap="square" anchor="ctr" anchorCtr="0">
            <a:noAutofit/>
          </a:bodyPr>
          <a:lstStyle/>
          <a:p>
            <a:pPr>
              <a:spcBef>
                <a:spcPts val="0"/>
              </a:spcBef>
              <a:spcAft>
                <a:spcPts val="0"/>
              </a:spcAft>
            </a:pP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Leadership Action: Sub-standard Conditions and Practices</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a:solidFill>
              <a:schemeClr val="tx1"/>
            </a:solidFill>
          </a:ln>
        </p:spPr>
        <p:txBody>
          <a:bodyPr vert="horz" lIns="91440" tIns="45720" rIns="91440" bIns="45720" rtlCol="0">
            <a:noAutofit/>
          </a:bodyPr>
          <a:lstStyle/>
          <a:p>
            <a:pPr marL="342900" indent="-3429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You observe these sub-standard conditions and sub-standard practices: </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Oil spill on floor.</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A worker is not wearing required eye protection in the shop.</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A worker is not wearing fall protection when at elevation. </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The PTW practices are sub-standard in one of your </a:t>
            </a:r>
            <a:r>
              <a:rPr lang="en-US" altLang="en-US" sz="1600" b="0" dirty="0" smtClean="0">
                <a:solidFill>
                  <a:schemeClr val="bg1"/>
                </a:solidFill>
                <a:latin typeface="Arial" panose="020B0604020202020204" pitchFamily="34" charset="0"/>
                <a:cs typeface="Arial" panose="020B0604020202020204" pitchFamily="34" charset="0"/>
              </a:rPr>
              <a:t>operations.</a:t>
            </a:r>
            <a:endParaRPr lang="en-US" altLang="en-US" sz="1600" b="0" dirty="0">
              <a:solidFill>
                <a:schemeClr val="bg1"/>
              </a:solidFill>
              <a:latin typeface="Arial" panose="020B0604020202020204" pitchFamily="34" charset="0"/>
              <a:cs typeface="Arial" panose="020B0604020202020204" pitchFamily="34" charset="0"/>
            </a:endParaRPr>
          </a:p>
          <a:p>
            <a:pPr marL="342900" indent="-342900">
              <a:lnSpc>
                <a:spcPct val="90000"/>
              </a:lnSpc>
              <a:buFont typeface="Wingdings" panose="05000000000000000000" pitchFamily="2" charset="2"/>
              <a:buChar char="Ø"/>
            </a:pPr>
            <a:endParaRPr lang="en-US" altLang="en-US" sz="1600" b="0" dirty="0">
              <a:solidFill>
                <a:schemeClr val="bg1"/>
              </a:solidFill>
              <a:latin typeface="Arial" panose="020B0604020202020204" pitchFamily="34" charset="0"/>
              <a:cs typeface="Arial" panose="020B0604020202020204" pitchFamily="34" charset="0"/>
            </a:endParaRPr>
          </a:p>
          <a:p>
            <a:pPr marL="342900" indent="-342900">
              <a:lnSpc>
                <a:spcPct val="90000"/>
              </a:lnSpc>
              <a:buFont typeface="Wingdings" panose="05000000000000000000" pitchFamily="2" charset="2"/>
              <a:buChar char="Ø"/>
            </a:pPr>
            <a:r>
              <a:rPr lang="en-US" altLang="en-US" sz="1600" b="0" dirty="0" smtClean="0">
                <a:solidFill>
                  <a:schemeClr val="bg1"/>
                </a:solidFill>
                <a:latin typeface="Arial" panose="020B0604020202020204" pitchFamily="34" charset="0"/>
                <a:cs typeface="Arial" panose="020B0604020202020204" pitchFamily="34" charset="0"/>
              </a:rPr>
              <a:t>Your </a:t>
            </a:r>
            <a:r>
              <a:rPr lang="en-US" altLang="en-US" sz="1600" b="0" dirty="0">
                <a:solidFill>
                  <a:schemeClr val="bg1"/>
                </a:solidFill>
                <a:latin typeface="Arial" panose="020B0604020202020204" pitchFamily="34" charset="0"/>
                <a:cs typeface="Arial" panose="020B0604020202020204" pitchFamily="34" charset="0"/>
              </a:rPr>
              <a:t>actions as seen by others will influence their actions and ultimately will shape the </a:t>
            </a:r>
            <a:r>
              <a:rPr lang="en-US" altLang="en-US" sz="1600" b="0" dirty="0" smtClean="0">
                <a:solidFill>
                  <a:schemeClr val="bg1"/>
                </a:solidFill>
                <a:latin typeface="Arial" panose="020B0604020202020204" pitchFamily="34" charset="0"/>
                <a:cs typeface="Arial" panose="020B0604020202020204" pitchFamily="34" charset="0"/>
              </a:rPr>
              <a:t>culture.</a:t>
            </a:r>
          </a:p>
          <a:p>
            <a:pPr marL="342900" indent="-342900">
              <a:lnSpc>
                <a:spcPct val="90000"/>
              </a:lnSpc>
              <a:buFont typeface="Wingdings" panose="05000000000000000000" pitchFamily="2" charset="2"/>
              <a:buChar char="Ø"/>
            </a:pPr>
            <a:endParaRPr lang="en-US" altLang="en-US" sz="1600" b="0" dirty="0">
              <a:solidFill>
                <a:schemeClr val="bg1"/>
              </a:solidFill>
              <a:latin typeface="Arial" panose="020B0604020202020204" pitchFamily="34" charset="0"/>
              <a:cs typeface="Arial" panose="020B0604020202020204" pitchFamily="34" charset="0"/>
            </a:endParaRPr>
          </a:p>
          <a:p>
            <a:pPr marL="342900" indent="-342900">
              <a:lnSpc>
                <a:spcPct val="90000"/>
              </a:lnSpc>
              <a:buFont typeface="Wingdings" panose="05000000000000000000" pitchFamily="2" charset="2"/>
              <a:buChar char="Ø"/>
            </a:pPr>
            <a:r>
              <a:rPr lang="en-US" altLang="en-US" sz="1600" b="0" dirty="0" smtClean="0">
                <a:solidFill>
                  <a:schemeClr val="bg1"/>
                </a:solidFill>
                <a:latin typeface="Arial" panose="020B0604020202020204" pitchFamily="34" charset="0"/>
                <a:cs typeface="Arial" panose="020B0604020202020204" pitchFamily="34" charset="0"/>
              </a:rPr>
              <a:t>If </a:t>
            </a:r>
            <a:r>
              <a:rPr lang="en-US" altLang="en-US" sz="1600" b="0" dirty="0">
                <a:solidFill>
                  <a:schemeClr val="bg1"/>
                </a:solidFill>
                <a:latin typeface="Arial" panose="020B0604020202020204" pitchFamily="34" charset="0"/>
                <a:cs typeface="Arial" panose="020B0604020202020204" pitchFamily="34" charset="0"/>
              </a:rPr>
              <a:t>you take no action on any of the </a:t>
            </a:r>
            <a:r>
              <a:rPr lang="en-US" altLang="en-US" sz="1600" b="0" dirty="0" smtClean="0">
                <a:solidFill>
                  <a:schemeClr val="bg1"/>
                </a:solidFill>
                <a:latin typeface="Arial" panose="020B0604020202020204" pitchFamily="34" charset="0"/>
                <a:cs typeface="Arial" panose="020B0604020202020204" pitchFamily="34" charset="0"/>
              </a:rPr>
              <a:t>previously stated SC’s and SP’s:</a:t>
            </a:r>
            <a:endParaRPr lang="en-US" altLang="en-US" sz="1600" b="0" dirty="0">
              <a:solidFill>
                <a:schemeClr val="bg1"/>
              </a:solidFill>
              <a:latin typeface="Arial" panose="020B0604020202020204" pitchFamily="34" charset="0"/>
              <a:cs typeface="Arial" panose="020B0604020202020204" pitchFamily="34" charset="0"/>
            </a:endParaRPr>
          </a:p>
          <a:p>
            <a:pPr marL="720000" lvl="1" indent="-360000">
              <a:lnSpc>
                <a:spcPct val="90000"/>
              </a:lnSpc>
              <a:buFont typeface="Wingdings" panose="05000000000000000000" pitchFamily="2" charset="2"/>
              <a:buChar char="Ø"/>
            </a:pPr>
            <a:r>
              <a:rPr lang="en-US" altLang="en-US" sz="1600" b="0" dirty="0" smtClean="0">
                <a:solidFill>
                  <a:schemeClr val="bg1"/>
                </a:solidFill>
                <a:latin typeface="Arial" panose="020B0604020202020204" pitchFamily="34" charset="0"/>
                <a:cs typeface="Arial" panose="020B0604020202020204" pitchFamily="34" charset="0"/>
              </a:rPr>
              <a:t>Workers will not </a:t>
            </a:r>
            <a:r>
              <a:rPr lang="en-US" altLang="en-US" sz="1600" b="0" dirty="0">
                <a:solidFill>
                  <a:schemeClr val="bg1"/>
                </a:solidFill>
                <a:latin typeface="Arial" panose="020B0604020202020204" pitchFamily="34" charset="0"/>
                <a:cs typeface="Arial" panose="020B0604020202020204" pitchFamily="34" charset="0"/>
              </a:rPr>
              <a:t>attend</a:t>
            </a:r>
            <a:r>
              <a:rPr lang="en-US" altLang="en-US" sz="1600" b="0" dirty="0" smtClean="0">
                <a:solidFill>
                  <a:schemeClr val="bg1"/>
                </a:solidFill>
                <a:latin typeface="Arial" panose="020B0604020202020204" pitchFamily="34" charset="0"/>
                <a:cs typeface="Arial" panose="020B0604020202020204" pitchFamily="34" charset="0"/>
              </a:rPr>
              <a:t> to and correct SC’s and SP’s.</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Workers will become complacent in all areas of managing risks. </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The </a:t>
            </a:r>
            <a:r>
              <a:rPr lang="en-US" altLang="en-US" sz="1600" b="0" dirty="0" smtClean="0">
                <a:solidFill>
                  <a:schemeClr val="bg1"/>
                </a:solidFill>
                <a:latin typeface="Arial" panose="020B0604020202020204" pitchFamily="34" charset="0"/>
                <a:cs typeface="Arial" panose="020B0604020202020204" pitchFamily="34" charset="0"/>
              </a:rPr>
              <a:t>control of hazards and the management </a:t>
            </a:r>
            <a:r>
              <a:rPr lang="en-US" altLang="en-US" sz="1600" b="0" dirty="0">
                <a:solidFill>
                  <a:schemeClr val="bg1"/>
                </a:solidFill>
                <a:latin typeface="Arial" panose="020B0604020202020204" pitchFamily="34" charset="0"/>
                <a:cs typeface="Arial" panose="020B0604020202020204" pitchFamily="34" charset="0"/>
              </a:rPr>
              <a:t>of risks will break down.</a:t>
            </a:r>
          </a:p>
          <a:p>
            <a:pPr marL="720000" lvl="1" indent="-360000">
              <a:lnSpc>
                <a:spcPct val="90000"/>
              </a:lnSpc>
              <a:buFont typeface="Wingdings" panose="05000000000000000000" pitchFamily="2" charset="2"/>
              <a:buChar char="Ø"/>
            </a:pPr>
            <a:r>
              <a:rPr lang="en-US" altLang="en-US" sz="1600" b="0" dirty="0">
                <a:solidFill>
                  <a:schemeClr val="bg1"/>
                </a:solidFill>
                <a:latin typeface="Arial" panose="020B0604020202020204" pitchFamily="34" charset="0"/>
                <a:cs typeface="Arial" panose="020B0604020202020204" pitchFamily="34" charset="0"/>
              </a:rPr>
              <a:t>Eventually a loss incident will happen. </a:t>
            </a:r>
          </a:p>
          <a:p>
            <a:pPr marL="342900" indent="-342900">
              <a:lnSpc>
                <a:spcPct val="90000"/>
              </a:lnSpc>
              <a:buFont typeface="Wingdings" panose="05000000000000000000" pitchFamily="2" charset="2"/>
              <a:buChar char="Ø"/>
            </a:pPr>
            <a:endParaRPr lang="en-US" altLang="en-US" sz="1600" b="0" dirty="0" smtClean="0">
              <a:solidFill>
                <a:schemeClr val="bg1"/>
              </a:solidFill>
              <a:latin typeface="Arial" panose="020B0604020202020204" pitchFamily="34" charset="0"/>
              <a:cs typeface="Arial" panose="020B0604020202020204" pitchFamily="34" charset="0"/>
            </a:endParaRPr>
          </a:p>
          <a:p>
            <a:pPr marL="342900" indent="-342900">
              <a:lnSpc>
                <a:spcPct val="90000"/>
              </a:lnSpc>
              <a:buFont typeface="Wingdings" panose="05000000000000000000" pitchFamily="2" charset="2"/>
              <a:buChar char="Ø"/>
            </a:pPr>
            <a:r>
              <a:rPr lang="en-US" altLang="en-US" sz="1600" b="0" dirty="0" smtClean="0">
                <a:solidFill>
                  <a:schemeClr val="bg1"/>
                </a:solidFill>
                <a:latin typeface="Arial" panose="020B0604020202020204" pitchFamily="34" charset="0"/>
                <a:cs typeface="Arial" panose="020B0604020202020204" pitchFamily="34" charset="0"/>
              </a:rPr>
              <a:t>Therefore, as </a:t>
            </a:r>
            <a:r>
              <a:rPr lang="en-US" altLang="en-US" sz="1600" b="0" dirty="0">
                <a:solidFill>
                  <a:schemeClr val="bg1"/>
                </a:solidFill>
                <a:latin typeface="Arial" panose="020B0604020202020204" pitchFamily="34" charset="0"/>
                <a:cs typeface="Arial" panose="020B0604020202020204" pitchFamily="34" charset="0"/>
              </a:rPr>
              <a:t>a Leader in Risk Management, </a:t>
            </a:r>
            <a:r>
              <a:rPr lang="en-CA" altLang="en-US" sz="1600" b="0" dirty="0">
                <a:solidFill>
                  <a:schemeClr val="bg1"/>
                </a:solidFill>
                <a:latin typeface="Arial" panose="020B0604020202020204" pitchFamily="34" charset="0"/>
                <a:cs typeface="Arial" panose="020B0604020202020204" pitchFamily="34" charset="0"/>
              </a:rPr>
              <a:t>and wanting to </a:t>
            </a:r>
            <a:r>
              <a:rPr lang="en-CA" altLang="en-US" sz="1600" b="0" dirty="0" smtClean="0">
                <a:solidFill>
                  <a:schemeClr val="bg1"/>
                </a:solidFill>
                <a:latin typeface="Arial" panose="020B0604020202020204" pitchFamily="34" charset="0"/>
                <a:cs typeface="Arial" panose="020B0604020202020204" pitchFamily="34" charset="0"/>
              </a:rPr>
              <a:t/>
            </a:r>
            <a:br>
              <a:rPr lang="en-CA" altLang="en-US" sz="1600" b="0" dirty="0" smtClean="0">
                <a:solidFill>
                  <a:schemeClr val="bg1"/>
                </a:solidFill>
                <a:latin typeface="Arial" panose="020B0604020202020204" pitchFamily="34" charset="0"/>
                <a:cs typeface="Arial" panose="020B0604020202020204" pitchFamily="34" charset="0"/>
              </a:rPr>
            </a:br>
            <a:r>
              <a:rPr lang="en-CA" altLang="en-US" sz="1600" b="0" dirty="0" smtClean="0">
                <a:solidFill>
                  <a:schemeClr val="bg1"/>
                </a:solidFill>
                <a:latin typeface="Arial" panose="020B0604020202020204" pitchFamily="34" charset="0"/>
                <a:cs typeface="Arial" panose="020B0604020202020204" pitchFamily="34" charset="0"/>
              </a:rPr>
              <a:t>“lead by </a:t>
            </a:r>
            <a:r>
              <a:rPr lang="en-CA" altLang="en-US" sz="1600" b="0" dirty="0">
                <a:solidFill>
                  <a:schemeClr val="bg1"/>
                </a:solidFill>
                <a:latin typeface="Arial" panose="020B0604020202020204" pitchFamily="34" charset="0"/>
                <a:cs typeface="Arial" panose="020B0604020202020204" pitchFamily="34" charset="0"/>
              </a:rPr>
              <a:t>example” or “walk the talk”, you must</a:t>
            </a:r>
            <a:r>
              <a:rPr lang="en-CA" altLang="en-US" sz="1600" b="0" dirty="0" smtClean="0">
                <a:solidFill>
                  <a:schemeClr val="bg1"/>
                </a:solidFill>
                <a:latin typeface="Arial" panose="020B0604020202020204" pitchFamily="34" charset="0"/>
                <a:cs typeface="Arial" panose="020B0604020202020204" pitchFamily="34" charset="0"/>
              </a:rPr>
              <a:t>:</a:t>
            </a:r>
          </a:p>
          <a:p>
            <a:pPr marL="914400" lvl="1" indent="-457200">
              <a:lnSpc>
                <a:spcPct val="90000"/>
              </a:lnSpc>
              <a:buFont typeface="+mj-lt"/>
              <a:buAutoNum type="arabicParenR"/>
            </a:pPr>
            <a:r>
              <a:rPr lang="en-CA" altLang="en-US" sz="1600" b="0" dirty="0" smtClean="0">
                <a:solidFill>
                  <a:schemeClr val="bg1"/>
                </a:solidFill>
                <a:latin typeface="Arial" panose="020B0604020202020204" pitchFamily="34" charset="0"/>
                <a:cs typeface="Arial" panose="020B0604020202020204" pitchFamily="34" charset="0"/>
              </a:rPr>
              <a:t>Set in place a (temporary) barricade and arrange for clean-up the oil spill. </a:t>
            </a:r>
          </a:p>
          <a:p>
            <a:pPr marL="914400" lvl="1" indent="-457200">
              <a:lnSpc>
                <a:spcPct val="90000"/>
              </a:lnSpc>
              <a:buFont typeface="+mj-lt"/>
              <a:buAutoNum type="arabicParenR"/>
            </a:pPr>
            <a:r>
              <a:rPr lang="en-CA" altLang="en-US" sz="1600" b="0" dirty="0" smtClean="0">
                <a:solidFill>
                  <a:schemeClr val="bg1"/>
                </a:solidFill>
                <a:latin typeface="Arial" panose="020B0604020202020204" pitchFamily="34" charset="0"/>
                <a:cs typeface="Arial" panose="020B0604020202020204" pitchFamily="34" charset="0"/>
              </a:rPr>
              <a:t>Stop the worker; discuss their lack of eye protection. </a:t>
            </a:r>
          </a:p>
          <a:p>
            <a:pPr marL="914400" lvl="1" indent="-457200">
              <a:lnSpc>
                <a:spcPct val="90000"/>
              </a:lnSpc>
              <a:buFont typeface="+mj-lt"/>
              <a:buAutoNum type="arabicParenR"/>
            </a:pPr>
            <a:r>
              <a:rPr lang="en-CA" altLang="en-US" sz="1600" b="0" dirty="0" smtClean="0">
                <a:solidFill>
                  <a:schemeClr val="bg1"/>
                </a:solidFill>
                <a:latin typeface="Arial" panose="020B0604020202020204" pitchFamily="34" charset="0"/>
                <a:cs typeface="Arial" panose="020B0604020202020204" pitchFamily="34" charset="0"/>
              </a:rPr>
              <a:t>Stop the worker and ask them to come down. </a:t>
            </a:r>
          </a:p>
          <a:p>
            <a:pPr marL="914400" lvl="1" indent="-457200">
              <a:lnSpc>
                <a:spcPct val="90000"/>
              </a:lnSpc>
              <a:buFont typeface="+mj-lt"/>
              <a:buAutoNum type="arabicParenR"/>
            </a:pPr>
            <a:r>
              <a:rPr lang="en-CA" altLang="en-US" sz="1600" b="0" dirty="0" smtClean="0">
                <a:solidFill>
                  <a:schemeClr val="bg1"/>
                </a:solidFill>
                <a:latin typeface="Arial" panose="020B0604020202020204" pitchFamily="34" charset="0"/>
                <a:cs typeface="Arial" panose="020B0604020202020204" pitchFamily="34" charset="0"/>
              </a:rPr>
              <a:t>Initiate a strategy (take action) to improve the PTW practices. </a:t>
            </a:r>
          </a:p>
          <a:p>
            <a:pPr marL="342900" lvl="1" indent="-342900">
              <a:lnSpc>
                <a:spcPct val="90000"/>
              </a:lnSpc>
              <a:buFont typeface="Wingdings" panose="05000000000000000000" pitchFamily="2" charset="2"/>
              <a:buChar char="Ø"/>
            </a:pPr>
            <a:endParaRPr lang="en-CA" altLang="en-US" sz="1600" b="0" dirty="0" smtClean="0">
              <a:solidFill>
                <a:schemeClr val="bg1"/>
              </a:solidFill>
              <a:latin typeface="Arial" panose="020B0604020202020204" pitchFamily="34" charset="0"/>
              <a:cs typeface="Arial" panose="020B0604020202020204" pitchFamily="34" charset="0"/>
            </a:endParaRPr>
          </a:p>
          <a:p>
            <a:pPr marL="342900" lvl="1" indent="-342900">
              <a:lnSpc>
                <a:spcPct val="90000"/>
              </a:lnSpc>
              <a:buFont typeface="Wingdings" panose="05000000000000000000" pitchFamily="2" charset="2"/>
              <a:buChar char="Ø"/>
            </a:pPr>
            <a:r>
              <a:rPr lang="en-CA" altLang="en-US" sz="1600" b="0" dirty="0" smtClean="0">
                <a:solidFill>
                  <a:schemeClr val="bg1"/>
                </a:solidFill>
                <a:latin typeface="Arial" panose="020B0604020202020204" pitchFamily="34" charset="0"/>
                <a:cs typeface="Arial" panose="020B0604020202020204" pitchFamily="34" charset="0"/>
              </a:rPr>
              <a:t>These </a:t>
            </a:r>
            <a:r>
              <a:rPr lang="en-CA" altLang="en-US" sz="1600" b="0" dirty="0">
                <a:solidFill>
                  <a:schemeClr val="bg1"/>
                </a:solidFill>
                <a:latin typeface="Arial" panose="020B0604020202020204" pitchFamily="34" charset="0"/>
                <a:cs typeface="Arial" panose="020B0604020202020204" pitchFamily="34" charset="0"/>
              </a:rPr>
              <a:t>leadership </a:t>
            </a:r>
            <a:r>
              <a:rPr lang="en-CA" altLang="en-US" sz="1600" b="0" dirty="0" smtClean="0">
                <a:solidFill>
                  <a:schemeClr val="bg1"/>
                </a:solidFill>
                <a:latin typeface="Arial" panose="020B0604020202020204" pitchFamily="34" charset="0"/>
                <a:cs typeface="Arial" panose="020B0604020202020204" pitchFamily="34" charset="0"/>
              </a:rPr>
              <a:t>actions - correct </a:t>
            </a:r>
            <a:r>
              <a:rPr lang="en-CA" altLang="en-US" sz="1600" b="0" dirty="0">
                <a:solidFill>
                  <a:schemeClr val="bg1"/>
                </a:solidFill>
                <a:latin typeface="Arial" panose="020B0604020202020204" pitchFamily="34" charset="0"/>
                <a:cs typeface="Arial" panose="020B0604020202020204" pitchFamily="34" charset="0"/>
              </a:rPr>
              <a:t>SP’s and SC’s, combat complacency, maintain risk control </a:t>
            </a:r>
            <a:r>
              <a:rPr lang="en-CA" altLang="en-US" sz="1600" b="0" dirty="0" smtClean="0">
                <a:solidFill>
                  <a:schemeClr val="bg1"/>
                </a:solidFill>
                <a:latin typeface="Arial" panose="020B0604020202020204" pitchFamily="34" charset="0"/>
                <a:cs typeface="Arial" panose="020B0604020202020204" pitchFamily="34" charset="0"/>
              </a:rPr>
              <a:t>measures – shape the culture and ultimately </a:t>
            </a:r>
            <a:r>
              <a:rPr lang="en-CA" altLang="en-US" sz="1600" b="0" dirty="0">
                <a:solidFill>
                  <a:schemeClr val="bg1"/>
                </a:solidFill>
                <a:latin typeface="Arial" panose="020B0604020202020204" pitchFamily="34" charset="0"/>
                <a:cs typeface="Arial" panose="020B0604020202020204" pitchFamily="34" charset="0"/>
              </a:rPr>
              <a:t>prevent loss </a:t>
            </a:r>
            <a:r>
              <a:rPr lang="en-CA" altLang="en-US" sz="1600" b="0" dirty="0" smtClean="0">
                <a:solidFill>
                  <a:schemeClr val="bg1"/>
                </a:solidFill>
                <a:latin typeface="Arial" panose="020B0604020202020204" pitchFamily="34" charset="0"/>
                <a:cs typeface="Arial" panose="020B0604020202020204" pitchFamily="34" charset="0"/>
              </a:rPr>
              <a:t>incidents</a:t>
            </a:r>
            <a:r>
              <a:rPr lang="en-CA" altLang="en-US" sz="1600" b="0" dirty="0">
                <a:solidFill>
                  <a:schemeClr val="bg1"/>
                </a:solidFill>
                <a:latin typeface="Arial" panose="020B0604020202020204" pitchFamily="34" charset="0"/>
                <a:cs typeface="Arial" panose="020B0604020202020204" pitchFamily="34" charset="0"/>
              </a:rPr>
              <a:t>!</a:t>
            </a:r>
            <a:endParaRPr lang="en-US" altLang="en-US" sz="1600" b="0" dirty="0">
              <a:solidFill>
                <a:schemeClr val="bg1"/>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142074150"/>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latin typeface="Arial" panose="020B0604020202020204" pitchFamily="34" charset="0"/>
                <a:ea typeface="ＭＳ Ｐゴシック" panose="020B0600070205080204" pitchFamily="34" charset="-128"/>
                <a:cs typeface="Arial" panose="020B0604020202020204" pitchFamily="34" charset="0"/>
              </a:rPr>
              <a:t>Can a leader address every sub-standard condition and practice?</a:t>
            </a:r>
            <a:endParaRPr lang="en-US" altLang="en-US" sz="1800" b="0" dirty="0" smtClean="0">
              <a:latin typeface="Arial" panose="020B0604020202020204" pitchFamily="34" charset="0"/>
              <a:cs typeface="Arial" panose="020B0604020202020204" pitchFamily="34" charset="0"/>
            </a:endParaRPr>
          </a:p>
          <a:p>
            <a:pPr marL="360000" lvl="0" indent="-360000">
              <a:lnSpc>
                <a:spcPct val="100000"/>
              </a:lnSpc>
              <a:spcBef>
                <a:spcPct val="0"/>
              </a:spcBef>
              <a:buClrTx/>
              <a:buFont typeface="Wingdings" panose="05000000000000000000" pitchFamily="2" charset="2"/>
              <a:buChar char="Ø"/>
            </a:pPr>
            <a:r>
              <a:rPr lang="en-US" altLang="en-US" sz="1800" b="0" dirty="0" smtClean="0">
                <a:latin typeface="Arial" panose="020B0604020202020204" pitchFamily="34" charset="0"/>
                <a:cs typeface="Arial" panose="020B0604020202020204" pitchFamily="34" charset="0"/>
              </a:rPr>
              <a:t>Recall these: </a:t>
            </a:r>
            <a:endParaRPr lang="en-US" altLang="en-US" sz="1800" b="0" dirty="0">
              <a:latin typeface="Arial" panose="020B0604020202020204" pitchFamily="34" charset="0"/>
              <a:cs typeface="Arial" panose="020B0604020202020204" pitchFamily="34" charset="0"/>
            </a:endParaRPr>
          </a:p>
          <a:p>
            <a:pPr marL="720000" lvl="1" indent="-360000">
              <a:lnSpc>
                <a:spcPct val="100000"/>
              </a:lnSpc>
              <a:spcBef>
                <a:spcPct val="0"/>
              </a:spcBef>
              <a:buClrTx/>
              <a:buFont typeface="+mj-lt"/>
              <a:buAutoNum type="arabicParenR"/>
            </a:pPr>
            <a:r>
              <a:rPr lang="en-US" altLang="en-US" b="0" dirty="0">
                <a:latin typeface="Arial" panose="020B0604020202020204" pitchFamily="34" charset="0"/>
                <a:cs typeface="Arial" panose="020B0604020202020204" pitchFamily="34" charset="0"/>
              </a:rPr>
              <a:t>Oil spill on floor.</a:t>
            </a:r>
          </a:p>
          <a:p>
            <a:pPr marL="720000" lvl="1" indent="-360000">
              <a:lnSpc>
                <a:spcPct val="100000"/>
              </a:lnSpc>
              <a:spcBef>
                <a:spcPct val="0"/>
              </a:spcBef>
              <a:buClrTx/>
              <a:buFont typeface="+mj-lt"/>
              <a:buAutoNum type="arabicParenR"/>
            </a:pPr>
            <a:r>
              <a:rPr lang="en-US" altLang="en-US" b="0" dirty="0">
                <a:latin typeface="Arial" panose="020B0604020202020204" pitchFamily="34" charset="0"/>
                <a:cs typeface="Arial" panose="020B0604020202020204" pitchFamily="34" charset="0"/>
              </a:rPr>
              <a:t>A worker is not wearing required eye protection in the shop.</a:t>
            </a:r>
          </a:p>
          <a:p>
            <a:pPr marL="720000" lvl="1" indent="-360000">
              <a:lnSpc>
                <a:spcPct val="100000"/>
              </a:lnSpc>
              <a:spcBef>
                <a:spcPct val="0"/>
              </a:spcBef>
              <a:buClrTx/>
              <a:buFont typeface="+mj-lt"/>
              <a:buAutoNum type="arabicParenR"/>
            </a:pPr>
            <a:r>
              <a:rPr lang="en-US" altLang="en-US" b="0" dirty="0">
                <a:latin typeface="Arial" panose="020B0604020202020204" pitchFamily="34" charset="0"/>
                <a:cs typeface="Arial" panose="020B0604020202020204" pitchFamily="34" charset="0"/>
              </a:rPr>
              <a:t>A worker is not wearing fall protection when at elevation. </a:t>
            </a:r>
          </a:p>
          <a:p>
            <a:pPr marL="720000" lvl="1" indent="-360000">
              <a:lnSpc>
                <a:spcPct val="100000"/>
              </a:lnSpc>
              <a:spcBef>
                <a:spcPct val="0"/>
              </a:spcBef>
              <a:buClrTx/>
              <a:buFont typeface="+mj-lt"/>
              <a:buAutoNum type="arabicParenR"/>
            </a:pPr>
            <a:r>
              <a:rPr lang="en-US" altLang="en-US" b="0" dirty="0">
                <a:latin typeface="Arial" panose="020B0604020202020204" pitchFamily="34" charset="0"/>
                <a:cs typeface="Arial" panose="020B0604020202020204" pitchFamily="34" charset="0"/>
              </a:rPr>
              <a:t>The PTW practices are sub-standard in one of your operations.</a:t>
            </a:r>
          </a:p>
          <a:p>
            <a:pPr marL="342900" lvl="0" indent="-342900">
              <a:lnSpc>
                <a:spcPct val="100000"/>
              </a:lnSpc>
              <a:spcBef>
                <a:spcPct val="0"/>
              </a:spcBef>
              <a:buClr>
                <a:srgbClr val="000000"/>
              </a:buClr>
              <a:buFont typeface="Wingdings" panose="05000000000000000000" pitchFamily="2" charset="2"/>
              <a:buChar char="Ø"/>
            </a:pPr>
            <a:endParaRPr lang="en-CA" altLang="en-US" sz="1800" b="0" dirty="0" smtClean="0">
              <a:latin typeface="Arial" panose="020B0604020202020204" pitchFamily="34" charset="0"/>
              <a:cs typeface="Arial" panose="020B0604020202020204" pitchFamily="34" charset="0"/>
            </a:endParaRPr>
          </a:p>
          <a:p>
            <a:pPr marL="360000" lvl="0" indent="-360000">
              <a:lnSpc>
                <a:spcPct val="100000"/>
              </a:lnSpc>
              <a:spcBef>
                <a:spcPct val="0"/>
              </a:spcBef>
              <a:buClr>
                <a:srgbClr val="000000"/>
              </a:buClr>
              <a:buFont typeface="Wingdings" panose="05000000000000000000" pitchFamily="2" charset="2"/>
              <a:buChar char="Ø"/>
            </a:pPr>
            <a:r>
              <a:rPr lang="en-CA" altLang="en-US" sz="1800" b="0" dirty="0" smtClean="0">
                <a:latin typeface="Arial" panose="020B0604020202020204" pitchFamily="34" charset="0"/>
                <a:cs typeface="Arial" panose="020B0604020202020204" pitchFamily="34" charset="0"/>
              </a:rPr>
              <a:t>Previous leadership practices had us striving to intervene on and address all of these.</a:t>
            </a:r>
          </a:p>
          <a:p>
            <a:pPr marL="360000" lvl="0" indent="-360000">
              <a:lnSpc>
                <a:spcPct val="100000"/>
              </a:lnSpc>
              <a:spcBef>
                <a:spcPct val="0"/>
              </a:spcBef>
              <a:buClr>
                <a:srgbClr val="000000"/>
              </a:buClr>
              <a:buFont typeface="Wingdings" panose="05000000000000000000" pitchFamily="2" charset="2"/>
              <a:buChar char="Ø"/>
            </a:pPr>
            <a:endParaRPr lang="en-CA" altLang="en-US" sz="1800" b="0" dirty="0">
              <a:latin typeface="Arial" panose="020B0604020202020204" pitchFamily="34" charset="0"/>
              <a:cs typeface="Arial" panose="020B0604020202020204" pitchFamily="34" charset="0"/>
            </a:endParaRPr>
          </a:p>
          <a:p>
            <a:pPr marL="360000" lvl="0" indent="-360000">
              <a:lnSpc>
                <a:spcPct val="100000"/>
              </a:lnSpc>
              <a:spcBef>
                <a:spcPct val="0"/>
              </a:spcBef>
              <a:buClr>
                <a:srgbClr val="000000"/>
              </a:buClr>
              <a:buFont typeface="Wingdings" panose="05000000000000000000" pitchFamily="2" charset="2"/>
              <a:buChar char="Ø"/>
            </a:pPr>
            <a:r>
              <a:rPr lang="en-CA" altLang="en-US" sz="1800" dirty="0" smtClean="0">
                <a:latin typeface="Arial" panose="020B0604020202020204" pitchFamily="34" charset="0"/>
                <a:cs typeface="Arial" panose="020B0604020202020204" pitchFamily="34" charset="0"/>
              </a:rPr>
              <a:t>Is this sustainable? Let’s examine this: </a:t>
            </a:r>
          </a:p>
          <a:p>
            <a:pPr marL="720000" lvl="1" indent="-360000">
              <a:lnSpc>
                <a:spcPct val="100000"/>
              </a:lnSpc>
              <a:spcBef>
                <a:spcPct val="0"/>
              </a:spcBef>
              <a:buClr>
                <a:srgbClr val="000000"/>
              </a:buClr>
              <a:buFont typeface="Wingdings" panose="05000000000000000000" pitchFamily="2" charset="2"/>
              <a:buChar char="Ø"/>
            </a:pPr>
            <a:r>
              <a:rPr lang="en-CA" altLang="en-US" b="0" dirty="0" smtClean="0">
                <a:latin typeface="Arial" panose="020B0604020202020204" pitchFamily="34" charset="0"/>
                <a:cs typeface="Arial" panose="020B0604020202020204" pitchFamily="34" charset="0"/>
              </a:rPr>
              <a:t>By reviewing:</a:t>
            </a:r>
          </a:p>
          <a:p>
            <a:pPr marL="1080000" lvl="1" indent="-360000">
              <a:lnSpc>
                <a:spcPct val="100000"/>
              </a:lnSpc>
              <a:spcBef>
                <a:spcPct val="0"/>
              </a:spcBef>
              <a:buClr>
                <a:srgbClr val="000000"/>
              </a:buClr>
              <a:buFont typeface="Wingdings" panose="05000000000000000000" pitchFamily="2" charset="2"/>
              <a:buChar char="Ø"/>
            </a:pPr>
            <a:r>
              <a:rPr lang="en-US" altLang="en-US" b="0" dirty="0" smtClean="0">
                <a:latin typeface="Arial" panose="020B0604020202020204" pitchFamily="34" charset="0"/>
                <a:cs typeface="Arial" panose="020B0604020202020204" pitchFamily="34" charset="0"/>
              </a:rPr>
              <a:t> </a:t>
            </a:r>
            <a:r>
              <a:rPr lang="en-US" altLang="en-US" b="0" dirty="0">
                <a:latin typeface="Arial" panose="020B0604020202020204" pitchFamily="34" charset="0"/>
                <a:cs typeface="Arial" panose="020B0604020202020204" pitchFamily="34" charset="0"/>
              </a:rPr>
              <a:t>Alberta Workplace Injuries &amp; Disease Rates (2009 to 2018)</a:t>
            </a:r>
          </a:p>
          <a:p>
            <a:pPr marL="1080000" lvl="1" indent="-360000">
              <a:lnSpc>
                <a:spcPct val="100000"/>
              </a:lnSpc>
              <a:spcBef>
                <a:spcPct val="0"/>
              </a:spcBef>
              <a:buClr>
                <a:srgbClr val="000000"/>
              </a:buClr>
              <a:buFont typeface="Wingdings" panose="05000000000000000000" pitchFamily="2" charset="2"/>
              <a:buChar char="Ø"/>
            </a:pPr>
            <a:r>
              <a:rPr lang="en-US" altLang="en-US" b="0" dirty="0">
                <a:latin typeface="Arial" panose="020B0604020202020204" pitchFamily="34" charset="0"/>
                <a:cs typeface="Arial" panose="020B0604020202020204" pitchFamily="34" charset="0"/>
              </a:rPr>
              <a:t> Alberta </a:t>
            </a:r>
            <a:r>
              <a:rPr lang="en-US" altLang="en-US" b="0" dirty="0" smtClean="0">
                <a:latin typeface="Arial" panose="020B0604020202020204" pitchFamily="34" charset="0"/>
                <a:cs typeface="Arial" panose="020B0604020202020204" pitchFamily="34" charset="0"/>
              </a:rPr>
              <a:t>Occupational Fatalities (2009 </a:t>
            </a:r>
            <a:r>
              <a:rPr lang="en-US" altLang="en-US" b="0" dirty="0">
                <a:latin typeface="Arial" panose="020B0604020202020204" pitchFamily="34" charset="0"/>
                <a:cs typeface="Arial" panose="020B0604020202020204" pitchFamily="34" charset="0"/>
              </a:rPr>
              <a:t>to 2018)</a:t>
            </a:r>
          </a:p>
          <a:p>
            <a:pPr marL="1080000" lvl="1" indent="-360000">
              <a:lnSpc>
                <a:spcPct val="100000"/>
              </a:lnSpc>
              <a:spcBef>
                <a:spcPct val="0"/>
              </a:spcBef>
              <a:buClr>
                <a:srgbClr val="000000"/>
              </a:buClr>
              <a:buFont typeface="Wingdings" panose="05000000000000000000" pitchFamily="2" charset="2"/>
              <a:buChar char="Ø"/>
            </a:pPr>
            <a:r>
              <a:rPr lang="en-US" altLang="en-US" b="0" dirty="0">
                <a:latin typeface="Arial" panose="020B0604020202020204" pitchFamily="34" charset="0"/>
                <a:cs typeface="Arial" panose="020B0604020202020204" pitchFamily="34" charset="0"/>
              </a:rPr>
              <a:t>Injury Rate Trends in Other Jurisdictions:</a:t>
            </a:r>
          </a:p>
          <a:p>
            <a:pPr marL="1080000" lvl="1" indent="-360000">
              <a:lnSpc>
                <a:spcPct val="100000"/>
              </a:lnSpc>
              <a:spcBef>
                <a:spcPct val="0"/>
              </a:spcBef>
              <a:buClr>
                <a:srgbClr val="000000"/>
              </a:buClr>
              <a:buFont typeface="Wingdings" panose="05000000000000000000" pitchFamily="2" charset="2"/>
              <a:buChar char="Ø"/>
            </a:pPr>
            <a:r>
              <a:rPr lang="en-CA" altLang="en-US" b="0" dirty="0">
                <a:latin typeface="Arial" panose="020B0604020202020204" pitchFamily="34" charset="0"/>
                <a:cs typeface="Arial" panose="020B0604020202020204" pitchFamily="34" charset="0"/>
              </a:rPr>
              <a:t>Heinrich Safety Triangle </a:t>
            </a:r>
            <a:endParaRPr lang="en-CA" altLang="en-US" b="0" dirty="0" smtClean="0">
              <a:latin typeface="Arial" panose="020B0604020202020204" pitchFamily="34" charset="0"/>
              <a:cs typeface="Arial" panose="020B0604020202020204" pitchFamily="34" charset="0"/>
            </a:endParaRPr>
          </a:p>
          <a:p>
            <a:pPr marL="1080000" lvl="1" indent="-360000">
              <a:lnSpc>
                <a:spcPct val="100000"/>
              </a:lnSpc>
              <a:spcBef>
                <a:spcPct val="0"/>
              </a:spcBef>
              <a:buClr>
                <a:srgbClr val="000000"/>
              </a:buClr>
              <a:buFont typeface="Wingdings" panose="05000000000000000000" pitchFamily="2" charset="2"/>
              <a:buChar char="Ø"/>
            </a:pPr>
            <a:r>
              <a:rPr lang="en-US" altLang="en-US" b="0" dirty="0">
                <a:latin typeface="Arial" panose="020B0604020202020204" pitchFamily="34" charset="0"/>
                <a:cs typeface="Arial" panose="020B0604020202020204" pitchFamily="34" charset="0"/>
              </a:rPr>
              <a:t>High Potential (</a:t>
            </a:r>
            <a:r>
              <a:rPr lang="en-US" altLang="en-US" b="0" dirty="0" err="1">
                <a:latin typeface="Arial" panose="020B0604020202020204" pitchFamily="34" charset="0"/>
                <a:cs typeface="Arial" panose="020B0604020202020204" pitchFamily="34" charset="0"/>
              </a:rPr>
              <a:t>HiPo</a:t>
            </a:r>
            <a:r>
              <a:rPr lang="en-US" altLang="en-US" b="0" dirty="0">
                <a:latin typeface="Arial" panose="020B0604020202020204" pitchFamily="34" charset="0"/>
                <a:cs typeface="Arial" panose="020B0604020202020204" pitchFamily="34" charset="0"/>
              </a:rPr>
              <a:t>) Incidents Model</a:t>
            </a:r>
            <a:r>
              <a:rPr lang="en-US" altLang="en-US" b="0" dirty="0" smtClean="0">
                <a:latin typeface="Arial" panose="020B0604020202020204" pitchFamily="34" charset="0"/>
                <a:cs typeface="Arial" panose="020B0604020202020204" pitchFamily="34" charset="0"/>
              </a:rPr>
              <a:t>:</a:t>
            </a:r>
          </a:p>
          <a:p>
            <a:pPr marL="720000" lvl="1" indent="-360000">
              <a:lnSpc>
                <a:spcPct val="100000"/>
              </a:lnSpc>
              <a:spcBef>
                <a:spcPct val="0"/>
              </a:spcBef>
              <a:buClr>
                <a:srgbClr val="000000"/>
              </a:buClr>
              <a:buFont typeface="Wingdings" panose="05000000000000000000" pitchFamily="2" charset="2"/>
              <a:buChar char="Ø"/>
            </a:pPr>
            <a:r>
              <a:rPr lang="en-US" altLang="en-US" dirty="0">
                <a:latin typeface="Arial" panose="020B0604020202020204" pitchFamily="34" charset="0"/>
                <a:cs typeface="Arial" panose="020B0604020202020204" pitchFamily="34" charset="0"/>
              </a:rPr>
              <a:t>And </a:t>
            </a:r>
            <a:r>
              <a:rPr lang="en-US" altLang="en-US" dirty="0" smtClean="0">
                <a:latin typeface="Arial" panose="020B0604020202020204" pitchFamily="34" charset="0"/>
                <a:cs typeface="Arial" panose="020B0604020202020204" pitchFamily="34" charset="0"/>
              </a:rPr>
              <a:t>by examining </a:t>
            </a:r>
            <a:r>
              <a:rPr lang="en-US" altLang="en-US" dirty="0">
                <a:latin typeface="Arial" panose="020B0604020202020204" pitchFamily="34" charset="0"/>
                <a:cs typeface="Arial" panose="020B0604020202020204" pitchFamily="34" charset="0"/>
              </a:rPr>
              <a:t>on which events leaders should </a:t>
            </a:r>
            <a:r>
              <a:rPr lang="en-US" altLang="en-US" dirty="0" smtClean="0">
                <a:latin typeface="Arial" panose="020B0604020202020204" pitchFamily="34" charset="0"/>
                <a:cs typeface="Arial" panose="020B0604020202020204" pitchFamily="34" charset="0"/>
              </a:rPr>
              <a:t>focus.</a:t>
            </a:r>
            <a:endParaRPr lang="en-US" altLang="en-US" sz="1800" b="0" dirty="0">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Leaders </a:t>
            </a:r>
            <a:r>
              <a:rPr lang="en-US" altLang="en-US" sz="2400" b="0" dirty="0" smtClean="0">
                <a:solidFill>
                  <a:schemeClr val="accent2"/>
                </a:solidFill>
                <a:latin typeface="Arial" panose="020B0604020202020204" pitchFamily="34" charset="0"/>
                <a:ea typeface="+mj-ea"/>
                <a:cs typeface="Arial" panose="020B0604020202020204" pitchFamily="34" charset="0"/>
              </a:rPr>
              <a:t>Need to Be Smart About Managing Risks: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4090891468"/>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 Alberta Workplace Injuries &amp; Disease Rates (2009 to 2018)</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609600" y="838200"/>
            <a:ext cx="7239000" cy="4013819"/>
          </a:xfrm>
          <a:prstGeom prst="rect">
            <a:avLst/>
          </a:prstGeom>
        </p:spPr>
      </p:pic>
      <p:sp>
        <p:nvSpPr>
          <p:cNvPr id="8" name="Rectangle 3"/>
          <p:cNvSpPr>
            <a:spLocks noChangeArrowheads="1"/>
          </p:cNvSpPr>
          <p:nvPr/>
        </p:nvSpPr>
        <p:spPr bwMode="auto">
          <a:xfrm>
            <a:off x="180000" y="4572000"/>
            <a:ext cx="8640000" cy="16002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sz="1400" b="0" dirty="0">
                <a:latin typeface="Arial" panose="020B0604020202020204" pitchFamily="34" charset="0"/>
                <a:cs typeface="Arial" panose="020B0604020202020204" pitchFamily="34" charset="0"/>
              </a:rPr>
              <a:t>Two </a:t>
            </a:r>
            <a:r>
              <a:rPr lang="en-US" sz="1400" b="0" dirty="0" smtClean="0">
                <a:latin typeface="Arial" panose="020B0604020202020204" pitchFamily="34" charset="0"/>
                <a:cs typeface="Arial" panose="020B0604020202020204" pitchFamily="34" charset="0"/>
              </a:rPr>
              <a:t>measures </a:t>
            </a:r>
            <a:r>
              <a:rPr lang="en-US" sz="1400" b="0" dirty="0">
                <a:latin typeface="Arial" panose="020B0604020202020204" pitchFamily="34" charset="0"/>
                <a:cs typeface="Arial" panose="020B0604020202020204" pitchFamily="34" charset="0"/>
              </a:rPr>
              <a:t>used by the Alberta Government </a:t>
            </a:r>
            <a:r>
              <a:rPr lang="en-US" sz="1400" b="0" dirty="0" smtClean="0">
                <a:latin typeface="Arial" panose="020B0604020202020204" pitchFamily="34" charset="0"/>
                <a:cs typeface="Arial" panose="020B0604020202020204" pitchFamily="34" charset="0"/>
              </a:rPr>
              <a:t>for </a:t>
            </a:r>
            <a:r>
              <a:rPr lang="en-US" sz="1400" b="0" dirty="0">
                <a:latin typeface="Arial" panose="020B0604020202020204" pitchFamily="34" charset="0"/>
                <a:cs typeface="Arial" panose="020B0604020202020204" pitchFamily="34" charset="0"/>
              </a:rPr>
              <a:t>workplace injury and disease risks are LTC (lost time cases) and DI (disabling injury) rates. DIs include LTCs and modified-work claims</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sz="1400" b="0" dirty="0" smtClean="0">
                <a:latin typeface="Arial" panose="020B0604020202020204" pitchFamily="34" charset="0"/>
                <a:cs typeface="Arial" panose="020B0604020202020204" pitchFamily="34" charset="0"/>
              </a:rPr>
              <a:t>Compared </a:t>
            </a:r>
            <a:r>
              <a:rPr lang="en-US" sz="1400" b="0" dirty="0">
                <a:latin typeface="Arial" panose="020B0604020202020204" pitchFamily="34" charset="0"/>
                <a:cs typeface="Arial" panose="020B0604020202020204" pitchFamily="34" charset="0"/>
              </a:rPr>
              <a:t>to 2009, the </a:t>
            </a:r>
            <a:r>
              <a:rPr lang="en-US" sz="1400" b="0" dirty="0" smtClean="0">
                <a:latin typeface="Arial" panose="020B0604020202020204" pitchFamily="34" charset="0"/>
                <a:cs typeface="Arial" panose="020B0604020202020204" pitchFamily="34" charset="0"/>
              </a:rPr>
              <a:t>LTC </a:t>
            </a:r>
            <a:r>
              <a:rPr lang="en-US" sz="1400" b="0" dirty="0">
                <a:latin typeface="Arial" panose="020B0604020202020204" pitchFamily="34" charset="0"/>
                <a:cs typeface="Arial" panose="020B0604020202020204" pitchFamily="34" charset="0"/>
              </a:rPr>
              <a:t>rate </a:t>
            </a:r>
            <a:r>
              <a:rPr lang="en-US" sz="1400" dirty="0">
                <a:latin typeface="Arial" panose="020B0604020202020204" pitchFamily="34" charset="0"/>
                <a:cs typeface="Arial" panose="020B0604020202020204" pitchFamily="34" charset="0"/>
              </a:rPr>
              <a:t>decreased</a:t>
            </a:r>
            <a:r>
              <a:rPr lang="en-US" sz="1400" b="0" dirty="0">
                <a:latin typeface="Arial" panose="020B0604020202020204" pitchFamily="34" charset="0"/>
                <a:cs typeface="Arial" panose="020B0604020202020204" pitchFamily="34" charset="0"/>
              </a:rPr>
              <a:t> 8.2 per cent (1.59 in 2009 versus 1.46 in 2018); and the DI rate </a:t>
            </a:r>
            <a:r>
              <a:rPr lang="en-US" sz="1400" dirty="0">
                <a:latin typeface="Arial" panose="020B0604020202020204" pitchFamily="34" charset="0"/>
                <a:cs typeface="Arial" panose="020B0604020202020204" pitchFamily="34" charset="0"/>
              </a:rPr>
              <a:t>decreased</a:t>
            </a:r>
            <a:r>
              <a:rPr lang="en-US" sz="1400" b="0" dirty="0">
                <a:latin typeface="Arial" panose="020B0604020202020204" pitchFamily="34" charset="0"/>
                <a:cs typeface="Arial" panose="020B0604020202020204" pitchFamily="34" charset="0"/>
              </a:rPr>
              <a:t> 4.6 per cent (2.84 in 2009 versus 2.71 in 2018</a:t>
            </a:r>
            <a:r>
              <a:rPr lang="en-US" sz="1400" b="0" dirty="0" smtClean="0">
                <a:latin typeface="Arial" panose="020B0604020202020204" pitchFamily="34" charset="0"/>
                <a:cs typeface="Arial" panose="020B0604020202020204" pitchFamily="34" charset="0"/>
              </a:rPr>
              <a:t>).</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sz="1400" b="0" dirty="0" smtClean="0">
                <a:latin typeface="Arial" panose="020B0604020202020204" pitchFamily="34" charset="0"/>
                <a:cs typeface="Arial" panose="020B0604020202020204" pitchFamily="34" charset="0"/>
              </a:rPr>
              <a:t>Other organizations report similar improvements in both trends, some at even greater improvements e.g. from LTC/DI = 2.5 in 1999 to LTC/DI = 0.25 in 2020 (a factor of 10X improvement)</a:t>
            </a:r>
            <a:endParaRPr lang="en-US" altLang="en-US" sz="14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9742593"/>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 Alberta Occupational Fatalities (2009 to 2018)</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714109" y="838200"/>
            <a:ext cx="7591691" cy="4052887"/>
          </a:xfrm>
          <a:prstGeom prst="rect">
            <a:avLst/>
          </a:prstGeom>
        </p:spPr>
      </p:pic>
      <p:sp>
        <p:nvSpPr>
          <p:cNvPr id="8" name="Rectangle 3"/>
          <p:cNvSpPr>
            <a:spLocks noChangeArrowheads="1"/>
          </p:cNvSpPr>
          <p:nvPr/>
        </p:nvSpPr>
        <p:spPr bwMode="auto">
          <a:xfrm>
            <a:off x="180000" y="4648200"/>
            <a:ext cx="8640000" cy="162709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2018 fatality </a:t>
            </a:r>
            <a:r>
              <a:rPr 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rate was up slightly </a:t>
            </a: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2009 </a:t>
            </a:r>
            <a:r>
              <a:rPr 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67 </a:t>
            </a:r>
            <a:r>
              <a:rPr 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2018 </a:t>
            </a:r>
            <a:r>
              <a:rPr 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versus </a:t>
            </a: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65 </a:t>
            </a:r>
            <a:r>
              <a:rPr 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2009)</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Alberta workplace fatality rate ranges between 64 (low) and 90 (high)</a:t>
            </a:r>
            <a:endParaRPr 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Unlike LTC &amp; DI rates, why have we not seen a </a:t>
            </a:r>
            <a:r>
              <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decrease in the </a:t>
            </a: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Alberta workplace fatality rate from 2009 to 2018?</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sz="16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Similarly, some leading organizations have seen LTC/DI improvements of 10X yet have essentially the same fatality rate. </a:t>
            </a:r>
            <a:endParaRPr lang="en-US" altLang="en-US" sz="16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96575773"/>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is seen in many different jurisdictions!</a:t>
            </a: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injury rate is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declining</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 good thing) whereas the </a:t>
            </a:r>
            <a:r>
              <a:rPr lang="en-US" altLang="en-US" sz="1800" b="0"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fatality rate is not declining at the same rate</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Injury Rate Trends in Other Jurisdictions: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25658" r="20131"/>
          <a:stretch/>
        </p:blipFill>
        <p:spPr>
          <a:xfrm rot="5400000">
            <a:off x="2207630" y="397411"/>
            <a:ext cx="4285782" cy="5929359"/>
          </a:xfrm>
          <a:prstGeom prst="rect">
            <a:avLst/>
          </a:prstGeom>
        </p:spPr>
      </p:pic>
      <p:sp>
        <p:nvSpPr>
          <p:cNvPr id="10" name="TextBox 9"/>
          <p:cNvSpPr txBox="1"/>
          <p:nvPr/>
        </p:nvSpPr>
        <p:spPr>
          <a:xfrm>
            <a:off x="2514600" y="3657600"/>
            <a:ext cx="1523160" cy="578882"/>
          </a:xfrm>
          <a:prstGeom prst="wedgeRoundRectCallout">
            <a:avLst>
              <a:gd name="adj1" fmla="val 77196"/>
              <a:gd name="adj2" fmla="val -121453"/>
              <a:gd name="adj3" fmla="val 16667"/>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Fatalities</a:t>
            </a:r>
          </a:p>
        </p:txBody>
      </p:sp>
      <p:sp>
        <p:nvSpPr>
          <p:cNvPr id="11" name="TextBox 10"/>
          <p:cNvSpPr txBox="1"/>
          <p:nvPr/>
        </p:nvSpPr>
        <p:spPr>
          <a:xfrm>
            <a:off x="4495800" y="1991380"/>
            <a:ext cx="1314030" cy="578882"/>
          </a:xfrm>
          <a:prstGeom prst="wedgeRoundRectCallout">
            <a:avLst>
              <a:gd name="adj1" fmla="val -136225"/>
              <a:gd name="adj2" fmla="val 34507"/>
              <a:gd name="adj3" fmla="val 16667"/>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Injuries</a:t>
            </a:r>
          </a:p>
        </p:txBody>
      </p:sp>
    </p:spTree>
    <p:extLst>
      <p:ext uri="{BB962C8B-B14F-4D97-AF65-F5344CB8AC3E}">
        <p14:creationId xmlns:p14="http://schemas.microsoft.com/office/powerpoint/2010/main" val="3346659248"/>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Compare Two Incidents </a:t>
            </a:r>
            <a:r>
              <a:rPr lang="en-US" altLang="en-US" sz="2400" b="0" dirty="0" smtClean="0">
                <a:solidFill>
                  <a:schemeClr val="accent2"/>
                </a:solidFill>
                <a:latin typeface="Arial" panose="020B0604020202020204" pitchFamily="34" charset="0"/>
                <a:ea typeface="+mj-ea"/>
                <a:cs typeface="Arial" panose="020B0604020202020204" pitchFamily="34" charset="0"/>
              </a:rPr>
              <a:t>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307" name="Rectangle 3"/>
          <p:cNvSpPr>
            <a:spLocks noChangeArrowheads="1"/>
          </p:cNvSpPr>
          <p:nvPr/>
        </p:nvSpPr>
        <p:spPr bwMode="auto">
          <a:xfrm>
            <a:off x="180000" y="828000"/>
            <a:ext cx="8640000" cy="5400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Compare - Bird Study with the Heinrich Safety Triangle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(see notes)</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311" name="Picture 310"/>
          <p:cNvPicPr>
            <a:picLocks noChangeAspect="1"/>
          </p:cNvPicPr>
          <p:nvPr/>
        </p:nvPicPr>
        <p:blipFill>
          <a:blip r:embed="rId3"/>
          <a:stretch>
            <a:fillRect/>
          </a:stretch>
        </p:blipFill>
        <p:spPr>
          <a:xfrm>
            <a:off x="381000" y="1991400"/>
            <a:ext cx="6237043" cy="3810000"/>
          </a:xfrm>
          <a:prstGeom prst="rect">
            <a:avLst/>
          </a:prstGeom>
        </p:spPr>
      </p:pic>
      <p:pic>
        <p:nvPicPr>
          <p:cNvPr id="312" name="Picture 311"/>
          <p:cNvPicPr>
            <a:picLocks noChangeAspect="1"/>
          </p:cNvPicPr>
          <p:nvPr/>
        </p:nvPicPr>
        <p:blipFill>
          <a:blip r:embed="rId4"/>
          <a:stretch>
            <a:fillRect/>
          </a:stretch>
        </p:blipFill>
        <p:spPr>
          <a:xfrm>
            <a:off x="3707266" y="1548900"/>
            <a:ext cx="4011755" cy="3886200"/>
          </a:xfrm>
          <a:prstGeom prst="rect">
            <a:avLst/>
          </a:prstGeom>
          <a:solidFill>
            <a:schemeClr val="bg1"/>
          </a:solidFill>
          <a:ln>
            <a:solidFill>
              <a:schemeClr val="tx1"/>
            </a:solidFill>
          </a:ln>
        </p:spPr>
      </p:pic>
    </p:spTree>
    <p:extLst>
      <p:ext uri="{BB962C8B-B14F-4D97-AF65-F5344CB8AC3E}">
        <p14:creationId xmlns:p14="http://schemas.microsoft.com/office/powerpoint/2010/main" val="2577238146"/>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792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Incorrect Assumptions: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injuries increase in severity there is a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decrease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frequency.</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low severity injuries have the same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serious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injury.</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Injuries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 differing severity have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same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underlying root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causes.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Reducing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less serious injuries will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also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reduce more serious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injuries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 the ratios stay the same.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incorrect assumptions also hold for the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Bird Incident Ratio Study. These </a:t>
            </a:r>
            <a:r>
              <a:rPr lang="en-US" altLang="en-US"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NOT prediction models!</a:t>
            </a:r>
            <a:endParaRPr lang="en-US" altLang="en-US"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Heinrich Safety Triangle: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grpSp>
        <p:nvGrpSpPr>
          <p:cNvPr id="16" name="Group 15"/>
          <p:cNvGrpSpPr/>
          <p:nvPr/>
        </p:nvGrpSpPr>
        <p:grpSpPr>
          <a:xfrm>
            <a:off x="4759356" y="1066800"/>
            <a:ext cx="4003644" cy="3849791"/>
            <a:chOff x="4530756" y="1701142"/>
            <a:chExt cx="4003644" cy="3849791"/>
          </a:xfrm>
        </p:grpSpPr>
        <p:sp>
          <p:nvSpPr>
            <p:cNvPr id="5" name="Freeform 4"/>
            <p:cNvSpPr/>
            <p:nvPr/>
          </p:nvSpPr>
          <p:spPr>
            <a:xfrm>
              <a:off x="6132213" y="1701142"/>
              <a:ext cx="800728" cy="681140"/>
            </a:xfrm>
            <a:custGeom>
              <a:avLst/>
              <a:gdLst>
                <a:gd name="connsiteX0" fmla="*/ 0 w 800728"/>
                <a:gd name="connsiteY0" fmla="*/ 681140 h 681140"/>
                <a:gd name="connsiteX1" fmla="*/ 400364 w 800728"/>
                <a:gd name="connsiteY1" fmla="*/ 0 h 681140"/>
                <a:gd name="connsiteX2" fmla="*/ 400364 w 800728"/>
                <a:gd name="connsiteY2" fmla="*/ 0 h 681140"/>
                <a:gd name="connsiteX3" fmla="*/ 800728 w 800728"/>
                <a:gd name="connsiteY3" fmla="*/ 681140 h 681140"/>
                <a:gd name="connsiteX4" fmla="*/ 0 w 800728"/>
                <a:gd name="connsiteY4" fmla="*/ 681140 h 68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0728" h="681140">
                  <a:moveTo>
                    <a:pt x="0" y="681140"/>
                  </a:moveTo>
                  <a:lnTo>
                    <a:pt x="400364" y="0"/>
                  </a:lnTo>
                  <a:lnTo>
                    <a:pt x="400364" y="0"/>
                  </a:lnTo>
                  <a:lnTo>
                    <a:pt x="800728" y="681140"/>
                  </a:lnTo>
                  <a:lnTo>
                    <a:pt x="0" y="681140"/>
                  </a:lnTo>
                  <a:close/>
                </a:path>
              </a:pathLst>
            </a:custGeom>
            <a:gradFill flip="none" rotWithShape="1">
              <a:gsLst>
                <a:gs pos="0">
                  <a:srgbClr val="3333FF">
                    <a:tint val="66000"/>
                    <a:satMod val="160000"/>
                  </a:srgbClr>
                </a:gs>
                <a:gs pos="50000">
                  <a:srgbClr val="3333FF">
                    <a:tint val="44500"/>
                    <a:satMod val="160000"/>
                  </a:srgbClr>
                </a:gs>
                <a:gs pos="100000">
                  <a:srgbClr val="3333FF">
                    <a:tint val="23500"/>
                    <a:satMod val="160000"/>
                  </a:srgbClr>
                </a:gs>
              </a:gsLst>
              <a:lin ang="5400000" scaled="1"/>
              <a:tileRect/>
            </a:gra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0" tIns="0" rIns="0" bIns="0" numCol="1" spcCol="1270" anchor="b" anchorCtr="0">
              <a:noAutofit/>
            </a:bodyPr>
            <a:lstStyle/>
            <a:p>
              <a:pPr lvl="0" algn="ctr" defTabSz="622300">
                <a:lnSpc>
                  <a:spcPct val="90000"/>
                </a:lnSpc>
                <a:spcBef>
                  <a:spcPct val="0"/>
                </a:spcBef>
                <a:spcAft>
                  <a:spcPct val="35000"/>
                </a:spcAft>
              </a:pPr>
              <a:r>
                <a:rPr lang="en-US" kern="1200" dirty="0" smtClean="0">
                  <a:solidFill>
                    <a:schemeClr val="tx1"/>
                  </a:solidFill>
                  <a:latin typeface="Arial" panose="020B0604020202020204" pitchFamily="34" charset="0"/>
                  <a:cs typeface="Arial" panose="020B0604020202020204" pitchFamily="34" charset="0"/>
                </a:rPr>
                <a:t>Fatality</a:t>
              </a:r>
              <a:endParaRPr lang="en-US" kern="1200" dirty="0">
                <a:solidFill>
                  <a:schemeClr val="tx1"/>
                </a:solidFill>
                <a:latin typeface="Arial" panose="020B0604020202020204" pitchFamily="34" charset="0"/>
                <a:cs typeface="Arial" panose="020B0604020202020204" pitchFamily="34" charset="0"/>
              </a:endParaRPr>
            </a:p>
          </p:txBody>
        </p:sp>
        <p:sp>
          <p:nvSpPr>
            <p:cNvPr id="10" name="Freeform 9"/>
            <p:cNvSpPr/>
            <p:nvPr/>
          </p:nvSpPr>
          <p:spPr>
            <a:xfrm>
              <a:off x="5731849" y="2382282"/>
              <a:ext cx="1601457" cy="681140"/>
            </a:xfrm>
            <a:custGeom>
              <a:avLst/>
              <a:gdLst>
                <a:gd name="connsiteX0" fmla="*/ 0 w 1601457"/>
                <a:gd name="connsiteY0" fmla="*/ 681140 h 681140"/>
                <a:gd name="connsiteX1" fmla="*/ 400367 w 1601457"/>
                <a:gd name="connsiteY1" fmla="*/ 0 h 681140"/>
                <a:gd name="connsiteX2" fmla="*/ 1201090 w 1601457"/>
                <a:gd name="connsiteY2" fmla="*/ 0 h 681140"/>
                <a:gd name="connsiteX3" fmla="*/ 1601457 w 1601457"/>
                <a:gd name="connsiteY3" fmla="*/ 681140 h 681140"/>
                <a:gd name="connsiteX4" fmla="*/ 0 w 1601457"/>
                <a:gd name="connsiteY4" fmla="*/ 681140 h 68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01457" h="681140">
                  <a:moveTo>
                    <a:pt x="0" y="681140"/>
                  </a:moveTo>
                  <a:lnTo>
                    <a:pt x="400367" y="0"/>
                  </a:lnTo>
                  <a:lnTo>
                    <a:pt x="1201090" y="0"/>
                  </a:lnTo>
                  <a:lnTo>
                    <a:pt x="1601457" y="681140"/>
                  </a:lnTo>
                  <a:lnTo>
                    <a:pt x="0" y="681140"/>
                  </a:lnTo>
                  <a:close/>
                </a:path>
              </a:pathLst>
            </a:custGeom>
            <a:gradFill flip="none" rotWithShape="1">
              <a:gsLst>
                <a:gs pos="0">
                  <a:srgbClr val="3333FF">
                    <a:tint val="66000"/>
                    <a:satMod val="160000"/>
                  </a:srgbClr>
                </a:gs>
                <a:gs pos="50000">
                  <a:srgbClr val="3333FF">
                    <a:tint val="44500"/>
                    <a:satMod val="160000"/>
                  </a:srgbClr>
                </a:gs>
                <a:gs pos="100000">
                  <a:srgbClr val="3333FF">
                    <a:tint val="23500"/>
                    <a:satMod val="160000"/>
                  </a:srgbClr>
                </a:gs>
              </a:gsLst>
              <a:lin ang="5400000" scaled="1"/>
              <a:tileRect/>
            </a:gra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298035" tIns="17780" rIns="298035" bIns="17780" numCol="1" spcCol="1270" anchor="ctr" anchorCtr="0">
              <a:noAutofit/>
            </a:bodyPr>
            <a:lstStyle/>
            <a:p>
              <a:pPr lvl="0" algn="ctr" defTabSz="622300">
                <a:lnSpc>
                  <a:spcPct val="90000"/>
                </a:lnSpc>
                <a:spcBef>
                  <a:spcPct val="0"/>
                </a:spcBef>
                <a:spcAft>
                  <a:spcPct val="35000"/>
                </a:spcAft>
              </a:pPr>
              <a:r>
                <a:rPr lang="en-US" kern="1200" dirty="0" smtClean="0">
                  <a:solidFill>
                    <a:schemeClr val="bg1"/>
                  </a:solidFill>
                  <a:latin typeface="Arial" panose="020B0604020202020204" pitchFamily="34" charset="0"/>
                  <a:cs typeface="Arial" panose="020B0604020202020204" pitchFamily="34" charset="0"/>
                </a:rPr>
                <a:t>Lost Time Injury</a:t>
              </a:r>
            </a:p>
          </p:txBody>
        </p:sp>
        <p:sp>
          <p:nvSpPr>
            <p:cNvPr id="11" name="Freeform 10"/>
            <p:cNvSpPr/>
            <p:nvPr/>
          </p:nvSpPr>
          <p:spPr>
            <a:xfrm>
              <a:off x="5331484" y="3063422"/>
              <a:ext cx="2402186" cy="681140"/>
            </a:xfrm>
            <a:custGeom>
              <a:avLst/>
              <a:gdLst>
                <a:gd name="connsiteX0" fmla="*/ 0 w 2402186"/>
                <a:gd name="connsiteY0" fmla="*/ 681140 h 681140"/>
                <a:gd name="connsiteX1" fmla="*/ 400367 w 2402186"/>
                <a:gd name="connsiteY1" fmla="*/ 0 h 681140"/>
                <a:gd name="connsiteX2" fmla="*/ 2001819 w 2402186"/>
                <a:gd name="connsiteY2" fmla="*/ 0 h 681140"/>
                <a:gd name="connsiteX3" fmla="*/ 2402186 w 2402186"/>
                <a:gd name="connsiteY3" fmla="*/ 681140 h 681140"/>
                <a:gd name="connsiteX4" fmla="*/ 0 w 2402186"/>
                <a:gd name="connsiteY4" fmla="*/ 681140 h 68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2186" h="681140">
                  <a:moveTo>
                    <a:pt x="0" y="681140"/>
                  </a:moveTo>
                  <a:lnTo>
                    <a:pt x="400367" y="0"/>
                  </a:lnTo>
                  <a:lnTo>
                    <a:pt x="2001819" y="0"/>
                  </a:lnTo>
                  <a:lnTo>
                    <a:pt x="2402186" y="681140"/>
                  </a:lnTo>
                  <a:lnTo>
                    <a:pt x="0" y="681140"/>
                  </a:lnTo>
                  <a:close/>
                </a:path>
              </a:pathLst>
            </a:custGeom>
            <a:gradFill flip="none" rotWithShape="1">
              <a:gsLst>
                <a:gs pos="0">
                  <a:srgbClr val="3333FF">
                    <a:tint val="66000"/>
                    <a:satMod val="160000"/>
                  </a:srgbClr>
                </a:gs>
                <a:gs pos="50000">
                  <a:srgbClr val="3333FF">
                    <a:tint val="44500"/>
                    <a:satMod val="160000"/>
                  </a:srgbClr>
                </a:gs>
                <a:gs pos="100000">
                  <a:srgbClr val="3333FF">
                    <a:tint val="23500"/>
                    <a:satMod val="160000"/>
                  </a:srgbClr>
                </a:gs>
              </a:gsLst>
              <a:lin ang="5400000" scaled="1"/>
              <a:tileRect/>
            </a:gra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438163" tIns="17780" rIns="438162" bIns="17780" numCol="1" spcCol="1270" anchor="ctr" anchorCtr="0">
              <a:noAutofit/>
            </a:bodyPr>
            <a:lstStyle/>
            <a:p>
              <a:pPr lvl="0" algn="ctr" defTabSz="622300">
                <a:lnSpc>
                  <a:spcPct val="90000"/>
                </a:lnSpc>
                <a:spcBef>
                  <a:spcPct val="0"/>
                </a:spcBef>
                <a:spcAft>
                  <a:spcPct val="35000"/>
                </a:spcAft>
              </a:pPr>
              <a:r>
                <a:rPr lang="en-US" kern="1200" dirty="0" smtClean="0">
                  <a:solidFill>
                    <a:schemeClr val="bg1"/>
                  </a:solidFill>
                  <a:latin typeface="Arial" panose="020B0604020202020204" pitchFamily="34" charset="0"/>
                  <a:cs typeface="Arial" panose="020B0604020202020204" pitchFamily="34" charset="0"/>
                </a:rPr>
                <a:t>Restricted Duty / Work</a:t>
              </a:r>
              <a:endParaRPr lang="en-US" kern="1200" dirty="0">
                <a:solidFill>
                  <a:schemeClr val="bg1"/>
                </a:solidFill>
                <a:latin typeface="Arial" panose="020B0604020202020204" pitchFamily="34" charset="0"/>
                <a:cs typeface="Arial" panose="020B0604020202020204" pitchFamily="34" charset="0"/>
              </a:endParaRPr>
            </a:p>
          </p:txBody>
        </p:sp>
        <p:sp>
          <p:nvSpPr>
            <p:cNvPr id="14" name="Freeform 13"/>
            <p:cNvSpPr/>
            <p:nvPr/>
          </p:nvSpPr>
          <p:spPr>
            <a:xfrm>
              <a:off x="4931120" y="3744563"/>
              <a:ext cx="3202915" cy="681140"/>
            </a:xfrm>
            <a:custGeom>
              <a:avLst/>
              <a:gdLst>
                <a:gd name="connsiteX0" fmla="*/ 0 w 3202915"/>
                <a:gd name="connsiteY0" fmla="*/ 681140 h 681140"/>
                <a:gd name="connsiteX1" fmla="*/ 400367 w 3202915"/>
                <a:gd name="connsiteY1" fmla="*/ 0 h 681140"/>
                <a:gd name="connsiteX2" fmla="*/ 2802548 w 3202915"/>
                <a:gd name="connsiteY2" fmla="*/ 0 h 681140"/>
                <a:gd name="connsiteX3" fmla="*/ 3202915 w 3202915"/>
                <a:gd name="connsiteY3" fmla="*/ 681140 h 681140"/>
                <a:gd name="connsiteX4" fmla="*/ 0 w 3202915"/>
                <a:gd name="connsiteY4" fmla="*/ 681140 h 68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2915" h="681140">
                  <a:moveTo>
                    <a:pt x="0" y="681140"/>
                  </a:moveTo>
                  <a:lnTo>
                    <a:pt x="400367" y="0"/>
                  </a:lnTo>
                  <a:lnTo>
                    <a:pt x="2802548" y="0"/>
                  </a:lnTo>
                  <a:lnTo>
                    <a:pt x="3202915" y="681140"/>
                  </a:lnTo>
                  <a:lnTo>
                    <a:pt x="0" y="681140"/>
                  </a:lnTo>
                  <a:close/>
                </a:path>
              </a:pathLst>
            </a:custGeom>
            <a:gradFill flip="none" rotWithShape="1">
              <a:gsLst>
                <a:gs pos="0">
                  <a:srgbClr val="3333FF">
                    <a:tint val="66000"/>
                    <a:satMod val="160000"/>
                  </a:srgbClr>
                </a:gs>
                <a:gs pos="50000">
                  <a:srgbClr val="3333FF">
                    <a:tint val="44500"/>
                    <a:satMod val="160000"/>
                  </a:srgbClr>
                </a:gs>
                <a:gs pos="100000">
                  <a:srgbClr val="3333FF">
                    <a:tint val="23500"/>
                    <a:satMod val="160000"/>
                  </a:srgbClr>
                </a:gs>
              </a:gsLst>
              <a:lin ang="5400000" scaled="1"/>
              <a:tileRect/>
            </a:gra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578290" tIns="17780" rIns="578291" bIns="17780" numCol="1" spcCol="1270" anchor="ctr" anchorCtr="0">
              <a:noAutofit/>
            </a:bodyPr>
            <a:lstStyle/>
            <a:p>
              <a:pPr lvl="0" algn="ctr" defTabSz="622300">
                <a:lnSpc>
                  <a:spcPct val="90000"/>
                </a:lnSpc>
                <a:spcBef>
                  <a:spcPct val="0"/>
                </a:spcBef>
                <a:spcAft>
                  <a:spcPct val="35000"/>
                </a:spcAft>
              </a:pPr>
              <a:r>
                <a:rPr lang="en-US" kern="1200" smtClean="0">
                  <a:solidFill>
                    <a:schemeClr val="bg1"/>
                  </a:solidFill>
                  <a:latin typeface="Arial" panose="020B0604020202020204" pitchFamily="34" charset="0"/>
                  <a:cs typeface="Arial" panose="020B0604020202020204" pitchFamily="34" charset="0"/>
                </a:rPr>
                <a:t>Medical Aid</a:t>
              </a:r>
              <a:endParaRPr lang="en-US" kern="1200" dirty="0">
                <a:solidFill>
                  <a:schemeClr val="bg1"/>
                </a:solidFill>
                <a:latin typeface="Arial" panose="020B0604020202020204" pitchFamily="34" charset="0"/>
                <a:cs typeface="Arial" panose="020B0604020202020204" pitchFamily="34" charset="0"/>
              </a:endParaRPr>
            </a:p>
          </p:txBody>
        </p:sp>
        <p:sp>
          <p:nvSpPr>
            <p:cNvPr id="15" name="Freeform 14"/>
            <p:cNvSpPr/>
            <p:nvPr/>
          </p:nvSpPr>
          <p:spPr>
            <a:xfrm>
              <a:off x="4530756" y="4425703"/>
              <a:ext cx="4003644" cy="681140"/>
            </a:xfrm>
            <a:custGeom>
              <a:avLst/>
              <a:gdLst>
                <a:gd name="connsiteX0" fmla="*/ 0 w 4003644"/>
                <a:gd name="connsiteY0" fmla="*/ 681140 h 681140"/>
                <a:gd name="connsiteX1" fmla="*/ 400367 w 4003644"/>
                <a:gd name="connsiteY1" fmla="*/ 0 h 681140"/>
                <a:gd name="connsiteX2" fmla="*/ 3603277 w 4003644"/>
                <a:gd name="connsiteY2" fmla="*/ 0 h 681140"/>
                <a:gd name="connsiteX3" fmla="*/ 4003644 w 4003644"/>
                <a:gd name="connsiteY3" fmla="*/ 681140 h 681140"/>
                <a:gd name="connsiteX4" fmla="*/ 0 w 4003644"/>
                <a:gd name="connsiteY4" fmla="*/ 681140 h 68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03644" h="681140">
                  <a:moveTo>
                    <a:pt x="0" y="681140"/>
                  </a:moveTo>
                  <a:lnTo>
                    <a:pt x="400367" y="0"/>
                  </a:lnTo>
                  <a:lnTo>
                    <a:pt x="3603277" y="0"/>
                  </a:lnTo>
                  <a:lnTo>
                    <a:pt x="4003644" y="681140"/>
                  </a:lnTo>
                  <a:lnTo>
                    <a:pt x="0" y="681140"/>
                  </a:lnTo>
                  <a:close/>
                </a:path>
              </a:pathLst>
            </a:custGeom>
            <a:gradFill flip="none" rotWithShape="1">
              <a:gsLst>
                <a:gs pos="0">
                  <a:srgbClr val="3333FF">
                    <a:tint val="66000"/>
                    <a:satMod val="160000"/>
                  </a:srgbClr>
                </a:gs>
                <a:gs pos="50000">
                  <a:srgbClr val="3333FF">
                    <a:tint val="44500"/>
                    <a:satMod val="160000"/>
                  </a:srgbClr>
                </a:gs>
                <a:gs pos="100000">
                  <a:srgbClr val="3333FF">
                    <a:tint val="23500"/>
                    <a:satMod val="160000"/>
                  </a:srgbClr>
                </a:gs>
              </a:gsLst>
              <a:lin ang="5400000" scaled="1"/>
              <a:tileRect/>
            </a:gradFill>
          </p:spPr>
          <p:style>
            <a:lnRef idx="0">
              <a:schemeClr val="l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spcFirstLastPara="0" vert="horz" wrap="square" lIns="718417" tIns="17780" rIns="718419" bIns="17780" numCol="1" spcCol="1270" anchor="ctr" anchorCtr="0">
              <a:noAutofit/>
            </a:bodyPr>
            <a:lstStyle/>
            <a:p>
              <a:pPr lvl="0" algn="ctr" defTabSz="622300">
                <a:lnSpc>
                  <a:spcPct val="90000"/>
                </a:lnSpc>
                <a:spcBef>
                  <a:spcPct val="0"/>
                </a:spcBef>
                <a:spcAft>
                  <a:spcPct val="35000"/>
                </a:spcAft>
              </a:pPr>
              <a:r>
                <a:rPr lang="en-US" kern="1200" dirty="0" smtClean="0">
                  <a:solidFill>
                    <a:schemeClr val="bg1"/>
                  </a:solidFill>
                  <a:latin typeface="Arial" panose="020B0604020202020204" pitchFamily="34" charset="0"/>
                  <a:cs typeface="Arial" panose="020B0604020202020204" pitchFamily="34" charset="0"/>
                </a:rPr>
                <a:t>First Aid/Near Miss</a:t>
              </a:r>
              <a:endParaRPr lang="en-US" kern="1200" dirty="0">
                <a:solidFill>
                  <a:schemeClr val="bg1"/>
                </a:solidFill>
                <a:latin typeface="Arial" panose="020B0604020202020204" pitchFamily="34" charset="0"/>
                <a:cs typeface="Arial" panose="020B0604020202020204" pitchFamily="34" charset="0"/>
              </a:endParaRPr>
            </a:p>
          </p:txBody>
        </p:sp>
        <p:sp>
          <p:nvSpPr>
            <p:cNvPr id="7" name="TextBox 1"/>
            <p:cNvSpPr txBox="1">
              <a:spLocks noChangeArrowheads="1"/>
            </p:cNvSpPr>
            <p:nvPr/>
          </p:nvSpPr>
          <p:spPr bwMode="auto">
            <a:xfrm>
              <a:off x="4530756" y="5181601"/>
              <a:ext cx="4003644" cy="369332"/>
            </a:xfrm>
            <a:prstGeom prst="rect">
              <a:avLst/>
            </a:prstGeom>
            <a:noFill/>
            <a:ln w="9525">
              <a:noFill/>
              <a:miter lim="800000"/>
              <a:headEnd/>
              <a:tailEnd/>
            </a:ln>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Heinrich Safety Triangle</a:t>
              </a:r>
              <a:endParaRPr kumimoji="0" lang="en-CA"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997402627"/>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next </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evolution in applying this model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concept</a:t>
            </a: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(Bird or Heinrich)…</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Examine actual outcomes and potential outcomes: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A New Paradigm – High Potential (</a:t>
            </a:r>
            <a:r>
              <a:rPr lang="en-US" altLang="en-US" sz="2400" b="0" dirty="0" err="1" smtClean="0">
                <a:solidFill>
                  <a:schemeClr val="accent2"/>
                </a:solidFill>
                <a:latin typeface="Arial" panose="020B0604020202020204" pitchFamily="34" charset="0"/>
                <a:ea typeface="+mj-ea"/>
                <a:cs typeface="Arial" panose="020B0604020202020204" pitchFamily="34" charset="0"/>
              </a:rPr>
              <a:t>HiPo</a:t>
            </a:r>
            <a:r>
              <a:rPr lang="en-US" altLang="en-US" sz="2400" b="0" dirty="0" smtClean="0">
                <a:solidFill>
                  <a:schemeClr val="accent2"/>
                </a:solidFill>
                <a:latin typeface="Arial" panose="020B0604020202020204" pitchFamily="34" charset="0"/>
                <a:ea typeface="+mj-ea"/>
                <a:cs typeface="Arial" panose="020B0604020202020204" pitchFamily="34" charset="0"/>
              </a:rPr>
              <a:t>) Incidents Model:</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grpSp>
        <p:nvGrpSpPr>
          <p:cNvPr id="6" name="Group 5"/>
          <p:cNvGrpSpPr/>
          <p:nvPr/>
        </p:nvGrpSpPr>
        <p:grpSpPr>
          <a:xfrm>
            <a:off x="304800" y="1662656"/>
            <a:ext cx="8691204" cy="4509544"/>
            <a:chOff x="373661" y="1415532"/>
            <a:chExt cx="8691204" cy="4509544"/>
          </a:xfrm>
        </p:grpSpPr>
        <p:sp>
          <p:nvSpPr>
            <p:cNvPr id="305" name="Trapezoid 304"/>
            <p:cNvSpPr/>
            <p:nvPr/>
          </p:nvSpPr>
          <p:spPr>
            <a:xfrm rot="5400000">
              <a:off x="3133118" y="1939321"/>
              <a:ext cx="1811309" cy="4724052"/>
            </a:xfrm>
            <a:prstGeom prst="trapezoid">
              <a:avLst>
                <a:gd name="adj" fmla="val 20412"/>
              </a:avLst>
            </a:prstGeom>
            <a:gradFill flip="none" rotWithShape="1">
              <a:gsLst>
                <a:gs pos="82000">
                  <a:schemeClr val="bg1">
                    <a:alpha val="52000"/>
                  </a:schemeClr>
                </a:gs>
                <a:gs pos="0">
                  <a:schemeClr val="accent1">
                    <a:tint val="66000"/>
                    <a:satMod val="160000"/>
                  </a:schemeClr>
                </a:gs>
                <a:gs pos="50000">
                  <a:schemeClr val="accent1">
                    <a:tint val="44500"/>
                    <a:satMod val="160000"/>
                  </a:schemeClr>
                </a:gs>
                <a:gs pos="100000">
                  <a:schemeClr val="bg1"/>
                </a:gs>
              </a:gsLst>
              <a:lin ang="5400000" scaled="1"/>
              <a:tileRect/>
            </a:gradFill>
            <a:ln w="9525" cap="flat" cmpd="sng" algn="ctr">
              <a:noFill/>
              <a:prstDash val="solid"/>
              <a:round/>
              <a:headEnd type="none" w="med" len="med"/>
              <a:tailEnd type="none" w="med" len="med"/>
            </a:ln>
            <a:effectLst/>
          </p:spPr>
          <p:txBody>
            <a:bodyPr/>
            <a:lstStyle/>
            <a:p>
              <a:pPr defTabSz="1306513"/>
              <a:endParaRPr lang="en-US" sz="2600">
                <a:solidFill>
                  <a:prstClr val="black"/>
                </a:solidFill>
                <a:latin typeface="Arial" charset="0"/>
              </a:endParaRPr>
            </a:p>
          </p:txBody>
        </p:sp>
        <p:sp>
          <p:nvSpPr>
            <p:cNvPr id="3" name="Trapezoid 2"/>
            <p:cNvSpPr/>
            <p:nvPr/>
          </p:nvSpPr>
          <p:spPr>
            <a:xfrm rot="5400000">
              <a:off x="3327109" y="-414628"/>
              <a:ext cx="1618618" cy="5443166"/>
            </a:xfrm>
            <a:prstGeom prst="trapezoid">
              <a:avLst>
                <a:gd name="adj" fmla="val 12049"/>
              </a:avLst>
            </a:prstGeom>
            <a:gradFill flip="none" rotWithShape="1">
              <a:gsLst>
                <a:gs pos="82000">
                  <a:schemeClr val="bg1">
                    <a:alpha val="52000"/>
                  </a:schemeClr>
                </a:gs>
                <a:gs pos="0">
                  <a:schemeClr val="accent1">
                    <a:tint val="66000"/>
                    <a:satMod val="160000"/>
                  </a:schemeClr>
                </a:gs>
                <a:gs pos="50000">
                  <a:schemeClr val="accent1">
                    <a:tint val="44500"/>
                    <a:satMod val="160000"/>
                  </a:schemeClr>
                </a:gs>
                <a:gs pos="100000">
                  <a:schemeClr val="bg1"/>
                </a:gs>
              </a:gsLst>
              <a:lin ang="5400000" scaled="1"/>
              <a:tileRect/>
            </a:gradFill>
            <a:ln w="9525" cap="flat" cmpd="sng" algn="ctr">
              <a:noFill/>
              <a:prstDash val="solid"/>
              <a:round/>
              <a:headEnd type="none" w="med" len="med"/>
              <a:tailEnd type="none" w="med" len="med"/>
            </a:ln>
            <a:effectLst/>
          </p:spPr>
          <p:txBody>
            <a:bodyPr/>
            <a:lstStyle/>
            <a:p>
              <a:pPr defTabSz="1306513"/>
              <a:endParaRPr lang="en-US" sz="2600">
                <a:solidFill>
                  <a:prstClr val="black"/>
                </a:solidFill>
                <a:latin typeface="Arial" charset="0"/>
              </a:endParaRPr>
            </a:p>
          </p:txBody>
        </p:sp>
        <p:sp>
          <p:nvSpPr>
            <p:cNvPr id="16" name="TextBox 3"/>
            <p:cNvSpPr txBox="1">
              <a:spLocks noChangeArrowheads="1"/>
            </p:cNvSpPr>
            <p:nvPr/>
          </p:nvSpPr>
          <p:spPr bwMode="auto">
            <a:xfrm>
              <a:off x="2771479" y="1869583"/>
              <a:ext cx="2284802" cy="954107"/>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Within the </a:t>
              </a: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layer, </a:t>
              </a: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each star represents a lost time </a:t>
              </a: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incident (</a:t>
              </a:r>
              <a:r>
                <a:rPr kumimoji="0" lang="en-US" sz="1400" b="1" i="0" u="sng" strike="noStrike" kern="1200" cap="none" spc="0" normalizeH="0" baseline="0" noProof="0" dirty="0" smtClean="0">
                  <a:ln>
                    <a:noFill/>
                  </a:ln>
                  <a:solidFill>
                    <a:srgbClr val="44546A"/>
                  </a:solidFill>
                  <a:effectLst/>
                  <a:uLnTx/>
                  <a:uFillTx/>
                  <a:latin typeface="Verdana" pitchFamily="34" charset="0"/>
                  <a:ea typeface="+mn-ea"/>
                  <a:cs typeface="+mn-cs"/>
                </a:rPr>
                <a:t>actual</a:t>
              </a: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 </a:t>
              </a: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outcome)</a:t>
              </a:r>
              <a:endParaRPr kumimoji="0" lang="en-CA" sz="1400" b="1" i="0" u="none" strike="noStrike" kern="1200" cap="none" spc="0" normalizeH="0" baseline="0" noProof="0" dirty="0">
                <a:ln>
                  <a:noFill/>
                </a:ln>
                <a:solidFill>
                  <a:srgbClr val="44546A"/>
                </a:solidFill>
                <a:effectLst/>
                <a:uLnTx/>
                <a:uFillTx/>
                <a:latin typeface="Verdana" pitchFamily="34" charset="0"/>
                <a:ea typeface="+mn-ea"/>
                <a:cs typeface="+mn-cs"/>
              </a:endParaRPr>
            </a:p>
          </p:txBody>
        </p:sp>
        <p:sp>
          <p:nvSpPr>
            <p:cNvPr id="17" name="TextBox 4"/>
            <p:cNvSpPr txBox="1">
              <a:spLocks noChangeArrowheads="1"/>
            </p:cNvSpPr>
            <p:nvPr/>
          </p:nvSpPr>
          <p:spPr bwMode="auto">
            <a:xfrm>
              <a:off x="2732087" y="3624264"/>
              <a:ext cx="2560253" cy="1384995"/>
            </a:xfrm>
            <a:prstGeom prst="rect">
              <a:avLst/>
            </a:prstGeom>
            <a:noFill/>
            <a:ln w="9525">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We identify </a:t>
              </a: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a sub-set of incidents (</a:t>
              </a: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grey area) that</a:t>
              </a: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 if not for luck, </a:t>
              </a: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
              </a:r>
              <a:b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b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had </a:t>
              </a: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the </a:t>
              </a:r>
              <a:r>
                <a:rPr kumimoji="0" lang="en-US" sz="1400" b="1" i="0" u="sng" strike="noStrike" kern="1200" cap="none" spc="0" normalizeH="0" baseline="0" noProof="0" dirty="0">
                  <a:ln>
                    <a:noFill/>
                  </a:ln>
                  <a:solidFill>
                    <a:srgbClr val="44546A"/>
                  </a:solidFill>
                  <a:effectLst/>
                  <a:uLnTx/>
                  <a:uFillTx/>
                  <a:latin typeface="Verdana" pitchFamily="34" charset="0"/>
                  <a:ea typeface="+mn-ea"/>
                  <a:cs typeface="+mn-cs"/>
                </a:rPr>
                <a:t>potential</a:t>
              </a:r>
              <a:r>
                <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rPr>
                <a:t> for a more severe </a:t>
              </a:r>
              <a:r>
                <a:rPr kumimoji="0" lang="en-US" sz="1400" b="1" i="0" u="none" strike="noStrike" kern="1200" cap="none" spc="0" normalizeH="0" baseline="0" noProof="0" dirty="0" smtClean="0">
                  <a:ln>
                    <a:noFill/>
                  </a:ln>
                  <a:solidFill>
                    <a:srgbClr val="44546A"/>
                  </a:solidFill>
                  <a:effectLst/>
                  <a:uLnTx/>
                  <a:uFillTx/>
                  <a:latin typeface="Verdana" pitchFamily="34" charset="0"/>
                  <a:ea typeface="+mn-ea"/>
                  <a:cs typeface="+mn-cs"/>
                </a:rPr>
                <a:t>outcome (fatality)</a:t>
              </a:r>
              <a:endParaRPr kumimoji="0" lang="en-US" sz="1400" b="1" i="0" u="none" strike="noStrike" kern="1200" cap="none" spc="0" normalizeH="0" baseline="0" noProof="0" dirty="0">
                <a:ln>
                  <a:noFill/>
                </a:ln>
                <a:solidFill>
                  <a:srgbClr val="44546A"/>
                </a:solidFill>
                <a:effectLst/>
                <a:uLnTx/>
                <a:uFillTx/>
                <a:latin typeface="Verdana" pitchFamily="34" charset="0"/>
                <a:ea typeface="+mn-ea"/>
                <a:cs typeface="+mn-cs"/>
              </a:endParaRPr>
            </a:p>
          </p:txBody>
        </p:sp>
        <p:grpSp>
          <p:nvGrpSpPr>
            <p:cNvPr id="18" name="Group 3"/>
            <p:cNvGrpSpPr>
              <a:grpSpLocks/>
            </p:cNvGrpSpPr>
            <p:nvPr/>
          </p:nvGrpSpPr>
          <p:grpSpPr bwMode="auto">
            <a:xfrm>
              <a:off x="373661" y="1415532"/>
              <a:ext cx="2279650" cy="1697038"/>
              <a:chOff x="609600" y="895350"/>
              <a:chExt cx="2279862" cy="1696865"/>
            </a:xfrm>
          </p:grpSpPr>
          <p:grpSp>
            <p:nvGrpSpPr>
              <p:cNvPr id="19" name="Group 7"/>
              <p:cNvGrpSpPr>
                <a:grpSpLocks/>
              </p:cNvGrpSpPr>
              <p:nvPr/>
            </p:nvGrpSpPr>
            <p:grpSpPr bwMode="auto">
              <a:xfrm>
                <a:off x="609600" y="895350"/>
                <a:ext cx="2279862" cy="1695126"/>
                <a:chOff x="5486400" y="1295400"/>
                <a:chExt cx="2972283" cy="2209516"/>
              </a:xfrm>
            </p:grpSpPr>
            <p:sp>
              <p:nvSpPr>
                <p:cNvPr id="164" name="Trapezoid 163"/>
                <p:cNvSpPr/>
                <p:nvPr/>
              </p:nvSpPr>
              <p:spPr>
                <a:xfrm>
                  <a:off x="5486400" y="1295400"/>
                  <a:ext cx="2972283" cy="2209713"/>
                </a:xfrm>
                <a:prstGeom prst="trapezoid">
                  <a:avLst/>
                </a:prstGeom>
                <a:solidFill>
                  <a:srgbClr val="365860"/>
                </a:solidFill>
                <a:ln w="3175">
                  <a:solidFill>
                    <a:schemeClr val="tx1"/>
                  </a:solidFill>
                </a:ln>
              </p:spPr>
              <p:style>
                <a:lnRef idx="1">
                  <a:schemeClr val="dk1"/>
                </a:lnRef>
                <a:fillRef idx="2">
                  <a:schemeClr val="dk1"/>
                </a:fillRef>
                <a:effectRef idx="1">
                  <a:schemeClr val="dk1"/>
                </a:effectRef>
                <a:fontRef idx="minor">
                  <a:schemeClr val="dk1"/>
                </a:fontRef>
              </p:style>
              <p:txBody>
                <a:bodyPr anchor="b"/>
                <a:lstStyle>
                  <a:defPPr>
                    <a:defRPr lang="en-US"/>
                  </a:defPPr>
                  <a:lvl1pPr algn="l" rtl="0" fontAlgn="base">
                    <a:spcBef>
                      <a:spcPct val="0"/>
                    </a:spcBef>
                    <a:spcAft>
                      <a:spcPct val="0"/>
                    </a:spcAft>
                    <a:defRPr sz="4000" kern="1200">
                      <a:solidFill>
                        <a:schemeClr val="dk1"/>
                      </a:solidFill>
                      <a:latin typeface="+mn-lt"/>
                      <a:ea typeface="+mn-ea"/>
                      <a:cs typeface="+mn-cs"/>
                    </a:defRPr>
                  </a:lvl1pPr>
                  <a:lvl2pPr marL="457200" algn="l" rtl="0" fontAlgn="base">
                    <a:spcBef>
                      <a:spcPct val="0"/>
                    </a:spcBef>
                    <a:spcAft>
                      <a:spcPct val="0"/>
                    </a:spcAft>
                    <a:defRPr sz="4000" kern="1200">
                      <a:solidFill>
                        <a:schemeClr val="dk1"/>
                      </a:solidFill>
                      <a:latin typeface="+mn-lt"/>
                      <a:ea typeface="+mn-ea"/>
                      <a:cs typeface="+mn-cs"/>
                    </a:defRPr>
                  </a:lvl2pPr>
                  <a:lvl3pPr marL="914400" algn="l" rtl="0" fontAlgn="base">
                    <a:spcBef>
                      <a:spcPct val="0"/>
                    </a:spcBef>
                    <a:spcAft>
                      <a:spcPct val="0"/>
                    </a:spcAft>
                    <a:defRPr sz="4000" kern="1200">
                      <a:solidFill>
                        <a:schemeClr val="dk1"/>
                      </a:solidFill>
                      <a:latin typeface="+mn-lt"/>
                      <a:ea typeface="+mn-ea"/>
                      <a:cs typeface="+mn-cs"/>
                    </a:defRPr>
                  </a:lvl3pPr>
                  <a:lvl4pPr marL="1371600" algn="l" rtl="0" fontAlgn="base">
                    <a:spcBef>
                      <a:spcPct val="0"/>
                    </a:spcBef>
                    <a:spcAft>
                      <a:spcPct val="0"/>
                    </a:spcAft>
                    <a:defRPr sz="4000" kern="1200">
                      <a:solidFill>
                        <a:schemeClr val="dk1"/>
                      </a:solidFill>
                      <a:latin typeface="+mn-lt"/>
                      <a:ea typeface="+mn-ea"/>
                      <a:cs typeface="+mn-cs"/>
                    </a:defRPr>
                  </a:lvl4pPr>
                  <a:lvl5pPr marL="1828800" algn="l" rtl="0" fontAlgn="base">
                    <a:spcBef>
                      <a:spcPct val="0"/>
                    </a:spcBef>
                    <a:spcAft>
                      <a:spcPct val="0"/>
                    </a:spcAft>
                    <a:defRPr sz="4000" kern="1200">
                      <a:solidFill>
                        <a:schemeClr val="dk1"/>
                      </a:solidFill>
                      <a:latin typeface="+mn-lt"/>
                      <a:ea typeface="+mn-ea"/>
                      <a:cs typeface="+mn-cs"/>
                    </a:defRPr>
                  </a:lvl5pPr>
                  <a:lvl6pPr marL="2286000" algn="l" defTabSz="914400" rtl="0" eaLnBrk="1" latinLnBrk="0" hangingPunct="1">
                    <a:defRPr sz="4000" kern="1200">
                      <a:solidFill>
                        <a:schemeClr val="dk1"/>
                      </a:solidFill>
                      <a:latin typeface="+mn-lt"/>
                      <a:ea typeface="+mn-ea"/>
                      <a:cs typeface="+mn-cs"/>
                    </a:defRPr>
                  </a:lvl6pPr>
                  <a:lvl7pPr marL="2743200" algn="l" defTabSz="914400" rtl="0" eaLnBrk="1" latinLnBrk="0" hangingPunct="1">
                    <a:defRPr sz="4000" kern="1200">
                      <a:solidFill>
                        <a:schemeClr val="dk1"/>
                      </a:solidFill>
                      <a:latin typeface="+mn-lt"/>
                      <a:ea typeface="+mn-ea"/>
                      <a:cs typeface="+mn-cs"/>
                    </a:defRPr>
                  </a:lvl7pPr>
                  <a:lvl8pPr marL="3200400" algn="l" defTabSz="914400" rtl="0" eaLnBrk="1" latinLnBrk="0" hangingPunct="1">
                    <a:defRPr sz="4000" kern="1200">
                      <a:solidFill>
                        <a:schemeClr val="dk1"/>
                      </a:solidFill>
                      <a:latin typeface="+mn-lt"/>
                      <a:ea typeface="+mn-ea"/>
                      <a:cs typeface="+mn-cs"/>
                    </a:defRPr>
                  </a:lvl8pPr>
                  <a:lvl9pPr marL="3657600" algn="l" defTabSz="914400" rtl="0" eaLnBrk="1" latinLnBrk="0" hangingPunct="1">
                    <a:defRPr sz="4000" kern="1200">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1200" cap="none" spc="0" normalizeH="0" baseline="0" noProof="0">
                    <a:ln>
                      <a:noFill/>
                    </a:ln>
                    <a:solidFill>
                      <a:srgbClr val="FFFF00"/>
                    </a:solidFill>
                    <a:effectLst/>
                    <a:uLnTx/>
                    <a:uFillTx/>
                    <a:latin typeface="Calibri"/>
                    <a:ea typeface="+mn-ea"/>
                    <a:cs typeface="+mn-cs"/>
                  </a:endParaRPr>
                </a:p>
              </p:txBody>
            </p:sp>
            <p:sp>
              <p:nvSpPr>
                <p:cNvPr id="165" name="TextBox 38"/>
                <p:cNvSpPr txBox="1"/>
                <p:nvPr/>
              </p:nvSpPr>
              <p:spPr>
                <a:xfrm>
                  <a:off x="5811365" y="2451983"/>
                  <a:ext cx="2361681" cy="440700"/>
                </a:xfrm>
                <a:prstGeom prst="rect">
                  <a:avLst/>
                </a:prstGeom>
                <a:noFill/>
              </p:spPr>
              <p:txBody>
                <a:bodyPr anchor="b">
                  <a:spAutoFit/>
                </a:bodyPr>
                <a:lstStyle>
                  <a:defPPr>
                    <a:defRPr lang="en-US"/>
                  </a:defPPr>
                  <a:lvl1pPr algn="l" rtl="0" fontAlgn="base">
                    <a:spcBef>
                      <a:spcPct val="0"/>
                    </a:spcBef>
                    <a:spcAft>
                      <a:spcPct val="0"/>
                    </a:spcAft>
                    <a:defRPr sz="4000" kern="1200">
                      <a:solidFill>
                        <a:schemeClr val="tx1"/>
                      </a:solidFill>
                      <a:latin typeface="Verdana" pitchFamily="34" charset="0"/>
                      <a:ea typeface="+mn-ea"/>
                      <a:cs typeface="+mn-cs"/>
                    </a:defRPr>
                  </a:lvl1pPr>
                  <a:lvl2pPr marL="457200" algn="l" rtl="0" fontAlgn="base">
                    <a:spcBef>
                      <a:spcPct val="0"/>
                    </a:spcBef>
                    <a:spcAft>
                      <a:spcPct val="0"/>
                    </a:spcAft>
                    <a:defRPr sz="4000" kern="1200">
                      <a:solidFill>
                        <a:schemeClr val="tx1"/>
                      </a:solidFill>
                      <a:latin typeface="Verdana" pitchFamily="34" charset="0"/>
                      <a:ea typeface="+mn-ea"/>
                      <a:cs typeface="+mn-cs"/>
                    </a:defRPr>
                  </a:lvl2pPr>
                  <a:lvl3pPr marL="914400" algn="l" rtl="0" fontAlgn="base">
                    <a:spcBef>
                      <a:spcPct val="0"/>
                    </a:spcBef>
                    <a:spcAft>
                      <a:spcPct val="0"/>
                    </a:spcAft>
                    <a:defRPr sz="4000" kern="1200">
                      <a:solidFill>
                        <a:schemeClr val="tx1"/>
                      </a:solidFill>
                      <a:latin typeface="Verdana" pitchFamily="34" charset="0"/>
                      <a:ea typeface="+mn-ea"/>
                      <a:cs typeface="+mn-cs"/>
                    </a:defRPr>
                  </a:lvl3pPr>
                  <a:lvl4pPr marL="1371600" algn="l" rtl="0" fontAlgn="base">
                    <a:spcBef>
                      <a:spcPct val="0"/>
                    </a:spcBef>
                    <a:spcAft>
                      <a:spcPct val="0"/>
                    </a:spcAft>
                    <a:defRPr sz="4000" kern="1200">
                      <a:solidFill>
                        <a:schemeClr val="tx1"/>
                      </a:solidFill>
                      <a:latin typeface="Verdana" pitchFamily="34" charset="0"/>
                      <a:ea typeface="+mn-ea"/>
                      <a:cs typeface="+mn-cs"/>
                    </a:defRPr>
                  </a:lvl4pPr>
                  <a:lvl5pPr marL="1828800" algn="l" rtl="0" fontAlgn="base">
                    <a:spcBef>
                      <a:spcPct val="0"/>
                    </a:spcBef>
                    <a:spcAft>
                      <a:spcPct val="0"/>
                    </a:spcAft>
                    <a:defRPr sz="4000" kern="1200">
                      <a:solidFill>
                        <a:schemeClr val="tx1"/>
                      </a:solidFill>
                      <a:latin typeface="Verdana" pitchFamily="34" charset="0"/>
                      <a:ea typeface="+mn-ea"/>
                      <a:cs typeface="+mn-cs"/>
                    </a:defRPr>
                  </a:lvl5pPr>
                  <a:lvl6pPr marL="2286000" algn="l" defTabSz="914400" rtl="0" eaLnBrk="1" latinLnBrk="0" hangingPunct="1">
                    <a:defRPr sz="4000" kern="1200">
                      <a:solidFill>
                        <a:schemeClr val="tx1"/>
                      </a:solidFill>
                      <a:latin typeface="Verdana" pitchFamily="34" charset="0"/>
                      <a:ea typeface="+mn-ea"/>
                      <a:cs typeface="+mn-cs"/>
                    </a:defRPr>
                  </a:lvl6pPr>
                  <a:lvl7pPr marL="2743200" algn="l" defTabSz="914400" rtl="0" eaLnBrk="1" latinLnBrk="0" hangingPunct="1">
                    <a:defRPr sz="4000" kern="1200">
                      <a:solidFill>
                        <a:schemeClr val="tx1"/>
                      </a:solidFill>
                      <a:latin typeface="Verdana" pitchFamily="34" charset="0"/>
                      <a:ea typeface="+mn-ea"/>
                      <a:cs typeface="+mn-cs"/>
                    </a:defRPr>
                  </a:lvl7pPr>
                  <a:lvl8pPr marL="3200400" algn="l" defTabSz="914400" rtl="0" eaLnBrk="1" latinLnBrk="0" hangingPunct="1">
                    <a:defRPr sz="4000" kern="1200">
                      <a:solidFill>
                        <a:schemeClr val="tx1"/>
                      </a:solidFill>
                      <a:latin typeface="Verdana" pitchFamily="34" charset="0"/>
                      <a:ea typeface="+mn-ea"/>
                      <a:cs typeface="+mn-cs"/>
                    </a:defRPr>
                  </a:lvl8pPr>
                  <a:lvl9pPr marL="3657600" algn="l" defTabSz="914400" rtl="0" eaLnBrk="1" latinLnBrk="0" hangingPunct="1">
                    <a:defRPr sz="4000" kern="1200">
                      <a:solidFill>
                        <a:schemeClr val="tx1"/>
                      </a:solidFill>
                      <a:latin typeface="Verdana"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20" name="Explosion 1 9"/>
              <p:cNvSpPr>
                <a:spLocks noChangeArrowheads="1"/>
              </p:cNvSpPr>
              <p:nvPr/>
            </p:nvSpPr>
            <p:spPr bwMode="auto">
              <a:xfrm>
                <a:off x="1756482" y="1343676"/>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 name="Explosion 1 10"/>
              <p:cNvSpPr>
                <a:spLocks noChangeArrowheads="1"/>
              </p:cNvSpPr>
              <p:nvPr/>
            </p:nvSpPr>
            <p:spPr bwMode="auto">
              <a:xfrm>
                <a:off x="1756482" y="1030891"/>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 name="Explosion 1 11"/>
              <p:cNvSpPr>
                <a:spLocks noChangeArrowheads="1"/>
              </p:cNvSpPr>
              <p:nvPr/>
            </p:nvSpPr>
            <p:spPr bwMode="auto">
              <a:xfrm>
                <a:off x="2246513" y="1385381"/>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 name="Explosion 1 12"/>
              <p:cNvSpPr>
                <a:spLocks noChangeArrowheads="1"/>
              </p:cNvSpPr>
              <p:nvPr/>
            </p:nvSpPr>
            <p:spPr bwMode="auto">
              <a:xfrm>
                <a:off x="2173530" y="1093448"/>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 name="Explosion 1 13"/>
              <p:cNvSpPr>
                <a:spLocks noChangeArrowheads="1"/>
              </p:cNvSpPr>
              <p:nvPr/>
            </p:nvSpPr>
            <p:spPr bwMode="auto">
              <a:xfrm>
                <a:off x="1985858" y="1218562"/>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 name="Explosion 1 14"/>
              <p:cNvSpPr>
                <a:spLocks noChangeArrowheads="1"/>
              </p:cNvSpPr>
              <p:nvPr/>
            </p:nvSpPr>
            <p:spPr bwMode="auto">
              <a:xfrm>
                <a:off x="1454122" y="2209051"/>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 name="Explosion 1 15"/>
              <p:cNvSpPr>
                <a:spLocks noChangeArrowheads="1"/>
              </p:cNvSpPr>
              <p:nvPr/>
            </p:nvSpPr>
            <p:spPr bwMode="auto">
              <a:xfrm>
                <a:off x="1829465" y="2136067"/>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 name="Explosion 1 16"/>
              <p:cNvSpPr>
                <a:spLocks noChangeArrowheads="1"/>
              </p:cNvSpPr>
              <p:nvPr/>
            </p:nvSpPr>
            <p:spPr bwMode="auto">
              <a:xfrm>
                <a:off x="1902448" y="1520922"/>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 name="Explosion 1 17"/>
              <p:cNvSpPr>
                <a:spLocks noChangeArrowheads="1"/>
              </p:cNvSpPr>
              <p:nvPr/>
            </p:nvSpPr>
            <p:spPr bwMode="auto">
              <a:xfrm>
                <a:off x="2163103" y="2229903"/>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 name="Explosion 1 20"/>
              <p:cNvSpPr>
                <a:spLocks noChangeArrowheads="1"/>
              </p:cNvSpPr>
              <p:nvPr/>
            </p:nvSpPr>
            <p:spPr bwMode="auto">
              <a:xfrm>
                <a:off x="1829465" y="1771150"/>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0" name="Explosion 1 21"/>
              <p:cNvSpPr>
                <a:spLocks noChangeArrowheads="1"/>
              </p:cNvSpPr>
              <p:nvPr/>
            </p:nvSpPr>
            <p:spPr bwMode="auto">
              <a:xfrm>
                <a:off x="1558384" y="1729446"/>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1" name="Explosion 1 22"/>
              <p:cNvSpPr>
                <a:spLocks noChangeArrowheads="1"/>
              </p:cNvSpPr>
              <p:nvPr/>
            </p:nvSpPr>
            <p:spPr bwMode="auto">
              <a:xfrm>
                <a:off x="1568810" y="1987494"/>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2" name="Explosion 1 23"/>
              <p:cNvSpPr>
                <a:spLocks noChangeArrowheads="1"/>
              </p:cNvSpPr>
              <p:nvPr/>
            </p:nvSpPr>
            <p:spPr bwMode="auto">
              <a:xfrm>
                <a:off x="2225661" y="1971855"/>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3" name="Explosion 1 24"/>
              <p:cNvSpPr>
                <a:spLocks noChangeArrowheads="1"/>
              </p:cNvSpPr>
              <p:nvPr/>
            </p:nvSpPr>
            <p:spPr bwMode="auto">
              <a:xfrm>
                <a:off x="2389873" y="1643430"/>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4" name="Explosion 1 25"/>
              <p:cNvSpPr>
                <a:spLocks noChangeArrowheads="1"/>
              </p:cNvSpPr>
              <p:nvPr/>
            </p:nvSpPr>
            <p:spPr bwMode="auto">
              <a:xfrm>
                <a:off x="2382054" y="2018773"/>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5" name="Explosion 1 26"/>
              <p:cNvSpPr>
                <a:spLocks noChangeArrowheads="1"/>
              </p:cNvSpPr>
              <p:nvPr/>
            </p:nvSpPr>
            <p:spPr bwMode="auto">
              <a:xfrm>
                <a:off x="2593184" y="2175165"/>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6" name="Explosion 1 27"/>
              <p:cNvSpPr>
                <a:spLocks noChangeArrowheads="1"/>
              </p:cNvSpPr>
              <p:nvPr/>
            </p:nvSpPr>
            <p:spPr bwMode="auto">
              <a:xfrm>
                <a:off x="1607908" y="2370657"/>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7" name="Explosion 1 28"/>
              <p:cNvSpPr>
                <a:spLocks noChangeArrowheads="1"/>
              </p:cNvSpPr>
              <p:nvPr/>
            </p:nvSpPr>
            <p:spPr bwMode="auto">
              <a:xfrm>
                <a:off x="2006710" y="2120428"/>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8" name="Explosion 1 29"/>
              <p:cNvSpPr>
                <a:spLocks noChangeArrowheads="1"/>
              </p:cNvSpPr>
              <p:nvPr/>
            </p:nvSpPr>
            <p:spPr bwMode="auto">
              <a:xfrm>
                <a:off x="2006710" y="2339378"/>
                <a:ext cx="135541" cy="13554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39" name="Group 30"/>
              <p:cNvGrpSpPr>
                <a:grpSpLocks/>
              </p:cNvGrpSpPr>
              <p:nvPr/>
            </p:nvGrpSpPr>
            <p:grpSpPr bwMode="auto">
              <a:xfrm>
                <a:off x="669551" y="1505284"/>
                <a:ext cx="453105" cy="1086931"/>
                <a:chOff x="19650075" y="32651700"/>
                <a:chExt cx="2409825" cy="5781675"/>
              </a:xfrm>
            </p:grpSpPr>
            <p:sp>
              <p:nvSpPr>
                <p:cNvPr id="145" name="Explosion 1 274"/>
                <p:cNvSpPr>
                  <a:spLocks noChangeArrowheads="1"/>
                </p:cNvSpPr>
                <p:nvPr/>
              </p:nvSpPr>
              <p:spPr bwMode="auto">
                <a:xfrm>
                  <a:off x="21450300" y="328803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6" name="Explosion 1 275"/>
                <p:cNvSpPr>
                  <a:spLocks noChangeArrowheads="1"/>
                </p:cNvSpPr>
                <p:nvPr/>
              </p:nvSpPr>
              <p:spPr bwMode="auto">
                <a:xfrm>
                  <a:off x="21564600" y="344805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7" name="Explosion 1 276"/>
                <p:cNvSpPr>
                  <a:spLocks noChangeArrowheads="1"/>
                </p:cNvSpPr>
                <p:nvPr/>
              </p:nvSpPr>
              <p:spPr bwMode="auto">
                <a:xfrm>
                  <a:off x="20307300" y="36652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8" name="Explosion 1 277"/>
                <p:cNvSpPr>
                  <a:spLocks noChangeArrowheads="1"/>
                </p:cNvSpPr>
                <p:nvPr/>
              </p:nvSpPr>
              <p:spPr bwMode="auto">
                <a:xfrm>
                  <a:off x="21145500" y="37033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9" name="Explosion 1 278"/>
                <p:cNvSpPr>
                  <a:spLocks noChangeArrowheads="1"/>
                </p:cNvSpPr>
                <p:nvPr/>
              </p:nvSpPr>
              <p:spPr bwMode="auto">
                <a:xfrm>
                  <a:off x="21250275" y="354520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0" name="Explosion 1 279"/>
                <p:cNvSpPr>
                  <a:spLocks noChangeArrowheads="1"/>
                </p:cNvSpPr>
                <p:nvPr/>
              </p:nvSpPr>
              <p:spPr bwMode="auto">
                <a:xfrm>
                  <a:off x="20564475" y="347091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1" name="Explosion 1 280"/>
                <p:cNvSpPr>
                  <a:spLocks noChangeArrowheads="1"/>
                </p:cNvSpPr>
                <p:nvPr/>
              </p:nvSpPr>
              <p:spPr bwMode="auto">
                <a:xfrm>
                  <a:off x="21021675" y="363950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2" name="Explosion 1 281"/>
                <p:cNvSpPr>
                  <a:spLocks noChangeArrowheads="1"/>
                </p:cNvSpPr>
                <p:nvPr/>
              </p:nvSpPr>
              <p:spPr bwMode="auto">
                <a:xfrm>
                  <a:off x="21478875" y="379380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3" name="Explosion 1 282"/>
                <p:cNvSpPr>
                  <a:spLocks noChangeArrowheads="1"/>
                </p:cNvSpPr>
                <p:nvPr/>
              </p:nvSpPr>
              <p:spPr bwMode="auto">
                <a:xfrm>
                  <a:off x="19650075" y="37795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4" name="Explosion 1 283"/>
                <p:cNvSpPr>
                  <a:spLocks noChangeArrowheads="1"/>
                </p:cNvSpPr>
                <p:nvPr/>
              </p:nvSpPr>
              <p:spPr bwMode="auto">
                <a:xfrm>
                  <a:off x="20278725" y="373951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5" name="Explosion 1 284"/>
                <p:cNvSpPr>
                  <a:spLocks noChangeArrowheads="1"/>
                </p:cNvSpPr>
                <p:nvPr/>
              </p:nvSpPr>
              <p:spPr bwMode="auto">
                <a:xfrm>
                  <a:off x="21078825" y="376809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6" name="Explosion 1 285"/>
                <p:cNvSpPr>
                  <a:spLocks noChangeArrowheads="1"/>
                </p:cNvSpPr>
                <p:nvPr/>
              </p:nvSpPr>
              <p:spPr bwMode="auto">
                <a:xfrm>
                  <a:off x="20878800" y="326517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7" name="Explosion 1 286"/>
                <p:cNvSpPr>
                  <a:spLocks noChangeArrowheads="1"/>
                </p:cNvSpPr>
                <p:nvPr/>
              </p:nvSpPr>
              <p:spPr bwMode="auto">
                <a:xfrm>
                  <a:off x="20678775" y="337375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8" name="Explosion 1 287"/>
                <p:cNvSpPr>
                  <a:spLocks noChangeArrowheads="1"/>
                </p:cNvSpPr>
                <p:nvPr/>
              </p:nvSpPr>
              <p:spPr bwMode="auto">
                <a:xfrm>
                  <a:off x="21107400" y="339090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59" name="Explosion 1 288"/>
                <p:cNvSpPr>
                  <a:spLocks noChangeArrowheads="1"/>
                </p:cNvSpPr>
                <p:nvPr/>
              </p:nvSpPr>
              <p:spPr bwMode="auto">
                <a:xfrm>
                  <a:off x="20878800" y="344233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0" name="Explosion 1 289"/>
                <p:cNvSpPr>
                  <a:spLocks noChangeArrowheads="1"/>
                </p:cNvSpPr>
                <p:nvPr/>
              </p:nvSpPr>
              <p:spPr bwMode="auto">
                <a:xfrm>
                  <a:off x="20421600" y="352806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1" name="Explosion 1 290"/>
                <p:cNvSpPr>
                  <a:spLocks noChangeArrowheads="1"/>
                </p:cNvSpPr>
                <p:nvPr/>
              </p:nvSpPr>
              <p:spPr bwMode="auto">
                <a:xfrm>
                  <a:off x="20878800" y="354234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2" name="Explosion 1 291"/>
                <p:cNvSpPr>
                  <a:spLocks noChangeArrowheads="1"/>
                </p:cNvSpPr>
                <p:nvPr/>
              </p:nvSpPr>
              <p:spPr bwMode="auto">
                <a:xfrm>
                  <a:off x="20221575" y="357663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3" name="Explosion 1 292"/>
                <p:cNvSpPr>
                  <a:spLocks noChangeArrowheads="1"/>
                </p:cNvSpPr>
                <p:nvPr/>
              </p:nvSpPr>
              <p:spPr bwMode="auto">
                <a:xfrm>
                  <a:off x="20193000" y="361664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grpSp>
            <p:nvGrpSpPr>
              <p:cNvPr id="40" name="Group 31"/>
              <p:cNvGrpSpPr>
                <a:grpSpLocks/>
              </p:cNvGrpSpPr>
              <p:nvPr/>
            </p:nvGrpSpPr>
            <p:grpSpPr bwMode="auto">
              <a:xfrm>
                <a:off x="974517" y="1098662"/>
                <a:ext cx="453105" cy="1086931"/>
                <a:chOff x="19650075" y="32651700"/>
                <a:chExt cx="2409825" cy="5781675"/>
              </a:xfrm>
            </p:grpSpPr>
            <p:sp>
              <p:nvSpPr>
                <p:cNvPr id="126" name="Explosion 1 255"/>
                <p:cNvSpPr>
                  <a:spLocks noChangeArrowheads="1"/>
                </p:cNvSpPr>
                <p:nvPr/>
              </p:nvSpPr>
              <p:spPr bwMode="auto">
                <a:xfrm>
                  <a:off x="21450300" y="328803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7" name="Explosion 1 256"/>
                <p:cNvSpPr>
                  <a:spLocks noChangeArrowheads="1"/>
                </p:cNvSpPr>
                <p:nvPr/>
              </p:nvSpPr>
              <p:spPr bwMode="auto">
                <a:xfrm>
                  <a:off x="21564600" y="344805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8" name="Explosion 1 257"/>
                <p:cNvSpPr>
                  <a:spLocks noChangeArrowheads="1"/>
                </p:cNvSpPr>
                <p:nvPr/>
              </p:nvSpPr>
              <p:spPr bwMode="auto">
                <a:xfrm>
                  <a:off x="20307300" y="36652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9" name="Explosion 1 258"/>
                <p:cNvSpPr>
                  <a:spLocks noChangeArrowheads="1"/>
                </p:cNvSpPr>
                <p:nvPr/>
              </p:nvSpPr>
              <p:spPr bwMode="auto">
                <a:xfrm>
                  <a:off x="21145500" y="37033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0" name="Explosion 1 259"/>
                <p:cNvSpPr>
                  <a:spLocks noChangeArrowheads="1"/>
                </p:cNvSpPr>
                <p:nvPr/>
              </p:nvSpPr>
              <p:spPr bwMode="auto">
                <a:xfrm>
                  <a:off x="21250275" y="354520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1" name="Explosion 1 260"/>
                <p:cNvSpPr>
                  <a:spLocks noChangeArrowheads="1"/>
                </p:cNvSpPr>
                <p:nvPr/>
              </p:nvSpPr>
              <p:spPr bwMode="auto">
                <a:xfrm>
                  <a:off x="20564475" y="347091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2" name="Explosion 1 261"/>
                <p:cNvSpPr>
                  <a:spLocks noChangeArrowheads="1"/>
                </p:cNvSpPr>
                <p:nvPr/>
              </p:nvSpPr>
              <p:spPr bwMode="auto">
                <a:xfrm>
                  <a:off x="21021675" y="363950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3" name="Explosion 1 262"/>
                <p:cNvSpPr>
                  <a:spLocks noChangeArrowheads="1"/>
                </p:cNvSpPr>
                <p:nvPr/>
              </p:nvSpPr>
              <p:spPr bwMode="auto">
                <a:xfrm>
                  <a:off x="21478875" y="379380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4" name="Explosion 1 263"/>
                <p:cNvSpPr>
                  <a:spLocks noChangeArrowheads="1"/>
                </p:cNvSpPr>
                <p:nvPr/>
              </p:nvSpPr>
              <p:spPr bwMode="auto">
                <a:xfrm>
                  <a:off x="19650075" y="37795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5" name="Explosion 1 264"/>
                <p:cNvSpPr>
                  <a:spLocks noChangeArrowheads="1"/>
                </p:cNvSpPr>
                <p:nvPr/>
              </p:nvSpPr>
              <p:spPr bwMode="auto">
                <a:xfrm>
                  <a:off x="20278725" y="373951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6" name="Explosion 1 265"/>
                <p:cNvSpPr>
                  <a:spLocks noChangeArrowheads="1"/>
                </p:cNvSpPr>
                <p:nvPr/>
              </p:nvSpPr>
              <p:spPr bwMode="auto">
                <a:xfrm>
                  <a:off x="21078825" y="376809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7" name="Explosion 1 266"/>
                <p:cNvSpPr>
                  <a:spLocks noChangeArrowheads="1"/>
                </p:cNvSpPr>
                <p:nvPr/>
              </p:nvSpPr>
              <p:spPr bwMode="auto">
                <a:xfrm>
                  <a:off x="20878800" y="326517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8" name="Explosion 1 267"/>
                <p:cNvSpPr>
                  <a:spLocks noChangeArrowheads="1"/>
                </p:cNvSpPr>
                <p:nvPr/>
              </p:nvSpPr>
              <p:spPr bwMode="auto">
                <a:xfrm>
                  <a:off x="20678775" y="337375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39" name="Explosion 1 268"/>
                <p:cNvSpPr>
                  <a:spLocks noChangeArrowheads="1"/>
                </p:cNvSpPr>
                <p:nvPr/>
              </p:nvSpPr>
              <p:spPr bwMode="auto">
                <a:xfrm>
                  <a:off x="21107400" y="339090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0" name="Explosion 1 269"/>
                <p:cNvSpPr>
                  <a:spLocks noChangeArrowheads="1"/>
                </p:cNvSpPr>
                <p:nvPr/>
              </p:nvSpPr>
              <p:spPr bwMode="auto">
                <a:xfrm>
                  <a:off x="20878800" y="344233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1" name="Explosion 1 270"/>
                <p:cNvSpPr>
                  <a:spLocks noChangeArrowheads="1"/>
                </p:cNvSpPr>
                <p:nvPr/>
              </p:nvSpPr>
              <p:spPr bwMode="auto">
                <a:xfrm>
                  <a:off x="20421600" y="352806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2" name="Explosion 1 271"/>
                <p:cNvSpPr>
                  <a:spLocks noChangeArrowheads="1"/>
                </p:cNvSpPr>
                <p:nvPr/>
              </p:nvSpPr>
              <p:spPr bwMode="auto">
                <a:xfrm>
                  <a:off x="20878800" y="354234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3" name="Explosion 1 272"/>
                <p:cNvSpPr>
                  <a:spLocks noChangeArrowheads="1"/>
                </p:cNvSpPr>
                <p:nvPr/>
              </p:nvSpPr>
              <p:spPr bwMode="auto">
                <a:xfrm>
                  <a:off x="20221575" y="357663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44" name="Explosion 1 273"/>
                <p:cNvSpPr>
                  <a:spLocks noChangeArrowheads="1"/>
                </p:cNvSpPr>
                <p:nvPr/>
              </p:nvSpPr>
              <p:spPr bwMode="auto">
                <a:xfrm>
                  <a:off x="20193000" y="361664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grpSp>
            <p:nvGrpSpPr>
              <p:cNvPr id="41" name="Group 32"/>
              <p:cNvGrpSpPr>
                <a:grpSpLocks/>
              </p:cNvGrpSpPr>
              <p:nvPr/>
            </p:nvGrpSpPr>
            <p:grpSpPr bwMode="auto">
              <a:xfrm>
                <a:off x="2053628" y="1278514"/>
                <a:ext cx="453105" cy="1086931"/>
                <a:chOff x="19650075" y="32651700"/>
                <a:chExt cx="2409825" cy="5781675"/>
              </a:xfrm>
            </p:grpSpPr>
            <p:sp>
              <p:nvSpPr>
                <p:cNvPr id="107" name="Explosion 1 236"/>
                <p:cNvSpPr>
                  <a:spLocks noChangeArrowheads="1"/>
                </p:cNvSpPr>
                <p:nvPr/>
              </p:nvSpPr>
              <p:spPr bwMode="auto">
                <a:xfrm>
                  <a:off x="21450300" y="328803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8" name="Explosion 1 237"/>
                <p:cNvSpPr>
                  <a:spLocks noChangeArrowheads="1"/>
                </p:cNvSpPr>
                <p:nvPr/>
              </p:nvSpPr>
              <p:spPr bwMode="auto">
                <a:xfrm>
                  <a:off x="21564600" y="344805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9" name="Explosion 1 238"/>
                <p:cNvSpPr>
                  <a:spLocks noChangeArrowheads="1"/>
                </p:cNvSpPr>
                <p:nvPr/>
              </p:nvSpPr>
              <p:spPr bwMode="auto">
                <a:xfrm>
                  <a:off x="20307300" y="36652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0" name="Explosion 1 239"/>
                <p:cNvSpPr>
                  <a:spLocks noChangeArrowheads="1"/>
                </p:cNvSpPr>
                <p:nvPr/>
              </p:nvSpPr>
              <p:spPr bwMode="auto">
                <a:xfrm>
                  <a:off x="21145500" y="37033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1" name="Explosion 1 240"/>
                <p:cNvSpPr>
                  <a:spLocks noChangeArrowheads="1"/>
                </p:cNvSpPr>
                <p:nvPr/>
              </p:nvSpPr>
              <p:spPr bwMode="auto">
                <a:xfrm>
                  <a:off x="21250275" y="354520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2" name="Explosion 1 241"/>
                <p:cNvSpPr>
                  <a:spLocks noChangeArrowheads="1"/>
                </p:cNvSpPr>
                <p:nvPr/>
              </p:nvSpPr>
              <p:spPr bwMode="auto">
                <a:xfrm>
                  <a:off x="20564475" y="347091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3" name="Explosion 1 242"/>
                <p:cNvSpPr>
                  <a:spLocks noChangeArrowheads="1"/>
                </p:cNvSpPr>
                <p:nvPr/>
              </p:nvSpPr>
              <p:spPr bwMode="auto">
                <a:xfrm>
                  <a:off x="21021675" y="363950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4" name="Explosion 1 243"/>
                <p:cNvSpPr>
                  <a:spLocks noChangeArrowheads="1"/>
                </p:cNvSpPr>
                <p:nvPr/>
              </p:nvSpPr>
              <p:spPr bwMode="auto">
                <a:xfrm>
                  <a:off x="21478875" y="379380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5" name="Explosion 1 244"/>
                <p:cNvSpPr>
                  <a:spLocks noChangeArrowheads="1"/>
                </p:cNvSpPr>
                <p:nvPr/>
              </p:nvSpPr>
              <p:spPr bwMode="auto">
                <a:xfrm>
                  <a:off x="19650075" y="37795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6" name="Explosion 1 245"/>
                <p:cNvSpPr>
                  <a:spLocks noChangeArrowheads="1"/>
                </p:cNvSpPr>
                <p:nvPr/>
              </p:nvSpPr>
              <p:spPr bwMode="auto">
                <a:xfrm>
                  <a:off x="20278725" y="373951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7" name="Explosion 1 246"/>
                <p:cNvSpPr>
                  <a:spLocks noChangeArrowheads="1"/>
                </p:cNvSpPr>
                <p:nvPr/>
              </p:nvSpPr>
              <p:spPr bwMode="auto">
                <a:xfrm>
                  <a:off x="21078825" y="376809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8" name="Explosion 1 247"/>
                <p:cNvSpPr>
                  <a:spLocks noChangeArrowheads="1"/>
                </p:cNvSpPr>
                <p:nvPr/>
              </p:nvSpPr>
              <p:spPr bwMode="auto">
                <a:xfrm>
                  <a:off x="20878800" y="326517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19" name="Explosion 1 248"/>
                <p:cNvSpPr>
                  <a:spLocks noChangeArrowheads="1"/>
                </p:cNvSpPr>
                <p:nvPr/>
              </p:nvSpPr>
              <p:spPr bwMode="auto">
                <a:xfrm>
                  <a:off x="20678775" y="337375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0" name="Explosion 1 249"/>
                <p:cNvSpPr>
                  <a:spLocks noChangeArrowheads="1"/>
                </p:cNvSpPr>
                <p:nvPr/>
              </p:nvSpPr>
              <p:spPr bwMode="auto">
                <a:xfrm>
                  <a:off x="21107400" y="339090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1" name="Explosion 1 250"/>
                <p:cNvSpPr>
                  <a:spLocks noChangeArrowheads="1"/>
                </p:cNvSpPr>
                <p:nvPr/>
              </p:nvSpPr>
              <p:spPr bwMode="auto">
                <a:xfrm>
                  <a:off x="20878800" y="344233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2" name="Explosion 1 251"/>
                <p:cNvSpPr>
                  <a:spLocks noChangeArrowheads="1"/>
                </p:cNvSpPr>
                <p:nvPr/>
              </p:nvSpPr>
              <p:spPr bwMode="auto">
                <a:xfrm>
                  <a:off x="20421600" y="352806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3" name="Explosion 1 252"/>
                <p:cNvSpPr>
                  <a:spLocks noChangeArrowheads="1"/>
                </p:cNvSpPr>
                <p:nvPr/>
              </p:nvSpPr>
              <p:spPr bwMode="auto">
                <a:xfrm>
                  <a:off x="20878800" y="354234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4" name="Explosion 1 253"/>
                <p:cNvSpPr>
                  <a:spLocks noChangeArrowheads="1"/>
                </p:cNvSpPr>
                <p:nvPr/>
              </p:nvSpPr>
              <p:spPr bwMode="auto">
                <a:xfrm>
                  <a:off x="20221575" y="357663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25" name="Explosion 1 254"/>
                <p:cNvSpPr>
                  <a:spLocks noChangeArrowheads="1"/>
                </p:cNvSpPr>
                <p:nvPr/>
              </p:nvSpPr>
              <p:spPr bwMode="auto">
                <a:xfrm>
                  <a:off x="20193000" y="361664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grpSp>
            <p:nvGrpSpPr>
              <p:cNvPr id="42" name="Group 33"/>
              <p:cNvGrpSpPr>
                <a:grpSpLocks/>
              </p:cNvGrpSpPr>
              <p:nvPr/>
            </p:nvGrpSpPr>
            <p:grpSpPr bwMode="auto">
              <a:xfrm>
                <a:off x="1991071" y="1043925"/>
                <a:ext cx="453105" cy="1086931"/>
                <a:chOff x="19650075" y="32651700"/>
                <a:chExt cx="2409825" cy="5781675"/>
              </a:xfrm>
            </p:grpSpPr>
            <p:sp>
              <p:nvSpPr>
                <p:cNvPr id="88" name="Explosion 1 217"/>
                <p:cNvSpPr>
                  <a:spLocks noChangeArrowheads="1"/>
                </p:cNvSpPr>
                <p:nvPr/>
              </p:nvSpPr>
              <p:spPr bwMode="auto">
                <a:xfrm>
                  <a:off x="21450300" y="328803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9" name="Explosion 1 218"/>
                <p:cNvSpPr>
                  <a:spLocks noChangeArrowheads="1"/>
                </p:cNvSpPr>
                <p:nvPr/>
              </p:nvSpPr>
              <p:spPr bwMode="auto">
                <a:xfrm>
                  <a:off x="21564600" y="344805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0" name="Explosion 1 219"/>
                <p:cNvSpPr>
                  <a:spLocks noChangeArrowheads="1"/>
                </p:cNvSpPr>
                <p:nvPr/>
              </p:nvSpPr>
              <p:spPr bwMode="auto">
                <a:xfrm>
                  <a:off x="20307300" y="36652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1" name="Explosion 1 220"/>
                <p:cNvSpPr>
                  <a:spLocks noChangeArrowheads="1"/>
                </p:cNvSpPr>
                <p:nvPr/>
              </p:nvSpPr>
              <p:spPr bwMode="auto">
                <a:xfrm>
                  <a:off x="21145500" y="37033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2" name="Explosion 1 221"/>
                <p:cNvSpPr>
                  <a:spLocks noChangeArrowheads="1"/>
                </p:cNvSpPr>
                <p:nvPr/>
              </p:nvSpPr>
              <p:spPr bwMode="auto">
                <a:xfrm>
                  <a:off x="21250275" y="354520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3" name="Explosion 1 222"/>
                <p:cNvSpPr>
                  <a:spLocks noChangeArrowheads="1"/>
                </p:cNvSpPr>
                <p:nvPr/>
              </p:nvSpPr>
              <p:spPr bwMode="auto">
                <a:xfrm>
                  <a:off x="20564475" y="347091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4" name="Explosion 1 223"/>
                <p:cNvSpPr>
                  <a:spLocks noChangeArrowheads="1"/>
                </p:cNvSpPr>
                <p:nvPr/>
              </p:nvSpPr>
              <p:spPr bwMode="auto">
                <a:xfrm>
                  <a:off x="21021675" y="363950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5" name="Explosion 1 224"/>
                <p:cNvSpPr>
                  <a:spLocks noChangeArrowheads="1"/>
                </p:cNvSpPr>
                <p:nvPr/>
              </p:nvSpPr>
              <p:spPr bwMode="auto">
                <a:xfrm>
                  <a:off x="21478875" y="379380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6" name="Explosion 1 225"/>
                <p:cNvSpPr>
                  <a:spLocks noChangeArrowheads="1"/>
                </p:cNvSpPr>
                <p:nvPr/>
              </p:nvSpPr>
              <p:spPr bwMode="auto">
                <a:xfrm>
                  <a:off x="19650075" y="37795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7" name="Explosion 1 226"/>
                <p:cNvSpPr>
                  <a:spLocks noChangeArrowheads="1"/>
                </p:cNvSpPr>
                <p:nvPr/>
              </p:nvSpPr>
              <p:spPr bwMode="auto">
                <a:xfrm>
                  <a:off x="20278725" y="373951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8" name="Explosion 1 227"/>
                <p:cNvSpPr>
                  <a:spLocks noChangeArrowheads="1"/>
                </p:cNvSpPr>
                <p:nvPr/>
              </p:nvSpPr>
              <p:spPr bwMode="auto">
                <a:xfrm>
                  <a:off x="21078825" y="376809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99" name="Explosion 1 228"/>
                <p:cNvSpPr>
                  <a:spLocks noChangeArrowheads="1"/>
                </p:cNvSpPr>
                <p:nvPr/>
              </p:nvSpPr>
              <p:spPr bwMode="auto">
                <a:xfrm>
                  <a:off x="20878800" y="326517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0" name="Explosion 1 229"/>
                <p:cNvSpPr>
                  <a:spLocks noChangeArrowheads="1"/>
                </p:cNvSpPr>
                <p:nvPr/>
              </p:nvSpPr>
              <p:spPr bwMode="auto">
                <a:xfrm>
                  <a:off x="20678775" y="337375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1" name="Explosion 1 230"/>
                <p:cNvSpPr>
                  <a:spLocks noChangeArrowheads="1"/>
                </p:cNvSpPr>
                <p:nvPr/>
              </p:nvSpPr>
              <p:spPr bwMode="auto">
                <a:xfrm>
                  <a:off x="21107400" y="339090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2" name="Explosion 1 231"/>
                <p:cNvSpPr>
                  <a:spLocks noChangeArrowheads="1"/>
                </p:cNvSpPr>
                <p:nvPr/>
              </p:nvSpPr>
              <p:spPr bwMode="auto">
                <a:xfrm>
                  <a:off x="20878800" y="344233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3" name="Explosion 1 232"/>
                <p:cNvSpPr>
                  <a:spLocks noChangeArrowheads="1"/>
                </p:cNvSpPr>
                <p:nvPr/>
              </p:nvSpPr>
              <p:spPr bwMode="auto">
                <a:xfrm>
                  <a:off x="20421600" y="352806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4" name="Explosion 1 233"/>
                <p:cNvSpPr>
                  <a:spLocks noChangeArrowheads="1"/>
                </p:cNvSpPr>
                <p:nvPr/>
              </p:nvSpPr>
              <p:spPr bwMode="auto">
                <a:xfrm>
                  <a:off x="20878800" y="354234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5" name="Explosion 1 234"/>
                <p:cNvSpPr>
                  <a:spLocks noChangeArrowheads="1"/>
                </p:cNvSpPr>
                <p:nvPr/>
              </p:nvSpPr>
              <p:spPr bwMode="auto">
                <a:xfrm>
                  <a:off x="20221575" y="357663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06" name="Explosion 1 235"/>
                <p:cNvSpPr>
                  <a:spLocks noChangeArrowheads="1"/>
                </p:cNvSpPr>
                <p:nvPr/>
              </p:nvSpPr>
              <p:spPr bwMode="auto">
                <a:xfrm>
                  <a:off x="20193000" y="361664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sp>
            <p:nvSpPr>
              <p:cNvPr id="43" name="Explosion 1 34"/>
              <p:cNvSpPr>
                <a:spLocks noChangeArrowheads="1"/>
              </p:cNvSpPr>
              <p:nvPr/>
            </p:nvSpPr>
            <p:spPr bwMode="auto">
              <a:xfrm>
                <a:off x="2544528" y="2257272"/>
                <a:ext cx="93401" cy="9340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44" name="Explosion 1 35"/>
              <p:cNvSpPr>
                <a:spLocks noChangeArrowheads="1"/>
              </p:cNvSpPr>
              <p:nvPr/>
            </p:nvSpPr>
            <p:spPr bwMode="auto">
              <a:xfrm>
                <a:off x="2702225" y="2328952"/>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45" name="Explosion 1 36"/>
              <p:cNvSpPr>
                <a:spLocks noChangeArrowheads="1"/>
              </p:cNvSpPr>
              <p:nvPr/>
            </p:nvSpPr>
            <p:spPr bwMode="auto">
              <a:xfrm>
                <a:off x="2593184" y="1891921"/>
                <a:ext cx="92967" cy="9340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46" name="Explosion 1 37"/>
              <p:cNvSpPr>
                <a:spLocks noChangeArrowheads="1"/>
              </p:cNvSpPr>
              <p:nvPr/>
            </p:nvSpPr>
            <p:spPr bwMode="auto">
              <a:xfrm>
                <a:off x="2679200" y="2209051"/>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47" name="Explosion 1 38"/>
              <p:cNvSpPr>
                <a:spLocks noChangeArrowheads="1"/>
              </p:cNvSpPr>
              <p:nvPr/>
            </p:nvSpPr>
            <p:spPr bwMode="auto">
              <a:xfrm>
                <a:off x="2764782" y="2499246"/>
                <a:ext cx="93401"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48" name="Explosion 1 39"/>
              <p:cNvSpPr>
                <a:spLocks noChangeArrowheads="1"/>
              </p:cNvSpPr>
              <p:nvPr/>
            </p:nvSpPr>
            <p:spPr bwMode="auto">
              <a:xfrm>
                <a:off x="2421152" y="2472312"/>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49" name="Explosion 1 40"/>
              <p:cNvSpPr>
                <a:spLocks noChangeArrowheads="1"/>
              </p:cNvSpPr>
              <p:nvPr/>
            </p:nvSpPr>
            <p:spPr bwMode="auto">
              <a:xfrm>
                <a:off x="2539315" y="2397157"/>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0" name="Explosion 1 41"/>
              <p:cNvSpPr>
                <a:spLocks noChangeArrowheads="1"/>
              </p:cNvSpPr>
              <p:nvPr/>
            </p:nvSpPr>
            <p:spPr bwMode="auto">
              <a:xfrm>
                <a:off x="2689626" y="2450591"/>
                <a:ext cx="93401" cy="9340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1" name="Explosion 1 42"/>
              <p:cNvSpPr>
                <a:spLocks noChangeArrowheads="1"/>
              </p:cNvSpPr>
              <p:nvPr/>
            </p:nvSpPr>
            <p:spPr bwMode="auto">
              <a:xfrm>
                <a:off x="2614471" y="1709462"/>
                <a:ext cx="93401"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2" name="Explosion 1 43"/>
              <p:cNvSpPr>
                <a:spLocks noChangeArrowheads="1"/>
              </p:cNvSpPr>
              <p:nvPr/>
            </p:nvSpPr>
            <p:spPr bwMode="auto">
              <a:xfrm>
                <a:off x="2652266" y="1838486"/>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3" name="Explosion 1 44"/>
              <p:cNvSpPr>
                <a:spLocks noChangeArrowheads="1"/>
              </p:cNvSpPr>
              <p:nvPr/>
            </p:nvSpPr>
            <p:spPr bwMode="auto">
              <a:xfrm>
                <a:off x="2566250" y="1999658"/>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4" name="Explosion 1 45"/>
              <p:cNvSpPr>
                <a:spLocks noChangeArrowheads="1"/>
              </p:cNvSpPr>
              <p:nvPr/>
            </p:nvSpPr>
            <p:spPr bwMode="auto">
              <a:xfrm>
                <a:off x="2652266" y="2026158"/>
                <a:ext cx="92967" cy="9340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5" name="Explosion 1 46"/>
              <p:cNvSpPr>
                <a:spLocks noChangeArrowheads="1"/>
              </p:cNvSpPr>
              <p:nvPr/>
            </p:nvSpPr>
            <p:spPr bwMode="auto">
              <a:xfrm>
                <a:off x="2528455" y="2090887"/>
                <a:ext cx="93401"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6" name="Explosion 1 47"/>
              <p:cNvSpPr>
                <a:spLocks noChangeArrowheads="1"/>
              </p:cNvSpPr>
              <p:nvPr/>
            </p:nvSpPr>
            <p:spPr bwMode="auto">
              <a:xfrm>
                <a:off x="2523242" y="2166043"/>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7" name="Explosion 1 48"/>
              <p:cNvSpPr>
                <a:spLocks noChangeArrowheads="1"/>
              </p:cNvSpPr>
              <p:nvPr/>
            </p:nvSpPr>
            <p:spPr bwMode="auto">
              <a:xfrm>
                <a:off x="1066615" y="1068686"/>
                <a:ext cx="93401" cy="9340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8" name="Explosion 1 49"/>
              <p:cNvSpPr>
                <a:spLocks noChangeArrowheads="1"/>
              </p:cNvSpPr>
              <p:nvPr/>
            </p:nvSpPr>
            <p:spPr bwMode="auto">
              <a:xfrm>
                <a:off x="1224311" y="1140366"/>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59" name="Explosion 1 50"/>
              <p:cNvSpPr>
                <a:spLocks noChangeArrowheads="1"/>
              </p:cNvSpPr>
              <p:nvPr/>
            </p:nvSpPr>
            <p:spPr bwMode="auto">
              <a:xfrm>
                <a:off x="1201287" y="1020464"/>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60" name="Explosion 1 51"/>
              <p:cNvSpPr>
                <a:spLocks noChangeArrowheads="1"/>
              </p:cNvSpPr>
              <p:nvPr/>
            </p:nvSpPr>
            <p:spPr bwMode="auto">
              <a:xfrm>
                <a:off x="1286869" y="1310660"/>
                <a:ext cx="93401"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61" name="Explosion 1 52"/>
              <p:cNvSpPr>
                <a:spLocks noChangeArrowheads="1"/>
              </p:cNvSpPr>
              <p:nvPr/>
            </p:nvSpPr>
            <p:spPr bwMode="auto">
              <a:xfrm>
                <a:off x="943238" y="1283726"/>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62" name="Explosion 1 53"/>
              <p:cNvSpPr>
                <a:spLocks noChangeArrowheads="1"/>
              </p:cNvSpPr>
              <p:nvPr/>
            </p:nvSpPr>
            <p:spPr bwMode="auto">
              <a:xfrm>
                <a:off x="1061402" y="1208570"/>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63" name="Explosion 1 54"/>
              <p:cNvSpPr>
                <a:spLocks noChangeArrowheads="1"/>
              </p:cNvSpPr>
              <p:nvPr/>
            </p:nvSpPr>
            <p:spPr bwMode="auto">
              <a:xfrm>
                <a:off x="1211713" y="1262005"/>
                <a:ext cx="93401" cy="93401"/>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64" name="Group 55"/>
              <p:cNvGrpSpPr>
                <a:grpSpLocks/>
              </p:cNvGrpSpPr>
              <p:nvPr/>
            </p:nvGrpSpPr>
            <p:grpSpPr bwMode="auto">
              <a:xfrm>
                <a:off x="2198716" y="1888452"/>
                <a:ext cx="308007" cy="619490"/>
                <a:chOff x="21180227" y="30118050"/>
                <a:chExt cx="1125488" cy="2264063"/>
              </a:xfrm>
            </p:grpSpPr>
            <p:sp>
              <p:nvSpPr>
                <p:cNvPr id="78" name="Explosion 1 207"/>
                <p:cNvSpPr>
                  <a:spLocks noChangeArrowheads="1"/>
                </p:cNvSpPr>
                <p:nvPr/>
              </p:nvSpPr>
              <p:spPr bwMode="auto">
                <a:xfrm>
                  <a:off x="21886929" y="3027509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9" name="Explosion 1 208"/>
                <p:cNvSpPr>
                  <a:spLocks noChangeArrowheads="1"/>
                </p:cNvSpPr>
                <p:nvPr/>
              </p:nvSpPr>
              <p:spPr bwMode="auto">
                <a:xfrm>
                  <a:off x="21965451" y="3137440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0" name="Explosion 1 209"/>
                <p:cNvSpPr>
                  <a:spLocks noChangeArrowheads="1"/>
                </p:cNvSpPr>
                <p:nvPr/>
              </p:nvSpPr>
              <p:spPr bwMode="auto">
                <a:xfrm>
                  <a:off x="21749515" y="32041849"/>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1" name="Explosion 1 210"/>
                <p:cNvSpPr>
                  <a:spLocks noChangeArrowheads="1"/>
                </p:cNvSpPr>
                <p:nvPr/>
              </p:nvSpPr>
              <p:spPr bwMode="auto">
                <a:xfrm>
                  <a:off x="21278380" y="3153145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2" name="Explosion 1 211"/>
                <p:cNvSpPr>
                  <a:spLocks noChangeArrowheads="1"/>
                </p:cNvSpPr>
                <p:nvPr/>
              </p:nvSpPr>
              <p:spPr bwMode="auto">
                <a:xfrm>
                  <a:off x="21494317" y="30118050"/>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3" name="Explosion 1 212"/>
                <p:cNvSpPr>
                  <a:spLocks noChangeArrowheads="1"/>
                </p:cNvSpPr>
                <p:nvPr/>
              </p:nvSpPr>
              <p:spPr bwMode="auto">
                <a:xfrm>
                  <a:off x="21356903" y="3086401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4" name="Explosion 1 213"/>
                <p:cNvSpPr>
                  <a:spLocks noChangeArrowheads="1"/>
                </p:cNvSpPr>
                <p:nvPr/>
              </p:nvSpPr>
              <p:spPr bwMode="auto">
                <a:xfrm>
                  <a:off x="21651362" y="30981796"/>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5" name="Explosion 1 214"/>
                <p:cNvSpPr>
                  <a:spLocks noChangeArrowheads="1"/>
                </p:cNvSpPr>
                <p:nvPr/>
              </p:nvSpPr>
              <p:spPr bwMode="auto">
                <a:xfrm>
                  <a:off x="21494317" y="31335147"/>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6" name="Explosion 1 215"/>
                <p:cNvSpPr>
                  <a:spLocks noChangeArrowheads="1"/>
                </p:cNvSpPr>
                <p:nvPr/>
              </p:nvSpPr>
              <p:spPr bwMode="auto">
                <a:xfrm>
                  <a:off x="21180227" y="3192406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87" name="Explosion 1 216"/>
                <p:cNvSpPr>
                  <a:spLocks noChangeArrowheads="1"/>
                </p:cNvSpPr>
                <p:nvPr/>
              </p:nvSpPr>
              <p:spPr bwMode="auto">
                <a:xfrm>
                  <a:off x="21494317" y="3202221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sp>
            <p:nvSpPr>
              <p:cNvPr id="65" name="Explosion 1 56"/>
              <p:cNvSpPr>
                <a:spLocks noChangeArrowheads="1"/>
              </p:cNvSpPr>
              <p:nvPr/>
            </p:nvSpPr>
            <p:spPr bwMode="auto">
              <a:xfrm>
                <a:off x="1050541" y="902301"/>
                <a:ext cx="93401"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66" name="Explosion 1 57"/>
              <p:cNvSpPr>
                <a:spLocks noChangeArrowheads="1"/>
              </p:cNvSpPr>
              <p:nvPr/>
            </p:nvSpPr>
            <p:spPr bwMode="auto">
              <a:xfrm>
                <a:off x="1045328" y="977456"/>
                <a:ext cx="92967" cy="9296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67" name="Group 58"/>
              <p:cNvGrpSpPr>
                <a:grpSpLocks/>
              </p:cNvGrpSpPr>
              <p:nvPr/>
            </p:nvGrpSpPr>
            <p:grpSpPr bwMode="auto">
              <a:xfrm>
                <a:off x="1017949" y="1951009"/>
                <a:ext cx="308007" cy="619490"/>
                <a:chOff x="21180227" y="30118050"/>
                <a:chExt cx="1125488" cy="2264063"/>
              </a:xfrm>
            </p:grpSpPr>
            <p:sp>
              <p:nvSpPr>
                <p:cNvPr id="68" name="Explosion 1 197"/>
                <p:cNvSpPr>
                  <a:spLocks noChangeArrowheads="1"/>
                </p:cNvSpPr>
                <p:nvPr/>
              </p:nvSpPr>
              <p:spPr bwMode="auto">
                <a:xfrm>
                  <a:off x="21886929" y="3027509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69" name="Explosion 1 198"/>
                <p:cNvSpPr>
                  <a:spLocks noChangeArrowheads="1"/>
                </p:cNvSpPr>
                <p:nvPr/>
              </p:nvSpPr>
              <p:spPr bwMode="auto">
                <a:xfrm>
                  <a:off x="21965451" y="3137440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0" name="Explosion 1 199"/>
                <p:cNvSpPr>
                  <a:spLocks noChangeArrowheads="1"/>
                </p:cNvSpPr>
                <p:nvPr/>
              </p:nvSpPr>
              <p:spPr bwMode="auto">
                <a:xfrm>
                  <a:off x="21749515" y="32041849"/>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1" name="Explosion 1 200"/>
                <p:cNvSpPr>
                  <a:spLocks noChangeArrowheads="1"/>
                </p:cNvSpPr>
                <p:nvPr/>
              </p:nvSpPr>
              <p:spPr bwMode="auto">
                <a:xfrm>
                  <a:off x="21278380" y="3153145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2" name="Explosion 1 201"/>
                <p:cNvSpPr>
                  <a:spLocks noChangeArrowheads="1"/>
                </p:cNvSpPr>
                <p:nvPr/>
              </p:nvSpPr>
              <p:spPr bwMode="auto">
                <a:xfrm>
                  <a:off x="21494317" y="30118050"/>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3" name="Explosion 1 202"/>
                <p:cNvSpPr>
                  <a:spLocks noChangeArrowheads="1"/>
                </p:cNvSpPr>
                <p:nvPr/>
              </p:nvSpPr>
              <p:spPr bwMode="auto">
                <a:xfrm>
                  <a:off x="21356903" y="3086401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4" name="Explosion 1 203"/>
                <p:cNvSpPr>
                  <a:spLocks noChangeArrowheads="1"/>
                </p:cNvSpPr>
                <p:nvPr/>
              </p:nvSpPr>
              <p:spPr bwMode="auto">
                <a:xfrm>
                  <a:off x="21651362" y="30981796"/>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5" name="Explosion 1 204"/>
                <p:cNvSpPr>
                  <a:spLocks noChangeArrowheads="1"/>
                </p:cNvSpPr>
                <p:nvPr/>
              </p:nvSpPr>
              <p:spPr bwMode="auto">
                <a:xfrm>
                  <a:off x="21494317" y="31335147"/>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6" name="Explosion 1 205"/>
                <p:cNvSpPr>
                  <a:spLocks noChangeArrowheads="1"/>
                </p:cNvSpPr>
                <p:nvPr/>
              </p:nvSpPr>
              <p:spPr bwMode="auto">
                <a:xfrm>
                  <a:off x="21180227" y="3192406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77" name="Explosion 1 206"/>
                <p:cNvSpPr>
                  <a:spLocks noChangeArrowheads="1"/>
                </p:cNvSpPr>
                <p:nvPr/>
              </p:nvSpPr>
              <p:spPr bwMode="auto">
                <a:xfrm>
                  <a:off x="21494317" y="3202221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grpSp>
        <p:grpSp>
          <p:nvGrpSpPr>
            <p:cNvPr id="4" name="Group 3"/>
            <p:cNvGrpSpPr/>
            <p:nvPr/>
          </p:nvGrpSpPr>
          <p:grpSpPr>
            <a:xfrm>
              <a:off x="381000" y="3629025"/>
              <a:ext cx="2362201" cy="1704976"/>
              <a:chOff x="381000" y="3629025"/>
              <a:chExt cx="2362201" cy="1704976"/>
            </a:xfrm>
          </p:grpSpPr>
          <p:grpSp>
            <p:nvGrpSpPr>
              <p:cNvPr id="10" name="Group 6"/>
              <p:cNvGrpSpPr>
                <a:grpSpLocks/>
              </p:cNvGrpSpPr>
              <p:nvPr/>
            </p:nvGrpSpPr>
            <p:grpSpPr bwMode="auto">
              <a:xfrm>
                <a:off x="381000" y="3636963"/>
                <a:ext cx="2279650" cy="1695450"/>
                <a:chOff x="5486400" y="1295400"/>
                <a:chExt cx="2972283" cy="2209516"/>
              </a:xfrm>
            </p:grpSpPr>
            <p:sp>
              <p:nvSpPr>
                <p:cNvPr id="11" name="Trapezoid 10"/>
                <p:cNvSpPr/>
                <p:nvPr/>
              </p:nvSpPr>
              <p:spPr>
                <a:xfrm>
                  <a:off x="5486400" y="1295400"/>
                  <a:ext cx="2972283" cy="2209516"/>
                </a:xfrm>
                <a:prstGeom prst="trapezoid">
                  <a:avLst/>
                </a:prstGeom>
                <a:solidFill>
                  <a:srgbClr val="365860"/>
                </a:solidFill>
                <a:ln w="3175">
                  <a:solidFill>
                    <a:schemeClr val="tx1"/>
                  </a:solidFill>
                </a:ln>
              </p:spPr>
              <p:style>
                <a:lnRef idx="1">
                  <a:schemeClr val="dk1"/>
                </a:lnRef>
                <a:fillRef idx="2">
                  <a:schemeClr val="dk1"/>
                </a:fillRef>
                <a:effectRef idx="1">
                  <a:schemeClr val="dk1"/>
                </a:effectRef>
                <a:fontRef idx="minor">
                  <a:schemeClr val="dk1"/>
                </a:fontRef>
              </p:style>
              <p:txBody>
                <a:bodyPr anchor="b"/>
                <a:lstStyle>
                  <a:defPPr>
                    <a:defRPr lang="en-US"/>
                  </a:defPPr>
                  <a:lvl1pPr algn="l" rtl="0" fontAlgn="base">
                    <a:spcBef>
                      <a:spcPct val="0"/>
                    </a:spcBef>
                    <a:spcAft>
                      <a:spcPct val="0"/>
                    </a:spcAft>
                    <a:defRPr sz="4000" kern="1200">
                      <a:solidFill>
                        <a:schemeClr val="dk1"/>
                      </a:solidFill>
                      <a:latin typeface="+mn-lt"/>
                      <a:ea typeface="+mn-ea"/>
                      <a:cs typeface="+mn-cs"/>
                    </a:defRPr>
                  </a:lvl1pPr>
                  <a:lvl2pPr marL="457200" algn="l" rtl="0" fontAlgn="base">
                    <a:spcBef>
                      <a:spcPct val="0"/>
                    </a:spcBef>
                    <a:spcAft>
                      <a:spcPct val="0"/>
                    </a:spcAft>
                    <a:defRPr sz="4000" kern="1200">
                      <a:solidFill>
                        <a:schemeClr val="dk1"/>
                      </a:solidFill>
                      <a:latin typeface="+mn-lt"/>
                      <a:ea typeface="+mn-ea"/>
                      <a:cs typeface="+mn-cs"/>
                    </a:defRPr>
                  </a:lvl2pPr>
                  <a:lvl3pPr marL="914400" algn="l" rtl="0" fontAlgn="base">
                    <a:spcBef>
                      <a:spcPct val="0"/>
                    </a:spcBef>
                    <a:spcAft>
                      <a:spcPct val="0"/>
                    </a:spcAft>
                    <a:defRPr sz="4000" kern="1200">
                      <a:solidFill>
                        <a:schemeClr val="dk1"/>
                      </a:solidFill>
                      <a:latin typeface="+mn-lt"/>
                      <a:ea typeface="+mn-ea"/>
                      <a:cs typeface="+mn-cs"/>
                    </a:defRPr>
                  </a:lvl3pPr>
                  <a:lvl4pPr marL="1371600" algn="l" rtl="0" fontAlgn="base">
                    <a:spcBef>
                      <a:spcPct val="0"/>
                    </a:spcBef>
                    <a:spcAft>
                      <a:spcPct val="0"/>
                    </a:spcAft>
                    <a:defRPr sz="4000" kern="1200">
                      <a:solidFill>
                        <a:schemeClr val="dk1"/>
                      </a:solidFill>
                      <a:latin typeface="+mn-lt"/>
                      <a:ea typeface="+mn-ea"/>
                      <a:cs typeface="+mn-cs"/>
                    </a:defRPr>
                  </a:lvl4pPr>
                  <a:lvl5pPr marL="1828800" algn="l" rtl="0" fontAlgn="base">
                    <a:spcBef>
                      <a:spcPct val="0"/>
                    </a:spcBef>
                    <a:spcAft>
                      <a:spcPct val="0"/>
                    </a:spcAft>
                    <a:defRPr sz="4000" kern="1200">
                      <a:solidFill>
                        <a:schemeClr val="dk1"/>
                      </a:solidFill>
                      <a:latin typeface="+mn-lt"/>
                      <a:ea typeface="+mn-ea"/>
                      <a:cs typeface="+mn-cs"/>
                    </a:defRPr>
                  </a:lvl5pPr>
                  <a:lvl6pPr marL="2286000" algn="l" defTabSz="914400" rtl="0" eaLnBrk="1" latinLnBrk="0" hangingPunct="1">
                    <a:defRPr sz="4000" kern="1200">
                      <a:solidFill>
                        <a:schemeClr val="dk1"/>
                      </a:solidFill>
                      <a:latin typeface="+mn-lt"/>
                      <a:ea typeface="+mn-ea"/>
                      <a:cs typeface="+mn-cs"/>
                    </a:defRPr>
                  </a:lvl6pPr>
                  <a:lvl7pPr marL="2743200" algn="l" defTabSz="914400" rtl="0" eaLnBrk="1" latinLnBrk="0" hangingPunct="1">
                    <a:defRPr sz="4000" kern="1200">
                      <a:solidFill>
                        <a:schemeClr val="dk1"/>
                      </a:solidFill>
                      <a:latin typeface="+mn-lt"/>
                      <a:ea typeface="+mn-ea"/>
                      <a:cs typeface="+mn-cs"/>
                    </a:defRPr>
                  </a:lvl7pPr>
                  <a:lvl8pPr marL="3200400" algn="l" defTabSz="914400" rtl="0" eaLnBrk="1" latinLnBrk="0" hangingPunct="1">
                    <a:defRPr sz="4000" kern="1200">
                      <a:solidFill>
                        <a:schemeClr val="dk1"/>
                      </a:solidFill>
                      <a:latin typeface="+mn-lt"/>
                      <a:ea typeface="+mn-ea"/>
                      <a:cs typeface="+mn-cs"/>
                    </a:defRPr>
                  </a:lvl8pPr>
                  <a:lvl9pPr marL="3657600" algn="l" defTabSz="914400" rtl="0" eaLnBrk="1" latinLnBrk="0" hangingPunct="1">
                    <a:defRPr sz="4000" kern="1200">
                      <a:solidFill>
                        <a:schemeClr val="dk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1200" cap="none" spc="0" normalizeH="0" baseline="0" noProof="0">
                    <a:ln>
                      <a:noFill/>
                    </a:ln>
                    <a:solidFill>
                      <a:srgbClr val="FFFF00"/>
                    </a:solidFill>
                    <a:effectLst/>
                    <a:uLnTx/>
                    <a:uFillTx/>
                    <a:latin typeface="Calibri"/>
                    <a:ea typeface="+mn-ea"/>
                    <a:cs typeface="+mn-cs"/>
                  </a:endParaRPr>
                </a:p>
              </p:txBody>
            </p:sp>
            <p:sp>
              <p:nvSpPr>
                <p:cNvPr id="14" name="TextBox 193"/>
                <p:cNvSpPr txBox="1"/>
                <p:nvPr/>
              </p:nvSpPr>
              <p:spPr>
                <a:xfrm>
                  <a:off x="5811365" y="2451878"/>
                  <a:ext cx="2361681" cy="440663"/>
                </a:xfrm>
                <a:prstGeom prst="rect">
                  <a:avLst/>
                </a:prstGeom>
                <a:noFill/>
              </p:spPr>
              <p:txBody>
                <a:bodyPr anchor="b">
                  <a:spAutoFit/>
                </a:bodyPr>
                <a:lstStyle>
                  <a:defPPr>
                    <a:defRPr lang="en-US"/>
                  </a:defPPr>
                  <a:lvl1pPr algn="l" rtl="0" fontAlgn="base">
                    <a:spcBef>
                      <a:spcPct val="0"/>
                    </a:spcBef>
                    <a:spcAft>
                      <a:spcPct val="0"/>
                    </a:spcAft>
                    <a:defRPr sz="4000" kern="1200">
                      <a:solidFill>
                        <a:schemeClr val="tx1"/>
                      </a:solidFill>
                      <a:latin typeface="Verdana" pitchFamily="34" charset="0"/>
                      <a:ea typeface="+mn-ea"/>
                      <a:cs typeface="+mn-cs"/>
                    </a:defRPr>
                  </a:lvl1pPr>
                  <a:lvl2pPr marL="457200" algn="l" rtl="0" fontAlgn="base">
                    <a:spcBef>
                      <a:spcPct val="0"/>
                    </a:spcBef>
                    <a:spcAft>
                      <a:spcPct val="0"/>
                    </a:spcAft>
                    <a:defRPr sz="4000" kern="1200">
                      <a:solidFill>
                        <a:schemeClr val="tx1"/>
                      </a:solidFill>
                      <a:latin typeface="Verdana" pitchFamily="34" charset="0"/>
                      <a:ea typeface="+mn-ea"/>
                      <a:cs typeface="+mn-cs"/>
                    </a:defRPr>
                  </a:lvl2pPr>
                  <a:lvl3pPr marL="914400" algn="l" rtl="0" fontAlgn="base">
                    <a:spcBef>
                      <a:spcPct val="0"/>
                    </a:spcBef>
                    <a:spcAft>
                      <a:spcPct val="0"/>
                    </a:spcAft>
                    <a:defRPr sz="4000" kern="1200">
                      <a:solidFill>
                        <a:schemeClr val="tx1"/>
                      </a:solidFill>
                      <a:latin typeface="Verdana" pitchFamily="34" charset="0"/>
                      <a:ea typeface="+mn-ea"/>
                      <a:cs typeface="+mn-cs"/>
                    </a:defRPr>
                  </a:lvl3pPr>
                  <a:lvl4pPr marL="1371600" algn="l" rtl="0" fontAlgn="base">
                    <a:spcBef>
                      <a:spcPct val="0"/>
                    </a:spcBef>
                    <a:spcAft>
                      <a:spcPct val="0"/>
                    </a:spcAft>
                    <a:defRPr sz="4000" kern="1200">
                      <a:solidFill>
                        <a:schemeClr val="tx1"/>
                      </a:solidFill>
                      <a:latin typeface="Verdana" pitchFamily="34" charset="0"/>
                      <a:ea typeface="+mn-ea"/>
                      <a:cs typeface="+mn-cs"/>
                    </a:defRPr>
                  </a:lvl4pPr>
                  <a:lvl5pPr marL="1828800" algn="l" rtl="0" fontAlgn="base">
                    <a:spcBef>
                      <a:spcPct val="0"/>
                    </a:spcBef>
                    <a:spcAft>
                      <a:spcPct val="0"/>
                    </a:spcAft>
                    <a:defRPr sz="4000" kern="1200">
                      <a:solidFill>
                        <a:schemeClr val="tx1"/>
                      </a:solidFill>
                      <a:latin typeface="Verdana" pitchFamily="34" charset="0"/>
                      <a:ea typeface="+mn-ea"/>
                      <a:cs typeface="+mn-cs"/>
                    </a:defRPr>
                  </a:lvl5pPr>
                  <a:lvl6pPr marL="2286000" algn="l" defTabSz="914400" rtl="0" eaLnBrk="1" latinLnBrk="0" hangingPunct="1">
                    <a:defRPr sz="4000" kern="1200">
                      <a:solidFill>
                        <a:schemeClr val="tx1"/>
                      </a:solidFill>
                      <a:latin typeface="Verdana" pitchFamily="34" charset="0"/>
                      <a:ea typeface="+mn-ea"/>
                      <a:cs typeface="+mn-cs"/>
                    </a:defRPr>
                  </a:lvl6pPr>
                  <a:lvl7pPr marL="2743200" algn="l" defTabSz="914400" rtl="0" eaLnBrk="1" latinLnBrk="0" hangingPunct="1">
                    <a:defRPr sz="4000" kern="1200">
                      <a:solidFill>
                        <a:schemeClr val="tx1"/>
                      </a:solidFill>
                      <a:latin typeface="Verdana" pitchFamily="34" charset="0"/>
                      <a:ea typeface="+mn-ea"/>
                      <a:cs typeface="+mn-cs"/>
                    </a:defRPr>
                  </a:lvl7pPr>
                  <a:lvl8pPr marL="3200400" algn="l" defTabSz="914400" rtl="0" eaLnBrk="1" latinLnBrk="0" hangingPunct="1">
                    <a:defRPr sz="4000" kern="1200">
                      <a:solidFill>
                        <a:schemeClr val="tx1"/>
                      </a:solidFill>
                      <a:latin typeface="Verdana" pitchFamily="34" charset="0"/>
                      <a:ea typeface="+mn-ea"/>
                      <a:cs typeface="+mn-cs"/>
                    </a:defRPr>
                  </a:lvl8pPr>
                  <a:lvl9pPr marL="3657600" algn="l" defTabSz="914400" rtl="0" eaLnBrk="1" latinLnBrk="0" hangingPunct="1">
                    <a:defRPr sz="4000" kern="1200">
                      <a:solidFill>
                        <a:schemeClr val="tx1"/>
                      </a:solidFill>
                      <a:latin typeface="Verdana"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Trapezoid 14"/>
              <p:cNvSpPr/>
              <p:nvPr/>
            </p:nvSpPr>
            <p:spPr bwMode="auto">
              <a:xfrm rot="10800000">
                <a:off x="815975" y="3629025"/>
                <a:ext cx="1403350" cy="1697038"/>
              </a:xfrm>
              <a:prstGeom prst="trapezoid">
                <a:avLst/>
              </a:prstGeom>
              <a:solidFill>
                <a:srgbClr val="FFFFFF">
                  <a:alpha val="47843"/>
                </a:srgbClr>
              </a:solidFill>
              <a:ln w="31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fontAlgn="base">
                  <a:spcBef>
                    <a:spcPct val="0"/>
                  </a:spcBef>
                  <a:spcAft>
                    <a:spcPct val="0"/>
                  </a:spcAft>
                  <a:defRPr sz="4000" kern="1200">
                    <a:solidFill>
                      <a:schemeClr val="lt1"/>
                    </a:solidFill>
                    <a:latin typeface="+mn-lt"/>
                    <a:ea typeface="+mn-ea"/>
                    <a:cs typeface="+mn-cs"/>
                  </a:defRPr>
                </a:lvl1pPr>
                <a:lvl2pPr marL="457200" algn="l" rtl="0" fontAlgn="base">
                  <a:spcBef>
                    <a:spcPct val="0"/>
                  </a:spcBef>
                  <a:spcAft>
                    <a:spcPct val="0"/>
                  </a:spcAft>
                  <a:defRPr sz="4000" kern="1200">
                    <a:solidFill>
                      <a:schemeClr val="lt1"/>
                    </a:solidFill>
                    <a:latin typeface="+mn-lt"/>
                    <a:ea typeface="+mn-ea"/>
                    <a:cs typeface="+mn-cs"/>
                  </a:defRPr>
                </a:lvl2pPr>
                <a:lvl3pPr marL="914400" algn="l" rtl="0" fontAlgn="base">
                  <a:spcBef>
                    <a:spcPct val="0"/>
                  </a:spcBef>
                  <a:spcAft>
                    <a:spcPct val="0"/>
                  </a:spcAft>
                  <a:defRPr sz="4000" kern="1200">
                    <a:solidFill>
                      <a:schemeClr val="lt1"/>
                    </a:solidFill>
                    <a:latin typeface="+mn-lt"/>
                    <a:ea typeface="+mn-ea"/>
                    <a:cs typeface="+mn-cs"/>
                  </a:defRPr>
                </a:lvl3pPr>
                <a:lvl4pPr marL="1371600" algn="l" rtl="0" fontAlgn="base">
                  <a:spcBef>
                    <a:spcPct val="0"/>
                  </a:spcBef>
                  <a:spcAft>
                    <a:spcPct val="0"/>
                  </a:spcAft>
                  <a:defRPr sz="4000" kern="1200">
                    <a:solidFill>
                      <a:schemeClr val="lt1"/>
                    </a:solidFill>
                    <a:latin typeface="+mn-lt"/>
                    <a:ea typeface="+mn-ea"/>
                    <a:cs typeface="+mn-cs"/>
                  </a:defRPr>
                </a:lvl4pPr>
                <a:lvl5pPr marL="1828800" algn="l" rtl="0" fontAlgn="base">
                  <a:spcBef>
                    <a:spcPct val="0"/>
                  </a:spcBef>
                  <a:spcAft>
                    <a:spcPct val="0"/>
                  </a:spcAft>
                  <a:defRPr sz="4000" kern="1200">
                    <a:solidFill>
                      <a:schemeClr val="lt1"/>
                    </a:solidFill>
                    <a:latin typeface="+mn-lt"/>
                    <a:ea typeface="+mn-ea"/>
                    <a:cs typeface="+mn-cs"/>
                  </a:defRPr>
                </a:lvl5pPr>
                <a:lvl6pPr marL="2286000" algn="l" defTabSz="914400" rtl="0" eaLnBrk="1" latinLnBrk="0" hangingPunct="1">
                  <a:defRPr sz="4000" kern="1200">
                    <a:solidFill>
                      <a:schemeClr val="lt1"/>
                    </a:solidFill>
                    <a:latin typeface="+mn-lt"/>
                    <a:ea typeface="+mn-ea"/>
                    <a:cs typeface="+mn-cs"/>
                  </a:defRPr>
                </a:lvl6pPr>
                <a:lvl7pPr marL="2743200" algn="l" defTabSz="914400" rtl="0" eaLnBrk="1" latinLnBrk="0" hangingPunct="1">
                  <a:defRPr sz="4000" kern="1200">
                    <a:solidFill>
                      <a:schemeClr val="lt1"/>
                    </a:solidFill>
                    <a:latin typeface="+mn-lt"/>
                    <a:ea typeface="+mn-ea"/>
                    <a:cs typeface="+mn-cs"/>
                  </a:defRPr>
                </a:lvl7pPr>
                <a:lvl8pPr marL="3200400" algn="l" defTabSz="914400" rtl="0" eaLnBrk="1" latinLnBrk="0" hangingPunct="1">
                  <a:defRPr sz="4000" kern="1200">
                    <a:solidFill>
                      <a:schemeClr val="lt1"/>
                    </a:solidFill>
                    <a:latin typeface="+mn-lt"/>
                    <a:ea typeface="+mn-ea"/>
                    <a:cs typeface="+mn-cs"/>
                  </a:defRPr>
                </a:lvl8pPr>
                <a:lvl9pPr marL="3657600" algn="l" defTabSz="914400" rtl="0" eaLnBrk="1" latinLnBrk="0" hangingPunct="1">
                  <a:defRPr sz="40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000" b="1" i="0" u="none" strike="noStrike" kern="1200" cap="none" spc="0" normalizeH="0" baseline="0" noProof="0">
                  <a:ln>
                    <a:noFill/>
                  </a:ln>
                  <a:solidFill>
                    <a:prstClr val="white"/>
                  </a:solidFill>
                  <a:effectLst/>
                  <a:uLnTx/>
                  <a:uFillTx/>
                  <a:latin typeface="Calibri"/>
                  <a:ea typeface="+mn-ea"/>
                  <a:cs typeface="+mn-cs"/>
                </a:endParaRPr>
              </a:p>
            </p:txBody>
          </p:sp>
          <p:sp>
            <p:nvSpPr>
              <p:cNvPr id="166" name="Explosion 1 59"/>
              <p:cNvSpPr>
                <a:spLocks noChangeArrowheads="1"/>
              </p:cNvSpPr>
              <p:nvPr/>
            </p:nvSpPr>
            <p:spPr bwMode="auto">
              <a:xfrm>
                <a:off x="1527176" y="4086225"/>
                <a:ext cx="136525" cy="134938"/>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7" name="Explosion 1 60"/>
              <p:cNvSpPr>
                <a:spLocks noChangeArrowheads="1"/>
              </p:cNvSpPr>
              <p:nvPr/>
            </p:nvSpPr>
            <p:spPr bwMode="auto">
              <a:xfrm>
                <a:off x="1184275" y="3771901"/>
                <a:ext cx="134938" cy="13652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8" name="Explosion 1 61"/>
              <p:cNvSpPr>
                <a:spLocks noChangeArrowheads="1"/>
              </p:cNvSpPr>
              <p:nvPr/>
            </p:nvSpPr>
            <p:spPr bwMode="auto">
              <a:xfrm>
                <a:off x="2017714" y="4127500"/>
                <a:ext cx="136525" cy="134938"/>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69" name="Explosion 1 62"/>
              <p:cNvSpPr>
                <a:spLocks noChangeArrowheads="1"/>
              </p:cNvSpPr>
              <p:nvPr/>
            </p:nvSpPr>
            <p:spPr bwMode="auto">
              <a:xfrm>
                <a:off x="2109789" y="3937000"/>
                <a:ext cx="134937" cy="134938"/>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0" name="Explosion 1 63"/>
              <p:cNvSpPr>
                <a:spLocks noChangeArrowheads="1"/>
              </p:cNvSpPr>
              <p:nvPr/>
            </p:nvSpPr>
            <p:spPr bwMode="auto">
              <a:xfrm>
                <a:off x="1757364" y="3960814"/>
                <a:ext cx="134937"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1" name="Explosion 1 64"/>
              <p:cNvSpPr>
                <a:spLocks noChangeArrowheads="1"/>
              </p:cNvSpPr>
              <p:nvPr/>
            </p:nvSpPr>
            <p:spPr bwMode="auto">
              <a:xfrm>
                <a:off x="1225550" y="4951414"/>
                <a:ext cx="134938"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2" name="Explosion 1 65"/>
              <p:cNvSpPr>
                <a:spLocks noChangeArrowheads="1"/>
              </p:cNvSpPr>
              <p:nvPr/>
            </p:nvSpPr>
            <p:spPr bwMode="auto">
              <a:xfrm>
                <a:off x="1600201" y="4878389"/>
                <a:ext cx="136525"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3" name="Explosion 1 66"/>
              <p:cNvSpPr>
                <a:spLocks noChangeArrowheads="1"/>
              </p:cNvSpPr>
              <p:nvPr/>
            </p:nvSpPr>
            <p:spPr bwMode="auto">
              <a:xfrm>
                <a:off x="1673226" y="4262439"/>
                <a:ext cx="136525" cy="13652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4" name="Explosion 1 67"/>
              <p:cNvSpPr>
                <a:spLocks noChangeArrowheads="1"/>
              </p:cNvSpPr>
              <p:nvPr/>
            </p:nvSpPr>
            <p:spPr bwMode="auto">
              <a:xfrm>
                <a:off x="1935164" y="4972050"/>
                <a:ext cx="134937" cy="134938"/>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5" name="Explosion 1 68"/>
              <p:cNvSpPr>
                <a:spLocks noChangeArrowheads="1"/>
              </p:cNvSpPr>
              <p:nvPr/>
            </p:nvSpPr>
            <p:spPr bwMode="auto">
              <a:xfrm>
                <a:off x="1600201" y="4513264"/>
                <a:ext cx="136525"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6" name="Explosion 1 69"/>
              <p:cNvSpPr>
                <a:spLocks noChangeArrowheads="1"/>
              </p:cNvSpPr>
              <p:nvPr/>
            </p:nvSpPr>
            <p:spPr bwMode="auto">
              <a:xfrm>
                <a:off x="1330325" y="4471989"/>
                <a:ext cx="134938"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7" name="Explosion 1 70"/>
              <p:cNvSpPr>
                <a:spLocks noChangeArrowheads="1"/>
              </p:cNvSpPr>
              <p:nvPr/>
            </p:nvSpPr>
            <p:spPr bwMode="auto">
              <a:xfrm>
                <a:off x="1339851" y="4729164"/>
                <a:ext cx="136525"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8" name="Explosion 1 71"/>
              <p:cNvSpPr>
                <a:spLocks noChangeArrowheads="1"/>
              </p:cNvSpPr>
              <p:nvPr/>
            </p:nvSpPr>
            <p:spPr bwMode="auto">
              <a:xfrm>
                <a:off x="1997075" y="4713289"/>
                <a:ext cx="134938" cy="13652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79" name="Explosion 1 72"/>
              <p:cNvSpPr>
                <a:spLocks noChangeArrowheads="1"/>
              </p:cNvSpPr>
              <p:nvPr/>
            </p:nvSpPr>
            <p:spPr bwMode="auto">
              <a:xfrm>
                <a:off x="2160589" y="4384676"/>
                <a:ext cx="136525" cy="13652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0" name="Explosion 1 73"/>
              <p:cNvSpPr>
                <a:spLocks noChangeArrowheads="1"/>
              </p:cNvSpPr>
              <p:nvPr/>
            </p:nvSpPr>
            <p:spPr bwMode="auto">
              <a:xfrm>
                <a:off x="2154239" y="4760914"/>
                <a:ext cx="134937"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1" name="Explosion 1 74"/>
              <p:cNvSpPr>
                <a:spLocks noChangeArrowheads="1"/>
              </p:cNvSpPr>
              <p:nvPr/>
            </p:nvSpPr>
            <p:spPr bwMode="auto">
              <a:xfrm>
                <a:off x="2365375" y="4916489"/>
                <a:ext cx="134938" cy="13652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2" name="Explosion 1 75"/>
              <p:cNvSpPr>
                <a:spLocks noChangeArrowheads="1"/>
              </p:cNvSpPr>
              <p:nvPr/>
            </p:nvSpPr>
            <p:spPr bwMode="auto">
              <a:xfrm>
                <a:off x="1379539" y="5111751"/>
                <a:ext cx="134937" cy="13652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3" name="Explosion 1 76"/>
              <p:cNvSpPr>
                <a:spLocks noChangeArrowheads="1"/>
              </p:cNvSpPr>
              <p:nvPr/>
            </p:nvSpPr>
            <p:spPr bwMode="auto">
              <a:xfrm>
                <a:off x="1778000" y="4862514"/>
                <a:ext cx="134938"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4" name="Explosion 1 77"/>
              <p:cNvSpPr>
                <a:spLocks noChangeArrowheads="1"/>
              </p:cNvSpPr>
              <p:nvPr/>
            </p:nvSpPr>
            <p:spPr bwMode="auto">
              <a:xfrm>
                <a:off x="1778000" y="5081589"/>
                <a:ext cx="134938" cy="134937"/>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185" name="Group 78"/>
              <p:cNvGrpSpPr>
                <a:grpSpLocks/>
              </p:cNvGrpSpPr>
              <p:nvPr/>
            </p:nvGrpSpPr>
            <p:grpSpPr bwMode="auto">
              <a:xfrm>
                <a:off x="441325" y="4246564"/>
                <a:ext cx="452438" cy="1087437"/>
                <a:chOff x="19650075" y="32651700"/>
                <a:chExt cx="2409825" cy="5781675"/>
              </a:xfrm>
            </p:grpSpPr>
            <p:sp>
              <p:nvSpPr>
                <p:cNvPr id="186" name="Explosion 1 178"/>
                <p:cNvSpPr>
                  <a:spLocks noChangeArrowheads="1"/>
                </p:cNvSpPr>
                <p:nvPr/>
              </p:nvSpPr>
              <p:spPr bwMode="auto">
                <a:xfrm>
                  <a:off x="21450300" y="328803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7" name="Explosion 1 179"/>
                <p:cNvSpPr>
                  <a:spLocks noChangeArrowheads="1"/>
                </p:cNvSpPr>
                <p:nvPr/>
              </p:nvSpPr>
              <p:spPr bwMode="auto">
                <a:xfrm>
                  <a:off x="21564600" y="344805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8" name="Explosion 1 180"/>
                <p:cNvSpPr>
                  <a:spLocks noChangeArrowheads="1"/>
                </p:cNvSpPr>
                <p:nvPr/>
              </p:nvSpPr>
              <p:spPr bwMode="auto">
                <a:xfrm>
                  <a:off x="20307300" y="36652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89" name="Explosion 1 181"/>
                <p:cNvSpPr>
                  <a:spLocks noChangeArrowheads="1"/>
                </p:cNvSpPr>
                <p:nvPr/>
              </p:nvSpPr>
              <p:spPr bwMode="auto">
                <a:xfrm>
                  <a:off x="21145500" y="37033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0" name="Explosion 1 182"/>
                <p:cNvSpPr>
                  <a:spLocks noChangeArrowheads="1"/>
                </p:cNvSpPr>
                <p:nvPr/>
              </p:nvSpPr>
              <p:spPr bwMode="auto">
                <a:xfrm>
                  <a:off x="21250275" y="354520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1" name="Explosion 1 183"/>
                <p:cNvSpPr>
                  <a:spLocks noChangeArrowheads="1"/>
                </p:cNvSpPr>
                <p:nvPr/>
              </p:nvSpPr>
              <p:spPr bwMode="auto">
                <a:xfrm>
                  <a:off x="20564475" y="347091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2" name="Explosion 1 184"/>
                <p:cNvSpPr>
                  <a:spLocks noChangeArrowheads="1"/>
                </p:cNvSpPr>
                <p:nvPr/>
              </p:nvSpPr>
              <p:spPr bwMode="auto">
                <a:xfrm>
                  <a:off x="21021675" y="363950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3" name="Explosion 1 185"/>
                <p:cNvSpPr>
                  <a:spLocks noChangeArrowheads="1"/>
                </p:cNvSpPr>
                <p:nvPr/>
              </p:nvSpPr>
              <p:spPr bwMode="auto">
                <a:xfrm>
                  <a:off x="21478875" y="379380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4" name="Explosion 1 186"/>
                <p:cNvSpPr>
                  <a:spLocks noChangeArrowheads="1"/>
                </p:cNvSpPr>
                <p:nvPr/>
              </p:nvSpPr>
              <p:spPr bwMode="auto">
                <a:xfrm>
                  <a:off x="19650075" y="37795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5" name="Explosion 1 187"/>
                <p:cNvSpPr>
                  <a:spLocks noChangeArrowheads="1"/>
                </p:cNvSpPr>
                <p:nvPr/>
              </p:nvSpPr>
              <p:spPr bwMode="auto">
                <a:xfrm>
                  <a:off x="20278725" y="373951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6" name="Explosion 1 188"/>
                <p:cNvSpPr>
                  <a:spLocks noChangeArrowheads="1"/>
                </p:cNvSpPr>
                <p:nvPr/>
              </p:nvSpPr>
              <p:spPr bwMode="auto">
                <a:xfrm>
                  <a:off x="21078825" y="376809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7" name="Explosion 1 189"/>
                <p:cNvSpPr>
                  <a:spLocks noChangeArrowheads="1"/>
                </p:cNvSpPr>
                <p:nvPr/>
              </p:nvSpPr>
              <p:spPr bwMode="auto">
                <a:xfrm>
                  <a:off x="20878800" y="326517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8" name="Explosion 1 190"/>
                <p:cNvSpPr>
                  <a:spLocks noChangeArrowheads="1"/>
                </p:cNvSpPr>
                <p:nvPr/>
              </p:nvSpPr>
              <p:spPr bwMode="auto">
                <a:xfrm>
                  <a:off x="20678775" y="337375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199" name="Explosion 1 191"/>
                <p:cNvSpPr>
                  <a:spLocks noChangeArrowheads="1"/>
                </p:cNvSpPr>
                <p:nvPr/>
              </p:nvSpPr>
              <p:spPr bwMode="auto">
                <a:xfrm>
                  <a:off x="21107400" y="339090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0" name="Explosion 1 192"/>
                <p:cNvSpPr>
                  <a:spLocks noChangeArrowheads="1"/>
                </p:cNvSpPr>
                <p:nvPr/>
              </p:nvSpPr>
              <p:spPr bwMode="auto">
                <a:xfrm>
                  <a:off x="20878800" y="344233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1" name="Explosion 1 193"/>
                <p:cNvSpPr>
                  <a:spLocks noChangeArrowheads="1"/>
                </p:cNvSpPr>
                <p:nvPr/>
              </p:nvSpPr>
              <p:spPr bwMode="auto">
                <a:xfrm>
                  <a:off x="20421600" y="352806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2" name="Explosion 1 194"/>
                <p:cNvSpPr>
                  <a:spLocks noChangeArrowheads="1"/>
                </p:cNvSpPr>
                <p:nvPr/>
              </p:nvSpPr>
              <p:spPr bwMode="auto">
                <a:xfrm>
                  <a:off x="20878800" y="354234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3" name="Explosion 1 195"/>
                <p:cNvSpPr>
                  <a:spLocks noChangeArrowheads="1"/>
                </p:cNvSpPr>
                <p:nvPr/>
              </p:nvSpPr>
              <p:spPr bwMode="auto">
                <a:xfrm>
                  <a:off x="20221575" y="357663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4" name="Explosion 1 196"/>
                <p:cNvSpPr>
                  <a:spLocks noChangeArrowheads="1"/>
                </p:cNvSpPr>
                <p:nvPr/>
              </p:nvSpPr>
              <p:spPr bwMode="auto">
                <a:xfrm>
                  <a:off x="20193000" y="361664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sp>
            <p:nvSpPr>
              <p:cNvPr id="205" name="Explosion 1 79"/>
              <p:cNvSpPr>
                <a:spLocks noChangeArrowheads="1"/>
              </p:cNvSpPr>
              <p:nvPr/>
            </p:nvSpPr>
            <p:spPr bwMode="auto">
              <a:xfrm>
                <a:off x="881063" y="3954464"/>
                <a:ext cx="93662"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6" name="Explosion 1 80"/>
              <p:cNvSpPr>
                <a:spLocks noChangeArrowheads="1"/>
              </p:cNvSpPr>
              <p:nvPr/>
            </p:nvSpPr>
            <p:spPr bwMode="auto">
              <a:xfrm>
                <a:off x="738188" y="4840288"/>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7" name="Explosion 1 81"/>
              <p:cNvSpPr>
                <a:spLocks noChangeArrowheads="1"/>
              </p:cNvSpPr>
              <p:nvPr/>
            </p:nvSpPr>
            <p:spPr bwMode="auto">
              <a:xfrm>
                <a:off x="744538" y="4592638"/>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8" name="Explosion 1 82"/>
              <p:cNvSpPr>
                <a:spLocks noChangeArrowheads="1"/>
              </p:cNvSpPr>
              <p:nvPr/>
            </p:nvSpPr>
            <p:spPr bwMode="auto">
              <a:xfrm>
                <a:off x="901701" y="4664076"/>
                <a:ext cx="93663"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09" name="Explosion 1 83"/>
              <p:cNvSpPr>
                <a:spLocks noChangeArrowheads="1"/>
              </p:cNvSpPr>
              <p:nvPr/>
            </p:nvSpPr>
            <p:spPr bwMode="auto">
              <a:xfrm>
                <a:off x="920751" y="4367214"/>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0" name="Explosion 1 84"/>
              <p:cNvSpPr>
                <a:spLocks noChangeArrowheads="1"/>
              </p:cNvSpPr>
              <p:nvPr/>
            </p:nvSpPr>
            <p:spPr bwMode="auto">
              <a:xfrm>
                <a:off x="792163" y="4227513"/>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1" name="Explosion 1 85"/>
              <p:cNvSpPr>
                <a:spLocks noChangeArrowheads="1"/>
              </p:cNvSpPr>
              <p:nvPr/>
            </p:nvSpPr>
            <p:spPr bwMode="auto">
              <a:xfrm>
                <a:off x="879476" y="4543426"/>
                <a:ext cx="92075"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2" name="Explosion 1 86"/>
              <p:cNvSpPr>
                <a:spLocks noChangeArrowheads="1"/>
              </p:cNvSpPr>
              <p:nvPr/>
            </p:nvSpPr>
            <p:spPr bwMode="auto">
              <a:xfrm>
                <a:off x="965201" y="4833938"/>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3" name="Explosion 1 87"/>
              <p:cNvSpPr>
                <a:spLocks noChangeArrowheads="1"/>
              </p:cNvSpPr>
              <p:nvPr/>
            </p:nvSpPr>
            <p:spPr bwMode="auto">
              <a:xfrm>
                <a:off x="620713" y="4806951"/>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4" name="Explosion 1 88"/>
              <p:cNvSpPr>
                <a:spLocks noChangeArrowheads="1"/>
              </p:cNvSpPr>
              <p:nvPr/>
            </p:nvSpPr>
            <p:spPr bwMode="auto">
              <a:xfrm>
                <a:off x="738188" y="4732338"/>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5" name="Explosion 1 89"/>
              <p:cNvSpPr>
                <a:spLocks noChangeArrowheads="1"/>
              </p:cNvSpPr>
              <p:nvPr/>
            </p:nvSpPr>
            <p:spPr bwMode="auto">
              <a:xfrm>
                <a:off x="889001" y="4786314"/>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6" name="Explosion 1 90"/>
              <p:cNvSpPr>
                <a:spLocks noChangeArrowheads="1"/>
              </p:cNvSpPr>
              <p:nvPr/>
            </p:nvSpPr>
            <p:spPr bwMode="auto">
              <a:xfrm>
                <a:off x="852489" y="3840163"/>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7" name="Explosion 1 91"/>
              <p:cNvSpPr>
                <a:spLocks noChangeArrowheads="1"/>
              </p:cNvSpPr>
              <p:nvPr/>
            </p:nvSpPr>
            <p:spPr bwMode="auto">
              <a:xfrm>
                <a:off x="814388" y="4044951"/>
                <a:ext cx="93662"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8" name="Explosion 1 92"/>
              <p:cNvSpPr>
                <a:spLocks noChangeArrowheads="1"/>
              </p:cNvSpPr>
              <p:nvPr/>
            </p:nvSpPr>
            <p:spPr bwMode="auto">
              <a:xfrm>
                <a:off x="863601" y="4100514"/>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19" name="Explosion 1 93"/>
              <p:cNvSpPr>
                <a:spLocks noChangeArrowheads="1"/>
              </p:cNvSpPr>
              <p:nvPr/>
            </p:nvSpPr>
            <p:spPr bwMode="auto">
              <a:xfrm>
                <a:off x="852489" y="4173538"/>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0" name="Explosion 1 94"/>
              <p:cNvSpPr>
                <a:spLocks noChangeArrowheads="1"/>
              </p:cNvSpPr>
              <p:nvPr/>
            </p:nvSpPr>
            <p:spPr bwMode="auto">
              <a:xfrm>
                <a:off x="765176" y="4335464"/>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1" name="Explosion 1 95"/>
              <p:cNvSpPr>
                <a:spLocks noChangeArrowheads="1"/>
              </p:cNvSpPr>
              <p:nvPr/>
            </p:nvSpPr>
            <p:spPr bwMode="auto">
              <a:xfrm>
                <a:off x="852489" y="4360863"/>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2" name="Explosion 1 96"/>
              <p:cNvSpPr>
                <a:spLocks noChangeArrowheads="1"/>
              </p:cNvSpPr>
              <p:nvPr/>
            </p:nvSpPr>
            <p:spPr bwMode="auto">
              <a:xfrm>
                <a:off x="728664" y="4425951"/>
                <a:ext cx="92075"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3" name="Explosion 1 97"/>
              <p:cNvSpPr>
                <a:spLocks noChangeArrowheads="1"/>
              </p:cNvSpPr>
              <p:nvPr/>
            </p:nvSpPr>
            <p:spPr bwMode="auto">
              <a:xfrm>
                <a:off x="722313" y="4500563"/>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224" name="Group 98"/>
              <p:cNvGrpSpPr>
                <a:grpSpLocks/>
              </p:cNvGrpSpPr>
              <p:nvPr/>
            </p:nvGrpSpPr>
            <p:grpSpPr bwMode="auto">
              <a:xfrm>
                <a:off x="1973264" y="4051300"/>
                <a:ext cx="454025" cy="1087438"/>
                <a:chOff x="19650075" y="32651700"/>
                <a:chExt cx="2409825" cy="5781675"/>
              </a:xfrm>
            </p:grpSpPr>
            <p:sp>
              <p:nvSpPr>
                <p:cNvPr id="225" name="Explosion 1 159"/>
                <p:cNvSpPr>
                  <a:spLocks noChangeArrowheads="1"/>
                </p:cNvSpPr>
                <p:nvPr/>
              </p:nvSpPr>
              <p:spPr bwMode="auto">
                <a:xfrm>
                  <a:off x="21450300" y="328803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6" name="Explosion 1 160"/>
                <p:cNvSpPr>
                  <a:spLocks noChangeArrowheads="1"/>
                </p:cNvSpPr>
                <p:nvPr/>
              </p:nvSpPr>
              <p:spPr bwMode="auto">
                <a:xfrm>
                  <a:off x="21564600" y="344805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7" name="Explosion 1 161"/>
                <p:cNvSpPr>
                  <a:spLocks noChangeArrowheads="1"/>
                </p:cNvSpPr>
                <p:nvPr/>
              </p:nvSpPr>
              <p:spPr bwMode="auto">
                <a:xfrm>
                  <a:off x="20307300" y="36652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8" name="Explosion 1 162"/>
                <p:cNvSpPr>
                  <a:spLocks noChangeArrowheads="1"/>
                </p:cNvSpPr>
                <p:nvPr/>
              </p:nvSpPr>
              <p:spPr bwMode="auto">
                <a:xfrm>
                  <a:off x="21145500" y="37033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29" name="Explosion 1 163"/>
                <p:cNvSpPr>
                  <a:spLocks noChangeArrowheads="1"/>
                </p:cNvSpPr>
                <p:nvPr/>
              </p:nvSpPr>
              <p:spPr bwMode="auto">
                <a:xfrm>
                  <a:off x="21250275" y="354520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0" name="Explosion 1 164"/>
                <p:cNvSpPr>
                  <a:spLocks noChangeArrowheads="1"/>
                </p:cNvSpPr>
                <p:nvPr/>
              </p:nvSpPr>
              <p:spPr bwMode="auto">
                <a:xfrm>
                  <a:off x="20564475" y="347091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1" name="Explosion 1 165"/>
                <p:cNvSpPr>
                  <a:spLocks noChangeArrowheads="1"/>
                </p:cNvSpPr>
                <p:nvPr/>
              </p:nvSpPr>
              <p:spPr bwMode="auto">
                <a:xfrm>
                  <a:off x="21021675" y="363950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2" name="Explosion 1 166"/>
                <p:cNvSpPr>
                  <a:spLocks noChangeArrowheads="1"/>
                </p:cNvSpPr>
                <p:nvPr/>
              </p:nvSpPr>
              <p:spPr bwMode="auto">
                <a:xfrm>
                  <a:off x="21478875" y="379380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3" name="Explosion 1 167"/>
                <p:cNvSpPr>
                  <a:spLocks noChangeArrowheads="1"/>
                </p:cNvSpPr>
                <p:nvPr/>
              </p:nvSpPr>
              <p:spPr bwMode="auto">
                <a:xfrm>
                  <a:off x="19650075" y="377952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4" name="Explosion 1 168"/>
                <p:cNvSpPr>
                  <a:spLocks noChangeArrowheads="1"/>
                </p:cNvSpPr>
                <p:nvPr/>
              </p:nvSpPr>
              <p:spPr bwMode="auto">
                <a:xfrm>
                  <a:off x="20278725" y="373951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5" name="Explosion 1 169"/>
                <p:cNvSpPr>
                  <a:spLocks noChangeArrowheads="1"/>
                </p:cNvSpPr>
                <p:nvPr/>
              </p:nvSpPr>
              <p:spPr bwMode="auto">
                <a:xfrm>
                  <a:off x="21078825" y="376809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6" name="Explosion 1 170"/>
                <p:cNvSpPr>
                  <a:spLocks noChangeArrowheads="1"/>
                </p:cNvSpPr>
                <p:nvPr/>
              </p:nvSpPr>
              <p:spPr bwMode="auto">
                <a:xfrm>
                  <a:off x="20878800" y="326517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7" name="Explosion 1 171"/>
                <p:cNvSpPr>
                  <a:spLocks noChangeArrowheads="1"/>
                </p:cNvSpPr>
                <p:nvPr/>
              </p:nvSpPr>
              <p:spPr bwMode="auto">
                <a:xfrm>
                  <a:off x="20678775" y="337375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8" name="Explosion 1 172"/>
                <p:cNvSpPr>
                  <a:spLocks noChangeArrowheads="1"/>
                </p:cNvSpPr>
                <p:nvPr/>
              </p:nvSpPr>
              <p:spPr bwMode="auto">
                <a:xfrm>
                  <a:off x="21107400" y="339090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39" name="Explosion 1 173"/>
                <p:cNvSpPr>
                  <a:spLocks noChangeArrowheads="1"/>
                </p:cNvSpPr>
                <p:nvPr/>
              </p:nvSpPr>
              <p:spPr bwMode="auto">
                <a:xfrm>
                  <a:off x="20878800" y="3442335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0" name="Explosion 1 174"/>
                <p:cNvSpPr>
                  <a:spLocks noChangeArrowheads="1"/>
                </p:cNvSpPr>
                <p:nvPr/>
              </p:nvSpPr>
              <p:spPr bwMode="auto">
                <a:xfrm>
                  <a:off x="20421600" y="35280600"/>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1" name="Explosion 1 175"/>
                <p:cNvSpPr>
                  <a:spLocks noChangeArrowheads="1"/>
                </p:cNvSpPr>
                <p:nvPr/>
              </p:nvSpPr>
              <p:spPr bwMode="auto">
                <a:xfrm>
                  <a:off x="20878800" y="354234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2" name="Explosion 1 176"/>
                <p:cNvSpPr>
                  <a:spLocks noChangeArrowheads="1"/>
                </p:cNvSpPr>
                <p:nvPr/>
              </p:nvSpPr>
              <p:spPr bwMode="auto">
                <a:xfrm>
                  <a:off x="20221575" y="3576637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3" name="Explosion 1 177"/>
                <p:cNvSpPr>
                  <a:spLocks noChangeArrowheads="1"/>
                </p:cNvSpPr>
                <p:nvPr/>
              </p:nvSpPr>
              <p:spPr bwMode="auto">
                <a:xfrm>
                  <a:off x="20193000" y="36166425"/>
                  <a:ext cx="495300" cy="495300"/>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sp>
            <p:nvSpPr>
              <p:cNvPr id="244" name="Explosion 1 99"/>
              <p:cNvSpPr>
                <a:spLocks noChangeArrowheads="1"/>
              </p:cNvSpPr>
              <p:nvPr/>
            </p:nvSpPr>
            <p:spPr bwMode="auto">
              <a:xfrm>
                <a:off x="2136776" y="4178301"/>
                <a:ext cx="92075"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5" name="Explosion 1 100"/>
              <p:cNvSpPr>
                <a:spLocks noChangeArrowheads="1"/>
              </p:cNvSpPr>
              <p:nvPr/>
            </p:nvSpPr>
            <p:spPr bwMode="auto">
              <a:xfrm>
                <a:off x="2293939" y="4249738"/>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6" name="Explosion 1 101"/>
              <p:cNvSpPr>
                <a:spLocks noChangeArrowheads="1"/>
              </p:cNvSpPr>
              <p:nvPr/>
            </p:nvSpPr>
            <p:spPr bwMode="auto">
              <a:xfrm>
                <a:off x="2184401" y="3813176"/>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7" name="Explosion 1 102"/>
              <p:cNvSpPr>
                <a:spLocks noChangeArrowheads="1"/>
              </p:cNvSpPr>
              <p:nvPr/>
            </p:nvSpPr>
            <p:spPr bwMode="auto">
              <a:xfrm>
                <a:off x="2270126" y="4129088"/>
                <a:ext cx="93663"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8" name="Explosion 1 103"/>
              <p:cNvSpPr>
                <a:spLocks noChangeArrowheads="1"/>
              </p:cNvSpPr>
              <p:nvPr/>
            </p:nvSpPr>
            <p:spPr bwMode="auto">
              <a:xfrm>
                <a:off x="2355851" y="4419601"/>
                <a:ext cx="93663"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49" name="Explosion 1 104"/>
              <p:cNvSpPr>
                <a:spLocks noChangeArrowheads="1"/>
              </p:cNvSpPr>
              <p:nvPr/>
            </p:nvSpPr>
            <p:spPr bwMode="auto">
              <a:xfrm>
                <a:off x="2012951" y="4392613"/>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0" name="Explosion 1 105"/>
              <p:cNvSpPr>
                <a:spLocks noChangeArrowheads="1"/>
              </p:cNvSpPr>
              <p:nvPr/>
            </p:nvSpPr>
            <p:spPr bwMode="auto">
              <a:xfrm>
                <a:off x="2130426" y="4318001"/>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1" name="Explosion 1 106"/>
              <p:cNvSpPr>
                <a:spLocks noChangeArrowheads="1"/>
              </p:cNvSpPr>
              <p:nvPr/>
            </p:nvSpPr>
            <p:spPr bwMode="auto">
              <a:xfrm>
                <a:off x="2281238" y="4371976"/>
                <a:ext cx="93662"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2" name="Explosion 1 107"/>
              <p:cNvSpPr>
                <a:spLocks noChangeArrowheads="1"/>
              </p:cNvSpPr>
              <p:nvPr/>
            </p:nvSpPr>
            <p:spPr bwMode="auto">
              <a:xfrm>
                <a:off x="2189163" y="3727451"/>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3" name="Explosion 1 108"/>
              <p:cNvSpPr>
                <a:spLocks noChangeArrowheads="1"/>
              </p:cNvSpPr>
              <p:nvPr/>
            </p:nvSpPr>
            <p:spPr bwMode="auto">
              <a:xfrm>
                <a:off x="2157413" y="3921126"/>
                <a:ext cx="93662"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4" name="Explosion 1 109"/>
              <p:cNvSpPr>
                <a:spLocks noChangeArrowheads="1"/>
              </p:cNvSpPr>
              <p:nvPr/>
            </p:nvSpPr>
            <p:spPr bwMode="auto">
              <a:xfrm>
                <a:off x="2243138" y="3946526"/>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5" name="Explosion 1 110"/>
              <p:cNvSpPr>
                <a:spLocks noChangeArrowheads="1"/>
              </p:cNvSpPr>
              <p:nvPr/>
            </p:nvSpPr>
            <p:spPr bwMode="auto">
              <a:xfrm>
                <a:off x="2119313" y="4011613"/>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6" name="Explosion 1 111"/>
              <p:cNvSpPr>
                <a:spLocks noChangeArrowheads="1"/>
              </p:cNvSpPr>
              <p:nvPr/>
            </p:nvSpPr>
            <p:spPr bwMode="auto">
              <a:xfrm>
                <a:off x="2114551" y="4086226"/>
                <a:ext cx="93663"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7" name="Explosion 1 112"/>
              <p:cNvSpPr>
                <a:spLocks noChangeArrowheads="1"/>
              </p:cNvSpPr>
              <p:nvPr/>
            </p:nvSpPr>
            <p:spPr bwMode="auto">
              <a:xfrm>
                <a:off x="2316163" y="4999038"/>
                <a:ext cx="93662"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8" name="Explosion 1 113"/>
              <p:cNvSpPr>
                <a:spLocks noChangeArrowheads="1"/>
              </p:cNvSpPr>
              <p:nvPr/>
            </p:nvSpPr>
            <p:spPr bwMode="auto">
              <a:xfrm>
                <a:off x="2473326" y="5070476"/>
                <a:ext cx="93663"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59" name="Explosion 1 114"/>
              <p:cNvSpPr>
                <a:spLocks noChangeArrowheads="1"/>
              </p:cNvSpPr>
              <p:nvPr/>
            </p:nvSpPr>
            <p:spPr bwMode="auto">
              <a:xfrm>
                <a:off x="2365376" y="4633913"/>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0" name="Explosion 1 115"/>
              <p:cNvSpPr>
                <a:spLocks noChangeArrowheads="1"/>
              </p:cNvSpPr>
              <p:nvPr/>
            </p:nvSpPr>
            <p:spPr bwMode="auto">
              <a:xfrm>
                <a:off x="2451101" y="4951414"/>
                <a:ext cx="92075"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1" name="Explosion 1 116"/>
              <p:cNvSpPr>
                <a:spLocks noChangeArrowheads="1"/>
              </p:cNvSpPr>
              <p:nvPr/>
            </p:nvSpPr>
            <p:spPr bwMode="auto">
              <a:xfrm>
                <a:off x="2536826" y="5240338"/>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2" name="Explosion 1 117"/>
              <p:cNvSpPr>
                <a:spLocks noChangeArrowheads="1"/>
              </p:cNvSpPr>
              <p:nvPr/>
            </p:nvSpPr>
            <p:spPr bwMode="auto">
              <a:xfrm>
                <a:off x="2192338" y="5213351"/>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3" name="Explosion 1 118"/>
              <p:cNvSpPr>
                <a:spLocks noChangeArrowheads="1"/>
              </p:cNvSpPr>
              <p:nvPr/>
            </p:nvSpPr>
            <p:spPr bwMode="auto">
              <a:xfrm>
                <a:off x="2311401" y="5138738"/>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4" name="Explosion 1 119"/>
              <p:cNvSpPr>
                <a:spLocks noChangeArrowheads="1"/>
              </p:cNvSpPr>
              <p:nvPr/>
            </p:nvSpPr>
            <p:spPr bwMode="auto">
              <a:xfrm>
                <a:off x="2460626" y="5192713"/>
                <a:ext cx="93663"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5" name="Explosion 1 120"/>
              <p:cNvSpPr>
                <a:spLocks noChangeArrowheads="1"/>
              </p:cNvSpPr>
              <p:nvPr/>
            </p:nvSpPr>
            <p:spPr bwMode="auto">
              <a:xfrm>
                <a:off x="2386013" y="4451351"/>
                <a:ext cx="93662"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6" name="Explosion 1 121"/>
              <p:cNvSpPr>
                <a:spLocks noChangeArrowheads="1"/>
              </p:cNvSpPr>
              <p:nvPr/>
            </p:nvSpPr>
            <p:spPr bwMode="auto">
              <a:xfrm>
                <a:off x="2424114" y="4579938"/>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7" name="Explosion 1 122"/>
              <p:cNvSpPr>
                <a:spLocks noChangeArrowheads="1"/>
              </p:cNvSpPr>
              <p:nvPr/>
            </p:nvSpPr>
            <p:spPr bwMode="auto">
              <a:xfrm>
                <a:off x="2338389" y="4741864"/>
                <a:ext cx="92075"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8" name="Explosion 1 123"/>
              <p:cNvSpPr>
                <a:spLocks noChangeArrowheads="1"/>
              </p:cNvSpPr>
              <p:nvPr/>
            </p:nvSpPr>
            <p:spPr bwMode="auto">
              <a:xfrm>
                <a:off x="2424114" y="4767263"/>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69" name="Explosion 1 124"/>
              <p:cNvSpPr>
                <a:spLocks noChangeArrowheads="1"/>
              </p:cNvSpPr>
              <p:nvPr/>
            </p:nvSpPr>
            <p:spPr bwMode="auto">
              <a:xfrm>
                <a:off x="2300288" y="4832351"/>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0" name="Explosion 1 125"/>
              <p:cNvSpPr>
                <a:spLocks noChangeArrowheads="1"/>
              </p:cNvSpPr>
              <p:nvPr/>
            </p:nvSpPr>
            <p:spPr bwMode="auto">
              <a:xfrm>
                <a:off x="2293938" y="4908551"/>
                <a:ext cx="93662"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1" name="Explosion 1 126"/>
              <p:cNvSpPr>
                <a:spLocks noChangeArrowheads="1"/>
              </p:cNvSpPr>
              <p:nvPr/>
            </p:nvSpPr>
            <p:spPr bwMode="auto">
              <a:xfrm>
                <a:off x="744538" y="3857626"/>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2" name="Explosion 1 127"/>
              <p:cNvSpPr>
                <a:spLocks noChangeArrowheads="1"/>
              </p:cNvSpPr>
              <p:nvPr/>
            </p:nvSpPr>
            <p:spPr bwMode="auto">
              <a:xfrm>
                <a:off x="565151" y="4562476"/>
                <a:ext cx="93663"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3" name="Explosion 1 128"/>
              <p:cNvSpPr>
                <a:spLocks noChangeArrowheads="1"/>
              </p:cNvSpPr>
              <p:nvPr/>
            </p:nvSpPr>
            <p:spPr bwMode="auto">
              <a:xfrm>
                <a:off x="449264" y="5021263"/>
                <a:ext cx="92075" cy="93662"/>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4" name="Explosion 1 129"/>
              <p:cNvSpPr>
                <a:spLocks noChangeArrowheads="1"/>
              </p:cNvSpPr>
              <p:nvPr/>
            </p:nvSpPr>
            <p:spPr bwMode="auto">
              <a:xfrm>
                <a:off x="925513" y="4216401"/>
                <a:ext cx="93662" cy="93663"/>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5" name="Explosion 1 130"/>
              <p:cNvSpPr>
                <a:spLocks noChangeArrowheads="1"/>
              </p:cNvSpPr>
              <p:nvPr/>
            </p:nvSpPr>
            <p:spPr bwMode="auto">
              <a:xfrm>
                <a:off x="714376" y="4025901"/>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6" name="Explosion 1 131"/>
              <p:cNvSpPr>
                <a:spLocks noChangeArrowheads="1"/>
              </p:cNvSpPr>
              <p:nvPr/>
            </p:nvSpPr>
            <p:spPr bwMode="auto">
              <a:xfrm>
                <a:off x="700089" y="4114801"/>
                <a:ext cx="92075"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77" name="Explosion 1 132"/>
              <p:cNvSpPr>
                <a:spLocks noChangeArrowheads="1"/>
              </p:cNvSpPr>
              <p:nvPr/>
            </p:nvSpPr>
            <p:spPr bwMode="auto">
              <a:xfrm>
                <a:off x="850901" y="4168776"/>
                <a:ext cx="92075"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278" name="Group 133"/>
              <p:cNvGrpSpPr>
                <a:grpSpLocks/>
              </p:cNvGrpSpPr>
              <p:nvPr/>
            </p:nvGrpSpPr>
            <p:grpSpPr bwMode="auto">
              <a:xfrm>
                <a:off x="1970089" y="4630739"/>
                <a:ext cx="307975" cy="619125"/>
                <a:chOff x="21180227" y="30118050"/>
                <a:chExt cx="1125488" cy="2264063"/>
              </a:xfrm>
            </p:grpSpPr>
            <p:sp>
              <p:nvSpPr>
                <p:cNvPr id="279" name="Explosion 1 149"/>
                <p:cNvSpPr>
                  <a:spLocks noChangeArrowheads="1"/>
                </p:cNvSpPr>
                <p:nvPr/>
              </p:nvSpPr>
              <p:spPr bwMode="auto">
                <a:xfrm>
                  <a:off x="21886929" y="3027509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0" name="Explosion 1 150"/>
                <p:cNvSpPr>
                  <a:spLocks noChangeArrowheads="1"/>
                </p:cNvSpPr>
                <p:nvPr/>
              </p:nvSpPr>
              <p:spPr bwMode="auto">
                <a:xfrm>
                  <a:off x="21965451" y="3137440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1" name="Explosion 1 151"/>
                <p:cNvSpPr>
                  <a:spLocks noChangeArrowheads="1"/>
                </p:cNvSpPr>
                <p:nvPr/>
              </p:nvSpPr>
              <p:spPr bwMode="auto">
                <a:xfrm>
                  <a:off x="21749515" y="32041849"/>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2" name="Explosion 1 152"/>
                <p:cNvSpPr>
                  <a:spLocks noChangeArrowheads="1"/>
                </p:cNvSpPr>
                <p:nvPr/>
              </p:nvSpPr>
              <p:spPr bwMode="auto">
                <a:xfrm>
                  <a:off x="21278380" y="3153145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3" name="Explosion 1 153"/>
                <p:cNvSpPr>
                  <a:spLocks noChangeArrowheads="1"/>
                </p:cNvSpPr>
                <p:nvPr/>
              </p:nvSpPr>
              <p:spPr bwMode="auto">
                <a:xfrm>
                  <a:off x="21494317" y="30118050"/>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4" name="Explosion 1 154"/>
                <p:cNvSpPr>
                  <a:spLocks noChangeArrowheads="1"/>
                </p:cNvSpPr>
                <p:nvPr/>
              </p:nvSpPr>
              <p:spPr bwMode="auto">
                <a:xfrm>
                  <a:off x="21356903" y="3086401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5" name="Explosion 1 155"/>
                <p:cNvSpPr>
                  <a:spLocks noChangeArrowheads="1"/>
                </p:cNvSpPr>
                <p:nvPr/>
              </p:nvSpPr>
              <p:spPr bwMode="auto">
                <a:xfrm>
                  <a:off x="21651362" y="30981796"/>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6" name="Explosion 1 156"/>
                <p:cNvSpPr>
                  <a:spLocks noChangeArrowheads="1"/>
                </p:cNvSpPr>
                <p:nvPr/>
              </p:nvSpPr>
              <p:spPr bwMode="auto">
                <a:xfrm>
                  <a:off x="21494317" y="31335147"/>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7" name="Explosion 1 157"/>
                <p:cNvSpPr>
                  <a:spLocks noChangeArrowheads="1"/>
                </p:cNvSpPr>
                <p:nvPr/>
              </p:nvSpPr>
              <p:spPr bwMode="auto">
                <a:xfrm>
                  <a:off x="21180227" y="3192406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88" name="Explosion 1 158"/>
                <p:cNvSpPr>
                  <a:spLocks noChangeArrowheads="1"/>
                </p:cNvSpPr>
                <p:nvPr/>
              </p:nvSpPr>
              <p:spPr bwMode="auto">
                <a:xfrm>
                  <a:off x="21494317" y="3202221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sp>
            <p:nvSpPr>
              <p:cNvPr id="289" name="Explosion 1 134"/>
              <p:cNvSpPr>
                <a:spLocks noChangeArrowheads="1"/>
              </p:cNvSpPr>
              <p:nvPr/>
            </p:nvSpPr>
            <p:spPr bwMode="auto">
              <a:xfrm>
                <a:off x="838201" y="4441826"/>
                <a:ext cx="92075"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0" name="Explosion 1 135"/>
              <p:cNvSpPr>
                <a:spLocks noChangeArrowheads="1"/>
              </p:cNvSpPr>
              <p:nvPr/>
            </p:nvSpPr>
            <p:spPr bwMode="auto">
              <a:xfrm>
                <a:off x="762001" y="3735389"/>
                <a:ext cx="93663" cy="92075"/>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nvGrpSpPr>
              <p:cNvPr id="291" name="Group 136"/>
              <p:cNvGrpSpPr>
                <a:grpSpLocks/>
              </p:cNvGrpSpPr>
              <p:nvPr/>
            </p:nvGrpSpPr>
            <p:grpSpPr bwMode="auto">
              <a:xfrm>
                <a:off x="788989" y="4692651"/>
                <a:ext cx="307975" cy="619125"/>
                <a:chOff x="21180227" y="30118050"/>
                <a:chExt cx="1125488" cy="2264063"/>
              </a:xfrm>
            </p:grpSpPr>
            <p:sp>
              <p:nvSpPr>
                <p:cNvPr id="292" name="Explosion 1 139"/>
                <p:cNvSpPr>
                  <a:spLocks noChangeArrowheads="1"/>
                </p:cNvSpPr>
                <p:nvPr/>
              </p:nvSpPr>
              <p:spPr bwMode="auto">
                <a:xfrm>
                  <a:off x="21886929" y="3027509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3" name="Explosion 1 140"/>
                <p:cNvSpPr>
                  <a:spLocks noChangeArrowheads="1"/>
                </p:cNvSpPr>
                <p:nvPr/>
              </p:nvSpPr>
              <p:spPr bwMode="auto">
                <a:xfrm>
                  <a:off x="21965451" y="3137440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4" name="Explosion 1 141"/>
                <p:cNvSpPr>
                  <a:spLocks noChangeArrowheads="1"/>
                </p:cNvSpPr>
                <p:nvPr/>
              </p:nvSpPr>
              <p:spPr bwMode="auto">
                <a:xfrm>
                  <a:off x="21749515" y="32041849"/>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5" name="Explosion 1 142"/>
                <p:cNvSpPr>
                  <a:spLocks noChangeArrowheads="1"/>
                </p:cNvSpPr>
                <p:nvPr/>
              </p:nvSpPr>
              <p:spPr bwMode="auto">
                <a:xfrm>
                  <a:off x="21278380" y="3153145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6" name="Explosion 1 143"/>
                <p:cNvSpPr>
                  <a:spLocks noChangeArrowheads="1"/>
                </p:cNvSpPr>
                <p:nvPr/>
              </p:nvSpPr>
              <p:spPr bwMode="auto">
                <a:xfrm>
                  <a:off x="21494317" y="30118050"/>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7" name="Explosion 1 144"/>
                <p:cNvSpPr>
                  <a:spLocks noChangeArrowheads="1"/>
                </p:cNvSpPr>
                <p:nvPr/>
              </p:nvSpPr>
              <p:spPr bwMode="auto">
                <a:xfrm>
                  <a:off x="21356903" y="30864013"/>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8" name="Explosion 1 145"/>
                <p:cNvSpPr>
                  <a:spLocks noChangeArrowheads="1"/>
                </p:cNvSpPr>
                <p:nvPr/>
              </p:nvSpPr>
              <p:spPr bwMode="auto">
                <a:xfrm>
                  <a:off x="21651362" y="30981796"/>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299" name="Explosion 1 146"/>
                <p:cNvSpPr>
                  <a:spLocks noChangeArrowheads="1"/>
                </p:cNvSpPr>
                <p:nvPr/>
              </p:nvSpPr>
              <p:spPr bwMode="auto">
                <a:xfrm>
                  <a:off x="21494317" y="31335147"/>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00" name="Explosion 1 147"/>
                <p:cNvSpPr>
                  <a:spLocks noChangeArrowheads="1"/>
                </p:cNvSpPr>
                <p:nvPr/>
              </p:nvSpPr>
              <p:spPr bwMode="auto">
                <a:xfrm>
                  <a:off x="21180227" y="31924065"/>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sp>
              <p:nvSpPr>
                <p:cNvPr id="301" name="Explosion 1 148"/>
                <p:cNvSpPr>
                  <a:spLocks noChangeArrowheads="1"/>
                </p:cNvSpPr>
                <p:nvPr/>
              </p:nvSpPr>
              <p:spPr bwMode="auto">
                <a:xfrm>
                  <a:off x="21494317" y="32022218"/>
                  <a:ext cx="340264" cy="340264"/>
                </a:xfrm>
                <a:prstGeom prst="irregularSeal1">
                  <a:avLst/>
                </a:prstGeom>
                <a:solidFill>
                  <a:srgbClr val="C5683B"/>
                </a:solidFill>
                <a:ln w="9525">
                  <a:noFill/>
                  <a:miter lim="800000"/>
                  <a:headEnd/>
                  <a:tailEnd/>
                </a:ln>
              </p:spPr>
              <p:txBody>
                <a:bodyPr lIns="0" tIns="0" rIns="0" bIns="0"/>
                <a:lstStyle/>
                <a:p>
                  <a:pPr marL="0" marR="0" lvl="0" indent="0" algn="l" defTabSz="4702175" rtl="0" eaLnBrk="1" fontAlgn="base" latinLnBrk="0" hangingPunct="1">
                    <a:lnSpc>
                      <a:spcPct val="100000"/>
                    </a:lnSpc>
                    <a:spcBef>
                      <a:spcPct val="0"/>
                    </a:spcBef>
                    <a:spcAft>
                      <a:spcPct val="0"/>
                    </a:spcAft>
                    <a:buClrTx/>
                    <a:buSzTx/>
                    <a:buFontTx/>
                    <a:buNone/>
                    <a:tabLst/>
                    <a:defRPr/>
                  </a:pPr>
                  <a:endParaRPr kumimoji="0" lang="en-CA" sz="1200" b="1" i="0" u="none" strike="noStrike" kern="1200" cap="none" spc="0" normalizeH="0" baseline="0" noProof="0">
                    <a:ln>
                      <a:noFill/>
                    </a:ln>
                    <a:solidFill>
                      <a:prstClr val="black"/>
                    </a:solidFill>
                    <a:effectLst/>
                    <a:uLnTx/>
                    <a:uFillTx/>
                    <a:latin typeface="Verdana" pitchFamily="34" charset="0"/>
                    <a:ea typeface="+mn-ea"/>
                    <a:cs typeface="+mn-cs"/>
                  </a:endParaRPr>
                </a:p>
              </p:txBody>
            </p:sp>
          </p:grpSp>
          <p:cxnSp>
            <p:nvCxnSpPr>
              <p:cNvPr id="302" name="Straight Arrow Connector 137"/>
              <p:cNvCxnSpPr>
                <a:cxnSpLocks noChangeShapeType="1"/>
              </p:cNvCxnSpPr>
              <p:nvPr/>
            </p:nvCxnSpPr>
            <p:spPr bwMode="auto">
              <a:xfrm flipH="1">
                <a:off x="2016126" y="3962400"/>
                <a:ext cx="727075" cy="0"/>
              </a:xfrm>
              <a:prstGeom prst="straightConnector1">
                <a:avLst/>
              </a:prstGeom>
              <a:noFill/>
              <a:ln w="57150" algn="ctr">
                <a:solidFill>
                  <a:schemeClr val="tx1"/>
                </a:solidFill>
                <a:round/>
                <a:headEnd/>
                <a:tailEnd type="triangle" w="med" len="med"/>
              </a:ln>
            </p:spPr>
          </p:cxnSp>
          <p:sp>
            <p:nvSpPr>
              <p:cNvPr id="303" name="TextBox 11"/>
              <p:cNvSpPr txBox="1">
                <a:spLocks noChangeArrowheads="1"/>
              </p:cNvSpPr>
              <p:nvPr/>
            </p:nvSpPr>
            <p:spPr bwMode="auto">
              <a:xfrm>
                <a:off x="1019176" y="4137025"/>
                <a:ext cx="962025" cy="461665"/>
              </a:xfrm>
              <a:prstGeom prst="rect">
                <a:avLst/>
              </a:prstGeom>
              <a:noFill/>
              <a:ln w="9525">
                <a:noFill/>
                <a:miter lim="800000"/>
                <a:headEnd/>
                <a:tailEnd/>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dirty="0" err="1" smtClean="0">
                    <a:ln>
                      <a:noFill/>
                    </a:ln>
                    <a:solidFill>
                      <a:prstClr val="white"/>
                    </a:solidFill>
                    <a:effectLst/>
                    <a:uLnTx/>
                    <a:uFillTx/>
                    <a:latin typeface="Verdana" pitchFamily="34" charset="0"/>
                    <a:ea typeface="+mn-ea"/>
                    <a:cs typeface="+mn-cs"/>
                  </a:rPr>
                  <a:t>HiPo</a:t>
                </a:r>
                <a:r>
                  <a:rPr kumimoji="0" lang="en-US" sz="1200" b="1" i="0" u="none" strike="noStrike" kern="1200" cap="none" spc="0" normalizeH="0" baseline="0" noProof="0" dirty="0" smtClean="0">
                    <a:ln>
                      <a:noFill/>
                    </a:ln>
                    <a:solidFill>
                      <a:prstClr val="white"/>
                    </a:solidFill>
                    <a:effectLst/>
                    <a:uLnTx/>
                    <a:uFillTx/>
                    <a:latin typeface="Verdana" pitchFamily="34" charset="0"/>
                    <a:ea typeface="+mn-ea"/>
                    <a:cs typeface="+mn-cs"/>
                  </a:rPr>
                  <a:t> </a:t>
                </a:r>
                <a:r>
                  <a:rPr kumimoji="0" lang="en-US" sz="1200" b="1" i="0" u="none" strike="noStrike" kern="1200" cap="none" spc="0" normalizeH="0" baseline="0" noProof="0" dirty="0">
                    <a:ln>
                      <a:noFill/>
                    </a:ln>
                    <a:solidFill>
                      <a:prstClr val="white"/>
                    </a:solidFill>
                    <a:effectLst/>
                    <a:uLnTx/>
                    <a:uFillTx/>
                    <a:latin typeface="Verdana" pitchFamily="34" charset="0"/>
                    <a:ea typeface="+mn-ea"/>
                    <a:cs typeface="+mn-cs"/>
                  </a:rPr>
                  <a:t>incidents</a:t>
                </a:r>
                <a:endParaRPr kumimoji="0" lang="en-CA" sz="1200" b="1" i="0" u="none" strike="noStrike" kern="1200" cap="none" spc="0" normalizeH="0" baseline="0" noProof="0" dirty="0">
                  <a:ln>
                    <a:noFill/>
                  </a:ln>
                  <a:solidFill>
                    <a:prstClr val="white"/>
                  </a:solidFill>
                  <a:effectLst/>
                  <a:uLnTx/>
                  <a:uFillTx/>
                  <a:latin typeface="Verdana" pitchFamily="34" charset="0"/>
                  <a:ea typeface="+mn-ea"/>
                  <a:cs typeface="+mn-cs"/>
                </a:endParaRPr>
              </a:p>
            </p:txBody>
          </p:sp>
        </p:grpSp>
        <p:cxnSp>
          <p:nvCxnSpPr>
            <p:cNvPr id="304" name="Straight Arrow Connector 137"/>
            <p:cNvCxnSpPr>
              <a:cxnSpLocks noChangeShapeType="1"/>
            </p:cNvCxnSpPr>
            <p:nvPr/>
          </p:nvCxnSpPr>
          <p:spPr bwMode="auto">
            <a:xfrm flipH="1">
              <a:off x="2062548" y="2240890"/>
              <a:ext cx="727075" cy="0"/>
            </a:xfrm>
            <a:prstGeom prst="straightConnector1">
              <a:avLst/>
            </a:prstGeom>
            <a:noFill/>
            <a:ln w="57150" algn="ctr">
              <a:solidFill>
                <a:schemeClr val="tx1"/>
              </a:solidFill>
              <a:round/>
              <a:headEnd/>
              <a:tailEnd type="triangle" w="med" len="med"/>
            </a:ln>
          </p:spPr>
        </p:cxnSp>
        <p:pic>
          <p:nvPicPr>
            <p:cNvPr id="2" name="Picture 1"/>
            <p:cNvPicPr preferRelativeResize="0">
              <a:picLocks noChangeAspect="1"/>
            </p:cNvPicPr>
            <p:nvPr/>
          </p:nvPicPr>
          <p:blipFill>
            <a:blip r:embed="rId3"/>
            <a:stretch>
              <a:fillRect/>
            </a:stretch>
          </p:blipFill>
          <p:spPr>
            <a:xfrm>
              <a:off x="4605298" y="1605076"/>
              <a:ext cx="4459567" cy="4320000"/>
            </a:xfrm>
            <a:prstGeom prst="rect">
              <a:avLst/>
            </a:prstGeom>
          </p:spPr>
        </p:pic>
      </p:grpSp>
    </p:spTree>
    <p:extLst>
      <p:ext uri="{BB962C8B-B14F-4D97-AF65-F5344CB8AC3E}">
        <p14:creationId xmlns:p14="http://schemas.microsoft.com/office/powerpoint/2010/main" val="1537199908"/>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Incident Model and the “Diamond Within the Triangle”:</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 subset of the incident triangle data – those critical practices and conditions that are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substandard, and near miss events – has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potential for a more severe outcomes i.e. “High Potential Events” for both occupational safety and technical safety.</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demands the attention of the organization to: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Efficiently prioritize issues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allocate limited resources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address deficiencies in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conditions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practices with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higher-than-acceptable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risk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levels</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Influence the culture of an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organization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by directing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focused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activities on key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metrics i.e. the “</a:t>
            </a:r>
            <a:r>
              <a:rPr lang="en-US" altLang="en-US" sz="2000"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events.</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err="1" smtClean="0">
                <a:solidFill>
                  <a:schemeClr val="accent2"/>
                </a:solidFill>
                <a:latin typeface="Arial" panose="020B0604020202020204" pitchFamily="34" charset="0"/>
                <a:ea typeface="+mj-ea"/>
                <a:cs typeface="Arial" panose="020B0604020202020204" pitchFamily="34" charset="0"/>
              </a:rPr>
              <a:t>HiPo</a:t>
            </a:r>
            <a:r>
              <a:rPr lang="en-US" altLang="en-US" sz="2400" b="0" dirty="0" smtClean="0">
                <a:solidFill>
                  <a:schemeClr val="accent2"/>
                </a:solidFill>
                <a:latin typeface="Arial" panose="020B0604020202020204" pitchFamily="34" charset="0"/>
                <a:ea typeface="+mj-ea"/>
                <a:cs typeface="Arial" panose="020B0604020202020204" pitchFamily="34" charset="0"/>
              </a:rPr>
              <a:t> Model - “A Diamond Within The Triangle”: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10" name="Picture 3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0473" y="2966104"/>
            <a:ext cx="4494927" cy="3053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9418436"/>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Analyse the data to “find the diamond”:</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By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examining each layer in the incident triangle for potential serious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 fatalities</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we develop the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“diamond”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within the triangle</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Common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characteristics of “diamond” incidents: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832050" lvl="2"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Unusual and non-routine work</a:t>
            </a:r>
          </a:p>
          <a:p>
            <a:pPr marL="832050" lvl="2"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Sources of high energy are present</a:t>
            </a:r>
          </a:p>
          <a:p>
            <a:pPr marL="832050" lvl="2"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a:t>
            </a:r>
          </a:p>
          <a:p>
            <a:pPr marL="832050" lvl="2" indent="-432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(Sub) Contractors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Then we can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prioritize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our efforts to address the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incidents with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highest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severe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consequences!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a:t>
            </a:r>
            <a:r>
              <a:rPr lang="en-US" altLang="en-US" sz="2400" b="0" dirty="0" err="1" smtClean="0">
                <a:solidFill>
                  <a:schemeClr val="accent2"/>
                </a:solidFill>
                <a:latin typeface="Arial" panose="020B0604020202020204" pitchFamily="34" charset="0"/>
                <a:ea typeface="+mj-ea"/>
                <a:cs typeface="Arial" panose="020B0604020202020204" pitchFamily="34" charset="0"/>
              </a:rPr>
              <a:t>HiPo</a:t>
            </a:r>
            <a:r>
              <a:rPr lang="en-US" altLang="en-US" sz="2400" b="0" dirty="0" smtClean="0">
                <a:solidFill>
                  <a:schemeClr val="accent2"/>
                </a:solidFill>
                <a:latin typeface="Arial" panose="020B0604020202020204" pitchFamily="34" charset="0"/>
                <a:ea typeface="+mj-ea"/>
                <a:cs typeface="Arial" panose="020B0604020202020204" pitchFamily="34" charset="0"/>
              </a:rPr>
              <a:t> Model” - “A Diamond Within The Triangle”: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7" name="Picture 3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0473" y="2966104"/>
            <a:ext cx="4494927" cy="30536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2562810"/>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2"/>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 Sub-standard </a:t>
            </a:r>
            <a:r>
              <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Conditions </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&amp; Practices for </a:t>
            </a:r>
            <a:r>
              <a:rPr lang="en-US" altLang="en-US" sz="24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Events:</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2"/>
          </a:solidFill>
          <a:ln>
            <a:solidFill>
              <a:srgbClr val="0000CC"/>
            </a:solidFill>
          </a:ln>
        </p:spPr>
        <p:txBody>
          <a:bodyPr wrap="square">
            <a:noAutofit/>
          </a:bodyPr>
          <a:lstStyle/>
          <a:p>
            <a:pPr>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Which of these comparative situations would you address first based on consequence, especially when likelihood is similar?</a:t>
            </a:r>
          </a:p>
          <a:p>
            <a:pPr>
              <a:spcBef>
                <a:spcPts val="0"/>
              </a:spcBef>
              <a:spcAft>
                <a:spcPts val="0"/>
              </a:spcAft>
            </a:pPr>
            <a:endPar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  1</a:t>
            </a:r>
            <a:r>
              <a:rPr lang="en-US" sz="2000" baseline="30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st</a:t>
            </a: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Working in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an excavation with no </a:t>
            </a: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shoring:</a:t>
            </a:r>
          </a:p>
          <a:p>
            <a:pPr marL="720000" indent="-360000">
              <a:spcBef>
                <a:spcPts val="0"/>
              </a:spcBef>
              <a:spcAft>
                <a:spcPts val="0"/>
              </a:spcAft>
              <a:buFont typeface="Wingdings" panose="05000000000000000000" pitchFamily="2" charset="2"/>
              <a:buChar char="Ø"/>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engulfment and fatality!</a:t>
            </a:r>
          </a:p>
          <a:p>
            <a:pPr marL="360000">
              <a:spcBef>
                <a:spcPts val="0"/>
              </a:spcBef>
              <a:spcAft>
                <a:spcPts val="0"/>
              </a:spcAft>
            </a:pP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2</a:t>
            </a:r>
            <a:r>
              <a:rPr lang="en-US" sz="2000" b="0" baseline="30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nd</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Walking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by an oil spill on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floor: </a:t>
            </a:r>
          </a:p>
          <a:p>
            <a:pPr marL="72000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worse case injury is a joint injury or fracture</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spcAft>
                <a:spcPts val="0"/>
              </a:spcAft>
            </a:pP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b)  1</a:t>
            </a:r>
            <a:r>
              <a:rPr lang="en-US" sz="2000" baseline="30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st</a:t>
            </a: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Not </a:t>
            </a: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wearing fall </a:t>
            </a:r>
            <a:r>
              <a:rPr lang="en-US" sz="200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protection:</a:t>
            </a:r>
          </a:p>
          <a:p>
            <a:pPr marL="720000" indent="-360000">
              <a:spcBef>
                <a:spcPts val="0"/>
              </a:spcBef>
              <a:spcAft>
                <a:spcPts val="0"/>
              </a:spcAft>
              <a:buFont typeface="Wingdings" panose="05000000000000000000" pitchFamily="2" charset="2"/>
              <a:buChar char="Ø"/>
            </a:pP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permanently disabling injury or fatality </a:t>
            </a:r>
          </a:p>
          <a:p>
            <a:pPr marL="360000">
              <a:spcBef>
                <a:spcPts val="0"/>
              </a:spcBef>
              <a:spcAft>
                <a:spcPts val="0"/>
              </a:spcAft>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2nd: Not wearing eye protection: </a:t>
            </a:r>
          </a:p>
          <a:p>
            <a:pPr marL="72000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infection, minor injury, </a:t>
            </a:r>
            <a:r>
              <a:rPr 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remote likelihood of loss </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of sight</a:t>
            </a:r>
            <a:b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br>
            <a:endPar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a:spcBef>
                <a:spcPts val="0"/>
              </a:spcBef>
              <a:spcAft>
                <a:spcPts val="0"/>
              </a:spcAft>
            </a:pP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 1st: Defective PRV:</a:t>
            </a:r>
          </a:p>
          <a:p>
            <a:pPr marL="720000" indent="-360000">
              <a:spcBef>
                <a:spcPts val="0"/>
              </a:spcBef>
              <a:spcAft>
                <a:spcPts val="0"/>
              </a:spcAft>
              <a:buFont typeface="Wingdings" panose="05000000000000000000" pitchFamily="2" charset="2"/>
              <a:buChar char="Ø"/>
            </a:pPr>
            <a:r>
              <a:rPr lang="en-US" sz="200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over-pressure condition in vessel and rupture </a:t>
            </a:r>
          </a:p>
          <a:p>
            <a:pPr marL="360000">
              <a:spcBef>
                <a:spcPts val="0"/>
              </a:spcBef>
              <a:spcAft>
                <a:spcPts val="0"/>
              </a:spcAft>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2nd: Out-of-</a:t>
            </a:r>
            <a:r>
              <a:rPr lang="en-US" sz="2000" b="0" dirty="0" err="1">
                <a:solidFill>
                  <a:srgbClr val="F8F8F8"/>
                </a:solidFill>
                <a:latin typeface="Arial" panose="020B0604020202020204" pitchFamily="34" charset="0"/>
                <a:ea typeface="ＭＳ Ｐゴシック" panose="020B0600070205080204" pitchFamily="34" charset="-128"/>
                <a:cs typeface="Arial" panose="020B0604020202020204" pitchFamily="34" charset="0"/>
              </a:rPr>
              <a:t>cal</a:t>
            </a: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pressure gauge: </a:t>
            </a:r>
          </a:p>
          <a:p>
            <a:pPr marL="720000" indent="-360000">
              <a:spcBef>
                <a:spcPts val="0"/>
              </a:spcBef>
              <a:spcAft>
                <a:spcPts val="0"/>
              </a:spcAft>
              <a:buFont typeface="Wingdings" panose="05000000000000000000" pitchFamily="2" charset="2"/>
              <a:buChar char="Ø"/>
            </a:pPr>
            <a:r>
              <a:rPr 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inefficient operation</a:t>
            </a: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665335129"/>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Critical Occupational Activities:</a:t>
            </a:r>
          </a:p>
          <a:p>
            <a:pPr marL="432000" lvl="1"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Those few sets of occupational activities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where one error, one mistake, one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-step could result in a serious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(permanent, disabling) injury or </a:t>
            </a:r>
            <a:b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 fatality.</a:t>
            </a:r>
          </a:p>
          <a:p>
            <a:pPr marL="432000" lvl="1" indent="-432000" eaLnBrk="0" hangingPunct="0">
              <a:lnSpc>
                <a:spcPct val="100000"/>
              </a:lnSpc>
              <a:spcBef>
                <a:spcPts val="0"/>
              </a:spcBef>
              <a:buClr>
                <a:srgbClr val="000000"/>
              </a:buClr>
              <a:buSzPct val="100000"/>
              <a:buFont typeface="Wingdings" panose="05000000000000000000" pitchFamily="2" charset="2"/>
              <a:buChar char="Ø"/>
            </a:pP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Life-Saving Rules: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“Life saving rules” are administrative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controls, and go by many different names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e.g. life-essential rules, life-critical standards.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These rules define the critical control measures and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 that must be followed in order to manage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risks to an acceptable level, and to complete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job without any negative impact.</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If there are any deviations from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critical control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measures and practices, the likelihood of a loss incident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increases significantly and is likely to result in a serious injury or fatality.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Deviations cannot be tolerated!</a:t>
            </a:r>
          </a:p>
        </p:txBody>
      </p:sp>
      <p:sp>
        <p:nvSpPr>
          <p:cNvPr id="9" name="Rectangle 2"/>
          <p:cNvSpPr>
            <a:spLocks noChangeArrowheads="1"/>
          </p:cNvSpPr>
          <p:nvPr/>
        </p:nvSpPr>
        <p:spPr bwMode="auto">
          <a:xfrm>
            <a:off x="180000" y="216000"/>
            <a:ext cx="8811600" cy="4698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err="1" smtClean="0">
                <a:solidFill>
                  <a:schemeClr val="accent2"/>
                </a:solidFill>
                <a:latin typeface="Arial" panose="020B0604020202020204" pitchFamily="34" charset="0"/>
                <a:ea typeface="+mj-ea"/>
                <a:cs typeface="Arial" panose="020B0604020202020204" pitchFamily="34" charset="0"/>
              </a:rPr>
              <a:t>HiPo</a:t>
            </a:r>
            <a:r>
              <a:rPr lang="en-US" altLang="en-US" sz="2400" b="0" dirty="0" smtClean="0">
                <a:solidFill>
                  <a:schemeClr val="accent2"/>
                </a:solidFill>
                <a:latin typeface="Arial" panose="020B0604020202020204" pitchFamily="34" charset="0"/>
                <a:ea typeface="+mj-ea"/>
                <a:cs typeface="Arial" panose="020B0604020202020204" pitchFamily="34" charset="0"/>
              </a:rPr>
              <a:t> Critical Occupational Activities Require Life-Saving Rules: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24</a:t>
            </a:fld>
            <a:endParaRPr lang="en-US" altLang="en-US" sz="1200" b="1" i="1" dirty="0">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2" name="Picture 1"/>
          <p:cNvPicPr>
            <a:picLocks noChangeAspect="1"/>
          </p:cNvPicPr>
          <p:nvPr/>
        </p:nvPicPr>
        <p:blipFill>
          <a:blip r:embed="rId3"/>
          <a:stretch>
            <a:fillRect/>
          </a:stretch>
        </p:blipFill>
        <p:spPr>
          <a:xfrm>
            <a:off x="4362124" y="855214"/>
            <a:ext cx="4476203" cy="2994986"/>
          </a:xfrm>
          <a:prstGeom prst="rect">
            <a:avLst/>
          </a:prstGeom>
        </p:spPr>
      </p:pic>
      <p:pic>
        <p:nvPicPr>
          <p:cNvPr id="29" name="Picture 3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0800" y="3970629"/>
            <a:ext cx="2243271"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1605571"/>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2880000"/>
            <a:ext cx="4140000" cy="2952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Risk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Energized Lines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Buried utilities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Collapse/Engulfment</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Flooding</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Worker/Machine Interface</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Access/Egress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Operator Error</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Barriers/Protection</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cs typeface="Arial" panose="020B0604020202020204" pitchFamily="34" charset="0"/>
              </a:rPr>
              <a:t>Critical Occupational </a:t>
            </a:r>
            <a:r>
              <a:rPr lang="en-US" altLang="en-US" sz="2400" b="0" dirty="0" smtClean="0">
                <a:solidFill>
                  <a:schemeClr val="accent2"/>
                </a:solidFill>
                <a:latin typeface="Arial" panose="020B0604020202020204" pitchFamily="34" charset="0"/>
                <a:cs typeface="Arial" panose="020B0604020202020204" pitchFamily="34" charset="0"/>
              </a:rPr>
              <a:t>Activity with </a:t>
            </a:r>
            <a:r>
              <a:rPr lang="en-US" altLang="en-US" sz="2400" b="0" dirty="0" err="1" smtClean="0">
                <a:solidFill>
                  <a:schemeClr val="accent2"/>
                </a:solidFill>
                <a:latin typeface="Arial" panose="020B0604020202020204" pitchFamily="34" charset="0"/>
                <a:cs typeface="Arial" panose="020B0604020202020204" pitchFamily="34" charset="0"/>
              </a:rPr>
              <a:t>HiPo</a:t>
            </a:r>
            <a:r>
              <a:rPr lang="en-US" altLang="en-US" sz="2400" b="0" dirty="0" smtClean="0">
                <a:solidFill>
                  <a:schemeClr val="accent2"/>
                </a:solidFill>
                <a:latin typeface="Arial" panose="020B0604020202020204" pitchFamily="34" charset="0"/>
                <a:cs typeface="Arial" panose="020B0604020202020204" pitchFamily="34" charset="0"/>
              </a:rPr>
              <a:t>: </a:t>
            </a:r>
            <a:r>
              <a:rPr lang="en-US" altLang="en-US" sz="2400" b="0" dirty="0" smtClean="0">
                <a:solidFill>
                  <a:schemeClr val="accent2"/>
                </a:solidFill>
                <a:latin typeface="Arial" panose="020B0604020202020204" pitchFamily="34" charset="0"/>
                <a:ea typeface="+mj-ea"/>
                <a:cs typeface="Arial" panose="020B0604020202020204" pitchFamily="34" charset="0"/>
              </a:rPr>
              <a:t>Excavation Activities</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7" name="Rectangle 24"/>
          <p:cNvSpPr>
            <a:spLocks noChangeArrowheads="1"/>
          </p:cNvSpPr>
          <p:nvPr/>
        </p:nvSpPr>
        <p:spPr bwMode="auto">
          <a:xfrm>
            <a:off x="4699200" y="2880000"/>
            <a:ext cx="4140000" cy="29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latinLnBrk="0" hangingPunct="0">
              <a:spcBef>
                <a:spcPts val="0"/>
              </a:spcBef>
              <a:buClr>
                <a:srgbClr val="000000"/>
              </a:buClr>
              <a:buSzPct val="100000"/>
              <a:tabLst/>
              <a:defRPr/>
            </a:pPr>
            <a:r>
              <a:rPr lang="en-US" altLang="en-US" sz="2000" dirty="0">
                <a:solidFill>
                  <a:srgbClr val="000000"/>
                </a:solidFill>
                <a:ea typeface="ＭＳ Ｐゴシック" panose="020B0600070205080204" pitchFamily="34" charset="-128"/>
                <a:cs typeface="Arial" panose="020B0604020202020204" pitchFamily="34" charset="0"/>
              </a:rPr>
              <a:t>Safeguards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First Call (dial before you dig)</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As built/red line drawings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Excavation procedures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Work site inspections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Task observation program</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Risk Assessments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JSA and pre-task planning</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Training</a:t>
            </a:r>
          </a:p>
        </p:txBody>
      </p:sp>
      <p:grpSp>
        <p:nvGrpSpPr>
          <p:cNvPr id="11" name="Group 5"/>
          <p:cNvGrpSpPr>
            <a:grpSpLocks/>
          </p:cNvGrpSpPr>
          <p:nvPr/>
        </p:nvGrpSpPr>
        <p:grpSpPr bwMode="auto">
          <a:xfrm>
            <a:off x="2438400" y="909637"/>
            <a:ext cx="3306762" cy="2214563"/>
            <a:chOff x="3129" y="709"/>
            <a:chExt cx="1021" cy="2903"/>
          </a:xfrm>
        </p:grpSpPr>
        <p:grpSp>
          <p:nvGrpSpPr>
            <p:cNvPr id="20" name="Group 6"/>
            <p:cNvGrpSpPr>
              <a:grpSpLocks/>
            </p:cNvGrpSpPr>
            <p:nvPr/>
          </p:nvGrpSpPr>
          <p:grpSpPr bwMode="auto">
            <a:xfrm>
              <a:off x="3129" y="709"/>
              <a:ext cx="1021" cy="2903"/>
              <a:chOff x="3129" y="709"/>
              <a:chExt cx="1021" cy="2903"/>
            </a:xfrm>
          </p:grpSpPr>
          <p:grpSp>
            <p:nvGrpSpPr>
              <p:cNvPr id="23" name="Group 7"/>
              <p:cNvGrpSpPr>
                <a:grpSpLocks/>
              </p:cNvGrpSpPr>
              <p:nvPr/>
            </p:nvGrpSpPr>
            <p:grpSpPr bwMode="auto">
              <a:xfrm>
                <a:off x="3129" y="709"/>
                <a:ext cx="1021" cy="2903"/>
                <a:chOff x="3129" y="709"/>
                <a:chExt cx="1021" cy="2903"/>
              </a:xfrm>
            </p:grpSpPr>
            <p:sp>
              <p:nvSpPr>
                <p:cNvPr id="26" name="AutoShape 8"/>
                <p:cNvSpPr>
                  <a:spLocks noChangeArrowheads="1"/>
                </p:cNvSpPr>
                <p:nvPr/>
              </p:nvSpPr>
              <p:spPr bwMode="auto">
                <a:xfrm>
                  <a:off x="3129" y="709"/>
                  <a:ext cx="1020" cy="1156"/>
                </a:xfrm>
                <a:prstGeom prst="triangle">
                  <a:avLst>
                    <a:gd name="adj" fmla="val 50000"/>
                  </a:avLst>
                </a:prstGeom>
                <a:gradFill rotWithShape="1">
                  <a:gsLst>
                    <a:gs pos="0">
                      <a:schemeClr val="bg1"/>
                    </a:gs>
                    <a:gs pos="100000">
                      <a:srgbClr val="CCECFF"/>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AutoShape 9"/>
                <p:cNvSpPr>
                  <a:spLocks noChangeArrowheads="1"/>
                </p:cNvSpPr>
                <p:nvPr/>
              </p:nvSpPr>
              <p:spPr bwMode="auto">
                <a:xfrm rot="10800000">
                  <a:off x="3129" y="1865"/>
                  <a:ext cx="1021" cy="1747"/>
                </a:xfrm>
                <a:prstGeom prst="triangle">
                  <a:avLst>
                    <a:gd name="adj" fmla="val 50000"/>
                  </a:avLst>
                </a:prstGeom>
                <a:gradFill rotWithShape="1">
                  <a:gsLst>
                    <a:gs pos="0">
                      <a:schemeClr val="bg1"/>
                    </a:gs>
                    <a:gs pos="100000">
                      <a:srgbClr val="CCECFF"/>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24" name="Line 10"/>
              <p:cNvSpPr>
                <a:spLocks noChangeShapeType="1"/>
              </p:cNvSpPr>
              <p:nvPr/>
            </p:nvSpPr>
            <p:spPr bwMode="auto">
              <a:xfrm flipH="1">
                <a:off x="3424" y="719"/>
                <a:ext cx="216" cy="11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sp>
            <p:nvSpPr>
              <p:cNvPr id="25" name="Line 11"/>
              <p:cNvSpPr>
                <a:spLocks noChangeShapeType="1"/>
              </p:cNvSpPr>
              <p:nvPr/>
            </p:nvSpPr>
            <p:spPr bwMode="auto">
              <a:xfrm>
                <a:off x="3636" y="713"/>
                <a:ext cx="219"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21" name="Line 12"/>
            <p:cNvSpPr>
              <a:spLocks noChangeShapeType="1"/>
            </p:cNvSpPr>
            <p:nvPr/>
          </p:nvSpPr>
          <p:spPr bwMode="auto">
            <a:xfrm>
              <a:off x="3424" y="1865"/>
              <a:ext cx="219" cy="17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sp>
          <p:nvSpPr>
            <p:cNvPr id="22" name="Line 13"/>
            <p:cNvSpPr>
              <a:spLocks noChangeShapeType="1"/>
            </p:cNvSpPr>
            <p:nvPr/>
          </p:nvSpPr>
          <p:spPr bwMode="auto">
            <a:xfrm flipH="1">
              <a:off x="3637" y="1865"/>
              <a:ext cx="218" cy="17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4" name="Text Box 14"/>
          <p:cNvSpPr txBox="1">
            <a:spLocks noChangeArrowheads="1"/>
          </p:cNvSpPr>
          <p:nvPr/>
        </p:nvSpPr>
        <p:spPr bwMode="auto">
          <a:xfrm>
            <a:off x="3590925" y="1911350"/>
            <a:ext cx="974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rPr>
              <a:t>Confined Space</a:t>
            </a:r>
          </a:p>
        </p:txBody>
      </p:sp>
      <p:sp>
        <p:nvSpPr>
          <p:cNvPr id="15" name="Text Box 15"/>
          <p:cNvSpPr txBox="1">
            <a:spLocks noChangeArrowheads="1"/>
          </p:cNvSpPr>
          <p:nvPr/>
        </p:nvSpPr>
        <p:spPr bwMode="auto">
          <a:xfrm>
            <a:off x="2647950" y="1878012"/>
            <a:ext cx="974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Energy Isolation</a:t>
            </a:r>
          </a:p>
        </p:txBody>
      </p:sp>
      <p:sp>
        <p:nvSpPr>
          <p:cNvPr id="16" name="Text Box 16"/>
          <p:cNvSpPr txBox="1">
            <a:spLocks noChangeArrowheads="1"/>
          </p:cNvSpPr>
          <p:nvPr/>
        </p:nvSpPr>
        <p:spPr bwMode="auto">
          <a:xfrm>
            <a:off x="4592637" y="1893887"/>
            <a:ext cx="9731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mn-cs"/>
              </a:rPr>
              <a:t>Permitting Work</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 name="Text Box 17"/>
          <p:cNvSpPr txBox="1">
            <a:spLocks noChangeArrowheads="1"/>
          </p:cNvSpPr>
          <p:nvPr/>
        </p:nvSpPr>
        <p:spPr bwMode="auto">
          <a:xfrm>
            <a:off x="4416425" y="1435100"/>
            <a:ext cx="974725" cy="27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65000"/>
              </a:lnSpc>
              <a:spcBef>
                <a:spcPct val="50000"/>
              </a:spcBef>
              <a:spcAft>
                <a:spcPct val="0"/>
              </a:spcAft>
              <a:buClrTx/>
              <a:buSzTx/>
              <a:buFontTx/>
              <a:buNone/>
              <a:tabLst/>
              <a:defRPr/>
            </a:pPr>
            <a:r>
              <a:rPr kumimoji="0" lang="en-US" altLang="en-US" sz="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mn-cs"/>
              </a:rPr>
              <a:t>Electrical</a:t>
            </a:r>
            <a:r>
              <a:rPr kumimoji="0" lang="en-US" altLang="en-US" sz="900" b="1" i="0" u="none" strike="noStrike" kern="1200" cap="none" spc="0" normalizeH="0" noProof="0" dirty="0" smtClean="0">
                <a:ln>
                  <a:noFill/>
                </a:ln>
                <a:solidFill>
                  <a:prstClr val="black"/>
                </a:solidFill>
                <a:effectLst/>
                <a:uLnTx/>
                <a:uFillTx/>
                <a:latin typeface="Arial" panose="020B0604020202020204" pitchFamily="34" charset="0"/>
                <a:ea typeface="+mn-ea"/>
                <a:cs typeface="+mn-cs"/>
              </a:rPr>
              <a:t> </a:t>
            </a:r>
            <a:br>
              <a:rPr kumimoji="0" lang="en-US" altLang="en-US" sz="900" b="1" i="0" u="none" strike="noStrike" kern="1200" cap="none" spc="0" normalizeH="0" noProof="0" dirty="0" smtClean="0">
                <a:ln>
                  <a:noFill/>
                </a:ln>
                <a:solidFill>
                  <a:prstClr val="black"/>
                </a:solidFill>
                <a:effectLst/>
                <a:uLnTx/>
                <a:uFillTx/>
                <a:latin typeface="Arial" panose="020B0604020202020204" pitchFamily="34" charset="0"/>
                <a:ea typeface="+mn-ea"/>
                <a:cs typeface="+mn-cs"/>
              </a:rPr>
            </a:br>
            <a:r>
              <a:rPr kumimoji="0" lang="en-US" altLang="en-US" sz="900" b="1" i="0" u="none" strike="noStrike" kern="1200" cap="none" spc="0" normalizeH="0" noProof="0" dirty="0" smtClean="0">
                <a:ln>
                  <a:noFill/>
                </a:ln>
                <a:solidFill>
                  <a:prstClr val="black"/>
                </a:solidFill>
                <a:effectLst/>
                <a:uLnTx/>
                <a:uFillTx/>
                <a:latin typeface="Arial" panose="020B0604020202020204" pitchFamily="34" charset="0"/>
                <a:ea typeface="+mn-ea"/>
                <a:cs typeface="+mn-cs"/>
              </a:rPr>
              <a:t>Work</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8" name="Text Box 18"/>
          <p:cNvSpPr txBox="1">
            <a:spLocks noChangeArrowheads="1"/>
          </p:cNvSpPr>
          <p:nvPr/>
        </p:nvSpPr>
        <p:spPr bwMode="auto">
          <a:xfrm>
            <a:off x="3584575" y="1414462"/>
            <a:ext cx="974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rPr>
              <a:t>Working at Heights</a:t>
            </a:r>
          </a:p>
        </p:txBody>
      </p:sp>
      <p:sp>
        <p:nvSpPr>
          <p:cNvPr id="19" name="Text Box 19"/>
          <p:cNvSpPr txBox="1">
            <a:spLocks noChangeArrowheads="1"/>
          </p:cNvSpPr>
          <p:nvPr/>
        </p:nvSpPr>
        <p:spPr bwMode="auto">
          <a:xfrm>
            <a:off x="2743200" y="1503362"/>
            <a:ext cx="97472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Excavation</a:t>
            </a:r>
          </a:p>
        </p:txBody>
      </p:sp>
      <p:sp>
        <p:nvSpPr>
          <p:cNvPr id="4" name="Oval 3"/>
          <p:cNvSpPr/>
          <p:nvPr/>
        </p:nvSpPr>
        <p:spPr>
          <a:xfrm>
            <a:off x="2647950" y="1066800"/>
            <a:ext cx="1069975" cy="914400"/>
          </a:xfrm>
          <a:prstGeom prst="ellipse">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Excavation:</a:t>
            </a:r>
          </a:p>
        </p:txBody>
      </p:sp>
      <p:sp>
        <p:nvSpPr>
          <p:cNvPr id="29"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30"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220850824"/>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2880000"/>
            <a:ext cx="4140000" cy="34488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Potential Risk </a:t>
            </a: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Exposures</a:t>
            </a:r>
            <a:endParaRPr lang="en-US" altLang="en-US"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Fall to lower level</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Falling (dropped)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Objects</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Improper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Scaffolding</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Defective or improperly worn PPE: Tie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off, lanyards and harnesses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Inadequate Access / Egress</a:t>
            </a: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Worker / Machine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Interface</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Equipment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failure</a:t>
            </a: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a:solidFill>
                  <a:schemeClr val="accent2"/>
                </a:solidFill>
                <a:latin typeface="Arial" panose="020B0604020202020204" pitchFamily="34" charset="0"/>
                <a:ea typeface="+mj-ea"/>
                <a:cs typeface="Arial" panose="020B0604020202020204" pitchFamily="34" charset="0"/>
              </a:rPr>
              <a:t>Critical Occupational Activity with </a:t>
            </a:r>
            <a:r>
              <a:rPr lang="en-US" altLang="en-US" sz="2400" b="0" dirty="0" err="1">
                <a:solidFill>
                  <a:schemeClr val="accent2"/>
                </a:solidFill>
                <a:latin typeface="Arial" panose="020B0604020202020204" pitchFamily="34" charset="0"/>
                <a:ea typeface="+mj-ea"/>
                <a:cs typeface="Arial" panose="020B0604020202020204" pitchFamily="34" charset="0"/>
              </a:rPr>
              <a:t>HiPo</a:t>
            </a:r>
            <a:r>
              <a:rPr lang="en-US" altLang="en-US" sz="2400" b="0" dirty="0">
                <a:solidFill>
                  <a:schemeClr val="accent2"/>
                </a:solidFill>
                <a:latin typeface="Arial" panose="020B0604020202020204" pitchFamily="34" charset="0"/>
                <a:ea typeface="+mj-ea"/>
                <a:cs typeface="Arial" panose="020B0604020202020204" pitchFamily="34" charset="0"/>
              </a:rPr>
              <a:t>: Working </a:t>
            </a:r>
            <a:r>
              <a:rPr lang="en-US" altLang="en-US" sz="2400" b="0" dirty="0" smtClean="0">
                <a:solidFill>
                  <a:schemeClr val="accent2"/>
                </a:solidFill>
                <a:latin typeface="Arial" panose="020B0604020202020204" pitchFamily="34" charset="0"/>
                <a:ea typeface="+mj-ea"/>
                <a:cs typeface="Arial" panose="020B0604020202020204" pitchFamily="34" charset="0"/>
              </a:rPr>
              <a:t>at Height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7" name="Rectangle 24"/>
          <p:cNvSpPr>
            <a:spLocks noChangeArrowheads="1"/>
          </p:cNvSpPr>
          <p:nvPr/>
        </p:nvSpPr>
        <p:spPr bwMode="auto">
          <a:xfrm>
            <a:off x="4699200" y="2880000"/>
            <a:ext cx="4140000" cy="344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eaLnBrk="0" latinLnBrk="0" hangingPunct="0">
              <a:spcBef>
                <a:spcPts val="0"/>
              </a:spcBef>
              <a:buClr>
                <a:srgbClr val="000000"/>
              </a:buClr>
              <a:buSzPct val="100000"/>
              <a:tabLst/>
              <a:defRPr/>
            </a:pPr>
            <a:r>
              <a:rPr lang="en-US" altLang="en-US" sz="2000" dirty="0">
                <a:solidFill>
                  <a:srgbClr val="000000"/>
                </a:solidFill>
                <a:ea typeface="ＭＳ Ｐゴシック" panose="020B0600070205080204" pitchFamily="34" charset="-128"/>
                <a:cs typeface="Arial" panose="020B0604020202020204" pitchFamily="34" charset="0"/>
              </a:rPr>
              <a:t>Safeguards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smtClean="0">
                <a:solidFill>
                  <a:srgbClr val="000000"/>
                </a:solidFill>
                <a:ea typeface="ＭＳ Ｐゴシック" panose="020B0600070205080204" pitchFamily="34" charset="-128"/>
                <a:cs typeface="Arial" panose="020B0604020202020204" pitchFamily="34" charset="0"/>
              </a:rPr>
              <a:t>Working </a:t>
            </a:r>
            <a:r>
              <a:rPr lang="en-US" altLang="en-US" sz="2000" b="0" dirty="0">
                <a:solidFill>
                  <a:srgbClr val="000000"/>
                </a:solidFill>
                <a:ea typeface="ＭＳ Ｐゴシック" panose="020B0600070205080204" pitchFamily="34" charset="-128"/>
                <a:cs typeface="Arial" panose="020B0604020202020204" pitchFamily="34" charset="0"/>
              </a:rPr>
              <a:t>at </a:t>
            </a:r>
            <a:r>
              <a:rPr lang="en-US" altLang="en-US" sz="2000" b="0" dirty="0" smtClean="0">
                <a:solidFill>
                  <a:srgbClr val="000000"/>
                </a:solidFill>
                <a:ea typeface="ＭＳ Ｐゴシック" panose="020B0600070205080204" pitchFamily="34" charset="-128"/>
                <a:cs typeface="Arial" panose="020B0604020202020204" pitchFamily="34" charset="0"/>
              </a:rPr>
              <a:t>Height: policy, program, procedures, checklists</a:t>
            </a:r>
            <a:endParaRPr lang="en-US" altLang="en-US" sz="2000" b="0" dirty="0">
              <a:solidFill>
                <a:srgbClr val="000000"/>
              </a:solidFill>
              <a:ea typeface="ＭＳ Ｐゴシック" panose="020B0600070205080204" pitchFamily="34" charset="-128"/>
              <a:cs typeface="Arial" panose="020B0604020202020204" pitchFamily="34" charset="0"/>
            </a:endParaRP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smtClean="0">
                <a:solidFill>
                  <a:srgbClr val="000000"/>
                </a:solidFill>
                <a:ea typeface="ＭＳ Ｐゴシック" panose="020B0600070205080204" pitchFamily="34" charset="-128"/>
                <a:cs typeface="Arial" panose="020B0604020202020204" pitchFamily="34" charset="0"/>
              </a:rPr>
              <a:t>Physical Barriers (Guardrails)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smtClean="0">
                <a:solidFill>
                  <a:srgbClr val="000000"/>
                </a:solidFill>
                <a:ea typeface="ＭＳ Ｐゴシック" panose="020B0600070205080204" pitchFamily="34" charset="-128"/>
                <a:cs typeface="Arial" panose="020B0604020202020204" pitchFamily="34" charset="0"/>
              </a:rPr>
              <a:t>Housekeeping </a:t>
            </a:r>
            <a:r>
              <a:rPr lang="en-US" altLang="en-US" sz="2000" b="0" dirty="0">
                <a:solidFill>
                  <a:srgbClr val="000000"/>
                </a:solidFill>
                <a:ea typeface="ＭＳ Ｐゴシック" panose="020B0600070205080204" pitchFamily="34" charset="-128"/>
                <a:cs typeface="Arial" panose="020B0604020202020204" pitchFamily="34" charset="0"/>
              </a:rPr>
              <a:t>at Elevations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smtClean="0">
                <a:solidFill>
                  <a:srgbClr val="000000"/>
                </a:solidFill>
                <a:ea typeface="ＭＳ Ｐゴシック" panose="020B0600070205080204" pitchFamily="34" charset="-128"/>
                <a:cs typeface="Arial" panose="020B0604020202020204" pitchFamily="34" charset="0"/>
              </a:rPr>
              <a:t>Work </a:t>
            </a:r>
            <a:r>
              <a:rPr lang="en-US" altLang="en-US" sz="2000" b="0" dirty="0">
                <a:solidFill>
                  <a:srgbClr val="000000"/>
                </a:solidFill>
                <a:ea typeface="ＭＳ Ｐゴシック" panose="020B0600070205080204" pitchFamily="34" charset="-128"/>
                <a:cs typeface="Arial" panose="020B0604020202020204" pitchFamily="34" charset="0"/>
              </a:rPr>
              <a:t>site </a:t>
            </a:r>
            <a:r>
              <a:rPr lang="en-US" altLang="en-US" sz="2000" b="0" dirty="0" smtClean="0">
                <a:solidFill>
                  <a:srgbClr val="000000"/>
                </a:solidFill>
                <a:ea typeface="ＭＳ Ｐゴシック" panose="020B0600070205080204" pitchFamily="34" charset="-128"/>
                <a:cs typeface="Arial" panose="020B0604020202020204" pitchFamily="34" charset="0"/>
              </a:rPr>
              <a:t>inspections &amp; audits</a:t>
            </a:r>
            <a:endParaRPr lang="en-US" altLang="en-US" sz="2000" b="0" dirty="0">
              <a:solidFill>
                <a:srgbClr val="000000"/>
              </a:solidFill>
              <a:ea typeface="ＭＳ Ｐゴシック" panose="020B0600070205080204" pitchFamily="34" charset="-128"/>
              <a:cs typeface="Arial" panose="020B0604020202020204" pitchFamily="34" charset="0"/>
            </a:endParaRP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Task observation program</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smtClean="0">
                <a:solidFill>
                  <a:srgbClr val="000000"/>
                </a:solidFill>
                <a:ea typeface="ＭＳ Ｐゴシック" panose="020B0600070205080204" pitchFamily="34" charset="-128"/>
                <a:cs typeface="Arial" panose="020B0604020202020204" pitchFamily="34" charset="0"/>
              </a:rPr>
              <a:t>Training and Certification</a:t>
            </a:r>
            <a:endParaRPr lang="en-US" altLang="en-US" sz="2000" b="0" dirty="0">
              <a:solidFill>
                <a:srgbClr val="000000"/>
              </a:solidFill>
              <a:ea typeface="ＭＳ Ｐゴシック" panose="020B0600070205080204" pitchFamily="34" charset="-128"/>
              <a:cs typeface="Arial" panose="020B0604020202020204" pitchFamily="34" charset="0"/>
            </a:endParaRP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Risk Assessments</a:t>
            </a:r>
          </a:p>
          <a:p>
            <a:pPr marL="432000" marR="0" lvl="1" indent="-432000" defTabSz="914400" eaLnBrk="0" latinLnBrk="0" hangingPunct="0">
              <a:spcBef>
                <a:spcPts val="0"/>
              </a:spcBef>
              <a:buClr>
                <a:srgbClr val="000000"/>
              </a:buClr>
              <a:buSzPct val="100000"/>
              <a:buFont typeface="Wingdings" panose="05000000000000000000" pitchFamily="2" charset="2"/>
              <a:buChar char="Ø"/>
              <a:tabLst/>
              <a:defRPr/>
            </a:pPr>
            <a:r>
              <a:rPr lang="en-US" altLang="en-US" sz="2000" b="0" dirty="0">
                <a:solidFill>
                  <a:srgbClr val="000000"/>
                </a:solidFill>
                <a:ea typeface="ＭＳ Ｐゴシック" panose="020B0600070205080204" pitchFamily="34" charset="-128"/>
                <a:cs typeface="Arial" panose="020B0604020202020204" pitchFamily="34" charset="0"/>
              </a:rPr>
              <a:t>JSA and </a:t>
            </a:r>
            <a:r>
              <a:rPr lang="en-US" altLang="en-US" sz="2000" b="0" dirty="0" smtClean="0">
                <a:solidFill>
                  <a:srgbClr val="000000"/>
                </a:solidFill>
                <a:ea typeface="ＭＳ Ｐゴシック" panose="020B0600070205080204" pitchFamily="34" charset="-128"/>
                <a:cs typeface="Arial" panose="020B0604020202020204" pitchFamily="34" charset="0"/>
              </a:rPr>
              <a:t>Pre-Job Planning</a:t>
            </a:r>
            <a:endParaRPr lang="en-US" altLang="en-US" sz="2000" b="0" dirty="0">
              <a:solidFill>
                <a:srgbClr val="000000"/>
              </a:solidFill>
              <a:ea typeface="ＭＳ Ｐゴシック" panose="020B0600070205080204" pitchFamily="34" charset="-128"/>
              <a:cs typeface="Arial" panose="020B0604020202020204" pitchFamily="34" charset="0"/>
            </a:endParaRPr>
          </a:p>
        </p:txBody>
      </p:sp>
      <p:grpSp>
        <p:nvGrpSpPr>
          <p:cNvPr id="11" name="Group 5"/>
          <p:cNvGrpSpPr>
            <a:grpSpLocks/>
          </p:cNvGrpSpPr>
          <p:nvPr/>
        </p:nvGrpSpPr>
        <p:grpSpPr bwMode="auto">
          <a:xfrm>
            <a:off x="2438400" y="909637"/>
            <a:ext cx="3306762" cy="2214563"/>
            <a:chOff x="3129" y="709"/>
            <a:chExt cx="1021" cy="2903"/>
          </a:xfrm>
        </p:grpSpPr>
        <p:grpSp>
          <p:nvGrpSpPr>
            <p:cNvPr id="20" name="Group 6"/>
            <p:cNvGrpSpPr>
              <a:grpSpLocks/>
            </p:cNvGrpSpPr>
            <p:nvPr/>
          </p:nvGrpSpPr>
          <p:grpSpPr bwMode="auto">
            <a:xfrm>
              <a:off x="3129" y="709"/>
              <a:ext cx="1021" cy="2903"/>
              <a:chOff x="3129" y="709"/>
              <a:chExt cx="1021" cy="2903"/>
            </a:xfrm>
          </p:grpSpPr>
          <p:grpSp>
            <p:nvGrpSpPr>
              <p:cNvPr id="23" name="Group 7"/>
              <p:cNvGrpSpPr>
                <a:grpSpLocks/>
              </p:cNvGrpSpPr>
              <p:nvPr/>
            </p:nvGrpSpPr>
            <p:grpSpPr bwMode="auto">
              <a:xfrm>
                <a:off x="3129" y="709"/>
                <a:ext cx="1021" cy="2903"/>
                <a:chOff x="3129" y="709"/>
                <a:chExt cx="1021" cy="2903"/>
              </a:xfrm>
            </p:grpSpPr>
            <p:sp>
              <p:nvSpPr>
                <p:cNvPr id="26" name="AutoShape 8"/>
                <p:cNvSpPr>
                  <a:spLocks noChangeArrowheads="1"/>
                </p:cNvSpPr>
                <p:nvPr/>
              </p:nvSpPr>
              <p:spPr bwMode="auto">
                <a:xfrm>
                  <a:off x="3129" y="709"/>
                  <a:ext cx="1020" cy="1156"/>
                </a:xfrm>
                <a:prstGeom prst="triangle">
                  <a:avLst>
                    <a:gd name="adj" fmla="val 50000"/>
                  </a:avLst>
                </a:prstGeom>
                <a:gradFill rotWithShape="1">
                  <a:gsLst>
                    <a:gs pos="0">
                      <a:schemeClr val="bg1"/>
                    </a:gs>
                    <a:gs pos="100000">
                      <a:srgbClr val="CCECFF"/>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7" name="AutoShape 9"/>
                <p:cNvSpPr>
                  <a:spLocks noChangeArrowheads="1"/>
                </p:cNvSpPr>
                <p:nvPr/>
              </p:nvSpPr>
              <p:spPr bwMode="auto">
                <a:xfrm rot="10800000">
                  <a:off x="3129" y="1865"/>
                  <a:ext cx="1021" cy="1747"/>
                </a:xfrm>
                <a:prstGeom prst="triangle">
                  <a:avLst>
                    <a:gd name="adj" fmla="val 50000"/>
                  </a:avLst>
                </a:prstGeom>
                <a:gradFill rotWithShape="1">
                  <a:gsLst>
                    <a:gs pos="0">
                      <a:schemeClr val="bg1"/>
                    </a:gs>
                    <a:gs pos="100000">
                      <a:srgbClr val="CCECFF"/>
                    </a:gs>
                  </a:gsLst>
                  <a:path path="shape">
                    <a:fillToRect l="50000" t="50000" r="50000" b="50000"/>
                  </a:path>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sp>
            <p:nvSpPr>
              <p:cNvPr id="24" name="Line 10"/>
              <p:cNvSpPr>
                <a:spLocks noChangeShapeType="1"/>
              </p:cNvSpPr>
              <p:nvPr/>
            </p:nvSpPr>
            <p:spPr bwMode="auto">
              <a:xfrm flipH="1">
                <a:off x="3424" y="719"/>
                <a:ext cx="216" cy="114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sp>
            <p:nvSpPr>
              <p:cNvPr id="25" name="Line 11"/>
              <p:cNvSpPr>
                <a:spLocks noChangeShapeType="1"/>
              </p:cNvSpPr>
              <p:nvPr/>
            </p:nvSpPr>
            <p:spPr bwMode="auto">
              <a:xfrm>
                <a:off x="3636" y="713"/>
                <a:ext cx="219"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21" name="Line 12"/>
            <p:cNvSpPr>
              <a:spLocks noChangeShapeType="1"/>
            </p:cNvSpPr>
            <p:nvPr/>
          </p:nvSpPr>
          <p:spPr bwMode="auto">
            <a:xfrm>
              <a:off x="3424" y="1865"/>
              <a:ext cx="219" cy="17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sp>
          <p:nvSpPr>
            <p:cNvPr id="22" name="Line 13"/>
            <p:cNvSpPr>
              <a:spLocks noChangeShapeType="1"/>
            </p:cNvSpPr>
            <p:nvPr/>
          </p:nvSpPr>
          <p:spPr bwMode="auto">
            <a:xfrm flipH="1">
              <a:off x="3637" y="1865"/>
              <a:ext cx="218" cy="17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CA" sz="900" b="1" i="0" u="none" strike="noStrike" kern="1200" cap="none" spc="0" normalizeH="0" baseline="0" noProof="0">
                <a:ln>
                  <a:noFill/>
                </a:ln>
                <a:solidFill>
                  <a:prstClr val="black"/>
                </a:solidFill>
                <a:effectLst/>
                <a:uLnTx/>
                <a:uFillTx/>
                <a:latin typeface="Arial" charset="0"/>
                <a:ea typeface="+mn-ea"/>
                <a:cs typeface="+mn-cs"/>
              </a:endParaRPr>
            </a:p>
          </p:txBody>
        </p:sp>
      </p:grpSp>
      <p:sp>
        <p:nvSpPr>
          <p:cNvPr id="14" name="Text Box 14"/>
          <p:cNvSpPr txBox="1">
            <a:spLocks noChangeArrowheads="1"/>
          </p:cNvSpPr>
          <p:nvPr/>
        </p:nvSpPr>
        <p:spPr bwMode="auto">
          <a:xfrm>
            <a:off x="3590925" y="1911350"/>
            <a:ext cx="974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a:ln>
                  <a:noFill/>
                </a:ln>
                <a:solidFill>
                  <a:prstClr val="black"/>
                </a:solidFill>
                <a:effectLst/>
                <a:uLnTx/>
                <a:uFillTx/>
                <a:latin typeface="Arial" panose="020B0604020202020204" pitchFamily="34" charset="0"/>
                <a:ea typeface="+mn-ea"/>
                <a:cs typeface="+mn-cs"/>
              </a:rPr>
              <a:t>Confined Space</a:t>
            </a:r>
          </a:p>
        </p:txBody>
      </p:sp>
      <p:sp>
        <p:nvSpPr>
          <p:cNvPr id="15" name="Text Box 15"/>
          <p:cNvSpPr txBox="1">
            <a:spLocks noChangeArrowheads="1"/>
          </p:cNvSpPr>
          <p:nvPr/>
        </p:nvSpPr>
        <p:spPr bwMode="auto">
          <a:xfrm>
            <a:off x="2647950" y="1878012"/>
            <a:ext cx="974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Energy Isolation</a:t>
            </a:r>
          </a:p>
        </p:txBody>
      </p:sp>
      <p:sp>
        <p:nvSpPr>
          <p:cNvPr id="18" name="Text Box 18"/>
          <p:cNvSpPr txBox="1">
            <a:spLocks noChangeArrowheads="1"/>
          </p:cNvSpPr>
          <p:nvPr/>
        </p:nvSpPr>
        <p:spPr bwMode="auto">
          <a:xfrm>
            <a:off x="3584575" y="1414462"/>
            <a:ext cx="97472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Working at </a:t>
            </a:r>
            <a:r>
              <a:rPr kumimoji="0" lang="en-US" altLang="en-US" sz="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mn-cs"/>
              </a:rPr>
              <a:t>Height</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 name="Text Box 19"/>
          <p:cNvSpPr txBox="1">
            <a:spLocks noChangeArrowheads="1"/>
          </p:cNvSpPr>
          <p:nvPr/>
        </p:nvSpPr>
        <p:spPr bwMode="auto">
          <a:xfrm>
            <a:off x="2743200" y="1503362"/>
            <a:ext cx="974725"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Excavation</a:t>
            </a:r>
          </a:p>
        </p:txBody>
      </p:sp>
      <p:sp>
        <p:nvSpPr>
          <p:cNvPr id="29" name="Oval 28"/>
          <p:cNvSpPr/>
          <p:nvPr/>
        </p:nvSpPr>
        <p:spPr>
          <a:xfrm>
            <a:off x="3502025" y="1066800"/>
            <a:ext cx="1069975" cy="914400"/>
          </a:xfrm>
          <a:prstGeom prst="ellipse">
            <a:avLst/>
          </a:prstGeom>
          <a:no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Box 16"/>
          <p:cNvSpPr txBox="1">
            <a:spLocks noChangeArrowheads="1"/>
          </p:cNvSpPr>
          <p:nvPr/>
        </p:nvSpPr>
        <p:spPr bwMode="auto">
          <a:xfrm>
            <a:off x="4592637" y="1893887"/>
            <a:ext cx="97313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mn-cs"/>
              </a:rPr>
              <a:t>Permitting Work</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0" name="Text Box 17"/>
          <p:cNvSpPr txBox="1">
            <a:spLocks noChangeArrowheads="1"/>
          </p:cNvSpPr>
          <p:nvPr/>
        </p:nvSpPr>
        <p:spPr bwMode="auto">
          <a:xfrm>
            <a:off x="4416425" y="1435100"/>
            <a:ext cx="974725" cy="276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65000"/>
              </a:lnSpc>
              <a:spcBef>
                <a:spcPct val="50000"/>
              </a:spcBef>
              <a:spcAft>
                <a:spcPct val="0"/>
              </a:spcAft>
              <a:buClrTx/>
              <a:buSzTx/>
              <a:buFontTx/>
              <a:buNone/>
              <a:tabLst/>
              <a:defRPr/>
            </a:pPr>
            <a:r>
              <a:rPr kumimoji="0" lang="en-US" altLang="en-US" sz="900" b="1" i="0" u="none" strike="noStrike" kern="1200" cap="none" spc="0" normalizeH="0" baseline="0" noProof="0" dirty="0" smtClean="0">
                <a:ln>
                  <a:noFill/>
                </a:ln>
                <a:solidFill>
                  <a:prstClr val="black"/>
                </a:solidFill>
                <a:effectLst/>
                <a:uLnTx/>
                <a:uFillTx/>
                <a:latin typeface="Arial" panose="020B0604020202020204" pitchFamily="34" charset="0"/>
                <a:ea typeface="+mn-ea"/>
                <a:cs typeface="+mn-cs"/>
              </a:rPr>
              <a:t>Electrical</a:t>
            </a:r>
            <a:r>
              <a:rPr kumimoji="0" lang="en-US" altLang="en-US" sz="900" b="1" i="0" u="none" strike="noStrike" kern="1200" cap="none" spc="0" normalizeH="0" noProof="0" dirty="0" smtClean="0">
                <a:ln>
                  <a:noFill/>
                </a:ln>
                <a:solidFill>
                  <a:prstClr val="black"/>
                </a:solidFill>
                <a:effectLst/>
                <a:uLnTx/>
                <a:uFillTx/>
                <a:latin typeface="Arial" panose="020B0604020202020204" pitchFamily="34" charset="0"/>
                <a:ea typeface="+mn-ea"/>
                <a:cs typeface="+mn-cs"/>
              </a:rPr>
              <a:t> </a:t>
            </a:r>
            <a:br>
              <a:rPr kumimoji="0" lang="en-US" altLang="en-US" sz="900" b="1" i="0" u="none" strike="noStrike" kern="1200" cap="none" spc="0" normalizeH="0" noProof="0" dirty="0" smtClean="0">
                <a:ln>
                  <a:noFill/>
                </a:ln>
                <a:solidFill>
                  <a:prstClr val="black"/>
                </a:solidFill>
                <a:effectLst/>
                <a:uLnTx/>
                <a:uFillTx/>
                <a:latin typeface="Arial" panose="020B0604020202020204" pitchFamily="34" charset="0"/>
                <a:ea typeface="+mn-ea"/>
                <a:cs typeface="+mn-cs"/>
              </a:rPr>
            </a:br>
            <a:r>
              <a:rPr kumimoji="0" lang="en-US" altLang="en-US" sz="900" b="1" i="0" u="none" strike="noStrike" kern="1200" cap="none" spc="0" normalizeH="0" noProof="0" dirty="0" smtClean="0">
                <a:ln>
                  <a:noFill/>
                </a:ln>
                <a:solidFill>
                  <a:prstClr val="black"/>
                </a:solidFill>
                <a:effectLst/>
                <a:uLnTx/>
                <a:uFillTx/>
                <a:latin typeface="Arial" panose="020B0604020202020204" pitchFamily="34" charset="0"/>
                <a:ea typeface="+mn-ea"/>
                <a:cs typeface="+mn-cs"/>
              </a:rPr>
              <a:t>Work</a:t>
            </a:r>
            <a:endParaRPr kumimoji="0" lang="en-US" altLang="en-US" sz="900" b="1"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1"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Working at Height:</a:t>
            </a:r>
          </a:p>
        </p:txBody>
      </p:sp>
    </p:spTree>
    <p:extLst>
      <p:ext uri="{BB962C8B-B14F-4D97-AF65-F5344CB8AC3E}">
        <p14:creationId xmlns:p14="http://schemas.microsoft.com/office/powerpoint/2010/main" val="735991853"/>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How </a:t>
            </a:r>
            <a:r>
              <a:rPr lang="en-US" altLang="en-US" sz="2400" b="0" dirty="0">
                <a:solidFill>
                  <a:schemeClr val="accent2"/>
                </a:solidFill>
                <a:latin typeface="Arial" panose="020B0604020202020204" pitchFamily="34" charset="0"/>
                <a:ea typeface="+mj-ea"/>
                <a:cs typeface="Arial" panose="020B0604020202020204" pitchFamily="34" charset="0"/>
              </a:rPr>
              <a:t>to </a:t>
            </a:r>
            <a:r>
              <a:rPr lang="en-US" altLang="en-US" sz="2400" b="0" dirty="0" smtClean="0">
                <a:solidFill>
                  <a:schemeClr val="accent2"/>
                </a:solidFill>
                <a:latin typeface="Arial" panose="020B0604020202020204" pitchFamily="34" charset="0"/>
                <a:ea typeface="+mj-ea"/>
                <a:cs typeface="Arial" panose="020B0604020202020204" pitchFamily="34" charset="0"/>
              </a:rPr>
              <a:t>Use “</a:t>
            </a:r>
            <a:r>
              <a:rPr lang="en-US" altLang="en-US" sz="2400" b="0" dirty="0" err="1" smtClean="0">
                <a:solidFill>
                  <a:schemeClr val="accent2"/>
                </a:solidFill>
                <a:latin typeface="Arial" panose="020B0604020202020204" pitchFamily="34" charset="0"/>
                <a:ea typeface="+mj-ea"/>
                <a:cs typeface="Arial" panose="020B0604020202020204" pitchFamily="34" charset="0"/>
              </a:rPr>
              <a:t>HiPo</a:t>
            </a:r>
            <a:r>
              <a:rPr lang="en-US" altLang="en-US" sz="2400" b="0" dirty="0" smtClean="0">
                <a:solidFill>
                  <a:schemeClr val="accent2"/>
                </a:solidFill>
                <a:latin typeface="Arial" panose="020B0604020202020204" pitchFamily="34" charset="0"/>
                <a:ea typeface="+mj-ea"/>
                <a:cs typeface="Arial" panose="020B0604020202020204" pitchFamily="34" charset="0"/>
              </a:rPr>
              <a:t>” Leading </a:t>
            </a:r>
            <a:r>
              <a:rPr lang="en-US" altLang="en-US" sz="2400" b="0" dirty="0">
                <a:solidFill>
                  <a:schemeClr val="accent2"/>
                </a:solidFill>
                <a:latin typeface="Arial" panose="020B0604020202020204" pitchFamily="34" charset="0"/>
                <a:ea typeface="+mj-ea"/>
                <a:cs typeface="Arial" panose="020B0604020202020204" pitchFamily="34" charset="0"/>
              </a:rPr>
              <a:t>Indicators to Influence </a:t>
            </a:r>
            <a:r>
              <a:rPr lang="en-US" altLang="en-US" sz="2400" b="0" dirty="0" smtClean="0">
                <a:solidFill>
                  <a:schemeClr val="accent2"/>
                </a:solidFill>
                <a:latin typeface="Arial" panose="020B0604020202020204" pitchFamily="34" charset="0"/>
                <a:ea typeface="+mj-ea"/>
                <a:cs typeface="Arial" panose="020B0604020202020204" pitchFamily="34" charset="0"/>
              </a:rPr>
              <a:t>Culture: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31"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sz="18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Look for “signals” … </a:t>
            </a:r>
          </a:p>
          <a:p>
            <a:pPr marL="432000" indent="-432000" eaLnBrk="0" hangingPunct="0">
              <a:lnSpc>
                <a:spcPct val="100000"/>
              </a:lnSpc>
              <a:spcBef>
                <a:spcPts val="0"/>
              </a:spcBef>
              <a:buClr>
                <a:srgbClr val="000000"/>
              </a:buClr>
              <a:buSzPct val="100000"/>
              <a:buFont typeface="Wingdings" panose="05000000000000000000" pitchFamily="2" charset="2"/>
              <a:buChar char="Ø"/>
            </a:pP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Recall discussion on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Leading </a:t>
            </a:r>
            <a:r>
              <a:rPr lang="en-US" altLang="en-US" sz="1800" b="0" u="sng"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Indicators</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from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Chapter 6.2: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Safety </a:t>
            </a:r>
            <a:r>
              <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Metrics:</a:t>
            </a:r>
            <a:endParaRPr lang="en-US" altLang="en-US" sz="180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indent="0" eaLnBrk="0" hangingPunct="0">
              <a:lnSpc>
                <a:spcPct val="100000"/>
              </a:lnSpc>
              <a:spcBef>
                <a:spcPts val="0"/>
              </a:spcBef>
              <a:buClr>
                <a:srgbClr val="000000"/>
              </a:buClr>
              <a:buSzPct val="100000"/>
              <a:buNone/>
            </a:pPr>
            <a:endParaRPr lang="en-US" altLang="en-US" u="sng"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pic>
        <p:nvPicPr>
          <p:cNvPr id="2" name="Picture 1"/>
          <p:cNvPicPr>
            <a:picLocks noChangeAspect="1"/>
          </p:cNvPicPr>
          <p:nvPr/>
        </p:nvPicPr>
        <p:blipFill>
          <a:blip r:embed="rId3"/>
          <a:stretch>
            <a:fillRect/>
          </a:stretch>
        </p:blipFill>
        <p:spPr>
          <a:xfrm>
            <a:off x="935999" y="1600199"/>
            <a:ext cx="6074401" cy="4555801"/>
          </a:xfrm>
          <a:prstGeom prst="rect">
            <a:avLst/>
          </a:prstGeom>
          <a:ln>
            <a:solidFill>
              <a:schemeClr val="tx1"/>
            </a:solidFill>
          </a:ln>
        </p:spPr>
      </p:pic>
    </p:spTree>
    <p:extLst>
      <p:ext uri="{BB962C8B-B14F-4D97-AF65-F5344CB8AC3E}">
        <p14:creationId xmlns:p14="http://schemas.microsoft.com/office/powerpoint/2010/main" val="174632797"/>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rgbClr val="0000CC"/>
            </a:solidFill>
          </a:ln>
          <a:extLst/>
        </p:spPr>
        <p:txBody>
          <a:bodyPr wrap="square" anchor="ctr" anchorCtr="0">
            <a:noAutofit/>
          </a:bodyPr>
          <a:lstStyle/>
          <a:p>
            <a:pPr>
              <a:spcBef>
                <a:spcPts val="0"/>
              </a:spcBef>
              <a:spcAft>
                <a:spcPts val="0"/>
              </a:spcAft>
            </a:pP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Use “</a:t>
            </a:r>
            <a:r>
              <a:rPr lang="en-US" altLang="en-US" sz="2400"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Leading Indicators to Influence Culture</a:t>
            </a:r>
            <a:endParaRPr lang="en-US" altLang="en-US" sz="24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rgbClr val="0000CC"/>
            </a:solidFill>
          </a:ln>
        </p:spPr>
        <p:txBody>
          <a:bodyPr wrap="square">
            <a:noAutofit/>
          </a:bodyPr>
          <a:lstStyle/>
          <a:p>
            <a:pPr>
              <a:lnSpc>
                <a:spcPct val="80000"/>
              </a:lnSpc>
              <a:spcBef>
                <a:spcPts val="0"/>
              </a:spcBef>
              <a:spcAft>
                <a:spcPts val="0"/>
              </a:spcAft>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Consider this leading indicator: the fraction of all reported sub-standard conditions and sub-standard practices that were considered “</a:t>
            </a:r>
            <a:r>
              <a:rPr lang="en-US"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HiPo</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(high potential).</a:t>
            </a:r>
            <a:endPar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80000"/>
              </a:lnSpc>
              <a:spcBef>
                <a:spcPts val="0"/>
              </a:spcBef>
              <a:spcAft>
                <a:spcPts val="0"/>
              </a:spcAft>
              <a:buFont typeface="Wingdings" panose="05000000000000000000" pitchFamily="2" charset="2"/>
              <a:buChar char="Ø"/>
            </a:pPr>
            <a:endPar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In the weekly Maintenance Team Meeting, there were a total of 268 SC’s and SP’s observed and reported in the prior week. Of those, 6 were deemed as “</a:t>
            </a:r>
            <a:r>
              <a:rPr lang="en-US"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HiPo</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3 concerning moving heavy equipment into position where the equipment operator continued to back-up when the “spotter” was not visible in the mirrors, a critical work practice (an administrative control was not being followed</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and 3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concerning imminent failure in critical equipment monitoring systems (an engineering control was defective</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t>
            </a:r>
          </a:p>
          <a:p>
            <a:pPr marL="360000" indent="-360000">
              <a:lnSpc>
                <a:spcPct val="80000"/>
              </a:lnSpc>
              <a:spcBef>
                <a:spcPts val="0"/>
              </a:spcBef>
              <a:spcAft>
                <a:spcPts val="0"/>
              </a:spcAft>
              <a:buFont typeface="Wingdings" panose="05000000000000000000" pitchFamily="2" charset="2"/>
              <a:buChar char="Ø"/>
            </a:pPr>
            <a:endPar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These data can be used to efficiently allocate limited resources (focus your efforts) to address critical SP’s and SC’s, and positively influence safety culture with these actions:</a:t>
            </a:r>
          </a:p>
          <a:p>
            <a:pPr marL="720000" lvl="1" indent="-360000">
              <a:lnSpc>
                <a:spcPct val="80000"/>
              </a:lnSpc>
              <a:spcBef>
                <a:spcPts val="0"/>
              </a:spcBef>
              <a:spcAft>
                <a:spcPts val="0"/>
              </a:spcAft>
              <a:buFont typeface="Wingdings" panose="05000000000000000000" pitchFamily="2" charset="2"/>
              <a:buChar char="Ø"/>
            </a:pP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Heavy Equipment Movement: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Provide highlight training on using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company’s “Vehicle Driver / Spotter FLRA</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in the daily tail-gate meetings; increase manager inspections of the use of the FLRA and the critical practices for heavy equipment movements.</a:t>
            </a:r>
          </a:p>
          <a:p>
            <a:pPr marL="720000" lvl="1" indent="-360000">
              <a:lnSpc>
                <a:spcPct val="80000"/>
              </a:lnSpc>
              <a:spcBef>
                <a:spcPts val="0"/>
              </a:spcBef>
              <a:spcAft>
                <a:spcPts val="0"/>
              </a:spcAft>
              <a:buFont typeface="Wingdings" panose="05000000000000000000" pitchFamily="2" charset="2"/>
              <a:buChar char="Ø"/>
            </a:pPr>
            <a:r>
              <a:rPr 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Imminent Failure:</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Assess maintenance resources for addressing the backlog of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critical equipment monitoring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systems, raise priority on repair.</a:t>
            </a:r>
          </a:p>
          <a:p>
            <a:pPr marL="720000" lvl="1" indent="-360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All other non-</a:t>
            </a:r>
            <a:r>
              <a:rPr lang="en-US" b="0" dirty="0" err="1"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HiPo</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SC’s and SP’s may or may not be addressed!</a:t>
            </a:r>
          </a:p>
          <a:p>
            <a:pPr marL="360000" lvl="1" indent="-360000">
              <a:lnSpc>
                <a:spcPct val="80000"/>
              </a:lnSpc>
              <a:spcBef>
                <a:spcPts val="0"/>
              </a:spcBef>
              <a:spcAft>
                <a:spcPts val="0"/>
              </a:spcAft>
              <a:buFont typeface="Wingdings" panose="05000000000000000000" pitchFamily="2" charset="2"/>
              <a:buChar char="Ø"/>
            </a:pPr>
            <a:endPar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lvl="1" indent="-360000">
              <a:lnSpc>
                <a:spcPct val="80000"/>
              </a:lnSpc>
              <a:spcBef>
                <a:spcPts val="0"/>
              </a:spcBef>
              <a:spcAft>
                <a:spcPts val="0"/>
              </a:spcAft>
              <a:buFont typeface="Wingdings" panose="05000000000000000000" pitchFamily="2" charset="2"/>
              <a:buChar char="Ø"/>
            </a:pP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action not only addresses </a:t>
            </a:r>
            <a:r>
              <a:rPr lang="en-US" b="0" dirty="0" err="1">
                <a:solidFill>
                  <a:srgbClr val="F8F8F8"/>
                </a:solidFill>
                <a:latin typeface="Arial" panose="020B0604020202020204" pitchFamily="34" charset="0"/>
                <a:ea typeface="ＭＳ Ｐゴシック" panose="020B0600070205080204" pitchFamily="34" charset="-128"/>
                <a:cs typeface="Arial" panose="020B0604020202020204" pitchFamily="34" charset="0"/>
              </a:rPr>
              <a:t>HiPo</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 SC’s and SP’s, but also </a:t>
            </a:r>
            <a:r>
              <a:rPr lang="en-US"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demonstrates </a:t>
            </a:r>
            <a:r>
              <a:rPr lang="en-US"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management commitment - “walk the talk”, “lead by example”.</a:t>
            </a: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873807345"/>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indent="0" eaLnBrk="0" hangingPunct="0">
              <a:lnSpc>
                <a:spcPct val="100000"/>
              </a:lnSpc>
              <a:spcBef>
                <a:spcPts val="0"/>
              </a:spcBef>
              <a:buClr>
                <a:srgbClr val="000000"/>
              </a:buClr>
              <a:buSzPct val="100000"/>
              <a:buNone/>
            </a:pPr>
            <a:r>
              <a:rPr lang="en-US" altLang="en-US"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High Potential Impact Events in Cyber Security:</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Comparative situation: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Network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firewall is disabled on financial database (bank account numbers, access codes, SIN, etc.) vs </a:t>
            </a:r>
            <a:endPar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Network firewall is disabled on </a:t>
            </a:r>
            <a:r>
              <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email database (username, email address, and phone number</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lang="en-US" altLang="en-US" sz="20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first situation can result in greater harm (greater impacts on PEAP) and therefore requires action before acting on the second situation:</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Disabled firewall on financial database: ransom, identity theft of clients, damage to reputation to company, restitution to clients </a:t>
            </a:r>
          </a:p>
          <a:p>
            <a:pPr marL="720000" lvl="1" indent="-360000" eaLnBrk="0" hangingPunct="0">
              <a:lnSpc>
                <a:spcPct val="100000"/>
              </a:lnSpc>
              <a:spcBef>
                <a:spcPts val="0"/>
              </a:spcBef>
              <a:buClr>
                <a:srgbClr val="000000"/>
              </a:buClr>
              <a:buSzPct val="100000"/>
              <a:buFont typeface="Wingdings" panose="05000000000000000000" pitchFamily="2" charset="2"/>
              <a:buChar char="Ø"/>
            </a:pP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Disabled firewall email database: inconvenience / nuisance to change password on or username and address, although potential for future phishing </a:t>
            </a:r>
            <a:r>
              <a:rPr lang="en-US" altLang="en-US" sz="20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attacks</a:t>
            </a:r>
          </a:p>
          <a:p>
            <a:pPr marL="0" lvl="1" indent="0" eaLnBrk="0" hangingPunct="0">
              <a:lnSpc>
                <a:spcPct val="100000"/>
              </a:lnSpc>
              <a:spcBef>
                <a:spcPts val="0"/>
              </a:spcBef>
              <a:buClr>
                <a:srgbClr val="000000"/>
              </a:buClr>
              <a:buSzPct val="100000"/>
              <a:buNone/>
            </a:pPr>
            <a:endPar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0" lvl="1" indent="0" eaLnBrk="0" hangingPunct="0">
              <a:lnSpc>
                <a:spcPct val="100000"/>
              </a:lnSpc>
              <a:spcBef>
                <a:spcPts val="0"/>
              </a:spcBef>
              <a:buClr>
                <a:srgbClr val="000000"/>
              </a:buClr>
              <a:buSzPct val="100000"/>
              <a:buNone/>
            </a:pPr>
            <a:r>
              <a:rPr lang="en-US" altLang="en-US" sz="200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Bonus discussion point: What </a:t>
            </a:r>
            <a:r>
              <a:rPr lang="en-US" altLang="en-US" sz="200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are the “early signals”?</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Not Just the Typical Occupational or Process Safety “</a:t>
            </a:r>
            <a:r>
              <a:rPr lang="en-US" altLang="en-US" sz="2400" b="0" dirty="0" err="1" smtClean="0">
                <a:solidFill>
                  <a:schemeClr val="accent2"/>
                </a:solidFill>
                <a:latin typeface="Arial" panose="020B0604020202020204" pitchFamily="34" charset="0"/>
                <a:ea typeface="+mj-ea"/>
                <a:cs typeface="Arial" panose="020B0604020202020204" pitchFamily="34" charset="0"/>
              </a:rPr>
              <a:t>HiPo’s</a:t>
            </a:r>
            <a:r>
              <a:rPr lang="en-US" altLang="en-US" sz="2400" b="0" dirty="0" smtClean="0">
                <a:solidFill>
                  <a:schemeClr val="accent2"/>
                </a:solidFill>
                <a:latin typeface="Arial" panose="020B0604020202020204" pitchFamily="34" charset="0"/>
                <a:ea typeface="+mj-ea"/>
                <a:cs typeface="Arial" panose="020B0604020202020204" pitchFamily="34" charset="0"/>
              </a:rPr>
              <a:t>”:</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29</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541522975"/>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This depiction illustrates the relationship between:</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leadership actions in addressing </a:t>
            </a:r>
            <a:r>
              <a:rPr lang="en-US" altLang="en-US" b="0" dirty="0" err="1"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HiPo</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events and culture, </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culture and performance.</a:t>
            </a: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Relationship: </a:t>
            </a:r>
            <a:r>
              <a:rPr lang="en-US" altLang="en-US" sz="2400" b="0" dirty="0" smtClean="0">
                <a:solidFill>
                  <a:schemeClr val="accent2"/>
                </a:solidFill>
                <a:latin typeface="Arial" panose="020B0604020202020204" pitchFamily="34" charset="0"/>
                <a:ea typeface="+mj-ea"/>
                <a:cs typeface="Arial" panose="020B0604020202020204" pitchFamily="34" charset="0"/>
              </a:rPr>
              <a:t>Leadership Actions, Culture, and Performance: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30</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1865384" y="2040304"/>
            <a:ext cx="1802605" cy="1351954"/>
          </a:xfrm>
          <a:prstGeom prst="rect">
            <a:avLst/>
          </a:prstGeom>
          <a:ln>
            <a:solidFill>
              <a:schemeClr val="tx1"/>
            </a:solidFill>
          </a:ln>
        </p:spPr>
      </p:pic>
      <p:sp>
        <p:nvSpPr>
          <p:cNvPr id="5" name="Isosceles Triangle 4"/>
          <p:cNvSpPr/>
          <p:nvPr/>
        </p:nvSpPr>
        <p:spPr>
          <a:xfrm>
            <a:off x="5442857" y="1579639"/>
            <a:ext cx="2286472" cy="1954792"/>
          </a:xfrm>
          <a:prstGeom prst="triangle">
            <a:avLst>
              <a:gd name="adj" fmla="val 5069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sz="1600" dirty="0">
              <a:solidFill>
                <a:schemeClr val="tx1"/>
              </a:solidFill>
            </a:endParaRPr>
          </a:p>
        </p:txBody>
      </p:sp>
      <p:sp>
        <p:nvSpPr>
          <p:cNvPr id="6" name="Trapezoid 5"/>
          <p:cNvSpPr/>
          <p:nvPr/>
        </p:nvSpPr>
        <p:spPr>
          <a:xfrm>
            <a:off x="4800599" y="4038600"/>
            <a:ext cx="3528000" cy="828000"/>
          </a:xfrm>
          <a:prstGeom prst="trapezoid">
            <a:avLst>
              <a:gd name="adj" fmla="val 58631"/>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a:solidFill>
                  <a:schemeClr val="tx1"/>
                </a:solidFill>
              </a:rPr>
              <a:t>Culture</a:t>
            </a:r>
          </a:p>
        </p:txBody>
      </p:sp>
      <p:sp>
        <p:nvSpPr>
          <p:cNvPr id="11" name="Trapezoid 10"/>
          <p:cNvSpPr/>
          <p:nvPr/>
        </p:nvSpPr>
        <p:spPr>
          <a:xfrm>
            <a:off x="4191000" y="5370769"/>
            <a:ext cx="4752000" cy="828000"/>
          </a:xfrm>
          <a:prstGeom prst="trapezoid">
            <a:avLst>
              <a:gd name="adj" fmla="val 5968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Leadership Actions</a:t>
            </a:r>
            <a:endParaRPr lang="en-US" dirty="0">
              <a:solidFill>
                <a:schemeClr val="tx1"/>
              </a:solidFill>
            </a:endParaRPr>
          </a:p>
        </p:txBody>
      </p:sp>
      <p:sp>
        <p:nvSpPr>
          <p:cNvPr id="22" name="Rectangle 21"/>
          <p:cNvSpPr/>
          <p:nvPr/>
        </p:nvSpPr>
        <p:spPr>
          <a:xfrm>
            <a:off x="5442858" y="2590800"/>
            <a:ext cx="2286472" cy="7786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Performance</a:t>
            </a:r>
            <a:endParaRPr lang="en-US" dirty="0">
              <a:solidFill>
                <a:schemeClr val="tx1"/>
              </a:solidFill>
            </a:endParaRPr>
          </a:p>
        </p:txBody>
      </p:sp>
      <p:sp>
        <p:nvSpPr>
          <p:cNvPr id="24" name="Up Arrow 23"/>
          <p:cNvSpPr/>
          <p:nvPr/>
        </p:nvSpPr>
        <p:spPr>
          <a:xfrm>
            <a:off x="5780999" y="4707768"/>
            <a:ext cx="1534200" cy="828001"/>
          </a:xfrm>
          <a:prstGeom prst="up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 Arrow 24"/>
          <p:cNvSpPr/>
          <p:nvPr/>
        </p:nvSpPr>
        <p:spPr>
          <a:xfrm>
            <a:off x="5840699" y="3369431"/>
            <a:ext cx="1534200" cy="834168"/>
          </a:xfrm>
          <a:prstGeom prst="up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4"/>
          <a:stretch>
            <a:fillRect/>
          </a:stretch>
        </p:blipFill>
        <p:spPr>
          <a:xfrm>
            <a:off x="180001" y="5133859"/>
            <a:ext cx="2586686" cy="963491"/>
          </a:xfrm>
          <a:prstGeom prst="rect">
            <a:avLst/>
          </a:prstGeom>
          <a:ln>
            <a:solidFill>
              <a:schemeClr val="tx1"/>
            </a:solidFill>
          </a:ln>
        </p:spPr>
      </p:pic>
      <p:pic>
        <p:nvPicPr>
          <p:cNvPr id="4" name="Picture 3"/>
          <p:cNvPicPr>
            <a:picLocks noChangeAspect="1"/>
          </p:cNvPicPr>
          <p:nvPr/>
        </p:nvPicPr>
        <p:blipFill>
          <a:blip r:embed="rId5"/>
          <a:stretch>
            <a:fillRect/>
          </a:stretch>
        </p:blipFill>
        <p:spPr>
          <a:xfrm>
            <a:off x="2832032" y="5116940"/>
            <a:ext cx="1444166" cy="980410"/>
          </a:xfrm>
          <a:prstGeom prst="rect">
            <a:avLst/>
          </a:prstGeom>
          <a:ln>
            <a:solidFill>
              <a:schemeClr val="tx1"/>
            </a:solidFill>
          </a:ln>
        </p:spPr>
      </p:pic>
      <p:pic>
        <p:nvPicPr>
          <p:cNvPr id="15" name="Picture 14"/>
          <p:cNvPicPr>
            <a:picLocks noChangeAspect="1"/>
          </p:cNvPicPr>
          <p:nvPr/>
        </p:nvPicPr>
        <p:blipFill>
          <a:blip r:embed="rId6"/>
          <a:stretch>
            <a:fillRect/>
          </a:stretch>
        </p:blipFill>
        <p:spPr>
          <a:xfrm>
            <a:off x="1871329" y="3494586"/>
            <a:ext cx="1880199" cy="1509502"/>
          </a:xfrm>
          <a:prstGeom prst="rect">
            <a:avLst/>
          </a:prstGeom>
        </p:spPr>
      </p:pic>
    </p:spTree>
    <p:extLst>
      <p:ext uri="{BB962C8B-B14F-4D97-AF65-F5344CB8AC3E}">
        <p14:creationId xmlns:p14="http://schemas.microsoft.com/office/powerpoint/2010/main" val="1384194386"/>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lvl="0">
              <a:lnSpc>
                <a:spcPct val="100000"/>
              </a:lnSpc>
              <a:spcBef>
                <a:spcPct val="0"/>
              </a:spcBef>
              <a:buClrTx/>
              <a:buNone/>
              <a:defRPr/>
            </a:pPr>
            <a:r>
              <a:rPr lang="en-CA" altLang="en-US" sz="2400" b="0" dirty="0">
                <a:solidFill>
                  <a:srgbClr val="333399"/>
                </a:solidFill>
                <a:latin typeface="Arial" panose="020B0604020202020204" pitchFamily="34" charset="0"/>
                <a:cs typeface="Arial" panose="020B0604020202020204" pitchFamily="34" charset="0"/>
              </a:rPr>
              <a:t>Performance </a:t>
            </a:r>
            <a:r>
              <a:rPr lang="en-CA" altLang="en-US" sz="2400" b="0" dirty="0" smtClean="0">
                <a:solidFill>
                  <a:srgbClr val="333399"/>
                </a:solidFill>
                <a:latin typeface="Arial" panose="020B0604020202020204" pitchFamily="34" charset="0"/>
                <a:cs typeface="Arial" panose="020B0604020202020204" pitchFamily="34" charset="0"/>
              </a:rPr>
              <a:t>in Response to the Evolution </a:t>
            </a:r>
            <a:r>
              <a:rPr lang="en-CA" altLang="en-US" sz="2400" b="0" dirty="0">
                <a:solidFill>
                  <a:srgbClr val="333399"/>
                </a:solidFill>
                <a:latin typeface="Arial" panose="020B0604020202020204" pitchFamily="34" charset="0"/>
                <a:cs typeface="Arial" panose="020B0604020202020204" pitchFamily="34" charset="0"/>
              </a:rPr>
              <a:t>of </a:t>
            </a:r>
            <a:r>
              <a:rPr lang="en-CA" altLang="en-US" sz="2400" b="0" dirty="0" smtClean="0">
                <a:solidFill>
                  <a:srgbClr val="333399"/>
                </a:solidFill>
                <a:latin typeface="Arial" panose="020B0604020202020204" pitchFamily="34" charset="0"/>
                <a:cs typeface="Arial" panose="020B0604020202020204" pitchFamily="34" charset="0"/>
              </a:rPr>
              <a:t>Culture:</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pic>
        <p:nvPicPr>
          <p:cNvPr id="6" name="Picture 5">
            <a:extLst>
              <a:ext uri="{FF2B5EF4-FFF2-40B4-BE49-F238E27FC236}">
                <a16:creationId xmlns:a16="http://schemas.microsoft.com/office/drawing/2014/main" id="{238DA1A9-150A-4210-A23D-42FE9BB4B18B}"/>
              </a:ext>
            </a:extLst>
          </p:cNvPr>
          <p:cNvPicPr>
            <a:picLocks noChangeAspect="1"/>
          </p:cNvPicPr>
          <p:nvPr/>
        </p:nvPicPr>
        <p:blipFill>
          <a:blip r:embed="rId3"/>
          <a:stretch>
            <a:fillRect/>
          </a:stretch>
        </p:blipFill>
        <p:spPr>
          <a:xfrm>
            <a:off x="2872244" y="1566482"/>
            <a:ext cx="6119356" cy="4589518"/>
          </a:xfrm>
          <a:prstGeom prst="rect">
            <a:avLst/>
          </a:prstGeom>
        </p:spPr>
      </p:pic>
      <p:sp>
        <p:nvSpPr>
          <p:cNvPr id="7" name="TextBox 6">
            <a:extLst>
              <a:ext uri="{FF2B5EF4-FFF2-40B4-BE49-F238E27FC236}">
                <a16:creationId xmlns:a16="http://schemas.microsoft.com/office/drawing/2014/main" id="{3AB1284E-300B-4A15-BD48-162ABF0025C5}"/>
              </a:ext>
            </a:extLst>
          </p:cNvPr>
          <p:cNvSpPr txBox="1"/>
          <p:nvPr/>
        </p:nvSpPr>
        <p:spPr>
          <a:xfrm>
            <a:off x="6526131" y="4114800"/>
            <a:ext cx="2144514" cy="1200329"/>
          </a:xfrm>
          <a:prstGeom prst="rect">
            <a:avLst/>
          </a:prstGeom>
          <a:solidFill>
            <a:sysClr val="window" lastClr="FFFFFF"/>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Tw Cen MT" panose="020B0602020104020603"/>
                <a:ea typeface="+mn-ea"/>
                <a:cs typeface="+mn-cs"/>
              </a:rPr>
              <a:t>Modernized Approaches: </a:t>
            </a:r>
            <a:br>
              <a:rPr kumimoji="0" lang="en-US" sz="1200" b="1" i="0" u="none" strike="noStrike" kern="0" cap="none" spc="0" normalizeH="0" baseline="0" noProof="0" dirty="0">
                <a:ln>
                  <a:noFill/>
                </a:ln>
                <a:solidFill>
                  <a:prstClr val="black"/>
                </a:solidFill>
                <a:effectLst/>
                <a:uLnTx/>
                <a:uFillTx/>
                <a:latin typeface="Tw Cen MT" panose="020B0602020104020603"/>
                <a:ea typeface="+mn-ea"/>
                <a:cs typeface="+mn-cs"/>
              </a:rPr>
            </a:br>
            <a:r>
              <a:rPr kumimoji="0" lang="en-US" sz="1200" b="0" i="0" u="none" strike="noStrike" kern="0" cap="none" spc="0" normalizeH="0" baseline="0" noProof="0" dirty="0">
                <a:ln>
                  <a:noFill/>
                </a:ln>
                <a:solidFill>
                  <a:prstClr val="black"/>
                </a:solidFill>
                <a:effectLst/>
                <a:uLnTx/>
                <a:uFillTx/>
                <a:latin typeface="Tw Cen MT" panose="020B0602020104020603"/>
                <a:ea typeface="+mn-ea"/>
                <a:cs typeface="+mn-cs"/>
              </a:rPr>
              <a:t>human factors, behavioral-based safety approaches, </a:t>
            </a:r>
            <a:r>
              <a:rPr kumimoji="0" lang="en-US" sz="1200" b="0" i="0" u="none" strike="noStrike" kern="0" cap="none" spc="0" normalizeH="0" baseline="0" noProof="0" dirty="0" smtClean="0">
                <a:ln>
                  <a:noFill/>
                </a:ln>
                <a:solidFill>
                  <a:prstClr val="black"/>
                </a:solidFill>
                <a:effectLst/>
                <a:uLnTx/>
                <a:uFillTx/>
                <a:latin typeface="Tw Cen MT" panose="020B0602020104020603"/>
                <a:ea typeface="+mn-ea"/>
                <a:cs typeface="+mn-cs"/>
              </a:rPr>
              <a:t>engagement, cultural </a:t>
            </a:r>
            <a:r>
              <a:rPr kumimoji="0" lang="en-US" sz="1200" b="0" i="0" u="none" strike="noStrike" kern="0" cap="none" spc="0" normalizeH="0" baseline="0" noProof="0" dirty="0">
                <a:ln>
                  <a:noFill/>
                </a:ln>
                <a:solidFill>
                  <a:prstClr val="black"/>
                </a:solidFill>
                <a:effectLst/>
                <a:uLnTx/>
                <a:uFillTx/>
                <a:latin typeface="Tw Cen MT" panose="020B0602020104020603"/>
                <a:ea typeface="+mn-ea"/>
                <a:cs typeface="+mn-cs"/>
              </a:rPr>
              <a:t>alignment, balance, </a:t>
            </a:r>
            <a:r>
              <a:rPr kumimoji="0" lang="en-US" sz="1200" b="0" i="0" u="none" strike="noStrike" kern="0" cap="none" spc="0" normalizeH="0" baseline="0" noProof="0" dirty="0" smtClean="0">
                <a:ln>
                  <a:noFill/>
                </a:ln>
                <a:solidFill>
                  <a:prstClr val="black"/>
                </a:solidFill>
                <a:effectLst/>
                <a:uLnTx/>
                <a:uFillTx/>
                <a:latin typeface="Tw Cen MT" panose="020B0602020104020603"/>
                <a:ea typeface="+mn-ea"/>
                <a:cs typeface="+mn-cs"/>
              </a:rPr>
              <a:t>influencing human behaviours</a:t>
            </a:r>
            <a:endParaRPr kumimoji="0" lang="en-US" sz="1200" b="0" i="0" u="none" strike="noStrike" kern="0" cap="none" spc="0" normalizeH="0" baseline="0" noProof="0" dirty="0">
              <a:ln>
                <a:noFill/>
              </a:ln>
              <a:solidFill>
                <a:prstClr val="black"/>
              </a:solidFill>
              <a:effectLst/>
              <a:uLnTx/>
              <a:uFillTx/>
              <a:latin typeface="Tw Cen MT" panose="020B0602020104020603"/>
              <a:ea typeface="+mn-ea"/>
              <a:cs typeface="+mn-cs"/>
            </a:endParaRPr>
          </a:p>
        </p:txBody>
      </p:sp>
      <p:sp>
        <p:nvSpPr>
          <p:cNvPr id="10" name="Left Arrow 5">
            <a:extLst>
              <a:ext uri="{FF2B5EF4-FFF2-40B4-BE49-F238E27FC236}">
                <a16:creationId xmlns:a16="http://schemas.microsoft.com/office/drawing/2014/main" id="{EDDD9BFC-6B8E-42DA-9B95-B93385B4C75D}"/>
              </a:ext>
            </a:extLst>
          </p:cNvPr>
          <p:cNvSpPr/>
          <p:nvPr/>
        </p:nvSpPr>
        <p:spPr>
          <a:xfrm>
            <a:off x="5763859" y="5137944"/>
            <a:ext cx="2213785" cy="602039"/>
          </a:xfrm>
          <a:prstGeom prst="stripedRightArrow">
            <a:avLst/>
          </a:prstGeom>
          <a:solidFill>
            <a:srgbClr val="FF0000"/>
          </a:solidFill>
          <a:ln w="15875" cap="flat" cmpd="sng" algn="ctr">
            <a:solidFill>
              <a:srgbClr val="0033CC"/>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Tw Cen MT" panose="020B0602020104020603"/>
                <a:ea typeface="+mn-ea"/>
                <a:cs typeface="+mn-cs"/>
              </a:rPr>
              <a:t>Target: Zero</a:t>
            </a:r>
          </a:p>
        </p:txBody>
      </p:sp>
      <p:pic>
        <p:nvPicPr>
          <p:cNvPr id="11" name="Picture 10" descr="The IPKat: Ownership and control of IP: report 3">
            <a:extLst>
              <a:ext uri="{FF2B5EF4-FFF2-40B4-BE49-F238E27FC236}">
                <a16:creationId xmlns:a16="http://schemas.microsoft.com/office/drawing/2014/main" id="{642D994F-7C5A-4261-9D95-0D15116543D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55362" y="5024701"/>
            <a:ext cx="715283" cy="715283"/>
          </a:xfrm>
          <a:prstGeom prst="rect">
            <a:avLst/>
          </a:prstGeom>
        </p:spPr>
      </p:pic>
      <p:sp>
        <p:nvSpPr>
          <p:cNvPr id="14" name="Rounded Rectangle 9">
            <a:extLst>
              <a:ext uri="{FF2B5EF4-FFF2-40B4-BE49-F238E27FC236}">
                <a16:creationId xmlns:a16="http://schemas.microsoft.com/office/drawing/2014/main" id="{80F438E1-A4B9-4A98-B437-89FB24EBC988}"/>
              </a:ext>
            </a:extLst>
          </p:cNvPr>
          <p:cNvSpPr/>
          <p:nvPr/>
        </p:nvSpPr>
        <p:spPr>
          <a:xfrm>
            <a:off x="6526131" y="4078393"/>
            <a:ext cx="2166060" cy="1245059"/>
          </a:xfrm>
          <a:prstGeom prst="roundRect">
            <a:avLst/>
          </a:prstGeom>
          <a:noFill/>
          <a:ln w="38100" cap="flat" cmpd="sng" algn="ctr">
            <a:solidFill>
              <a:sysClr val="windowText" lastClr="00000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Tw Cen MT" panose="020B0602020104020603"/>
              <a:ea typeface="+mn-ea"/>
              <a:cs typeface="+mn-cs"/>
            </a:endParaRPr>
          </a:p>
        </p:txBody>
      </p:sp>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Tx/>
              <a:buSzPct val="100000"/>
              <a:buNone/>
              <a:tabLst/>
              <a:defRPr/>
            </a:pP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Performance improves in response to the evolution (sequential and layering) of the organization’s safety approaches i.e. its safety culture: </a:t>
            </a: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From prescribed </a:t>
            </a:r>
            <a:b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leader-directed</a:t>
            </a:r>
            <a:b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the left side,</a:t>
            </a: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Through building </a:t>
            </a:r>
            <a:b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commitment and </a:t>
            </a:r>
            <a:b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involvement,</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US" altLang="en-US" sz="18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180000" marR="0" lvl="0" indent="-18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advanced and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modernized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approaches to engage</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empower workers</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 reaching and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sustaining the </a:t>
            </a:r>
            <a:b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b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desired culture.</a:t>
            </a:r>
            <a:endParaRPr kumimoji="0" lang="en-US"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160877941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6" name="Google Shape;166;p6"/>
          <p:cNvSpPr/>
          <p:nvPr/>
        </p:nvSpPr>
        <p:spPr>
          <a:xfrm>
            <a:off x="180000" y="180000"/>
            <a:ext cx="8640000" cy="540000"/>
          </a:xfrm>
          <a:prstGeom prst="rect">
            <a:avLst/>
          </a:prstGeom>
          <a:noFill/>
          <a:ln>
            <a:noFill/>
          </a:ln>
        </p:spPr>
        <p:txBody>
          <a:bodyPr anchor="ctr"/>
          <a:lstStyle/>
          <a:p>
            <a:pPr>
              <a:buFont typeface="Arial" panose="020B0604020202020204" pitchFamily="34" charset="0"/>
              <a:buNone/>
            </a:pPr>
            <a:r>
              <a:rPr lang="en-US" sz="2400" b="0" dirty="0" smtClean="0">
                <a:solidFill>
                  <a:srgbClr val="333399"/>
                </a:solidFill>
                <a:latin typeface="Arial" panose="020B0604020202020204" pitchFamily="34" charset="0"/>
                <a:cs typeface="Arial" panose="020B0604020202020204" pitchFamily="34" charset="0"/>
                <a:sym typeface="Times New Roman"/>
              </a:rPr>
              <a:t>Organizational Analysis and The DuPont-Bradley Curve:</a:t>
            </a:r>
            <a:endParaRPr lang="en-US" sz="2400" b="0" dirty="0">
              <a:solidFill>
                <a:srgbClr val="333399"/>
              </a:solidFill>
              <a:latin typeface="Arial" panose="020B0604020202020204" pitchFamily="34" charset="0"/>
              <a:cs typeface="Arial" panose="020B0604020202020204" pitchFamily="34" charset="0"/>
              <a:sym typeface="Times New Roman"/>
            </a:endParaRPr>
          </a:p>
        </p:txBody>
      </p:sp>
      <p:sp>
        <p:nvSpPr>
          <p:cNvPr id="14" name="Google Shape;128;p3"/>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609600" indent="-609600">
              <a:spcBef>
                <a:spcPts val="0"/>
              </a:spcBef>
              <a:buClr>
                <a:srgbClr val="000000"/>
              </a:buClr>
              <a:buSzPts val="2000"/>
              <a:buFont typeface="Noto Sans Symbols"/>
              <a:buChar char="⮚"/>
            </a:pPr>
            <a:r>
              <a:rPr lang="en-CA" sz="1800" dirty="0" smtClean="0">
                <a:solidFill>
                  <a:schemeClr val="tx1"/>
                </a:solidFill>
                <a:latin typeface="Arial"/>
                <a:ea typeface="Arial"/>
                <a:cs typeface="Arial"/>
              </a:rPr>
              <a:t>A method to benchmark progress toward an ideal safety culture</a:t>
            </a:r>
          </a:p>
          <a:p>
            <a:pPr marL="609600" indent="-609600">
              <a:spcBef>
                <a:spcPts val="0"/>
              </a:spcBef>
              <a:buClr>
                <a:srgbClr val="000000"/>
              </a:buClr>
              <a:buSzPts val="2000"/>
              <a:buFont typeface="Noto Sans Symbols"/>
              <a:buChar char="⮚"/>
            </a:pPr>
            <a:r>
              <a:rPr lang="en-CA" sz="1800" dirty="0" smtClean="0">
                <a:solidFill>
                  <a:schemeClr val="tx1"/>
                </a:solidFill>
                <a:latin typeface="Arial"/>
                <a:ea typeface="Arial"/>
                <a:cs typeface="Arial"/>
              </a:rPr>
              <a:t>Injury rates (losses) fall as you proceed through the phases</a:t>
            </a:r>
          </a:p>
          <a:p>
            <a:pPr marL="609600" indent="-609600">
              <a:spcBef>
                <a:spcPts val="0"/>
              </a:spcBef>
              <a:buClr>
                <a:srgbClr val="000000"/>
              </a:buClr>
              <a:buSzPts val="2000"/>
              <a:buFont typeface="Noto Sans Symbols"/>
              <a:buChar char="⮚"/>
            </a:pPr>
            <a:r>
              <a:rPr lang="en-CA" sz="1800" dirty="0" smtClean="0">
                <a:solidFill>
                  <a:schemeClr val="tx1"/>
                </a:solidFill>
                <a:latin typeface="Arial"/>
                <a:ea typeface="Arial"/>
                <a:cs typeface="Arial"/>
              </a:rPr>
              <a:t>Video 1:35 </a:t>
            </a:r>
            <a:r>
              <a:rPr lang="en-CA" sz="1800" dirty="0">
                <a:solidFill>
                  <a:schemeClr val="tx1"/>
                </a:solidFill>
                <a:latin typeface="Arial"/>
                <a:ea typeface="Arial"/>
                <a:cs typeface="Arial"/>
              </a:rPr>
              <a:t>m:ss DuPont-Bradley Curve</a:t>
            </a:r>
            <a:r>
              <a:rPr lang="en-CA" sz="1800" dirty="0" smtClean="0">
                <a:solidFill>
                  <a:schemeClr val="tx1"/>
                </a:solidFill>
                <a:latin typeface="Arial"/>
                <a:ea typeface="Arial"/>
                <a:cs typeface="Arial"/>
              </a:rPr>
              <a:t>: </a:t>
            </a:r>
            <a:r>
              <a:rPr lang="en-CA" sz="1200" dirty="0" smtClean="0">
                <a:solidFill>
                  <a:schemeClr val="tx1"/>
                </a:solidFill>
                <a:latin typeface="Arial"/>
                <a:ea typeface="Arial"/>
                <a:cs typeface="Arial"/>
                <a:hlinkClick r:id="rId3"/>
              </a:rPr>
              <a:t>https</a:t>
            </a:r>
            <a:r>
              <a:rPr lang="en-CA" sz="1200" dirty="0">
                <a:solidFill>
                  <a:schemeClr val="tx1"/>
                </a:solidFill>
                <a:latin typeface="Arial"/>
                <a:ea typeface="Arial"/>
                <a:cs typeface="Arial"/>
                <a:hlinkClick r:id="rId3"/>
              </a:rPr>
              <a:t>://www.consultdss.com/bradley-curve-video</a:t>
            </a:r>
            <a:r>
              <a:rPr lang="en-CA" sz="1200" dirty="0" smtClean="0">
                <a:solidFill>
                  <a:schemeClr val="tx1"/>
                </a:solidFill>
                <a:latin typeface="Arial"/>
                <a:ea typeface="Arial"/>
                <a:cs typeface="Arial"/>
                <a:hlinkClick r:id="rId3"/>
              </a:rPr>
              <a:t>/</a:t>
            </a:r>
            <a:r>
              <a:rPr lang="en-CA" sz="1200" dirty="0" smtClean="0">
                <a:solidFill>
                  <a:schemeClr val="tx1"/>
                </a:solidFill>
                <a:latin typeface="Arial"/>
                <a:ea typeface="Arial"/>
                <a:cs typeface="Arial"/>
              </a:rPr>
              <a:t> </a:t>
            </a:r>
            <a:endParaRPr lang="en-CA" sz="1800" dirty="0" smtClean="0">
              <a:solidFill>
                <a:schemeClr val="tx1"/>
              </a:solidFill>
              <a:latin typeface="Arial"/>
              <a:ea typeface="Arial"/>
              <a:cs typeface="Arial"/>
            </a:endParaRPr>
          </a:p>
          <a:p>
            <a:pPr marL="457200" lvl="1" indent="0">
              <a:spcBef>
                <a:spcPts val="0"/>
              </a:spcBef>
              <a:buClr>
                <a:srgbClr val="000000"/>
              </a:buClr>
              <a:buSzPts val="2000"/>
              <a:buFont typeface="Times New Roman"/>
              <a:buNone/>
            </a:pPr>
            <a:endParaRPr lang="en-CA" sz="1800" dirty="0">
              <a:solidFill>
                <a:schemeClr val="tx1"/>
              </a:solidFill>
              <a:latin typeface="Arial"/>
              <a:ea typeface="Arial"/>
              <a:cs typeface="Arial"/>
              <a:sym typeface="Arial"/>
            </a:endParaRPr>
          </a:p>
        </p:txBody>
      </p:sp>
      <p:sp>
        <p:nvSpPr>
          <p:cNvPr id="3" name="TextBox 2"/>
          <p:cNvSpPr txBox="1"/>
          <p:nvPr/>
        </p:nvSpPr>
        <p:spPr>
          <a:xfrm>
            <a:off x="180000" y="1752600"/>
            <a:ext cx="8639999" cy="418200"/>
          </a:xfrm>
          <a:prstGeom prst="rect">
            <a:avLst/>
          </a:prstGeom>
          <a:solidFill>
            <a:schemeClr val="bg1"/>
          </a:solidFill>
          <a:ln>
            <a:noFill/>
          </a:ln>
        </p:spPr>
        <p:txBody>
          <a:bodyPr wrap="square" lIns="36000" tIns="36000" rIns="36000" bIns="36000" rtlCol="0" anchor="ctr" anchorCtr="1">
            <a:noAutofit/>
          </a:bodyPr>
          <a:lstStyle/>
          <a:p>
            <a:pPr algn="ctr"/>
            <a:r>
              <a:rPr lang="en-US" sz="1600" u="sng" dirty="0" smtClean="0"/>
              <a:t>The DuPont-Bradley Curve and the Four Different Phases of Cultural Development</a:t>
            </a:r>
            <a:endParaRPr lang="en-US" sz="1600" u="sng" dirty="0"/>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32</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1026" name="Picture 2" descr="https://i.pinimg.com/736x/04/ae/ae/04aeae4d66e3927101d880a171bdd41f--dupont-project-managemen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2854" y="2170800"/>
            <a:ext cx="6091490" cy="398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358370"/>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4" name="Google Shape;128;p3"/>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360000" indent="-360000">
              <a:lnSpc>
                <a:spcPct val="90000"/>
              </a:lnSpc>
              <a:spcBef>
                <a:spcPts val="0"/>
              </a:spcBef>
              <a:buClr>
                <a:srgbClr val="000000"/>
              </a:buClr>
              <a:buSzPts val="2000"/>
              <a:buFont typeface="Noto Sans Symbols"/>
              <a:buChar char="⮚"/>
            </a:pPr>
            <a:r>
              <a:rPr lang="en-CA" sz="1600" dirty="0" smtClean="0">
                <a:solidFill>
                  <a:srgbClr val="000000"/>
                </a:solidFill>
                <a:latin typeface="Arial"/>
                <a:ea typeface="Arial"/>
                <a:cs typeface="Arial"/>
              </a:rPr>
              <a:t>Phase 1 (Reactive): lowest level; reactive to incidents; reliance on safety manager from the safety department (not the organizational manager e.g. plant  manager) to make changes after an incident, OHS regulatory citation or new regulation; workers tend to resist compliance; workers take on (unacceptable) risks; work environment is generally negative with high stress level for workers </a:t>
            </a:r>
          </a:p>
          <a:p>
            <a:pPr marL="360000" indent="-360000">
              <a:lnSpc>
                <a:spcPct val="90000"/>
              </a:lnSpc>
              <a:spcBef>
                <a:spcPts val="0"/>
              </a:spcBef>
              <a:buClr>
                <a:srgbClr val="000000"/>
              </a:buClr>
              <a:buSzPts val="2000"/>
              <a:buFont typeface="Noto Sans Symbols"/>
              <a:buChar char="⮚"/>
            </a:pPr>
            <a:endParaRPr lang="en-CA" sz="160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1600" dirty="0" smtClean="0">
                <a:solidFill>
                  <a:srgbClr val="000000"/>
                </a:solidFill>
                <a:latin typeface="Arial"/>
                <a:ea typeface="Arial"/>
                <a:cs typeface="Arial"/>
              </a:rPr>
              <a:t>Phase 2 (Dependent): slightly better with good training &amp; safety rules; fewer losses but stress can still be high; workers comply because they feel have to, not because they want to; put safety manager in role of “the safety cop” who has to check on workers to make sure they are working safely; workers generally comply but still “take short-cuts”; safety manager hired to “fix safety”; safety manager “owns the loss incident”, leads investigation and “owns results”, not the organizational manager i.e. the safety manager is responsible and accountable.</a:t>
            </a:r>
          </a:p>
          <a:p>
            <a:pPr marL="360000" indent="-360000">
              <a:lnSpc>
                <a:spcPct val="90000"/>
              </a:lnSpc>
              <a:spcBef>
                <a:spcPts val="0"/>
              </a:spcBef>
              <a:buClr>
                <a:srgbClr val="000000"/>
              </a:buClr>
              <a:buSzPts val="2000"/>
              <a:buFont typeface="Noto Sans Symbols"/>
              <a:buChar char="⮚"/>
            </a:pPr>
            <a:endParaRPr lang="en-CA" sz="1600" dirty="0" smtClean="0">
              <a:solidFill>
                <a:srgbClr val="000000"/>
              </a:solidFill>
              <a:latin typeface="Arial"/>
              <a:ea typeface="Arial"/>
              <a:cs typeface="Arial"/>
            </a:endParaRPr>
          </a:p>
        </p:txBody>
      </p:sp>
      <p:sp>
        <p:nvSpPr>
          <p:cNvPr id="4" name="Google Shape;166;p6"/>
          <p:cNvSpPr/>
          <p:nvPr/>
        </p:nvSpPr>
        <p:spPr>
          <a:xfrm>
            <a:off x="180000" y="180000"/>
            <a:ext cx="8640000" cy="540000"/>
          </a:xfrm>
          <a:prstGeom prst="rect">
            <a:avLst/>
          </a:prstGeom>
          <a:noFill/>
          <a:ln>
            <a:noFill/>
          </a:ln>
        </p:spPr>
        <p:txBody>
          <a:bodyPr anchor="ctr"/>
          <a:lstStyle/>
          <a:p>
            <a:pPr>
              <a:buFont typeface="Arial" panose="020B0604020202020204" pitchFamily="34" charset="0"/>
              <a:buNone/>
            </a:pPr>
            <a:r>
              <a:rPr lang="en-US" sz="2400" b="0" dirty="0" smtClean="0">
                <a:solidFill>
                  <a:srgbClr val="333399"/>
                </a:solidFill>
                <a:latin typeface="Arial" panose="020B0604020202020204" pitchFamily="34" charset="0"/>
                <a:cs typeface="Arial" panose="020B0604020202020204" pitchFamily="34" charset="0"/>
                <a:sym typeface="Times New Roman"/>
              </a:rPr>
              <a:t>The Phases of The DuPont-Bradley Curve:</a:t>
            </a:r>
            <a:endParaRPr lang="en-US" sz="2400" b="0" dirty="0">
              <a:solidFill>
                <a:srgbClr val="333399"/>
              </a:solidFill>
              <a:latin typeface="Arial" panose="020B0604020202020204" pitchFamily="34" charset="0"/>
              <a:cs typeface="Arial" panose="020B0604020202020204" pitchFamily="34" charset="0"/>
              <a:sym typeface="Times New Roman"/>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33</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8" name="Picture 2" descr="https://i.pinimg.com/736x/04/ae/ae/04aeae4d66e3927101d880a171bdd41f--dupont-project-manage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143" y="3625649"/>
            <a:ext cx="3867713" cy="253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913024"/>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4" name="Google Shape;128;p3"/>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360000" indent="-360000">
              <a:lnSpc>
                <a:spcPct val="90000"/>
              </a:lnSpc>
              <a:spcBef>
                <a:spcPts val="0"/>
              </a:spcBef>
              <a:buClr>
                <a:srgbClr val="000000"/>
              </a:buClr>
              <a:buSzPts val="2000"/>
              <a:buFont typeface="Noto Sans Symbols"/>
              <a:buChar char="⮚"/>
            </a:pPr>
            <a:r>
              <a:rPr lang="en-CA" sz="1600" dirty="0" smtClean="0">
                <a:solidFill>
                  <a:srgbClr val="000000"/>
                </a:solidFill>
                <a:latin typeface="Arial"/>
                <a:ea typeface="Arial"/>
                <a:cs typeface="Arial"/>
              </a:rPr>
              <a:t>Phase 3 (Independent): even better; workplace is proactive; workers have internalized safety requirements, and understand why they are important &amp; know their efforts will be recognized; culture still has room to improve as workers tend to focus more on looking out for themselves; workers begin to stop taking unacceptable risks; evolution of transfer of ownership of loss incidents and investigations from the safety manager to the organizational manager. </a:t>
            </a:r>
          </a:p>
          <a:p>
            <a:pPr marL="360000" indent="-360000">
              <a:lnSpc>
                <a:spcPct val="90000"/>
              </a:lnSpc>
              <a:spcBef>
                <a:spcPts val="0"/>
              </a:spcBef>
              <a:buClr>
                <a:srgbClr val="000000"/>
              </a:buClr>
              <a:buSzPts val="2000"/>
              <a:buFont typeface="Noto Sans Symbols"/>
              <a:buChar char="⮚"/>
            </a:pPr>
            <a:endParaRPr lang="en-CA" sz="1600" dirty="0" smtClean="0">
              <a:solidFill>
                <a:srgbClr val="000000"/>
              </a:solidFill>
              <a:latin typeface="Arial"/>
              <a:ea typeface="Arial"/>
              <a:cs typeface="Arial"/>
            </a:endParaRPr>
          </a:p>
          <a:p>
            <a:pPr marL="360000" indent="-360000">
              <a:lnSpc>
                <a:spcPct val="90000"/>
              </a:lnSpc>
              <a:spcBef>
                <a:spcPts val="0"/>
              </a:spcBef>
              <a:buClr>
                <a:srgbClr val="000000"/>
              </a:buClr>
              <a:buSzPts val="2000"/>
              <a:buFont typeface="Noto Sans Symbols"/>
              <a:buChar char="⮚"/>
            </a:pPr>
            <a:r>
              <a:rPr lang="en-CA" sz="1600" dirty="0" smtClean="0">
                <a:solidFill>
                  <a:srgbClr val="000000"/>
                </a:solidFill>
                <a:latin typeface="Arial"/>
                <a:ea typeface="Arial"/>
                <a:cs typeface="Arial"/>
              </a:rPr>
              <a:t>Phase 4 (Interdependent): gold standard; workers are proactive &amp; engaged; workers take pride in their work &amp; safety record; they do not hesitate to look out for each other &amp; remind fellow workers if they see them cutting safety corners; workers “own their safety”, do not take unacceptable risks i.e. they stop;  transfer of ownership is complete – organizational manager own the loss incident, the investigation, and the results i.e. the organizational manager.</a:t>
            </a:r>
          </a:p>
        </p:txBody>
      </p:sp>
      <p:sp>
        <p:nvSpPr>
          <p:cNvPr id="4" name="Google Shape;166;p6"/>
          <p:cNvSpPr/>
          <p:nvPr/>
        </p:nvSpPr>
        <p:spPr>
          <a:xfrm>
            <a:off x="180000" y="180000"/>
            <a:ext cx="8640000" cy="540000"/>
          </a:xfrm>
          <a:prstGeom prst="rect">
            <a:avLst/>
          </a:prstGeom>
          <a:noFill/>
          <a:ln>
            <a:noFill/>
          </a:ln>
        </p:spPr>
        <p:txBody>
          <a:bodyPr anchor="ctr"/>
          <a:lstStyle/>
          <a:p>
            <a:pPr>
              <a:buFont typeface="Arial" panose="020B0604020202020204" pitchFamily="34" charset="0"/>
              <a:buNone/>
            </a:pPr>
            <a:r>
              <a:rPr lang="en-US" sz="2400" b="0" dirty="0" smtClean="0">
                <a:solidFill>
                  <a:srgbClr val="333399"/>
                </a:solidFill>
                <a:latin typeface="Arial" panose="020B0604020202020204" pitchFamily="34" charset="0"/>
                <a:cs typeface="Arial" panose="020B0604020202020204" pitchFamily="34" charset="0"/>
                <a:sym typeface="Times New Roman"/>
              </a:rPr>
              <a:t>The Phases of The DuPont-Bradley Curve:</a:t>
            </a:r>
            <a:endParaRPr lang="en-US" sz="2400" b="0" dirty="0">
              <a:solidFill>
                <a:srgbClr val="333399"/>
              </a:solidFill>
              <a:latin typeface="Arial" panose="020B0604020202020204" pitchFamily="34" charset="0"/>
              <a:cs typeface="Arial" panose="020B0604020202020204" pitchFamily="34" charset="0"/>
              <a:sym typeface="Times New Roman"/>
            </a:endParaRP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34</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2050" name="Picture 2" descr="https://i.pinimg.com/736x/04/ae/ae/04aeae4d66e3927101d880a171bdd41f--dupont-project-manage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143" y="3625649"/>
            <a:ext cx="3867713" cy="2530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0325899"/>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4" name="Google Shape;128;p3"/>
          <p:cNvSpPr txBox="1">
            <a:spLocks/>
          </p:cNvSpPr>
          <p:nvPr/>
        </p:nvSpPr>
        <p:spPr>
          <a:xfrm>
            <a:off x="180000" y="828000"/>
            <a:ext cx="8640000" cy="5328000"/>
          </a:xfrm>
          <a:prstGeom prst="rect">
            <a:avLst/>
          </a:prstGeom>
          <a:noFill/>
          <a:ln w="9525" cap="flat" cmpd="sng">
            <a:noFill/>
            <a:prstDash val="solid"/>
            <a:miter lim="800000"/>
            <a:headEnd type="none" w="sm" len="sm"/>
            <a:tailEnd type="none" w="sm" len="sm"/>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0680" algn="l" rtl="0">
              <a:lnSpc>
                <a:spcPct val="100000"/>
              </a:lnSpc>
              <a:spcBef>
                <a:spcPts val="640"/>
              </a:spcBef>
              <a:spcAft>
                <a:spcPts val="0"/>
              </a:spcAft>
              <a:buClr>
                <a:schemeClr val="dk2"/>
              </a:buClr>
              <a:buSzPts val="2080"/>
              <a:buFont typeface="Noto Sans Symbols"/>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lnSpc>
                <a:spcPct val="100000"/>
              </a:lnSpc>
              <a:spcBef>
                <a:spcPts val="560"/>
              </a:spcBef>
              <a:spcAft>
                <a:spcPts val="0"/>
              </a:spcAft>
              <a:buClr>
                <a:schemeClr val="dk1"/>
              </a:buClr>
              <a:buSzPts val="2800"/>
              <a:buFont typeface="Times New Roman"/>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lnSpc>
                <a:spcPct val="100000"/>
              </a:lnSpc>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11150" algn="l" rtl="0">
              <a:lnSpc>
                <a:spcPct val="100000"/>
              </a:lnSpc>
              <a:spcBef>
                <a:spcPts val="400"/>
              </a:spcBef>
              <a:spcAft>
                <a:spcPts val="0"/>
              </a:spcAft>
              <a:buClr>
                <a:schemeClr val="dk1"/>
              </a:buClr>
              <a:buSzPts val="13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pPr marL="360000" indent="-360000">
              <a:spcBef>
                <a:spcPts val="0"/>
              </a:spcBef>
              <a:buClr>
                <a:srgbClr val="000000"/>
              </a:buClr>
              <a:buSzPts val="2000"/>
              <a:buNone/>
            </a:pPr>
            <a:r>
              <a:rPr lang="en-CA" sz="1600" b="1" dirty="0" smtClean="0">
                <a:solidFill>
                  <a:srgbClr val="000000"/>
                </a:solidFill>
                <a:latin typeface="Arial"/>
                <a:ea typeface="Arial"/>
                <a:cs typeface="Arial"/>
              </a:rPr>
              <a:t>Our Tenet: Culture drives performance!</a:t>
            </a:r>
          </a:p>
          <a:p>
            <a:pPr marL="360000"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So, to improve performance, leaders need to influence culture. </a:t>
            </a:r>
            <a:endParaRPr lang="en-CA" sz="1600" dirty="0">
              <a:solidFill>
                <a:srgbClr val="000000"/>
              </a:solidFill>
              <a:latin typeface="Arial"/>
              <a:ea typeface="Arial"/>
              <a:cs typeface="Arial"/>
            </a:endParaRPr>
          </a:p>
          <a:p>
            <a:pPr marL="720000" lvl="1"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Many organizations </a:t>
            </a:r>
            <a:r>
              <a:rPr lang="en-CA" sz="1600" dirty="0">
                <a:solidFill>
                  <a:srgbClr val="000000"/>
                </a:solidFill>
                <a:latin typeface="Arial"/>
                <a:ea typeface="Arial"/>
                <a:cs typeface="Arial"/>
              </a:rPr>
              <a:t>think they are well developed into Phase 3, even Phase 4, but in reality the organization is not there. </a:t>
            </a:r>
          </a:p>
          <a:p>
            <a:pPr marL="720000" lvl="1"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As a leader you need to know where your organization is i.e. in which phase of the Bradley Curve is your organization?</a:t>
            </a:r>
          </a:p>
          <a:p>
            <a:pPr marL="360000" lvl="1" indent="-360000">
              <a:spcBef>
                <a:spcPts val="0"/>
              </a:spcBef>
              <a:buClr>
                <a:srgbClr val="000000"/>
              </a:buClr>
              <a:buSzPts val="2000"/>
              <a:buNone/>
            </a:pPr>
            <a:endParaRPr lang="en-US" sz="1600" b="1" dirty="0" smtClean="0">
              <a:solidFill>
                <a:srgbClr val="000000"/>
              </a:solidFill>
              <a:latin typeface="Arial"/>
              <a:ea typeface="Arial"/>
              <a:cs typeface="Arial"/>
            </a:endParaRPr>
          </a:p>
          <a:p>
            <a:pPr marL="0" lvl="1" indent="0">
              <a:spcBef>
                <a:spcPts val="0"/>
              </a:spcBef>
              <a:buClr>
                <a:srgbClr val="000000"/>
              </a:buClr>
              <a:buSzPts val="2000"/>
              <a:buNone/>
            </a:pPr>
            <a:r>
              <a:rPr lang="en-US" sz="1600" b="1" dirty="0" smtClean="0">
                <a:solidFill>
                  <a:srgbClr val="000000"/>
                </a:solidFill>
                <a:latin typeface="Arial"/>
                <a:ea typeface="Arial"/>
                <a:cs typeface="Arial"/>
              </a:rPr>
              <a:t>An organization </a:t>
            </a:r>
            <a:r>
              <a:rPr lang="en-US" sz="1600" b="1" dirty="0">
                <a:solidFill>
                  <a:srgbClr val="000000"/>
                </a:solidFill>
                <a:latin typeface="Arial"/>
                <a:ea typeface="Arial"/>
                <a:cs typeface="Arial"/>
              </a:rPr>
              <a:t>can be analyzed to determine its development along The </a:t>
            </a:r>
            <a:r>
              <a:rPr lang="en-US" sz="1600" b="1" dirty="0" smtClean="0">
                <a:solidFill>
                  <a:srgbClr val="000000"/>
                </a:solidFill>
                <a:latin typeface="Arial"/>
                <a:ea typeface="Arial"/>
                <a:cs typeface="Arial"/>
              </a:rPr>
              <a:t>D-B Curve:</a:t>
            </a:r>
            <a:endParaRPr lang="en-CA" sz="1600" dirty="0" smtClean="0">
              <a:solidFill>
                <a:srgbClr val="000000"/>
              </a:solidFill>
              <a:latin typeface="Arial"/>
              <a:ea typeface="Arial"/>
              <a:cs typeface="Arial"/>
            </a:endParaRPr>
          </a:p>
          <a:p>
            <a:pPr marL="360000" lvl="1"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You can determine which phase by </a:t>
            </a:r>
            <a:r>
              <a:rPr lang="en-CA" sz="1600" dirty="0">
                <a:solidFill>
                  <a:srgbClr val="000000"/>
                </a:solidFill>
                <a:latin typeface="Arial"/>
                <a:ea typeface="Arial"/>
                <a:cs typeface="Arial"/>
              </a:rPr>
              <a:t>analysing your organization</a:t>
            </a:r>
            <a:r>
              <a:rPr lang="en-CA" sz="1600" dirty="0" smtClean="0">
                <a:solidFill>
                  <a:srgbClr val="000000"/>
                </a:solidFill>
                <a:latin typeface="Arial"/>
                <a:ea typeface="Arial"/>
                <a:cs typeface="Arial"/>
              </a:rPr>
              <a:t>:</a:t>
            </a:r>
          </a:p>
          <a:p>
            <a:pPr marL="720000" lvl="1" indent="-360000">
              <a:spcBef>
                <a:spcPts val="0"/>
              </a:spcBef>
              <a:buClr>
                <a:srgbClr val="000000"/>
              </a:buClr>
              <a:buSzPts val="2000"/>
              <a:buFont typeface="Noto Sans Symbols"/>
              <a:buChar char="⮚"/>
            </a:pPr>
            <a:r>
              <a:rPr lang="en-CA" sz="1600" dirty="0">
                <a:solidFill>
                  <a:srgbClr val="000000"/>
                </a:solidFill>
                <a:latin typeface="Arial"/>
                <a:ea typeface="Arial"/>
                <a:cs typeface="Arial"/>
              </a:rPr>
              <a:t>Compare characteristics of each phase in the </a:t>
            </a:r>
            <a:r>
              <a:rPr lang="en-CA" sz="1600" dirty="0" smtClean="0">
                <a:solidFill>
                  <a:srgbClr val="000000"/>
                </a:solidFill>
                <a:latin typeface="Arial"/>
                <a:ea typeface="Arial"/>
                <a:cs typeface="Arial"/>
              </a:rPr>
              <a:t>D-B </a:t>
            </a:r>
            <a:r>
              <a:rPr lang="en-CA" sz="1600" dirty="0">
                <a:solidFill>
                  <a:srgbClr val="000000"/>
                </a:solidFill>
                <a:latin typeface="Arial"/>
                <a:ea typeface="Arial"/>
                <a:cs typeface="Arial"/>
              </a:rPr>
              <a:t>Curve with the characteristics in your organization</a:t>
            </a:r>
            <a:r>
              <a:rPr lang="en-CA" sz="1600" dirty="0" smtClean="0">
                <a:solidFill>
                  <a:srgbClr val="000000"/>
                </a:solidFill>
                <a:latin typeface="Arial"/>
                <a:ea typeface="Arial"/>
                <a:cs typeface="Arial"/>
              </a:rPr>
              <a:t>.</a:t>
            </a:r>
            <a:endParaRPr lang="en-CA" sz="1600" dirty="0">
              <a:solidFill>
                <a:srgbClr val="000000"/>
              </a:solidFill>
              <a:latin typeface="Arial"/>
              <a:ea typeface="Arial"/>
              <a:cs typeface="Arial"/>
            </a:endParaRPr>
          </a:p>
          <a:p>
            <a:pPr marL="720000" lvl="1"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Compare the implementation of various risk management system elements and programs. For example on RME #5 IRIAA: </a:t>
            </a:r>
          </a:p>
          <a:p>
            <a:pPr marL="1080000" lvl="1"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Advanced </a:t>
            </a:r>
            <a:r>
              <a:rPr lang="en-CA" sz="1600" dirty="0">
                <a:solidFill>
                  <a:srgbClr val="000000"/>
                </a:solidFill>
                <a:latin typeface="Arial"/>
                <a:ea typeface="Arial"/>
                <a:cs typeface="Arial"/>
              </a:rPr>
              <a:t>safety cultures </a:t>
            </a:r>
            <a:r>
              <a:rPr lang="en-CA" sz="1600" dirty="0" smtClean="0">
                <a:solidFill>
                  <a:srgbClr val="000000"/>
                </a:solidFill>
                <a:latin typeface="Arial"/>
                <a:ea typeface="Arial"/>
                <a:cs typeface="Arial"/>
              </a:rPr>
              <a:t>are proactive e.g. </a:t>
            </a:r>
            <a:r>
              <a:rPr lang="en-US" sz="1600" dirty="0" smtClean="0">
                <a:solidFill>
                  <a:srgbClr val="000000"/>
                </a:solidFill>
                <a:latin typeface="Arial"/>
                <a:ea typeface="Arial"/>
                <a:cs typeface="Arial"/>
              </a:rPr>
              <a:t>reporting </a:t>
            </a:r>
            <a:r>
              <a:rPr lang="en-US" sz="1600" dirty="0">
                <a:solidFill>
                  <a:srgbClr val="000000"/>
                </a:solidFill>
                <a:latin typeface="Arial"/>
                <a:ea typeface="Arial"/>
                <a:cs typeface="Arial"/>
              </a:rPr>
              <a:t>and investigating near miss </a:t>
            </a:r>
            <a:r>
              <a:rPr lang="en-US" sz="1600" dirty="0" smtClean="0">
                <a:solidFill>
                  <a:srgbClr val="000000"/>
                </a:solidFill>
                <a:latin typeface="Arial"/>
                <a:ea typeface="Arial"/>
                <a:cs typeface="Arial"/>
              </a:rPr>
              <a:t>events with high potential</a:t>
            </a:r>
            <a:r>
              <a:rPr lang="en-US" sz="1600" dirty="0">
                <a:solidFill>
                  <a:srgbClr val="000000"/>
                </a:solidFill>
                <a:latin typeface="Arial"/>
                <a:ea typeface="Arial"/>
                <a:cs typeface="Arial"/>
              </a:rPr>
              <a:t>;</a:t>
            </a:r>
            <a:r>
              <a:rPr lang="en-US" sz="1600" dirty="0" smtClean="0">
                <a:solidFill>
                  <a:srgbClr val="000000"/>
                </a:solidFill>
                <a:latin typeface="Arial"/>
                <a:ea typeface="Arial"/>
                <a:cs typeface="Arial"/>
              </a:rPr>
              <a:t> whereas</a:t>
            </a:r>
          </a:p>
          <a:p>
            <a:pPr marL="1080000" lvl="1"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Cultures at a lower-phase </a:t>
            </a:r>
            <a:r>
              <a:rPr lang="en-CA" sz="1600" dirty="0">
                <a:solidFill>
                  <a:srgbClr val="000000"/>
                </a:solidFill>
                <a:latin typeface="Arial"/>
                <a:ea typeface="Arial"/>
                <a:cs typeface="Arial"/>
              </a:rPr>
              <a:t>of maturity </a:t>
            </a:r>
            <a:r>
              <a:rPr lang="en-CA" sz="1600" dirty="0" smtClean="0">
                <a:solidFill>
                  <a:srgbClr val="000000"/>
                </a:solidFill>
                <a:latin typeface="Arial"/>
                <a:ea typeface="Arial"/>
                <a:cs typeface="Arial"/>
              </a:rPr>
              <a:t>have </a:t>
            </a:r>
            <a:r>
              <a:rPr lang="en-CA" sz="1600" dirty="0">
                <a:solidFill>
                  <a:srgbClr val="000000"/>
                </a:solidFill>
                <a:latin typeface="Arial"/>
                <a:ea typeface="Arial"/>
                <a:cs typeface="Arial"/>
              </a:rPr>
              <a:t>more of a reactive </a:t>
            </a:r>
            <a:r>
              <a:rPr lang="en-CA" sz="1600" dirty="0" smtClean="0">
                <a:solidFill>
                  <a:srgbClr val="000000"/>
                </a:solidFill>
                <a:latin typeface="Arial"/>
                <a:ea typeface="Arial"/>
                <a:cs typeface="Arial"/>
              </a:rPr>
              <a:t>approach </a:t>
            </a:r>
            <a:br>
              <a:rPr lang="en-CA" sz="1600" dirty="0" smtClean="0">
                <a:solidFill>
                  <a:srgbClr val="000000"/>
                </a:solidFill>
                <a:latin typeface="Arial"/>
                <a:ea typeface="Arial"/>
                <a:cs typeface="Arial"/>
              </a:rPr>
            </a:br>
            <a:r>
              <a:rPr lang="en-CA" sz="1600" dirty="0" smtClean="0">
                <a:solidFill>
                  <a:srgbClr val="000000"/>
                </a:solidFill>
                <a:latin typeface="Arial"/>
                <a:ea typeface="Arial"/>
                <a:cs typeface="Arial"/>
              </a:rPr>
              <a:t>e.g. reporting only the most significant events as required by law, and may not even be investigation those events.</a:t>
            </a:r>
          </a:p>
          <a:p>
            <a:pPr marL="360000" indent="-360000">
              <a:spcBef>
                <a:spcPts val="0"/>
              </a:spcBef>
              <a:buClr>
                <a:srgbClr val="000000"/>
              </a:buClr>
              <a:buSzPts val="2000"/>
              <a:buFont typeface="Noto Sans Symbols"/>
              <a:buChar char="⮚"/>
            </a:pPr>
            <a:endParaRPr lang="en-CA" sz="1600" dirty="0" smtClean="0">
              <a:solidFill>
                <a:srgbClr val="000000"/>
              </a:solidFill>
              <a:latin typeface="Arial"/>
              <a:ea typeface="Arial"/>
              <a:cs typeface="Arial"/>
            </a:endParaRPr>
          </a:p>
          <a:p>
            <a:pPr marL="360000" indent="-360000">
              <a:spcBef>
                <a:spcPts val="0"/>
              </a:spcBef>
              <a:buClr>
                <a:srgbClr val="000000"/>
              </a:buClr>
              <a:buSzPts val="2000"/>
              <a:buFont typeface="Noto Sans Symbols"/>
              <a:buChar char="⮚"/>
            </a:pPr>
            <a:r>
              <a:rPr lang="en-CA" sz="1600" dirty="0" smtClean="0">
                <a:solidFill>
                  <a:srgbClr val="000000"/>
                </a:solidFill>
                <a:latin typeface="Arial"/>
                <a:ea typeface="Arial"/>
                <a:cs typeface="Arial"/>
              </a:rPr>
              <a:t>This same approach can be done on any other RM element and program. </a:t>
            </a:r>
          </a:p>
        </p:txBody>
      </p:sp>
      <p:sp>
        <p:nvSpPr>
          <p:cNvPr id="4" name="Google Shape;166;p6"/>
          <p:cNvSpPr/>
          <p:nvPr/>
        </p:nvSpPr>
        <p:spPr>
          <a:xfrm>
            <a:off x="180000" y="180000"/>
            <a:ext cx="8640000" cy="540000"/>
          </a:xfrm>
          <a:prstGeom prst="rect">
            <a:avLst/>
          </a:prstGeom>
          <a:noFill/>
          <a:ln>
            <a:noFill/>
          </a:ln>
        </p:spPr>
        <p:txBody>
          <a:bodyPr anchor="ctr"/>
          <a:lstStyle/>
          <a:p>
            <a:pPr>
              <a:buFont typeface="Arial" panose="020B0604020202020204" pitchFamily="34" charset="0"/>
              <a:buNone/>
            </a:pPr>
            <a:r>
              <a:rPr lang="en-US" sz="2400" b="0" dirty="0" smtClean="0">
                <a:solidFill>
                  <a:srgbClr val="333399"/>
                </a:solidFill>
                <a:latin typeface="Arial" panose="020B0604020202020204" pitchFamily="34" charset="0"/>
                <a:cs typeface="Arial" panose="020B0604020202020204" pitchFamily="34" charset="0"/>
                <a:sym typeface="Times New Roman"/>
              </a:rPr>
              <a:t>How to Apply The DuPont-Bradley Curve:</a:t>
            </a:r>
            <a:endParaRPr lang="en-US" sz="2400" b="0" dirty="0">
              <a:solidFill>
                <a:srgbClr val="333399"/>
              </a:solidFill>
              <a:latin typeface="Arial" panose="020B0604020202020204" pitchFamily="34" charset="0"/>
              <a:cs typeface="Arial" panose="020B0604020202020204" pitchFamily="34" charset="0"/>
              <a:sym typeface="Times New Roman"/>
            </a:endParaRPr>
          </a:p>
        </p:txBody>
      </p:sp>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35</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2650695853"/>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4" name="Google Shape;166;p6"/>
          <p:cNvSpPr/>
          <p:nvPr/>
        </p:nvSpPr>
        <p:spPr>
          <a:xfrm>
            <a:off x="180000" y="180000"/>
            <a:ext cx="8640000" cy="540000"/>
          </a:xfrm>
          <a:prstGeom prst="rect">
            <a:avLst/>
          </a:prstGeom>
          <a:noFill/>
          <a:ln>
            <a:noFill/>
          </a:ln>
        </p:spPr>
        <p:txBody>
          <a:bodyPr anchor="ctr"/>
          <a:lstStyle/>
          <a:p>
            <a:pPr>
              <a:buFont typeface="Arial" panose="020B0604020202020204" pitchFamily="34" charset="0"/>
              <a:buNone/>
            </a:pPr>
            <a:r>
              <a:rPr lang="en-US" sz="2400" b="0" dirty="0" smtClean="0">
                <a:solidFill>
                  <a:srgbClr val="333399"/>
                </a:solidFill>
                <a:latin typeface="Arial" panose="020B0604020202020204" pitchFamily="34" charset="0"/>
                <a:cs typeface="Arial" panose="020B0604020202020204" pitchFamily="34" charset="0"/>
                <a:sym typeface="Times New Roman"/>
              </a:rPr>
              <a:t>Integration of PDCA, RME #6, PECI, &amp; The Bradley Curve:</a:t>
            </a:r>
            <a:endParaRPr lang="en-US" sz="2400" b="0" dirty="0">
              <a:solidFill>
                <a:srgbClr val="333399"/>
              </a:solidFill>
              <a:latin typeface="Arial" panose="020B0604020202020204" pitchFamily="34" charset="0"/>
              <a:cs typeface="Arial" panose="020B0604020202020204" pitchFamily="34" charset="0"/>
              <a:sym typeface="Times New Roman"/>
            </a:endParaRPr>
          </a:p>
        </p:txBody>
      </p:sp>
      <p:sp>
        <p:nvSpPr>
          <p:cNvPr id="6"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36</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pic>
        <p:nvPicPr>
          <p:cNvPr id="3" name="Picture 2"/>
          <p:cNvPicPr>
            <a:picLocks noChangeAspect="1"/>
          </p:cNvPicPr>
          <p:nvPr/>
        </p:nvPicPr>
        <p:blipFill>
          <a:blip r:embed="rId3"/>
          <a:stretch>
            <a:fillRect/>
          </a:stretch>
        </p:blipFill>
        <p:spPr>
          <a:xfrm>
            <a:off x="6267000" y="4248000"/>
            <a:ext cx="2496000" cy="1872000"/>
          </a:xfrm>
          <a:prstGeom prst="rect">
            <a:avLst/>
          </a:prstGeom>
          <a:ln>
            <a:solidFill>
              <a:schemeClr val="tx1"/>
            </a:solidFill>
          </a:ln>
        </p:spPr>
      </p:pic>
      <p:pic>
        <p:nvPicPr>
          <p:cNvPr id="8" name="Picture 7"/>
          <p:cNvPicPr>
            <a:picLocks noChangeAspect="1"/>
          </p:cNvPicPr>
          <p:nvPr/>
        </p:nvPicPr>
        <p:blipFill>
          <a:blip r:embed="rId4"/>
          <a:stretch>
            <a:fillRect/>
          </a:stretch>
        </p:blipFill>
        <p:spPr>
          <a:xfrm>
            <a:off x="3655560" y="3995400"/>
            <a:ext cx="2495999" cy="1872000"/>
          </a:xfrm>
          <a:prstGeom prst="rect">
            <a:avLst/>
          </a:prstGeom>
          <a:ln>
            <a:solidFill>
              <a:schemeClr val="tx1"/>
            </a:solidFill>
          </a:ln>
        </p:spPr>
      </p:pic>
      <p:sp>
        <p:nvSpPr>
          <p:cNvPr id="11"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analysis of an organization using the DuPont-Bradley Curve can essentially examine the sub-culture of an organization; for example,  how it “does work” relating to any risk management system element.</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obvious goal is to improve – advance along the Curve. </a:t>
            </a:r>
          </a:p>
          <a:p>
            <a:pPr marL="36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programs under RME #6 PECI are exactly intended to do this!</a:t>
            </a:r>
          </a:p>
          <a:p>
            <a:pPr marL="720000" indent="-360000" eaLnBrk="0" hangingPunct="0">
              <a:lnSpc>
                <a:spcPct val="100000"/>
              </a:lnSpc>
              <a:spcBef>
                <a:spcPts val="0"/>
              </a:spcBef>
              <a:buClr>
                <a:srgbClr val="000000"/>
              </a:buClr>
              <a:buSzPct val="100000"/>
              <a:buFont typeface="Wingdings" panose="05000000000000000000" pitchFamily="2" charset="2"/>
              <a:buChar char="Ø"/>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the application of #6 PECI is the application of Plan-Do-Check-Act at the organizational (system / program) level. </a:t>
            </a:r>
          </a:p>
        </p:txBody>
      </p:sp>
      <p:pic>
        <p:nvPicPr>
          <p:cNvPr id="9" name="Picture 2" descr="https://i.pinimg.com/736x/04/ae/ae/04aeae4d66e3927101d880a171bdd41f--dupont-project-management.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711" y="3124200"/>
            <a:ext cx="3132408" cy="20492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164500"/>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432000" indent="-432000" eaLnBrk="0" hangingPunct="0">
              <a:lnSpc>
                <a:spcPct val="100000"/>
              </a:lnSpc>
              <a:spcBef>
                <a:spcPts val="0"/>
              </a:spcBef>
              <a:buClr>
                <a:srgbClr val="000000"/>
              </a:buClr>
              <a:buSzPct val="100000"/>
              <a:buFont typeface="Wingdings" panose="05000000000000000000" pitchFamily="2" charset="2"/>
              <a:buChar char="Ø"/>
            </a:pPr>
            <a:endPar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rgbClr val="FFFFFF">
              <a:alpha val="6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eaLnBrk="1" hangingPunct="1">
              <a:lnSpc>
                <a:spcPct val="100000"/>
              </a:lnSpc>
              <a:spcBef>
                <a:spcPct val="0"/>
              </a:spcBef>
              <a:buClrTx/>
              <a:buNone/>
            </a:pPr>
            <a:r>
              <a:rPr lang="en-US" altLang="en-US" sz="2400" b="0" dirty="0" smtClean="0">
                <a:solidFill>
                  <a:schemeClr val="accent2"/>
                </a:solidFill>
                <a:latin typeface="Arial" panose="020B0604020202020204" pitchFamily="34" charset="0"/>
                <a:ea typeface="+mj-ea"/>
                <a:cs typeface="Arial" panose="020B0604020202020204" pitchFamily="34" charset="0"/>
              </a:rPr>
              <a:t>Summary: Leadership, Culture, and Performance</a:t>
            </a:r>
            <a:endParaRPr lang="en-US" altLang="en-US" sz="2400" b="0" dirty="0">
              <a:solidFill>
                <a:schemeClr val="accent2"/>
              </a:solidFill>
              <a:latin typeface="Arial" panose="020B0604020202020204" pitchFamily="34" charset="0"/>
              <a:ea typeface="+mj-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37</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
        <p:nvSpPr>
          <p:cNvPr id="5" name="Isosceles Triangle 4"/>
          <p:cNvSpPr/>
          <p:nvPr/>
        </p:nvSpPr>
        <p:spPr>
          <a:xfrm>
            <a:off x="3309257" y="838200"/>
            <a:ext cx="2286472" cy="1954792"/>
          </a:xfrm>
          <a:prstGeom prst="triangle">
            <a:avLst>
              <a:gd name="adj" fmla="val 50697"/>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ctr"/>
            <a:endParaRPr lang="en-US" sz="1600" dirty="0">
              <a:solidFill>
                <a:schemeClr val="tx1"/>
              </a:solidFill>
            </a:endParaRPr>
          </a:p>
        </p:txBody>
      </p:sp>
      <p:sp>
        <p:nvSpPr>
          <p:cNvPr id="6" name="Trapezoid 5"/>
          <p:cNvSpPr/>
          <p:nvPr/>
        </p:nvSpPr>
        <p:spPr>
          <a:xfrm>
            <a:off x="2666999" y="3297161"/>
            <a:ext cx="3528000" cy="828000"/>
          </a:xfrm>
          <a:prstGeom prst="trapezoid">
            <a:avLst>
              <a:gd name="adj" fmla="val 58631"/>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a:solidFill>
                  <a:schemeClr val="tx1"/>
                </a:solidFill>
              </a:rPr>
              <a:t>Culture</a:t>
            </a:r>
          </a:p>
        </p:txBody>
      </p:sp>
      <p:sp>
        <p:nvSpPr>
          <p:cNvPr id="11" name="Trapezoid 10"/>
          <p:cNvSpPr/>
          <p:nvPr/>
        </p:nvSpPr>
        <p:spPr>
          <a:xfrm>
            <a:off x="2057400" y="4629330"/>
            <a:ext cx="4752000" cy="828000"/>
          </a:xfrm>
          <a:prstGeom prst="trapezoid">
            <a:avLst>
              <a:gd name="adj" fmla="val 59680"/>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Leadership Actions</a:t>
            </a:r>
            <a:endParaRPr lang="en-US" dirty="0">
              <a:solidFill>
                <a:schemeClr val="tx1"/>
              </a:solidFill>
            </a:endParaRPr>
          </a:p>
        </p:txBody>
      </p:sp>
      <p:sp>
        <p:nvSpPr>
          <p:cNvPr id="22" name="Rectangle 21"/>
          <p:cNvSpPr/>
          <p:nvPr/>
        </p:nvSpPr>
        <p:spPr>
          <a:xfrm>
            <a:off x="3352328" y="1735969"/>
            <a:ext cx="2286472" cy="7786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1" forceAA="0" compatLnSpc="1">
            <a:prstTxWarp prst="textNoShape">
              <a:avLst/>
            </a:prstTxWarp>
            <a:noAutofit/>
          </a:bodyPr>
          <a:lstStyle/>
          <a:p>
            <a:pPr algn="ctr"/>
            <a:r>
              <a:rPr lang="en-US" dirty="0" smtClean="0">
                <a:solidFill>
                  <a:schemeClr val="tx1"/>
                </a:solidFill>
              </a:rPr>
              <a:t>Performance</a:t>
            </a:r>
            <a:endParaRPr lang="en-US" dirty="0">
              <a:solidFill>
                <a:schemeClr val="tx1"/>
              </a:solidFill>
            </a:endParaRPr>
          </a:p>
        </p:txBody>
      </p:sp>
      <p:sp>
        <p:nvSpPr>
          <p:cNvPr id="24" name="Up Arrow 23"/>
          <p:cNvSpPr/>
          <p:nvPr/>
        </p:nvSpPr>
        <p:spPr>
          <a:xfrm>
            <a:off x="3647399" y="3966329"/>
            <a:ext cx="1534200" cy="828001"/>
          </a:xfrm>
          <a:prstGeom prst="up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 Arrow 24"/>
          <p:cNvSpPr/>
          <p:nvPr/>
        </p:nvSpPr>
        <p:spPr>
          <a:xfrm>
            <a:off x="3707099" y="2627992"/>
            <a:ext cx="1534200" cy="834168"/>
          </a:xfrm>
          <a:prstGeom prst="upArrow">
            <a:avLst/>
          </a:prstGeom>
          <a:solidFill>
            <a:srgbClr val="00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lt;strong&gt;Shark&lt;/strong&gt; by Ironfruit on DeviantAr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4151142" flipH="1">
            <a:off x="2215753" y="2139502"/>
            <a:ext cx="4559622" cy="3653651"/>
          </a:xfrm>
          <a:prstGeom prst="rect">
            <a:avLst/>
          </a:prstGeom>
        </p:spPr>
      </p:pic>
    </p:spTree>
    <p:extLst>
      <p:ext uri="{BB962C8B-B14F-4D97-AF65-F5344CB8AC3E}">
        <p14:creationId xmlns:p14="http://schemas.microsoft.com/office/powerpoint/2010/main" val="1765600035"/>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chemeClr val="bg1"/>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performance is determined by the culture of the organization.</a:t>
            </a:r>
          </a:p>
          <a:p>
            <a:pPr marL="720000" marR="0" lvl="1"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When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corporate culture is improved, safety performance improves.</a:t>
            </a:r>
          </a:p>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Safety culture is determined by the actions of leaders!</a:t>
            </a:r>
          </a:p>
          <a:p>
            <a:pPr marL="720000" marR="0" lvl="1"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set expectations through communication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and actions (e.g</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the “Tone at the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Top” … RME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a:p>
            <a:pPr marL="720000" marR="0" lvl="1"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leaders actions (practices, behaviours –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whether positive or negative)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are the strongest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r>
            <a:b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b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form </a:t>
            </a:r>
            <a:r>
              <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of </a:t>
            </a:r>
            <a:r>
              <a:rPr kumimoji="0" lang="en-US"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messaging.</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can efficiently improve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culture, and thereby improve safety </a:t>
            </a: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performance, by carefully </a:t>
            </a:r>
            <a:r>
              <a:rPr kumimoji="0" lang="en-US" altLang="en-US"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reviewing SC/SP/near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miss/incident reports, and </a:t>
            </a: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screening for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those with </a:t>
            </a: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r>
              <a:rPr kumimoji="0" lang="en-US" altLang="en-US" b="0" i="0" u="none" strike="noStrike" kern="1200" cap="none" spc="0" normalizeH="0" baseline="0" noProof="0" dirty="0" err="1"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HiPo</a:t>
            </a: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impacts, and focusing limited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intervention </a:t>
            </a: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resources on these.</a:t>
            </a: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Leaders can assess the development of an organization using the integration of PDCA, #</a:t>
            </a:r>
            <a:r>
              <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6 PECI, and The DuPont-Bradley </a:t>
            </a:r>
            <a:r>
              <a:rPr kumimoji="0" lang="en-US" altLang="en-US"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Curve.</a:t>
            </a: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a:extLst/>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Summary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&amp;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Key </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Lesson: </a:t>
            </a: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“Actions Speak Louder than Words</a:t>
            </a: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pic>
        <p:nvPicPr>
          <p:cNvPr id="2" name="Picture 1"/>
          <p:cNvPicPr>
            <a:picLocks noChangeAspect="1"/>
          </p:cNvPicPr>
          <p:nvPr/>
        </p:nvPicPr>
        <p:blipFill>
          <a:blip r:embed="rId3"/>
          <a:stretch>
            <a:fillRect/>
          </a:stretch>
        </p:blipFill>
        <p:spPr>
          <a:xfrm>
            <a:off x="6477000" y="1600200"/>
            <a:ext cx="2158191" cy="2100309"/>
          </a:xfrm>
          <a:prstGeom prst="rect">
            <a:avLst/>
          </a:prstGeom>
        </p:spPr>
      </p:pic>
      <p:sp>
        <p:nvSpPr>
          <p:cNvPr id="5"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38</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lvl="0" algn="ctr" eaLnBrk="1" fontAlgn="auto" hangingPunct="1">
              <a:spcBef>
                <a:spcPts val="0"/>
              </a:spcBef>
              <a:spcAft>
                <a:spcPts val="0"/>
              </a:spcAft>
              <a:buClr>
                <a:srgbClr val="000000"/>
              </a:buClr>
              <a:buSzPts val="1600"/>
            </a:pPr>
            <a:r>
              <a:rPr lang="en-US" sz="1200" i="1" kern="0" dirty="0" smtClean="0">
                <a:solidFill>
                  <a:srgbClr val="000000"/>
                </a:solidFill>
                <a:ea typeface="Times New Roman"/>
                <a:cs typeface="Arial" panose="020B0604020202020204" pitchFamily="34" charset="0"/>
                <a:sym typeface="Times New Roman"/>
              </a:rPr>
              <a:t>Chapter 7.5: The Importance of Leadership and Links</a:t>
            </a:r>
            <a:endParaRPr lang="en-US" sz="1200" i="1" kern="0" dirty="0">
              <a:solidFill>
                <a:srgbClr val="000000"/>
              </a:solidFill>
              <a:ea typeface="Times New Roman"/>
              <a:cs typeface="Arial" panose="020B0604020202020204" pitchFamily="34" charset="0"/>
              <a:sym typeface="Times New Roman"/>
            </a:endParaRPr>
          </a:p>
        </p:txBody>
      </p:sp>
    </p:spTree>
    <p:extLst>
      <p:ext uri="{BB962C8B-B14F-4D97-AF65-F5344CB8AC3E}">
        <p14:creationId xmlns:p14="http://schemas.microsoft.com/office/powerpoint/2010/main" val="3643822549"/>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70125</TotalTime>
  <Words>4715</Words>
  <Application>Microsoft Office PowerPoint</Application>
  <PresentationFormat>On-screen Show (4:3)</PresentationFormat>
  <Paragraphs>647</Paragraphs>
  <Slides>38</Slides>
  <Notes>38</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38</vt:i4>
      </vt:variant>
    </vt:vector>
  </HeadingPairs>
  <TitlesOfParts>
    <vt:vector size="49" baseType="lpstr">
      <vt:lpstr>ＭＳ Ｐゴシック</vt:lpstr>
      <vt:lpstr>Arial</vt:lpstr>
      <vt:lpstr>Calibri</vt:lpstr>
      <vt:lpstr>Noto Sans Symbols</vt:lpstr>
      <vt:lpstr>Times New Roman</vt:lpstr>
      <vt:lpstr>Tw Cen MT</vt:lpstr>
      <vt:lpstr>Verdana</vt:lpstr>
      <vt:lpstr>Wingdings</vt:lpstr>
      <vt:lpstr>Default Design</vt:lpstr>
      <vt:lpstr>1_Default Design</vt:lpstr>
      <vt:lpstr>2_Default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JR Cocchio</cp:lastModifiedBy>
  <cp:revision>2018</cp:revision>
  <cp:lastPrinted>2018-12-17T22:21:47Z</cp:lastPrinted>
  <dcterms:created xsi:type="dcterms:W3CDTF">2007-03-28T16:18:47Z</dcterms:created>
  <dcterms:modified xsi:type="dcterms:W3CDTF">2021-10-18T16:48:55Z</dcterms:modified>
</cp:coreProperties>
</file>