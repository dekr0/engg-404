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895" r:id="rId2"/>
    <p:sldId id="880" r:id="rId3"/>
    <p:sldId id="912" r:id="rId4"/>
    <p:sldId id="913" r:id="rId5"/>
    <p:sldId id="916" r:id="rId6"/>
    <p:sldId id="917" r:id="rId7"/>
    <p:sldId id="918" r:id="rId8"/>
    <p:sldId id="914" r:id="rId9"/>
    <p:sldId id="920" r:id="rId10"/>
    <p:sldId id="911" r:id="rId11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9E92DFA-6333-4D24-89B4-B39EC0786CAA}">
          <p14:sldIdLst>
            <p14:sldId id="895"/>
            <p14:sldId id="880"/>
            <p14:sldId id="912"/>
            <p14:sldId id="913"/>
            <p14:sldId id="916"/>
            <p14:sldId id="917"/>
            <p14:sldId id="918"/>
            <p14:sldId id="914"/>
            <p14:sldId id="920"/>
            <p14:sldId id="91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576">
          <p15:clr>
            <a:srgbClr val="A4A3A4"/>
          </p15:clr>
        </p15:guide>
        <p15:guide id="2" pos="379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 userDrawn="1">
          <p15:clr>
            <a:srgbClr val="A4A3A4"/>
          </p15:clr>
        </p15:guide>
        <p15:guide id="2" pos="2209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Joel Gehman" initials="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00"/>
    <a:srgbClr val="0000FF"/>
    <a:srgbClr val="0000CC"/>
    <a:srgbClr val="F8F8F8"/>
    <a:srgbClr val="F5D7F1"/>
    <a:srgbClr val="5F5F5F"/>
    <a:srgbClr val="DDDDDD"/>
    <a:srgbClr val="FBA3E8"/>
    <a:srgbClr val="333333"/>
    <a:srgbClr val="BDB1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549" autoAdjust="0"/>
    <p:restoredTop sz="98116" autoAdjust="0"/>
  </p:normalViewPr>
  <p:slideViewPr>
    <p:cSldViewPr>
      <p:cViewPr varScale="1">
        <p:scale>
          <a:sx n="70" d="100"/>
          <a:sy n="70" d="100"/>
        </p:scale>
        <p:origin x="1220" y="56"/>
      </p:cViewPr>
      <p:guideLst>
        <p:guide orient="horz" pos="576"/>
        <p:guide pos="379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>
        <p:scale>
          <a:sx n="66" d="100"/>
          <a:sy n="66" d="100"/>
        </p:scale>
        <p:origin x="-2634" y="222"/>
      </p:cViewPr>
      <p:guideLst>
        <p:guide orient="horz" pos="2928"/>
        <p:guide pos="220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3037146" cy="464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6" tIns="46568" rIns="93136" bIns="46568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01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1654" y="1"/>
            <a:ext cx="3037146" cy="464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6" tIns="46568" rIns="93136" bIns="46568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 b="0">
                <a:latin typeface="Arial" charset="0"/>
              </a:defRPr>
            </a:lvl1pPr>
          </a:lstStyle>
          <a:p>
            <a:pPr>
              <a:defRPr/>
            </a:pPr>
            <a:fld id="{25E55AEC-8BF8-47AA-8A9C-C1CC4D3D3CD7}" type="datetimeFigureOut">
              <a:rPr lang="en-US"/>
              <a:pPr>
                <a:defRPr/>
              </a:pPr>
              <a:t>11/14/2021</a:t>
            </a:fld>
            <a:endParaRPr lang="en-US"/>
          </a:p>
        </p:txBody>
      </p:sp>
      <p:sp>
        <p:nvSpPr>
          <p:cNvPr id="2201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8830312"/>
            <a:ext cx="3037146" cy="464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6" tIns="46568" rIns="93136" bIns="46568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01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1654" y="8830312"/>
            <a:ext cx="3037146" cy="464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6" tIns="46568" rIns="93136" bIns="46568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 b="0">
                <a:latin typeface="Arial" charset="0"/>
              </a:defRPr>
            </a:lvl1pPr>
          </a:lstStyle>
          <a:p>
            <a:pPr>
              <a:defRPr/>
            </a:pPr>
            <a:fld id="{E75F24CD-7E4C-4840-9EE0-3BA263838CC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17162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37146" cy="464504"/>
          </a:xfrm>
          <a:prstGeom prst="rect">
            <a:avLst/>
          </a:prstGeom>
        </p:spPr>
        <p:txBody>
          <a:bodyPr vert="horz" wrap="square" lIns="93136" tIns="46568" rIns="93136" bIns="46568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1654" y="1"/>
            <a:ext cx="3037146" cy="464504"/>
          </a:xfrm>
          <a:prstGeom prst="rect">
            <a:avLst/>
          </a:prstGeom>
        </p:spPr>
        <p:txBody>
          <a:bodyPr vert="horz" wrap="square" lIns="93136" tIns="46568" rIns="93136" bIns="46568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pPr>
              <a:defRPr/>
            </a:pPr>
            <a:fld id="{B38EBD9A-77E5-4352-9685-9DCF1AB5D0AE}" type="datetimeFigureOut">
              <a:rPr lang="en-US"/>
              <a:pPr>
                <a:defRPr/>
              </a:pPr>
              <a:t>11/14/2021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8500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36" tIns="46568" rIns="93136" bIns="46568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0881" y="4415157"/>
            <a:ext cx="5608640" cy="4183696"/>
          </a:xfrm>
          <a:prstGeom prst="rect">
            <a:avLst/>
          </a:prstGeom>
        </p:spPr>
        <p:txBody>
          <a:bodyPr vert="horz" wrap="square" lIns="93136" tIns="46568" rIns="93136" bIns="46568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8830312"/>
            <a:ext cx="3037146" cy="464504"/>
          </a:xfrm>
          <a:prstGeom prst="rect">
            <a:avLst/>
          </a:prstGeom>
        </p:spPr>
        <p:txBody>
          <a:bodyPr vert="horz" wrap="square" lIns="93136" tIns="46568" rIns="93136" bIns="46568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1654" y="8830312"/>
            <a:ext cx="3037146" cy="464504"/>
          </a:xfrm>
          <a:prstGeom prst="rect">
            <a:avLst/>
          </a:prstGeom>
        </p:spPr>
        <p:txBody>
          <a:bodyPr vert="horz" wrap="square" lIns="93136" tIns="46568" rIns="93136" bIns="46568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pPr>
              <a:defRPr/>
            </a:pPr>
            <a:fld id="{4A7289C4-4137-4B30-96C9-7C06C822912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32138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1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baseline="0" dirty="0"/>
          </a:p>
        </p:txBody>
      </p:sp>
    </p:spTree>
    <p:extLst>
      <p:ext uri="{BB962C8B-B14F-4D97-AF65-F5344CB8AC3E}">
        <p14:creationId xmlns:p14="http://schemas.microsoft.com/office/powerpoint/2010/main" val="18007670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2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3931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3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25077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4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25974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5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60860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6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22574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748005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8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5674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62806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 defTabSz="9366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366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366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366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366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366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366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366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366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67FB433E-B2BE-4F8E-9362-C5950E381217}" type="datetime1">
              <a:rPr lang="en-US" altLang="en-US" sz="1200"/>
              <a:pPr/>
              <a:t>11/14/2021</a:t>
            </a:fld>
            <a:endParaRPr lang="en-US" altLang="en-US" sz="1200"/>
          </a:p>
        </p:txBody>
      </p:sp>
      <p:sp>
        <p:nvSpPr>
          <p:cNvPr id="17408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66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366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366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366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366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366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366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366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366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6A3F1085-B46D-4221-A134-30F2D94A60BB}" type="slidenum">
              <a:rPr lang="en-US" altLang="en-US" sz="1200"/>
              <a:pPr/>
              <a:t>10</a:t>
            </a:fld>
            <a:endParaRPr lang="en-US" altLang="en-US" sz="1200"/>
          </a:p>
        </p:txBody>
      </p:sp>
      <p:sp>
        <p:nvSpPr>
          <p:cNvPr id="174084" name="Rectangle 7"/>
          <p:cNvSpPr txBox="1">
            <a:spLocks noGrp="1" noChangeArrowheads="1"/>
          </p:cNvSpPr>
          <p:nvPr/>
        </p:nvSpPr>
        <p:spPr bwMode="auto">
          <a:xfrm>
            <a:off x="3956572" y="8958495"/>
            <a:ext cx="3025545" cy="4717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581" tIns="47789" rIns="95581" bIns="47789" anchor="b"/>
          <a:lstStyle>
            <a:lvl1pPr defTabSz="9556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55650" indent="-290513" defTabSz="9556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62050" indent="-231775" defTabSz="9556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27188" indent="-231775" defTabSz="9556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90738" indent="-233363" defTabSz="9556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47938" indent="-233363" defTabSz="9556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3005138" indent="-233363" defTabSz="9556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62338" indent="-233363" defTabSz="9556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919538" indent="-233363" defTabSz="9556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1113FA26-F495-40FA-8CA3-216A94C1DA1B}" type="slidenum">
              <a:rPr lang="en-US" altLang="en-US" sz="1300"/>
              <a:pPr algn="r"/>
              <a:t>10</a:t>
            </a:fld>
            <a:endParaRPr lang="en-US" altLang="en-US" sz="1300"/>
          </a:p>
        </p:txBody>
      </p:sp>
      <p:sp>
        <p:nvSpPr>
          <p:cNvPr id="174085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38238" y="709613"/>
            <a:ext cx="4710112" cy="3533775"/>
          </a:xfrm>
          <a:ln/>
        </p:spPr>
      </p:sp>
      <p:sp>
        <p:nvSpPr>
          <p:cNvPr id="174086" name="Notes Placeholder 2"/>
          <p:cNvSpPr>
            <a:spLocks noGrp="1"/>
          </p:cNvSpPr>
          <p:nvPr>
            <p:ph type="body" idx="1"/>
          </p:nvPr>
        </p:nvSpPr>
        <p:spPr>
          <a:xfrm>
            <a:off x="931029" y="4477123"/>
            <a:ext cx="5120060" cy="4243385"/>
          </a:xfrm>
          <a:noFill/>
        </p:spPr>
        <p:txBody>
          <a:bodyPr wrap="none" lIns="94724" tIns="47363" rIns="94724" bIns="47363"/>
          <a:lstStyle/>
          <a:p>
            <a:endParaRPr lang="en-CA" altLang="en-US" smtClean="0">
              <a:ea typeface="ＭＳ Ｐゴシック" panose="020B0600070205080204" pitchFamily="34" charset="-128"/>
            </a:endParaRPr>
          </a:p>
        </p:txBody>
      </p:sp>
      <p:sp>
        <p:nvSpPr>
          <p:cNvPr id="174087" name="Slide Number Placeholder 3"/>
          <p:cNvSpPr txBox="1">
            <a:spLocks noGrp="1"/>
          </p:cNvSpPr>
          <p:nvPr/>
        </p:nvSpPr>
        <p:spPr bwMode="auto">
          <a:xfrm>
            <a:off x="3954200" y="8958495"/>
            <a:ext cx="3027917" cy="4717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98" tIns="47549" rIns="95098" bIns="47549" anchor="b"/>
          <a:lstStyle>
            <a:lvl1pPr defTabSz="9112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112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112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112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112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B0D8560-A881-4723-A282-B1C81640168A}" type="slidenum">
              <a:rPr lang="en-US" altLang="en-US"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</a:pPr>
              <a:t>10</a:t>
            </a:fld>
            <a:endParaRPr lang="en-US" altLang="en-US">
              <a:cs typeface="Arial" panose="020B0604020202020204" pitchFamily="34" charset="0"/>
            </a:endParaRPr>
          </a:p>
        </p:txBody>
      </p:sp>
      <p:sp>
        <p:nvSpPr>
          <p:cNvPr id="2" name="Header Placeholder 1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2018-2019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686283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905000"/>
            <a:ext cx="7772400" cy="1470025"/>
          </a:xfrm>
        </p:spPr>
        <p:txBody>
          <a:bodyPr/>
          <a:lstStyle>
            <a:lvl1pPr>
              <a:spcBef>
                <a:spcPct val="20000"/>
              </a:spcBef>
              <a:defRPr sz="3600" smtClean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60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148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Font typeface="Wingdings" pitchFamily="2" charset="2"/>
              <a:buNone/>
              <a:defRPr smtClean="0"/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09349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3389" y="1120588"/>
            <a:ext cx="8153400" cy="5105400"/>
          </a:xfrm>
          <a:prstGeom prst="rect">
            <a:avLst/>
          </a:prstGeom>
        </p:spPr>
        <p:txBody>
          <a:bodyPr/>
          <a:lstStyle>
            <a:lvl1pPr marL="342900" indent="-342900">
              <a:buClrTx/>
              <a:buFont typeface="Wingdings" charset="2"/>
              <a:buChar char="§"/>
              <a:defRPr sz="2400">
                <a:solidFill>
                  <a:schemeClr val="tx1"/>
                </a:solidFill>
              </a:defRPr>
            </a:lvl1pPr>
            <a:lvl2pPr marL="742950" indent="-285750">
              <a:buClrTx/>
              <a:buFont typeface="Arial"/>
              <a:buChar char="•"/>
              <a:defRPr sz="2200">
                <a:solidFill>
                  <a:schemeClr val="tx1"/>
                </a:solidFill>
              </a:defRPr>
            </a:lvl2pPr>
            <a:lvl3pPr marL="1143000" indent="-228600">
              <a:buClrTx/>
              <a:buFont typeface="Arial"/>
              <a:buChar char="•"/>
              <a:defRPr sz="2000">
                <a:solidFill>
                  <a:schemeClr val="tx1"/>
                </a:solidFill>
              </a:defRPr>
            </a:lvl3pPr>
            <a:lvl4pPr marL="1600200" indent="-228600">
              <a:buClrTx/>
              <a:buFont typeface="Arial"/>
              <a:buChar char="•"/>
              <a:defRPr>
                <a:solidFill>
                  <a:schemeClr val="tx1"/>
                </a:solidFill>
              </a:defRPr>
            </a:lvl4pPr>
            <a:lvl5pPr marL="2057400" indent="-228600">
              <a:buClrTx/>
              <a:buFont typeface="Arial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0803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7850" y="168275"/>
            <a:ext cx="8229600" cy="563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77850" y="758825"/>
            <a:ext cx="4038600" cy="5718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8850" y="758825"/>
            <a:ext cx="4038600" cy="5718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135792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28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118CC2-884A-4430-8B4F-9976F3C29C24}" type="datetimeFigureOut">
              <a:rPr lang="en-US"/>
              <a:pPr>
                <a:defRPr/>
              </a:pPr>
              <a:t>11/14/2021</a:t>
            </a:fld>
            <a:endParaRPr lang="en-US"/>
          </a:p>
        </p:txBody>
      </p:sp>
      <p:sp>
        <p:nvSpPr>
          <p:cNvPr id="3" name="Rectangle 1029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1030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823322-A425-42F9-B4E6-DE1BA6748FF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68737125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68275"/>
            <a:ext cx="8153400" cy="56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enter page Title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76200" y="762000"/>
            <a:ext cx="8763000" cy="1588"/>
          </a:xfrm>
          <a:prstGeom prst="line">
            <a:avLst/>
          </a:prstGeom>
          <a:ln w="9525">
            <a:solidFill>
              <a:srgbClr val="AA9C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4"/>
          <p:cNvCxnSpPr/>
          <p:nvPr/>
        </p:nvCxnSpPr>
        <p:spPr>
          <a:xfrm>
            <a:off x="76200" y="6248400"/>
            <a:ext cx="8763000" cy="1588"/>
          </a:xfrm>
          <a:prstGeom prst="line">
            <a:avLst/>
          </a:prstGeom>
          <a:ln w="9525">
            <a:solidFill>
              <a:srgbClr val="AA9C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2" descr="http://www.nanobridge.ca/Portals/0/Images/eng-logo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999" y="6307038"/>
            <a:ext cx="1838325" cy="552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49" r:id="rId1"/>
    <p:sldLayoutId id="2147484147" r:id="rId2"/>
    <p:sldLayoutId id="2147484148" r:id="rId3"/>
    <p:sldLayoutId id="2147484150" r:id="rId4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accent2"/>
          </a:solidFill>
          <a:latin typeface="Calibri" pitchFamily="34" charset="0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AA9C8F"/>
        </a:buClr>
        <a:buFont typeface="Wingdings" pitchFamily="2" charset="2"/>
        <a:buChar char="§"/>
        <a:defRPr sz="2800">
          <a:solidFill>
            <a:srgbClr val="4D4D4D"/>
          </a:solidFill>
          <a:latin typeface="Calibri" pitchFamily="34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600">
          <a:solidFill>
            <a:schemeClr val="tx1"/>
          </a:solidFill>
          <a:latin typeface="Calibri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400">
          <a:solidFill>
            <a:schemeClr val="tx1"/>
          </a:solidFill>
          <a:latin typeface="Calibri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228600" y="838200"/>
            <a:ext cx="8610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2"/>
                </a:solidFill>
                <a:latin typeface="Calibri" pitchFamily="34" charset="0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CA" altLang="en-US" i="1" kern="0" dirty="0" smtClean="0">
                <a:solidFill>
                  <a:srgbClr val="000099"/>
                </a:solidFill>
                <a:ea typeface="ＭＳ Ｐゴシック" panose="020B0600070205080204" pitchFamily="34" charset="-128"/>
              </a:rPr>
              <a:t>On Becoming a </a:t>
            </a:r>
            <a:br>
              <a:rPr lang="en-CA" altLang="en-US" i="1" kern="0" dirty="0" smtClean="0">
                <a:solidFill>
                  <a:srgbClr val="000099"/>
                </a:solidFill>
                <a:ea typeface="ＭＳ Ｐゴシック" panose="020B0600070205080204" pitchFamily="34" charset="-128"/>
              </a:rPr>
            </a:br>
            <a:r>
              <a:rPr lang="en-CA" altLang="en-US" i="1" kern="0" dirty="0" smtClean="0">
                <a:solidFill>
                  <a:srgbClr val="000099"/>
                </a:solidFill>
                <a:ea typeface="ＭＳ Ｐゴシック" panose="020B0600070205080204" pitchFamily="34" charset="-128"/>
              </a:rPr>
              <a:t>Leader in Risk Management</a:t>
            </a:r>
            <a:endParaRPr lang="en-US" altLang="en-US" i="1" kern="0" dirty="0">
              <a:solidFill>
                <a:srgbClr val="000099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8" name="Rectangle 3"/>
          <p:cNvSpPr>
            <a:spLocks noGrp="1" noChangeArrowheads="1"/>
          </p:cNvSpPr>
          <p:nvPr>
            <p:ph type="subTitle" idx="4294967295"/>
          </p:nvPr>
        </p:nvSpPr>
        <p:spPr>
          <a:xfrm>
            <a:off x="838200" y="2105520"/>
            <a:ext cx="7315201" cy="2161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indent="0" algn="ctr" eaLnBrk="1" hangingPunct="1">
              <a:spcBef>
                <a:spcPct val="0"/>
              </a:spcBef>
              <a:buNone/>
            </a:pPr>
            <a:r>
              <a:rPr lang="en-US" altLang="en-US" sz="3200" b="1" dirty="0" smtClean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ENGG404 - </a:t>
            </a:r>
            <a:r>
              <a:rPr lang="en-US" altLang="en-US" sz="32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Lecture</a:t>
            </a:r>
          </a:p>
          <a:p>
            <a:pPr marL="0" indent="0" algn="ctr" eaLnBrk="1" hangingPunct="1">
              <a:spcBef>
                <a:spcPct val="0"/>
              </a:spcBef>
              <a:buNone/>
            </a:pPr>
            <a:r>
              <a:rPr lang="en-US" altLang="en-US" sz="32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Final </a:t>
            </a:r>
            <a:r>
              <a:rPr lang="en-US" altLang="en-US" sz="3200" b="1" dirty="0" smtClean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Lecture on Career </a:t>
            </a:r>
            <a:r>
              <a:rPr lang="en-US" altLang="en-US" sz="32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Lessons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837290-7F22-4D42-BFDD-D5AD4C09C01F}"/>
              </a:ext>
            </a:extLst>
          </p:cNvPr>
          <p:cNvSpPr txBox="1"/>
          <p:nvPr/>
        </p:nvSpPr>
        <p:spPr>
          <a:xfrm>
            <a:off x="152402" y="176015"/>
            <a:ext cx="1176817" cy="46166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r>
              <a:rPr lang="en-US" dirty="0"/>
              <a:t>Fundamentals of RM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18FDCA-D6EA-3540-8AE2-F6CD31336ABE}"/>
              </a:ext>
            </a:extLst>
          </p:cNvPr>
          <p:cNvSpPr txBox="1"/>
          <p:nvPr/>
        </p:nvSpPr>
        <p:spPr>
          <a:xfrm>
            <a:off x="1481037" y="169908"/>
            <a:ext cx="1024999" cy="46166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RM System and Process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BC740A-AE56-7744-84D0-32724BDFA21D}"/>
              </a:ext>
            </a:extLst>
          </p:cNvPr>
          <p:cNvSpPr txBox="1"/>
          <p:nvPr/>
        </p:nvSpPr>
        <p:spPr>
          <a:xfrm>
            <a:off x="7874130" y="169908"/>
            <a:ext cx="1155550" cy="461665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r>
              <a:rPr lang="en-US" dirty="0"/>
              <a:t>Application and Perspectives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7D91E5-FF6E-C346-BD54-1494F0C62548}"/>
              </a:ext>
            </a:extLst>
          </p:cNvPr>
          <p:cNvSpPr txBox="1"/>
          <p:nvPr/>
        </p:nvSpPr>
        <p:spPr>
          <a:xfrm>
            <a:off x="7051217" y="169908"/>
            <a:ext cx="671096" cy="46166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People &amp; Org.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457A8C-8AD1-BC48-A393-2CA6461462C7}"/>
              </a:ext>
            </a:extLst>
          </p:cNvPr>
          <p:cNvSpPr txBox="1"/>
          <p:nvPr/>
        </p:nvSpPr>
        <p:spPr>
          <a:xfrm>
            <a:off x="3834670" y="169908"/>
            <a:ext cx="1024999" cy="46166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Incident Investigation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7E14612-2C60-CA49-88DC-A40274E52BE8}"/>
              </a:ext>
            </a:extLst>
          </p:cNvPr>
          <p:cNvSpPr txBox="1"/>
          <p:nvPr/>
        </p:nvSpPr>
        <p:spPr>
          <a:xfrm>
            <a:off x="5011486" y="169908"/>
            <a:ext cx="1024999" cy="46166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r>
              <a:rPr lang="en-US" dirty="0"/>
              <a:t>RM Tools &amp; Challenges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8AF929-DEC8-B045-BD5C-00378213E2AE}"/>
              </a:ext>
            </a:extLst>
          </p:cNvPr>
          <p:cNvSpPr txBox="1"/>
          <p:nvPr/>
        </p:nvSpPr>
        <p:spPr>
          <a:xfrm>
            <a:off x="2657853" y="170432"/>
            <a:ext cx="1024999" cy="461665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r>
              <a:rPr lang="en-US" dirty="0"/>
              <a:t>Leadership in RM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94E84B9-8682-8C4B-A72E-1FFEAF78256B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 flipV="1">
            <a:off x="1329217" y="400741"/>
            <a:ext cx="151818" cy="6107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CED6320-D6B4-374B-AE59-18735BF60E66}"/>
              </a:ext>
            </a:extLst>
          </p:cNvPr>
          <p:cNvCxnSpPr>
            <a:stCxn id="10" idx="3"/>
            <a:endCxn id="15" idx="1"/>
          </p:cNvCxnSpPr>
          <p:nvPr/>
        </p:nvCxnSpPr>
        <p:spPr>
          <a:xfrm>
            <a:off x="2506036" y="400739"/>
            <a:ext cx="151817" cy="524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A27112B-E9F0-2348-9B20-FB76B2277E3D}"/>
              </a:ext>
            </a:extLst>
          </p:cNvPr>
          <p:cNvCxnSpPr>
            <a:stCxn id="15" idx="3"/>
            <a:endCxn id="13" idx="1"/>
          </p:cNvCxnSpPr>
          <p:nvPr/>
        </p:nvCxnSpPr>
        <p:spPr>
          <a:xfrm flipV="1">
            <a:off x="3682853" y="400739"/>
            <a:ext cx="151817" cy="524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6FCC88D-6DFA-474E-80EC-662B2D4B909B}"/>
              </a:ext>
            </a:extLst>
          </p:cNvPr>
          <p:cNvCxnSpPr>
            <a:stCxn id="13" idx="3"/>
            <a:endCxn id="14" idx="1"/>
          </p:cNvCxnSpPr>
          <p:nvPr/>
        </p:nvCxnSpPr>
        <p:spPr>
          <a:xfrm>
            <a:off x="4859669" y="400741"/>
            <a:ext cx="151817" cy="0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CA7384E-C04D-ED41-9740-B0199EA1890A}"/>
              </a:ext>
            </a:extLst>
          </p:cNvPr>
          <p:cNvCxnSpPr>
            <a:cxnSpLocks/>
            <a:stCxn id="14" idx="3"/>
          </p:cNvCxnSpPr>
          <p:nvPr/>
        </p:nvCxnSpPr>
        <p:spPr>
          <a:xfrm flipV="1">
            <a:off x="6036485" y="400740"/>
            <a:ext cx="151816" cy="1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37C1AD4-35C5-B84F-A011-FC352A9DC134}"/>
              </a:ext>
            </a:extLst>
          </p:cNvPr>
          <p:cNvCxnSpPr>
            <a:cxnSpLocks/>
            <a:endCxn id="12" idx="1"/>
          </p:cNvCxnSpPr>
          <p:nvPr/>
        </p:nvCxnSpPr>
        <p:spPr>
          <a:xfrm flipV="1">
            <a:off x="6899402" y="400741"/>
            <a:ext cx="151817" cy="1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40B8989-9D9A-DE41-B118-0BB225CC7043}"/>
              </a:ext>
            </a:extLst>
          </p:cNvPr>
          <p:cNvCxnSpPr>
            <a:stCxn id="12" idx="3"/>
            <a:endCxn id="11" idx="1"/>
          </p:cNvCxnSpPr>
          <p:nvPr/>
        </p:nvCxnSpPr>
        <p:spPr>
          <a:xfrm>
            <a:off x="7722315" y="400739"/>
            <a:ext cx="151817" cy="0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E97011C2-9A0B-664B-83CB-DE2410B86B87}"/>
              </a:ext>
            </a:extLst>
          </p:cNvPr>
          <p:cNvSpPr txBox="1"/>
          <p:nvPr/>
        </p:nvSpPr>
        <p:spPr>
          <a:xfrm>
            <a:off x="6188301" y="169907"/>
            <a:ext cx="692362" cy="46166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RM in Industry</a:t>
            </a: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182" y="4114800"/>
            <a:ext cx="1766671" cy="1766671"/>
          </a:xfrm>
          <a:prstGeom prst="rect">
            <a:avLst/>
          </a:prstGeom>
        </p:spPr>
      </p:pic>
      <p:pic>
        <p:nvPicPr>
          <p:cNvPr id="25" name="Picture 24" descr="Introduction to Sociology - 2013 - The Collaboratory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500" y="4114613"/>
            <a:ext cx="2590300" cy="1766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937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lvl="0" indent="0" eaLnBrk="0" hangingPunct="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SzPct val="100000"/>
              <a:buNone/>
            </a:pPr>
            <a:r>
              <a:rPr lang="en-US" altLang="en-US" b="0" kern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 </a:t>
            </a:r>
            <a:r>
              <a:rPr lang="en-US" altLang="en-US" b="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few pointers to help you as you begin your careers:</a:t>
            </a:r>
          </a:p>
          <a:p>
            <a:pPr lvl="0" eaLnBrk="0" hangingPunct="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AutoNum type="arabicParenR"/>
            </a:pPr>
            <a:r>
              <a:rPr lang="en-US" altLang="en-US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Manage your Business:</a:t>
            </a:r>
          </a:p>
          <a:p>
            <a:pPr marL="990600" lvl="1" indent="-533400" eaLnBrk="0" hangingPunct="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r>
              <a:rPr lang="en-US" altLang="en-US" sz="2000" b="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Engineer’s Survival Guide</a:t>
            </a:r>
          </a:p>
          <a:p>
            <a:pPr marL="990600" lvl="1" indent="-533400" eaLnBrk="0" hangingPunct="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r>
              <a:rPr lang="en-US" altLang="en-US" sz="2000" b="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Leadership in Risk Management</a:t>
            </a:r>
          </a:p>
          <a:p>
            <a:pPr lvl="0" eaLnBrk="0" hangingPunct="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AutoNum type="arabicParenR"/>
            </a:pPr>
            <a:r>
              <a:rPr lang="en-US" altLang="en-US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Manage Your Relationships:</a:t>
            </a:r>
          </a:p>
          <a:p>
            <a:pPr marL="990600" lvl="1" indent="-533400" eaLnBrk="0" hangingPunct="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r>
              <a:rPr lang="en-US" altLang="en-US" sz="2000" b="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Do Your Job</a:t>
            </a:r>
          </a:p>
          <a:p>
            <a:pPr marL="990600" lvl="1" indent="-533400" eaLnBrk="0" hangingPunct="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r>
              <a:rPr lang="en-US" altLang="en-US" sz="2000" b="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Work With Your Direct Supervisor:</a:t>
            </a:r>
          </a:p>
          <a:p>
            <a:pPr lvl="0" eaLnBrk="0" hangingPunct="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AutoNum type="arabicParenR"/>
            </a:pPr>
            <a:r>
              <a:rPr lang="en-US" altLang="en-US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Be a Professional! </a:t>
            </a:r>
          </a:p>
          <a:p>
            <a:pPr marL="990600" lvl="1" indent="-533400" eaLnBrk="0" hangingPunct="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r>
              <a:rPr lang="en-US" altLang="en-US" sz="2000" b="0" kern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Establish </a:t>
            </a:r>
            <a:r>
              <a:rPr lang="en-US" altLang="en-US" sz="2000" b="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your professional values:</a:t>
            </a:r>
          </a:p>
          <a:p>
            <a:pPr marL="1390650" lvl="2" indent="-533400" eaLnBrk="0" hangingPunct="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r>
              <a:rPr lang="en-US" altLang="en-US" sz="2000" b="0" i="1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“Integrity. Initiative. Innovation. Industriousness</a:t>
            </a:r>
            <a:r>
              <a:rPr lang="en-US" altLang="en-US" sz="2000" b="0" i="1" kern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.”</a:t>
            </a:r>
          </a:p>
          <a:p>
            <a:pPr marL="990600" lvl="1" indent="-533400" eaLnBrk="0" hangingPunct="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r>
              <a:rPr lang="en-US" altLang="en-US" sz="2000" b="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Be Competent</a:t>
            </a:r>
          </a:p>
          <a:p>
            <a:pPr marL="1390650" lvl="2" indent="-533400" eaLnBrk="0" hangingPunct="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r>
              <a:rPr lang="en-US" altLang="en-US" sz="2000" b="0" kern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Quebec Bridge Loss Incident</a:t>
            </a:r>
            <a:endParaRPr lang="en-US" altLang="en-US" sz="2000" b="0" kern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eaLnBrk="0" hangingPunct="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AutoNum type="arabicParenR"/>
            </a:pPr>
            <a:r>
              <a:rPr lang="en-US" altLang="en-US" kern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Some </a:t>
            </a:r>
            <a:r>
              <a:rPr lang="en-US" altLang="en-US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Guidance - Leadership in RM and Your Career</a:t>
            </a:r>
            <a:r>
              <a:rPr lang="en-US" altLang="en-US" kern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:</a:t>
            </a:r>
            <a:endParaRPr lang="en-US" altLang="en-US" kern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  <a:extLst/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Our Personal Lessons To You: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Final Lecture on Career Lessons</a:t>
            </a:r>
          </a:p>
        </p:txBody>
      </p:sp>
    </p:spTree>
    <p:extLst>
      <p:ext uri="{BB962C8B-B14F-4D97-AF65-F5344CB8AC3E}">
        <p14:creationId xmlns:p14="http://schemas.microsoft.com/office/powerpoint/2010/main" val="2734127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342900" lvl="0" indent="-342900">
              <a:lnSpc>
                <a:spcPct val="100000"/>
              </a:lnSpc>
              <a:spcBef>
                <a:spcPts val="0"/>
              </a:spcBef>
              <a:buClrTx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charset="0"/>
              </a:rPr>
              <a:t>Can you become and be a “Leader in Risk Management?”</a:t>
            </a:r>
          </a:p>
          <a:p>
            <a:pPr marL="342900" lvl="0" indent="-342900">
              <a:lnSpc>
                <a:spcPct val="100000"/>
              </a:lnSpc>
              <a:spcBef>
                <a:spcPts val="0"/>
              </a:spcBef>
              <a:buClrTx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charset="0"/>
            </a:endParaRPr>
          </a:p>
          <a:p>
            <a:pPr marL="342900" lvl="0" indent="-342900">
              <a:lnSpc>
                <a:spcPct val="100000"/>
              </a:lnSpc>
              <a:spcBef>
                <a:spcPts val="0"/>
              </a:spcBef>
              <a:buClrTx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charset="0"/>
              </a:rPr>
              <a:t>If you were asked these questions, how would you reply?</a:t>
            </a: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ClrTx/>
              <a:buNone/>
            </a:pPr>
            <a:endParaRPr lang="en-US" altLang="en-US" b="0" dirty="0">
              <a:solidFill>
                <a:srgbClr val="000000"/>
              </a:solidFill>
              <a:latin typeface="Arial" charset="0"/>
            </a:endParaRP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ClrTx/>
              <a:buNone/>
            </a:pPr>
            <a:r>
              <a:rPr lang="en-US" altLang="en-US" b="0" dirty="0">
                <a:solidFill>
                  <a:srgbClr val="000000"/>
                </a:solidFill>
                <a:latin typeface="Arial" charset="0"/>
              </a:rPr>
              <a:t>Q: </a:t>
            </a:r>
            <a:r>
              <a:rPr lang="en-US" altLang="en-US" b="0" dirty="0" smtClean="0">
                <a:solidFill>
                  <a:srgbClr val="000000"/>
                </a:solidFill>
                <a:latin typeface="Arial" charset="0"/>
              </a:rPr>
              <a:t>“What </a:t>
            </a:r>
            <a:r>
              <a:rPr lang="en-US" altLang="en-US" b="0" dirty="0">
                <a:solidFill>
                  <a:srgbClr val="000000"/>
                </a:solidFill>
                <a:latin typeface="Arial" charset="0"/>
              </a:rPr>
              <a:t>is a Manager? What is a Leader</a:t>
            </a:r>
            <a:r>
              <a:rPr lang="en-US" altLang="en-US" b="0" dirty="0" smtClean="0">
                <a:solidFill>
                  <a:srgbClr val="000000"/>
                </a:solidFill>
                <a:latin typeface="Arial" charset="0"/>
              </a:rPr>
              <a:t>?”</a:t>
            </a:r>
            <a:endParaRPr lang="en-US" altLang="en-US" b="0" dirty="0">
              <a:solidFill>
                <a:srgbClr val="000000"/>
              </a:solidFill>
              <a:latin typeface="Arial" charset="0"/>
            </a:endParaRP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ClrTx/>
              <a:buNone/>
            </a:pPr>
            <a:endParaRPr lang="en-US" altLang="en-US" b="0" dirty="0">
              <a:solidFill>
                <a:srgbClr val="000000"/>
              </a:solidFill>
              <a:latin typeface="Arial" charset="0"/>
            </a:endParaRP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ClrTx/>
              <a:buNone/>
            </a:pPr>
            <a:endParaRPr lang="en-US" altLang="en-US" b="0" dirty="0">
              <a:solidFill>
                <a:srgbClr val="000000"/>
              </a:solidFill>
              <a:latin typeface="Arial" charset="0"/>
            </a:endParaRP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ClrTx/>
              <a:buNone/>
            </a:pPr>
            <a:endParaRPr lang="en-US" altLang="en-US" b="0" dirty="0">
              <a:solidFill>
                <a:srgbClr val="000000"/>
              </a:solidFill>
              <a:latin typeface="Arial" charset="0"/>
            </a:endParaRP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ClrTx/>
              <a:buNone/>
            </a:pPr>
            <a:endParaRPr lang="en-US" altLang="en-US" b="0" dirty="0">
              <a:solidFill>
                <a:srgbClr val="000000"/>
              </a:solidFill>
              <a:latin typeface="Arial" charset="0"/>
            </a:endParaRP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ClrTx/>
              <a:buNone/>
            </a:pPr>
            <a:endParaRPr lang="en-US" altLang="en-US" b="0" dirty="0">
              <a:solidFill>
                <a:srgbClr val="000000"/>
              </a:solidFill>
              <a:latin typeface="Arial" charset="0"/>
            </a:endParaRP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ClrTx/>
              <a:buNone/>
            </a:pPr>
            <a:endParaRPr lang="en-US" altLang="en-US" b="0" dirty="0">
              <a:solidFill>
                <a:srgbClr val="000000"/>
              </a:solidFill>
              <a:latin typeface="Arial" charset="0"/>
            </a:endParaRP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ClrTx/>
              <a:buNone/>
            </a:pPr>
            <a:endParaRPr lang="en-US" altLang="en-US" b="0" dirty="0">
              <a:solidFill>
                <a:srgbClr val="000000"/>
              </a:solidFill>
              <a:latin typeface="Arial" charset="0"/>
            </a:endParaRP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ClrTx/>
              <a:buNone/>
            </a:pPr>
            <a:endParaRPr lang="en-US" altLang="en-US" b="0" dirty="0">
              <a:solidFill>
                <a:srgbClr val="000000"/>
              </a:solidFill>
              <a:latin typeface="Arial" charset="0"/>
            </a:endParaRP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ClrTx/>
              <a:buNone/>
            </a:pPr>
            <a:endParaRPr lang="en-US" altLang="en-US" b="0" dirty="0">
              <a:solidFill>
                <a:srgbClr val="000000"/>
              </a:solidFill>
              <a:latin typeface="Arial" charset="0"/>
            </a:endParaRP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ClrTx/>
              <a:buNone/>
            </a:pPr>
            <a:r>
              <a:rPr lang="en-US" altLang="en-US" b="0" dirty="0">
                <a:solidFill>
                  <a:srgbClr val="000000"/>
                </a:solidFill>
                <a:latin typeface="Arial" charset="0"/>
              </a:rPr>
              <a:t>Q: “What is Leadership in Risk Management</a:t>
            </a:r>
            <a:r>
              <a:rPr lang="en-US" altLang="en-US" b="0" dirty="0" smtClean="0">
                <a:solidFill>
                  <a:srgbClr val="000000"/>
                </a:solidFill>
                <a:latin typeface="Arial" charset="0"/>
              </a:rPr>
              <a:t>?”</a:t>
            </a:r>
            <a:endParaRPr lang="en-US" altLang="en-US" b="0" dirty="0">
              <a:solidFill>
                <a:srgbClr val="000000"/>
              </a:solidFill>
              <a:latin typeface="Arial" charset="0"/>
            </a:endParaRP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ClrTx/>
              <a:buNone/>
            </a:pPr>
            <a:r>
              <a:rPr lang="en-US" altLang="en-US" b="0" i="1" dirty="0">
                <a:solidFill>
                  <a:srgbClr val="000000"/>
                </a:solidFill>
                <a:latin typeface="Arial" charset="0"/>
              </a:rPr>
              <a:t>… that’s what this course is about!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  <a:extLst/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1) Manage Your Business!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Final Lecture on Career Lessons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836125"/>
              </p:ext>
            </p:extLst>
          </p:nvPr>
        </p:nvGraphicFramePr>
        <p:xfrm>
          <a:off x="180000" y="2514600"/>
          <a:ext cx="8640000" cy="2291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28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871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A" dirty="0" smtClean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Manager</a:t>
                      </a:r>
                      <a:endParaRPr lang="en-CA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dirty="0" smtClean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Leader</a:t>
                      </a:r>
                      <a:endParaRPr lang="en-CA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 smtClean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Keeps</a:t>
                      </a:r>
                      <a:r>
                        <a:rPr lang="en-CA" baseline="0" dirty="0" smtClean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the </a:t>
                      </a:r>
                      <a:br>
                        <a:rPr lang="en-CA" baseline="0" dirty="0" smtClean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CA" baseline="0" dirty="0" smtClean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organization going.</a:t>
                      </a:r>
                      <a:endParaRPr lang="en-CA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dirty="0" smtClean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Leaders </a:t>
                      </a:r>
                      <a:r>
                        <a:rPr lang="en-CA" u="sng" dirty="0" smtClean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make things happen</a:t>
                      </a:r>
                      <a:r>
                        <a:rPr lang="en-CA" dirty="0" smtClean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(in a principled manner) that would not have happened otherwise.</a:t>
                      </a:r>
                      <a:endParaRPr lang="en-CA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 smtClean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Maintains the </a:t>
                      </a:r>
                      <a:br>
                        <a:rPr lang="en-CA" dirty="0" smtClean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CA" dirty="0" smtClean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“status</a:t>
                      </a:r>
                      <a:r>
                        <a:rPr lang="en-CA" baseline="0" dirty="0" smtClean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quo”.</a:t>
                      </a:r>
                      <a:endParaRPr lang="en-CA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dirty="0" smtClean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Envisions</a:t>
                      </a:r>
                      <a:r>
                        <a:rPr lang="en-CA" baseline="0" dirty="0" smtClean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how the organization can improve, and </a:t>
                      </a:r>
                      <a:r>
                        <a:rPr lang="en-CA" u="sng" baseline="0" dirty="0" smtClean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works to improve and advance</a:t>
                      </a:r>
                      <a:r>
                        <a:rPr lang="en-CA" baseline="0" dirty="0" smtClean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the organization. </a:t>
                      </a:r>
                      <a:endParaRPr lang="en-CA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dirty="0" smtClean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Is satisfied with current performance.</a:t>
                      </a:r>
                      <a:r>
                        <a:rPr lang="en-CA" baseline="0" dirty="0" smtClean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endParaRPr lang="en-CA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dirty="0" smtClean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Is </a:t>
                      </a:r>
                      <a:r>
                        <a:rPr lang="en-CA" u="sng" dirty="0" smtClean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proactive</a:t>
                      </a:r>
                      <a:r>
                        <a:rPr lang="en-CA" dirty="0" smtClean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in “making things happen”.</a:t>
                      </a:r>
                      <a:endParaRPr lang="en-CA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886759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lvl="0" indent="0" eaLnBrk="0" hangingPunct="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SzPct val="100000"/>
              <a:buNone/>
            </a:pPr>
            <a:r>
              <a:rPr lang="en-US" altLang="en-US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Do your job:</a:t>
            </a:r>
          </a:p>
          <a:p>
            <a:pPr lvl="0" eaLnBrk="0" hangingPunct="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You have professional responsibilities and are accountable!</a:t>
            </a:r>
          </a:p>
          <a:p>
            <a:pPr lvl="0" eaLnBrk="0" hangingPunct="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Identify your objectives! </a:t>
            </a:r>
          </a:p>
          <a:p>
            <a:pPr lvl="0" eaLnBrk="0" hangingPunct="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Execute all steps of the fundamental function of management.</a:t>
            </a:r>
          </a:p>
          <a:p>
            <a:pPr lvl="0" eaLnBrk="0" hangingPunct="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kern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  <a:extLst/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2) Manage Your Relationships!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Final Lecture on Career Lessons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514600"/>
            <a:ext cx="3017520" cy="301752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  <a:miter lim="800000"/>
            <a:headEnd/>
            <a:tailEnd/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/>
          <a:srcRect l="49167" r="11670"/>
          <a:stretch/>
        </p:blipFill>
        <p:spPr>
          <a:xfrm>
            <a:off x="3973110" y="2514600"/>
            <a:ext cx="4465087" cy="301752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82874200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lvl="0" indent="0" eaLnBrk="0" hangingPunct="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SzPct val="100000"/>
              <a:buNone/>
            </a:pPr>
            <a:r>
              <a:rPr lang="en-US" altLang="en-US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Some practical advice to work with your direct supervisor:</a:t>
            </a:r>
          </a:p>
          <a:p>
            <a:pPr lvl="0" eaLnBrk="0" hangingPunct="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kern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Ensure </a:t>
            </a:r>
            <a:r>
              <a:rPr lang="en-US" altLang="en-US" b="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you are meeting expectations, and managing your responsibilities such that there are “no surprises”!</a:t>
            </a:r>
          </a:p>
          <a:p>
            <a:pPr lvl="0" eaLnBrk="0" hangingPunct="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kern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Take </a:t>
            </a:r>
            <a:r>
              <a:rPr lang="en-US" altLang="en-US" b="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initiative to communicate. Seek clarity when directions clash with ethics, values, policies, etc. Keep your supervisor informed especially when things are not going per the plan. </a:t>
            </a:r>
          </a:p>
          <a:p>
            <a:pPr lvl="0" eaLnBrk="0" hangingPunct="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kern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Supervisors </a:t>
            </a:r>
            <a:r>
              <a:rPr lang="en-US" altLang="en-US" b="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want solutions, not excuses, and not more problems. </a:t>
            </a:r>
          </a:p>
          <a:p>
            <a:pPr marL="0" lvl="0" indent="0" eaLnBrk="0" hangingPunct="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SzPct val="100000"/>
              <a:buNone/>
            </a:pPr>
            <a:endParaRPr lang="en-US" altLang="en-US" b="0" kern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  <a:extLst/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2) Manage Your Relationships!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Final Lecture on Career Lessons</a:t>
            </a:r>
          </a:p>
        </p:txBody>
      </p:sp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381000" y="3636000"/>
            <a:ext cx="5342286" cy="18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0000"/>
            </a:solidFill>
            <a:miter lim="800000"/>
            <a:headEnd/>
            <a:tailEnd/>
          </a:ln>
          <a:effectLst>
            <a:prstShdw prst="shdw17" dist="17961" dir="2700000">
              <a:srgbClr val="990000"/>
            </a:prstShdw>
          </a:effec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defTabSz="457200" eaLnBrk="1" fontAlgn="auto" hangingPunct="1"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en-US" sz="3600" b="1" dirty="0">
                <a:solidFill>
                  <a:srgbClr val="CC3300"/>
                </a:solidFill>
                <a:latin typeface="Calibri" panose="020F0502020204030204" pitchFamily="34" charset="0"/>
              </a:rPr>
              <a:t>FYI: Bosses want solutions! NOT excuses and </a:t>
            </a:r>
            <a:br>
              <a:rPr lang="en-US" altLang="en-US" sz="3600" b="1" dirty="0">
                <a:solidFill>
                  <a:srgbClr val="CC3300"/>
                </a:solidFill>
                <a:latin typeface="Calibri" panose="020F0502020204030204" pitchFamily="34" charset="0"/>
              </a:rPr>
            </a:br>
            <a:r>
              <a:rPr lang="en-US" altLang="en-US" sz="3600" b="1" dirty="0">
                <a:solidFill>
                  <a:srgbClr val="CC3300"/>
                </a:solidFill>
                <a:latin typeface="Calibri" panose="020F0502020204030204" pitchFamily="34" charset="0"/>
              </a:rPr>
              <a:t>NOT more problems!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4584" y="3636000"/>
            <a:ext cx="2629853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111510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lvl="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r>
              <a:rPr lang="en-US" altLang="en-US" b="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Establish </a:t>
            </a:r>
            <a:r>
              <a:rPr lang="en-US" altLang="en-US" b="0" kern="0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your professional </a:t>
            </a:r>
            <a:r>
              <a:rPr lang="en-US" altLang="en-US" b="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values:</a:t>
            </a:r>
          </a:p>
          <a:p>
            <a:pPr lvl="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endParaRPr lang="en-US" altLang="en-US" b="0" kern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0000" lvl="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Integrity</a:t>
            </a:r>
            <a:r>
              <a:rPr lang="en-US" altLang="en-US" b="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two “ideas” about of integrity!</a:t>
            </a:r>
          </a:p>
          <a:p>
            <a:pPr marL="360000" lvl="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kern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0000" lvl="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Initiative</a:t>
            </a:r>
            <a:r>
              <a:rPr lang="en-US" altLang="en-US" b="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anticipate and get ahead of what is needed, </a:t>
            </a:r>
            <a:br>
              <a:rPr lang="en-US" altLang="en-US" b="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b="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on what you can deliver!</a:t>
            </a:r>
          </a:p>
          <a:p>
            <a:pPr marL="360000" lvl="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kern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0000" lvl="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Innovation</a:t>
            </a:r>
            <a:r>
              <a:rPr lang="en-US" altLang="en-US" b="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use your smarts to develop solutions. </a:t>
            </a:r>
          </a:p>
          <a:p>
            <a:pPr marL="360000" lvl="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kern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0000" lvl="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Industriousness</a:t>
            </a:r>
            <a:r>
              <a:rPr lang="en-US" altLang="en-US" b="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put in the effort, but </a:t>
            </a:r>
            <a:r>
              <a:rPr lang="en-US" altLang="en-US" b="0" u="sng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 smart about your work</a:t>
            </a:r>
            <a:r>
              <a:rPr lang="en-US" altLang="en-US" b="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! </a:t>
            </a:r>
            <a:endParaRPr lang="en-US" altLang="en-US" kern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  <a:extLst/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3) Be a </a:t>
            </a:r>
            <a:r>
              <a:rPr lang="en-US" altLang="en-US" sz="2400" b="0" dirty="0" smtClean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Professional, Be a Leader!</a:t>
            </a:r>
            <a:endParaRPr lang="en-US" altLang="en-US" sz="2400" b="0" dirty="0">
              <a:solidFill>
                <a:schemeClr val="accent2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Final Lecture on Career Lessons</a:t>
            </a:r>
          </a:p>
        </p:txBody>
      </p:sp>
    </p:spTree>
    <p:extLst>
      <p:ext uri="{BB962C8B-B14F-4D97-AF65-F5344CB8AC3E}">
        <p14:creationId xmlns:p14="http://schemas.microsoft.com/office/powerpoint/2010/main" val="139485738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lvl="0" indent="0" algn="ctr" eaLnBrk="0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None/>
              <a:defRPr/>
            </a:pPr>
            <a:r>
              <a:rPr lang="en-US" altLang="en-US" sz="28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Performance is built on culture …</a:t>
            </a:r>
            <a:endParaRPr lang="en-US" altLang="en-US" sz="280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lvl="0" indent="0" algn="ctr" eaLnBrk="0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None/>
              <a:defRPr/>
            </a:pPr>
            <a:endParaRPr lang="en-US" altLang="en-US" sz="280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lvl="0" indent="0" algn="ctr" eaLnBrk="0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None/>
              <a:defRPr/>
            </a:pPr>
            <a:endParaRPr lang="en-US" altLang="en-US" sz="280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lvl="0" indent="0" algn="ctr" eaLnBrk="0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None/>
              <a:defRPr/>
            </a:pPr>
            <a:endParaRPr lang="en-US" altLang="en-US" sz="280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lvl="0" indent="0" algn="ctr" eaLnBrk="0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None/>
              <a:defRPr/>
            </a:pPr>
            <a:endParaRPr lang="en-US" altLang="en-US" sz="280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lvl="0" indent="0" algn="ctr" eaLnBrk="0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None/>
              <a:defRPr/>
            </a:pPr>
            <a:endParaRPr lang="en-US" altLang="en-US" sz="280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lvl="0" indent="0" algn="ctr" eaLnBrk="0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None/>
              <a:defRPr/>
            </a:pPr>
            <a:endParaRPr lang="en-US" altLang="en-US" sz="280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lvl="0" indent="0" algn="ctr" eaLnBrk="0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None/>
              <a:defRPr/>
            </a:pPr>
            <a:endParaRPr lang="en-US" altLang="en-US" sz="280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lvl="0" indent="0" algn="ctr" eaLnBrk="0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None/>
              <a:defRPr/>
            </a:pPr>
            <a:endParaRPr lang="en-US" altLang="en-US" sz="280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lvl="0" indent="0" algn="ctr" eaLnBrk="0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None/>
              <a:defRPr/>
            </a:pPr>
            <a:endParaRPr lang="en-US" altLang="en-US" sz="280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lvl="0" indent="0" algn="ctr" eaLnBrk="0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None/>
              <a:defRPr/>
            </a:pPr>
            <a:endParaRPr lang="en-US" altLang="en-US" sz="280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lvl="0" indent="0" algn="ctr" eaLnBrk="0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None/>
              <a:defRPr/>
            </a:pPr>
            <a:r>
              <a:rPr lang="en-US" altLang="en-US" sz="28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And culture is built by YOU!</a:t>
            </a:r>
            <a:endParaRPr kumimoji="0" lang="en-US" altLang="en-US" sz="28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lvl="0">
              <a:lnSpc>
                <a:spcPct val="100000"/>
              </a:lnSpc>
              <a:spcBef>
                <a:spcPct val="0"/>
              </a:spcBef>
              <a:buClrTx/>
              <a:buNone/>
              <a:defRPr/>
            </a:pPr>
            <a:r>
              <a:rPr lang="en-US" altLang="en-US" sz="2400" b="0" dirty="0">
                <a:solidFill>
                  <a:srgbClr val="33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3) Be a Professional, Be a Leader!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600" y="1492725"/>
            <a:ext cx="4435093" cy="3998550"/>
          </a:xfrm>
          <a:prstGeom prst="rect">
            <a:avLst/>
          </a:prstGeom>
        </p:spPr>
      </p:pic>
      <p:sp>
        <p:nvSpPr>
          <p:cNvPr id="19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Final Lecture on Career Lessons</a:t>
            </a:r>
          </a:p>
        </p:txBody>
      </p:sp>
    </p:spTree>
    <p:extLst>
      <p:ext uri="{BB962C8B-B14F-4D97-AF65-F5344CB8AC3E}">
        <p14:creationId xmlns:p14="http://schemas.microsoft.com/office/powerpoint/2010/main" val="2556848086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360000" lvl="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Be competent in your career!</a:t>
            </a:r>
          </a:p>
          <a:p>
            <a:pPr marL="360000" lvl="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kern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lvl="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Be proud of your profession’s achievements and contributions </a:t>
            </a:r>
            <a:br>
              <a:rPr lang="en-US" altLang="en-US" b="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b="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to society, but also of your own personal triumphs!</a:t>
            </a:r>
          </a:p>
          <a:p>
            <a:pPr marL="360000" lvl="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kern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But don’t let your pride and arrogance get ahead of yourself. </a:t>
            </a:r>
          </a:p>
          <a:p>
            <a:pPr marL="720000" lvl="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kern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You </a:t>
            </a:r>
            <a:r>
              <a:rPr lang="en-US" altLang="en-US" b="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do not want to be the author of a case study.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  <a:extLst/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3) Be a Professional, Be a Leader!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Final Lecture on Career Lessons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4238" y="3204000"/>
            <a:ext cx="3071562" cy="2592000"/>
          </a:xfrm>
          <a:prstGeom prst="rect">
            <a:avLst/>
          </a:prstGeom>
          <a:ln>
            <a:solidFill>
              <a:schemeClr val="bg2"/>
            </a:solidFill>
          </a:ln>
        </p:spPr>
      </p:pic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494790" y="3204000"/>
            <a:ext cx="4648994" cy="2592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ＭＳ Ｐゴシック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Clr>
                <a:srgbClr val="000000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en-US" sz="1800" kern="0" dirty="0" smtClean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Recall The Quebec Bridge Disaster, near Quebec City, August 29, 1907:</a:t>
            </a:r>
          </a:p>
          <a:p>
            <a:pPr marL="609600" indent="-609600"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1800" kern="0" dirty="0" smtClean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Reputations ruined</a:t>
            </a:r>
          </a:p>
          <a:p>
            <a:pPr marL="609600" indent="-609600"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1800" kern="0" dirty="0" smtClean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Capital investment lost</a:t>
            </a:r>
          </a:p>
          <a:p>
            <a:pPr marL="609600" indent="-609600"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1800" kern="0" dirty="0" smtClean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Two years to clean up.</a:t>
            </a:r>
          </a:p>
          <a:p>
            <a:pPr marL="609600" indent="-609600"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1800" b="1" kern="0" dirty="0" smtClean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75 workers were killed</a:t>
            </a:r>
          </a:p>
          <a:p>
            <a:pPr marL="0" indent="0">
              <a:buClr>
                <a:srgbClr val="000000"/>
              </a:buClr>
              <a:buSzPct val="100000"/>
              <a:buNone/>
            </a:pPr>
            <a:r>
              <a:rPr lang="en-US" altLang="en-US" sz="1800" b="1" kern="0" dirty="0" smtClean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… and the significance of your Iron Ring</a:t>
            </a:r>
          </a:p>
        </p:txBody>
      </p:sp>
    </p:spTree>
    <p:extLst>
      <p:ext uri="{BB962C8B-B14F-4D97-AF65-F5344CB8AC3E}">
        <p14:creationId xmlns:p14="http://schemas.microsoft.com/office/powerpoint/2010/main" val="326663826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indent="0" eaLnBrk="0" hangingPunct="0">
              <a:lnSpc>
                <a:spcPct val="90000"/>
              </a:lnSpc>
              <a:spcBef>
                <a:spcPts val="0"/>
              </a:spcBef>
              <a:buClrTx/>
              <a:buSzPct val="100000"/>
              <a:buNone/>
              <a:defRPr/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This course is based on the “real workplace” </a:t>
            </a:r>
            <a:r>
              <a:rPr lang="en-US" sz="18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experience with well over </a:t>
            </a:r>
            <a:r>
              <a:rPr lang="en-US" sz="18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150 </a:t>
            </a:r>
            <a:r>
              <a:rPr lang="en-US" sz="18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expertise-years in industry.  Some guidance:</a:t>
            </a:r>
            <a:endParaRPr lang="en-US" sz="180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lvl="0" indent="0" eaLnBrk="0" hangingPunct="0">
              <a:lnSpc>
                <a:spcPct val="90000"/>
              </a:lnSpc>
              <a:spcBef>
                <a:spcPts val="0"/>
              </a:spcBef>
              <a:buClrTx/>
              <a:buSzPct val="100000"/>
              <a:buNone/>
              <a:defRPr/>
            </a:pPr>
            <a:endParaRPr lang="en-US" sz="180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90000"/>
              </a:lnSpc>
              <a:spcBef>
                <a:spcPts val="0"/>
              </a:spcBef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sz="1800" b="0" u="sng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Your success (or failure) in your career rests on:</a:t>
            </a:r>
          </a:p>
          <a:p>
            <a:pPr marL="720000" indent="-360000" eaLnBrk="0" hangingPunct="0">
              <a:lnSpc>
                <a:spcPct val="90000"/>
              </a:lnSpc>
              <a:spcBef>
                <a:spcPts val="0"/>
              </a:spcBef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sz="1800" b="0" u="sng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Your </a:t>
            </a:r>
            <a:r>
              <a:rPr lang="en-US" sz="1800" b="0" u="sng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leadership skills</a:t>
            </a:r>
            <a:r>
              <a:rPr lang="en-US" sz="18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(or lack of) </a:t>
            </a:r>
            <a:r>
              <a:rPr 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 RM.</a:t>
            </a:r>
            <a:endParaRPr lang="en-US" sz="180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720000" lvl="0" indent="-360000" eaLnBrk="0" hangingPunct="0">
              <a:lnSpc>
                <a:spcPct val="90000"/>
              </a:lnSpc>
              <a:spcBef>
                <a:spcPts val="0"/>
              </a:spcBef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en-US" altLang="en-US" sz="1800" b="0" i="0" u="sng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Your desire to “be” an engineer</a:t>
            </a:r>
            <a:r>
              <a:rPr kumimoji="0" lang="en-US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, whether as a </a:t>
            </a:r>
            <a:br>
              <a:rPr kumimoji="0" lang="en-US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US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leader/manager</a:t>
            </a:r>
            <a:r>
              <a:rPr kumimoji="0" lang="en-US" altLang="en-US" sz="1800" b="0" i="0" u="none" strike="noStrike" kern="120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or individual contributor.</a:t>
            </a:r>
          </a:p>
          <a:p>
            <a:pPr marL="360000" lvl="0" indent="-360000" eaLnBrk="0" hangingPunct="0">
              <a:lnSpc>
                <a:spcPct val="90000"/>
              </a:lnSpc>
              <a:spcBef>
                <a:spcPts val="0"/>
              </a:spcBef>
              <a:buClrTx/>
              <a:buSzPct val="100000"/>
              <a:buFont typeface="Wingdings" panose="05000000000000000000" pitchFamily="2" charset="2"/>
              <a:buChar char="Ø"/>
              <a:defRPr/>
            </a:pPr>
            <a:endParaRPr lang="en-US" altLang="en-US" sz="1800" b="0" baseline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lvl="0" indent="-360000" eaLnBrk="0" hangingPunct="0">
              <a:lnSpc>
                <a:spcPct val="90000"/>
              </a:lnSpc>
              <a:spcBef>
                <a:spcPts val="0"/>
              </a:spcBef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Leading organizations have been practicing </a:t>
            </a:r>
            <a:b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RM for &gt;50 years, have benefitted from RM </a:t>
            </a:r>
            <a:b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as a competitive advantage, and continue to </a:t>
            </a:r>
            <a:b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evolve towards </a:t>
            </a:r>
            <a:r>
              <a:rPr lang="en-US" altLang="en-US" sz="18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“Zero Incidents”</a:t>
            </a: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.</a:t>
            </a:r>
          </a:p>
          <a:p>
            <a:pPr marL="360000" lvl="0" indent="-360000" eaLnBrk="0" hangingPunct="0">
              <a:lnSpc>
                <a:spcPct val="90000"/>
              </a:lnSpc>
              <a:spcBef>
                <a:spcPts val="0"/>
              </a:spcBef>
              <a:buClrTx/>
              <a:buSzPct val="100000"/>
              <a:buFont typeface="Wingdings" panose="05000000000000000000" pitchFamily="2" charset="2"/>
              <a:buChar char="Ø"/>
              <a:defRPr/>
            </a:pPr>
            <a:endParaRPr lang="en-US" altLang="en-US" sz="1800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lvl="0" indent="-360000" eaLnBrk="0" hangingPunct="0">
              <a:lnSpc>
                <a:spcPct val="90000"/>
              </a:lnSpc>
              <a:spcBef>
                <a:spcPts val="0"/>
              </a:spcBef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Evolving organizations recognize that </a:t>
            </a:r>
            <a:b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excellence in RM is necessary to be </a:t>
            </a:r>
            <a:b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sustainable and to compete.</a:t>
            </a:r>
          </a:p>
          <a:p>
            <a:pPr marL="360000" lvl="0" indent="-360000" eaLnBrk="0" hangingPunct="0">
              <a:lnSpc>
                <a:spcPct val="90000"/>
              </a:lnSpc>
              <a:spcBef>
                <a:spcPts val="0"/>
              </a:spcBef>
              <a:buClrTx/>
              <a:buSzPct val="100000"/>
              <a:buFont typeface="Wingdings" panose="05000000000000000000" pitchFamily="2" charset="2"/>
              <a:buChar char="Ø"/>
              <a:defRPr/>
            </a:pP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lvl="0" indent="0" eaLnBrk="0" hangingPunct="0">
              <a:lnSpc>
                <a:spcPct val="90000"/>
              </a:lnSpc>
              <a:spcBef>
                <a:spcPts val="0"/>
              </a:spcBef>
              <a:buClrTx/>
              <a:buSzPct val="100000"/>
              <a:buNone/>
              <a:defRPr/>
            </a:pPr>
            <a:r>
              <a:rPr lang="en-US" altLang="en-US" sz="18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Excellence</a:t>
            </a:r>
            <a:r>
              <a:rPr lang="en-US" altLang="en-US" sz="18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in safety and risk management will be </a:t>
            </a:r>
            <a:r>
              <a:rPr lang="en-US" altLang="en-US" sz="18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core </a:t>
            </a:r>
            <a:r>
              <a:rPr lang="en-US" altLang="en-US" sz="18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/>
            </a:r>
            <a:br>
              <a:rPr lang="en-US" altLang="en-US" sz="18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sz="18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to </a:t>
            </a:r>
            <a:r>
              <a:rPr lang="en-US" altLang="en-US" sz="18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your career </a:t>
            </a:r>
            <a:r>
              <a:rPr lang="en-US" altLang="en-US" sz="18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success</a:t>
            </a: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…</a:t>
            </a:r>
          </a:p>
          <a:p>
            <a:pPr marL="360000" indent="-360000" eaLnBrk="0" hangingPunct="0">
              <a:lnSpc>
                <a:spcPct val="90000"/>
              </a:lnSpc>
              <a:spcBef>
                <a:spcPts val="0"/>
              </a:spcBef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If </a:t>
            </a:r>
            <a:r>
              <a:rPr lang="en-US" altLang="en-US" sz="18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you don't "get it", you will not succeed!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  <a:extLst/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Leadership in RM and Your Career: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6000" y="1219200"/>
            <a:ext cx="2160000" cy="136111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6000" y="2814427"/>
            <a:ext cx="2160000" cy="1620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6000" y="4674743"/>
            <a:ext cx="2160000" cy="141405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Final Lecture on Career Lessons</a:t>
            </a:r>
          </a:p>
        </p:txBody>
      </p:sp>
    </p:spTree>
    <p:extLst>
      <p:ext uri="{BB962C8B-B14F-4D97-AF65-F5344CB8AC3E}">
        <p14:creationId xmlns:p14="http://schemas.microsoft.com/office/powerpoint/2010/main" val="305234501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60" name="Rectangle 5"/>
          <p:cNvSpPr>
            <a:spLocks noChangeArrowheads="1"/>
          </p:cNvSpPr>
          <p:nvPr/>
        </p:nvSpPr>
        <p:spPr bwMode="auto">
          <a:xfrm>
            <a:off x="0" y="17859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CA" altLang="en-US" sz="2400"/>
          </a:p>
        </p:txBody>
      </p:sp>
      <p:sp>
        <p:nvSpPr>
          <p:cNvPr id="173061" name="Text Box 7"/>
          <p:cNvSpPr txBox="1">
            <a:spLocks noChangeArrowheads="1"/>
          </p:cNvSpPr>
          <p:nvPr/>
        </p:nvSpPr>
        <p:spPr bwMode="auto">
          <a:xfrm>
            <a:off x="180000" y="828000"/>
            <a:ext cx="8811600" cy="53280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/>
          <a:lstStyle>
            <a:lvl1pPr marL="457200" indent="-4572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914400" indent="-4572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371600" indent="-4572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828800" indent="-4572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286000" indent="-4572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743200" indent="-4572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3200400" indent="-4572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657600" indent="-4572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4114800" indent="-4572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ts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000" i="1" dirty="0"/>
              <a:t>This brings us to the conclusion of our lectures. </a:t>
            </a:r>
            <a:endParaRPr lang="en-US" altLang="en-US" sz="2000" i="1" dirty="0" smtClean="0"/>
          </a:p>
          <a:p>
            <a:pPr>
              <a:spcBef>
                <a:spcPts val="0"/>
              </a:spcBef>
              <a:buClrTx/>
              <a:buSzTx/>
              <a:buFont typeface="Wingdings" panose="05000000000000000000" pitchFamily="2" charset="2"/>
              <a:buChar char="Ø"/>
            </a:pPr>
            <a:endParaRPr lang="en-US" altLang="en-US" sz="1600" i="1" dirty="0" smtClean="0"/>
          </a:p>
          <a:p>
            <a:pPr>
              <a:spcBef>
                <a:spcPts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000" i="1" dirty="0" smtClean="0"/>
              <a:t>Your </a:t>
            </a:r>
            <a:r>
              <a:rPr lang="en-US" altLang="en-US" sz="2000" i="1" dirty="0"/>
              <a:t>future employer will be well supported by your efforts </a:t>
            </a:r>
            <a:r>
              <a:rPr lang="en-US" altLang="en-US" sz="2000" i="1" dirty="0" smtClean="0"/>
              <a:t/>
            </a:r>
            <a:br>
              <a:rPr lang="en-US" altLang="en-US" sz="2000" i="1" dirty="0" smtClean="0"/>
            </a:br>
            <a:r>
              <a:rPr lang="en-US" altLang="en-US" sz="2000" i="1" dirty="0" smtClean="0"/>
              <a:t>in </a:t>
            </a:r>
            <a:r>
              <a:rPr lang="en-US" altLang="en-US" sz="2000" i="1" dirty="0"/>
              <a:t>safety and risk management. </a:t>
            </a:r>
            <a:endParaRPr lang="en-US" altLang="en-US" sz="2000" i="1" dirty="0" smtClean="0"/>
          </a:p>
          <a:p>
            <a:pPr>
              <a:spcBef>
                <a:spcPts val="0"/>
              </a:spcBef>
              <a:buClrTx/>
              <a:buSzTx/>
              <a:buFont typeface="Wingdings" panose="05000000000000000000" pitchFamily="2" charset="2"/>
              <a:buChar char="Ø"/>
            </a:pPr>
            <a:endParaRPr lang="en-US" altLang="en-US" sz="1600" i="1" dirty="0" smtClean="0"/>
          </a:p>
          <a:p>
            <a:pPr>
              <a:spcBef>
                <a:spcPts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000" i="1" dirty="0" smtClean="0"/>
              <a:t>Thank </a:t>
            </a:r>
            <a:r>
              <a:rPr lang="en-US" altLang="en-US" sz="2000" i="1" dirty="0"/>
              <a:t>you for your participation, and for your commitment to learning and applying the principles of engineering safety and risk management in your careers</a:t>
            </a:r>
            <a:r>
              <a:rPr lang="en-US" altLang="en-US" sz="2000" i="1" dirty="0" smtClean="0"/>
              <a:t>.</a:t>
            </a:r>
          </a:p>
          <a:p>
            <a:pPr>
              <a:spcBef>
                <a:spcPts val="0"/>
              </a:spcBef>
              <a:buClrTx/>
              <a:buSzTx/>
              <a:buFont typeface="Wingdings" panose="05000000000000000000" pitchFamily="2" charset="2"/>
              <a:buChar char="Ø"/>
            </a:pPr>
            <a:endParaRPr lang="en-US" altLang="en-US" sz="1600" i="1" dirty="0"/>
          </a:p>
          <a:p>
            <a:pPr>
              <a:spcBef>
                <a:spcPts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000" i="1" dirty="0" smtClean="0"/>
              <a:t>We </a:t>
            </a:r>
            <a:r>
              <a:rPr lang="en-US" altLang="en-US" sz="2000" i="1" dirty="0"/>
              <a:t>sincerely wish you the best of success on all of your final exams and for a bright future in your careers</a:t>
            </a:r>
            <a:r>
              <a:rPr lang="en-US" altLang="en-US" sz="2000" i="1" dirty="0" smtClean="0"/>
              <a:t>!</a:t>
            </a:r>
          </a:p>
          <a:p>
            <a:pPr>
              <a:spcBef>
                <a:spcPts val="0"/>
              </a:spcBef>
              <a:buClrTx/>
              <a:buSzTx/>
              <a:buFont typeface="Wingdings" panose="05000000000000000000" pitchFamily="2" charset="2"/>
              <a:buChar char="Ø"/>
            </a:pPr>
            <a:endParaRPr lang="en-US" altLang="en-US" sz="1600" i="1" dirty="0"/>
          </a:p>
          <a:p>
            <a:pPr>
              <a:spcBef>
                <a:spcPts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000" i="1" dirty="0"/>
              <a:t>It truly has been a privilege teaching you, and learning together with you</a:t>
            </a:r>
            <a:r>
              <a:rPr lang="en-US" altLang="en-US" sz="2000" i="1" dirty="0" smtClean="0"/>
              <a:t>.</a:t>
            </a:r>
            <a:endParaRPr lang="en-US" altLang="en-US" sz="2000" i="1" dirty="0"/>
          </a:p>
          <a:p>
            <a:pPr marL="0" indent="0">
              <a:spcBef>
                <a:spcPts val="0"/>
              </a:spcBef>
              <a:buClrTx/>
              <a:buSzTx/>
              <a:buFontTx/>
              <a:buNone/>
            </a:pPr>
            <a:endParaRPr lang="en-US" altLang="en-US" sz="1600" i="1" dirty="0" smtClean="0"/>
          </a:p>
          <a:p>
            <a:pPr marL="0" indent="0">
              <a:spcBef>
                <a:spcPts val="0"/>
              </a:spcBef>
              <a:buClrTx/>
              <a:buSzTx/>
              <a:buFontTx/>
              <a:buNone/>
            </a:pPr>
            <a:r>
              <a:rPr lang="en-US" altLang="en-US" sz="2000" i="1" dirty="0" smtClean="0"/>
              <a:t>Thank you!</a:t>
            </a:r>
          </a:p>
          <a:p>
            <a:pPr marL="0" indent="0">
              <a:spcBef>
                <a:spcPts val="0"/>
              </a:spcBef>
              <a:buClrTx/>
              <a:buSzTx/>
              <a:buFontTx/>
              <a:buNone/>
            </a:pPr>
            <a:endParaRPr lang="en-US" altLang="en-US" sz="2000" i="1" dirty="0"/>
          </a:p>
          <a:p>
            <a:pPr marL="0" indent="0">
              <a:spcBef>
                <a:spcPts val="0"/>
              </a:spcBef>
              <a:buClrTx/>
              <a:buSzTx/>
              <a:buFontTx/>
              <a:buNone/>
            </a:pPr>
            <a:r>
              <a:rPr lang="en-US" altLang="en-US" sz="2000" i="1" dirty="0" smtClean="0"/>
              <a:t>Dr</a:t>
            </a:r>
            <a:r>
              <a:rPr lang="en-US" altLang="en-US" sz="2000" i="1" dirty="0"/>
              <a:t>. White, Dr</a:t>
            </a:r>
            <a:r>
              <a:rPr lang="en-US" altLang="en-US" sz="2000" i="1" dirty="0" smtClean="0"/>
              <a:t>. </a:t>
            </a:r>
            <a:r>
              <a:rPr lang="en-US" altLang="en-US" sz="2000" i="1" dirty="0" err="1" smtClean="0"/>
              <a:t>Macciotta</a:t>
            </a:r>
            <a:r>
              <a:rPr lang="en-US" altLang="en-US" sz="2000" i="1" dirty="0" smtClean="0"/>
              <a:t>, Professor Coles, Professor </a:t>
            </a:r>
            <a:r>
              <a:rPr lang="en-US" altLang="en-US" sz="2000" i="1" dirty="0" err="1" smtClean="0"/>
              <a:t>Winkel</a:t>
            </a:r>
            <a:r>
              <a:rPr lang="en-US" altLang="en-US" sz="2000" i="1" dirty="0" smtClean="0"/>
              <a:t>, &amp; </a:t>
            </a:r>
            <a:r>
              <a:rPr lang="en-US" altLang="en-US" sz="2000" i="1" dirty="0"/>
              <a:t>Professor </a:t>
            </a:r>
            <a:r>
              <a:rPr lang="en-US" altLang="en-US" sz="2000" i="1" dirty="0" smtClean="0"/>
              <a:t>Cocchio</a:t>
            </a:r>
            <a:endParaRPr lang="en-US" altLang="en-US" sz="2000" i="1" dirty="0"/>
          </a:p>
        </p:txBody>
      </p:sp>
      <p:sp>
        <p:nvSpPr>
          <p:cNvPr id="7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Final Lecture on Career Lessons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  <a:extLst/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 smtClean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On Becoming a Leader in Risk Management!</a:t>
            </a:r>
            <a:endParaRPr lang="en-US" altLang="en-US" sz="2400" b="0" dirty="0">
              <a:solidFill>
                <a:schemeClr val="accent2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9001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69098</TotalTime>
  <Words>630</Words>
  <Application>Microsoft Office PowerPoint</Application>
  <PresentationFormat>On-screen Show (4:3)</PresentationFormat>
  <Paragraphs>155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ＭＳ Ｐゴシック</vt:lpstr>
      <vt:lpstr>Arial</vt:lpstr>
      <vt:lpstr>Calibri</vt:lpstr>
      <vt:lpstr>Times New Roman</vt:lpstr>
      <vt:lpstr>Wingdings</vt:lpstr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The University of Texas at Austin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MSB</dc:creator>
  <cp:lastModifiedBy>JR Cocchio</cp:lastModifiedBy>
  <cp:revision>1931</cp:revision>
  <cp:lastPrinted>2018-12-17T22:21:47Z</cp:lastPrinted>
  <dcterms:created xsi:type="dcterms:W3CDTF">2007-03-28T16:18:47Z</dcterms:created>
  <dcterms:modified xsi:type="dcterms:W3CDTF">2021-11-14T18:05:42Z</dcterms:modified>
</cp:coreProperties>
</file>