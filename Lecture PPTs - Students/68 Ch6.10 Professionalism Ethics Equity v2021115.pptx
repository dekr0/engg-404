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880" r:id="rId2"/>
    <p:sldId id="895" r:id="rId3"/>
    <p:sldId id="941" r:id="rId4"/>
    <p:sldId id="1001" r:id="rId5"/>
    <p:sldId id="994" r:id="rId6"/>
    <p:sldId id="978" r:id="rId7"/>
    <p:sldId id="979" r:id="rId8"/>
    <p:sldId id="977" r:id="rId9"/>
    <p:sldId id="980" r:id="rId10"/>
    <p:sldId id="975" r:id="rId11"/>
    <p:sldId id="995" r:id="rId12"/>
    <p:sldId id="972" r:id="rId13"/>
    <p:sldId id="973" r:id="rId14"/>
    <p:sldId id="997" r:id="rId15"/>
    <p:sldId id="998" r:id="rId16"/>
    <p:sldId id="970" r:id="rId17"/>
    <p:sldId id="971" r:id="rId18"/>
    <p:sldId id="968" r:id="rId19"/>
    <p:sldId id="984" r:id="rId20"/>
    <p:sldId id="999" r:id="rId21"/>
    <p:sldId id="966" r:id="rId22"/>
    <p:sldId id="967" r:id="rId23"/>
    <p:sldId id="964" r:id="rId24"/>
    <p:sldId id="983" r:id="rId25"/>
    <p:sldId id="962" r:id="rId26"/>
    <p:sldId id="963" r:id="rId27"/>
    <p:sldId id="960" r:id="rId28"/>
    <p:sldId id="961" r:id="rId29"/>
    <p:sldId id="958" r:id="rId30"/>
    <p:sldId id="959" r:id="rId31"/>
    <p:sldId id="956" r:id="rId32"/>
    <p:sldId id="982" r:id="rId33"/>
    <p:sldId id="1000" r:id="rId34"/>
    <p:sldId id="955" r:id="rId35"/>
    <p:sldId id="952" r:id="rId36"/>
    <p:sldId id="986" r:id="rId37"/>
    <p:sldId id="988" r:id="rId38"/>
    <p:sldId id="989" r:id="rId39"/>
    <p:sldId id="990" r:id="rId40"/>
    <p:sldId id="991" r:id="rId41"/>
    <p:sldId id="992" r:id="rId42"/>
    <p:sldId id="981" r:id="rId43"/>
    <p:sldId id="987" r:id="rId44"/>
    <p:sldId id="947" r:id="rId45"/>
    <p:sldId id="944" r:id="rId46"/>
    <p:sldId id="945" r:id="rId47"/>
    <p:sldId id="900" r:id="rId48"/>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80"/>
            <p14:sldId id="895"/>
            <p14:sldId id="941"/>
            <p14:sldId id="1001"/>
            <p14:sldId id="994"/>
            <p14:sldId id="978"/>
            <p14:sldId id="979"/>
            <p14:sldId id="977"/>
            <p14:sldId id="980"/>
            <p14:sldId id="975"/>
            <p14:sldId id="995"/>
            <p14:sldId id="972"/>
            <p14:sldId id="973"/>
            <p14:sldId id="997"/>
            <p14:sldId id="998"/>
            <p14:sldId id="970"/>
            <p14:sldId id="971"/>
            <p14:sldId id="968"/>
            <p14:sldId id="984"/>
            <p14:sldId id="999"/>
            <p14:sldId id="966"/>
            <p14:sldId id="967"/>
            <p14:sldId id="964"/>
            <p14:sldId id="983"/>
            <p14:sldId id="962"/>
            <p14:sldId id="963"/>
            <p14:sldId id="960"/>
            <p14:sldId id="961"/>
            <p14:sldId id="958"/>
            <p14:sldId id="959"/>
            <p14:sldId id="956"/>
            <p14:sldId id="982"/>
            <p14:sldId id="1000"/>
            <p14:sldId id="955"/>
            <p14:sldId id="952"/>
            <p14:sldId id="986"/>
            <p14:sldId id="988"/>
            <p14:sldId id="989"/>
            <p14:sldId id="990"/>
            <p14:sldId id="991"/>
            <p14:sldId id="992"/>
            <p14:sldId id="981"/>
            <p14:sldId id="987"/>
            <p14:sldId id="947"/>
            <p14:sldId id="944"/>
            <p14:sldId id="945"/>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000000"/>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76" autoAdjust="0"/>
    <p:restoredTop sz="86100" autoAdjust="0"/>
  </p:normalViewPr>
  <p:slideViewPr>
    <p:cSldViewPr>
      <p:cViewPr varScale="1">
        <p:scale>
          <a:sx n="70" d="100"/>
          <a:sy n="70" d="100"/>
        </p:scale>
        <p:origin x="1224" y="5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4188"/>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12/3/2021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12/3/2021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9662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APEGA Script: There are two pillars on which professionalism is built. The first pillar is skilled practice. Education allows the development of skills and knowledge—that is the foundation for competency. Continued study is imperative to maintain and enhance our knowledge, and to ensure we continue to </a:t>
            </a:r>
            <a:r>
              <a:rPr lang="en-US" dirty="0" err="1" smtClean="0"/>
              <a:t>practise</a:t>
            </a:r>
            <a:r>
              <a:rPr lang="en-US" dirty="0" smtClean="0"/>
              <a:t> skillfully.</a:t>
            </a:r>
          </a:p>
          <a:p>
            <a:endParaRPr lang="en-US" dirty="0" smtClean="0"/>
          </a:p>
          <a:p>
            <a:r>
              <a:rPr lang="en-US" dirty="0" smtClean="0"/>
              <a:t>The second pillar is professional conduct. APEGA’s Code of Ethics lays out the professional expectations of licensed professionals. Personal values, ethics, and integrity are key to set the conditions for acceptable professional conduct.</a:t>
            </a:r>
          </a:p>
          <a:p>
            <a:endParaRPr lang="en-US" dirty="0" smtClean="0"/>
          </a:p>
          <a:p>
            <a:r>
              <a:rPr lang="en-US" dirty="0" smtClean="0"/>
              <a:t>These two pillars—skilled practice and professional conduct—are the core elements to support the behaviour expected by your fellow licensed professionals.</a:t>
            </a:r>
          </a:p>
          <a:p>
            <a:endParaRPr lang="en-US" dirty="0" smtClean="0"/>
          </a:p>
          <a:p>
            <a:r>
              <a:rPr lang="en-US" dirty="0" smtClean="0"/>
              <a:t>APEGA’s responsibility is to ensure its licensed professionals, members-in-training, and permit holders demonstrate good judgement, provide capable leadership, establish and meet high standards, and fulfil their professional duties.</a:t>
            </a:r>
          </a:p>
          <a:p>
            <a:endParaRPr lang="en-US" dirty="0" smtClean="0"/>
          </a:p>
          <a:p>
            <a:r>
              <a:rPr lang="en-US" dirty="0" smtClean="0"/>
              <a:t>Success in all of these areas will maintain and strengthen the trust and respect the public has for our professions.</a:t>
            </a:r>
            <a:endParaRPr lang="en-US" dirty="0"/>
          </a:p>
        </p:txBody>
      </p:sp>
      <p:sp>
        <p:nvSpPr>
          <p:cNvPr id="4" name="Slide Number Placeholder 3"/>
          <p:cNvSpPr>
            <a:spLocks noGrp="1"/>
          </p:cNvSpPr>
          <p:nvPr>
            <p:ph type="sldNum" sz="quarter" idx="10"/>
          </p:nvPr>
        </p:nvSpPr>
        <p:spPr/>
        <p:txBody>
          <a:bodyPr/>
          <a:lstStyle/>
          <a:p>
            <a:fld id="{E97BCC6D-EB4B-4585-B980-26F192456600}" type="slidenum">
              <a:rPr lang="en-US" smtClean="0"/>
              <a:t>4</a:t>
            </a:fld>
            <a:endParaRPr lang="en-US"/>
          </a:p>
        </p:txBody>
      </p:sp>
    </p:spTree>
    <p:extLst>
      <p:ext uri="{BB962C8B-B14F-4D97-AF65-F5344CB8AC3E}">
        <p14:creationId xmlns:p14="http://schemas.microsoft.com/office/powerpoint/2010/main" val="810482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APEGA</a:t>
            </a:r>
            <a:r>
              <a:rPr lang="en-US" baseline="0" dirty="0" smtClean="0"/>
              <a:t> Script</a:t>
            </a:r>
            <a:r>
              <a:rPr lang="en-US" dirty="0" smtClean="0"/>
              <a:t>: The citizens of Alberta trust the Government of Alberta to protect their public interest and safety. Because of this, the government passed the Engineering and Geoscience Professions Act (EGP Act). The EGP Act provides the framework under which engineering and geoscience work is performed, and it establishes APEGA as the body to regulate the professions. There is no consideration for member self-interest written into the EGP Act or the General Regulation.</a:t>
            </a:r>
          </a:p>
          <a:p>
            <a:endParaRPr lang="en-US" dirty="0" smtClean="0"/>
          </a:p>
          <a:p>
            <a:r>
              <a:rPr lang="en-US" dirty="0" smtClean="0"/>
              <a:t>The EGP Act outlines who and what needs to be regulated, and how APEGA can regulate. APEGA regulates to maintain the public confidence, protecting our professional reputation and the social </a:t>
            </a:r>
            <a:r>
              <a:rPr lang="en-US" dirty="0" err="1" smtClean="0"/>
              <a:t>licence</a:t>
            </a:r>
            <a:r>
              <a:rPr lang="en-US" dirty="0" smtClean="0"/>
              <a:t> granted to the professions. All licensed professionals and permit holders are regulated, along with the right to </a:t>
            </a:r>
            <a:r>
              <a:rPr lang="en-US" dirty="0" err="1" smtClean="0"/>
              <a:t>practise</a:t>
            </a:r>
            <a:r>
              <a:rPr lang="en-US" dirty="0" smtClean="0"/>
              <a:t> and the right to title.</a:t>
            </a:r>
          </a:p>
          <a:p>
            <a:endParaRPr lang="en-US" dirty="0" smtClean="0"/>
          </a:p>
          <a:p>
            <a:r>
              <a:rPr lang="en-US" dirty="0" smtClean="0"/>
              <a:t>An elected council of APEGA licensed professionals and public members is empowered to establish how APEGA regulates under the constraints of the EGP Act. The council selects the Registrar and CEO, who provides APEGA staff and volunteers with support.</a:t>
            </a:r>
          </a:p>
          <a:p>
            <a:endParaRPr lang="en-US" dirty="0" smtClean="0"/>
          </a:p>
          <a:p>
            <a:r>
              <a:rPr lang="en-US" dirty="0" smtClean="0"/>
              <a:t>This relationship creates a constant feedback loop and support system.</a:t>
            </a:r>
            <a:endParaRPr lang="en-US" dirty="0"/>
          </a:p>
        </p:txBody>
      </p:sp>
      <p:sp>
        <p:nvSpPr>
          <p:cNvPr id="4" name="Slide Number Placeholder 3"/>
          <p:cNvSpPr>
            <a:spLocks noGrp="1"/>
          </p:cNvSpPr>
          <p:nvPr>
            <p:ph type="sldNum" sz="quarter" idx="10"/>
          </p:nvPr>
        </p:nvSpPr>
        <p:spPr/>
        <p:txBody>
          <a:bodyPr/>
          <a:lstStyle/>
          <a:p>
            <a:fld id="{E97BCC6D-EB4B-4585-B980-26F192456600}" type="slidenum">
              <a:rPr lang="en-US" smtClean="0"/>
              <a:t>5</a:t>
            </a:fld>
            <a:endParaRPr lang="en-US"/>
          </a:p>
        </p:txBody>
      </p:sp>
    </p:spTree>
    <p:extLst>
      <p:ext uri="{BB962C8B-B14F-4D97-AF65-F5344CB8AC3E}">
        <p14:creationId xmlns:p14="http://schemas.microsoft.com/office/powerpoint/2010/main" val="4232065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8320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278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5160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8797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8063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9903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61632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0280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446974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9271691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35538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00070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19835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4252822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518017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2222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91128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03652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3812196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4429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73863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00887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22588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21781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2482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2256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324073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86899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1537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93395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38012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32965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40270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37855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36660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2034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42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7512100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8113185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61705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12722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21097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47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47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12/3/2021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7xjpUIEwVUM"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80000" y="828000"/>
            <a:ext cx="8640000" cy="5232202"/>
          </a:xfrm>
          <a:prstGeom prst="rect">
            <a:avLst/>
          </a:prstGeom>
          <a:solidFill>
            <a:srgbClr val="FFFFFF"/>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t>“</a:t>
            </a:r>
            <a:r>
              <a:rPr kumimoji="0" lang="en-US" sz="18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Leading the Way to a Safer World”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https://drive.google.com/open?id=1HbT-vllIsbYmhUBU4TbNzLMtyACmKDo8</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Pathway: </a:t>
            </a:r>
            <a:r>
              <a:rPr kumimoji="0" lang="en-US" sz="1600" b="0" i="0" u="none" strike="noStrike" kern="1200" cap="none" spc="0" normalizeH="0" baseline="0" noProof="0" dirty="0" err="1">
                <a:ln>
                  <a:noFill/>
                </a:ln>
                <a:solidFill>
                  <a:srgbClr val="FF0000"/>
                </a:solidFill>
                <a:effectLst/>
                <a:uLnTx/>
                <a:uFillTx/>
                <a:latin typeface="Arial" panose="020B0604020202020204" pitchFamily="34" charset="0"/>
                <a:ea typeface="+mn-ea"/>
                <a:cs typeface="Arial" panose="020B0604020202020204" pitchFamily="34" charset="0"/>
              </a:rPr>
              <a:t>TeamDrive</a:t>
            </a:r>
            <a:r>
              <a:rPr kumimoji="0" lang="en-US" sz="16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&gt; ESRM Instruction Team Resources &gt; Video Clips &gt;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52 </a:t>
            </a:r>
            <a:r>
              <a:rPr kumimoji="0" lang="en-US" sz="16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t>Ch6.10 </a:t>
            </a:r>
            <a:r>
              <a:rPr kumimoji="0" lang="en-US" sz="16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Professionalism CCPS Leading the Way to a Safer World</a:t>
            </a:r>
            <a:r>
              <a:rPr kumimoji="0" lang="en-CA" sz="16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t>.mp4</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t>Center </a:t>
            </a:r>
            <a:r>
              <a:rPr kumimoji="0" lang="en-US" sz="180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for Chemical Process Safety</a:t>
            </a:r>
            <a:r>
              <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a technological community </a:t>
            </a:r>
            <a:r>
              <a:rPr kumimoji="0" lang="en-US" sz="18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t/>
            </a:r>
            <a:br>
              <a:rPr kumimoji="0" lang="en-US" sz="18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br>
            <a:r>
              <a:rPr kumimoji="0" lang="en-US" sz="18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t>within </a:t>
            </a:r>
            <a:r>
              <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the American Institute for Chemical Engineering</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t>00:00 </a:t>
            </a:r>
            <a:r>
              <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02:20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At 2:20, pause and look for familiar firms as the credits roll.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02:21 – 02:45</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hlinkClick r:id="rId3"/>
              </a:rPr>
              <a:t>https</a:t>
            </a:r>
            <a:r>
              <a:rPr kumimoji="0" lang="en-US" sz="16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hlinkClick r:id="rId3"/>
              </a:rPr>
              <a:t>://</a:t>
            </a:r>
            <a:r>
              <a:rPr kumimoji="0" lang="en-US" sz="16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hlinkClick r:id="rId3"/>
              </a:rPr>
              <a:t>www.youtube.com/watch?v=7xjpUIEwVUM</a:t>
            </a:r>
            <a:r>
              <a:rPr kumimoji="0" lang="en-US" sz="16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t> </a:t>
            </a:r>
            <a:endParaRPr kumimoji="0" lang="en-US" sz="16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Note: Although this video may seem centric to chemical engineering, all petrochemical manufacturing industries </a:t>
            </a:r>
            <a:r>
              <a:rPr kumimoji="0" lang="en-US" sz="1400" b="0" i="1"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require and rely on the expertise of all engineering disciplines</a:t>
            </a:r>
            <a:r>
              <a:rPr kumimoji="0" lang="en-US"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Consider: excavations, foundations and infrastructure, power distribution, waste water treatment, air pollution controls, computer and automatic process controls, networks and information technologies, structures, pressure vessels and piping systems, materials of construction, machines and machinery, instrumentation and electrical systems, chemical process units, resource extraction for raw materials, conversion of raw materials to finished products, logistics and transportation; design, fabrication, construction, start-up, operations, maintenance, financial management, and operations management.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Chapter </a:t>
            </a:r>
            <a:r>
              <a:rPr lang="en-US" altLang="en-US" sz="2400" b="0" dirty="0" smtClean="0">
                <a:solidFill>
                  <a:schemeClr val="accent2"/>
                </a:solidFill>
                <a:latin typeface="Arial" panose="020B0604020202020204" pitchFamily="34" charset="0"/>
                <a:ea typeface="+mj-ea"/>
                <a:cs typeface="Arial" panose="020B0604020202020204" pitchFamily="34" charset="0"/>
              </a:rPr>
              <a:t>6.10: </a:t>
            </a:r>
            <a:r>
              <a:rPr lang="en-US" altLang="en-US" sz="2400" b="0" dirty="0">
                <a:solidFill>
                  <a:schemeClr val="accent2"/>
                </a:solidFill>
                <a:latin typeface="Arial" panose="020B0604020202020204" pitchFamily="34" charset="0"/>
                <a:ea typeface="+mj-ea"/>
                <a:cs typeface="Arial" panose="020B0604020202020204" pitchFamily="34" charset="0"/>
              </a:rPr>
              <a:t>Professionalism, Ethics and Equity, Integrity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6.10: Professionalism, Ethics and Equity</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descr="EN0050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7372" y="1905000"/>
            <a:ext cx="11302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6629400" y="838200"/>
            <a:ext cx="2286000" cy="646331"/>
          </a:xfrm>
          <a:prstGeom prst="rect">
            <a:avLst/>
          </a:prstGeom>
          <a:solidFill>
            <a:srgbClr val="FFFF00"/>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Show this video before class </a:t>
            </a:r>
            <a:r>
              <a:rPr kumimoji="0" lang="en-CA" sz="1800" b="0" i="1"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starts</a:t>
            </a:r>
            <a:r>
              <a:rPr kumimoji="0" lang="en-CA" sz="1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6.10: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Professionalism,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Ethics and Equity, Integrity, and Conflict Of Interest</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spcBef>
                <a:spcPts val="0"/>
              </a:spcBef>
              <a:buClr>
                <a:srgbClr val="000000"/>
              </a:buClr>
              <a:buSzPct val="100000"/>
              <a:buNone/>
            </a:pPr>
            <a:r>
              <a:rPr lang="en-US" altLang="en-US" b="0" dirty="0" smtClean="0">
                <a:latin typeface="Arial" panose="020B0604020202020204" pitchFamily="34" charset="0"/>
                <a:cs typeface="Arial" panose="020B0604020202020204" pitchFamily="34" charset="0"/>
              </a:rPr>
              <a:t>We </a:t>
            </a:r>
            <a:r>
              <a:rPr lang="en-US" altLang="en-US" b="0" dirty="0">
                <a:latin typeface="Arial" panose="020B0604020202020204" pitchFamily="34" charset="0"/>
                <a:cs typeface="Arial" panose="020B0604020202020204" pitchFamily="34" charset="0"/>
              </a:rPr>
              <a:t>will explore the question, </a:t>
            </a:r>
            <a:endParaRPr lang="en-US" altLang="en-US" b="0" dirty="0" smtClean="0">
              <a:latin typeface="Arial" panose="020B0604020202020204" pitchFamily="34" charset="0"/>
              <a:cs typeface="Arial" panose="020B0604020202020204" pitchFamily="34" charset="0"/>
            </a:endParaRPr>
          </a:p>
          <a:p>
            <a:pPr marL="0" indent="0" algn="ctr">
              <a:spcBef>
                <a:spcPts val="0"/>
              </a:spcBef>
              <a:buClr>
                <a:srgbClr val="000000"/>
              </a:buClr>
              <a:buSzPct val="100000"/>
              <a:buNone/>
            </a:pPr>
            <a:r>
              <a:rPr lang="en-US" altLang="en-US" b="0" dirty="0" smtClean="0">
                <a:latin typeface="Arial" panose="020B0604020202020204" pitchFamily="34" charset="0"/>
                <a:cs typeface="Arial" panose="020B0604020202020204" pitchFamily="34" charset="0"/>
              </a:rPr>
              <a:t>“</a:t>
            </a:r>
            <a:r>
              <a:rPr lang="en-US" altLang="en-US" b="0" i="1" dirty="0" smtClean="0">
                <a:latin typeface="Arial" panose="020B0604020202020204" pitchFamily="34" charset="0"/>
                <a:cs typeface="Arial" panose="020B0604020202020204" pitchFamily="34" charset="0"/>
              </a:rPr>
              <a:t>What </a:t>
            </a:r>
            <a:r>
              <a:rPr lang="en-US" altLang="en-US" b="0" i="1" dirty="0">
                <a:latin typeface="Arial" panose="020B0604020202020204" pitchFamily="34" charset="0"/>
                <a:cs typeface="Arial" panose="020B0604020202020204" pitchFamily="34" charset="0"/>
              </a:rPr>
              <a:t>does it mean to be an upstanding and </a:t>
            </a:r>
            <a:r>
              <a:rPr lang="en-US" altLang="en-US" b="0" i="1" dirty="0" smtClean="0">
                <a:latin typeface="Arial" panose="020B0604020202020204" pitchFamily="34" charset="0"/>
                <a:cs typeface="Arial" panose="020B0604020202020204" pitchFamily="34" charset="0"/>
              </a:rPr>
              <a:t/>
            </a:r>
            <a:br>
              <a:rPr lang="en-US" altLang="en-US" b="0" i="1" dirty="0" smtClean="0">
                <a:latin typeface="Arial" panose="020B0604020202020204" pitchFamily="34" charset="0"/>
                <a:cs typeface="Arial" panose="020B0604020202020204" pitchFamily="34" charset="0"/>
              </a:rPr>
            </a:br>
            <a:r>
              <a:rPr lang="en-US" altLang="en-US" b="0" i="1" dirty="0" smtClean="0">
                <a:latin typeface="Arial" panose="020B0604020202020204" pitchFamily="34" charset="0"/>
                <a:cs typeface="Arial" panose="020B0604020202020204" pitchFamily="34" charset="0"/>
              </a:rPr>
              <a:t>outstanding </a:t>
            </a:r>
            <a:r>
              <a:rPr lang="en-US" altLang="en-US" b="0" i="1" dirty="0">
                <a:latin typeface="Arial" panose="020B0604020202020204" pitchFamily="34" charset="0"/>
                <a:cs typeface="Arial" panose="020B0604020202020204" pitchFamily="34" charset="0"/>
              </a:rPr>
              <a:t>professional engineer</a:t>
            </a:r>
            <a:r>
              <a:rPr lang="en-US" altLang="en-US" b="0" i="1" dirty="0" smtClean="0">
                <a:latin typeface="Arial" panose="020B0604020202020204" pitchFamily="34" charset="0"/>
                <a:cs typeface="Arial" panose="020B0604020202020204" pitchFamily="34" charset="0"/>
              </a:rPr>
              <a:t>?”</a:t>
            </a:r>
            <a:endParaRPr lang="en-US" altLang="en-US" b="0" i="1" dirty="0">
              <a:latin typeface="Arial" panose="020B0604020202020204" pitchFamily="34" charset="0"/>
              <a:cs typeface="Arial" panose="020B0604020202020204" pitchFamily="34" charset="0"/>
            </a:endParaRPr>
          </a:p>
          <a:p>
            <a:pPr>
              <a:spcBef>
                <a:spcPts val="0"/>
              </a:spcBef>
              <a:buClr>
                <a:srgbClr val="000000"/>
              </a:buClr>
              <a:buSzPct val="100000"/>
              <a:buFont typeface="Wingdings" panose="05000000000000000000" pitchFamily="2" charset="2"/>
              <a:buChar char="Ø"/>
            </a:pPr>
            <a:endParaRPr lang="en-US" altLang="en-US" b="0" dirty="0">
              <a:latin typeface="Arial" panose="020B0604020202020204" pitchFamily="34" charset="0"/>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professionalism</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situation about professionalism.</a:t>
            </a:r>
          </a:p>
          <a:p>
            <a:pPr>
              <a:spcBef>
                <a:spcPts val="0"/>
              </a:spcBef>
              <a:buClr>
                <a:srgbClr val="000000"/>
              </a:buClr>
              <a:buSzPct val="100000"/>
              <a:buFont typeface="Wingdings" panose="05000000000000000000" pitchFamily="2" charset="2"/>
              <a:buChar char="Ø"/>
            </a:pPr>
            <a:endParaRPr lang="en-US" altLang="en-US" b="0" u="sng" dirty="0">
              <a:latin typeface="Arial" panose="020B0604020202020204" pitchFamily="34" charset="0"/>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ethics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situation about ethical (and unethical) behaviour:</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Examine and critique a situation</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where an engineer’s professional ethics, integrity, or professional practice may be called into question, and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recommend the best course of action</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Gauge</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 organization’s or a leader’s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decision-making process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on a scale of ethical behaviour. </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 apparent contradictions and ambiguities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during your career within your organization.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Chapter </a:t>
            </a:r>
            <a:r>
              <a:rPr lang="en-US" sz="1200" i="1" kern="0" dirty="0" smtClean="0">
                <a:solidFill>
                  <a:srgbClr val="000000"/>
                </a:solidFill>
                <a:ea typeface="Times New Roman"/>
                <a:cs typeface="Arial" panose="020B0604020202020204" pitchFamily="34" charset="0"/>
                <a:sym typeface="Times New Roman"/>
              </a:rPr>
              <a:t>6.10: Professionalism, Ethics and Equity</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8843265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524000" y="762000"/>
            <a:ext cx="5925826" cy="5407621"/>
          </a:xfrm>
          <a:prstGeom prst="rect">
            <a:avLst/>
          </a:prstGeom>
        </p:spPr>
      </p:pic>
      <p:sp>
        <p:nvSpPr>
          <p:cNvPr id="7"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smtClean="0">
                <a:solidFill>
                  <a:srgbClr val="333399"/>
                </a:solidFill>
                <a:latin typeface="Arial" panose="020B0604020202020204" pitchFamily="34" charset="0"/>
                <a:cs typeface="Arial" panose="020B0604020202020204" pitchFamily="34" charset="0"/>
              </a:rPr>
              <a:t>APEGA Mandate is “Duty to the Public”:</a:t>
            </a:r>
            <a:endParaRPr lang="en-US" altLang="en-US" sz="2400" b="0" dirty="0">
              <a:solidFill>
                <a:srgbClr val="333399"/>
              </a:solidFill>
              <a:latin typeface="Arial" panose="020B0604020202020204" pitchFamily="34" charset="0"/>
              <a:cs typeface="Arial" panose="020B0604020202020204" pitchFamily="34" charset="0"/>
            </a:endParaRPr>
          </a:p>
        </p:txBody>
      </p:sp>
      <p:sp>
        <p:nvSpPr>
          <p:cNvPr id="2" name="Left-Right Arrow 1"/>
          <p:cNvSpPr/>
          <p:nvPr/>
        </p:nvSpPr>
        <p:spPr>
          <a:xfrm>
            <a:off x="3505200" y="2514600"/>
            <a:ext cx="1905000" cy="1295400"/>
          </a:xfrm>
          <a:prstGeom prst="leftRightArrow">
            <a:avLst>
              <a:gd name="adj1" fmla="val 77907"/>
              <a:gd name="adj2" fmla="val 40698"/>
            </a:avLst>
          </a:prstGeom>
          <a:solidFill>
            <a:srgbClr val="0000FF"/>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See Chapter 6.9</a:t>
            </a:r>
            <a:endParaRPr lang="en-US" dirty="0"/>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Chapter </a:t>
            </a:r>
            <a:r>
              <a:rPr lang="en-US" sz="1200" i="1" kern="0" dirty="0" smtClean="0">
                <a:solidFill>
                  <a:srgbClr val="000000"/>
                </a:solidFill>
                <a:ea typeface="Times New Roman"/>
                <a:cs typeface="Arial" panose="020B0604020202020204" pitchFamily="34" charset="0"/>
                <a:sym typeface="Times New Roman"/>
              </a:rPr>
              <a:t>6.10: Professionalism, Ethics and Equity</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42229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94100" y="908085"/>
            <a:ext cx="8955800" cy="5041829"/>
            <a:chOff x="94100" y="908085"/>
            <a:chExt cx="8955800" cy="5041829"/>
          </a:xfrm>
        </p:grpSpPr>
        <p:pic>
          <p:nvPicPr>
            <p:cNvPr id="2" name="Picture 1"/>
            <p:cNvPicPr>
              <a:picLocks noChangeAspect="1"/>
            </p:cNvPicPr>
            <p:nvPr/>
          </p:nvPicPr>
          <p:blipFill>
            <a:blip r:embed="rId3"/>
            <a:stretch>
              <a:fillRect/>
            </a:stretch>
          </p:blipFill>
          <p:spPr>
            <a:xfrm>
              <a:off x="94100" y="908085"/>
              <a:ext cx="8955800" cy="5041829"/>
            </a:xfrm>
            <a:prstGeom prst="rect">
              <a:avLst/>
            </a:prstGeom>
          </p:spPr>
        </p:pic>
        <p:cxnSp>
          <p:nvCxnSpPr>
            <p:cNvPr id="4" name="Straight Arrow Connector 3"/>
            <p:cNvCxnSpPr/>
            <p:nvPr/>
          </p:nvCxnSpPr>
          <p:spPr>
            <a:xfrm>
              <a:off x="7596000" y="4032000"/>
              <a:ext cx="0" cy="25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smtClean="0">
                <a:solidFill>
                  <a:srgbClr val="333399"/>
                </a:solidFill>
                <a:latin typeface="Arial" panose="020B0604020202020204" pitchFamily="34" charset="0"/>
                <a:cs typeface="Arial" panose="020B0604020202020204" pitchFamily="34" charset="0"/>
              </a:rPr>
              <a:t>APEGA is Empowered through the EGP Act:</a:t>
            </a:r>
            <a:endParaRPr lang="en-US" altLang="en-US" sz="2400" b="0" dirty="0">
              <a:solidFill>
                <a:srgbClr val="333399"/>
              </a:solidFill>
              <a:latin typeface="Arial" panose="020B0604020202020204" pitchFamily="34" charset="0"/>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Chapter </a:t>
            </a:r>
            <a:r>
              <a:rPr lang="en-US" sz="1200" i="1" kern="0" dirty="0" smtClean="0">
                <a:solidFill>
                  <a:srgbClr val="000000"/>
                </a:solidFill>
                <a:ea typeface="Times New Roman"/>
                <a:cs typeface="Arial" panose="020B0604020202020204" pitchFamily="34" charset="0"/>
                <a:sym typeface="Times New Roman"/>
              </a:rPr>
              <a:t>6.10: Professionalism, Ethics and Equity</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62579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Some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points about the practice of engineering:</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Technologically complex</a:t>
            </a:r>
          </a:p>
          <a:p>
            <a:pPr marL="720000" lvl="2"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Large contribution to society, and for the benefit of society</a:t>
            </a:r>
          </a:p>
          <a:p>
            <a:pPr marL="720000" lvl="2"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Ethical obligations.</a:t>
            </a: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The Practice of Engineering: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TextBox 5"/>
          <p:cNvSpPr txBox="1"/>
          <p:nvPr/>
        </p:nvSpPr>
        <p:spPr>
          <a:xfrm>
            <a:off x="180000" y="3096000"/>
            <a:ext cx="8640000" cy="2916000"/>
          </a:xfrm>
          <a:prstGeom prst="rect">
            <a:avLst/>
          </a:prstGeom>
          <a:solidFill>
            <a:schemeClr val="tx1"/>
          </a:solidFill>
          <a:ln>
            <a:solidFill>
              <a:schemeClr val="tx1"/>
            </a:solidFill>
          </a:ln>
        </p:spPr>
        <p:txBody>
          <a:bodyPr wrap="square" rtlCol="0">
            <a:no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You could be asked to choose one of the first two, and describe in terms relevant to the practice of engineering; however, the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CCPS video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clearly illustrated these two.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Having said this, you should take an opportunity to reflect on the relevancy of “technologically complex” or “large contribution to society” that involved the organization from your team project</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The third item will be discussed further in this lecture.  </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17455169"/>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Professionalism in Engineering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txBox="1">
            <a:spLocks noChangeArrowheads="1"/>
          </p:cNvSpPr>
          <p:nvPr/>
        </p:nvSpPr>
        <p:spPr>
          <a:xfrm>
            <a:off x="180000" y="864000"/>
            <a:ext cx="8640000" cy="5328000"/>
          </a:xfrm>
          <a:prstGeom prst="rect">
            <a:avLst/>
          </a:prstGeom>
          <a:solidFill>
            <a:sysClr val="window" lastClr="FFFFFF"/>
          </a:solidFill>
          <a:ln>
            <a:solidFill>
              <a:srgbClr val="000000"/>
            </a:solidFill>
            <a:miter lim="800000"/>
            <a:headEnd/>
            <a:tailEnd/>
          </a:ln>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609600" marR="0" lvl="0" indent="-609600" algn="l" defTabSz="914400" rtl="0" eaLnBrk="1" fontAlgn="auto" latinLnBrk="0" hangingPunct="1">
              <a:lnSpc>
                <a:spcPct val="100000"/>
              </a:lnSpc>
              <a:spcBef>
                <a:spcPts val="0"/>
              </a:spcBef>
              <a:spcAft>
                <a:spcPts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endParaRPr>
          </a:p>
          <a:p>
            <a:pPr marL="360000" marR="0" lvl="0" indent="-360000" algn="l" defTabSz="914400" rtl="0" eaLnBrk="1" fontAlgn="auto" latinLnBrk="0" hangingPunct="1">
              <a:lnSpc>
                <a:spcPct val="100000"/>
              </a:lnSpc>
              <a:spcBef>
                <a:spcPts val="0"/>
              </a:spcBef>
              <a:spcAft>
                <a:spcPts val="0"/>
              </a:spcAft>
              <a:buClr>
                <a:srgbClr val="000000"/>
              </a:buClr>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A profession is a </a:t>
            </a:r>
            <a:r>
              <a:rPr kumimoji="0" lang="en-US" altLang="en-US" sz="2000" b="0" i="0" u="sng"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calling</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 that requires: </a:t>
            </a:r>
          </a:p>
          <a:p>
            <a:pPr marL="720000" marR="0" lvl="1" indent="-3600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Specialized knowledge, </a:t>
            </a:r>
          </a:p>
          <a:p>
            <a:pPr marL="720000" marR="0" lvl="1" indent="-3600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Intensive preparation, </a:t>
            </a:r>
          </a:p>
          <a:p>
            <a:pPr marL="720000" marR="0" lvl="1" indent="-3600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High standards of achievement, </a:t>
            </a:r>
          </a:p>
          <a:p>
            <a:pPr marL="720000" marR="0" lvl="1" indent="-3600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High standards of practice, </a:t>
            </a:r>
          </a:p>
          <a:p>
            <a:pPr marL="720000" marR="0" lvl="1" indent="-3600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Continued study, </a:t>
            </a:r>
          </a:p>
          <a:p>
            <a:pPr marL="720000" marR="0" lvl="1" indent="-3600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endParaRPr>
          </a:p>
          <a:p>
            <a:pPr marL="720000" marR="0" lvl="1" indent="-3600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en-US" sz="200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t>Ethical conduct</a:t>
            </a:r>
            <a:r>
              <a:rPr kumimoji="0" lang="en-US" altLang="en-US" sz="2000" b="0" i="0" u="none" strike="noStrike" kern="120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rPr>
              <a:t>, </a:t>
            </a:r>
            <a:r>
              <a:rPr kumimoji="0" lang="en-US" altLang="en-US" sz="2000" b="0" i="0" u="none" strike="noStrike" kern="1200" cap="none" spc="0" normalizeH="0" baseline="0" noProof="0" dirty="0" smtClean="0">
                <a:ln>
                  <a:noFill/>
                </a:ln>
                <a:effectLst/>
                <a:uLnTx/>
                <a:uFillTx/>
                <a:latin typeface="Arial" panose="020B0604020202020204" pitchFamily="34" charset="0"/>
                <a:ea typeface="+mn-ea"/>
                <a:cs typeface="Arial" panose="020B0604020202020204" pitchFamily="34" charset="0"/>
              </a:rPr>
              <a:t>and</a:t>
            </a:r>
          </a:p>
          <a:p>
            <a:pPr marL="720000" marR="0" lvl="1" indent="-3600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endParaRPr>
          </a:p>
          <a:p>
            <a:pPr marL="720000" marR="0" lvl="1" indent="-3600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Public service (duty to the public). </a:t>
            </a:r>
          </a:p>
          <a:p>
            <a:pPr marL="457200"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kumimoji="0" lang="en-CA" altLang="en-US" sz="2000" b="0" i="1"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en-CA" altLang="en-US" sz="2000" b="0" i="1"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Http://www.apega.ca/pdf/guidelines/professionalism.pdf </a:t>
            </a:r>
            <a:endPar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Double Brace 6">
            <a:extLst>
              <a:ext uri="{FF2B5EF4-FFF2-40B4-BE49-F238E27FC236}">
                <a16:creationId xmlns:a16="http://schemas.microsoft.com/office/drawing/2014/main" id="{15A35893-B523-4339-9982-AFDCB324CA60}"/>
              </a:ext>
            </a:extLst>
          </p:cNvPr>
          <p:cNvSpPr/>
          <p:nvPr/>
        </p:nvSpPr>
        <p:spPr bwMode="auto">
          <a:xfrm>
            <a:off x="432000" y="1524000"/>
            <a:ext cx="4392000" cy="1504200"/>
          </a:xfrm>
          <a:prstGeom prst="bracePair">
            <a:avLst/>
          </a:prstGeom>
          <a:noFill/>
          <a:ln w="57150" cap="flat" cmpd="sng" algn="ctr">
            <a:solidFill>
              <a:srgbClr val="0033CC"/>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CA" sz="2400" b="0">
              <a:solidFill>
                <a:prstClr val="black"/>
              </a:solidFill>
              <a:latin typeface="Times New Roman" pitchFamily="18" charset="0"/>
            </a:endParaRPr>
          </a:p>
        </p:txBody>
      </p:sp>
      <p:sp>
        <p:nvSpPr>
          <p:cNvPr id="10" name="Speech Bubble: Rectangle 2">
            <a:extLst>
              <a:ext uri="{FF2B5EF4-FFF2-40B4-BE49-F238E27FC236}">
                <a16:creationId xmlns:a16="http://schemas.microsoft.com/office/drawing/2014/main" id="{1CC5658F-515E-4826-BB8B-DFE7E421B872}"/>
              </a:ext>
            </a:extLst>
          </p:cNvPr>
          <p:cNvSpPr/>
          <p:nvPr/>
        </p:nvSpPr>
        <p:spPr bwMode="auto">
          <a:xfrm>
            <a:off x="6156000" y="990600"/>
            <a:ext cx="2484000" cy="824948"/>
          </a:xfrm>
          <a:prstGeom prst="wedgeRectCallout">
            <a:avLst>
              <a:gd name="adj1" fmla="val -93890"/>
              <a:gd name="adj2" fmla="val 99826"/>
            </a:avLst>
          </a:prstGeom>
          <a:solidFill>
            <a:srgbClr val="FFFFFF"/>
          </a:solidFill>
          <a:ln w="38100">
            <a:solidFill>
              <a:srgbClr val="0033CC"/>
            </a:solidFill>
            <a:miter lim="800000"/>
            <a:headEnd/>
            <a:tailEnd/>
          </a:ln>
        </p:spPr>
        <p:txBody>
          <a:bodyPr vert="horz" wrap="square" lIns="91440" tIns="45720" rIns="91440" bIns="45720" numCol="1" anchor="t" anchorCtr="0" compatLnSpc="1">
            <a:prstTxWarp prst="textNoShape">
              <a:avLst/>
            </a:prstTxWarp>
          </a:bodyPr>
          <a:lstStyle/>
          <a:p>
            <a:pPr eaLnBrk="0" hangingPunct="0">
              <a:spcBef>
                <a:spcPct val="20000"/>
              </a:spcBef>
              <a:buClr>
                <a:srgbClr val="000000"/>
              </a:buClr>
              <a:buSzPct val="100000"/>
            </a:pPr>
            <a:r>
              <a:rPr lang="en-CA" sz="1600" b="0" i="1" dirty="0">
                <a:solidFill>
                  <a:srgbClr val="000000"/>
                </a:solidFill>
                <a:latin typeface="Arial" panose="020B0604020202020204" pitchFamily="34" charset="0"/>
                <a:cs typeface="Arial" panose="020B0604020202020204" pitchFamily="34" charset="0"/>
              </a:rPr>
              <a:t>As engineering students, you can readily identify with these.</a:t>
            </a:r>
          </a:p>
        </p:txBody>
      </p:sp>
      <p:sp>
        <p:nvSpPr>
          <p:cNvPr id="11" name="Double Brace 10">
            <a:extLst>
              <a:ext uri="{FF2B5EF4-FFF2-40B4-BE49-F238E27FC236}">
                <a16:creationId xmlns:a16="http://schemas.microsoft.com/office/drawing/2014/main" id="{09E1D544-5725-4377-944A-C8EEE606F567}"/>
              </a:ext>
            </a:extLst>
          </p:cNvPr>
          <p:cNvSpPr/>
          <p:nvPr/>
        </p:nvSpPr>
        <p:spPr bwMode="auto">
          <a:xfrm>
            <a:off x="432000" y="3246000"/>
            <a:ext cx="4392000" cy="487800"/>
          </a:xfrm>
          <a:prstGeom prst="bracePair">
            <a:avLst>
              <a:gd name="adj" fmla="val 17871"/>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CA" sz="2400" b="0">
              <a:solidFill>
                <a:prstClr val="black"/>
              </a:solidFill>
              <a:latin typeface="Times New Roman" pitchFamily="18" charset="0"/>
            </a:endParaRPr>
          </a:p>
        </p:txBody>
      </p:sp>
      <p:sp>
        <p:nvSpPr>
          <p:cNvPr id="14" name="Speech Bubble: Rectangle 9">
            <a:extLst>
              <a:ext uri="{FF2B5EF4-FFF2-40B4-BE49-F238E27FC236}">
                <a16:creationId xmlns:a16="http://schemas.microsoft.com/office/drawing/2014/main" id="{5CC0EFF6-ECE3-4948-8AC1-6E4AACE1539F}"/>
              </a:ext>
            </a:extLst>
          </p:cNvPr>
          <p:cNvSpPr/>
          <p:nvPr/>
        </p:nvSpPr>
        <p:spPr bwMode="auto">
          <a:xfrm>
            <a:off x="6156000" y="2209800"/>
            <a:ext cx="2484000" cy="610748"/>
          </a:xfrm>
          <a:prstGeom prst="wedgeRectCallout">
            <a:avLst>
              <a:gd name="adj1" fmla="val -94911"/>
              <a:gd name="adj2" fmla="val 149220"/>
            </a:avLst>
          </a:prstGeom>
          <a:solidFill>
            <a:srgbClr val="FFFFFF"/>
          </a:solidFill>
          <a:ln w="38100">
            <a:solidFill>
              <a:srgbClr val="FF0000"/>
            </a:solidFill>
            <a:miter lim="800000"/>
            <a:headEnd/>
            <a:tailEnd/>
          </a:ln>
        </p:spPr>
        <p:txBody>
          <a:bodyPr vert="horz" wrap="square" lIns="91440" tIns="45720" rIns="91440" bIns="45720" numCol="1" anchor="t" anchorCtr="0" compatLnSpc="1">
            <a:prstTxWarp prst="textNoShape">
              <a:avLst/>
            </a:prstTxWarp>
          </a:bodyPr>
          <a:lstStyle/>
          <a:p>
            <a:pPr eaLnBrk="0" hangingPunct="0">
              <a:spcBef>
                <a:spcPct val="20000"/>
              </a:spcBef>
              <a:buClr>
                <a:srgbClr val="000000"/>
              </a:buClr>
              <a:buSzPct val="100000"/>
            </a:pPr>
            <a:r>
              <a:rPr lang="en-CA" sz="1600" b="0" i="1" dirty="0">
                <a:solidFill>
                  <a:srgbClr val="000000"/>
                </a:solidFill>
                <a:latin typeface="Arial" panose="020B0604020202020204" pitchFamily="34" charset="0"/>
                <a:cs typeface="Arial" panose="020B0604020202020204" pitchFamily="34" charset="0"/>
              </a:rPr>
              <a:t>So we will explore </a:t>
            </a:r>
            <a:r>
              <a:rPr lang="en-CA" sz="1600" b="0" i="1" dirty="0" smtClean="0">
                <a:solidFill>
                  <a:srgbClr val="000000"/>
                </a:solidFill>
                <a:latin typeface="Arial" panose="020B0604020202020204" pitchFamily="34" charset="0"/>
                <a:cs typeface="Arial" panose="020B0604020202020204" pitchFamily="34" charset="0"/>
              </a:rPr>
              <a:t>this </a:t>
            </a:r>
            <a:r>
              <a:rPr lang="en-CA" sz="1600" b="0" i="1" dirty="0">
                <a:solidFill>
                  <a:srgbClr val="000000"/>
                </a:solidFill>
                <a:latin typeface="Arial" panose="020B0604020202020204" pitchFamily="34" charset="0"/>
                <a:cs typeface="Arial" panose="020B0604020202020204" pitchFamily="34" charset="0"/>
              </a:rPr>
              <a:t>in this </a:t>
            </a:r>
            <a:r>
              <a:rPr lang="en-CA" sz="1600" b="0" i="1" dirty="0" smtClean="0">
                <a:solidFill>
                  <a:srgbClr val="000000"/>
                </a:solidFill>
                <a:latin typeface="Arial" panose="020B0604020202020204" pitchFamily="34" charset="0"/>
                <a:cs typeface="Arial" panose="020B0604020202020204" pitchFamily="34" charset="0"/>
              </a:rPr>
              <a:t>topics.</a:t>
            </a:r>
            <a:endParaRPr lang="en-CA" sz="1600" b="0" i="1" dirty="0">
              <a:solidFill>
                <a:srgbClr val="000000"/>
              </a:solidFill>
              <a:latin typeface="Arial" panose="020B0604020202020204" pitchFamily="34" charset="0"/>
              <a:cs typeface="Arial" panose="020B0604020202020204" pitchFamily="34" charset="0"/>
            </a:endParaRPr>
          </a:p>
        </p:txBody>
      </p:sp>
      <p:sp>
        <p:nvSpPr>
          <p:cNvPr id="15" name="Speech Bubble: Rectangle 2">
            <a:extLst>
              <a:ext uri="{FF2B5EF4-FFF2-40B4-BE49-F238E27FC236}">
                <a16:creationId xmlns:a16="http://schemas.microsoft.com/office/drawing/2014/main" id="{1CC5658F-515E-4826-BB8B-DFE7E421B872}"/>
              </a:ext>
            </a:extLst>
          </p:cNvPr>
          <p:cNvSpPr/>
          <p:nvPr/>
        </p:nvSpPr>
        <p:spPr bwMode="auto">
          <a:xfrm>
            <a:off x="6156000" y="3352800"/>
            <a:ext cx="2484000" cy="672548"/>
          </a:xfrm>
          <a:prstGeom prst="wedgeRectCallout">
            <a:avLst>
              <a:gd name="adj1" fmla="val -93687"/>
              <a:gd name="adj2" fmla="val 55777"/>
            </a:avLst>
          </a:prstGeom>
          <a:solidFill>
            <a:srgbClr val="FFFFFF"/>
          </a:solidFill>
          <a:ln w="38100">
            <a:solidFill>
              <a:srgbClr val="0033CC"/>
            </a:solidFill>
            <a:miter lim="800000"/>
            <a:headEnd/>
            <a:tailEnd/>
          </a:ln>
        </p:spPr>
        <p:txBody>
          <a:bodyPr vert="horz" wrap="square" lIns="91440" tIns="45720" rIns="91440" bIns="45720" numCol="1" anchor="t" anchorCtr="0" compatLnSpc="1">
            <a:prstTxWarp prst="textNoShape">
              <a:avLst/>
            </a:prstTxWarp>
          </a:bodyPr>
          <a:lstStyle/>
          <a:p>
            <a:pPr eaLnBrk="0" hangingPunct="0">
              <a:spcBef>
                <a:spcPct val="20000"/>
              </a:spcBef>
              <a:buClr>
                <a:srgbClr val="000000"/>
              </a:buClr>
              <a:buSzPct val="100000"/>
            </a:pPr>
            <a:r>
              <a:rPr lang="en-CA" sz="1600" b="0" i="1" dirty="0">
                <a:solidFill>
                  <a:srgbClr val="000000"/>
                </a:solidFill>
                <a:latin typeface="Arial" panose="020B0604020202020204" pitchFamily="34" charset="0"/>
                <a:cs typeface="Arial" panose="020B0604020202020204" pitchFamily="34" charset="0"/>
              </a:rPr>
              <a:t>As </a:t>
            </a:r>
            <a:r>
              <a:rPr lang="en-CA" sz="1600" b="0" i="1" dirty="0" smtClean="0">
                <a:solidFill>
                  <a:srgbClr val="000000"/>
                </a:solidFill>
                <a:latin typeface="Arial" panose="020B0604020202020204" pitchFamily="34" charset="0"/>
                <a:cs typeface="Arial" panose="020B0604020202020204" pitchFamily="34" charset="0"/>
              </a:rPr>
              <a:t>explained in APEGA Introductory content.</a:t>
            </a:r>
            <a:endParaRPr lang="en-CA" sz="1600" b="0" i="1" dirty="0">
              <a:solidFill>
                <a:srgbClr val="000000"/>
              </a:solidFill>
              <a:latin typeface="Arial" panose="020B0604020202020204" pitchFamily="34" charset="0"/>
              <a:cs typeface="Arial" panose="020B0604020202020204" pitchFamily="34" charset="0"/>
            </a:endParaRPr>
          </a:p>
        </p:txBody>
      </p:sp>
      <p:sp>
        <p:nvSpPr>
          <p:cNvPr id="17" name="Double Brace 16">
            <a:extLst>
              <a:ext uri="{FF2B5EF4-FFF2-40B4-BE49-F238E27FC236}">
                <a16:creationId xmlns:a16="http://schemas.microsoft.com/office/drawing/2014/main" id="{09E1D544-5725-4377-944A-C8EEE606F567}"/>
              </a:ext>
            </a:extLst>
          </p:cNvPr>
          <p:cNvSpPr/>
          <p:nvPr/>
        </p:nvSpPr>
        <p:spPr bwMode="auto">
          <a:xfrm>
            <a:off x="457200" y="3886200"/>
            <a:ext cx="4392000" cy="487800"/>
          </a:xfrm>
          <a:prstGeom prst="bracePair">
            <a:avLst>
              <a:gd name="adj" fmla="val 17871"/>
            </a:avLst>
          </a:prstGeom>
          <a:noFill/>
          <a:ln w="57150" cap="flat" cmpd="sng" algn="ctr">
            <a:solidFill>
              <a:srgbClr val="0033CC"/>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CA" sz="2400" b="0">
              <a:solidFill>
                <a:prstClr val="black"/>
              </a:solidFill>
              <a:latin typeface="Times New Roman" pitchFamily="18" charset="0"/>
            </a:endParaRPr>
          </a:p>
        </p:txBody>
      </p:sp>
    </p:spTree>
    <p:extLst>
      <p:ext uri="{BB962C8B-B14F-4D97-AF65-F5344CB8AC3E}">
        <p14:creationId xmlns:p14="http://schemas.microsoft.com/office/powerpoint/2010/main" val="137760009"/>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Definition:</a:t>
            </a:r>
          </a:p>
          <a:p>
            <a:pPr lvl="0" fontAlgn="auto">
              <a:lnSpc>
                <a:spcPct val="100000"/>
              </a:lnSpc>
              <a:spcBef>
                <a:spcPts val="0"/>
              </a:spcBef>
              <a:spcAft>
                <a:spcPts val="0"/>
              </a:spcAft>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cs typeface="Arial" panose="020B0604020202020204" pitchFamily="34" charset="0"/>
              </a:rPr>
              <a:t>CCPE defines the “practice of engineering” as:</a:t>
            </a:r>
            <a:br>
              <a:rPr lang="en-US" altLang="en-US" b="0" dirty="0">
                <a:solidFill>
                  <a:srgbClr val="000000"/>
                </a:solidFill>
                <a:latin typeface="Arial" panose="020B0604020202020204" pitchFamily="34" charset="0"/>
                <a:cs typeface="Arial" panose="020B0604020202020204" pitchFamily="34" charset="0"/>
              </a:rPr>
            </a:br>
            <a:r>
              <a:rPr lang="en-US" altLang="en-US" b="0" i="1" dirty="0">
                <a:solidFill>
                  <a:srgbClr val="000000"/>
                </a:solidFill>
                <a:latin typeface="Arial" panose="020B0604020202020204" pitchFamily="34" charset="0"/>
                <a:cs typeface="Arial" panose="020B0604020202020204" pitchFamily="34" charset="0"/>
              </a:rPr>
              <a:t>“the practice of professional engineering means any act of </a:t>
            </a:r>
            <a:r>
              <a:rPr lang="en-US" altLang="en-US" i="1" dirty="0">
                <a:solidFill>
                  <a:srgbClr val="000000"/>
                </a:solidFill>
                <a:latin typeface="Arial" panose="020B0604020202020204" pitchFamily="34" charset="0"/>
                <a:cs typeface="Arial" panose="020B0604020202020204" pitchFamily="34" charset="0"/>
              </a:rPr>
              <a:t>planning</a:t>
            </a:r>
            <a:r>
              <a:rPr lang="en-US" altLang="en-US" b="0" i="1" dirty="0">
                <a:solidFill>
                  <a:srgbClr val="000000"/>
                </a:solidFill>
                <a:latin typeface="Arial" panose="020B0604020202020204" pitchFamily="34" charset="0"/>
                <a:cs typeface="Arial" panose="020B0604020202020204" pitchFamily="34" charset="0"/>
              </a:rPr>
              <a:t>, </a:t>
            </a:r>
            <a:r>
              <a:rPr lang="en-US" altLang="en-US" i="1" dirty="0">
                <a:solidFill>
                  <a:srgbClr val="000000"/>
                </a:solidFill>
                <a:latin typeface="Arial" panose="020B0604020202020204" pitchFamily="34" charset="0"/>
                <a:cs typeface="Arial" panose="020B0604020202020204" pitchFamily="34" charset="0"/>
              </a:rPr>
              <a:t>designing</a:t>
            </a:r>
            <a:r>
              <a:rPr lang="en-US" altLang="en-US" b="0" i="1" dirty="0">
                <a:solidFill>
                  <a:srgbClr val="000000"/>
                </a:solidFill>
                <a:latin typeface="Arial" panose="020B0604020202020204" pitchFamily="34" charset="0"/>
                <a:cs typeface="Arial" panose="020B0604020202020204" pitchFamily="34" charset="0"/>
              </a:rPr>
              <a:t>, </a:t>
            </a:r>
            <a:r>
              <a:rPr lang="en-US" altLang="en-US" i="1" dirty="0">
                <a:solidFill>
                  <a:srgbClr val="000000"/>
                </a:solidFill>
                <a:latin typeface="Arial" panose="020B0604020202020204" pitchFamily="34" charset="0"/>
                <a:cs typeface="Arial" panose="020B0604020202020204" pitchFamily="34" charset="0"/>
              </a:rPr>
              <a:t>evaluating</a:t>
            </a:r>
            <a:r>
              <a:rPr lang="en-US" altLang="en-US" b="0" i="1" dirty="0">
                <a:solidFill>
                  <a:srgbClr val="000000"/>
                </a:solidFill>
                <a:latin typeface="Arial" panose="020B0604020202020204" pitchFamily="34" charset="0"/>
                <a:cs typeface="Arial" panose="020B0604020202020204" pitchFamily="34" charset="0"/>
              </a:rPr>
              <a:t>, </a:t>
            </a:r>
            <a:r>
              <a:rPr lang="en-US" altLang="en-US" i="1" dirty="0">
                <a:solidFill>
                  <a:srgbClr val="000000"/>
                </a:solidFill>
                <a:latin typeface="Arial" panose="020B0604020202020204" pitchFamily="34" charset="0"/>
                <a:cs typeface="Arial" panose="020B0604020202020204" pitchFamily="34" charset="0"/>
              </a:rPr>
              <a:t>advising</a:t>
            </a:r>
            <a:r>
              <a:rPr lang="en-US" altLang="en-US" b="0" i="1" dirty="0">
                <a:solidFill>
                  <a:srgbClr val="000000"/>
                </a:solidFill>
                <a:latin typeface="Arial" panose="020B0604020202020204" pitchFamily="34" charset="0"/>
                <a:cs typeface="Arial" panose="020B0604020202020204" pitchFamily="34" charset="0"/>
              </a:rPr>
              <a:t>, </a:t>
            </a:r>
            <a:r>
              <a:rPr lang="en-US" altLang="en-US" i="1" dirty="0">
                <a:solidFill>
                  <a:srgbClr val="000000"/>
                </a:solidFill>
                <a:latin typeface="Arial" panose="020B0604020202020204" pitchFamily="34" charset="0"/>
                <a:cs typeface="Arial" panose="020B0604020202020204" pitchFamily="34" charset="0"/>
              </a:rPr>
              <a:t>reporting</a:t>
            </a:r>
            <a:r>
              <a:rPr lang="en-US" altLang="en-US" b="0" i="1" dirty="0">
                <a:solidFill>
                  <a:srgbClr val="000000"/>
                </a:solidFill>
                <a:latin typeface="Arial" panose="020B0604020202020204" pitchFamily="34" charset="0"/>
                <a:cs typeface="Arial" panose="020B0604020202020204" pitchFamily="34" charset="0"/>
              </a:rPr>
              <a:t>, </a:t>
            </a:r>
            <a:r>
              <a:rPr lang="en-US" altLang="en-US" i="1" dirty="0">
                <a:solidFill>
                  <a:srgbClr val="000000"/>
                </a:solidFill>
                <a:latin typeface="Arial" panose="020B0604020202020204" pitchFamily="34" charset="0"/>
                <a:cs typeface="Arial" panose="020B0604020202020204" pitchFamily="34" charset="0"/>
              </a:rPr>
              <a:t>directing</a:t>
            </a:r>
            <a:r>
              <a:rPr lang="en-US" altLang="en-US" b="0" i="1" dirty="0">
                <a:solidFill>
                  <a:srgbClr val="000000"/>
                </a:solidFill>
                <a:latin typeface="Arial" panose="020B0604020202020204" pitchFamily="34" charset="0"/>
                <a:cs typeface="Arial" panose="020B0604020202020204" pitchFamily="34" charset="0"/>
              </a:rPr>
              <a:t> or </a:t>
            </a:r>
            <a:r>
              <a:rPr lang="en-US" altLang="en-US" i="1" dirty="0">
                <a:solidFill>
                  <a:srgbClr val="000000"/>
                </a:solidFill>
                <a:latin typeface="Arial" panose="020B0604020202020204" pitchFamily="34" charset="0"/>
                <a:cs typeface="Arial" panose="020B0604020202020204" pitchFamily="34" charset="0"/>
              </a:rPr>
              <a:t>supervising</a:t>
            </a:r>
            <a:r>
              <a:rPr lang="en-US" altLang="en-US" b="0" i="1" dirty="0">
                <a:solidFill>
                  <a:srgbClr val="000000"/>
                </a:solidFill>
                <a:latin typeface="Arial" panose="020B0604020202020204" pitchFamily="34" charset="0"/>
                <a:cs typeface="Arial" panose="020B0604020202020204" pitchFamily="34" charset="0"/>
              </a:rPr>
              <a:t>, or </a:t>
            </a:r>
            <a:r>
              <a:rPr lang="en-US" altLang="en-US" i="1" dirty="0">
                <a:solidFill>
                  <a:srgbClr val="000000"/>
                </a:solidFill>
                <a:latin typeface="Arial" panose="020B0604020202020204" pitchFamily="34" charset="0"/>
                <a:cs typeface="Arial" panose="020B0604020202020204" pitchFamily="34" charset="0"/>
              </a:rPr>
              <a:t>managing</a:t>
            </a:r>
            <a:r>
              <a:rPr lang="en-US" altLang="en-US" b="0" i="1" dirty="0">
                <a:solidFill>
                  <a:srgbClr val="000000"/>
                </a:solidFill>
                <a:latin typeface="Arial" panose="020B0604020202020204" pitchFamily="34" charset="0"/>
                <a:cs typeface="Arial" panose="020B0604020202020204" pitchFamily="34" charset="0"/>
              </a:rPr>
              <a:t> any of the foregoing, that requires the application of engineering principles, and that concerns the </a:t>
            </a:r>
            <a:r>
              <a:rPr lang="en-US" altLang="en-US" b="0" i="1" u="sng" dirty="0">
                <a:solidFill>
                  <a:srgbClr val="000000"/>
                </a:solidFill>
                <a:latin typeface="Arial" panose="020B0604020202020204" pitchFamily="34" charset="0"/>
                <a:cs typeface="Arial" panose="020B0604020202020204" pitchFamily="34" charset="0"/>
              </a:rPr>
              <a:t>safeguarding of life, health, property, economic interests, the public welfare, or the environment</a:t>
            </a:r>
            <a:r>
              <a:rPr lang="en-US" altLang="en-US" b="0" i="1" dirty="0">
                <a:solidFill>
                  <a:srgbClr val="000000"/>
                </a:solidFill>
                <a:latin typeface="Arial" panose="020B0604020202020204" pitchFamily="34" charset="0"/>
                <a:cs typeface="Arial" panose="020B0604020202020204" pitchFamily="34" charset="0"/>
              </a:rPr>
              <a:t>.”</a:t>
            </a: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Professionalism in Engineering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TextBox 5"/>
          <p:cNvSpPr txBox="1"/>
          <p:nvPr/>
        </p:nvSpPr>
        <p:spPr>
          <a:xfrm>
            <a:off x="180000" y="3580200"/>
            <a:ext cx="8640000" cy="2592000"/>
          </a:xfrm>
          <a:prstGeom prst="rect">
            <a:avLst/>
          </a:prstGeom>
          <a:solidFill>
            <a:srgbClr val="000000"/>
          </a:solidFill>
          <a:ln>
            <a:solidFill>
              <a:schemeClr val="tx1"/>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Consider </a:t>
            </a: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the bold-text </a:t>
            </a:r>
            <a:r>
              <a:rPr kumimoji="0" 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words in relation to the BP-DWH Loss Incident. </a:t>
            </a: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Choose one, and think about some aspect as it relates to the underlying latent cause </a:t>
            </a:r>
            <a:r>
              <a:rPr kumimoji="0" 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and related RME.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Think about framing </a:t>
            </a: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your response as: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&lt;the selected bold-text word&gt;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&lt;latent cause relative to the bold-text word&gt;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&lt;the related risk management system element&gt;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60329537"/>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Definition:</a:t>
            </a:r>
          </a:p>
          <a:p>
            <a:pPr lvl="0" fontAlgn="auto">
              <a:lnSpc>
                <a:spcPct val="100000"/>
              </a:lnSpc>
              <a:spcBef>
                <a:spcPts val="0"/>
              </a:spcBef>
              <a:spcAft>
                <a:spcPts val="0"/>
              </a:spcAft>
              <a:buClr>
                <a:srgbClr val="000000"/>
              </a:buClr>
              <a:buSzPct val="100000"/>
              <a:buFont typeface="Wingdings" panose="05000000000000000000" pitchFamily="2" charset="2"/>
              <a:buChar char="Ø"/>
            </a:pPr>
            <a:r>
              <a:rPr lang="en-US" altLang="en-US" sz="1400" b="0" dirty="0">
                <a:solidFill>
                  <a:srgbClr val="000000"/>
                </a:solidFill>
                <a:latin typeface="Arial" panose="020B0604020202020204" pitchFamily="34" charset="0"/>
                <a:cs typeface="Arial" panose="020B0604020202020204" pitchFamily="34" charset="0"/>
              </a:rPr>
              <a:t>CCPE defines the “practice of engineering” as:</a:t>
            </a:r>
            <a:br>
              <a:rPr lang="en-US" altLang="en-US" sz="1400" b="0" dirty="0">
                <a:solidFill>
                  <a:srgbClr val="000000"/>
                </a:solidFill>
                <a:latin typeface="Arial" panose="020B0604020202020204" pitchFamily="34" charset="0"/>
                <a:cs typeface="Arial" panose="020B0604020202020204" pitchFamily="34" charset="0"/>
              </a:rPr>
            </a:br>
            <a:r>
              <a:rPr lang="en-US" altLang="en-US" sz="1400" b="0" i="1" dirty="0">
                <a:solidFill>
                  <a:srgbClr val="000000"/>
                </a:solidFill>
                <a:latin typeface="Arial" panose="020B0604020202020204" pitchFamily="34" charset="0"/>
                <a:cs typeface="Arial" panose="020B0604020202020204" pitchFamily="34" charset="0"/>
              </a:rPr>
              <a:t>“the practice of professional engineering means any act of </a:t>
            </a:r>
            <a:r>
              <a:rPr lang="en-US" altLang="en-US" sz="1400" i="1" dirty="0">
                <a:solidFill>
                  <a:srgbClr val="000000"/>
                </a:solidFill>
                <a:latin typeface="Arial" panose="020B0604020202020204" pitchFamily="34" charset="0"/>
                <a:cs typeface="Arial" panose="020B0604020202020204" pitchFamily="34" charset="0"/>
              </a:rPr>
              <a:t>planning</a:t>
            </a:r>
            <a:r>
              <a:rPr lang="en-US" altLang="en-US" sz="1400" b="0" i="1" dirty="0">
                <a:solidFill>
                  <a:srgbClr val="000000"/>
                </a:solidFill>
                <a:latin typeface="Arial" panose="020B0604020202020204" pitchFamily="34" charset="0"/>
                <a:cs typeface="Arial" panose="020B0604020202020204" pitchFamily="34" charset="0"/>
              </a:rPr>
              <a:t>, </a:t>
            </a:r>
            <a:r>
              <a:rPr lang="en-US" altLang="en-US" sz="1400" i="1" dirty="0">
                <a:solidFill>
                  <a:srgbClr val="000000"/>
                </a:solidFill>
                <a:latin typeface="Arial" panose="020B0604020202020204" pitchFamily="34" charset="0"/>
                <a:cs typeface="Arial" panose="020B0604020202020204" pitchFamily="34" charset="0"/>
              </a:rPr>
              <a:t>designing</a:t>
            </a:r>
            <a:r>
              <a:rPr lang="en-US" altLang="en-US" sz="1400" b="0" i="1" dirty="0">
                <a:solidFill>
                  <a:srgbClr val="000000"/>
                </a:solidFill>
                <a:latin typeface="Arial" panose="020B0604020202020204" pitchFamily="34" charset="0"/>
                <a:cs typeface="Arial" panose="020B0604020202020204" pitchFamily="34" charset="0"/>
              </a:rPr>
              <a:t>, </a:t>
            </a:r>
            <a:r>
              <a:rPr lang="en-US" altLang="en-US" sz="1400" i="1" dirty="0">
                <a:solidFill>
                  <a:srgbClr val="000000"/>
                </a:solidFill>
                <a:latin typeface="Arial" panose="020B0604020202020204" pitchFamily="34" charset="0"/>
                <a:cs typeface="Arial" panose="020B0604020202020204" pitchFamily="34" charset="0"/>
              </a:rPr>
              <a:t>evaluating</a:t>
            </a:r>
            <a:r>
              <a:rPr lang="en-US" altLang="en-US" sz="1400" b="0" i="1" dirty="0">
                <a:solidFill>
                  <a:srgbClr val="000000"/>
                </a:solidFill>
                <a:latin typeface="Arial" panose="020B0604020202020204" pitchFamily="34" charset="0"/>
                <a:cs typeface="Arial" panose="020B0604020202020204" pitchFamily="34" charset="0"/>
              </a:rPr>
              <a:t>, </a:t>
            </a:r>
            <a:r>
              <a:rPr lang="en-US" altLang="en-US" sz="1400" i="1" dirty="0">
                <a:solidFill>
                  <a:srgbClr val="000000"/>
                </a:solidFill>
                <a:latin typeface="Arial" panose="020B0604020202020204" pitchFamily="34" charset="0"/>
                <a:cs typeface="Arial" panose="020B0604020202020204" pitchFamily="34" charset="0"/>
              </a:rPr>
              <a:t>advising</a:t>
            </a:r>
            <a:r>
              <a:rPr lang="en-US" altLang="en-US" sz="1400" b="0" i="1" dirty="0">
                <a:solidFill>
                  <a:srgbClr val="000000"/>
                </a:solidFill>
                <a:latin typeface="Arial" panose="020B0604020202020204" pitchFamily="34" charset="0"/>
                <a:cs typeface="Arial" panose="020B0604020202020204" pitchFamily="34" charset="0"/>
              </a:rPr>
              <a:t>, </a:t>
            </a:r>
            <a:r>
              <a:rPr lang="en-US" altLang="en-US" sz="1400" i="1" dirty="0">
                <a:solidFill>
                  <a:srgbClr val="000000"/>
                </a:solidFill>
                <a:latin typeface="Arial" panose="020B0604020202020204" pitchFamily="34" charset="0"/>
                <a:cs typeface="Arial" panose="020B0604020202020204" pitchFamily="34" charset="0"/>
              </a:rPr>
              <a:t>reporting</a:t>
            </a:r>
            <a:r>
              <a:rPr lang="en-US" altLang="en-US" sz="1400" b="0" i="1" dirty="0">
                <a:solidFill>
                  <a:srgbClr val="000000"/>
                </a:solidFill>
                <a:latin typeface="Arial" panose="020B0604020202020204" pitchFamily="34" charset="0"/>
                <a:cs typeface="Arial" panose="020B0604020202020204" pitchFamily="34" charset="0"/>
              </a:rPr>
              <a:t>, </a:t>
            </a:r>
            <a:r>
              <a:rPr lang="en-US" altLang="en-US" sz="1400" i="1" dirty="0">
                <a:solidFill>
                  <a:srgbClr val="000000"/>
                </a:solidFill>
                <a:latin typeface="Arial" panose="020B0604020202020204" pitchFamily="34" charset="0"/>
                <a:cs typeface="Arial" panose="020B0604020202020204" pitchFamily="34" charset="0"/>
              </a:rPr>
              <a:t>directing</a:t>
            </a:r>
            <a:r>
              <a:rPr lang="en-US" altLang="en-US" sz="1400" b="0" i="1" dirty="0">
                <a:solidFill>
                  <a:srgbClr val="000000"/>
                </a:solidFill>
                <a:latin typeface="Arial" panose="020B0604020202020204" pitchFamily="34" charset="0"/>
                <a:cs typeface="Arial" panose="020B0604020202020204" pitchFamily="34" charset="0"/>
              </a:rPr>
              <a:t> or </a:t>
            </a:r>
            <a:r>
              <a:rPr lang="en-US" altLang="en-US" sz="1400" i="1" dirty="0">
                <a:solidFill>
                  <a:srgbClr val="000000"/>
                </a:solidFill>
                <a:latin typeface="Arial" panose="020B0604020202020204" pitchFamily="34" charset="0"/>
                <a:cs typeface="Arial" panose="020B0604020202020204" pitchFamily="34" charset="0"/>
              </a:rPr>
              <a:t>supervising</a:t>
            </a:r>
            <a:r>
              <a:rPr lang="en-US" altLang="en-US" sz="1400" b="0" i="1" dirty="0">
                <a:solidFill>
                  <a:srgbClr val="000000"/>
                </a:solidFill>
                <a:latin typeface="Arial" panose="020B0604020202020204" pitchFamily="34" charset="0"/>
                <a:cs typeface="Arial" panose="020B0604020202020204" pitchFamily="34" charset="0"/>
              </a:rPr>
              <a:t>, or </a:t>
            </a:r>
            <a:r>
              <a:rPr lang="en-US" altLang="en-US" sz="1400" i="1" dirty="0">
                <a:solidFill>
                  <a:srgbClr val="000000"/>
                </a:solidFill>
                <a:latin typeface="Arial" panose="020B0604020202020204" pitchFamily="34" charset="0"/>
                <a:cs typeface="Arial" panose="020B0604020202020204" pitchFamily="34" charset="0"/>
              </a:rPr>
              <a:t>managing</a:t>
            </a:r>
            <a:r>
              <a:rPr lang="en-US" altLang="en-US" sz="1400" b="0" i="1" dirty="0">
                <a:solidFill>
                  <a:srgbClr val="000000"/>
                </a:solidFill>
                <a:latin typeface="Arial" panose="020B0604020202020204" pitchFamily="34" charset="0"/>
                <a:cs typeface="Arial" panose="020B0604020202020204" pitchFamily="34" charset="0"/>
              </a:rPr>
              <a:t> any of the foregoing, that requires the application of engineering principles, and that concerns the </a:t>
            </a:r>
            <a:r>
              <a:rPr lang="en-US" altLang="en-US" sz="1400" b="0" i="1" u="sng" dirty="0">
                <a:solidFill>
                  <a:srgbClr val="000000"/>
                </a:solidFill>
                <a:latin typeface="Arial" panose="020B0604020202020204" pitchFamily="34" charset="0"/>
                <a:cs typeface="Arial" panose="020B0604020202020204" pitchFamily="34" charset="0"/>
              </a:rPr>
              <a:t>safeguarding of life, health, property, economic interests, the public welfare, or the environment</a:t>
            </a:r>
            <a:r>
              <a:rPr lang="en-US" altLang="en-US" sz="1400" b="0" i="1" dirty="0">
                <a:solidFill>
                  <a:srgbClr val="000000"/>
                </a:solidFill>
                <a:latin typeface="Arial" panose="020B0604020202020204" pitchFamily="34" charset="0"/>
                <a:cs typeface="Arial" panose="020B0604020202020204" pitchFamily="34" charset="0"/>
              </a:rPr>
              <a:t>.”</a:t>
            </a: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Professionalism in Engineering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7" name="TextBox 6"/>
          <p:cNvSpPr txBox="1"/>
          <p:nvPr/>
        </p:nvSpPr>
        <p:spPr>
          <a:xfrm>
            <a:off x="180000" y="2194200"/>
            <a:ext cx="8640000" cy="4054200"/>
          </a:xfrm>
          <a:prstGeom prst="rect">
            <a:avLst/>
          </a:prstGeom>
          <a:solidFill>
            <a:sysClr val="windowText" lastClr="000000"/>
          </a:solidFill>
          <a:ln>
            <a:solidFill>
              <a:sysClr val="windowText" lastClr="000000"/>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lvl="0" eaLnBrk="0" hangingPunct="0">
              <a:spcBef>
                <a:spcPts val="0"/>
              </a:spcBef>
              <a:spcAft>
                <a:spcPts val="0"/>
              </a:spcAft>
              <a:defRPr/>
            </a:pPr>
            <a:r>
              <a:rPr lang="en-US" b="0" dirty="0"/>
              <a:t>Think about framing your response as:</a:t>
            </a:r>
          </a:p>
          <a:p>
            <a:pPr marL="342900" lvl="0" indent="-342900" eaLnBrk="0" hangingPunct="0">
              <a:spcBef>
                <a:spcPts val="0"/>
              </a:spcBef>
              <a:spcAft>
                <a:spcPts val="0"/>
              </a:spcAft>
              <a:buFont typeface="Wingdings" panose="05000000000000000000" pitchFamily="2" charset="2"/>
              <a:buChar char="Ø"/>
              <a:defRPr/>
            </a:pPr>
            <a:r>
              <a:rPr lang="en-US" b="0" dirty="0"/>
              <a:t>&lt;the selected bold-text word&gt;</a:t>
            </a:r>
          </a:p>
          <a:p>
            <a:pPr marL="342900" lvl="0" indent="-342900" eaLnBrk="0" hangingPunct="0">
              <a:spcBef>
                <a:spcPts val="0"/>
              </a:spcBef>
              <a:spcAft>
                <a:spcPts val="0"/>
              </a:spcAft>
              <a:buFont typeface="Wingdings" panose="05000000000000000000" pitchFamily="2" charset="2"/>
              <a:buChar char="Ø"/>
              <a:defRPr/>
            </a:pPr>
            <a:r>
              <a:rPr lang="en-US" b="0" dirty="0"/>
              <a:t>&lt;latent cause relative to the bold-text word&gt;</a:t>
            </a:r>
          </a:p>
          <a:p>
            <a:pPr marL="342900" lvl="0" indent="-342900" eaLnBrk="0" hangingPunct="0">
              <a:spcBef>
                <a:spcPts val="0"/>
              </a:spcBef>
              <a:spcAft>
                <a:spcPts val="0"/>
              </a:spcAft>
              <a:buFont typeface="Wingdings" panose="05000000000000000000" pitchFamily="2" charset="2"/>
              <a:buChar char="Ø"/>
              <a:defRPr/>
            </a:pPr>
            <a:r>
              <a:rPr lang="en-US" b="0" dirty="0"/>
              <a:t>&lt;the related risk management system element</a:t>
            </a:r>
            <a:r>
              <a:rPr lang="en-US" b="0" dirty="0" smtClean="0"/>
              <a:t>&gt;</a:t>
            </a:r>
            <a:endParaRPr lang="en-US" b="0" dirty="0"/>
          </a:p>
          <a:p>
            <a:pPr marL="0" marR="0" lvl="0" indent="0" defTabSz="914400" eaLnBrk="0" fontAlgn="auto" latinLnBrk="0" hangingPunct="0">
              <a:spcBef>
                <a:spcPts val="0"/>
              </a:spcBef>
              <a:spcAft>
                <a:spcPts val="0"/>
              </a:spcAft>
              <a:buClrTx/>
              <a:buSzTx/>
              <a:buFontTx/>
              <a:buNone/>
              <a:tabLst/>
              <a:defRPr/>
            </a:pPr>
            <a:endParaRPr kumimoji="0" lang="en-US" sz="2000" b="0" i="1"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endParaRPr>
          </a:p>
          <a:p>
            <a:pPr marL="0" marR="0" lvl="0" indent="0" defTabSz="914400" eaLnBrk="0" fontAlgn="auto" latinLnBrk="0" hangingPunct="0">
              <a:spcBef>
                <a:spcPts val="0"/>
              </a:spcBef>
              <a:spcAft>
                <a:spcPts val="0"/>
              </a:spcAft>
              <a:buClrTx/>
              <a:buSzTx/>
              <a:buFontTx/>
              <a:buNone/>
              <a:tabLst/>
              <a:defRPr/>
            </a:pPr>
            <a:r>
              <a:rPr kumimoji="0" lang="en-US" sz="2000" b="0" i="1"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An </a:t>
            </a:r>
            <a:r>
              <a:rPr kumimoji="0" lang="en-US"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example from BP-DWH</a:t>
            </a:r>
            <a:r>
              <a:rPr kumimoji="0" lang="en-US" sz="2000" b="0" i="1"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a:t>
            </a:r>
            <a:endParaRPr kumimoji="0" lang="en-US"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a:p>
            <a:pPr marL="457200" marR="0" lvl="0" indent="-457200" defTabSz="914400" eaLnBrk="0" fontAlgn="auto" latinLnBrk="0" hangingPunct="0">
              <a:spcBef>
                <a:spcPts val="0"/>
              </a:spcBef>
              <a:spcAft>
                <a:spcPts val="0"/>
              </a:spcAft>
              <a:buClrTx/>
              <a:buSzTx/>
              <a:buFont typeface="+mj-lt"/>
              <a:buAutoNum type="alphaLcParenR"/>
              <a:tabLst/>
              <a:defRPr/>
            </a:pPr>
            <a:r>
              <a:rPr kumimoji="0" lang="en-US"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Directing or Supervising</a:t>
            </a:r>
          </a:p>
          <a:p>
            <a:pPr marL="457200" marR="0" lvl="0" indent="-457200" defTabSz="914400" eaLnBrk="0" fontAlgn="auto" latinLnBrk="0" hangingPunct="0">
              <a:spcBef>
                <a:spcPts val="0"/>
              </a:spcBef>
              <a:spcAft>
                <a:spcPts val="0"/>
              </a:spcAft>
              <a:buClrTx/>
              <a:buSzTx/>
              <a:buFont typeface="+mj-lt"/>
              <a:buAutoNum type="alphaLcParenR"/>
              <a:tabLst/>
              <a:defRPr/>
            </a:pPr>
            <a:r>
              <a:rPr kumimoji="0" lang="en-US"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Although there were many reports about the failures in the BOP, there was </a:t>
            </a:r>
            <a:r>
              <a:rPr kumimoji="0" lang="en-US" sz="2000" b="0" i="1" u="sng"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insufficient management oversight</a:t>
            </a:r>
            <a:r>
              <a:rPr kumimoji="0" lang="en-US"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(direction and supervision) about </a:t>
            </a:r>
            <a:r>
              <a:rPr kumimoji="0" lang="en-US" sz="2000" b="0" i="1" u="none" strike="noStrike" kern="0" cap="none" spc="0" normalizeH="0" baseline="0" noProof="0" dirty="0" err="1">
                <a:ln>
                  <a:noFill/>
                </a:ln>
                <a:solidFill>
                  <a:srgbClr val="FFFFFF"/>
                </a:solidFill>
                <a:effectLst/>
                <a:uLnTx/>
                <a:uFillTx/>
                <a:latin typeface="Arial" panose="020B0604020202020204" pitchFamily="34" charset="0"/>
                <a:cs typeface="Arial" panose="020B0604020202020204" pitchFamily="34" charset="0"/>
              </a:rPr>
              <a:t>i</a:t>
            </a:r>
            <a:r>
              <a:rPr kumimoji="0" lang="en-US"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the possible impacts if there was a blow-out that could not be mitigated, and ii) the appropriate actions to restore the BOP to effective operation or to delay “production” (well completion) until restored.</a:t>
            </a:r>
          </a:p>
          <a:p>
            <a:pPr marL="457200" marR="0" lvl="0" indent="-457200" defTabSz="914400" eaLnBrk="0" fontAlgn="auto" latinLnBrk="0" hangingPunct="0">
              <a:spcBef>
                <a:spcPts val="0"/>
              </a:spcBef>
              <a:spcAft>
                <a:spcPts val="0"/>
              </a:spcAft>
              <a:buClrTx/>
              <a:buSzTx/>
              <a:buFont typeface="+mj-lt"/>
              <a:buAutoNum type="alphaLcParenR"/>
              <a:tabLst/>
              <a:defRPr/>
            </a:pPr>
            <a:r>
              <a:rPr kumimoji="0" lang="en-US"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Incident Reporting, Investigation, Analysis, and Actions</a:t>
            </a:r>
          </a:p>
        </p:txBody>
      </p:sp>
    </p:spTree>
    <p:extLst>
      <p:ext uri="{BB962C8B-B14F-4D97-AF65-F5344CB8AC3E}">
        <p14:creationId xmlns:p14="http://schemas.microsoft.com/office/powerpoint/2010/main" val="3883072751"/>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Administers the Engineering, Geological And Geophysical Professions Act Of Alberta</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Self governing: APEGA is empowered by the act to govern its members without oversight or intervention by the provincial government. </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Serves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public interest</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Ensures high standards of practice</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Ensures only properly qualified people are allowed to practice</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Enforceable code of ethics</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professionals, we have a responsibility under the professional engineers act to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 our roles appropriately and ethically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Recall: The Role of APEGA</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01894554"/>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Relevant portions of the Act:</a:t>
            </a: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93350" lvl="1" indent="-360000" eaLnBrk="0" hangingPunct="0">
              <a:lnSpc>
                <a:spcPct val="100000"/>
              </a:lnSpc>
              <a:spcBef>
                <a:spcPts val="0"/>
              </a:spcBef>
              <a:buClr>
                <a:srgbClr val="000000"/>
              </a:buClr>
              <a:buSzPct val="100000"/>
              <a:buFont typeface="Wingdings" panose="05000000000000000000" pitchFamily="2" charset="2"/>
              <a:buChar char="Ø"/>
            </a:pPr>
            <a:endPar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2(1</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No </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individual…except </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 </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 … shall engage </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practice of engineering … </a:t>
            </a:r>
            <a:endPar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3(2): </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 </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individual…except a professional engineer….shall </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affix the stamp or seal of </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professional engineer…or </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allow that stamp, seal or permit number to be affixed to </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plan</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drawing, detail drawing, specification or other </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document…unless:</a:t>
            </a:r>
          </a:p>
          <a:p>
            <a:pPr marL="360000" lvl="2" indent="0" eaLnBrk="0" hangingPunct="0">
              <a:lnSpc>
                <a:spcPct val="100000"/>
              </a:lnSpc>
              <a:spcBef>
                <a:spcPts val="0"/>
              </a:spcBef>
              <a:buClr>
                <a:srgbClr val="000000"/>
              </a:buClr>
              <a:buSzPct val="100000"/>
              <a:buNone/>
            </a:pP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that plan, drawing, detail drawing, specification, other document or reproduction was prepared by or under the supervision and control of, and</a:t>
            </a:r>
          </a:p>
          <a:p>
            <a:pPr marL="360000" lvl="2" indent="0" eaLnBrk="0" hangingPunct="0">
              <a:lnSpc>
                <a:spcPct val="100000"/>
              </a:lnSpc>
              <a:spcBef>
                <a:spcPts val="0"/>
              </a:spcBef>
              <a:buClr>
                <a:srgbClr val="000000"/>
              </a:buClr>
              <a:buSzPct val="100000"/>
              <a:buNone/>
            </a:pP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 the </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stamp, seal or permit number is affixed with </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knowledge and consent </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 in accordance with the </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direction of the </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 engineer or licensee to whom or the permit </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holder to which </a:t>
            </a:r>
            <a:r>
              <a:rPr lang="en-CA"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stamp, seal or permit number was issued</a:t>
            </a:r>
            <a:r>
              <a:rPr lang="en-CA"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the APEGA Code of Ethics…</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smtClean="0">
                <a:solidFill>
                  <a:srgbClr val="333399"/>
                </a:solidFill>
                <a:latin typeface="Arial" panose="020B0604020202020204" pitchFamily="34" charset="0"/>
                <a:cs typeface="Arial" panose="020B0604020202020204" pitchFamily="34" charset="0"/>
              </a:rPr>
              <a:t>Revisiting </a:t>
            </a:r>
            <a:r>
              <a:rPr lang="en-US" altLang="en-US" sz="2400" b="0" dirty="0">
                <a:solidFill>
                  <a:srgbClr val="333399"/>
                </a:solidFill>
                <a:latin typeface="Arial" panose="020B0604020202020204" pitchFamily="34" charset="0"/>
                <a:cs typeface="Arial" panose="020B0604020202020204" pitchFamily="34" charset="0"/>
              </a:rPr>
              <a:t>the </a:t>
            </a:r>
            <a:r>
              <a:rPr lang="en-US" altLang="en-US" sz="2400" b="0" dirty="0" smtClean="0">
                <a:solidFill>
                  <a:srgbClr val="333399"/>
                </a:solidFill>
                <a:latin typeface="Arial" panose="020B0604020202020204" pitchFamily="34" charset="0"/>
                <a:cs typeface="Arial" panose="020B0604020202020204" pitchFamily="34" charset="0"/>
              </a:rPr>
              <a:t>APEGA Engineering &amp; Geoscience Act</a:t>
            </a:r>
            <a:endParaRPr lang="en-US"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68451042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APEGA Code of Ethics – An Excerpt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descr="AB_EGP_CodeofEth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9836" y="914400"/>
            <a:ext cx="6123564" cy="52120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 name="Right Arrow 6"/>
          <p:cNvSpPr/>
          <p:nvPr/>
        </p:nvSpPr>
        <p:spPr bwMode="auto">
          <a:xfrm>
            <a:off x="490596" y="2956290"/>
            <a:ext cx="1600200" cy="693191"/>
          </a:xfrm>
          <a:prstGeom prst="rightArrow">
            <a:avLst/>
          </a:prstGeom>
          <a:solidFill>
            <a:srgbClr val="0033CC"/>
          </a:solidFill>
          <a:ln w="9525" cap="flat" cmpd="sng" algn="ctr">
            <a:solidFill>
              <a:srgbClr val="0033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rPr>
              <a:t>Engineering</a:t>
            </a:r>
          </a:p>
        </p:txBody>
      </p:sp>
      <p:sp>
        <p:nvSpPr>
          <p:cNvPr id="10" name="Right Arrow 9"/>
          <p:cNvSpPr/>
          <p:nvPr/>
        </p:nvSpPr>
        <p:spPr bwMode="auto">
          <a:xfrm>
            <a:off x="527903" y="3526022"/>
            <a:ext cx="1600200" cy="693191"/>
          </a:xfrm>
          <a:prstGeom prst="rightArrow">
            <a:avLst/>
          </a:prstGeom>
          <a:solidFill>
            <a:srgbClr val="0033CC"/>
          </a:solidFill>
          <a:ln w="9525" cap="flat" cmpd="sng" algn="ctr">
            <a:solidFill>
              <a:srgbClr val="0033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FFFFFF"/>
                </a:solidFill>
                <a:effectLst/>
                <a:uLnTx/>
                <a:uFillTx/>
                <a:latin typeface="Times New Roman" pitchFamily="18" charset="0"/>
                <a:ea typeface="+mn-ea"/>
                <a:cs typeface="+mn-cs"/>
              </a:rPr>
              <a:t>Flixborough</a:t>
            </a:r>
            <a:endPar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endParaRPr>
          </a:p>
        </p:txBody>
      </p:sp>
      <p:sp>
        <p:nvSpPr>
          <p:cNvPr id="11" name="Right Arrow 10"/>
          <p:cNvSpPr/>
          <p:nvPr/>
        </p:nvSpPr>
        <p:spPr bwMode="auto">
          <a:xfrm rot="20426450">
            <a:off x="250371" y="4495800"/>
            <a:ext cx="1910796" cy="1825080"/>
          </a:xfrm>
          <a:prstGeom prst="rightArrow">
            <a:avLst/>
          </a:prstGeom>
          <a:solidFill>
            <a:srgbClr val="0033CC"/>
          </a:solidFill>
          <a:ln w="9525" cap="flat" cmpd="sng" algn="ctr">
            <a:solidFill>
              <a:srgbClr val="0033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lvl="0">
              <a:defRPr/>
            </a:pPr>
            <a:r>
              <a:rPr lang="en-US" sz="2000" b="0" dirty="0">
                <a:solidFill>
                  <a:srgbClr val="FFFFFF"/>
                </a:solidFill>
                <a:latin typeface="Times New Roman" pitchFamily="18" charset="0"/>
              </a:rPr>
              <a:t>APEGA Act, </a:t>
            </a:r>
          </a:p>
          <a:p>
            <a:pPr lvl="0">
              <a:defRPr/>
            </a:pPr>
            <a:r>
              <a:rPr lang="en-US" sz="2000" b="0" dirty="0">
                <a:solidFill>
                  <a:srgbClr val="FFFFFF"/>
                </a:solidFill>
                <a:latin typeface="Times New Roman" pitchFamily="18" charset="0"/>
              </a:rPr>
              <a:t>Provincial Laws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smtClean="0">
                <a:ln>
                  <a:noFill/>
                </a:ln>
                <a:solidFill>
                  <a:srgbClr val="FFFFFF"/>
                </a:solidFill>
                <a:effectLst/>
                <a:uLnTx/>
                <a:uFillTx/>
                <a:latin typeface="Times New Roman" pitchFamily="18" charset="0"/>
                <a:ea typeface="+mn-ea"/>
                <a:cs typeface="+mn-cs"/>
              </a:rPr>
              <a:t>MMA RW</a:t>
            </a:r>
            <a:r>
              <a:rPr kumimoji="0" lang="en-US" sz="2000" b="0" i="0" u="none" strike="noStrike" kern="1200" cap="none" spc="0" normalizeH="0" noProof="0" dirty="0" smtClean="0">
                <a:ln>
                  <a:noFill/>
                </a:ln>
                <a:solidFill>
                  <a:srgbClr val="FFFFFF"/>
                </a:solidFill>
                <a:effectLst/>
                <a:uLnTx/>
                <a:uFillTx/>
                <a:latin typeface="Times New Roman" pitchFamily="18" charset="0"/>
                <a:ea typeface="+mn-ea"/>
                <a:cs typeface="+mn-cs"/>
              </a:rPr>
              <a:t> LI</a:t>
            </a:r>
            <a:endPar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endParaRPr>
          </a:p>
        </p:txBody>
      </p:sp>
      <p:sp>
        <p:nvSpPr>
          <p:cNvPr id="14" name="Rounded Rectangle 13"/>
          <p:cNvSpPr/>
          <p:nvPr/>
        </p:nvSpPr>
        <p:spPr bwMode="auto">
          <a:xfrm>
            <a:off x="2090796" y="4206240"/>
            <a:ext cx="6062604" cy="640080"/>
          </a:xfrm>
          <a:prstGeom prst="round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15" name="Right Arrow 14"/>
          <p:cNvSpPr/>
          <p:nvPr/>
        </p:nvSpPr>
        <p:spPr bwMode="auto">
          <a:xfrm>
            <a:off x="433050" y="4115118"/>
            <a:ext cx="1600200" cy="693191"/>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0" i="1" u="none" strike="noStrike" kern="1200" cap="none" spc="0" normalizeH="0" baseline="0" noProof="0" dirty="0" smtClean="0">
                <a:ln>
                  <a:noFill/>
                </a:ln>
                <a:solidFill>
                  <a:srgbClr val="FFFFFF"/>
                </a:solidFill>
                <a:effectLst/>
                <a:uLnTx/>
                <a:uFillTx/>
                <a:latin typeface="Times New Roman" pitchFamily="18" charset="0"/>
                <a:ea typeface="+mn-ea"/>
                <a:cs typeface="+mn-cs"/>
              </a:rPr>
              <a:t>Discuss</a:t>
            </a:r>
            <a:endParaRPr kumimoji="0" lang="en-US" sz="2000" b="0" i="1" u="none" strike="noStrike" kern="1200" cap="none" spc="0" normalizeH="0" baseline="0" noProof="0" dirty="0">
              <a:ln>
                <a:noFill/>
              </a:ln>
              <a:solidFill>
                <a:srgbClr val="FFFFFF"/>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4210811434"/>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Without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due care and diligence, our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professionalism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ethics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could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 called into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question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 one wants this to happen in their careers.</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Cases of alleged professional misconduct, unethical behaviours, incompetence, negligence, corruption, have lead to investigations and charges against professional engineers.</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Such actions are far from the standards of professionalism, ethics, integrity and avoidance of conflict of interest that the public and our profession demand of its members.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stake: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reputation,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credibility,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career, 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our</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ability to work in the profession.</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Why Professionalism and Ethics in Engineering?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715256190"/>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Consider this Case (Actual 2018 Case)</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a:lnSpc>
                <a:spcPct val="90000"/>
              </a:lnSpc>
              <a:spcBef>
                <a:spcPts val="0"/>
              </a:spcBef>
              <a:spcAft>
                <a:spcPts val="0"/>
              </a:spcAft>
            </a:pPr>
            <a:r>
              <a:rPr lang="en-CA"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and pen-to-paper: </a:t>
            </a:r>
          </a:p>
          <a:p>
            <a:pPr lvl="0">
              <a:lnSpc>
                <a:spcPct val="90000"/>
              </a:lnSpc>
              <a:spcBef>
                <a:spcPts val="0"/>
              </a:spcBef>
              <a:spcAft>
                <a:spcPts val="0"/>
              </a:spcAft>
            </a:pPr>
            <a:r>
              <a:rPr lang="en-CA"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Mr</a:t>
            </a:r>
            <a:r>
              <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Smith, a mechanical engineer registered as a Professional Engineer (</a:t>
            </a:r>
            <a:r>
              <a:rPr lang="en-CA" sz="2000" b="0" i="1" dirty="0" err="1">
                <a:solidFill>
                  <a:srgbClr val="F8F8F8"/>
                </a:solidFill>
                <a:latin typeface="Arial" panose="020B0604020202020204" pitchFamily="34" charset="0"/>
                <a:ea typeface="ＭＳ Ｐゴシック" panose="020B0600070205080204" pitchFamily="34" charset="-128"/>
                <a:cs typeface="Arial" panose="020B0604020202020204" pitchFamily="34" charset="0"/>
              </a:rPr>
              <a:t>P.Eng</a:t>
            </a:r>
            <a:r>
              <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in Alberta, allowed permitted documents to be authenticated by </a:t>
            </a:r>
            <a:r>
              <a:rPr lang="en-CA"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an EIT (Engineer in Training). </a:t>
            </a:r>
            <a:r>
              <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EIT stated that she had an agreement with Mr. Smith from 2007 to 2017 to apply his electronic stamp and signature to professional documents and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send numerous structural/civil design plans to a custom home builder</a:t>
            </a:r>
            <a:r>
              <a:rPr lang="en-CA"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t>
            </a:r>
            <a:r>
              <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without Mr. Smith having </a:t>
            </a:r>
            <a:r>
              <a:rPr lang="en-CA"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to conduct </a:t>
            </a:r>
            <a:r>
              <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 review. </a:t>
            </a:r>
            <a:endParaRPr lang="en-CA"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a:lnSpc>
                <a:spcPct val="90000"/>
              </a:lnSpc>
              <a:spcBef>
                <a:spcPts val="0"/>
              </a:spcBef>
              <a:spcAft>
                <a:spcPts val="0"/>
              </a:spcAft>
            </a:pPr>
            <a:endParaRPr lang="en-CA"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42900" lvl="0" indent="-342900">
              <a:lnSpc>
                <a:spcPct val="90000"/>
              </a:lnSpc>
              <a:spcBef>
                <a:spcPts val="0"/>
              </a:spcBef>
              <a:spcAft>
                <a:spcPts val="0"/>
              </a:spcAft>
              <a:buFont typeface="Wingdings" panose="05000000000000000000" pitchFamily="2" charset="2"/>
              <a:buChar char="Ø"/>
            </a:pPr>
            <a:r>
              <a:rPr lang="en-CA"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Which Code of Ethics Rules of Conduct were breached in this case?</a:t>
            </a:r>
            <a:endPar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1">
              <a:lnSpc>
                <a:spcPct val="90000"/>
              </a:lnSpc>
              <a:spcBef>
                <a:spcPts val="0"/>
              </a:spcBef>
              <a:spcAft>
                <a:spcPts val="0"/>
              </a:spcAft>
            </a:pPr>
            <a:r>
              <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	1 and 2</a:t>
            </a:r>
          </a:p>
          <a:p>
            <a:pPr lvl="1">
              <a:lnSpc>
                <a:spcPct val="90000"/>
              </a:lnSpc>
              <a:spcBef>
                <a:spcPts val="0"/>
              </a:spcBef>
              <a:spcAft>
                <a:spcPts val="0"/>
              </a:spcAft>
            </a:pPr>
            <a:r>
              <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b.	1, 2 and 3</a:t>
            </a:r>
          </a:p>
          <a:p>
            <a:pPr lvl="1">
              <a:lnSpc>
                <a:spcPct val="90000"/>
              </a:lnSpc>
              <a:spcBef>
                <a:spcPts val="0"/>
              </a:spcBef>
              <a:spcAft>
                <a:spcPts val="0"/>
              </a:spcAft>
            </a:pPr>
            <a:r>
              <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	1 and 3</a:t>
            </a:r>
          </a:p>
          <a:p>
            <a:pPr lvl="1">
              <a:lnSpc>
                <a:spcPct val="90000"/>
              </a:lnSpc>
              <a:spcBef>
                <a:spcPts val="0"/>
              </a:spcBef>
              <a:spcAft>
                <a:spcPts val="0"/>
              </a:spcAft>
            </a:pPr>
            <a:r>
              <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	1, 3 and 4</a:t>
            </a:r>
          </a:p>
          <a:p>
            <a:pPr lvl="1">
              <a:lnSpc>
                <a:spcPct val="90000"/>
              </a:lnSpc>
              <a:spcBef>
                <a:spcPts val="0"/>
              </a:spcBef>
              <a:spcAft>
                <a:spcPts val="0"/>
              </a:spcAft>
            </a:pPr>
            <a:r>
              <a:rPr lang="en-CA"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	1 through 4</a:t>
            </a:r>
          </a:p>
          <a:p>
            <a:pPr marL="342900" lvl="0" indent="-342900">
              <a:lnSpc>
                <a:spcPct val="90000"/>
              </a:lnSpc>
              <a:spcBef>
                <a:spcPts val="0"/>
              </a:spcBef>
              <a:spcAft>
                <a:spcPts val="0"/>
              </a:spcAft>
              <a:buFont typeface="Wingdings" panose="05000000000000000000" pitchFamily="2" charset="2"/>
              <a:buChar char="Ø"/>
            </a:pPr>
            <a:endPar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42900" lvl="0" indent="-342900">
              <a:lnSpc>
                <a:spcPct val="90000"/>
              </a:lnSpc>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Why?</a:t>
            </a:r>
          </a:p>
          <a:p>
            <a:pPr marL="342900" lvl="0" indent="-342900">
              <a:lnSpc>
                <a:spcPct val="90000"/>
              </a:lnSpc>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about the EIT? </a:t>
            </a:r>
            <a:b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Would the same Code </a:t>
            </a:r>
            <a:b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of Ethics breaches apply?</a:t>
            </a:r>
          </a:p>
          <a:p>
            <a:pPr marL="360000" lvl="0" indent="-360000">
              <a:lnSpc>
                <a:spcPct val="90000"/>
              </a:lnSpc>
              <a:spcBef>
                <a:spcPts val="0"/>
              </a:spcBef>
              <a:spcAft>
                <a:spcPts val="0"/>
              </a:spcAft>
              <a:buFont typeface="Wingdings" panose="05000000000000000000" pitchFamily="2" charset="2"/>
              <a:buChar char="Ø"/>
            </a:pPr>
            <a:endPar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lnSpc>
                <a:spcPct val="90000"/>
              </a:lnSpc>
              <a:spcBef>
                <a:spcPts val="0"/>
              </a:spcBef>
              <a:spcAft>
                <a:spcPts val="0"/>
              </a:spcAft>
              <a:buFont typeface="Wingdings" panose="05000000000000000000" pitchFamily="2" charset="2"/>
              <a:buChar char="Ø"/>
            </a:pP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 name="TextBox 2"/>
          <p:cNvSpPr txBox="1"/>
          <p:nvPr/>
        </p:nvSpPr>
        <p:spPr>
          <a:xfrm>
            <a:off x="3733800" y="3429000"/>
            <a:ext cx="4965300" cy="2554545"/>
          </a:xfrm>
          <a:prstGeom prst="rect">
            <a:avLst/>
          </a:prstGeom>
          <a:solidFill>
            <a:schemeClr val="bg1"/>
          </a:solidFill>
          <a:ln>
            <a:solidFill>
              <a:schemeClr val="tx1"/>
            </a:solidFill>
          </a:ln>
        </p:spPr>
        <p:txBody>
          <a:bodyPr wrap="square" rtlCol="0">
            <a:spAutoFit/>
          </a:bodyPr>
          <a:lstStyle/>
          <a:p>
            <a:r>
              <a:rPr lang="en-CA" sz="1600" b="0" i="1" u="sng" dirty="0" smtClean="0">
                <a:solidFill>
                  <a:srgbClr val="0000CC"/>
                </a:solidFill>
              </a:rPr>
              <a:t>Code </a:t>
            </a:r>
            <a:r>
              <a:rPr lang="en-CA" sz="1600" b="0" i="1" u="sng" dirty="0">
                <a:solidFill>
                  <a:srgbClr val="0000CC"/>
                </a:solidFill>
              </a:rPr>
              <a:t>of </a:t>
            </a:r>
            <a:r>
              <a:rPr lang="en-CA" sz="1600" b="0" i="1" u="sng" dirty="0" smtClean="0">
                <a:solidFill>
                  <a:srgbClr val="0000CC"/>
                </a:solidFill>
              </a:rPr>
              <a:t>Ethics</a:t>
            </a:r>
            <a:r>
              <a:rPr lang="en-CA" sz="1600" b="0" i="1" dirty="0" smtClean="0">
                <a:solidFill>
                  <a:srgbClr val="0000CC"/>
                </a:solidFill>
              </a:rPr>
              <a:t> states “Professional </a:t>
            </a:r>
            <a:r>
              <a:rPr lang="en-CA" sz="1600" b="0" i="1" dirty="0">
                <a:solidFill>
                  <a:srgbClr val="0000CC"/>
                </a:solidFill>
              </a:rPr>
              <a:t>E</a:t>
            </a:r>
            <a:r>
              <a:rPr lang="en-CA" sz="1600" b="0" i="1" dirty="0" smtClean="0">
                <a:solidFill>
                  <a:srgbClr val="0000CC"/>
                </a:solidFill>
              </a:rPr>
              <a:t>ngineers shall:</a:t>
            </a:r>
          </a:p>
          <a:p>
            <a:r>
              <a:rPr lang="en-CA" sz="1600" b="0" i="1" dirty="0" smtClean="0">
                <a:solidFill>
                  <a:srgbClr val="0000CC"/>
                </a:solidFill>
              </a:rPr>
              <a:t>1. in </a:t>
            </a:r>
            <a:r>
              <a:rPr lang="en-CA" sz="1600" b="0" i="1" dirty="0">
                <a:solidFill>
                  <a:srgbClr val="0000CC"/>
                </a:solidFill>
              </a:rPr>
              <a:t>their areas of practice, hold paramount the health, safety and welfare of the public and have regard for the environment.</a:t>
            </a:r>
          </a:p>
          <a:p>
            <a:r>
              <a:rPr lang="en-CA" sz="1600" b="0" i="1" dirty="0" smtClean="0">
                <a:solidFill>
                  <a:srgbClr val="0000CC"/>
                </a:solidFill>
              </a:rPr>
              <a:t>2. undertake </a:t>
            </a:r>
            <a:r>
              <a:rPr lang="en-CA" sz="1600" b="0" i="1" dirty="0">
                <a:solidFill>
                  <a:srgbClr val="0000CC"/>
                </a:solidFill>
              </a:rPr>
              <a:t>only work that they are competent to perform by virtue of their training and experience.</a:t>
            </a:r>
          </a:p>
          <a:p>
            <a:r>
              <a:rPr lang="en-CA" sz="1600" b="0" i="1" dirty="0" smtClean="0">
                <a:solidFill>
                  <a:srgbClr val="0000CC"/>
                </a:solidFill>
              </a:rPr>
              <a:t>3. conduct </a:t>
            </a:r>
            <a:r>
              <a:rPr lang="en-CA" sz="1600" b="0" i="1" dirty="0">
                <a:solidFill>
                  <a:srgbClr val="0000CC"/>
                </a:solidFill>
              </a:rPr>
              <a:t>themselves with integrity, honesty, fairness and objectivity in their professional activities.</a:t>
            </a:r>
          </a:p>
          <a:p>
            <a:r>
              <a:rPr lang="en-CA" sz="1600" b="0" i="1" dirty="0" smtClean="0">
                <a:solidFill>
                  <a:srgbClr val="0000CC"/>
                </a:solidFill>
              </a:rPr>
              <a:t>4. comply </a:t>
            </a:r>
            <a:r>
              <a:rPr lang="en-CA" sz="1600" b="0" i="1" dirty="0">
                <a:solidFill>
                  <a:srgbClr val="0000CC"/>
                </a:solidFill>
              </a:rPr>
              <a:t>with applicable statutes, regulations and bylaws in their professional practices</a:t>
            </a:r>
            <a:r>
              <a:rPr lang="en-CA" sz="1600" b="0" i="1" dirty="0" smtClean="0">
                <a:solidFill>
                  <a:srgbClr val="0000CC"/>
                </a:solidFill>
              </a:rPr>
              <a:t>.”</a:t>
            </a:r>
            <a:endParaRPr lang="en-CA" sz="1600" b="0" i="1" dirty="0">
              <a:solidFill>
                <a:srgbClr val="0000CC"/>
              </a:solidFill>
            </a:endParaRPr>
          </a:p>
        </p:txBody>
      </p:sp>
    </p:spTree>
    <p:extLst>
      <p:ext uri="{BB962C8B-B14F-4D97-AF65-F5344CB8AC3E}">
        <p14:creationId xmlns:p14="http://schemas.microsoft.com/office/powerpoint/2010/main" val="3198693140"/>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Consider this Case (Actual 2018 Case)</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lvl="0">
              <a:lnSpc>
                <a:spcPct val="90000"/>
              </a:lnSpc>
              <a:spcBef>
                <a:spcPts val="0"/>
              </a:spcBef>
              <a:spcAft>
                <a:spcPts val="0"/>
              </a:spcAft>
            </a:pPr>
            <a:r>
              <a:rPr lang="en-CA" sz="12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Mr</a:t>
            </a:r>
            <a:r>
              <a:rPr lang="en-CA" sz="12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Smith, a mechanical engineer registered as a Professional Engineer (</a:t>
            </a:r>
            <a:r>
              <a:rPr lang="en-CA" sz="1200" b="0" dirty="0" err="1">
                <a:solidFill>
                  <a:srgbClr val="F8F8F8"/>
                </a:solidFill>
                <a:latin typeface="Arial" panose="020B0604020202020204" pitchFamily="34" charset="0"/>
                <a:ea typeface="ＭＳ Ｐゴシック" panose="020B0600070205080204" pitchFamily="34" charset="-128"/>
                <a:cs typeface="Arial" panose="020B0604020202020204" pitchFamily="34" charset="0"/>
              </a:rPr>
              <a:t>P.Eng</a:t>
            </a:r>
            <a:r>
              <a:rPr lang="en-CA" sz="12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in Alberta, allowed permitted documents to be authenticated by </a:t>
            </a:r>
            <a:r>
              <a:rPr lang="en-CA" sz="12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an EIT (Engineer in Training). </a:t>
            </a:r>
            <a:r>
              <a:rPr lang="en-CA" sz="12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EIT stated that she had an agreement with Mr. Smith from 2007 to 2017 to apply his </a:t>
            </a:r>
            <a:r>
              <a:rPr lang="en-CA" sz="12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“electronic </a:t>
            </a:r>
            <a:r>
              <a:rPr lang="en-CA" sz="12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stamp and signature to professional </a:t>
            </a:r>
            <a:r>
              <a:rPr lang="en-CA" sz="12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documents” </a:t>
            </a:r>
            <a:r>
              <a:rPr lang="en-CA" sz="12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and </a:t>
            </a:r>
            <a:r>
              <a:rPr lang="en-US" sz="12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send numerous structural/civil design plans to a custom home </a:t>
            </a:r>
            <a:r>
              <a:rPr lang="en-US" sz="12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builder</a:t>
            </a:r>
            <a:r>
              <a:rPr lang="en-CA" sz="12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t>
            </a:r>
            <a:r>
              <a:rPr lang="en-CA" sz="12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without Mr. Smith having </a:t>
            </a:r>
            <a:r>
              <a:rPr lang="en-CA" sz="12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to conduct </a:t>
            </a:r>
            <a:r>
              <a:rPr lang="en-CA" sz="12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 review. </a:t>
            </a:r>
            <a:endParaRPr lang="en-CA" sz="12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a:lnSpc>
                <a:spcPct val="90000"/>
              </a:lnSpc>
              <a:spcBef>
                <a:spcPts val="0"/>
              </a:spcBef>
              <a:spcAft>
                <a:spcPts val="0"/>
              </a:spcAft>
            </a:pPr>
            <a:endParaRPr lang="en-CA" sz="16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a:lnSpc>
                <a:spcPct val="90000"/>
              </a:lnSpc>
              <a:spcBef>
                <a:spcPts val="0"/>
              </a:spcBef>
              <a:spcAft>
                <a:spcPts val="0"/>
              </a:spcAft>
            </a:pP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Code of Ethics Rules of Conduct that were breached in this case are 1 through 4, and in consideration of both Mr. Smith and the EIT:</a:t>
            </a:r>
          </a:p>
          <a:p>
            <a:pPr marL="457200" lvl="0" indent="-457200">
              <a:lnSpc>
                <a:spcPct val="90000"/>
              </a:lnSpc>
              <a:spcBef>
                <a:spcPts val="0"/>
              </a:spcBef>
              <a:spcAft>
                <a:spcPts val="0"/>
              </a:spcAft>
              <a:buFont typeface="+mj-lt"/>
              <a:buAutoNum type="arabicParenR"/>
            </a:pP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Without reviews of the structure by the </a:t>
            </a:r>
            <a:b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sz="1600" b="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P.Eng</a:t>
            </a: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the design could be deficient and </a:t>
            </a:r>
            <a:b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could collapse</a:t>
            </a:r>
            <a:r>
              <a:rPr lang="en-CA" sz="16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thus both the </a:t>
            </a:r>
            <a:r>
              <a:rPr lang="en-CA" sz="1600" b="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P.Eng</a:t>
            </a: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and </a:t>
            </a:r>
            <a:b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EIT did not hold paramount public safety.</a:t>
            </a:r>
          </a:p>
          <a:p>
            <a:pPr marL="457200" lvl="0" indent="-457200">
              <a:lnSpc>
                <a:spcPct val="90000"/>
              </a:lnSpc>
              <a:spcBef>
                <a:spcPts val="0"/>
              </a:spcBef>
              <a:spcAft>
                <a:spcPts val="0"/>
              </a:spcAft>
              <a:buFont typeface="+mj-lt"/>
              <a:buAutoNum type="arabicParenR"/>
            </a:pP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a:t>
            </a:r>
            <a:r>
              <a:rPr lang="en-US"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mechanical </a:t>
            </a:r>
            <a:r>
              <a:rPr lang="en-US" sz="16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engineer </a:t>
            </a:r>
            <a:r>
              <a:rPr lang="en-US"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is working </a:t>
            </a:r>
            <a:r>
              <a:rPr lang="en-US" sz="16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on </a:t>
            </a:r>
            <a:r>
              <a:rPr lang="en-US"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r>
            <a:br>
              <a:rPr lang="en-US"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civil/structural </a:t>
            </a:r>
            <a:r>
              <a:rPr lang="en-US" sz="16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engineering </a:t>
            </a:r>
            <a:r>
              <a:rPr lang="en-US"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plans, outside </a:t>
            </a:r>
            <a:br>
              <a:rPr lang="en-US"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their scope of competency. </a:t>
            </a: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EIT </a:t>
            </a:r>
            <a:b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undertook work for which they are </a:t>
            </a:r>
            <a:b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not recognized as being competent.</a:t>
            </a:r>
          </a:p>
          <a:p>
            <a:pPr marL="457200" lvl="0" indent="-457200">
              <a:lnSpc>
                <a:spcPct val="90000"/>
              </a:lnSpc>
              <a:spcBef>
                <a:spcPts val="0"/>
              </a:spcBef>
              <a:spcAft>
                <a:spcPts val="0"/>
              </a:spcAft>
              <a:buFont typeface="+mj-lt"/>
              <a:buAutoNum type="arabicParenR"/>
            </a:pP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Both the </a:t>
            </a:r>
            <a:r>
              <a:rPr lang="en-CA" sz="1600" b="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P.Eng</a:t>
            </a: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And the EIT are misleading, </a:t>
            </a:r>
            <a:b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perhaps deceiving the clients that the </a:t>
            </a:r>
            <a:b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documents were authenticated by Mr. Smith, </a:t>
            </a:r>
            <a:b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which they were not. </a:t>
            </a:r>
          </a:p>
          <a:p>
            <a:pPr marL="457200" lvl="0" indent="-457200">
              <a:lnSpc>
                <a:spcPct val="90000"/>
              </a:lnSpc>
              <a:spcBef>
                <a:spcPts val="0"/>
              </a:spcBef>
              <a:spcAft>
                <a:spcPts val="0"/>
              </a:spcAft>
              <a:buFont typeface="+mj-lt"/>
              <a:buAutoNum type="arabicParenR"/>
            </a:pP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Neither the </a:t>
            </a:r>
            <a:r>
              <a:rPr lang="en-CA" sz="1600" b="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P.Eng</a:t>
            </a: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nor the EIT complied </a:t>
            </a:r>
            <a:b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with requirements of The Act:</a:t>
            </a:r>
            <a:br>
              <a:rPr lang="en-CA"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16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3(2): No individual…except a professional </a:t>
            </a:r>
            <a:r>
              <a:rPr lang="en-US" sz="16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r>
            <a:br>
              <a:rPr lang="en-US" sz="16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16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engineer</a:t>
            </a:r>
            <a:r>
              <a:rPr lang="en-US" sz="16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….shall affix the stamp or seal of </a:t>
            </a:r>
            <a:r>
              <a:rPr lang="en-US" sz="16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 </a:t>
            </a:r>
            <a:br>
              <a:rPr lang="en-US" sz="16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16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professional </a:t>
            </a:r>
            <a:r>
              <a:rPr lang="en-US" sz="16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engineer…or allow that </a:t>
            </a:r>
            <a:r>
              <a:rPr lang="en-US" sz="16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stamp…</a:t>
            </a:r>
            <a:r>
              <a:rPr lang="en-US" sz="16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t>
            </a:r>
            <a:endParaRPr lang="en-CA" sz="16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 name="TextBox 2"/>
          <p:cNvSpPr txBox="1"/>
          <p:nvPr/>
        </p:nvSpPr>
        <p:spPr>
          <a:xfrm>
            <a:off x="4871485" y="2133600"/>
            <a:ext cx="3920650" cy="3785652"/>
          </a:xfrm>
          <a:prstGeom prst="rect">
            <a:avLst/>
          </a:prstGeom>
          <a:solidFill>
            <a:schemeClr val="bg1"/>
          </a:solidFill>
          <a:ln>
            <a:solidFill>
              <a:schemeClr val="tx1"/>
            </a:solidFill>
          </a:ln>
        </p:spPr>
        <p:txBody>
          <a:bodyPr wrap="square" rtlCol="0">
            <a:spAutoFit/>
          </a:bodyPr>
          <a:lstStyle/>
          <a:p>
            <a:r>
              <a:rPr lang="en-CA" sz="1600" b="0" i="1" u="sng" dirty="0" smtClean="0">
                <a:solidFill>
                  <a:srgbClr val="0000CC"/>
                </a:solidFill>
              </a:rPr>
              <a:t>Code </a:t>
            </a:r>
            <a:r>
              <a:rPr lang="en-CA" sz="1600" b="0" i="1" u="sng" dirty="0">
                <a:solidFill>
                  <a:srgbClr val="0000CC"/>
                </a:solidFill>
              </a:rPr>
              <a:t>of </a:t>
            </a:r>
            <a:r>
              <a:rPr lang="en-CA" sz="1600" b="0" i="1" u="sng" dirty="0" smtClean="0">
                <a:solidFill>
                  <a:srgbClr val="0000CC"/>
                </a:solidFill>
              </a:rPr>
              <a:t>Ethics</a:t>
            </a:r>
            <a:r>
              <a:rPr lang="en-CA" sz="1600" b="0" i="1" dirty="0" smtClean="0">
                <a:solidFill>
                  <a:srgbClr val="0000CC"/>
                </a:solidFill>
              </a:rPr>
              <a:t> states “Professional </a:t>
            </a:r>
            <a:r>
              <a:rPr lang="en-CA" sz="1600" b="0" i="1" dirty="0">
                <a:solidFill>
                  <a:srgbClr val="0000CC"/>
                </a:solidFill>
              </a:rPr>
              <a:t>E</a:t>
            </a:r>
            <a:r>
              <a:rPr lang="en-CA" sz="1600" b="0" i="1" dirty="0" smtClean="0">
                <a:solidFill>
                  <a:srgbClr val="0000CC"/>
                </a:solidFill>
              </a:rPr>
              <a:t>ngineers shall:</a:t>
            </a:r>
          </a:p>
          <a:p>
            <a:r>
              <a:rPr lang="en-CA" sz="1600" b="0" i="1" dirty="0" smtClean="0">
                <a:solidFill>
                  <a:srgbClr val="0000CC"/>
                </a:solidFill>
              </a:rPr>
              <a:t>1. in </a:t>
            </a:r>
            <a:r>
              <a:rPr lang="en-CA" sz="1600" b="0" i="1" dirty="0">
                <a:solidFill>
                  <a:srgbClr val="0000CC"/>
                </a:solidFill>
              </a:rPr>
              <a:t>their areas of practice, hold paramount the health, safety and welfare of the public and have regard for the environment.</a:t>
            </a:r>
          </a:p>
          <a:p>
            <a:r>
              <a:rPr lang="en-CA" sz="1600" b="0" i="1" dirty="0" smtClean="0">
                <a:solidFill>
                  <a:srgbClr val="0000CC"/>
                </a:solidFill>
              </a:rPr>
              <a:t>2. undertake </a:t>
            </a:r>
            <a:r>
              <a:rPr lang="en-CA" sz="1600" b="0" i="1" dirty="0">
                <a:solidFill>
                  <a:srgbClr val="0000CC"/>
                </a:solidFill>
              </a:rPr>
              <a:t>only work that they are competent to perform by virtue of their training and experience.</a:t>
            </a:r>
          </a:p>
          <a:p>
            <a:r>
              <a:rPr lang="en-CA" sz="1600" b="0" i="1" dirty="0" smtClean="0">
                <a:solidFill>
                  <a:srgbClr val="0000CC"/>
                </a:solidFill>
              </a:rPr>
              <a:t>3. conduct </a:t>
            </a:r>
            <a:r>
              <a:rPr lang="en-CA" sz="1600" b="0" i="1" dirty="0">
                <a:solidFill>
                  <a:srgbClr val="0000CC"/>
                </a:solidFill>
              </a:rPr>
              <a:t>themselves with integrity, honesty, fairness and objectivity in their professional activities.</a:t>
            </a:r>
          </a:p>
          <a:p>
            <a:r>
              <a:rPr lang="en-CA" sz="1600" b="0" i="1" dirty="0" smtClean="0">
                <a:solidFill>
                  <a:srgbClr val="0000CC"/>
                </a:solidFill>
              </a:rPr>
              <a:t>4. comply </a:t>
            </a:r>
            <a:r>
              <a:rPr lang="en-CA" sz="1600" b="0" i="1" dirty="0">
                <a:solidFill>
                  <a:srgbClr val="0000CC"/>
                </a:solidFill>
              </a:rPr>
              <a:t>with applicable statutes, regulations and bylaws in their professional practices</a:t>
            </a:r>
            <a:r>
              <a:rPr lang="en-CA" sz="1600" b="0" i="1" dirty="0" smtClean="0">
                <a:solidFill>
                  <a:srgbClr val="0000CC"/>
                </a:solidFill>
              </a:rPr>
              <a:t>.”</a:t>
            </a:r>
            <a:endParaRPr lang="en-CA" sz="1600" b="0" i="1" dirty="0">
              <a:solidFill>
                <a:srgbClr val="0000CC"/>
              </a:solidFill>
            </a:endParaRPr>
          </a:p>
        </p:txBody>
      </p:sp>
    </p:spTree>
    <p:extLst>
      <p:ext uri="{BB962C8B-B14F-4D97-AF65-F5344CB8AC3E}">
        <p14:creationId xmlns:p14="http://schemas.microsoft.com/office/powerpoint/2010/main" val="4179228150"/>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Revisit: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concerns the </a:t>
            </a: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safeguarding</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life, health, </a:t>
            </a: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property, economic interests</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public welfare or the environment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“Safeguarding” means “the protection of”</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“Economic interests” means: </a:t>
            </a: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A&amp;P part of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PEAP</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assets and production / productive capacity</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Business interests</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funds and resources (including confidential </a:t>
            </a:r>
            <a:b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information and data) entrusted to us.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Revisit the Definition of Professional Engineering: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196710069"/>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manner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which we manage those resources and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decisions we make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concerning those funds are fundamentally based on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values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Revisit this thought experiment … a lesson in “values”:</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walking the down the hall-way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b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endPar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values drive our decisions!</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Revisit the Definition of Professional Engineering: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1219200" y="2971800"/>
            <a:ext cx="4703491" cy="2216912"/>
          </a:xfrm>
          <a:prstGeom prst="rect">
            <a:avLst/>
          </a:prstGeom>
        </p:spPr>
      </p:pic>
    </p:spTree>
    <p:extLst>
      <p:ext uri="{BB962C8B-B14F-4D97-AF65-F5344CB8AC3E}">
        <p14:creationId xmlns:p14="http://schemas.microsoft.com/office/powerpoint/2010/main" val="3856009412"/>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may be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entrusted with sensitive (confidential,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proprietary</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private, personal) information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could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give an unfair advantage to one party over another.</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unfair advantage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could be unethical or illegal!</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decisions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about using that information or decisions based on that information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adhere to our principles and our ethics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Professionalism, ethics and equity (accountability) means that your decisions as a professional engineer must fall within the meaning of professional engineering.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Areas of Potential Ethical Problems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134982896"/>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#2: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Areas of Potential Ethical Problems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a:spcBef>
                <a:spcPts val="0"/>
              </a:spcBef>
              <a:spcAft>
                <a:spcPts val="0"/>
              </a:spcAft>
            </a:pP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Case </a:t>
            </a: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Study: </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are a petroleum engineer working for a well-survey company.</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learn about much higher than expected reserves through a report that comes across your desk. </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client of the well survey company owns this intellectual property, the report.  </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recognize that this information is valuable to yourself and/or someone outside of the organization. </a:t>
            </a:r>
          </a:p>
          <a:p>
            <a:pPr marL="360000" indent="-360000">
              <a:spcBef>
                <a:spcPts val="0"/>
              </a:spcBef>
              <a:spcAft>
                <a:spcPts val="0"/>
              </a:spcAft>
              <a:buFont typeface="Wingdings" panose="05000000000000000000" pitchFamily="2" charset="2"/>
              <a:buChar char="Ø"/>
            </a:pPr>
            <a:endPar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a:spcBef>
                <a:spcPts val="0"/>
              </a:spcBef>
              <a:spcAft>
                <a:spcPts val="0"/>
              </a:spcAft>
            </a:pP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a:t>
            </a: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confer </a:t>
            </a: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on these </a:t>
            </a: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questions &amp; respond </a:t>
            </a: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(pen-to-paper, MM-Poll</a:t>
            </a: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are three possible decisions that you can make?</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decision would (should) you make? </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are the values on which you base those decisions? </a:t>
            </a:r>
          </a:p>
          <a:p>
            <a:pPr marL="360000" lvl="0" indent="-360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27107660"/>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rgbClr val="0000CC"/>
            </a:solidFill>
          </a:ln>
          <a:extLst/>
        </p:spPr>
        <p:txBody>
          <a:bodyPr wrap="square" anchor="ctr" anchorCtr="0">
            <a:noAutofit/>
          </a:bodyPr>
          <a:lstStyle/>
          <a:p>
            <a:pPr lvl="0">
              <a:spcBef>
                <a:spcPts val="0"/>
              </a:spcBef>
              <a:spcAft>
                <a:spcPts val="0"/>
              </a:spcAft>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Areas of Potential Ethical Problems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rgbClr val="0000CC"/>
            </a:solidFill>
          </a:ln>
        </p:spPr>
        <p:txBody>
          <a:bodyPr wrap="square">
            <a:noAutofit/>
          </a:bodyPr>
          <a:lstStyle/>
          <a:p>
            <a:pPr lvl="0">
              <a:spcBef>
                <a:spcPts val="0"/>
              </a:spcBef>
              <a:spcAft>
                <a:spcPts val="0"/>
              </a:spcAft>
            </a:pP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Case </a:t>
            </a: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Study: </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are a petroleum engineer working for a well-survey company.</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learn about much higher than expected reserves through a report that comes across your desk. </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client of the well survey company owns this intellectual property, the report.  </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recognize that this information is valuable to yourself and/or someone outside of the organization. </a:t>
            </a:r>
          </a:p>
          <a:p>
            <a:pPr marL="360000" indent="-360000">
              <a:spcBef>
                <a:spcPts val="0"/>
              </a:spcBef>
              <a:spcAft>
                <a:spcPts val="0"/>
              </a:spcAft>
              <a:buFont typeface="Wingdings" panose="05000000000000000000" pitchFamily="2" charset="2"/>
              <a:buChar char="Ø"/>
            </a:pPr>
            <a:endPar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a:spcBef>
                <a:spcPts val="0"/>
              </a:spcBef>
              <a:spcAft>
                <a:spcPts val="0"/>
              </a:spcAft>
            </a:pP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think about these questions:</a:t>
            </a:r>
            <a:endPar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are three possible decisions that you can make?</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decision would (should) you make? </a:t>
            </a:r>
          </a:p>
          <a:p>
            <a:pPr marL="360000" lvl="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are the values on which you base those decisions? </a:t>
            </a:r>
          </a:p>
          <a:p>
            <a:pPr marL="360000" lvl="0" indent="-360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378668914"/>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180000"/>
            <a:ext cx="8640000" cy="504000"/>
          </a:xfrm>
          <a:prstGeom prst="rect">
            <a:avLst/>
          </a:prstGeom>
          <a:solidFill>
            <a:sysClr val="windowText" lastClr="000000"/>
          </a:solidFill>
          <a:ln>
            <a:solidFill>
              <a:sysClr val="windowText" lastClr="000000"/>
            </a:solidFill>
          </a:ln>
          <a:extLst/>
        </p:spPr>
        <p:txBody>
          <a:bodyPr wrap="square" rtlCol="0" anchor="ctr">
            <a:noAutofit/>
          </a:bodyPr>
          <a:lstStyle/>
          <a:p>
            <a:pPr marL="609600" indent="-609600" fontAlgn="auto">
              <a:spcBef>
                <a:spcPts val="0"/>
              </a:spcBef>
              <a:spcAft>
                <a:spcPts val="0"/>
              </a:spcAft>
              <a:buClr>
                <a:srgbClr val="000000"/>
              </a:buClr>
              <a:buSzPct val="100000"/>
            </a:pPr>
            <a:r>
              <a:rPr lang="en-US" altLang="en-US" sz="2400" b="0" dirty="0" smtClean="0">
                <a:solidFill>
                  <a:schemeClr val="bg1"/>
                </a:solidFill>
                <a:latin typeface="Arial" panose="020B0604020202020204" pitchFamily="34" charset="0"/>
                <a:cs typeface="Arial" panose="020B0604020202020204" pitchFamily="34" charset="0"/>
              </a:rPr>
              <a:t>Example: Areas </a:t>
            </a:r>
            <a:r>
              <a:rPr lang="en-US" altLang="en-US" sz="2400" b="0" dirty="0">
                <a:solidFill>
                  <a:schemeClr val="bg1"/>
                </a:solidFill>
                <a:latin typeface="Arial" panose="020B0604020202020204" pitchFamily="34" charset="0"/>
                <a:cs typeface="Arial" panose="020B0604020202020204" pitchFamily="34" charset="0"/>
              </a:rPr>
              <a:t>of Potential Ethical Problems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7" name="Text Box 7"/>
          <p:cNvSpPr txBox="1">
            <a:spLocks noChangeArrowheads="1"/>
          </p:cNvSpPr>
          <p:nvPr/>
        </p:nvSpPr>
        <p:spPr bwMode="auto">
          <a:xfrm>
            <a:off x="180000" y="828000"/>
            <a:ext cx="8640000" cy="5328000"/>
          </a:xfrm>
          <a:prstGeom prst="rect">
            <a:avLst/>
          </a:prstGeom>
          <a:solidFill>
            <a:sysClr val="windowText" lastClr="000000"/>
          </a:solidFill>
          <a:ln>
            <a:solidFill>
              <a:sysClr val="windowText" lastClr="000000"/>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609600" lvl="0" indent="-609600" fontAlgn="auto">
              <a:spcBef>
                <a:spcPts val="0"/>
              </a:spcBef>
              <a:spcAft>
                <a:spcPts val="0"/>
              </a:spcAft>
              <a:buClr>
                <a:srgbClr val="000000"/>
              </a:buClr>
              <a:buSzPct val="100000"/>
              <a:defRPr/>
            </a:pPr>
            <a:r>
              <a:rPr lang="en-US" altLang="en-US" sz="1800" i="0" dirty="0">
                <a:solidFill>
                  <a:schemeClr val="bg1"/>
                </a:solidFill>
              </a:rPr>
              <a:t>Case Study: </a:t>
            </a:r>
          </a:p>
          <a:p>
            <a:pPr marL="360000" lvl="0" indent="-360000" fontAlgn="auto">
              <a:spcBef>
                <a:spcPts val="0"/>
              </a:spcBef>
              <a:spcAft>
                <a:spcPts val="0"/>
              </a:spcAft>
              <a:buSzPct val="100000"/>
              <a:buFont typeface="Wingdings" panose="05000000000000000000" pitchFamily="2" charset="2"/>
              <a:buChar char="Ø"/>
              <a:defRPr/>
            </a:pPr>
            <a:r>
              <a:rPr lang="en-US" altLang="en-US" sz="1800" b="0" i="0" dirty="0">
                <a:solidFill>
                  <a:schemeClr val="bg1"/>
                </a:solidFill>
              </a:rPr>
              <a:t>You </a:t>
            </a:r>
            <a:r>
              <a:rPr lang="en-US" altLang="en-US" sz="1800" b="0" i="0" dirty="0" smtClean="0">
                <a:solidFill>
                  <a:schemeClr val="bg1"/>
                </a:solidFill>
              </a:rPr>
              <a:t>are </a:t>
            </a:r>
            <a:r>
              <a:rPr lang="en-US" altLang="en-US" sz="1800" b="0" i="0" dirty="0">
                <a:solidFill>
                  <a:schemeClr val="bg1"/>
                </a:solidFill>
              </a:rPr>
              <a:t>a </a:t>
            </a:r>
            <a:r>
              <a:rPr lang="en-US" altLang="en-US" sz="1800" b="0" i="0" u="sng" dirty="0">
                <a:solidFill>
                  <a:schemeClr val="bg1"/>
                </a:solidFill>
              </a:rPr>
              <a:t>petroleum engineer</a:t>
            </a:r>
            <a:r>
              <a:rPr lang="en-US" altLang="en-US" sz="1800" b="0" i="0" dirty="0">
                <a:solidFill>
                  <a:schemeClr val="bg1"/>
                </a:solidFill>
              </a:rPr>
              <a:t> working for a well-survey company.</a:t>
            </a:r>
          </a:p>
          <a:p>
            <a:pPr marL="360000" lvl="0" indent="-360000" fontAlgn="auto">
              <a:spcBef>
                <a:spcPts val="0"/>
              </a:spcBef>
              <a:spcAft>
                <a:spcPts val="0"/>
              </a:spcAft>
              <a:buSzPct val="100000"/>
              <a:buFont typeface="Wingdings" panose="05000000000000000000" pitchFamily="2" charset="2"/>
              <a:buChar char="Ø"/>
              <a:defRPr/>
            </a:pPr>
            <a:r>
              <a:rPr lang="en-US" altLang="en-US" sz="1800" b="0" i="0" dirty="0">
                <a:solidFill>
                  <a:schemeClr val="bg1"/>
                </a:solidFill>
              </a:rPr>
              <a:t>You learn about much higher than expected reserves through a report that comes across your desk. </a:t>
            </a:r>
          </a:p>
          <a:p>
            <a:pPr marL="360000" lvl="0" indent="-360000" fontAlgn="auto">
              <a:spcBef>
                <a:spcPts val="0"/>
              </a:spcBef>
              <a:spcAft>
                <a:spcPts val="0"/>
              </a:spcAft>
              <a:buSzPct val="100000"/>
              <a:buFont typeface="Wingdings" panose="05000000000000000000" pitchFamily="2" charset="2"/>
              <a:buChar char="Ø"/>
              <a:defRPr/>
            </a:pPr>
            <a:r>
              <a:rPr lang="en-US" altLang="en-US" sz="1800" b="0" i="0" dirty="0">
                <a:solidFill>
                  <a:schemeClr val="bg1"/>
                </a:solidFill>
              </a:rPr>
              <a:t>The client of the well survey company owns this intellectual property, the report.  </a:t>
            </a:r>
          </a:p>
          <a:p>
            <a:pPr marL="360000" lvl="0" indent="-360000" fontAlgn="auto">
              <a:spcBef>
                <a:spcPts val="0"/>
              </a:spcBef>
              <a:spcAft>
                <a:spcPts val="0"/>
              </a:spcAft>
              <a:buSzPct val="100000"/>
              <a:buFont typeface="Wingdings" panose="05000000000000000000" pitchFamily="2" charset="2"/>
              <a:buChar char="Ø"/>
              <a:defRPr/>
            </a:pPr>
            <a:r>
              <a:rPr lang="en-US" altLang="en-US" sz="1800" b="0" i="0" dirty="0">
                <a:solidFill>
                  <a:schemeClr val="bg1"/>
                </a:solidFill>
              </a:rPr>
              <a:t>You recognize that this information is valuable to yourself and/or someone outside </a:t>
            </a:r>
            <a:r>
              <a:rPr lang="en-US" altLang="en-US" sz="1800" b="0" i="0" dirty="0" smtClean="0">
                <a:solidFill>
                  <a:schemeClr val="bg1"/>
                </a:solidFill>
              </a:rPr>
              <a:t>organization</a:t>
            </a:r>
            <a:r>
              <a:rPr lang="en-US" altLang="en-US" sz="1800" b="0" i="0" dirty="0">
                <a:solidFill>
                  <a:schemeClr val="bg1"/>
                </a:solidFill>
              </a:rPr>
              <a:t>. </a:t>
            </a:r>
            <a:endParaRPr lang="en-US" altLang="en-US" sz="1800" b="0" i="0" dirty="0" smtClean="0">
              <a:solidFill>
                <a:schemeClr val="bg1"/>
              </a:solidFill>
            </a:endParaRPr>
          </a:p>
          <a:p>
            <a:pPr marL="360000" lvl="0" indent="-360000" fontAlgn="auto">
              <a:spcBef>
                <a:spcPts val="0"/>
              </a:spcBef>
              <a:spcAft>
                <a:spcPts val="0"/>
              </a:spcAft>
              <a:buSzPct val="100000"/>
              <a:buFont typeface="Wingdings" panose="05000000000000000000" pitchFamily="2" charset="2"/>
              <a:buChar char="Ø"/>
              <a:defRPr/>
            </a:pPr>
            <a:endParaRPr kumimoji="0" lang="en-US" altLang="en-US" sz="1800" b="0" i="1" u="sng" strike="noStrike" kern="0" cap="none" spc="0" normalizeH="0" baseline="0" noProof="0" dirty="0" smtClean="0">
              <a:ln>
                <a:noFill/>
              </a:ln>
              <a:solidFill>
                <a:schemeClr val="bg1"/>
              </a:solidFill>
              <a:effectLst/>
              <a:uLnTx/>
              <a:uFillTx/>
            </a:endParaRPr>
          </a:p>
          <a:p>
            <a:pPr marL="360000" marR="0" lvl="0" indent="-360000" defTabSz="914400" eaLnBrk="0" fontAlgn="auto" latinLnBrk="0" hangingPunct="0">
              <a:spcBef>
                <a:spcPts val="0"/>
              </a:spcBef>
              <a:spcAft>
                <a:spcPts val="0"/>
              </a:spcAft>
              <a:buClrTx/>
              <a:buSzTx/>
              <a:buFont typeface="Wingdings" panose="05000000000000000000" pitchFamily="2" charset="2"/>
              <a:buChar char="Ø"/>
              <a:tabLst/>
              <a:defRPr/>
            </a:pPr>
            <a:r>
              <a:rPr kumimoji="0" lang="en-US" altLang="en-US" sz="1800" b="0" i="1" u="sng" strike="noStrike" kern="0" cap="none" spc="0" normalizeH="0" baseline="0" noProof="0" dirty="0" smtClean="0">
                <a:ln>
                  <a:noFill/>
                </a:ln>
                <a:solidFill>
                  <a:schemeClr val="bg1"/>
                </a:solidFill>
                <a:effectLst/>
                <a:uLnTx/>
                <a:uFillTx/>
              </a:rPr>
              <a:t>Possible </a:t>
            </a:r>
            <a:r>
              <a:rPr kumimoji="0" lang="en-US" altLang="en-US" sz="1800" b="0" i="1" u="sng" strike="noStrike" kern="0" cap="none" spc="0" normalizeH="0" baseline="0" noProof="0" dirty="0">
                <a:ln>
                  <a:noFill/>
                </a:ln>
                <a:solidFill>
                  <a:schemeClr val="bg1"/>
                </a:solidFill>
                <a:effectLst/>
                <a:uLnTx/>
                <a:uFillTx/>
              </a:rPr>
              <a:t>decisions</a:t>
            </a:r>
            <a:r>
              <a:rPr kumimoji="0" lang="en-US" altLang="en-US" sz="1800" b="0" i="1" u="none" strike="noStrike" kern="0" cap="none" spc="0" normalizeH="0" baseline="0" noProof="0" dirty="0">
                <a:ln>
                  <a:noFill/>
                </a:ln>
                <a:solidFill>
                  <a:schemeClr val="bg1"/>
                </a:solidFill>
                <a:effectLst/>
                <a:uLnTx/>
                <a:uFillTx/>
              </a:rPr>
              <a:t>: </a:t>
            </a:r>
            <a:endParaRPr kumimoji="0" lang="en-US" altLang="en-US" sz="1800" b="0" i="1" u="none" strike="noStrike" kern="0" cap="none" spc="0" normalizeH="0" baseline="0" noProof="0" dirty="0" smtClean="0">
              <a:ln>
                <a:noFill/>
              </a:ln>
              <a:solidFill>
                <a:schemeClr val="bg1"/>
              </a:solidFill>
              <a:effectLst/>
              <a:uLnTx/>
              <a:uFillTx/>
            </a:endParaRPr>
          </a:p>
          <a:p>
            <a:pPr marL="800100" marR="0" lvl="1" indent="-342900" defTabSz="914400" eaLnBrk="0" fontAlgn="auto" latinLnBrk="0" hangingPunct="0">
              <a:spcBef>
                <a:spcPts val="0"/>
              </a:spcBef>
              <a:spcAft>
                <a:spcPts val="0"/>
              </a:spcAft>
              <a:buClrTx/>
              <a:buSzTx/>
              <a:buFont typeface="Wingdings" panose="05000000000000000000" pitchFamily="2" charset="2"/>
              <a:buChar char="q"/>
              <a:tabLst/>
              <a:defRPr/>
            </a:pPr>
            <a:r>
              <a:rPr kumimoji="0" lang="en-US" altLang="en-US" b="0" i="0" u="none" strike="noStrike" kern="0" cap="none" spc="0" normalizeH="0" baseline="0" noProof="0" dirty="0" smtClean="0">
                <a:ln>
                  <a:noFill/>
                </a:ln>
                <a:solidFill>
                  <a:schemeClr val="bg1"/>
                </a:solidFill>
                <a:effectLst/>
                <a:uLnTx/>
                <a:uFillTx/>
                <a:latin typeface="Arial" panose="020B0604020202020204" pitchFamily="34" charset="0"/>
                <a:cs typeface="Arial" panose="020B0604020202020204" pitchFamily="34" charset="0"/>
              </a:rPr>
              <a:t>Call your broker to buy stock in the client company. </a:t>
            </a:r>
          </a:p>
          <a:p>
            <a:pPr marL="800100" marR="0" lvl="1" indent="-342900" defTabSz="914400" eaLnBrk="0" fontAlgn="auto" latinLnBrk="0" hangingPunct="0">
              <a:spcBef>
                <a:spcPts val="0"/>
              </a:spcBef>
              <a:spcAft>
                <a:spcPts val="0"/>
              </a:spcAft>
              <a:buClrTx/>
              <a:buSzTx/>
              <a:buFont typeface="Wingdings" panose="05000000000000000000" pitchFamily="2" charset="2"/>
              <a:buChar char="q"/>
              <a:tabLst/>
              <a:defRPr/>
            </a:pPr>
            <a:r>
              <a:rPr kumimoji="0" lang="en-US" altLang="en-US" b="0" i="0" u="none" strike="noStrike" kern="0" cap="none" spc="0" normalizeH="0" baseline="0" noProof="0" dirty="0" smtClean="0">
                <a:ln>
                  <a:noFill/>
                </a:ln>
                <a:solidFill>
                  <a:schemeClr val="bg1"/>
                </a:solidFill>
                <a:effectLst/>
                <a:uLnTx/>
                <a:uFillTx/>
                <a:latin typeface="Arial" panose="020B0604020202020204" pitchFamily="34" charset="0"/>
                <a:cs typeface="Arial" panose="020B0604020202020204" pitchFamily="34" charset="0"/>
              </a:rPr>
              <a:t>Contact a competitor and sell the information. </a:t>
            </a:r>
          </a:p>
          <a:p>
            <a:pPr marL="800100" marR="0" lvl="1" indent="-342900" defTabSz="914400" eaLnBrk="0" fontAlgn="auto" latinLnBrk="0" hangingPunct="0">
              <a:spcBef>
                <a:spcPts val="0"/>
              </a:spcBef>
              <a:spcAft>
                <a:spcPts val="0"/>
              </a:spcAft>
              <a:buClrTx/>
              <a:buSzTx/>
              <a:buFont typeface="Wingdings" panose="05000000000000000000" pitchFamily="2" charset="2"/>
              <a:buChar char="q"/>
              <a:tabLst/>
              <a:defRPr/>
            </a:pPr>
            <a:r>
              <a:rPr kumimoji="0" lang="en-US" altLang="en-US" b="0" i="0" u="none" strike="noStrike" kern="0" cap="none" spc="0" normalizeH="0" baseline="0" noProof="0" dirty="0" smtClean="0">
                <a:ln>
                  <a:noFill/>
                </a:ln>
                <a:solidFill>
                  <a:schemeClr val="bg1"/>
                </a:solidFill>
                <a:effectLst/>
                <a:uLnTx/>
                <a:uFillTx/>
                <a:latin typeface="Arial" panose="020B0604020202020204" pitchFamily="34" charset="0"/>
                <a:cs typeface="Arial" panose="020B0604020202020204" pitchFamily="34" charset="0"/>
              </a:rPr>
              <a:t>Discuss the information only with authorized persons in your company.  </a:t>
            </a:r>
          </a:p>
          <a:p>
            <a:pPr marL="342900" marR="0" lvl="0" indent="-342900" defTabSz="914400" eaLnBrk="0" fontAlgn="auto" latinLnBrk="0" hangingPunct="0">
              <a:spcBef>
                <a:spcPts val="0"/>
              </a:spcBef>
              <a:spcAft>
                <a:spcPts val="0"/>
              </a:spcAft>
              <a:buClrTx/>
              <a:buSzTx/>
              <a:buFont typeface="Wingdings" panose="05000000000000000000" pitchFamily="2" charset="2"/>
              <a:buChar char="Ø"/>
              <a:tabLst/>
              <a:defRPr/>
            </a:pPr>
            <a:endParaRPr kumimoji="0" lang="en-US" altLang="en-US" sz="1800" b="0" i="1" u="sng" strike="noStrike" kern="0" cap="none" spc="0" normalizeH="0" baseline="0" noProof="0" dirty="0" smtClean="0">
              <a:ln>
                <a:noFill/>
              </a:ln>
              <a:solidFill>
                <a:schemeClr val="bg1"/>
              </a:solidFill>
              <a:effectLst/>
              <a:uLnTx/>
              <a:uFillTx/>
            </a:endParaRPr>
          </a:p>
          <a:p>
            <a:pPr marL="360000" marR="0" lvl="0" indent="-360000" defTabSz="914400" eaLnBrk="0" fontAlgn="auto" latinLnBrk="0" hangingPunct="0">
              <a:spcBef>
                <a:spcPts val="0"/>
              </a:spcBef>
              <a:spcAft>
                <a:spcPts val="0"/>
              </a:spcAft>
              <a:buClrTx/>
              <a:buSzTx/>
              <a:buFont typeface="Wingdings" panose="05000000000000000000" pitchFamily="2" charset="2"/>
              <a:buChar char="Ø"/>
              <a:tabLst/>
              <a:defRPr/>
            </a:pPr>
            <a:r>
              <a:rPr kumimoji="0" lang="en-US" altLang="en-US" sz="1800" b="0" i="1" u="sng" strike="noStrike" kern="0" cap="none" spc="0" normalizeH="0" baseline="0" noProof="0" dirty="0" smtClean="0">
                <a:ln>
                  <a:noFill/>
                </a:ln>
                <a:solidFill>
                  <a:schemeClr val="bg1"/>
                </a:solidFill>
                <a:effectLst/>
                <a:uLnTx/>
                <a:uFillTx/>
              </a:rPr>
              <a:t>The </a:t>
            </a:r>
            <a:r>
              <a:rPr kumimoji="0" lang="en-US" altLang="en-US" sz="1800" b="0" i="1" u="sng" strike="noStrike" kern="0" cap="none" spc="0" normalizeH="0" baseline="0" noProof="0" dirty="0">
                <a:ln>
                  <a:noFill/>
                </a:ln>
                <a:solidFill>
                  <a:schemeClr val="bg1"/>
                </a:solidFill>
                <a:effectLst/>
                <a:uLnTx/>
                <a:uFillTx/>
              </a:rPr>
              <a:t>right and only decision</a:t>
            </a:r>
            <a:r>
              <a:rPr kumimoji="0" lang="en-US" altLang="en-US" sz="1800" b="0" i="1" u="sng" strike="noStrike" kern="0" cap="none" spc="0" normalizeH="0" baseline="0" noProof="0" dirty="0" smtClean="0">
                <a:ln>
                  <a:noFill/>
                </a:ln>
                <a:solidFill>
                  <a:schemeClr val="bg1"/>
                </a:solidFill>
                <a:effectLst/>
                <a:uLnTx/>
                <a:uFillTx/>
              </a:rPr>
              <a:t>:</a:t>
            </a:r>
            <a:endParaRPr kumimoji="0" lang="en-US" altLang="en-US" sz="1800" b="0" i="1" u="none" strike="noStrike" kern="0" cap="none" spc="0" normalizeH="0" baseline="0" noProof="0" dirty="0">
              <a:ln>
                <a:noFill/>
              </a:ln>
              <a:solidFill>
                <a:schemeClr val="bg1"/>
              </a:solidFill>
              <a:effectLst/>
              <a:uLnTx/>
              <a:uFillTx/>
            </a:endParaRPr>
          </a:p>
          <a:p>
            <a:pPr marL="800100" marR="0" lvl="1" indent="-342900" defTabSz="914400" eaLnBrk="0" fontAlgn="auto" latinLnBrk="0" hangingPunct="0">
              <a:spcBef>
                <a:spcPts val="0"/>
              </a:spcBef>
              <a:spcAft>
                <a:spcPts val="0"/>
              </a:spcAft>
              <a:buClrTx/>
              <a:buSzTx/>
              <a:buFont typeface="Wingdings" panose="05000000000000000000" pitchFamily="2" charset="2"/>
              <a:buChar char="ü"/>
              <a:tabLst/>
              <a:defRPr/>
            </a:pPr>
            <a:r>
              <a:rPr kumimoji="0" lang="en-US" altLang="en-US" b="0" i="0" u="none" strike="noStrike" kern="0" cap="none" spc="0" normalizeH="0" baseline="0" noProof="0" dirty="0" smtClean="0">
                <a:ln>
                  <a:noFill/>
                </a:ln>
                <a:solidFill>
                  <a:schemeClr val="bg1"/>
                </a:solidFill>
                <a:effectLst/>
                <a:uLnTx/>
                <a:uFillTx/>
                <a:latin typeface="Arial" panose="020B0604020202020204" pitchFamily="34" charset="0"/>
                <a:cs typeface="Arial" panose="020B0604020202020204" pitchFamily="34" charset="0"/>
              </a:rPr>
              <a:t>Discuss the information only with authorized persons in your company.  </a:t>
            </a:r>
          </a:p>
          <a:p>
            <a:pPr marL="342900" marR="0" lvl="0" indent="-342900" defTabSz="914400" eaLnBrk="0" fontAlgn="auto" latinLnBrk="0" hangingPunct="0">
              <a:spcBef>
                <a:spcPts val="0"/>
              </a:spcBef>
              <a:spcAft>
                <a:spcPts val="0"/>
              </a:spcAft>
              <a:buClrTx/>
              <a:buSzTx/>
              <a:buFont typeface="Wingdings" panose="05000000000000000000" pitchFamily="2" charset="2"/>
              <a:buChar char="Ø"/>
              <a:tabLst/>
              <a:defRPr/>
            </a:pPr>
            <a:endParaRPr kumimoji="0" lang="en-US" altLang="en-US" sz="1800" b="0" i="1" u="sng" strike="noStrike" kern="0" cap="none" spc="0" normalizeH="0" baseline="0" noProof="0" dirty="0" smtClean="0">
              <a:ln>
                <a:noFill/>
              </a:ln>
              <a:solidFill>
                <a:schemeClr val="bg1"/>
              </a:solidFill>
              <a:effectLst/>
              <a:uLnTx/>
              <a:uFillTx/>
            </a:endParaRPr>
          </a:p>
          <a:p>
            <a:pPr marL="360000" marR="0" lvl="0" indent="-360000" defTabSz="914400" eaLnBrk="0" fontAlgn="auto" latinLnBrk="0" hangingPunct="0">
              <a:spcBef>
                <a:spcPts val="0"/>
              </a:spcBef>
              <a:spcAft>
                <a:spcPts val="0"/>
              </a:spcAft>
              <a:buClrTx/>
              <a:buSzTx/>
              <a:buFont typeface="Wingdings" panose="05000000000000000000" pitchFamily="2" charset="2"/>
              <a:buChar char="Ø"/>
              <a:tabLst/>
              <a:defRPr/>
            </a:pPr>
            <a:r>
              <a:rPr kumimoji="0" lang="en-US" altLang="en-US" sz="1800" b="0" i="1" u="sng" strike="noStrike" kern="0" cap="none" spc="0" normalizeH="0" baseline="0" noProof="0" dirty="0" smtClean="0">
                <a:ln>
                  <a:noFill/>
                </a:ln>
                <a:solidFill>
                  <a:schemeClr val="bg1"/>
                </a:solidFill>
                <a:effectLst/>
                <a:uLnTx/>
                <a:uFillTx/>
              </a:rPr>
              <a:t>Values</a:t>
            </a:r>
            <a:r>
              <a:rPr kumimoji="0" lang="en-US" altLang="en-US" sz="1800" b="0" i="1" u="sng" strike="noStrike" kern="0" cap="none" spc="0" normalizeH="0" baseline="0" noProof="0" dirty="0">
                <a:ln>
                  <a:noFill/>
                </a:ln>
                <a:solidFill>
                  <a:schemeClr val="bg1"/>
                </a:solidFill>
                <a:effectLst/>
                <a:uLnTx/>
                <a:uFillTx/>
              </a:rPr>
              <a:t>:</a:t>
            </a:r>
            <a:r>
              <a:rPr kumimoji="0" lang="en-US" altLang="en-US" sz="1800" b="0" i="1" u="none" strike="noStrike" kern="0" cap="none" spc="0" normalizeH="0" baseline="0" noProof="0" dirty="0">
                <a:ln>
                  <a:noFill/>
                </a:ln>
                <a:solidFill>
                  <a:schemeClr val="bg1"/>
                </a:solidFill>
                <a:effectLst/>
                <a:uLnTx/>
                <a:uFillTx/>
              </a:rPr>
              <a:t> Rightful ownership of intellectual property. Client </a:t>
            </a:r>
            <a:r>
              <a:rPr kumimoji="0" lang="en-US" altLang="en-US" sz="1800" b="0" i="1" u="none" strike="noStrike" kern="0" cap="none" spc="0" normalizeH="0" baseline="0" noProof="0" dirty="0" smtClean="0">
                <a:ln>
                  <a:noFill/>
                </a:ln>
                <a:solidFill>
                  <a:schemeClr val="bg1"/>
                </a:solidFill>
                <a:effectLst/>
                <a:uLnTx/>
                <a:uFillTx/>
              </a:rPr>
              <a:t>confidentiality and secured IP. Honesty</a:t>
            </a:r>
            <a:r>
              <a:rPr kumimoji="0" lang="en-US" altLang="en-US" sz="1800" b="0" i="1" u="none" strike="noStrike" kern="0" cap="none" spc="0" normalizeH="0" baseline="0" noProof="0" dirty="0">
                <a:ln>
                  <a:noFill/>
                </a:ln>
                <a:solidFill>
                  <a:schemeClr val="bg1"/>
                </a:solidFill>
                <a:effectLst/>
                <a:uLnTx/>
                <a:uFillTx/>
              </a:rPr>
              <a:t>. Integrity. Accountability in your job as an employee.  </a:t>
            </a:r>
          </a:p>
        </p:txBody>
      </p:sp>
    </p:spTree>
    <p:extLst>
      <p:ext uri="{BB962C8B-B14F-4D97-AF65-F5344CB8AC3E}">
        <p14:creationId xmlns:p14="http://schemas.microsoft.com/office/powerpoint/2010/main" val="22080438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Ethics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the study of the moral issues and making decisions that  confront individuals and organizations i.e. “right and wrong”.</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Ethics can be further refined as:</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Virtue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ethics – </a:t>
            </a:r>
            <a:r>
              <a:rPr lang="en-US" altLang="en-US" sz="2000" b="0"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values, internally imposed codes</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Utilitarianism – </a:t>
            </a:r>
            <a:r>
              <a:rPr lang="en-US" altLang="en-US" sz="2000" b="0"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greatest good for largest number</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Duty ethics – </a:t>
            </a:r>
            <a:r>
              <a:rPr lang="en-US" altLang="en-US" sz="2000" b="0"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externally imposed codes &amp; laws</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Rights ethics – </a:t>
            </a:r>
            <a:r>
              <a:rPr lang="en-US" altLang="en-US" sz="2000" b="0"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human rights trump all</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Ethical Egotism – </a:t>
            </a:r>
            <a:r>
              <a:rPr lang="en-US" altLang="en-US" sz="2000" b="0"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do what is best for you</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Ethical Approaches (APEGA):</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94363048"/>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Our Hierarchy in Applying Our </a:t>
            </a:r>
            <a:r>
              <a:rPr lang="en-US" altLang="en-US" sz="2400" b="0" dirty="0" smtClean="0">
                <a:solidFill>
                  <a:srgbClr val="333399"/>
                </a:solidFill>
                <a:latin typeface="Arial" panose="020B0604020202020204" pitchFamily="34" charset="0"/>
                <a:cs typeface="Arial" panose="020B0604020202020204" pitchFamily="34" charset="0"/>
              </a:rPr>
              <a:t>Ethics – Five Discrete Ethics:</a:t>
            </a:r>
            <a:endParaRPr lang="en-US"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txBox="1">
            <a:spLocks noChangeArrowheads="1"/>
          </p:cNvSpPr>
          <p:nvPr/>
        </p:nvSpPr>
        <p:spPr>
          <a:xfrm>
            <a:off x="180000" y="828000"/>
            <a:ext cx="8640000" cy="5328000"/>
          </a:xfrm>
          <a:prstGeom prst="rect">
            <a:avLst/>
          </a:prstGeom>
          <a:solidFill>
            <a:schemeClr val="bg1"/>
          </a:solidFill>
          <a:ln>
            <a:noFill/>
            <a:miter lim="800000"/>
            <a:headEnd/>
            <a:tailEnd/>
          </a:ln>
        </p:spPr>
        <p:txBody>
          <a:bodyPr>
            <a:noAutofit/>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marL="360000" indent="-36000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professional engineers, and to one extent or another, most </a:t>
            </a:r>
            <a:r>
              <a:rPr lang="en-CA"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us apply this “ethics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hierarchy” in our decision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making using </a:t>
            </a:r>
            <a:r>
              <a:rPr lang="en-US" altLang="en-US" sz="20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five discrete ethics</a:t>
            </a:r>
            <a:r>
              <a:rPr lang="en-CA"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CA" altLang="en-US" sz="2000" b="0" i="1" kern="0" dirty="0" smtClean="0">
              <a:solidFill>
                <a:srgbClr val="000000"/>
              </a:solidFill>
              <a:latin typeface="Arial" panose="020B0604020202020204" pitchFamily="34" charset="0"/>
              <a:cs typeface="Arial" panose="020B0604020202020204" pitchFamily="34" charset="0"/>
            </a:endParaRPr>
          </a:p>
          <a:p>
            <a:pPr marL="720000" lvl="1" indent="-360000">
              <a:lnSpc>
                <a:spcPct val="90000"/>
              </a:lnSpc>
              <a:spcBef>
                <a:spcPts val="0"/>
              </a:spcBef>
              <a:buClr>
                <a:srgbClr val="000000"/>
              </a:buClr>
              <a:buSzPct val="100000"/>
              <a:buFont typeface="+mj-lt"/>
              <a:buAutoNum type="arabicParenR"/>
            </a:pPr>
            <a:r>
              <a:rPr lang="en-CA" altLang="en-US" sz="2000" i="1" kern="0" dirty="0" smtClean="0">
                <a:solidFill>
                  <a:srgbClr val="000000"/>
                </a:solidFill>
                <a:latin typeface="Arial" panose="020B0604020202020204" pitchFamily="34" charset="0"/>
                <a:cs typeface="Arial" panose="020B0604020202020204" pitchFamily="34" charset="0"/>
              </a:rPr>
              <a:t>I comply with the law. </a:t>
            </a:r>
            <a:r>
              <a:rPr lang="en-CA" altLang="en-US" sz="2000" b="0" i="1" kern="0" dirty="0" smtClean="0">
                <a:solidFill>
                  <a:srgbClr val="000000"/>
                </a:solidFill>
                <a:latin typeface="Arial" panose="020B0604020202020204" pitchFamily="34" charset="0"/>
                <a:cs typeface="Arial" panose="020B0604020202020204" pitchFamily="34" charset="0"/>
              </a:rPr>
              <a:t/>
            </a:r>
            <a:br>
              <a:rPr lang="en-CA" altLang="en-US" sz="2000" b="0" i="1" kern="0" dirty="0" smtClean="0">
                <a:solidFill>
                  <a:srgbClr val="000000"/>
                </a:solidFill>
                <a:latin typeface="Arial" panose="020B0604020202020204" pitchFamily="34" charset="0"/>
                <a:cs typeface="Arial" panose="020B0604020202020204" pitchFamily="34" charset="0"/>
              </a:rPr>
            </a:br>
            <a:r>
              <a:rPr lang="en-CA" altLang="en-US" sz="2000" b="0" i="1" kern="0" dirty="0" smtClean="0">
                <a:solidFill>
                  <a:srgbClr val="000000"/>
                </a:solidFill>
                <a:latin typeface="Arial" panose="020B0604020202020204" pitchFamily="34" charset="0"/>
                <a:cs typeface="Arial" panose="020B0604020202020204" pitchFamily="34" charset="0"/>
              </a:rPr>
              <a:t>(Duty ethics – externally imposed codes &amp; laws)</a:t>
            </a:r>
          </a:p>
          <a:p>
            <a:pPr marL="720000" lvl="1" indent="-360000">
              <a:lnSpc>
                <a:spcPct val="90000"/>
              </a:lnSpc>
              <a:spcBef>
                <a:spcPts val="0"/>
              </a:spcBef>
              <a:buClr>
                <a:srgbClr val="000000"/>
              </a:buClr>
              <a:buSzPct val="100000"/>
              <a:buFont typeface="+mj-lt"/>
              <a:buAutoNum type="arabicParenR"/>
            </a:pPr>
            <a:r>
              <a:rPr lang="en-CA" altLang="en-US" sz="2000" i="1" kern="0" dirty="0" smtClean="0">
                <a:solidFill>
                  <a:srgbClr val="000000"/>
                </a:solidFill>
                <a:latin typeface="Arial" panose="020B0604020202020204" pitchFamily="34" charset="0"/>
                <a:cs typeface="Arial" panose="020B0604020202020204" pitchFamily="34" charset="0"/>
              </a:rPr>
              <a:t>I comply with the professional code. </a:t>
            </a:r>
            <a:r>
              <a:rPr lang="en-CA" altLang="en-US" sz="2000" b="0" i="1" kern="0" dirty="0" smtClean="0">
                <a:solidFill>
                  <a:srgbClr val="000000"/>
                </a:solidFill>
                <a:latin typeface="Arial" panose="020B0604020202020204" pitchFamily="34" charset="0"/>
                <a:cs typeface="Arial" panose="020B0604020202020204" pitchFamily="34" charset="0"/>
              </a:rPr>
              <a:t/>
            </a:r>
            <a:br>
              <a:rPr lang="en-CA" altLang="en-US" sz="2000" b="0" i="1" kern="0" dirty="0" smtClean="0">
                <a:solidFill>
                  <a:srgbClr val="000000"/>
                </a:solidFill>
                <a:latin typeface="Arial" panose="020B0604020202020204" pitchFamily="34" charset="0"/>
                <a:cs typeface="Arial" panose="020B0604020202020204" pitchFamily="34" charset="0"/>
              </a:rPr>
            </a:br>
            <a:r>
              <a:rPr lang="en-CA" altLang="en-US" sz="2000" b="0" i="1" kern="0" dirty="0" smtClean="0">
                <a:solidFill>
                  <a:srgbClr val="000000"/>
                </a:solidFill>
                <a:latin typeface="Arial" panose="020B0604020202020204" pitchFamily="34" charset="0"/>
                <a:cs typeface="Arial" panose="020B0604020202020204" pitchFamily="34" charset="0"/>
              </a:rPr>
              <a:t>(Duty ethics – externally imposed codes &amp; laws)</a:t>
            </a:r>
          </a:p>
          <a:p>
            <a:pPr marL="720000" lvl="1" indent="-360000">
              <a:lnSpc>
                <a:spcPct val="90000"/>
              </a:lnSpc>
              <a:spcBef>
                <a:spcPts val="0"/>
              </a:spcBef>
              <a:buClr>
                <a:srgbClr val="000000"/>
              </a:buClr>
              <a:buSzPct val="100000"/>
              <a:buFont typeface="+mj-lt"/>
              <a:buAutoNum type="arabicParenR"/>
            </a:pPr>
            <a:r>
              <a:rPr lang="en-CA" altLang="en-US" sz="2000" i="1" kern="0" dirty="0" smtClean="0">
                <a:solidFill>
                  <a:srgbClr val="000000"/>
                </a:solidFill>
                <a:latin typeface="Arial" panose="020B0604020202020204" pitchFamily="34" charset="0"/>
                <a:cs typeface="Arial" panose="020B0604020202020204" pitchFamily="34" charset="0"/>
              </a:rPr>
              <a:t>I protect the public welfare. </a:t>
            </a:r>
            <a:r>
              <a:rPr lang="en-CA" altLang="en-US" sz="2000" b="0" i="1" kern="0" dirty="0" smtClean="0">
                <a:solidFill>
                  <a:srgbClr val="000000"/>
                </a:solidFill>
                <a:latin typeface="Arial" panose="020B0604020202020204" pitchFamily="34" charset="0"/>
                <a:cs typeface="Arial" panose="020B0604020202020204" pitchFamily="34" charset="0"/>
              </a:rPr>
              <a:t/>
            </a:r>
            <a:br>
              <a:rPr lang="en-CA" altLang="en-US" sz="2000" b="0" i="1" kern="0" dirty="0" smtClean="0">
                <a:solidFill>
                  <a:srgbClr val="000000"/>
                </a:solidFill>
                <a:latin typeface="Arial" panose="020B0604020202020204" pitchFamily="34" charset="0"/>
                <a:cs typeface="Arial" panose="020B0604020202020204" pitchFamily="34" charset="0"/>
              </a:rPr>
            </a:br>
            <a:r>
              <a:rPr lang="en-CA" altLang="en-US" sz="2000" b="0" i="1" kern="0" dirty="0" smtClean="0">
                <a:solidFill>
                  <a:srgbClr val="000000"/>
                </a:solidFill>
                <a:latin typeface="Arial" panose="020B0604020202020204" pitchFamily="34" charset="0"/>
                <a:cs typeface="Arial" panose="020B0604020202020204" pitchFamily="34" charset="0"/>
              </a:rPr>
              <a:t>(Utilitarianism – greatest good for largest number)</a:t>
            </a:r>
          </a:p>
          <a:p>
            <a:pPr marL="720000" lvl="1" indent="-360000">
              <a:lnSpc>
                <a:spcPct val="90000"/>
              </a:lnSpc>
              <a:spcBef>
                <a:spcPts val="0"/>
              </a:spcBef>
              <a:buClr>
                <a:srgbClr val="000000"/>
              </a:buClr>
              <a:buSzPct val="100000"/>
              <a:buFont typeface="+mj-lt"/>
              <a:buAutoNum type="arabicParenR"/>
            </a:pPr>
            <a:r>
              <a:rPr lang="en-CA" altLang="en-US" sz="2000" i="1" kern="0" dirty="0" smtClean="0">
                <a:solidFill>
                  <a:srgbClr val="000000"/>
                </a:solidFill>
                <a:latin typeface="Arial" panose="020B0604020202020204" pitchFamily="34" charset="0"/>
                <a:cs typeface="Arial" panose="020B0604020202020204" pitchFamily="34" charset="0"/>
              </a:rPr>
              <a:t>I acknowledge the rights of people. </a:t>
            </a:r>
            <a:r>
              <a:rPr lang="en-CA" altLang="en-US" sz="2000" b="0" i="1" kern="0" dirty="0" smtClean="0">
                <a:solidFill>
                  <a:srgbClr val="000000"/>
                </a:solidFill>
                <a:latin typeface="Arial" panose="020B0604020202020204" pitchFamily="34" charset="0"/>
                <a:cs typeface="Arial" panose="020B0604020202020204" pitchFamily="34" charset="0"/>
              </a:rPr>
              <a:t/>
            </a:r>
            <a:br>
              <a:rPr lang="en-CA" altLang="en-US" sz="2000" b="0" i="1" kern="0" dirty="0" smtClean="0">
                <a:solidFill>
                  <a:srgbClr val="000000"/>
                </a:solidFill>
                <a:latin typeface="Arial" panose="020B0604020202020204" pitchFamily="34" charset="0"/>
                <a:cs typeface="Arial" panose="020B0604020202020204" pitchFamily="34" charset="0"/>
              </a:rPr>
            </a:br>
            <a:r>
              <a:rPr lang="en-CA" altLang="en-US" sz="2000" b="0" i="1" kern="0" dirty="0" smtClean="0">
                <a:solidFill>
                  <a:srgbClr val="000000"/>
                </a:solidFill>
                <a:latin typeface="Arial" panose="020B0604020202020204" pitchFamily="34" charset="0"/>
                <a:cs typeface="Arial" panose="020B0604020202020204" pitchFamily="34" charset="0"/>
              </a:rPr>
              <a:t>(Rights ethics – human rights trump all)</a:t>
            </a:r>
          </a:p>
          <a:p>
            <a:pPr marL="720000" lvl="1" indent="-360000">
              <a:lnSpc>
                <a:spcPct val="90000"/>
              </a:lnSpc>
              <a:spcBef>
                <a:spcPts val="0"/>
              </a:spcBef>
              <a:buClr>
                <a:srgbClr val="000000"/>
              </a:buClr>
              <a:buSzPct val="100000"/>
              <a:buFont typeface="+mj-lt"/>
              <a:buAutoNum type="arabicParenR"/>
            </a:pPr>
            <a:r>
              <a:rPr lang="en-CA" altLang="en-US" sz="2000" i="1" kern="0" dirty="0" smtClean="0">
                <a:solidFill>
                  <a:srgbClr val="000000"/>
                </a:solidFill>
                <a:latin typeface="Arial" panose="020B0604020202020204" pitchFamily="34" charset="0"/>
                <a:cs typeface="Arial" panose="020B0604020202020204" pitchFamily="34" charset="0"/>
              </a:rPr>
              <a:t>I will not compromise my personal values. </a:t>
            </a:r>
            <a:r>
              <a:rPr lang="en-CA" altLang="en-US" sz="2000" b="0" i="1" kern="0" dirty="0" smtClean="0">
                <a:solidFill>
                  <a:srgbClr val="000000"/>
                </a:solidFill>
                <a:latin typeface="Arial" panose="020B0604020202020204" pitchFamily="34" charset="0"/>
                <a:cs typeface="Arial" panose="020B0604020202020204" pitchFamily="34" charset="0"/>
              </a:rPr>
              <a:t/>
            </a:r>
            <a:br>
              <a:rPr lang="en-CA" altLang="en-US" sz="2000" b="0" i="1" kern="0" dirty="0" smtClean="0">
                <a:solidFill>
                  <a:srgbClr val="000000"/>
                </a:solidFill>
                <a:latin typeface="Arial" panose="020B0604020202020204" pitchFamily="34" charset="0"/>
                <a:cs typeface="Arial" panose="020B0604020202020204" pitchFamily="34" charset="0"/>
              </a:rPr>
            </a:br>
            <a:r>
              <a:rPr lang="en-CA" altLang="en-US" sz="2000" b="0" i="1" kern="0" dirty="0" smtClean="0">
                <a:solidFill>
                  <a:srgbClr val="000000"/>
                </a:solidFill>
                <a:latin typeface="Arial" panose="020B0604020202020204" pitchFamily="34" charset="0"/>
                <a:cs typeface="Arial" panose="020B0604020202020204" pitchFamily="34" charset="0"/>
              </a:rPr>
              <a:t>(Virtue ethics – values, internally imposed codes)</a:t>
            </a:r>
          </a:p>
          <a:p>
            <a:pPr marL="0" indent="0">
              <a:lnSpc>
                <a:spcPct val="90000"/>
              </a:lnSpc>
              <a:spcBef>
                <a:spcPts val="0"/>
              </a:spcBef>
              <a:buClr>
                <a:srgbClr val="000000"/>
              </a:buClr>
              <a:buSzPct val="100000"/>
              <a:buNone/>
            </a:pPr>
            <a:r>
              <a:rPr lang="en-CA" altLang="en-US" sz="2000" b="0" i="1" kern="0" dirty="0" smtClean="0">
                <a:solidFill>
                  <a:srgbClr val="000000"/>
                </a:solidFill>
                <a:latin typeface="Arial" panose="020B0604020202020204" pitchFamily="34" charset="0"/>
                <a:cs typeface="Arial" panose="020B0604020202020204" pitchFamily="34" charset="0"/>
              </a:rPr>
              <a:t>Note: This is a model for applying ethics, and is NOT an exhaustive list.</a:t>
            </a:r>
          </a:p>
          <a:p>
            <a:pPr marL="360000" indent="-360000">
              <a:lnSpc>
                <a:spcPct val="90000"/>
              </a:lnSpc>
              <a:spcBef>
                <a:spcPts val="0"/>
              </a:spcBef>
              <a:buClr>
                <a:srgbClr val="000000"/>
              </a:buClr>
              <a:buSzPct val="100000"/>
              <a:buFont typeface="Wingdings" panose="05000000000000000000" pitchFamily="2" charset="2"/>
              <a:buChar char="Ø"/>
            </a:pPr>
            <a:endParaRPr lang="en-CA"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lnSpc>
                <a:spcPct val="90000"/>
              </a:lnSpc>
              <a:spcBef>
                <a:spcPts val="0"/>
              </a:spcBef>
              <a:buClr>
                <a:srgbClr val="000000"/>
              </a:buClr>
              <a:buSzPct val="100000"/>
              <a:buFont typeface="Wingdings" panose="05000000000000000000" pitchFamily="2" charset="2"/>
              <a:buChar char="Ø"/>
            </a:pPr>
            <a:r>
              <a:rPr lang="en-CA"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a:t>
            </a:r>
            <a:r>
              <a:rPr lang="en-CA"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apply our ethics to make a decision, we ask ourselves:</a:t>
            </a:r>
          </a:p>
          <a:p>
            <a:pPr marL="720000" lvl="2" indent="-360000">
              <a:lnSpc>
                <a:spcPct val="90000"/>
              </a:lnSpc>
              <a:spcBef>
                <a:spcPts val="0"/>
              </a:spcBef>
              <a:buClr>
                <a:srgbClr val="000000"/>
              </a:buClr>
              <a:buSzPct val="100000"/>
              <a:buFont typeface="Wingdings" panose="05000000000000000000" pitchFamily="2" charset="2"/>
              <a:buChar char="Ø"/>
            </a:pPr>
            <a:r>
              <a:rPr lang="en-CA"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what order do our </a:t>
            </a:r>
            <a:r>
              <a:rPr lang="en-CA"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ethics hierarchy occur</a:t>
            </a:r>
            <a:r>
              <a:rPr lang="en-CA"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2" indent="-360000">
              <a:lnSpc>
                <a:spcPct val="90000"/>
              </a:lnSpc>
              <a:spcBef>
                <a:spcPts val="0"/>
              </a:spcBef>
              <a:buClr>
                <a:srgbClr val="000000"/>
              </a:buClr>
              <a:buSzPct val="100000"/>
              <a:buFont typeface="Wingdings" panose="05000000000000000000" pitchFamily="2" charset="2"/>
              <a:buChar char="Ø"/>
            </a:pPr>
            <a:r>
              <a:rPr lang="en-CA"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Which </a:t>
            </a:r>
            <a:r>
              <a:rPr lang="en-CA"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discrete ethics </a:t>
            </a:r>
            <a:r>
              <a:rPr lang="en-CA"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t>
            </a:r>
            <a:r>
              <a:rPr lang="en-CA"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used or not used?</a:t>
            </a:r>
            <a:endParaRPr lang="en-CA"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2" indent="-360000">
              <a:lnSpc>
                <a:spcPct val="90000"/>
              </a:lnSpc>
              <a:spcBef>
                <a:spcPts val="0"/>
              </a:spcBef>
              <a:buClr>
                <a:srgbClr val="000000"/>
              </a:buClr>
              <a:buSzPct val="100000"/>
              <a:buFont typeface="Wingdings" panose="05000000000000000000" pitchFamily="2" charset="2"/>
              <a:buChar char="Ø"/>
            </a:pPr>
            <a:r>
              <a:rPr lang="en-CA"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our personal bottom line</a:t>
            </a:r>
            <a:r>
              <a:rPr lang="en-CA"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CA"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160439336"/>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#3: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Our Hierarchy in Applying Our Ethics:</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a:lnSpc>
                <a:spcPct val="90000"/>
              </a:lnSpc>
              <a:spcBef>
                <a:spcPts val="0"/>
              </a:spcBef>
              <a:spcAft>
                <a:spcPts val="0"/>
              </a:spcAft>
            </a:pP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Case </a:t>
            </a: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Study:</a:t>
            </a:r>
          </a:p>
          <a:p>
            <a:pPr marL="360000" lvl="0"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Now consider the ethics that you applied in reaching the right and only decision: “Discuss the information only with authorized persons in your company.”</a:t>
            </a:r>
          </a:p>
          <a:p>
            <a:pPr marL="360000" lvl="0" indent="-360000">
              <a:lnSpc>
                <a:spcPct val="90000"/>
              </a:lnSpc>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a:lnSpc>
                <a:spcPct val="90000"/>
              </a:lnSpc>
              <a:spcBef>
                <a:spcPts val="0"/>
              </a:spcBef>
              <a:spcAft>
                <a:spcPts val="0"/>
              </a:spcAft>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on this questions &amp; respond (MM-Scales):</a:t>
            </a:r>
          </a:p>
          <a:p>
            <a:pPr marL="360000" lvl="0" indent="-360000">
              <a:lnSpc>
                <a:spcPct val="90000"/>
              </a:lnSpc>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So</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which of the following </a:t>
            </a:r>
            <a:r>
              <a:rPr lang="en-US" sz="2000" b="0" u="sng"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discrete ethics</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did we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apply in any order</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a:t>
            </a:r>
          </a:p>
          <a:p>
            <a:pPr marL="720000" lvl="0" indent="-360000">
              <a:lnSpc>
                <a:spcPct val="90000"/>
              </a:lnSpc>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comply with the law. </a:t>
            </a:r>
            <a:b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(Duty ethics – externally imposed codes &amp; laws)</a:t>
            </a:r>
          </a:p>
          <a:p>
            <a:pPr marL="720000" lvl="0"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 comply with the professional code. </a:t>
            </a:r>
            <a:b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(Duty ethics – externally imposed codes &amp; laws)</a:t>
            </a:r>
          </a:p>
          <a:p>
            <a:pPr marL="720000" lvl="0"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 protect the public welfare. </a:t>
            </a:r>
            <a:b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(Utilitarianism – greatest good for largest number)</a:t>
            </a:r>
          </a:p>
          <a:p>
            <a:pPr marL="720000" lvl="0"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 acknowledge the rights of people. </a:t>
            </a:r>
            <a:b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(Rights ethics – human rights trump all)</a:t>
            </a:r>
          </a:p>
          <a:p>
            <a:pPr marL="720000" lvl="0"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 will not compromise my personal values. </a:t>
            </a:r>
            <a:b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(Virtue ethics – values, internally imposed codes</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868530128"/>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180000"/>
            <a:ext cx="8640000" cy="504000"/>
          </a:xfrm>
          <a:prstGeom prst="rect">
            <a:avLst/>
          </a:prstGeom>
          <a:solidFill>
            <a:schemeClr val="tx1"/>
          </a:solidFill>
          <a:ln>
            <a:solidFill>
              <a:schemeClr val="tx1"/>
            </a:solidFill>
            <a:miter lim="800000"/>
            <a:headEnd/>
            <a:tailEnd/>
          </a:ln>
          <a:extLst/>
        </p:spPr>
        <p:txBody>
          <a:bodyPr anchor="ctr">
            <a:normAutofit/>
          </a:bodyPr>
          <a:lstStyle/>
          <a:p>
            <a:pPr eaLnBrk="0" hangingPunct="0">
              <a:lnSpc>
                <a:spcPct val="90000"/>
              </a:lnSpc>
              <a:spcBef>
                <a:spcPts val="0"/>
              </a:spcBef>
              <a:buClr>
                <a:srgbClr val="000000"/>
              </a:buClr>
              <a:buSzPct val="100000"/>
              <a:buFont typeface="Wingdings" pitchFamily="2" charset="2"/>
              <a:buNone/>
            </a:pPr>
            <a:r>
              <a:rPr lang="en-US" altLang="en-US" sz="2400" b="0" kern="0" dirty="0" smtClean="0">
                <a:solidFill>
                  <a:schemeClr val="bg1"/>
                </a:solidFill>
                <a:latin typeface="Arial" panose="020B0604020202020204" pitchFamily="34" charset="0"/>
                <a:cs typeface="Arial" panose="020B0604020202020204" pitchFamily="34" charset="0"/>
              </a:rPr>
              <a:t>Example: Our </a:t>
            </a:r>
            <a:r>
              <a:rPr lang="en-US" altLang="en-US" sz="2400" b="0" kern="0" dirty="0">
                <a:solidFill>
                  <a:schemeClr val="bg1"/>
                </a:solidFill>
                <a:latin typeface="Arial" panose="020B0604020202020204" pitchFamily="34" charset="0"/>
                <a:cs typeface="Arial" panose="020B0604020202020204" pitchFamily="34" charset="0"/>
              </a:rPr>
              <a:t>Hierarchy in Applying Our Ethics: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txBox="1">
            <a:spLocks noChangeArrowheads="1"/>
          </p:cNvSpPr>
          <p:nvPr/>
        </p:nvSpPr>
        <p:spPr>
          <a:xfrm>
            <a:off x="180000" y="828000"/>
            <a:ext cx="8640000" cy="5328000"/>
          </a:xfrm>
          <a:prstGeom prst="rect">
            <a:avLst/>
          </a:prstGeom>
          <a:solidFill>
            <a:schemeClr val="tx1"/>
          </a:solidFill>
          <a:ln>
            <a:solidFill>
              <a:schemeClr val="tx1"/>
            </a:solidFill>
            <a:miter lim="800000"/>
            <a:headEnd/>
            <a:tailEnd/>
          </a:ln>
        </p:spPr>
        <p:txBody>
          <a:bodyPr>
            <a:normAutofit/>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marL="0" indent="0">
              <a:lnSpc>
                <a:spcPct val="90000"/>
              </a:lnSpc>
              <a:spcBef>
                <a:spcPts val="0"/>
              </a:spcBef>
              <a:buClr>
                <a:srgbClr val="000000"/>
              </a:buClr>
              <a:buSzPct val="100000"/>
              <a:buFont typeface="Wingdings" pitchFamily="2" charset="2"/>
              <a:buNone/>
            </a:pPr>
            <a:r>
              <a:rPr lang="en-US" altLang="en-US" sz="2000" kern="0" dirty="0" smtClean="0">
                <a:solidFill>
                  <a:schemeClr val="bg1"/>
                </a:solidFill>
                <a:latin typeface="Arial" panose="020B0604020202020204" pitchFamily="34" charset="0"/>
                <a:cs typeface="Arial" panose="020B0604020202020204" pitchFamily="34" charset="0"/>
              </a:rPr>
              <a:t>Case Study:</a:t>
            </a:r>
          </a:p>
          <a:p>
            <a:pPr marL="609600" indent="-609600">
              <a:lnSpc>
                <a:spcPct val="90000"/>
              </a:lnSpc>
              <a:spcBef>
                <a:spcPts val="0"/>
              </a:spcBef>
              <a:buClrTx/>
              <a:buSzPct val="100000"/>
              <a:buFont typeface="Wingdings" pitchFamily="2" charset="2"/>
              <a:buChar char="Ø"/>
            </a:pPr>
            <a:endParaRPr lang="en-CA" altLang="en-US" sz="2000" b="0" kern="0" dirty="0" smtClean="0">
              <a:solidFill>
                <a:schemeClr val="bg1"/>
              </a:solidFill>
              <a:latin typeface="Arial" panose="020B0604020202020204" pitchFamily="34" charset="0"/>
              <a:cs typeface="Arial" panose="020B0604020202020204" pitchFamily="34" charset="0"/>
            </a:endParaRPr>
          </a:p>
          <a:p>
            <a:pPr marL="360000" indent="-360000">
              <a:lnSpc>
                <a:spcPct val="90000"/>
              </a:lnSpc>
              <a:spcBef>
                <a:spcPts val="0"/>
              </a:spcBef>
              <a:buClrTx/>
              <a:buSzPct val="100000"/>
              <a:buFont typeface="Wingdings" pitchFamily="2" charset="2"/>
              <a:buChar char="Ø"/>
            </a:pPr>
            <a:r>
              <a:rPr lang="en-CA" altLang="en-US" sz="2000" b="0" kern="0" dirty="0" smtClean="0">
                <a:solidFill>
                  <a:schemeClr val="bg1"/>
                </a:solidFill>
                <a:latin typeface="Arial" panose="020B0604020202020204" pitchFamily="34" charset="0"/>
                <a:cs typeface="Arial" panose="020B0604020202020204" pitchFamily="34" charset="0"/>
              </a:rPr>
              <a:t>Now consider the ethics that you applied in reaching the right and only decision: “Discuss the information only with authorized persons in your company.”</a:t>
            </a:r>
          </a:p>
          <a:p>
            <a:pPr marL="360000" indent="-360000">
              <a:lnSpc>
                <a:spcPct val="90000"/>
              </a:lnSpc>
              <a:spcBef>
                <a:spcPts val="0"/>
              </a:spcBef>
              <a:buClrTx/>
              <a:buSzPct val="100000"/>
              <a:buFont typeface="Wingdings" pitchFamily="2" charset="2"/>
              <a:buNone/>
            </a:pPr>
            <a:endParaRPr lang="en-CA" altLang="en-US" sz="2000" b="0" kern="0" dirty="0" smtClean="0">
              <a:solidFill>
                <a:schemeClr val="bg1"/>
              </a:solidFill>
              <a:latin typeface="Arial" panose="020B0604020202020204" pitchFamily="34" charset="0"/>
              <a:cs typeface="Arial" panose="020B0604020202020204" pitchFamily="34" charset="0"/>
            </a:endParaRPr>
          </a:p>
          <a:p>
            <a:pPr marL="360000" indent="-360000">
              <a:lnSpc>
                <a:spcPct val="90000"/>
              </a:lnSpc>
              <a:spcBef>
                <a:spcPts val="0"/>
              </a:spcBef>
              <a:buClrTx/>
              <a:buSzPct val="100000"/>
              <a:buFont typeface="Wingdings" pitchFamily="2" charset="2"/>
              <a:buChar char="Ø"/>
            </a:pPr>
            <a:r>
              <a:rPr lang="en-CA" altLang="en-US" sz="2000" b="0" kern="0" dirty="0" smtClean="0">
                <a:solidFill>
                  <a:schemeClr val="bg1"/>
                </a:solidFill>
                <a:latin typeface="Arial" panose="020B0604020202020204" pitchFamily="34" charset="0"/>
                <a:cs typeface="Arial" panose="020B0604020202020204" pitchFamily="34" charset="0"/>
              </a:rPr>
              <a:t>We applied our ethics as follows (note that not all were applied):</a:t>
            </a:r>
          </a:p>
          <a:p>
            <a:pPr marL="609600" indent="-609600">
              <a:lnSpc>
                <a:spcPct val="90000"/>
              </a:lnSpc>
              <a:spcBef>
                <a:spcPts val="0"/>
              </a:spcBef>
              <a:buClr>
                <a:srgbClr val="000000"/>
              </a:buClr>
              <a:buSzPct val="100000"/>
              <a:buFont typeface="Wingdings" pitchFamily="2" charset="2"/>
              <a:buChar char="Ø"/>
            </a:pPr>
            <a:endParaRPr lang="en-CA" altLang="en-US" sz="2000" b="0" i="1" kern="0" dirty="0" smtClean="0">
              <a:solidFill>
                <a:schemeClr val="bg1"/>
              </a:solidFill>
              <a:latin typeface="Arial" panose="020B0604020202020204" pitchFamily="34" charset="0"/>
              <a:cs typeface="Arial" panose="020B0604020202020204" pitchFamily="34" charset="0"/>
            </a:endParaRPr>
          </a:p>
          <a:p>
            <a:pPr marL="720000" lvl="1" indent="-360000">
              <a:lnSpc>
                <a:spcPct val="90000"/>
              </a:lnSpc>
              <a:spcBef>
                <a:spcPts val="0"/>
              </a:spcBef>
              <a:buClrTx/>
              <a:buSzPct val="100000"/>
              <a:buFont typeface="+mj-lt"/>
              <a:buAutoNum type="arabicParenR"/>
            </a:pPr>
            <a:r>
              <a:rPr lang="en-CA" altLang="en-US" sz="2000" b="0" i="1" kern="0" dirty="0" smtClean="0">
                <a:solidFill>
                  <a:schemeClr val="bg1"/>
                </a:solidFill>
                <a:latin typeface="Arial" panose="020B0604020202020204" pitchFamily="34" charset="0"/>
                <a:cs typeface="Arial" panose="020B0604020202020204" pitchFamily="34" charset="0"/>
              </a:rPr>
              <a:t>I comply with the professional code. </a:t>
            </a:r>
            <a:br>
              <a:rPr lang="en-CA" altLang="en-US" sz="2000" b="0" i="1" kern="0" dirty="0" smtClean="0">
                <a:solidFill>
                  <a:schemeClr val="bg1"/>
                </a:solidFill>
                <a:latin typeface="Arial" panose="020B0604020202020204" pitchFamily="34" charset="0"/>
                <a:cs typeface="Arial" panose="020B0604020202020204" pitchFamily="34" charset="0"/>
              </a:rPr>
            </a:br>
            <a:r>
              <a:rPr lang="en-CA" altLang="en-US" sz="2000" b="0" i="1" kern="0" dirty="0" smtClean="0">
                <a:solidFill>
                  <a:schemeClr val="bg1"/>
                </a:solidFill>
                <a:latin typeface="Arial" panose="020B0604020202020204" pitchFamily="34" charset="0"/>
                <a:cs typeface="Arial" panose="020B0604020202020204" pitchFamily="34" charset="0"/>
              </a:rPr>
              <a:t>(Duty ethics – externally imposed codes &amp; laws)</a:t>
            </a:r>
          </a:p>
          <a:p>
            <a:pPr marL="720000" lvl="1" indent="-360000">
              <a:lnSpc>
                <a:spcPct val="90000"/>
              </a:lnSpc>
              <a:spcBef>
                <a:spcPts val="0"/>
              </a:spcBef>
              <a:buClrTx/>
              <a:buSzPct val="100000"/>
              <a:buFont typeface="+mj-lt"/>
              <a:buAutoNum type="arabicParenR"/>
            </a:pPr>
            <a:endParaRPr lang="en-CA" altLang="en-US" sz="2000" b="0" i="1" kern="0" dirty="0" smtClean="0">
              <a:solidFill>
                <a:schemeClr val="bg1"/>
              </a:solidFill>
              <a:latin typeface="Arial" panose="020B0604020202020204" pitchFamily="34" charset="0"/>
              <a:cs typeface="Arial" panose="020B0604020202020204" pitchFamily="34" charset="0"/>
            </a:endParaRPr>
          </a:p>
          <a:p>
            <a:pPr marL="720000" lvl="1" indent="-360000">
              <a:lnSpc>
                <a:spcPct val="90000"/>
              </a:lnSpc>
              <a:spcBef>
                <a:spcPts val="0"/>
              </a:spcBef>
              <a:buClrTx/>
              <a:buSzPct val="100000"/>
              <a:buFont typeface="+mj-lt"/>
              <a:buAutoNum type="arabicParenR"/>
            </a:pPr>
            <a:r>
              <a:rPr lang="en-CA" altLang="en-US" sz="2000" b="0" i="1" kern="0" dirty="0" smtClean="0">
                <a:solidFill>
                  <a:schemeClr val="bg1"/>
                </a:solidFill>
                <a:latin typeface="Arial" panose="020B0604020202020204" pitchFamily="34" charset="0"/>
                <a:cs typeface="Arial" panose="020B0604020202020204" pitchFamily="34" charset="0"/>
              </a:rPr>
              <a:t>I comply with the law. </a:t>
            </a:r>
            <a:br>
              <a:rPr lang="en-CA" altLang="en-US" sz="2000" b="0" i="1" kern="0" dirty="0" smtClean="0">
                <a:solidFill>
                  <a:schemeClr val="bg1"/>
                </a:solidFill>
                <a:latin typeface="Arial" panose="020B0604020202020204" pitchFamily="34" charset="0"/>
                <a:cs typeface="Arial" panose="020B0604020202020204" pitchFamily="34" charset="0"/>
              </a:rPr>
            </a:br>
            <a:r>
              <a:rPr lang="en-CA" altLang="en-US" sz="2000" b="0" i="1" kern="0" dirty="0" smtClean="0">
                <a:solidFill>
                  <a:schemeClr val="bg1"/>
                </a:solidFill>
                <a:latin typeface="Arial" panose="020B0604020202020204" pitchFamily="34" charset="0"/>
                <a:cs typeface="Arial" panose="020B0604020202020204" pitchFamily="34" charset="0"/>
              </a:rPr>
              <a:t>(Duty ethics – externally imposed codes &amp; laws)</a:t>
            </a:r>
          </a:p>
          <a:p>
            <a:pPr marL="720000" lvl="1" indent="-360000">
              <a:lnSpc>
                <a:spcPct val="90000"/>
              </a:lnSpc>
              <a:spcBef>
                <a:spcPts val="0"/>
              </a:spcBef>
              <a:buClrTx/>
              <a:buSzPct val="100000"/>
              <a:buFont typeface="+mj-lt"/>
              <a:buAutoNum type="arabicParenR"/>
            </a:pPr>
            <a:endParaRPr lang="en-CA" altLang="en-US" sz="2000" b="0" i="1" kern="0" dirty="0" smtClean="0">
              <a:solidFill>
                <a:schemeClr val="bg1"/>
              </a:solidFill>
              <a:latin typeface="Arial" panose="020B0604020202020204" pitchFamily="34" charset="0"/>
              <a:cs typeface="Arial" panose="020B0604020202020204" pitchFamily="34" charset="0"/>
            </a:endParaRPr>
          </a:p>
          <a:p>
            <a:pPr marL="720000" lvl="1" indent="-360000">
              <a:lnSpc>
                <a:spcPct val="90000"/>
              </a:lnSpc>
              <a:spcBef>
                <a:spcPts val="0"/>
              </a:spcBef>
              <a:buClrTx/>
              <a:buSzPct val="100000"/>
              <a:buFont typeface="+mj-lt"/>
              <a:buAutoNum type="arabicParenR"/>
            </a:pPr>
            <a:r>
              <a:rPr lang="en-CA" altLang="en-US" sz="2000" b="0" i="1" kern="0" dirty="0" smtClean="0">
                <a:solidFill>
                  <a:schemeClr val="bg1"/>
                </a:solidFill>
                <a:latin typeface="Arial" panose="020B0604020202020204" pitchFamily="34" charset="0"/>
                <a:cs typeface="Arial" panose="020B0604020202020204" pitchFamily="34" charset="0"/>
              </a:rPr>
              <a:t>I will not compromise my personal values. </a:t>
            </a:r>
            <a:br>
              <a:rPr lang="en-CA" altLang="en-US" sz="2000" b="0" i="1" kern="0" dirty="0" smtClean="0">
                <a:solidFill>
                  <a:schemeClr val="bg1"/>
                </a:solidFill>
                <a:latin typeface="Arial" panose="020B0604020202020204" pitchFamily="34" charset="0"/>
                <a:cs typeface="Arial" panose="020B0604020202020204" pitchFamily="34" charset="0"/>
              </a:rPr>
            </a:br>
            <a:r>
              <a:rPr lang="en-CA" altLang="en-US" sz="2000" b="0" i="1" kern="0" dirty="0" smtClean="0">
                <a:solidFill>
                  <a:schemeClr val="bg1"/>
                </a:solidFill>
                <a:latin typeface="Arial" panose="020B0604020202020204" pitchFamily="34" charset="0"/>
                <a:cs typeface="Arial" panose="020B0604020202020204" pitchFamily="34" charset="0"/>
              </a:rPr>
              <a:t>(Virtue ethics – values, internally imposed codes)</a:t>
            </a:r>
          </a:p>
        </p:txBody>
      </p:sp>
    </p:spTree>
    <p:extLst>
      <p:ext uri="{BB962C8B-B14F-4D97-AF65-F5344CB8AC3E}">
        <p14:creationId xmlns:p14="http://schemas.microsoft.com/office/powerpoint/2010/main" val="1258410991"/>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“ideas” about of integrity and ethical conduct:</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very easy to do if it is a positive or a pleasant choice. </a:t>
            </a:r>
            <a:endPar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not easy to do when it is not positive, nor pleasant, nor popular.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when nobody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watching.</a:t>
            </a:r>
            <a:endPar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Integrity and Ethical Behaviour: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Text Box 7"/>
          <p:cNvSpPr txBox="1">
            <a:spLocks noChangeArrowheads="1"/>
          </p:cNvSpPr>
          <p:nvPr/>
        </p:nvSpPr>
        <p:spPr bwMode="auto">
          <a:xfrm>
            <a:off x="180000" y="3060000"/>
            <a:ext cx="8640000" cy="3060000"/>
          </a:xfrm>
          <a:prstGeom prst="rect">
            <a:avLst/>
          </a:prstGeom>
          <a:solidFill>
            <a:schemeClr val="tx1"/>
          </a:solidFill>
          <a:ln>
            <a:solidFill>
              <a:schemeClr val="tx1"/>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Consider these questions:</a:t>
            </a:r>
            <a:endPar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arenR"/>
              <a:tabLst/>
              <a:defRPr/>
            </a:pPr>
            <a:endPar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arenR"/>
              <a:tabLst/>
              <a:defRPr/>
            </a:pPr>
            <a: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Have you ever been in a situation where your integrity </a:t>
            </a:r>
            <a:b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or your ethics were challenged? </a:t>
            </a:r>
            <a:r>
              <a:rPr kumimoji="0" lang="en-US" altLang="en-US" sz="2000" b="0"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(Hint: What was the situation?)</a:t>
            </a:r>
          </a:p>
          <a:p>
            <a:pPr marL="457200" marR="0" lvl="0" indent="-457200" algn="l" defTabSz="914400" rtl="0" eaLnBrk="0" fontAlgn="base" latinLnBrk="0" hangingPunct="0">
              <a:lnSpc>
                <a:spcPct val="100000"/>
              </a:lnSpc>
              <a:spcBef>
                <a:spcPct val="0"/>
              </a:spcBef>
              <a:spcAft>
                <a:spcPct val="0"/>
              </a:spcAft>
              <a:buClrTx/>
              <a:buSzTx/>
              <a:buFont typeface="+mj-lt"/>
              <a:buAutoNum type="arabicParenR"/>
              <a:tabLst/>
              <a:defRPr/>
            </a:pPr>
            <a:endPar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arenR"/>
              <a:tabLst/>
              <a:defRPr/>
            </a:pPr>
            <a: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If so, what was it? </a:t>
            </a:r>
            <a:r>
              <a:rPr kumimoji="0" lang="en-US" altLang="en-US" sz="2000" b="0"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(Hint: What was the issue with that situation?)</a:t>
            </a:r>
          </a:p>
          <a:p>
            <a:pPr marL="457200" marR="0" lvl="0" indent="-457200" algn="l" defTabSz="914400" rtl="0" eaLnBrk="0" fontAlgn="base" latinLnBrk="0" hangingPunct="0">
              <a:lnSpc>
                <a:spcPct val="100000"/>
              </a:lnSpc>
              <a:spcBef>
                <a:spcPct val="0"/>
              </a:spcBef>
              <a:spcAft>
                <a:spcPct val="0"/>
              </a:spcAft>
              <a:buClrTx/>
              <a:buSzTx/>
              <a:buFont typeface="+mj-lt"/>
              <a:buAutoNum type="arabicParenR"/>
              <a:tabLst/>
              <a:defRPr/>
            </a:pPr>
            <a:endPar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arenR"/>
              <a:tabLst/>
              <a:defRPr/>
            </a:pPr>
            <a: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How did you manage it? </a:t>
            </a:r>
            <a:r>
              <a:rPr kumimoji="0" lang="en-US" altLang="en-US" sz="2000" b="0"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(Hint: What did you do in that situation?)</a:t>
            </a:r>
          </a:p>
        </p:txBody>
      </p:sp>
    </p:spTree>
    <p:extLst>
      <p:ext uri="{BB962C8B-B14F-4D97-AF65-F5344CB8AC3E}">
        <p14:creationId xmlns:p14="http://schemas.microsoft.com/office/powerpoint/2010/main" val="4287619001"/>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“ideas” about of integrity and ethical conduct:</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very easy to do if it is a positive or a pleasant choice. </a:t>
            </a:r>
            <a:endPar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not easy to do when it is not positive, nor pleasant, nor popular.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when nobody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watching.</a:t>
            </a:r>
            <a:endPar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Integrity and Ethical Behaviour: </a:t>
            </a:r>
          </a:p>
        </p:txBody>
      </p:sp>
      <p:sp>
        <p:nvSpPr>
          <p:cNvPr id="10" name="Text Box 7"/>
          <p:cNvSpPr txBox="1">
            <a:spLocks noChangeArrowheads="1"/>
          </p:cNvSpPr>
          <p:nvPr/>
        </p:nvSpPr>
        <p:spPr bwMode="auto">
          <a:xfrm>
            <a:off x="180000" y="3060000"/>
            <a:ext cx="8640000" cy="3060000"/>
          </a:xfrm>
          <a:prstGeom prst="rect">
            <a:avLst/>
          </a:prstGeom>
          <a:solidFill>
            <a:schemeClr val="tx1"/>
          </a:solidFill>
          <a:ln>
            <a:solidFill>
              <a:schemeClr val="tx1"/>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The situation: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The regional </a:t>
            </a:r>
            <a:r>
              <a:rPr kumimoji="0" lang="en-US" altLang="en-US" sz="1800" b="0" i="1"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Investigations and Enforcement Branch</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of the provincial </a:t>
            </a:r>
            <a:r>
              <a:rPr kumimoji="0" lang="en-US" altLang="en-US" sz="1800" b="0" i="1"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Ministry of the </a:t>
            </a:r>
            <a:r>
              <a:rPr kumimoji="0" lang="en-US" altLang="en-US" sz="1800" b="0" i="1" u="sng"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Environment</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calls on your plant with a search warrant. You and your supervisor are tasked with aiding the search.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1"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The </a:t>
            </a:r>
            <a:r>
              <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issue: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You find a “compromising document”, </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and both</a:t>
            </a:r>
            <a:r>
              <a:rPr kumimoji="0" lang="en-US" altLang="en-US" sz="1800" b="0" i="1" u="none" strike="noStrike" kern="1200" cap="none" spc="0" normalizeH="0" noProof="0" dirty="0" smtClean="0">
                <a:ln>
                  <a:noFill/>
                </a:ln>
                <a:solidFill>
                  <a:srgbClr val="FFFFFF"/>
                </a:solidFill>
                <a:effectLst/>
                <a:uLnTx/>
                <a:uFillTx/>
                <a:latin typeface="Arial" panose="020B0604020202020204" pitchFamily="34" charset="0"/>
                <a:ea typeface="+mn-ea"/>
                <a:cs typeface="Arial" panose="020B0604020202020204" pitchFamily="34" charset="0"/>
              </a:rPr>
              <a:t> of </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you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realize it can be harmful to the company.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Possible decisions: </a:t>
            </a:r>
            <a:endParaRPr kumimoji="0" lang="en-US" altLang="en-US" sz="1800" b="1"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What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are some possible </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decisions?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What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are the unethical, ethical, and legal decisions?</a:t>
            </a:r>
            <a:endParaRPr kumimoji="0" lang="en-CA"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70624042"/>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“ideas” about of integrity and ethical conduct:</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very easy to do if it is a positive or a pleasant choice. </a:t>
            </a:r>
            <a:endPar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not easy to do when it is not positive, nor pleasant, nor popular.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when nobody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watching.</a:t>
            </a:r>
            <a:endPar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Integrity and Ethical Behaviour: </a:t>
            </a:r>
          </a:p>
        </p:txBody>
      </p:sp>
      <p:sp>
        <p:nvSpPr>
          <p:cNvPr id="10" name="Text Box 7"/>
          <p:cNvSpPr txBox="1">
            <a:spLocks noChangeArrowheads="1"/>
          </p:cNvSpPr>
          <p:nvPr/>
        </p:nvSpPr>
        <p:spPr bwMode="auto">
          <a:xfrm>
            <a:off x="180000" y="3060000"/>
            <a:ext cx="8640000" cy="3060000"/>
          </a:xfrm>
          <a:prstGeom prst="rect">
            <a:avLst/>
          </a:prstGeom>
          <a:solidFill>
            <a:sysClr val="windowText" lastClr="000000"/>
          </a:solidFill>
          <a:ln>
            <a:solidFill>
              <a:sysClr val="windowText" lastClr="000000"/>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en-US" sz="180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The situation: </a:t>
            </a:r>
            <a:r>
              <a:rPr kumimoji="0" lang="en-US" altLang="en-US" sz="18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The regional </a:t>
            </a:r>
            <a:r>
              <a:rPr kumimoji="0" lang="en-US" altLang="en-US" sz="1800" b="0" i="1" u="sng"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IEB</a:t>
            </a:r>
            <a:r>
              <a:rPr kumimoji="0" lang="en-US" altLang="en-US" sz="1800" b="0" i="1"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 of </a:t>
            </a:r>
            <a:r>
              <a:rPr kumimoji="0" lang="en-US" altLang="en-US" sz="18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the </a:t>
            </a:r>
            <a:r>
              <a:rPr kumimoji="0" lang="en-US" altLang="en-US" sz="1800" b="0" i="1" u="sng" strike="noStrike" kern="0" cap="none" spc="0" normalizeH="0" baseline="0" noProof="0" dirty="0" err="1" smtClean="0">
                <a:ln>
                  <a:noFill/>
                </a:ln>
                <a:solidFill>
                  <a:srgbClr val="FFFFFF"/>
                </a:solidFill>
                <a:effectLst/>
                <a:uLnTx/>
                <a:uFillTx/>
                <a:latin typeface="Arial" panose="020B0604020202020204" pitchFamily="34" charset="0"/>
                <a:cs typeface="Arial" panose="020B0604020202020204" pitchFamily="34" charset="0"/>
              </a:rPr>
              <a:t>MoE</a:t>
            </a:r>
            <a:r>
              <a:rPr kumimoji="0" lang="en-US" altLang="en-US" sz="1800" b="0" i="1"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 </a:t>
            </a:r>
            <a:r>
              <a:rPr kumimoji="0" lang="en-US" altLang="en-US" sz="18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calls on your plant </a:t>
            </a:r>
            <a:r>
              <a:rPr kumimoji="0" lang="en-US" altLang="en-US" sz="1800" b="0" i="1"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 </a:t>
            </a:r>
            <a:endParaRPr kumimoji="0" lang="en-US" altLang="en-US" sz="18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a:p>
            <a:pPr marL="0" marR="0" lvl="0" indent="0" defTabSz="914400" eaLnBrk="0" fontAlgn="auto" latinLnBrk="0" hangingPunct="0">
              <a:lnSpc>
                <a:spcPct val="100000"/>
              </a:lnSpc>
              <a:spcBef>
                <a:spcPts val="0"/>
              </a:spcBef>
              <a:spcAft>
                <a:spcPts val="0"/>
              </a:spcAft>
              <a:buClrTx/>
              <a:buSzTx/>
              <a:buFontTx/>
              <a:buNone/>
              <a:tabLst/>
              <a:defRPr/>
            </a:pPr>
            <a:endParaRPr kumimoji="0" lang="en-US" altLang="en-US" sz="1800" b="0" i="1"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endParaRPr>
          </a:p>
          <a:p>
            <a:pPr lvl="0" eaLnBrk="0" hangingPunct="0">
              <a:defRPr/>
            </a:pPr>
            <a:r>
              <a:rPr lang="en-US" altLang="en-US" sz="1800" dirty="0"/>
              <a:t>The issue:</a:t>
            </a:r>
            <a:r>
              <a:rPr lang="en-US" altLang="en-US" sz="1800" b="0" dirty="0"/>
              <a:t> You find a “compromising document”, </a:t>
            </a:r>
            <a:r>
              <a:rPr lang="en-US" altLang="en-US" sz="1800" b="0" dirty="0" smtClean="0"/>
              <a:t>and both of you </a:t>
            </a:r>
            <a:r>
              <a:rPr lang="en-US" altLang="en-US" sz="1800" b="0" dirty="0"/>
              <a:t>realize it can be harmful to the company. </a:t>
            </a:r>
          </a:p>
          <a:p>
            <a:pPr marL="0" marR="0" lvl="0" indent="0" defTabSz="914400" eaLnBrk="0" fontAlgn="auto" latinLnBrk="0" hangingPunct="0">
              <a:lnSpc>
                <a:spcPct val="100000"/>
              </a:lnSpc>
              <a:spcBef>
                <a:spcPts val="0"/>
              </a:spcBef>
              <a:spcAft>
                <a:spcPts val="0"/>
              </a:spcAft>
              <a:buClrTx/>
              <a:buSzTx/>
              <a:buFontTx/>
              <a:buNone/>
              <a:tabLst/>
              <a:defRPr/>
            </a:pPr>
            <a:endParaRPr kumimoji="0" lang="en-US" altLang="en-US" sz="18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en-US" sz="180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Possible decisions: </a:t>
            </a:r>
          </a:p>
          <a:p>
            <a:pPr marL="285750" marR="0" lvl="0" indent="-285750" defTabSz="914400" eaLnBrk="0" fontAlgn="auto" latinLnBrk="0" hangingPunct="0">
              <a:lnSpc>
                <a:spcPct val="100000"/>
              </a:lnSpc>
              <a:spcBef>
                <a:spcPts val="0"/>
              </a:spcBef>
              <a:spcAft>
                <a:spcPts val="0"/>
              </a:spcAft>
              <a:buClrTx/>
              <a:buSzTx/>
              <a:buFont typeface="Wingdings" panose="05000000000000000000" pitchFamily="2" charset="2"/>
              <a:buChar char="Ø"/>
              <a:tabLst/>
              <a:defRPr/>
            </a:pPr>
            <a:r>
              <a:rPr kumimoji="0" lang="en-US" altLang="en-US" sz="18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Destroy the document. </a:t>
            </a:r>
          </a:p>
          <a:p>
            <a:pPr marL="285750" marR="0" lvl="0" indent="-285750" defTabSz="914400" eaLnBrk="0" fontAlgn="auto" latinLnBrk="0" hangingPunct="0">
              <a:lnSpc>
                <a:spcPct val="100000"/>
              </a:lnSpc>
              <a:spcBef>
                <a:spcPts val="0"/>
              </a:spcBef>
              <a:spcAft>
                <a:spcPts val="0"/>
              </a:spcAft>
              <a:buClrTx/>
              <a:buSzTx/>
              <a:buFont typeface="Wingdings" panose="05000000000000000000" pitchFamily="2" charset="2"/>
              <a:buChar char="Ø"/>
              <a:tabLst/>
              <a:defRPr/>
            </a:pPr>
            <a:r>
              <a:rPr kumimoji="0" lang="en-US" altLang="en-US" sz="18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Replace the document for their discovery.</a:t>
            </a:r>
          </a:p>
          <a:p>
            <a:pPr marL="285750" marR="0" lvl="0" indent="-285750" defTabSz="914400" eaLnBrk="0" fontAlgn="auto" latinLnBrk="0" hangingPunct="0">
              <a:lnSpc>
                <a:spcPct val="100000"/>
              </a:lnSpc>
              <a:spcBef>
                <a:spcPts val="0"/>
              </a:spcBef>
              <a:spcAft>
                <a:spcPts val="0"/>
              </a:spcAft>
              <a:buClrTx/>
              <a:buSzTx/>
              <a:buFont typeface="Wingdings" panose="05000000000000000000" pitchFamily="2" charset="2"/>
              <a:buChar char="Ø"/>
              <a:tabLst/>
              <a:defRPr/>
            </a:pPr>
            <a:r>
              <a:rPr kumimoji="0" lang="en-US" altLang="en-US" sz="18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Give the document to the investigators.</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en-US" sz="1800" b="0" i="1" u="none" strike="noStrike" kern="0" cap="none" spc="0" normalizeH="0" baseline="0" noProof="0" dirty="0" smtClean="0">
                <a:ln>
                  <a:noFill/>
                </a:ln>
                <a:solidFill>
                  <a:srgbClr val="FFFF00"/>
                </a:solidFill>
                <a:effectLst/>
                <a:uLnTx/>
                <a:uFillTx/>
                <a:latin typeface="Arial" panose="020B0604020202020204" pitchFamily="34" charset="0"/>
                <a:cs typeface="Arial" panose="020B0604020202020204" pitchFamily="34" charset="0"/>
              </a:rPr>
              <a:t>Which </a:t>
            </a:r>
            <a:r>
              <a:rPr kumimoji="0" lang="en-US" altLang="en-US" sz="1800" b="0" i="1" u="none" strike="noStrike" kern="0" cap="none" spc="0" normalizeH="0" baseline="0" noProof="0" dirty="0">
                <a:ln>
                  <a:noFill/>
                </a:ln>
                <a:solidFill>
                  <a:srgbClr val="FFFF00"/>
                </a:solidFill>
                <a:effectLst/>
                <a:uLnTx/>
                <a:uFillTx/>
                <a:latin typeface="Arial" panose="020B0604020202020204" pitchFamily="34" charset="0"/>
                <a:cs typeface="Arial" panose="020B0604020202020204" pitchFamily="34" charset="0"/>
              </a:rPr>
              <a:t>of the above </a:t>
            </a:r>
            <a:r>
              <a:rPr kumimoji="0" lang="en-US" altLang="en-US" sz="1800" b="0" i="1" u="none" strike="noStrike" kern="0" cap="none" spc="0" normalizeH="0" baseline="0" noProof="0" dirty="0" smtClean="0">
                <a:ln>
                  <a:noFill/>
                </a:ln>
                <a:solidFill>
                  <a:srgbClr val="FFFF00"/>
                </a:solidFill>
                <a:effectLst/>
                <a:uLnTx/>
                <a:uFillTx/>
                <a:latin typeface="Arial" panose="020B0604020202020204" pitchFamily="34" charset="0"/>
                <a:cs typeface="Arial" panose="020B0604020202020204" pitchFamily="34" charset="0"/>
              </a:rPr>
              <a:t>possible decisions is</a:t>
            </a:r>
            <a:r>
              <a:rPr kumimoji="0" lang="en-US" altLang="en-US" sz="1800" b="0" i="1" u="none" strike="noStrike" kern="0" cap="none" spc="0" normalizeH="0" baseline="0" noProof="0" dirty="0">
                <a:ln>
                  <a:noFill/>
                </a:ln>
                <a:solidFill>
                  <a:srgbClr val="FFFF00"/>
                </a:solidFill>
                <a:effectLst/>
                <a:uLnTx/>
                <a:uFillTx/>
                <a:latin typeface="Arial" panose="020B0604020202020204" pitchFamily="34" charset="0"/>
                <a:cs typeface="Arial" panose="020B0604020202020204" pitchFamily="34" charset="0"/>
              </a:rPr>
              <a:t>: Unethical? Ethical? Legal?</a:t>
            </a:r>
            <a:endParaRPr kumimoji="0" lang="en-CA" altLang="en-US" sz="1800" b="0" i="1" u="none" strike="noStrike" kern="0" cap="none" spc="0" normalizeH="0" baseline="0" noProof="0" dirty="0">
              <a:ln>
                <a:noFill/>
              </a:ln>
              <a:solidFill>
                <a:srgbClr val="FFFF00"/>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3977826"/>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“ideas” about of integrity and ethical conduct:</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very easy to do if it is a positive or a pleasant choice. </a:t>
            </a:r>
            <a:endPar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not easy to do when it is not positive, nor pleasant, nor popular.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when nobody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watching.</a:t>
            </a:r>
            <a:endPar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Integrity and Ethical Behaviour: </a:t>
            </a:r>
          </a:p>
        </p:txBody>
      </p:sp>
      <p:sp>
        <p:nvSpPr>
          <p:cNvPr id="10" name="Text Box 7"/>
          <p:cNvSpPr txBox="1">
            <a:spLocks noChangeArrowheads="1"/>
          </p:cNvSpPr>
          <p:nvPr/>
        </p:nvSpPr>
        <p:spPr bwMode="auto">
          <a:xfrm>
            <a:off x="180000" y="3060000"/>
            <a:ext cx="8640000" cy="3060000"/>
          </a:xfrm>
          <a:prstGeom prst="rect">
            <a:avLst/>
          </a:prstGeom>
          <a:solidFill>
            <a:schemeClr val="tx1"/>
          </a:solidFill>
          <a:ln>
            <a:solidFill>
              <a:schemeClr val="tx1"/>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The situation: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The regional </a:t>
            </a:r>
            <a:r>
              <a:rPr kumimoji="0" lang="en-US" altLang="en-US" sz="1800" b="0" i="1" u="sng"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IEB</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of the </a:t>
            </a:r>
            <a:r>
              <a:rPr kumimoji="0" lang="en-US" altLang="en-US" sz="1800" b="0" i="1" u="sng"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MoE</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calls on your plant </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 </a:t>
            </a:r>
            <a:endPar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1"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The </a:t>
            </a:r>
            <a:r>
              <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issue:</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You find a “compromising document”, </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and both of you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realize it can be harmful to the company.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Possible decisions:</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Destroy the document</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t>
            </a:r>
            <a:r>
              <a:rPr kumimoji="0" lang="en-US" altLang="en-US" sz="1800" b="1"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r>
              <a:rPr kumimoji="0" lang="en-US"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Unethical, possibly illegal!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Replace the document for their discovery. </a:t>
            </a:r>
            <a:r>
              <a:rPr kumimoji="0" lang="en-US" altLang="en-US" sz="1800"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Ethical </a:t>
            </a:r>
            <a:r>
              <a:rPr kumimoji="0" lang="en-US" altLang="en-US" sz="1800"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AND legal</a:t>
            </a:r>
            <a:r>
              <a:rPr kumimoji="0" lang="en-US"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Give the document to the </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investigators. </a:t>
            </a:r>
            <a:r>
              <a:rPr kumimoji="0" lang="en-US"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Ethical or unethical? </a:t>
            </a:r>
            <a:r>
              <a:rPr kumimoji="0" lang="en-US" altLang="en-US" sz="1800" b="1"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br>
              <a:rPr kumimoji="0" lang="en-US" altLang="en-US" sz="1800" b="1"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br>
            <a:r>
              <a:rPr kumimoji="0" lang="en-US" altLang="en-US" sz="1800" b="1"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From </a:t>
            </a:r>
            <a:r>
              <a:rPr kumimoji="0" lang="en-US"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your employer’s perspective, this </a:t>
            </a:r>
            <a:r>
              <a:rPr kumimoji="0" lang="en-US" altLang="en-US" sz="1800" b="1"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is certainly contrary to your employer’s interests, and therefore they may consider it unethical</a:t>
            </a:r>
            <a:r>
              <a:rPr kumimoji="0" lang="en-US"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 </a:t>
            </a:r>
            <a:endParaRPr kumimoji="0" lang="en-CA"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636263809"/>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Ethical Behaviour &amp; the Decision-Making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txBox="1">
            <a:spLocks noChangeArrowheads="1"/>
          </p:cNvSpPr>
          <p:nvPr/>
        </p:nvSpPr>
        <p:spPr>
          <a:xfrm>
            <a:off x="180000" y="888213"/>
            <a:ext cx="8640000" cy="5328000"/>
          </a:xfrm>
          <a:prstGeom prst="rect">
            <a:avLst/>
          </a:prstGeom>
          <a:solidFill>
            <a:schemeClr val="bg1"/>
          </a:solidFill>
          <a:ln>
            <a:noFill/>
            <a:miter lim="800000"/>
            <a:headEnd/>
            <a:tailEnd/>
          </a:ln>
        </p:spPr>
        <p:txBody>
          <a:bodyPr>
            <a:normAutofit/>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marL="609600" indent="-609600">
              <a:spcBef>
                <a:spcPts val="0"/>
              </a:spcBef>
              <a:buClr>
                <a:srgbClr val="000000"/>
              </a:buClr>
              <a:buSzPct val="100000"/>
              <a:buFont typeface="Wingdings" pitchFamily="2" charset="2"/>
              <a:buChar char="Ø"/>
            </a:pPr>
            <a:r>
              <a:rPr lang="en-US" altLang="en-US" sz="2000" b="0" kern="0" dirty="0" smtClean="0">
                <a:solidFill>
                  <a:srgbClr val="000000"/>
                </a:solidFill>
                <a:latin typeface="Arial" panose="020B0604020202020204" pitchFamily="34" charset="0"/>
                <a:cs typeface="Arial" panose="020B0604020202020204" pitchFamily="34" charset="0"/>
              </a:rPr>
              <a:t>Consider applying ethics in the span of decision making:</a:t>
            </a:r>
          </a:p>
          <a:p>
            <a:pPr marL="609600" indent="-609600">
              <a:spcBef>
                <a:spcPts val="0"/>
              </a:spcBef>
              <a:buClr>
                <a:srgbClr val="000000"/>
              </a:buClr>
              <a:buSzPct val="100000"/>
              <a:buFont typeface="Wingdings" pitchFamily="2" charset="2"/>
              <a:buChar char="Ø"/>
            </a:pPr>
            <a:endParaRPr lang="en-CA" altLang="en-US" sz="2000" b="0" kern="0" dirty="0" smtClean="0">
              <a:solidFill>
                <a:srgbClr val="000000"/>
              </a:solidFill>
              <a:latin typeface="Arial" panose="020B0604020202020204" pitchFamily="34" charset="0"/>
              <a:cs typeface="Arial" panose="020B0604020202020204" pitchFamily="34" charset="0"/>
            </a:endParaRPr>
          </a:p>
          <a:p>
            <a:pPr marL="609600" indent="-609600" algn="ctr">
              <a:spcBef>
                <a:spcPts val="0"/>
              </a:spcBef>
              <a:buClr>
                <a:srgbClr val="000000"/>
              </a:buClr>
              <a:buSzPct val="100000"/>
              <a:buFont typeface="Wingdings" pitchFamily="2" charset="2"/>
              <a:buNone/>
            </a:pPr>
            <a:r>
              <a:rPr lang="en-US" altLang="en-US" sz="2000" b="1" kern="0" dirty="0" smtClean="0">
                <a:solidFill>
                  <a:srgbClr val="000000"/>
                </a:solidFill>
                <a:latin typeface="Arial" panose="020B0604020202020204" pitchFamily="34" charset="0"/>
                <a:cs typeface="Arial" panose="020B0604020202020204" pitchFamily="34" charset="0"/>
              </a:rPr>
              <a:t>Unethical                                                                                   Ethical</a:t>
            </a:r>
          </a:p>
          <a:p>
            <a:pPr marL="609600" indent="-609600" algn="ctr">
              <a:spcBef>
                <a:spcPts val="0"/>
              </a:spcBef>
              <a:buClr>
                <a:srgbClr val="000000"/>
              </a:buClr>
              <a:buSzPct val="100000"/>
              <a:buFont typeface="Wingdings" pitchFamily="2" charset="2"/>
              <a:buNone/>
            </a:pPr>
            <a:endParaRPr lang="en-US" altLang="en-US" sz="2000" b="1" kern="0" dirty="0" smtClean="0">
              <a:solidFill>
                <a:srgbClr val="000000"/>
              </a:solidFill>
              <a:latin typeface="Arial" panose="020B0604020202020204" pitchFamily="34" charset="0"/>
              <a:cs typeface="Arial" panose="020B0604020202020204" pitchFamily="34" charset="0"/>
            </a:endParaRPr>
          </a:p>
          <a:p>
            <a:pPr marL="609600" indent="-609600" algn="ctr">
              <a:spcBef>
                <a:spcPts val="0"/>
              </a:spcBef>
              <a:buClr>
                <a:srgbClr val="000000"/>
              </a:buClr>
              <a:buSzPct val="100000"/>
              <a:buFont typeface="Wingdings" pitchFamily="2" charset="2"/>
              <a:buNone/>
            </a:pPr>
            <a:endParaRPr lang="en-US" altLang="en-US" sz="2000" b="1" kern="0" dirty="0" smtClean="0">
              <a:solidFill>
                <a:srgbClr val="000000"/>
              </a:solidFill>
              <a:latin typeface="Arial" panose="020B0604020202020204" pitchFamily="34" charset="0"/>
              <a:cs typeface="Arial" panose="020B0604020202020204" pitchFamily="34" charset="0"/>
            </a:endParaRPr>
          </a:p>
          <a:p>
            <a:pPr marL="609600" indent="-609600" algn="ctr">
              <a:spcBef>
                <a:spcPts val="0"/>
              </a:spcBef>
              <a:buClr>
                <a:srgbClr val="000000"/>
              </a:buClr>
              <a:buSzPct val="100000"/>
              <a:buFont typeface="Wingdings" pitchFamily="2" charset="2"/>
              <a:buNone/>
            </a:pPr>
            <a:endParaRPr lang="en-US" altLang="en-US" sz="2000" b="1" kern="0" dirty="0" smtClean="0">
              <a:solidFill>
                <a:srgbClr val="000000"/>
              </a:solidFill>
              <a:latin typeface="Arial" panose="020B0604020202020204" pitchFamily="34" charset="0"/>
              <a:cs typeface="Arial" panose="020B0604020202020204" pitchFamily="34" charset="0"/>
            </a:endParaRPr>
          </a:p>
          <a:p>
            <a:pPr marL="609600" indent="-609600" algn="ctr">
              <a:spcBef>
                <a:spcPts val="0"/>
              </a:spcBef>
              <a:buClr>
                <a:srgbClr val="000000"/>
              </a:buClr>
              <a:buSzPct val="100000"/>
              <a:buFont typeface="Wingdings" pitchFamily="2" charset="2"/>
              <a:buNone/>
            </a:pPr>
            <a:r>
              <a:rPr lang="en-CA" altLang="en-US" sz="2000" b="1" kern="0" dirty="0" smtClean="0">
                <a:solidFill>
                  <a:srgbClr val="000000"/>
                </a:solidFill>
                <a:latin typeface="Arial" panose="020B0604020202020204" pitchFamily="34" charset="0"/>
                <a:cs typeface="Arial" panose="020B0604020202020204" pitchFamily="34" charset="0"/>
              </a:rPr>
              <a:t>Collusion … Coercion … Co-option … Co-operation …</a:t>
            </a:r>
            <a:r>
              <a:rPr lang="en-US" altLang="en-US" sz="2000" b="1" kern="0" dirty="0" smtClean="0">
                <a:solidFill>
                  <a:srgbClr val="000000"/>
                </a:solidFill>
                <a:latin typeface="Arial" panose="020B0604020202020204" pitchFamily="34" charset="0"/>
                <a:cs typeface="Arial" panose="020B0604020202020204" pitchFamily="34" charset="0"/>
              </a:rPr>
              <a:t> Collaboration</a:t>
            </a:r>
          </a:p>
          <a:p>
            <a:pPr marL="609600" indent="-609600" algn="r">
              <a:spcBef>
                <a:spcPts val="0"/>
              </a:spcBef>
              <a:buClr>
                <a:srgbClr val="000000"/>
              </a:buClr>
              <a:buSzPct val="100000"/>
              <a:buFont typeface="Wingdings" pitchFamily="2" charset="2"/>
              <a:buNone/>
            </a:pPr>
            <a:endParaRPr lang="en-CA" altLang="en-US" sz="2000" b="0" i="1" kern="0" dirty="0" smtClean="0">
              <a:solidFill>
                <a:srgbClr val="000000"/>
              </a:solidFill>
              <a:latin typeface="Arial" panose="020B0604020202020204" pitchFamily="34" charset="0"/>
              <a:cs typeface="Arial" panose="020B0604020202020204" pitchFamily="34" charset="0"/>
            </a:endParaRPr>
          </a:p>
          <a:p>
            <a:pPr marL="609600" indent="-609600" algn="r">
              <a:spcBef>
                <a:spcPts val="0"/>
              </a:spcBef>
              <a:buClr>
                <a:srgbClr val="000000"/>
              </a:buClr>
              <a:buSzPct val="100000"/>
              <a:buFont typeface="Wingdings" pitchFamily="2" charset="2"/>
              <a:buNone/>
            </a:pPr>
            <a:r>
              <a:rPr lang="en-CA" altLang="en-US" sz="2000" b="0" i="1" kern="0" dirty="0" smtClean="0">
                <a:solidFill>
                  <a:srgbClr val="000000"/>
                </a:solidFill>
                <a:latin typeface="Arial" panose="020B0604020202020204" pitchFamily="34" charset="0"/>
                <a:cs typeface="Arial" panose="020B0604020202020204" pitchFamily="34" charset="0"/>
              </a:rPr>
              <a:t>On ideas </a:t>
            </a:r>
            <a:r>
              <a:rPr lang="en-US" altLang="en-US" sz="2000" b="0" i="1" kern="0" dirty="0" smtClean="0">
                <a:solidFill>
                  <a:srgbClr val="000000"/>
                </a:solidFill>
                <a:latin typeface="Arial" panose="020B0604020202020204" pitchFamily="34" charset="0"/>
                <a:cs typeface="Arial" panose="020B0604020202020204" pitchFamily="34" charset="0"/>
              </a:rPr>
              <a:t>expressed By </a:t>
            </a:r>
            <a:r>
              <a:rPr lang="en-CA" altLang="en-US" sz="2000" b="0" i="1" kern="0" dirty="0" smtClean="0">
                <a:solidFill>
                  <a:srgbClr val="000000"/>
                </a:solidFill>
                <a:latin typeface="Arial" panose="020B0604020202020204" pitchFamily="34" charset="0"/>
                <a:cs typeface="Arial" panose="020B0604020202020204" pitchFamily="34" charset="0"/>
              </a:rPr>
              <a:t>Mark Flint, </a:t>
            </a:r>
            <a:r>
              <a:rPr lang="en-CA" altLang="en-US" sz="2000" b="0" i="1" kern="0" dirty="0" err="1" smtClean="0">
                <a:solidFill>
                  <a:srgbClr val="000000"/>
                </a:solidFill>
                <a:latin typeface="Arial" panose="020B0604020202020204" pitchFamily="34" charset="0"/>
                <a:cs typeface="Arial" panose="020B0604020202020204" pitchFamily="34" charset="0"/>
              </a:rPr>
              <a:t>P.Eng</a:t>
            </a:r>
            <a:r>
              <a:rPr lang="en-CA" altLang="en-US" sz="2000" b="0" i="1" kern="0" dirty="0" smtClean="0">
                <a:solidFill>
                  <a:srgbClr val="000000"/>
                </a:solidFill>
                <a:latin typeface="Arial" panose="020B0604020202020204" pitchFamily="34" charset="0"/>
                <a:cs typeface="Arial" panose="020B0604020202020204" pitchFamily="34" charset="0"/>
              </a:rPr>
              <a:t>., Former CEO APEGA</a:t>
            </a:r>
            <a:endParaRPr lang="en-CA" altLang="en-US" sz="2000" b="0" i="1" kern="0" dirty="0">
              <a:solidFill>
                <a:srgbClr val="000000"/>
              </a:solidFill>
              <a:latin typeface="Arial" panose="020B0604020202020204" pitchFamily="34" charset="0"/>
              <a:cs typeface="Arial" panose="020B0604020202020204" pitchFamily="34" charset="0"/>
            </a:endParaRPr>
          </a:p>
        </p:txBody>
      </p:sp>
      <p:sp>
        <p:nvSpPr>
          <p:cNvPr id="7" name="Text Box 7"/>
          <p:cNvSpPr txBox="1">
            <a:spLocks noChangeArrowheads="1"/>
          </p:cNvSpPr>
          <p:nvPr/>
        </p:nvSpPr>
        <p:spPr bwMode="auto">
          <a:xfrm>
            <a:off x="180000" y="3886200"/>
            <a:ext cx="8640000" cy="2305800"/>
          </a:xfrm>
          <a:prstGeom prst="rect">
            <a:avLst/>
          </a:prstGeom>
          <a:solidFill>
            <a:schemeClr val="tx1"/>
          </a:solidFill>
          <a:ln>
            <a:solidFill>
              <a:schemeClr val="tx1"/>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Q: As professionals, where must we be?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We </a:t>
            </a: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must strive to be at the green end – </a:t>
            </a:r>
            <a:r>
              <a:rPr kumimoji="0" lang="en-CA" altLang="en-US" sz="2000" b="0" i="1"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cooperation</a:t>
            </a: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and </a:t>
            </a:r>
            <a:r>
              <a:rPr kumimoji="0" lang="en-CA" altLang="en-US" sz="2000" b="0" i="1"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collaboration</a:t>
            </a: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t>
            </a:r>
            <a:endPar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Usually most teams are at </a:t>
            </a:r>
            <a:r>
              <a:rPr kumimoji="0" lang="en-CA" altLang="en-US" sz="2000" b="0" i="1"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co-operation</a:t>
            </a: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Certainly </a:t>
            </a:r>
            <a:r>
              <a:rPr kumimoji="0" lang="en-CA" altLang="en-US" sz="2000" b="0" i="1"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collaboration</a:t>
            </a: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is most desirable. We coach for this and teams strive for this. </a:t>
            </a:r>
          </a:p>
        </p:txBody>
      </p:sp>
      <p:sp>
        <p:nvSpPr>
          <p:cNvPr id="10" name="AutoShape 9"/>
          <p:cNvSpPr>
            <a:spLocks noChangeArrowheads="1"/>
          </p:cNvSpPr>
          <p:nvPr/>
        </p:nvSpPr>
        <p:spPr bwMode="auto">
          <a:xfrm>
            <a:off x="723900" y="1676400"/>
            <a:ext cx="7696200" cy="914400"/>
          </a:xfrm>
          <a:prstGeom prst="rightArrow">
            <a:avLst>
              <a:gd name="adj1" fmla="val 50000"/>
              <a:gd name="adj2" fmla="val 210417"/>
            </a:avLst>
          </a:prstGeom>
          <a:gradFill rotWithShape="1">
            <a:gsLst>
              <a:gs pos="0">
                <a:srgbClr val="CC0000"/>
              </a:gs>
              <a:gs pos="100000">
                <a:srgbClr val="00FF00"/>
              </a:gs>
            </a:gsLst>
            <a:lin ang="0" scaled="1"/>
          </a:gradFill>
          <a:ln w="9525">
            <a:solidFill>
              <a:srgbClr val="000000"/>
            </a:solidFill>
            <a:miter lim="800000"/>
            <a:headEnd/>
            <a:tailEnd/>
          </a:ln>
          <a:effectLst>
            <a:outerShdw dist="107763" dir="2700000" algn="ctr" rotWithShape="0">
              <a:srgbClr val="808080">
                <a:alpha val="50000"/>
              </a:srgbClr>
            </a:outerShdw>
          </a:effec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SzPct val="65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33488197"/>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“ideas” about of integrity and ethical conduct:</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very easy to do if it is a positive or a pleasant choice. </a:t>
            </a:r>
            <a:endPar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not easy to do when it is not positive, nor pleasant, nor popular.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when nobody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watching.</a:t>
            </a:r>
            <a:endPar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Integrity and Ethical Behaviour: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Text Box 7"/>
          <p:cNvSpPr txBox="1">
            <a:spLocks noChangeArrowheads="1"/>
          </p:cNvSpPr>
          <p:nvPr/>
        </p:nvSpPr>
        <p:spPr bwMode="auto">
          <a:xfrm>
            <a:off x="180000" y="3060000"/>
            <a:ext cx="8640000" cy="3060000"/>
          </a:xfrm>
          <a:prstGeom prst="rect">
            <a:avLst/>
          </a:prstGeom>
          <a:solidFill>
            <a:schemeClr val="tx1"/>
          </a:solidFill>
          <a:ln>
            <a:solidFill>
              <a:schemeClr val="tx1"/>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The situation: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The regional regional </a:t>
            </a:r>
            <a:r>
              <a:rPr kumimoji="0" lang="en-US" altLang="en-US" sz="1800" b="0" i="1"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IEB</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of the </a:t>
            </a:r>
            <a:r>
              <a:rPr kumimoji="0" lang="en-US" altLang="en-US" sz="1800" b="0" i="1" u="sng"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MoE</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calls on your plant </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 </a:t>
            </a:r>
            <a:endPar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1"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The </a:t>
            </a:r>
            <a:r>
              <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issue:</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You find a “compromising document”, </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and both of you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realize it can be harmful to the company.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Possible decisions:</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Destroy the document. </a:t>
            </a:r>
            <a:r>
              <a:rPr kumimoji="0" lang="en-US" altLang="en-US" sz="1800" b="1"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Unethical</a:t>
            </a:r>
            <a:r>
              <a:rPr kumimoji="0" lang="en-US"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 possibly illegal</a:t>
            </a:r>
            <a:r>
              <a:rPr kumimoji="0" lang="en-US" altLang="en-US" sz="1800" b="1"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r>
              <a:rPr kumimoji="0" lang="en-US" altLang="en-US" sz="1800" b="1" i="1" u="sng"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Collusion</a:t>
            </a:r>
            <a:r>
              <a:rPr kumimoji="0" lang="en-US"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Replace the document for their discovery. </a:t>
            </a:r>
            <a:r>
              <a:rPr kumimoji="0" lang="en-US" altLang="en-US" sz="1800" b="1"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Ethical </a:t>
            </a:r>
            <a:r>
              <a:rPr kumimoji="0" lang="en-US"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AND legal</a:t>
            </a:r>
            <a:r>
              <a:rPr kumimoji="0" lang="en-US" altLang="en-US" sz="1800" b="1"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r>
              <a:rPr kumimoji="0" lang="en-US" altLang="en-US" sz="1800" b="1" i="1" u="sng"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Cooperation</a:t>
            </a:r>
            <a:r>
              <a:rPr kumimoji="0" lang="en-US" altLang="en-US" sz="1800" b="1" i="1"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br>
              <a:rPr kumimoji="0" lang="en-US" altLang="en-US" sz="1800" b="1" i="1"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br>
            <a:r>
              <a:rPr kumimoji="0" lang="en-US" altLang="en-US" sz="1800" b="1" i="1"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(you and your supervisor; the company and the IEB</a:t>
            </a:r>
            <a:r>
              <a:rPr kumimoji="0" lang="en-US" altLang="en-US" sz="1800" b="1" i="1"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a:t>
            </a:r>
            <a:endParaRPr kumimoji="0" lang="en-US"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Give </a:t>
            </a:r>
            <a:r>
              <a:rPr kumimoji="0" lang="en-US" altLang="en-US" sz="18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the document to the </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investigators.</a:t>
            </a:r>
            <a:endParaRPr kumimoji="0" lang="en-CA" altLang="en-US" sz="1800" b="1" i="1"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endParaRPr>
          </a:p>
        </p:txBody>
      </p:sp>
      <p:sp>
        <p:nvSpPr>
          <p:cNvPr id="7" name="Rounded Rectangle 6"/>
          <p:cNvSpPr/>
          <p:nvPr/>
        </p:nvSpPr>
        <p:spPr>
          <a:xfrm>
            <a:off x="180000" y="4724400"/>
            <a:ext cx="8640000" cy="14316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CA" sz="24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066071073"/>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“ideas” about of integrity and ethical conduct:</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very easy to do if it is a positive or a pleasant choice. </a:t>
            </a:r>
            <a:endPar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not easy to do when it is not positive, nor pleasant, nor popular.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when nobody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watching.</a:t>
            </a:r>
            <a:endPar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#4: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Integrity and Ethical Behaviour </a:t>
            </a:r>
          </a:p>
        </p:txBody>
      </p:sp>
      <p:sp>
        <p:nvSpPr>
          <p:cNvPr id="2" name="Rectangle 1"/>
          <p:cNvSpPr/>
          <p:nvPr/>
        </p:nvSpPr>
        <p:spPr>
          <a:xfrm>
            <a:off x="180000" y="3060000"/>
            <a:ext cx="8640000" cy="3060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confer (pen-to-paper / MM-Poll):</a:t>
            </a:r>
          </a:p>
          <a:p>
            <a:pPr lvl="0">
              <a:spcBef>
                <a:spcPts val="0"/>
              </a:spcBef>
              <a:spcAft>
                <a:spcPts val="0"/>
              </a:spcAft>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Obviously, “doing the right thing” implies there is a decision to make, and that there are some alternative, possible decisions.</a:t>
            </a:r>
          </a:p>
          <a:p>
            <a:pPr marL="360000" lvl="0" indent="-360000">
              <a:spcBef>
                <a:spcPts val="0"/>
              </a:spcBef>
              <a:spcAft>
                <a:spcPts val="0"/>
              </a:spcAft>
              <a:buFont typeface="Wingdings" panose="05000000000000000000" pitchFamily="2" charset="2"/>
              <a:buChar char="Ø"/>
            </a:pP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a:spcBef>
                <a:spcPts val="0"/>
              </a:spcBef>
              <a:spcAft>
                <a:spcPts val="0"/>
              </a:spcAft>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on the above two points and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respond:</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spcBef>
                <a:spcPts val="0"/>
              </a:spcBef>
              <a:spcAft>
                <a:spcPts val="0"/>
              </a:spcAft>
              <a:buFont typeface="Wingdings" panose="05000000000000000000" pitchFamily="2" charset="2"/>
              <a:buChar char="Ø"/>
            </a:pP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spcBef>
                <a:spcPts val="0"/>
              </a:spcBef>
              <a:spcAft>
                <a:spcPts val="0"/>
              </a:spcAft>
              <a:buFont typeface="Wingdings" panose="05000000000000000000" pitchFamily="2" charset="2"/>
              <a:buChar char="Ø"/>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Which one do you think is more “ideal” about integrity? </a:t>
            </a:r>
          </a:p>
          <a:p>
            <a:pPr marL="360000" lvl="0" indent="-360000">
              <a:spcBef>
                <a:spcPts val="0"/>
              </a:spcBef>
              <a:spcAft>
                <a:spcPts val="0"/>
              </a:spcAft>
              <a:buFont typeface="Wingdings" panose="05000000000000000000" pitchFamily="2" charset="2"/>
              <a:buChar char="Ø"/>
            </a:pP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spcBef>
                <a:spcPts val="0"/>
              </a:spcBef>
              <a:spcAft>
                <a:spcPts val="0"/>
              </a:spcAft>
              <a:buFont typeface="Wingdings" panose="05000000000000000000" pitchFamily="2" charset="2"/>
              <a:buChar char="Ø"/>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Which one is more challenging?  </a:t>
            </a:r>
          </a:p>
          <a:p>
            <a:pPr marL="360000" lvl="0" indent="-360000">
              <a:spcBef>
                <a:spcPts val="0"/>
              </a:spcBef>
              <a:spcAft>
                <a:spcPts val="0"/>
              </a:spcAft>
              <a:buFont typeface="Wingdings" panose="05000000000000000000" pitchFamily="2" charset="2"/>
              <a:buChar char="Ø"/>
            </a:pP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029555168"/>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Integrity and Ethical Behaviour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“ideas” about of integrity and ethical conduct:</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 Doing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right thing at the right time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nobody is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watching</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Text Box 7"/>
          <p:cNvSpPr txBox="1">
            <a:spLocks noChangeArrowheads="1"/>
          </p:cNvSpPr>
          <p:nvPr/>
        </p:nvSpPr>
        <p:spPr bwMode="auto">
          <a:xfrm>
            <a:off x="180000" y="2514600"/>
            <a:ext cx="8640000" cy="3605400"/>
          </a:xfrm>
          <a:prstGeom prst="rect">
            <a:avLst/>
          </a:prstGeom>
          <a:solidFill>
            <a:schemeClr val="tx1"/>
          </a:solidFill>
          <a:ln>
            <a:solidFill>
              <a:schemeClr val="tx1"/>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Both, indeed, are ideal and challenging; however, the latter can be more challenging because it presents an opportunity to make an unethical decisions, or a decision lacking integrity.  </a:t>
            </a:r>
          </a:p>
          <a:p>
            <a:pPr marL="0" marR="0" lvl="0" indent="0" algn="l" defTabSz="914400" rtl="0" eaLnBrk="0" fontAlgn="base" latinLnBrk="0" hangingPunct="0">
              <a:lnSpc>
                <a:spcPct val="90000"/>
              </a:lnSpc>
              <a:spcBef>
                <a:spcPct val="0"/>
              </a:spcBef>
              <a:spcAft>
                <a:spcPct val="0"/>
              </a:spcAft>
              <a:buClrTx/>
              <a:buSzTx/>
              <a:buFontTx/>
              <a:buNone/>
              <a:tabLst/>
              <a:defRPr/>
            </a:pPr>
            <a:endParaRPr lang="en-US" altLang="en-US" sz="1800" b="0" dirty="0"/>
          </a:p>
          <a:p>
            <a:pPr lvl="0" eaLnBrk="0" hangingPunct="0">
              <a:lnSpc>
                <a:spcPct val="90000"/>
              </a:lnSpc>
              <a:defRPr/>
            </a:pPr>
            <a:r>
              <a:rPr kumimoji="0" lang="en-US" altLang="en-US" sz="1800" i="1" u="none" strike="noStrike" kern="1200" cap="none" spc="0" normalizeH="0" baseline="0" noProof="0" dirty="0" smtClean="0">
                <a:ln>
                  <a:noFill/>
                </a:ln>
                <a:solidFill>
                  <a:srgbClr val="FFFFFF"/>
                </a:solidFill>
                <a:effectLst/>
                <a:uLnTx/>
                <a:uFillTx/>
              </a:rPr>
              <a:t>Given </a:t>
            </a:r>
            <a:r>
              <a:rPr lang="en-US" altLang="en-US" sz="1800" noProof="0" dirty="0" smtClean="0"/>
              <a:t>t</a:t>
            </a:r>
            <a:r>
              <a:rPr lang="en-US" altLang="en-US" sz="1800" dirty="0" smtClean="0"/>
              <a:t>he previous situation</a:t>
            </a:r>
            <a:r>
              <a:rPr lang="en-US" altLang="en-US" sz="1800" dirty="0"/>
              <a:t>: </a:t>
            </a:r>
            <a:r>
              <a:rPr lang="en-US" altLang="en-US" sz="1800" b="0" dirty="0"/>
              <a:t>The </a:t>
            </a:r>
            <a:r>
              <a:rPr lang="en-US" altLang="en-US" sz="1800" b="0" u="sng" dirty="0" smtClean="0"/>
              <a:t>IEB</a:t>
            </a:r>
            <a:r>
              <a:rPr lang="en-US" altLang="en-US" sz="1800" b="0" dirty="0" smtClean="0"/>
              <a:t> </a:t>
            </a:r>
            <a:r>
              <a:rPr lang="en-US" altLang="en-US" sz="1800" b="0" dirty="0"/>
              <a:t>of the </a:t>
            </a:r>
            <a:r>
              <a:rPr lang="en-US" altLang="en-US" sz="1800" b="0" u="sng" dirty="0" err="1"/>
              <a:t>MoE</a:t>
            </a:r>
            <a:r>
              <a:rPr lang="en-US" altLang="en-US" sz="1800" b="0" dirty="0"/>
              <a:t> calls on your plant … </a:t>
            </a:r>
          </a:p>
          <a:p>
            <a:pPr lvl="0" eaLnBrk="0" hangingPunct="0">
              <a:lnSpc>
                <a:spcPct val="90000"/>
              </a:lnSpc>
              <a:defRPr/>
            </a:pPr>
            <a:endParaRPr lang="en-US" altLang="en-US" sz="1800" dirty="0"/>
          </a:p>
          <a:p>
            <a:pPr lvl="0" eaLnBrk="0" hangingPunct="0">
              <a:lnSpc>
                <a:spcPct val="90000"/>
              </a:lnSpc>
              <a:defRPr/>
            </a:pPr>
            <a:r>
              <a:rPr lang="en-US" altLang="en-US" sz="1800" dirty="0"/>
              <a:t>The issue:</a:t>
            </a:r>
            <a:r>
              <a:rPr lang="en-US" altLang="en-US" sz="1800" b="0" dirty="0"/>
              <a:t> You find a “compromising document”, </a:t>
            </a:r>
            <a:r>
              <a:rPr lang="en-US" altLang="en-US" sz="1800" b="0" dirty="0" smtClean="0"/>
              <a:t>but suppose</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 you were by yourself when you found it?</a:t>
            </a:r>
          </a:p>
          <a:p>
            <a:pPr lvl="0" eaLnBrk="0" hangingPunct="0">
              <a:lnSpc>
                <a:spcPct val="90000"/>
              </a:lnSpc>
              <a:defRPr/>
            </a:pPr>
            <a:endParaRPr lang="en-US" altLang="en-US" sz="1800" b="0" dirty="0"/>
          </a:p>
          <a:p>
            <a:pPr lvl="0" eaLnBrk="0" hangingPunct="0">
              <a:lnSpc>
                <a:spcPct val="90000"/>
              </a:lnSpc>
              <a:defRPr/>
            </a:pPr>
            <a:r>
              <a:rPr kumimoji="0" lang="en-US" altLang="en-US" sz="180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The Challenge: </a:t>
            </a:r>
            <a:r>
              <a:rPr kumimoji="0" lang="en-US" altLang="en-US" sz="18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You might be tempted to destroy the document and no one would ever know</a:t>
            </a:r>
            <a:r>
              <a:rPr kumimoji="0" lang="en-US" altLang="en-US" sz="1800" b="0" i="1" u="none" strike="noStrike" kern="1200" cap="none" spc="0" normalizeH="0" noProof="0" dirty="0" smtClean="0">
                <a:ln>
                  <a:noFill/>
                </a:ln>
                <a:solidFill>
                  <a:srgbClr val="FFFFFF"/>
                </a:solidFill>
                <a:effectLst/>
                <a:uLnTx/>
                <a:uFillTx/>
                <a:latin typeface="Arial" panose="020B0604020202020204" pitchFamily="34" charset="0"/>
                <a:ea typeface="+mn-ea"/>
                <a:cs typeface="Arial" panose="020B0604020202020204" pitchFamily="34" charset="0"/>
              </a:rPr>
              <a:t> … but if it ever came to light, </a:t>
            </a:r>
            <a:r>
              <a:rPr kumimoji="0" lang="en-US" altLang="en-US" sz="1800" b="0" i="1" u="sng" strike="noStrike" kern="1200" cap="none" spc="0" normalizeH="0" noProof="0" dirty="0" smtClean="0">
                <a:ln>
                  <a:noFill/>
                </a:ln>
                <a:solidFill>
                  <a:srgbClr val="FFFFFF"/>
                </a:solidFill>
                <a:effectLst/>
                <a:uLnTx/>
                <a:uFillTx/>
                <a:latin typeface="Arial" panose="020B0604020202020204" pitchFamily="34" charset="0"/>
                <a:ea typeface="+mn-ea"/>
                <a:cs typeface="Arial" panose="020B0604020202020204" pitchFamily="34" charset="0"/>
              </a:rPr>
              <a:t>your actions were unethical</a:t>
            </a:r>
            <a:r>
              <a:rPr kumimoji="0" lang="en-US" altLang="en-US" sz="1800" b="0" i="1" u="none" strike="noStrike" kern="1200" cap="none" spc="0" normalizeH="0" noProof="0" dirty="0" smtClean="0">
                <a:ln>
                  <a:noFill/>
                </a:ln>
                <a:solidFill>
                  <a:srgbClr val="FFFFFF"/>
                </a:solidFill>
                <a:effectLst/>
                <a:uLnTx/>
                <a:uFillTx/>
                <a:latin typeface="Arial" panose="020B0604020202020204" pitchFamily="34" charset="0"/>
                <a:ea typeface="+mn-ea"/>
                <a:cs typeface="Arial" panose="020B0604020202020204" pitchFamily="34" charset="0"/>
              </a:rPr>
              <a:t> and possibly illegal. </a:t>
            </a:r>
          </a:p>
          <a:p>
            <a:pPr lvl="0" eaLnBrk="0" hangingPunct="0">
              <a:lnSpc>
                <a:spcPct val="90000"/>
              </a:lnSpc>
              <a:defRPr/>
            </a:pPr>
            <a:endParaRPr lang="en-US" altLang="en-US" sz="1800" b="0" baseline="0" dirty="0"/>
          </a:p>
          <a:p>
            <a:pPr lvl="0" eaLnBrk="0" hangingPunct="0">
              <a:lnSpc>
                <a:spcPct val="90000"/>
              </a:lnSpc>
              <a:defRPr/>
            </a:pPr>
            <a:r>
              <a:rPr kumimoji="0" lang="en-US" altLang="en-US" sz="1800" i="1" u="none" strike="noStrike" kern="1200" cap="none" spc="0" normalizeH="0" noProof="0" dirty="0" smtClean="0">
                <a:ln>
                  <a:noFill/>
                </a:ln>
                <a:solidFill>
                  <a:srgbClr val="FFFFFF"/>
                </a:solidFill>
                <a:effectLst/>
                <a:uLnTx/>
                <a:uFillTx/>
                <a:latin typeface="Arial" panose="020B0604020202020204" pitchFamily="34" charset="0"/>
                <a:ea typeface="+mn-ea"/>
                <a:cs typeface="Arial" panose="020B0604020202020204" pitchFamily="34" charset="0"/>
              </a:rPr>
              <a:t>The Lesson in all of this: Never do anything unethical!</a:t>
            </a:r>
            <a:endParaRPr kumimoji="0" lang="en-US" altLang="en-US" sz="180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68081067"/>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Challenges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your career:</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Pressure created by conflicting values.</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Temptation to benefit. </a:t>
            </a:r>
          </a:p>
          <a:p>
            <a:pPr marL="0" lv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Will you:</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Uphold: Will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have the courage to make the right ethical decision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there is pressure to compromise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Acquiesce: Will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give in to pressure or temptation?</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Q: How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will you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such an ethical challenge? </a:t>
            </a: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By </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applying the principles reviewed!</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The Dilemma: </a:t>
            </a:r>
            <a:r>
              <a:rPr lang="en-US" altLang="en-US" sz="2400" b="0" dirty="0" smtClean="0">
                <a:solidFill>
                  <a:srgbClr val="333399"/>
                </a:solidFill>
                <a:latin typeface="Arial" panose="020B0604020202020204" pitchFamily="34" charset="0"/>
                <a:cs typeface="Arial" panose="020B0604020202020204" pitchFamily="34" charset="0"/>
              </a:rPr>
              <a:t>Uphold Ethical </a:t>
            </a:r>
            <a:r>
              <a:rPr lang="en-US" altLang="en-US" sz="2400" b="0" dirty="0">
                <a:solidFill>
                  <a:srgbClr val="333399"/>
                </a:solidFill>
                <a:latin typeface="Arial" panose="020B0604020202020204" pitchFamily="34" charset="0"/>
                <a:cs typeface="Arial" panose="020B0604020202020204" pitchFamily="34" charset="0"/>
              </a:rPr>
              <a:t>Conduct or Acquiesce?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689202341"/>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may be able to discuss an ethical challenge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have faced already.</a:t>
            </a:r>
          </a:p>
          <a:p>
            <a:pPr marL="360000" lvl="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Consider these questions in regard to your personal work experience or team project:</a:t>
            </a:r>
          </a:p>
          <a:p>
            <a:pPr marL="720000" lvl="1" indent="-360000" eaLnBrk="0" hangingPunct="0">
              <a:lnSpc>
                <a:spcPct val="9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the situation? </a:t>
            </a:r>
          </a:p>
          <a:p>
            <a:pPr marL="720000" lvl="1" indent="-360000" eaLnBrk="0" hangingPunct="0">
              <a:lnSpc>
                <a:spcPct val="9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the issue with that situation in terms relative to ethical conduct? </a:t>
            </a:r>
          </a:p>
          <a:p>
            <a:pPr marL="720000" lvl="1" indent="-360000" eaLnBrk="0" hangingPunct="0">
              <a:lnSpc>
                <a:spcPct val="90000"/>
              </a:lnSpc>
              <a:spcBef>
                <a:spcPts val="0"/>
              </a:spcBef>
              <a:buClr>
                <a:srgbClr val="000000"/>
              </a:buClr>
              <a:buSzPct val="100000"/>
              <a:buFont typeface="+mj-lt"/>
              <a:buAutoNum type="alphaLcParenR"/>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are your possible decisions; identify as ethical or unethical?</a:t>
            </a:r>
          </a:p>
          <a:p>
            <a:pPr marL="720000" lvl="1" indent="-360000" eaLnBrk="0" hangingPunct="0">
              <a:lnSpc>
                <a:spcPct val="90000"/>
              </a:lnSpc>
              <a:spcBef>
                <a:spcPts val="0"/>
              </a:spcBef>
              <a:buClr>
                <a:srgbClr val="000000"/>
              </a:buClr>
              <a:buSzPct val="100000"/>
              <a:buFont typeface="+mj-lt"/>
              <a:buAutoNum type="alphaLcParenR"/>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did you do (or what should you have done), again, in terms relative to ethical conduct? </a:t>
            </a:r>
          </a:p>
          <a:p>
            <a:pPr marL="720000" lvl="1" indent="-360000" eaLnBrk="0" hangingPunct="0">
              <a:lnSpc>
                <a:spcPct val="9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was (or would have been) the final result or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outcome (as it pertains to the person / persons / organization making the decision) and state two </a:t>
            </a:r>
            <a:r>
              <a:rPr lang="en-US" altLang="en-US" sz="20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discrete ethics</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were applied? (Although more than 2 may have applied, you need only state two.) </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The Dilemma: Uphold Ethical Conduct or Acquiesce?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Text Box 7"/>
          <p:cNvSpPr txBox="1">
            <a:spLocks noChangeArrowheads="1"/>
          </p:cNvSpPr>
          <p:nvPr/>
        </p:nvSpPr>
        <p:spPr bwMode="auto">
          <a:xfrm>
            <a:off x="180000" y="5105400"/>
            <a:ext cx="8640000" cy="1086600"/>
          </a:xfrm>
          <a:prstGeom prst="rect">
            <a:avLst/>
          </a:prstGeom>
          <a:solidFill>
            <a:schemeClr val="tx1"/>
          </a:solidFill>
          <a:ln>
            <a:solidFill>
              <a:schemeClr val="tx1"/>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You should be prepared to discuss your ethical challenge relative to your work experience or your team project loss incident …</a:t>
            </a:r>
            <a:endPar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73701192"/>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10" name="Text Box 7"/>
          <p:cNvSpPr txBox="1">
            <a:spLocks noChangeArrowheads="1"/>
          </p:cNvSpPr>
          <p:nvPr/>
        </p:nvSpPr>
        <p:spPr bwMode="auto">
          <a:xfrm>
            <a:off x="180000" y="828000"/>
            <a:ext cx="8640000" cy="5328000"/>
          </a:xfrm>
          <a:prstGeom prst="rect">
            <a:avLst/>
          </a:prstGeom>
          <a:solidFill>
            <a:schemeClr val="tx1"/>
          </a:solidFill>
          <a:ln>
            <a:solidFill>
              <a:schemeClr val="tx1"/>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spcBef>
                <a:spcPct val="0"/>
              </a:spcBef>
              <a:spcAft>
                <a:spcPct val="0"/>
              </a:spcAft>
              <a:buClrTx/>
              <a:buSzTx/>
              <a:buFontTx/>
              <a:buNone/>
              <a:tabLst/>
              <a:defRPr/>
            </a:pPr>
            <a:r>
              <a:rPr kumimoji="0" lang="en-US" altLang="en-US" sz="1600" b="1" i="1" u="none" strike="noStrike" kern="1200" cap="none" spc="0" normalizeH="0" baseline="0" noProof="0" dirty="0">
                <a:ln>
                  <a:noFill/>
                </a:ln>
                <a:solidFill>
                  <a:srgbClr val="FFFFFF"/>
                </a:solidFill>
                <a:effectLst/>
                <a:uLnTx/>
                <a:uFillTx/>
              </a:rPr>
              <a:t>The situation: </a:t>
            </a:r>
            <a:r>
              <a:rPr kumimoji="0" lang="en-US" altLang="en-US" sz="1600" b="0" i="1" u="none" strike="noStrike" kern="1200" cap="none" spc="0" normalizeH="0" baseline="0" noProof="0" dirty="0">
                <a:ln>
                  <a:noFill/>
                </a:ln>
                <a:solidFill>
                  <a:srgbClr val="FFFFFF"/>
                </a:solidFill>
                <a:effectLst/>
                <a:uLnTx/>
                <a:uFillTx/>
              </a:rPr>
              <a:t>The regional </a:t>
            </a:r>
            <a:r>
              <a:rPr kumimoji="0" lang="en-US" altLang="en-US" sz="1600" b="0" i="1" u="sng" strike="noStrike" kern="1200" cap="none" spc="0" normalizeH="0" baseline="0" noProof="0" dirty="0">
                <a:ln>
                  <a:noFill/>
                </a:ln>
                <a:solidFill>
                  <a:srgbClr val="FFFFFF"/>
                </a:solidFill>
                <a:effectLst/>
                <a:uLnTx/>
                <a:uFillTx/>
              </a:rPr>
              <a:t>Investigations and Enforcement Branch</a:t>
            </a:r>
            <a:r>
              <a:rPr kumimoji="0" lang="en-US" altLang="en-US" sz="1600" b="0" i="1" u="none" strike="noStrike" kern="1200" cap="none" spc="0" normalizeH="0" baseline="0" noProof="0" dirty="0">
                <a:ln>
                  <a:noFill/>
                </a:ln>
                <a:solidFill>
                  <a:srgbClr val="FFFFFF"/>
                </a:solidFill>
                <a:effectLst/>
                <a:uLnTx/>
                <a:uFillTx/>
              </a:rPr>
              <a:t> </a:t>
            </a:r>
            <a:r>
              <a:rPr kumimoji="0" lang="en-US" altLang="en-US" sz="1600" b="0" i="1" u="none" strike="noStrike" kern="1200" cap="none" spc="0" normalizeH="0" baseline="0" noProof="0" dirty="0" smtClean="0">
                <a:ln>
                  <a:noFill/>
                </a:ln>
                <a:solidFill>
                  <a:srgbClr val="FFFFFF"/>
                </a:solidFill>
                <a:effectLst/>
                <a:uLnTx/>
                <a:uFillTx/>
              </a:rPr>
              <a:t/>
            </a:r>
            <a:br>
              <a:rPr kumimoji="0" lang="en-US" altLang="en-US" sz="1600" b="0" i="1" u="none" strike="noStrike" kern="1200" cap="none" spc="0" normalizeH="0" baseline="0" noProof="0" dirty="0" smtClean="0">
                <a:ln>
                  <a:noFill/>
                </a:ln>
                <a:solidFill>
                  <a:srgbClr val="FFFFFF"/>
                </a:solidFill>
                <a:effectLst/>
                <a:uLnTx/>
                <a:uFillTx/>
              </a:rPr>
            </a:br>
            <a:r>
              <a:rPr kumimoji="0" lang="en-US" altLang="en-US" sz="1600" b="0" i="1" u="none" strike="noStrike" kern="1200" cap="none" spc="0" normalizeH="0" baseline="0" noProof="0" dirty="0" smtClean="0">
                <a:ln>
                  <a:noFill/>
                </a:ln>
                <a:solidFill>
                  <a:srgbClr val="FFFFFF"/>
                </a:solidFill>
                <a:effectLst/>
                <a:uLnTx/>
                <a:uFillTx/>
              </a:rPr>
              <a:t>of </a:t>
            </a:r>
            <a:r>
              <a:rPr kumimoji="0" lang="en-US" altLang="en-US" sz="1600" b="0" i="1" u="none" strike="noStrike" kern="1200" cap="none" spc="0" normalizeH="0" baseline="0" noProof="0" dirty="0">
                <a:ln>
                  <a:noFill/>
                </a:ln>
                <a:solidFill>
                  <a:srgbClr val="FFFFFF"/>
                </a:solidFill>
                <a:effectLst/>
                <a:uLnTx/>
                <a:uFillTx/>
              </a:rPr>
              <a:t>the provincial </a:t>
            </a:r>
            <a:r>
              <a:rPr kumimoji="0" lang="en-US" altLang="en-US" sz="1600" b="0" i="1" u="sng" strike="noStrike" kern="1200" cap="none" spc="0" normalizeH="0" baseline="0" noProof="0" dirty="0">
                <a:ln>
                  <a:noFill/>
                </a:ln>
                <a:solidFill>
                  <a:srgbClr val="FFFFFF"/>
                </a:solidFill>
                <a:effectLst/>
                <a:uLnTx/>
                <a:uFillTx/>
              </a:rPr>
              <a:t>Ministry of the </a:t>
            </a:r>
            <a:r>
              <a:rPr kumimoji="0" lang="en-US" altLang="en-US" sz="1600" b="0" i="1" u="sng" strike="noStrike" kern="1200" cap="none" spc="0" normalizeH="0" baseline="0" noProof="0" dirty="0" smtClean="0">
                <a:ln>
                  <a:noFill/>
                </a:ln>
                <a:solidFill>
                  <a:srgbClr val="FFFFFF"/>
                </a:solidFill>
                <a:effectLst/>
                <a:uLnTx/>
                <a:uFillTx/>
              </a:rPr>
              <a:t>Environment</a:t>
            </a:r>
            <a:r>
              <a:rPr kumimoji="0" lang="en-US" altLang="en-US" sz="1600" b="0" i="1" u="none" strike="noStrike" kern="1200" cap="none" spc="0" normalizeH="0" baseline="0" noProof="0" dirty="0" smtClean="0">
                <a:ln>
                  <a:noFill/>
                </a:ln>
                <a:solidFill>
                  <a:srgbClr val="FFFFFF"/>
                </a:solidFill>
                <a:effectLst/>
                <a:uLnTx/>
                <a:uFillTx/>
              </a:rPr>
              <a:t> </a:t>
            </a:r>
            <a:r>
              <a:rPr kumimoji="0" lang="en-US" altLang="en-US" sz="1600" b="0" i="1" u="none" strike="noStrike" kern="1200" cap="none" spc="0" normalizeH="0" baseline="0" noProof="0" dirty="0">
                <a:ln>
                  <a:noFill/>
                </a:ln>
                <a:solidFill>
                  <a:srgbClr val="FFFFFF"/>
                </a:solidFill>
                <a:effectLst/>
                <a:uLnTx/>
                <a:uFillTx/>
              </a:rPr>
              <a:t>calls on your plant with </a:t>
            </a:r>
            <a:r>
              <a:rPr kumimoji="0" lang="en-US" altLang="en-US" sz="1600" b="0" i="1" u="none" strike="noStrike" kern="1200" cap="none" spc="0" normalizeH="0" baseline="0" noProof="0" dirty="0" smtClean="0">
                <a:ln>
                  <a:noFill/>
                </a:ln>
                <a:solidFill>
                  <a:srgbClr val="FFFFFF"/>
                </a:solidFill>
                <a:effectLst/>
                <a:uLnTx/>
                <a:uFillTx/>
              </a:rPr>
              <a:t>a </a:t>
            </a:r>
            <a:br>
              <a:rPr kumimoji="0" lang="en-US" altLang="en-US" sz="1600" b="0" i="1" u="none" strike="noStrike" kern="1200" cap="none" spc="0" normalizeH="0" baseline="0" noProof="0" dirty="0" smtClean="0">
                <a:ln>
                  <a:noFill/>
                </a:ln>
                <a:solidFill>
                  <a:srgbClr val="FFFFFF"/>
                </a:solidFill>
                <a:effectLst/>
                <a:uLnTx/>
                <a:uFillTx/>
              </a:rPr>
            </a:br>
            <a:r>
              <a:rPr kumimoji="0" lang="en-US" altLang="en-US" sz="1600" b="0" i="1" u="none" strike="noStrike" kern="1200" cap="none" spc="0" normalizeH="0" baseline="0" noProof="0" dirty="0" smtClean="0">
                <a:ln>
                  <a:noFill/>
                </a:ln>
                <a:solidFill>
                  <a:srgbClr val="FFFFFF"/>
                </a:solidFill>
                <a:effectLst/>
                <a:uLnTx/>
                <a:uFillTx/>
              </a:rPr>
              <a:t>search </a:t>
            </a:r>
            <a:r>
              <a:rPr kumimoji="0" lang="en-US" altLang="en-US" sz="1600" b="0" i="1" u="none" strike="noStrike" kern="1200" cap="none" spc="0" normalizeH="0" baseline="0" noProof="0" dirty="0">
                <a:ln>
                  <a:noFill/>
                </a:ln>
                <a:solidFill>
                  <a:srgbClr val="FFFFFF"/>
                </a:solidFill>
                <a:effectLst/>
                <a:uLnTx/>
                <a:uFillTx/>
              </a:rPr>
              <a:t>warrant. You and your supervisor are tasked with aiding </a:t>
            </a:r>
            <a:r>
              <a:rPr kumimoji="0" lang="en-US" altLang="en-US" sz="1600" b="0" i="1" u="none" strike="noStrike" kern="1200" cap="none" spc="0" normalizeH="0" baseline="0" noProof="0" dirty="0" smtClean="0">
                <a:ln>
                  <a:noFill/>
                </a:ln>
                <a:solidFill>
                  <a:srgbClr val="FFFFFF"/>
                </a:solidFill>
                <a:effectLst/>
                <a:uLnTx/>
                <a:uFillTx/>
              </a:rPr>
              <a:t/>
            </a:r>
            <a:br>
              <a:rPr kumimoji="0" lang="en-US" altLang="en-US" sz="1600" b="0" i="1" u="none" strike="noStrike" kern="1200" cap="none" spc="0" normalizeH="0" baseline="0" noProof="0" dirty="0" smtClean="0">
                <a:ln>
                  <a:noFill/>
                </a:ln>
                <a:solidFill>
                  <a:srgbClr val="FFFFFF"/>
                </a:solidFill>
                <a:effectLst/>
                <a:uLnTx/>
                <a:uFillTx/>
              </a:rPr>
            </a:br>
            <a:r>
              <a:rPr kumimoji="0" lang="en-US" altLang="en-US" sz="1600" b="0" i="1" u="none" strike="noStrike" kern="1200" cap="none" spc="0" normalizeH="0" baseline="0" noProof="0" dirty="0" smtClean="0">
                <a:ln>
                  <a:noFill/>
                </a:ln>
                <a:solidFill>
                  <a:srgbClr val="FFFFFF"/>
                </a:solidFill>
                <a:effectLst/>
                <a:uLnTx/>
                <a:uFillTx/>
              </a:rPr>
              <a:t>the </a:t>
            </a:r>
            <a:r>
              <a:rPr kumimoji="0" lang="en-US" altLang="en-US" sz="1600" b="0" i="1" u="none" strike="noStrike" kern="1200" cap="none" spc="0" normalizeH="0" baseline="0" noProof="0" dirty="0">
                <a:ln>
                  <a:noFill/>
                </a:ln>
                <a:solidFill>
                  <a:srgbClr val="FFFFFF"/>
                </a:solidFill>
                <a:effectLst/>
                <a:uLnTx/>
                <a:uFillTx/>
              </a:rPr>
              <a:t>search. </a:t>
            </a:r>
          </a:p>
          <a:p>
            <a:pPr marL="0" marR="0" lvl="0" indent="0" algn="l" defTabSz="914400" rtl="0" eaLnBrk="0" fontAlgn="base" latinLnBrk="0" hangingPunct="0">
              <a:spcBef>
                <a:spcPct val="0"/>
              </a:spcBef>
              <a:spcAft>
                <a:spcPct val="0"/>
              </a:spcAft>
              <a:buClrTx/>
              <a:buSzTx/>
              <a:buFontTx/>
              <a:buNone/>
              <a:tabLst/>
              <a:defRPr/>
            </a:pPr>
            <a:endParaRPr kumimoji="0" lang="en-US" altLang="en-US" sz="1600" b="1" i="1" u="none" strike="noStrike" kern="1200" cap="none" spc="0" normalizeH="0" baseline="0" noProof="0" dirty="0" smtClean="0">
              <a:ln>
                <a:noFill/>
              </a:ln>
              <a:solidFill>
                <a:srgbClr val="FFFFFF"/>
              </a:solidFill>
              <a:effectLst/>
              <a:uLnTx/>
              <a:uFillTx/>
            </a:endParaRPr>
          </a:p>
          <a:p>
            <a:pPr marL="0" marR="0" lvl="0" indent="0" algn="l" defTabSz="914400" rtl="0" eaLnBrk="0" fontAlgn="base" latinLnBrk="0" hangingPunct="0">
              <a:spcBef>
                <a:spcPct val="0"/>
              </a:spcBef>
              <a:spcAft>
                <a:spcPct val="0"/>
              </a:spcAft>
              <a:buClrTx/>
              <a:buSzTx/>
              <a:buFontTx/>
              <a:buNone/>
              <a:tabLst/>
              <a:defRPr/>
            </a:pPr>
            <a:r>
              <a:rPr kumimoji="0" lang="en-US" altLang="en-US" sz="1600" b="1" i="1" u="none" strike="noStrike" kern="1200" cap="none" spc="0" normalizeH="0" baseline="0" noProof="0" dirty="0" smtClean="0">
                <a:ln>
                  <a:noFill/>
                </a:ln>
                <a:solidFill>
                  <a:srgbClr val="FFFFFF"/>
                </a:solidFill>
                <a:effectLst/>
                <a:uLnTx/>
                <a:uFillTx/>
              </a:rPr>
              <a:t>The </a:t>
            </a:r>
            <a:r>
              <a:rPr kumimoji="0" lang="en-US" altLang="en-US" sz="1600" b="1" i="1" u="none" strike="noStrike" kern="1200" cap="none" spc="0" normalizeH="0" baseline="0" noProof="0" dirty="0">
                <a:ln>
                  <a:noFill/>
                </a:ln>
                <a:solidFill>
                  <a:srgbClr val="FFFFFF"/>
                </a:solidFill>
                <a:effectLst/>
                <a:uLnTx/>
                <a:uFillTx/>
              </a:rPr>
              <a:t>issue: </a:t>
            </a:r>
            <a:r>
              <a:rPr kumimoji="0" lang="en-US" altLang="en-US" sz="1600" b="0" i="1" u="none" strike="noStrike" kern="1200" cap="none" spc="0" normalizeH="0" baseline="0" noProof="0" dirty="0">
                <a:ln>
                  <a:noFill/>
                </a:ln>
                <a:solidFill>
                  <a:srgbClr val="FFFFFF"/>
                </a:solidFill>
                <a:effectLst/>
                <a:uLnTx/>
                <a:uFillTx/>
              </a:rPr>
              <a:t>You find a “compromising document</a:t>
            </a:r>
            <a:r>
              <a:rPr kumimoji="0" lang="en-US" altLang="en-US" sz="1600" b="0" i="1" u="none" strike="noStrike" kern="1200" cap="none" spc="0" normalizeH="0" baseline="0" noProof="0" dirty="0" smtClean="0">
                <a:ln>
                  <a:noFill/>
                </a:ln>
                <a:solidFill>
                  <a:srgbClr val="FFFFFF"/>
                </a:solidFill>
                <a:effectLst/>
                <a:uLnTx/>
                <a:uFillTx/>
              </a:rPr>
              <a:t>” in a filing cabinet, and both of you </a:t>
            </a:r>
            <a:r>
              <a:rPr kumimoji="0" lang="en-US" altLang="en-US" sz="1600" b="0" i="1" u="none" strike="noStrike" kern="1200" cap="none" spc="0" normalizeH="0" baseline="0" noProof="0" dirty="0">
                <a:ln>
                  <a:noFill/>
                </a:ln>
                <a:solidFill>
                  <a:srgbClr val="FFFFFF"/>
                </a:solidFill>
                <a:effectLst/>
                <a:uLnTx/>
                <a:uFillTx/>
              </a:rPr>
              <a:t>realize it can be harmful to the company. </a:t>
            </a:r>
          </a:p>
          <a:p>
            <a:pPr marL="0" marR="0" lvl="0" indent="0" algn="l" defTabSz="914400" rtl="0" eaLnBrk="0" fontAlgn="base" latinLnBrk="0" hangingPunct="0">
              <a:spcBef>
                <a:spcPct val="0"/>
              </a:spcBef>
              <a:spcAft>
                <a:spcPct val="0"/>
              </a:spcAft>
              <a:buClrTx/>
              <a:buSzTx/>
              <a:buFontTx/>
              <a:buNone/>
              <a:tabLst/>
              <a:defRPr/>
            </a:pPr>
            <a:endParaRPr kumimoji="0" lang="en-US" altLang="en-US" sz="1600" b="1" i="1" u="none" strike="noStrike" kern="1200" cap="none" spc="0" normalizeH="0" baseline="0" noProof="0" dirty="0">
              <a:ln>
                <a:noFill/>
              </a:ln>
              <a:solidFill>
                <a:srgbClr val="FFFFFF"/>
              </a:solidFill>
              <a:effectLst/>
              <a:uLnTx/>
              <a:uFillTx/>
            </a:endParaRPr>
          </a:p>
          <a:p>
            <a:pPr lvl="0" eaLnBrk="0" hangingPunct="0">
              <a:defRPr/>
            </a:pPr>
            <a:r>
              <a:rPr kumimoji="0" lang="en-US" altLang="en-US" sz="1600" b="1" i="1" u="none" strike="noStrike" kern="1200" cap="none" spc="0" normalizeH="0" baseline="0" noProof="0" dirty="0">
                <a:ln>
                  <a:noFill/>
                </a:ln>
                <a:solidFill>
                  <a:srgbClr val="FFFFFF"/>
                </a:solidFill>
                <a:effectLst/>
                <a:uLnTx/>
                <a:uFillTx/>
              </a:rPr>
              <a:t>Possible </a:t>
            </a:r>
            <a:r>
              <a:rPr lang="en-US" altLang="en-US" sz="1600" dirty="0" smtClean="0"/>
              <a:t>decisions (state at least two, no more than three, and identify as ethical or unethical):</a:t>
            </a:r>
            <a:r>
              <a:rPr lang="en-US" altLang="en-US" sz="1600" b="0" dirty="0" smtClean="0"/>
              <a:t> </a:t>
            </a:r>
          </a:p>
          <a:p>
            <a:pPr marL="285750" lvl="0" indent="-285750" eaLnBrk="0" hangingPunct="0">
              <a:buFont typeface="Wingdings" panose="05000000000000000000" pitchFamily="2" charset="2"/>
              <a:buChar char="Ø"/>
              <a:defRPr/>
            </a:pPr>
            <a:r>
              <a:rPr lang="en-US" altLang="en-US" sz="1600" b="0" dirty="0"/>
              <a:t>Destroy the document. </a:t>
            </a:r>
            <a:r>
              <a:rPr lang="en-US" altLang="en-US" sz="1600" b="0" dirty="0" smtClean="0"/>
              <a:t>Unethical.</a:t>
            </a:r>
            <a:endParaRPr lang="en-US" altLang="en-US" sz="1600" b="0" dirty="0"/>
          </a:p>
          <a:p>
            <a:pPr marL="285750" lvl="0" indent="-285750" eaLnBrk="0" hangingPunct="0">
              <a:buFont typeface="Wingdings" panose="05000000000000000000" pitchFamily="2" charset="2"/>
              <a:buChar char="Ø"/>
              <a:defRPr/>
            </a:pPr>
            <a:r>
              <a:rPr lang="en-US" altLang="en-US" sz="1600" b="0" dirty="0"/>
              <a:t>Replace the document for their discovery. Ethical.</a:t>
            </a:r>
          </a:p>
          <a:p>
            <a:pPr marL="285750" lvl="0" indent="-285750" eaLnBrk="0" hangingPunct="0">
              <a:buFont typeface="Wingdings" panose="05000000000000000000" pitchFamily="2" charset="2"/>
              <a:buChar char="Ø"/>
              <a:defRPr/>
            </a:pPr>
            <a:r>
              <a:rPr lang="en-US" altLang="en-US" sz="1600" b="0" dirty="0"/>
              <a:t>Give the document to the investigators. Can be either ethical or unethical – depends on how the employer views this action. </a:t>
            </a:r>
          </a:p>
          <a:p>
            <a:pPr marL="0" marR="0" lvl="0" indent="0" algn="l" defTabSz="914400" rtl="0" eaLnBrk="0" fontAlgn="base" latinLnBrk="0" hangingPunct="0">
              <a:spcBef>
                <a:spcPct val="0"/>
              </a:spcBef>
              <a:spcAft>
                <a:spcPct val="0"/>
              </a:spcAft>
              <a:buClrTx/>
              <a:buSzTx/>
              <a:buFontTx/>
              <a:buNone/>
              <a:tabLst/>
              <a:defRPr/>
            </a:pPr>
            <a:endParaRPr kumimoji="0" lang="en-US" altLang="en-US" sz="1600" b="1" i="1" u="none" strike="noStrike" kern="1200" cap="none" spc="0" normalizeH="0" baseline="0" noProof="0" dirty="0" smtClean="0">
              <a:ln>
                <a:noFill/>
              </a:ln>
              <a:solidFill>
                <a:srgbClr val="FFFFFF"/>
              </a:solidFill>
              <a:effectLst/>
              <a:uLnTx/>
              <a:uFillTx/>
            </a:endParaRPr>
          </a:p>
          <a:p>
            <a:pPr marL="0" marR="0" lvl="0" indent="0" algn="l" defTabSz="914400" rtl="0" eaLnBrk="0" fontAlgn="base" latinLnBrk="0" hangingPunct="0">
              <a:spcBef>
                <a:spcPct val="0"/>
              </a:spcBef>
              <a:spcAft>
                <a:spcPct val="0"/>
              </a:spcAft>
              <a:buClrTx/>
              <a:buSzTx/>
              <a:buFontTx/>
              <a:buNone/>
              <a:tabLst/>
              <a:defRPr/>
            </a:pPr>
            <a:r>
              <a:rPr kumimoji="0" lang="en-US" altLang="en-US" sz="1600" b="1" i="1" u="none" strike="noStrike" kern="1200" cap="none" spc="0" normalizeH="0" baseline="0" noProof="0" dirty="0" smtClean="0">
                <a:ln>
                  <a:noFill/>
                </a:ln>
                <a:solidFill>
                  <a:srgbClr val="FFFFFF"/>
                </a:solidFill>
                <a:effectLst/>
                <a:uLnTx/>
                <a:uFillTx/>
              </a:rPr>
              <a:t>Your Decision:</a:t>
            </a:r>
          </a:p>
          <a:p>
            <a:pPr marL="285750" indent="-285750" eaLnBrk="0" hangingPunct="0">
              <a:buFont typeface="Wingdings" panose="05000000000000000000" pitchFamily="2" charset="2"/>
              <a:buChar char="Ø"/>
              <a:defRPr/>
            </a:pPr>
            <a:r>
              <a:rPr lang="en-US" altLang="en-US" sz="1600" b="0" dirty="0"/>
              <a:t>Replace the document for their discovery</a:t>
            </a:r>
            <a:r>
              <a:rPr lang="en-US" altLang="en-US" sz="1600" b="0" dirty="0" smtClean="0"/>
              <a:t>.</a:t>
            </a:r>
          </a:p>
          <a:p>
            <a:pPr eaLnBrk="0" hangingPunct="0">
              <a:defRPr/>
            </a:pPr>
            <a:endParaRPr lang="en-US" altLang="en-US" sz="1600" dirty="0" smtClean="0"/>
          </a:p>
          <a:p>
            <a:pPr eaLnBrk="0" hangingPunct="0">
              <a:defRPr/>
            </a:pPr>
            <a:r>
              <a:rPr lang="en-US" altLang="en-US" sz="1600" dirty="0" smtClean="0"/>
              <a:t>Outcome (state an outcome and two discrete ethics that were applied):</a:t>
            </a:r>
            <a:endParaRPr lang="en-US" altLang="en-US" sz="1600" dirty="0"/>
          </a:p>
          <a:p>
            <a:pPr marL="285750" indent="-285750" eaLnBrk="0" hangingPunct="0">
              <a:buFont typeface="Wingdings" panose="05000000000000000000" pitchFamily="2" charset="2"/>
              <a:buChar char="Ø"/>
              <a:defRPr/>
            </a:pPr>
            <a:r>
              <a:rPr lang="en-CA" altLang="en-US" sz="1600" b="0" dirty="0" smtClean="0"/>
              <a:t>The company and the employees did not collude in any attempt to hide or destroy the document. The employees complied </a:t>
            </a:r>
            <a:r>
              <a:rPr lang="en-CA" altLang="en-US" sz="1600" b="0" dirty="0"/>
              <a:t>with the law</a:t>
            </a:r>
            <a:r>
              <a:rPr lang="en-CA" altLang="en-US" sz="1600" b="0" dirty="0" smtClean="0"/>
              <a:t> and upheld professional ethics. </a:t>
            </a:r>
            <a:endParaRPr lang="en-CA" altLang="en-US" sz="1600" b="0" dirty="0"/>
          </a:p>
        </p:txBody>
      </p:sp>
      <p:sp>
        <p:nvSpPr>
          <p:cNvPr id="9"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smtClean="0">
                <a:solidFill>
                  <a:schemeClr val="bg1"/>
                </a:solidFill>
                <a:latin typeface="Arial" panose="020B0604020202020204" pitchFamily="34" charset="0"/>
                <a:cs typeface="Arial" panose="020B0604020202020204" pitchFamily="34" charset="0"/>
              </a:rPr>
              <a:t>Example: Apply Integrity </a:t>
            </a:r>
            <a:r>
              <a:rPr lang="en-US" altLang="en-US" sz="2400" b="0" dirty="0">
                <a:solidFill>
                  <a:schemeClr val="bg1"/>
                </a:solidFill>
                <a:latin typeface="Arial" panose="020B0604020202020204" pitchFamily="34" charset="0"/>
                <a:cs typeface="Arial" panose="020B0604020202020204" pitchFamily="34" charset="0"/>
              </a:rPr>
              <a:t>and Ethical Behaviour: </a:t>
            </a:r>
          </a:p>
        </p:txBody>
      </p:sp>
    </p:spTree>
    <p:extLst>
      <p:ext uri="{BB962C8B-B14F-4D97-AF65-F5344CB8AC3E}">
        <p14:creationId xmlns:p14="http://schemas.microsoft.com/office/powerpoint/2010/main" val="2833678908"/>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predicament: how will you manage apparent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contradictions and ambiguities in your new workplace?</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situation: you are a new graduate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predicament: </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Actions of the organization seem to contradict the values of the organization, or </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 values seem to contradict your sound set of risk management principles and values.</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CA" altLang="en-US" sz="2400" b="0" dirty="0" smtClean="0">
                <a:solidFill>
                  <a:srgbClr val="333399"/>
                </a:solidFill>
                <a:latin typeface="Arial" panose="020B0604020202020204" pitchFamily="34" charset="0"/>
                <a:cs typeface="Arial" panose="020B0604020202020204" pitchFamily="34" charset="0"/>
              </a:rPr>
              <a:t>Predicament: Manage Apparent Contradictions &amp; Ambiguities?</a:t>
            </a:r>
            <a:endParaRPr lang="en-CA"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Text Box 7"/>
          <p:cNvSpPr txBox="1">
            <a:spLocks noChangeArrowheads="1"/>
          </p:cNvSpPr>
          <p:nvPr/>
        </p:nvSpPr>
        <p:spPr bwMode="auto">
          <a:xfrm>
            <a:off x="180000" y="4608000"/>
            <a:ext cx="8640000" cy="1584000"/>
          </a:xfrm>
          <a:prstGeom prst="rect">
            <a:avLst/>
          </a:prstGeom>
          <a:solidFill>
            <a:srgbClr val="000000"/>
          </a:solidFill>
          <a:ln>
            <a:solidFill>
              <a:srgbClr val="000000"/>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Please think about your predicament. </a:t>
            </a:r>
            <a:endPar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What are three possible decisions you could make?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What do you need to consider in making a decision as to what to do?</a:t>
            </a:r>
            <a: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endPar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08849535"/>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 you do? </a:t>
            </a: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possible choices:</a:t>
            </a:r>
          </a:p>
          <a:p>
            <a:pPr marL="457200" lvl="0" indent="-457200" eaLnBrk="0" hangingPunct="0">
              <a:lnSpc>
                <a:spcPct val="100000"/>
              </a:lnSpc>
              <a:spcBef>
                <a:spcPts val="0"/>
              </a:spcBef>
              <a:buClr>
                <a:srgbClr val="000000"/>
              </a:buClr>
              <a:buSzPct val="100000"/>
              <a:buFont typeface="+mj-lt"/>
              <a:buAutoNum type="alphaL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Degrade your values?</a:t>
            </a:r>
          </a:p>
          <a:p>
            <a:pPr marL="457200" lvl="0" indent="-457200" eaLnBrk="0" hangingPunct="0">
              <a:lnSpc>
                <a:spcPct val="100000"/>
              </a:lnSpc>
              <a:spcBef>
                <a:spcPts val="0"/>
              </a:spcBef>
              <a:buClr>
                <a:srgbClr val="000000"/>
              </a:buClr>
              <a:buSzPct val="100000"/>
              <a:buFont typeface="+mj-lt"/>
              <a:buAutoNum type="alphaL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Leave the organization?</a:t>
            </a:r>
          </a:p>
          <a:p>
            <a:pPr marL="457200" lvl="0" indent="-457200" eaLnBrk="0" hangingPunct="0">
              <a:lnSpc>
                <a:spcPct val="100000"/>
              </a:lnSpc>
              <a:spcBef>
                <a:spcPts val="0"/>
              </a:spcBef>
              <a:buClr>
                <a:srgbClr val="000000"/>
              </a:buClr>
              <a:buSzPct val="100000"/>
              <a:buFont typeface="+mj-lt"/>
              <a:buAutoNum type="alphaL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Undertake initiative?</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 implore you …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 not degrade your values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If and when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degrade or compromise your values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you may allow such things as condoning unacceptable behaviours, or you may be motivated to meet objectives that could put PEAP at risk;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this could result in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significant loss incident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CA" altLang="en-US" sz="2400" b="0" dirty="0" smtClean="0">
                <a:solidFill>
                  <a:srgbClr val="333399"/>
                </a:solidFill>
                <a:latin typeface="Arial" panose="020B0604020202020204" pitchFamily="34" charset="0"/>
                <a:cs typeface="Arial" panose="020B0604020202020204" pitchFamily="34" charset="0"/>
              </a:rPr>
              <a:t>Predicament</a:t>
            </a:r>
            <a:r>
              <a:rPr lang="fr-FR" altLang="en-US" sz="2400" b="0" dirty="0" smtClean="0">
                <a:solidFill>
                  <a:srgbClr val="333399"/>
                </a:solidFill>
                <a:latin typeface="Arial" panose="020B0604020202020204" pitchFamily="34" charset="0"/>
                <a:cs typeface="Arial" panose="020B0604020202020204" pitchFamily="34" charset="0"/>
              </a:rPr>
              <a:t>: </a:t>
            </a:r>
            <a:r>
              <a:rPr lang="fr-FR" altLang="en-US" sz="2400" b="0" dirty="0">
                <a:solidFill>
                  <a:srgbClr val="333399"/>
                </a:solidFill>
                <a:latin typeface="Arial" panose="020B0604020202020204" pitchFamily="34" charset="0"/>
                <a:cs typeface="Arial" panose="020B0604020202020204" pitchFamily="34" charset="0"/>
              </a:rPr>
              <a:t>Manage Apparent Contradictions &amp; </a:t>
            </a:r>
            <a:r>
              <a:rPr lang="en-CA" altLang="en-US" sz="2400" b="0" dirty="0" smtClean="0">
                <a:solidFill>
                  <a:srgbClr val="333399"/>
                </a:solidFill>
                <a:latin typeface="Arial" panose="020B0604020202020204" pitchFamily="34" charset="0"/>
                <a:cs typeface="Arial" panose="020B0604020202020204" pitchFamily="34" charset="0"/>
              </a:rPr>
              <a:t>Ambiguities</a:t>
            </a:r>
            <a:r>
              <a:rPr lang="fr-FR" altLang="en-US" sz="2400" b="0" dirty="0" smtClean="0">
                <a:solidFill>
                  <a:srgbClr val="333399"/>
                </a:solidFill>
                <a:latin typeface="Arial" panose="020B0604020202020204" pitchFamily="34" charset="0"/>
                <a:cs typeface="Arial" panose="020B0604020202020204" pitchFamily="34" charset="0"/>
              </a:rPr>
              <a:t>?</a:t>
            </a:r>
            <a:endParaRPr lang="fr-FR"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747652547"/>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two choices remain:</a:t>
            </a:r>
          </a:p>
          <a:p>
            <a:pPr marL="457200" lvl="0" indent="-457200" eaLnBrk="0" hangingPunct="0">
              <a:lnSpc>
                <a:spcPct val="100000"/>
              </a:lnSpc>
              <a:spcBef>
                <a:spcPts val="0"/>
              </a:spcBef>
              <a:buClrTx/>
              <a:buSzPct val="100000"/>
              <a:buFont typeface="+mj-lt"/>
              <a:buAutoNum type="alphaLcParenR"/>
            </a:pPr>
            <a:r>
              <a:rPr lang="en-US" altLang="en-US" b="0" strike="sngStrike" dirty="0">
                <a:solidFill>
                  <a:schemeClr val="bg1">
                    <a:lumMod val="50000"/>
                  </a:schemeClr>
                </a:solidFill>
                <a:latin typeface="Arial" panose="020B0604020202020204" pitchFamily="34" charset="0"/>
                <a:ea typeface="ＭＳ Ｐゴシック" panose="020B0600070205080204" pitchFamily="34" charset="-128"/>
                <a:cs typeface="Arial" panose="020B0604020202020204" pitchFamily="34" charset="0"/>
              </a:rPr>
              <a:t>Degrade your values?</a:t>
            </a:r>
          </a:p>
          <a:p>
            <a:pPr marL="457200" lvl="0" indent="-457200" eaLnBrk="0" hangingPunct="0">
              <a:lnSpc>
                <a:spcPct val="100000"/>
              </a:lnSpc>
              <a:spcBef>
                <a:spcPts val="0"/>
              </a:spcBef>
              <a:buClrTx/>
              <a:buSzPct val="100000"/>
              <a:buFont typeface="+mj-lt"/>
              <a:buAutoNum type="alphaL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Leave the organization?</a:t>
            </a:r>
          </a:p>
          <a:p>
            <a:pPr marL="457200" lvl="0" indent="-457200" eaLnBrk="0" hangingPunct="0">
              <a:lnSpc>
                <a:spcPct val="100000"/>
              </a:lnSpc>
              <a:spcBef>
                <a:spcPts val="0"/>
              </a:spcBef>
              <a:buClrTx/>
              <a:buSzPct val="100000"/>
              <a:buFont typeface="+mj-lt"/>
              <a:buAutoNum type="alphaL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Undertake initiative?</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b) and c), it ultimately depends on your position in your career,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scope of responsibility, and your level of influence.</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New graduate,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newly hired, early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your career: </a:t>
            </a:r>
          </a:p>
          <a:p>
            <a:pPr marL="72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influence your small organization, your area of responsibility, your circle of influence? Will it make a difference? Do you feel up to the challenge? If so, undertake initiative.  </a:t>
            </a:r>
          </a:p>
          <a:p>
            <a:pPr marL="72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none of these, then an acceptable decision is to leave the organization. This is neither a wrong nor less than desirable decision.</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CA" altLang="en-US" sz="2400" b="0" dirty="0" smtClean="0">
                <a:solidFill>
                  <a:srgbClr val="333399"/>
                </a:solidFill>
                <a:latin typeface="Arial" panose="020B0604020202020204" pitchFamily="34" charset="0"/>
                <a:cs typeface="Arial" panose="020B0604020202020204" pitchFamily="34" charset="0"/>
              </a:rPr>
              <a:t>Predicament</a:t>
            </a:r>
            <a:r>
              <a:rPr lang="fr-FR" altLang="en-US" sz="2400" b="0" dirty="0" smtClean="0">
                <a:solidFill>
                  <a:srgbClr val="333399"/>
                </a:solidFill>
                <a:latin typeface="Arial" panose="020B0604020202020204" pitchFamily="34" charset="0"/>
                <a:cs typeface="Arial" panose="020B0604020202020204" pitchFamily="34" charset="0"/>
              </a:rPr>
              <a:t>: </a:t>
            </a:r>
            <a:r>
              <a:rPr lang="fr-FR" altLang="en-US" sz="2400" b="0" dirty="0">
                <a:solidFill>
                  <a:srgbClr val="333399"/>
                </a:solidFill>
                <a:latin typeface="Arial" panose="020B0604020202020204" pitchFamily="34" charset="0"/>
                <a:cs typeface="Arial" panose="020B0604020202020204" pitchFamily="34" charset="0"/>
              </a:rPr>
              <a:t>Manage Apparent Contradictions &amp; </a:t>
            </a:r>
            <a:r>
              <a:rPr lang="en-CA" altLang="en-US" sz="2400" b="0" dirty="0" smtClean="0">
                <a:solidFill>
                  <a:srgbClr val="333399"/>
                </a:solidFill>
                <a:latin typeface="Arial" panose="020B0604020202020204" pitchFamily="34" charset="0"/>
                <a:cs typeface="Arial" panose="020B0604020202020204" pitchFamily="34" charset="0"/>
              </a:rPr>
              <a:t>Ambiguities</a:t>
            </a:r>
            <a:r>
              <a:rPr lang="fr-FR" altLang="en-US" sz="2400" b="0" dirty="0" smtClean="0">
                <a:solidFill>
                  <a:srgbClr val="333399"/>
                </a:solidFill>
                <a:latin typeface="Arial" panose="020B0604020202020204" pitchFamily="34" charset="0"/>
                <a:cs typeface="Arial" panose="020B0604020202020204" pitchFamily="34" charset="0"/>
              </a:rPr>
              <a:t>?</a:t>
            </a:r>
            <a:endParaRPr lang="fr-FR"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669937189"/>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two choices remain:</a:t>
            </a:r>
          </a:p>
          <a:p>
            <a:pPr marL="457200" lvl="0" indent="-457200" eaLnBrk="0" hangingPunct="0">
              <a:lnSpc>
                <a:spcPct val="100000"/>
              </a:lnSpc>
              <a:spcBef>
                <a:spcPts val="0"/>
              </a:spcBef>
              <a:buClr>
                <a:srgbClr val="000000"/>
              </a:buClr>
              <a:buSzPct val="100000"/>
              <a:buFont typeface="+mj-lt"/>
              <a:buAutoNum type="alphaLcParenR"/>
            </a:pPr>
            <a:r>
              <a:rPr lang="en-US" altLang="en-US" b="0" strike="sngStrike" dirty="0">
                <a:solidFill>
                  <a:schemeClr val="bg1">
                    <a:lumMod val="65000"/>
                  </a:schemeClr>
                </a:solidFill>
                <a:latin typeface="Arial" panose="020B0604020202020204" pitchFamily="34" charset="0"/>
                <a:ea typeface="ＭＳ Ｐゴシック" panose="020B0600070205080204" pitchFamily="34" charset="-128"/>
                <a:cs typeface="Arial" panose="020B0604020202020204" pitchFamily="34" charset="0"/>
              </a:rPr>
              <a:t>Degrade your values?</a:t>
            </a:r>
          </a:p>
          <a:p>
            <a:pPr marL="457200" lvl="0" indent="-457200" eaLnBrk="0" hangingPunct="0">
              <a:lnSpc>
                <a:spcPct val="100000"/>
              </a:lnSpc>
              <a:spcBef>
                <a:spcPts val="0"/>
              </a:spcBef>
              <a:buClr>
                <a:srgbClr val="000000"/>
              </a:buClr>
              <a:buSzPct val="100000"/>
              <a:buFont typeface="+mj-lt"/>
              <a:buAutoNum type="alphaL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Leave the organization?</a:t>
            </a:r>
          </a:p>
          <a:p>
            <a:pPr marL="457200" lvl="0" indent="-457200" eaLnBrk="0" hangingPunct="0">
              <a:lnSpc>
                <a:spcPct val="100000"/>
              </a:lnSpc>
              <a:spcBef>
                <a:spcPts val="0"/>
              </a:spcBef>
              <a:buClr>
                <a:srgbClr val="000000"/>
              </a:buClr>
              <a:buSzPct val="100000"/>
              <a:buFont typeface="+mj-lt"/>
              <a:buAutoNum type="alphaL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Undertake initiative?</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Fast-forward …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highly competent leader in risk management: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will you respond in your future role as a competent leader?</a:t>
            </a:r>
          </a:p>
          <a:p>
            <a:pPr marL="72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have the ability to influence change within your area of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responsibility. It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depends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your willingness to take on the challenge 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any other factors that may support or hinder your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success.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177200" lvl="3"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you being set up for success? </a:t>
            </a:r>
          </a:p>
          <a:p>
            <a:pPr marL="121335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If factors support, undertake initiative. </a:t>
            </a:r>
          </a:p>
          <a:p>
            <a:pPr marL="85335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you being set up for failure? </a:t>
            </a:r>
          </a:p>
          <a:p>
            <a:pPr marL="121335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If factors are barriers to success, leave the organization.</a:t>
            </a:r>
          </a:p>
          <a:p>
            <a:pPr marL="72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final decision is ultimately a personal decision, and what is the best fit for you in your career and your personal life.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CA" altLang="en-US" sz="2400" b="0" dirty="0" smtClean="0">
                <a:solidFill>
                  <a:srgbClr val="333399"/>
                </a:solidFill>
                <a:latin typeface="Arial" panose="020B0604020202020204" pitchFamily="34" charset="0"/>
                <a:cs typeface="Arial" panose="020B0604020202020204" pitchFamily="34" charset="0"/>
              </a:rPr>
              <a:t>Predicament: Manage Apparent Contradictions &amp; Ambiguities?</a:t>
            </a:r>
            <a:endParaRPr lang="en-CA"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728872234"/>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situation: </a:t>
            </a:r>
            <a:endPar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Soon after graduating … you </a:t>
            </a: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are a new </a:t>
            </a: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hire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Fast-forward … </a:t>
            </a: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you are a </a:t>
            </a: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highly competent </a:t>
            </a: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leader</a:t>
            </a:r>
          </a:p>
          <a:p>
            <a:pPr marL="720000" lvl="0" indent="-360000" eaLnBrk="0" hangingPunct="0">
              <a:lnSpc>
                <a:spcPct val="90000"/>
              </a:lnSpc>
              <a:spcBef>
                <a:spcPts val="0"/>
              </a:spcBef>
              <a:buClrTx/>
              <a:buSzPct val="100000"/>
              <a:buFont typeface="Wingdings" panose="05000000000000000000" pitchFamily="2" charset="2"/>
              <a:buChar char="Ø"/>
            </a:pPr>
            <a:endPar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Your predicament: </a:t>
            </a:r>
          </a:p>
          <a:p>
            <a:pPr marL="720000" indent="-360000" eaLnBrk="0" hangingPunct="0">
              <a:lnSpc>
                <a:spcPct val="9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Actions of the organization seem to contradict the values of the organization, or </a:t>
            </a:r>
          </a:p>
          <a:p>
            <a:pPr marL="720000" indent="-360000" eaLnBrk="0" hangingPunct="0">
              <a:lnSpc>
                <a:spcPct val="9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Organizational values seem to contradict your sound set of risk management principles and values.</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You need to make a decision:</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Leave the organization?</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Undertake initiative?</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What factors do you need to consider in making your decision?</a:t>
            </a:r>
            <a:endPar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Both personal factors and professional factors such as:</a:t>
            </a:r>
            <a:b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Pay; personal life-style (work-life balance); support within the organization (peers, supervisor, person you replace); motivation; confidence of others and in yourself</a:t>
            </a: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 career advancement, etc.</a:t>
            </a:r>
            <a:endPar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CA" altLang="en-US" b="0" dirty="0" smtClean="0">
                <a:solidFill>
                  <a:schemeClr val="bg1"/>
                </a:solidFill>
                <a:latin typeface="Arial" panose="020B0604020202020204" pitchFamily="34" charset="0"/>
                <a:cs typeface="Arial" panose="020B0604020202020204" pitchFamily="34" charset="0"/>
              </a:rPr>
              <a:t>Example Predicament: Manage Apparent Contradictions &amp; Ambiguities</a:t>
            </a:r>
            <a:endParaRPr lang="en-CA" altLang="en-US" b="0" dirty="0">
              <a:solidFill>
                <a:schemeClr val="bg1"/>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99663707"/>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#5: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Dilemma: Work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 your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Organization or Whistle-blow?</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Text Box 7"/>
          <p:cNvSpPr txBox="1">
            <a:spLocks noChangeArrowheads="1"/>
          </p:cNvSpPr>
          <p:nvPr/>
        </p:nvSpPr>
        <p:spPr bwMode="auto">
          <a:xfrm>
            <a:off x="180000" y="828000"/>
            <a:ext cx="8640000" cy="5328000"/>
          </a:xfrm>
          <a:prstGeom prst="rect">
            <a:avLst/>
          </a:prstGeom>
          <a:solidFill>
            <a:srgbClr val="0000CC"/>
          </a:solidFill>
          <a:ln>
            <a:solidFill>
              <a:srgbClr val="0000FF"/>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00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Case Study - The Dilemma</a:t>
            </a:r>
            <a:r>
              <a:rPr kumimoji="0" lang="en-CA" altLang="en-US" sz="200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endParaRPr kumimoji="0" lang="en-CA" altLang="en-US" sz="200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000" b="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You </a:t>
            </a:r>
            <a:r>
              <a:rPr kumimoji="0" lang="en-CA" altLang="en-US" sz="2000" b="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are on a project, and you observe that due to time constraints for the project, an intermediate engineer is allowed to provide road design drawings to the contractor without senior review and approval.</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altLang="en-US" sz="2000" b="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This action </a:t>
            </a:r>
            <a:r>
              <a:rPr kumimoji="0" lang="en-CA" altLang="en-US" sz="2000" b="0"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appears</a:t>
            </a:r>
            <a:r>
              <a:rPr kumimoji="0" lang="en-CA" altLang="en-US" sz="2000" b="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in </a:t>
            </a:r>
            <a:r>
              <a:rPr kumimoji="0" lang="en-CA" altLang="en-US" sz="2000" b="0"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clear conflict</a:t>
            </a:r>
            <a:r>
              <a:rPr kumimoji="0" lang="en-CA" altLang="en-US" sz="2000" b="0"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with professional </a:t>
            </a:r>
            <a:r>
              <a:rPr kumimoji="0" lang="en-CA" altLang="en-US" sz="2000" b="0"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requirements and </a:t>
            </a:r>
            <a:r>
              <a:rPr kumimoji="0" lang="en-CA" altLang="en-US" sz="2000" b="0"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legal requirements. </a:t>
            </a:r>
          </a:p>
          <a:p>
            <a:pPr marR="0" lvl="0" algn="l" defTabSz="914400" rtl="0" eaLnBrk="0" fontAlgn="base" latinLnBrk="0" hangingPunct="0">
              <a:lnSpc>
                <a:spcPct val="100000"/>
              </a:lnSpc>
              <a:spcBef>
                <a:spcPct val="0"/>
              </a:spcBef>
              <a:spcAft>
                <a:spcPct val="0"/>
              </a:spcAft>
              <a:buClrTx/>
              <a:buSzTx/>
              <a:tabLst/>
              <a:defRPr/>
            </a:pPr>
            <a:endParaRPr kumimoji="0" lang="en-CA" altLang="en-US" sz="2000" b="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defRPr/>
            </a:pPr>
            <a:r>
              <a:rPr kumimoji="0" lang="en-CA" altLang="en-US" sz="200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What </a:t>
            </a:r>
            <a:r>
              <a:rPr kumimoji="0" lang="en-CA" altLang="en-US" sz="200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do you </a:t>
            </a:r>
            <a:r>
              <a:rPr kumimoji="0" lang="en-CA" altLang="en-US" sz="200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do? </a:t>
            </a:r>
          </a:p>
          <a:p>
            <a:pPr marR="0" lvl="0" algn="l" defTabSz="914400" rtl="0" eaLnBrk="0" fontAlgn="base" latinLnBrk="0" hangingPunct="0">
              <a:lnSpc>
                <a:spcPct val="100000"/>
              </a:lnSpc>
              <a:spcBef>
                <a:spcPct val="0"/>
              </a:spcBef>
              <a:spcAft>
                <a:spcPct val="0"/>
              </a:spcAft>
              <a:buClrTx/>
              <a:buSzTx/>
              <a:tabLst/>
              <a:defRPr/>
            </a:pPr>
            <a:r>
              <a:rPr kumimoji="0" lang="en-US" altLang="en-US" sz="2000" b="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Please confer (pen-to-paper,</a:t>
            </a:r>
            <a:r>
              <a:rPr kumimoji="0" lang="en-US" altLang="en-US" sz="2000" b="0" u="none" strike="noStrike" kern="1200" cap="none" spc="0" normalizeH="0" noProof="0" dirty="0" smtClean="0">
                <a:ln>
                  <a:noFill/>
                </a:ln>
                <a:solidFill>
                  <a:srgbClr val="FFFFFF"/>
                </a:solidFill>
                <a:effectLst/>
                <a:uLnTx/>
                <a:uFillTx/>
                <a:latin typeface="Arial" panose="020B0604020202020204" pitchFamily="34" charset="0"/>
                <a:ea typeface="+mn-ea"/>
                <a:cs typeface="Arial" panose="020B0604020202020204" pitchFamily="34" charset="0"/>
              </a:rPr>
              <a:t> MM-Poll):</a:t>
            </a:r>
            <a:endParaRPr kumimoji="0" lang="en-CA" altLang="en-US" sz="2000" b="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2000" b="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Call the authorities / government / regulator / most high-up boss / corporate ombudsperson?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2000" b="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Seek </a:t>
            </a:r>
            <a:r>
              <a:rPr kumimoji="0" lang="en-US" altLang="en-US" sz="2000" b="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clarity within your organization i.e. </a:t>
            </a:r>
            <a:r>
              <a:rPr kumimoji="0" lang="en-US" altLang="en-US" sz="2000" b="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from a colleague / senior engineer / management?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2000" b="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Both?</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2000" b="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Not sure or don’t know? </a:t>
            </a:r>
            <a:endParaRPr kumimoji="0" lang="en-CA" altLang="en-US" sz="2000" b="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319650071"/>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 Dilemma</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Work with Your Organization or Whistle-blow?</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Text Box 7"/>
          <p:cNvSpPr txBox="1">
            <a:spLocks noChangeArrowheads="1"/>
          </p:cNvSpPr>
          <p:nvPr/>
        </p:nvSpPr>
        <p:spPr bwMode="auto">
          <a:xfrm>
            <a:off x="180000" y="828000"/>
            <a:ext cx="8640000" cy="5328000"/>
          </a:xfrm>
          <a:prstGeom prst="rect">
            <a:avLst/>
          </a:prstGeom>
          <a:solidFill>
            <a:schemeClr val="tx1"/>
          </a:solidFill>
          <a:ln>
            <a:solidFill>
              <a:schemeClr val="tx1"/>
            </a:solidFill>
          </a:ln>
        </p:spPr>
        <p:txBody>
          <a:bodyPr wrap="square" rtlCol="0">
            <a:noAutofit/>
          </a:bodyPr>
          <a:lstStyle>
            <a:defPPr>
              <a:defRPr lang="en-US"/>
            </a:defPPr>
            <a:lvl1pPr>
              <a:defRPr sz="2000" i="1">
                <a:solidFill>
                  <a:srgbClr val="FFFFFF"/>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00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Case Study - The Dilemma</a:t>
            </a:r>
            <a:r>
              <a:rPr kumimoji="0" lang="en-CA" altLang="en-US" sz="200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a:t>
            </a:r>
            <a:endParaRPr kumimoji="0" lang="en-CA" altLang="en-US" sz="200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You </a:t>
            </a:r>
            <a:r>
              <a:rPr kumimoji="0" lang="en-CA" altLang="en-US" sz="20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are on a project, and you observe that due to time constraints for the project, an intermediate engineer is allowed to provide road design drawings to the contractor without senior review and approval.</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altLang="en-US" sz="20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This action </a:t>
            </a:r>
            <a:r>
              <a:rPr kumimoji="0" lang="en-CA" altLang="en-US" sz="2000" b="0" i="0" u="sng"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appears</a:t>
            </a:r>
            <a:r>
              <a:rPr kumimoji="0" lang="en-CA" altLang="en-US" sz="20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in </a:t>
            </a:r>
            <a:r>
              <a:rPr kumimoji="0" lang="en-CA" altLang="en-US" sz="2000" b="0" i="0" u="sng"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clear conflict</a:t>
            </a:r>
            <a:r>
              <a:rPr kumimoji="0" lang="en-CA" altLang="en-US" sz="2000" b="0" i="0"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with professional </a:t>
            </a:r>
            <a:r>
              <a:rPr kumimoji="0" lang="en-CA" altLang="en-US" sz="2000" b="0" i="0"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requirements and </a:t>
            </a:r>
            <a:r>
              <a:rPr kumimoji="0" lang="en-CA" altLang="en-US" sz="2000" b="0" i="0"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legal requirements.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defRPr/>
            </a:pPr>
            <a:r>
              <a:rPr kumimoji="0" lang="en-CA" altLang="en-US" sz="200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What </a:t>
            </a:r>
            <a:r>
              <a:rPr kumimoji="0" lang="en-CA" altLang="en-US" sz="200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do you do?</a:t>
            </a:r>
          </a:p>
          <a:p>
            <a:pPr marL="342900" lvl="0" indent="-342900" eaLnBrk="0" hangingPunct="0">
              <a:buFont typeface="Wingdings" panose="05000000000000000000" pitchFamily="2" charset="2"/>
              <a:buChar char="Ø"/>
              <a:defRPr/>
            </a:pPr>
            <a:r>
              <a:rPr lang="en-US" altLang="en-US" b="0" i="0" dirty="0">
                <a:solidFill>
                  <a:schemeClr val="bg1"/>
                </a:solidFill>
              </a:rPr>
              <a:t>Recall the discussion on the relationship </a:t>
            </a:r>
            <a:r>
              <a:rPr lang="en-US" altLang="en-US" b="0" i="0" dirty="0" smtClean="0">
                <a:solidFill>
                  <a:schemeClr val="bg1"/>
                </a:solidFill>
              </a:rPr>
              <a:t/>
            </a:r>
            <a:br>
              <a:rPr lang="en-US" altLang="en-US" b="0" i="0" dirty="0" smtClean="0">
                <a:solidFill>
                  <a:schemeClr val="bg1"/>
                </a:solidFill>
              </a:rPr>
            </a:br>
            <a:r>
              <a:rPr lang="en-US" altLang="en-US" b="0" i="0" dirty="0" smtClean="0">
                <a:solidFill>
                  <a:schemeClr val="bg1"/>
                </a:solidFill>
              </a:rPr>
              <a:t>between </a:t>
            </a:r>
            <a:r>
              <a:rPr lang="en-US" altLang="en-US" b="0" i="0" dirty="0">
                <a:solidFill>
                  <a:schemeClr val="bg1"/>
                </a:solidFill>
              </a:rPr>
              <a:t>you and your supervisor: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Thus, seek </a:t>
            </a:r>
            <a:r>
              <a:rPr kumimoji="0" lang="en-US" altLang="en-US" sz="20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clarity from </a:t>
            </a:r>
            <a: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within your organization</a:t>
            </a:r>
            <a:r>
              <a:rPr lang="en-US" altLang="en-US" b="0" i="0" dirty="0" smtClean="0">
                <a:solidFill>
                  <a:schemeClr val="bg1"/>
                </a:solidFill>
              </a:rPr>
              <a:t>!</a:t>
            </a:r>
          </a:p>
          <a:p>
            <a:pPr marL="817200" lvl="2" indent="-457200" eaLnBrk="0" hangingPunct="0">
              <a:spcBef>
                <a:spcPts val="0"/>
              </a:spcBef>
              <a:buSzPct val="100000"/>
              <a:buFont typeface="+mj-lt"/>
              <a:buAutoNum type="arabicParenR"/>
            </a:pPr>
            <a:r>
              <a:rPr lang="en-US" altLang="en-US" sz="20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sz="2000" b="0" u="sng"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first step</a:t>
            </a: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should be to work with your supervisor and within the organization – it could be a misunderstanding or miscommunication.</a:t>
            </a:r>
          </a:p>
          <a:p>
            <a:pPr marL="817200" lvl="2" indent="-457200" eaLnBrk="0" hangingPunct="0">
              <a:spcBef>
                <a:spcPts val="0"/>
              </a:spcBef>
              <a:buSzPct val="100000"/>
              <a:buFont typeface="+mj-lt"/>
              <a:buAutoNum type="arabicParenR"/>
            </a:pP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sz="2000" b="0" u="sng"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second ste</a:t>
            </a: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 should be to work with and within your organization’s corporate policies to resolve the </a:t>
            </a:r>
            <a:r>
              <a:rPr lang="en-US" altLang="en-US" sz="20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issue.</a:t>
            </a:r>
            <a:endParaRPr kumimoji="0" lang="en-US" altLang="en-US" sz="20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pic>
        <p:nvPicPr>
          <p:cNvPr id="7" name="Picture 6"/>
          <p:cNvPicPr>
            <a:picLocks noChangeAspect="1"/>
          </p:cNvPicPr>
          <p:nvPr/>
        </p:nvPicPr>
        <p:blipFill>
          <a:blip r:embed="rId3"/>
          <a:stretch>
            <a:fillRect/>
          </a:stretch>
        </p:blipFill>
        <p:spPr>
          <a:xfrm>
            <a:off x="5928865" y="2667000"/>
            <a:ext cx="2356451" cy="1494079"/>
          </a:xfrm>
          <a:prstGeom prst="rect">
            <a:avLst/>
          </a:prstGeom>
          <a:solidFill>
            <a:schemeClr val="bg1"/>
          </a:solidFill>
        </p:spPr>
      </p:pic>
    </p:spTree>
    <p:extLst>
      <p:ext uri="{BB962C8B-B14F-4D97-AF65-F5344CB8AC3E}">
        <p14:creationId xmlns:p14="http://schemas.microsoft.com/office/powerpoint/2010/main" val="2117366088"/>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ct val="0"/>
              </a:spcBef>
              <a:buClrTx/>
              <a:buNone/>
              <a:defRPr/>
            </a:pPr>
            <a:r>
              <a:rPr lang="en-CA" altLang="en-US" dirty="0">
                <a:solidFill>
                  <a:srgbClr val="FFFFFF"/>
                </a:solidFill>
                <a:latin typeface="Arial" panose="020B0604020202020204" pitchFamily="34" charset="0"/>
                <a:cs typeface="Arial" panose="020B0604020202020204" pitchFamily="34" charset="0"/>
              </a:rPr>
              <a:t>What do you do</a:t>
            </a:r>
            <a:r>
              <a:rPr lang="en-CA" altLang="en-US" dirty="0" smtClean="0">
                <a:solidFill>
                  <a:srgbClr val="FFFFFF"/>
                </a:solidFill>
                <a:latin typeface="Arial" panose="020B0604020202020204" pitchFamily="34" charset="0"/>
                <a:cs typeface="Arial" panose="020B0604020202020204" pitchFamily="34" charset="0"/>
              </a:rPr>
              <a:t>? </a:t>
            </a:r>
            <a:r>
              <a:rPr lang="en-CA" altLang="en-US" i="1" dirty="0" smtClean="0">
                <a:solidFill>
                  <a:srgbClr val="FFFFFF"/>
                </a:solidFill>
                <a:latin typeface="Arial" panose="020B0604020202020204" pitchFamily="34" charset="0"/>
                <a:cs typeface="Arial" panose="020B0604020202020204" pitchFamily="34" charset="0"/>
              </a:rPr>
              <a:t>(continued)</a:t>
            </a:r>
            <a:endParaRPr lang="en-CA" altLang="en-US" i="1" dirty="0">
              <a:solidFill>
                <a:srgbClr val="FFFFFF"/>
              </a:solidFill>
              <a:latin typeface="Arial" panose="020B0604020202020204" pitchFamily="34" charset="0"/>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Tx/>
              <a:buSzPct val="100000"/>
              <a:buFont typeface="+mj-lt"/>
              <a:buAutoNum type="arabicParenR" startAt="3"/>
            </a:pP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sz="2000" b="0" u="sng"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third step</a:t>
            </a:r>
            <a:r>
              <a:rPr lang="en-US" altLang="en-US" sz="20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Go external from your organization:</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U</a:t>
            </a:r>
            <a:r>
              <a:rPr lang="en-US" altLang="en-US"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ltimately</a:t>
            </a: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if you cannot resolve the apparent conflict, </a:t>
            </a:r>
            <a:r>
              <a:rPr lang="en-US" altLang="en-US" b="0" u="sng"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you may be motivated to seek external avenues of inquiry</a:t>
            </a: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(government authorities and regulators, professional associations) as a last resort ...</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This action is termed “whistle-blowing”. </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This is </a:t>
            </a:r>
            <a:r>
              <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not a trivial action</a:t>
            </a: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a:t>
            </a:r>
          </a:p>
          <a:p>
            <a:pPr marL="720000" lvl="0" indent="-360000" eaLnBrk="0" hangingPunct="0">
              <a:lnSpc>
                <a:spcPct val="10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The process calls into question the integrity and ethics of the organization under scrutiny and of the whistle-blower.</a:t>
            </a:r>
          </a:p>
          <a:p>
            <a:pPr marL="720000" lvl="0" indent="-360000" eaLnBrk="0" hangingPunct="0">
              <a:lnSpc>
                <a:spcPct val="100000"/>
              </a:lnSpc>
              <a:spcBef>
                <a:spcPts val="0"/>
              </a:spcBef>
              <a:buClrTx/>
              <a:buSzPct val="100000"/>
              <a:buFont typeface="Wingdings" panose="05000000000000000000" pitchFamily="2" charset="2"/>
              <a:buChar char="Ø"/>
            </a:pP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Personal motivators may come into question: </a:t>
            </a:r>
            <a:b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is it a grudge or an honest concern? </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 Dilemma</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Work with Your Organization or Whistle-blow?</a:t>
            </a:r>
          </a:p>
        </p:txBody>
      </p:sp>
    </p:spTree>
    <p:extLst>
      <p:ext uri="{BB962C8B-B14F-4D97-AF65-F5344CB8AC3E}">
        <p14:creationId xmlns:p14="http://schemas.microsoft.com/office/powerpoint/2010/main" val="1485008733"/>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18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Challenges, Dilemmas,</a:t>
            </a:r>
            <a:r>
              <a:rPr kumimoji="0" lang="en-US" altLang="en-US" sz="18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Predicaments:</a:t>
            </a:r>
            <a:endParaRPr kumimoji="0" lang="en-US" altLang="en-US" sz="18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may find yourself in a challenging or compromising situation:</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Unskilled practice in engineering,</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Unprofessional conduct,</a:t>
            </a:r>
          </a:p>
          <a:p>
            <a:pPr marL="108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Unethical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behaviours,</a:t>
            </a:r>
          </a:p>
          <a:p>
            <a:pPr marL="108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Betray values of honesty, privilege and confidentialities,</a:t>
            </a:r>
          </a:p>
          <a:p>
            <a:pPr marL="108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Conflict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interest, </a:t>
            </a:r>
          </a:p>
          <a:p>
            <a:pPr marL="108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Corruption. </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If you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give your decision options careful thought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make 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ethical decision</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based on the appropriate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set of positive values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the hierarchy of five discrete ethics, check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others, and act on your values accordingly,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can manage yourself through obstacles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like these with little difficulty and gain the admiration and respect of your fellow workers.</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Summary and Key Points: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61822147"/>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may be presented with a situation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where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conduct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 professional practice may be called into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question. </a:t>
            </a:r>
          </a:p>
          <a:p>
            <a:pPr marL="72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avoid this, you need to assess that situation, apply the hierarchy of ethics,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recommend the best course of action. </a:t>
            </a:r>
          </a:p>
          <a:p>
            <a:pPr marL="360000" lvl="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organization’s or a leader’s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decision-making process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be gauged on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scale of ethical behaviour</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lvl="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Apparent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contradictions and ambiguities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need to be managed during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career within your organization.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professionalism</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spans beyond our technical competencies, and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includes ethical conduct, integrity, and pubic service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(duty to the public). </a:t>
            </a:r>
          </a:p>
          <a:p>
            <a:pPr marL="360000" lvl="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moral compass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as professionals is grounded in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hierarchy for applying ethics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[1) I comply with the law. 2) I comply with the professional code. 3) etc.]</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our making decisions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lvl="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are questioning</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whether the pending action (decision and/or behaviour) is ethical, and you cannot resolve that question,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ask for help</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discuss and review the ethics of that decision.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Summary and Key Points: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6.10: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04592855"/>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69545</TotalTime>
  <Words>4903</Words>
  <Application>Microsoft Office PowerPoint</Application>
  <PresentationFormat>On-screen Show (4:3)</PresentationFormat>
  <Paragraphs>740</Paragraphs>
  <Slides>47</Slides>
  <Notes>47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ＭＳ Ｐゴシック</vt:lpstr>
      <vt:lpstr>Arial</vt:lpstr>
      <vt:lpstr>Calibri</vt:lpstr>
      <vt:lpstr>Times New Roman</vt:lpstr>
      <vt:lpstr>Tw Cen MT</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1963</cp:revision>
  <cp:lastPrinted>2018-12-17T22:21:47Z</cp:lastPrinted>
  <dcterms:created xsi:type="dcterms:W3CDTF">2007-03-28T16:18:47Z</dcterms:created>
  <dcterms:modified xsi:type="dcterms:W3CDTF">2021-12-03T19:13:56Z</dcterms:modified>
</cp:coreProperties>
</file>