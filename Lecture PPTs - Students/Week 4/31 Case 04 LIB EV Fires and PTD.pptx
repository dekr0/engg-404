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95" r:id="rId2"/>
    <p:sldId id="880" r:id="rId3"/>
    <p:sldId id="923" r:id="rId4"/>
    <p:sldId id="981" r:id="rId5"/>
    <p:sldId id="994" r:id="rId6"/>
    <p:sldId id="982" r:id="rId7"/>
    <p:sldId id="924" r:id="rId8"/>
    <p:sldId id="989" r:id="rId9"/>
    <p:sldId id="908" r:id="rId10"/>
    <p:sldId id="984" r:id="rId11"/>
    <p:sldId id="985" r:id="rId12"/>
    <p:sldId id="991" r:id="rId13"/>
    <p:sldId id="986" r:id="rId14"/>
    <p:sldId id="942" r:id="rId15"/>
    <p:sldId id="996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23"/>
            <p14:sldId id="981"/>
            <p14:sldId id="994"/>
            <p14:sldId id="982"/>
            <p14:sldId id="924"/>
            <p14:sldId id="989"/>
            <p14:sldId id="908"/>
            <p14:sldId id="984"/>
            <p14:sldId id="985"/>
            <p14:sldId id="991"/>
            <p14:sldId id="986"/>
            <p14:sldId id="942"/>
            <p14:sldId id="9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BA3E8"/>
    <a:srgbClr val="0000FF"/>
    <a:srgbClr val="000000"/>
    <a:srgbClr val="0000CC"/>
    <a:srgbClr val="F8F8F8"/>
    <a:srgbClr val="F5D7F1"/>
    <a:srgbClr val="5F5F5F"/>
    <a:srgbClr val="DDDDDD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83708" autoAdjust="0"/>
  </p:normalViewPr>
  <p:slideViewPr>
    <p:cSldViewPr>
      <p:cViewPr varScale="1">
        <p:scale>
          <a:sx n="78" d="100"/>
          <a:sy n="78" d="100"/>
        </p:scale>
        <p:origin x="90" y="570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452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7/7/2022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7/7/2022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26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289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94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87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18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093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ENGG404 2015W</a:t>
            </a: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ftr" idx="11"/>
          </p:nvPr>
        </p:nvSpPr>
        <p:spPr>
          <a:xfrm>
            <a:off x="0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15-Jan-2015</a:t>
            </a: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:notes"/>
          <p:cNvSpPr txBox="1">
            <a:spLocks noGrp="1"/>
          </p:cNvSpPr>
          <p:nvPr>
            <p:ph type="dt" idx="10"/>
          </p:nvPr>
        </p:nvSpPr>
        <p:spPr>
          <a:xfrm>
            <a:off x="3939968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6/26/2019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:notes"/>
          <p:cNvSpPr txBox="1"/>
          <p:nvPr/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:notes"/>
          <p:cNvSpPr txBox="1"/>
          <p:nvPr/>
        </p:nvSpPr>
        <p:spPr>
          <a:xfrm>
            <a:off x="3941155" y="884375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50938" y="696913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927470" y="4421876"/>
            <a:ext cx="5099898" cy="419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1342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ENGG404 2015W</a:t>
            </a: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ftr" idx="11"/>
          </p:nvPr>
        </p:nvSpPr>
        <p:spPr>
          <a:xfrm>
            <a:off x="0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15-Jan-2015</a:t>
            </a: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:notes"/>
          <p:cNvSpPr txBox="1">
            <a:spLocks noGrp="1"/>
          </p:cNvSpPr>
          <p:nvPr>
            <p:ph type="dt" idx="10"/>
          </p:nvPr>
        </p:nvSpPr>
        <p:spPr>
          <a:xfrm>
            <a:off x="3939968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6/26/2019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:notes"/>
          <p:cNvSpPr txBox="1"/>
          <p:nvPr/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:notes"/>
          <p:cNvSpPr txBox="1"/>
          <p:nvPr/>
        </p:nvSpPr>
        <p:spPr>
          <a:xfrm>
            <a:off x="3941155" y="884375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50938" y="696913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927470" y="4421876"/>
            <a:ext cx="5099898" cy="419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696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31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16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10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659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922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7/7/2022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</a:t>
            </a:r>
            <a:b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Leader 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16887" y="2105520"/>
            <a:ext cx="6884113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4: Lithium ion Battery Fires in Electric Vehicles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114800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114613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technical safety aspects of lithium ion battery fires and why they are considered a low frequency, high consequence risk scenario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Describe the bow tie approach for depicting key concepts in risk management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prevention through design (PTD) concept for the future of electric vehicle batteries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Outcomes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Superior attributes of Lithium ion battery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Higher current, voltage, power and energy density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Reduced cost, weight and pollution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Lack of memory effect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Excellent stability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Low self-discharge rate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Prolonged life cycle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Used in a variety of applications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 cells in consumer electronics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Large scale packs in the electrification of road transport and smart grids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Managing peaks and valleys associated with output from wind and solar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</p:spTree>
    <p:extLst>
      <p:ext uri="{BB962C8B-B14F-4D97-AF65-F5344CB8AC3E}">
        <p14:creationId xmlns:p14="http://schemas.microsoft.com/office/powerpoint/2010/main" val="366483011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" y="828000"/>
            <a:ext cx="4544400" cy="458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ells produce an electric current by converting chemical energy into electrical energy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electrodes</a:t>
            </a:r>
          </a:p>
          <a:p>
            <a:pPr marL="49335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Negative (anode) - typically made of carbon (graphite)</a:t>
            </a:r>
          </a:p>
          <a:p>
            <a:pPr marL="49335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Positive (cathode) - generally consists of layers of lithium and metal oxide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ermeable barrier between the electrodes prevents internal short-circuiting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Electrolyte transfers charged ions between the electrodes. It consists of a lithium salt dissolved in an organic solvent, mainly carbonates.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is related to the chemistry and construction of the LIB cell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Battery Design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l="50593" t="4088" r="2879" b="12534"/>
          <a:stretch/>
        </p:blipFill>
        <p:spPr bwMode="auto">
          <a:xfrm>
            <a:off x="4615071" y="1371600"/>
            <a:ext cx="4495799" cy="35597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880179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Multi-cell Pack for Tesla Model 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383" t="1566" b="1"/>
          <a:stretch/>
        </p:blipFill>
        <p:spPr>
          <a:xfrm>
            <a:off x="457200" y="1879350"/>
            <a:ext cx="7663094" cy="3225300"/>
          </a:xfrm>
          <a:prstGeom prst="rect">
            <a:avLst/>
          </a:prstGeom>
        </p:spPr>
      </p:pic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</p:spTree>
    <p:extLst>
      <p:ext uri="{BB962C8B-B14F-4D97-AF65-F5344CB8AC3E}">
        <p14:creationId xmlns:p14="http://schemas.microsoft.com/office/powerpoint/2010/main" val="121380429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" y="838200"/>
            <a:ext cx="8964000" cy="481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Overview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Volatile organic electrolyte solution (hazardous)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Short circuit or high operating temp. can lead to exothermic reactions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Worst case scenario - battery catches fire or explodes (low frequency)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Different fire in terms of initiation, spread, duration, toxicity &amp; suppression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Increase in fire risk is proportional to the increase in the mass and capacity of the battery (the fuel)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Last two decades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Variety of fires (small consumer electronics to large power systems)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Initial concerns with portable devices (cell phones and laptops)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Sony (2006) recalled 9.6 million notebooks with LIBs ($400 million)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Samsung (2016) recalled 2.5 million Note 7 smartphones ($17bn)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Boeing 787 Dreamliner grounding in 2013 (1.1 million USD/day loss)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Variety of electric vehicle fires including Chevy Volt and Tesla Model 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LIB Fires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</p:spTree>
    <p:extLst>
      <p:ext uri="{BB962C8B-B14F-4D97-AF65-F5344CB8AC3E}">
        <p14:creationId xmlns:p14="http://schemas.microsoft.com/office/powerpoint/2010/main" val="356516909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980400"/>
            <a:ext cx="8640000" cy="420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 battery packs = composed of thousands of single cells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thermal runaway (TR) can initiate in a single cell and propagates to other cells in the pack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LIB temp. reaches a critical value such that the reaction rate of an exothermic reaction increases the temp. &amp; accelerates the reaction rate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fast process that occurs at a time scale &lt;2 s, leading in most cases to battery rupture in less &lt;0.01 s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Triggers for LIB TR</a:t>
            </a:r>
          </a:p>
          <a:p>
            <a:pPr marL="419100" lvl="1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External abuse (mechanical, thermal, electrical)</a:t>
            </a:r>
          </a:p>
          <a:p>
            <a:pPr marL="419100" lvl="1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Internal failure (defects, self-heating)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Critical for LIB to balance heat generation with heat dissipation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Thermal Runaway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</p:spTree>
    <p:extLst>
      <p:ext uri="{BB962C8B-B14F-4D97-AF65-F5344CB8AC3E}">
        <p14:creationId xmlns:p14="http://schemas.microsoft.com/office/powerpoint/2010/main" val="258886276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LIB TR &amp; Imbalance Between </a:t>
            </a: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eat Generation &amp; Dissipation: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14" y="994013"/>
            <a:ext cx="8850196" cy="5233987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</p:spTree>
    <p:extLst>
      <p:ext uri="{BB962C8B-B14F-4D97-AF65-F5344CB8AC3E}">
        <p14:creationId xmlns:p14="http://schemas.microsoft.com/office/powerpoint/2010/main" val="392567952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4659313"/>
            <a:ext cx="26987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Electric Vehicle LIB related Fires</a:t>
            </a:r>
          </a:p>
        </p:txBody>
      </p:sp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13" y="914400"/>
            <a:ext cx="8696325" cy="3333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0000" y="4356000"/>
            <a:ext cx="8640000" cy="612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a) A Renault-Samsung EV caught fire while driving (January 2016, Korea)</a:t>
            </a:r>
          </a:p>
          <a:p>
            <a:pPr marR="0"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b) A pure battery electric bus caught fire in a charging station (April 2015, Shenzhen, China)</a:t>
            </a: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</p:spTree>
    <p:extLst>
      <p:ext uri="{BB962C8B-B14F-4D97-AF65-F5344CB8AC3E}">
        <p14:creationId xmlns:p14="http://schemas.microsoft.com/office/powerpoint/2010/main" val="386514420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4659313"/>
            <a:ext cx="26987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Electric Vehicle LIB related Fires</a:t>
            </a:r>
          </a:p>
        </p:txBody>
      </p:sp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56162"/>
            <a:ext cx="7658100" cy="45529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5508000"/>
            <a:ext cx="8640000" cy="57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eaLnBrk="0" hangingPunct="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c) A Tesla Model S released smokes while being driven (June 2018, California)</a:t>
            </a:r>
          </a:p>
          <a:p>
            <a:pPr marL="0" eaLnBrk="0" hangingPunct="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d) EV fire in a parking lot (May 2018, Hangzhou, China)</a:t>
            </a: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</p:spTree>
    <p:extLst>
      <p:ext uri="{BB962C8B-B14F-4D97-AF65-F5344CB8AC3E}">
        <p14:creationId xmlns:p14="http://schemas.microsoft.com/office/powerpoint/2010/main" val="401462605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Chain of Events after abusing a LIB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b="9251"/>
          <a:stretch/>
        </p:blipFill>
        <p:spPr bwMode="auto">
          <a:xfrm>
            <a:off x="246086" y="990600"/>
            <a:ext cx="8584800" cy="4724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</p:spTree>
    <p:extLst>
      <p:ext uri="{BB962C8B-B14F-4D97-AF65-F5344CB8AC3E}">
        <p14:creationId xmlns:p14="http://schemas.microsoft.com/office/powerpoint/2010/main" val="55630278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1066800"/>
            <a:ext cx="8633400" cy="420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Preventing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battery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failure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which sometimes lead to thermal runaway reactions &amp; fires has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remained a challenge for LIBs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PTD focus is to “engineer out the hazards” through our designs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PTD focus area is battery chemistry and design to prevent TR fires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PTD with inherently safer materials: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Cathode chemistry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Modified separators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Modified electrolytes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Solid state batteries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Prevention Through Design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961" y="2895275"/>
            <a:ext cx="5129439" cy="288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6764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Potential PTD Opportunities for LIBs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246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93362"/>
            <a:ext cx="8191500" cy="522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5982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73400" y="990600"/>
            <a:ext cx="8640000" cy="336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LIB technology is superior but the current designs have the risk of a low frequency, high consequence risk event (fires to thermal runaway)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variety of LIB-related fires have occurred over the last two decades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bow tie diagram provides a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simple visual depiction of a complex situation (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especially when dealing with non-specialists)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Prevention through design opportunities are in the area of inherently safer design that reduce the frequency of LIB-related fires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&amp; Key Lessons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Lithium Ion Battery Fires in Electric Vehicles </a:t>
            </a:r>
          </a:p>
        </p:txBody>
      </p:sp>
    </p:spTree>
    <p:extLst>
      <p:ext uri="{BB962C8B-B14F-4D97-AF65-F5344CB8AC3E}">
        <p14:creationId xmlns:p14="http://schemas.microsoft.com/office/powerpoint/2010/main" val="28476649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2368249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70452</TotalTime>
  <Words>945</Words>
  <Application>Microsoft Office PowerPoint</Application>
  <PresentationFormat>On-screen Show (4:3)</PresentationFormat>
  <Paragraphs>156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Li Dekr0</cp:lastModifiedBy>
  <cp:revision>1992</cp:revision>
  <cp:lastPrinted>2018-12-17T22:21:47Z</cp:lastPrinted>
  <dcterms:created xsi:type="dcterms:W3CDTF">2007-03-28T16:18:47Z</dcterms:created>
  <dcterms:modified xsi:type="dcterms:W3CDTF">2022-07-08T04:50:45Z</dcterms:modified>
</cp:coreProperties>
</file>