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895" r:id="rId2"/>
    <p:sldId id="880" r:id="rId3"/>
    <p:sldId id="903" r:id="rId4"/>
    <p:sldId id="915" r:id="rId5"/>
    <p:sldId id="913" r:id="rId6"/>
    <p:sldId id="914" r:id="rId7"/>
    <p:sldId id="904" r:id="rId8"/>
    <p:sldId id="905" r:id="rId9"/>
    <p:sldId id="906" r:id="rId10"/>
    <p:sldId id="907" r:id="rId11"/>
    <p:sldId id="902" r:id="rId12"/>
    <p:sldId id="908" r:id="rId13"/>
    <p:sldId id="940" r:id="rId14"/>
    <p:sldId id="901" r:id="rId15"/>
    <p:sldId id="910" r:id="rId16"/>
    <p:sldId id="941" r:id="rId17"/>
    <p:sldId id="911" r:id="rId18"/>
    <p:sldId id="912" r:id="rId19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9E92DFA-6333-4D24-89B4-B39EC0786CAA}">
          <p14:sldIdLst>
            <p14:sldId id="895"/>
            <p14:sldId id="880"/>
            <p14:sldId id="903"/>
            <p14:sldId id="915"/>
            <p14:sldId id="913"/>
            <p14:sldId id="914"/>
            <p14:sldId id="904"/>
            <p14:sldId id="905"/>
            <p14:sldId id="906"/>
            <p14:sldId id="907"/>
            <p14:sldId id="902"/>
            <p14:sldId id="908"/>
            <p14:sldId id="940"/>
            <p14:sldId id="901"/>
            <p14:sldId id="910"/>
            <p14:sldId id="941"/>
            <p14:sldId id="911"/>
            <p14:sldId id="91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76">
          <p15:clr>
            <a:srgbClr val="A4A3A4"/>
          </p15:clr>
        </p15:guide>
        <p15:guide id="2" pos="379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el Gehman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FF0000"/>
    <a:srgbClr val="000000"/>
    <a:srgbClr val="66FFFF"/>
    <a:srgbClr val="0000FF"/>
    <a:srgbClr val="F8F8F8"/>
    <a:srgbClr val="F5D7F1"/>
    <a:srgbClr val="5F5F5F"/>
    <a:srgbClr val="DDDDDD"/>
    <a:srgbClr val="FBA3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49" autoAdjust="0"/>
    <p:restoredTop sz="98116" autoAdjust="0"/>
  </p:normalViewPr>
  <p:slideViewPr>
    <p:cSldViewPr>
      <p:cViewPr varScale="1">
        <p:scale>
          <a:sx n="70" d="100"/>
          <a:sy n="70" d="100"/>
        </p:scale>
        <p:origin x="1220" y="56"/>
      </p:cViewPr>
      <p:guideLst>
        <p:guide orient="horz" pos="576"/>
        <p:guide pos="37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>
        <p:scale>
          <a:sx n="66" d="100"/>
          <a:sy n="66" d="100"/>
        </p:scale>
        <p:origin x="-2634" y="222"/>
      </p:cViewPr>
      <p:guideLst>
        <p:guide orient="horz" pos="2928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54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25E55AEC-8BF8-47AA-8A9C-C1CC4D3D3CD7}" type="datetimeFigureOut">
              <a:rPr lang="en-US"/>
              <a:pPr>
                <a:defRPr/>
              </a:pPr>
              <a:t>5/30/2022</a:t>
            </a:fld>
            <a:endParaRPr lang="en-US"/>
          </a:p>
        </p:txBody>
      </p:sp>
      <p:sp>
        <p:nvSpPr>
          <p:cNvPr id="2201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54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E75F24CD-7E4C-4840-9EE0-3BA263838C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71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654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B38EBD9A-77E5-4352-9685-9DCF1AB5D0AE}" type="datetimeFigureOut">
              <a:rPr lang="en-US"/>
              <a:pPr>
                <a:defRPr/>
              </a:pPr>
              <a:t>5/30/2022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36" tIns="46568" rIns="93136" bIns="46568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881" y="4415157"/>
            <a:ext cx="5608640" cy="4183696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654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4A7289C4-4137-4B30-96C9-7C06C82291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213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180076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93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2202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3401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4243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3493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500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9663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9332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5265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11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11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67407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29820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8311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14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14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507471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6397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73512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4023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18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18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78123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9349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803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3579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5/30/2022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873712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9" r:id="rId1"/>
    <p:sldLayoutId id="2147484147" r:id="rId2"/>
    <p:sldLayoutId id="2147484148" r:id="rId3"/>
    <p:sldLayoutId id="2147484150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jpeg"/><Relationship Id="rId5" Type="http://schemas.openxmlformats.org/officeDocument/2006/relationships/image" Target="../media/image12.jpg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6;p1" descr="SAT10E2"/>
          <p:cNvPicPr preferRelativeResize="0"/>
          <p:nvPr/>
        </p:nvPicPr>
        <p:blipFill rotWithShape="1">
          <a:blip r:embed="rId3" cstate="print">
            <a:alphaModFix/>
          </a:blip>
          <a:srcRect/>
          <a:stretch/>
        </p:blipFill>
        <p:spPr>
          <a:xfrm>
            <a:off x="152400" y="3733802"/>
            <a:ext cx="1828800" cy="18843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  <a:t>On Becoming a Leader </a:t>
            </a:r>
            <a:b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</a:br>
            <a: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  <a:t>in Risk Management</a:t>
            </a:r>
            <a:endParaRPr lang="en-US" altLang="en-US" i="1" kern="0" dirty="0">
              <a:solidFill>
                <a:srgbClr val="000099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838200" y="2105520"/>
            <a:ext cx="7315201" cy="2161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</a:t>
            </a: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Lecture</a:t>
            </a:r>
          </a:p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6.1: </a:t>
            </a: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Introduction to Technical Safety and Avoiding Catastrophic Loss Incidents</a:t>
            </a:r>
            <a:endParaRPr lang="en-US" altLang="en-US" sz="3200" b="1" dirty="0">
              <a:solidFill>
                <a:schemeClr val="tx2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RM in Industry</a:t>
            </a:r>
          </a:p>
        </p:txBody>
      </p:sp>
    </p:spTree>
    <p:extLst>
      <p:ext uri="{BB962C8B-B14F-4D97-AF65-F5344CB8AC3E}">
        <p14:creationId xmlns:p14="http://schemas.microsoft.com/office/powerpoint/2010/main" val="3394937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two different types of loss incidents, and the differences:</a:t>
            </a:r>
          </a:p>
          <a:p>
            <a:pPr marL="72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ccupational Safety LI</a:t>
            </a:r>
          </a:p>
          <a:p>
            <a:pPr marL="72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Technical Safety LI</a:t>
            </a:r>
          </a:p>
          <a:p>
            <a:pPr marL="108000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Chemical Process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 is a sub-set of Technical Safety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technical safety loss incidents and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incident investigations in the context of other engineering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disciplines i.e. the catastrophic loss incident. 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concept of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technical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 to an industrial example.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Learning </a:t>
            </a: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Outcomes: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590800" y="630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6.1: Intro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to Technical Safety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&amp; Avoiding Catastrophic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Loss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Incidents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34127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Two different types of </a:t>
            </a:r>
            <a:r>
              <a:rPr lang="en-US" altLang="en-US" sz="180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 concerns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</a:t>
            </a:r>
          </a:p>
          <a:p>
            <a:pPr marL="457200" indent="-4572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endParaRPr lang="en-US" altLang="en-US" sz="180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Occupational Safety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generally refers to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prevention of worker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injuries,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such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 prevention of trips, slips and falls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457200" indent="-4572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Technical Safety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includes the prevention of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loss of control or an unintentional release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some form of energy. </a:t>
            </a:r>
          </a:p>
          <a:p>
            <a:pPr marL="72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Chemical Process Safety is a specialized sub-set.</a:t>
            </a:r>
          </a:p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Thus it follows that there are two different types of </a:t>
            </a:r>
            <a:r>
              <a:rPr lang="en-US" altLang="en-US" sz="180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loss incidents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</a:t>
            </a:r>
          </a:p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sz="180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Occupational Safety LI: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 startAt="2"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Technical 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 LI: </a:t>
            </a:r>
          </a:p>
          <a:p>
            <a:pPr marL="720000" lvl="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Loss of control </a:t>
            </a:r>
          </a:p>
          <a:p>
            <a:pPr marL="720000" lvl="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Loss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 integrity of the design intent of the engineered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system</a:t>
            </a: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Unintentional or uncontrolled release of some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form of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energy</a:t>
            </a: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Extremely low </a:t>
            </a:r>
            <a:r>
              <a:rPr lang="en-US" altLang="en-US" sz="1800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likelihood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but with </a:t>
            </a:r>
            <a:r>
              <a:rPr lang="en-US" altLang="en-US" sz="1800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catastrophic consequences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!</a:t>
            </a:r>
          </a:p>
          <a:p>
            <a:pPr marL="360000" lv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sz="1800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1800" b="0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Note that most government agencies do NOT differentiate between these two kinds of loss incidents – any injury in the workplace regardless of the nature of the loss incident is classified as an “occupational injury”.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Different Types of Safety Concerns and LIs: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oogle Shape;125;p2"/>
          <p:cNvSpPr/>
          <p:nvPr/>
        </p:nvSpPr>
        <p:spPr>
          <a:xfrm>
            <a:off x="2590800" y="630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6.1: Intro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to Technical Safety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&amp; Avoiding Catastrophic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Loss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Incidents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9305031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Technical Safety Hazard: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Definition - typical “technical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hazard” or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“technical safety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hazard”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that may lead to a “technical safety loss incident”: 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Asset: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Physical situation where the activity is taking place </a:t>
            </a:r>
            <a:b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(i.e. the facility, equipment)</a:t>
            </a:r>
          </a:p>
          <a:p>
            <a:pPr marL="72000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Potential </a:t>
            </a:r>
            <a:r>
              <a:rPr lang="en-US" alt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Impact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Harm or damage to PEAP</a:t>
            </a:r>
          </a:p>
          <a:p>
            <a:pPr marL="72000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Loss of Control (Trigger):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loss of control that resulted in a release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 energy</a:t>
            </a:r>
          </a:p>
          <a:p>
            <a:pPr marL="72000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Energy Source: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Nature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 energy or nature of materials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(shock hazard, momentum/motion, flammable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combustible,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etc.)</a:t>
            </a: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general definition of a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technical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the two incident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models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lead to an understanding that “technical safety” is NOT limited to chemical unit process operations i.e. any “catastrophic loss incident”!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Technical Safety Hazard and The Incident Models: 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ight Arrow 1"/>
          <p:cNvSpPr/>
          <p:nvPr/>
        </p:nvSpPr>
        <p:spPr>
          <a:xfrm>
            <a:off x="381000" y="3838688"/>
            <a:ext cx="5638800" cy="1266712"/>
          </a:xfrm>
          <a:prstGeom prst="rightArrow">
            <a:avLst>
              <a:gd name="adj1" fmla="val 73100"/>
              <a:gd name="adj2" fmla="val 50000"/>
            </a:avLst>
          </a:prstGeom>
          <a:solidFill>
            <a:srgbClr val="0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Now, recall the </a:t>
            </a:r>
            <a:r>
              <a:rPr lang="en-US" i="1" u="sng" dirty="0" smtClean="0"/>
              <a:t>Incident Models</a:t>
            </a:r>
            <a:r>
              <a:rPr lang="en-US" i="1" dirty="0" smtClean="0"/>
              <a:t>, the Discovery </a:t>
            </a:r>
            <a:r>
              <a:rPr lang="en-US" i="1" dirty="0"/>
              <a:t>Approach and </a:t>
            </a:r>
            <a:br>
              <a:rPr lang="en-US" i="1" dirty="0"/>
            </a:br>
            <a:r>
              <a:rPr lang="en-US" i="1" dirty="0"/>
              <a:t>relate </a:t>
            </a:r>
            <a:r>
              <a:rPr lang="en-US" i="1" dirty="0" smtClean="0"/>
              <a:t>these </a:t>
            </a:r>
            <a:r>
              <a:rPr lang="en-US" i="1" dirty="0"/>
              <a:t>to </a:t>
            </a:r>
            <a:r>
              <a:rPr lang="en-US" i="1" dirty="0" smtClean="0"/>
              <a:t>any catastrophic loss </a:t>
            </a:r>
            <a:r>
              <a:rPr lang="en-US" i="1" dirty="0"/>
              <a:t>incident</a:t>
            </a:r>
            <a:r>
              <a:rPr lang="en-US" i="1" dirty="0" smtClean="0"/>
              <a:t>!</a:t>
            </a:r>
            <a:endParaRPr lang="en-US" i="1" dirty="0"/>
          </a:p>
        </p:txBody>
      </p:sp>
      <p:sp>
        <p:nvSpPr>
          <p:cNvPr id="10" name="Google Shape;125;p2"/>
          <p:cNvSpPr/>
          <p:nvPr/>
        </p:nvSpPr>
        <p:spPr>
          <a:xfrm>
            <a:off x="2590800" y="630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6.1: Intro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to Technical Safety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&amp; Avoiding Catastrophic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Loss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Incidents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656" y="3962400"/>
            <a:ext cx="1179744" cy="1201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7230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818596" cy="5292824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180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Applications of Technical Safety:</a:t>
            </a:r>
            <a:endParaRPr lang="en-US" altLang="en-US" sz="180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Incident</a:t>
            </a:r>
            <a:r>
              <a:rPr lang="en-US" altLang="en-US" sz="1800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  <a:r>
              <a:rPr lang="en-US" altLang="en-US" sz="1800" b="0" i="1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“Crane </a:t>
            </a:r>
            <a:r>
              <a:rPr lang="en-US" altLang="en-US" sz="1800" b="0" i="1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collapsed, crushing people below </a:t>
            </a:r>
            <a:r>
              <a:rPr lang="en-US" altLang="en-US" sz="1800" b="0" i="1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crane”</a:t>
            </a: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Definition: “technical safety hazard”: </a:t>
            </a: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+mj-lt"/>
              <a:buAutoNum type="arabicParenR"/>
            </a:pP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Asset: ?</a:t>
            </a: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+mj-lt"/>
              <a:buAutoNum type="arabicParenR"/>
            </a:pP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Potential Impact: ?</a:t>
            </a: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+mj-lt"/>
              <a:buAutoNum type="arabicParenR"/>
            </a:pP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Loss of Control (Trigger):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?</a:t>
            </a: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+mj-lt"/>
              <a:buAutoNum type="arabicParenR"/>
            </a:pP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Energy Source: ?</a:t>
            </a:r>
          </a:p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sz="1800" b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1" name="Rectangle 3"/>
          <p:cNvSpPr>
            <a:spLocks noChangeArrowheads="1"/>
          </p:cNvSpPr>
          <p:nvPr/>
        </p:nvSpPr>
        <p:spPr bwMode="auto">
          <a:xfrm>
            <a:off x="6172200" y="864001"/>
            <a:ext cx="2665800" cy="244224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1800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Discovery Approach:</a:t>
            </a:r>
            <a:endParaRPr lang="en-US" altLang="en-US" sz="1800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+mj-lt"/>
              <a:buAutoNum type="arabicParenR"/>
            </a:pPr>
            <a:r>
              <a:rPr lang="en-US" altLang="en-US" b="0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Energy Source?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+mj-lt"/>
              <a:buAutoNum type="arabicParenR"/>
            </a:pPr>
            <a:r>
              <a:rPr lang="en-US" altLang="en-US" b="0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Line-of-Fire?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+mj-lt"/>
              <a:buAutoNum type="arabicParenR"/>
            </a:pPr>
            <a:r>
              <a:rPr lang="en-US" altLang="en-US" b="0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Loss of Control?</a:t>
            </a:r>
            <a:endParaRPr lang="en-US" altLang="en-US" sz="1800" b="0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Example: Technical Safety, RCA, &amp; The Discovery Approach:</a:t>
            </a:r>
            <a:endParaRPr lang="en-US" altLang="en-US" sz="2400" b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79400" y="2743200"/>
            <a:ext cx="295200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Crane collapsed, crushing people below crane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8000" y="4680000"/>
            <a:ext cx="18720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28000" y="4680000"/>
            <a:ext cx="18720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lowchart: Delay 2"/>
          <p:cNvSpPr/>
          <p:nvPr/>
        </p:nvSpPr>
        <p:spPr>
          <a:xfrm rot="16200000">
            <a:off x="4158000" y="3639600"/>
            <a:ext cx="396000" cy="432000"/>
          </a:xfrm>
          <a:prstGeom prst="flowChartDelay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Elbow Connector 4"/>
          <p:cNvCxnSpPr>
            <a:stCxn id="2" idx="2"/>
            <a:endCxn id="3" idx="3"/>
          </p:cNvCxnSpPr>
          <p:nvPr/>
        </p:nvCxnSpPr>
        <p:spPr>
          <a:xfrm rot="16200000" flipH="1">
            <a:off x="4221666" y="3523265"/>
            <a:ext cx="268069" cy="600"/>
          </a:xfrm>
          <a:prstGeom prst="bentConnector3">
            <a:avLst>
              <a:gd name="adj1" fmla="val 50000"/>
            </a:avLst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>
            <a:stCxn id="3" idx="1"/>
            <a:endCxn id="14" idx="0"/>
          </p:cNvCxnSpPr>
          <p:nvPr/>
        </p:nvCxnSpPr>
        <p:spPr>
          <a:xfrm rot="16200000" flipH="1">
            <a:off x="4546800" y="3862800"/>
            <a:ext cx="626400" cy="1008000"/>
          </a:xfrm>
          <a:prstGeom prst="bentConnector3">
            <a:avLst>
              <a:gd name="adj1" fmla="val 50000"/>
            </a:avLst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/>
          <p:cNvCxnSpPr>
            <a:stCxn id="3" idx="1"/>
            <a:endCxn id="10" idx="0"/>
          </p:cNvCxnSpPr>
          <p:nvPr/>
        </p:nvCxnSpPr>
        <p:spPr>
          <a:xfrm rot="5400000">
            <a:off x="2476800" y="2800800"/>
            <a:ext cx="626400" cy="3132000"/>
          </a:xfrm>
          <a:prstGeom prst="bentConnector3">
            <a:avLst>
              <a:gd name="adj1" fmla="val 50000"/>
            </a:avLst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88000" y="5400000"/>
            <a:ext cx="1872000" cy="5760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Energy Source: </a:t>
            </a:r>
            <a:b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428000" y="5400000"/>
            <a:ext cx="1872000" cy="5760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Line-of-Fire:</a:t>
            </a:r>
          </a:p>
          <a:p>
            <a:pPr algn="ctr"/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80000" y="4680000"/>
            <a:ext cx="18720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480000" y="5400000"/>
            <a:ext cx="1872000" cy="5760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Loss of Control:</a:t>
            </a:r>
          </a:p>
          <a:p>
            <a:pPr algn="ctr"/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8" name="Elbow Connector 37"/>
          <p:cNvCxnSpPr>
            <a:stCxn id="3" idx="1"/>
            <a:endCxn id="36" idx="0"/>
          </p:cNvCxnSpPr>
          <p:nvPr/>
        </p:nvCxnSpPr>
        <p:spPr>
          <a:xfrm rot="16200000" flipH="1">
            <a:off x="5572800" y="2836800"/>
            <a:ext cx="626400" cy="3060000"/>
          </a:xfrm>
          <a:prstGeom prst="bentConnector3">
            <a:avLst>
              <a:gd name="adj1" fmla="val 50000"/>
            </a:avLst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Google Shape;125;p2"/>
          <p:cNvSpPr/>
          <p:nvPr/>
        </p:nvSpPr>
        <p:spPr>
          <a:xfrm>
            <a:off x="2590800" y="630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6.1: Intro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to Technical Safety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&amp; Avoiding Catastrophic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Loss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Incidents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972290"/>
            <a:ext cx="1266348" cy="129020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340000" y="4680000"/>
            <a:ext cx="18720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340000" y="5400000"/>
            <a:ext cx="1872000" cy="5760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Loss of Control:</a:t>
            </a:r>
          </a:p>
          <a:p>
            <a:pPr algn="ctr"/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2" name="Elbow Connector 21"/>
          <p:cNvCxnSpPr>
            <a:stCxn id="3" idx="1"/>
            <a:endCxn id="20" idx="0"/>
          </p:cNvCxnSpPr>
          <p:nvPr/>
        </p:nvCxnSpPr>
        <p:spPr>
          <a:xfrm rot="5400000">
            <a:off x="3502800" y="3826800"/>
            <a:ext cx="626400" cy="1080000"/>
          </a:xfrm>
          <a:prstGeom prst="bentConnector3">
            <a:avLst>
              <a:gd name="adj1" fmla="val 50000"/>
            </a:avLst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464347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Applications of Technical Safety:</a:t>
            </a:r>
            <a:endParaRPr lang="en-US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Incident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  <a:r>
              <a:rPr lang="en-US" altLang="en-US" sz="1800" b="0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“Crane </a:t>
            </a:r>
            <a:r>
              <a:rPr lang="en-US" altLang="en-US" sz="1800" b="0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collapsed, crushing people below </a:t>
            </a:r>
            <a:r>
              <a:rPr lang="en-US" altLang="en-US" sz="1800" b="0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crane”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Typical “technical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 hazard” definition: </a:t>
            </a: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Asset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crane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Potential impact: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people crushed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Loss of Control (Trigger): Wind loads exceed </a:t>
            </a:r>
            <a:r>
              <a:rPr lang="en-US" altLang="en-US" b="0" dirty="0" err="1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spec’ns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Energy Source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Gravity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Technical Safety, RCA, and The Discovery Approach: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79400" y="2743200"/>
            <a:ext cx="29520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Crane collapsed, crushing people below crane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0000" y="4687668"/>
            <a:ext cx="17250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Crane fell to ground level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57400" y="4687669"/>
            <a:ext cx="23022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ind forces exceeded crane strength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36000" y="4687668"/>
            <a:ext cx="213484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People were below the crane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lowchart: Delay 2"/>
          <p:cNvSpPr/>
          <p:nvPr/>
        </p:nvSpPr>
        <p:spPr>
          <a:xfrm rot="16200000">
            <a:off x="4158000" y="3639600"/>
            <a:ext cx="396000" cy="432000"/>
          </a:xfrm>
          <a:prstGeom prst="flowChartDelay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Elbow Connector 4"/>
          <p:cNvCxnSpPr>
            <a:stCxn id="2" idx="2"/>
            <a:endCxn id="3" idx="3"/>
          </p:cNvCxnSpPr>
          <p:nvPr/>
        </p:nvCxnSpPr>
        <p:spPr>
          <a:xfrm rot="16200000" flipH="1">
            <a:off x="4221666" y="3523265"/>
            <a:ext cx="268069" cy="60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>
            <a:stCxn id="3" idx="1"/>
            <a:endCxn id="14" idx="0"/>
          </p:cNvCxnSpPr>
          <p:nvPr/>
        </p:nvCxnSpPr>
        <p:spPr>
          <a:xfrm rot="16200000" flipH="1">
            <a:off x="4662678" y="3746922"/>
            <a:ext cx="634068" cy="1247424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3" idx="1"/>
            <a:endCxn id="11" idx="0"/>
          </p:cNvCxnSpPr>
          <p:nvPr/>
        </p:nvCxnSpPr>
        <p:spPr>
          <a:xfrm rot="5400000">
            <a:off x="3465216" y="3796884"/>
            <a:ext cx="634069" cy="114750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/>
          <p:cNvCxnSpPr>
            <a:stCxn id="3" idx="1"/>
            <a:endCxn id="10" idx="0"/>
          </p:cNvCxnSpPr>
          <p:nvPr/>
        </p:nvCxnSpPr>
        <p:spPr>
          <a:xfrm rot="5400000">
            <a:off x="2382216" y="2713884"/>
            <a:ext cx="634068" cy="331350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80000" y="5435025"/>
            <a:ext cx="1725000" cy="58477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Energy Source: </a:t>
            </a:r>
            <a:b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gravity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057400" y="5435025"/>
            <a:ext cx="2302200" cy="58477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Loss of Control: </a:t>
            </a:r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excessive wind loads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36000" y="5435024"/>
            <a:ext cx="2134848" cy="58477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Line-of-Fire:</a:t>
            </a:r>
          </a:p>
          <a:p>
            <a:pPr algn="ctr"/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People below crane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04000" y="4684620"/>
            <a:ext cx="223174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Barriers did not keep people out of area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804000" y="5431976"/>
            <a:ext cx="2231748" cy="58477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Loss of Control:</a:t>
            </a:r>
          </a:p>
          <a:p>
            <a:pPr algn="ctr"/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Barriers not in place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8" name="Elbow Connector 37"/>
          <p:cNvCxnSpPr>
            <a:stCxn id="3" idx="1"/>
            <a:endCxn id="36" idx="0"/>
          </p:cNvCxnSpPr>
          <p:nvPr/>
        </p:nvCxnSpPr>
        <p:spPr>
          <a:xfrm rot="16200000" flipH="1">
            <a:off x="5822427" y="2587173"/>
            <a:ext cx="631020" cy="3563874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ouble Wave 3"/>
          <p:cNvSpPr/>
          <p:nvPr/>
        </p:nvSpPr>
        <p:spPr>
          <a:xfrm>
            <a:off x="219900" y="2743200"/>
            <a:ext cx="2742672" cy="1524000"/>
          </a:xfrm>
          <a:prstGeom prst="doubleWav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72000" bIns="36000" rtlCol="0" anchor="ctr"/>
          <a:lstStyle/>
          <a:p>
            <a:pPr algn="ctr"/>
            <a:r>
              <a:rPr lang="en-US" sz="1600" i="1" dirty="0" smtClean="0"/>
              <a:t>Indeed, a crane collapse is a catastrophic LI akin to a refinery explosion.</a:t>
            </a:r>
            <a:endParaRPr lang="en-US" sz="1600" i="1" dirty="0"/>
          </a:p>
        </p:txBody>
      </p:sp>
      <p:sp>
        <p:nvSpPr>
          <p:cNvPr id="25" name="Google Shape;125;p2"/>
          <p:cNvSpPr/>
          <p:nvPr/>
        </p:nvSpPr>
        <p:spPr>
          <a:xfrm>
            <a:off x="2590800" y="630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6.1: Intro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to Technical Safety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&amp; Avoiding Catastrophic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Loss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Incidents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26" name="Rectangle 3"/>
          <p:cNvSpPr>
            <a:spLocks noChangeArrowheads="1"/>
          </p:cNvSpPr>
          <p:nvPr/>
        </p:nvSpPr>
        <p:spPr bwMode="auto">
          <a:xfrm>
            <a:off x="6553200" y="864001"/>
            <a:ext cx="2513400" cy="244224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1800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Discovery Approach:</a:t>
            </a:r>
            <a:endParaRPr lang="en-US" altLang="en-US" sz="1800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+mj-lt"/>
              <a:buAutoNum type="arabicParenR"/>
            </a:pPr>
            <a:r>
              <a:rPr lang="en-US" altLang="en-US" b="0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Energy Source?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+mj-lt"/>
              <a:buAutoNum type="arabicParenR"/>
            </a:pPr>
            <a:r>
              <a:rPr lang="en-US" altLang="en-US" b="0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Line-of-Fire?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+mj-lt"/>
              <a:buAutoNum type="arabicParenR"/>
            </a:pPr>
            <a:r>
              <a:rPr lang="en-US" altLang="en-US" b="0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Loss of Control?</a:t>
            </a:r>
            <a:endParaRPr lang="en-US" altLang="en-US" sz="1800" b="0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3278" y="1920286"/>
            <a:ext cx="1266348" cy="129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2339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Each field of engineering has its equivalent catastrophic failure!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scope of Technical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goes beyond the chemical process industries.</a:t>
            </a: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Important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concept for ALL engineering disciplines!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Causes may be different, but it is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</a:t>
            </a:r>
            <a:r>
              <a:rPr lang="en-US" altLang="en-US" sz="1800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loss of control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i.e. the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loss of the integrity of the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design intent of the engineered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system that would have the equivalent magnitude or impact of a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“chemical process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safety”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incident e.g. refinery fire</a:t>
            </a: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Examples: </a:t>
            </a:r>
          </a:p>
          <a:p>
            <a:pPr marL="72000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loss of containment (loss of something you want physically contained).</a:t>
            </a:r>
          </a:p>
          <a:p>
            <a:pPr marL="72000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collapse of a structure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72000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disintegration of a machine.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0000FF"/>
          </a:solidFill>
          <a:ln w="9525">
            <a:solidFill>
              <a:srgbClr val="0000CC"/>
            </a:solidFill>
            <a:miter lim="800000"/>
            <a:headEnd/>
            <a:tailEnd/>
          </a:ln>
          <a:effectLst>
            <a:prstShdw prst="shdw17" dist="17961" dir="13500000">
              <a:srgbClr val="000000"/>
            </a:prstShdw>
          </a:effectLst>
          <a:extLst/>
        </p:spPr>
        <p:txBody>
          <a:bodyPr/>
          <a:lstStyle/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en-US" sz="2400" b="0" dirty="0" smtClean="0">
                <a:solidFill>
                  <a:srgbClr val="FFFFFF"/>
                </a:solidFill>
                <a:latin typeface="Arial" panose="020B0604020202020204" pitchFamily="34" charset="0"/>
              </a:rPr>
              <a:t>ALE #1: Technical </a:t>
            </a:r>
            <a:r>
              <a:rPr lang="en-US" altLang="en-US" sz="2400" b="0" dirty="0">
                <a:solidFill>
                  <a:srgbClr val="FFFFFF"/>
                </a:solidFill>
                <a:latin typeface="Arial" panose="020B0604020202020204" pitchFamily="34" charset="0"/>
              </a:rPr>
              <a:t>Safety – Not Just for Chemical Engineers!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80000" y="4038600"/>
            <a:ext cx="8640000" cy="1973400"/>
          </a:xfrm>
          <a:prstGeom prst="rect">
            <a:avLst/>
          </a:prstGeom>
          <a:solidFill>
            <a:srgbClr val="0000FF"/>
          </a:solidFill>
          <a:ln w="9525">
            <a:solidFill>
              <a:srgbClr val="0000CC"/>
            </a:solidFill>
            <a:miter lim="800000"/>
            <a:headEnd/>
            <a:tailEnd/>
          </a:ln>
          <a:effectLst>
            <a:prstShdw prst="shdw17" dist="17961" dir="13500000">
              <a:srgbClr val="000000"/>
            </a:prstShdw>
          </a:effec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0" eaLnBrk="1" hangingPunct="1">
              <a:spcBef>
                <a:spcPct val="50000"/>
              </a:spcBef>
              <a:buClrTx/>
              <a:buSzTx/>
              <a:buNone/>
              <a:defRPr/>
            </a:pPr>
            <a:r>
              <a:rPr lang="en-CA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Please confer </a:t>
            </a:r>
            <a:r>
              <a:rPr lang="en-CA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(chat </a:t>
            </a:r>
            <a:r>
              <a:rPr lang="en-CA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with </a:t>
            </a:r>
            <a:r>
              <a:rPr lang="en-CA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team, Open discussion)</a:t>
            </a:r>
            <a:r>
              <a:rPr lang="en-US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:</a:t>
            </a:r>
            <a:endParaRPr lang="en-US" sz="2000" b="0" i="1" dirty="0">
              <a:solidFill>
                <a:srgbClr val="FFFFFF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42900" indent="-342900"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</a:t>
            </a:r>
            <a:r>
              <a:rPr lang="en-US" sz="2000" b="0" i="1" dirty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was the nature of the catastrophic failure for </a:t>
            </a:r>
            <a:r>
              <a:rPr 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your team project loss incident i.e. the “technical safety LI”? </a:t>
            </a:r>
          </a:p>
          <a:p>
            <a:pPr marL="342900" indent="-342900"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Example </a:t>
            </a:r>
            <a:r>
              <a:rPr 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</a:t>
            </a:r>
            <a:r>
              <a:rPr lang="en-US" sz="2000" b="0" i="1" dirty="0" err="1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ChE</a:t>
            </a:r>
            <a:r>
              <a:rPr 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refinery fire” (this is a typical chemical process safety loss incident). </a:t>
            </a:r>
            <a:endParaRPr lang="en-US" sz="2000" b="0" i="1" dirty="0">
              <a:solidFill>
                <a:srgbClr val="FFFFFF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" name="Google Shape;125;p2"/>
          <p:cNvSpPr/>
          <p:nvPr/>
        </p:nvSpPr>
        <p:spPr>
          <a:xfrm>
            <a:off x="2590800" y="630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6.1: Intro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to Technical Safety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&amp; Avoiding Catastrophic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Loss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Incidents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9438052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80000" y="1836000"/>
            <a:ext cx="8640000" cy="43200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2"/>
            </a:solidFill>
            <a:miter lim="800000"/>
            <a:headEnd/>
            <a:tailEnd/>
          </a:ln>
          <a:effectLst>
            <a:prstShdw prst="shdw17" dist="17961" dir="13500000">
              <a:srgbClr val="000000"/>
            </a:prstShdw>
          </a:effec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ClrTx/>
              <a:buSzTx/>
              <a:buNone/>
              <a:defRPr/>
            </a:pPr>
            <a: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Loss of Containment:</a:t>
            </a:r>
          </a:p>
          <a:p>
            <a:pPr marL="342900" indent="-342900" eaLnBrk="1" hangingPunct="1"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Tailings </a:t>
            </a:r>
            <a:r>
              <a:rPr lang="en-CA" sz="1800" b="0" i="1" dirty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from a tailings pond</a:t>
            </a:r>
          </a:p>
          <a:p>
            <a:pPr marL="342900" indent="-342900" eaLnBrk="1" hangingPunct="1"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CA" sz="1800" b="0" i="1" dirty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Sewage from a sludge line</a:t>
            </a:r>
          </a:p>
          <a:p>
            <a:pPr marL="342900" indent="-342900" eaLnBrk="1" hangingPunct="1"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CA" sz="1800" b="0" i="1" dirty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Private </a:t>
            </a:r>
            <a: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/ secured data breach</a:t>
            </a:r>
            <a:endParaRPr lang="en-CA" sz="1800" b="0" i="1" dirty="0">
              <a:solidFill>
                <a:srgbClr val="FFFFFF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42900" indent="-342900" eaLnBrk="1" hangingPunct="1"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CA" sz="1800" b="0" i="1" dirty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Hydrocarbons from a train car</a:t>
            </a:r>
          </a:p>
          <a:p>
            <a:pPr marL="342900" indent="-342900" eaLnBrk="1" hangingPunct="1"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Slope failure of a quarry or roadway</a:t>
            </a:r>
          </a:p>
          <a:p>
            <a:pPr eaLnBrk="1" hangingPunct="1">
              <a:spcBef>
                <a:spcPts val="0"/>
              </a:spcBef>
              <a:buClrTx/>
              <a:buSzTx/>
              <a:buNone/>
              <a:defRPr/>
            </a:pPr>
            <a:endParaRPr lang="en-CA" sz="1800" b="0" i="1" dirty="0" smtClean="0">
              <a:solidFill>
                <a:srgbClr val="FFFFFF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1" hangingPunct="1">
              <a:spcBef>
                <a:spcPts val="0"/>
              </a:spcBef>
              <a:buClrTx/>
              <a:buSzTx/>
              <a:buNone/>
              <a:defRPr/>
            </a:pPr>
            <a: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Loss of Integrity of </a:t>
            </a:r>
            <a:r>
              <a:rPr lang="en-CA" sz="1800" b="0" i="1" dirty="0" err="1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Eng’d</a:t>
            </a:r>
            <a: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Systems:</a:t>
            </a:r>
          </a:p>
          <a:p>
            <a:pPr marL="342900" indent="-342900"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Aerospace</a:t>
            </a:r>
            <a:r>
              <a:rPr lang="en-CA" sz="1800" b="0" i="1" dirty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Boeing </a:t>
            </a:r>
            <a: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737MAX, </a:t>
            </a:r>
            <a:b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STS Challenger &amp; Columbia</a:t>
            </a:r>
          </a:p>
          <a:p>
            <a:pPr marL="342900" indent="-342900" eaLnBrk="1" hangingPunct="1"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Marine: off-shore BP-DWH</a:t>
            </a:r>
          </a:p>
          <a:p>
            <a:pPr marL="342900" indent="-342900" eaLnBrk="1" hangingPunct="1"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Civil: Bridges, buildings, dams, cranes </a:t>
            </a:r>
          </a:p>
          <a:p>
            <a:pPr marL="342900" indent="-342900" eaLnBrk="1" hangingPunct="1"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Transportation: Train derailments</a:t>
            </a:r>
          </a:p>
          <a:p>
            <a:pPr marL="342900" indent="-342900" eaLnBrk="1" hangingPunct="1"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Automotive / Computer Process Control:</a:t>
            </a:r>
            <a:b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sz="1800" b="0" i="1" dirty="0" err="1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Takata</a:t>
            </a:r>
            <a:r>
              <a:rPr lang="en-CA" sz="1800" b="0" i="1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airbags, Tesla self-driving vehicles</a:t>
            </a:r>
            <a:endParaRPr lang="en-CA" sz="1800" b="0" i="1" dirty="0">
              <a:solidFill>
                <a:srgbClr val="FFFFFF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15" name="Picture 14"/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912800" y="1944000"/>
            <a:ext cx="1800000" cy="1260000"/>
          </a:xfrm>
          <a:prstGeom prst="rect">
            <a:avLst/>
          </a:prstGeom>
        </p:spPr>
      </p:pic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loss of the integrity of the engineered system that would have the equivalent magnitude or impact of a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“chemical process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 loss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incident”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i.e.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 equivalent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catastrophic failure!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Technical </a:t>
            </a: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Safety – Not Just for Chemical Engineers!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 descr="El Blog de Ricardo SB: Prevención de Pérdida de Datos (I ..."/>
          <p:cNvPicPr preferRelativeResize="0"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3000" y="3312000"/>
            <a:ext cx="1800000" cy="1260000"/>
          </a:xfrm>
          <a:prstGeom prst="rect">
            <a:avLst/>
          </a:prstGeom>
        </p:spPr>
      </p:pic>
      <p:pic>
        <p:nvPicPr>
          <p:cNvPr id="11" name="Picture 10" descr="Harper to block NAFTA commission from studying tar sands ..."/>
          <p:cNvPicPr preferRelativeResize="0"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3000" y="4644000"/>
            <a:ext cx="1800000" cy="1260000"/>
          </a:xfrm>
          <a:prstGeom prst="rect">
            <a:avLst/>
          </a:prstGeom>
        </p:spPr>
      </p:pic>
      <p:pic>
        <p:nvPicPr>
          <p:cNvPr id="14" name="Picture 13"/>
          <p:cNvPicPr preferRelativeResize="0"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6963000" y="1944000"/>
            <a:ext cx="1800000" cy="1260000"/>
          </a:xfrm>
          <a:prstGeom prst="rect">
            <a:avLst/>
          </a:prstGeom>
        </p:spPr>
      </p:pic>
      <p:pic>
        <p:nvPicPr>
          <p:cNvPr id="16" name="Picture 15"/>
          <p:cNvPicPr preferRelativeResize="0"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4912800" y="3312000"/>
            <a:ext cx="1800000" cy="1260000"/>
          </a:xfrm>
          <a:prstGeom prst="rect">
            <a:avLst/>
          </a:prstGeom>
        </p:spPr>
      </p:pic>
      <p:pic>
        <p:nvPicPr>
          <p:cNvPr id="17" name="Picture 16"/>
          <p:cNvPicPr preferRelativeResize="0"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4912800" y="4644000"/>
            <a:ext cx="1800000" cy="1260000"/>
          </a:xfrm>
          <a:prstGeom prst="rect">
            <a:avLst/>
          </a:prstGeom>
        </p:spPr>
      </p:pic>
      <p:sp>
        <p:nvSpPr>
          <p:cNvPr id="18" name="Google Shape;125;p2"/>
          <p:cNvSpPr/>
          <p:nvPr/>
        </p:nvSpPr>
        <p:spPr>
          <a:xfrm>
            <a:off x="2590800" y="630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6.1: Intro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to Technical Safety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&amp; Avoiding Catastrophic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Loss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Incidents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4445268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All fields of engineering involved in Chemical Process Safety LIs!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Investigations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require expertise of many engineering disciplines (mechanical, civil, electrical, etc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.)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Chemical Process Safety Management and specialized risk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assessments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require expertise: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Design, Constructability, Operability, Maintenance, Process Control, Fire Protection, and so on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Chemical Process </a:t>
            </a: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Safety – Not Just for Chemical Engineers!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&lt;strong&gt;Railroad&lt;/strong&gt; &lt;strong&gt;tank&lt;/strong&gt; &lt;strong&gt;car&lt;/strong&gt; pictures, free use image, 25-24-6 by ..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336" y="2732736"/>
            <a:ext cx="2699999" cy="1800000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10" name="Picture 9" descr="File:Steam Pipelines Near Taupo.jpg - Wikimedia Commons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3814" y="4191000"/>
            <a:ext cx="2399999" cy="1800000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11" name="Picture 10" descr="File:&lt;strong&gt;Oil&lt;/strong&gt; Storage &lt;strong&gt;Tanks&lt;/strong&gt; - geograph.org.uk - 4843.jpg ...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6908" y="2789496"/>
            <a:ext cx="2837437" cy="1800000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4" name="Google Shape;125;p2"/>
          <p:cNvSpPr/>
          <p:nvPr/>
        </p:nvSpPr>
        <p:spPr>
          <a:xfrm>
            <a:off x="2590800" y="630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6.1: Intro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to Technical Safety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&amp; Avoiding Catastrophic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Loss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Incidents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13" name="Picture 12" descr="An oil &lt;strong&gt;refinery&lt;/strong&gt; in Groves, Texas. Original im.. | Free ...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1578" y="4156752"/>
            <a:ext cx="2696626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2641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potential immediate causes of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chemical process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 incidents are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innumerable: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algn="ctr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“Normalization of Deviance”</a:t>
            </a: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Immediate Causes of </a:t>
            </a: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Chemical Process </a:t>
            </a: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Safety </a:t>
            </a: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Loss Incidents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Freeform 46"/>
          <p:cNvSpPr/>
          <p:nvPr/>
        </p:nvSpPr>
        <p:spPr>
          <a:xfrm>
            <a:off x="2328947" y="1533083"/>
            <a:ext cx="3897999" cy="3417107"/>
          </a:xfrm>
          <a:custGeom>
            <a:avLst/>
            <a:gdLst>
              <a:gd name="connsiteX0" fmla="*/ 0 w 3897999"/>
              <a:gd name="connsiteY0" fmla="*/ 1708554 h 3417107"/>
              <a:gd name="connsiteX1" fmla="*/ 1949000 w 3897999"/>
              <a:gd name="connsiteY1" fmla="*/ 0 h 3417107"/>
              <a:gd name="connsiteX2" fmla="*/ 3898000 w 3897999"/>
              <a:gd name="connsiteY2" fmla="*/ 1708554 h 3417107"/>
              <a:gd name="connsiteX3" fmla="*/ 1949000 w 3897999"/>
              <a:gd name="connsiteY3" fmla="*/ 3417108 h 3417107"/>
              <a:gd name="connsiteX4" fmla="*/ 0 w 3897999"/>
              <a:gd name="connsiteY4" fmla="*/ 1708554 h 341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7999" h="3417107">
                <a:moveTo>
                  <a:pt x="0" y="1708554"/>
                </a:moveTo>
                <a:cubicBezTo>
                  <a:pt x="0" y="764946"/>
                  <a:pt x="872597" y="0"/>
                  <a:pt x="1949000" y="0"/>
                </a:cubicBezTo>
                <a:cubicBezTo>
                  <a:pt x="3025403" y="0"/>
                  <a:pt x="3898000" y="764946"/>
                  <a:pt x="3898000" y="1708554"/>
                </a:cubicBezTo>
                <a:cubicBezTo>
                  <a:pt x="3898000" y="2652162"/>
                  <a:pt x="3025403" y="3417108"/>
                  <a:pt x="1949000" y="3417108"/>
                </a:cubicBezTo>
                <a:cubicBezTo>
                  <a:pt x="872597" y="3417108"/>
                  <a:pt x="0" y="2652162"/>
                  <a:pt x="0" y="1708554"/>
                </a:cubicBezTo>
                <a:close/>
              </a:path>
            </a:pathLst>
          </a:custGeom>
          <a:gradFill flip="none" rotWithShape="0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spcFirstLastPara="0" vert="horz" wrap="square" lIns="647049" tIns="576624" rIns="647049" bIns="576624" numCol="1" spcCol="1270" anchor="ctr" anchorCtr="0">
            <a:noAutofit/>
          </a:bodyPr>
          <a:lstStyle/>
          <a:p>
            <a:pPr marL="0" marR="0" lvl="0" indent="0" algn="ctr" defTabSz="8890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000" i="1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Not addressing process equipment that is in imminent failure mode, a sub-standard condition. </a:t>
            </a:r>
          </a:p>
        </p:txBody>
      </p:sp>
      <p:sp>
        <p:nvSpPr>
          <p:cNvPr id="49" name="Oval 48"/>
          <p:cNvSpPr/>
          <p:nvPr/>
        </p:nvSpPr>
        <p:spPr>
          <a:xfrm>
            <a:off x="4109674" y="5332876"/>
            <a:ext cx="336544" cy="336869"/>
          </a:xfrm>
          <a:prstGeom prst="ellipse">
            <a:avLst/>
          </a:prstGeom>
          <a:gradFill flip="none" rotWithShape="0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</p:sp>
      <p:sp>
        <p:nvSpPr>
          <p:cNvPr id="50" name="Oval 49"/>
          <p:cNvSpPr/>
          <p:nvPr/>
        </p:nvSpPr>
        <p:spPr>
          <a:xfrm>
            <a:off x="6499300" y="3576439"/>
            <a:ext cx="336544" cy="336869"/>
          </a:xfrm>
          <a:prstGeom prst="ellipse">
            <a:avLst/>
          </a:prstGeom>
          <a:gradFill rotWithShape="1">
            <a:gsLst>
              <a:gs pos="0">
                <a:srgbClr val="F9DBD3">
                  <a:hueOff val="0"/>
                  <a:satOff val="0"/>
                  <a:lumOff val="0"/>
                  <a:alphaOff val="0"/>
                  <a:shade val="51000"/>
                  <a:satMod val="130000"/>
                </a:srgbClr>
              </a:gs>
              <a:gs pos="80000">
                <a:srgbClr val="F9DBD3">
                  <a:hueOff val="0"/>
                  <a:satOff val="0"/>
                  <a:lumOff val="0"/>
                  <a:alphaOff val="0"/>
                  <a:shade val="93000"/>
                  <a:satMod val="130000"/>
                </a:srgbClr>
              </a:gs>
              <a:gs pos="100000">
                <a:srgbClr val="F9DBD3">
                  <a:hueOff val="0"/>
                  <a:satOff val="0"/>
                  <a:lumOff val="0"/>
                  <a:alphaOff val="0"/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</p:sp>
      <p:sp>
        <p:nvSpPr>
          <p:cNvPr id="52" name="Oval 51"/>
          <p:cNvSpPr/>
          <p:nvPr/>
        </p:nvSpPr>
        <p:spPr>
          <a:xfrm>
            <a:off x="5153234" y="1608238"/>
            <a:ext cx="336544" cy="336869"/>
          </a:xfrm>
          <a:prstGeom prst="ellipse">
            <a:avLst/>
          </a:prstGeom>
          <a:gradFill flip="none" rotWithShape="0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</p:sp>
      <p:sp>
        <p:nvSpPr>
          <p:cNvPr id="53" name="Oval 52"/>
          <p:cNvSpPr/>
          <p:nvPr/>
        </p:nvSpPr>
        <p:spPr>
          <a:xfrm>
            <a:off x="2313514" y="5305006"/>
            <a:ext cx="336544" cy="336869"/>
          </a:xfrm>
          <a:prstGeom prst="ellipse">
            <a:avLst/>
          </a:prstGeom>
          <a:gradFill flip="none" rotWithShape="0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</p:sp>
      <p:sp>
        <p:nvSpPr>
          <p:cNvPr id="54" name="Freeform 53"/>
          <p:cNvSpPr/>
          <p:nvPr/>
        </p:nvSpPr>
        <p:spPr>
          <a:xfrm>
            <a:off x="340442" y="2243445"/>
            <a:ext cx="2508948" cy="2480953"/>
          </a:xfrm>
          <a:custGeom>
            <a:avLst/>
            <a:gdLst>
              <a:gd name="connsiteX0" fmla="*/ 0 w 2508948"/>
              <a:gd name="connsiteY0" fmla="*/ 1240477 h 2480953"/>
              <a:gd name="connsiteX1" fmla="*/ 1254474 w 2508948"/>
              <a:gd name="connsiteY1" fmla="*/ 0 h 2480953"/>
              <a:gd name="connsiteX2" fmla="*/ 2508948 w 2508948"/>
              <a:gd name="connsiteY2" fmla="*/ 1240477 h 2480953"/>
              <a:gd name="connsiteX3" fmla="*/ 1254474 w 2508948"/>
              <a:gd name="connsiteY3" fmla="*/ 2480954 h 2480953"/>
              <a:gd name="connsiteX4" fmla="*/ 0 w 2508948"/>
              <a:gd name="connsiteY4" fmla="*/ 1240477 h 2480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8948" h="2480953">
                <a:moveTo>
                  <a:pt x="0" y="1240477"/>
                </a:moveTo>
                <a:cubicBezTo>
                  <a:pt x="0" y="555380"/>
                  <a:pt x="561647" y="0"/>
                  <a:pt x="1254474" y="0"/>
                </a:cubicBezTo>
                <a:cubicBezTo>
                  <a:pt x="1947301" y="0"/>
                  <a:pt x="2508948" y="555380"/>
                  <a:pt x="2508948" y="1240477"/>
                </a:cubicBezTo>
                <a:cubicBezTo>
                  <a:pt x="2508948" y="1925574"/>
                  <a:pt x="1947301" y="2480954"/>
                  <a:pt x="1254474" y="2480954"/>
                </a:cubicBezTo>
                <a:cubicBezTo>
                  <a:pt x="561647" y="2480954"/>
                  <a:pt x="0" y="1925574"/>
                  <a:pt x="0" y="1240477"/>
                </a:cubicBezTo>
                <a:close/>
              </a:path>
            </a:pathLst>
          </a:custGeom>
          <a:gradFill flip="none" rotWithShape="0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spcFirstLastPara="0" vert="horz" wrap="square" lIns="443627" tIns="439527" rIns="443627" bIns="439527" numCol="1" spcCol="1270" anchor="ctr" anchorCtr="0">
            <a:noAutofit/>
          </a:bodyPr>
          <a:lstStyle/>
          <a:p>
            <a:pPr marL="0" marR="0" lvl="0" indent="0" algn="ctr" defTabSz="8890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000" i="1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Tolerance for substandard practices for critical procedures.</a:t>
            </a:r>
          </a:p>
        </p:txBody>
      </p:sp>
      <p:sp>
        <p:nvSpPr>
          <p:cNvPr id="55" name="Oval 54"/>
          <p:cNvSpPr/>
          <p:nvPr/>
        </p:nvSpPr>
        <p:spPr>
          <a:xfrm>
            <a:off x="1105193" y="1957055"/>
            <a:ext cx="464789" cy="464781"/>
          </a:xfrm>
          <a:prstGeom prst="ellipse">
            <a:avLst/>
          </a:prstGeom>
          <a:gradFill flip="none" rotWithShape="0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</p:sp>
      <p:sp>
        <p:nvSpPr>
          <p:cNvPr id="56" name="Oval 55"/>
          <p:cNvSpPr/>
          <p:nvPr/>
        </p:nvSpPr>
        <p:spPr>
          <a:xfrm>
            <a:off x="4113150" y="4393293"/>
            <a:ext cx="840196" cy="840219"/>
          </a:xfrm>
          <a:prstGeom prst="ellipse">
            <a:avLst/>
          </a:prstGeom>
          <a:gradFill flip="none" rotWithShape="0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</p:sp>
      <p:sp>
        <p:nvSpPr>
          <p:cNvPr id="57" name="Freeform 56"/>
          <p:cNvSpPr/>
          <p:nvPr/>
        </p:nvSpPr>
        <p:spPr>
          <a:xfrm>
            <a:off x="5588075" y="1705941"/>
            <a:ext cx="2895600" cy="2816492"/>
          </a:xfrm>
          <a:custGeom>
            <a:avLst/>
            <a:gdLst>
              <a:gd name="connsiteX0" fmla="*/ 0 w 2895600"/>
              <a:gd name="connsiteY0" fmla="*/ 1408246 h 2816492"/>
              <a:gd name="connsiteX1" fmla="*/ 1447800 w 2895600"/>
              <a:gd name="connsiteY1" fmla="*/ 0 h 2816492"/>
              <a:gd name="connsiteX2" fmla="*/ 2895600 w 2895600"/>
              <a:gd name="connsiteY2" fmla="*/ 1408246 h 2816492"/>
              <a:gd name="connsiteX3" fmla="*/ 1447800 w 2895600"/>
              <a:gd name="connsiteY3" fmla="*/ 2816492 h 2816492"/>
              <a:gd name="connsiteX4" fmla="*/ 0 w 2895600"/>
              <a:gd name="connsiteY4" fmla="*/ 1408246 h 2816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95600" h="2816492">
                <a:moveTo>
                  <a:pt x="0" y="1408246"/>
                </a:moveTo>
                <a:cubicBezTo>
                  <a:pt x="0" y="630493"/>
                  <a:pt x="648202" y="0"/>
                  <a:pt x="1447800" y="0"/>
                </a:cubicBezTo>
                <a:cubicBezTo>
                  <a:pt x="2247398" y="0"/>
                  <a:pt x="2895600" y="630493"/>
                  <a:pt x="2895600" y="1408246"/>
                </a:cubicBezTo>
                <a:cubicBezTo>
                  <a:pt x="2895600" y="2185999"/>
                  <a:pt x="2247398" y="2816492"/>
                  <a:pt x="1447800" y="2816492"/>
                </a:cubicBezTo>
                <a:cubicBezTo>
                  <a:pt x="648202" y="2816492"/>
                  <a:pt x="0" y="2185999"/>
                  <a:pt x="0" y="1408246"/>
                </a:cubicBezTo>
                <a:close/>
              </a:path>
            </a:pathLst>
          </a:custGeom>
          <a:gradFill flip="none" rotWithShape="0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spcFirstLastPara="0" vert="horz" wrap="square" lIns="500251" tIns="488666" rIns="500251" bIns="488666" numCol="1" spcCol="1270" anchor="ctr" anchorCtr="0">
            <a:noAutofit/>
          </a:bodyPr>
          <a:lstStyle/>
          <a:p>
            <a:pPr marL="0" marR="0" lvl="0" indent="0" algn="ctr" defTabSz="8890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000" i="1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Bypassing alarms or taking control systems offline.</a:t>
            </a:r>
          </a:p>
        </p:txBody>
      </p:sp>
      <p:sp>
        <p:nvSpPr>
          <p:cNvPr id="58" name="Oval 57"/>
          <p:cNvSpPr/>
          <p:nvPr/>
        </p:nvSpPr>
        <p:spPr>
          <a:xfrm>
            <a:off x="6168404" y="4191002"/>
            <a:ext cx="464789" cy="464781"/>
          </a:xfrm>
          <a:prstGeom prst="ellipse">
            <a:avLst/>
          </a:prstGeom>
          <a:gradFill flip="none" rotWithShape="0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</p:sp>
      <p:sp>
        <p:nvSpPr>
          <p:cNvPr id="59" name="Oval 58"/>
          <p:cNvSpPr/>
          <p:nvPr/>
        </p:nvSpPr>
        <p:spPr>
          <a:xfrm>
            <a:off x="5588075" y="5216225"/>
            <a:ext cx="336544" cy="336869"/>
          </a:xfrm>
          <a:prstGeom prst="ellipse">
            <a:avLst/>
          </a:prstGeom>
          <a:gradFill flip="none" rotWithShape="0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</p:sp>
      <p:sp>
        <p:nvSpPr>
          <p:cNvPr id="60" name="Oval 59"/>
          <p:cNvSpPr/>
          <p:nvPr/>
        </p:nvSpPr>
        <p:spPr>
          <a:xfrm>
            <a:off x="6026579" y="4852434"/>
            <a:ext cx="336544" cy="336869"/>
          </a:xfrm>
          <a:prstGeom prst="ellipse">
            <a:avLst/>
          </a:prstGeom>
          <a:gradFill flip="none" rotWithShape="0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</p:sp>
      <p:sp>
        <p:nvSpPr>
          <p:cNvPr id="21" name="Google Shape;125;p2"/>
          <p:cNvSpPr/>
          <p:nvPr/>
        </p:nvSpPr>
        <p:spPr>
          <a:xfrm>
            <a:off x="2590800" y="630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6.1: Intro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to Technical Safety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&amp; Avoiding Catastrophic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Loss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Incidents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1434896" y="4564008"/>
            <a:ext cx="464789" cy="464781"/>
          </a:xfrm>
          <a:prstGeom prst="ellipse">
            <a:avLst/>
          </a:prstGeom>
          <a:gradFill flip="none" rotWithShape="0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</p:sp>
      <p:sp>
        <p:nvSpPr>
          <p:cNvPr id="51" name="Oval 50"/>
          <p:cNvSpPr/>
          <p:nvPr/>
        </p:nvSpPr>
        <p:spPr>
          <a:xfrm>
            <a:off x="7844804" y="1776673"/>
            <a:ext cx="464789" cy="464781"/>
          </a:xfrm>
          <a:prstGeom prst="ellipse">
            <a:avLst/>
          </a:prstGeom>
          <a:gradFill flip="none" rotWithShape="0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</p:sp>
      <p:sp>
        <p:nvSpPr>
          <p:cNvPr id="22" name="Oval 21"/>
          <p:cNvSpPr/>
          <p:nvPr/>
        </p:nvSpPr>
        <p:spPr>
          <a:xfrm>
            <a:off x="1899685" y="5020868"/>
            <a:ext cx="336544" cy="336869"/>
          </a:xfrm>
          <a:prstGeom prst="ellipse">
            <a:avLst/>
          </a:prstGeom>
          <a:gradFill flip="none" rotWithShape="0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</p:sp>
    </p:spTree>
    <p:extLst>
      <p:ext uri="{BB962C8B-B14F-4D97-AF65-F5344CB8AC3E}">
        <p14:creationId xmlns:p14="http://schemas.microsoft.com/office/powerpoint/2010/main" val="156685161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extLst/>
        </p:spPr>
        <p:txBody>
          <a:bodyPr wrap="square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en-US" sz="24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Small Diameter Tubing – Industrial / Refinery </a:t>
            </a:r>
            <a:r>
              <a:rPr lang="en-US" altLang="en-US" sz="24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Installations:</a:t>
            </a:r>
            <a:endParaRPr lang="en-US" altLang="en-US" sz="24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519800" y="828000"/>
            <a:ext cx="4300200" cy="5328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>
            <a:noAutofit/>
          </a:bodyPr>
          <a:lstStyle/>
          <a:p>
            <a:pPr marL="432000" indent="-432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Consider </a:t>
            </a:r>
            <a:r>
              <a:rPr lang="en-US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small-diameter process tubing that is commonly used in many industrial process unit operations, as depicted here.</a:t>
            </a: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828000"/>
            <a:ext cx="4062600" cy="5328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 bwMode="auto">
          <a:xfrm>
            <a:off x="1066800" y="2743200"/>
            <a:ext cx="1870710" cy="2362200"/>
          </a:xfrm>
          <a:prstGeom prst="round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834890" y="1981200"/>
            <a:ext cx="3657600" cy="4140000"/>
            <a:chOff x="4834890" y="1981200"/>
            <a:chExt cx="3657600" cy="4140000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34890" y="1981200"/>
              <a:ext cx="3657600" cy="4140000"/>
            </a:xfrm>
            <a:prstGeom prst="rect">
              <a:avLst/>
            </a:prstGeom>
          </p:spPr>
        </p:pic>
        <p:cxnSp>
          <p:nvCxnSpPr>
            <p:cNvPr id="12" name="Straight Connector 11"/>
            <p:cNvCxnSpPr/>
            <p:nvPr/>
          </p:nvCxnSpPr>
          <p:spPr bwMode="auto">
            <a:xfrm flipV="1">
              <a:off x="6206490" y="3933003"/>
              <a:ext cx="1565910" cy="221620"/>
            </a:xfrm>
            <a:prstGeom prst="line">
              <a:avLst/>
            </a:prstGeom>
            <a:solidFill>
              <a:schemeClr val="accent1"/>
            </a:solidFill>
            <a:ln w="127000" cap="flat" cmpd="sng" algn="ctr">
              <a:solidFill>
                <a:srgbClr val="FF0000">
                  <a:alpha val="6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" name="Straight Connector 12"/>
            <p:cNvCxnSpPr/>
            <p:nvPr/>
          </p:nvCxnSpPr>
          <p:spPr bwMode="auto">
            <a:xfrm flipH="1" flipV="1">
              <a:off x="6206490" y="4154623"/>
              <a:ext cx="41910" cy="1181974"/>
            </a:xfrm>
            <a:prstGeom prst="line">
              <a:avLst/>
            </a:prstGeom>
            <a:solidFill>
              <a:schemeClr val="accent1"/>
            </a:solidFill>
            <a:ln w="127000" cap="flat" cmpd="sng" algn="ctr">
              <a:solidFill>
                <a:srgbClr val="FF0000">
                  <a:alpha val="6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" name="Straight Connector 13"/>
            <p:cNvCxnSpPr/>
            <p:nvPr/>
          </p:nvCxnSpPr>
          <p:spPr bwMode="auto">
            <a:xfrm flipV="1">
              <a:off x="5181600" y="2086169"/>
              <a:ext cx="0" cy="1736024"/>
            </a:xfrm>
            <a:prstGeom prst="line">
              <a:avLst/>
            </a:prstGeom>
            <a:solidFill>
              <a:schemeClr val="accent1"/>
            </a:solidFill>
            <a:ln w="127000" cap="flat" cmpd="sng" algn="ctr">
              <a:solidFill>
                <a:srgbClr val="FF0000">
                  <a:alpha val="6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Straight Connector 14"/>
            <p:cNvCxnSpPr/>
            <p:nvPr/>
          </p:nvCxnSpPr>
          <p:spPr bwMode="auto">
            <a:xfrm flipV="1">
              <a:off x="4834890" y="4921361"/>
              <a:ext cx="651510" cy="50336"/>
            </a:xfrm>
            <a:prstGeom prst="line">
              <a:avLst/>
            </a:prstGeom>
            <a:solidFill>
              <a:schemeClr val="accent1"/>
            </a:solidFill>
            <a:ln w="127000" cap="flat" cmpd="sng" algn="ctr">
              <a:solidFill>
                <a:srgbClr val="FF0000">
                  <a:alpha val="6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Straight Connector 15"/>
            <p:cNvCxnSpPr/>
            <p:nvPr/>
          </p:nvCxnSpPr>
          <p:spPr bwMode="auto">
            <a:xfrm>
              <a:off x="5414943" y="4921361"/>
              <a:ext cx="757257" cy="415236"/>
            </a:xfrm>
            <a:prstGeom prst="line">
              <a:avLst/>
            </a:prstGeom>
            <a:solidFill>
              <a:schemeClr val="accent1"/>
            </a:solidFill>
            <a:ln w="127000" cap="flat" cmpd="sng" algn="ctr">
              <a:solidFill>
                <a:srgbClr val="FF0000">
                  <a:alpha val="6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Straight Connector 16"/>
            <p:cNvCxnSpPr/>
            <p:nvPr/>
          </p:nvCxnSpPr>
          <p:spPr bwMode="auto">
            <a:xfrm flipV="1">
              <a:off x="6968490" y="4995234"/>
              <a:ext cx="118110" cy="267489"/>
            </a:xfrm>
            <a:prstGeom prst="line">
              <a:avLst/>
            </a:prstGeom>
            <a:solidFill>
              <a:schemeClr val="accent1"/>
            </a:solidFill>
            <a:ln w="127000" cap="flat" cmpd="sng" algn="ctr">
              <a:solidFill>
                <a:srgbClr val="FF0000">
                  <a:alpha val="6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Straight Connector 17"/>
            <p:cNvCxnSpPr/>
            <p:nvPr/>
          </p:nvCxnSpPr>
          <p:spPr bwMode="auto">
            <a:xfrm>
              <a:off x="6445820" y="5262724"/>
              <a:ext cx="757257" cy="415236"/>
            </a:xfrm>
            <a:prstGeom prst="line">
              <a:avLst/>
            </a:prstGeom>
            <a:solidFill>
              <a:schemeClr val="accent1"/>
            </a:solidFill>
            <a:ln w="127000" cap="flat" cmpd="sng" algn="ctr">
              <a:solidFill>
                <a:srgbClr val="FF0000">
                  <a:alpha val="6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Straight Connector 18"/>
            <p:cNvCxnSpPr/>
            <p:nvPr/>
          </p:nvCxnSpPr>
          <p:spPr bwMode="auto">
            <a:xfrm>
              <a:off x="7086600" y="5128979"/>
              <a:ext cx="0" cy="429238"/>
            </a:xfrm>
            <a:prstGeom prst="line">
              <a:avLst/>
            </a:prstGeom>
            <a:solidFill>
              <a:schemeClr val="accent1"/>
            </a:solidFill>
            <a:ln w="127000" cap="flat" cmpd="sng" algn="ctr">
              <a:solidFill>
                <a:srgbClr val="FF0000">
                  <a:alpha val="6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0" name="Google Shape;125;p2"/>
          <p:cNvSpPr/>
          <p:nvPr/>
        </p:nvSpPr>
        <p:spPr>
          <a:xfrm>
            <a:off x="2590800" y="630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6.1: Intro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to Technical Safety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&amp; Avoiding Catastrophic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Loss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Incidents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5417788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180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Incident 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1: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Caused </a:t>
            </a:r>
            <a:r>
              <a:rPr lang="en-US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by ½-inch stainless steel tube between a heat transfer fluid (antifreeze, combustible) pump and a process vessel failed at a fitting near the process vessel. 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resulting leak sprayed onto a </a:t>
            </a:r>
            <a:r>
              <a:rPr lang="en-US" altLang="en-US" sz="1800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re-boiler, very hot surfaces, </a:t>
            </a:r>
            <a:r>
              <a:rPr lang="en-US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ignited causing significant equipment damage. 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tubing failure was </a:t>
            </a:r>
            <a:r>
              <a:rPr lang="en-US" altLang="en-US" sz="1800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result of uncontrolled vibration </a:t>
            </a:r>
            <a:r>
              <a:rPr lang="en-US" altLang="en-US" sz="1800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pump</a:t>
            </a:r>
            <a:r>
              <a:rPr lang="en-US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Incident 2: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Gas leak from ½-inch tubing for pump seal was detected during LNG </a:t>
            </a:r>
            <a:r>
              <a:rPr lang="en-US" altLang="en-US" sz="1800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(Liquefied Natural Gas) plant startup.</a:t>
            </a:r>
            <a:endParaRPr lang="en-US" altLang="en-US" sz="1800" b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Deficient repairs done by unqualified </a:t>
            </a:r>
            <a:r>
              <a:rPr lang="en-US" altLang="en-US" sz="1800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technician.</a:t>
            </a:r>
            <a:endParaRPr lang="en-US" altLang="en-US" sz="1800" b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When the plant re-started, tubing failed completely causing an LNG leak and fire.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1800" i="1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 </a:t>
            </a:r>
            <a:r>
              <a:rPr lang="en-US" altLang="en-US" sz="1800" i="1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engineer responsible for these LI’s, </a:t>
            </a:r>
            <a:r>
              <a:rPr lang="en-US" altLang="en-US" sz="1800" i="1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would you do?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extLst/>
        </p:spPr>
        <p:txBody>
          <a:bodyPr wrap="square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en-US" sz="24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Two Incidents Involving Tubing Failure: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oogle Shape;125;p2"/>
          <p:cNvSpPr/>
          <p:nvPr/>
        </p:nvSpPr>
        <p:spPr>
          <a:xfrm>
            <a:off x="2590800" y="630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6.1: Intro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to Technical Safety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&amp; Avoiding Catastrophic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Loss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Incidents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7108375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should we do?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Tubing may not be as durable as pipe and may be more easily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damaged.; therefore, avoid </a:t>
            </a: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impacts to tubing and tubing connections.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Report damaged or leaking tubing observed in the plant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repair it. Report &amp; </a:t>
            </a: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correct sub-standard conditions i.e. “see it - own it – solve it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”.</a:t>
            </a:r>
            <a:endParaRPr lang="en-US" altLang="en-US" b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0" hangingPunct="0">
              <a:lnSpc>
                <a:spcPct val="90000"/>
              </a:lnSpc>
              <a:spcBef>
                <a:spcPts val="0"/>
              </a:spcBef>
              <a:buSzPct val="100000"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 design, installation, operation, maintenance: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Follow procedures for tubing identification and isolation for work.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Review procedures for installation, inspection, &amp; maintenance of tubing.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Use qualified personnel to install and repair tubing.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Use correct tools for installation and maintenance of tubing.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Use correct components – tubing, ferrules, nuts,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</a:t>
            </a: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fittings - do not mix components from different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manufacturers</a:t>
            </a: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Ask your tubing supplier to provide information on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proper </a:t>
            </a: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installation and maintenance of their product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0" hangingPunct="0">
              <a:lnSpc>
                <a:spcPct val="90000"/>
              </a:lnSpc>
              <a:spcBef>
                <a:spcPts val="0"/>
              </a:spcBef>
              <a:buSzPct val="100000"/>
            </a:pP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But it is not just about “using the right technology” …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Use your leadership skills to </a:t>
            </a:r>
            <a:r>
              <a:rPr lang="en-US" altLang="en-US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actively practice </a:t>
            </a:r>
            <a:br>
              <a:rPr lang="en-US" altLang="en-US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your technical safety expertise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to </a:t>
            </a:r>
            <a:r>
              <a:rPr lang="en-US" altLang="en-US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demonstrate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b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commitment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and set the example!</a:t>
            </a:r>
            <a:endParaRPr lang="en-US" altLang="en-US" b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extLst/>
        </p:spPr>
        <p:txBody>
          <a:bodyPr wrap="square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en-US" sz="24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Two Incidents Involving Tubing Failure: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oogle Shape;125;p2"/>
          <p:cNvSpPr/>
          <p:nvPr/>
        </p:nvSpPr>
        <p:spPr>
          <a:xfrm>
            <a:off x="2590800" y="630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6.1: Intro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to Technical Safety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&amp; Avoiding Catastrophic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Loss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Incidents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08D308-443E-4056-AF5E-AEFC5B070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188" y="4038600"/>
            <a:ext cx="2089512" cy="191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384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xtLst/>
        </p:spPr>
        <p:txBody>
          <a:bodyPr wrap="square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en-US" sz="24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ALE #2: </a:t>
            </a:r>
            <a:r>
              <a:rPr lang="en-US" altLang="en-US" sz="24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Mechanical Integrity of Tubing</a:t>
            </a:r>
          </a:p>
        </p:txBody>
      </p:sp>
      <p:sp>
        <p:nvSpPr>
          <p:cNvPr id="2" name="Rectangle 1"/>
          <p:cNvSpPr/>
          <p:nvPr/>
        </p:nvSpPr>
        <p:spPr>
          <a:xfrm>
            <a:off x="180000" y="2286000"/>
            <a:ext cx="8640000" cy="387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txBody>
          <a:bodyPr wrap="square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0" dirty="0" smtClean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0" dirty="0" smtClean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0" dirty="0" smtClean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0" dirty="0" smtClean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0" dirty="0" smtClean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Please </a:t>
            </a:r>
            <a:r>
              <a:rPr lang="en-US" sz="20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confer and respond (MM-Poll):</a:t>
            </a:r>
            <a:endParaRPr lang="en-US" sz="2000" b="0" dirty="0" smtClean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is a </a:t>
            </a:r>
            <a:r>
              <a:rPr lang="en-US" sz="20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“loss of control (trigger)” </a:t>
            </a: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that could result in a failure of tubing integrity and a loss </a:t>
            </a:r>
            <a:r>
              <a:rPr lang="en-US" sz="20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incident?</a:t>
            </a:r>
            <a:endParaRPr lang="en-US" sz="20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80000" y="828000"/>
            <a:ext cx="8640000" cy="14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A9C8F"/>
              </a:buClr>
              <a:buFont typeface="Wingdings" pitchFamily="2" charset="2"/>
              <a:buChar char="§"/>
              <a:defRPr sz="2800">
                <a:solidFill>
                  <a:srgbClr val="4D4D4D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None/>
            </a:pPr>
            <a:r>
              <a:rPr lang="en-US" altLang="en-US" sz="2000" b="0" kern="1200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Tubing, including metal, plastic, rubber, and other materials, is commonly used in process plants</a:t>
            </a:r>
            <a:r>
              <a:rPr lang="en-US" altLang="en-US" sz="2000" b="0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  <a:endParaRPr lang="en-US" altLang="en-US" sz="2000" b="0" kern="1200" dirty="0" smtClean="0">
              <a:solidFill>
                <a:srgbClr val="FFFFFF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>
              <a:spcBef>
                <a:spcPts val="0"/>
              </a:spcBef>
              <a:buClrTx/>
              <a:buSzPct val="100000"/>
              <a:buFont typeface="Wingdings" pitchFamily="2" charset="2"/>
              <a:buChar char="Ø"/>
            </a:pPr>
            <a:r>
              <a:rPr lang="en-US" altLang="en-US" sz="2000" b="0" kern="1200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Where do we use tubing?</a:t>
            </a:r>
          </a:p>
          <a:p>
            <a:pPr marL="360000" indent="-360000">
              <a:spcBef>
                <a:spcPts val="0"/>
              </a:spcBef>
              <a:buClrTx/>
              <a:buSzPct val="100000"/>
              <a:buFont typeface="Wingdings" pitchFamily="2" charset="2"/>
              <a:buChar char="Ø"/>
            </a:pPr>
            <a:r>
              <a:rPr lang="en-US" altLang="en-US" sz="2000" b="0" kern="1200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Could failure of a tubing system result in a chemical process safety </a:t>
            </a:r>
            <a:r>
              <a:rPr lang="en-US" altLang="en-US" sz="2000" b="0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</a:t>
            </a:r>
            <a:r>
              <a:rPr lang="en-US" altLang="en-US" sz="2000" b="0" kern="1200" dirty="0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?</a:t>
            </a:r>
            <a:endParaRPr lang="en-US" altLang="en-US" sz="1600" b="0" kern="1200" dirty="0">
              <a:solidFill>
                <a:srgbClr val="FFFFFF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1" name="Google Shape;125;p2"/>
          <p:cNvSpPr/>
          <p:nvPr/>
        </p:nvSpPr>
        <p:spPr>
          <a:xfrm>
            <a:off x="2590800" y="630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6.1: Intro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to Technical Safety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&amp; Avoiding Catastrophic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Loss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Incidents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6232" y="2286000"/>
            <a:ext cx="2687536" cy="2738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94207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b="0" u="sng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Sub-standard conditions</a:t>
            </a: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can be found </a:t>
            </a: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during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inspections on:</a:t>
            </a:r>
            <a:endParaRPr lang="en-US" altLang="en-US" b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instrument fluid connections: To </a:t>
            </a: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flush pump and agitator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seals, for </a:t>
            </a: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other applications with small flow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requirements e.g. density meters</a:t>
            </a:r>
            <a:endParaRPr lang="en-US" altLang="en-US" b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conduit </a:t>
            </a: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connections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instrument signals, electrical power supply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Example: </a:t>
            </a: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improper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assembly</a:t>
            </a:r>
            <a:endParaRPr lang="en-US" altLang="en-US" b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0" hangingPunct="0">
              <a:lnSpc>
                <a:spcPct val="90000"/>
              </a:lnSpc>
              <a:spcBef>
                <a:spcPts val="0"/>
              </a:spcBef>
              <a:buSzPct val="100000"/>
            </a:pPr>
            <a:r>
              <a:rPr lang="en-US" altLang="en-US" b="0" u="sng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Loss of Control: </a:t>
            </a:r>
            <a:endParaRPr lang="en-US" altLang="en-US" b="0" u="sng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vibration </a:t>
            </a: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fatigue failure;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misalignment stress </a:t>
            </a: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– forced fit or struck by;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wrong </a:t>
            </a: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fitting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loosened</a:t>
            </a:r>
            <a:r>
              <a:rPr lang="en-US" altLang="en-US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(also a sub-standard practice)</a:t>
            </a:r>
          </a:p>
          <a:p>
            <a:pPr eaLnBrk="0" hangingPunct="0">
              <a:lnSpc>
                <a:spcPct val="90000"/>
              </a:lnSpc>
              <a:spcBef>
                <a:spcPts val="0"/>
              </a:spcBef>
              <a:buSzPct val="100000"/>
            </a:pPr>
            <a:r>
              <a:rPr lang="en-US" altLang="en-US" b="0" u="sng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Release </a:t>
            </a:r>
            <a:r>
              <a:rPr lang="en-US" altLang="en-US" b="0" u="sng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 Energy: 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Fluid or electricity!</a:t>
            </a:r>
            <a:endParaRPr lang="en-US" altLang="en-US" b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Imagem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75"/>
          <a:stretch/>
        </p:blipFill>
        <p:spPr bwMode="auto">
          <a:xfrm>
            <a:off x="736186" y="3428999"/>
            <a:ext cx="1870982" cy="266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" name="Picture 8" descr="Imagem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114"/>
          <a:stretch/>
        </p:blipFill>
        <p:spPr bwMode="auto">
          <a:xfrm>
            <a:off x="3124201" y="3429000"/>
            <a:ext cx="1578427" cy="266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" name="Picture 9" descr="Imagem6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63" t="-9048" r="14076" b="9048"/>
          <a:stretch/>
        </p:blipFill>
        <p:spPr bwMode="auto">
          <a:xfrm>
            <a:off x="5120640" y="3170903"/>
            <a:ext cx="2505061" cy="2925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xtLst/>
        </p:spPr>
        <p:txBody>
          <a:bodyPr wrap="square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en-US" sz="24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Example: </a:t>
            </a:r>
            <a:r>
              <a:rPr lang="en-US" altLang="en-US" sz="24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Mechanical Integrity of Tubing</a:t>
            </a:r>
          </a:p>
        </p:txBody>
      </p:sp>
      <p:sp>
        <p:nvSpPr>
          <p:cNvPr id="16" name="Google Shape;125;p2"/>
          <p:cNvSpPr/>
          <p:nvPr/>
        </p:nvSpPr>
        <p:spPr>
          <a:xfrm>
            <a:off x="2590800" y="630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6.1: Intro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to Technical Safety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&amp; Avoiding Catastrophic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Loss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Incidents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737809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818596" cy="5292824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txBody>
          <a:bodyPr wrap="squar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en-US" sz="2000" b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 the Discovery Approach to Your Team Project Loss Incident to start your RCA </a:t>
            </a:r>
            <a:r>
              <a:rPr lang="en-US" altLang="en-US" sz="2000" b="0" dirty="0" err="1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Chartefinition</a:t>
            </a:r>
            <a:r>
              <a:rPr lang="en-US" altLang="en-US" sz="2000" b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“technical safety hazard”: </a:t>
            </a:r>
          </a:p>
          <a:p>
            <a:pPr marL="0" lvl="1" indent="-180000"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bg1"/>
                </a:solidFill>
              </a:rPr>
              <a:t>Asset: ?</a:t>
            </a:r>
          </a:p>
          <a:p>
            <a:pPr marL="0" lvl="1" indent="-180000"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bg1"/>
                </a:solidFill>
              </a:rPr>
              <a:t>Potential Impact: ?</a:t>
            </a:r>
          </a:p>
          <a:p>
            <a:pPr marL="0" lvl="1" indent="-180000"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bg1"/>
                </a:solidFill>
              </a:rPr>
              <a:t>Loss of Control (Trigger): ?</a:t>
            </a:r>
          </a:p>
          <a:p>
            <a:pPr marL="0" lvl="1" indent="-180000"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bg1"/>
                </a:solidFill>
              </a:rPr>
              <a:t>Energy Source: </a:t>
            </a:r>
            <a:r>
              <a:rPr lang="en-US" altLang="en-US" dirty="0" smtClean="0">
                <a:solidFill>
                  <a:schemeClr val="bg1"/>
                </a:solidFill>
              </a:rPr>
              <a:t>?</a:t>
            </a:r>
            <a:endParaRPr lang="en-US" altLang="en-US" sz="2000" b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1" name="Rectangle 3"/>
          <p:cNvSpPr>
            <a:spLocks noChangeArrowheads="1"/>
          </p:cNvSpPr>
          <p:nvPr/>
        </p:nvSpPr>
        <p:spPr bwMode="auto">
          <a:xfrm>
            <a:off x="6172200" y="1824958"/>
            <a:ext cx="2665800" cy="244224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1800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Discovery Approach:</a:t>
            </a:r>
            <a:endParaRPr lang="en-US" altLang="en-US" sz="1800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+mj-lt"/>
              <a:buAutoNum type="arabicParenR"/>
            </a:pPr>
            <a:r>
              <a:rPr lang="en-US" altLang="en-US" b="0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Energy Source?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+mj-lt"/>
              <a:buAutoNum type="arabicParenR"/>
            </a:pPr>
            <a:r>
              <a:rPr lang="en-US" altLang="en-US" b="0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Line-of-Fire?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+mj-lt"/>
              <a:buAutoNum type="arabicParenR"/>
            </a:pPr>
            <a:r>
              <a:rPr lang="en-US" altLang="en-US" b="0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Loss of Control?</a:t>
            </a:r>
            <a:endParaRPr lang="en-US" altLang="en-US" sz="1800" b="0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xtLst/>
        </p:spPr>
        <p:txBody>
          <a:bodyPr wrap="square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en-US" sz="24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Example: </a:t>
            </a:r>
            <a:r>
              <a:rPr lang="en-US" altLang="en-US" sz="24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sz="24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Discovery </a:t>
            </a:r>
            <a:r>
              <a:rPr lang="en-US" altLang="en-US" sz="24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Approach and Your RCA:</a:t>
            </a:r>
            <a:endParaRPr lang="en-US" altLang="en-US" sz="24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79400" y="2743200"/>
            <a:ext cx="295200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Your incident description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8000" y="4680000"/>
            <a:ext cx="18720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28000" y="4680000"/>
            <a:ext cx="18720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lowchart: Delay 2"/>
          <p:cNvSpPr/>
          <p:nvPr/>
        </p:nvSpPr>
        <p:spPr>
          <a:xfrm rot="16200000">
            <a:off x="4158000" y="3639600"/>
            <a:ext cx="396000" cy="432000"/>
          </a:xfrm>
          <a:prstGeom prst="flowChartDelay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Elbow Connector 4"/>
          <p:cNvCxnSpPr>
            <a:stCxn id="2" idx="2"/>
            <a:endCxn id="3" idx="3"/>
          </p:cNvCxnSpPr>
          <p:nvPr/>
        </p:nvCxnSpPr>
        <p:spPr>
          <a:xfrm rot="16200000" flipH="1">
            <a:off x="4221666" y="3523265"/>
            <a:ext cx="268069" cy="600"/>
          </a:xfrm>
          <a:prstGeom prst="bentConnector3">
            <a:avLst>
              <a:gd name="adj1" fmla="val 50000"/>
            </a:avLst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>
            <a:stCxn id="3" idx="1"/>
            <a:endCxn id="14" idx="0"/>
          </p:cNvCxnSpPr>
          <p:nvPr/>
        </p:nvCxnSpPr>
        <p:spPr>
          <a:xfrm rot="16200000" flipH="1">
            <a:off x="4546800" y="3862800"/>
            <a:ext cx="626400" cy="1008000"/>
          </a:xfrm>
          <a:prstGeom prst="bentConnector3">
            <a:avLst>
              <a:gd name="adj1" fmla="val 50000"/>
            </a:avLst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/>
          <p:cNvCxnSpPr>
            <a:stCxn id="3" idx="1"/>
            <a:endCxn id="10" idx="0"/>
          </p:cNvCxnSpPr>
          <p:nvPr/>
        </p:nvCxnSpPr>
        <p:spPr>
          <a:xfrm rot="5400000">
            <a:off x="2476800" y="2800800"/>
            <a:ext cx="626400" cy="3132000"/>
          </a:xfrm>
          <a:prstGeom prst="bentConnector3">
            <a:avLst>
              <a:gd name="adj1" fmla="val 50000"/>
            </a:avLst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88000" y="5400000"/>
            <a:ext cx="1872000" cy="5760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Energy Source: </a:t>
            </a:r>
            <a:b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428000" y="5400000"/>
            <a:ext cx="1872000" cy="5760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Line-of-Fire:</a:t>
            </a:r>
          </a:p>
          <a:p>
            <a:pPr algn="ctr"/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80000" y="4680000"/>
            <a:ext cx="18720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480000" y="5400000"/>
            <a:ext cx="1872000" cy="5760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Loss of Control:</a:t>
            </a:r>
          </a:p>
          <a:p>
            <a:pPr algn="ctr"/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8" name="Elbow Connector 37"/>
          <p:cNvCxnSpPr>
            <a:stCxn id="3" idx="1"/>
            <a:endCxn id="36" idx="0"/>
          </p:cNvCxnSpPr>
          <p:nvPr/>
        </p:nvCxnSpPr>
        <p:spPr>
          <a:xfrm rot="16200000" flipH="1">
            <a:off x="5572800" y="2836800"/>
            <a:ext cx="626400" cy="3060000"/>
          </a:xfrm>
          <a:prstGeom prst="bentConnector3">
            <a:avLst>
              <a:gd name="adj1" fmla="val 50000"/>
            </a:avLst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Google Shape;125;p2"/>
          <p:cNvSpPr/>
          <p:nvPr/>
        </p:nvSpPr>
        <p:spPr>
          <a:xfrm>
            <a:off x="2590800" y="630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6.1: Intro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to Technical Safety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&amp; Avoiding Catastrophic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Loss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Incidents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933247"/>
            <a:ext cx="1266348" cy="129020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340000" y="4680000"/>
            <a:ext cx="18720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340000" y="5400000"/>
            <a:ext cx="1872000" cy="5760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Loss of Control:</a:t>
            </a:r>
          </a:p>
          <a:p>
            <a:pPr algn="ctr"/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2" name="Elbow Connector 21"/>
          <p:cNvCxnSpPr>
            <a:stCxn id="3" idx="1"/>
            <a:endCxn id="20" idx="0"/>
          </p:cNvCxnSpPr>
          <p:nvPr/>
        </p:nvCxnSpPr>
        <p:spPr>
          <a:xfrm rot="5400000">
            <a:off x="3502800" y="3826800"/>
            <a:ext cx="626400" cy="1080000"/>
          </a:xfrm>
          <a:prstGeom prst="bentConnector3">
            <a:avLst>
              <a:gd name="adj1" fmla="val 50000"/>
            </a:avLst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410218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Differences between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Occupational Safety LI and Technical Safety LI: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Magnitude of the impacts on PEAP as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technical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 incidents are typically at least an order of magnitude worse than occupational safety incidents.</a:t>
            </a: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Occupational Safety LI: a worker was injured during the course of physical </a:t>
            </a:r>
            <a:r>
              <a:rPr lang="en-US" altLang="en-US" sz="2000" b="0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labour</a:t>
            </a: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Technical Safety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LI: </a:t>
            </a:r>
            <a:r>
              <a:rPr lang="en-US" altLang="en-US" sz="2000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loss of </a:t>
            </a:r>
            <a:r>
              <a:rPr lang="en-US" altLang="en-US" sz="2000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control i.e. loss of the integrity </a:t>
            </a:r>
            <a:r>
              <a:rPr lang="en-US" altLang="en-US" sz="2000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 the design intent of the engineered </a:t>
            </a:r>
            <a:r>
              <a:rPr lang="en-US" altLang="en-US" sz="2000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system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; this usually results in a catastrophic LI</a:t>
            </a: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Chemical Process Safety is a specific sub-set of Technical Safety; process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management is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about keeping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hazardous substances contained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and/or controlled (prevention of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release, mitigation in event of a release). </a:t>
            </a: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2000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Catastrophic LI’s are NOT unique to the chemical process industries.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Technical safety and process safety are not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just for chemical engineers!</a:t>
            </a: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investigation into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any technical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 incident requires the expertise of various engineering disciplines (mechanical, civil, electrical, etc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.)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Summary and Key Lesson: 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oogle Shape;125;p2"/>
          <p:cNvSpPr/>
          <p:nvPr/>
        </p:nvSpPr>
        <p:spPr>
          <a:xfrm>
            <a:off x="2590800" y="630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6.1: Intro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to Technical Safety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&amp; Avoiding Catastrophic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Loss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Incidents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2876893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xtLst/>
        </p:spPr>
        <p:txBody>
          <a:bodyPr wrap="square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en-US" sz="24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Any questions?</a:t>
            </a:r>
            <a:endParaRPr lang="en-US" altLang="en-US" sz="24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53208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69557</TotalTime>
  <Words>1833</Words>
  <Application>Microsoft Office PowerPoint</Application>
  <PresentationFormat>On-screen Show (4:3)</PresentationFormat>
  <Paragraphs>297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ＭＳ Ｐゴシック</vt:lpstr>
      <vt:lpstr>Arial</vt:lpstr>
      <vt:lpstr>Calibri</vt:lpstr>
      <vt:lpstr>Times New Roman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University of Texas at Austin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MSB</dc:creator>
  <cp:lastModifiedBy>John Cocchio</cp:lastModifiedBy>
  <cp:revision>1965</cp:revision>
  <cp:lastPrinted>2018-12-17T22:21:47Z</cp:lastPrinted>
  <dcterms:created xsi:type="dcterms:W3CDTF">2007-03-28T16:18:47Z</dcterms:created>
  <dcterms:modified xsi:type="dcterms:W3CDTF">2022-05-30T16:22:09Z</dcterms:modified>
</cp:coreProperties>
</file>