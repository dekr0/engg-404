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51" r:id="rId2"/>
  </p:sldMasterIdLst>
  <p:notesMasterIdLst>
    <p:notesMasterId r:id="rId21"/>
  </p:notesMasterIdLst>
  <p:handoutMasterIdLst>
    <p:handoutMasterId r:id="rId22"/>
  </p:handoutMasterIdLst>
  <p:sldIdLst>
    <p:sldId id="929" r:id="rId3"/>
    <p:sldId id="880" r:id="rId4"/>
    <p:sldId id="1004" r:id="rId5"/>
    <p:sldId id="936" r:id="rId6"/>
    <p:sldId id="967" r:id="rId7"/>
    <p:sldId id="939" r:id="rId8"/>
    <p:sldId id="940" r:id="rId9"/>
    <p:sldId id="966" r:id="rId10"/>
    <p:sldId id="927" r:id="rId11"/>
    <p:sldId id="968" r:id="rId12"/>
    <p:sldId id="969" r:id="rId13"/>
    <p:sldId id="970" r:id="rId14"/>
    <p:sldId id="971" r:id="rId15"/>
    <p:sldId id="972" r:id="rId16"/>
    <p:sldId id="948" r:id="rId17"/>
    <p:sldId id="995" r:id="rId18"/>
    <p:sldId id="923" r:id="rId19"/>
    <p:sldId id="900" r:id="rId20"/>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929"/>
            <p14:sldId id="880"/>
            <p14:sldId id="1004"/>
            <p14:sldId id="936"/>
            <p14:sldId id="967"/>
            <p14:sldId id="939"/>
            <p14:sldId id="940"/>
            <p14:sldId id="966"/>
            <p14:sldId id="927"/>
            <p14:sldId id="968"/>
            <p14:sldId id="969"/>
            <p14:sldId id="970"/>
            <p14:sldId id="971"/>
            <p14:sldId id="972"/>
            <p14:sldId id="948"/>
            <p14:sldId id="995"/>
            <p14:sldId id="923"/>
            <p14:sldId id="900"/>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00"/>
    <a:srgbClr val="F8F8F8"/>
    <a:srgbClr val="0000CC"/>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11" autoAdjust="0"/>
    <p:restoredTop sz="87967" autoAdjust="0"/>
  </p:normalViewPr>
  <p:slideViewPr>
    <p:cSldViewPr>
      <p:cViewPr varScale="1">
        <p:scale>
          <a:sx n="61" d="100"/>
          <a:sy n="61" d="100"/>
        </p:scale>
        <p:origin x="1508" y="64"/>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9680"/>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5/30/2022</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5/30/2022</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xfrm>
            <a:off x="1181100" y="698500"/>
            <a:ext cx="4648200"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3327217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6415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215" name="Google Shape;215;p10: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4</a:t>
            </a:fld>
            <a:endParaRPr sz="1200">
              <a:solidFill>
                <a:schemeClr val="dk1"/>
              </a:solidFill>
              <a:latin typeface="Times New Roman"/>
              <a:ea typeface="Times New Roman"/>
              <a:cs typeface="Times New Roman"/>
              <a:sym typeface="Times New Roman"/>
            </a:endParaRPr>
          </a:p>
        </p:txBody>
      </p:sp>
      <p:sp>
        <p:nvSpPr>
          <p:cNvPr id="216" name="Google Shape;216;p10: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4</a:t>
            </a:fld>
            <a:endParaRPr sz="1200">
              <a:solidFill>
                <a:schemeClr val="dk1"/>
              </a:solidFill>
              <a:latin typeface="Times New Roman"/>
              <a:ea typeface="Times New Roman"/>
              <a:cs typeface="Times New Roman"/>
              <a:sym typeface="Times New Roman"/>
            </a:endParaRPr>
          </a:p>
        </p:txBody>
      </p:sp>
      <p:sp>
        <p:nvSpPr>
          <p:cNvPr id="217" name="Google Shape;217;p10: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0: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79951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215" name="Google Shape;215;p10: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6" name="Google Shape;216;p10: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7" name="Google Shape;217;p10: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0: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8491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215" name="Google Shape;215;p10: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6" name="Google Shape;216;p10: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7" name="Google Shape;217;p10: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0: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Tree>
    <p:extLst>
      <p:ext uri="{BB962C8B-B14F-4D97-AF65-F5344CB8AC3E}">
        <p14:creationId xmlns:p14="http://schemas.microsoft.com/office/powerpoint/2010/main" val="2817554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4:notes"/>
          <p:cNvSpPr txBox="1">
            <a:spLocks noGrp="1"/>
          </p:cNvSpPr>
          <p:nvPr>
            <p:ph type="body" idx="1"/>
          </p:nvPr>
        </p:nvSpPr>
        <p:spPr>
          <a:xfrm>
            <a:off x="927730" y="4424471"/>
            <a:ext cx="5099378" cy="4188858"/>
          </a:xfrm>
          <a:prstGeom prst="rect">
            <a:avLst/>
          </a:prstGeom>
        </p:spPr>
        <p:txBody>
          <a:bodyPr spcFirstLastPara="1" wrap="square" lIns="92900" tIns="46450" rIns="92900" bIns="46450" anchor="t" anchorCtr="0">
            <a:noAutofit/>
          </a:bodyPr>
          <a:lstStyle/>
          <a:p>
            <a:pPr marL="0" lvl="0" indent="0" algn="l" rtl="0">
              <a:spcBef>
                <a:spcPts val="360"/>
              </a:spcBef>
              <a:spcAft>
                <a:spcPts val="0"/>
              </a:spcAft>
              <a:buNone/>
            </a:pPr>
            <a:endParaRPr dirty="0"/>
          </a:p>
        </p:txBody>
      </p:sp>
      <p:sp>
        <p:nvSpPr>
          <p:cNvPr id="262" name="Google Shape;262;p14:notes"/>
          <p:cNvSpPr>
            <a:spLocks noGrp="1" noRot="1" noChangeAspect="1"/>
          </p:cNvSpPr>
          <p:nvPr>
            <p:ph type="sldImg" idx="2"/>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5122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7021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9</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9</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257603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8: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312" name="Google Shape;312;p18: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10</a:t>
            </a:fld>
            <a:endParaRPr sz="1200">
              <a:solidFill>
                <a:schemeClr val="dk1"/>
              </a:solidFill>
              <a:latin typeface="Times New Roman"/>
              <a:ea typeface="Times New Roman"/>
              <a:cs typeface="Times New Roman"/>
              <a:sym typeface="Times New Roman"/>
            </a:endParaRPr>
          </a:p>
        </p:txBody>
      </p:sp>
      <p:sp>
        <p:nvSpPr>
          <p:cNvPr id="313" name="Google Shape;313;p18: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10</a:t>
            </a:fld>
            <a:endParaRPr sz="1200">
              <a:solidFill>
                <a:schemeClr val="dk1"/>
              </a:solidFill>
              <a:latin typeface="Times New Roman"/>
              <a:ea typeface="Times New Roman"/>
              <a:cs typeface="Times New Roman"/>
              <a:sym typeface="Times New Roman"/>
            </a:endParaRPr>
          </a:p>
        </p:txBody>
      </p:sp>
      <p:sp>
        <p:nvSpPr>
          <p:cNvPr id="314" name="Google Shape;314;p18: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5" name="Google Shape;315;p18: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360"/>
              </a:spcBef>
              <a:spcAft>
                <a:spcPts val="0"/>
              </a:spcAft>
              <a:buNone/>
            </a:pPr>
            <a:endParaRPr dirty="0"/>
          </a:p>
        </p:txBody>
      </p:sp>
    </p:spTree>
    <p:extLst>
      <p:ext uri="{BB962C8B-B14F-4D97-AF65-F5344CB8AC3E}">
        <p14:creationId xmlns:p14="http://schemas.microsoft.com/office/powerpoint/2010/main" val="30193694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9: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324" name="Google Shape;324;p19: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11</a:t>
            </a:fld>
            <a:endParaRPr sz="1200">
              <a:solidFill>
                <a:schemeClr val="dk1"/>
              </a:solidFill>
              <a:latin typeface="Times New Roman"/>
              <a:ea typeface="Times New Roman"/>
              <a:cs typeface="Times New Roman"/>
              <a:sym typeface="Times New Roman"/>
            </a:endParaRPr>
          </a:p>
        </p:txBody>
      </p:sp>
      <p:sp>
        <p:nvSpPr>
          <p:cNvPr id="325" name="Google Shape;325;p19: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11</a:t>
            </a:fld>
            <a:endParaRPr sz="1200">
              <a:solidFill>
                <a:schemeClr val="dk1"/>
              </a:solidFill>
              <a:latin typeface="Times New Roman"/>
              <a:ea typeface="Times New Roman"/>
              <a:cs typeface="Times New Roman"/>
              <a:sym typeface="Times New Roman"/>
            </a:endParaRPr>
          </a:p>
        </p:txBody>
      </p:sp>
      <p:sp>
        <p:nvSpPr>
          <p:cNvPr id="326" name="Google Shape;326;p19: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9: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lang="en-CA" dirty="0"/>
          </a:p>
        </p:txBody>
      </p:sp>
    </p:spTree>
    <p:extLst>
      <p:ext uri="{BB962C8B-B14F-4D97-AF65-F5344CB8AC3E}">
        <p14:creationId xmlns:p14="http://schemas.microsoft.com/office/powerpoint/2010/main" val="1877212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9: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324" name="Google Shape;324;p19: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5" name="Google Shape;325;p19: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6" name="Google Shape;326;p19: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9: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lang="en-CA" dirty="0"/>
          </a:p>
        </p:txBody>
      </p:sp>
    </p:spTree>
    <p:extLst>
      <p:ext uri="{BB962C8B-B14F-4D97-AF65-F5344CB8AC3E}">
        <p14:creationId xmlns:p14="http://schemas.microsoft.com/office/powerpoint/2010/main" val="563939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7: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300" name="Google Shape;300;p17: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13</a:t>
            </a:fld>
            <a:endParaRPr sz="1200">
              <a:solidFill>
                <a:schemeClr val="dk1"/>
              </a:solidFill>
              <a:latin typeface="Times New Roman"/>
              <a:ea typeface="Times New Roman"/>
              <a:cs typeface="Times New Roman"/>
              <a:sym typeface="Times New Roman"/>
            </a:endParaRPr>
          </a:p>
        </p:txBody>
      </p:sp>
      <p:sp>
        <p:nvSpPr>
          <p:cNvPr id="301" name="Google Shape;301;p17: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13</a:t>
            </a:fld>
            <a:endParaRPr sz="1200">
              <a:solidFill>
                <a:schemeClr val="dk1"/>
              </a:solidFill>
              <a:latin typeface="Times New Roman"/>
              <a:ea typeface="Times New Roman"/>
              <a:cs typeface="Times New Roman"/>
              <a:sym typeface="Times New Roman"/>
            </a:endParaRPr>
          </a:p>
        </p:txBody>
      </p:sp>
      <p:sp>
        <p:nvSpPr>
          <p:cNvPr id="302" name="Google Shape;302;p17: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3" name="Google Shape;303;p17: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Font typeface="Arial" panose="020B0604020202020204" pitchFamily="34" charset="0"/>
              <a:buNone/>
            </a:pPr>
            <a:endParaRPr dirty="0"/>
          </a:p>
        </p:txBody>
      </p:sp>
    </p:spTree>
    <p:extLst>
      <p:ext uri="{BB962C8B-B14F-4D97-AF65-F5344CB8AC3E}">
        <p14:creationId xmlns:p14="http://schemas.microsoft.com/office/powerpoint/2010/main" val="2381602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7: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300" name="Google Shape;300;p17: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14</a:t>
            </a:fld>
            <a:endParaRPr sz="1200">
              <a:solidFill>
                <a:schemeClr val="dk1"/>
              </a:solidFill>
              <a:latin typeface="Times New Roman"/>
              <a:ea typeface="Times New Roman"/>
              <a:cs typeface="Times New Roman"/>
              <a:sym typeface="Times New Roman"/>
            </a:endParaRPr>
          </a:p>
        </p:txBody>
      </p:sp>
      <p:sp>
        <p:nvSpPr>
          <p:cNvPr id="301" name="Google Shape;301;p17: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14</a:t>
            </a:fld>
            <a:endParaRPr sz="1200">
              <a:solidFill>
                <a:schemeClr val="dk1"/>
              </a:solidFill>
              <a:latin typeface="Times New Roman"/>
              <a:ea typeface="Times New Roman"/>
              <a:cs typeface="Times New Roman"/>
              <a:sym typeface="Times New Roman"/>
            </a:endParaRPr>
          </a:p>
        </p:txBody>
      </p:sp>
      <p:sp>
        <p:nvSpPr>
          <p:cNvPr id="302" name="Google Shape;302;p17: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3" name="Google Shape;303;p17: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Font typeface="Arial" panose="020B0604020202020204" pitchFamily="34" charset="0"/>
              <a:buNone/>
            </a:pPr>
            <a:endParaRPr dirty="0"/>
          </a:p>
        </p:txBody>
      </p:sp>
    </p:spTree>
    <p:extLst>
      <p:ext uri="{BB962C8B-B14F-4D97-AF65-F5344CB8AC3E}">
        <p14:creationId xmlns:p14="http://schemas.microsoft.com/office/powerpoint/2010/main" val="12561829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9: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324" name="Google Shape;324;p19: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5" name="Google Shape;325;p19: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6" name="Google Shape;326;p19: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9: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dirty="0"/>
          </a:p>
        </p:txBody>
      </p:sp>
    </p:spTree>
    <p:extLst>
      <p:ext uri="{BB962C8B-B14F-4D97-AF65-F5344CB8AC3E}">
        <p14:creationId xmlns:p14="http://schemas.microsoft.com/office/powerpoint/2010/main" val="2247236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9: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324" name="Google Shape;324;p19: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5" name="Google Shape;325;p19: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6" name="Google Shape;326;p19: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9: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dirty="0"/>
          </a:p>
        </p:txBody>
      </p:sp>
    </p:spTree>
    <p:extLst>
      <p:ext uri="{BB962C8B-B14F-4D97-AF65-F5344CB8AC3E}">
        <p14:creationId xmlns:p14="http://schemas.microsoft.com/office/powerpoint/2010/main" val="39783558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91411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18</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18</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5/30/2022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4"/>
            <a:ext cx="7772400" cy="1470025"/>
          </a:xfrm>
        </p:spPr>
        <p:txBody>
          <a:bodyPr/>
          <a:lstStyle>
            <a:lvl1pPr>
              <a:spcBef>
                <a:spcPct val="20000"/>
              </a:spcBef>
              <a:defRPr sz="27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2350267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257175" indent="-257175">
              <a:buClrTx/>
              <a:buFont typeface="Wingdings" charset="2"/>
              <a:buChar char="§"/>
              <a:defRPr sz="1800">
                <a:solidFill>
                  <a:schemeClr val="tx1"/>
                </a:solidFill>
              </a:defRPr>
            </a:lvl1pPr>
            <a:lvl2pPr marL="557213" indent="-214313">
              <a:buClrTx/>
              <a:buFont typeface="Arial"/>
              <a:buChar char="•"/>
              <a:defRPr sz="1650">
                <a:solidFill>
                  <a:schemeClr val="tx1"/>
                </a:solidFill>
              </a:defRPr>
            </a:lvl2pPr>
            <a:lvl3pPr marL="857250" indent="-171450">
              <a:buClrTx/>
              <a:buFont typeface="Arial"/>
              <a:buChar char="•"/>
              <a:defRPr sz="1500">
                <a:solidFill>
                  <a:schemeClr val="tx1"/>
                </a:solidFill>
              </a:defRPr>
            </a:lvl3pPr>
            <a:lvl4pPr marL="1200150" indent="-171450">
              <a:buClrTx/>
              <a:buFont typeface="Arial"/>
              <a:buChar char="•"/>
              <a:defRPr>
                <a:solidFill>
                  <a:schemeClr val="tx1"/>
                </a:solidFill>
              </a:defRPr>
            </a:lvl4pPr>
            <a:lvl5pPr marL="1543050" indent="-17145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64931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9"/>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9"/>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0322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118CC2-884A-4430-8B4F-9976F3C29C24}" type="datetimeFigureOut">
              <a:rPr kumimoji="0" 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5/30/2022</a:t>
            </a:fld>
            <a:endParaRPr kumimoji="0" 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1823322-A425-42F9-B4E6-DE1BA6748FF3}" type="slidenum">
              <a:rPr kumimoji="0" lang="en-US" alt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33591283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42"/>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830290"/>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Lst>
  <p:hf hdr="0" ftr="0" dt="0"/>
  <p:txStyles>
    <p:titleStyle>
      <a:lvl1pPr algn="ctr" rtl="0" eaLnBrk="0" fontAlgn="base" hangingPunct="0">
        <a:spcBef>
          <a:spcPct val="0"/>
        </a:spcBef>
        <a:spcAft>
          <a:spcPct val="0"/>
        </a:spcAft>
        <a:defRPr sz="2700" b="1">
          <a:solidFill>
            <a:schemeClr val="accent2"/>
          </a:solidFill>
          <a:latin typeface="Calibri" pitchFamily="34" charset="0"/>
          <a:ea typeface="+mj-ea"/>
          <a:cs typeface="+mj-cs"/>
        </a:defRPr>
      </a:lvl1pPr>
      <a:lvl2pPr algn="ctr" rtl="0" eaLnBrk="0" fontAlgn="base" hangingPunct="0">
        <a:spcBef>
          <a:spcPct val="0"/>
        </a:spcBef>
        <a:spcAft>
          <a:spcPct val="0"/>
        </a:spcAft>
        <a:defRPr sz="2700">
          <a:solidFill>
            <a:srgbClr val="002C5F"/>
          </a:solidFill>
          <a:latin typeface="Calibri" pitchFamily="34" charset="0"/>
        </a:defRPr>
      </a:lvl2pPr>
      <a:lvl3pPr algn="ctr" rtl="0" eaLnBrk="0" fontAlgn="base" hangingPunct="0">
        <a:spcBef>
          <a:spcPct val="0"/>
        </a:spcBef>
        <a:spcAft>
          <a:spcPct val="0"/>
        </a:spcAft>
        <a:defRPr sz="2700">
          <a:solidFill>
            <a:srgbClr val="002C5F"/>
          </a:solidFill>
          <a:latin typeface="Calibri" pitchFamily="34" charset="0"/>
        </a:defRPr>
      </a:lvl3pPr>
      <a:lvl4pPr algn="ctr" rtl="0" eaLnBrk="0" fontAlgn="base" hangingPunct="0">
        <a:spcBef>
          <a:spcPct val="0"/>
        </a:spcBef>
        <a:spcAft>
          <a:spcPct val="0"/>
        </a:spcAft>
        <a:defRPr sz="2700">
          <a:solidFill>
            <a:srgbClr val="002C5F"/>
          </a:solidFill>
          <a:latin typeface="Calibri" pitchFamily="34" charset="0"/>
        </a:defRPr>
      </a:lvl4pPr>
      <a:lvl5pPr algn="ctr" rtl="0" eaLnBrk="0" fontAlgn="base" hangingPunct="0">
        <a:spcBef>
          <a:spcPct val="0"/>
        </a:spcBef>
        <a:spcAft>
          <a:spcPct val="0"/>
        </a:spcAft>
        <a:defRPr sz="2700">
          <a:solidFill>
            <a:srgbClr val="002C5F"/>
          </a:solidFill>
          <a:latin typeface="Calibri" pitchFamily="34" charset="0"/>
        </a:defRPr>
      </a:lvl5pPr>
      <a:lvl6pPr marL="342900" algn="ctr" rtl="0" fontAlgn="base">
        <a:spcBef>
          <a:spcPct val="0"/>
        </a:spcBef>
        <a:spcAft>
          <a:spcPct val="0"/>
        </a:spcAft>
        <a:defRPr sz="2700" b="1">
          <a:solidFill>
            <a:srgbClr val="002C5F"/>
          </a:solidFill>
          <a:latin typeface="Arial" charset="0"/>
        </a:defRPr>
      </a:lvl6pPr>
      <a:lvl7pPr marL="685800" algn="ctr" rtl="0" fontAlgn="base">
        <a:spcBef>
          <a:spcPct val="0"/>
        </a:spcBef>
        <a:spcAft>
          <a:spcPct val="0"/>
        </a:spcAft>
        <a:defRPr sz="2700" b="1">
          <a:solidFill>
            <a:srgbClr val="002C5F"/>
          </a:solidFill>
          <a:latin typeface="Arial" charset="0"/>
        </a:defRPr>
      </a:lvl7pPr>
      <a:lvl8pPr marL="1028700" algn="ctr" rtl="0" fontAlgn="base">
        <a:spcBef>
          <a:spcPct val="0"/>
        </a:spcBef>
        <a:spcAft>
          <a:spcPct val="0"/>
        </a:spcAft>
        <a:defRPr sz="2700" b="1">
          <a:solidFill>
            <a:srgbClr val="002C5F"/>
          </a:solidFill>
          <a:latin typeface="Arial" charset="0"/>
        </a:defRPr>
      </a:lvl8pPr>
      <a:lvl9pPr marL="1371600" algn="ctr" rtl="0" fontAlgn="base">
        <a:spcBef>
          <a:spcPct val="0"/>
        </a:spcBef>
        <a:spcAft>
          <a:spcPct val="0"/>
        </a:spcAft>
        <a:defRPr sz="2700" b="1">
          <a:solidFill>
            <a:srgbClr val="002C5F"/>
          </a:solidFill>
          <a:latin typeface="Arial" charset="0"/>
        </a:defRPr>
      </a:lvl9pPr>
    </p:titleStyle>
    <p:bodyStyle>
      <a:lvl1pPr marL="257175" indent="-257175" algn="l" rtl="0" eaLnBrk="0" fontAlgn="base" hangingPunct="0">
        <a:spcBef>
          <a:spcPct val="20000"/>
        </a:spcBef>
        <a:spcAft>
          <a:spcPct val="0"/>
        </a:spcAft>
        <a:buClr>
          <a:srgbClr val="AA9C8F"/>
        </a:buClr>
        <a:buFont typeface="Wingdings" pitchFamily="2" charset="2"/>
        <a:buChar char="§"/>
        <a:defRPr sz="2100">
          <a:solidFill>
            <a:srgbClr val="4D4D4D"/>
          </a:solidFill>
          <a:latin typeface="Calibri" pitchFamily="34" charset="0"/>
          <a:ea typeface="+mn-ea"/>
          <a:cs typeface="+mn-cs"/>
        </a:defRPr>
      </a:lvl1pPr>
      <a:lvl2pPr marL="557213" indent="-214313" algn="l" rtl="0" eaLnBrk="0" fontAlgn="base" hangingPunct="0">
        <a:spcBef>
          <a:spcPct val="20000"/>
        </a:spcBef>
        <a:spcAft>
          <a:spcPct val="0"/>
        </a:spcAft>
        <a:buClr>
          <a:srgbClr val="C75B12"/>
        </a:buClr>
        <a:buFont typeface="Wingdings" pitchFamily="2" charset="2"/>
        <a:buChar char="§"/>
        <a:defRPr sz="1950">
          <a:solidFill>
            <a:schemeClr val="tx1"/>
          </a:solidFill>
          <a:latin typeface="Calibri" pitchFamily="34" charset="0"/>
        </a:defRPr>
      </a:lvl2pPr>
      <a:lvl3pPr marL="857250" indent="-171450" algn="l" rtl="0" eaLnBrk="0" fontAlgn="base" hangingPunct="0">
        <a:spcBef>
          <a:spcPct val="20000"/>
        </a:spcBef>
        <a:spcAft>
          <a:spcPct val="0"/>
        </a:spcAft>
        <a:buClr>
          <a:srgbClr val="C75B12"/>
        </a:buClr>
        <a:buFont typeface="Wingdings" pitchFamily="2" charset="2"/>
        <a:buChar char="§"/>
        <a:defRPr sz="1800">
          <a:solidFill>
            <a:schemeClr val="tx1"/>
          </a:solidFill>
          <a:latin typeface="Calibri" pitchFamily="34" charset="0"/>
        </a:defRPr>
      </a:lvl3pPr>
      <a:lvl4pPr marL="1200150" indent="-171450" algn="l" rtl="0" eaLnBrk="0" fontAlgn="base" hangingPunct="0">
        <a:spcBef>
          <a:spcPct val="20000"/>
        </a:spcBef>
        <a:spcAft>
          <a:spcPct val="0"/>
        </a:spcAft>
        <a:buClr>
          <a:srgbClr val="C75B12"/>
        </a:buClr>
        <a:buFont typeface="Wingdings" pitchFamily="2" charset="2"/>
        <a:buChar char="§"/>
        <a:defRPr sz="1500">
          <a:solidFill>
            <a:schemeClr val="tx1"/>
          </a:solidFill>
          <a:latin typeface="Calibri" pitchFamily="34" charset="0"/>
        </a:defRPr>
      </a:lvl4pPr>
      <a:lvl5pPr marL="1543050" indent="-171450" algn="l" rtl="0" eaLnBrk="0" fontAlgn="base" hangingPunct="0">
        <a:spcBef>
          <a:spcPct val="20000"/>
        </a:spcBef>
        <a:spcAft>
          <a:spcPct val="0"/>
        </a:spcAft>
        <a:buClr>
          <a:srgbClr val="C75B12"/>
        </a:buClr>
        <a:buFont typeface="Wingdings" pitchFamily="2" charset="2"/>
        <a:buChar char="§"/>
        <a:defRPr sz="1500">
          <a:solidFill>
            <a:schemeClr val="tx1"/>
          </a:solidFill>
          <a:latin typeface="Calibri" pitchFamily="34" charset="0"/>
        </a:defRPr>
      </a:lvl5pPr>
      <a:lvl6pPr marL="18859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6pPr>
      <a:lvl7pPr marL="22288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7pPr>
      <a:lvl8pPr marL="25717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8pPr>
      <a:lvl9pPr marL="29146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hyperlink" Target="https://www.cbc.ca/news/canada/british-columbia/discipline-engineers-mount-polley-mine-waste-quesnel-lake-1.6137265"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9.jp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80000" y="864000"/>
            <a:ext cx="882000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180000" y="2304000"/>
            <a:ext cx="8820000" cy="257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Case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Study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5</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a:t>
            </a:r>
            <a:endPar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Mount </a:t>
            </a:r>
            <a:r>
              <a:rPr lang="en-US" altLang="en-US" sz="3200" b="1" dirty="0" err="1"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Polley</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Tailings Storage Facility Failure,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Imperial Metals,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near Likely</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British Columbia,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4-August-2014</a:t>
            </a:r>
            <a:endPar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id="{45837290-7F22-4D42-BFDD-D5AD4C09C01F}"/>
              </a:ext>
            </a:extLst>
          </p:cNvPr>
          <p:cNvSpPr txBox="1"/>
          <p:nvPr/>
        </p:nvSpPr>
        <p:spPr>
          <a:xfrm>
            <a:off x="135000" y="108000"/>
            <a:ext cx="9918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Fundamentals of Risk Management</a:t>
            </a:r>
          </a:p>
        </p:txBody>
      </p:sp>
      <p:sp>
        <p:nvSpPr>
          <p:cNvPr id="10" name="TextBox 9">
            <a:extLst>
              <a:ext uri="{FF2B5EF4-FFF2-40B4-BE49-F238E27FC236}">
                <a16:creationId xmlns:a16="http://schemas.microsoft.com/office/drawing/2014/main" id="{7618FDCA-D6EA-3540-8AE2-F6CD31336ABE}"/>
              </a:ext>
            </a:extLst>
          </p:cNvPr>
          <p:cNvSpPr txBox="1"/>
          <p:nvPr/>
        </p:nvSpPr>
        <p:spPr>
          <a:xfrm>
            <a:off x="1215000" y="108000"/>
            <a:ext cx="90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RM System, </a:t>
            </a:r>
            <a:r>
              <a:rPr kumimoji="0" lang="en-US" sz="1000" b="0" i="0" u="none" strike="noStrike" kern="0" cap="none" spc="0" normalizeH="0" baseline="0" noProof="0" dirty="0" smtClean="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Process, </a:t>
            </a: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&amp; Program</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695000" y="108000"/>
            <a:ext cx="991800" cy="540000"/>
          </a:xfrm>
          <a:prstGeom prst="rect">
            <a:avLst/>
          </a:prstGeom>
          <a:solidFill>
            <a:srgbClr val="FFFF00"/>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smtClean="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Applications </a:t>
            </a: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&amp;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4455000" y="108000"/>
            <a:ext cx="90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People &amp; Organizations</a:t>
            </a:r>
          </a:p>
        </p:txBody>
      </p:sp>
      <p:sp>
        <p:nvSpPr>
          <p:cNvPr id="13" name="TextBox 12">
            <a:extLst>
              <a:ext uri="{FF2B5EF4-FFF2-40B4-BE49-F238E27FC236}">
                <a16:creationId xmlns:a16="http://schemas.microsoft.com/office/drawing/2014/main" id="{00457A8C-8AD1-BC48-A393-2CA6461462C7}"/>
              </a:ext>
            </a:extLst>
          </p:cNvPr>
          <p:cNvSpPr txBox="1"/>
          <p:nvPr/>
        </p:nvSpPr>
        <p:spPr>
          <a:xfrm>
            <a:off x="2295000" y="108000"/>
            <a:ext cx="900000" cy="540000"/>
          </a:xfrm>
          <a:prstGeom prst="rect">
            <a:avLst/>
          </a:prstGeom>
          <a:solidFill>
            <a:srgbClr val="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Incident Investigation &amp; Analysis</a:t>
            </a:r>
          </a:p>
        </p:txBody>
      </p:sp>
      <p:sp>
        <p:nvSpPr>
          <p:cNvPr id="14" name="TextBox 13">
            <a:extLst>
              <a:ext uri="{FF2B5EF4-FFF2-40B4-BE49-F238E27FC236}">
                <a16:creationId xmlns:a16="http://schemas.microsoft.com/office/drawing/2014/main" id="{D7E14612-2C60-CA49-88DC-A40274E52BE8}"/>
              </a:ext>
            </a:extLst>
          </p:cNvPr>
          <p:cNvSpPr txBox="1"/>
          <p:nvPr/>
        </p:nvSpPr>
        <p:spPr>
          <a:xfrm>
            <a:off x="3375000" y="108000"/>
            <a:ext cx="810000" cy="540000"/>
          </a:xfrm>
          <a:prstGeom prst="rect">
            <a:avLst/>
          </a:prstGeom>
          <a:solidFill>
            <a:srgbClr val="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6615000" y="108000"/>
            <a:ext cx="81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Leadership in RM</a:t>
            </a:r>
          </a:p>
        </p:txBody>
      </p:sp>
      <p:sp>
        <p:nvSpPr>
          <p:cNvPr id="23" name="TextBox 22">
            <a:extLst>
              <a:ext uri="{FF2B5EF4-FFF2-40B4-BE49-F238E27FC236}">
                <a16:creationId xmlns:a16="http://schemas.microsoft.com/office/drawing/2014/main" id="{E97011C2-9A0B-664B-83CB-DE2410B86B87}"/>
              </a:ext>
            </a:extLst>
          </p:cNvPr>
          <p:cNvSpPr txBox="1"/>
          <p:nvPr/>
        </p:nvSpPr>
        <p:spPr>
          <a:xfrm>
            <a:off x="5535000" y="108000"/>
            <a:ext cx="90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RM as Applied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000" y="4320000"/>
            <a:ext cx="1800000" cy="1800000"/>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0313" y="4320000"/>
            <a:ext cx="2638887" cy="1800000"/>
          </a:xfrm>
          <a:prstGeom prst="rect">
            <a:avLst/>
          </a:prstGeom>
        </p:spPr>
      </p:pic>
      <p:cxnSp>
        <p:nvCxnSpPr>
          <p:cNvPr id="5" name="Straight Arrow Connector 4"/>
          <p:cNvCxnSpPr>
            <a:stCxn id="9" idx="3"/>
            <a:endCxn id="10" idx="1"/>
          </p:cNvCxnSpPr>
          <p:nvPr/>
        </p:nvCxnSpPr>
        <p:spPr>
          <a:xfrm>
            <a:off x="1126800" y="378000"/>
            <a:ext cx="882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0" idx="3"/>
            <a:endCxn id="13" idx="1"/>
          </p:cNvCxnSpPr>
          <p:nvPr/>
        </p:nvCxnSpPr>
        <p:spPr>
          <a:xfrm>
            <a:off x="211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3"/>
            <a:endCxn id="14" idx="1"/>
          </p:cNvCxnSpPr>
          <p:nvPr/>
        </p:nvCxnSpPr>
        <p:spPr>
          <a:xfrm>
            <a:off x="319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4" idx="3"/>
            <a:endCxn id="12" idx="1"/>
          </p:cNvCxnSpPr>
          <p:nvPr/>
        </p:nvCxnSpPr>
        <p:spPr>
          <a:xfrm>
            <a:off x="4185000" y="378000"/>
            <a:ext cx="27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12" idx="3"/>
            <a:endCxn id="23" idx="1"/>
          </p:cNvCxnSpPr>
          <p:nvPr/>
        </p:nvCxnSpPr>
        <p:spPr>
          <a:xfrm>
            <a:off x="535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3" idx="3"/>
            <a:endCxn id="15" idx="1"/>
          </p:cNvCxnSpPr>
          <p:nvPr/>
        </p:nvCxnSpPr>
        <p:spPr>
          <a:xfrm>
            <a:off x="643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15" idx="3"/>
            <a:endCxn id="11" idx="1"/>
          </p:cNvCxnSpPr>
          <p:nvPr/>
        </p:nvCxnSpPr>
        <p:spPr>
          <a:xfrm>
            <a:off x="7425000" y="378000"/>
            <a:ext cx="27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27917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Explore the basis for complacency in the following risk management system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elements, and explain:</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Management Leadership, Commitment and Accountability </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 Assessment and Management of Risks </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Design, Construction and Start-up </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Employee Competency and Training</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Recognize a situation where the degradation of management leadership and risk assessment applies to a loss incident, and apply the principles of risk management in a case study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analysis. </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Update: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3"/>
              </a:rPr>
              <a:t>https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3"/>
              </a:rPr>
              <a:t>://</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3"/>
              </a:rPr>
              <a:t>www.cbc.ca/news/canada/british-columbia/discipline-engineers-mount-polley-mine-waste-quesnel-lake-1.6137265</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5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455612" y="990600"/>
            <a:ext cx="4116388" cy="51654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algn="ctr" eaLnBrk="0" hangingPunct="0">
              <a:lnSpc>
                <a:spcPct val="100000"/>
              </a:lnSpc>
              <a:spcBef>
                <a:spcPts val="0"/>
              </a:spcBef>
              <a:buClr>
                <a:srgbClr val="000000"/>
              </a:buClr>
              <a:buSzPct val="100000"/>
              <a:buNone/>
            </a:pPr>
            <a:r>
              <a:rPr lang="en-US" altLang="en-US"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BEFORE</a:t>
            </a:r>
          </a:p>
          <a:p>
            <a:pPr marL="0" indent="0" algn="ctr"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Tailings Storage Facility (TSF)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intact – the blue pond.</a:t>
            </a:r>
            <a:endPar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a:solidFill>
                  <a:schemeClr val="accent2"/>
                </a:solidFill>
                <a:latin typeface="Arial" panose="020B0604020202020204" pitchFamily="34" charset="0"/>
                <a:ea typeface="+mj-ea"/>
                <a:cs typeface="Arial" panose="020B0604020202020204" pitchFamily="34" charset="0"/>
              </a:rPr>
              <a:t>Polley</a:t>
            </a:r>
            <a:r>
              <a:rPr lang="en-US" altLang="en-US" sz="2400" b="0" dirty="0">
                <a:solidFill>
                  <a:schemeClr val="accent2"/>
                </a:solidFill>
                <a:latin typeface="Arial" panose="020B0604020202020204" pitchFamily="34" charset="0"/>
                <a:ea typeface="+mj-ea"/>
                <a:cs typeface="Arial" panose="020B0604020202020204" pitchFamily="34" charset="0"/>
              </a:rPr>
              <a:t> – Before and After the </a:t>
            </a:r>
            <a:r>
              <a:rPr lang="en-US" altLang="en-US" sz="2400" b="0" dirty="0" smtClean="0">
                <a:solidFill>
                  <a:schemeClr val="accent2"/>
                </a:solidFill>
                <a:latin typeface="Arial" panose="020B0604020202020204" pitchFamily="34" charset="0"/>
                <a:ea typeface="+mj-ea"/>
                <a:cs typeface="Arial" panose="020B0604020202020204" pitchFamily="34" charset="0"/>
              </a:rPr>
              <a:t>Technical Loss Incident: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5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descr="A close up of a mountain&#10;&#10;Description automatically generated">
            <a:extLst>
              <a:ext uri="{FF2B5EF4-FFF2-40B4-BE49-F238E27FC236}">
                <a16:creationId xmlns:a16="http://schemas.microsoft.com/office/drawing/2014/main" id="{561AF3C9-18FB-4825-81DD-A4B1509D0E9E}"/>
              </a:ext>
            </a:extLst>
          </p:cNvPr>
          <p:cNvPicPr>
            <a:picLocks noChangeAspect="1"/>
          </p:cNvPicPr>
          <p:nvPr/>
        </p:nvPicPr>
        <p:blipFill>
          <a:blip r:embed="rId3"/>
          <a:stretch>
            <a:fillRect/>
          </a:stretch>
        </p:blipFill>
        <p:spPr>
          <a:xfrm>
            <a:off x="455612" y="2191433"/>
            <a:ext cx="8231188" cy="4056967"/>
          </a:xfrm>
          <a:prstGeom prst="rect">
            <a:avLst/>
          </a:prstGeom>
        </p:spPr>
      </p:pic>
      <p:sp>
        <p:nvSpPr>
          <p:cNvPr id="7" name="Rectangle 3"/>
          <p:cNvSpPr>
            <a:spLocks noChangeArrowheads="1"/>
          </p:cNvSpPr>
          <p:nvPr/>
        </p:nvSpPr>
        <p:spPr bwMode="auto">
          <a:xfrm>
            <a:off x="4571716" y="990600"/>
            <a:ext cx="4116388" cy="51654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algn="ctr" eaLnBrk="0" hangingPunct="0">
              <a:lnSpc>
                <a:spcPct val="100000"/>
              </a:lnSpc>
              <a:spcBef>
                <a:spcPts val="0"/>
              </a:spcBef>
              <a:buClr>
                <a:srgbClr val="000000"/>
              </a:buClr>
              <a:buSzPct val="100000"/>
              <a:buNone/>
            </a:pPr>
            <a:r>
              <a:rPr lang="en-US" altLang="en-US"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AFTER</a:t>
            </a:r>
          </a:p>
          <a:p>
            <a:pPr marL="0" indent="0" algn="ctr"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TSF</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has failed.</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Left Arrow 1"/>
          <p:cNvSpPr/>
          <p:nvPr/>
        </p:nvSpPr>
        <p:spPr>
          <a:xfrm rot="20993515">
            <a:off x="6433823" y="3428153"/>
            <a:ext cx="1114624" cy="609600"/>
          </a:xfrm>
          <a:prstGeom prst="lef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50" dirty="0" smtClean="0">
                <a:solidFill>
                  <a:srgbClr val="FF0000"/>
                </a:solidFill>
              </a:rPr>
              <a:t>Contamination</a:t>
            </a:r>
            <a:endParaRPr lang="en-US" sz="1050" dirty="0">
              <a:solidFill>
                <a:srgbClr val="FF0000"/>
              </a:solidFill>
            </a:endParaRPr>
          </a:p>
        </p:txBody>
      </p:sp>
      <p:sp>
        <p:nvSpPr>
          <p:cNvPr id="10" name="Right Arrow 9"/>
          <p:cNvSpPr/>
          <p:nvPr/>
        </p:nvSpPr>
        <p:spPr>
          <a:xfrm rot="1651143">
            <a:off x="7117219" y="4575900"/>
            <a:ext cx="1114624" cy="609600"/>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50" dirty="0" smtClean="0">
                <a:solidFill>
                  <a:srgbClr val="FF0000"/>
                </a:solidFill>
              </a:rPr>
              <a:t>Contamination</a:t>
            </a:r>
            <a:endParaRPr lang="en-US" sz="1050" dirty="0">
              <a:solidFill>
                <a:srgbClr val="FF0000"/>
              </a:solidFill>
            </a:endParaRPr>
          </a:p>
        </p:txBody>
      </p:sp>
    </p:spTree>
    <p:extLst>
      <p:ext uri="{BB962C8B-B14F-4D97-AF65-F5344CB8AC3E}">
        <p14:creationId xmlns:p14="http://schemas.microsoft.com/office/powerpoint/2010/main" val="3590045938"/>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0"/>
          <p:cNvSpPr txBox="1">
            <a:spLocks noGrp="1"/>
          </p:cNvSpPr>
          <p:nvPr>
            <p:ph type="body" idx="1"/>
          </p:nvPr>
        </p:nvSpPr>
        <p:spPr>
          <a:xfrm>
            <a:off x="180000" y="828000"/>
            <a:ext cx="8640000" cy="5292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None/>
            </a:pPr>
            <a:r>
              <a:rPr lang="en-US" sz="1800" dirty="0" smtClean="0">
                <a:solidFill>
                  <a:srgbClr val="000000"/>
                </a:solidFill>
                <a:latin typeface="Arial"/>
                <a:cs typeface="Arial"/>
                <a:sym typeface="Arial"/>
              </a:rPr>
              <a:t>The </a:t>
            </a:r>
            <a:r>
              <a:rPr lang="en-US" sz="1800" dirty="0">
                <a:solidFill>
                  <a:srgbClr val="000000"/>
                </a:solidFill>
                <a:latin typeface="Arial"/>
                <a:cs typeface="Arial"/>
                <a:sym typeface="Arial"/>
              </a:rPr>
              <a:t>weak clay layer below embankment failed from excessive stress due to:</a:t>
            </a:r>
          </a:p>
          <a:p>
            <a:pPr marL="360000" lvl="1" indent="-360000">
              <a:spcBef>
                <a:spcPts val="0"/>
              </a:spcBef>
              <a:spcAft>
                <a:spcPts val="0"/>
              </a:spcAft>
              <a:buClr>
                <a:srgbClr val="000000"/>
              </a:buClr>
              <a:buFont typeface="Noto Sans Symbols"/>
              <a:buChar char="⮚"/>
            </a:pPr>
            <a:r>
              <a:rPr lang="en-US" sz="1800" dirty="0">
                <a:solidFill>
                  <a:srgbClr val="000000"/>
                </a:solidFill>
                <a:latin typeface="Arial"/>
                <a:cs typeface="Arial"/>
                <a:sym typeface="Arial"/>
              </a:rPr>
              <a:t>Overly steep slope downstream of the embankment </a:t>
            </a:r>
          </a:p>
          <a:p>
            <a:pPr marL="360000" lvl="1" indent="-360000">
              <a:spcBef>
                <a:spcPts val="0"/>
              </a:spcBef>
              <a:spcAft>
                <a:spcPts val="0"/>
              </a:spcAft>
              <a:buClr>
                <a:srgbClr val="000000"/>
              </a:buClr>
              <a:buFont typeface="Noto Sans Symbols"/>
              <a:buChar char="⮚"/>
            </a:pPr>
            <a:r>
              <a:rPr lang="en-US" sz="1800" dirty="0">
                <a:solidFill>
                  <a:srgbClr val="000000"/>
                </a:solidFill>
                <a:latin typeface="Arial"/>
                <a:cs typeface="Arial"/>
                <a:sym typeface="Arial"/>
              </a:rPr>
              <a:t>Embankment height higher than design standards (~40m)</a:t>
            </a:r>
          </a:p>
          <a:p>
            <a:pPr marL="360000" lvl="1" indent="-360000">
              <a:spcBef>
                <a:spcPts val="0"/>
              </a:spcBef>
              <a:spcAft>
                <a:spcPts val="0"/>
              </a:spcAft>
              <a:buClr>
                <a:srgbClr val="000000"/>
              </a:buClr>
              <a:buFont typeface="Noto Sans Symbols"/>
              <a:buChar char="⮚"/>
            </a:pPr>
            <a:r>
              <a:rPr lang="en-US" sz="1800" dirty="0">
                <a:solidFill>
                  <a:srgbClr val="000000"/>
                </a:solidFill>
                <a:latin typeface="Arial"/>
                <a:cs typeface="Arial"/>
                <a:sym typeface="Arial"/>
              </a:rPr>
              <a:t>Open sub-excavation at the toe of the embankment</a:t>
            </a:r>
          </a:p>
          <a:p>
            <a:pPr marL="360000" lvl="1" indent="-360000">
              <a:spcBef>
                <a:spcPts val="0"/>
              </a:spcBef>
              <a:spcAft>
                <a:spcPts val="0"/>
              </a:spcAft>
              <a:buClr>
                <a:srgbClr val="000000"/>
              </a:buClr>
              <a:buFont typeface="Noto Sans Symbols"/>
              <a:buChar char="⮚"/>
            </a:pPr>
            <a:r>
              <a:rPr lang="en-US" sz="1800" dirty="0">
                <a:solidFill>
                  <a:srgbClr val="000000"/>
                </a:solidFill>
                <a:latin typeface="Arial"/>
                <a:cs typeface="Arial"/>
                <a:sym typeface="Arial"/>
              </a:rPr>
              <a:t>Surplus of water in TSF </a:t>
            </a:r>
            <a:r>
              <a:rPr lang="en-US" sz="1800" dirty="0" smtClean="0">
                <a:solidFill>
                  <a:srgbClr val="000000"/>
                </a:solidFill>
                <a:latin typeface="Arial"/>
                <a:cs typeface="Arial"/>
                <a:sym typeface="Arial"/>
              </a:rPr>
              <a:t>(Tailings Storage Facility)</a:t>
            </a:r>
            <a:endParaRPr lang="en-US" sz="1800" dirty="0">
              <a:solidFill>
                <a:srgbClr val="000000"/>
              </a:solidFill>
              <a:latin typeface="Arial"/>
              <a:cs typeface="Arial"/>
              <a:sym typeface="Arial"/>
            </a:endParaRPr>
          </a:p>
          <a:p>
            <a:pPr marL="360000" lvl="1" indent="-360000">
              <a:spcBef>
                <a:spcPts val="0"/>
              </a:spcBef>
              <a:spcAft>
                <a:spcPts val="0"/>
              </a:spcAft>
              <a:buClr>
                <a:srgbClr val="000000"/>
              </a:buClr>
              <a:buFont typeface="Noto Sans Symbols"/>
              <a:buChar char="⮚"/>
            </a:pPr>
            <a:r>
              <a:rPr lang="en-US" sz="1800" dirty="0">
                <a:solidFill>
                  <a:srgbClr val="000000"/>
                </a:solidFill>
                <a:latin typeface="Arial"/>
                <a:cs typeface="Arial"/>
                <a:sym typeface="Arial"/>
              </a:rPr>
              <a:t>Insufficient tailings beaches to protect embankment structure </a:t>
            </a:r>
          </a:p>
          <a:p>
            <a:pPr marL="360000" lvl="0" indent="-360000" algn="l" rtl="0">
              <a:spcBef>
                <a:spcPts val="0"/>
              </a:spcBef>
              <a:spcAft>
                <a:spcPts val="0"/>
              </a:spcAft>
              <a:buClr>
                <a:srgbClr val="000000"/>
              </a:buClr>
              <a:buSzPts val="1800"/>
              <a:buNone/>
            </a:pPr>
            <a:endParaRPr lang="en-US" sz="1800" dirty="0">
              <a:solidFill>
                <a:srgbClr val="000000"/>
              </a:solidFill>
              <a:latin typeface="Arial"/>
              <a:cs typeface="Arial"/>
              <a:sym typeface="Arial"/>
            </a:endParaRPr>
          </a:p>
        </p:txBody>
      </p:sp>
      <p:pic>
        <p:nvPicPr>
          <p:cNvPr id="5" name="Picture 4" descr="A screen shot of a computer&#10;&#10;Description automatically generated">
            <a:extLst>
              <a:ext uri="{FF2B5EF4-FFF2-40B4-BE49-F238E27FC236}">
                <a16:creationId xmlns:a16="http://schemas.microsoft.com/office/drawing/2014/main" id="{13B087AE-FE97-4F52-94B5-614E671FFF78}"/>
              </a:ext>
            </a:extLst>
          </p:cNvPr>
          <p:cNvPicPr>
            <a:picLocks noChangeAspect="1"/>
          </p:cNvPicPr>
          <p:nvPr/>
        </p:nvPicPr>
        <p:blipFill>
          <a:blip r:embed="rId3"/>
          <a:stretch>
            <a:fillRect/>
          </a:stretch>
        </p:blipFill>
        <p:spPr>
          <a:xfrm>
            <a:off x="482618" y="3459534"/>
            <a:ext cx="8199420" cy="2484066"/>
          </a:xfrm>
          <a:prstGeom prst="rect">
            <a:avLst/>
          </a:prstGeom>
        </p:spPr>
      </p:pic>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Immediate (and Intermediate) </a:t>
            </a:r>
            <a:r>
              <a:rPr lang="en-US" altLang="en-US" sz="2400" b="0" dirty="0" smtClean="0">
                <a:solidFill>
                  <a:schemeClr val="accent2"/>
                </a:solidFill>
                <a:latin typeface="Arial" panose="020B0604020202020204" pitchFamily="34" charset="0"/>
                <a:ea typeface="+mj-ea"/>
                <a:cs typeface="Arial" panose="020B0604020202020204" pitchFamily="34" charset="0"/>
              </a:rPr>
              <a:t>Causes: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8"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5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5306327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Technical Causes of the </a:t>
            </a:r>
            <a:r>
              <a:rPr lang="en-US" altLang="en-US" sz="2400" b="0" dirty="0" smtClean="0">
                <a:solidFill>
                  <a:schemeClr val="accent2"/>
                </a:solidFill>
                <a:latin typeface="Arial" panose="020B0604020202020204" pitchFamily="34" charset="0"/>
                <a:ea typeface="+mj-ea"/>
                <a:cs typeface="Arial" panose="020B0604020202020204" pitchFamily="34" charset="0"/>
              </a:rPr>
              <a:t>Incident: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pic>
        <p:nvPicPr>
          <p:cNvPr id="4" name="Picture 3"/>
          <p:cNvPicPr>
            <a:picLocks noChangeAspect="1"/>
          </p:cNvPicPr>
          <p:nvPr/>
        </p:nvPicPr>
        <p:blipFill>
          <a:blip r:embed="rId3"/>
          <a:stretch>
            <a:fillRect/>
          </a:stretch>
        </p:blipFill>
        <p:spPr>
          <a:xfrm>
            <a:off x="180000" y="1080000"/>
            <a:ext cx="8640000" cy="4569600"/>
          </a:xfrm>
          <a:prstGeom prst="rect">
            <a:avLst/>
          </a:prstGeom>
        </p:spPr>
      </p:pic>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8"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5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2" name="Rounded Rectangular Callout 1"/>
          <p:cNvSpPr/>
          <p:nvPr/>
        </p:nvSpPr>
        <p:spPr>
          <a:xfrm>
            <a:off x="5791200" y="216000"/>
            <a:ext cx="2061848" cy="578882"/>
          </a:xfrm>
          <a:prstGeom prst="wedgeRoundRectCallout">
            <a:avLst>
              <a:gd name="adj1" fmla="val -83237"/>
              <a:gd name="adj2" fmla="val 521989"/>
              <a:gd name="adj3" fmla="val 16667"/>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400" dirty="0" smtClean="0">
                <a:solidFill>
                  <a:schemeClr val="tx1"/>
                </a:solidFill>
              </a:rPr>
              <a:t>The embankment dam structure failed.</a:t>
            </a:r>
            <a:endParaRPr lang="en-US" sz="1400" dirty="0">
              <a:solidFill>
                <a:schemeClr val="tx1"/>
              </a:solidFill>
            </a:endParaRPr>
          </a:p>
        </p:txBody>
      </p:sp>
    </p:spTree>
    <p:extLst>
      <p:ext uri="{BB962C8B-B14F-4D97-AF65-F5344CB8AC3E}">
        <p14:creationId xmlns:p14="http://schemas.microsoft.com/office/powerpoint/2010/main" val="29886695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0"/>
          <p:cNvSpPr txBox="1">
            <a:spLocks noGrp="1"/>
          </p:cNvSpPr>
          <p:nvPr>
            <p:ph type="body" idx="1"/>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342900" lvl="0" indent="-228600" algn="l" rtl="0">
              <a:spcBef>
                <a:spcPts val="0"/>
              </a:spcBef>
              <a:spcAft>
                <a:spcPts val="0"/>
              </a:spcAft>
              <a:buClr>
                <a:srgbClr val="000000"/>
              </a:buClr>
              <a:buSzPts val="1800"/>
              <a:buFont typeface="Noto Sans Symbols"/>
              <a:buNone/>
            </a:pPr>
            <a:endParaRPr lang="en-CA" sz="1800" dirty="0">
              <a:latin typeface="Arial"/>
              <a:ea typeface="Arial"/>
              <a:cs typeface="Arial"/>
              <a:sym typeface="Arial"/>
            </a:endParaRPr>
          </a:p>
          <a:p>
            <a:pPr marL="0" lvl="0" indent="0" algn="l" rtl="0">
              <a:spcBef>
                <a:spcPts val="0"/>
              </a:spcBef>
              <a:spcAft>
                <a:spcPts val="0"/>
              </a:spcAft>
              <a:buClr>
                <a:srgbClr val="000000"/>
              </a:buClr>
              <a:buSzPts val="1800"/>
              <a:buNone/>
            </a:pPr>
            <a:r>
              <a:rPr lang="en-US" sz="1800" u="sng" dirty="0">
                <a:latin typeface="Arial"/>
                <a:cs typeface="Arial"/>
                <a:sym typeface="Arial"/>
              </a:rPr>
              <a:t>Engineering and Design Factors: </a:t>
            </a:r>
            <a:endParaRPr lang="en-US" sz="1800" u="sng" dirty="0">
              <a:highlight>
                <a:srgbClr val="FFFF00"/>
              </a:highlight>
              <a:latin typeface="Arial"/>
              <a:cs typeface="Arial"/>
              <a:sym typeface="Arial"/>
            </a:endParaRPr>
          </a:p>
          <a:p>
            <a:pPr marL="342900" lvl="0" indent="-342900" algn="l" rtl="0">
              <a:spcBef>
                <a:spcPts val="0"/>
              </a:spcBef>
              <a:spcAft>
                <a:spcPts val="0"/>
              </a:spcAft>
              <a:buClr>
                <a:srgbClr val="000000"/>
              </a:buClr>
              <a:buSzPts val="1800"/>
              <a:buFont typeface="Noto Sans Symbols"/>
              <a:buChar char="⮚"/>
            </a:pPr>
            <a:r>
              <a:rPr lang="en-US" sz="1800" b="1" dirty="0">
                <a:latin typeface="Arial"/>
                <a:cs typeface="Arial"/>
                <a:sym typeface="Arial"/>
              </a:rPr>
              <a:t>Inadequate evaluation of change: </a:t>
            </a:r>
            <a:r>
              <a:rPr lang="en-US" sz="1800" dirty="0">
                <a:latin typeface="Arial"/>
                <a:cs typeface="Arial"/>
                <a:sym typeface="Arial"/>
              </a:rPr>
              <a:t>Risks introduced by the sub excavation activity at the toe of the embankment were not identified </a:t>
            </a:r>
            <a:r>
              <a:rPr lang="en-US" sz="1800" dirty="0" smtClean="0">
                <a:latin typeface="Arial"/>
                <a:cs typeface="Arial"/>
                <a:sym typeface="Arial"/>
              </a:rPr>
              <a:t>nor assessed.</a:t>
            </a:r>
            <a:endParaRPr lang="en-US" sz="1800" dirty="0">
              <a:highlight>
                <a:srgbClr val="00FFFF"/>
              </a:highlight>
              <a:latin typeface="Arial"/>
              <a:cs typeface="Arial"/>
              <a:sym typeface="Arial"/>
            </a:endParaRPr>
          </a:p>
          <a:p>
            <a:pPr marL="342900" lvl="0" indent="-342900" algn="l" rtl="0">
              <a:spcBef>
                <a:spcPts val="0"/>
              </a:spcBef>
              <a:spcAft>
                <a:spcPts val="0"/>
              </a:spcAft>
              <a:buClr>
                <a:srgbClr val="000000"/>
              </a:buClr>
              <a:buSzPts val="1800"/>
              <a:buFont typeface="Noto Sans Symbols"/>
              <a:buChar char="⮚"/>
            </a:pPr>
            <a:r>
              <a:rPr lang="en-US" sz="1800" b="1" dirty="0">
                <a:latin typeface="Arial"/>
                <a:cs typeface="Arial"/>
                <a:sym typeface="Arial"/>
              </a:rPr>
              <a:t>Inadequate monitoring of construction:</a:t>
            </a:r>
            <a:r>
              <a:rPr lang="en-US" sz="1800" dirty="0">
                <a:latin typeface="Arial"/>
                <a:cs typeface="Arial"/>
                <a:sym typeface="Arial"/>
              </a:rPr>
              <a:t> Subexcavation remained open for 8 months without any concern from engineers or </a:t>
            </a:r>
            <a:r>
              <a:rPr lang="en-US" sz="1800" dirty="0" smtClean="0">
                <a:latin typeface="Arial"/>
                <a:cs typeface="Arial"/>
                <a:sym typeface="Arial"/>
              </a:rPr>
              <a:t>management.</a:t>
            </a:r>
            <a:endParaRPr lang="en-US" sz="1800" dirty="0">
              <a:highlight>
                <a:srgbClr val="FFFF00"/>
              </a:highlight>
              <a:latin typeface="Arial"/>
              <a:cs typeface="Arial"/>
              <a:sym typeface="Arial"/>
            </a:endParaRPr>
          </a:p>
          <a:p>
            <a:pPr marL="0" lvl="0" indent="0" algn="l" rtl="0">
              <a:spcBef>
                <a:spcPts val="0"/>
              </a:spcBef>
              <a:spcAft>
                <a:spcPts val="0"/>
              </a:spcAft>
              <a:buClr>
                <a:srgbClr val="000000"/>
              </a:buClr>
              <a:buSzPts val="1800"/>
              <a:buNone/>
            </a:pPr>
            <a:endParaRPr lang="en-US" sz="1800" u="sng" dirty="0" smtClean="0">
              <a:latin typeface="Arial"/>
              <a:cs typeface="Arial"/>
              <a:sym typeface="Arial"/>
            </a:endParaRPr>
          </a:p>
          <a:p>
            <a:pPr marL="0" lvl="0" indent="0" algn="l" rtl="0">
              <a:spcBef>
                <a:spcPts val="0"/>
              </a:spcBef>
              <a:spcAft>
                <a:spcPts val="0"/>
              </a:spcAft>
              <a:buClr>
                <a:srgbClr val="000000"/>
              </a:buClr>
              <a:buSzPts val="1800"/>
              <a:buNone/>
            </a:pPr>
            <a:r>
              <a:rPr lang="en-US" sz="1800" u="sng" dirty="0" smtClean="0">
                <a:latin typeface="Arial"/>
                <a:cs typeface="Arial"/>
                <a:sym typeface="Arial"/>
              </a:rPr>
              <a:t>Job </a:t>
            </a:r>
            <a:r>
              <a:rPr lang="en-US" sz="1800" u="sng" dirty="0">
                <a:latin typeface="Arial"/>
                <a:cs typeface="Arial"/>
                <a:sym typeface="Arial"/>
              </a:rPr>
              <a:t>Factors: </a:t>
            </a:r>
          </a:p>
          <a:p>
            <a:pPr marL="342900" indent="-342900">
              <a:spcBef>
                <a:spcPts val="0"/>
              </a:spcBef>
              <a:spcAft>
                <a:spcPts val="0"/>
              </a:spcAft>
              <a:buClr>
                <a:srgbClr val="000000"/>
              </a:buClr>
              <a:buSzPts val="1800"/>
              <a:buFont typeface="Noto Sans Symbols"/>
              <a:buChar char="⮚"/>
            </a:pPr>
            <a:r>
              <a:rPr lang="en-CA" sz="1800" b="1" dirty="0">
                <a:latin typeface="Arial" panose="020B0604020202020204" pitchFamily="34" charset="0"/>
                <a:ea typeface="Arial"/>
                <a:cs typeface="Arial" panose="020B0604020202020204" pitchFamily="34" charset="0"/>
                <a:sym typeface="Arial"/>
              </a:rPr>
              <a:t>Inadequate guidance manuals:</a:t>
            </a:r>
            <a:r>
              <a:rPr lang="en-CA" sz="1800" dirty="0">
                <a:latin typeface="Arial" panose="020B0604020202020204" pitchFamily="34" charset="0"/>
                <a:ea typeface="Arial"/>
                <a:cs typeface="Arial" panose="020B0604020202020204" pitchFamily="34" charset="0"/>
                <a:sym typeface="Arial"/>
              </a:rPr>
              <a:t> The construction manual for buttress excavation did not include any construction </a:t>
            </a:r>
            <a:r>
              <a:rPr lang="en-CA" sz="1800" dirty="0" smtClean="0">
                <a:latin typeface="Arial" panose="020B0604020202020204" pitchFamily="34" charset="0"/>
                <a:ea typeface="Arial"/>
                <a:cs typeface="Arial" panose="020B0604020202020204" pitchFamily="34" charset="0"/>
                <a:sym typeface="Arial"/>
              </a:rPr>
              <a:t>procedures.</a:t>
            </a:r>
            <a:r>
              <a:rPr lang="en-CA" sz="1800" dirty="0" smtClean="0">
                <a:highlight>
                  <a:srgbClr val="FFFF00"/>
                </a:highlight>
                <a:latin typeface="Arial" panose="020B0604020202020204" pitchFamily="34" charset="0"/>
                <a:ea typeface="Arial"/>
                <a:cs typeface="Arial" panose="020B0604020202020204" pitchFamily="34" charset="0"/>
                <a:sym typeface="Arial"/>
              </a:rPr>
              <a:t> </a:t>
            </a:r>
            <a:endParaRPr lang="en-CA" sz="1800" dirty="0">
              <a:highlight>
                <a:srgbClr val="FFFF00"/>
              </a:highlight>
              <a:latin typeface="Arial" panose="020B0604020202020204" pitchFamily="34" charset="0"/>
              <a:ea typeface="Arial"/>
              <a:cs typeface="Arial" panose="020B0604020202020204" pitchFamily="34" charset="0"/>
              <a:sym typeface="Arial"/>
            </a:endParaRPr>
          </a:p>
          <a:p>
            <a:pPr marL="342900" indent="-342900">
              <a:spcBef>
                <a:spcPts val="0"/>
              </a:spcBef>
              <a:spcAft>
                <a:spcPts val="0"/>
              </a:spcAft>
              <a:buClr>
                <a:srgbClr val="000000"/>
              </a:buClr>
              <a:buSzPts val="1800"/>
              <a:buFont typeface="Noto Sans Symbols"/>
              <a:buChar char="⮚"/>
            </a:pPr>
            <a:r>
              <a:rPr lang="en-CA" sz="1800" b="1" dirty="0">
                <a:latin typeface="Arial" panose="020B0604020202020204" pitchFamily="34" charset="0"/>
                <a:cs typeface="Arial" panose="020B0604020202020204" pitchFamily="34" charset="0"/>
                <a:sym typeface="Arial"/>
              </a:rPr>
              <a:t>Inadequate inspection/monitoring: </a:t>
            </a:r>
            <a:r>
              <a:rPr lang="en-CA" sz="1800" dirty="0">
                <a:latin typeface="Arial" panose="020B0604020202020204" pitchFamily="34" charset="0"/>
                <a:cs typeface="Arial" panose="020B0604020202020204" pitchFamily="34" charset="0"/>
                <a:sym typeface="Arial"/>
              </a:rPr>
              <a:t>Inadequate supervision during TSF operations</a:t>
            </a:r>
            <a:endParaRPr lang="en-CA" sz="1800" dirty="0">
              <a:highlight>
                <a:srgbClr val="FFFF00"/>
              </a:highlight>
              <a:latin typeface="Arial" panose="020B0604020202020204" pitchFamily="34" charset="0"/>
              <a:cs typeface="Arial" panose="020B0604020202020204" pitchFamily="34" charset="0"/>
              <a:sym typeface="Arial"/>
            </a:endParaRPr>
          </a:p>
          <a:p>
            <a:pPr marL="342900" indent="-342900">
              <a:spcBef>
                <a:spcPts val="0"/>
              </a:spcBef>
              <a:spcAft>
                <a:spcPts val="0"/>
              </a:spcAft>
              <a:buClr>
                <a:srgbClr val="000000"/>
              </a:buClr>
              <a:buSzPts val="1800"/>
              <a:buFont typeface="Noto Sans Symbols"/>
              <a:buChar char="⮚"/>
            </a:pPr>
            <a:r>
              <a:rPr lang="en-CA" sz="1800" b="1" dirty="0">
                <a:latin typeface="Arial" panose="020B0604020202020204" pitchFamily="34" charset="0"/>
                <a:cs typeface="Arial" panose="020B0604020202020204" pitchFamily="34" charset="0"/>
                <a:sym typeface="Arial"/>
              </a:rPr>
              <a:t>Inadequate work planning:</a:t>
            </a:r>
            <a:r>
              <a:rPr lang="en-CA" sz="1800" dirty="0">
                <a:latin typeface="Arial" panose="020B0604020202020204" pitchFamily="34" charset="0"/>
                <a:cs typeface="Arial" panose="020B0604020202020204" pitchFamily="34" charset="0"/>
                <a:sym typeface="Arial"/>
              </a:rPr>
              <a:t> Inadequate water management plan</a:t>
            </a:r>
            <a:endParaRPr lang="en-US" sz="1800" dirty="0">
              <a:highlight>
                <a:srgbClr val="FFFF00"/>
              </a:highlight>
              <a:latin typeface="Arial"/>
              <a:cs typeface="Arial"/>
              <a:sym typeface="Arial"/>
            </a:endParaRPr>
          </a:p>
          <a:p>
            <a:pPr marL="0" lvl="0" indent="0" algn="l" rtl="0">
              <a:spcBef>
                <a:spcPts val="0"/>
              </a:spcBef>
              <a:spcAft>
                <a:spcPts val="0"/>
              </a:spcAft>
              <a:buClr>
                <a:srgbClr val="000000"/>
              </a:buClr>
              <a:buSzPts val="1800"/>
              <a:buNone/>
            </a:pPr>
            <a:endParaRPr lang="en-US" sz="1800" u="sng" dirty="0" smtClean="0">
              <a:latin typeface="Arial"/>
              <a:cs typeface="Arial"/>
              <a:sym typeface="Arial"/>
            </a:endParaRPr>
          </a:p>
          <a:p>
            <a:pPr marL="0" lvl="0" indent="0" algn="l" rtl="0">
              <a:spcBef>
                <a:spcPts val="0"/>
              </a:spcBef>
              <a:spcAft>
                <a:spcPts val="0"/>
              </a:spcAft>
              <a:buClr>
                <a:srgbClr val="000000"/>
              </a:buClr>
              <a:buSzPts val="1800"/>
              <a:buNone/>
            </a:pPr>
            <a:r>
              <a:rPr lang="en-US" sz="1800" u="sng" dirty="0" smtClean="0">
                <a:latin typeface="Arial"/>
                <a:cs typeface="Arial"/>
                <a:sym typeface="Arial"/>
              </a:rPr>
              <a:t>Personal </a:t>
            </a:r>
            <a:r>
              <a:rPr lang="en-US" sz="1800" u="sng" dirty="0">
                <a:latin typeface="Arial"/>
                <a:cs typeface="Arial"/>
                <a:sym typeface="Arial"/>
              </a:rPr>
              <a:t>Factors:</a:t>
            </a:r>
          </a:p>
          <a:p>
            <a:pPr marL="342900" indent="-342900">
              <a:spcBef>
                <a:spcPts val="0"/>
              </a:spcBef>
              <a:spcAft>
                <a:spcPts val="0"/>
              </a:spcAft>
              <a:buClr>
                <a:srgbClr val="000000"/>
              </a:buClr>
              <a:buSzPts val="1800"/>
              <a:buFont typeface="Noto Sans Symbols"/>
              <a:buChar char="⮚"/>
            </a:pPr>
            <a:r>
              <a:rPr lang="en-US" sz="1800" b="1" dirty="0">
                <a:latin typeface="Arial" panose="020B0604020202020204" pitchFamily="34" charset="0"/>
                <a:ea typeface="Arial"/>
                <a:cs typeface="Arial" panose="020B0604020202020204" pitchFamily="34" charset="0"/>
                <a:sym typeface="Arial"/>
              </a:rPr>
              <a:t>Improper risk taking: </a:t>
            </a:r>
            <a:r>
              <a:rPr lang="en-US" sz="1800" dirty="0">
                <a:latin typeface="Arial" panose="020B0604020202020204" pitchFamily="34" charset="0"/>
                <a:ea typeface="Arial"/>
                <a:cs typeface="Arial" panose="020B0604020202020204" pitchFamily="34" charset="0"/>
                <a:sym typeface="Arial"/>
              </a:rPr>
              <a:t>Design engineers were overconfident in their professional judgement </a:t>
            </a:r>
          </a:p>
        </p:txBody>
      </p:sp>
      <p:sp>
        <p:nvSpPr>
          <p:cNvPr id="4"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Basic </a:t>
            </a:r>
            <a:r>
              <a:rPr lang="en-US" altLang="en-US" sz="2400" b="0" dirty="0" smtClean="0">
                <a:solidFill>
                  <a:schemeClr val="accent2"/>
                </a:solidFill>
                <a:latin typeface="Arial" panose="020B0604020202020204" pitchFamily="34" charset="0"/>
                <a:ea typeface="+mj-ea"/>
                <a:cs typeface="Arial" panose="020B0604020202020204" pitchFamily="34" charset="0"/>
              </a:rPr>
              <a:t>Causes: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5"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5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5497841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4"/>
          <p:cNvSpPr txBox="1"/>
          <p:nvPr/>
        </p:nvSpPr>
        <p:spPr>
          <a:xfrm>
            <a:off x="180000" y="828000"/>
            <a:ext cx="8640000" cy="5328000"/>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lvl="0">
              <a:buClr>
                <a:srgbClr val="FFFFFF"/>
              </a:buClr>
              <a:buSzPts val="2000"/>
            </a:pPr>
            <a:r>
              <a:rPr lang="en-CA" sz="2000" b="1" i="1" dirty="0">
                <a:solidFill>
                  <a:srgbClr val="FFFFFF"/>
                </a:solidFill>
              </a:rPr>
              <a:t>It is vital to combat complacency in all aspects </a:t>
            </a:r>
          </a:p>
          <a:p>
            <a:pPr lvl="0">
              <a:buClr>
                <a:srgbClr val="FFFFFF"/>
              </a:buClr>
              <a:buSzPts val="2000"/>
            </a:pPr>
            <a:r>
              <a:rPr lang="en-CA" sz="2000" b="1" i="1" dirty="0">
                <a:solidFill>
                  <a:srgbClr val="FFFFFF"/>
                </a:solidFill>
              </a:rPr>
              <a:t>of </a:t>
            </a:r>
            <a:r>
              <a:rPr lang="en-CA" sz="2000" b="1" i="1">
                <a:solidFill>
                  <a:srgbClr val="FFFFFF"/>
                </a:solidFill>
              </a:rPr>
              <a:t>risk </a:t>
            </a:r>
            <a:r>
              <a:rPr lang="en-CA" sz="2000" b="1" i="1" smtClean="0">
                <a:solidFill>
                  <a:srgbClr val="FFFFFF"/>
                </a:solidFill>
              </a:rPr>
              <a:t>management.</a:t>
            </a:r>
            <a:endParaRPr dirty="0">
              <a:highlight>
                <a:srgbClr val="00FFFF"/>
              </a:highlight>
            </a:endParaRPr>
          </a:p>
          <a:p>
            <a:pPr marL="0" marR="0" lvl="0" indent="0" algn="l" rtl="0">
              <a:spcBef>
                <a:spcPts val="0"/>
              </a:spcBef>
              <a:spcAft>
                <a:spcPts val="0"/>
              </a:spcAft>
              <a:buClr>
                <a:schemeClr val="dk1"/>
              </a:buClr>
              <a:buSzPts val="2000"/>
              <a:buFont typeface="Noto Sans Symbols"/>
              <a:buNone/>
            </a:pPr>
            <a:endParaRPr sz="1000" b="1" i="1" dirty="0">
              <a:solidFill>
                <a:srgbClr val="FFFFFF"/>
              </a:solidFill>
              <a:latin typeface="Arial"/>
              <a:ea typeface="Arial"/>
              <a:cs typeface="Arial"/>
              <a:sym typeface="Arial"/>
            </a:endParaRPr>
          </a:p>
          <a:p>
            <a:pPr marL="0" marR="0" lvl="0" indent="0" algn="l" rtl="0">
              <a:spcBef>
                <a:spcPts val="0"/>
              </a:spcBef>
              <a:spcAft>
                <a:spcPts val="0"/>
              </a:spcAft>
              <a:buClr>
                <a:srgbClr val="FFFFFF"/>
              </a:buClr>
              <a:buSzPts val="2000"/>
              <a:buFont typeface="Noto Sans Symbols"/>
              <a:buNone/>
            </a:pPr>
            <a:r>
              <a:rPr lang="en-US" sz="2000" i="1" dirty="0">
                <a:solidFill>
                  <a:srgbClr val="FFFFFF"/>
                </a:solidFill>
                <a:latin typeface="Arial"/>
                <a:ea typeface="Arial"/>
                <a:cs typeface="Arial"/>
                <a:sym typeface="Arial"/>
              </a:rPr>
              <a:t>Using this list, select one and think about </a:t>
            </a:r>
            <a:r>
              <a:rPr lang="en-US" sz="2000" i="1" dirty="0" smtClean="0">
                <a:solidFill>
                  <a:srgbClr val="FFFFFF"/>
                </a:solidFill>
                <a:latin typeface="Arial"/>
                <a:ea typeface="Arial"/>
                <a:cs typeface="Arial"/>
                <a:sym typeface="Arial"/>
              </a:rPr>
              <a:t>possible</a:t>
            </a:r>
            <a:br>
              <a:rPr lang="en-US" sz="2000" i="1" dirty="0" smtClean="0">
                <a:solidFill>
                  <a:srgbClr val="FFFFFF"/>
                </a:solidFill>
                <a:latin typeface="Arial"/>
                <a:ea typeface="Arial"/>
                <a:cs typeface="Arial"/>
                <a:sym typeface="Arial"/>
              </a:rPr>
            </a:br>
            <a:r>
              <a:rPr lang="en-US" sz="2000" i="1" dirty="0" smtClean="0">
                <a:solidFill>
                  <a:srgbClr val="FFFFFF"/>
                </a:solidFill>
                <a:latin typeface="Arial"/>
                <a:ea typeface="Arial"/>
                <a:cs typeface="Arial"/>
                <a:sym typeface="Arial"/>
              </a:rPr>
              <a:t>causes </a:t>
            </a:r>
            <a:r>
              <a:rPr lang="en-US" sz="2000" i="1" dirty="0">
                <a:solidFill>
                  <a:srgbClr val="FFFFFF"/>
                </a:solidFill>
                <a:latin typeface="Arial"/>
                <a:ea typeface="Arial"/>
                <a:cs typeface="Arial"/>
                <a:sym typeface="Arial"/>
              </a:rPr>
              <a:t>of failure in organizational leadership:</a:t>
            </a:r>
            <a:endParaRPr dirty="0"/>
          </a:p>
        </p:txBody>
      </p:sp>
      <p:sp>
        <p:nvSpPr>
          <p:cNvPr id="270" name="Google Shape;270;p14"/>
          <p:cNvSpPr/>
          <p:nvPr/>
        </p:nvSpPr>
        <p:spPr>
          <a:xfrm>
            <a:off x="228600" y="2407306"/>
            <a:ext cx="6223338" cy="292669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342900" marR="0" lvl="0" indent="-342900" algn="l" rtl="0">
              <a:spcAft>
                <a:spcPts val="0"/>
              </a:spcAft>
              <a:buSzPts val="1600"/>
              <a:buFont typeface="Times New Roman"/>
              <a:buAutoNum type="arabicParenR"/>
            </a:pPr>
            <a:r>
              <a:rPr lang="en-US" sz="1600" dirty="0" smtClean="0">
                <a:sym typeface="Arial"/>
              </a:rPr>
              <a:t>Management Leadership, Commitment and Accountability</a:t>
            </a:r>
            <a:endParaRPr sz="1600" dirty="0" smtClean="0"/>
          </a:p>
          <a:p>
            <a:pPr marL="342900" marR="0" lvl="0" indent="-342900" algn="l" rtl="0">
              <a:spcAft>
                <a:spcPts val="0"/>
              </a:spcAft>
              <a:buSzPts val="1600"/>
              <a:buFont typeface="Times New Roman"/>
              <a:buAutoNum type="arabicParenR"/>
            </a:pPr>
            <a:r>
              <a:rPr lang="en-US" sz="1600" dirty="0" smtClean="0">
                <a:sym typeface="Arial"/>
              </a:rPr>
              <a:t>Risk Assessment and Management of Risks</a:t>
            </a:r>
            <a:endParaRPr sz="1600" dirty="0" smtClean="0"/>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Community Awareness and Emergency Preparedness</a:t>
            </a:r>
            <a:endParaRPr sz="1600" dirty="0" smtClean="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Management of Change.</a:t>
            </a:r>
            <a:endParaRPr sz="1600" dirty="0" smtClean="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Incident Reporting, Investigation, Analysis and Actions</a:t>
            </a:r>
            <a:endParaRPr sz="1600" dirty="0" smtClean="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Program Evaluation and Continuous Improvement.</a:t>
            </a:r>
            <a:endParaRPr sz="1600" dirty="0" smtClean="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smtClean="0">
                <a:sym typeface="Arial"/>
              </a:rPr>
              <a:t>Design, Construction and Start-up</a:t>
            </a:r>
            <a:endParaRPr sz="1600" dirty="0" smtClean="0"/>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Operations and Maintenance.</a:t>
            </a:r>
            <a:endParaRPr sz="1600" dirty="0" smtClean="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smtClean="0">
                <a:sym typeface="Arial"/>
              </a:rPr>
              <a:t>Employee Competency and Training.</a:t>
            </a:r>
            <a:endParaRPr sz="1600" dirty="0" smtClean="0"/>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Contractor Competency and Integration.</a:t>
            </a:r>
            <a:endParaRPr sz="1600" dirty="0" smtClean="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Operations and Facilities Information and Documentation.</a:t>
            </a:r>
            <a:endParaRPr sz="1600" dirty="0">
              <a:solidFill>
                <a:schemeClr val="bg1">
                  <a:lumMod val="65000"/>
                </a:schemeClr>
              </a:solidFill>
            </a:endParaRPr>
          </a:p>
        </p:txBody>
      </p:sp>
      <p:pic>
        <p:nvPicPr>
          <p:cNvPr id="3" name="Picture 2" descr="A view of the ocean&#10;&#10;Description automatically generated">
            <a:extLst>
              <a:ext uri="{FF2B5EF4-FFF2-40B4-BE49-F238E27FC236}">
                <a16:creationId xmlns:a16="http://schemas.microsoft.com/office/drawing/2014/main" id="{1FAAE589-C56B-4FF3-9D5B-913EAC624CF9}"/>
              </a:ext>
            </a:extLst>
          </p:cNvPr>
          <p:cNvPicPr>
            <a:picLocks noChangeAspect="1"/>
          </p:cNvPicPr>
          <p:nvPr/>
        </p:nvPicPr>
        <p:blipFill>
          <a:blip r:embed="rId3"/>
          <a:stretch>
            <a:fillRect/>
          </a:stretch>
        </p:blipFill>
        <p:spPr>
          <a:xfrm>
            <a:off x="6471139" y="822961"/>
            <a:ext cx="2368061" cy="1882831"/>
          </a:xfrm>
          <a:prstGeom prst="rect">
            <a:avLst/>
          </a:prstGeom>
        </p:spPr>
      </p:pic>
      <p:pic>
        <p:nvPicPr>
          <p:cNvPr id="5" name="Picture 4" descr="A close up of a mountain&#10;&#10;Description automatically generated">
            <a:extLst>
              <a:ext uri="{FF2B5EF4-FFF2-40B4-BE49-F238E27FC236}">
                <a16:creationId xmlns:a16="http://schemas.microsoft.com/office/drawing/2014/main" id="{803C471C-E048-49E2-AA83-0D9E1B85D6CC}"/>
              </a:ext>
            </a:extLst>
          </p:cNvPr>
          <p:cNvPicPr>
            <a:picLocks noChangeAspect="1"/>
          </p:cNvPicPr>
          <p:nvPr/>
        </p:nvPicPr>
        <p:blipFill>
          <a:blip r:embed="rId4"/>
          <a:stretch>
            <a:fillRect/>
          </a:stretch>
        </p:blipFill>
        <p:spPr>
          <a:xfrm>
            <a:off x="6471139" y="2705792"/>
            <a:ext cx="2368061" cy="1488831"/>
          </a:xfrm>
          <a:prstGeom prst="rect">
            <a:avLst/>
          </a:prstGeom>
        </p:spPr>
      </p:pic>
      <p:pic>
        <p:nvPicPr>
          <p:cNvPr id="7" name="Picture 6" descr="A body of water&#10;&#10;Description automatically generated">
            <a:extLst>
              <a:ext uri="{FF2B5EF4-FFF2-40B4-BE49-F238E27FC236}">
                <a16:creationId xmlns:a16="http://schemas.microsoft.com/office/drawing/2014/main" id="{7488A2E0-279F-4D6B-9D27-ECD5C1AC655D}"/>
              </a:ext>
            </a:extLst>
          </p:cNvPr>
          <p:cNvPicPr>
            <a:picLocks noChangeAspect="1"/>
          </p:cNvPicPr>
          <p:nvPr/>
        </p:nvPicPr>
        <p:blipFill>
          <a:blip r:embed="rId5"/>
          <a:stretch>
            <a:fillRect/>
          </a:stretch>
        </p:blipFill>
        <p:spPr>
          <a:xfrm>
            <a:off x="6471138" y="4194623"/>
            <a:ext cx="2368061" cy="1966363"/>
          </a:xfrm>
          <a:prstGeom prst="rect">
            <a:avLst/>
          </a:prstGeom>
        </p:spPr>
      </p:pic>
      <p:sp>
        <p:nvSpPr>
          <p:cNvPr id="8"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a:solidFill>
                  <a:schemeClr val="accent2"/>
                </a:solidFill>
                <a:latin typeface="Arial" panose="020B0604020202020204" pitchFamily="34" charset="0"/>
                <a:ea typeface="+mj-ea"/>
                <a:cs typeface="Arial" panose="020B0604020202020204" pitchFamily="34" charset="0"/>
              </a:rPr>
              <a:t>Polley</a:t>
            </a:r>
            <a:r>
              <a:rPr lang="en-US" altLang="en-US" sz="2400" b="0" dirty="0">
                <a:solidFill>
                  <a:schemeClr val="accent2"/>
                </a:solidFill>
                <a:latin typeface="Arial" panose="020B0604020202020204" pitchFamily="34" charset="0"/>
                <a:ea typeface="+mj-ea"/>
                <a:cs typeface="Arial" panose="020B0604020202020204" pitchFamily="34" charset="0"/>
              </a:rPr>
              <a:t> – </a:t>
            </a:r>
            <a:r>
              <a:rPr lang="en-US" altLang="en-US" sz="2400" b="0" dirty="0" smtClean="0">
                <a:solidFill>
                  <a:schemeClr val="accent2"/>
                </a:solidFill>
                <a:latin typeface="Arial" panose="020B0604020202020204" pitchFamily="34" charset="0"/>
                <a:ea typeface="+mj-ea"/>
                <a:cs typeface="Arial" panose="020B0604020202020204" pitchFamily="34" charset="0"/>
              </a:rPr>
              <a:t>Latent Causes and Lessons </a:t>
            </a:r>
            <a:r>
              <a:rPr lang="en-US" altLang="en-US" sz="2400" b="0" dirty="0">
                <a:solidFill>
                  <a:schemeClr val="accent2"/>
                </a:solidFill>
                <a:latin typeface="Arial" panose="020B0604020202020204" pitchFamily="34" charset="0"/>
                <a:ea typeface="+mj-ea"/>
                <a:cs typeface="Arial" panose="020B0604020202020204" pitchFamily="34" charset="0"/>
              </a:rPr>
              <a:t>in Leadership:</a:t>
            </a:r>
          </a:p>
        </p:txBody>
      </p:sp>
      <p:sp>
        <p:nvSpPr>
          <p:cNvPr id="9"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1"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5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12484054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#1 MLCA:</a:t>
            </a: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Lack </a:t>
            </a: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of management commitment, leadership, and  accountability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Management ignored previous warnings and concerns from Regulator and employees</a:t>
            </a:r>
          </a:p>
          <a:p>
            <a:pPr marL="0" lvl="0" indent="0" eaLnBrk="0" hangingPunct="0">
              <a:lnSpc>
                <a:spcPct val="90000"/>
              </a:lnSpc>
              <a:spcBef>
                <a:spcPts val="0"/>
              </a:spcBef>
              <a:buClrTx/>
              <a:buSzPct val="100000"/>
              <a:buNone/>
            </a:pPr>
            <a:endPar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90000"/>
              </a:lnSpc>
              <a:spcBef>
                <a:spcPts val="0"/>
              </a:spcBef>
              <a:buClrTx/>
              <a:buSzPct val="100000"/>
              <a:buNone/>
            </a:pPr>
            <a:r>
              <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2 RA&amp;MR:</a:t>
            </a: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Inadequate risk assessment and management of risk</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Insufficient hazard identification during operations in TSF</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Management provided inadequate supervision and inspections during operations</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90000"/>
              </a:lnSpc>
              <a:spcBef>
                <a:spcPts val="0"/>
              </a:spcBef>
              <a:buClrTx/>
              <a:buSzPct val="100000"/>
              <a:buNone/>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#7 DC&amp;SU:</a:t>
            </a: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Inadequate design and assessment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Design team had a poor understanding of underlying terrain during the design phase of TSF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Design team heavily relied on Factor of Safety calculations prone to error   </a:t>
            </a:r>
          </a:p>
          <a:p>
            <a:pPr marL="0" lvl="0" indent="0" eaLnBrk="0" hangingPunct="0">
              <a:lnSpc>
                <a:spcPct val="90000"/>
              </a:lnSpc>
              <a:spcBef>
                <a:spcPts val="0"/>
              </a:spcBef>
              <a:buClrTx/>
              <a:buSzPct val="100000"/>
              <a:buNone/>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90000"/>
              </a:lnSpc>
              <a:spcBef>
                <a:spcPts val="0"/>
              </a:spcBef>
              <a:buClrTx/>
              <a:buSzPct val="100000"/>
              <a:buNone/>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#9 EC&amp;T:</a:t>
            </a: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Inadequate employee competency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Unqualified personnel overseeing water management program</a:t>
            </a:r>
          </a:p>
          <a:p>
            <a:pPr marL="432000" indent="-432000" eaLnBrk="0" hangingPunct="0">
              <a:lnSpc>
                <a:spcPct val="90000"/>
              </a:lnSpc>
              <a:spcBef>
                <a:spcPts val="0"/>
              </a:spcBef>
              <a:buClrTx/>
              <a:buSzPct val="100000"/>
              <a:buFont typeface="Wingdings" panose="05000000000000000000" pitchFamily="2" charset="2"/>
              <a:buChar char="Ø"/>
            </a:pPr>
            <a:endPar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a:solidFill>
              <a:schemeClr val="tx1"/>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bg1"/>
                </a:solidFill>
                <a:latin typeface="Arial" panose="020B0604020202020204" pitchFamily="34" charset="0"/>
                <a:ea typeface="+mj-ea"/>
                <a:cs typeface="Arial" panose="020B0604020202020204" pitchFamily="34" charset="0"/>
              </a:rPr>
              <a:t>An </a:t>
            </a:r>
            <a:r>
              <a:rPr lang="en-US" altLang="en-US" sz="2400" b="0" dirty="0" smtClean="0">
                <a:solidFill>
                  <a:schemeClr val="bg1"/>
                </a:solidFill>
                <a:latin typeface="Arial" panose="020B0604020202020204" pitchFamily="34" charset="0"/>
                <a:ea typeface="+mj-ea"/>
                <a:cs typeface="Arial" panose="020B0604020202020204" pitchFamily="34" charset="0"/>
              </a:rPr>
              <a:t>Examination </a:t>
            </a:r>
            <a:r>
              <a:rPr lang="en-US" altLang="en-US" sz="2400" b="0" dirty="0">
                <a:solidFill>
                  <a:schemeClr val="bg1"/>
                </a:solidFill>
                <a:latin typeface="Arial" panose="020B0604020202020204" pitchFamily="34" charset="0"/>
                <a:ea typeface="+mj-ea"/>
                <a:cs typeface="Arial" panose="020B0604020202020204" pitchFamily="34" charset="0"/>
              </a:rPr>
              <a:t>of the </a:t>
            </a:r>
            <a:r>
              <a:rPr lang="en-US" altLang="en-US" sz="2400" b="0" dirty="0" smtClean="0">
                <a:solidFill>
                  <a:schemeClr val="bg1"/>
                </a:solidFill>
                <a:latin typeface="Arial" panose="020B0604020202020204" pitchFamily="34" charset="0"/>
                <a:ea typeface="+mj-ea"/>
                <a:cs typeface="Arial" panose="020B0604020202020204" pitchFamily="34" charset="0"/>
              </a:rPr>
              <a:t>Weaknesses in RM Elements (LC’s):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5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36650459"/>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#1: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Can you draft a latent cause statement?</a:t>
            </a: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lvl="0" eaLnBrk="0" hangingPunct="0">
              <a:lnSpc>
                <a:spcPct val="90000"/>
              </a:lnSpc>
              <a:spcBef>
                <a:spcPts val="0"/>
              </a:spcBef>
              <a:buSzPct val="100000"/>
            </a:pPr>
            <a:r>
              <a:rPr lang="en-US"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a:t>
            </a: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confer </a:t>
            </a:r>
            <a:r>
              <a:rPr lang="en-US"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(Open discussion), </a:t>
            </a:r>
            <a:r>
              <a:rPr lang="en-US"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select </a:t>
            </a: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one </a:t>
            </a:r>
            <a:r>
              <a:rPr lang="en-US"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of these management </a:t>
            </a: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system </a:t>
            </a:r>
            <a:r>
              <a:rPr lang="en-US"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elements and </a:t>
            </a: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draft a statement for a latent </a:t>
            </a:r>
            <a:r>
              <a:rPr lang="en-US"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cause:</a:t>
            </a:r>
            <a:endPar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SzPct val="100000"/>
              <a:buFont typeface="Wingdings" panose="05000000000000000000" pitchFamily="2" charset="2"/>
              <a:buChar char="Ø"/>
            </a:pPr>
            <a:endPar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eaLnBrk="0" hangingPunct="0">
              <a:lnSpc>
                <a:spcPct val="90000"/>
              </a:lnSpc>
              <a:spcBef>
                <a:spcPts val="0"/>
              </a:spcBef>
              <a:buSzPct val="100000"/>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2 RA&amp;MR:</a:t>
            </a:r>
          </a:p>
          <a:p>
            <a:pPr marL="360000" indent="-360000" eaLnBrk="0" hangingPunct="0">
              <a:lnSpc>
                <a:spcPct val="90000"/>
              </a:lnSpc>
              <a:spcBef>
                <a:spcPts val="0"/>
              </a:spcBef>
              <a:buSzPct val="100000"/>
              <a:buFont typeface="Wingdings" panose="05000000000000000000" pitchFamily="2" charset="2"/>
              <a:buChar char="Ø"/>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Inadequate risk assessment and management of risk</a:t>
            </a:r>
          </a:p>
          <a:p>
            <a:pPr marL="720000" lvl="0" indent="-360000" eaLnBrk="0" hangingPunct="0">
              <a:lnSpc>
                <a:spcPct val="90000"/>
              </a:lnSpc>
              <a:spcBef>
                <a:spcPts val="0"/>
              </a:spcBef>
              <a:buSzPct val="100000"/>
              <a:buFont typeface="Wingdings" panose="05000000000000000000" pitchFamily="2" charset="2"/>
              <a:buChar char="Ø"/>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Insufficient hazard identification during operations in TSF</a:t>
            </a:r>
          </a:p>
          <a:p>
            <a:pPr marL="720000" lvl="0" indent="-360000" eaLnBrk="0" hangingPunct="0">
              <a:lnSpc>
                <a:spcPct val="90000"/>
              </a:lnSpc>
              <a:spcBef>
                <a:spcPts val="0"/>
              </a:spcBef>
              <a:buSzPct val="100000"/>
              <a:buFont typeface="Wingdings" panose="05000000000000000000" pitchFamily="2" charset="2"/>
              <a:buChar char="Ø"/>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Management provided inadequate supervision and inspections during operations</a:t>
            </a:r>
          </a:p>
          <a:p>
            <a:pPr marL="360000" lvl="0" indent="-360000" eaLnBrk="0" hangingPunct="0">
              <a:lnSpc>
                <a:spcPct val="90000"/>
              </a:lnSpc>
              <a:spcBef>
                <a:spcPts val="0"/>
              </a:spcBef>
              <a:buSzPct val="100000"/>
              <a:buFont typeface="Wingdings" panose="05000000000000000000" pitchFamily="2" charset="2"/>
              <a:buChar char="Ø"/>
            </a:pPr>
            <a:endPar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eaLnBrk="0" hangingPunct="0">
              <a:lnSpc>
                <a:spcPct val="90000"/>
              </a:lnSpc>
              <a:spcBef>
                <a:spcPts val="0"/>
              </a:spcBef>
              <a:buSzPct val="100000"/>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7 DC&amp;SU:</a:t>
            </a:r>
          </a:p>
          <a:p>
            <a:pPr marL="360000" indent="-360000" eaLnBrk="0" hangingPunct="0">
              <a:lnSpc>
                <a:spcPct val="90000"/>
              </a:lnSpc>
              <a:spcBef>
                <a:spcPts val="0"/>
              </a:spcBef>
              <a:buSzPct val="100000"/>
              <a:buFont typeface="Wingdings" panose="05000000000000000000" pitchFamily="2" charset="2"/>
              <a:buChar char="Ø"/>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Inadequate design and assessment  </a:t>
            </a:r>
          </a:p>
          <a:p>
            <a:pPr marL="720000" indent="-360000" eaLnBrk="0" hangingPunct="0">
              <a:lnSpc>
                <a:spcPct val="90000"/>
              </a:lnSpc>
              <a:spcBef>
                <a:spcPts val="0"/>
              </a:spcBef>
              <a:buSzPct val="100000"/>
              <a:buFont typeface="Wingdings" panose="05000000000000000000" pitchFamily="2" charset="2"/>
              <a:buChar char="Ø"/>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Design team had a poor understanding of underlying terrain during the design phase of TSF  </a:t>
            </a:r>
          </a:p>
          <a:p>
            <a:pPr marL="720000" indent="-360000" eaLnBrk="0" hangingPunct="0">
              <a:lnSpc>
                <a:spcPct val="90000"/>
              </a:lnSpc>
              <a:spcBef>
                <a:spcPts val="0"/>
              </a:spcBef>
              <a:buSzPct val="100000"/>
              <a:buFont typeface="Wingdings" panose="05000000000000000000" pitchFamily="2" charset="2"/>
              <a:buChar char="Ø"/>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Design team heavily relied on Factor of Safety calculations prone to error   </a:t>
            </a:r>
          </a:p>
          <a:p>
            <a:pPr lvl="0" eaLnBrk="0" hangingPunct="0">
              <a:lnSpc>
                <a:spcPct val="90000"/>
              </a:lnSpc>
              <a:spcBef>
                <a:spcPts val="0"/>
              </a:spcBef>
              <a:buSzPct val="100000"/>
            </a:pPr>
            <a:endParaRPr lang="en-US"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eaLnBrk="0" hangingPunct="0">
              <a:lnSpc>
                <a:spcPct val="90000"/>
              </a:lnSpc>
              <a:spcBef>
                <a:spcPts val="0"/>
              </a:spcBef>
              <a:buSzPct val="100000"/>
            </a:pPr>
            <a:r>
              <a:rPr lang="en-US"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#9 EC&amp;T:</a:t>
            </a:r>
          </a:p>
          <a:p>
            <a:pPr marL="360000" indent="-360000" eaLnBrk="0" hangingPunct="0">
              <a:lnSpc>
                <a:spcPct val="90000"/>
              </a:lnSpc>
              <a:spcBef>
                <a:spcPts val="0"/>
              </a:spcBef>
              <a:buSzPct val="100000"/>
              <a:buFont typeface="Wingdings" panose="05000000000000000000" pitchFamily="2" charset="2"/>
              <a:buChar char="Ø"/>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Inadequate employee competency </a:t>
            </a:r>
          </a:p>
          <a:p>
            <a:pPr marL="720000" lvl="0" indent="-360000" eaLnBrk="0" hangingPunct="0">
              <a:lnSpc>
                <a:spcPct val="90000"/>
              </a:lnSpc>
              <a:spcBef>
                <a:spcPts val="0"/>
              </a:spcBef>
              <a:buSzPct val="100000"/>
              <a:buFont typeface="Wingdings" panose="05000000000000000000" pitchFamily="2" charset="2"/>
              <a:buChar char="Ø"/>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Unqualified personnel overseeing water management </a:t>
            </a:r>
            <a:r>
              <a:rPr lang="en-US"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program</a:t>
            </a:r>
            <a:endPar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5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974988079"/>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18"/>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smtClean="0">
                <a:solidFill>
                  <a:schemeClr val="tx1"/>
                </a:solidFill>
                <a:latin typeface="Arial" panose="020B0604020202020204" pitchFamily="34" charset="0"/>
                <a:ea typeface="Arial"/>
                <a:cs typeface="Arial" panose="020B0604020202020204" pitchFamily="34" charset="0"/>
                <a:sym typeface="Arial"/>
              </a:rPr>
              <a:t>RME </a:t>
            </a:r>
            <a:r>
              <a:rPr lang="en-US" sz="1800" b="1" dirty="0">
                <a:solidFill>
                  <a:schemeClr val="tx1"/>
                </a:solidFill>
                <a:latin typeface="Arial" panose="020B0604020202020204" pitchFamily="34" charset="0"/>
                <a:ea typeface="Arial"/>
                <a:cs typeface="Arial" panose="020B0604020202020204" pitchFamily="34" charset="0"/>
                <a:sym typeface="Arial"/>
              </a:rPr>
              <a:t>#2: Risk Assessment and Management of Risks: </a:t>
            </a:r>
            <a:endParaRPr lang="en-US" sz="1800" b="1" dirty="0" smtClean="0">
              <a:solidFill>
                <a:schemeClr val="tx1"/>
              </a:solidFill>
              <a:latin typeface="Arial" panose="020B0604020202020204" pitchFamily="34" charset="0"/>
              <a:ea typeface="Arial"/>
              <a:cs typeface="Arial" panose="020B0604020202020204" pitchFamily="34" charset="0"/>
              <a:sym typeface="Arial"/>
            </a:endParaRPr>
          </a:p>
          <a:p>
            <a:pPr marL="0" lvl="0" indent="0" algn="l" rtl="0">
              <a:lnSpc>
                <a:spcPct val="90000"/>
              </a:lnSpc>
              <a:spcBef>
                <a:spcPts val="0"/>
              </a:spcBef>
              <a:spcAft>
                <a:spcPts val="0"/>
              </a:spcAft>
              <a:buClr>
                <a:srgbClr val="000000"/>
              </a:buClr>
              <a:buSzPts val="2000"/>
              <a:buNone/>
            </a:pPr>
            <a:endParaRPr lang="en-US" sz="1800" dirty="0">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Initial and </a:t>
            </a:r>
            <a:r>
              <a:rPr lang="en-US" sz="1800" dirty="0">
                <a:latin typeface="Arial" panose="020B0604020202020204" pitchFamily="34" charset="0"/>
                <a:ea typeface="Arial"/>
                <a:cs typeface="Arial" panose="020B0604020202020204" pitchFamily="34" charset="0"/>
                <a:sym typeface="Arial"/>
              </a:rPr>
              <a:t>on-going, continuing need </a:t>
            </a:r>
            <a:r>
              <a:rPr lang="en-US" sz="1800" dirty="0" smtClean="0">
                <a:latin typeface="Arial" panose="020B0604020202020204" pitchFamily="34" charset="0"/>
                <a:ea typeface="Arial"/>
                <a:cs typeface="Arial" panose="020B0604020202020204" pitchFamily="34" charset="0"/>
                <a:sym typeface="Arial"/>
              </a:rPr>
              <a:t>to assess and manage risks. </a:t>
            </a:r>
            <a:endParaRPr lang="en-US" sz="1800" b="1" dirty="0">
              <a:latin typeface="Arial" panose="020B0604020202020204" pitchFamily="34" charset="0"/>
              <a:ea typeface="Arial"/>
              <a:cs typeface="Arial" panose="020B0604020202020204" pitchFamily="34" charset="0"/>
              <a:sym typeface="Arial"/>
            </a:endParaRPr>
          </a:p>
          <a:p>
            <a:pPr marL="360000" lvl="2" indent="-36000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Substandard hazard identification program resulted in unaddressed risks </a:t>
            </a:r>
            <a:r>
              <a:rPr lang="en-US" sz="1800" dirty="0" smtClean="0">
                <a:latin typeface="Arial" panose="020B0604020202020204" pitchFamily="34" charset="0"/>
                <a:ea typeface="Arial"/>
                <a:cs typeface="Arial" panose="020B0604020202020204" pitchFamily="34" charset="0"/>
                <a:sym typeface="Arial"/>
              </a:rPr>
              <a:t>during the </a:t>
            </a:r>
            <a:r>
              <a:rPr lang="en-US" sz="1800" dirty="0">
                <a:latin typeface="Arial" panose="020B0604020202020204" pitchFamily="34" charset="0"/>
                <a:ea typeface="Arial"/>
                <a:cs typeface="Arial" panose="020B0604020202020204" pitchFamily="34" charset="0"/>
                <a:sym typeface="Arial"/>
              </a:rPr>
              <a:t>operations phase of the TSF:</a:t>
            </a:r>
          </a:p>
          <a:p>
            <a:pPr marL="720000" lvl="2" indent="-360000" algn="l" rtl="0">
              <a:lnSpc>
                <a:spcPct val="90000"/>
              </a:lnSpc>
              <a:spcBef>
                <a:spcPts val="0"/>
              </a:spcBef>
              <a:spcAft>
                <a:spcPts val="0"/>
              </a:spcAft>
              <a:buClr>
                <a:srgbClr val="000000"/>
              </a:buClr>
              <a:buSzPts val="2000"/>
              <a:buFont typeface="Noto Sans Symbols"/>
              <a:buChar char="⮚"/>
            </a:pPr>
            <a:r>
              <a:rPr lang="en-CA" sz="1800" dirty="0" smtClean="0">
                <a:latin typeface="Arial" panose="020B0604020202020204" pitchFamily="34" charset="0"/>
                <a:ea typeface="Arial"/>
                <a:cs typeface="Arial" panose="020B0604020202020204" pitchFamily="34" charset="0"/>
                <a:sym typeface="Arial"/>
              </a:rPr>
              <a:t>TSF Inspections were not adequately performed nor adequately supervised</a:t>
            </a:r>
          </a:p>
          <a:p>
            <a:pPr marL="720000" lvl="2" indent="-360000" algn="l" rtl="0">
              <a:lnSpc>
                <a:spcPct val="90000"/>
              </a:lnSpc>
              <a:spcBef>
                <a:spcPts val="0"/>
              </a:spcBef>
              <a:spcAft>
                <a:spcPts val="0"/>
              </a:spcAft>
              <a:buClr>
                <a:srgbClr val="000000"/>
              </a:buClr>
              <a:buSzPts val="2000"/>
              <a:buFont typeface="Noto Sans Symbols"/>
              <a:buChar char="⮚"/>
            </a:pPr>
            <a:endParaRPr lang="en-CA" sz="1800" dirty="0">
              <a:latin typeface="Arial" panose="020B0604020202020204" pitchFamily="34" charset="0"/>
              <a:ea typeface="Arial"/>
              <a:cs typeface="Arial" panose="020B0604020202020204" pitchFamily="34" charset="0"/>
              <a:sym typeface="Arial"/>
            </a:endParaRPr>
          </a:p>
          <a:p>
            <a:pPr marL="0" lvl="2" indent="0" algn="l" rtl="0">
              <a:lnSpc>
                <a:spcPct val="90000"/>
              </a:lnSpc>
              <a:spcBef>
                <a:spcPts val="0"/>
              </a:spcBef>
              <a:spcAft>
                <a:spcPts val="0"/>
              </a:spcAft>
              <a:buClr>
                <a:srgbClr val="000000"/>
              </a:buClr>
              <a:buSzPts val="2000"/>
              <a:buNone/>
            </a:pPr>
            <a:r>
              <a:rPr lang="en-CA" sz="1800" b="1" dirty="0">
                <a:latin typeface="Arial" panose="020B0604020202020204" pitchFamily="34" charset="0"/>
                <a:ea typeface="Arial"/>
                <a:cs typeface="Arial" panose="020B0604020202020204" pitchFamily="34" charset="0"/>
                <a:sym typeface="Arial"/>
              </a:rPr>
              <a:t>Latent </a:t>
            </a:r>
            <a:r>
              <a:rPr lang="en-CA" sz="1800" b="1" dirty="0" smtClean="0">
                <a:latin typeface="Arial" panose="020B0604020202020204" pitchFamily="34" charset="0"/>
                <a:ea typeface="Arial"/>
                <a:cs typeface="Arial" panose="020B0604020202020204" pitchFamily="34" charset="0"/>
                <a:sym typeface="Arial"/>
              </a:rPr>
              <a:t>Cause: </a:t>
            </a:r>
            <a:endParaRPr lang="en-CA" sz="1800" b="1" dirty="0">
              <a:latin typeface="Arial" panose="020B0604020202020204" pitchFamily="34" charset="0"/>
              <a:ea typeface="Arial"/>
              <a:cs typeface="Arial" panose="020B0604020202020204" pitchFamily="34" charset="0"/>
              <a:sym typeface="Arial"/>
            </a:endParaRPr>
          </a:p>
          <a:p>
            <a:pPr marL="360000" lvl="2" indent="-36000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LC-S: The risk assessment </a:t>
            </a:r>
            <a:r>
              <a:rPr lang="en-US" sz="1800" dirty="0">
                <a:latin typeface="Arial" panose="020B0604020202020204" pitchFamily="34" charset="0"/>
                <a:ea typeface="Arial"/>
                <a:cs typeface="Arial" panose="020B0604020202020204" pitchFamily="34" charset="0"/>
                <a:sym typeface="Arial"/>
              </a:rPr>
              <a:t>program </a:t>
            </a:r>
            <a:r>
              <a:rPr lang="en-US" sz="1800" dirty="0" smtClean="0">
                <a:latin typeface="Arial" panose="020B0604020202020204" pitchFamily="34" charset="0"/>
                <a:ea typeface="Arial"/>
                <a:cs typeface="Arial" panose="020B0604020202020204" pitchFamily="34" charset="0"/>
                <a:sym typeface="Arial"/>
              </a:rPr>
              <a:t>did not include a standard to identify and assess hazards of the TSF foundation and hydraulic conditions while the TSF was in operation. #2 RAMR</a:t>
            </a:r>
            <a:endParaRPr lang="en-CA" sz="1800" dirty="0">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5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a:t>
            </a:r>
            <a:r>
              <a:rPr lang="en-US" altLang="en-US" sz="2400" b="0" dirty="0">
                <a:solidFill>
                  <a:schemeClr val="accent2"/>
                </a:solidFill>
                <a:latin typeface="Arial" panose="020B0604020202020204" pitchFamily="34" charset="0"/>
                <a:ea typeface="+mj-ea"/>
                <a:cs typeface="Arial" panose="020B0604020202020204" pitchFamily="34" charset="0"/>
              </a:rPr>
              <a:t>: </a:t>
            </a:r>
            <a:r>
              <a:rPr lang="en-US" altLang="en-US" sz="2400" b="0" dirty="0" smtClean="0">
                <a:solidFill>
                  <a:schemeClr val="accent2"/>
                </a:solidFill>
                <a:latin typeface="Arial" panose="020B0604020202020204" pitchFamily="34" charset="0"/>
                <a:ea typeface="+mj-ea"/>
                <a:cs typeface="Arial" panose="020B0604020202020204" pitchFamily="34" charset="0"/>
              </a:rPr>
              <a:t>Latent Cause Relating to RME#2</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92939087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9"/>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smtClean="0">
                <a:solidFill>
                  <a:schemeClr val="tx1"/>
                </a:solidFill>
                <a:latin typeface="Arial" panose="020B0604020202020204" pitchFamily="34" charset="0"/>
                <a:ea typeface="Arial"/>
                <a:cs typeface="Arial" panose="020B0604020202020204" pitchFamily="34" charset="0"/>
                <a:sym typeface="Arial"/>
              </a:rPr>
              <a:t>RME </a:t>
            </a:r>
            <a:r>
              <a:rPr lang="en-US" sz="1800" b="1" dirty="0">
                <a:solidFill>
                  <a:schemeClr val="tx1"/>
                </a:solidFill>
                <a:latin typeface="Arial" panose="020B0604020202020204" pitchFamily="34" charset="0"/>
                <a:ea typeface="Arial"/>
                <a:cs typeface="Arial" panose="020B0604020202020204" pitchFamily="34" charset="0"/>
                <a:sym typeface="Arial"/>
              </a:rPr>
              <a:t>#7: Design, Construction and Start-up:</a:t>
            </a:r>
            <a:endParaRPr sz="1800" dirty="0">
              <a:solidFill>
                <a:schemeClr val="tx1"/>
              </a:solidFill>
              <a:latin typeface="Arial" panose="020B0604020202020204" pitchFamily="34" charset="0"/>
              <a:ea typeface="Arial"/>
              <a:cs typeface="Arial" panose="020B0604020202020204" pitchFamily="34" charset="0"/>
              <a:sym typeface="Arial"/>
            </a:endParaRPr>
          </a:p>
          <a:p>
            <a:pPr marL="742950" lvl="1" indent="-285750" algn="l" rtl="0">
              <a:lnSpc>
                <a:spcPct val="90000"/>
              </a:lnSpc>
              <a:spcBef>
                <a:spcPts val="0"/>
              </a:spcBef>
              <a:spcAft>
                <a:spcPts val="0"/>
              </a:spcAft>
              <a:buClr>
                <a:srgbClr val="000000"/>
              </a:buClr>
              <a:buSzPts val="2000"/>
              <a:buFont typeface="Noto Sans Symbols"/>
              <a:buChar char="⮚"/>
            </a:pPr>
            <a:endParaRPr lang="en-US" sz="1800" dirty="0">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Risk </a:t>
            </a:r>
            <a:r>
              <a:rPr lang="en-US" sz="1800" dirty="0">
                <a:latin typeface="Arial" panose="020B0604020202020204" pitchFamily="34" charset="0"/>
                <a:ea typeface="Arial"/>
                <a:cs typeface="Arial" panose="020B0604020202020204" pitchFamily="34" charset="0"/>
                <a:sym typeface="Arial"/>
              </a:rPr>
              <a:t>assessment </a:t>
            </a:r>
            <a:r>
              <a:rPr lang="en-US" sz="1800" dirty="0" smtClean="0">
                <a:latin typeface="Arial" panose="020B0604020202020204" pitchFamily="34" charset="0"/>
                <a:ea typeface="Arial"/>
                <a:cs typeface="Arial" panose="020B0604020202020204" pitchFamily="34" charset="0"/>
                <a:sym typeface="Arial"/>
              </a:rPr>
              <a:t>during design is </a:t>
            </a:r>
            <a:r>
              <a:rPr lang="en-US" sz="1800" dirty="0">
                <a:latin typeface="Arial" panose="020B0604020202020204" pitchFamily="34" charset="0"/>
                <a:ea typeface="Arial"/>
                <a:cs typeface="Arial" panose="020B0604020202020204" pitchFamily="34" charset="0"/>
                <a:sym typeface="Arial"/>
              </a:rPr>
              <a:t>vital to </a:t>
            </a:r>
            <a:r>
              <a:rPr lang="en-US" sz="1800" dirty="0" smtClean="0">
                <a:latin typeface="Arial" panose="020B0604020202020204" pitchFamily="34" charset="0"/>
                <a:ea typeface="Arial"/>
                <a:cs typeface="Arial" panose="020B0604020202020204" pitchFamily="34" charset="0"/>
                <a:sym typeface="Arial"/>
              </a:rPr>
              <a:t>assess </a:t>
            </a:r>
            <a:r>
              <a:rPr lang="en-US" sz="1800" dirty="0">
                <a:latin typeface="Arial" panose="020B0604020202020204" pitchFamily="34" charset="0"/>
                <a:ea typeface="Arial"/>
                <a:cs typeface="Arial" panose="020B0604020202020204" pitchFamily="34" charset="0"/>
                <a:sym typeface="Arial"/>
              </a:rPr>
              <a:t>and control the </a:t>
            </a:r>
            <a:r>
              <a:rPr lang="en-US" sz="1800" dirty="0" smtClean="0">
                <a:latin typeface="Arial" panose="020B0604020202020204" pitchFamily="34" charset="0"/>
                <a:ea typeface="Arial"/>
                <a:cs typeface="Arial" panose="020B0604020202020204" pitchFamily="34" charset="0"/>
                <a:sym typeface="Arial"/>
              </a:rPr>
              <a:t>risks. </a:t>
            </a:r>
            <a:endParaRPr lang="en-US" sz="1800" dirty="0">
              <a:highlight>
                <a:srgbClr val="FFFF00"/>
              </a:highlight>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Design team heavily relied on Factor of Safety (</a:t>
            </a:r>
            <a:r>
              <a:rPr lang="en-US" sz="1800" dirty="0" err="1">
                <a:latin typeface="Arial" panose="020B0604020202020204" pitchFamily="34" charset="0"/>
                <a:ea typeface="Arial"/>
                <a:cs typeface="Arial" panose="020B0604020202020204" pitchFamily="34" charset="0"/>
                <a:sym typeface="Arial"/>
              </a:rPr>
              <a:t>FoS</a:t>
            </a:r>
            <a:r>
              <a:rPr lang="en-US" sz="1800" dirty="0">
                <a:latin typeface="Arial" panose="020B0604020202020204" pitchFamily="34" charset="0"/>
                <a:ea typeface="Arial"/>
                <a:cs typeface="Arial" panose="020B0604020202020204" pitchFamily="34" charset="0"/>
                <a:sym typeface="Arial"/>
              </a:rPr>
              <a:t>) calculations, but they were not </a:t>
            </a:r>
            <a:r>
              <a:rPr lang="en-US" sz="1800" dirty="0" smtClean="0">
                <a:latin typeface="Arial" panose="020B0604020202020204" pitchFamily="34" charset="0"/>
                <a:ea typeface="Arial"/>
                <a:cs typeface="Arial" panose="020B0604020202020204" pitchFamily="34" charset="0"/>
                <a:sym typeface="Arial"/>
              </a:rPr>
              <a:t>reliable. </a:t>
            </a:r>
            <a:endParaRPr lang="en-US" sz="1800" dirty="0">
              <a:latin typeface="Arial" panose="020B0604020202020204" pitchFamily="34" charset="0"/>
              <a:ea typeface="Arial"/>
              <a:cs typeface="Arial" panose="020B0604020202020204" pitchFamily="34" charset="0"/>
              <a:sym typeface="Arial"/>
            </a:endParaRPr>
          </a:p>
          <a:p>
            <a:pPr marL="720000" lvl="2" indent="-36000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Used </a:t>
            </a:r>
            <a:r>
              <a:rPr lang="en-US" sz="1800" dirty="0" smtClean="0">
                <a:latin typeface="Arial" panose="020B0604020202020204" pitchFamily="34" charset="0"/>
                <a:ea typeface="Arial"/>
                <a:cs typeface="Arial" panose="020B0604020202020204" pitchFamily="34" charset="0"/>
                <a:sym typeface="Arial"/>
              </a:rPr>
              <a:t>unsuitable calculation </a:t>
            </a:r>
            <a:r>
              <a:rPr lang="en-US" sz="1800" dirty="0">
                <a:latin typeface="Arial" panose="020B0604020202020204" pitchFamily="34" charset="0"/>
                <a:ea typeface="Arial"/>
                <a:cs typeface="Arial" panose="020B0604020202020204" pitchFamily="34" charset="0"/>
                <a:sym typeface="Arial"/>
              </a:rPr>
              <a:t>guidelines from the Canadian Dam </a:t>
            </a:r>
            <a:r>
              <a:rPr lang="en-US" sz="1800" dirty="0" smtClean="0">
                <a:latin typeface="Arial" panose="020B0604020202020204" pitchFamily="34" charset="0"/>
                <a:ea typeface="Arial"/>
                <a:cs typeface="Arial" panose="020B0604020202020204" pitchFamily="34" charset="0"/>
                <a:sym typeface="Arial"/>
              </a:rPr>
              <a:t>Association </a:t>
            </a:r>
          </a:p>
          <a:p>
            <a:pPr marL="720000" lvl="2" indent="-36000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Calculations used data </a:t>
            </a:r>
            <a:r>
              <a:rPr lang="en-US" sz="1800" dirty="0">
                <a:latin typeface="Arial" panose="020B0604020202020204" pitchFamily="34" charset="0"/>
                <a:ea typeface="Arial"/>
                <a:cs typeface="Arial" panose="020B0604020202020204" pitchFamily="34" charset="0"/>
                <a:sym typeface="Arial"/>
              </a:rPr>
              <a:t>from an inadequate </a:t>
            </a:r>
            <a:r>
              <a:rPr lang="en-US" sz="1800" dirty="0" smtClean="0">
                <a:latin typeface="Arial" panose="020B0604020202020204" pitchFamily="34" charset="0"/>
                <a:ea typeface="Arial"/>
                <a:cs typeface="Arial" panose="020B0604020202020204" pitchFamily="34" charset="0"/>
                <a:sym typeface="Arial"/>
              </a:rPr>
              <a:t>assessment, </a:t>
            </a:r>
            <a:r>
              <a:rPr lang="en-US" sz="1800" dirty="0">
                <a:latin typeface="Arial" panose="020B0604020202020204" pitchFamily="34" charset="0"/>
                <a:ea typeface="Arial"/>
                <a:cs typeface="Arial" panose="020B0604020202020204" pitchFamily="34" charset="0"/>
                <a:sym typeface="Arial"/>
              </a:rPr>
              <a:t>leading to incorrect calculations </a:t>
            </a:r>
          </a:p>
          <a:p>
            <a:pPr marL="360000" lvl="1" indent="-360000" algn="l" rtl="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The </a:t>
            </a:r>
            <a:r>
              <a:rPr lang="en-US" sz="1800" dirty="0">
                <a:latin typeface="Arial" panose="020B0604020202020204" pitchFamily="34" charset="0"/>
                <a:ea typeface="Arial"/>
                <a:cs typeface="Arial" panose="020B0604020202020204" pitchFamily="34" charset="0"/>
                <a:sym typeface="Arial"/>
              </a:rPr>
              <a:t>Mining Association of Canada’s </a:t>
            </a:r>
            <a:r>
              <a:rPr lang="en-US" sz="1800" dirty="0" smtClean="0">
                <a:latin typeface="Arial" panose="020B0604020202020204" pitchFamily="34" charset="0"/>
                <a:ea typeface="Arial"/>
                <a:cs typeface="Arial" panose="020B0604020202020204" pitchFamily="34" charset="0"/>
                <a:sym typeface="Arial"/>
              </a:rPr>
              <a:t>guidelines were not followed. </a:t>
            </a:r>
            <a:endParaRPr lang="en-US" sz="1800" dirty="0">
              <a:latin typeface="Arial" panose="020B0604020202020204" pitchFamily="34" charset="0"/>
              <a:ea typeface="Arial"/>
              <a:cs typeface="Arial" panose="020B0604020202020204" pitchFamily="34" charset="0"/>
              <a:sym typeface="Arial"/>
            </a:endParaRPr>
          </a:p>
          <a:p>
            <a:pPr marL="720000" lvl="2" indent="-36000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Design team relied </a:t>
            </a:r>
            <a:r>
              <a:rPr lang="en-US" sz="1800" dirty="0">
                <a:latin typeface="Arial" panose="020B0604020202020204" pitchFamily="34" charset="0"/>
                <a:ea typeface="Arial"/>
                <a:cs typeface="Arial" panose="020B0604020202020204" pitchFamily="34" charset="0"/>
                <a:sym typeface="Arial"/>
              </a:rPr>
              <a:t>more on their professional judgement</a:t>
            </a:r>
          </a:p>
          <a:p>
            <a:pPr marL="720000" lvl="2" indent="-36000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Guidelines would have likely identified most of the key technical causes. </a:t>
            </a:r>
          </a:p>
          <a:p>
            <a:pPr marL="0" lvl="2" indent="0">
              <a:lnSpc>
                <a:spcPct val="90000"/>
              </a:lnSpc>
              <a:spcBef>
                <a:spcPts val="0"/>
              </a:spcBef>
              <a:spcAft>
                <a:spcPts val="0"/>
              </a:spcAft>
              <a:buClr>
                <a:srgbClr val="000000"/>
              </a:buClr>
              <a:buSzPts val="2000"/>
              <a:buNone/>
            </a:pPr>
            <a:endParaRPr lang="en-CA" sz="1800" b="1" dirty="0" smtClean="0">
              <a:solidFill>
                <a:srgbClr val="000000"/>
              </a:solidFill>
              <a:latin typeface="Arial" panose="020B0604020202020204" pitchFamily="34" charset="0"/>
              <a:ea typeface="Arial"/>
              <a:cs typeface="Arial" panose="020B0604020202020204" pitchFamily="34" charset="0"/>
              <a:sym typeface="Arial"/>
            </a:endParaRPr>
          </a:p>
          <a:p>
            <a:pPr marL="0" lvl="2" indent="0">
              <a:lnSpc>
                <a:spcPct val="90000"/>
              </a:lnSpc>
              <a:spcBef>
                <a:spcPts val="0"/>
              </a:spcBef>
              <a:spcAft>
                <a:spcPts val="0"/>
              </a:spcAft>
              <a:buClr>
                <a:srgbClr val="000000"/>
              </a:buClr>
              <a:buSzPts val="2000"/>
              <a:buNone/>
            </a:pPr>
            <a:r>
              <a:rPr lang="en-CA" sz="1800" b="1" dirty="0" smtClean="0">
                <a:solidFill>
                  <a:srgbClr val="000000"/>
                </a:solidFill>
                <a:latin typeface="Arial" panose="020B0604020202020204" pitchFamily="34" charset="0"/>
                <a:ea typeface="Arial"/>
                <a:cs typeface="Arial" panose="020B0604020202020204" pitchFamily="34" charset="0"/>
                <a:sym typeface="Arial"/>
              </a:rPr>
              <a:t>Latent Cause: </a:t>
            </a:r>
            <a:endParaRPr lang="en-US" sz="1800" dirty="0">
              <a:latin typeface="Arial" panose="020B0604020202020204" pitchFamily="34" charset="0"/>
              <a:ea typeface="Arial"/>
              <a:cs typeface="Arial" panose="020B0604020202020204" pitchFamily="34" charset="0"/>
              <a:sym typeface="Arial"/>
            </a:endParaRPr>
          </a:p>
          <a:p>
            <a:pPr marL="360000" lvl="2" indent="-360000">
              <a:lnSpc>
                <a:spcPct val="90000"/>
              </a:lnSpc>
              <a:spcBef>
                <a:spcPts val="0"/>
              </a:spcBef>
              <a:spcAft>
                <a:spcPts val="0"/>
              </a:spcAft>
              <a:buClr>
                <a:srgbClr val="000000"/>
              </a:buClr>
              <a:buSzPts val="2000"/>
              <a:buFont typeface="Noto Sans Symbols"/>
              <a:buChar char="⮚"/>
            </a:pPr>
            <a:r>
              <a:rPr lang="en-CA" sz="1800" dirty="0" smtClean="0">
                <a:solidFill>
                  <a:srgbClr val="000000"/>
                </a:solidFill>
                <a:latin typeface="Arial" panose="020B0604020202020204" pitchFamily="34" charset="0"/>
                <a:ea typeface="Arial"/>
                <a:cs typeface="Arial" panose="020B0604020202020204" pitchFamily="34" charset="0"/>
                <a:sym typeface="Arial"/>
              </a:rPr>
              <a:t>LC-S: The </a:t>
            </a:r>
            <a:r>
              <a:rPr lang="en-CA" sz="1800" dirty="0">
                <a:solidFill>
                  <a:srgbClr val="000000"/>
                </a:solidFill>
                <a:latin typeface="Arial" panose="020B0604020202020204" pitchFamily="34" charset="0"/>
                <a:ea typeface="Arial"/>
                <a:cs typeface="Arial" panose="020B0604020202020204" pitchFamily="34" charset="0"/>
                <a:sym typeface="Arial"/>
              </a:rPr>
              <a:t>design program </a:t>
            </a:r>
            <a:r>
              <a:rPr lang="en-CA" sz="1800" dirty="0" smtClean="0">
                <a:solidFill>
                  <a:srgbClr val="000000"/>
                </a:solidFill>
                <a:latin typeface="Arial" panose="020B0604020202020204" pitchFamily="34" charset="0"/>
                <a:ea typeface="Arial"/>
                <a:cs typeface="Arial" panose="020B0604020202020204" pitchFamily="34" charset="0"/>
                <a:sym typeface="Arial"/>
              </a:rPr>
              <a:t>standard for applying the factors of safety during </a:t>
            </a:r>
            <a:r>
              <a:rPr lang="en-CA" sz="1800" dirty="0">
                <a:solidFill>
                  <a:srgbClr val="000000"/>
                </a:solidFill>
                <a:latin typeface="Arial" panose="020B0604020202020204" pitchFamily="34" charset="0"/>
                <a:ea typeface="Arial"/>
                <a:cs typeface="Arial" panose="020B0604020202020204" pitchFamily="34" charset="0"/>
                <a:sym typeface="Arial"/>
              </a:rPr>
              <a:t>the design phase of the TSF project </a:t>
            </a:r>
            <a:r>
              <a:rPr lang="en-CA" sz="1800" dirty="0" smtClean="0">
                <a:solidFill>
                  <a:srgbClr val="000000"/>
                </a:solidFill>
                <a:latin typeface="Arial" panose="020B0604020202020204" pitchFamily="34" charset="0"/>
                <a:ea typeface="Arial"/>
                <a:cs typeface="Arial" panose="020B0604020202020204" pitchFamily="34" charset="0"/>
                <a:sym typeface="Arial"/>
              </a:rPr>
              <a:t>did not reference the necessary calculation guidelines from the Mining Association of Canada. #7 DCSU</a:t>
            </a:r>
            <a:endParaRPr lang="en-US" sz="1800" dirty="0">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5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a:t>
            </a:r>
            <a:r>
              <a:rPr lang="en-US" altLang="en-US" sz="2400" b="0" dirty="0">
                <a:solidFill>
                  <a:schemeClr val="accent2"/>
                </a:solidFill>
                <a:latin typeface="Arial" panose="020B0604020202020204" pitchFamily="34" charset="0"/>
                <a:ea typeface="+mj-ea"/>
                <a:cs typeface="Arial" panose="020B0604020202020204" pitchFamily="34" charset="0"/>
              </a:rPr>
              <a:t>: Latent Cause Relating to </a:t>
            </a:r>
            <a:r>
              <a:rPr lang="en-US" altLang="en-US" sz="2400" b="0" dirty="0" smtClean="0">
                <a:solidFill>
                  <a:schemeClr val="accent2"/>
                </a:solidFill>
                <a:latin typeface="Arial" panose="020B0604020202020204" pitchFamily="34" charset="0"/>
                <a:ea typeface="+mj-ea"/>
                <a:cs typeface="Arial" panose="020B0604020202020204" pitchFamily="34" charset="0"/>
              </a:rPr>
              <a:t>RME#7</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12589711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9"/>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smtClean="0">
                <a:solidFill>
                  <a:schemeClr val="tx1"/>
                </a:solidFill>
                <a:latin typeface="Arial" panose="020B0604020202020204" pitchFamily="34" charset="0"/>
                <a:ea typeface="Arial"/>
                <a:cs typeface="Arial" panose="020B0604020202020204" pitchFamily="34" charset="0"/>
                <a:sym typeface="Arial"/>
              </a:rPr>
              <a:t>RME </a:t>
            </a:r>
            <a:r>
              <a:rPr lang="en-US" sz="1800" b="1" dirty="0">
                <a:solidFill>
                  <a:schemeClr val="tx1"/>
                </a:solidFill>
                <a:latin typeface="Arial" panose="020B0604020202020204" pitchFamily="34" charset="0"/>
                <a:ea typeface="Arial"/>
                <a:cs typeface="Arial" panose="020B0604020202020204" pitchFamily="34" charset="0"/>
                <a:sym typeface="Arial"/>
              </a:rPr>
              <a:t>#9: Employee Competency and Training:</a:t>
            </a:r>
            <a:endParaRPr sz="1800" dirty="0">
              <a:solidFill>
                <a:schemeClr val="tx1"/>
              </a:solidFill>
              <a:latin typeface="Arial" panose="020B0604020202020204" pitchFamily="34" charset="0"/>
              <a:ea typeface="Arial"/>
              <a:cs typeface="Arial" panose="020B0604020202020204" pitchFamily="34" charset="0"/>
              <a:sym typeface="Arial"/>
            </a:endParaRPr>
          </a:p>
          <a:p>
            <a:pPr marL="742950" lvl="1" indent="-285750" algn="l" rtl="0">
              <a:lnSpc>
                <a:spcPct val="90000"/>
              </a:lnSpc>
              <a:spcBef>
                <a:spcPts val="0"/>
              </a:spcBef>
              <a:spcAft>
                <a:spcPts val="0"/>
              </a:spcAft>
              <a:buClr>
                <a:srgbClr val="000000"/>
              </a:buClr>
              <a:buSzPts val="2000"/>
              <a:buFont typeface="Noto Sans Symbols"/>
              <a:buChar char="⮚"/>
            </a:pPr>
            <a:endParaRPr lang="en-US" sz="1800" dirty="0">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Must </a:t>
            </a:r>
            <a:r>
              <a:rPr lang="en-US" sz="1800" dirty="0">
                <a:latin typeface="Arial" panose="020B0604020202020204" pitchFamily="34" charset="0"/>
                <a:ea typeface="Arial"/>
                <a:cs typeface="Arial" panose="020B0604020202020204" pitchFamily="34" charset="0"/>
                <a:sym typeface="Arial"/>
              </a:rPr>
              <a:t>ensure that employees are fully </a:t>
            </a:r>
            <a:r>
              <a:rPr lang="en-US" sz="1800" dirty="0" smtClean="0">
                <a:latin typeface="Arial" panose="020B0604020202020204" pitchFamily="34" charset="0"/>
                <a:ea typeface="Arial"/>
                <a:cs typeface="Arial" panose="020B0604020202020204" pitchFamily="34" charset="0"/>
                <a:sym typeface="Arial"/>
              </a:rPr>
              <a:t>competent.</a:t>
            </a:r>
            <a:endParaRPr lang="en-US" sz="1800" dirty="0">
              <a:latin typeface="Arial" panose="020B0604020202020204" pitchFamily="34" charset="0"/>
              <a:ea typeface="Arial"/>
              <a:cs typeface="Arial" panose="020B0604020202020204" pitchFamily="34" charset="0"/>
              <a:sym typeface="Arial"/>
            </a:endParaRPr>
          </a:p>
          <a:p>
            <a:pPr marL="720000" lvl="2" indent="-360000">
              <a:lnSpc>
                <a:spcPct val="90000"/>
              </a:lnSpc>
              <a:spcBef>
                <a:spcPts val="0"/>
              </a:spcBef>
              <a:spcAft>
                <a:spcPts val="0"/>
              </a:spcAft>
              <a:buClr>
                <a:srgbClr val="000000"/>
              </a:buClr>
              <a:buSzPts val="2000"/>
              <a:buFont typeface="Noto Sans Symbols"/>
              <a:buChar char="⮚"/>
            </a:pPr>
            <a:r>
              <a:rPr lang="en-CA" sz="1800" dirty="0" smtClean="0">
                <a:latin typeface="Arial" panose="020B0604020202020204" pitchFamily="34" charset="0"/>
                <a:ea typeface="Arial"/>
                <a:cs typeface="Arial" panose="020B0604020202020204" pitchFamily="34" charset="0"/>
                <a:sym typeface="Arial"/>
              </a:rPr>
              <a:t>The individual who was hired to lead </a:t>
            </a:r>
            <a:r>
              <a:rPr lang="en-CA" sz="1800" dirty="0">
                <a:latin typeface="Arial" panose="020B0604020202020204" pitchFamily="34" charset="0"/>
                <a:ea typeface="Arial"/>
                <a:cs typeface="Arial" panose="020B0604020202020204" pitchFamily="34" charset="0"/>
                <a:sym typeface="Arial"/>
              </a:rPr>
              <a:t>the water management </a:t>
            </a:r>
            <a:r>
              <a:rPr lang="en-CA" sz="1800" dirty="0" smtClean="0">
                <a:latin typeface="Arial" panose="020B0604020202020204" pitchFamily="34" charset="0"/>
                <a:ea typeface="Arial"/>
                <a:cs typeface="Arial" panose="020B0604020202020204" pitchFamily="34" charset="0"/>
                <a:sym typeface="Arial"/>
              </a:rPr>
              <a:t>plan was not qualified.  Through the actions of this individual, this </a:t>
            </a:r>
            <a:r>
              <a:rPr lang="en-CA" sz="1800" dirty="0">
                <a:latin typeface="Arial" panose="020B0604020202020204" pitchFamily="34" charset="0"/>
                <a:ea typeface="Arial"/>
                <a:cs typeface="Arial" panose="020B0604020202020204" pitchFamily="34" charset="0"/>
                <a:sym typeface="Arial"/>
              </a:rPr>
              <a:t>resulted in excess water levels in the </a:t>
            </a:r>
            <a:r>
              <a:rPr lang="en-CA" sz="1800" dirty="0" smtClean="0">
                <a:latin typeface="Arial" panose="020B0604020202020204" pitchFamily="34" charset="0"/>
                <a:ea typeface="Arial"/>
                <a:cs typeface="Arial" panose="020B0604020202020204" pitchFamily="34" charset="0"/>
                <a:sym typeface="Arial"/>
              </a:rPr>
              <a:t>TSF.</a:t>
            </a:r>
          </a:p>
          <a:p>
            <a:pPr marL="360000" lvl="2" indent="-360000">
              <a:lnSpc>
                <a:spcPct val="90000"/>
              </a:lnSpc>
              <a:spcBef>
                <a:spcPts val="0"/>
              </a:spcBef>
              <a:spcAft>
                <a:spcPts val="0"/>
              </a:spcAft>
              <a:buClr>
                <a:srgbClr val="000000"/>
              </a:buClr>
              <a:buSzPts val="2000"/>
              <a:buFont typeface="Noto Sans Symbols"/>
              <a:buChar char="⮚"/>
            </a:pPr>
            <a:endParaRPr lang="en-CA" sz="1800" dirty="0">
              <a:latin typeface="Arial" panose="020B0604020202020204" pitchFamily="34" charset="0"/>
              <a:ea typeface="Arial"/>
              <a:cs typeface="Arial" panose="020B0604020202020204" pitchFamily="34" charset="0"/>
              <a:sym typeface="Arial"/>
            </a:endParaRPr>
          </a:p>
          <a:p>
            <a:pPr marL="0" lvl="2" indent="0">
              <a:lnSpc>
                <a:spcPct val="90000"/>
              </a:lnSpc>
              <a:spcBef>
                <a:spcPts val="0"/>
              </a:spcBef>
              <a:spcAft>
                <a:spcPts val="0"/>
              </a:spcAft>
              <a:buClr>
                <a:srgbClr val="000000"/>
              </a:buClr>
              <a:buSzPts val="2000"/>
              <a:buNone/>
            </a:pPr>
            <a:r>
              <a:rPr lang="en-CA" sz="1800" b="1" dirty="0" smtClean="0">
                <a:latin typeface="Arial" panose="020B0604020202020204" pitchFamily="34" charset="0"/>
                <a:ea typeface="Arial"/>
                <a:cs typeface="Arial" panose="020B0604020202020204" pitchFamily="34" charset="0"/>
                <a:sym typeface="Arial"/>
              </a:rPr>
              <a:t>Latent Cause:</a:t>
            </a:r>
          </a:p>
          <a:p>
            <a:pPr marL="360000" lvl="2" indent="-360000">
              <a:lnSpc>
                <a:spcPct val="90000"/>
              </a:lnSpc>
              <a:spcBef>
                <a:spcPts val="0"/>
              </a:spcBef>
              <a:spcAft>
                <a:spcPts val="0"/>
              </a:spcAft>
              <a:buClr>
                <a:srgbClr val="000000"/>
              </a:buClr>
              <a:buSzPts val="2000"/>
              <a:buFont typeface="Noto Sans Symbols"/>
              <a:buChar char="⮚"/>
            </a:pPr>
            <a:r>
              <a:rPr lang="en-CA" sz="1800" dirty="0" smtClean="0">
                <a:latin typeface="Arial" panose="020B0604020202020204" pitchFamily="34" charset="0"/>
                <a:ea typeface="Arial"/>
                <a:cs typeface="Arial" panose="020B0604020202020204" pitchFamily="34" charset="0"/>
                <a:sym typeface="Arial"/>
              </a:rPr>
              <a:t>LC-S: The </a:t>
            </a:r>
            <a:r>
              <a:rPr lang="en-CA" sz="1800" dirty="0">
                <a:latin typeface="Arial" panose="020B0604020202020204" pitchFamily="34" charset="0"/>
                <a:ea typeface="Arial"/>
                <a:cs typeface="Arial" panose="020B0604020202020204" pitchFamily="34" charset="0"/>
                <a:sym typeface="Arial"/>
              </a:rPr>
              <a:t>employee competency </a:t>
            </a:r>
            <a:r>
              <a:rPr lang="en-CA" sz="1800" dirty="0" smtClean="0">
                <a:latin typeface="Arial" panose="020B0604020202020204" pitchFamily="34" charset="0"/>
                <a:ea typeface="Arial"/>
                <a:cs typeface="Arial" panose="020B0604020202020204" pitchFamily="34" charset="0"/>
                <a:sym typeface="Arial"/>
              </a:rPr>
              <a:t>program standard for recruiting, selecting, and hiring new employees was inadequate. #9 ECT </a:t>
            </a: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5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a:t>
            </a:r>
            <a:r>
              <a:rPr lang="en-US" altLang="en-US" sz="2400" b="0" dirty="0">
                <a:solidFill>
                  <a:schemeClr val="accent2"/>
                </a:solidFill>
                <a:latin typeface="Arial" panose="020B0604020202020204" pitchFamily="34" charset="0"/>
                <a:ea typeface="+mj-ea"/>
                <a:cs typeface="Arial" panose="020B0604020202020204" pitchFamily="34" charset="0"/>
              </a:rPr>
              <a:t>: Latent Cause Relating to </a:t>
            </a:r>
            <a:r>
              <a:rPr lang="en-US" altLang="en-US" sz="2400" b="0" dirty="0" smtClean="0">
                <a:solidFill>
                  <a:schemeClr val="accent2"/>
                </a:solidFill>
                <a:latin typeface="Arial" panose="020B0604020202020204" pitchFamily="34" charset="0"/>
                <a:ea typeface="+mj-ea"/>
                <a:cs typeface="Arial" panose="020B0604020202020204" pitchFamily="34" charset="0"/>
              </a:rPr>
              <a:t>RME#9</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297433309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7"/>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smtClean="0">
                <a:solidFill>
                  <a:srgbClr val="000000"/>
                </a:solidFill>
                <a:latin typeface="Arial" panose="020B0604020202020204" pitchFamily="34" charset="0"/>
                <a:ea typeface="Arial"/>
                <a:cs typeface="Arial" panose="020B0604020202020204" pitchFamily="34" charset="0"/>
                <a:sym typeface="Arial"/>
              </a:rPr>
              <a:t>RME </a:t>
            </a:r>
            <a:r>
              <a:rPr lang="en-US" sz="1800" b="1" dirty="0">
                <a:solidFill>
                  <a:srgbClr val="000000"/>
                </a:solidFill>
                <a:latin typeface="Arial" panose="020B0604020202020204" pitchFamily="34" charset="0"/>
                <a:ea typeface="Arial"/>
                <a:cs typeface="Arial" panose="020B0604020202020204" pitchFamily="34" charset="0"/>
                <a:sym typeface="Arial"/>
              </a:rPr>
              <a:t>#1: Management Leadership, Commitment, and Accountability </a:t>
            </a:r>
            <a:endParaRPr sz="1800" b="1" dirty="0">
              <a:solidFill>
                <a:srgbClr val="000000"/>
              </a:solidFill>
              <a:latin typeface="Arial" panose="020B0604020202020204" pitchFamily="34" charset="0"/>
              <a:ea typeface="Arial"/>
              <a:cs typeface="Arial" panose="020B0604020202020204" pitchFamily="34" charset="0"/>
              <a:sym typeface="Arial"/>
            </a:endParaRPr>
          </a:p>
          <a:p>
            <a:pPr marL="742950" lvl="1" indent="-285750" algn="l" rtl="0">
              <a:lnSpc>
                <a:spcPct val="90000"/>
              </a:lnSpc>
              <a:spcBef>
                <a:spcPts val="0"/>
              </a:spcBef>
              <a:spcAft>
                <a:spcPts val="0"/>
              </a:spcAft>
              <a:buClr>
                <a:srgbClr val="000000"/>
              </a:buClr>
              <a:buSzPts val="2000"/>
              <a:buFont typeface="Noto Sans Symbols"/>
              <a:buChar char="⮚"/>
            </a:pPr>
            <a:endParaRPr lang="en-US" sz="1800" b="1" dirty="0">
              <a:solidFill>
                <a:srgbClr val="000000"/>
              </a:solidFill>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b="1" dirty="0">
                <a:solidFill>
                  <a:srgbClr val="000000"/>
                </a:solidFill>
                <a:latin typeface="Arial" panose="020B0604020202020204" pitchFamily="34" charset="0"/>
                <a:ea typeface="Arial"/>
                <a:cs typeface="Arial" panose="020B0604020202020204" pitchFamily="34" charset="0"/>
                <a:sym typeface="Arial"/>
              </a:rPr>
              <a:t>Corporate Safety Culture: </a:t>
            </a:r>
            <a:r>
              <a:rPr lang="en-US" sz="1800" u="sng" dirty="0">
                <a:solidFill>
                  <a:srgbClr val="000000"/>
                </a:solidFill>
                <a:latin typeface="Arial" panose="020B0604020202020204" pitchFamily="34" charset="0"/>
                <a:ea typeface="Arial"/>
                <a:cs typeface="Arial" panose="020B0604020202020204" pitchFamily="34" charset="0"/>
                <a:sym typeface="Arial"/>
              </a:rPr>
              <a:t>Leadership</a:t>
            </a:r>
            <a:r>
              <a:rPr lang="en-US" sz="1800" dirty="0">
                <a:solidFill>
                  <a:srgbClr val="000000"/>
                </a:solidFill>
                <a:latin typeface="Arial" panose="020B0604020202020204" pitchFamily="34" charset="0"/>
                <a:ea typeface="Arial"/>
                <a:cs typeface="Arial" panose="020B0604020202020204" pitchFamily="34" charset="0"/>
                <a:sym typeface="Arial"/>
              </a:rPr>
              <a:t> influences and </a:t>
            </a:r>
            <a:r>
              <a:rPr lang="en-US" sz="1800" u="sng" dirty="0">
                <a:solidFill>
                  <a:srgbClr val="000000"/>
                </a:solidFill>
                <a:latin typeface="Arial" panose="020B0604020202020204" pitchFamily="34" charset="0"/>
                <a:ea typeface="Arial"/>
                <a:cs typeface="Arial" panose="020B0604020202020204" pitchFamily="34" charset="0"/>
                <a:sym typeface="Arial"/>
              </a:rPr>
              <a:t>drives culture</a:t>
            </a:r>
            <a:r>
              <a:rPr lang="en-US" sz="1800" dirty="0">
                <a:solidFill>
                  <a:srgbClr val="000000"/>
                </a:solidFill>
                <a:latin typeface="Arial" panose="020B0604020202020204" pitchFamily="34" charset="0"/>
                <a:ea typeface="Arial"/>
                <a:cs typeface="Arial" panose="020B0604020202020204" pitchFamily="34" charset="0"/>
                <a:sym typeface="Arial"/>
              </a:rPr>
              <a:t>; </a:t>
            </a:r>
            <a:r>
              <a:rPr lang="en-US" sz="1800" u="sng" dirty="0">
                <a:solidFill>
                  <a:srgbClr val="000000"/>
                </a:solidFill>
                <a:latin typeface="Arial" panose="020B0604020202020204" pitchFamily="34" charset="0"/>
                <a:ea typeface="Arial"/>
                <a:cs typeface="Arial" panose="020B0604020202020204" pitchFamily="34" charset="0"/>
                <a:sym typeface="Arial"/>
              </a:rPr>
              <a:t>values</a:t>
            </a:r>
            <a:r>
              <a:rPr lang="en-US" sz="1800" dirty="0">
                <a:solidFill>
                  <a:srgbClr val="000000"/>
                </a:solidFill>
                <a:latin typeface="Arial" panose="020B0604020202020204" pitchFamily="34" charset="0"/>
                <a:ea typeface="Arial"/>
                <a:cs typeface="Arial" panose="020B0604020202020204" pitchFamily="34" charset="0"/>
                <a:sym typeface="Arial"/>
              </a:rPr>
              <a:t> and </a:t>
            </a:r>
            <a:r>
              <a:rPr lang="en-US" sz="1800" u="sng" dirty="0">
                <a:solidFill>
                  <a:srgbClr val="000000"/>
                </a:solidFill>
                <a:latin typeface="Arial" panose="020B0604020202020204" pitchFamily="34" charset="0"/>
                <a:ea typeface="Arial"/>
                <a:cs typeface="Arial" panose="020B0604020202020204" pitchFamily="34" charset="0"/>
                <a:sym typeface="Arial"/>
              </a:rPr>
              <a:t>actions</a:t>
            </a:r>
            <a:r>
              <a:rPr lang="en-US" sz="1800" dirty="0">
                <a:solidFill>
                  <a:srgbClr val="000000"/>
                </a:solidFill>
                <a:latin typeface="Arial" panose="020B0604020202020204" pitchFamily="34" charset="0"/>
                <a:ea typeface="Arial"/>
                <a:cs typeface="Arial" panose="020B0604020202020204" pitchFamily="34" charset="0"/>
                <a:sym typeface="Arial"/>
              </a:rPr>
              <a:t> define the </a:t>
            </a:r>
            <a:r>
              <a:rPr lang="en-US" sz="1800" dirty="0" smtClean="0">
                <a:solidFill>
                  <a:srgbClr val="000000"/>
                </a:solidFill>
                <a:latin typeface="Arial" panose="020B0604020202020204" pitchFamily="34" charset="0"/>
                <a:ea typeface="Arial"/>
                <a:cs typeface="Arial" panose="020B0604020202020204" pitchFamily="34" charset="0"/>
                <a:sym typeface="Arial"/>
              </a:rPr>
              <a:t>culture. </a:t>
            </a:r>
            <a:r>
              <a:rPr lang="en-US" sz="1800" dirty="0">
                <a:solidFill>
                  <a:srgbClr val="000000"/>
                </a:solidFill>
                <a:latin typeface="Arial" panose="020B0604020202020204" pitchFamily="34" charset="0"/>
                <a:ea typeface="Arial"/>
                <a:cs typeface="Arial" panose="020B0604020202020204" pitchFamily="34" charset="0"/>
                <a:sym typeface="Arial"/>
              </a:rPr>
              <a:t>Both a good culture and sound risk management program are necessary for sustainable </a:t>
            </a:r>
            <a:r>
              <a:rPr lang="en-US" sz="1800" dirty="0" smtClean="0">
                <a:solidFill>
                  <a:srgbClr val="000000"/>
                </a:solidFill>
                <a:latin typeface="Arial" panose="020B0604020202020204" pitchFamily="34" charset="0"/>
                <a:ea typeface="Arial"/>
                <a:cs typeface="Arial" panose="020B0604020202020204" pitchFamily="34" charset="0"/>
                <a:sym typeface="Arial"/>
              </a:rPr>
              <a:t>performance. </a:t>
            </a:r>
            <a:endParaRPr lang="en-US" sz="1800" dirty="0">
              <a:solidFill>
                <a:srgbClr val="000000"/>
              </a:solidFill>
              <a:latin typeface="Arial" panose="020B0604020202020204" pitchFamily="34" charset="0"/>
              <a:ea typeface="Arial"/>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smtClean="0">
                <a:solidFill>
                  <a:srgbClr val="000000"/>
                </a:solidFill>
                <a:latin typeface="Arial" panose="020B0604020202020204" pitchFamily="34" charset="0"/>
                <a:cs typeface="Arial" panose="020B0604020202020204" pitchFamily="34" charset="0"/>
                <a:sym typeface="Arial"/>
              </a:rPr>
              <a:t>The concerns of </a:t>
            </a:r>
            <a:r>
              <a:rPr lang="en-US" sz="1800" dirty="0">
                <a:solidFill>
                  <a:srgbClr val="000000"/>
                </a:solidFill>
                <a:latin typeface="Arial" panose="020B0604020202020204" pitchFamily="34" charset="0"/>
                <a:cs typeface="Arial" panose="020B0604020202020204" pitchFamily="34" charset="0"/>
                <a:sym typeface="Arial"/>
              </a:rPr>
              <a:t>employees and </a:t>
            </a:r>
            <a:r>
              <a:rPr lang="en-US" sz="1800" dirty="0" smtClean="0">
                <a:solidFill>
                  <a:srgbClr val="000000"/>
                </a:solidFill>
                <a:latin typeface="Arial" panose="020B0604020202020204" pitchFamily="34" charset="0"/>
                <a:cs typeface="Arial" panose="020B0604020202020204" pitchFamily="34" charset="0"/>
                <a:sym typeface="Arial"/>
              </a:rPr>
              <a:t>regulators </a:t>
            </a:r>
            <a:r>
              <a:rPr lang="en-US" sz="1800" dirty="0">
                <a:solidFill>
                  <a:srgbClr val="000000"/>
                </a:solidFill>
                <a:latin typeface="Arial" panose="020B0604020202020204" pitchFamily="34" charset="0"/>
                <a:cs typeface="Arial" panose="020B0604020202020204" pitchFamily="34" charset="0"/>
                <a:sym typeface="Arial"/>
              </a:rPr>
              <a:t>about the </a:t>
            </a:r>
            <a:r>
              <a:rPr lang="en-US" sz="1800" dirty="0" smtClean="0">
                <a:solidFill>
                  <a:srgbClr val="000000"/>
                </a:solidFill>
                <a:latin typeface="Arial" panose="020B0604020202020204" pitchFamily="34" charset="0"/>
                <a:cs typeface="Arial" panose="020B0604020202020204" pitchFamily="34" charset="0"/>
                <a:sym typeface="Arial"/>
              </a:rPr>
              <a:t>TSF </a:t>
            </a:r>
            <a:r>
              <a:rPr lang="en-US" sz="1800" dirty="0">
                <a:solidFill>
                  <a:srgbClr val="000000"/>
                </a:solidFill>
                <a:latin typeface="Arial" panose="020B0604020202020204" pitchFamily="34" charset="0"/>
                <a:cs typeface="Arial" panose="020B0604020202020204" pitchFamily="34" charset="0"/>
                <a:sym typeface="Arial"/>
              </a:rPr>
              <a:t>were ignored by Imperial Metals </a:t>
            </a:r>
            <a:r>
              <a:rPr lang="en-US" sz="1800" dirty="0" smtClean="0">
                <a:solidFill>
                  <a:srgbClr val="000000"/>
                </a:solidFill>
                <a:latin typeface="Arial" panose="020B0604020202020204" pitchFamily="34" charset="0"/>
                <a:cs typeface="Arial" panose="020B0604020202020204" pitchFamily="34" charset="0"/>
                <a:sym typeface="Arial"/>
              </a:rPr>
              <a:t>management. </a:t>
            </a:r>
            <a:endParaRPr lang="en-US" sz="1800" dirty="0">
              <a:solidFill>
                <a:srgbClr val="000000"/>
              </a:solidFill>
              <a:latin typeface="Arial" panose="020B0604020202020204" pitchFamily="34" charset="0"/>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endParaRPr lang="en-US" sz="1800" dirty="0" smtClean="0">
              <a:solidFill>
                <a:srgbClr val="000000"/>
              </a:solidFill>
              <a:latin typeface="Arial" panose="020B0604020202020204" pitchFamily="34" charset="0"/>
              <a:cs typeface="Arial" panose="020B0604020202020204" pitchFamily="34" charset="0"/>
              <a:sym typeface="Arial"/>
            </a:endParaRPr>
          </a:p>
          <a:p>
            <a:pPr marL="0" lvl="1" indent="0" algn="l" rtl="0">
              <a:lnSpc>
                <a:spcPct val="90000"/>
              </a:lnSpc>
              <a:spcBef>
                <a:spcPts val="0"/>
              </a:spcBef>
              <a:spcAft>
                <a:spcPts val="0"/>
              </a:spcAft>
              <a:buClr>
                <a:srgbClr val="000000"/>
              </a:buClr>
              <a:buSzPts val="2000"/>
              <a:buNone/>
            </a:pPr>
            <a:r>
              <a:rPr lang="en-US" sz="1800" b="1" dirty="0" smtClean="0">
                <a:solidFill>
                  <a:srgbClr val="000000"/>
                </a:solidFill>
                <a:latin typeface="Arial" panose="020B0604020202020204" pitchFamily="34" charset="0"/>
                <a:cs typeface="Arial" panose="020B0604020202020204" pitchFamily="34" charset="0"/>
                <a:sym typeface="Arial"/>
              </a:rPr>
              <a:t>Latent Cause:</a:t>
            </a:r>
            <a:endParaRPr lang="en-US" sz="1800" b="1" dirty="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smtClean="0">
                <a:solidFill>
                  <a:srgbClr val="000000"/>
                </a:solidFill>
                <a:latin typeface="Arial" panose="020B0604020202020204" pitchFamily="34" charset="0"/>
                <a:cs typeface="Arial" panose="020B0604020202020204" pitchFamily="34" charset="0"/>
                <a:sym typeface="Arial"/>
              </a:rPr>
              <a:t>LC-S: The leadership program did not include a management standard to assign responsibility and drive accountability for oversight of the safe TSF operation in addressing safety concerns. #1 MLCA</a:t>
            </a:r>
            <a:endParaRPr sz="1800" b="1" dirty="0">
              <a:solidFill>
                <a:srgbClr val="CBBEB1"/>
              </a:solidFill>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5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 </a:t>
            </a:r>
            <a:r>
              <a:rPr lang="en-US" altLang="en-US" sz="2400" b="0" dirty="0">
                <a:solidFill>
                  <a:schemeClr val="accent2"/>
                </a:solidFill>
                <a:latin typeface="Arial" panose="020B0604020202020204" pitchFamily="34" charset="0"/>
                <a:ea typeface="+mj-ea"/>
                <a:cs typeface="Arial" panose="020B0604020202020204" pitchFamily="34" charset="0"/>
              </a:rPr>
              <a:t>Latent Cause Relating to RME#1</a:t>
            </a:r>
          </a:p>
        </p:txBody>
      </p:sp>
    </p:spTree>
    <p:extLst>
      <p:ext uri="{BB962C8B-B14F-4D97-AF65-F5344CB8AC3E}">
        <p14:creationId xmlns:p14="http://schemas.microsoft.com/office/powerpoint/2010/main" val="166872190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7"/>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smtClean="0">
                <a:solidFill>
                  <a:srgbClr val="000000"/>
                </a:solidFill>
                <a:latin typeface="Arial" panose="020B0604020202020204" pitchFamily="34" charset="0"/>
                <a:ea typeface="Arial"/>
                <a:cs typeface="Arial" panose="020B0604020202020204" pitchFamily="34" charset="0"/>
                <a:sym typeface="Arial"/>
              </a:rPr>
              <a:t>What recommendations could you make for each latent cause?</a:t>
            </a:r>
            <a:endParaRPr sz="1800" b="1" dirty="0">
              <a:solidFill>
                <a:srgbClr val="000000"/>
              </a:solidFill>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endParaRPr lang="en-US" sz="1800" dirty="0" smtClean="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a:solidFill>
                  <a:srgbClr val="000000"/>
                </a:solidFill>
                <a:latin typeface="Arial" panose="020B0604020202020204" pitchFamily="34" charset="0"/>
                <a:cs typeface="Arial" panose="020B0604020202020204" pitchFamily="34" charset="0"/>
                <a:sym typeface="Arial"/>
              </a:rPr>
              <a:t>LC-S: The leadership program did not include a management plan (standard) to assign responsibility and drive accountability for oversight of the safe TSF operation in addressing safety concerns. #1 MLCA</a:t>
            </a:r>
          </a:p>
          <a:p>
            <a:pPr marL="360000" lvl="1" indent="-360000">
              <a:lnSpc>
                <a:spcPct val="90000"/>
              </a:lnSpc>
              <a:spcBef>
                <a:spcPts val="0"/>
              </a:spcBef>
              <a:spcAft>
                <a:spcPts val="0"/>
              </a:spcAft>
              <a:buClr>
                <a:srgbClr val="000000"/>
              </a:buClr>
              <a:buSzPts val="2000"/>
              <a:buFont typeface="Noto Sans Symbols"/>
              <a:buChar char="⮚"/>
            </a:pPr>
            <a:endParaRPr lang="en-US" sz="1800" dirty="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smtClean="0">
                <a:solidFill>
                  <a:srgbClr val="000000"/>
                </a:solidFill>
                <a:latin typeface="Arial" panose="020B0604020202020204" pitchFamily="34" charset="0"/>
                <a:cs typeface="Arial" panose="020B0604020202020204" pitchFamily="34" charset="0"/>
                <a:sym typeface="Arial"/>
              </a:rPr>
              <a:t>LC-S</a:t>
            </a:r>
            <a:r>
              <a:rPr lang="en-US" sz="1800" dirty="0">
                <a:solidFill>
                  <a:srgbClr val="000000"/>
                </a:solidFill>
                <a:latin typeface="Arial" panose="020B0604020202020204" pitchFamily="34" charset="0"/>
                <a:cs typeface="Arial" panose="020B0604020202020204" pitchFamily="34" charset="0"/>
                <a:sym typeface="Arial"/>
              </a:rPr>
              <a:t>: The risk assessment program did not include a standard to identify and assess hazards of the TSF foundation and hydraulic conditions while the TSF was in operation. #2 RAMR</a:t>
            </a:r>
          </a:p>
          <a:p>
            <a:pPr marL="360000" lvl="1" indent="-360000">
              <a:lnSpc>
                <a:spcPct val="90000"/>
              </a:lnSpc>
              <a:spcBef>
                <a:spcPts val="0"/>
              </a:spcBef>
              <a:spcAft>
                <a:spcPts val="0"/>
              </a:spcAft>
              <a:buClr>
                <a:srgbClr val="000000"/>
              </a:buClr>
              <a:buSzPts val="2000"/>
              <a:buFont typeface="Noto Sans Symbols"/>
              <a:buChar char="⮚"/>
            </a:pPr>
            <a:endParaRPr lang="en-US" sz="1800" dirty="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smtClean="0">
                <a:solidFill>
                  <a:srgbClr val="000000"/>
                </a:solidFill>
                <a:latin typeface="Arial" panose="020B0604020202020204" pitchFamily="34" charset="0"/>
                <a:ea typeface="Arial"/>
                <a:cs typeface="Arial" panose="020B0604020202020204" pitchFamily="34" charset="0"/>
                <a:sym typeface="Arial"/>
              </a:rPr>
              <a:t>LC-S</a:t>
            </a:r>
            <a:r>
              <a:rPr lang="en-US" sz="1800" dirty="0">
                <a:solidFill>
                  <a:srgbClr val="000000"/>
                </a:solidFill>
                <a:latin typeface="Arial" panose="020B0604020202020204" pitchFamily="34" charset="0"/>
                <a:ea typeface="Arial"/>
                <a:cs typeface="Arial" panose="020B0604020202020204" pitchFamily="34" charset="0"/>
                <a:sym typeface="Arial"/>
              </a:rPr>
              <a:t>: The design program standard for applying the factors of safety during the design phase of the TSF project did not reference the necessary calculation guidelines from the Mining Association of Canada. #7 DCSU</a:t>
            </a:r>
          </a:p>
          <a:p>
            <a:pPr marL="360000" lvl="1" indent="-360000">
              <a:lnSpc>
                <a:spcPct val="90000"/>
              </a:lnSpc>
              <a:spcBef>
                <a:spcPts val="0"/>
              </a:spcBef>
              <a:spcAft>
                <a:spcPts val="0"/>
              </a:spcAft>
              <a:buClr>
                <a:srgbClr val="000000"/>
              </a:buClr>
              <a:buSzPts val="2000"/>
              <a:buFont typeface="Noto Sans Symbols"/>
              <a:buChar char="⮚"/>
            </a:pPr>
            <a:endParaRPr lang="en-US" sz="1800" dirty="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a:solidFill>
                  <a:srgbClr val="000000"/>
                </a:solidFill>
                <a:latin typeface="Arial" panose="020B0604020202020204" pitchFamily="34" charset="0"/>
                <a:cs typeface="Arial" panose="020B0604020202020204" pitchFamily="34" charset="0"/>
                <a:sym typeface="Arial"/>
              </a:rPr>
              <a:t>LC-S: The employee competency program standard for recruiting, selecting, and hiring new employees was inadequate. #9 ECT </a:t>
            </a:r>
          </a:p>
          <a:p>
            <a:pPr marL="360000" lvl="1" indent="-360000">
              <a:lnSpc>
                <a:spcPct val="90000"/>
              </a:lnSpc>
              <a:spcBef>
                <a:spcPts val="0"/>
              </a:spcBef>
              <a:spcAft>
                <a:spcPts val="0"/>
              </a:spcAft>
              <a:buClr>
                <a:srgbClr val="000000"/>
              </a:buClr>
              <a:buSzPts val="2000"/>
              <a:buFont typeface="Noto Sans Symbols"/>
              <a:buChar char="⮚"/>
            </a:pPr>
            <a:endParaRPr lang="en-US" sz="1800" b="1" dirty="0">
              <a:solidFill>
                <a:srgbClr val="000000"/>
              </a:solidFill>
              <a:latin typeface="Arial" panose="020B0604020202020204" pitchFamily="34" charset="0"/>
              <a:ea typeface="Arial"/>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b="1" dirty="0" smtClean="0">
                <a:solidFill>
                  <a:srgbClr val="000000"/>
                </a:solidFill>
                <a:latin typeface="Arial" panose="020B0604020202020204" pitchFamily="34" charset="0"/>
                <a:ea typeface="Arial"/>
                <a:cs typeface="Arial" panose="020B0604020202020204" pitchFamily="34" charset="0"/>
                <a:sym typeface="Arial"/>
              </a:rPr>
              <a:t>We will come back to this – how to make recommendations – later in the term. </a:t>
            </a:r>
            <a:endParaRPr sz="1800" b="1" dirty="0">
              <a:solidFill>
                <a:srgbClr val="CBBEB1"/>
              </a:solidFill>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5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 Recommendations Based on Latent Causes?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10849636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9"/>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indent="0">
              <a:spcBef>
                <a:spcPts val="0"/>
              </a:spcBef>
              <a:spcAft>
                <a:spcPts val="0"/>
              </a:spcAft>
              <a:buClr>
                <a:srgbClr val="000000"/>
              </a:buClr>
              <a:buSzPts val="2000"/>
              <a:buNone/>
            </a:pPr>
            <a:r>
              <a:rPr lang="en-US" sz="1800" b="1" dirty="0">
                <a:solidFill>
                  <a:schemeClr val="tx1"/>
                </a:solidFill>
                <a:latin typeface="Arial" panose="020B0604020202020204" pitchFamily="34" charset="0"/>
                <a:ea typeface="Arial"/>
                <a:cs typeface="Arial" panose="020B0604020202020204" pitchFamily="34" charset="0"/>
                <a:sym typeface="Arial"/>
              </a:rPr>
              <a:t>Incident investigations can result in changes beyond the organization involved in the loss </a:t>
            </a:r>
            <a:r>
              <a:rPr lang="en-US" sz="1800" b="1" dirty="0" smtClean="0">
                <a:solidFill>
                  <a:schemeClr val="tx1"/>
                </a:solidFill>
                <a:latin typeface="Arial" panose="020B0604020202020204" pitchFamily="34" charset="0"/>
                <a:ea typeface="Arial"/>
                <a:cs typeface="Arial" panose="020B0604020202020204" pitchFamily="34" charset="0"/>
                <a:sym typeface="Arial"/>
              </a:rPr>
              <a:t>incident!</a:t>
            </a:r>
            <a:endParaRPr lang="en-US" sz="1800" b="1"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endParaRPr lang="en-US" sz="1800" dirty="0" smtClean="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r>
              <a:rPr lang="en-US" sz="1800" dirty="0" smtClean="0">
                <a:solidFill>
                  <a:schemeClr val="tx1"/>
                </a:solidFill>
                <a:latin typeface="Arial" panose="020B0604020202020204" pitchFamily="34" charset="0"/>
                <a:ea typeface="Arial"/>
                <a:cs typeface="Arial" panose="020B0604020202020204" pitchFamily="34" charset="0"/>
                <a:sym typeface="Arial"/>
              </a:rPr>
              <a:t>As </a:t>
            </a:r>
            <a:r>
              <a:rPr lang="en-US" sz="1800" dirty="0">
                <a:solidFill>
                  <a:schemeClr val="tx1"/>
                </a:solidFill>
                <a:latin typeface="Arial" panose="020B0604020202020204" pitchFamily="34" charset="0"/>
                <a:ea typeface="Arial"/>
                <a:cs typeface="Arial" panose="020B0604020202020204" pitchFamily="34" charset="0"/>
                <a:sym typeface="Arial"/>
              </a:rPr>
              <a:t>a result of the Mount Polley incident, several changes were made to guidelines and practices for tailings </a:t>
            </a:r>
            <a:r>
              <a:rPr lang="en-US" sz="1800" dirty="0" smtClean="0">
                <a:solidFill>
                  <a:schemeClr val="tx1"/>
                </a:solidFill>
                <a:latin typeface="Arial" panose="020B0604020202020204" pitchFamily="34" charset="0"/>
                <a:ea typeface="Arial"/>
                <a:cs typeface="Arial" panose="020B0604020202020204" pitchFamily="34" charset="0"/>
                <a:sym typeface="Arial"/>
              </a:rPr>
              <a:t>facilities. </a:t>
            </a:r>
            <a:endParaRPr lang="en-US" sz="18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endParaRPr lang="en-US" sz="1800" dirty="0" smtClean="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r>
              <a:rPr lang="en-US" sz="1800" dirty="0" smtClean="0">
                <a:solidFill>
                  <a:schemeClr val="tx1"/>
                </a:solidFill>
                <a:latin typeface="Arial" panose="020B0604020202020204" pitchFamily="34" charset="0"/>
                <a:ea typeface="Arial"/>
                <a:cs typeface="Arial" panose="020B0604020202020204" pitchFamily="34" charset="0"/>
                <a:sym typeface="Arial"/>
              </a:rPr>
              <a:t>Changes </a:t>
            </a:r>
            <a:r>
              <a:rPr lang="en-US" sz="1800" dirty="0">
                <a:solidFill>
                  <a:schemeClr val="tx1"/>
                </a:solidFill>
                <a:latin typeface="Arial" panose="020B0604020202020204" pitchFamily="34" charset="0"/>
                <a:ea typeface="Arial"/>
                <a:cs typeface="Arial" panose="020B0604020202020204" pitchFamily="34" charset="0"/>
                <a:sym typeface="Arial"/>
              </a:rPr>
              <a:t>to the Mining Association of Canada’s “A Guide to the Management of Tailings Facilities” (2019) and the </a:t>
            </a:r>
            <a:r>
              <a:rPr lang="en-US" sz="1800" dirty="0" smtClean="0">
                <a:solidFill>
                  <a:schemeClr val="tx1"/>
                </a:solidFill>
                <a:latin typeface="Arial" panose="020B0604020202020204" pitchFamily="34" charset="0"/>
                <a:ea typeface="Arial"/>
                <a:cs typeface="Arial" panose="020B0604020202020204" pitchFamily="34" charset="0"/>
                <a:sym typeface="Arial"/>
              </a:rPr>
              <a:t>B.C. </a:t>
            </a:r>
            <a:r>
              <a:rPr lang="en-US" sz="1800" dirty="0">
                <a:solidFill>
                  <a:schemeClr val="tx1"/>
                </a:solidFill>
                <a:latin typeface="Arial" panose="020B0604020202020204" pitchFamily="34" charset="0"/>
                <a:ea typeface="Arial"/>
                <a:cs typeface="Arial" panose="020B0604020202020204" pitchFamily="34" charset="0"/>
                <a:sym typeface="Arial"/>
              </a:rPr>
              <a:t>Government’s “Health, Safety and Reclamation Code for Mines in British Columbia” (2017) include:  </a:t>
            </a: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Requiring an independent review of site selection, design, construction, operation, investigation, and closure for tailings </a:t>
            </a:r>
            <a:r>
              <a:rPr lang="en-US" sz="1800" dirty="0" smtClean="0">
                <a:latin typeface="Arial" panose="020B0604020202020204" pitchFamily="34" charset="0"/>
                <a:ea typeface="Arial"/>
                <a:cs typeface="Arial" panose="020B0604020202020204" pitchFamily="34" charset="0"/>
                <a:sym typeface="Arial"/>
              </a:rPr>
              <a:t>facilities.</a:t>
            </a:r>
            <a:endParaRPr lang="en-US" sz="1800" dirty="0">
              <a:latin typeface="Arial" panose="020B0604020202020204" pitchFamily="34" charset="0"/>
              <a:ea typeface="Arial"/>
              <a:cs typeface="Arial" panose="020B0604020202020204" pitchFamily="34" charset="0"/>
              <a:sym typeface="Arial"/>
            </a:endParaRP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Improved risk assessment methodology, including a risk-based ranking system for </a:t>
            </a:r>
            <a:r>
              <a:rPr lang="en-US" sz="1800" dirty="0" smtClean="0">
                <a:latin typeface="Arial" panose="020B0604020202020204" pitchFamily="34" charset="0"/>
                <a:ea typeface="Arial"/>
                <a:cs typeface="Arial" panose="020B0604020202020204" pitchFamily="34" charset="0"/>
                <a:sym typeface="Arial"/>
              </a:rPr>
              <a:t>non-conformances.</a:t>
            </a:r>
            <a:endParaRPr lang="en-US" sz="1800" dirty="0">
              <a:latin typeface="Arial" panose="020B0604020202020204" pitchFamily="34" charset="0"/>
              <a:ea typeface="Arial"/>
              <a:cs typeface="Arial" panose="020B0604020202020204" pitchFamily="34" charset="0"/>
              <a:sym typeface="Arial"/>
            </a:endParaRP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Additional regulations for managing the change of Engineers of Record and ownership </a:t>
            </a: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More technical guidance for site selection and design </a:t>
            </a:r>
            <a:endParaRPr lang="en-US" sz="1800" dirty="0" smtClean="0">
              <a:latin typeface="Arial" panose="020B0604020202020204" pitchFamily="34" charset="0"/>
              <a:ea typeface="Arial"/>
              <a:cs typeface="Arial" panose="020B0604020202020204" pitchFamily="34" charset="0"/>
              <a:sym typeface="Arial"/>
            </a:endParaRPr>
          </a:p>
          <a:p>
            <a:pPr marL="720000" lvl="1" indent="-360000">
              <a:spcBef>
                <a:spcPts val="0"/>
              </a:spcBef>
              <a:spcAft>
                <a:spcPts val="0"/>
              </a:spcAft>
              <a:buClr>
                <a:srgbClr val="000000"/>
              </a:buClr>
              <a:buSzPts val="2000"/>
              <a:buFont typeface="Noto Sans Symbols"/>
              <a:buChar char="⮚"/>
            </a:pPr>
            <a:endParaRPr lang="en-US" sz="1800" dirty="0">
              <a:latin typeface="Arial" panose="020B0604020202020204" pitchFamily="34" charset="0"/>
              <a:ea typeface="Arial"/>
              <a:cs typeface="Arial" panose="020B0604020202020204" pitchFamily="34" charset="0"/>
              <a:sym typeface="Arial"/>
            </a:endParaRPr>
          </a:p>
          <a:p>
            <a:pPr marL="0" lvl="1" indent="0">
              <a:spcBef>
                <a:spcPts val="0"/>
              </a:spcBef>
              <a:spcAft>
                <a:spcPts val="0"/>
              </a:spcAft>
              <a:buClr>
                <a:srgbClr val="000000"/>
              </a:buClr>
              <a:buSzPts val="2000"/>
              <a:buNone/>
            </a:pPr>
            <a:r>
              <a:rPr lang="en-US" sz="1800" b="1" i="1" dirty="0" smtClean="0">
                <a:latin typeface="Arial" panose="020B0604020202020204" pitchFamily="34" charset="0"/>
                <a:ea typeface="Arial"/>
                <a:cs typeface="Arial" panose="020B0604020202020204" pitchFamily="34" charset="0"/>
                <a:sym typeface="Arial"/>
              </a:rPr>
              <a:t>But </a:t>
            </a:r>
            <a:r>
              <a:rPr lang="en-US" sz="1800" b="1" i="1" dirty="0">
                <a:latin typeface="Arial" panose="020B0604020202020204" pitchFamily="34" charset="0"/>
                <a:ea typeface="Arial"/>
                <a:cs typeface="Arial" panose="020B0604020202020204" pitchFamily="34" charset="0"/>
                <a:sym typeface="Arial"/>
              </a:rPr>
              <a:t>for the purposes of your Team project, limit latent causes (and recommendations to what is within the scope of The ABC Conglomerate). </a:t>
            </a: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5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 </a:t>
            </a:r>
            <a:r>
              <a:rPr lang="en-US" altLang="en-US" sz="2400" b="0" dirty="0">
                <a:solidFill>
                  <a:schemeClr val="accent2"/>
                </a:solidFill>
                <a:latin typeface="Arial" panose="020B0604020202020204" pitchFamily="34" charset="0"/>
                <a:ea typeface="+mj-ea"/>
                <a:cs typeface="Arial" panose="020B0604020202020204" pitchFamily="34" charset="0"/>
              </a:rPr>
              <a:t>Impact on the Mining Industry</a:t>
            </a:r>
          </a:p>
        </p:txBody>
      </p:sp>
    </p:spTree>
    <p:extLst>
      <p:ext uri="{BB962C8B-B14F-4D97-AF65-F5344CB8AC3E}">
        <p14:creationId xmlns:p14="http://schemas.microsoft.com/office/powerpoint/2010/main" val="191821907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2" name="Picture 1" descr="&lt;strong&gt;Looking Into The Future&lt;/strong&gt; Stock Photo - Download Image Now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24600" y="216000"/>
            <a:ext cx="2587752" cy="1726010"/>
          </a:xfrm>
          <a:prstGeom prst="rect">
            <a:avLst/>
          </a:prstGeom>
        </p:spPr>
      </p:pic>
      <p:sp>
        <p:nvSpPr>
          <p:cNvPr id="329" name="Google Shape;329;p19"/>
          <p:cNvSpPr txBox="1">
            <a:spLocks noGrp="1"/>
          </p:cNvSpPr>
          <p:nvPr>
            <p:ph type="body" idx="4294967295"/>
          </p:nvPr>
        </p:nvSpPr>
        <p:spPr>
          <a:xfrm>
            <a:off x="180000" y="828000"/>
            <a:ext cx="8640000" cy="5328000"/>
          </a:xfrm>
          <a:prstGeom prst="rect">
            <a:avLst/>
          </a:prstGeom>
          <a:noFill/>
          <a:ln w="9525" cap="flat" cmpd="sng">
            <a:noFill/>
            <a:prstDash val="solid"/>
            <a:miter lim="800000"/>
            <a:headEnd type="none" w="sm" len="sm"/>
            <a:tailEnd type="none" w="sm" len="sm"/>
          </a:ln>
        </p:spPr>
        <p:txBody>
          <a:bodyPr spcFirstLastPara="1" wrap="square" lIns="91425" tIns="45700" rIns="91425" bIns="45700" anchor="t" anchorCtr="0">
            <a:noAutofit/>
          </a:bodyPr>
          <a:lstStyle/>
          <a:p>
            <a:pPr marL="0" indent="0">
              <a:lnSpc>
                <a:spcPct val="90000"/>
              </a:lnSpc>
              <a:spcBef>
                <a:spcPts val="0"/>
              </a:spcBef>
              <a:spcAft>
                <a:spcPts val="0"/>
              </a:spcAft>
              <a:buClr>
                <a:srgbClr val="000000"/>
              </a:buClr>
              <a:buSzPts val="2000"/>
              <a:buNone/>
            </a:pPr>
            <a:r>
              <a:rPr lang="en-US" sz="1600" b="1" dirty="0" smtClean="0">
                <a:solidFill>
                  <a:schemeClr val="tx1"/>
                </a:solidFill>
                <a:latin typeface="Arial" panose="020B0604020202020204" pitchFamily="34" charset="0"/>
                <a:ea typeface="Arial"/>
                <a:cs typeface="Arial" panose="020B0604020202020204" pitchFamily="34" charset="0"/>
                <a:sym typeface="Arial"/>
              </a:rPr>
              <a:t>Q: Will you ever be in this situation?</a:t>
            </a:r>
          </a:p>
          <a:p>
            <a:pPr marL="0" lvl="0" indent="0">
              <a:lnSpc>
                <a:spcPct val="90000"/>
              </a:lnSpc>
              <a:spcBef>
                <a:spcPts val="0"/>
              </a:spcBef>
              <a:spcAft>
                <a:spcPts val="0"/>
              </a:spcAft>
              <a:buClr>
                <a:srgbClr val="000000"/>
              </a:buClr>
              <a:buSzPts val="2000"/>
              <a:buNone/>
            </a:pPr>
            <a:endParaRPr lang="en-US" sz="1600" dirty="0" smtClean="0">
              <a:solidFill>
                <a:schemeClr val="tx1"/>
              </a:solidFill>
              <a:latin typeface="Arial" panose="020B0604020202020204" pitchFamily="34" charset="0"/>
              <a:ea typeface="Arial"/>
              <a:cs typeface="Arial" panose="020B0604020202020204" pitchFamily="34" charset="0"/>
              <a:sym typeface="Arial"/>
            </a:endParaRPr>
          </a:p>
          <a:p>
            <a:pPr marL="0" lvl="0" indent="0">
              <a:lnSpc>
                <a:spcPct val="90000"/>
              </a:lnSpc>
              <a:spcBef>
                <a:spcPts val="0"/>
              </a:spcBef>
              <a:spcAft>
                <a:spcPts val="0"/>
              </a:spcAft>
              <a:buClr>
                <a:srgbClr val="000000"/>
              </a:buClr>
              <a:buSzPts val="2000"/>
              <a:buNone/>
            </a:pPr>
            <a:r>
              <a:rPr lang="en-US" sz="1600" i="1" dirty="0" smtClean="0">
                <a:solidFill>
                  <a:schemeClr val="tx1"/>
                </a:solidFill>
                <a:latin typeface="Arial" panose="020B0604020202020204" pitchFamily="34" charset="0"/>
                <a:ea typeface="Arial"/>
                <a:cs typeface="Arial" panose="020B0604020202020204" pitchFamily="34" charset="0"/>
                <a:sym typeface="Arial"/>
              </a:rPr>
              <a:t>“Seven </a:t>
            </a:r>
            <a:r>
              <a:rPr lang="en-US" sz="1600" i="1" dirty="0">
                <a:solidFill>
                  <a:schemeClr val="tx1"/>
                </a:solidFill>
                <a:latin typeface="Arial" panose="020B0604020202020204" pitchFamily="34" charset="0"/>
                <a:ea typeface="Arial"/>
                <a:cs typeface="Arial" panose="020B0604020202020204" pitchFamily="34" charset="0"/>
                <a:sym typeface="Arial"/>
              </a:rPr>
              <a:t>years after Canada's largest tailings spill, the </a:t>
            </a:r>
            <a:r>
              <a:rPr lang="en-US" sz="1600" b="1" i="1" dirty="0">
                <a:solidFill>
                  <a:schemeClr val="tx1"/>
                </a:solidFill>
                <a:latin typeface="Arial" panose="020B0604020202020204" pitchFamily="34" charset="0"/>
                <a:ea typeface="Arial"/>
                <a:cs typeface="Arial" panose="020B0604020202020204" pitchFamily="34" charset="0"/>
                <a:sym typeface="Arial"/>
              </a:rPr>
              <a:t>two </a:t>
            </a:r>
            <a:r>
              <a:rPr lang="en-US" sz="1600" b="1" i="1" dirty="0" smtClean="0">
                <a:solidFill>
                  <a:schemeClr val="tx1"/>
                </a:solidFill>
                <a:latin typeface="Arial" panose="020B0604020202020204" pitchFamily="34" charset="0"/>
                <a:ea typeface="Arial"/>
                <a:cs typeface="Arial" panose="020B0604020202020204" pitchFamily="34" charset="0"/>
                <a:sym typeface="Arial"/>
              </a:rPr>
              <a:t>engineers </a:t>
            </a:r>
            <a:r>
              <a:rPr lang="en-US" sz="1600" b="1" i="1" dirty="0">
                <a:solidFill>
                  <a:schemeClr val="tx1"/>
                </a:solidFill>
                <a:latin typeface="Arial" panose="020B0604020202020204" pitchFamily="34" charset="0"/>
                <a:ea typeface="Arial"/>
                <a:cs typeface="Arial" panose="020B0604020202020204" pitchFamily="34" charset="0"/>
                <a:sym typeface="Arial"/>
              </a:rPr>
              <a:t>who </a:t>
            </a:r>
            <a:r>
              <a:rPr lang="en-US" sz="1600" b="1" i="1" dirty="0" smtClean="0">
                <a:solidFill>
                  <a:schemeClr val="tx1"/>
                </a:solidFill>
                <a:latin typeface="Arial" panose="020B0604020202020204" pitchFamily="34" charset="0"/>
                <a:ea typeface="Arial"/>
                <a:cs typeface="Arial" panose="020B0604020202020204" pitchFamily="34" charset="0"/>
                <a:sym typeface="Arial"/>
              </a:rPr>
              <a:t/>
            </a:r>
            <a:br>
              <a:rPr lang="en-US" sz="1600" b="1" i="1" dirty="0" smtClean="0">
                <a:solidFill>
                  <a:schemeClr val="tx1"/>
                </a:solidFill>
                <a:latin typeface="Arial" panose="020B0604020202020204" pitchFamily="34" charset="0"/>
                <a:ea typeface="Arial"/>
                <a:cs typeface="Arial" panose="020B0604020202020204" pitchFamily="34" charset="0"/>
                <a:sym typeface="Arial"/>
              </a:rPr>
            </a:br>
            <a:r>
              <a:rPr lang="en-US" sz="1600" b="1" i="1" dirty="0" smtClean="0">
                <a:solidFill>
                  <a:schemeClr val="tx1"/>
                </a:solidFill>
                <a:latin typeface="Arial" panose="020B0604020202020204" pitchFamily="34" charset="0"/>
                <a:ea typeface="Arial"/>
                <a:cs typeface="Arial" panose="020B0604020202020204" pitchFamily="34" charset="0"/>
                <a:sym typeface="Arial"/>
              </a:rPr>
              <a:t>were </a:t>
            </a:r>
            <a:r>
              <a:rPr lang="en-US" sz="1600" b="1" i="1" dirty="0">
                <a:solidFill>
                  <a:schemeClr val="tx1"/>
                </a:solidFill>
                <a:latin typeface="Arial" panose="020B0604020202020204" pitchFamily="34" charset="0"/>
                <a:ea typeface="Arial"/>
                <a:cs typeface="Arial" panose="020B0604020202020204" pitchFamily="34" charset="0"/>
                <a:sym typeface="Arial"/>
              </a:rPr>
              <a:t>involved have been found in breach </a:t>
            </a:r>
            <a:r>
              <a:rPr lang="en-US" sz="1600" b="1" i="1" dirty="0" smtClean="0">
                <a:solidFill>
                  <a:schemeClr val="tx1"/>
                </a:solidFill>
                <a:latin typeface="Arial" panose="020B0604020202020204" pitchFamily="34" charset="0"/>
                <a:ea typeface="Arial"/>
                <a:cs typeface="Arial" panose="020B0604020202020204" pitchFamily="34" charset="0"/>
                <a:sym typeface="Arial"/>
              </a:rPr>
              <a:t>of their </a:t>
            </a:r>
            <a:r>
              <a:rPr lang="en-US" sz="1600" b="1" i="1" dirty="0">
                <a:solidFill>
                  <a:schemeClr val="tx1"/>
                </a:solidFill>
                <a:latin typeface="Arial" panose="020B0604020202020204" pitchFamily="34" charset="0"/>
                <a:ea typeface="Arial"/>
                <a:cs typeface="Arial" panose="020B0604020202020204" pitchFamily="34" charset="0"/>
                <a:sym typeface="Arial"/>
              </a:rPr>
              <a:t>professional codes </a:t>
            </a:r>
            <a:r>
              <a:rPr lang="en-US" sz="1600" b="1" i="1" dirty="0" smtClean="0">
                <a:solidFill>
                  <a:schemeClr val="tx1"/>
                </a:solidFill>
                <a:latin typeface="Arial" panose="020B0604020202020204" pitchFamily="34" charset="0"/>
                <a:ea typeface="Arial"/>
                <a:cs typeface="Arial" panose="020B0604020202020204" pitchFamily="34" charset="0"/>
                <a:sym typeface="Arial"/>
              </a:rPr>
              <a:t/>
            </a:r>
            <a:br>
              <a:rPr lang="en-US" sz="1600" b="1" i="1" dirty="0" smtClean="0">
                <a:solidFill>
                  <a:schemeClr val="tx1"/>
                </a:solidFill>
                <a:latin typeface="Arial" panose="020B0604020202020204" pitchFamily="34" charset="0"/>
                <a:ea typeface="Arial"/>
                <a:cs typeface="Arial" panose="020B0604020202020204" pitchFamily="34" charset="0"/>
                <a:sym typeface="Arial"/>
              </a:rPr>
            </a:br>
            <a:r>
              <a:rPr lang="en-US" sz="1600" b="1" i="1" dirty="0" smtClean="0">
                <a:solidFill>
                  <a:schemeClr val="tx1"/>
                </a:solidFill>
                <a:latin typeface="Arial" panose="020B0604020202020204" pitchFamily="34" charset="0"/>
                <a:ea typeface="Arial"/>
                <a:cs typeface="Arial" panose="020B0604020202020204" pitchFamily="34" charset="0"/>
                <a:sym typeface="Arial"/>
              </a:rPr>
              <a:t>of conduct</a:t>
            </a:r>
            <a:r>
              <a:rPr lang="en-US" sz="1600" i="1" dirty="0" smtClean="0">
                <a:solidFill>
                  <a:schemeClr val="tx1"/>
                </a:solidFill>
                <a:latin typeface="Arial" panose="020B0604020202020204" pitchFamily="34" charset="0"/>
                <a:ea typeface="Arial"/>
                <a:cs typeface="Arial" panose="020B0604020202020204" pitchFamily="34" charset="0"/>
                <a:sym typeface="Arial"/>
              </a:rPr>
              <a:t>,  Engineers and Geoscientists of British Columbia (EGBC)</a:t>
            </a:r>
          </a:p>
          <a:p>
            <a:pPr marL="0" lvl="0" indent="0">
              <a:lnSpc>
                <a:spcPct val="90000"/>
              </a:lnSpc>
              <a:spcBef>
                <a:spcPts val="0"/>
              </a:spcBef>
              <a:spcAft>
                <a:spcPts val="0"/>
              </a:spcAft>
              <a:buClr>
                <a:srgbClr val="000000"/>
              </a:buClr>
              <a:buSzPts val="2000"/>
              <a:buNone/>
            </a:pPr>
            <a:endParaRPr lang="en-US" sz="1600" i="1" dirty="0">
              <a:solidFill>
                <a:schemeClr val="tx1"/>
              </a:solidFill>
              <a:latin typeface="Arial" panose="020B0604020202020204" pitchFamily="34" charset="0"/>
              <a:ea typeface="Arial"/>
              <a:cs typeface="Arial" panose="020B0604020202020204" pitchFamily="34" charset="0"/>
              <a:sym typeface="Arial"/>
            </a:endParaRPr>
          </a:p>
          <a:p>
            <a:pPr marL="0" lvl="0" indent="0">
              <a:lnSpc>
                <a:spcPct val="90000"/>
              </a:lnSpc>
              <a:spcBef>
                <a:spcPts val="0"/>
              </a:spcBef>
              <a:spcAft>
                <a:spcPts val="0"/>
              </a:spcAft>
              <a:buClr>
                <a:srgbClr val="000000"/>
              </a:buClr>
              <a:buSzPts val="2000"/>
              <a:buNone/>
            </a:pPr>
            <a:r>
              <a:rPr lang="en-US" sz="1600" i="1" dirty="0" smtClean="0">
                <a:solidFill>
                  <a:schemeClr val="tx1"/>
                </a:solidFill>
                <a:latin typeface="Arial" panose="020B0604020202020204" pitchFamily="34" charset="0"/>
                <a:ea typeface="Arial"/>
                <a:cs typeface="Arial" panose="020B0604020202020204" pitchFamily="34" charset="0"/>
                <a:sym typeface="Arial"/>
              </a:rPr>
              <a:t>The </a:t>
            </a:r>
            <a:r>
              <a:rPr lang="en-US" sz="1600" i="1" dirty="0">
                <a:solidFill>
                  <a:schemeClr val="tx1"/>
                </a:solidFill>
                <a:latin typeface="Arial" panose="020B0604020202020204" pitchFamily="34" charset="0"/>
                <a:ea typeface="Arial"/>
                <a:cs typeface="Arial" panose="020B0604020202020204" pitchFamily="34" charset="0"/>
                <a:sym typeface="Arial"/>
              </a:rPr>
              <a:t>panel found that both Rice and Fidel </a:t>
            </a:r>
            <a:r>
              <a:rPr lang="en-US" sz="1600" b="1" i="1" dirty="0">
                <a:solidFill>
                  <a:schemeClr val="tx1"/>
                </a:solidFill>
                <a:latin typeface="Arial" panose="020B0604020202020204" pitchFamily="34" charset="0"/>
                <a:ea typeface="Arial"/>
                <a:cs typeface="Arial" panose="020B0604020202020204" pitchFamily="34" charset="0"/>
                <a:sym typeface="Arial"/>
              </a:rPr>
              <a:t>demonstrated unprofessional conduct </a:t>
            </a:r>
            <a:r>
              <a:rPr lang="en-US" sz="1600" i="1" dirty="0">
                <a:solidFill>
                  <a:schemeClr val="tx1"/>
                </a:solidFill>
                <a:latin typeface="Arial" panose="020B0604020202020204" pitchFamily="34" charset="0"/>
                <a:ea typeface="Arial"/>
                <a:cs typeface="Arial" panose="020B0604020202020204" pitchFamily="34" charset="0"/>
                <a:sym typeface="Arial"/>
              </a:rPr>
              <a:t>in the course of their work at the mine. </a:t>
            </a:r>
            <a:r>
              <a:rPr lang="en-US" sz="1600" i="1" dirty="0" smtClean="0">
                <a:solidFill>
                  <a:schemeClr val="tx1"/>
                </a:solidFill>
                <a:latin typeface="Arial" panose="020B0604020202020204" pitchFamily="34" charset="0"/>
                <a:ea typeface="Arial"/>
                <a:cs typeface="Arial" panose="020B0604020202020204" pitchFamily="34" charset="0"/>
                <a:sym typeface="Arial"/>
              </a:rPr>
              <a:t> …</a:t>
            </a:r>
          </a:p>
          <a:p>
            <a:pPr marL="0" lvl="0" indent="0">
              <a:lnSpc>
                <a:spcPct val="90000"/>
              </a:lnSpc>
              <a:spcBef>
                <a:spcPts val="0"/>
              </a:spcBef>
              <a:spcAft>
                <a:spcPts val="0"/>
              </a:spcAft>
              <a:buClr>
                <a:srgbClr val="000000"/>
              </a:buClr>
              <a:buSzPts val="2000"/>
              <a:buNone/>
            </a:pPr>
            <a:endParaRPr lang="en-US" sz="1600" i="1" dirty="0">
              <a:solidFill>
                <a:schemeClr val="tx1"/>
              </a:solidFill>
              <a:latin typeface="Arial" panose="020B0604020202020204" pitchFamily="34" charset="0"/>
              <a:ea typeface="Arial"/>
              <a:cs typeface="Arial" panose="020B0604020202020204" pitchFamily="34" charset="0"/>
              <a:sym typeface="Arial"/>
            </a:endParaRPr>
          </a:p>
          <a:p>
            <a:pPr marL="0" lvl="0" indent="0">
              <a:lnSpc>
                <a:spcPct val="90000"/>
              </a:lnSpc>
              <a:spcBef>
                <a:spcPts val="0"/>
              </a:spcBef>
              <a:spcAft>
                <a:spcPts val="0"/>
              </a:spcAft>
              <a:buClr>
                <a:srgbClr val="000000"/>
              </a:buClr>
              <a:buSzPts val="2000"/>
              <a:buNone/>
            </a:pPr>
            <a:r>
              <a:rPr lang="en-US" sz="1600" i="1" dirty="0" smtClean="0">
                <a:solidFill>
                  <a:schemeClr val="tx1"/>
                </a:solidFill>
                <a:latin typeface="Arial" panose="020B0604020202020204" pitchFamily="34" charset="0"/>
                <a:ea typeface="Arial"/>
                <a:cs typeface="Arial" panose="020B0604020202020204" pitchFamily="34" charset="0"/>
                <a:sym typeface="Arial"/>
              </a:rPr>
              <a:t>EGBC reported </a:t>
            </a:r>
            <a:r>
              <a:rPr lang="en-US" sz="1600" i="1" dirty="0">
                <a:solidFill>
                  <a:schemeClr val="tx1"/>
                </a:solidFill>
                <a:latin typeface="Arial" panose="020B0604020202020204" pitchFamily="34" charset="0"/>
                <a:ea typeface="Arial"/>
                <a:cs typeface="Arial" panose="020B0604020202020204" pitchFamily="34" charset="0"/>
                <a:sym typeface="Arial"/>
              </a:rPr>
              <a:t>that a discipline hearing panel had imposed a </a:t>
            </a:r>
            <a:r>
              <a:rPr lang="en-US" sz="1600" b="1" i="1" dirty="0">
                <a:solidFill>
                  <a:schemeClr val="tx1"/>
                </a:solidFill>
                <a:latin typeface="Arial" panose="020B0604020202020204" pitchFamily="34" charset="0"/>
                <a:ea typeface="Arial"/>
                <a:cs typeface="Arial" panose="020B0604020202020204" pitchFamily="34" charset="0"/>
                <a:sym typeface="Arial"/>
              </a:rPr>
              <a:t>maximum fine of $25,000 against Rice</a:t>
            </a:r>
            <a:r>
              <a:rPr lang="en-US" sz="1600" i="1" dirty="0">
                <a:solidFill>
                  <a:schemeClr val="tx1"/>
                </a:solidFill>
                <a:latin typeface="Arial" panose="020B0604020202020204" pitchFamily="34" charset="0"/>
                <a:ea typeface="Arial"/>
                <a:cs typeface="Arial" panose="020B0604020202020204" pitchFamily="34" charset="0"/>
                <a:sym typeface="Arial"/>
              </a:rPr>
              <a:t>, who resigned in </a:t>
            </a:r>
            <a:r>
              <a:rPr lang="en-US" sz="1600" i="1" dirty="0" smtClean="0">
                <a:solidFill>
                  <a:schemeClr val="tx1"/>
                </a:solidFill>
                <a:latin typeface="Arial" panose="020B0604020202020204" pitchFamily="34" charset="0"/>
                <a:ea typeface="Arial"/>
                <a:cs typeface="Arial" panose="020B0604020202020204" pitchFamily="34" charset="0"/>
                <a:sym typeface="Arial"/>
              </a:rPr>
              <a:t>2018. Rice </a:t>
            </a:r>
            <a:r>
              <a:rPr lang="en-US" sz="1600" i="1" dirty="0">
                <a:solidFill>
                  <a:schemeClr val="tx1"/>
                </a:solidFill>
                <a:latin typeface="Arial" panose="020B0604020202020204" pitchFamily="34" charset="0"/>
                <a:ea typeface="Arial"/>
                <a:cs typeface="Arial" panose="020B0604020202020204" pitchFamily="34" charset="0"/>
                <a:sym typeface="Arial"/>
              </a:rPr>
              <a:t>also agreed to pay </a:t>
            </a:r>
            <a:r>
              <a:rPr lang="en-US" sz="1600" b="1" i="1" dirty="0">
                <a:solidFill>
                  <a:schemeClr val="tx1"/>
                </a:solidFill>
                <a:latin typeface="Arial" panose="020B0604020202020204" pitchFamily="34" charset="0"/>
                <a:ea typeface="Arial"/>
                <a:cs typeface="Arial" panose="020B0604020202020204" pitchFamily="34" charset="0"/>
                <a:sym typeface="Arial"/>
              </a:rPr>
              <a:t>$107,500 dollars in legal costs </a:t>
            </a:r>
            <a:r>
              <a:rPr lang="en-US" sz="1600" i="1" dirty="0">
                <a:solidFill>
                  <a:schemeClr val="tx1"/>
                </a:solidFill>
                <a:latin typeface="Arial" panose="020B0604020202020204" pitchFamily="34" charset="0"/>
                <a:ea typeface="Arial"/>
                <a:cs typeface="Arial" panose="020B0604020202020204" pitchFamily="34" charset="0"/>
                <a:sym typeface="Arial"/>
              </a:rPr>
              <a:t>to the association and is no longer permitted to practice as a professional engineer in the province</a:t>
            </a:r>
            <a:r>
              <a:rPr lang="en-US" sz="1600" i="1" dirty="0" smtClean="0">
                <a:solidFill>
                  <a:schemeClr val="tx1"/>
                </a:solidFill>
                <a:latin typeface="Arial" panose="020B0604020202020204" pitchFamily="34" charset="0"/>
                <a:ea typeface="Arial"/>
                <a:cs typeface="Arial" panose="020B0604020202020204" pitchFamily="34" charset="0"/>
                <a:sym typeface="Arial"/>
              </a:rPr>
              <a:t>.</a:t>
            </a:r>
          </a:p>
          <a:p>
            <a:pPr marL="0" lvl="0" indent="0">
              <a:lnSpc>
                <a:spcPct val="90000"/>
              </a:lnSpc>
              <a:spcBef>
                <a:spcPts val="0"/>
              </a:spcBef>
              <a:spcAft>
                <a:spcPts val="0"/>
              </a:spcAft>
              <a:buClr>
                <a:srgbClr val="000000"/>
              </a:buClr>
              <a:buSzPts val="2000"/>
              <a:buNone/>
            </a:pPr>
            <a:endParaRPr lang="en-US" sz="1600" i="1" dirty="0">
              <a:solidFill>
                <a:schemeClr val="tx1"/>
              </a:solidFill>
              <a:latin typeface="Arial" panose="020B0604020202020204" pitchFamily="34" charset="0"/>
              <a:ea typeface="Arial"/>
              <a:cs typeface="Arial" panose="020B0604020202020204" pitchFamily="34" charset="0"/>
              <a:sym typeface="Arial"/>
            </a:endParaRPr>
          </a:p>
          <a:p>
            <a:pPr marL="0" lvl="0" indent="0">
              <a:lnSpc>
                <a:spcPct val="90000"/>
              </a:lnSpc>
              <a:spcBef>
                <a:spcPts val="0"/>
              </a:spcBef>
              <a:spcAft>
                <a:spcPts val="0"/>
              </a:spcAft>
              <a:buClr>
                <a:srgbClr val="000000"/>
              </a:buClr>
              <a:buSzPts val="2000"/>
              <a:buNone/>
            </a:pPr>
            <a:r>
              <a:rPr lang="en-US" sz="1600" i="1" dirty="0">
                <a:solidFill>
                  <a:schemeClr val="tx1"/>
                </a:solidFill>
                <a:latin typeface="Arial" panose="020B0604020202020204" pitchFamily="34" charset="0"/>
                <a:ea typeface="Arial"/>
                <a:cs typeface="Arial" panose="020B0604020202020204" pitchFamily="34" charset="0"/>
                <a:sym typeface="Arial"/>
              </a:rPr>
              <a:t>A separate discipline hearing panel found that Fidel also committed several acts of unprofessional conduct</a:t>
            </a:r>
            <a:r>
              <a:rPr lang="en-US" sz="1600" i="1" dirty="0" smtClean="0">
                <a:solidFill>
                  <a:schemeClr val="tx1"/>
                </a:solidFill>
                <a:latin typeface="Arial" panose="020B0604020202020204" pitchFamily="34" charset="0"/>
                <a:ea typeface="Arial"/>
                <a:cs typeface="Arial" panose="020B0604020202020204" pitchFamily="34" charset="0"/>
                <a:sym typeface="Arial"/>
              </a:rPr>
              <a:t>.”</a:t>
            </a:r>
          </a:p>
          <a:p>
            <a:pPr marL="0" lvl="0" indent="0">
              <a:lnSpc>
                <a:spcPct val="90000"/>
              </a:lnSpc>
              <a:spcBef>
                <a:spcPts val="0"/>
              </a:spcBef>
              <a:spcAft>
                <a:spcPts val="0"/>
              </a:spcAft>
              <a:buClr>
                <a:srgbClr val="000000"/>
              </a:buClr>
              <a:buSzPts val="2000"/>
              <a:buNone/>
            </a:pPr>
            <a:r>
              <a:rPr lang="en-US" sz="1100" dirty="0">
                <a:solidFill>
                  <a:schemeClr val="tx1"/>
                </a:solidFill>
                <a:latin typeface="Arial" panose="020B0604020202020204" pitchFamily="34" charset="0"/>
                <a:ea typeface="Arial"/>
                <a:cs typeface="Arial" panose="020B0604020202020204" pitchFamily="34" charset="0"/>
                <a:sym typeface="Arial"/>
              </a:rPr>
              <a:t>https://www.cbc.ca/news/canada/british-columbia/discipline-engineers-mount-polley-mine-waste-quesnel-lake-1.6137265</a:t>
            </a:r>
            <a:endParaRPr lang="en-US" sz="1100" dirty="0" smtClean="0">
              <a:solidFill>
                <a:schemeClr val="tx1"/>
              </a:solidFill>
              <a:latin typeface="Arial" panose="020B0604020202020204" pitchFamily="34" charset="0"/>
              <a:ea typeface="Arial"/>
              <a:cs typeface="Arial" panose="020B0604020202020204" pitchFamily="34" charset="0"/>
              <a:sym typeface="Arial"/>
            </a:endParaRPr>
          </a:p>
          <a:p>
            <a:pPr marL="0" indent="0">
              <a:lnSpc>
                <a:spcPct val="90000"/>
              </a:lnSpc>
              <a:spcBef>
                <a:spcPts val="0"/>
              </a:spcBef>
              <a:spcAft>
                <a:spcPts val="0"/>
              </a:spcAft>
              <a:buClr>
                <a:srgbClr val="000000"/>
              </a:buClr>
              <a:buSzPts val="2000"/>
              <a:buNone/>
            </a:pPr>
            <a:endParaRPr lang="en-US" sz="1600" b="1" dirty="0">
              <a:solidFill>
                <a:schemeClr val="tx1"/>
              </a:solidFill>
              <a:latin typeface="Arial" panose="020B0604020202020204" pitchFamily="34" charset="0"/>
              <a:ea typeface="Arial"/>
              <a:cs typeface="Arial" panose="020B0604020202020204" pitchFamily="34" charset="0"/>
              <a:sym typeface="Arial"/>
            </a:endParaRPr>
          </a:p>
          <a:p>
            <a:pPr marL="0" indent="0">
              <a:lnSpc>
                <a:spcPct val="90000"/>
              </a:lnSpc>
              <a:spcBef>
                <a:spcPts val="0"/>
              </a:spcBef>
              <a:spcAft>
                <a:spcPts val="0"/>
              </a:spcAft>
              <a:buClr>
                <a:srgbClr val="000000"/>
              </a:buClr>
              <a:buSzPts val="2000"/>
              <a:buNone/>
            </a:pPr>
            <a:r>
              <a:rPr lang="en-US" sz="1600" b="1" dirty="0" smtClean="0">
                <a:solidFill>
                  <a:schemeClr val="tx1"/>
                </a:solidFill>
                <a:latin typeface="Arial" panose="020B0604020202020204" pitchFamily="34" charset="0"/>
                <a:ea typeface="Arial"/>
                <a:cs typeface="Arial" panose="020B0604020202020204" pitchFamily="34" charset="0"/>
                <a:sym typeface="Arial"/>
              </a:rPr>
              <a:t>A: Not </a:t>
            </a:r>
            <a:r>
              <a:rPr lang="en-US" sz="1600" b="1" dirty="0">
                <a:solidFill>
                  <a:schemeClr val="tx1"/>
                </a:solidFill>
                <a:latin typeface="Arial" panose="020B0604020202020204" pitchFamily="34" charset="0"/>
                <a:ea typeface="Arial"/>
                <a:cs typeface="Arial" panose="020B0604020202020204" pitchFamily="34" charset="0"/>
                <a:sym typeface="Arial"/>
              </a:rPr>
              <a:t>when practicing the principles and practices of “Leadership in Risk Management”, a key competency</a:t>
            </a:r>
            <a:r>
              <a:rPr lang="en-US" sz="1600" b="1" dirty="0" smtClean="0">
                <a:solidFill>
                  <a:schemeClr val="tx1"/>
                </a:solidFill>
                <a:latin typeface="Arial" panose="020B0604020202020204" pitchFamily="34" charset="0"/>
                <a:ea typeface="Arial"/>
                <a:cs typeface="Arial" panose="020B0604020202020204" pitchFamily="34" charset="0"/>
                <a:sym typeface="Arial"/>
              </a:rPr>
              <a:t>!</a:t>
            </a:r>
          </a:p>
          <a:p>
            <a:pPr marL="0" indent="0">
              <a:lnSpc>
                <a:spcPct val="90000"/>
              </a:lnSpc>
              <a:spcBef>
                <a:spcPts val="0"/>
              </a:spcBef>
              <a:spcAft>
                <a:spcPts val="0"/>
              </a:spcAft>
              <a:buClr>
                <a:srgbClr val="000000"/>
              </a:buClr>
              <a:buSzPts val="2000"/>
              <a:buNone/>
            </a:pPr>
            <a:endParaRPr lang="en-US" sz="1600" b="1" dirty="0">
              <a:solidFill>
                <a:schemeClr val="tx1"/>
              </a:solidFill>
              <a:latin typeface="Arial" panose="020B0604020202020204" pitchFamily="34" charset="0"/>
              <a:ea typeface="Arial"/>
              <a:cs typeface="Arial" panose="020B0604020202020204" pitchFamily="34" charset="0"/>
              <a:sym typeface="Arial"/>
            </a:endParaRPr>
          </a:p>
          <a:p>
            <a:pPr marL="0" indent="0">
              <a:lnSpc>
                <a:spcPct val="90000"/>
              </a:lnSpc>
              <a:spcBef>
                <a:spcPts val="0"/>
              </a:spcBef>
              <a:spcAft>
                <a:spcPts val="0"/>
              </a:spcAft>
              <a:buClr>
                <a:srgbClr val="000000"/>
              </a:buClr>
              <a:buSzPts val="2000"/>
              <a:buNone/>
            </a:pPr>
            <a:r>
              <a:rPr lang="en-US" sz="1800" b="1" i="1" dirty="0">
                <a:solidFill>
                  <a:srgbClr val="0000FF"/>
                </a:solidFill>
                <a:latin typeface="Arial" panose="020B0604020202020204" pitchFamily="34" charset="0"/>
                <a:ea typeface="Arial"/>
                <a:cs typeface="Arial" panose="020B0604020202020204" pitchFamily="34" charset="0"/>
                <a:sym typeface="Arial"/>
              </a:rPr>
              <a:t>We will revisit ethics and professional conduct </a:t>
            </a:r>
            <a:r>
              <a:rPr lang="en-US" sz="1800" b="1" i="1" dirty="0" smtClean="0">
                <a:solidFill>
                  <a:srgbClr val="0000FF"/>
                </a:solidFill>
                <a:latin typeface="Arial" panose="020B0604020202020204" pitchFamily="34" charset="0"/>
                <a:ea typeface="Arial"/>
                <a:cs typeface="Arial" panose="020B0604020202020204" pitchFamily="34" charset="0"/>
                <a:sym typeface="Arial"/>
              </a:rPr>
              <a:t>later </a:t>
            </a:r>
            <a:r>
              <a:rPr lang="en-US" sz="1800" b="1" i="1" dirty="0">
                <a:solidFill>
                  <a:srgbClr val="0000FF"/>
                </a:solidFill>
                <a:latin typeface="Arial" panose="020B0604020202020204" pitchFamily="34" charset="0"/>
                <a:ea typeface="Arial"/>
                <a:cs typeface="Arial" panose="020B0604020202020204" pitchFamily="34" charset="0"/>
                <a:sym typeface="Arial"/>
              </a:rPr>
              <a:t>in the </a:t>
            </a:r>
            <a:r>
              <a:rPr lang="en-US" sz="1800" b="1" i="1" dirty="0" smtClean="0">
                <a:solidFill>
                  <a:srgbClr val="0000FF"/>
                </a:solidFill>
                <a:latin typeface="Arial" panose="020B0604020202020204" pitchFamily="34" charset="0"/>
                <a:ea typeface="Arial"/>
                <a:cs typeface="Arial" panose="020B0604020202020204" pitchFamily="34" charset="0"/>
                <a:sym typeface="Arial"/>
              </a:rPr>
              <a:t>term.</a:t>
            </a:r>
            <a:endParaRPr lang="en-US" sz="1800" b="1" i="1" dirty="0">
              <a:solidFill>
                <a:srgbClr val="0000FF"/>
              </a:solidFill>
              <a:latin typeface="Arial" panose="020B0604020202020204" pitchFamily="34" charset="0"/>
              <a:ea typeface="Arial"/>
              <a:cs typeface="Arial" panose="020B0604020202020204" pitchFamily="34" charset="0"/>
              <a:sym typeface="Arial"/>
            </a:endParaRPr>
          </a:p>
          <a:p>
            <a:pPr marL="0" indent="0">
              <a:lnSpc>
                <a:spcPct val="90000"/>
              </a:lnSpc>
              <a:spcBef>
                <a:spcPts val="0"/>
              </a:spcBef>
              <a:spcAft>
                <a:spcPts val="0"/>
              </a:spcAft>
              <a:buClr>
                <a:srgbClr val="000000"/>
              </a:buClr>
              <a:buSzPts val="2000"/>
              <a:buNone/>
            </a:pPr>
            <a:endParaRPr lang="en-US" sz="1600" dirty="0">
              <a:solidFill>
                <a:schemeClr val="tx1"/>
              </a:solidFill>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5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Look </a:t>
            </a:r>
            <a:r>
              <a:rPr lang="en-US" altLang="en-US" sz="2400" b="0" dirty="0">
                <a:solidFill>
                  <a:schemeClr val="accent2"/>
                </a:solidFill>
                <a:latin typeface="Arial" panose="020B0604020202020204" pitchFamily="34" charset="0"/>
                <a:ea typeface="+mj-ea"/>
                <a:cs typeface="Arial" panose="020B0604020202020204" pitchFamily="34" charset="0"/>
              </a:rPr>
              <a:t>into the future about your career …</a:t>
            </a:r>
          </a:p>
        </p:txBody>
      </p:sp>
    </p:spTree>
    <p:extLst>
      <p:ext uri="{BB962C8B-B14F-4D97-AF65-F5344CB8AC3E}">
        <p14:creationId xmlns:p14="http://schemas.microsoft.com/office/powerpoint/2010/main" val="272201149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smtClean="0">
                <a:latin typeface="Arial" panose="020B0604020202020204" pitchFamily="34" charset="0"/>
                <a:ea typeface="ＭＳ Ｐゴシック" panose="020B0600070205080204" pitchFamily="34" charset="-128"/>
                <a:cs typeface="Arial" panose="020B0604020202020204" pitchFamily="34" charset="0"/>
              </a:rPr>
              <a:t>It </a:t>
            </a: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is vital to combat complacency in all aspects of risk </a:t>
            </a:r>
            <a:r>
              <a:rPr lang="en-US" altLang="en-US" sz="1800" b="0" dirty="0" smtClean="0">
                <a:latin typeface="Arial" panose="020B0604020202020204" pitchFamily="34" charset="0"/>
                <a:ea typeface="ＭＳ Ｐゴシック" panose="020B0600070205080204" pitchFamily="34" charset="-128"/>
                <a:cs typeface="Arial" panose="020B0604020202020204" pitchFamily="34" charset="0"/>
              </a:rPr>
              <a:t>management.</a:t>
            </a: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How quickly does management address identified deficiencies? Are responsibilities embraced or deflected to others?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dirty="0" smtClean="0">
                <a:latin typeface="Arial" panose="020B0604020202020204" pitchFamily="34" charset="0"/>
                <a:ea typeface="ＭＳ Ｐゴシック" panose="020B0600070205080204" pitchFamily="34" charset="-128"/>
                <a:cs typeface="Arial" panose="020B0604020202020204" pitchFamily="34" charset="0"/>
              </a:rPr>
              <a:t>#1 MLCA Management </a:t>
            </a:r>
            <a:r>
              <a:rPr lang="en-US" altLang="en-US" sz="1800" dirty="0">
                <a:latin typeface="Arial" panose="020B0604020202020204" pitchFamily="34" charset="0"/>
                <a:ea typeface="ＭＳ Ｐゴシック" panose="020B0600070205080204" pitchFamily="34" charset="-128"/>
                <a:cs typeface="Arial" panose="020B0604020202020204" pitchFamily="34" charset="0"/>
              </a:rPr>
              <a:t>Leadership, Commitment, and Accountability</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How are hazards identified and assessed throughout the facility lifecycle? Is this system embedded throughout the organization?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dirty="0" smtClean="0">
                <a:latin typeface="Arial" panose="020B0604020202020204" pitchFamily="34" charset="0"/>
                <a:ea typeface="ＭＳ Ｐゴシック" panose="020B0600070205080204" pitchFamily="34" charset="-128"/>
                <a:cs typeface="Arial" panose="020B0604020202020204" pitchFamily="34" charset="0"/>
              </a:rPr>
              <a:t>#2 RAMR Risk </a:t>
            </a:r>
            <a:r>
              <a:rPr lang="en-US" altLang="en-US" sz="1800" dirty="0">
                <a:latin typeface="Arial" panose="020B0604020202020204" pitchFamily="34" charset="0"/>
                <a:ea typeface="ＭＳ Ｐゴシック" panose="020B0600070205080204" pitchFamily="34" charset="-128"/>
                <a:cs typeface="Arial" panose="020B0604020202020204" pitchFamily="34" charset="0"/>
              </a:rPr>
              <a:t>Assessment and Management of Risks </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Are accepted standards of practice used for risk assessment during design and other stages? Can the certainty and confidence in obtained results be reasonably justified?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dirty="0" smtClean="0">
                <a:latin typeface="Arial" panose="020B0604020202020204" pitchFamily="34" charset="0"/>
                <a:ea typeface="ＭＳ Ｐゴシック" panose="020B0600070205080204" pitchFamily="34" charset="-128"/>
                <a:cs typeface="Arial" panose="020B0604020202020204" pitchFamily="34" charset="0"/>
              </a:rPr>
              <a:t>#7 DCSU Design</a:t>
            </a:r>
            <a:r>
              <a:rPr lang="en-US" altLang="en-US" sz="1800" dirty="0">
                <a:latin typeface="Arial" panose="020B0604020202020204" pitchFamily="34" charset="0"/>
                <a:ea typeface="ＭＳ Ｐゴシック" panose="020B0600070205080204" pitchFamily="34" charset="-128"/>
                <a:cs typeface="Arial" panose="020B0604020202020204" pitchFamily="34" charset="0"/>
              </a:rPr>
              <a:t>, Construction and Start-up</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Are employees fully trained and qualified for their roles? Does management have an effective training program in place?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dirty="0" smtClean="0">
                <a:latin typeface="Arial" panose="020B0604020202020204" pitchFamily="34" charset="0"/>
                <a:ea typeface="ＭＳ Ｐゴシック" panose="020B0600070205080204" pitchFamily="34" charset="-128"/>
                <a:cs typeface="Arial" panose="020B0604020202020204" pitchFamily="34" charset="0"/>
              </a:rPr>
              <a:t>#9 ECT Employee </a:t>
            </a:r>
            <a:r>
              <a:rPr lang="en-US" altLang="en-US" sz="1800" dirty="0">
                <a:latin typeface="Arial" panose="020B0604020202020204" pitchFamily="34" charset="0"/>
                <a:ea typeface="ＭＳ Ｐゴシック" panose="020B0600070205080204" pitchFamily="34" charset="-128"/>
                <a:cs typeface="Arial" panose="020B0604020202020204" pitchFamily="34" charset="0"/>
              </a:rPr>
              <a:t>Competency and </a:t>
            </a:r>
            <a:r>
              <a:rPr lang="en-US" altLang="en-US" sz="1800" dirty="0" smtClean="0">
                <a:latin typeface="Arial" panose="020B0604020202020204" pitchFamily="34" charset="0"/>
                <a:ea typeface="ＭＳ Ｐゴシック" panose="020B0600070205080204" pitchFamily="34" charset="-128"/>
                <a:cs typeface="Arial" panose="020B0604020202020204" pitchFamily="34" charset="0"/>
              </a:rPr>
              <a:t>Training</a:t>
            </a:r>
          </a:p>
          <a:p>
            <a:pPr marL="72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dirty="0">
                <a:latin typeface="Arial" panose="020B0604020202020204" pitchFamily="34" charset="0"/>
                <a:ea typeface="ＭＳ Ｐゴシック" panose="020B0600070205080204" pitchFamily="34" charset="-128"/>
                <a:cs typeface="Arial" panose="020B0604020202020204" pitchFamily="34" charset="0"/>
              </a:rPr>
              <a:t>Lastly, the key lesson is applying the RM principles, practices, and concepts to </a:t>
            </a:r>
            <a:r>
              <a:rPr lang="en-US" altLang="en-US" sz="1800" dirty="0" err="1">
                <a:latin typeface="Arial" panose="020B0604020202020204" pitchFamily="34" charset="0"/>
                <a:ea typeface="ＭＳ Ｐゴシック" panose="020B0600070205080204" pitchFamily="34" charset="-128"/>
                <a:cs typeface="Arial" panose="020B0604020202020204" pitchFamily="34" charset="0"/>
              </a:rPr>
              <a:t>analyse</a:t>
            </a:r>
            <a:r>
              <a:rPr lang="en-US" altLang="en-US" sz="1800" dirty="0">
                <a:latin typeface="Arial" panose="020B0604020202020204" pitchFamily="34" charset="0"/>
                <a:ea typeface="ＭＳ Ｐゴシック" panose="020B0600070205080204" pitchFamily="34" charset="-128"/>
                <a:cs typeface="Arial" panose="020B0604020202020204" pitchFamily="34" charset="0"/>
              </a:rPr>
              <a:t> a case study / loss incident!</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Summary and Key Lessons:</a:t>
            </a:r>
          </a:p>
        </p:txBody>
      </p:sp>
      <p:sp>
        <p:nvSpPr>
          <p:cNvPr id="6"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5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187505649"/>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Any questions?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077953517"/>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70358</TotalTime>
  <Words>1731</Words>
  <Application>Microsoft Office PowerPoint</Application>
  <PresentationFormat>On-screen Show (4:3)</PresentationFormat>
  <Paragraphs>270</Paragraphs>
  <Slides>18</Slides>
  <Notes>18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18</vt:i4>
      </vt:variant>
    </vt:vector>
  </HeadingPairs>
  <TitlesOfParts>
    <vt:vector size="26" baseType="lpstr">
      <vt:lpstr>ＭＳ Ｐゴシック</vt:lpstr>
      <vt:lpstr>Arial</vt:lpstr>
      <vt:lpstr>Calibri</vt:lpstr>
      <vt:lpstr>Noto Sans Symbols</vt:lpstr>
      <vt:lpstr>Times New Roman</vt:lpstr>
      <vt:lpstr>Wingdings</vt:lpstr>
      <vt:lpstr>Default Design</vt:lpstr>
      <vt:lpstr>1_Default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John Cocchio</cp:lastModifiedBy>
  <cp:revision>1971</cp:revision>
  <cp:lastPrinted>2018-12-17T22:21:47Z</cp:lastPrinted>
  <dcterms:created xsi:type="dcterms:W3CDTF">2007-03-28T16:18:47Z</dcterms:created>
  <dcterms:modified xsi:type="dcterms:W3CDTF">2022-05-30T16:51:45Z</dcterms:modified>
</cp:coreProperties>
</file>