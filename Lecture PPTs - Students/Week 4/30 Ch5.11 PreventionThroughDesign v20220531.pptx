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6" r:id="rId2"/>
    <p:sldId id="843" r:id="rId3"/>
    <p:sldId id="850" r:id="rId4"/>
    <p:sldId id="859" r:id="rId5"/>
    <p:sldId id="901" r:id="rId6"/>
    <p:sldId id="861" r:id="rId7"/>
    <p:sldId id="862" r:id="rId8"/>
    <p:sldId id="865" r:id="rId9"/>
    <p:sldId id="864" r:id="rId10"/>
    <p:sldId id="867" r:id="rId11"/>
    <p:sldId id="905" r:id="rId12"/>
    <p:sldId id="868" r:id="rId13"/>
    <p:sldId id="907" r:id="rId14"/>
    <p:sldId id="852" r:id="rId15"/>
    <p:sldId id="900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6"/>
            <p14:sldId id="843"/>
            <p14:sldId id="850"/>
            <p14:sldId id="859"/>
            <p14:sldId id="901"/>
            <p14:sldId id="861"/>
            <p14:sldId id="862"/>
            <p14:sldId id="865"/>
            <p14:sldId id="864"/>
            <p14:sldId id="867"/>
            <p14:sldId id="905"/>
            <p14:sldId id="868"/>
            <p14:sldId id="907"/>
            <p14:sldId id="852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00CC"/>
    <a:srgbClr val="00CC00"/>
    <a:srgbClr val="000000"/>
    <a:srgbClr val="F8F8F8"/>
    <a:srgbClr val="F5D7F1"/>
    <a:srgbClr val="5F5F5F"/>
    <a:srgbClr val="DDDDDD"/>
    <a:srgbClr val="FBA3E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253691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2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3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1090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4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50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88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3885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2463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7150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244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2262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610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5401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00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7173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5.11: Prevention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6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227013" y="990600"/>
            <a:ext cx="86883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concept of the life cycle of a system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how to avoid hazard &amp; risks through design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role of engineering (as designers) in the concept of Prevention Through Design (PTD)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overall the Design Safety Review Process 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how risk management tools are integrated within two key steps in D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SR, specifically;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– Design Safety Review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 – Assess Design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Learning Outcomes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Prevention Through Design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CA" altLang="en-US" sz="18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aspect of your risk management system to reduce losses by applying prevention through design principles early in design &amp; redesign work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Applies to ALL disciplines and fields of engineering</a:t>
            </a: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PTD tenets: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Hazards &amp; risks are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effectively &amp; economically 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avoided, eliminated, or controlled during design &amp; redesign (engineering).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 analysis is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important 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process.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assessment is a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cornerstone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element of your management system.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those responsible for safety (regardless of formal titles) is to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 an acceptable level of risk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address requirements in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&amp; redesign work processes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prevent or minimize hazards, risks, and prevent losses i.e. protect PEAP.</a:t>
            </a: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control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to 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the potential for human error.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Introduction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7924800" y="6264000"/>
            <a:ext cx="914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8403193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Why Engineers Need To Understand PTD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reduce </a:t>
            </a:r>
            <a:r>
              <a:rPr lang="en-CA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fatalities and serious incidents</a:t>
            </a: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(FSIs), safety must be designed into facilities, systems, and work processes, methods – to avoid human error!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Avoidance and Elimination</a:t>
            </a: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most effective risk treatment options, </a:t>
            </a: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only possible through design</a:t>
            </a: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Engineers, we have a key role in design, and as such need to know when in the life of a facility we have the most leverage in reducing risk to an acceptable level.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statistics: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U.S. studies indicate over 40% of construction fatalities connected to design aspect (</a:t>
            </a:r>
            <a:r>
              <a:rPr lang="en-CA" altLang="en-US" sz="2000" b="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Behm</a:t>
            </a: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2005)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Australia Study of work-related fatalities (Safe Work Australia, 2014)</a:t>
            </a:r>
          </a:p>
          <a:p>
            <a:pPr marL="720000" lvl="1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12% caused by unsafe design-related factors</a:t>
            </a:r>
          </a:p>
          <a:p>
            <a:pPr marL="720000" lvl="1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24% were possibly caused by design-related factors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7924800" y="6264000"/>
            <a:ext cx="914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9297552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Embedded Hazards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hazards are missed in design, they become </a:t>
            </a:r>
            <a:r>
              <a:rPr kumimoji="0" 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embedded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does that matter?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permanently exist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until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removed by redesign.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become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systemic underlying root cause for catastrophic incidents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also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problems related to operational performance including efficiency, quality &amp;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profitability.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967" y="3352800"/>
            <a:ext cx="4095833" cy="270000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4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kumimoji="0" lang="en-US" sz="14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sp>
        <p:nvSpPr>
          <p:cNvPr id="4" name="Pentagon 3"/>
          <p:cNvSpPr/>
          <p:nvPr/>
        </p:nvSpPr>
        <p:spPr>
          <a:xfrm>
            <a:off x="227014" y="3352800"/>
            <a:ext cx="4649786" cy="2700000"/>
          </a:xfrm>
          <a:prstGeom prst="homePlate">
            <a:avLst>
              <a:gd name="adj" fmla="val 2906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0" i="1" dirty="0">
                <a:solidFill>
                  <a:schemeClr val="bg1"/>
                </a:solidFill>
              </a:rPr>
              <a:t>Consider the scenario as depicted </a:t>
            </a:r>
            <a:r>
              <a:rPr lang="en-US" b="0" i="1" dirty="0" smtClean="0">
                <a:solidFill>
                  <a:schemeClr val="bg1"/>
                </a:solidFill>
              </a:rPr>
              <a:t>in </a:t>
            </a:r>
            <a:r>
              <a:rPr lang="en-US" b="0" i="1" dirty="0">
                <a:solidFill>
                  <a:schemeClr val="bg1"/>
                </a:solidFill>
              </a:rPr>
              <a:t>the photo. </a:t>
            </a:r>
            <a:r>
              <a:rPr lang="en-US" b="0" i="1" dirty="0" smtClean="0">
                <a:solidFill>
                  <a:schemeClr val="bg1"/>
                </a:solidFill>
              </a:rPr>
              <a:t>“</a:t>
            </a:r>
            <a:r>
              <a:rPr lang="en-US" b="0" i="1" dirty="0">
                <a:solidFill>
                  <a:schemeClr val="bg1"/>
                </a:solidFill>
              </a:rPr>
              <a:t>Blue Rhino” is </a:t>
            </a:r>
            <a:r>
              <a:rPr lang="en-US" b="0" i="1" dirty="0" smtClean="0">
                <a:solidFill>
                  <a:schemeClr val="bg1"/>
                </a:solidFill>
              </a:rPr>
              <a:t>a brand </a:t>
            </a:r>
            <a:r>
              <a:rPr lang="en-US" b="0" i="1" dirty="0">
                <a:solidFill>
                  <a:schemeClr val="bg1"/>
                </a:solidFill>
              </a:rPr>
              <a:t>of pre-filled propane (</a:t>
            </a:r>
            <a:r>
              <a:rPr lang="en-US" b="0" i="1" dirty="0" smtClean="0">
                <a:solidFill>
                  <a:schemeClr val="bg1"/>
                </a:solidFill>
              </a:rPr>
              <a:t>LPG) BBQ </a:t>
            </a:r>
            <a:r>
              <a:rPr lang="en-US" b="0" i="1" dirty="0">
                <a:solidFill>
                  <a:schemeClr val="bg1"/>
                </a:solidFill>
              </a:rPr>
              <a:t>tanks</a:t>
            </a:r>
            <a:r>
              <a:rPr lang="en-US" b="0" i="1" dirty="0" smtClean="0">
                <a:solidFill>
                  <a:schemeClr val="bg1"/>
                </a:solidFill>
              </a:rPr>
              <a:t>. </a:t>
            </a:r>
          </a:p>
          <a:p>
            <a:pPr lvl="0" algn="ctr"/>
            <a:endParaRPr lang="en-US" b="0" i="1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0" algn="ctr"/>
            <a:r>
              <a:rPr lang="en-US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Inflammable </a:t>
            </a:r>
            <a:r>
              <a:rPr lang="en-US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vapours (LPG) and ignition sources should not be combined in uncontrolled areas!</a:t>
            </a:r>
          </a:p>
          <a:p>
            <a:pPr algn="ctr"/>
            <a:endParaRPr lang="en-US" b="0" i="1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00000" y="3580582"/>
            <a:ext cx="1900800" cy="1372418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9774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PTD Concept Over the Life Span of a System: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914400"/>
            <a:ext cx="8915400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ANSI/ASSP Z590.3-2011 (R2016) – Prevention Through Design: Guidelines to Address Occupational Hazards and Risks in Design and Redesign  Processes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aspect of this Standard is guidance for life-cycle risk assessment and a design model that balances EHS goals over the life span of a system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Systems such as facilities, equipment and products have a defined life cycle in which risks change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0000" y="3712434"/>
            <a:ext cx="8640000" cy="1980000"/>
          </a:xfrm>
          <a:prstGeom prst="rect">
            <a:avLst/>
          </a:prstGeom>
        </p:spPr>
      </p:pic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6403598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PTD During System Life Cycle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800" y="859093"/>
            <a:ext cx="6069037" cy="5313107"/>
          </a:xfrm>
          <a:prstGeom prst="rect">
            <a:avLst/>
          </a:prstGeom>
        </p:spPr>
      </p:pic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2780341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Haddon’s Model and Hazardous Energy Control: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0000" y="827999"/>
            <a:ext cx="8640000" cy="536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critical aspect in design is the 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of hazardous energy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Haddon’s Model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energy release theory establishes a relationship between incident causation &amp; risk control methods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Haddon’s Model can be applied systematically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 includes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sequential control strategies that </a:t>
            </a:r>
            <a:b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be considered in the design of new products </a:t>
            </a:r>
            <a:b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system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 stored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stored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release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rate of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release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Separate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energy release from humans &amp; assets by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space or time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Separate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energy release from humans 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assets by </a:t>
            </a:r>
            <a:r>
              <a:rPr 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 barriers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Modify contact surfaces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Strengthen susceptible structures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Increase detectability and prevention of harm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Prevent further damage</a:t>
            </a: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1676400"/>
            <a:ext cx="2286001" cy="232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563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Haddon’s Strategies: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0000" y="827999"/>
            <a:ext cx="44682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Strategy is derived from the model: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most effective control is accomplished when it is incorporated into the design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Special attention is given to the potential for hidden energies in products and systems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simple list of energy types and hazards should be considered during a design safety review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1206" y="3144776"/>
            <a:ext cx="4267200" cy="2914185"/>
          </a:xfrm>
          <a:prstGeom prst="rect">
            <a:avLst/>
          </a:prstGeom>
        </p:spPr>
      </p:pic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pic>
        <p:nvPicPr>
          <p:cNvPr id="8" name="Picture 7"/>
          <p:cNvPicPr preferRelativeResize="0">
            <a:picLocks noChangeAspect="1"/>
          </p:cNvPicPr>
          <p:nvPr/>
        </p:nvPicPr>
        <p:blipFill rotWithShape="1">
          <a:blip r:embed="rId4"/>
          <a:srcRect l="7582" r="8532"/>
          <a:stretch/>
        </p:blipFill>
        <p:spPr>
          <a:xfrm>
            <a:off x="5181600" y="548830"/>
            <a:ext cx="2594561" cy="259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712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000" y="828000"/>
            <a:ext cx="2736000" cy="5328000"/>
          </a:xfrm>
          <a:prstGeom prst="rect">
            <a:avLst/>
          </a:prstGeom>
        </p:spPr>
      </p:pic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Design Safety Reviews (DSR) Work Process: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013" y="810732"/>
            <a:ext cx="585991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purpose of a DSR is to avoid anticipated hazards in the design of a new system or redesign of an existing system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DSRs vary in their complexity, depending on the context &amp; system under review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Methods include: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Analysis / SQRA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DSR Checklists &amp; Guide Words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Preliminary Process Hazard Analysis (PHA)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&amp; Operability Study (HAZOP)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Failure Modes &amp; Effects (FMEA) Analysis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DSR is most effective when performed early in in the design process while objectives are being discussed &amp; during the MOC process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life cycle of a system has several trigger points for a DSR</a:t>
            </a:r>
            <a:endParaRPr lang="en-US" sz="2000" b="0" i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5800" y="862822"/>
            <a:ext cx="1368000" cy="2772000"/>
          </a:xfrm>
          <a:prstGeom prst="roundRect">
            <a:avLst/>
          </a:prstGeom>
          <a:noFill/>
          <a:ln w="57150">
            <a:solidFill>
              <a:srgbClr val="00CC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PTD!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5800" y="3672000"/>
            <a:ext cx="1368000" cy="2424000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Too late!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1214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ctr"/>
          <a:lstStyle/>
          <a:p>
            <a:r>
              <a:rPr lang="en-CA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ALE #1</a:t>
            </a:r>
            <a:r>
              <a:rPr lang="en-CA" altLang="en-US" sz="28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What is Prevention Through Design?</a:t>
            </a:r>
            <a:endParaRPr lang="en-CA" altLang="en-US" sz="28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t" anchorCtr="0"/>
          <a:lstStyle>
            <a:defPPr>
              <a:defRPr lang="en-US"/>
            </a:defPPr>
            <a:lvl1pPr>
              <a:defRPr sz="3200" b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</a:lstStyle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Please confer and respond (MM-Poll):</a:t>
            </a:r>
            <a:endParaRPr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Q: What is the significance of the difference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between the green-enveloped steps and the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red-enveloped steps?</a:t>
            </a: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Design activities in the green envelope go 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through many iterations of reviews; whereas 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the design activities within the red-envelope 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are done only once.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The difference in steps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denotes the half-way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point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 the overall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life-cycle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engineered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system.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Design activities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green envelop are 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opportunities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to most effectively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eliminate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avoid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hazards; whereas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design activities in 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the red enveloped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steps can only control the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hazards within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engineered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000" y="828000"/>
            <a:ext cx="2736000" cy="5328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75800" y="862822"/>
            <a:ext cx="1368000" cy="2772000"/>
          </a:xfrm>
          <a:prstGeom prst="roundRect">
            <a:avLst/>
          </a:prstGeom>
          <a:noFill/>
          <a:ln w="57150">
            <a:solidFill>
              <a:srgbClr val="008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5800" y="3672000"/>
            <a:ext cx="1368000" cy="2424000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5048316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Overall Design Safety Review Work </a:t>
            </a: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Process: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77790" y="1364444"/>
            <a:ext cx="5585669" cy="4807756"/>
          </a:xfrm>
          <a:prstGeom prst="rect">
            <a:avLst/>
          </a:prstGeom>
        </p:spPr>
      </p:pic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sp>
        <p:nvSpPr>
          <p:cNvPr id="4" name="Up Arrow 3"/>
          <p:cNvSpPr/>
          <p:nvPr/>
        </p:nvSpPr>
        <p:spPr>
          <a:xfrm rot="3600000">
            <a:off x="3102415" y="1678769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 rot="7200000">
            <a:off x="5236015" y="1826431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 rot="10800000">
            <a:off x="6172200" y="3429000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rot="1200000">
            <a:off x="2112818" y="2942739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 rot="-1260000">
            <a:off x="2225117" y="4618249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rot="-5400000">
            <a:off x="3999706" y="5448300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3"/>
          <p:cNvSpPr/>
          <p:nvPr/>
        </p:nvSpPr>
        <p:spPr>
          <a:xfrm rot="13200000">
            <a:off x="5619926" y="4852878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0000" y="828000"/>
            <a:ext cx="8640000" cy="39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DSR consists of 7 steps!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6790" y="2257601"/>
            <a:ext cx="327333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9868" y="3962400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9078" y="5376698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4165" y="5358809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16266" y="3974024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3332" y="2605026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62" y="1480461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  <a:endParaRPr lang="en-US" sz="20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6161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ctr"/>
          <a:lstStyle/>
          <a:p>
            <a:r>
              <a:rPr lang="en-CA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ALE </a:t>
            </a:r>
            <a:r>
              <a:rPr lang="en-CA" altLang="en-US" sz="28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#2: Prevention Through Design in Practice</a:t>
            </a:r>
            <a:endParaRPr lang="en-CA" altLang="en-US" sz="28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t" anchorCtr="0"/>
          <a:lstStyle>
            <a:defPPr>
              <a:defRPr lang="en-US"/>
            </a:defPPr>
            <a:lvl1pPr>
              <a:defRPr sz="3200" b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</a:lstStyle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Please confer and respond (MM-Poll):</a:t>
            </a:r>
            <a:endParaRPr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Power windows: key operator hazard is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getting caught between the up-moving 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window and the door frame</a:t>
            </a: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Consider these two different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power-window switch assemblies.</a:t>
            </a:r>
            <a:b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Which one underwent PTD?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NO DIFFERENCE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pic>
        <p:nvPicPr>
          <p:cNvPr id="16" name="Picture 2" descr="https://i.ebayimg.com/images/i/181136763060-0-1/s-l100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54" t="10369" r="33476" b="7988"/>
          <a:stretch/>
        </p:blipFill>
        <p:spPr bwMode="auto">
          <a:xfrm>
            <a:off x="4905532" y="3327487"/>
            <a:ext cx="890458" cy="282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t="19591" r="3216" b="24269"/>
          <a:stretch/>
        </p:blipFill>
        <p:spPr>
          <a:xfrm>
            <a:off x="5796000" y="3816000"/>
            <a:ext cx="2810397" cy="1630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31750" t="3623" r="30452" b="4152"/>
          <a:stretch/>
        </p:blipFill>
        <p:spPr>
          <a:xfrm>
            <a:off x="4905532" y="925286"/>
            <a:ext cx="932424" cy="227511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l="6800" t="8400" r="3600" b="14800"/>
          <a:stretch/>
        </p:blipFill>
        <p:spPr>
          <a:xfrm>
            <a:off x="6120000" y="1152000"/>
            <a:ext cx="2268000" cy="1944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TextBox 12"/>
          <p:cNvSpPr txBox="1"/>
          <p:nvPr/>
        </p:nvSpPr>
        <p:spPr>
          <a:xfrm>
            <a:off x="5868000" y="1152000"/>
            <a:ext cx="8376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8000" y="3816000"/>
            <a:ext cx="540000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B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6595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PTD reduces losses by applying prevention through design principles early in design &amp; redesign work, when hazards &amp; risks are most effectively &amp; economically avoided.  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key tenets of PTD:</a:t>
            </a:r>
          </a:p>
          <a:p>
            <a:pPr marL="817200" lvl="1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 analysis is the most important safety process.</a:t>
            </a:r>
          </a:p>
          <a:p>
            <a:pPr marL="817200" lvl="1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assessment is a cornerstone element of your management system.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PTD includes identifying &amp; evaluating hazards, &amp; proposing measures to reduce associated risks to an acceptable level.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Incident Model and the Energy Wheel</a:t>
            </a:r>
            <a:b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Haddon’s 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Hazardous 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risk assessment methods </a:t>
            </a:r>
            <a:r>
              <a:rPr lang="en-CA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hierarchy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risk reduction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safety review work processes</a:t>
            </a: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Summary and Key Lessons: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5.11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 Prevention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Through </a:t>
            </a: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Design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34" y="5123047"/>
            <a:ext cx="1621710" cy="9132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39" y="5356273"/>
            <a:ext cx="2993521" cy="6800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502" y="3079901"/>
            <a:ext cx="1248893" cy="12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789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76201" y="227012"/>
            <a:ext cx="8839200" cy="534987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rPr>
              <a:t>Any questions?</a:t>
            </a:r>
            <a:endParaRPr lang="en-US" altLang="en-US" b="0" dirty="0">
              <a:solidFill>
                <a:schemeClr val="bg1"/>
              </a:solidFill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69844</TotalTime>
  <Words>1107</Words>
  <Application>Microsoft Office PowerPoint</Application>
  <PresentationFormat>On-screen Show (4:3)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Symbol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1955</cp:revision>
  <cp:lastPrinted>2018-12-17T22:21:47Z</cp:lastPrinted>
  <dcterms:created xsi:type="dcterms:W3CDTF">2007-03-28T16:18:47Z</dcterms:created>
  <dcterms:modified xsi:type="dcterms:W3CDTF">2022-06-01T17:19:41Z</dcterms:modified>
</cp:coreProperties>
</file>