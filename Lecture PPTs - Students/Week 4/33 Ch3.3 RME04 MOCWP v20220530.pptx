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5" r:id="rId2"/>
    <p:sldId id="880" r:id="rId3"/>
    <p:sldId id="921" r:id="rId4"/>
    <p:sldId id="922" r:id="rId5"/>
    <p:sldId id="925" r:id="rId6"/>
    <p:sldId id="926" r:id="rId7"/>
    <p:sldId id="918" r:id="rId8"/>
    <p:sldId id="935" r:id="rId9"/>
    <p:sldId id="928" r:id="rId10"/>
    <p:sldId id="927" r:id="rId11"/>
    <p:sldId id="937" r:id="rId12"/>
    <p:sldId id="930" r:id="rId13"/>
    <p:sldId id="936" r:id="rId14"/>
    <p:sldId id="934" r:id="rId15"/>
    <p:sldId id="900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1"/>
            <p14:sldId id="922"/>
            <p14:sldId id="925"/>
            <p14:sldId id="926"/>
            <p14:sldId id="918"/>
            <p14:sldId id="935"/>
            <p14:sldId id="928"/>
            <p14:sldId id="927"/>
            <p14:sldId id="937"/>
            <p14:sldId id="930"/>
            <p14:sldId id="936"/>
            <p14:sldId id="934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A3E8"/>
    <a:srgbClr val="0000FF"/>
    <a:srgbClr val="0000CC"/>
    <a:srgbClr val="000000"/>
    <a:srgbClr val="F8F8F8"/>
    <a:srgbClr val="F5D7F1"/>
    <a:srgbClr val="5F5F5F"/>
    <a:srgbClr val="DDDDDD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16464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080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469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622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7613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150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980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881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46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123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3307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4206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139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5/29/2022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6;p1" descr="SAT10E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152400" y="3733802"/>
            <a:ext cx="1828800" cy="1884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3.3: RME #04 </a:t>
            </a:r>
            <a:b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purpose of a basic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(MOC)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work process, the manner in which it is used, and the benefits for managing change.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need to manage change by gaining an appreciation about the potential changes in risk as a change in the activity, the technology of the operation, or organization (structure and people) is made.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significance of the “Management of Change” element in a Risk Management System.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basic MOC work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is Normal Part of Business: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requires appropriate management system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oversight to ensure that the change does not introduce new risks, or change control measures for existing risks.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at Change in Terms of a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Risk Level: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the change introduce a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new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different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risk, or affect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effectiveness of existing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(administrative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and/or engineering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)?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of Change Applies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Almost any kind of change!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Introductory Points About “Change”.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8356" t="6399" r="18358" b="6399"/>
          <a:stretch/>
        </p:blipFill>
        <p:spPr>
          <a:xfrm>
            <a:off x="4419600" y="1711127"/>
            <a:ext cx="4622400" cy="46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88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is MOC linked to the Risk Management System?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6" name="Google Shape;201;p9"/>
          <p:cNvSpPr/>
          <p:nvPr/>
        </p:nvSpPr>
        <p:spPr>
          <a:xfrm>
            <a:off x="457200" y="822960"/>
            <a:ext cx="8229600" cy="34747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 smtClean="0">
                <a:solidFill>
                  <a:srgbClr val="000000"/>
                </a:solidFill>
                <a:sym typeface="Arial"/>
              </a:rPr>
              <a:t>Management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Leadership, Commitment and Accountability.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Risk Assessment and Management of Risks.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Community Awareness and Emergency Preparedness.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</a:pPr>
            <a:r>
              <a:rPr lang="en-US" sz="2000" b="1" i="0" u="none" strike="noStrike" cap="none" dirty="0">
                <a:solidFill>
                  <a:srgbClr val="000000"/>
                </a:solidFill>
                <a:sym typeface="Arial"/>
              </a:rPr>
              <a:t>Management of Change.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Incident Reporting, Investigation, Analysis and Actions.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Program Evaluation and Continuous Improvement. 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Design, Construction and Start-up.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Maintenance.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Employee Competency and Training.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Contractor Competency and Integration.</a:t>
            </a:r>
            <a:endParaRPr sz="2000" dirty="0"/>
          </a:p>
          <a:p>
            <a:pPr marL="609600" marR="0" lvl="0" indent="-609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AutoNum type="arabicParenR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Arial"/>
              </a:rPr>
              <a:t>Operations and Facilities Information and Documentation.</a:t>
            </a:r>
            <a:endParaRPr sz="20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7" name="Google Shape;203;p9"/>
          <p:cNvSpPr txBox="1"/>
          <p:nvPr/>
        </p:nvSpPr>
        <p:spPr>
          <a:xfrm>
            <a:off x="457198" y="4297680"/>
            <a:ext cx="8229601" cy="185832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You can expect that everywhere you go in your career the </a:t>
            </a:r>
            <a:r>
              <a:rPr lang="en-US" i="1" u="none" strike="noStrike" cap="none" dirty="0" smtClean="0">
                <a:solidFill>
                  <a:srgbClr val="FFFFFF"/>
                </a:solidFill>
                <a:sym typeface="Arial"/>
              </a:rPr>
              <a:t>organization </a:t>
            </a:r>
            <a:r>
              <a:rPr lang="en-US" i="1" u="none" strike="noStrike" cap="none" dirty="0">
                <a:solidFill>
                  <a:srgbClr val="FFFFFF"/>
                </a:solidFill>
                <a:sym typeface="Arial"/>
              </a:rPr>
              <a:t>will have a MOC program. MOC is almost universal</a:t>
            </a:r>
            <a:r>
              <a:rPr lang="en-US" i="1" dirty="0">
                <a:solidFill>
                  <a:srgbClr val="FFFFFF"/>
                </a:solidFill>
              </a:rPr>
              <a:t>. </a:t>
            </a:r>
            <a:endParaRPr lang="en-US" i="1" dirty="0" smtClean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endParaRPr lang="en-US" i="1" dirty="0">
              <a:solidFill>
                <a:srgbClr val="FFFFFF"/>
              </a:solidFill>
            </a:endParaRPr>
          </a:p>
          <a:p>
            <a:pPr lvl="0">
              <a:spcBef>
                <a:spcPts val="0"/>
              </a:spcBef>
              <a:buClr>
                <a:srgbClr val="FFFFFF"/>
              </a:buClr>
              <a:buSzPts val="2000"/>
            </a:pPr>
            <a:r>
              <a:rPr lang="en-US" i="1" dirty="0" smtClean="0">
                <a:solidFill>
                  <a:srgbClr val="FFFFFF"/>
                </a:solidFill>
              </a:rPr>
              <a:t>And </a:t>
            </a:r>
            <a:r>
              <a:rPr lang="en-US" i="1" dirty="0">
                <a:solidFill>
                  <a:srgbClr val="FFFFFF"/>
                </a:solidFill>
              </a:rPr>
              <a:t>if it doesn’t, what are you going to do?</a:t>
            </a:r>
            <a:endParaRPr lang="en-US" i="1" u="none" strike="noStrike" cap="none" dirty="0" smtClean="0">
              <a:solidFill>
                <a:srgbClr val="FFFFFF"/>
              </a:solidFill>
              <a:sym typeface="Arial"/>
            </a:endParaRPr>
          </a:p>
          <a:p>
            <a:pPr marL="285750" lvl="0" indent="-285750">
              <a:spcBef>
                <a:spcPts val="0"/>
              </a:spcBef>
              <a:buClr>
                <a:srgbClr val="FFFFFF"/>
              </a:buClr>
              <a:buSzPts val="2000"/>
              <a:buFont typeface="Noto Sans Symbols"/>
              <a:buChar char="⮚"/>
            </a:pPr>
            <a:r>
              <a:rPr lang="en-US" b="1" i="1" dirty="0" smtClean="0">
                <a:solidFill>
                  <a:srgbClr val="FFFFFF"/>
                </a:solidFill>
              </a:rPr>
              <a:t>Implement </a:t>
            </a:r>
            <a:r>
              <a:rPr lang="en-US" b="1" i="1" dirty="0">
                <a:solidFill>
                  <a:srgbClr val="FFFFFF"/>
                </a:solidFill>
              </a:rPr>
              <a:t>a “Management of Change” Program in areas </a:t>
            </a:r>
            <a:br>
              <a:rPr lang="en-US" b="1" i="1" dirty="0">
                <a:solidFill>
                  <a:srgbClr val="FFFFFF"/>
                </a:solidFill>
              </a:rPr>
            </a:br>
            <a:r>
              <a:rPr lang="en-US" b="1" i="1" dirty="0">
                <a:solidFill>
                  <a:srgbClr val="FFFFFF"/>
                </a:solidFill>
              </a:rPr>
              <a:t>under your responsibility. 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198" y="1754909"/>
            <a:ext cx="3745347" cy="3694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73304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MOC Basic Examples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confer, </a:t>
            </a:r>
            <a:r>
              <a:rPr lang="en-US" sz="20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lang="en-US" sz="20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respond. </a:t>
            </a:r>
            <a:r>
              <a:rPr lang="en-US" sz="20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(pen-to-paper / MM-MC):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should MOC apply? Select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YES or NO.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1) I bought a new piece of equipment to replace an old 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1a) NEW is same as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OLD, same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operating procedures: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1b) NEW is different from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OLD, different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operating procedures: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My design lead engineer retired &amp; I appointed a replacement. 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Our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organization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bought by a larger enterprise and we need to follow their administrative controls (policies, protocols, etc.). </a:t>
            </a:r>
          </a:p>
          <a:p>
            <a:pPr marL="432000" indent="-432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The ore host rock has changed and we need to adjust the extraction processes.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4a) Within expected changes &amp; extraction process design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4b) Outside expected changes &amp; extraction process design limits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7954426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Basic Examples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should not apply as shown:</a:t>
            </a: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I bought a new piece of equipment to replace an old one.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1a) NEW is same as OLD, same operating procedures: 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1b) NEW is different from OLD, different operating procedures: YES</a:t>
            </a:r>
            <a:b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My design lead engineer retired &amp; I appointed a replacement.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Our </a:t>
            </a:r>
            <a:r>
              <a:rPr 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organization </a:t>
            </a: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was bought by a larger enterprise and we need to follow their administrative controls (policies, protocols, etc.).   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The ore host rock has changed and we need to adjust the extraction processes.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4a) Within expected changes &amp; extraction process design limits:  NO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4b) Outside expected changes &amp; extraction process design limits: YES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1654596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Several roles involved in managing the change, each becomes involved as the proposed change progresses through the work process.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RACI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Responsible, Accountable, Consulted,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Owner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(Person driving the change):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Stakeholders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Informed, Consulted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Subject-matter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Responsible, Consulted, Informed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Managers.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affected by or subject to the change.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who will implement the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u="sng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Approver: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Accountable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ensuring that the MOC work process has been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followed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Who is Responsible for Management of Change?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41639615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Type of Risk Assessment &amp; Level of Change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t="15924"/>
          <a:stretch/>
        </p:blipFill>
        <p:spPr bwMode="auto">
          <a:xfrm>
            <a:off x="609600" y="1524000"/>
            <a:ext cx="7543800" cy="464820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7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Matching the type of risk assessment to the level/complexity of the change is a critical part of the management of change process.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35547711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 Owner must drive these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actions in MOC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 organization may have different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procedures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each action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4 critical actions are integrated within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WP!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 Critical Actions for MOC: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7" name="Google Shape;335;p20"/>
          <p:cNvSpPr/>
          <p:nvPr/>
        </p:nvSpPr>
        <p:spPr>
          <a:xfrm>
            <a:off x="644991" y="1752600"/>
            <a:ext cx="7901709" cy="457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85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37;p20"/>
          <p:cNvSpPr txBox="1"/>
          <p:nvPr/>
        </p:nvSpPr>
        <p:spPr>
          <a:xfrm>
            <a:off x="116724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r>
              <a:rPr lang="en-US" sz="1400" dirty="0" smtClean="0">
                <a:solidFill>
                  <a:schemeClr val="tx2"/>
                </a:solidFill>
                <a:sym typeface="Arial"/>
              </a:rPr>
              <a:t>(1)</a:t>
            </a:r>
            <a:br>
              <a:rPr lang="en-US" sz="1400" dirty="0" smtClean="0">
                <a:solidFill>
                  <a:schemeClr val="tx2"/>
                </a:solidFill>
                <a:sym typeface="Arial"/>
              </a:rPr>
            </a:br>
            <a:r>
              <a:rPr lang="en-US" sz="1400" dirty="0" smtClean="0">
                <a:solidFill>
                  <a:schemeClr val="tx2"/>
                </a:solidFill>
                <a:sym typeface="Arial"/>
              </a:rPr>
              <a:t>Communicate </a:t>
            </a:r>
            <a:r>
              <a:rPr lang="en-US" sz="1400" dirty="0">
                <a:solidFill>
                  <a:schemeClr val="tx2"/>
                </a:solidFill>
                <a:sym typeface="Arial"/>
              </a:rPr>
              <a:t>the Proposed Change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5" name="Google Shape;339;p20"/>
          <p:cNvSpPr txBox="1"/>
          <p:nvPr/>
        </p:nvSpPr>
        <p:spPr>
          <a:xfrm>
            <a:off x="2842887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>
                <a:sym typeface="Arial"/>
              </a:rPr>
              <a:t>(2) </a:t>
            </a:r>
            <a:br>
              <a:rPr lang="en-US" dirty="0" smtClean="0">
                <a:sym typeface="Arial"/>
              </a:rPr>
            </a:br>
            <a:r>
              <a:rPr lang="en-US" dirty="0" smtClean="0">
                <a:sym typeface="Arial"/>
              </a:rPr>
              <a:t>Conduct </a:t>
            </a:r>
            <a:r>
              <a:rPr lang="en-US" dirty="0">
                <a:sym typeface="Arial"/>
              </a:rPr>
              <a:t>Appropriate </a:t>
            </a:r>
            <a:r>
              <a:rPr lang="en-US" dirty="0" smtClean="0">
                <a:sym typeface="Arial"/>
              </a:rPr>
              <a:t>Reviews &amp; </a:t>
            </a:r>
            <a:r>
              <a:rPr lang="en-US" dirty="0">
                <a:sym typeface="Arial"/>
              </a:rPr>
              <a:t>Risk Assessments</a:t>
            </a:r>
            <a:endParaRPr dirty="0"/>
          </a:p>
        </p:txBody>
      </p:sp>
      <p:sp>
        <p:nvSpPr>
          <p:cNvPr id="17" name="Google Shape;341;p20"/>
          <p:cNvSpPr txBox="1"/>
          <p:nvPr/>
        </p:nvSpPr>
        <p:spPr>
          <a:xfrm>
            <a:off x="4518526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 smtClean="0">
                <a:sym typeface="Arial"/>
              </a:rPr>
              <a:t>(3) </a:t>
            </a:r>
            <a:br>
              <a:rPr lang="en-US" dirty="0" smtClean="0">
                <a:sym typeface="Arial"/>
              </a:rPr>
            </a:br>
            <a:r>
              <a:rPr lang="en-US" dirty="0" smtClean="0">
                <a:sym typeface="Arial"/>
              </a:rPr>
              <a:t>Seek </a:t>
            </a:r>
            <a:r>
              <a:rPr lang="en-US" dirty="0">
                <a:sym typeface="Arial"/>
              </a:rPr>
              <a:t>Final Approval</a:t>
            </a:r>
            <a:endParaRPr dirty="0"/>
          </a:p>
        </p:txBody>
      </p:sp>
      <p:sp>
        <p:nvSpPr>
          <p:cNvPr id="19" name="Google Shape;343;p20"/>
          <p:cNvSpPr txBox="1"/>
          <p:nvPr/>
        </p:nvSpPr>
        <p:spPr>
          <a:xfrm>
            <a:off x="6194165" y="3202102"/>
            <a:ext cx="1440040" cy="167299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50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36000" tIns="72000" rIns="36000" bIns="72000" anchor="ctr" anchorCtr="1">
            <a:noAutofit/>
          </a:bodyPr>
          <a:lstStyle>
            <a:defPPr>
              <a:defRPr lang="en-US"/>
            </a:defPPr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r>
              <a:rPr lang="en-US" dirty="0" smtClean="0">
                <a:sym typeface="Arial"/>
              </a:rPr>
              <a:t>(4) Communicate </a:t>
            </a:r>
            <a:r>
              <a:rPr lang="en-US" dirty="0">
                <a:sym typeface="Arial"/>
              </a:rPr>
              <a:t>&amp; Implement the Change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07593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causes of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many incidents include the failure to: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Conduct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appropriate reviews and risk assessments;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Seek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gain final approval;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change as agreed upon and approved by all stakeholders.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Management of Change is Critical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!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6" name="Google Shape;444;p25"/>
          <p:cNvSpPr/>
          <p:nvPr/>
        </p:nvSpPr>
        <p:spPr>
          <a:xfrm>
            <a:off x="180000" y="2772000"/>
            <a:ext cx="8640000" cy="136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Can 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weaknesses in the MOC </a:t>
            </a: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Program be </a:t>
            </a:r>
            <a:r>
              <a:rPr lang="en-US" sz="2000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latent causes</a:t>
            </a: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  <p:sp>
        <p:nvSpPr>
          <p:cNvPr id="7" name="Google Shape;446;p25"/>
          <p:cNvSpPr txBox="1"/>
          <p:nvPr/>
        </p:nvSpPr>
        <p:spPr>
          <a:xfrm>
            <a:off x="685800" y="3276000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dirty="0"/>
          </a:p>
        </p:txBody>
      </p:sp>
      <p:sp>
        <p:nvSpPr>
          <p:cNvPr id="10" name="Google Shape;447;p25"/>
          <p:cNvSpPr txBox="1"/>
          <p:nvPr/>
        </p:nvSpPr>
        <p:spPr>
          <a:xfrm>
            <a:off x="3352800" y="3276000"/>
            <a:ext cx="1447800" cy="588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dirty="0"/>
          </a:p>
        </p:txBody>
      </p:sp>
      <p:sp>
        <p:nvSpPr>
          <p:cNvPr id="11" name="Google Shape;448;p25"/>
          <p:cNvSpPr txBox="1"/>
          <p:nvPr/>
        </p:nvSpPr>
        <p:spPr>
          <a:xfrm>
            <a:off x="5583382" y="3276000"/>
            <a:ext cx="3179618" cy="58477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SURE</a:t>
            </a:r>
            <a:endParaRPr dirty="0"/>
          </a:p>
        </p:txBody>
      </p:sp>
      <p:sp>
        <p:nvSpPr>
          <p:cNvPr id="14" name="Google Shape;444;p25"/>
          <p:cNvSpPr/>
          <p:nvPr/>
        </p:nvSpPr>
        <p:spPr>
          <a:xfrm>
            <a:off x="173400" y="4296192"/>
            <a:ext cx="8640000" cy="136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marR="0" lvl="0" indent="-60960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 i="1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Is RME #4 MOC “stand-alone” or is it integrated?</a:t>
            </a:r>
            <a:endParaRPr lang="en-US" sz="2000" i="1" dirty="0" smtClean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46;p25"/>
          <p:cNvSpPr txBox="1"/>
          <p:nvPr/>
        </p:nvSpPr>
        <p:spPr>
          <a:xfrm>
            <a:off x="304800" y="4896000"/>
            <a:ext cx="2326871" cy="58473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Stand-alone</a:t>
            </a:r>
            <a:endParaRPr dirty="0"/>
          </a:p>
        </p:txBody>
      </p:sp>
      <p:sp>
        <p:nvSpPr>
          <p:cNvPr id="16" name="Google Shape;447;p25"/>
          <p:cNvSpPr txBox="1"/>
          <p:nvPr/>
        </p:nvSpPr>
        <p:spPr>
          <a:xfrm>
            <a:off x="2895600" y="4896000"/>
            <a:ext cx="2326871" cy="58473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</a:t>
            </a:r>
            <a:endParaRPr dirty="0"/>
          </a:p>
        </p:txBody>
      </p:sp>
      <p:sp>
        <p:nvSpPr>
          <p:cNvPr id="17" name="Google Shape;448;p25"/>
          <p:cNvSpPr txBox="1"/>
          <p:nvPr/>
        </p:nvSpPr>
        <p:spPr>
          <a:xfrm>
            <a:off x="5507182" y="4896000"/>
            <a:ext cx="3179618" cy="58477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rgbClr val="80808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Symbols"/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3200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7628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is NOT Stand-alone – a proposal triggers this </a:t>
            </a:r>
            <a:r>
              <a:rPr kumimoji="0" lang="en-US" alt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</a:t>
            </a: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system element within the RM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Program assesses risks relevant to its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scope, and determines the necessary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detailed changes.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decision is made,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management / </a:t>
            </a:r>
            <a:b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leadership decision, on 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risk-informed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basis as to proceed or not.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risks can be managed to an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level, then costs are 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estimated for all design changes; a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decision is made on an economic basis</a:t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to proceed or not.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MOC and How it is Integrated Into the RM System: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sp>
        <p:nvSpPr>
          <p:cNvPr id="3" name="Pentagon 2"/>
          <p:cNvSpPr/>
          <p:nvPr/>
        </p:nvSpPr>
        <p:spPr>
          <a:xfrm>
            <a:off x="180000" y="1210456"/>
            <a:ext cx="1548000" cy="1316952"/>
          </a:xfrm>
          <a:prstGeom prst="homePlate">
            <a:avLst>
              <a:gd name="adj" fmla="val 24976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Proposed: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Proposal to change an existing process is made.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1752600" y="1210456"/>
            <a:ext cx="1548000" cy="1316952"/>
          </a:xfrm>
          <a:prstGeom prst="homePlate">
            <a:avLst>
              <a:gd name="adj" fmla="val 36021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4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MOC: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MOC WP identifies the necessary risk assessments.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Pentagon 10"/>
          <p:cNvSpPr/>
          <p:nvPr/>
        </p:nvSpPr>
        <p:spPr>
          <a:xfrm>
            <a:off x="3328800" y="1210456"/>
            <a:ext cx="1548000" cy="1316952"/>
          </a:xfrm>
          <a:prstGeom prst="homePlate">
            <a:avLst>
              <a:gd name="adj" fmla="val 30813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#2 RA&amp;MR: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These risk assessments  identify the necessary safeguards.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Pentagon 13"/>
          <p:cNvSpPr/>
          <p:nvPr/>
        </p:nvSpPr>
        <p:spPr>
          <a:xfrm>
            <a:off x="5292000" y="1210456"/>
            <a:ext cx="1800000" cy="1142400"/>
          </a:xfrm>
          <a:prstGeom prst="homePlate">
            <a:avLst>
              <a:gd name="adj" fmla="val 17919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#7 DC&amp;SU: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Design Review Process specifies design changes and costs estimates.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19800" y="2657656"/>
            <a:ext cx="1548000" cy="1681924"/>
          </a:xfrm>
          <a:prstGeom prst="rect">
            <a:avLst/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#1 MLCA: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Accept all of these changes (and costs for changes) and proceed, or reject.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Pentagon 15"/>
          <p:cNvSpPr/>
          <p:nvPr/>
        </p:nvSpPr>
        <p:spPr>
          <a:xfrm>
            <a:off x="5292000" y="2527408"/>
            <a:ext cx="1800000" cy="938048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#8 O&amp;M: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procedures are identified.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Pentagon 16"/>
          <p:cNvSpPr/>
          <p:nvPr/>
        </p:nvSpPr>
        <p:spPr>
          <a:xfrm>
            <a:off x="5292000" y="4908310"/>
            <a:ext cx="1800000" cy="118769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#3 CA&amp;EP: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Changes to emergency preparedness are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identifed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" name="Elbow Connector 4"/>
          <p:cNvCxnSpPr>
            <a:stCxn id="11" idx="3"/>
            <a:endCxn id="17" idx="1"/>
          </p:cNvCxnSpPr>
          <p:nvPr/>
        </p:nvCxnSpPr>
        <p:spPr>
          <a:xfrm>
            <a:off x="4876800" y="1868932"/>
            <a:ext cx="415200" cy="36332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1" idx="3"/>
            <a:endCxn id="16" idx="1"/>
          </p:cNvCxnSpPr>
          <p:nvPr/>
        </p:nvCxnSpPr>
        <p:spPr>
          <a:xfrm>
            <a:off x="4876800" y="1868932"/>
            <a:ext cx="415200" cy="11275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3"/>
            <a:endCxn id="14" idx="1"/>
          </p:cNvCxnSpPr>
          <p:nvPr/>
        </p:nvCxnSpPr>
        <p:spPr>
          <a:xfrm flipV="1">
            <a:off x="4876800" y="1781656"/>
            <a:ext cx="415200" cy="8727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4" idx="3"/>
            <a:endCxn id="15" idx="1"/>
          </p:cNvCxnSpPr>
          <p:nvPr/>
        </p:nvCxnSpPr>
        <p:spPr>
          <a:xfrm>
            <a:off x="7092000" y="1781656"/>
            <a:ext cx="427800" cy="171696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6" idx="3"/>
            <a:endCxn id="15" idx="1"/>
          </p:cNvCxnSpPr>
          <p:nvPr/>
        </p:nvCxnSpPr>
        <p:spPr>
          <a:xfrm>
            <a:off x="7092000" y="2996432"/>
            <a:ext cx="427800" cy="5021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7" idx="3"/>
            <a:endCxn id="15" idx="1"/>
          </p:cNvCxnSpPr>
          <p:nvPr/>
        </p:nvCxnSpPr>
        <p:spPr>
          <a:xfrm flipV="1">
            <a:off x="7092000" y="3498618"/>
            <a:ext cx="427800" cy="200353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entagon 19"/>
          <p:cNvSpPr/>
          <p:nvPr/>
        </p:nvSpPr>
        <p:spPr>
          <a:xfrm>
            <a:off x="5292000" y="3577283"/>
            <a:ext cx="1800000" cy="1219200"/>
          </a:xfrm>
          <a:prstGeom prst="homePlate">
            <a:avLst>
              <a:gd name="adj" fmla="val 19874"/>
            </a:avLst>
          </a:prstGeom>
          <a:solidFill>
            <a:srgbClr val="FBA3E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#9 EC&amp;T: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 on revised procedures and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procesas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are identified.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7" name="Elbow Connector 36"/>
          <p:cNvCxnSpPr>
            <a:stCxn id="11" idx="3"/>
            <a:endCxn id="20" idx="1"/>
          </p:cNvCxnSpPr>
          <p:nvPr/>
        </p:nvCxnSpPr>
        <p:spPr>
          <a:xfrm>
            <a:off x="4876800" y="1868932"/>
            <a:ext cx="415200" cy="231795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20" idx="3"/>
            <a:endCxn id="15" idx="1"/>
          </p:cNvCxnSpPr>
          <p:nvPr/>
        </p:nvCxnSpPr>
        <p:spPr>
          <a:xfrm flipV="1">
            <a:off x="7092000" y="3498618"/>
            <a:ext cx="427800" cy="68826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7440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473" y="1828800"/>
            <a:ext cx="8640000" cy="3105615"/>
          </a:xfrm>
          <a:prstGeom prst="rect">
            <a:avLst/>
          </a:prstGeom>
          <a:noFill/>
          <a:ln>
            <a:noFill/>
          </a:ln>
        </p:spPr>
      </p:pic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Proposal to </a:t>
            </a:r>
            <a:r>
              <a:rPr lang="en-US" alt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a Storage Tank from </a:t>
            </a:r>
            <a:r>
              <a:rPr lang="en-US" alt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lang="en-US" altLang="en-US" sz="20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20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Gasoline</a:t>
            </a:r>
            <a:endParaRPr lang="en-US" altLang="en-US" sz="20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22962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Please confer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(Open discussion):</a:t>
            </a:r>
            <a:endParaRPr lang="en-US" sz="1600" b="0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Proposal: Convert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Storage Tank from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Gasoline</a:t>
            </a:r>
          </a:p>
          <a:p>
            <a:pPr marL="360000" marR="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 of a team of design engineers at an energy company.</a:t>
            </a:r>
          </a:p>
          <a:p>
            <a:pPr marL="360000" marR="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fuel distribution depot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consists of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multiple tanks of gasoline and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fuel. 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Because of the recent p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andemic and drop in economic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 (pandemic restrictions),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demand for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fuel has dropped significantly. </a:t>
            </a:r>
            <a:endParaRPr lang="en-US" sz="1600" b="0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 energy company wants your team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convert 2 of the 3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storage tanks to gasoline storage.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Chemistry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note: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combustible (flash point = 36degC / 100degF). Gasoline is flammable (FP = −43degC / −45degF).</a:t>
            </a:r>
            <a:endParaRPr lang="en-US" sz="1600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463;p26"/>
          <p:cNvSpPr/>
          <p:nvPr/>
        </p:nvSpPr>
        <p:spPr>
          <a:xfrm>
            <a:off x="180000" y="4191000"/>
            <a:ext cx="8640000" cy="2109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Using </a:t>
            </a:r>
            <a:r>
              <a:rPr lang="en-US" sz="1600" b="0" i="1" u="sng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your field of engineering expertise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, what design parameters would need to be considered, and possibly changed, to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make this conversion? </a:t>
            </a:r>
            <a:endParaRPr lang="en-US" sz="1600" b="0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Does the application of the MOC WP apply? (MM-Poll)</a:t>
            </a: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List 1 or 2 design parameters pertaining to your field of expertise?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(Open discussion)</a:t>
            </a:r>
            <a:endParaRPr lang="en-US" sz="1600" b="0" i="1" dirty="0" smtClean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is the complexity of the </a:t>
            </a:r>
            <a:r>
              <a:rPr lang="en-US" sz="1600" b="0" i="1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overall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change – jet fuel tanks to gasoline tanks? (MM-Poll)</a:t>
            </a:r>
            <a:endParaRPr sz="1600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Which risk management system elements come into play?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(MM-Poll)</a:t>
            </a:r>
            <a:endParaRPr sz="1600" b="0" i="1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There will be many questions about the changes in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technology. Whom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would you consult? 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(Response </a:t>
            </a:r>
            <a:r>
              <a:rPr lang="en-US" sz="1600" b="0" i="1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on MM is NOT intended</a:t>
            </a:r>
            <a:r>
              <a:rPr lang="en-US" sz="1600" b="0" i="1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.)</a:t>
            </a: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</p:spTree>
    <p:extLst>
      <p:ext uri="{BB962C8B-B14F-4D97-AF65-F5344CB8AC3E}">
        <p14:creationId xmlns:p14="http://schemas.microsoft.com/office/powerpoint/2010/main" val="1358439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Proposal to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a Storage Tank from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Jet Fuel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Gasoline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Proposed change: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Convert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 of the 3 jet fuel storage tanks to gasoline storage. </a:t>
            </a: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Yes, the MOC work process does apply. A change is being proposed, to this triggers the action to initiate the MOC work process. </a:t>
            </a:r>
          </a:p>
          <a:p>
            <a:pPr marL="360000" lvl="0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Design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parameters pertaining to your field of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expertise: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complexity of the overall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change: </a:t>
            </a:r>
            <a:r>
              <a:rPr lang="en-US" sz="1600" b="0" u="sng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r>
              <a:rPr kumimoji="0" lang="en-US" sz="1600" b="0" i="0" u="sng" strike="noStrike" kern="1200" cap="none" spc="0" normalizeH="0" baseline="0" noProof="0" dirty="0" err="1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ajor</a:t>
            </a:r>
            <a:r>
              <a:rPr kumimoji="0" lang="en-US" sz="1600" b="0" i="0" u="sng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Process (s</a:t>
            </a:r>
            <a:r>
              <a:rPr kumimoji="0" lang="en-US" sz="1600" b="0" i="0" u="sng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ignificant) Change</a:t>
            </a:r>
            <a:endParaRPr kumimoji="0" lang="en-US" sz="1600" b="0" i="0" u="sng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system elements come into play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#1 MLCA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#2 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Assessment and Management of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Risk;</a:t>
            </a:r>
            <a:b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lang="en-US" sz="16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 Emergency Preparedness; </a:t>
            </a: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sz="16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 MOC;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7 Design, Construction &amp;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Startup; 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#8 Operations &amp;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Maintenance;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#9 Employee Competency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Training;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consult with the following SMEs (Subject-Matter Experts):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Chemical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Eng. 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MechE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/ Fire Protection Specialist / Operations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Maintenance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Personnel / Trainers / Emergency Response Team,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etc.!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8600" y="1752600"/>
          <a:ext cx="8557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600">
                  <a:extLst>
                    <a:ext uri="{9D8B030D-6E8A-4147-A177-3AD203B41FA5}">
                      <a16:colId xmlns:a16="http://schemas.microsoft.com/office/drawing/2014/main" val="2085095760"/>
                    </a:ext>
                  </a:extLst>
                </a:gridCol>
                <a:gridCol w="4278600">
                  <a:extLst>
                    <a:ext uri="{9D8B030D-6E8A-4147-A177-3AD203B41FA5}">
                      <a16:colId xmlns:a16="http://schemas.microsoft.com/office/drawing/2014/main" val="2989462314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Hazardous material (Jet Fuel for Gas)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Piping to prevent cross-contamination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and piping labelling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Procedures and re-training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rocess controls (reprogram)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Tank wall strength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Compatibility</a:t>
                      </a:r>
                      <a:r>
                        <a:rPr lang="en-US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materials of construction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Foundation strength</a:t>
                      </a:r>
                      <a:r>
                        <a:rPr lang="en-US" sz="1200" b="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/ underground facilities</a:t>
                      </a:r>
                      <a:endParaRPr lang="en-US" sz="1200" b="0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Secondary containment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Leak detection systems, alarms, fire protection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Instrumentation (recalibrations)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Electrical classification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Pressure / vacuum relief systems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200" b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Emissions (air pollution) control systems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94513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55" y="3277435"/>
            <a:ext cx="956998" cy="71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343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Changes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common occurrences in organizations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 word “change” is mentioned in a proposal, it is highly likely that RME #4 MOC and the MOC WP will apply!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WP is applicable at every level of the organization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&amp;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every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depth and scope of review in the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MOC depends on the complexity of the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scope of the proposed change.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critical actions are essential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 application of MOC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WP.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MOC WP triggers reviews in many other elements. 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Change sets the stage for errors …</a:t>
            </a:r>
            <a:b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                               … and errors lead to loss incidents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3.3: RME #04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Management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of Change (MOC)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061808"/>
            <a:ext cx="2075742" cy="1212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052211"/>
            <a:ext cx="1786228" cy="1103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315" y="4306961"/>
            <a:ext cx="2014285" cy="15107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25278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Any questions?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69421</TotalTime>
  <Words>1547</Words>
  <Application>Microsoft Office PowerPoint</Application>
  <PresentationFormat>On-screen Show (4:3)</PresentationFormat>
  <Paragraphs>254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1953</cp:revision>
  <cp:lastPrinted>2018-12-17T22:21:47Z</cp:lastPrinted>
  <dcterms:created xsi:type="dcterms:W3CDTF">2007-03-28T16:18:47Z</dcterms:created>
  <dcterms:modified xsi:type="dcterms:W3CDTF">2022-05-30T01:13:51Z</dcterms:modified>
</cp:coreProperties>
</file>