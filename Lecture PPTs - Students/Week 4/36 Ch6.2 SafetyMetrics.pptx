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895" r:id="rId2"/>
    <p:sldId id="880" r:id="rId3"/>
    <p:sldId id="917" r:id="rId4"/>
    <p:sldId id="921" r:id="rId5"/>
    <p:sldId id="911" r:id="rId6"/>
    <p:sldId id="929" r:id="rId7"/>
    <p:sldId id="942" r:id="rId8"/>
    <p:sldId id="931" r:id="rId9"/>
    <p:sldId id="920" r:id="rId10"/>
    <p:sldId id="933" r:id="rId11"/>
    <p:sldId id="934" r:id="rId12"/>
    <p:sldId id="937" r:id="rId13"/>
    <p:sldId id="938" r:id="rId14"/>
    <p:sldId id="941" r:id="rId15"/>
    <p:sldId id="900" r:id="rId16"/>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95"/>
            <p14:sldId id="880"/>
            <p14:sldId id="917"/>
            <p14:sldId id="921"/>
            <p14:sldId id="911"/>
            <p14:sldId id="929"/>
            <p14:sldId id="942"/>
            <p14:sldId id="931"/>
            <p14:sldId id="920"/>
            <p14:sldId id="933"/>
            <p14:sldId id="934"/>
            <p14:sldId id="937"/>
            <p14:sldId id="938"/>
            <p14:sldId id="941"/>
            <p14:sldId id="90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FF00"/>
    <a:srgbClr val="0000FF"/>
    <a:srgbClr val="000000"/>
    <a:srgbClr val="0000CC"/>
    <a:srgbClr val="F8F8F8"/>
    <a:srgbClr val="F5D7F1"/>
    <a:srgbClr val="5F5F5F"/>
    <a:srgbClr val="DDDDDD"/>
    <a:srgbClr val="FBA3E8"/>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5" autoAdjust="0"/>
    <p:restoredTop sz="81620" autoAdjust="0"/>
  </p:normalViewPr>
  <p:slideViewPr>
    <p:cSldViewPr>
      <p:cViewPr varScale="1">
        <p:scale>
          <a:sx n="57" d="100"/>
          <a:sy n="57" d="100"/>
        </p:scale>
        <p:origin x="1580" y="40"/>
      </p:cViewPr>
      <p:guideLst>
        <p:guide orient="horz" pos="576"/>
        <p:guide pos="3792"/>
      </p:guideLst>
    </p:cSldViewPr>
  </p:slideViewPr>
  <p:outlineViewPr>
    <p:cViewPr>
      <p:scale>
        <a:sx n="33" d="100"/>
        <a:sy n="33" d="100"/>
      </p:scale>
      <p:origin x="0" y="-143296"/>
    </p:cViewPr>
  </p:outlineViewPr>
  <p:notesTextViewPr>
    <p:cViewPr>
      <p:scale>
        <a:sx n="100" d="100"/>
        <a:sy n="100" d="100"/>
      </p:scale>
      <p:origin x="0" y="0"/>
    </p:cViewPr>
  </p:notesTextViewPr>
  <p:sorterViewPr>
    <p:cViewPr>
      <p:scale>
        <a:sx n="140" d="100"/>
        <a:sy n="140" d="100"/>
      </p:scale>
      <p:origin x="0" y="-264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dirty="0"/>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5/30/2022</a:t>
            </a:fld>
            <a:endParaRPr lang="en-US" dirty="0"/>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dirty="0"/>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dirty="0"/>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dirty="0"/>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5/30/2022</a:t>
            </a:fld>
            <a:endParaRPr lang="en-US" dirty="0"/>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dirty="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dirty="0"/>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dirty="0"/>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dirty="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3</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3</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704720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4</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4</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235111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a:t>
            </a:fld>
            <a:endParaRPr lang="en-US" altLang="en-US" dirty="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4266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p:nvPr>
        </p:nvSpPr>
        <p:spPr/>
        <p:txBody>
          <a:bodyPr/>
          <a:lstStyle/>
          <a:p>
            <a:pPr>
              <a:defRPr/>
            </a:pPr>
            <a:r>
              <a:rPr lang="en-US" altLang="en-US"/>
              <a:t>ENGG406 2015W</a:t>
            </a:r>
          </a:p>
        </p:txBody>
      </p:sp>
      <p:sp>
        <p:nvSpPr>
          <p:cNvPr id="5" name="Footer Placeholder 4"/>
          <p:cNvSpPr>
            <a:spLocks noGrp="1"/>
          </p:cNvSpPr>
          <p:nvPr>
            <p:ph type="ftr" sz="quarter" idx="4"/>
          </p:nvPr>
        </p:nvSpPr>
        <p:spPr/>
        <p:txBody>
          <a:bodyPr/>
          <a:lstStyle/>
          <a:p>
            <a:pPr>
              <a:defRPr/>
            </a:pPr>
            <a:r>
              <a:rPr lang="en-US" altLang="en-US"/>
              <a:t>4-March-2015</a:t>
            </a:r>
          </a:p>
        </p:txBody>
      </p:sp>
      <p:sp>
        <p:nvSpPr>
          <p:cNvPr id="6" name="Slide Number Placeholder 5"/>
          <p:cNvSpPr>
            <a:spLocks noGrp="1"/>
          </p:cNvSpPr>
          <p:nvPr>
            <p:ph type="sldNum" sz="quarter" idx="5"/>
          </p:nvPr>
        </p:nvSpPr>
        <p:spPr/>
        <p:txBody>
          <a:bodyPr/>
          <a:lstStyle/>
          <a:p>
            <a:pPr>
              <a:defRPr/>
            </a:pPr>
            <a:fld id="{2AE204D1-644D-4FB7-A62F-9D455603B77B}" type="slidenum">
              <a:rPr lang="en-US" altLang="en-US" smtClean="0"/>
              <a:pPr>
                <a:defRPr/>
              </a:pPr>
              <a:t>6</a:t>
            </a:fld>
            <a:endParaRPr lang="en-US" altLang="en-US"/>
          </a:p>
        </p:txBody>
      </p:sp>
    </p:spTree>
    <p:extLst>
      <p:ext uri="{BB962C8B-B14F-4D97-AF65-F5344CB8AC3E}">
        <p14:creationId xmlns:p14="http://schemas.microsoft.com/office/powerpoint/2010/main" val="9244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a:p>
            <a:endParaRPr lang="en-CA" dirty="0"/>
          </a:p>
        </p:txBody>
      </p:sp>
      <p:sp>
        <p:nvSpPr>
          <p:cNvPr id="4" name="Header Placeholder 3"/>
          <p:cNvSpPr>
            <a:spLocks noGrp="1"/>
          </p:cNvSpPr>
          <p:nvPr>
            <p:ph type="hdr" sz="quarter"/>
          </p:nvPr>
        </p:nvSpPr>
        <p:spPr/>
        <p:txBody>
          <a:bodyPr/>
          <a:lstStyle/>
          <a:p>
            <a:pPr>
              <a:defRPr/>
            </a:pPr>
            <a:r>
              <a:rPr lang="en-US" altLang="en-US"/>
              <a:t>ENGG406 2015W</a:t>
            </a:r>
          </a:p>
        </p:txBody>
      </p:sp>
      <p:sp>
        <p:nvSpPr>
          <p:cNvPr id="5" name="Footer Placeholder 4"/>
          <p:cNvSpPr>
            <a:spLocks noGrp="1"/>
          </p:cNvSpPr>
          <p:nvPr>
            <p:ph type="ftr" sz="quarter" idx="4"/>
          </p:nvPr>
        </p:nvSpPr>
        <p:spPr/>
        <p:txBody>
          <a:bodyPr/>
          <a:lstStyle/>
          <a:p>
            <a:pPr>
              <a:defRPr/>
            </a:pPr>
            <a:r>
              <a:rPr lang="en-US" altLang="en-US"/>
              <a:t>4-March-2015</a:t>
            </a:r>
          </a:p>
        </p:txBody>
      </p:sp>
      <p:sp>
        <p:nvSpPr>
          <p:cNvPr id="6" name="Slide Number Placeholder 5"/>
          <p:cNvSpPr>
            <a:spLocks noGrp="1"/>
          </p:cNvSpPr>
          <p:nvPr>
            <p:ph type="sldNum" sz="quarter" idx="5"/>
          </p:nvPr>
        </p:nvSpPr>
        <p:spPr/>
        <p:txBody>
          <a:bodyPr/>
          <a:lstStyle/>
          <a:p>
            <a:pPr>
              <a:defRPr/>
            </a:pPr>
            <a:fld id="{2AE204D1-644D-4FB7-A62F-9D455603B77B}" type="slidenum">
              <a:rPr lang="en-US" altLang="en-US" smtClean="0"/>
              <a:pPr>
                <a:defRPr/>
              </a:pPr>
              <a:t>7</a:t>
            </a:fld>
            <a:endParaRPr lang="en-US" altLang="en-US"/>
          </a:p>
        </p:txBody>
      </p:sp>
    </p:spTree>
    <p:extLst>
      <p:ext uri="{BB962C8B-B14F-4D97-AF65-F5344CB8AC3E}">
        <p14:creationId xmlns:p14="http://schemas.microsoft.com/office/powerpoint/2010/main" val="3540584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8</a:t>
            </a:fld>
            <a:endParaRPr lang="en-US" altLang="en-US" dirty="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0151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more proactive approach is the use of leading indicators, which are measures or activities taken to prevent incidents from occurring. If used correctly, leading indicators focus resources on incident prevention, as well as allow management to actively demonstrate leadership and empower workers to engage in discussions about how to prevent future incidents. Leading indicators must be measurable, positive, simple, and result in incident prevention. In other words, personnel resources and time focused on tracking leading indicators should result in a positive focus on safety and incident prevention (i.e. what you want to achieve, not the negative results). The choice of leading indicators are specific to the organization and its activities, but some common ones consist of the following:</a:t>
            </a:r>
            <a:endParaRPr lang="en-US" dirty="0"/>
          </a:p>
        </p:txBody>
      </p:sp>
      <p:sp>
        <p:nvSpPr>
          <p:cNvPr id="4" name="Slide Number Placeholder 3"/>
          <p:cNvSpPr>
            <a:spLocks noGrp="1"/>
          </p:cNvSpPr>
          <p:nvPr>
            <p:ph type="sldNum" sz="quarter" idx="10"/>
          </p:nvPr>
        </p:nvSpPr>
        <p:spPr/>
        <p:txBody>
          <a:bodyPr/>
          <a:lstStyle/>
          <a:p>
            <a:pPr>
              <a:defRPr/>
            </a:pPr>
            <a:fld id="{4A7289C4-4137-4B30-96C9-7C06C8229121}" type="slidenum">
              <a:rPr lang="en-US" smtClean="0"/>
              <a:pPr>
                <a:defRPr/>
              </a:pPr>
              <a:t>9</a:t>
            </a:fld>
            <a:endParaRPr lang="en-US" dirty="0"/>
          </a:p>
        </p:txBody>
      </p:sp>
    </p:spTree>
    <p:extLst>
      <p:ext uri="{BB962C8B-B14F-4D97-AF65-F5344CB8AC3E}">
        <p14:creationId xmlns:p14="http://schemas.microsoft.com/office/powerpoint/2010/main" val="789436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10</a:t>
            </a:fld>
            <a:endParaRPr lang="en-US" altLang="en-US" dirty="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Leading indicators measure the effective implementation of controls that manage risks.  With effective controls in place, as measured by the leading indicators, risks are managed and a loss incident is avoided.  In contrast, when controls are not effective, as measured by the leading indicators, risks are not managed as best they can be, and a loss incident can occur.  By measuring leading indicators, the “early signals” of deficiencies or inadequacies in the risk management program can be detected, and action can be taken to correct before a loss incident occurs. </a:t>
            </a:r>
          </a:p>
        </p:txBody>
      </p:sp>
    </p:spTree>
    <p:extLst>
      <p:ext uri="{BB962C8B-B14F-4D97-AF65-F5344CB8AC3E}">
        <p14:creationId xmlns:p14="http://schemas.microsoft.com/office/powerpoint/2010/main" val="215412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11</a:t>
            </a:fld>
            <a:endParaRPr lang="en-US" altLang="en-US" dirty="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1818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12</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12</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569286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13</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13</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406501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14</a:t>
            </a:fld>
            <a:endParaRPr lang="en-US" altLang="en-US" dirty="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58059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15</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15</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5/30/2022</a:t>
            </a:fld>
            <a:endParaRPr lang="en-US" dirty="0"/>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dirty="0"/>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dirty="0"/>
          </a:p>
        </p:txBody>
      </p:sp>
    </p:spTree>
    <p:extLst>
      <p:ext uri="{BB962C8B-B14F-4D97-AF65-F5344CB8AC3E}">
        <p14:creationId xmlns:p14="http://schemas.microsoft.com/office/powerpoint/2010/main" val="23687371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838200" y="2105520"/>
            <a:ext cx="7315201"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6.2: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Safety Metrics,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Lagging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and Leading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Indicators</a:t>
            </a:r>
            <a:endPar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leading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indicators and lagging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indicators, and 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difference between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them.</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how applying leading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indicators can:</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Measure the overall effective implementation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(execution) of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risk management program.</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Identify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deficiencies (degradation, deterioration) of critical safety conditions and critical safety rules for both occupational safety and technical safety</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180000"/>
            <a:ext cx="8640000" cy="540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dirty="0">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6.2: Safety Metrics, Lagging and Leading Indicators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Identify Leading and Lagging Indicators</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a:spcBef>
                <a:spcPts val="0"/>
              </a:spcBef>
              <a:spcAft>
                <a:spcPts val="0"/>
              </a:spcAft>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(MM-Poll</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p>
          <a:p>
            <a:pPr>
              <a:spcBef>
                <a:spcPts val="0"/>
              </a:spcBef>
              <a:spcAft>
                <a:spcPts val="0"/>
              </a:spcAft>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Are these indicators “lagging” or “leading”? </a:t>
            </a:r>
          </a:p>
          <a:p>
            <a:pPr marL="432000" indent="-432000">
              <a:spcBef>
                <a:spcPts val="0"/>
              </a:spcBef>
              <a:spcAft>
                <a:spcPts val="0"/>
              </a:spcAft>
              <a:buFont typeface="Wingdings" panose="05000000000000000000" pitchFamily="2" charset="2"/>
              <a:buChar char="Ø"/>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occupational injuries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reportable to the gov’t per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month</a:t>
            </a: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SC’s and SP’s reported per month</a:t>
            </a: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data breaches per year</a:t>
            </a: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attempts to defeat the security firewall per day</a:t>
            </a: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over-pressure vessel failures in the plant life</a:t>
            </a: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over-pressure relief valves overdue for service</a:t>
            </a: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fasteners found under-torqued on a bridge construction inspection</a:t>
            </a: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steel members with loose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fasteners </a:t>
            </a:r>
            <a:endPar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steel members damaged under load</a:t>
            </a: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over-current breaker trips per month</a:t>
            </a: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motor burn-outs per year</a:t>
            </a:r>
          </a:p>
          <a:p>
            <a:pPr marL="432000" indent="-432000">
              <a:spcBef>
                <a:spcPts val="0"/>
              </a:spcBef>
              <a:spcAft>
                <a:spcPts val="0"/>
              </a:spcAft>
              <a:buFont typeface="Wingdings" panose="05000000000000000000" pitchFamily="2" charset="2"/>
              <a:buChar char="Ø"/>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unsuccessful attempts to breach the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fire-wall</a:t>
            </a: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a:t>
            </a: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of significant near-miss events where the consequences could have been catastrophic </a:t>
            </a:r>
            <a:endPar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dirty="0">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6.2: Safety Metrics, Lagging and Leading Indicators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248442234"/>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Examples: Leading and Lagging Indicators</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marL="0" marR="0">
              <a:lnSpc>
                <a:spcPct val="80000"/>
              </a:lnSpc>
              <a:spcBef>
                <a:spcPts val="0"/>
              </a:spcBef>
              <a:spcAft>
                <a:spcPts val="0"/>
              </a:spcAft>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Leading indicators are used to determine the effectiveness of certain elements in a risk management program, and where there is no consequence.</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0" marR="0">
              <a:lnSpc>
                <a:spcPct val="80000"/>
              </a:lnSpc>
              <a:spcBef>
                <a:spcPts val="0"/>
              </a:spcBef>
              <a:spcAft>
                <a:spcPts val="0"/>
              </a:spcAft>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Lagging indicators are the results, the outcomes of potential weaknesses in certain elements in a risk management program, and usually where there is a consequence i.e. a loss.</a:t>
            </a:r>
          </a:p>
          <a:p>
            <a:pPr marL="432000" indent="-432000">
              <a:lnSpc>
                <a:spcPct val="80000"/>
              </a:lnSpc>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of occupational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injuries reportable to the gov’t per month </a:t>
            </a:r>
            <a:r>
              <a:rPr 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LAG</a:t>
            </a:r>
            <a:endParaRPr 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lnSpc>
                <a:spcPct val="80000"/>
              </a:lnSpc>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SC’s and SP’s reported per month </a:t>
            </a:r>
            <a:r>
              <a:rPr 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LEAD</a:t>
            </a:r>
            <a:endParaRPr 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lnSpc>
                <a:spcPct val="80000"/>
              </a:lnSpc>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data breaches per year </a:t>
            </a:r>
            <a:r>
              <a:rPr 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LAG</a:t>
            </a:r>
          </a:p>
          <a:p>
            <a:pPr marL="432000" indent="-432000">
              <a:lnSpc>
                <a:spcPct val="80000"/>
              </a:lnSpc>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attempts to defeat the security firewall per day </a:t>
            </a:r>
            <a:r>
              <a:rPr 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LEAD</a:t>
            </a:r>
          </a:p>
          <a:p>
            <a:pPr marL="432000" indent="-432000">
              <a:lnSpc>
                <a:spcPct val="80000"/>
              </a:lnSpc>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over-pressure vessel failures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during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plant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life </a:t>
            </a:r>
            <a:r>
              <a:rPr 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LAG</a:t>
            </a:r>
            <a:endParaRPr 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lnSpc>
                <a:spcPct val="80000"/>
              </a:lnSpc>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over-pressure relief valves overdue for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service </a:t>
            </a:r>
            <a:r>
              <a:rPr 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LEAD</a:t>
            </a:r>
            <a:endParaRPr 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lnSpc>
                <a:spcPct val="80000"/>
              </a:lnSpc>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fasteners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under-torqued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on a bridge construction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inspection </a:t>
            </a:r>
            <a:r>
              <a:rPr 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LEAD</a:t>
            </a:r>
            <a:endParaRPr 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lnSpc>
                <a:spcPct val="80000"/>
              </a:lnSpc>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steel members with loose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fasteners </a:t>
            </a:r>
            <a:r>
              <a:rPr 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LEAD</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lnSpc>
                <a:spcPct val="80000"/>
              </a:lnSpc>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steel members damaged under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load </a:t>
            </a:r>
            <a:r>
              <a:rPr 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LAG</a:t>
            </a:r>
            <a:endParaRPr 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lnSpc>
                <a:spcPct val="80000"/>
              </a:lnSpc>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over-current breaker trips per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month </a:t>
            </a:r>
            <a:r>
              <a:rPr 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LEAD</a:t>
            </a:r>
            <a:endParaRPr 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lnSpc>
                <a:spcPct val="80000"/>
              </a:lnSpc>
              <a:spcBef>
                <a:spcPts val="0"/>
              </a:spcBef>
              <a:spcAft>
                <a:spcPts val="0"/>
              </a:spcAft>
              <a:buFont typeface="Wingdings" panose="05000000000000000000" pitchFamily="2" charset="2"/>
              <a:buChar char="Ø"/>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motor burn-outs per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year </a:t>
            </a:r>
            <a:r>
              <a:rPr 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LAG</a:t>
            </a:r>
          </a:p>
          <a:p>
            <a:pPr marL="432000" indent="-432000">
              <a:lnSpc>
                <a:spcPct val="80000"/>
              </a:lnSpc>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unsuccessful attempts to breach the fire-wall </a:t>
            </a:r>
            <a:r>
              <a:rPr 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LEAD</a:t>
            </a:r>
          </a:p>
          <a:p>
            <a:pPr marL="432000" indent="-432000">
              <a:lnSpc>
                <a:spcPct val="80000"/>
              </a:lnSpc>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of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significant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near-miss events where the consequences could have been catastrophic were it not for some “lucky” factor e.g. a person was almost struck by a falling structure and could have been killed. </a:t>
            </a:r>
            <a:r>
              <a:rPr lang="en-US"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LAG or LEAD – depending on the reporting criteria of the organization; </a:t>
            </a:r>
            <a:r>
              <a:rPr lang="en-US"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Generally, if no loss, it is tracked as a LEADING indicator because this metric is usually not reported up through the organization</a:t>
            </a:r>
            <a:endParaRPr lang="en-US"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dirty="0">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6.2: Safety Metrics, Lagging and Leading Indicators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126974265"/>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Lagging indicators </a:t>
            </a:r>
            <a:r>
              <a:rPr lang="en-US" altLang="en-US"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track incidents with consequences</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Number of incidents with consequences reported</a:t>
            </a:r>
          </a:p>
          <a:p>
            <a:pPr marL="36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Number of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 investigations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 incidents with consequences performed</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Number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first aid cases</a:t>
            </a:r>
          </a:p>
          <a:p>
            <a:pPr marL="36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Number of serious injuries</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Number of fatalities</a:t>
            </a:r>
          </a:p>
          <a:p>
            <a:pPr marL="565350" lvl="1"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180000"/>
            <a:ext cx="8640000" cy="540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Lagging Indicators – </a:t>
            </a:r>
            <a:r>
              <a:rPr lang="en-US" altLang="en-US" sz="2400" b="0" dirty="0" smtClean="0">
                <a:solidFill>
                  <a:schemeClr val="accent2"/>
                </a:solidFill>
                <a:latin typeface="Arial" panose="020B0604020202020204" pitchFamily="34" charset="0"/>
                <a:ea typeface="+mj-ea"/>
                <a:cs typeface="Arial" panose="020B0604020202020204" pitchFamily="34" charset="0"/>
              </a:rPr>
              <a:t>General Examples</a:t>
            </a:r>
            <a:r>
              <a:rPr lang="en-US" altLang="en-US" sz="2400" b="0" dirty="0">
                <a:solidFill>
                  <a:schemeClr val="accent2"/>
                </a:solidFill>
                <a:latin typeface="Arial" panose="020B0604020202020204" pitchFamily="34" charset="0"/>
                <a:ea typeface="+mj-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dirty="0">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6.2: Safety Metrics, Lagging and Leading Indicators</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4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3620" y="2819400"/>
            <a:ext cx="5436000" cy="3322066"/>
          </a:xfrm>
          <a:prstGeom prst="rect">
            <a:avLst/>
          </a:prstGeom>
          <a:noFill/>
          <a:ln w="9525">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Left-Up Arrow 1"/>
          <p:cNvSpPr/>
          <p:nvPr/>
        </p:nvSpPr>
        <p:spPr>
          <a:xfrm rot="10800000" flipV="1">
            <a:off x="843846" y="3086100"/>
            <a:ext cx="2519020" cy="2209800"/>
          </a:xfrm>
          <a:prstGeom prst="leftUpArrow">
            <a:avLst>
              <a:gd name="adj1" fmla="val 49631"/>
              <a:gd name="adj2" fmla="val 25000"/>
              <a:gd name="adj3" fmla="val 25000"/>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t" anchorCtr="0"/>
          <a:lstStyle/>
          <a:p>
            <a:pPr algn="ctr"/>
            <a:endParaRPr lang="en-US" dirty="0">
              <a:solidFill>
                <a:schemeClr val="tx1"/>
              </a:solidFill>
            </a:endParaRPr>
          </a:p>
        </p:txBody>
      </p:sp>
      <p:sp>
        <p:nvSpPr>
          <p:cNvPr id="3" name="TextBox 2"/>
          <p:cNvSpPr txBox="1"/>
          <p:nvPr/>
        </p:nvSpPr>
        <p:spPr>
          <a:xfrm>
            <a:off x="855508" y="4290616"/>
            <a:ext cx="2135810" cy="923330"/>
          </a:xfrm>
          <a:prstGeom prst="rect">
            <a:avLst/>
          </a:prstGeom>
          <a:noFill/>
        </p:spPr>
        <p:txBody>
          <a:bodyPr wrap="square" rtlCol="0">
            <a:spAutoFit/>
          </a:bodyPr>
          <a:lstStyle/>
          <a:p>
            <a:pPr lvl="0" algn="ctr"/>
            <a:r>
              <a:rPr lang="en-US" dirty="0">
                <a:latin typeface="Arial"/>
              </a:rPr>
              <a:t>Metrics </a:t>
            </a:r>
            <a:r>
              <a:rPr lang="en-US" dirty="0" smtClean="0">
                <a:latin typeface="Arial"/>
              </a:rPr>
              <a:t>derived from The </a:t>
            </a:r>
            <a:r>
              <a:rPr lang="en-US" dirty="0">
                <a:latin typeface="Arial"/>
              </a:rPr>
              <a:t>Incident </a:t>
            </a:r>
            <a:br>
              <a:rPr lang="en-US" dirty="0">
                <a:latin typeface="Arial"/>
              </a:rPr>
            </a:br>
            <a:r>
              <a:rPr lang="en-US" dirty="0" smtClean="0">
                <a:latin typeface="Arial"/>
              </a:rPr>
              <a:t>Pyramid</a:t>
            </a:r>
            <a:endParaRPr lang="en-US" dirty="0"/>
          </a:p>
        </p:txBody>
      </p:sp>
      <p:sp>
        <p:nvSpPr>
          <p:cNvPr id="4" name="TextBox 3"/>
          <p:cNvSpPr txBox="1"/>
          <p:nvPr/>
        </p:nvSpPr>
        <p:spPr>
          <a:xfrm>
            <a:off x="4127100" y="1967514"/>
            <a:ext cx="4419600" cy="707886"/>
          </a:xfrm>
          <a:prstGeom prst="rect">
            <a:avLst/>
          </a:prstGeom>
          <a:solidFill>
            <a:srgbClr val="FFFF00"/>
          </a:solidFill>
          <a:ln>
            <a:solidFill>
              <a:schemeClr val="tx1"/>
            </a:solidFill>
          </a:ln>
        </p:spPr>
        <p:txBody>
          <a:bodyPr wrap="square" rtlCol="0">
            <a:spAutoFit/>
          </a:bodyPr>
          <a:lstStyle/>
          <a:p>
            <a:pPr algn="ctr"/>
            <a:r>
              <a:rPr lang="en-US" sz="2000" i="1" dirty="0" smtClean="0"/>
              <a:t>In other words, something bad happened to create the data point!</a:t>
            </a:r>
            <a:endParaRPr lang="en-US" sz="2000" i="1" dirty="0"/>
          </a:p>
        </p:txBody>
      </p:sp>
      <p:cxnSp>
        <p:nvCxnSpPr>
          <p:cNvPr id="7" name="Straight Connector 6"/>
          <p:cNvCxnSpPr/>
          <p:nvPr/>
        </p:nvCxnSpPr>
        <p:spPr>
          <a:xfrm flipV="1">
            <a:off x="3352800" y="4960714"/>
            <a:ext cx="54360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Up Arrow 9"/>
          <p:cNvSpPr/>
          <p:nvPr/>
        </p:nvSpPr>
        <p:spPr>
          <a:xfrm>
            <a:off x="3581400" y="4543847"/>
            <a:ext cx="545700" cy="416868"/>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323240" y="4191000"/>
            <a:ext cx="1066800" cy="369332"/>
          </a:xfrm>
          <a:prstGeom prst="rect">
            <a:avLst/>
          </a:prstGeom>
          <a:noFill/>
        </p:spPr>
        <p:txBody>
          <a:bodyPr wrap="square" rtlCol="0">
            <a:spAutoFit/>
          </a:bodyPr>
          <a:lstStyle/>
          <a:p>
            <a:pPr algn="ctr"/>
            <a:r>
              <a:rPr lang="en-US" dirty="0" smtClean="0"/>
              <a:t>WITH</a:t>
            </a:r>
            <a:endParaRPr lang="en-US" dirty="0"/>
          </a:p>
        </p:txBody>
      </p:sp>
    </p:spTree>
    <p:extLst>
      <p:ext uri="{BB962C8B-B14F-4D97-AF65-F5344CB8AC3E}">
        <p14:creationId xmlns:p14="http://schemas.microsoft.com/office/powerpoint/2010/main" val="2528823909"/>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000" y="180000"/>
            <a:ext cx="8640000" cy="540000"/>
          </a:xfrm>
          <a:noFill/>
          <a:ln>
            <a:noFill/>
          </a:ln>
        </p:spPr>
        <p:txBody>
          <a:bodyPr anchor="ctr"/>
          <a:lstStyle/>
          <a:p>
            <a:pPr algn="l" eaLnBrk="1" hangingPunct="1">
              <a:buFont typeface="Arial" panose="020B0604020202020204" pitchFamily="34" charset="0"/>
              <a:buNone/>
            </a:pPr>
            <a:r>
              <a:rPr lang="en-CA" sz="2400" b="0" kern="1200" dirty="0">
                <a:latin typeface="Arial" panose="020B0604020202020204" pitchFamily="34" charset="0"/>
                <a:cs typeface="Arial" panose="020B0604020202020204" pitchFamily="34" charset="0"/>
              </a:rPr>
              <a:t>Lagging Indicators – </a:t>
            </a:r>
            <a:r>
              <a:rPr lang="en-CA" sz="2400" b="0" kern="1200" dirty="0" smtClean="0">
                <a:latin typeface="Arial" panose="020B0604020202020204" pitchFamily="34" charset="0"/>
                <a:cs typeface="Arial" panose="020B0604020202020204" pitchFamily="34" charset="0"/>
              </a:rPr>
              <a:t>Specific Definitions:</a:t>
            </a:r>
            <a:endParaRPr lang="en-CA" sz="2400" b="0" kern="1200" dirty="0">
              <a:latin typeface="Arial" panose="020B0604020202020204" pitchFamily="34" charset="0"/>
              <a:cs typeface="Arial" panose="020B0604020202020204" pitchFamily="34" charset="0"/>
            </a:endParaRPr>
          </a:p>
        </p:txBody>
      </p:sp>
      <p:sp>
        <p:nvSpPr>
          <p:cNvPr id="3" name="Content Placeholder 2"/>
          <p:cNvSpPr>
            <a:spLocks noGrp="1"/>
          </p:cNvSpPr>
          <p:nvPr>
            <p:ph sz="quarter" idx="4294967295"/>
          </p:nvPr>
        </p:nvSpPr>
        <p:spPr>
          <a:xfrm>
            <a:off x="180000" y="828000"/>
            <a:ext cx="8640000" cy="5328000"/>
          </a:xfrm>
          <a:noFill/>
          <a:ln w="9525">
            <a:noFill/>
            <a:miter lim="800000"/>
            <a:headEnd/>
            <a:tailEnd/>
          </a:ln>
        </p:spPr>
        <p:txBody>
          <a:bodyPr/>
          <a:lstStyle/>
          <a:p>
            <a:pPr marL="0" indent="0">
              <a:spcBef>
                <a:spcPts val="0"/>
              </a:spcBef>
              <a:buClr>
                <a:srgbClr val="000000"/>
              </a:buClr>
              <a:buSzPct val="100000"/>
              <a:buFont typeface="Arial" panose="020B0604020202020204" pitchFamily="34" charset="0"/>
              <a:buNone/>
            </a:pPr>
            <a:r>
              <a:rPr lang="en-US" sz="20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Three of many different metrics:</a:t>
            </a:r>
          </a:p>
          <a:p>
            <a:pPr marL="0" lvl="1" indent="0">
              <a:spcBef>
                <a:spcPts val="0"/>
              </a:spcBef>
              <a:buClr>
                <a:srgbClr val="000000"/>
              </a:buClr>
              <a:buSzPct val="100000"/>
              <a:buNone/>
            </a:pP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Three specific metrics, all of which are lagging indicators, use recordable injuries to quantify a company’s safety performance:</a:t>
            </a:r>
          </a:p>
          <a:p>
            <a:pPr marL="360000" lvl="1" indent="-360000">
              <a:spcBef>
                <a:spcPts val="0"/>
              </a:spcBef>
              <a:buClr>
                <a:srgbClr val="000000"/>
              </a:buClr>
              <a:buSzPct val="100000"/>
              <a:buFont typeface="Wingdings" pitchFamily="2" charset="2"/>
              <a:buChar char="Ø"/>
            </a:pP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Fatal Accident Rate (FAR) – UK</a:t>
            </a:r>
          </a:p>
          <a:p>
            <a:pPr marL="360000" lvl="1" indent="-360000">
              <a:spcBef>
                <a:spcPts val="0"/>
              </a:spcBef>
              <a:buClr>
                <a:srgbClr val="000000"/>
              </a:buClr>
              <a:buSzPct val="100000"/>
              <a:buFont typeface="Wingdings" pitchFamily="2" charset="2"/>
              <a:buChar char="Ø"/>
            </a:pP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Total Recordable Incident Rate (TRIR) – USA</a:t>
            </a:r>
          </a:p>
          <a:p>
            <a:pPr marL="360000" lvl="1" indent="-360000">
              <a:spcBef>
                <a:spcPts val="0"/>
              </a:spcBef>
              <a:buClr>
                <a:srgbClr val="000000"/>
              </a:buClr>
              <a:buSzPct val="100000"/>
              <a:buFont typeface="Wingdings" pitchFamily="2" charset="2"/>
              <a:buChar char="Ø"/>
            </a:pP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Lost Time Incident Rate (LTIR) – USA</a:t>
            </a:r>
          </a:p>
          <a:p>
            <a:pPr marL="0" indent="0">
              <a:spcBef>
                <a:spcPts val="0"/>
              </a:spcBef>
              <a:buClr>
                <a:srgbClr val="000000"/>
              </a:buClr>
              <a:buSzPct val="100000"/>
              <a:buFont typeface="Arial" panose="020B0604020202020204" pitchFamily="34" charset="0"/>
              <a:buNone/>
            </a:pPr>
            <a:endParaRPr lang="en-US" sz="20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a:spcBef>
                <a:spcPts val="0"/>
              </a:spcBef>
              <a:buClr>
                <a:srgbClr val="000000"/>
              </a:buClr>
              <a:buSzPct val="100000"/>
              <a:buFont typeface="Arial" panose="020B0604020202020204" pitchFamily="34" charset="0"/>
              <a:buNone/>
            </a:pPr>
            <a:r>
              <a:rPr lang="en-US" sz="20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See Topic #9 Chapter 2.1:Why is Risk Management Important? for an example on how to calculate an IR. </a:t>
            </a:r>
          </a:p>
          <a:p>
            <a:pPr marL="0" indent="0">
              <a:spcBef>
                <a:spcPts val="0"/>
              </a:spcBef>
              <a:buClr>
                <a:srgbClr val="000000"/>
              </a:buClr>
              <a:buSzPct val="100000"/>
              <a:buFont typeface="Arial" panose="020B0604020202020204" pitchFamily="34" charset="0"/>
              <a:buNone/>
            </a:pPr>
            <a:endParaRPr lang="en-US" sz="20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1" indent="-360000">
              <a:spcBef>
                <a:spcPts val="0"/>
              </a:spcBef>
              <a:buClr>
                <a:srgbClr val="000000"/>
              </a:buClr>
              <a:buSzPct val="100000"/>
              <a:buFont typeface="Wingdings" pitchFamily="2" charset="2"/>
              <a:buChar char="Ø"/>
            </a:pP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is no federal roll-up statistic for Canada. Each province tracks, usually as “Lost Time injury (or Incident) Rate” per provincial Workers’ Compensation Boards, and the Association of WCB’s does a roll-up</a:t>
            </a:r>
            <a:r>
              <a:rPr lang="en-US" sz="20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lvl="1" indent="-360000">
              <a:spcBef>
                <a:spcPts val="0"/>
              </a:spcBef>
              <a:buClr>
                <a:srgbClr val="000000"/>
              </a:buClr>
              <a:buSzPct val="100000"/>
              <a:buFont typeface="Wingdings" pitchFamily="2" charset="2"/>
              <a:buChar char="Ø"/>
            </a:pPr>
            <a:r>
              <a:rPr lang="en-US" sz="20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Most organizations operating in Canada with an American parent company usually report internally with TRIR and LTIR </a:t>
            </a:r>
          </a:p>
          <a:p>
            <a:pPr marL="360000" lvl="1" indent="-360000">
              <a:spcBef>
                <a:spcPts val="0"/>
              </a:spcBef>
              <a:buClr>
                <a:srgbClr val="000000"/>
              </a:buClr>
              <a:buSzPct val="100000"/>
              <a:buFont typeface="Wingdings" pitchFamily="2" charset="2"/>
              <a:buChar char="Ø"/>
            </a:pPr>
            <a:endPar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6.2: Safety Metrics, Lagging and Leading Indicators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562441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000" y="180000"/>
            <a:ext cx="8640000" cy="540000"/>
          </a:xfrm>
          <a:noFill/>
          <a:ln>
            <a:noFill/>
          </a:ln>
        </p:spPr>
        <p:txBody>
          <a:bodyPr anchor="ctr"/>
          <a:lstStyle/>
          <a:p>
            <a:pPr algn="l" eaLnBrk="1" hangingPunct="1">
              <a:buFont typeface="Arial" panose="020B0604020202020204" pitchFamily="34" charset="0"/>
              <a:buNone/>
            </a:pPr>
            <a:r>
              <a:rPr lang="en-CA" sz="2400" b="0" kern="1200" dirty="0">
                <a:latin typeface="Arial" panose="020B0604020202020204" pitchFamily="34" charset="0"/>
                <a:cs typeface="Arial" panose="020B0604020202020204" pitchFamily="34" charset="0"/>
              </a:rPr>
              <a:t>Lagging Indicators – </a:t>
            </a:r>
            <a:r>
              <a:rPr lang="en-CA" sz="2400" b="0" kern="1200" dirty="0" smtClean="0">
                <a:latin typeface="Arial" panose="020B0604020202020204" pitchFamily="34" charset="0"/>
                <a:cs typeface="Arial" panose="020B0604020202020204" pitchFamily="34" charset="0"/>
              </a:rPr>
              <a:t>Specific Definitions:</a:t>
            </a:r>
            <a:endParaRPr lang="en-CA" sz="2400" b="0" kern="1200" dirty="0">
              <a:latin typeface="Arial" panose="020B0604020202020204" pitchFamily="34" charset="0"/>
              <a:cs typeface="Arial" panose="020B0604020202020204" pitchFamily="34" charset="0"/>
            </a:endParaRPr>
          </a:p>
        </p:txBody>
      </p:sp>
      <p:sp>
        <p:nvSpPr>
          <p:cNvPr id="3" name="Content Placeholder 2"/>
          <p:cNvSpPr>
            <a:spLocks noGrp="1"/>
          </p:cNvSpPr>
          <p:nvPr>
            <p:ph sz="quarter" idx="4294967295"/>
          </p:nvPr>
        </p:nvSpPr>
        <p:spPr>
          <a:xfrm>
            <a:off x="180000" y="828000"/>
            <a:ext cx="8640000" cy="5328000"/>
          </a:xfrm>
          <a:noFill/>
          <a:ln w="9525">
            <a:noFill/>
            <a:miter lim="800000"/>
            <a:headEnd/>
            <a:tailEnd/>
          </a:ln>
        </p:spPr>
        <p:txBody>
          <a:bodyPr/>
          <a:lstStyle/>
          <a:p>
            <a:pPr marL="0" indent="0">
              <a:lnSpc>
                <a:spcPct val="90000"/>
              </a:lnSpc>
              <a:spcBef>
                <a:spcPts val="0"/>
              </a:spcBef>
              <a:buClr>
                <a:srgbClr val="000000"/>
              </a:buClr>
              <a:buSzPct val="100000"/>
              <a:buFont typeface="Arial" panose="020B0604020202020204" pitchFamily="34" charset="0"/>
              <a:buNone/>
            </a:pPr>
            <a:r>
              <a:rPr 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Fatal </a:t>
            </a:r>
            <a:r>
              <a:rPr 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Accident Rate (FAR) – UK</a:t>
            </a:r>
          </a:p>
          <a:p>
            <a:pPr marL="360000" lvl="1" indent="-360000">
              <a:lnSpc>
                <a:spcPct val="90000"/>
              </a:lnSpc>
              <a:spcBef>
                <a:spcPts val="0"/>
              </a:spcBef>
              <a:buClr>
                <a:srgbClr val="000000"/>
              </a:buClr>
              <a:buSzPct val="100000"/>
              <a:buFont typeface="Wingdings" pitchFamily="2" charset="2"/>
              <a:buChar char="Ø"/>
            </a:pPr>
            <a:r>
              <a:rPr lang="en-US" sz="14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Fatality only </a:t>
            </a:r>
            <a:r>
              <a:rPr lang="en-US" sz="14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no other kind of </a:t>
            </a:r>
            <a:r>
              <a:rPr lang="en-US" sz="14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injury: a worker was killed on-the-job or due to a chronic work-related illness e.g. cancer, asbestosis, silicosis.</a:t>
            </a:r>
          </a:p>
          <a:p>
            <a:pPr marL="360000" lvl="1" indent="-360000">
              <a:lnSpc>
                <a:spcPct val="90000"/>
              </a:lnSpc>
              <a:spcBef>
                <a:spcPts val="0"/>
              </a:spcBef>
              <a:buClr>
                <a:srgbClr val="000000"/>
              </a:buClr>
              <a:buSzPct val="100000"/>
              <a:buChar char="Ø"/>
            </a:pPr>
            <a:r>
              <a:rPr lang="en-US" sz="14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Number </a:t>
            </a:r>
            <a:r>
              <a:rPr lang="en-US" sz="14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fatalities per 1000 </a:t>
            </a:r>
            <a:r>
              <a:rPr lang="en-US" sz="14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worker-working-lifetimes </a:t>
            </a:r>
            <a:r>
              <a:rPr lang="en-US" sz="14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an activity (~100,000,000 working hours</a:t>
            </a:r>
            <a:r>
              <a:rPr lang="en-US" sz="14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lvl="1" indent="-360000">
              <a:lnSpc>
                <a:spcPct val="90000"/>
              </a:lnSpc>
              <a:spcBef>
                <a:spcPts val="0"/>
              </a:spcBef>
              <a:buClr>
                <a:srgbClr val="000000"/>
              </a:buClr>
              <a:buSzPct val="100000"/>
              <a:buChar char="Ø"/>
            </a:pPr>
            <a:r>
              <a:rPr lang="en-US" sz="14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FAR: </a:t>
            </a:r>
            <a:r>
              <a:rPr lang="en-US" sz="14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expressed as the number of fatalities per 1000 </a:t>
            </a:r>
            <a:r>
              <a:rPr lang="en-US" sz="14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worker-working </a:t>
            </a:r>
            <a:r>
              <a:rPr lang="en-US" sz="14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lifetimes: </a:t>
            </a:r>
          </a:p>
          <a:p>
            <a:pPr marL="720000" lvl="2" indent="-360000">
              <a:lnSpc>
                <a:spcPct val="90000"/>
              </a:lnSpc>
              <a:spcBef>
                <a:spcPts val="0"/>
              </a:spcBef>
              <a:buClr>
                <a:schemeClr val="tx1"/>
              </a:buClr>
              <a:buFont typeface="Wingdings" panose="05000000000000000000" pitchFamily="2" charset="2"/>
              <a:buChar char="q"/>
            </a:pPr>
            <a:r>
              <a:rPr lang="en-US" sz="1400" b="1" kern="1200" dirty="0">
                <a:latin typeface="Arial" panose="020B0604020202020204" pitchFamily="34" charset="0"/>
                <a:cs typeface="Arial" panose="020B0604020202020204" pitchFamily="34" charset="0"/>
              </a:rPr>
              <a:t>FAR = (# of fatalities * 100,000,000) / (# of hours worked)</a:t>
            </a:r>
          </a:p>
          <a:p>
            <a:pPr marL="1080000" lvl="2" indent="-360000">
              <a:lnSpc>
                <a:spcPct val="90000"/>
              </a:lnSpc>
              <a:spcBef>
                <a:spcPts val="0"/>
              </a:spcBef>
              <a:buClr>
                <a:schemeClr val="tx1"/>
              </a:buClr>
              <a:buFont typeface="Wingdings" panose="05000000000000000000" pitchFamily="2" charset="2"/>
              <a:buChar char="q"/>
            </a:pPr>
            <a:r>
              <a:rPr lang="en-CA" sz="1400" kern="1200" dirty="0">
                <a:latin typeface="Arial" panose="020B0604020202020204" pitchFamily="34" charset="0"/>
                <a:cs typeface="Arial" panose="020B0604020202020204" pitchFamily="34" charset="0"/>
              </a:rPr>
              <a:t>100,000,000 = 1000 </a:t>
            </a:r>
            <a:r>
              <a:rPr lang="en-CA" sz="1400" kern="1200" dirty="0" smtClean="0">
                <a:latin typeface="Arial" panose="020B0604020202020204" pitchFamily="34" charset="0"/>
                <a:cs typeface="Arial" panose="020B0604020202020204" pitchFamily="34" charset="0"/>
              </a:rPr>
              <a:t>workers * </a:t>
            </a:r>
            <a:r>
              <a:rPr lang="en-CA" sz="1400" kern="1200" dirty="0">
                <a:latin typeface="Arial" panose="020B0604020202020204" pitchFamily="34" charset="0"/>
                <a:cs typeface="Arial" panose="020B0604020202020204" pitchFamily="34" charset="0"/>
              </a:rPr>
              <a:t>50 </a:t>
            </a:r>
            <a:r>
              <a:rPr lang="en-CA" sz="1400" kern="1200" dirty="0" smtClean="0">
                <a:latin typeface="Arial" panose="020B0604020202020204" pitchFamily="34" charset="0"/>
                <a:cs typeface="Arial" panose="020B0604020202020204" pitchFamily="34" charset="0"/>
              </a:rPr>
              <a:t>years * </a:t>
            </a:r>
            <a:r>
              <a:rPr lang="en-CA" sz="1400" kern="1200" dirty="0">
                <a:latin typeface="Arial" panose="020B0604020202020204" pitchFamily="34" charset="0"/>
                <a:cs typeface="Arial" panose="020B0604020202020204" pitchFamily="34" charset="0"/>
              </a:rPr>
              <a:t>50 </a:t>
            </a:r>
            <a:r>
              <a:rPr lang="en-CA" sz="1400" kern="1200" dirty="0" smtClean="0">
                <a:latin typeface="Arial" panose="020B0604020202020204" pitchFamily="34" charset="0"/>
                <a:cs typeface="Arial" panose="020B0604020202020204" pitchFamily="34" charset="0"/>
              </a:rPr>
              <a:t>weeks / year * </a:t>
            </a:r>
            <a:r>
              <a:rPr lang="en-CA" sz="1400" kern="1200" dirty="0">
                <a:latin typeface="Arial" panose="020B0604020202020204" pitchFamily="34" charset="0"/>
                <a:cs typeface="Arial" panose="020B0604020202020204" pitchFamily="34" charset="0"/>
              </a:rPr>
              <a:t>40 </a:t>
            </a:r>
            <a:r>
              <a:rPr lang="en-CA" sz="1400" kern="1200" dirty="0" smtClean="0">
                <a:latin typeface="Arial" panose="020B0604020202020204" pitchFamily="34" charset="0"/>
                <a:cs typeface="Arial" panose="020B0604020202020204" pitchFamily="34" charset="0"/>
              </a:rPr>
              <a:t>hours/week</a:t>
            </a:r>
          </a:p>
          <a:p>
            <a:pPr marL="1080000" lvl="2" indent="-360000">
              <a:lnSpc>
                <a:spcPct val="90000"/>
              </a:lnSpc>
              <a:spcBef>
                <a:spcPts val="0"/>
              </a:spcBef>
              <a:buClr>
                <a:schemeClr val="tx1"/>
              </a:buClr>
              <a:buFont typeface="Wingdings" panose="05000000000000000000" pitchFamily="2" charset="2"/>
              <a:buChar char="q"/>
            </a:pPr>
            <a:endParaRPr lang="en-US" sz="1400" kern="1200" dirty="0">
              <a:latin typeface="Arial" panose="020B0604020202020204" pitchFamily="34" charset="0"/>
              <a:cs typeface="Arial" panose="020B0604020202020204" pitchFamily="34" charset="0"/>
            </a:endParaRPr>
          </a:p>
          <a:p>
            <a:pPr marL="0" indent="0">
              <a:lnSpc>
                <a:spcPct val="90000"/>
              </a:lnSpc>
              <a:spcBef>
                <a:spcPts val="0"/>
              </a:spcBef>
              <a:buClr>
                <a:srgbClr val="000000"/>
              </a:buClr>
              <a:buSzPct val="100000"/>
              <a:buFont typeface="Arial" panose="020B0604020202020204" pitchFamily="34" charset="0"/>
              <a:buNone/>
            </a:pPr>
            <a:r>
              <a:rPr 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Total </a:t>
            </a:r>
            <a:r>
              <a:rPr 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Recordable Incident Rate (TRIR) – USA</a:t>
            </a:r>
          </a:p>
          <a:p>
            <a:pPr marL="360000" lvl="1" indent="-360000">
              <a:lnSpc>
                <a:spcPct val="90000"/>
              </a:lnSpc>
              <a:spcBef>
                <a:spcPts val="0"/>
              </a:spcBef>
              <a:buClr>
                <a:srgbClr val="000000"/>
              </a:buClr>
              <a:buSzPct val="100000"/>
              <a:buFont typeface="Wingdings" pitchFamily="2" charset="2"/>
              <a:buChar char="Ø"/>
            </a:pPr>
            <a:r>
              <a:rPr lang="en-US" sz="14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Recordable incidents: fatalities; hospitalizations; injuries and illnesses that lead to medical treatment beyond first </a:t>
            </a:r>
            <a:r>
              <a:rPr lang="en-US" sz="14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aid i.e. lost-time injury </a:t>
            </a:r>
            <a:r>
              <a:rPr lang="en-US" sz="14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aka days-away-from-work cases, restricted-work cases, or job-transfer-due-to-injury cases</a:t>
            </a:r>
          </a:p>
          <a:p>
            <a:pPr marL="360000" lvl="1" indent="-360000">
              <a:lnSpc>
                <a:spcPct val="90000"/>
              </a:lnSpc>
              <a:spcBef>
                <a:spcPts val="0"/>
              </a:spcBef>
              <a:buClr>
                <a:srgbClr val="000000"/>
              </a:buClr>
              <a:buSzPct val="100000"/>
              <a:buChar char="Ø"/>
            </a:pPr>
            <a:r>
              <a:rPr lang="en-US" sz="14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TRIR: expressed as the number of recordable injuries per 200,000 worker-hours (1 year)</a:t>
            </a:r>
          </a:p>
          <a:p>
            <a:pPr marL="720000" lvl="2" indent="-360000">
              <a:lnSpc>
                <a:spcPct val="90000"/>
              </a:lnSpc>
              <a:spcBef>
                <a:spcPts val="0"/>
              </a:spcBef>
              <a:buClr>
                <a:schemeClr val="tx1"/>
              </a:buClr>
              <a:buSzPct val="100000"/>
              <a:buFont typeface="Wingdings" panose="05000000000000000000" pitchFamily="2" charset="2"/>
              <a:buChar char="q"/>
            </a:pPr>
            <a:r>
              <a:rPr lang="en-US" sz="1400" b="1" kern="1200" dirty="0">
                <a:latin typeface="Arial" panose="020B0604020202020204" pitchFamily="34" charset="0"/>
                <a:cs typeface="Arial" panose="020B0604020202020204" pitchFamily="34" charset="0"/>
              </a:rPr>
              <a:t>TRIR = (# of recordable incidents* 200,000) / (# of hours worked) </a:t>
            </a:r>
          </a:p>
          <a:p>
            <a:pPr marL="1080000" lvl="2" indent="-360000">
              <a:lnSpc>
                <a:spcPct val="90000"/>
              </a:lnSpc>
              <a:spcBef>
                <a:spcPts val="0"/>
              </a:spcBef>
              <a:buClr>
                <a:schemeClr val="tx1"/>
              </a:buClr>
              <a:buSzPct val="100000"/>
              <a:buFont typeface="Wingdings" panose="05000000000000000000" pitchFamily="2" charset="2"/>
              <a:buChar char="q"/>
            </a:pPr>
            <a:endParaRPr 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a:lnSpc>
                <a:spcPct val="90000"/>
              </a:lnSpc>
              <a:spcBef>
                <a:spcPts val="0"/>
              </a:spcBef>
              <a:buClr>
                <a:srgbClr val="000000"/>
              </a:buClr>
              <a:buSzPct val="100000"/>
              <a:buFont typeface="Arial" panose="020B0604020202020204" pitchFamily="34" charset="0"/>
              <a:buNone/>
            </a:pPr>
            <a:r>
              <a:rPr 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Lost </a:t>
            </a:r>
            <a:r>
              <a:rPr 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Time Incident Rate (LTIR) – USA </a:t>
            </a:r>
          </a:p>
          <a:p>
            <a:pPr marL="360000" lvl="1" indent="-360000">
              <a:lnSpc>
                <a:spcPct val="90000"/>
              </a:lnSpc>
              <a:spcBef>
                <a:spcPts val="0"/>
              </a:spcBef>
              <a:buClr>
                <a:srgbClr val="000000"/>
              </a:buClr>
              <a:buSzPct val="100000"/>
              <a:buFont typeface="Wingdings" pitchFamily="2" charset="2"/>
              <a:buChar char="Ø"/>
            </a:pPr>
            <a:r>
              <a:rPr lang="en-US" sz="14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Lost time incidents: Injury incidents where medical treatment is given and results in time-away-from-work for the injured </a:t>
            </a:r>
            <a:r>
              <a:rPr lang="en-US" sz="14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 </a:t>
            </a:r>
            <a:endParaRPr lang="en-US" sz="14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1" indent="-360000">
              <a:lnSpc>
                <a:spcPct val="90000"/>
              </a:lnSpc>
              <a:spcBef>
                <a:spcPts val="0"/>
              </a:spcBef>
              <a:buClr>
                <a:srgbClr val="000000"/>
              </a:buClr>
              <a:buSzPct val="100000"/>
              <a:buChar char="Ø"/>
            </a:pPr>
            <a:r>
              <a:rPr lang="en-US" sz="14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LTIR</a:t>
            </a:r>
            <a:r>
              <a:rPr lang="en-US" sz="14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expressed as the number of </a:t>
            </a:r>
            <a:r>
              <a:rPr lang="en-US" sz="14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lost-time </a:t>
            </a:r>
            <a:r>
              <a:rPr lang="en-US" sz="14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injuries per 200,000 worker-hours (1 year)</a:t>
            </a:r>
          </a:p>
          <a:p>
            <a:pPr marL="720000" lvl="2" indent="-360000">
              <a:lnSpc>
                <a:spcPct val="90000"/>
              </a:lnSpc>
              <a:spcBef>
                <a:spcPts val="0"/>
              </a:spcBef>
              <a:buClr>
                <a:schemeClr val="tx1"/>
              </a:buClr>
              <a:buFont typeface="Wingdings" panose="05000000000000000000" pitchFamily="2" charset="2"/>
              <a:buChar char="q"/>
            </a:pPr>
            <a:r>
              <a:rPr lang="en-US" sz="1400" b="1" kern="1200" dirty="0" smtClean="0">
                <a:latin typeface="Arial" panose="020B0604020202020204" pitchFamily="34" charset="0"/>
                <a:cs typeface="Arial" panose="020B0604020202020204" pitchFamily="34" charset="0"/>
              </a:rPr>
              <a:t>LTIR </a:t>
            </a:r>
            <a:r>
              <a:rPr lang="en-US" sz="1400" b="1" kern="1200" dirty="0">
                <a:latin typeface="Arial" panose="020B0604020202020204" pitchFamily="34" charset="0"/>
                <a:cs typeface="Arial" panose="020B0604020202020204" pitchFamily="34" charset="0"/>
              </a:rPr>
              <a:t>= (# of lost time incidents * 200,000) / (# hours worked)</a:t>
            </a:r>
          </a:p>
          <a:p>
            <a:pPr marL="0" lvl="2" indent="0">
              <a:lnSpc>
                <a:spcPct val="90000"/>
              </a:lnSpc>
              <a:spcBef>
                <a:spcPts val="0"/>
              </a:spcBef>
              <a:buClr>
                <a:srgbClr val="000000"/>
              </a:buClr>
              <a:buSzPct val="100000"/>
              <a:buNone/>
            </a:pPr>
            <a:endParaRPr lang="en-CA" sz="16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2" indent="0">
              <a:lnSpc>
                <a:spcPct val="90000"/>
              </a:lnSpc>
              <a:spcBef>
                <a:spcPts val="0"/>
              </a:spcBef>
              <a:buClr>
                <a:srgbClr val="000000"/>
              </a:buClr>
              <a:buSzPct val="100000"/>
              <a:buNone/>
            </a:pPr>
            <a:r>
              <a:rPr lang="en-CA"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Nominal organization: 100 workers </a:t>
            </a:r>
            <a:r>
              <a:rPr lang="en-CA"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40 hours/week * 50 </a:t>
            </a:r>
            <a:r>
              <a:rPr lang="en-CA"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weeks/year = 200,000 worker-hours</a:t>
            </a:r>
            <a:endParaRPr 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2" indent="0">
              <a:lnSpc>
                <a:spcPct val="90000"/>
              </a:lnSpc>
              <a:spcBef>
                <a:spcPts val="0"/>
              </a:spcBef>
              <a:buClr>
                <a:srgbClr val="000000"/>
              </a:buClr>
              <a:buSzPct val="100000"/>
              <a:buNone/>
            </a:pPr>
            <a:endParaRPr lang="en-US" sz="16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2" indent="0">
              <a:lnSpc>
                <a:spcPct val="90000"/>
              </a:lnSpc>
              <a:spcBef>
                <a:spcPts val="0"/>
              </a:spcBef>
              <a:buClr>
                <a:srgbClr val="000000"/>
              </a:buClr>
              <a:buSzPct val="100000"/>
              <a:buNone/>
            </a:pPr>
            <a:r>
              <a:rPr lang="en-US" sz="1600" b="1"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purposes of this course, </a:t>
            </a:r>
            <a:r>
              <a:rPr lang="en-US" sz="1600" b="1"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TRIR </a:t>
            </a:r>
            <a:r>
              <a:rPr lang="en-US" sz="1600" b="1"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sz="1600" b="1"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LTIR </a:t>
            </a:r>
            <a:r>
              <a:rPr lang="en-US" sz="1600" b="1"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the same, and can be referred to </a:t>
            </a:r>
            <a:r>
              <a:rPr lang="en-US" sz="1600" b="1"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 simply  </a:t>
            </a:r>
            <a:r>
              <a:rPr lang="en-US" sz="1600" b="1"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“Injury Frequency Rate” (IFR). </a:t>
            </a: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6.2: Safety Metrics, Lagging and Leading Indicators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26064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Challenges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limitations with using lagging indicators include:</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Even though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lagging indicators include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both occupational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technical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there tends to be an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over-emphasis on occupational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injuries.</a:t>
            </a:r>
            <a:endPar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all are reported or investigated.</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Negative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trends can create “knee-jerk” reactions.</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Positive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trends are not appropriately resourced</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short-term positive trend could be mis-managed as “We have solved the problem. The issues are behind us.”</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Cannot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 used as a means to influence safety culture for effective and sustainable performance improvements.</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Especially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technical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incidents, there may be long durations of “positive” performance between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events</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can “lull” the organization into a false sense of “security” and the RM program is “invulnerable” or at least “robust</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technical safety incidents are extremely low likelihood with extremely high (catastrophic) consequences. </a:t>
            </a:r>
          </a:p>
        </p:txBody>
      </p:sp>
      <p:sp>
        <p:nvSpPr>
          <p:cNvPr id="9" name="Rectangle 2"/>
          <p:cNvSpPr>
            <a:spLocks noChangeArrowheads="1"/>
          </p:cNvSpPr>
          <p:nvPr/>
        </p:nvSpPr>
        <p:spPr bwMode="auto">
          <a:xfrm>
            <a:off x="180000" y="180000"/>
            <a:ext cx="8640000" cy="540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Lagging Indicators – </a:t>
            </a:r>
            <a:r>
              <a:rPr lang="en-US" altLang="en-US" sz="2400" b="0" dirty="0" smtClean="0">
                <a:solidFill>
                  <a:schemeClr val="accent2"/>
                </a:solidFill>
                <a:latin typeface="Arial" panose="020B0604020202020204" pitchFamily="34" charset="0"/>
                <a:ea typeface="+mj-ea"/>
                <a:cs typeface="Arial" panose="020B0604020202020204" pitchFamily="34" charset="0"/>
              </a:rPr>
              <a:t>Challenges </a:t>
            </a:r>
            <a:r>
              <a:rPr lang="en-US" altLang="en-US" sz="2400" b="0" dirty="0">
                <a:solidFill>
                  <a:schemeClr val="accent2"/>
                </a:solidFill>
                <a:latin typeface="Arial" panose="020B0604020202020204" pitchFamily="34" charset="0"/>
                <a:ea typeface="+mj-ea"/>
                <a:cs typeface="Arial" panose="020B0604020202020204" pitchFamily="34" charset="0"/>
              </a:rPr>
              <a:t>and Limitations: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dirty="0">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6.2: Safety Metrics, Lagging and Leading Indicators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018706834"/>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000" y="180000"/>
            <a:ext cx="8640000" cy="540000"/>
          </a:xfrm>
          <a:noFill/>
          <a:ln>
            <a:noFill/>
          </a:ln>
        </p:spPr>
        <p:txBody>
          <a:bodyPr anchor="ctr"/>
          <a:lstStyle/>
          <a:p>
            <a:pPr algn="l" eaLnBrk="1" hangingPunct="1">
              <a:buFont typeface="Arial" panose="020B0604020202020204" pitchFamily="34" charset="0"/>
              <a:buNone/>
            </a:pPr>
            <a:r>
              <a:rPr lang="en-CA" sz="2400" b="0" kern="1200" dirty="0">
                <a:latin typeface="Arial" panose="020B0604020202020204" pitchFamily="34" charset="0"/>
                <a:cs typeface="Arial" panose="020B0604020202020204" pitchFamily="34" charset="0"/>
              </a:rPr>
              <a:t>Leading Indicators – Examples:</a:t>
            </a:r>
          </a:p>
        </p:txBody>
      </p:sp>
      <p:sp>
        <p:nvSpPr>
          <p:cNvPr id="3" name="Content Placeholder 2"/>
          <p:cNvSpPr>
            <a:spLocks noGrp="1"/>
          </p:cNvSpPr>
          <p:nvPr>
            <p:ph sz="quarter" idx="4294967295"/>
          </p:nvPr>
        </p:nvSpPr>
        <p:spPr>
          <a:xfrm>
            <a:off x="180000" y="828000"/>
            <a:ext cx="8640000" cy="5328000"/>
          </a:xfrm>
          <a:noFill/>
          <a:ln w="9525">
            <a:noFill/>
            <a:miter lim="800000"/>
            <a:headEnd/>
            <a:tailEnd/>
          </a:ln>
        </p:spPr>
        <p:txBody>
          <a:bodyPr/>
          <a:lstStyle/>
          <a:p>
            <a:pPr marL="0" indent="0">
              <a:spcBef>
                <a:spcPts val="0"/>
              </a:spcBef>
              <a:buClr>
                <a:srgbClr val="000000"/>
              </a:buClr>
              <a:buSzPct val="100000"/>
              <a:buFont typeface="Arial" panose="020B0604020202020204" pitchFamily="34" charset="0"/>
              <a:buNone/>
            </a:pPr>
            <a:r>
              <a:rPr lang="en-US" sz="20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contrast,</a:t>
            </a: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a:t>
            </a:r>
            <a:r>
              <a:rPr lang="en-US" sz="2000" u="sng"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leading indicators</a:t>
            </a: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are created as a result of a </a:t>
            </a:r>
            <a:r>
              <a:rPr lang="en-US" sz="2000" u="sng"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proactive  </a:t>
            </a:r>
            <a:r>
              <a:rPr lang="en-US" sz="2000" u="sng"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audit</a:t>
            </a: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that is intended to assess the effective implementation of the RM </a:t>
            </a:r>
            <a:r>
              <a:rPr lang="en-US" sz="20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program. These audits can be tracked on a “rate” basis e.g. # per week, # per hours of operation, etc. </a:t>
            </a:r>
            <a:endPar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2" indent="-360000">
              <a:spcBef>
                <a:spcPts val="0"/>
              </a:spcBef>
              <a:buClr>
                <a:srgbClr val="000000"/>
              </a:buClr>
              <a:buSzPct val="100000"/>
              <a:buFont typeface="Wingdings" panose="05000000000000000000" pitchFamily="2" charset="2"/>
              <a:buChar char="Ø"/>
            </a:pPr>
            <a:r>
              <a:rPr lang="en-US" sz="20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administrative controls reviewed and updated</a:t>
            </a:r>
          </a:p>
          <a:p>
            <a:pPr marL="360000" lvl="2" indent="-360000">
              <a:spcBef>
                <a:spcPts val="0"/>
              </a:spcBef>
              <a:buClr>
                <a:srgbClr val="000000"/>
              </a:buClr>
              <a:buSzPct val="100000"/>
              <a:buFont typeface="Wingdings" panose="05000000000000000000" pitchFamily="2" charset="2"/>
              <a:buChar char="Ø"/>
            </a:pPr>
            <a:r>
              <a:rPr lang="en-US" sz="20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inspections on safety equipment carried out, RME #8 O&amp;M</a:t>
            </a:r>
          </a:p>
          <a:p>
            <a:pPr marL="360000" lvl="2" indent="-360000">
              <a:spcBef>
                <a:spcPts val="0"/>
              </a:spcBef>
              <a:buClr>
                <a:srgbClr val="000000"/>
              </a:buClr>
              <a:buSzPct val="100000"/>
              <a:buFont typeface="Wingdings" panose="05000000000000000000" pitchFamily="2" charset="2"/>
              <a:buChar char="Ø"/>
            </a:pP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a:t>
            </a:r>
            <a:r>
              <a:rPr lang="en-US" sz="20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a:t>
            </a: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 up-to-date qualifications, RME #9 EC&amp;T</a:t>
            </a:r>
          </a:p>
          <a:p>
            <a:pPr marL="360000" lvl="2" indent="-360000">
              <a:spcBef>
                <a:spcPts val="0"/>
              </a:spcBef>
              <a:buClr>
                <a:srgbClr val="000000"/>
              </a:buClr>
              <a:buSzPct val="100000"/>
              <a:buFont typeface="Wingdings" panose="05000000000000000000" pitchFamily="2" charset="2"/>
              <a:buChar char="Ø"/>
            </a:pP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management safety audits completed, RME #6 PECI</a:t>
            </a:r>
          </a:p>
          <a:p>
            <a:pPr marL="360000" lvl="2" indent="-360000">
              <a:spcBef>
                <a:spcPts val="0"/>
              </a:spcBef>
              <a:buClr>
                <a:srgbClr val="000000"/>
              </a:buClr>
              <a:buSzPct val="100000"/>
              <a:buFont typeface="Wingdings" panose="05000000000000000000" pitchFamily="2" charset="2"/>
              <a:buChar char="Ø"/>
            </a:pP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changes appropriately managed, RME #4 MOC</a:t>
            </a:r>
          </a:p>
          <a:p>
            <a:pPr marL="360000" lvl="2" indent="-360000">
              <a:spcBef>
                <a:spcPts val="0"/>
              </a:spcBef>
              <a:buClr>
                <a:srgbClr val="000000"/>
              </a:buClr>
              <a:buSzPct val="100000"/>
              <a:buFont typeface="Wingdings" panose="05000000000000000000" pitchFamily="2" charset="2"/>
              <a:buChar char="Ø"/>
            </a:pPr>
            <a:r>
              <a:rPr lang="en-US" sz="20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job observations and planned inspections carried out</a:t>
            </a:r>
          </a:p>
          <a:p>
            <a:pPr marL="360000" lvl="2" indent="-360000">
              <a:spcBef>
                <a:spcPts val="0"/>
              </a:spcBef>
              <a:buClr>
                <a:srgbClr val="000000"/>
              </a:buClr>
              <a:buSzPct val="100000"/>
              <a:buFont typeface="Wingdings" panose="05000000000000000000" pitchFamily="2" charset="2"/>
              <a:buChar char="Ø"/>
            </a:pP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safety systems disabled or bypassed</a:t>
            </a:r>
          </a:p>
          <a:p>
            <a:pPr marL="360000" lvl="2" indent="-360000">
              <a:spcBef>
                <a:spcPts val="0"/>
              </a:spcBef>
              <a:buClr>
                <a:srgbClr val="000000"/>
              </a:buClr>
              <a:buSzPct val="100000"/>
              <a:buFont typeface="Wingdings" panose="05000000000000000000" pitchFamily="2" charset="2"/>
              <a:buChar char="Ø"/>
            </a:pPr>
            <a:r>
              <a:rPr lang="en-US" sz="20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near miss incident reports received and reviewed</a:t>
            </a:r>
          </a:p>
          <a:p>
            <a:pPr marL="360000" lvl="2" indent="-360000">
              <a:spcBef>
                <a:spcPts val="0"/>
              </a:spcBef>
              <a:buClr>
                <a:srgbClr val="000000"/>
              </a:buClr>
              <a:buSzPct val="100000"/>
              <a:buFont typeface="Wingdings" panose="05000000000000000000" pitchFamily="2" charset="2"/>
              <a:buChar char="Ø"/>
            </a:pP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near miss incident reports addressed</a:t>
            </a:r>
          </a:p>
          <a:p>
            <a:pPr marL="360000" lvl="2" indent="-360000">
              <a:spcBef>
                <a:spcPts val="0"/>
              </a:spcBef>
              <a:buClr>
                <a:srgbClr val="000000"/>
              </a:buClr>
              <a:buSzPct val="100000"/>
              <a:buFont typeface="Wingdings" panose="05000000000000000000" pitchFamily="2" charset="2"/>
              <a:buChar char="Ø"/>
            </a:pP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SC and SP reports received and reviewed</a:t>
            </a:r>
          </a:p>
          <a:p>
            <a:pPr marL="360000" lvl="2" indent="-360000">
              <a:spcBef>
                <a:spcPts val="0"/>
              </a:spcBef>
              <a:buClr>
                <a:srgbClr val="000000"/>
              </a:buClr>
              <a:buSzPct val="100000"/>
              <a:buFont typeface="Wingdings" panose="05000000000000000000" pitchFamily="2" charset="2"/>
              <a:buChar char="Ø"/>
            </a:pPr>
            <a:r>
              <a:rPr lang="en-US" sz="20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SC and SP reports addressed</a:t>
            </a:r>
          </a:p>
          <a:p>
            <a:pPr marL="360000" lvl="2" indent="-360000">
              <a:spcBef>
                <a:spcPts val="0"/>
              </a:spcBef>
              <a:buClr>
                <a:srgbClr val="000000"/>
              </a:buClr>
              <a:buSzPct val="100000"/>
              <a:buFont typeface="Wingdings" panose="05000000000000000000" pitchFamily="2" charset="2"/>
              <a:buChar char="Ø"/>
            </a:pPr>
            <a:r>
              <a:rPr lang="en-US" sz="20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 behavior awards presented to </a:t>
            </a:r>
            <a:r>
              <a:rPr lang="en-US" sz="20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a:t>
            </a:r>
            <a:endParaRPr lang="en-US" sz="20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dirty="0">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6.2: Safety Metrics, Lagging and Leading Indicators</a:t>
            </a:r>
            <a:endParaRPr lang="en-US" sz="1200" i="1" kern="0" dirty="0">
              <a:solidFill>
                <a:srgbClr val="000000"/>
              </a:solidFill>
              <a:ea typeface="Times New Roman"/>
              <a:cs typeface="Arial" panose="020B0604020202020204" pitchFamily="34" charset="0"/>
              <a:sym typeface="Times New Roman"/>
            </a:endParaRPr>
          </a:p>
        </p:txBody>
      </p:sp>
      <p:sp>
        <p:nvSpPr>
          <p:cNvPr id="6" name="TextBox 5"/>
          <p:cNvSpPr txBox="1"/>
          <p:nvPr/>
        </p:nvSpPr>
        <p:spPr>
          <a:xfrm>
            <a:off x="6096000" y="4516090"/>
            <a:ext cx="2819400" cy="1631216"/>
          </a:xfrm>
          <a:prstGeom prst="rect">
            <a:avLst/>
          </a:prstGeom>
          <a:solidFill>
            <a:srgbClr val="FFFF00"/>
          </a:solidFill>
          <a:ln>
            <a:solidFill>
              <a:schemeClr val="tx1"/>
            </a:solidFill>
          </a:ln>
        </p:spPr>
        <p:txBody>
          <a:bodyPr wrap="square" lIns="36000" tIns="36000" rIns="36000" bIns="36000" rtlCol="0">
            <a:spAutoFit/>
          </a:bodyPr>
          <a:lstStyle/>
          <a:p>
            <a:pPr algn="ctr"/>
            <a:r>
              <a:rPr lang="en-US" sz="2000" i="1" dirty="0" smtClean="0"/>
              <a:t>In other words, look for </a:t>
            </a:r>
            <a:r>
              <a:rPr lang="en-US" sz="2000" i="1" u="sng" dirty="0" smtClean="0"/>
              <a:t>signals</a:t>
            </a:r>
            <a:r>
              <a:rPr lang="en-US" sz="2000" i="1" dirty="0" smtClean="0"/>
              <a:t> (the data points) </a:t>
            </a:r>
            <a:r>
              <a:rPr lang="en-US" sz="2000" i="1" u="sng" dirty="0" smtClean="0"/>
              <a:t>before</a:t>
            </a:r>
            <a:r>
              <a:rPr lang="en-US" sz="2000" i="1" dirty="0" smtClean="0"/>
              <a:t> something bad happens!</a:t>
            </a:r>
            <a:endParaRPr lang="en-US" sz="2000" i="1" dirty="0"/>
          </a:p>
        </p:txBody>
      </p:sp>
    </p:spTree>
    <p:extLst>
      <p:ext uri="{BB962C8B-B14F-4D97-AF65-F5344CB8AC3E}">
        <p14:creationId xmlns:p14="http://schemas.microsoft.com/office/powerpoint/2010/main" val="3275091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 directly used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by leaders to influence the safety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concept is further explored in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7</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180000"/>
            <a:ext cx="8640000" cy="540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Leading Indicators – </a:t>
            </a:r>
            <a:r>
              <a:rPr lang="en-US" altLang="en-US" sz="2400" b="0" dirty="0" smtClean="0">
                <a:solidFill>
                  <a:schemeClr val="accent2"/>
                </a:solidFill>
                <a:latin typeface="Arial" panose="020B0604020202020204" pitchFamily="34" charset="0"/>
                <a:ea typeface="+mj-ea"/>
                <a:cs typeface="Arial" panose="020B0604020202020204" pitchFamily="34" charset="0"/>
              </a:rPr>
              <a:t>Benefits: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10</a:t>
            </a:fld>
            <a:endParaRPr lang="en-US" altLang="en-US" sz="1200" b="1" i="1" dirty="0">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6.2: Safety Metrics, Lagging and Leading Indicators</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1269472" y="1506752"/>
            <a:ext cx="6788678" cy="4741648"/>
          </a:xfrm>
          <a:prstGeom prst="rect">
            <a:avLst/>
          </a:prstGeom>
        </p:spPr>
      </p:pic>
    </p:spTree>
    <p:extLst>
      <p:ext uri="{BB962C8B-B14F-4D97-AF65-F5344CB8AC3E}">
        <p14:creationId xmlns:p14="http://schemas.microsoft.com/office/powerpoint/2010/main" val="2857686045"/>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technical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incidents, 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implementation</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the RM program is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measured on an on-going basis using leading indicators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proactive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action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be taken to address deficiencies before a loss incident occurs.</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Early signals”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sz="180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critical</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sub-standard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conditions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sub-standard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practices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when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risk level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increases substantially,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 used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inform leaders in the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allocation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resources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address these; thus avoiding situations where “one small misstep” can lead to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catastrophic event i.e. the “fast track to disaster”.</a:t>
            </a:r>
          </a:p>
        </p:txBody>
      </p:sp>
      <p:sp>
        <p:nvSpPr>
          <p:cNvPr id="9" name="Rectangle 2"/>
          <p:cNvSpPr>
            <a:spLocks noChangeArrowheads="1"/>
          </p:cNvSpPr>
          <p:nvPr/>
        </p:nvSpPr>
        <p:spPr bwMode="auto">
          <a:xfrm>
            <a:off x="180000" y="180000"/>
            <a:ext cx="8640000" cy="540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Leading Indicators – Benefits: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dirty="0">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6.2: Safety Metrics, Lagging and Leading Indicators</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1981200" y="2667000"/>
            <a:ext cx="5732260" cy="3505200"/>
          </a:xfrm>
          <a:prstGeom prst="rect">
            <a:avLst/>
          </a:prstGeom>
        </p:spPr>
      </p:pic>
    </p:spTree>
    <p:extLst>
      <p:ext uri="{BB962C8B-B14F-4D97-AF65-F5344CB8AC3E}">
        <p14:creationId xmlns:p14="http://schemas.microsoft.com/office/powerpoint/2010/main" val="825264528"/>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#2: Allocate Resources Based on Indicators</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a:spcBef>
                <a:spcPts val="0"/>
              </a:spcBef>
              <a:spcAft>
                <a:spcPts val="0"/>
              </a:spcAft>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(MM-Poll</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p>
          <a:p>
            <a:pPr>
              <a:spcBef>
                <a:spcPts val="0"/>
              </a:spcBef>
              <a:spcAft>
                <a:spcPts val="0"/>
              </a:spcAft>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are the most senior engineer (in terms of technical expertise) in your company and have a thorough and detailed knowledge of the technology applied in your company’s projects. You receive weekly reports on leading indicators for the numerous bridge construction and bridge rehabilitation projects for which you have technical oversight across the company. </a:t>
            </a:r>
          </a:p>
          <a:p>
            <a:pPr>
              <a:spcBef>
                <a:spcPts val="0"/>
              </a:spcBef>
              <a:spcAft>
                <a:spcPts val="0"/>
              </a:spcAft>
            </a:pP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a:spcBef>
                <a:spcPts val="0"/>
              </a:spcBef>
              <a:spcAft>
                <a:spcPts val="0"/>
              </a:spcAft>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Rank these metrics (all are reported weekly and are based on planned inspections, and all are above an acceptable limit) in order to allocate resources for resolving, first to fourth:</a:t>
            </a: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SP’s reported that solely pertain to lack of PPE</a:t>
            </a: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Fraction of fasteners inspected and found under-torqued on new or rehab bridge construction</a:t>
            </a: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Fraction of metal surface areas with defective protective coating</a:t>
            </a:r>
          </a:p>
          <a:p>
            <a:pPr marL="432000" indent="-432000">
              <a:spcBef>
                <a:spcPts val="0"/>
              </a:spcBef>
              <a:spcAft>
                <a:spcPts val="0"/>
              </a:spcAft>
              <a:buFont typeface="Wingdings" panose="05000000000000000000" pitchFamily="2" charset="2"/>
              <a:buChar char="Ø"/>
            </a:pP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of times that flagging personnel unnecessarily delayed local traffic</a:t>
            </a:r>
          </a:p>
          <a:p>
            <a:pPr marL="432000" indent="-432000">
              <a:spcBef>
                <a:spcPts val="0"/>
              </a:spcBef>
              <a:spcAft>
                <a:spcPts val="0"/>
              </a:spcAft>
              <a:buFont typeface="Wingdings" panose="05000000000000000000" pitchFamily="2" charset="2"/>
              <a:buChar char="Ø"/>
            </a:pP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a:spcBef>
                <a:spcPts val="0"/>
              </a:spcBef>
              <a:spcAft>
                <a:spcPts val="0"/>
              </a:spcAft>
              <a:buFont typeface="Wingdings" panose="05000000000000000000" pitchFamily="2" charset="2"/>
              <a:buChar char="Ø"/>
            </a:pPr>
            <a:endPar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dirty="0">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6.2: Safety Metrics, Lagging and Leading Indicators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245984915"/>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Examples: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Allocate Resources Based on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Indicators</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marR="0">
              <a:spcBef>
                <a:spcPts val="0"/>
              </a:spcBef>
              <a:spcAft>
                <a:spcPts val="0"/>
              </a:spcAft>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are the most senior engineer (in terms of technical expertise) in your company and have a thorough and detailed knowledge of the technology applied in your company’s projects. You receive weekly reports on leading indicators for the numerous bridge construction and bridge rehabilitation projects for which you have technical oversight across the company.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You decide to allocate resources to address the issues in this order:</a:t>
            </a:r>
          </a:p>
          <a:p>
            <a:pPr marR="0">
              <a:spcBef>
                <a:spcPts val="0"/>
              </a:spcBef>
              <a:spcAft>
                <a:spcPts val="0"/>
              </a:spcAft>
            </a:pPr>
            <a:endPar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a:spcBef>
                <a:spcPts val="0"/>
              </a:spcBef>
              <a:spcAft>
                <a:spcPts val="0"/>
              </a:spcAft>
              <a:buFont typeface="+mj-lt"/>
              <a:buAutoNum type="arabicParenR"/>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Fraction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of fasteners inspected and found under-torqued on new or rehab bridge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construction </a:t>
            </a:r>
            <a:r>
              <a:rPr 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r>
              <a:rPr 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consequence: </a:t>
            </a:r>
            <a:r>
              <a:rPr 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imminent structural </a:t>
            </a:r>
            <a:r>
              <a:rPr 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collapse)</a:t>
            </a:r>
          </a:p>
          <a:p>
            <a:pPr marL="360000" marR="0" indent="-360000">
              <a:spcBef>
                <a:spcPts val="0"/>
              </a:spcBef>
              <a:spcAft>
                <a:spcPts val="0"/>
              </a:spcAft>
              <a:buFont typeface="+mj-lt"/>
              <a:buAutoNum type="arabicParenR"/>
            </a:pP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indent="-360000">
              <a:spcBef>
                <a:spcPts val="0"/>
              </a:spcBef>
              <a:spcAft>
                <a:spcPts val="0"/>
              </a:spcAft>
              <a:buFont typeface="+mj-lt"/>
              <a:buAutoNum type="arabicParenR"/>
            </a:pP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Fraction of metal surface areas with defective protective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coating </a:t>
            </a:r>
            <a:r>
              <a:rPr 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(consequence: </a:t>
            </a:r>
            <a:r>
              <a:rPr 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extensive future repairs or delayed </a:t>
            </a:r>
            <a:r>
              <a:rPr 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structural collapse)</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indent="-360000">
              <a:spcBef>
                <a:spcPts val="0"/>
              </a:spcBef>
              <a:spcAft>
                <a:spcPts val="0"/>
              </a:spcAft>
              <a:buFont typeface="+mj-lt"/>
              <a:buAutoNum type="arabicParenR"/>
            </a:pPr>
            <a:endPar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a:spcBef>
                <a:spcPts val="0"/>
              </a:spcBef>
              <a:spcAft>
                <a:spcPts val="0"/>
              </a:spcAft>
              <a:buFont typeface="+mj-lt"/>
              <a:buAutoNum type="arabicParenR"/>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of SP’s reported that solely pertain to lack of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PPE </a:t>
            </a:r>
            <a:r>
              <a:rPr 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(consequence: limited to injury to the one individual)</a:t>
            </a:r>
            <a:endParaRPr 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indent="-360000">
              <a:spcBef>
                <a:spcPts val="0"/>
              </a:spcBef>
              <a:spcAft>
                <a:spcPts val="0"/>
              </a:spcAft>
              <a:buFont typeface="+mj-lt"/>
              <a:buAutoNum type="arabicParenR"/>
            </a:pPr>
            <a:endPar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indent="-360000">
              <a:spcBef>
                <a:spcPts val="0"/>
              </a:spcBef>
              <a:spcAft>
                <a:spcPts val="0"/>
              </a:spcAft>
              <a:buFont typeface="+mj-lt"/>
              <a:buAutoNum type="arabicParenR"/>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Number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of times that flagging personnel unnecessarily delayed local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traffic </a:t>
            </a:r>
            <a:r>
              <a:rPr 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(consequence: none on PEAP)</a:t>
            </a:r>
            <a:endParaRPr 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dirty="0">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6.2: Safety Metrics, Lagging and Leading Indicators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724369288"/>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Summary:</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Lagging indicators are “after the fact” of a loss incident.</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Superior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organizations use leading indicators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measure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effectiveness of a RM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program</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i.e. look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the effective and compliant work execution of administrative controls and effectiveness of engineered systems.</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improve safety culture, </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promote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communication,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prevent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incidents,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ultimately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improve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performance.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Metrics are based on “counts”, and a meaningful “rate” can be determined, standardized, applied, monitored, and tracked.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None/>
            </a:pPr>
            <a:endPar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Lessons</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can use leading indicators to:</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Measure the overall effective implementation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(execution) of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risk management program</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Identify deficiencies (degradation, deterioration) of critical safety conditions and critical safety rules for both occupational safety and technical safety.</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180000"/>
            <a:ext cx="8640000" cy="540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Summary and Key Lessons: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14</a:t>
            </a:fld>
            <a:endParaRPr lang="en-US" altLang="en-US" sz="1200" b="1" i="1" dirty="0">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6.2: Safety Metrics, Lagging and Leading Indicators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798856951"/>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69521</TotalTime>
  <Words>2282</Words>
  <Application>Microsoft Office PowerPoint</Application>
  <PresentationFormat>On-screen Show (4:3)</PresentationFormat>
  <Paragraphs>222</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ＭＳ Ｐゴシック</vt: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Lagging Indicators – Specific Definitions:</vt:lpstr>
      <vt:lpstr>Lagging Indicators – Specific Definitions:</vt:lpstr>
      <vt:lpstr>PowerPoint Presentation</vt:lpstr>
      <vt:lpstr>Leading Indicators – Examples:</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John Cocchio</cp:lastModifiedBy>
  <cp:revision>1970</cp:revision>
  <cp:lastPrinted>2018-12-17T22:21:47Z</cp:lastPrinted>
  <dcterms:created xsi:type="dcterms:W3CDTF">2007-03-28T16:18:47Z</dcterms:created>
  <dcterms:modified xsi:type="dcterms:W3CDTF">2022-05-30T16:27:47Z</dcterms:modified>
</cp:coreProperties>
</file>