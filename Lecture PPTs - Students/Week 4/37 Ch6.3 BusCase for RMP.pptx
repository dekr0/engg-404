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895" r:id="rId2"/>
    <p:sldId id="905" r:id="rId3"/>
    <p:sldId id="880" r:id="rId4"/>
    <p:sldId id="907" r:id="rId5"/>
    <p:sldId id="908" r:id="rId6"/>
    <p:sldId id="906" r:id="rId7"/>
    <p:sldId id="909" r:id="rId8"/>
    <p:sldId id="913" r:id="rId9"/>
    <p:sldId id="914" r:id="rId10"/>
    <p:sldId id="910" r:id="rId11"/>
    <p:sldId id="911" r:id="rId12"/>
    <p:sldId id="915" r:id="rId13"/>
    <p:sldId id="912" r:id="rId14"/>
    <p:sldId id="916" r:id="rId15"/>
    <p:sldId id="917" r:id="rId16"/>
    <p:sldId id="918" r:id="rId17"/>
    <p:sldId id="900" r:id="rId18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905"/>
            <p14:sldId id="880"/>
            <p14:sldId id="907"/>
            <p14:sldId id="908"/>
            <p14:sldId id="906"/>
            <p14:sldId id="909"/>
            <p14:sldId id="913"/>
            <p14:sldId id="914"/>
            <p14:sldId id="910"/>
            <p14:sldId id="911"/>
            <p14:sldId id="915"/>
            <p14:sldId id="912"/>
            <p14:sldId id="916"/>
            <p14:sldId id="917"/>
            <p14:sldId id="918"/>
            <p14:sldId id="9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0000FF"/>
    <a:srgbClr val="0000CC"/>
    <a:srgbClr val="F8F8F8"/>
    <a:srgbClr val="F5D7F1"/>
    <a:srgbClr val="5F5F5F"/>
    <a:srgbClr val="DDDDDD"/>
    <a:srgbClr val="FBA3E8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98116" autoAdjust="0"/>
  </p:normalViewPr>
  <p:slideViewPr>
    <p:cSldViewPr>
      <p:cViewPr varScale="1">
        <p:scale>
          <a:sx n="70" d="100"/>
          <a:sy n="70" d="100"/>
        </p:scale>
        <p:origin x="1220" y="56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5/30/2022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5/30/2022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0914" indent="-284967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9869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95815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1763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07711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3658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19606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75552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ENGG406 2015W</a:t>
            </a:r>
          </a:p>
        </p:txBody>
      </p:sp>
      <p:sp>
        <p:nvSpPr>
          <p:cNvPr id="430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0914" indent="-284967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9869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95815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1763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07711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3658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19606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75552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2-March-2015</a:t>
            </a:r>
          </a:p>
        </p:txBody>
      </p:sp>
      <p:sp>
        <p:nvSpPr>
          <p:cNvPr id="430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0914" indent="-284967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9869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95815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1763" indent="-227974" defTabSz="93089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07711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3658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19606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75552" indent="-227974" defTabSz="93089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99ED9C2-61BA-434F-8203-D2DB9B4F3C8D}" type="slidenum">
              <a:rPr lang="en-US" altLang="en-US" sz="1200">
                <a:latin typeface="Tahoma" panose="020B0604030504040204" pitchFamily="34" charset="0"/>
              </a:rPr>
              <a:pPr/>
              <a:t>2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43013" name="Rectangle 7"/>
          <p:cNvSpPr txBox="1">
            <a:spLocks noGrp="1" noChangeArrowheads="1"/>
          </p:cNvSpPr>
          <p:nvPr/>
        </p:nvSpPr>
        <p:spPr bwMode="auto">
          <a:xfrm>
            <a:off x="3941789" y="8845333"/>
            <a:ext cx="3013050" cy="463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908" tIns="46455" rIns="92908" bIns="46455" anchor="b"/>
          <a:lstStyle>
            <a:lvl1pPr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63588" indent="-293688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74750" indent="-23495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44650" indent="-23495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14550" indent="-23495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71750" indent="-23495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950" indent="-23495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86150" indent="-23495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43350" indent="-23495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EA401BB-E08E-4932-AAF7-20B9205AE5A7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430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square" lIns="92908" tIns="46455" rIns="92908" bIns="46455"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40189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997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711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376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09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8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3350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9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6126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854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7748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9731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24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3205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506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17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17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5/30/2022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6;p1" descr="SAT10E2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152400" y="3733802"/>
            <a:ext cx="1828800" cy="1884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Leader </a:t>
            </a:r>
            <a:b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105520"/>
            <a:ext cx="7315201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6.3:</a:t>
            </a:r>
            <a:b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Business Case </a:t>
            </a:r>
            <a:b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a Risk Management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Program</a:t>
            </a:r>
            <a:endParaRPr lang="en-US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599" y="228600"/>
            <a:ext cx="8280001" cy="947350"/>
          </a:xfrm>
          <a:prstGeom prst="rect">
            <a:avLst/>
          </a:prstGeom>
          <a:solidFill>
            <a:srgbClr val="00FF00"/>
          </a:solidFill>
          <a:ln>
            <a:solidFill>
              <a:schemeClr val="tx2"/>
            </a:solidFill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 algn="ctr">
              <a:defRPr sz="2000" i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sz="1600" dirty="0" smtClean="0">
                <a:solidFill>
                  <a:schemeClr val="tx2"/>
                </a:solidFill>
              </a:rPr>
              <a:t>Display this slide at the start of the lecture. </a:t>
            </a:r>
          </a:p>
          <a:p>
            <a:r>
              <a:rPr lang="en-CA" sz="1600" dirty="0" smtClean="0">
                <a:solidFill>
                  <a:schemeClr val="tx2"/>
                </a:solidFill>
              </a:rPr>
              <a:t>Request </a:t>
            </a:r>
            <a:r>
              <a:rPr lang="en-CA" sz="1600" dirty="0">
                <a:solidFill>
                  <a:schemeClr val="tx2"/>
                </a:solidFill>
              </a:rPr>
              <a:t>students to print this FORM or work on-line. </a:t>
            </a:r>
          </a:p>
          <a:p>
            <a:r>
              <a:rPr lang="en-CA" sz="1600" dirty="0">
                <a:solidFill>
                  <a:schemeClr val="tx2"/>
                </a:solidFill>
              </a:rPr>
              <a:t>It is in the shared drive Student Resources / Handouts  folder</a:t>
            </a:r>
            <a:r>
              <a:rPr lang="en-CA" sz="1600" dirty="0" smtClean="0">
                <a:solidFill>
                  <a:schemeClr val="tx2"/>
                </a:solidFill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43000"/>
            <a:ext cx="8280000" cy="51486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6800" y="6402839"/>
            <a:ext cx="7086600" cy="381000"/>
          </a:xfrm>
          <a:prstGeom prst="rect">
            <a:avLst/>
          </a:prstGeom>
          <a:solidFill>
            <a:srgbClr val="00FF00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CA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ALE in this lecture is to explain and complete this form.</a:t>
            </a:r>
          </a:p>
        </p:txBody>
      </p:sp>
    </p:spTree>
    <p:extLst>
      <p:ext uri="{BB962C8B-B14F-4D97-AF65-F5344CB8AC3E}">
        <p14:creationId xmlns:p14="http://schemas.microsoft.com/office/powerpoint/2010/main" val="39051191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difference between the </a:t>
            </a:r>
            <a:r>
              <a:rPr lang="en-CA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of a risk management program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 </a:t>
            </a:r>
            <a:r>
              <a:rPr lang="en-CA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of a loss incident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the degrees of certainty of those costs. </a:t>
            </a:r>
          </a:p>
          <a:p>
            <a:pPr lvl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b="0" dirty="0">
              <a:solidFill>
                <a:srgbClr val="AA947E">
                  <a:lumMod val="60000"/>
                  <a:lumOff val="4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 a set of data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CA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one method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 </a:t>
            </a:r>
            <a:r>
              <a:rPr lang="en-CA" alt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AIChE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 for a Business Case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to build the business case i.e. a favourable financial outcome for investing in a safety and risk management program.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6.3: The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Business Case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for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a Risk Management Program 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avoidance is the same as maximizing profit!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Preventing major loss incidents are important for PEAP impacts: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impact many, many people, 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May significantly impact the environment, 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Costs can easily reach into the millions, hundreds of millions, and billions of dollars. </a:t>
            </a:r>
          </a:p>
          <a:p>
            <a:pPr marL="565350" lvl="1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Lost assets, costs for recovery, environmental clean-up, litigation cost of business interruptions, loss of customers, “social license to operate”, future business expansion, even the viability of the organization.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Although  the likelihood of a process safety loss incident is </a:t>
            </a:r>
            <a:b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“low to extremely low”, but with severe consequences. 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1BA29C5D-9FA3-4DC3-9F13-A2812B630883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00" y="3505200"/>
            <a:ext cx="298800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Introduction: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6.3: The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Business Case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for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a Risk Management Program </a:t>
            </a:r>
          </a:p>
        </p:txBody>
      </p:sp>
      <p:sp>
        <p:nvSpPr>
          <p:cNvPr id="2" name="Rectangle 1"/>
          <p:cNvSpPr/>
          <p:nvPr/>
        </p:nvSpPr>
        <p:spPr>
          <a:xfrm>
            <a:off x="838200" y="3348000"/>
            <a:ext cx="2988000" cy="538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bg1"/>
                </a:solidFill>
              </a:rPr>
              <a:t>Boeing 737MAX</a:t>
            </a:r>
            <a:endParaRPr lang="en-US" sz="1200" dirty="0" smtClean="0">
              <a:solidFill>
                <a:schemeClr val="bg1"/>
              </a:solidFill>
            </a:endParaRPr>
          </a:p>
          <a:p>
            <a:r>
              <a:rPr lang="en-US" sz="1200" dirty="0" smtClean="0">
                <a:solidFill>
                  <a:schemeClr val="bg1"/>
                </a:solidFill>
              </a:rPr>
              <a:t>Cost to avoid? Easily </a:t>
            </a:r>
            <a:r>
              <a:rPr lang="en-US" sz="1200" dirty="0" smtClean="0">
                <a:solidFill>
                  <a:schemeClr val="bg1"/>
                </a:solidFill>
              </a:rPr>
              <a:t>&lt;$500 </a:t>
            </a:r>
            <a:r>
              <a:rPr lang="en-US" sz="1200" dirty="0" smtClean="0">
                <a:solidFill>
                  <a:schemeClr val="bg1"/>
                </a:solidFill>
              </a:rPr>
              <a:t>Million</a:t>
            </a:r>
          </a:p>
          <a:p>
            <a:r>
              <a:rPr lang="en-US" sz="1200" dirty="0" smtClean="0">
                <a:solidFill>
                  <a:schemeClr val="bg1"/>
                </a:solidFill>
              </a:rPr>
              <a:t>Cost of Loss Incident: </a:t>
            </a:r>
            <a:r>
              <a:rPr lang="en-US" sz="1200" dirty="0" smtClean="0">
                <a:solidFill>
                  <a:schemeClr val="bg1"/>
                </a:solidFill>
              </a:rPr>
              <a:t>&gt; 10 Billions </a:t>
            </a:r>
            <a:r>
              <a:rPr lang="en-US" sz="1200" dirty="0" smtClean="0">
                <a:solidFill>
                  <a:schemeClr val="bg1"/>
                </a:solidFill>
              </a:rPr>
              <a:t>$’s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0" name="Google Shape;19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62400" y="3505200"/>
            <a:ext cx="2988000" cy="198119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3960000" y="3348000"/>
            <a:ext cx="2988000" cy="538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bg1"/>
                </a:solidFill>
              </a:rPr>
              <a:t>BP-DWH – Gulf of Mexico, LA, USA</a:t>
            </a:r>
          </a:p>
          <a:p>
            <a:r>
              <a:rPr lang="en-US" sz="1200" dirty="0" smtClean="0">
                <a:solidFill>
                  <a:schemeClr val="bg1"/>
                </a:solidFill>
              </a:rPr>
              <a:t>Cost to avoid? Easily &lt;$100 Million</a:t>
            </a:r>
          </a:p>
          <a:p>
            <a:r>
              <a:rPr lang="en-US" sz="1200" dirty="0" smtClean="0">
                <a:solidFill>
                  <a:schemeClr val="bg1"/>
                </a:solidFill>
              </a:rPr>
              <a:t>Cost of Loss Incident: </a:t>
            </a:r>
            <a:r>
              <a:rPr lang="en-US" sz="1200" dirty="0" smtClean="0">
                <a:solidFill>
                  <a:schemeClr val="bg1"/>
                </a:solidFill>
              </a:rPr>
              <a:t>&gt;10 Billions </a:t>
            </a:r>
            <a:r>
              <a:rPr lang="en-US" sz="1200" dirty="0" smtClean="0">
                <a:solidFill>
                  <a:schemeClr val="bg1"/>
                </a:solidFill>
              </a:rPr>
              <a:t>$’s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450" y="4517880"/>
            <a:ext cx="1405000" cy="1098413"/>
          </a:xfrm>
          <a:prstGeom prst="rect">
            <a:avLst/>
          </a:prstGeom>
        </p:spPr>
      </p:pic>
      <p:sp>
        <p:nvSpPr>
          <p:cNvPr id="17" name="Cloud Callout 16"/>
          <p:cNvSpPr/>
          <p:nvPr/>
        </p:nvSpPr>
        <p:spPr>
          <a:xfrm>
            <a:off x="7050900" y="3347999"/>
            <a:ext cx="1712100" cy="995401"/>
          </a:xfrm>
          <a:prstGeom prst="cloudCallout">
            <a:avLst>
              <a:gd name="adj1" fmla="val -11220"/>
              <a:gd name="adj2" fmla="val 9465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Your Team Project Loss Incident?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8558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95408" y="846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Economic Return: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basic investment metric is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on Investment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(ROI). 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difficult to justify investment if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likelihood of an incident is extremely low or there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incidents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it is hard to show a return on investment in risk management.</a:t>
            </a:r>
          </a:p>
          <a:p>
            <a:pPr marL="720000" lvl="0" indent="-3600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too often companies look at risk management as a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of doing business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rather than an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investment in the business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investments in risk management may never materialize. </a:t>
            </a:r>
          </a:p>
          <a:p>
            <a:pPr marL="360000" indent="-3600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other ways of measuring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… 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Thus, the conversation needs to change: </a:t>
            </a:r>
          </a:p>
          <a:p>
            <a:pPr marL="720000" lvl="2" indent="-3600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i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cost of doing business</a:t>
            </a:r>
            <a:r>
              <a:rPr lang="en-US" altLang="en-US" sz="20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altLang="en-US" sz="2000" b="0" i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investment in the business</a:t>
            </a:r>
            <a:r>
              <a:rPr lang="en-US" altLang="en-US" sz="20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8116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Why Do We Need to Build a Business Case for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 RM Program?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6.3: The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Business Case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for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a Risk Management Program </a:t>
            </a:r>
          </a:p>
        </p:txBody>
      </p:sp>
    </p:spTree>
    <p:extLst>
      <p:ext uri="{BB962C8B-B14F-4D97-AF65-F5344CB8AC3E}">
        <p14:creationId xmlns:p14="http://schemas.microsoft.com/office/powerpoint/2010/main" val="3821575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of Risk Management Program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incurred when implemented and managed to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 process safety loss incidents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aka “Cost of safety”</a:t>
            </a:r>
          </a:p>
          <a:p>
            <a:pPr lvl="1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Involves weighing the cost of the </a:t>
            </a:r>
            <a:r>
              <a:rPr lang="en-US" altLang="en-US" sz="20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management program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vs cost of </a:t>
            </a:r>
            <a:r>
              <a:rPr lang="en-US" altLang="en-US" sz="20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incidents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altLang="en-US" sz="20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Is it a balance between costs and </a:t>
            </a:r>
            <a:br>
              <a:rPr lang="en-US" altLang="en-US" sz="20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acceptable level of risks?</a:t>
            </a:r>
          </a:p>
          <a:p>
            <a:pPr lvl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of a risk management program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highly certain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cost of a loss incident is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certain at all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bad will it be?</a:t>
            </a:r>
          </a:p>
          <a:p>
            <a:pPr lvl="1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will be the direct and indirect costs? </a:t>
            </a:r>
          </a:p>
          <a:p>
            <a:pPr lvl="1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these ever be fully quantified? (Exxon-Valdez litigation was resolved just in the past few years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!)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Cost of a RM Program versus Cost of Loss Incidents: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6.3: The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Business Case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for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a Risk Management Program </a:t>
            </a:r>
          </a:p>
        </p:txBody>
      </p:sp>
      <p:pic>
        <p:nvPicPr>
          <p:cNvPr id="6" name="Picture 5" descr="File:Johnny-automatic-scales-of-justice.svg - Wikimedia ..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501400"/>
            <a:ext cx="2290159" cy="198120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6050578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funds are spent on a Risk Management Program (RMP), the likelihood of severe-consequence loss incidents is less,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therefore the potential costs of loss incidents is less.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Sweet-spot – a challenge for every organization. </a:t>
            </a:r>
          </a:p>
          <a:p>
            <a:pPr marL="565350" lvl="1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much is the “right amount” to spend on ES &amp; RM?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Driver for an ESRM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Program: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6.3: The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Business Case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for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a Risk Management Program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676400" y="2438400"/>
            <a:ext cx="5562600" cy="3733956"/>
            <a:chOff x="1676400" y="2438400"/>
            <a:chExt cx="5562600" cy="3733956"/>
          </a:xfrm>
        </p:grpSpPr>
        <p:sp>
          <p:nvSpPr>
            <p:cNvPr id="49" name="Rectangle 7"/>
            <p:cNvSpPr>
              <a:spLocks noChangeArrowheads="1"/>
            </p:cNvSpPr>
            <p:nvPr/>
          </p:nvSpPr>
          <p:spPr bwMode="auto">
            <a:xfrm>
              <a:off x="1709738" y="2627099"/>
              <a:ext cx="3271837" cy="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prstShdw prst="shdw17" dist="17961" dir="2700000">
                <a:srgbClr val="FFFFFF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endParaRPr lang="en-CA" sz="2400" b="0">
                <a:solidFill>
                  <a:srgbClr val="46363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" name="AutoShape 12"/>
            <p:cNvSpPr>
              <a:spLocks noChangeAspect="1" noChangeArrowheads="1" noTextEdit="1"/>
            </p:cNvSpPr>
            <p:nvPr/>
          </p:nvSpPr>
          <p:spPr bwMode="auto">
            <a:xfrm>
              <a:off x="1676400" y="2438400"/>
              <a:ext cx="5562600" cy="3733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grpSp>
          <p:nvGrpSpPr>
            <p:cNvPr id="94" name="Group 16"/>
            <p:cNvGrpSpPr>
              <a:grpSpLocks/>
            </p:cNvGrpSpPr>
            <p:nvPr/>
          </p:nvGrpSpPr>
          <p:grpSpPr bwMode="auto">
            <a:xfrm>
              <a:off x="1679240" y="2441240"/>
              <a:ext cx="5546983" cy="3718339"/>
              <a:chOff x="962" y="1452"/>
              <a:chExt cx="3907" cy="2619"/>
            </a:xfrm>
          </p:grpSpPr>
          <p:sp>
            <p:nvSpPr>
              <p:cNvPr id="129" name="Rectangle 14"/>
              <p:cNvSpPr>
                <a:spLocks noChangeArrowheads="1"/>
              </p:cNvSpPr>
              <p:nvPr/>
            </p:nvSpPr>
            <p:spPr bwMode="auto">
              <a:xfrm>
                <a:off x="962" y="1452"/>
                <a:ext cx="3907" cy="261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>
                  <a:solidFill>
                    <a:schemeClr val="tx2"/>
                  </a:solidFill>
                </a:endParaRPr>
              </a:p>
            </p:txBody>
          </p:sp>
          <p:sp>
            <p:nvSpPr>
              <p:cNvPr id="130" name="Rectangle 15"/>
              <p:cNvSpPr>
                <a:spLocks noChangeArrowheads="1"/>
              </p:cNvSpPr>
              <p:nvPr/>
            </p:nvSpPr>
            <p:spPr bwMode="auto">
              <a:xfrm>
                <a:off x="962" y="1452"/>
                <a:ext cx="3907" cy="2619"/>
              </a:xfrm>
              <a:prstGeom prst="rect">
                <a:avLst/>
              </a:prstGeom>
              <a:noFill/>
              <a:ln w="793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95" name="Rectangle 17"/>
            <p:cNvSpPr>
              <a:spLocks noChangeArrowheads="1"/>
            </p:cNvSpPr>
            <p:nvPr/>
          </p:nvSpPr>
          <p:spPr bwMode="auto">
            <a:xfrm>
              <a:off x="1676400" y="2591734"/>
              <a:ext cx="5490192" cy="245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kumimoji="0" lang="en-US" altLang="en-US" sz="1600" b="1" i="1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</a:rPr>
                <a:t>Investment in Risk Management vs </a:t>
              </a:r>
              <a:r>
                <a:rPr lang="en-US" altLang="en-US" sz="1600" b="1" i="1" dirty="0" smtClean="0">
                  <a:solidFill>
                    <a:schemeClr val="tx2"/>
                  </a:solidFill>
                  <a:latin typeface="Arial" panose="020B0604020202020204" pitchFamily="34" charset="0"/>
                </a:rPr>
                <a:t>Cost </a:t>
              </a:r>
              <a:r>
                <a:rPr lang="en-US" altLang="en-US" sz="1600" b="1" i="1" dirty="0">
                  <a:solidFill>
                    <a:schemeClr val="tx2"/>
                  </a:solidFill>
                  <a:latin typeface="Arial" panose="020B0604020202020204" pitchFamily="34" charset="0"/>
                </a:rPr>
                <a:t>of Incidents</a:t>
              </a:r>
              <a:r>
                <a:rPr lang="en-US" altLang="en-US" sz="1600" b="1" i="1" dirty="0" smtClean="0">
                  <a:solidFill>
                    <a:schemeClr val="tx2"/>
                  </a:solidFill>
                  <a:latin typeface="Arial" panose="020B0604020202020204" pitchFamily="34" charset="0"/>
                </a:rPr>
                <a:t>:</a:t>
              </a:r>
              <a:r>
                <a:rPr kumimoji="0" lang="en-US" altLang="en-US" sz="1600" b="1" i="1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</a:endParaRPr>
            </a:p>
          </p:txBody>
        </p:sp>
        <p:sp>
          <p:nvSpPr>
            <p:cNvPr id="100" name="Rectangle 20"/>
            <p:cNvSpPr>
              <a:spLocks noChangeArrowheads="1"/>
            </p:cNvSpPr>
            <p:nvPr/>
          </p:nvSpPr>
          <p:spPr bwMode="auto">
            <a:xfrm>
              <a:off x="1787141" y="2818894"/>
              <a:ext cx="4900994" cy="318167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1" name="Rectangle 21"/>
            <p:cNvSpPr>
              <a:spLocks noChangeArrowheads="1"/>
            </p:cNvSpPr>
            <p:nvPr/>
          </p:nvSpPr>
          <p:spPr bwMode="auto">
            <a:xfrm>
              <a:off x="1787141" y="2818894"/>
              <a:ext cx="4900994" cy="318167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2" name="Rectangle 22"/>
            <p:cNvSpPr>
              <a:spLocks noChangeArrowheads="1"/>
            </p:cNvSpPr>
            <p:nvPr/>
          </p:nvSpPr>
          <p:spPr bwMode="auto">
            <a:xfrm>
              <a:off x="2234364" y="2983586"/>
              <a:ext cx="4272043" cy="2336917"/>
            </a:xfrm>
            <a:prstGeom prst="rect">
              <a:avLst/>
            </a:prstGeom>
            <a:solidFill>
              <a:srgbClr val="FFFF99"/>
            </a:solidFill>
            <a:ln w="11113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3" name="Freeform 23"/>
            <p:cNvSpPr>
              <a:spLocks/>
            </p:cNvSpPr>
            <p:nvPr/>
          </p:nvSpPr>
          <p:spPr bwMode="auto">
            <a:xfrm>
              <a:off x="2492759" y="3243401"/>
              <a:ext cx="3883030" cy="1817286"/>
            </a:xfrm>
            <a:custGeom>
              <a:avLst/>
              <a:gdLst>
                <a:gd name="T0" fmla="*/ 2735 w 2735"/>
                <a:gd name="T1" fmla="*/ 0 h 1280"/>
                <a:gd name="T2" fmla="*/ 2733 w 2735"/>
                <a:gd name="T3" fmla="*/ 52 h 1280"/>
                <a:gd name="T4" fmla="*/ 2726 w 2735"/>
                <a:gd name="T5" fmla="*/ 106 h 1280"/>
                <a:gd name="T6" fmla="*/ 2715 w 2735"/>
                <a:gd name="T7" fmla="*/ 158 h 1280"/>
                <a:gd name="T8" fmla="*/ 2698 w 2735"/>
                <a:gd name="T9" fmla="*/ 211 h 1280"/>
                <a:gd name="T10" fmla="*/ 2677 w 2735"/>
                <a:gd name="T11" fmla="*/ 262 h 1280"/>
                <a:gd name="T12" fmla="*/ 2652 w 2735"/>
                <a:gd name="T13" fmla="*/ 314 h 1280"/>
                <a:gd name="T14" fmla="*/ 2621 w 2735"/>
                <a:gd name="T15" fmla="*/ 364 h 1280"/>
                <a:gd name="T16" fmla="*/ 2587 w 2735"/>
                <a:gd name="T17" fmla="*/ 415 h 1280"/>
                <a:gd name="T18" fmla="*/ 2548 w 2735"/>
                <a:gd name="T19" fmla="*/ 465 h 1280"/>
                <a:gd name="T20" fmla="*/ 2505 w 2735"/>
                <a:gd name="T21" fmla="*/ 514 h 1280"/>
                <a:gd name="T22" fmla="*/ 2457 w 2735"/>
                <a:gd name="T23" fmla="*/ 562 h 1280"/>
                <a:gd name="T24" fmla="*/ 2406 w 2735"/>
                <a:gd name="T25" fmla="*/ 609 h 1280"/>
                <a:gd name="T26" fmla="*/ 2350 w 2735"/>
                <a:gd name="T27" fmla="*/ 654 h 1280"/>
                <a:gd name="T28" fmla="*/ 2289 w 2735"/>
                <a:gd name="T29" fmla="*/ 700 h 1280"/>
                <a:gd name="T30" fmla="*/ 2226 w 2735"/>
                <a:gd name="T31" fmla="*/ 743 h 1280"/>
                <a:gd name="T32" fmla="*/ 2158 w 2735"/>
                <a:gd name="T33" fmla="*/ 786 h 1280"/>
                <a:gd name="T34" fmla="*/ 2088 w 2735"/>
                <a:gd name="T35" fmla="*/ 828 h 1280"/>
                <a:gd name="T36" fmla="*/ 2012 w 2735"/>
                <a:gd name="T37" fmla="*/ 867 h 1280"/>
                <a:gd name="T38" fmla="*/ 1935 w 2735"/>
                <a:gd name="T39" fmla="*/ 904 h 1280"/>
                <a:gd name="T40" fmla="*/ 1853 w 2735"/>
                <a:gd name="T41" fmla="*/ 942 h 1280"/>
                <a:gd name="T42" fmla="*/ 1768 w 2735"/>
                <a:gd name="T43" fmla="*/ 976 h 1280"/>
                <a:gd name="T44" fmla="*/ 1681 w 2735"/>
                <a:gd name="T45" fmla="*/ 1010 h 1280"/>
                <a:gd name="T46" fmla="*/ 1590 w 2735"/>
                <a:gd name="T47" fmla="*/ 1042 h 1280"/>
                <a:gd name="T48" fmla="*/ 1496 w 2735"/>
                <a:gd name="T49" fmla="*/ 1071 h 1280"/>
                <a:gd name="T50" fmla="*/ 1400 w 2735"/>
                <a:gd name="T51" fmla="*/ 1099 h 1280"/>
                <a:gd name="T52" fmla="*/ 1302 w 2735"/>
                <a:gd name="T53" fmla="*/ 1126 h 1280"/>
                <a:gd name="T54" fmla="*/ 1202 w 2735"/>
                <a:gd name="T55" fmla="*/ 1149 h 1280"/>
                <a:gd name="T56" fmla="*/ 1099 w 2735"/>
                <a:gd name="T57" fmla="*/ 1173 h 1280"/>
                <a:gd name="T58" fmla="*/ 994 w 2735"/>
                <a:gd name="T59" fmla="*/ 1192 h 1280"/>
                <a:gd name="T60" fmla="*/ 888 w 2735"/>
                <a:gd name="T61" fmla="*/ 1210 h 1280"/>
                <a:gd name="T62" fmla="*/ 780 w 2735"/>
                <a:gd name="T63" fmla="*/ 1226 h 1280"/>
                <a:gd name="T64" fmla="*/ 672 w 2735"/>
                <a:gd name="T65" fmla="*/ 1241 h 1280"/>
                <a:gd name="T66" fmla="*/ 562 w 2735"/>
                <a:gd name="T67" fmla="*/ 1253 h 1280"/>
                <a:gd name="T68" fmla="*/ 451 w 2735"/>
                <a:gd name="T69" fmla="*/ 1263 h 1280"/>
                <a:gd name="T70" fmla="*/ 339 w 2735"/>
                <a:gd name="T71" fmla="*/ 1270 h 1280"/>
                <a:gd name="T72" fmla="*/ 226 w 2735"/>
                <a:gd name="T73" fmla="*/ 1276 h 1280"/>
                <a:gd name="T74" fmla="*/ 113 w 2735"/>
                <a:gd name="T75" fmla="*/ 1279 h 1280"/>
                <a:gd name="T76" fmla="*/ 0 w 2735"/>
                <a:gd name="T77" fmla="*/ 1280 h 1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735" h="1280">
                  <a:moveTo>
                    <a:pt x="2735" y="0"/>
                  </a:moveTo>
                  <a:lnTo>
                    <a:pt x="2733" y="52"/>
                  </a:lnTo>
                  <a:lnTo>
                    <a:pt x="2726" y="106"/>
                  </a:lnTo>
                  <a:lnTo>
                    <a:pt x="2715" y="158"/>
                  </a:lnTo>
                  <a:lnTo>
                    <a:pt x="2698" y="211"/>
                  </a:lnTo>
                  <a:lnTo>
                    <a:pt x="2677" y="262"/>
                  </a:lnTo>
                  <a:lnTo>
                    <a:pt x="2652" y="314"/>
                  </a:lnTo>
                  <a:lnTo>
                    <a:pt x="2621" y="364"/>
                  </a:lnTo>
                  <a:lnTo>
                    <a:pt x="2587" y="415"/>
                  </a:lnTo>
                  <a:lnTo>
                    <a:pt x="2548" y="465"/>
                  </a:lnTo>
                  <a:lnTo>
                    <a:pt x="2505" y="514"/>
                  </a:lnTo>
                  <a:lnTo>
                    <a:pt x="2457" y="562"/>
                  </a:lnTo>
                  <a:lnTo>
                    <a:pt x="2406" y="609"/>
                  </a:lnTo>
                  <a:lnTo>
                    <a:pt x="2350" y="654"/>
                  </a:lnTo>
                  <a:lnTo>
                    <a:pt x="2289" y="700"/>
                  </a:lnTo>
                  <a:lnTo>
                    <a:pt x="2226" y="743"/>
                  </a:lnTo>
                  <a:lnTo>
                    <a:pt x="2158" y="786"/>
                  </a:lnTo>
                  <a:lnTo>
                    <a:pt x="2088" y="828"/>
                  </a:lnTo>
                  <a:lnTo>
                    <a:pt x="2012" y="867"/>
                  </a:lnTo>
                  <a:lnTo>
                    <a:pt x="1935" y="904"/>
                  </a:lnTo>
                  <a:lnTo>
                    <a:pt x="1853" y="942"/>
                  </a:lnTo>
                  <a:lnTo>
                    <a:pt x="1768" y="976"/>
                  </a:lnTo>
                  <a:lnTo>
                    <a:pt x="1681" y="1010"/>
                  </a:lnTo>
                  <a:lnTo>
                    <a:pt x="1590" y="1042"/>
                  </a:lnTo>
                  <a:lnTo>
                    <a:pt x="1496" y="1071"/>
                  </a:lnTo>
                  <a:lnTo>
                    <a:pt x="1400" y="1099"/>
                  </a:lnTo>
                  <a:lnTo>
                    <a:pt x="1302" y="1126"/>
                  </a:lnTo>
                  <a:lnTo>
                    <a:pt x="1202" y="1149"/>
                  </a:lnTo>
                  <a:lnTo>
                    <a:pt x="1099" y="1173"/>
                  </a:lnTo>
                  <a:lnTo>
                    <a:pt x="994" y="1192"/>
                  </a:lnTo>
                  <a:lnTo>
                    <a:pt x="888" y="1210"/>
                  </a:lnTo>
                  <a:lnTo>
                    <a:pt x="780" y="1226"/>
                  </a:lnTo>
                  <a:lnTo>
                    <a:pt x="672" y="1241"/>
                  </a:lnTo>
                  <a:lnTo>
                    <a:pt x="562" y="1253"/>
                  </a:lnTo>
                  <a:lnTo>
                    <a:pt x="451" y="1263"/>
                  </a:lnTo>
                  <a:lnTo>
                    <a:pt x="339" y="1270"/>
                  </a:lnTo>
                  <a:lnTo>
                    <a:pt x="226" y="1276"/>
                  </a:lnTo>
                  <a:lnTo>
                    <a:pt x="113" y="1279"/>
                  </a:lnTo>
                  <a:lnTo>
                    <a:pt x="0" y="128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4" name="Freeform 24"/>
            <p:cNvSpPr>
              <a:spLocks/>
            </p:cNvSpPr>
            <p:nvPr/>
          </p:nvSpPr>
          <p:spPr bwMode="auto">
            <a:xfrm>
              <a:off x="2621957" y="3243401"/>
              <a:ext cx="17037" cy="164692"/>
            </a:xfrm>
            <a:custGeom>
              <a:avLst/>
              <a:gdLst>
                <a:gd name="T0" fmla="*/ 0 w 10"/>
                <a:gd name="T1" fmla="*/ 0 h 95"/>
                <a:gd name="T2" fmla="*/ 2 w 10"/>
                <a:gd name="T3" fmla="*/ 43 h 95"/>
                <a:gd name="T4" fmla="*/ 8 w 10"/>
                <a:gd name="T5" fmla="*/ 87 h 95"/>
                <a:gd name="T6" fmla="*/ 10 w 10"/>
                <a:gd name="T7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95">
                  <a:moveTo>
                    <a:pt x="0" y="0"/>
                  </a:moveTo>
                  <a:lnTo>
                    <a:pt x="2" y="43"/>
                  </a:lnTo>
                  <a:lnTo>
                    <a:pt x="8" y="87"/>
                  </a:lnTo>
                  <a:lnTo>
                    <a:pt x="10" y="9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5" name="Freeform 25"/>
            <p:cNvSpPr>
              <a:spLocks/>
            </p:cNvSpPr>
            <p:nvPr/>
          </p:nvSpPr>
          <p:spPr bwMode="auto">
            <a:xfrm>
              <a:off x="2661710" y="3497537"/>
              <a:ext cx="61049" cy="153334"/>
            </a:xfrm>
            <a:custGeom>
              <a:avLst/>
              <a:gdLst>
                <a:gd name="T0" fmla="*/ 0 w 35"/>
                <a:gd name="T1" fmla="*/ 0 h 89"/>
                <a:gd name="T2" fmla="*/ 8 w 35"/>
                <a:gd name="T3" fmla="*/ 26 h 89"/>
                <a:gd name="T4" fmla="*/ 25 w 35"/>
                <a:gd name="T5" fmla="*/ 68 h 89"/>
                <a:gd name="T6" fmla="*/ 35 w 35"/>
                <a:gd name="T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89">
                  <a:moveTo>
                    <a:pt x="0" y="0"/>
                  </a:moveTo>
                  <a:lnTo>
                    <a:pt x="8" y="26"/>
                  </a:lnTo>
                  <a:lnTo>
                    <a:pt x="25" y="68"/>
                  </a:lnTo>
                  <a:lnTo>
                    <a:pt x="35" y="89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6" name="Freeform 26"/>
            <p:cNvSpPr>
              <a:spLocks/>
            </p:cNvSpPr>
            <p:nvPr/>
          </p:nvSpPr>
          <p:spPr bwMode="auto">
            <a:xfrm>
              <a:off x="2766772" y="3733216"/>
              <a:ext cx="93704" cy="136296"/>
            </a:xfrm>
            <a:custGeom>
              <a:avLst/>
              <a:gdLst>
                <a:gd name="T0" fmla="*/ 0 w 54"/>
                <a:gd name="T1" fmla="*/ 0 h 79"/>
                <a:gd name="T2" fmla="*/ 10 w 54"/>
                <a:gd name="T3" fmla="*/ 16 h 79"/>
                <a:gd name="T4" fmla="*/ 38 w 54"/>
                <a:gd name="T5" fmla="*/ 58 h 79"/>
                <a:gd name="T6" fmla="*/ 54 w 54"/>
                <a:gd name="T7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79">
                  <a:moveTo>
                    <a:pt x="0" y="0"/>
                  </a:moveTo>
                  <a:lnTo>
                    <a:pt x="10" y="16"/>
                  </a:lnTo>
                  <a:lnTo>
                    <a:pt x="38" y="58"/>
                  </a:lnTo>
                  <a:lnTo>
                    <a:pt x="54" y="79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7" name="Freeform 27"/>
            <p:cNvSpPr>
              <a:spLocks/>
            </p:cNvSpPr>
            <p:nvPr/>
          </p:nvSpPr>
          <p:spPr bwMode="auto">
            <a:xfrm>
              <a:off x="2920105" y="3940500"/>
              <a:ext cx="116420" cy="117840"/>
            </a:xfrm>
            <a:custGeom>
              <a:avLst/>
              <a:gdLst>
                <a:gd name="T0" fmla="*/ 0 w 67"/>
                <a:gd name="T1" fmla="*/ 0 h 68"/>
                <a:gd name="T2" fmla="*/ 17 w 67"/>
                <a:gd name="T3" fmla="*/ 19 h 68"/>
                <a:gd name="T4" fmla="*/ 56 w 67"/>
                <a:gd name="T5" fmla="*/ 58 h 68"/>
                <a:gd name="T6" fmla="*/ 67 w 67"/>
                <a:gd name="T7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68">
                  <a:moveTo>
                    <a:pt x="0" y="0"/>
                  </a:moveTo>
                  <a:lnTo>
                    <a:pt x="17" y="19"/>
                  </a:lnTo>
                  <a:lnTo>
                    <a:pt x="56" y="58"/>
                  </a:lnTo>
                  <a:lnTo>
                    <a:pt x="67" y="68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8" name="Freeform 28"/>
            <p:cNvSpPr>
              <a:spLocks/>
            </p:cNvSpPr>
            <p:nvPr/>
          </p:nvSpPr>
          <p:spPr bwMode="auto">
            <a:xfrm>
              <a:off x="3106093" y="4120809"/>
              <a:ext cx="130617" cy="102222"/>
            </a:xfrm>
            <a:custGeom>
              <a:avLst/>
              <a:gdLst>
                <a:gd name="T0" fmla="*/ 0 w 76"/>
                <a:gd name="T1" fmla="*/ 0 h 59"/>
                <a:gd name="T2" fmla="*/ 37 w 76"/>
                <a:gd name="T3" fmla="*/ 30 h 59"/>
                <a:gd name="T4" fmla="*/ 76 w 76"/>
                <a:gd name="T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" h="59">
                  <a:moveTo>
                    <a:pt x="0" y="0"/>
                  </a:moveTo>
                  <a:lnTo>
                    <a:pt x="37" y="30"/>
                  </a:lnTo>
                  <a:lnTo>
                    <a:pt x="76" y="59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09" name="Freeform 29"/>
            <p:cNvSpPr>
              <a:spLocks/>
            </p:cNvSpPr>
            <p:nvPr/>
          </p:nvSpPr>
          <p:spPr bwMode="auto">
            <a:xfrm>
              <a:off x="3311958" y="4276982"/>
              <a:ext cx="140556" cy="89445"/>
            </a:xfrm>
            <a:custGeom>
              <a:avLst/>
              <a:gdLst>
                <a:gd name="T0" fmla="*/ 0 w 81"/>
                <a:gd name="T1" fmla="*/ 0 h 52"/>
                <a:gd name="T2" fmla="*/ 19 w 81"/>
                <a:gd name="T3" fmla="*/ 13 h 52"/>
                <a:gd name="T4" fmla="*/ 75 w 81"/>
                <a:gd name="T5" fmla="*/ 48 h 52"/>
                <a:gd name="T6" fmla="*/ 81 w 81"/>
                <a:gd name="T7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" h="52">
                  <a:moveTo>
                    <a:pt x="0" y="0"/>
                  </a:moveTo>
                  <a:lnTo>
                    <a:pt x="19" y="13"/>
                  </a:lnTo>
                  <a:lnTo>
                    <a:pt x="75" y="48"/>
                  </a:lnTo>
                  <a:lnTo>
                    <a:pt x="81" y="52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0" name="Freeform 30"/>
            <p:cNvSpPr>
              <a:spLocks/>
            </p:cNvSpPr>
            <p:nvPr/>
          </p:nvSpPr>
          <p:spPr bwMode="auto">
            <a:xfrm>
              <a:off x="3533440" y="4413279"/>
              <a:ext cx="146235" cy="75247"/>
            </a:xfrm>
            <a:custGeom>
              <a:avLst/>
              <a:gdLst>
                <a:gd name="T0" fmla="*/ 0 w 85"/>
                <a:gd name="T1" fmla="*/ 0 h 44"/>
                <a:gd name="T2" fmla="*/ 5 w 85"/>
                <a:gd name="T3" fmla="*/ 3 h 44"/>
                <a:gd name="T4" fmla="*/ 67 w 85"/>
                <a:gd name="T5" fmla="*/ 35 h 44"/>
                <a:gd name="T6" fmla="*/ 85 w 85"/>
                <a:gd name="T7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5" h="44">
                  <a:moveTo>
                    <a:pt x="0" y="0"/>
                  </a:moveTo>
                  <a:lnTo>
                    <a:pt x="5" y="3"/>
                  </a:lnTo>
                  <a:lnTo>
                    <a:pt x="67" y="35"/>
                  </a:lnTo>
                  <a:lnTo>
                    <a:pt x="85" y="4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1" name="Freeform 31"/>
            <p:cNvSpPr>
              <a:spLocks/>
            </p:cNvSpPr>
            <p:nvPr/>
          </p:nvSpPr>
          <p:spPr bwMode="auto">
            <a:xfrm>
              <a:off x="3764860" y="4529699"/>
              <a:ext cx="151914" cy="66728"/>
            </a:xfrm>
            <a:custGeom>
              <a:avLst/>
              <a:gdLst>
                <a:gd name="T0" fmla="*/ 0 w 88"/>
                <a:gd name="T1" fmla="*/ 0 h 39"/>
                <a:gd name="T2" fmla="*/ 65 w 88"/>
                <a:gd name="T3" fmla="*/ 30 h 39"/>
                <a:gd name="T4" fmla="*/ 88 w 88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" h="39">
                  <a:moveTo>
                    <a:pt x="0" y="0"/>
                  </a:moveTo>
                  <a:lnTo>
                    <a:pt x="65" y="30"/>
                  </a:lnTo>
                  <a:lnTo>
                    <a:pt x="88" y="39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2" name="Freeform 32"/>
            <p:cNvSpPr>
              <a:spLocks/>
            </p:cNvSpPr>
            <p:nvPr/>
          </p:nvSpPr>
          <p:spPr bwMode="auto">
            <a:xfrm>
              <a:off x="4001959" y="4633341"/>
              <a:ext cx="156173" cy="56790"/>
            </a:xfrm>
            <a:custGeom>
              <a:avLst/>
              <a:gdLst>
                <a:gd name="T0" fmla="*/ 0 w 90"/>
                <a:gd name="T1" fmla="*/ 0 h 33"/>
                <a:gd name="T2" fmla="*/ 69 w 90"/>
                <a:gd name="T3" fmla="*/ 26 h 33"/>
                <a:gd name="T4" fmla="*/ 90 w 90"/>
                <a:gd name="T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3">
                  <a:moveTo>
                    <a:pt x="0" y="0"/>
                  </a:moveTo>
                  <a:lnTo>
                    <a:pt x="69" y="26"/>
                  </a:lnTo>
                  <a:lnTo>
                    <a:pt x="90" y="33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3" name="Freeform 33"/>
            <p:cNvSpPr>
              <a:spLocks/>
            </p:cNvSpPr>
            <p:nvPr/>
          </p:nvSpPr>
          <p:spPr bwMode="auto">
            <a:xfrm>
              <a:off x="4246157" y="4721366"/>
              <a:ext cx="159013" cy="49691"/>
            </a:xfrm>
            <a:custGeom>
              <a:avLst/>
              <a:gdLst>
                <a:gd name="T0" fmla="*/ 0 w 92"/>
                <a:gd name="T1" fmla="*/ 0 h 29"/>
                <a:gd name="T2" fmla="*/ 2 w 92"/>
                <a:gd name="T3" fmla="*/ 1 h 29"/>
                <a:gd name="T4" fmla="*/ 79 w 92"/>
                <a:gd name="T5" fmla="*/ 25 h 29"/>
                <a:gd name="T6" fmla="*/ 92 w 92"/>
                <a:gd name="T7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" h="29">
                  <a:moveTo>
                    <a:pt x="0" y="0"/>
                  </a:moveTo>
                  <a:lnTo>
                    <a:pt x="2" y="1"/>
                  </a:lnTo>
                  <a:lnTo>
                    <a:pt x="79" y="25"/>
                  </a:lnTo>
                  <a:lnTo>
                    <a:pt x="92" y="29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4" name="Freeform 34"/>
            <p:cNvSpPr>
              <a:spLocks/>
            </p:cNvSpPr>
            <p:nvPr/>
          </p:nvSpPr>
          <p:spPr bwMode="auto">
            <a:xfrm>
              <a:off x="4494614" y="4798032"/>
              <a:ext cx="160432" cy="42593"/>
            </a:xfrm>
            <a:custGeom>
              <a:avLst/>
              <a:gdLst>
                <a:gd name="T0" fmla="*/ 0 w 93"/>
                <a:gd name="T1" fmla="*/ 0 h 25"/>
                <a:gd name="T2" fmla="*/ 14 w 93"/>
                <a:gd name="T3" fmla="*/ 4 h 25"/>
                <a:gd name="T4" fmla="*/ 93 w 93"/>
                <a:gd name="T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3" h="25">
                  <a:moveTo>
                    <a:pt x="0" y="0"/>
                  </a:moveTo>
                  <a:lnTo>
                    <a:pt x="14" y="4"/>
                  </a:lnTo>
                  <a:lnTo>
                    <a:pt x="93" y="2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5" name="Freeform 35"/>
            <p:cNvSpPr>
              <a:spLocks/>
            </p:cNvSpPr>
            <p:nvPr/>
          </p:nvSpPr>
          <p:spPr bwMode="auto">
            <a:xfrm>
              <a:off x="4744491" y="4863341"/>
              <a:ext cx="161852" cy="35494"/>
            </a:xfrm>
            <a:custGeom>
              <a:avLst/>
              <a:gdLst>
                <a:gd name="T0" fmla="*/ 0 w 94"/>
                <a:gd name="T1" fmla="*/ 0 h 21"/>
                <a:gd name="T2" fmla="*/ 32 w 94"/>
                <a:gd name="T3" fmla="*/ 7 h 21"/>
                <a:gd name="T4" fmla="*/ 94 w 94"/>
                <a:gd name="T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4" h="21">
                  <a:moveTo>
                    <a:pt x="0" y="0"/>
                  </a:moveTo>
                  <a:lnTo>
                    <a:pt x="32" y="7"/>
                  </a:lnTo>
                  <a:lnTo>
                    <a:pt x="94" y="21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6" name="Freeform 36"/>
            <p:cNvSpPr>
              <a:spLocks/>
            </p:cNvSpPr>
            <p:nvPr/>
          </p:nvSpPr>
          <p:spPr bwMode="auto">
            <a:xfrm>
              <a:off x="4998627" y="4918712"/>
              <a:ext cx="163272" cy="29815"/>
            </a:xfrm>
            <a:custGeom>
              <a:avLst/>
              <a:gdLst>
                <a:gd name="T0" fmla="*/ 0 w 95"/>
                <a:gd name="T1" fmla="*/ 0 h 17"/>
                <a:gd name="T2" fmla="*/ 56 w 95"/>
                <a:gd name="T3" fmla="*/ 10 h 17"/>
                <a:gd name="T4" fmla="*/ 95 w 95"/>
                <a:gd name="T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" h="17">
                  <a:moveTo>
                    <a:pt x="0" y="0"/>
                  </a:moveTo>
                  <a:lnTo>
                    <a:pt x="56" y="10"/>
                  </a:lnTo>
                  <a:lnTo>
                    <a:pt x="95" y="17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7" name="Freeform 37"/>
            <p:cNvSpPr>
              <a:spLocks/>
            </p:cNvSpPr>
            <p:nvPr/>
          </p:nvSpPr>
          <p:spPr bwMode="auto">
            <a:xfrm>
              <a:off x="5252763" y="4964144"/>
              <a:ext cx="164692" cy="21296"/>
            </a:xfrm>
            <a:custGeom>
              <a:avLst/>
              <a:gdLst>
                <a:gd name="T0" fmla="*/ 0 w 95"/>
                <a:gd name="T1" fmla="*/ 0 h 13"/>
                <a:gd name="T2" fmla="*/ 84 w 95"/>
                <a:gd name="T3" fmla="*/ 12 h 13"/>
                <a:gd name="T4" fmla="*/ 95 w 95"/>
                <a:gd name="T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" h="13">
                  <a:moveTo>
                    <a:pt x="0" y="0"/>
                  </a:moveTo>
                  <a:lnTo>
                    <a:pt x="84" y="12"/>
                  </a:lnTo>
                  <a:lnTo>
                    <a:pt x="95" y="13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8" name="Freeform 38"/>
            <p:cNvSpPr>
              <a:spLocks/>
            </p:cNvSpPr>
            <p:nvPr/>
          </p:nvSpPr>
          <p:spPr bwMode="auto">
            <a:xfrm>
              <a:off x="5508319" y="4999638"/>
              <a:ext cx="164692" cy="19877"/>
            </a:xfrm>
            <a:custGeom>
              <a:avLst/>
              <a:gdLst>
                <a:gd name="T0" fmla="*/ 0 w 95"/>
                <a:gd name="T1" fmla="*/ 0 h 11"/>
                <a:gd name="T2" fmla="*/ 25 w 95"/>
                <a:gd name="T3" fmla="*/ 3 h 11"/>
                <a:gd name="T4" fmla="*/ 95 w 95"/>
                <a:gd name="T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" h="11">
                  <a:moveTo>
                    <a:pt x="0" y="0"/>
                  </a:moveTo>
                  <a:lnTo>
                    <a:pt x="25" y="3"/>
                  </a:lnTo>
                  <a:lnTo>
                    <a:pt x="95" y="11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19" name="Freeform 39"/>
            <p:cNvSpPr>
              <a:spLocks/>
            </p:cNvSpPr>
            <p:nvPr/>
          </p:nvSpPr>
          <p:spPr bwMode="auto">
            <a:xfrm>
              <a:off x="5765294" y="5028033"/>
              <a:ext cx="166111" cy="11358"/>
            </a:xfrm>
            <a:custGeom>
              <a:avLst/>
              <a:gdLst>
                <a:gd name="T0" fmla="*/ 0 w 96"/>
                <a:gd name="T1" fmla="*/ 0 h 7"/>
                <a:gd name="T2" fmla="*/ 58 w 96"/>
                <a:gd name="T3" fmla="*/ 5 h 7"/>
                <a:gd name="T4" fmla="*/ 96 w 96"/>
                <a:gd name="T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7">
                  <a:moveTo>
                    <a:pt x="0" y="0"/>
                  </a:moveTo>
                  <a:lnTo>
                    <a:pt x="58" y="5"/>
                  </a:lnTo>
                  <a:lnTo>
                    <a:pt x="96" y="7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20" name="Freeform 40"/>
            <p:cNvSpPr>
              <a:spLocks/>
            </p:cNvSpPr>
            <p:nvPr/>
          </p:nvSpPr>
          <p:spPr bwMode="auto">
            <a:xfrm>
              <a:off x="6025109" y="5046490"/>
              <a:ext cx="164692" cy="8519"/>
            </a:xfrm>
            <a:custGeom>
              <a:avLst/>
              <a:gdLst>
                <a:gd name="T0" fmla="*/ 0 w 96"/>
                <a:gd name="T1" fmla="*/ 0 h 5"/>
                <a:gd name="T2" fmla="*/ 1 w 96"/>
                <a:gd name="T3" fmla="*/ 0 h 5"/>
                <a:gd name="T4" fmla="*/ 93 w 96"/>
                <a:gd name="T5" fmla="*/ 5 h 5"/>
                <a:gd name="T6" fmla="*/ 96 w 96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5">
                  <a:moveTo>
                    <a:pt x="0" y="0"/>
                  </a:moveTo>
                  <a:lnTo>
                    <a:pt x="1" y="0"/>
                  </a:lnTo>
                  <a:lnTo>
                    <a:pt x="93" y="5"/>
                  </a:lnTo>
                  <a:lnTo>
                    <a:pt x="96" y="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21" name="Freeform 41"/>
            <p:cNvSpPr>
              <a:spLocks/>
            </p:cNvSpPr>
            <p:nvPr/>
          </p:nvSpPr>
          <p:spPr bwMode="auto">
            <a:xfrm>
              <a:off x="6283505" y="5056428"/>
              <a:ext cx="164692" cy="4259"/>
            </a:xfrm>
            <a:custGeom>
              <a:avLst/>
              <a:gdLst>
                <a:gd name="T0" fmla="*/ 0 w 96"/>
                <a:gd name="T1" fmla="*/ 0 h 2"/>
                <a:gd name="T2" fmla="*/ 36 w 96"/>
                <a:gd name="T3" fmla="*/ 1 h 2"/>
                <a:gd name="T4" fmla="*/ 96 w 96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2">
                  <a:moveTo>
                    <a:pt x="0" y="0"/>
                  </a:moveTo>
                  <a:lnTo>
                    <a:pt x="36" y="1"/>
                  </a:lnTo>
                  <a:lnTo>
                    <a:pt x="96" y="2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22" name="Rectangle 44"/>
            <p:cNvSpPr>
              <a:spLocks noChangeArrowheads="1"/>
            </p:cNvSpPr>
            <p:nvPr/>
          </p:nvSpPr>
          <p:spPr bwMode="auto">
            <a:xfrm>
              <a:off x="1752600" y="3062384"/>
              <a:ext cx="517202" cy="2258120"/>
            </a:xfrm>
            <a:prstGeom prst="upArrow">
              <a:avLst/>
            </a:prstGeom>
            <a:solidFill>
              <a:srgbClr val="CCFFCC"/>
            </a:solidFill>
            <a:ln w="11113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vert270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CA" sz="1400" dirty="0">
                  <a:solidFill>
                    <a:schemeClr val="tx2"/>
                  </a:solidFill>
                </a:rPr>
                <a:t>Relative </a:t>
              </a:r>
              <a:r>
                <a:rPr lang="en-CA" sz="1400" dirty="0" smtClean="0">
                  <a:solidFill>
                    <a:schemeClr val="tx2"/>
                  </a:solidFill>
                </a:rPr>
                <a:t>Cost</a:t>
              </a:r>
              <a:endParaRPr lang="en-CA" sz="1400" dirty="0">
                <a:solidFill>
                  <a:schemeClr val="tx2"/>
                </a:solidFill>
              </a:endParaRPr>
            </a:p>
          </p:txBody>
        </p:sp>
        <p:sp>
          <p:nvSpPr>
            <p:cNvPr id="124" name="Freeform 48"/>
            <p:cNvSpPr>
              <a:spLocks/>
            </p:cNvSpPr>
            <p:nvPr/>
          </p:nvSpPr>
          <p:spPr bwMode="auto">
            <a:xfrm>
              <a:off x="2363561" y="3371179"/>
              <a:ext cx="3884449" cy="1818706"/>
            </a:xfrm>
            <a:custGeom>
              <a:avLst/>
              <a:gdLst>
                <a:gd name="T0" fmla="*/ 0 w 2736"/>
                <a:gd name="T1" fmla="*/ 0 h 1281"/>
                <a:gd name="T2" fmla="*/ 0 w 2736"/>
                <a:gd name="T3" fmla="*/ 1281 h 1281"/>
                <a:gd name="T4" fmla="*/ 2736 w 2736"/>
                <a:gd name="T5" fmla="*/ 1281 h 1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36" h="1281">
                  <a:moveTo>
                    <a:pt x="0" y="0"/>
                  </a:moveTo>
                  <a:lnTo>
                    <a:pt x="0" y="1281"/>
                  </a:lnTo>
                  <a:lnTo>
                    <a:pt x="2736" y="1281"/>
                  </a:lnTo>
                </a:path>
              </a:pathLst>
            </a:custGeom>
            <a:noFill/>
            <a:ln w="11113">
              <a:solidFill>
                <a:srgbClr val="008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25" name="Freeform 49"/>
            <p:cNvSpPr>
              <a:spLocks/>
            </p:cNvSpPr>
            <p:nvPr/>
          </p:nvSpPr>
          <p:spPr bwMode="auto">
            <a:xfrm>
              <a:off x="2316710" y="3243401"/>
              <a:ext cx="93704" cy="139136"/>
            </a:xfrm>
            <a:custGeom>
              <a:avLst/>
              <a:gdLst>
                <a:gd name="T0" fmla="*/ 0 w 66"/>
                <a:gd name="T1" fmla="*/ 98 h 98"/>
                <a:gd name="T2" fmla="*/ 33 w 66"/>
                <a:gd name="T3" fmla="*/ 0 h 98"/>
                <a:gd name="T4" fmla="*/ 66 w 66"/>
                <a:gd name="T5" fmla="*/ 98 h 98"/>
                <a:gd name="T6" fmla="*/ 0 w 66"/>
                <a:gd name="T7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98">
                  <a:moveTo>
                    <a:pt x="0" y="98"/>
                  </a:moveTo>
                  <a:lnTo>
                    <a:pt x="33" y="0"/>
                  </a:lnTo>
                  <a:lnTo>
                    <a:pt x="66" y="98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26" name="Freeform 50"/>
            <p:cNvSpPr>
              <a:spLocks/>
            </p:cNvSpPr>
            <p:nvPr/>
          </p:nvSpPr>
          <p:spPr bwMode="auto">
            <a:xfrm>
              <a:off x="6236653" y="5143033"/>
              <a:ext cx="139136" cy="93704"/>
            </a:xfrm>
            <a:custGeom>
              <a:avLst/>
              <a:gdLst>
                <a:gd name="T0" fmla="*/ 0 w 98"/>
                <a:gd name="T1" fmla="*/ 0 h 66"/>
                <a:gd name="T2" fmla="*/ 98 w 98"/>
                <a:gd name="T3" fmla="*/ 33 h 66"/>
                <a:gd name="T4" fmla="*/ 0 w 98"/>
                <a:gd name="T5" fmla="*/ 66 h 66"/>
                <a:gd name="T6" fmla="*/ 0 w 98"/>
                <a:gd name="T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66">
                  <a:moveTo>
                    <a:pt x="0" y="0"/>
                  </a:moveTo>
                  <a:lnTo>
                    <a:pt x="98" y="33"/>
                  </a:lnTo>
                  <a:lnTo>
                    <a:pt x="0" y="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27" name="Rectangle 51"/>
            <p:cNvSpPr>
              <a:spLocks noChangeArrowheads="1"/>
            </p:cNvSpPr>
            <p:nvPr/>
          </p:nvSpPr>
          <p:spPr bwMode="auto">
            <a:xfrm>
              <a:off x="2234365" y="5449700"/>
              <a:ext cx="4272042" cy="465680"/>
            </a:xfrm>
            <a:prstGeom prst="notchedRightArrow">
              <a:avLst/>
            </a:prstGeom>
            <a:solidFill>
              <a:srgbClr val="CCFFCC"/>
            </a:solidFill>
            <a:ln w="11113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dirty="0">
                  <a:solidFill>
                    <a:schemeClr val="tx2"/>
                  </a:solidFill>
                </a:rPr>
                <a:t>Level of Effort &amp; Emphasis on </a:t>
              </a:r>
              <a:r>
                <a:rPr lang="en-US" sz="1400" dirty="0" smtClean="0">
                  <a:solidFill>
                    <a:schemeClr val="tx2"/>
                  </a:solidFill>
                </a:rPr>
                <a:t>ES&amp;RM</a:t>
              </a:r>
              <a:endParaRPr lang="en-CA" sz="1400" dirty="0">
                <a:solidFill>
                  <a:schemeClr val="tx2"/>
                </a:solidFill>
              </a:endParaRPr>
            </a:p>
          </p:txBody>
        </p:sp>
        <p:sp>
          <p:nvSpPr>
            <p:cNvPr id="97" name="Freeform 54"/>
            <p:cNvSpPr>
              <a:spLocks noEditPoints="1"/>
            </p:cNvSpPr>
            <p:nvPr/>
          </p:nvSpPr>
          <p:spPr bwMode="auto">
            <a:xfrm>
              <a:off x="4466219" y="4650378"/>
              <a:ext cx="26975" cy="566482"/>
            </a:xfrm>
            <a:custGeom>
              <a:avLst/>
              <a:gdLst>
                <a:gd name="T0" fmla="*/ 19 w 19"/>
                <a:gd name="T1" fmla="*/ 0 h 399"/>
                <a:gd name="T2" fmla="*/ 19 w 19"/>
                <a:gd name="T3" fmla="*/ 19 h 399"/>
                <a:gd name="T4" fmla="*/ 0 w 19"/>
                <a:gd name="T5" fmla="*/ 19 h 399"/>
                <a:gd name="T6" fmla="*/ 0 w 19"/>
                <a:gd name="T7" fmla="*/ 0 h 399"/>
                <a:gd name="T8" fmla="*/ 19 w 19"/>
                <a:gd name="T9" fmla="*/ 0 h 399"/>
                <a:gd name="T10" fmla="*/ 19 w 19"/>
                <a:gd name="T11" fmla="*/ 38 h 399"/>
                <a:gd name="T12" fmla="*/ 19 w 19"/>
                <a:gd name="T13" fmla="*/ 57 h 399"/>
                <a:gd name="T14" fmla="*/ 0 w 19"/>
                <a:gd name="T15" fmla="*/ 57 h 399"/>
                <a:gd name="T16" fmla="*/ 0 w 19"/>
                <a:gd name="T17" fmla="*/ 38 h 399"/>
                <a:gd name="T18" fmla="*/ 19 w 19"/>
                <a:gd name="T19" fmla="*/ 38 h 399"/>
                <a:gd name="T20" fmla="*/ 19 w 19"/>
                <a:gd name="T21" fmla="*/ 76 h 399"/>
                <a:gd name="T22" fmla="*/ 19 w 19"/>
                <a:gd name="T23" fmla="*/ 95 h 399"/>
                <a:gd name="T24" fmla="*/ 0 w 19"/>
                <a:gd name="T25" fmla="*/ 95 h 399"/>
                <a:gd name="T26" fmla="*/ 0 w 19"/>
                <a:gd name="T27" fmla="*/ 76 h 399"/>
                <a:gd name="T28" fmla="*/ 19 w 19"/>
                <a:gd name="T29" fmla="*/ 76 h 399"/>
                <a:gd name="T30" fmla="*/ 19 w 19"/>
                <a:gd name="T31" fmla="*/ 114 h 399"/>
                <a:gd name="T32" fmla="*/ 19 w 19"/>
                <a:gd name="T33" fmla="*/ 133 h 399"/>
                <a:gd name="T34" fmla="*/ 0 w 19"/>
                <a:gd name="T35" fmla="*/ 133 h 399"/>
                <a:gd name="T36" fmla="*/ 0 w 19"/>
                <a:gd name="T37" fmla="*/ 114 h 399"/>
                <a:gd name="T38" fmla="*/ 19 w 19"/>
                <a:gd name="T39" fmla="*/ 114 h 399"/>
                <a:gd name="T40" fmla="*/ 19 w 19"/>
                <a:gd name="T41" fmla="*/ 152 h 399"/>
                <a:gd name="T42" fmla="*/ 19 w 19"/>
                <a:gd name="T43" fmla="*/ 171 h 399"/>
                <a:gd name="T44" fmla="*/ 0 w 19"/>
                <a:gd name="T45" fmla="*/ 171 h 399"/>
                <a:gd name="T46" fmla="*/ 0 w 19"/>
                <a:gd name="T47" fmla="*/ 152 h 399"/>
                <a:gd name="T48" fmla="*/ 19 w 19"/>
                <a:gd name="T49" fmla="*/ 152 h 399"/>
                <a:gd name="T50" fmla="*/ 19 w 19"/>
                <a:gd name="T51" fmla="*/ 190 h 399"/>
                <a:gd name="T52" fmla="*/ 19 w 19"/>
                <a:gd name="T53" fmla="*/ 209 h 399"/>
                <a:gd name="T54" fmla="*/ 0 w 19"/>
                <a:gd name="T55" fmla="*/ 209 h 399"/>
                <a:gd name="T56" fmla="*/ 0 w 19"/>
                <a:gd name="T57" fmla="*/ 190 h 399"/>
                <a:gd name="T58" fmla="*/ 19 w 19"/>
                <a:gd name="T59" fmla="*/ 190 h 399"/>
                <a:gd name="T60" fmla="*/ 19 w 19"/>
                <a:gd name="T61" fmla="*/ 228 h 399"/>
                <a:gd name="T62" fmla="*/ 19 w 19"/>
                <a:gd name="T63" fmla="*/ 247 h 399"/>
                <a:gd name="T64" fmla="*/ 0 w 19"/>
                <a:gd name="T65" fmla="*/ 247 h 399"/>
                <a:gd name="T66" fmla="*/ 0 w 19"/>
                <a:gd name="T67" fmla="*/ 228 h 399"/>
                <a:gd name="T68" fmla="*/ 19 w 19"/>
                <a:gd name="T69" fmla="*/ 228 h 399"/>
                <a:gd name="T70" fmla="*/ 19 w 19"/>
                <a:gd name="T71" fmla="*/ 266 h 399"/>
                <a:gd name="T72" fmla="*/ 19 w 19"/>
                <a:gd name="T73" fmla="*/ 285 h 399"/>
                <a:gd name="T74" fmla="*/ 0 w 19"/>
                <a:gd name="T75" fmla="*/ 285 h 399"/>
                <a:gd name="T76" fmla="*/ 0 w 19"/>
                <a:gd name="T77" fmla="*/ 266 h 399"/>
                <a:gd name="T78" fmla="*/ 19 w 19"/>
                <a:gd name="T79" fmla="*/ 266 h 399"/>
                <a:gd name="T80" fmla="*/ 19 w 19"/>
                <a:gd name="T81" fmla="*/ 304 h 399"/>
                <a:gd name="T82" fmla="*/ 19 w 19"/>
                <a:gd name="T83" fmla="*/ 323 h 399"/>
                <a:gd name="T84" fmla="*/ 0 w 19"/>
                <a:gd name="T85" fmla="*/ 323 h 399"/>
                <a:gd name="T86" fmla="*/ 0 w 19"/>
                <a:gd name="T87" fmla="*/ 304 h 399"/>
                <a:gd name="T88" fmla="*/ 19 w 19"/>
                <a:gd name="T89" fmla="*/ 304 h 399"/>
                <a:gd name="T90" fmla="*/ 19 w 19"/>
                <a:gd name="T91" fmla="*/ 342 h 399"/>
                <a:gd name="T92" fmla="*/ 19 w 19"/>
                <a:gd name="T93" fmla="*/ 361 h 399"/>
                <a:gd name="T94" fmla="*/ 0 w 19"/>
                <a:gd name="T95" fmla="*/ 361 h 399"/>
                <a:gd name="T96" fmla="*/ 0 w 19"/>
                <a:gd name="T97" fmla="*/ 342 h 399"/>
                <a:gd name="T98" fmla="*/ 19 w 19"/>
                <a:gd name="T99" fmla="*/ 342 h 399"/>
                <a:gd name="T100" fmla="*/ 19 w 19"/>
                <a:gd name="T101" fmla="*/ 380 h 399"/>
                <a:gd name="T102" fmla="*/ 19 w 19"/>
                <a:gd name="T103" fmla="*/ 399 h 399"/>
                <a:gd name="T104" fmla="*/ 0 w 19"/>
                <a:gd name="T105" fmla="*/ 399 h 399"/>
                <a:gd name="T106" fmla="*/ 0 w 19"/>
                <a:gd name="T107" fmla="*/ 380 h 399"/>
                <a:gd name="T108" fmla="*/ 19 w 19"/>
                <a:gd name="T109" fmla="*/ 380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" h="399">
                  <a:moveTo>
                    <a:pt x="19" y="0"/>
                  </a:moveTo>
                  <a:lnTo>
                    <a:pt x="19" y="19"/>
                  </a:lnTo>
                  <a:lnTo>
                    <a:pt x="0" y="19"/>
                  </a:lnTo>
                  <a:lnTo>
                    <a:pt x="0" y="0"/>
                  </a:lnTo>
                  <a:lnTo>
                    <a:pt x="19" y="0"/>
                  </a:lnTo>
                  <a:close/>
                  <a:moveTo>
                    <a:pt x="19" y="38"/>
                  </a:moveTo>
                  <a:lnTo>
                    <a:pt x="19" y="57"/>
                  </a:lnTo>
                  <a:lnTo>
                    <a:pt x="0" y="57"/>
                  </a:lnTo>
                  <a:lnTo>
                    <a:pt x="0" y="38"/>
                  </a:lnTo>
                  <a:lnTo>
                    <a:pt x="19" y="38"/>
                  </a:lnTo>
                  <a:close/>
                  <a:moveTo>
                    <a:pt x="19" y="76"/>
                  </a:moveTo>
                  <a:lnTo>
                    <a:pt x="19" y="95"/>
                  </a:lnTo>
                  <a:lnTo>
                    <a:pt x="0" y="95"/>
                  </a:lnTo>
                  <a:lnTo>
                    <a:pt x="0" y="76"/>
                  </a:lnTo>
                  <a:lnTo>
                    <a:pt x="19" y="76"/>
                  </a:lnTo>
                  <a:close/>
                  <a:moveTo>
                    <a:pt x="19" y="114"/>
                  </a:moveTo>
                  <a:lnTo>
                    <a:pt x="19" y="133"/>
                  </a:lnTo>
                  <a:lnTo>
                    <a:pt x="0" y="133"/>
                  </a:lnTo>
                  <a:lnTo>
                    <a:pt x="0" y="114"/>
                  </a:lnTo>
                  <a:lnTo>
                    <a:pt x="19" y="114"/>
                  </a:lnTo>
                  <a:close/>
                  <a:moveTo>
                    <a:pt x="19" y="152"/>
                  </a:moveTo>
                  <a:lnTo>
                    <a:pt x="19" y="171"/>
                  </a:lnTo>
                  <a:lnTo>
                    <a:pt x="0" y="171"/>
                  </a:lnTo>
                  <a:lnTo>
                    <a:pt x="0" y="152"/>
                  </a:lnTo>
                  <a:lnTo>
                    <a:pt x="19" y="152"/>
                  </a:lnTo>
                  <a:close/>
                  <a:moveTo>
                    <a:pt x="19" y="190"/>
                  </a:moveTo>
                  <a:lnTo>
                    <a:pt x="19" y="209"/>
                  </a:lnTo>
                  <a:lnTo>
                    <a:pt x="0" y="209"/>
                  </a:lnTo>
                  <a:lnTo>
                    <a:pt x="0" y="190"/>
                  </a:lnTo>
                  <a:lnTo>
                    <a:pt x="19" y="190"/>
                  </a:lnTo>
                  <a:close/>
                  <a:moveTo>
                    <a:pt x="19" y="228"/>
                  </a:moveTo>
                  <a:lnTo>
                    <a:pt x="19" y="247"/>
                  </a:lnTo>
                  <a:lnTo>
                    <a:pt x="0" y="247"/>
                  </a:lnTo>
                  <a:lnTo>
                    <a:pt x="0" y="228"/>
                  </a:lnTo>
                  <a:lnTo>
                    <a:pt x="19" y="228"/>
                  </a:lnTo>
                  <a:close/>
                  <a:moveTo>
                    <a:pt x="19" y="266"/>
                  </a:moveTo>
                  <a:lnTo>
                    <a:pt x="19" y="285"/>
                  </a:lnTo>
                  <a:lnTo>
                    <a:pt x="0" y="285"/>
                  </a:lnTo>
                  <a:lnTo>
                    <a:pt x="0" y="266"/>
                  </a:lnTo>
                  <a:lnTo>
                    <a:pt x="19" y="266"/>
                  </a:lnTo>
                  <a:close/>
                  <a:moveTo>
                    <a:pt x="19" y="304"/>
                  </a:moveTo>
                  <a:lnTo>
                    <a:pt x="19" y="323"/>
                  </a:lnTo>
                  <a:lnTo>
                    <a:pt x="0" y="323"/>
                  </a:lnTo>
                  <a:lnTo>
                    <a:pt x="0" y="304"/>
                  </a:lnTo>
                  <a:lnTo>
                    <a:pt x="19" y="304"/>
                  </a:lnTo>
                  <a:close/>
                  <a:moveTo>
                    <a:pt x="19" y="342"/>
                  </a:moveTo>
                  <a:lnTo>
                    <a:pt x="19" y="361"/>
                  </a:lnTo>
                  <a:lnTo>
                    <a:pt x="0" y="361"/>
                  </a:lnTo>
                  <a:lnTo>
                    <a:pt x="0" y="342"/>
                  </a:lnTo>
                  <a:lnTo>
                    <a:pt x="19" y="342"/>
                  </a:lnTo>
                  <a:close/>
                  <a:moveTo>
                    <a:pt x="19" y="380"/>
                  </a:moveTo>
                  <a:lnTo>
                    <a:pt x="19" y="399"/>
                  </a:lnTo>
                  <a:lnTo>
                    <a:pt x="0" y="399"/>
                  </a:lnTo>
                  <a:lnTo>
                    <a:pt x="0" y="380"/>
                  </a:lnTo>
                  <a:lnTo>
                    <a:pt x="19" y="380"/>
                  </a:lnTo>
                  <a:close/>
                </a:path>
              </a:pathLst>
            </a:custGeom>
            <a:solidFill>
              <a:srgbClr val="463634"/>
            </a:solidFill>
            <a:ln w="1588" cap="flat">
              <a:solidFill>
                <a:srgbClr val="463634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98" name="Freeform 55"/>
            <p:cNvSpPr>
              <a:spLocks noEditPoints="1"/>
            </p:cNvSpPr>
            <p:nvPr/>
          </p:nvSpPr>
          <p:spPr bwMode="auto">
            <a:xfrm>
              <a:off x="5313812" y="4690132"/>
              <a:ext cx="41173" cy="526729"/>
            </a:xfrm>
            <a:custGeom>
              <a:avLst/>
              <a:gdLst>
                <a:gd name="T0" fmla="*/ 19 w 19"/>
                <a:gd name="T1" fmla="*/ 19 h 626"/>
                <a:gd name="T2" fmla="*/ 0 w 19"/>
                <a:gd name="T3" fmla="*/ 0 h 626"/>
                <a:gd name="T4" fmla="*/ 19 w 19"/>
                <a:gd name="T5" fmla="*/ 38 h 626"/>
                <a:gd name="T6" fmla="*/ 0 w 19"/>
                <a:gd name="T7" fmla="*/ 57 h 626"/>
                <a:gd name="T8" fmla="*/ 19 w 19"/>
                <a:gd name="T9" fmla="*/ 38 h 626"/>
                <a:gd name="T10" fmla="*/ 19 w 19"/>
                <a:gd name="T11" fmla="*/ 94 h 626"/>
                <a:gd name="T12" fmla="*/ 0 w 19"/>
                <a:gd name="T13" fmla="*/ 76 h 626"/>
                <a:gd name="T14" fmla="*/ 19 w 19"/>
                <a:gd name="T15" fmla="*/ 113 h 626"/>
                <a:gd name="T16" fmla="*/ 0 w 19"/>
                <a:gd name="T17" fmla="*/ 132 h 626"/>
                <a:gd name="T18" fmla="*/ 19 w 19"/>
                <a:gd name="T19" fmla="*/ 113 h 626"/>
                <a:gd name="T20" fmla="*/ 19 w 19"/>
                <a:gd name="T21" fmla="*/ 170 h 626"/>
                <a:gd name="T22" fmla="*/ 0 w 19"/>
                <a:gd name="T23" fmla="*/ 151 h 626"/>
                <a:gd name="T24" fmla="*/ 19 w 19"/>
                <a:gd name="T25" fmla="*/ 189 h 626"/>
                <a:gd name="T26" fmla="*/ 0 w 19"/>
                <a:gd name="T27" fmla="*/ 208 h 626"/>
                <a:gd name="T28" fmla="*/ 19 w 19"/>
                <a:gd name="T29" fmla="*/ 189 h 626"/>
                <a:gd name="T30" fmla="*/ 19 w 19"/>
                <a:gd name="T31" fmla="*/ 246 h 626"/>
                <a:gd name="T32" fmla="*/ 0 w 19"/>
                <a:gd name="T33" fmla="*/ 227 h 626"/>
                <a:gd name="T34" fmla="*/ 19 w 19"/>
                <a:gd name="T35" fmla="*/ 265 h 626"/>
                <a:gd name="T36" fmla="*/ 0 w 19"/>
                <a:gd name="T37" fmla="*/ 284 h 626"/>
                <a:gd name="T38" fmla="*/ 19 w 19"/>
                <a:gd name="T39" fmla="*/ 265 h 626"/>
                <a:gd name="T40" fmla="*/ 19 w 19"/>
                <a:gd name="T41" fmla="*/ 322 h 626"/>
                <a:gd name="T42" fmla="*/ 0 w 19"/>
                <a:gd name="T43" fmla="*/ 303 h 626"/>
                <a:gd name="T44" fmla="*/ 19 w 19"/>
                <a:gd name="T45" fmla="*/ 341 h 626"/>
                <a:gd name="T46" fmla="*/ 0 w 19"/>
                <a:gd name="T47" fmla="*/ 360 h 626"/>
                <a:gd name="T48" fmla="*/ 19 w 19"/>
                <a:gd name="T49" fmla="*/ 341 h 626"/>
                <a:gd name="T50" fmla="*/ 19 w 19"/>
                <a:gd name="T51" fmla="*/ 398 h 626"/>
                <a:gd name="T52" fmla="*/ 0 w 19"/>
                <a:gd name="T53" fmla="*/ 379 h 626"/>
                <a:gd name="T54" fmla="*/ 19 w 19"/>
                <a:gd name="T55" fmla="*/ 417 h 626"/>
                <a:gd name="T56" fmla="*/ 0 w 19"/>
                <a:gd name="T57" fmla="*/ 436 h 626"/>
                <a:gd name="T58" fmla="*/ 19 w 19"/>
                <a:gd name="T59" fmla="*/ 417 h 626"/>
                <a:gd name="T60" fmla="*/ 19 w 19"/>
                <a:gd name="T61" fmla="*/ 474 h 626"/>
                <a:gd name="T62" fmla="*/ 0 w 19"/>
                <a:gd name="T63" fmla="*/ 455 h 626"/>
                <a:gd name="T64" fmla="*/ 19 w 19"/>
                <a:gd name="T65" fmla="*/ 493 h 626"/>
                <a:gd name="T66" fmla="*/ 0 w 19"/>
                <a:gd name="T67" fmla="*/ 512 h 626"/>
                <a:gd name="T68" fmla="*/ 19 w 19"/>
                <a:gd name="T69" fmla="*/ 493 h 626"/>
                <a:gd name="T70" fmla="*/ 19 w 19"/>
                <a:gd name="T71" fmla="*/ 550 h 626"/>
                <a:gd name="T72" fmla="*/ 0 w 19"/>
                <a:gd name="T73" fmla="*/ 531 h 626"/>
                <a:gd name="T74" fmla="*/ 19 w 19"/>
                <a:gd name="T75" fmla="*/ 569 h 626"/>
                <a:gd name="T76" fmla="*/ 0 w 19"/>
                <a:gd name="T77" fmla="*/ 588 h 626"/>
                <a:gd name="T78" fmla="*/ 19 w 19"/>
                <a:gd name="T79" fmla="*/ 569 h 626"/>
                <a:gd name="T80" fmla="*/ 19 w 19"/>
                <a:gd name="T81" fmla="*/ 626 h 626"/>
                <a:gd name="T82" fmla="*/ 0 w 19"/>
                <a:gd name="T83" fmla="*/ 607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" h="626">
                  <a:moveTo>
                    <a:pt x="19" y="0"/>
                  </a:moveTo>
                  <a:lnTo>
                    <a:pt x="19" y="19"/>
                  </a:lnTo>
                  <a:lnTo>
                    <a:pt x="0" y="19"/>
                  </a:lnTo>
                  <a:lnTo>
                    <a:pt x="0" y="0"/>
                  </a:lnTo>
                  <a:lnTo>
                    <a:pt x="19" y="0"/>
                  </a:lnTo>
                  <a:close/>
                  <a:moveTo>
                    <a:pt x="19" y="38"/>
                  </a:moveTo>
                  <a:lnTo>
                    <a:pt x="19" y="57"/>
                  </a:lnTo>
                  <a:lnTo>
                    <a:pt x="0" y="57"/>
                  </a:lnTo>
                  <a:lnTo>
                    <a:pt x="0" y="38"/>
                  </a:lnTo>
                  <a:lnTo>
                    <a:pt x="19" y="38"/>
                  </a:lnTo>
                  <a:close/>
                  <a:moveTo>
                    <a:pt x="19" y="76"/>
                  </a:moveTo>
                  <a:lnTo>
                    <a:pt x="19" y="94"/>
                  </a:lnTo>
                  <a:lnTo>
                    <a:pt x="0" y="94"/>
                  </a:lnTo>
                  <a:lnTo>
                    <a:pt x="0" y="76"/>
                  </a:lnTo>
                  <a:lnTo>
                    <a:pt x="19" y="76"/>
                  </a:lnTo>
                  <a:close/>
                  <a:moveTo>
                    <a:pt x="19" y="113"/>
                  </a:moveTo>
                  <a:lnTo>
                    <a:pt x="19" y="132"/>
                  </a:lnTo>
                  <a:lnTo>
                    <a:pt x="0" y="132"/>
                  </a:lnTo>
                  <a:lnTo>
                    <a:pt x="0" y="113"/>
                  </a:lnTo>
                  <a:lnTo>
                    <a:pt x="19" y="113"/>
                  </a:lnTo>
                  <a:close/>
                  <a:moveTo>
                    <a:pt x="19" y="151"/>
                  </a:moveTo>
                  <a:lnTo>
                    <a:pt x="19" y="170"/>
                  </a:lnTo>
                  <a:lnTo>
                    <a:pt x="0" y="170"/>
                  </a:lnTo>
                  <a:lnTo>
                    <a:pt x="0" y="151"/>
                  </a:lnTo>
                  <a:lnTo>
                    <a:pt x="19" y="151"/>
                  </a:lnTo>
                  <a:close/>
                  <a:moveTo>
                    <a:pt x="19" y="189"/>
                  </a:moveTo>
                  <a:lnTo>
                    <a:pt x="19" y="208"/>
                  </a:lnTo>
                  <a:lnTo>
                    <a:pt x="0" y="208"/>
                  </a:lnTo>
                  <a:lnTo>
                    <a:pt x="0" y="189"/>
                  </a:lnTo>
                  <a:lnTo>
                    <a:pt x="19" y="189"/>
                  </a:lnTo>
                  <a:close/>
                  <a:moveTo>
                    <a:pt x="19" y="227"/>
                  </a:moveTo>
                  <a:lnTo>
                    <a:pt x="19" y="246"/>
                  </a:lnTo>
                  <a:lnTo>
                    <a:pt x="0" y="246"/>
                  </a:lnTo>
                  <a:lnTo>
                    <a:pt x="0" y="227"/>
                  </a:lnTo>
                  <a:lnTo>
                    <a:pt x="19" y="227"/>
                  </a:lnTo>
                  <a:close/>
                  <a:moveTo>
                    <a:pt x="19" y="265"/>
                  </a:moveTo>
                  <a:lnTo>
                    <a:pt x="19" y="284"/>
                  </a:lnTo>
                  <a:lnTo>
                    <a:pt x="0" y="284"/>
                  </a:lnTo>
                  <a:lnTo>
                    <a:pt x="0" y="265"/>
                  </a:lnTo>
                  <a:lnTo>
                    <a:pt x="19" y="265"/>
                  </a:lnTo>
                  <a:close/>
                  <a:moveTo>
                    <a:pt x="19" y="303"/>
                  </a:moveTo>
                  <a:lnTo>
                    <a:pt x="19" y="322"/>
                  </a:lnTo>
                  <a:lnTo>
                    <a:pt x="0" y="322"/>
                  </a:lnTo>
                  <a:lnTo>
                    <a:pt x="0" y="303"/>
                  </a:lnTo>
                  <a:lnTo>
                    <a:pt x="19" y="303"/>
                  </a:lnTo>
                  <a:close/>
                  <a:moveTo>
                    <a:pt x="19" y="341"/>
                  </a:moveTo>
                  <a:lnTo>
                    <a:pt x="19" y="360"/>
                  </a:lnTo>
                  <a:lnTo>
                    <a:pt x="0" y="360"/>
                  </a:lnTo>
                  <a:lnTo>
                    <a:pt x="0" y="341"/>
                  </a:lnTo>
                  <a:lnTo>
                    <a:pt x="19" y="341"/>
                  </a:lnTo>
                  <a:close/>
                  <a:moveTo>
                    <a:pt x="19" y="379"/>
                  </a:moveTo>
                  <a:lnTo>
                    <a:pt x="19" y="398"/>
                  </a:lnTo>
                  <a:lnTo>
                    <a:pt x="0" y="398"/>
                  </a:lnTo>
                  <a:lnTo>
                    <a:pt x="0" y="379"/>
                  </a:lnTo>
                  <a:lnTo>
                    <a:pt x="19" y="379"/>
                  </a:lnTo>
                  <a:close/>
                  <a:moveTo>
                    <a:pt x="19" y="417"/>
                  </a:moveTo>
                  <a:lnTo>
                    <a:pt x="19" y="436"/>
                  </a:lnTo>
                  <a:lnTo>
                    <a:pt x="0" y="436"/>
                  </a:lnTo>
                  <a:lnTo>
                    <a:pt x="0" y="417"/>
                  </a:lnTo>
                  <a:lnTo>
                    <a:pt x="19" y="417"/>
                  </a:lnTo>
                  <a:close/>
                  <a:moveTo>
                    <a:pt x="19" y="455"/>
                  </a:moveTo>
                  <a:lnTo>
                    <a:pt x="19" y="474"/>
                  </a:lnTo>
                  <a:lnTo>
                    <a:pt x="0" y="474"/>
                  </a:lnTo>
                  <a:lnTo>
                    <a:pt x="0" y="455"/>
                  </a:lnTo>
                  <a:lnTo>
                    <a:pt x="19" y="455"/>
                  </a:lnTo>
                  <a:close/>
                  <a:moveTo>
                    <a:pt x="19" y="493"/>
                  </a:moveTo>
                  <a:lnTo>
                    <a:pt x="19" y="512"/>
                  </a:lnTo>
                  <a:lnTo>
                    <a:pt x="0" y="512"/>
                  </a:lnTo>
                  <a:lnTo>
                    <a:pt x="0" y="493"/>
                  </a:lnTo>
                  <a:lnTo>
                    <a:pt x="19" y="493"/>
                  </a:lnTo>
                  <a:close/>
                  <a:moveTo>
                    <a:pt x="19" y="531"/>
                  </a:moveTo>
                  <a:lnTo>
                    <a:pt x="19" y="550"/>
                  </a:lnTo>
                  <a:lnTo>
                    <a:pt x="0" y="550"/>
                  </a:lnTo>
                  <a:lnTo>
                    <a:pt x="0" y="531"/>
                  </a:lnTo>
                  <a:lnTo>
                    <a:pt x="19" y="531"/>
                  </a:lnTo>
                  <a:close/>
                  <a:moveTo>
                    <a:pt x="19" y="569"/>
                  </a:moveTo>
                  <a:lnTo>
                    <a:pt x="19" y="588"/>
                  </a:lnTo>
                  <a:lnTo>
                    <a:pt x="0" y="588"/>
                  </a:lnTo>
                  <a:lnTo>
                    <a:pt x="0" y="569"/>
                  </a:lnTo>
                  <a:lnTo>
                    <a:pt x="19" y="569"/>
                  </a:lnTo>
                  <a:close/>
                  <a:moveTo>
                    <a:pt x="19" y="607"/>
                  </a:moveTo>
                  <a:lnTo>
                    <a:pt x="19" y="626"/>
                  </a:lnTo>
                  <a:lnTo>
                    <a:pt x="0" y="626"/>
                  </a:lnTo>
                  <a:lnTo>
                    <a:pt x="0" y="607"/>
                  </a:lnTo>
                  <a:lnTo>
                    <a:pt x="19" y="607"/>
                  </a:lnTo>
                  <a:close/>
                </a:path>
              </a:pathLst>
            </a:custGeom>
            <a:solidFill>
              <a:srgbClr val="463634"/>
            </a:solidFill>
            <a:ln w="1588" cap="flat">
              <a:solidFill>
                <a:srgbClr val="463634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99" name="Freeform 69"/>
            <p:cNvSpPr>
              <a:spLocks/>
            </p:cNvSpPr>
            <p:nvPr/>
          </p:nvSpPr>
          <p:spPr bwMode="auto">
            <a:xfrm>
              <a:off x="4557083" y="4504144"/>
              <a:ext cx="731174" cy="215803"/>
            </a:xfrm>
            <a:custGeom>
              <a:avLst/>
              <a:gdLst>
                <a:gd name="T0" fmla="*/ 5425 w 5425"/>
                <a:gd name="T1" fmla="*/ 1600 h 1600"/>
                <a:gd name="T2" fmla="*/ 5152 w 5425"/>
                <a:gd name="T3" fmla="*/ 800 h 1600"/>
                <a:gd name="T4" fmla="*/ 2939 w 5425"/>
                <a:gd name="T5" fmla="*/ 800 h 1600"/>
                <a:gd name="T6" fmla="*/ 2666 w 5425"/>
                <a:gd name="T7" fmla="*/ 0 h 1600"/>
                <a:gd name="T8" fmla="*/ 2393 w 5425"/>
                <a:gd name="T9" fmla="*/ 800 h 1600"/>
                <a:gd name="T10" fmla="*/ 273 w 5425"/>
                <a:gd name="T11" fmla="*/ 800 h 1600"/>
                <a:gd name="T12" fmla="*/ 0 w 5425"/>
                <a:gd name="T13" fmla="*/ 1600 h 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25" h="1600">
                  <a:moveTo>
                    <a:pt x="5425" y="1600"/>
                  </a:moveTo>
                  <a:cubicBezTo>
                    <a:pt x="5425" y="1158"/>
                    <a:pt x="5303" y="800"/>
                    <a:pt x="5152" y="800"/>
                  </a:cubicBezTo>
                  <a:lnTo>
                    <a:pt x="2939" y="800"/>
                  </a:lnTo>
                  <a:cubicBezTo>
                    <a:pt x="2789" y="800"/>
                    <a:pt x="2666" y="442"/>
                    <a:pt x="2666" y="0"/>
                  </a:cubicBezTo>
                  <a:cubicBezTo>
                    <a:pt x="2666" y="442"/>
                    <a:pt x="2544" y="800"/>
                    <a:pt x="2393" y="800"/>
                  </a:cubicBezTo>
                  <a:lnTo>
                    <a:pt x="273" y="800"/>
                  </a:lnTo>
                  <a:cubicBezTo>
                    <a:pt x="123" y="800"/>
                    <a:pt x="0" y="1158"/>
                    <a:pt x="0" y="1600"/>
                  </a:cubicBezTo>
                </a:path>
              </a:pathLst>
            </a:custGeom>
            <a:noFill/>
            <a:ln w="25400" cap="flat">
              <a:solidFill>
                <a:srgbClr val="4636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>
                <a:solidFill>
                  <a:schemeClr val="tx2"/>
                </a:solidFill>
              </a:endParaRPr>
            </a:p>
          </p:txBody>
        </p:sp>
        <p:sp>
          <p:nvSpPr>
            <p:cNvPr id="131" name="Rectangular Callout 130"/>
            <p:cNvSpPr/>
            <p:nvPr/>
          </p:nvSpPr>
          <p:spPr bwMode="auto">
            <a:xfrm>
              <a:off x="2844801" y="2917613"/>
              <a:ext cx="1743076" cy="330200"/>
            </a:xfrm>
            <a:prstGeom prst="wedgeRectCallout">
              <a:avLst>
                <a:gd name="adj1" fmla="val -51347"/>
                <a:gd name="adj2" fmla="val 208293"/>
              </a:avLst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CA" sz="14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Loss</a:t>
              </a:r>
              <a:r>
                <a:rPr kumimoji="0" lang="en-CA" sz="1400" b="0" i="0" u="none" strike="noStrike" cap="none" normalizeH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Incident Costs</a:t>
              </a:r>
              <a:endParaRPr kumimoji="0" lang="en-CA" sz="14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Rectangular Callout 131"/>
            <p:cNvSpPr/>
            <p:nvPr/>
          </p:nvSpPr>
          <p:spPr bwMode="auto">
            <a:xfrm>
              <a:off x="4856906" y="2917613"/>
              <a:ext cx="1743076" cy="330200"/>
            </a:xfrm>
            <a:prstGeom prst="wedgeRectCallout">
              <a:avLst>
                <a:gd name="adj1" fmla="val 48673"/>
                <a:gd name="adj2" fmla="val 192765"/>
              </a:avLst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CA" sz="14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Program </a:t>
              </a:r>
              <a:r>
                <a:rPr kumimoji="0" lang="en-CA" sz="1400" b="0" i="0" u="none" strike="noStrike" cap="none" normalizeH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Costs</a:t>
              </a:r>
              <a:endParaRPr kumimoji="0" lang="en-CA" sz="14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Rectangular Callout 132"/>
            <p:cNvSpPr/>
            <p:nvPr/>
          </p:nvSpPr>
          <p:spPr bwMode="auto">
            <a:xfrm>
              <a:off x="3620635" y="3619665"/>
              <a:ext cx="1389857" cy="594593"/>
            </a:xfrm>
            <a:prstGeom prst="wedgeRectCallout">
              <a:avLst>
                <a:gd name="adj1" fmla="val 54863"/>
                <a:gd name="adj2" fmla="val 106791"/>
              </a:avLst>
            </a:prstGeom>
            <a:solidFill>
              <a:srgbClr val="FFFF00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CA" sz="14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What is the </a:t>
              </a:r>
              <a:br>
                <a:rPr kumimoji="0" lang="en-CA" sz="14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0" lang="en-CA" sz="14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“right” amount?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13935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Why Do We Need to Build a Business Case for </a:t>
            </a: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RMP?</a:t>
            </a:r>
            <a:endParaRPr lang="en-US" altLang="en-US" sz="24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lvl="0" eaLnBrk="0" hangingPunct="0"/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metric for any investment initiative is the ROI. </a:t>
            </a:r>
            <a:endParaRPr lang="en-US" altLang="en-US" sz="2000" b="0" i="1" dirty="0" smtClea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hangingPunct="0">
              <a:buFont typeface="Wingdings" panose="05000000000000000000" pitchFamily="2" charset="2"/>
              <a:buChar char="Ø"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hangingPunct="0">
              <a:buFont typeface="Wingdings" panose="05000000000000000000" pitchFamily="2" charset="2"/>
              <a:buChar char="Ø"/>
            </a:pPr>
            <a:r>
              <a:rPr lang="en-CA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 </a:t>
            </a:r>
            <a:r>
              <a:rPr lang="en-CA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two questions:</a:t>
            </a:r>
          </a:p>
          <a:p>
            <a:pPr lvl="0" eaLnBrk="0" hangingPunct="0"/>
            <a:endParaRPr lang="en-CA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/>
            <a:r>
              <a:rPr lang="en-CA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Q: Can an ROI be attached to a Risk Management Program? </a:t>
            </a:r>
          </a:p>
          <a:p>
            <a:pPr lvl="0" eaLnBrk="0" hangingPunct="0"/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/>
            <a:r>
              <a:rPr lang="en-US" altLang="en-US" sz="2000" b="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A: Yes! “Loss is wasted profit” … the Loaf of Bread Model</a:t>
            </a:r>
          </a:p>
          <a:p>
            <a:pPr lvl="0" eaLnBrk="0" hangingPunct="0"/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/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Q: Why does a Risk Management Program create an ROI? </a:t>
            </a:r>
          </a:p>
          <a:p>
            <a:pPr marL="342900" lvl="0" indent="-342900" eaLnBrk="0" hangingPunct="0">
              <a:buFont typeface="Wingdings" panose="05000000000000000000" pitchFamily="2" charset="2"/>
              <a:buChar char="Ø"/>
            </a:pPr>
            <a:endParaRPr lang="en-CA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/>
            <a:r>
              <a:rPr lang="en-CA" altLang="en-US" sz="2000" b="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A: Good planning for risk management minimises / eliminates PEAP losses with spin-off benefits in productivity, efficiency, quality, etc. </a:t>
            </a:r>
            <a:br>
              <a:rPr lang="en-CA" altLang="en-US" sz="2000" b="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en-US" sz="2000" b="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(all measurable in $’s)</a:t>
            </a:r>
          </a:p>
          <a:p>
            <a:pPr lvl="0" eaLnBrk="0" hangingPunct="0"/>
            <a:endParaRPr lang="en-CA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6.3: The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Business Case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for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a Risk Management Program </a:t>
            </a:r>
          </a:p>
        </p:txBody>
      </p:sp>
    </p:spTree>
    <p:extLst>
      <p:ext uri="{BB962C8B-B14F-4D97-AF65-F5344CB8AC3E}">
        <p14:creationId xmlns:p14="http://schemas.microsoft.com/office/powerpoint/2010/main" val="13500923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Why Do We Need to Build a Business Case for </a:t>
            </a: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RMP?</a:t>
            </a:r>
            <a:endParaRPr lang="en-US" altLang="en-US" sz="24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lvl="0" eaLnBrk="0" hangingPunct="0"/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metric for any investment initiative is the ROI. </a:t>
            </a:r>
            <a:endParaRPr lang="en-US" altLang="en-US" sz="2000" b="0" i="1" dirty="0" smtClea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hangingPunct="0">
              <a:buFont typeface="Wingdings" panose="05000000000000000000" pitchFamily="2" charset="2"/>
              <a:buChar char="Ø"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hangingPunct="0">
              <a:buFont typeface="Wingdings" panose="05000000000000000000" pitchFamily="2" charset="2"/>
              <a:buChar char="Ø"/>
            </a:pPr>
            <a:r>
              <a:rPr lang="en-CA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 </a:t>
            </a:r>
            <a:r>
              <a:rPr lang="en-CA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two questions:</a:t>
            </a:r>
          </a:p>
          <a:p>
            <a:pPr lvl="0" eaLnBrk="0" hangingPunct="0"/>
            <a:endParaRPr lang="en-CA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/>
            <a:r>
              <a:rPr lang="en-CA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Q: Can an ROI be attached to a Risk Management Program? </a:t>
            </a:r>
          </a:p>
          <a:p>
            <a:pPr lvl="0" eaLnBrk="0" hangingPunct="0"/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/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A: Yes! “Loss is wasted profit” … the Loaf of Bread Model</a:t>
            </a:r>
          </a:p>
          <a:p>
            <a:pPr lvl="0" eaLnBrk="0" hangingPunct="0"/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/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Q: Why does a Risk Management Program create an ROI? </a:t>
            </a:r>
          </a:p>
          <a:p>
            <a:pPr marL="342900" lvl="0" indent="-342900" eaLnBrk="0" hangingPunct="0">
              <a:buFont typeface="Wingdings" panose="05000000000000000000" pitchFamily="2" charset="2"/>
              <a:buChar char="Ø"/>
            </a:pPr>
            <a:endParaRPr lang="en-CA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/>
            <a:r>
              <a:rPr lang="en-CA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A: Good planning for risk management minimises / eliminates PEAP losses with spin-off benefits in productivity, efficiency, quality, etc. </a:t>
            </a:r>
            <a:br>
              <a:rPr lang="en-CA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(all measurable in $’s)</a:t>
            </a:r>
          </a:p>
          <a:p>
            <a:pPr lvl="0" eaLnBrk="0" hangingPunct="0"/>
            <a:endParaRPr lang="en-CA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6.3: The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Business Case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for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a Risk Management Program </a:t>
            </a:r>
          </a:p>
        </p:txBody>
      </p:sp>
    </p:spTree>
    <p:extLst>
      <p:ext uri="{BB962C8B-B14F-4D97-AF65-F5344CB8AC3E}">
        <p14:creationId xmlns:p14="http://schemas.microsoft.com/office/powerpoint/2010/main" val="6719989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AIChE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Ratios: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study of the US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Chemical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Industry conducted by the American Institute for Chemical Engineering (</a:t>
            </a:r>
            <a:r>
              <a:rPr lang="en-US" altLang="en-US" b="0" dirty="0" err="1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AIChE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found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beneficial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outcomes in organizations with effective RMP: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5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% increase in productivity.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5% reduction in maintenance cost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3% reduction in production cost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1% reduction in capital costs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20% reduction in insurance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premiums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(collectively, the </a:t>
            </a:r>
            <a:r>
              <a:rPr lang="en-US" altLang="en-US" sz="2000" b="0" dirty="0" err="1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AIChE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Ratios)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All of these in addition to the saving of incident costs!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Creating Positive Stakeholder Value – </a:t>
            </a:r>
            <a:r>
              <a:rPr lang="en-US" altLang="en-US" sz="2400" b="0" dirty="0" err="1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AIChE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Ratios: 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6.3: The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Business Case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for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a Risk Management Program </a:t>
            </a:r>
          </a:p>
        </p:txBody>
      </p:sp>
    </p:spTree>
    <p:extLst>
      <p:ext uri="{BB962C8B-B14F-4D97-AF65-F5344CB8AC3E}">
        <p14:creationId xmlns:p14="http://schemas.microsoft.com/office/powerpoint/2010/main" val="319408605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There are many financial models applied in industry.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an empirical approach based on the </a:t>
            </a:r>
            <a:r>
              <a:rPr lang="en-US" altLang="en-US" b="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AIChE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Ratios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apply in an actual facility would require:</a:t>
            </a:r>
          </a:p>
          <a:p>
            <a:pPr marL="720000" lvl="2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Actual cost data</a:t>
            </a:r>
          </a:p>
          <a:p>
            <a:pPr marL="720000" lvl="2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Ratios more pertinent to your facility or operation.</a:t>
            </a:r>
          </a:p>
          <a:p>
            <a:pPr marL="720000" lvl="2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May require some data collection and analysis to determine those ratios.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Before Implementation vs. After Implementation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should be analyzed to quantify and validate the actual improvements in order to further develop the model for the organization.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Let’s work through an example …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Creating Positive Stakeholder Value – An Empirical Approach: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6.3: The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Business Case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for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a Risk Management Program </a:t>
            </a:r>
          </a:p>
        </p:txBody>
      </p:sp>
    </p:spTree>
    <p:extLst>
      <p:ext uri="{BB962C8B-B14F-4D97-AF65-F5344CB8AC3E}">
        <p14:creationId xmlns:p14="http://schemas.microsoft.com/office/powerpoint/2010/main" val="35215826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Creating Positive Stakeholder Value – An Empirical Approach: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6.3: The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Business Case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for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a Risk Management Program </a:t>
            </a:r>
          </a:p>
        </p:txBody>
      </p:sp>
      <p:pic>
        <p:nvPicPr>
          <p:cNvPr id="6" name="Picture 8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00" y="1905001"/>
            <a:ext cx="8640000" cy="2362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80000" y="828000"/>
            <a:ext cx="4284000" cy="1080000"/>
          </a:xfrm>
          <a:prstGeom prst="rect">
            <a:avLst/>
          </a:prstGeom>
          <a:solidFill>
            <a:srgbClr val="000000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/>
          <a:lstStyle>
            <a:defPPr>
              <a:defRPr lang="en-US"/>
            </a:defPPr>
            <a:lvl1pPr marL="342900" indent="-342900"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None/>
              <a:defRPr sz="16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/>
            </a:lvl2pPr>
            <a:lvl3pPr marL="1143000" indent="-228600">
              <a:spcBef>
                <a:spcPct val="20000"/>
              </a:spcBef>
              <a:buChar char="•"/>
            </a:lvl3pPr>
            <a:lvl4pPr marL="1600200" indent="-228600">
              <a:spcBef>
                <a:spcPct val="20000"/>
              </a:spcBef>
              <a:buChar char="–"/>
              <a:defRPr sz="2000"/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/>
            </a:lvl9pPr>
          </a:lstStyle>
          <a:p>
            <a:pPr>
              <a:spcBef>
                <a:spcPts val="0"/>
              </a:spcBef>
            </a:pPr>
            <a:r>
              <a:rPr lang="en-US" altLang="en-US" dirty="0"/>
              <a:t>Given:</a:t>
            </a:r>
          </a:p>
          <a:p>
            <a:pPr>
              <a:spcBef>
                <a:spcPts val="0"/>
              </a:spcBef>
              <a:buClr>
                <a:srgbClr val="FFFFFF"/>
              </a:buClr>
              <a:buFont typeface="Wingdings" panose="05000000000000000000" pitchFamily="2" charset="2"/>
              <a:buChar char="Ø"/>
            </a:pPr>
            <a:r>
              <a:rPr lang="en-US" altLang="en-US" dirty="0" err="1"/>
              <a:t>AIChE</a:t>
            </a:r>
            <a:r>
              <a:rPr lang="en-US" altLang="en-US" dirty="0"/>
              <a:t> data, and </a:t>
            </a:r>
          </a:p>
          <a:p>
            <a:pPr>
              <a:spcBef>
                <a:spcPts val="0"/>
              </a:spcBef>
              <a:buClr>
                <a:srgbClr val="FFFFFF"/>
              </a:buClr>
              <a:buFont typeface="Wingdings" panose="05000000000000000000" pitchFamily="2" charset="2"/>
              <a:buChar char="Ø"/>
            </a:pPr>
            <a:r>
              <a:rPr lang="en-US" altLang="en-US" dirty="0"/>
              <a:t>company data, and </a:t>
            </a:r>
          </a:p>
          <a:p>
            <a:pPr>
              <a:spcBef>
                <a:spcPts val="0"/>
              </a:spcBef>
              <a:buClr>
                <a:srgbClr val="FFFFFF"/>
              </a:buClr>
              <a:buFont typeface="Wingdings" panose="05000000000000000000" pitchFamily="2" charset="2"/>
              <a:buChar char="Ø"/>
            </a:pPr>
            <a:r>
              <a:rPr lang="en-US" altLang="en-US" dirty="0"/>
              <a:t>a simple table to use.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4536000" y="828000"/>
            <a:ext cx="4284000" cy="1080000"/>
          </a:xfrm>
          <a:prstGeom prst="rect">
            <a:avLst/>
          </a:prstGeom>
          <a:solidFill>
            <a:srgbClr val="000000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able to:</a:t>
            </a:r>
          </a:p>
          <a:p>
            <a:pPr>
              <a:spcBef>
                <a:spcPts val="0"/>
              </a:spcBef>
              <a:buClr>
                <a:srgbClr val="FFFF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the </a:t>
            </a:r>
            <a:r>
              <a:rPr lang="en-US" altLang="en-US" sz="16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AIChE</a:t>
            </a:r>
            <a:r>
              <a:rPr lang="en-US" alt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Factors,</a:t>
            </a:r>
          </a:p>
          <a:p>
            <a:pPr>
              <a:spcBef>
                <a:spcPts val="0"/>
              </a:spcBef>
              <a:buClr>
                <a:srgbClr val="FFFF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potential savings, and</a:t>
            </a:r>
          </a:p>
          <a:p>
            <a:pPr>
              <a:spcBef>
                <a:spcPts val="0"/>
              </a:spcBef>
              <a:buClr>
                <a:srgbClr val="FFFF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a recommendation. 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80000" y="4448745"/>
            <a:ext cx="5411787" cy="1600438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AIChE</a:t>
            </a: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Ratios:</a:t>
            </a: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5% increase in productivity.</a:t>
            </a: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5% reduction in maintenance cost</a:t>
            </a: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3% reduction in production cost</a:t>
            </a: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1% reduction in capital costs</a:t>
            </a: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20% reduction in insurance premiums.</a:t>
            </a: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of these </a:t>
            </a:r>
            <a:r>
              <a:rPr lang="en-US" altLang="en-US" sz="140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addition to</a:t>
            </a: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saving of incident costs!</a:t>
            </a:r>
          </a:p>
        </p:txBody>
      </p:sp>
    </p:spTree>
    <p:extLst>
      <p:ext uri="{BB962C8B-B14F-4D97-AF65-F5344CB8AC3E}">
        <p14:creationId xmlns:p14="http://schemas.microsoft.com/office/powerpoint/2010/main" val="11831051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10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332000"/>
            <a:ext cx="8280000" cy="5148651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 bwMode="auto">
          <a:xfrm>
            <a:off x="3344590" y="2861476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0" name="Right Arrow 9"/>
          <p:cNvSpPr/>
          <p:nvPr/>
        </p:nvSpPr>
        <p:spPr bwMode="auto">
          <a:xfrm>
            <a:off x="3344590" y="3306675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1" name="Right Arrow 10"/>
          <p:cNvSpPr/>
          <p:nvPr/>
        </p:nvSpPr>
        <p:spPr bwMode="auto">
          <a:xfrm>
            <a:off x="3344590" y="3739873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4" name="Right Arrow 13"/>
          <p:cNvSpPr/>
          <p:nvPr/>
        </p:nvSpPr>
        <p:spPr bwMode="auto">
          <a:xfrm>
            <a:off x="1828800" y="3744355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5" name="Right Arrow 14"/>
          <p:cNvSpPr/>
          <p:nvPr/>
        </p:nvSpPr>
        <p:spPr bwMode="auto">
          <a:xfrm>
            <a:off x="1828800" y="3287155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6" name="Right Arrow 15"/>
          <p:cNvSpPr/>
          <p:nvPr/>
        </p:nvSpPr>
        <p:spPr bwMode="auto">
          <a:xfrm>
            <a:off x="1828800" y="2829955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7" name="Right Arrow 16"/>
          <p:cNvSpPr/>
          <p:nvPr/>
        </p:nvSpPr>
        <p:spPr bwMode="auto">
          <a:xfrm>
            <a:off x="5554390" y="5562600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8" name="Right Arrow 17"/>
          <p:cNvSpPr/>
          <p:nvPr/>
        </p:nvSpPr>
        <p:spPr bwMode="auto">
          <a:xfrm>
            <a:off x="1843074" y="4642936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19" name="Right Arrow 18"/>
          <p:cNvSpPr/>
          <p:nvPr/>
        </p:nvSpPr>
        <p:spPr bwMode="auto">
          <a:xfrm>
            <a:off x="3351727" y="4191000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Right Arrow 19"/>
          <p:cNvSpPr/>
          <p:nvPr/>
        </p:nvSpPr>
        <p:spPr bwMode="auto">
          <a:xfrm>
            <a:off x="1835937" y="4195482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1" name="Right Arrow 20"/>
          <p:cNvSpPr/>
          <p:nvPr/>
        </p:nvSpPr>
        <p:spPr bwMode="auto">
          <a:xfrm>
            <a:off x="3351727" y="2393721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2" name="Right Arrow 21"/>
          <p:cNvSpPr/>
          <p:nvPr/>
        </p:nvSpPr>
        <p:spPr bwMode="auto">
          <a:xfrm>
            <a:off x="1835937" y="2362200"/>
            <a:ext cx="389210" cy="45720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636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5781955" y="271744"/>
            <a:ext cx="2973388" cy="12192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90600" indent="-5334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Clr>
                <a:srgbClr val="0000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900" b="0" dirty="0" err="1">
                <a:solidFill>
                  <a:srgbClr val="000000"/>
                </a:solidFill>
                <a:latin typeface="Arial" panose="020B0604020202020204" pitchFamily="34" charset="0"/>
              </a:rPr>
              <a:t>AIChE</a:t>
            </a:r>
            <a:r>
              <a:rPr lang="en-US" altLang="en-US" sz="900" b="0" dirty="0">
                <a:solidFill>
                  <a:srgbClr val="000000"/>
                </a:solidFill>
                <a:latin typeface="Arial" panose="020B0604020202020204" pitchFamily="34" charset="0"/>
              </a:rPr>
              <a:t> Ratios:</a:t>
            </a:r>
          </a:p>
          <a:p>
            <a:pPr eaLnBrk="0" hangingPunct="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9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5% increase in productivity.</a:t>
            </a:r>
          </a:p>
          <a:p>
            <a:pPr eaLnBrk="0" hangingPunct="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9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5% reduction in maintenance cost</a:t>
            </a:r>
          </a:p>
          <a:p>
            <a:pPr eaLnBrk="0" hangingPunct="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9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3% reduction in production cost</a:t>
            </a:r>
          </a:p>
          <a:p>
            <a:pPr eaLnBrk="0" hangingPunct="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9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1% reduction in capital costs</a:t>
            </a:r>
          </a:p>
          <a:p>
            <a:pPr eaLnBrk="0" hangingPunct="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9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20% reduction in insurance premiums.</a:t>
            </a:r>
          </a:p>
          <a:p>
            <a:pPr eaLnBrk="0" hangingPunct="0">
              <a:buClr>
                <a:srgbClr val="0000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9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of these </a:t>
            </a:r>
            <a:r>
              <a:rPr lang="en-US" altLang="en-US" sz="9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addition to</a:t>
            </a:r>
            <a:r>
              <a:rPr lang="en-US" altLang="en-US" sz="9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saving of incident costs!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523" y="229671"/>
            <a:ext cx="4622077" cy="120757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Net Potential Savings can be estimated using the </a:t>
            </a:r>
            <a:r>
              <a:rPr kumimoji="0" lang="en-US" sz="1800" b="0" i="1" u="sng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AICHhE</a:t>
            </a:r>
            <a:r>
              <a:rPr kumimoji="0" lang="en-US" sz="1800" b="0" i="1" u="sng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Ratios</a:t>
            </a:r>
            <a:r>
              <a:rPr kumimoji="0" 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br>
              <a:rPr kumimoji="0" 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any </a:t>
            </a:r>
            <a:r>
              <a:rPr kumimoji="0" lang="en-US" sz="1800" b="0" i="1" u="sng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Current Values</a:t>
            </a:r>
            <a:r>
              <a:rPr kumimoji="0" 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that may be provided.</a:t>
            </a:r>
          </a:p>
          <a:p>
            <a:pPr marL="285750" marR="0" lvl="0" indent="-2857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Let’s work through an example.</a:t>
            </a:r>
          </a:p>
        </p:txBody>
      </p:sp>
      <p:sp>
        <p:nvSpPr>
          <p:cNvPr id="25" name="Down Arrow 24"/>
          <p:cNvSpPr/>
          <p:nvPr/>
        </p:nvSpPr>
        <p:spPr bwMode="auto">
          <a:xfrm rot="3185309">
            <a:off x="4894884" y="485167"/>
            <a:ext cx="424384" cy="1847794"/>
          </a:xfrm>
          <a:prstGeom prst="downArrow">
            <a:avLst/>
          </a:prstGeom>
          <a:solidFill>
            <a:srgbClr val="000000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7942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6.3: The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Business Case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for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a Risk Management Program 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09600" y="4837090"/>
            <a:ext cx="2862220" cy="1066800"/>
          </a:xfrm>
          <a:prstGeom prst="rect">
            <a:avLst/>
          </a:prstGeom>
          <a:solidFill>
            <a:srgbClr val="000099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eaLnBrk="0" hangingPunct="0"/>
            <a:r>
              <a:rPr lang="en-US" sz="12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ROI?</a:t>
            </a:r>
          </a:p>
          <a:p>
            <a:pPr eaLnBrk="0" hangingPunct="0"/>
            <a:endParaRPr lang="en-US" sz="1200" b="0" i="1" dirty="0" smtClea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hangingPunct="0"/>
            <a:r>
              <a:rPr lang="en-US" sz="12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Annual basis:</a:t>
            </a:r>
          </a:p>
          <a:p>
            <a:pPr eaLnBrk="0" hangingPunct="0"/>
            <a:r>
              <a:rPr lang="en-US" sz="12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$870,000 / $500,000 = 1.74 (174%)</a:t>
            </a:r>
          </a:p>
          <a:p>
            <a:pPr eaLnBrk="0" hangingPunct="0"/>
            <a:r>
              <a:rPr lang="en-US" sz="1200" b="0" i="1" u="sng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including production gains</a:t>
            </a:r>
          </a:p>
        </p:txBody>
      </p:sp>
      <p:sp>
        <p:nvSpPr>
          <p:cNvPr id="173" name="AutoShape 3"/>
          <p:cNvSpPr>
            <a:spLocks noChangeAspect="1" noChangeArrowheads="1" noTextEdit="1"/>
          </p:cNvSpPr>
          <p:nvPr/>
        </p:nvSpPr>
        <p:spPr bwMode="auto">
          <a:xfrm>
            <a:off x="431801" y="939801"/>
            <a:ext cx="8280400" cy="51482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74" name="Rectangle 173"/>
          <p:cNvSpPr>
            <a:spLocks noChangeArrowheads="1"/>
          </p:cNvSpPr>
          <p:nvPr/>
        </p:nvSpPr>
        <p:spPr bwMode="auto">
          <a:xfrm>
            <a:off x="431801" y="4219575"/>
            <a:ext cx="1285875" cy="4730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75" name="Rectangle 7"/>
          <p:cNvSpPr>
            <a:spLocks noChangeArrowheads="1"/>
          </p:cNvSpPr>
          <p:nvPr/>
        </p:nvSpPr>
        <p:spPr bwMode="auto">
          <a:xfrm>
            <a:off x="1709738" y="4219575"/>
            <a:ext cx="1516063" cy="4730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76" name="Rectangle 8"/>
          <p:cNvSpPr>
            <a:spLocks noChangeArrowheads="1"/>
          </p:cNvSpPr>
          <p:nvPr/>
        </p:nvSpPr>
        <p:spPr bwMode="auto">
          <a:xfrm>
            <a:off x="3217863" y="4219575"/>
            <a:ext cx="2363788" cy="473075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77" name="Rectangle 9"/>
          <p:cNvSpPr>
            <a:spLocks noChangeArrowheads="1"/>
          </p:cNvSpPr>
          <p:nvPr/>
        </p:nvSpPr>
        <p:spPr bwMode="auto">
          <a:xfrm>
            <a:off x="5573713" y="4219575"/>
            <a:ext cx="3138488" cy="4730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78" name="Rectangle 10"/>
          <p:cNvSpPr>
            <a:spLocks noChangeArrowheads="1"/>
          </p:cNvSpPr>
          <p:nvPr/>
        </p:nvSpPr>
        <p:spPr bwMode="auto">
          <a:xfrm>
            <a:off x="431801" y="4684713"/>
            <a:ext cx="8280400" cy="14033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80" name="Rectangle 12"/>
          <p:cNvSpPr>
            <a:spLocks noChangeArrowheads="1"/>
          </p:cNvSpPr>
          <p:nvPr/>
        </p:nvSpPr>
        <p:spPr bwMode="auto">
          <a:xfrm>
            <a:off x="2092326" y="1600201"/>
            <a:ext cx="940963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Current Values</a:t>
            </a:r>
            <a:endParaRPr kumimoji="0" lang="en-US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81" name="Rectangle 13"/>
          <p:cNvSpPr>
            <a:spLocks noChangeArrowheads="1"/>
          </p:cNvSpPr>
          <p:nvPr/>
        </p:nvSpPr>
        <p:spPr bwMode="auto">
          <a:xfrm>
            <a:off x="3370263" y="1527176"/>
            <a:ext cx="130003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Estimated Gains, </a:t>
            </a:r>
            <a:r>
              <a:rPr lang="en-US" altLang="en-US" sz="1100" b="0" kern="0" dirty="0">
                <a:solidFill>
                  <a:srgbClr val="000000"/>
                </a:solidFill>
              </a:rPr>
              <a:t/>
            </a:r>
            <a:br>
              <a:rPr lang="en-US" altLang="en-US" sz="1100" b="0" kern="0" dirty="0">
                <a:solidFill>
                  <a:srgbClr val="000000"/>
                </a:solidFill>
              </a:rPr>
            </a:br>
            <a:r>
              <a:rPr lang="en-US" altLang="en-US" sz="1100" b="0" kern="0" dirty="0">
                <a:solidFill>
                  <a:srgbClr val="000000"/>
                </a:solidFill>
              </a:rPr>
              <a:t>% </a:t>
            </a:r>
            <a:r>
              <a:rPr lang="en-US" altLang="en-US" sz="1100" b="0" kern="0" dirty="0" smtClean="0">
                <a:solidFill>
                  <a:srgbClr val="000000"/>
                </a:solidFill>
              </a:rPr>
              <a:t>per </a:t>
            </a:r>
            <a:r>
              <a:rPr lang="en-US" altLang="en-US" sz="1100" b="0" kern="0" dirty="0" err="1">
                <a:solidFill>
                  <a:srgbClr val="000000"/>
                </a:solidFill>
              </a:rPr>
              <a:t>AIChE</a:t>
            </a:r>
            <a:r>
              <a:rPr lang="en-US" altLang="en-US" sz="1100" b="0" kern="0" dirty="0">
                <a:solidFill>
                  <a:srgbClr val="000000"/>
                </a:solidFill>
              </a:rPr>
              <a:t> </a:t>
            </a:r>
            <a:r>
              <a:rPr lang="en-US" altLang="en-US" sz="1100" b="0" kern="0" dirty="0" smtClean="0">
                <a:solidFill>
                  <a:srgbClr val="000000"/>
                </a:solidFill>
              </a:rPr>
              <a:t>Ratios</a:t>
            </a:r>
            <a:endParaRPr kumimoji="0" lang="en-US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83" name="Rectangle 15"/>
          <p:cNvSpPr>
            <a:spLocks noChangeArrowheads="1"/>
          </p:cNvSpPr>
          <p:nvPr/>
        </p:nvSpPr>
        <p:spPr bwMode="auto">
          <a:xfrm>
            <a:off x="4709789" y="1535932"/>
            <a:ext cx="6251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Improved </a:t>
            </a:r>
            <a:br>
              <a:rPr kumimoji="0" lang="en-US" alt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alt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Values</a:t>
            </a:r>
            <a:endParaRPr kumimoji="0" lang="en-US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84" name="Rectangle 16"/>
          <p:cNvSpPr>
            <a:spLocks noChangeArrowheads="1"/>
          </p:cNvSpPr>
          <p:nvPr/>
        </p:nvSpPr>
        <p:spPr bwMode="auto">
          <a:xfrm>
            <a:off x="5726113" y="1568451"/>
            <a:ext cx="626775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Net Gains</a:t>
            </a:r>
          </a:p>
        </p:txBody>
      </p:sp>
      <p:sp>
        <p:nvSpPr>
          <p:cNvPr id="185" name="Rectangle 17"/>
          <p:cNvSpPr>
            <a:spLocks noChangeArrowheads="1"/>
          </p:cNvSpPr>
          <p:nvPr/>
        </p:nvSpPr>
        <p:spPr bwMode="auto">
          <a:xfrm>
            <a:off x="7507288" y="1600201"/>
            <a:ext cx="32220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Units</a:t>
            </a:r>
            <a:endParaRPr kumimoji="0" lang="en-US" altLang="en-US" sz="11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86" name="Rectangle 18"/>
          <p:cNvSpPr>
            <a:spLocks noChangeArrowheads="1"/>
          </p:cNvSpPr>
          <p:nvPr/>
        </p:nvSpPr>
        <p:spPr bwMode="auto">
          <a:xfrm>
            <a:off x="609600" y="1981200"/>
            <a:ext cx="775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Production </a:t>
            </a:r>
            <a:b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Rate:</a:t>
            </a:r>
            <a:endParaRPr kumimoji="0" lang="en-US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87" name="Rectangle 19"/>
          <p:cNvSpPr>
            <a:spLocks noChangeArrowheads="1"/>
          </p:cNvSpPr>
          <p:nvPr/>
        </p:nvSpPr>
        <p:spPr bwMode="auto">
          <a:xfrm>
            <a:off x="2286000" y="2066926"/>
            <a:ext cx="674865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20 </a:t>
            </a:r>
            <a:r>
              <a:rPr kumimoji="0" lang="en-US" alt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Mkg</a:t>
            </a: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/</a:t>
            </a:r>
            <a:r>
              <a:rPr kumimoji="0" lang="en-US" alt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yr</a:t>
            </a:r>
            <a:endParaRPr kumimoji="0" lang="en-US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88" name="Rectangle 20"/>
          <p:cNvSpPr>
            <a:spLocks noChangeArrowheads="1"/>
          </p:cNvSpPr>
          <p:nvPr/>
        </p:nvSpPr>
        <p:spPr bwMode="auto">
          <a:xfrm>
            <a:off x="3922713" y="2057401"/>
            <a:ext cx="22121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5%</a:t>
            </a:r>
            <a:endParaRPr kumimoji="0" lang="en-US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89" name="Rectangle 21"/>
          <p:cNvSpPr>
            <a:spLocks noChangeArrowheads="1"/>
          </p:cNvSpPr>
          <p:nvPr/>
        </p:nvSpPr>
        <p:spPr bwMode="auto">
          <a:xfrm>
            <a:off x="5183188" y="2057401"/>
            <a:ext cx="46355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Mkg/yr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0" name="Rectangle 22"/>
          <p:cNvSpPr>
            <a:spLocks noChangeArrowheads="1"/>
          </p:cNvSpPr>
          <p:nvPr/>
        </p:nvSpPr>
        <p:spPr bwMode="auto">
          <a:xfrm>
            <a:off x="6572251" y="2057401"/>
            <a:ext cx="1741488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million kg per year increase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1" name="Rectangle 23"/>
          <p:cNvSpPr>
            <a:spLocks noChangeArrowheads="1"/>
          </p:cNvSpPr>
          <p:nvPr/>
        </p:nvSpPr>
        <p:spPr bwMode="auto">
          <a:xfrm>
            <a:off x="609600" y="2446338"/>
            <a:ext cx="920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Maintenance </a:t>
            </a:r>
            <a:b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Costs:</a:t>
            </a:r>
            <a:endParaRPr kumimoji="0" lang="en-US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2" name="Rectangle 24"/>
          <p:cNvSpPr>
            <a:spLocks noChangeArrowheads="1"/>
          </p:cNvSpPr>
          <p:nvPr/>
        </p:nvSpPr>
        <p:spPr bwMode="auto">
          <a:xfrm>
            <a:off x="2057400" y="2513013"/>
            <a:ext cx="9810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$5,000,000 /</a:t>
            </a:r>
            <a:r>
              <a:rPr kumimoji="0" lang="en-US" alt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yr</a:t>
            </a:r>
            <a:endParaRPr kumimoji="0" lang="en-US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3" name="Rectangle 25"/>
          <p:cNvSpPr>
            <a:spLocks noChangeArrowheads="1"/>
          </p:cNvSpPr>
          <p:nvPr/>
        </p:nvSpPr>
        <p:spPr bwMode="auto">
          <a:xfrm>
            <a:off x="3922713" y="2522538"/>
            <a:ext cx="22121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5%</a:t>
            </a:r>
            <a:endParaRPr kumimoji="0" lang="en-US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4" name="Rectangle 26"/>
          <p:cNvSpPr>
            <a:spLocks noChangeArrowheads="1"/>
          </p:cNvSpPr>
          <p:nvPr/>
        </p:nvSpPr>
        <p:spPr bwMode="auto">
          <a:xfrm>
            <a:off x="5310188" y="2522538"/>
            <a:ext cx="27940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$/yr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5" name="Rectangle 27"/>
          <p:cNvSpPr>
            <a:spLocks noChangeArrowheads="1"/>
          </p:cNvSpPr>
          <p:nvPr/>
        </p:nvSpPr>
        <p:spPr bwMode="auto">
          <a:xfrm>
            <a:off x="6572251" y="2530476"/>
            <a:ext cx="213995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per year maintenance cost savings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6" name="Rectangle 28"/>
          <p:cNvSpPr>
            <a:spLocks noChangeArrowheads="1"/>
          </p:cNvSpPr>
          <p:nvPr/>
        </p:nvSpPr>
        <p:spPr bwMode="auto">
          <a:xfrm>
            <a:off x="609600" y="2911475"/>
            <a:ext cx="775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Production </a:t>
            </a:r>
            <a:b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Costs: </a:t>
            </a:r>
            <a:endParaRPr kumimoji="0" lang="en-US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7" name="Rectangle 29"/>
          <p:cNvSpPr>
            <a:spLocks noChangeArrowheads="1"/>
          </p:cNvSpPr>
          <p:nvPr/>
        </p:nvSpPr>
        <p:spPr bwMode="auto">
          <a:xfrm>
            <a:off x="1981200" y="2987676"/>
            <a:ext cx="106599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$30,000,000 /</a:t>
            </a:r>
            <a:r>
              <a:rPr kumimoji="0" lang="en-US" alt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yr</a:t>
            </a:r>
            <a:endParaRPr kumimoji="0" lang="en-US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8" name="Rectangle 30"/>
          <p:cNvSpPr>
            <a:spLocks noChangeArrowheads="1"/>
          </p:cNvSpPr>
          <p:nvPr/>
        </p:nvSpPr>
        <p:spPr bwMode="auto">
          <a:xfrm>
            <a:off x="3922713" y="2987676"/>
            <a:ext cx="22121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3%</a:t>
            </a:r>
            <a:endParaRPr kumimoji="0" lang="en-US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9" name="Rectangle 31"/>
          <p:cNvSpPr>
            <a:spLocks noChangeArrowheads="1"/>
          </p:cNvSpPr>
          <p:nvPr/>
        </p:nvSpPr>
        <p:spPr bwMode="auto">
          <a:xfrm>
            <a:off x="5310188" y="2987676"/>
            <a:ext cx="27940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$/yr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0" name="Rectangle 32"/>
          <p:cNvSpPr>
            <a:spLocks noChangeArrowheads="1"/>
          </p:cNvSpPr>
          <p:nvPr/>
        </p:nvSpPr>
        <p:spPr bwMode="auto">
          <a:xfrm>
            <a:off x="6572251" y="2995613"/>
            <a:ext cx="2005013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per year production cost savings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1" name="Rectangle 33"/>
          <p:cNvSpPr>
            <a:spLocks noChangeArrowheads="1"/>
          </p:cNvSpPr>
          <p:nvPr/>
        </p:nvSpPr>
        <p:spPr bwMode="auto">
          <a:xfrm>
            <a:off x="609600" y="3376613"/>
            <a:ext cx="5193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Capital </a:t>
            </a:r>
            <a:b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Costs: </a:t>
            </a:r>
            <a:endParaRPr kumimoji="0" lang="en-US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2" name="Rectangle 34"/>
          <p:cNvSpPr>
            <a:spLocks noChangeArrowheads="1"/>
          </p:cNvSpPr>
          <p:nvPr/>
        </p:nvSpPr>
        <p:spPr bwMode="auto">
          <a:xfrm>
            <a:off x="2054225" y="3460751"/>
            <a:ext cx="9810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$2,000,000 /</a:t>
            </a:r>
            <a:r>
              <a:rPr kumimoji="0" lang="en-US" alt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yr</a:t>
            </a:r>
            <a:endParaRPr kumimoji="0" lang="en-US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3" name="Rectangle 35"/>
          <p:cNvSpPr>
            <a:spLocks noChangeArrowheads="1"/>
          </p:cNvSpPr>
          <p:nvPr/>
        </p:nvSpPr>
        <p:spPr bwMode="auto">
          <a:xfrm>
            <a:off x="3922713" y="3452813"/>
            <a:ext cx="22121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1%</a:t>
            </a:r>
            <a:endParaRPr kumimoji="0" lang="en-US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4" name="Rectangle 36"/>
          <p:cNvSpPr>
            <a:spLocks noChangeArrowheads="1"/>
          </p:cNvSpPr>
          <p:nvPr/>
        </p:nvSpPr>
        <p:spPr bwMode="auto">
          <a:xfrm>
            <a:off x="5310188" y="3452813"/>
            <a:ext cx="27940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$/yr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5" name="Rectangle 37"/>
          <p:cNvSpPr>
            <a:spLocks noChangeArrowheads="1"/>
          </p:cNvSpPr>
          <p:nvPr/>
        </p:nvSpPr>
        <p:spPr bwMode="auto">
          <a:xfrm>
            <a:off x="6572251" y="3460751"/>
            <a:ext cx="1773238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per year capital cost savings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6" name="Rectangle 38"/>
          <p:cNvSpPr>
            <a:spLocks noChangeArrowheads="1"/>
          </p:cNvSpPr>
          <p:nvPr/>
        </p:nvSpPr>
        <p:spPr bwMode="auto">
          <a:xfrm>
            <a:off x="601282" y="3827801"/>
            <a:ext cx="7341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Insurance </a:t>
            </a:r>
            <a:b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Premiums:</a:t>
            </a:r>
            <a:endParaRPr kumimoji="0" lang="en-US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7" name="Rectangle 39"/>
          <p:cNvSpPr>
            <a:spLocks noChangeArrowheads="1"/>
          </p:cNvSpPr>
          <p:nvPr/>
        </p:nvSpPr>
        <p:spPr bwMode="auto">
          <a:xfrm>
            <a:off x="2171700" y="3919538"/>
            <a:ext cx="85279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$500,000 /</a:t>
            </a:r>
            <a:r>
              <a:rPr kumimoji="0" lang="en-US" alt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yr</a:t>
            </a:r>
            <a:endParaRPr kumimoji="0" lang="en-US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8" name="Rectangle 40"/>
          <p:cNvSpPr>
            <a:spLocks noChangeArrowheads="1"/>
          </p:cNvSpPr>
          <p:nvPr/>
        </p:nvSpPr>
        <p:spPr bwMode="auto">
          <a:xfrm>
            <a:off x="3857626" y="3898900"/>
            <a:ext cx="30617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20%</a:t>
            </a:r>
            <a:endParaRPr kumimoji="0" lang="en-US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9" name="Rectangle 41"/>
          <p:cNvSpPr>
            <a:spLocks noChangeArrowheads="1"/>
          </p:cNvSpPr>
          <p:nvPr/>
        </p:nvSpPr>
        <p:spPr bwMode="auto">
          <a:xfrm>
            <a:off x="5310188" y="3917950"/>
            <a:ext cx="27940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$/yr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0" name="Rectangle 42"/>
          <p:cNvSpPr>
            <a:spLocks noChangeArrowheads="1"/>
          </p:cNvSpPr>
          <p:nvPr/>
        </p:nvSpPr>
        <p:spPr bwMode="auto">
          <a:xfrm>
            <a:off x="6572251" y="3925888"/>
            <a:ext cx="2227263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per year insurance premium savings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1" name="Rectangle 43"/>
          <p:cNvSpPr>
            <a:spLocks noChangeArrowheads="1"/>
          </p:cNvSpPr>
          <p:nvPr/>
        </p:nvSpPr>
        <p:spPr bwMode="auto">
          <a:xfrm>
            <a:off x="549717" y="4291352"/>
            <a:ext cx="9393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Incident Cost </a:t>
            </a:r>
            <a:b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Savings:</a:t>
            </a:r>
            <a:endParaRPr kumimoji="0" lang="en-US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2" name="Rectangle 44"/>
          <p:cNvSpPr>
            <a:spLocks noChangeArrowheads="1"/>
          </p:cNvSpPr>
          <p:nvPr/>
        </p:nvSpPr>
        <p:spPr bwMode="auto">
          <a:xfrm>
            <a:off x="1789990" y="4267200"/>
            <a:ext cx="14603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 $25K / LI</a:t>
            </a: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at </a:t>
            </a:r>
            <a:b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4 </a:t>
            </a: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LI’s avoided / year </a:t>
            </a:r>
            <a:r>
              <a:rPr kumimoji="0" lang="en-US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 </a:t>
            </a:r>
            <a:endParaRPr kumimoji="0" lang="en-US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3" name="Rectangle 46"/>
          <p:cNvSpPr>
            <a:spLocks noChangeArrowheads="1"/>
          </p:cNvSpPr>
          <p:nvPr/>
        </p:nvSpPr>
        <p:spPr bwMode="auto">
          <a:xfrm>
            <a:off x="6572251" y="4391025"/>
            <a:ext cx="1979613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per year in incident cost savings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4" name="Rectangle 47"/>
          <p:cNvSpPr>
            <a:spLocks noChangeArrowheads="1"/>
          </p:cNvSpPr>
          <p:nvPr/>
        </p:nvSpPr>
        <p:spPr bwMode="auto">
          <a:xfrm>
            <a:off x="4352926" y="4856163"/>
            <a:ext cx="1325563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Total Potential Savings: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5" name="Rectangle 48"/>
          <p:cNvSpPr>
            <a:spLocks noChangeArrowheads="1"/>
          </p:cNvSpPr>
          <p:nvPr/>
        </p:nvSpPr>
        <p:spPr bwMode="auto">
          <a:xfrm>
            <a:off x="6572251" y="4856163"/>
            <a:ext cx="1373188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per year total savings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6" name="Rectangle 49"/>
          <p:cNvSpPr>
            <a:spLocks noChangeArrowheads="1"/>
          </p:cNvSpPr>
          <p:nvPr/>
        </p:nvSpPr>
        <p:spPr bwMode="auto">
          <a:xfrm>
            <a:off x="3770313" y="5321300"/>
            <a:ext cx="199548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Estimated Costs for ESRM Program: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7" name="Rectangle 50"/>
          <p:cNvSpPr>
            <a:spLocks noChangeArrowheads="1"/>
          </p:cNvSpPr>
          <p:nvPr/>
        </p:nvSpPr>
        <p:spPr bwMode="auto">
          <a:xfrm>
            <a:off x="5791200" y="5257800"/>
            <a:ext cx="64601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500,000</a:t>
            </a:r>
            <a:endParaRPr kumimoji="0" lang="en-US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8" name="Rectangle 51"/>
          <p:cNvSpPr>
            <a:spLocks noChangeArrowheads="1"/>
          </p:cNvSpPr>
          <p:nvPr/>
        </p:nvSpPr>
        <p:spPr bwMode="auto">
          <a:xfrm>
            <a:off x="5662613" y="5295900"/>
            <a:ext cx="342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   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9" name="Rectangle 52"/>
          <p:cNvSpPr>
            <a:spLocks noChangeArrowheads="1"/>
          </p:cNvSpPr>
          <p:nvPr/>
        </p:nvSpPr>
        <p:spPr bwMode="auto">
          <a:xfrm>
            <a:off x="5910263" y="5295900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20" name="Rectangle 53"/>
          <p:cNvSpPr>
            <a:spLocks noChangeArrowheads="1"/>
          </p:cNvSpPr>
          <p:nvPr/>
        </p:nvSpPr>
        <p:spPr bwMode="auto">
          <a:xfrm>
            <a:off x="6572251" y="5321300"/>
            <a:ext cx="1916113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per year of the ESRM Program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21" name="Rectangle 54"/>
          <p:cNvSpPr>
            <a:spLocks noChangeArrowheads="1"/>
          </p:cNvSpPr>
          <p:nvPr/>
        </p:nvSpPr>
        <p:spPr bwMode="auto">
          <a:xfrm>
            <a:off x="3625851" y="5786438"/>
            <a:ext cx="214788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NET POTENTIAL SAVINGS, ESTIMATE:</a:t>
            </a:r>
            <a:endParaRPr kumimoji="0" lang="en-US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22" name="Rectangle 55"/>
          <p:cNvSpPr>
            <a:spLocks noChangeArrowheads="1"/>
          </p:cNvSpPr>
          <p:nvPr/>
        </p:nvSpPr>
        <p:spPr bwMode="auto">
          <a:xfrm>
            <a:off x="6573838" y="5786438"/>
            <a:ext cx="2036763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5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$ per year net savings, estimate</a:t>
            </a:r>
            <a:endParaRPr kumimoji="0" lang="en-US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23" name="Line 56"/>
          <p:cNvSpPr>
            <a:spLocks noChangeShapeType="1"/>
          </p:cNvSpPr>
          <p:nvPr/>
        </p:nvSpPr>
        <p:spPr bwMode="auto">
          <a:xfrm>
            <a:off x="431801" y="939801"/>
            <a:ext cx="0" cy="138112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4" name="Rectangle 57"/>
          <p:cNvSpPr>
            <a:spLocks noChangeArrowheads="1"/>
          </p:cNvSpPr>
          <p:nvPr/>
        </p:nvSpPr>
        <p:spPr bwMode="auto">
          <a:xfrm>
            <a:off x="431801" y="939801"/>
            <a:ext cx="7938" cy="138112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5" name="Line 58"/>
          <p:cNvSpPr>
            <a:spLocks noChangeShapeType="1"/>
          </p:cNvSpPr>
          <p:nvPr/>
        </p:nvSpPr>
        <p:spPr bwMode="auto">
          <a:xfrm>
            <a:off x="1709738" y="939801"/>
            <a:ext cx="0" cy="138112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6" name="Rectangle 59"/>
          <p:cNvSpPr>
            <a:spLocks noChangeArrowheads="1"/>
          </p:cNvSpPr>
          <p:nvPr/>
        </p:nvSpPr>
        <p:spPr bwMode="auto">
          <a:xfrm>
            <a:off x="1709738" y="939801"/>
            <a:ext cx="7938" cy="138112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7" name="Line 60"/>
          <p:cNvSpPr>
            <a:spLocks noChangeShapeType="1"/>
          </p:cNvSpPr>
          <p:nvPr/>
        </p:nvSpPr>
        <p:spPr bwMode="auto">
          <a:xfrm>
            <a:off x="3217863" y="939801"/>
            <a:ext cx="0" cy="138112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8" name="Rectangle 61"/>
          <p:cNvSpPr>
            <a:spLocks noChangeArrowheads="1"/>
          </p:cNvSpPr>
          <p:nvPr/>
        </p:nvSpPr>
        <p:spPr bwMode="auto">
          <a:xfrm>
            <a:off x="3217863" y="939801"/>
            <a:ext cx="7938" cy="138112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9" name="Line 62"/>
          <p:cNvSpPr>
            <a:spLocks noChangeShapeType="1"/>
          </p:cNvSpPr>
          <p:nvPr/>
        </p:nvSpPr>
        <p:spPr bwMode="auto">
          <a:xfrm>
            <a:off x="4479926" y="939801"/>
            <a:ext cx="0" cy="138112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0" name="Rectangle 63"/>
          <p:cNvSpPr>
            <a:spLocks noChangeArrowheads="1"/>
          </p:cNvSpPr>
          <p:nvPr/>
        </p:nvSpPr>
        <p:spPr bwMode="auto">
          <a:xfrm>
            <a:off x="4479926" y="939801"/>
            <a:ext cx="7938" cy="138112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1" name="Line 64"/>
          <p:cNvSpPr>
            <a:spLocks noChangeShapeType="1"/>
          </p:cNvSpPr>
          <p:nvPr/>
        </p:nvSpPr>
        <p:spPr bwMode="auto">
          <a:xfrm>
            <a:off x="5573713" y="939801"/>
            <a:ext cx="0" cy="138112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2" name="Rectangle 65"/>
          <p:cNvSpPr>
            <a:spLocks noChangeArrowheads="1"/>
          </p:cNvSpPr>
          <p:nvPr/>
        </p:nvSpPr>
        <p:spPr bwMode="auto">
          <a:xfrm>
            <a:off x="5573713" y="939801"/>
            <a:ext cx="7938" cy="138112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3" name="Line 66"/>
          <p:cNvSpPr>
            <a:spLocks noChangeShapeType="1"/>
          </p:cNvSpPr>
          <p:nvPr/>
        </p:nvSpPr>
        <p:spPr bwMode="auto">
          <a:xfrm>
            <a:off x="6548438" y="939801"/>
            <a:ext cx="0" cy="138112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4" name="Rectangle 67"/>
          <p:cNvSpPr>
            <a:spLocks noChangeArrowheads="1"/>
          </p:cNvSpPr>
          <p:nvPr/>
        </p:nvSpPr>
        <p:spPr bwMode="auto">
          <a:xfrm>
            <a:off x="6548438" y="939801"/>
            <a:ext cx="7938" cy="138112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5" name="Line 68"/>
          <p:cNvSpPr>
            <a:spLocks noChangeShapeType="1"/>
          </p:cNvSpPr>
          <p:nvPr/>
        </p:nvSpPr>
        <p:spPr bwMode="auto">
          <a:xfrm>
            <a:off x="8704263" y="939801"/>
            <a:ext cx="0" cy="138112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6" name="Rectangle 69"/>
          <p:cNvSpPr>
            <a:spLocks noChangeArrowheads="1"/>
          </p:cNvSpPr>
          <p:nvPr/>
        </p:nvSpPr>
        <p:spPr bwMode="auto">
          <a:xfrm>
            <a:off x="8704263" y="939801"/>
            <a:ext cx="7938" cy="138112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7" name="Rectangle 70"/>
          <p:cNvSpPr>
            <a:spLocks noChangeArrowheads="1"/>
          </p:cNvSpPr>
          <p:nvPr/>
        </p:nvSpPr>
        <p:spPr bwMode="auto">
          <a:xfrm>
            <a:off x="439738" y="1420813"/>
            <a:ext cx="8272463" cy="158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8" name="Line 71"/>
          <p:cNvSpPr>
            <a:spLocks noChangeShapeType="1"/>
          </p:cNvSpPr>
          <p:nvPr/>
        </p:nvSpPr>
        <p:spPr bwMode="auto">
          <a:xfrm>
            <a:off x="439738" y="1893888"/>
            <a:ext cx="82565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9" name="Rectangle 72"/>
          <p:cNvSpPr>
            <a:spLocks noChangeArrowheads="1"/>
          </p:cNvSpPr>
          <p:nvPr/>
        </p:nvSpPr>
        <p:spPr bwMode="auto">
          <a:xfrm>
            <a:off x="439738" y="1893888"/>
            <a:ext cx="8256588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0" name="Line 73"/>
          <p:cNvSpPr>
            <a:spLocks noChangeShapeType="1"/>
          </p:cNvSpPr>
          <p:nvPr/>
        </p:nvSpPr>
        <p:spPr bwMode="auto">
          <a:xfrm>
            <a:off x="439738" y="2359026"/>
            <a:ext cx="82565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1" name="Rectangle 74"/>
          <p:cNvSpPr>
            <a:spLocks noChangeArrowheads="1"/>
          </p:cNvSpPr>
          <p:nvPr/>
        </p:nvSpPr>
        <p:spPr bwMode="auto">
          <a:xfrm>
            <a:off x="439738" y="2359026"/>
            <a:ext cx="8256588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2" name="Line 75"/>
          <p:cNvSpPr>
            <a:spLocks noChangeShapeType="1"/>
          </p:cNvSpPr>
          <p:nvPr/>
        </p:nvSpPr>
        <p:spPr bwMode="auto">
          <a:xfrm>
            <a:off x="439738" y="2824163"/>
            <a:ext cx="82565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3" name="Rectangle 76"/>
          <p:cNvSpPr>
            <a:spLocks noChangeArrowheads="1"/>
          </p:cNvSpPr>
          <p:nvPr/>
        </p:nvSpPr>
        <p:spPr bwMode="auto">
          <a:xfrm>
            <a:off x="439738" y="2824163"/>
            <a:ext cx="8256588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4" name="Line 77"/>
          <p:cNvSpPr>
            <a:spLocks noChangeShapeType="1"/>
          </p:cNvSpPr>
          <p:nvPr/>
        </p:nvSpPr>
        <p:spPr bwMode="auto">
          <a:xfrm>
            <a:off x="439738" y="3289301"/>
            <a:ext cx="82565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5" name="Rectangle 78"/>
          <p:cNvSpPr>
            <a:spLocks noChangeArrowheads="1"/>
          </p:cNvSpPr>
          <p:nvPr/>
        </p:nvSpPr>
        <p:spPr bwMode="auto">
          <a:xfrm>
            <a:off x="439738" y="3289301"/>
            <a:ext cx="8256588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6" name="Line 79"/>
          <p:cNvSpPr>
            <a:spLocks noChangeShapeType="1"/>
          </p:cNvSpPr>
          <p:nvPr/>
        </p:nvSpPr>
        <p:spPr bwMode="auto">
          <a:xfrm>
            <a:off x="439738" y="3754438"/>
            <a:ext cx="82565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7" name="Rectangle 80"/>
          <p:cNvSpPr>
            <a:spLocks noChangeArrowheads="1"/>
          </p:cNvSpPr>
          <p:nvPr/>
        </p:nvSpPr>
        <p:spPr bwMode="auto">
          <a:xfrm>
            <a:off x="439738" y="3754438"/>
            <a:ext cx="8256588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8" name="Line 81"/>
          <p:cNvSpPr>
            <a:spLocks noChangeShapeType="1"/>
          </p:cNvSpPr>
          <p:nvPr/>
        </p:nvSpPr>
        <p:spPr bwMode="auto">
          <a:xfrm>
            <a:off x="439738" y="4219575"/>
            <a:ext cx="82565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9" name="Rectangle 82"/>
          <p:cNvSpPr>
            <a:spLocks noChangeArrowheads="1"/>
          </p:cNvSpPr>
          <p:nvPr/>
        </p:nvSpPr>
        <p:spPr bwMode="auto">
          <a:xfrm>
            <a:off x="439738" y="4219575"/>
            <a:ext cx="8256588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0" name="Line 83"/>
          <p:cNvSpPr>
            <a:spLocks noChangeShapeType="1"/>
          </p:cNvSpPr>
          <p:nvPr/>
        </p:nvSpPr>
        <p:spPr bwMode="auto">
          <a:xfrm>
            <a:off x="1709738" y="1436688"/>
            <a:ext cx="0" cy="3255962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1" name="Rectangle 84"/>
          <p:cNvSpPr>
            <a:spLocks noChangeArrowheads="1"/>
          </p:cNvSpPr>
          <p:nvPr/>
        </p:nvSpPr>
        <p:spPr bwMode="auto">
          <a:xfrm>
            <a:off x="1709738" y="1436688"/>
            <a:ext cx="7938" cy="32559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2" name="Line 85"/>
          <p:cNvSpPr>
            <a:spLocks noChangeShapeType="1"/>
          </p:cNvSpPr>
          <p:nvPr/>
        </p:nvSpPr>
        <p:spPr bwMode="auto">
          <a:xfrm>
            <a:off x="3217863" y="1436688"/>
            <a:ext cx="0" cy="3255962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3" name="Rectangle 86"/>
          <p:cNvSpPr>
            <a:spLocks noChangeArrowheads="1"/>
          </p:cNvSpPr>
          <p:nvPr/>
        </p:nvSpPr>
        <p:spPr bwMode="auto">
          <a:xfrm>
            <a:off x="3217863" y="1436688"/>
            <a:ext cx="7938" cy="32559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4" name="Rectangle 88"/>
          <p:cNvSpPr>
            <a:spLocks noChangeArrowheads="1"/>
          </p:cNvSpPr>
          <p:nvPr/>
        </p:nvSpPr>
        <p:spPr bwMode="auto">
          <a:xfrm>
            <a:off x="4479926" y="1436688"/>
            <a:ext cx="7938" cy="32559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5" name="Line 89"/>
          <p:cNvSpPr>
            <a:spLocks noChangeShapeType="1"/>
          </p:cNvSpPr>
          <p:nvPr/>
        </p:nvSpPr>
        <p:spPr bwMode="auto">
          <a:xfrm>
            <a:off x="439738" y="4684713"/>
            <a:ext cx="82565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6" name="Rectangle 90"/>
          <p:cNvSpPr>
            <a:spLocks noChangeArrowheads="1"/>
          </p:cNvSpPr>
          <p:nvPr/>
        </p:nvSpPr>
        <p:spPr bwMode="auto">
          <a:xfrm>
            <a:off x="439738" y="4684713"/>
            <a:ext cx="8256588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7" name="Line 91"/>
          <p:cNvSpPr>
            <a:spLocks noChangeShapeType="1"/>
          </p:cNvSpPr>
          <p:nvPr/>
        </p:nvSpPr>
        <p:spPr bwMode="auto">
          <a:xfrm>
            <a:off x="5581651" y="5149850"/>
            <a:ext cx="3114675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8" name="Rectangle 92"/>
          <p:cNvSpPr>
            <a:spLocks noChangeArrowheads="1"/>
          </p:cNvSpPr>
          <p:nvPr/>
        </p:nvSpPr>
        <p:spPr bwMode="auto">
          <a:xfrm>
            <a:off x="5581651" y="5149850"/>
            <a:ext cx="3114675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9" name="Line 93"/>
          <p:cNvSpPr>
            <a:spLocks noChangeShapeType="1"/>
          </p:cNvSpPr>
          <p:nvPr/>
        </p:nvSpPr>
        <p:spPr bwMode="auto">
          <a:xfrm>
            <a:off x="5581651" y="5614988"/>
            <a:ext cx="3114675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0" name="Rectangle 94"/>
          <p:cNvSpPr>
            <a:spLocks noChangeArrowheads="1"/>
          </p:cNvSpPr>
          <p:nvPr/>
        </p:nvSpPr>
        <p:spPr bwMode="auto">
          <a:xfrm>
            <a:off x="5581651" y="5614988"/>
            <a:ext cx="3114675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1" name="Rectangle 95"/>
          <p:cNvSpPr>
            <a:spLocks noChangeArrowheads="1"/>
          </p:cNvSpPr>
          <p:nvPr/>
        </p:nvSpPr>
        <p:spPr bwMode="auto">
          <a:xfrm>
            <a:off x="423863" y="1420813"/>
            <a:ext cx="15875" cy="4667249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2" name="Line 96"/>
          <p:cNvSpPr>
            <a:spLocks noChangeShapeType="1"/>
          </p:cNvSpPr>
          <p:nvPr/>
        </p:nvSpPr>
        <p:spPr bwMode="auto">
          <a:xfrm>
            <a:off x="5573713" y="1436688"/>
            <a:ext cx="0" cy="463549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3" name="Rectangle 97"/>
          <p:cNvSpPr>
            <a:spLocks noChangeArrowheads="1"/>
          </p:cNvSpPr>
          <p:nvPr/>
        </p:nvSpPr>
        <p:spPr bwMode="auto">
          <a:xfrm>
            <a:off x="5573713" y="1436688"/>
            <a:ext cx="7938" cy="4635499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4" name="Line 98"/>
          <p:cNvSpPr>
            <a:spLocks noChangeShapeType="1"/>
          </p:cNvSpPr>
          <p:nvPr/>
        </p:nvSpPr>
        <p:spPr bwMode="auto">
          <a:xfrm>
            <a:off x="6548438" y="1436688"/>
            <a:ext cx="0" cy="463549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5" name="Rectangle 99"/>
          <p:cNvSpPr>
            <a:spLocks noChangeArrowheads="1"/>
          </p:cNvSpPr>
          <p:nvPr/>
        </p:nvSpPr>
        <p:spPr bwMode="auto">
          <a:xfrm>
            <a:off x="6548438" y="1436688"/>
            <a:ext cx="7938" cy="4635499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6" name="Rectangle 100"/>
          <p:cNvSpPr>
            <a:spLocks noChangeArrowheads="1"/>
          </p:cNvSpPr>
          <p:nvPr/>
        </p:nvSpPr>
        <p:spPr bwMode="auto">
          <a:xfrm>
            <a:off x="439738" y="6072188"/>
            <a:ext cx="8272463" cy="158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7" name="Rectangle 101"/>
          <p:cNvSpPr>
            <a:spLocks noChangeArrowheads="1"/>
          </p:cNvSpPr>
          <p:nvPr/>
        </p:nvSpPr>
        <p:spPr bwMode="auto">
          <a:xfrm>
            <a:off x="8696326" y="1436688"/>
            <a:ext cx="15875" cy="465137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8" name="Line 102"/>
          <p:cNvSpPr>
            <a:spLocks noChangeShapeType="1"/>
          </p:cNvSpPr>
          <p:nvPr/>
        </p:nvSpPr>
        <p:spPr bwMode="auto">
          <a:xfrm>
            <a:off x="431801" y="60880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9" name="Rectangle 103"/>
          <p:cNvSpPr>
            <a:spLocks noChangeArrowheads="1"/>
          </p:cNvSpPr>
          <p:nvPr/>
        </p:nvSpPr>
        <p:spPr bwMode="auto">
          <a:xfrm>
            <a:off x="431801" y="60880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0" name="Line 104"/>
          <p:cNvSpPr>
            <a:spLocks noChangeShapeType="1"/>
          </p:cNvSpPr>
          <p:nvPr/>
        </p:nvSpPr>
        <p:spPr bwMode="auto">
          <a:xfrm>
            <a:off x="1709738" y="60880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1" name="Rectangle 105"/>
          <p:cNvSpPr>
            <a:spLocks noChangeArrowheads="1"/>
          </p:cNvSpPr>
          <p:nvPr/>
        </p:nvSpPr>
        <p:spPr bwMode="auto">
          <a:xfrm>
            <a:off x="1709738" y="60880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2" name="Line 106"/>
          <p:cNvSpPr>
            <a:spLocks noChangeShapeType="1"/>
          </p:cNvSpPr>
          <p:nvPr/>
        </p:nvSpPr>
        <p:spPr bwMode="auto">
          <a:xfrm>
            <a:off x="3217863" y="60880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3" name="Rectangle 107"/>
          <p:cNvSpPr>
            <a:spLocks noChangeArrowheads="1"/>
          </p:cNvSpPr>
          <p:nvPr/>
        </p:nvSpPr>
        <p:spPr bwMode="auto">
          <a:xfrm>
            <a:off x="3217863" y="60880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4" name="Line 108"/>
          <p:cNvSpPr>
            <a:spLocks noChangeShapeType="1"/>
          </p:cNvSpPr>
          <p:nvPr/>
        </p:nvSpPr>
        <p:spPr bwMode="auto">
          <a:xfrm>
            <a:off x="4479926" y="60880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5" name="Rectangle 109"/>
          <p:cNvSpPr>
            <a:spLocks noChangeArrowheads="1"/>
          </p:cNvSpPr>
          <p:nvPr/>
        </p:nvSpPr>
        <p:spPr bwMode="auto">
          <a:xfrm>
            <a:off x="4479926" y="60880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6" name="Line 110"/>
          <p:cNvSpPr>
            <a:spLocks noChangeShapeType="1"/>
          </p:cNvSpPr>
          <p:nvPr/>
        </p:nvSpPr>
        <p:spPr bwMode="auto">
          <a:xfrm>
            <a:off x="5573713" y="60880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7" name="Rectangle 111"/>
          <p:cNvSpPr>
            <a:spLocks noChangeArrowheads="1"/>
          </p:cNvSpPr>
          <p:nvPr/>
        </p:nvSpPr>
        <p:spPr bwMode="auto">
          <a:xfrm>
            <a:off x="5573713" y="60880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8" name="Line 112"/>
          <p:cNvSpPr>
            <a:spLocks noChangeShapeType="1"/>
          </p:cNvSpPr>
          <p:nvPr/>
        </p:nvSpPr>
        <p:spPr bwMode="auto">
          <a:xfrm>
            <a:off x="6548438" y="60880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9" name="Rectangle 113"/>
          <p:cNvSpPr>
            <a:spLocks noChangeArrowheads="1"/>
          </p:cNvSpPr>
          <p:nvPr/>
        </p:nvSpPr>
        <p:spPr bwMode="auto">
          <a:xfrm>
            <a:off x="6548438" y="60880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0" name="Line 114"/>
          <p:cNvSpPr>
            <a:spLocks noChangeShapeType="1"/>
          </p:cNvSpPr>
          <p:nvPr/>
        </p:nvSpPr>
        <p:spPr bwMode="auto">
          <a:xfrm>
            <a:off x="8704263" y="60880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1" name="Rectangle 115"/>
          <p:cNvSpPr>
            <a:spLocks noChangeArrowheads="1"/>
          </p:cNvSpPr>
          <p:nvPr/>
        </p:nvSpPr>
        <p:spPr bwMode="auto">
          <a:xfrm>
            <a:off x="8704263" y="60880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2" name="Line 116"/>
          <p:cNvSpPr>
            <a:spLocks noChangeShapeType="1"/>
          </p:cNvSpPr>
          <p:nvPr/>
        </p:nvSpPr>
        <p:spPr bwMode="auto">
          <a:xfrm>
            <a:off x="431801" y="939801"/>
            <a:ext cx="8280400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3" name="Rectangle 117"/>
          <p:cNvSpPr>
            <a:spLocks noChangeArrowheads="1"/>
          </p:cNvSpPr>
          <p:nvPr/>
        </p:nvSpPr>
        <p:spPr bwMode="auto">
          <a:xfrm>
            <a:off x="431801" y="939801"/>
            <a:ext cx="82883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4" name="Line 118"/>
          <p:cNvSpPr>
            <a:spLocks noChangeShapeType="1"/>
          </p:cNvSpPr>
          <p:nvPr/>
        </p:nvSpPr>
        <p:spPr bwMode="auto">
          <a:xfrm>
            <a:off x="8712201" y="107791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5" name="Rectangle 119"/>
          <p:cNvSpPr>
            <a:spLocks noChangeArrowheads="1"/>
          </p:cNvSpPr>
          <p:nvPr/>
        </p:nvSpPr>
        <p:spPr bwMode="auto">
          <a:xfrm>
            <a:off x="8712201" y="1077913"/>
            <a:ext cx="7938" cy="9525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6" name="Line 120"/>
          <p:cNvSpPr>
            <a:spLocks noChangeShapeType="1"/>
          </p:cNvSpPr>
          <p:nvPr/>
        </p:nvSpPr>
        <p:spPr bwMode="auto">
          <a:xfrm>
            <a:off x="8712201" y="12493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7" name="Rectangle 121"/>
          <p:cNvSpPr>
            <a:spLocks noChangeArrowheads="1"/>
          </p:cNvSpPr>
          <p:nvPr/>
        </p:nvSpPr>
        <p:spPr bwMode="auto">
          <a:xfrm>
            <a:off x="8712201" y="12493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8" name="Line 122"/>
          <p:cNvSpPr>
            <a:spLocks noChangeShapeType="1"/>
          </p:cNvSpPr>
          <p:nvPr/>
        </p:nvSpPr>
        <p:spPr bwMode="auto">
          <a:xfrm>
            <a:off x="8712201" y="1428751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1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9" name="Rectangle 123"/>
          <p:cNvSpPr>
            <a:spLocks noChangeArrowheads="1"/>
          </p:cNvSpPr>
          <p:nvPr/>
        </p:nvSpPr>
        <p:spPr bwMode="auto">
          <a:xfrm>
            <a:off x="8712201" y="1428751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1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0" name="Line 124"/>
          <p:cNvSpPr>
            <a:spLocks noChangeShapeType="1"/>
          </p:cNvSpPr>
          <p:nvPr/>
        </p:nvSpPr>
        <p:spPr bwMode="auto">
          <a:xfrm>
            <a:off x="8712201" y="1893888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1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1" name="Rectangle 125"/>
          <p:cNvSpPr>
            <a:spLocks noChangeArrowheads="1"/>
          </p:cNvSpPr>
          <p:nvPr/>
        </p:nvSpPr>
        <p:spPr bwMode="auto">
          <a:xfrm>
            <a:off x="8712201" y="1893888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1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2" name="Line 126"/>
          <p:cNvSpPr>
            <a:spLocks noChangeShapeType="1"/>
          </p:cNvSpPr>
          <p:nvPr/>
        </p:nvSpPr>
        <p:spPr bwMode="auto">
          <a:xfrm>
            <a:off x="8712201" y="2359026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3" name="Rectangle 127"/>
          <p:cNvSpPr>
            <a:spLocks noChangeArrowheads="1"/>
          </p:cNvSpPr>
          <p:nvPr/>
        </p:nvSpPr>
        <p:spPr bwMode="auto">
          <a:xfrm>
            <a:off x="8712201" y="2359026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4" name="Line 128"/>
          <p:cNvSpPr>
            <a:spLocks noChangeShapeType="1"/>
          </p:cNvSpPr>
          <p:nvPr/>
        </p:nvSpPr>
        <p:spPr bwMode="auto">
          <a:xfrm>
            <a:off x="8712201" y="282416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5" name="Rectangle 129"/>
          <p:cNvSpPr>
            <a:spLocks noChangeArrowheads="1"/>
          </p:cNvSpPr>
          <p:nvPr/>
        </p:nvSpPr>
        <p:spPr bwMode="auto">
          <a:xfrm>
            <a:off x="8712201" y="282416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6" name="Line 130"/>
          <p:cNvSpPr>
            <a:spLocks noChangeShapeType="1"/>
          </p:cNvSpPr>
          <p:nvPr/>
        </p:nvSpPr>
        <p:spPr bwMode="auto">
          <a:xfrm>
            <a:off x="8712201" y="3289301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7" name="Rectangle 131"/>
          <p:cNvSpPr>
            <a:spLocks noChangeArrowheads="1"/>
          </p:cNvSpPr>
          <p:nvPr/>
        </p:nvSpPr>
        <p:spPr bwMode="auto">
          <a:xfrm>
            <a:off x="8712201" y="3289301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8" name="Line 132"/>
          <p:cNvSpPr>
            <a:spLocks noChangeShapeType="1"/>
          </p:cNvSpPr>
          <p:nvPr/>
        </p:nvSpPr>
        <p:spPr bwMode="auto">
          <a:xfrm>
            <a:off x="8712201" y="3754438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9" name="Rectangle 133"/>
          <p:cNvSpPr>
            <a:spLocks noChangeArrowheads="1"/>
          </p:cNvSpPr>
          <p:nvPr/>
        </p:nvSpPr>
        <p:spPr bwMode="auto">
          <a:xfrm>
            <a:off x="8712201" y="3754438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0" name="Line 134"/>
          <p:cNvSpPr>
            <a:spLocks noChangeShapeType="1"/>
          </p:cNvSpPr>
          <p:nvPr/>
        </p:nvSpPr>
        <p:spPr bwMode="auto">
          <a:xfrm>
            <a:off x="8712201" y="4219575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1" name="Rectangle 135"/>
          <p:cNvSpPr>
            <a:spLocks noChangeArrowheads="1"/>
          </p:cNvSpPr>
          <p:nvPr/>
        </p:nvSpPr>
        <p:spPr bwMode="auto">
          <a:xfrm>
            <a:off x="8712201" y="4219575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2" name="Line 136"/>
          <p:cNvSpPr>
            <a:spLocks noChangeShapeType="1"/>
          </p:cNvSpPr>
          <p:nvPr/>
        </p:nvSpPr>
        <p:spPr bwMode="auto">
          <a:xfrm>
            <a:off x="8712201" y="4684713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3" name="Rectangle 137"/>
          <p:cNvSpPr>
            <a:spLocks noChangeArrowheads="1"/>
          </p:cNvSpPr>
          <p:nvPr/>
        </p:nvSpPr>
        <p:spPr bwMode="auto">
          <a:xfrm>
            <a:off x="8712201" y="4684713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4" name="Line 138"/>
          <p:cNvSpPr>
            <a:spLocks noChangeShapeType="1"/>
          </p:cNvSpPr>
          <p:nvPr/>
        </p:nvSpPr>
        <p:spPr bwMode="auto">
          <a:xfrm>
            <a:off x="8712201" y="5149850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5" name="Rectangle 139"/>
          <p:cNvSpPr>
            <a:spLocks noChangeArrowheads="1"/>
          </p:cNvSpPr>
          <p:nvPr/>
        </p:nvSpPr>
        <p:spPr bwMode="auto">
          <a:xfrm>
            <a:off x="8712201" y="5149850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6" name="Line 140"/>
          <p:cNvSpPr>
            <a:spLocks noChangeShapeType="1"/>
          </p:cNvSpPr>
          <p:nvPr/>
        </p:nvSpPr>
        <p:spPr bwMode="auto">
          <a:xfrm>
            <a:off x="8712201" y="5614988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7" name="Rectangle 141"/>
          <p:cNvSpPr>
            <a:spLocks noChangeArrowheads="1"/>
          </p:cNvSpPr>
          <p:nvPr/>
        </p:nvSpPr>
        <p:spPr bwMode="auto">
          <a:xfrm>
            <a:off x="8712201" y="5614988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8" name="Line 142"/>
          <p:cNvSpPr>
            <a:spLocks noChangeShapeType="1"/>
          </p:cNvSpPr>
          <p:nvPr/>
        </p:nvSpPr>
        <p:spPr bwMode="auto">
          <a:xfrm>
            <a:off x="8712201" y="6080125"/>
            <a:ext cx="1588" cy="1587"/>
          </a:xfrm>
          <a:prstGeom prst="line">
            <a:avLst/>
          </a:prstGeom>
          <a:noFill/>
          <a:ln w="0">
            <a:solidFill>
              <a:srgbClr val="D4D4D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9" name="Rectangle 143"/>
          <p:cNvSpPr>
            <a:spLocks noChangeArrowheads="1"/>
          </p:cNvSpPr>
          <p:nvPr/>
        </p:nvSpPr>
        <p:spPr bwMode="auto">
          <a:xfrm>
            <a:off x="8712201" y="6080125"/>
            <a:ext cx="7938" cy="7937"/>
          </a:xfrm>
          <a:prstGeom prst="rect">
            <a:avLst/>
          </a:prstGeom>
          <a:solidFill>
            <a:srgbClr val="D4D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0" cap="none" spc="0" normalizeH="0" baseline="0" noProof="0" smtClean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10" name="TextBox 309"/>
          <p:cNvSpPr txBox="1"/>
          <p:nvPr/>
        </p:nvSpPr>
        <p:spPr>
          <a:xfrm>
            <a:off x="604261" y="4877593"/>
            <a:ext cx="2862220" cy="10668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What is the ROI?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Annual basis:</a:t>
            </a:r>
            <a:endParaRPr kumimoji="0" lang="en-US" sz="1600" b="0" i="1" u="sng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2" name="Rounded Rectangle 311"/>
          <p:cNvSpPr/>
          <p:nvPr/>
        </p:nvSpPr>
        <p:spPr bwMode="auto">
          <a:xfrm>
            <a:off x="1760539" y="1474958"/>
            <a:ext cx="1476376" cy="3208167"/>
          </a:xfrm>
          <a:prstGeom prst="roundRect">
            <a:avLst>
              <a:gd name="adj" fmla="val 8440"/>
            </a:avLst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CA" sz="2400" b="0" smtClean="0">
              <a:solidFill>
                <a:srgbClr val="463634"/>
              </a:solidFill>
              <a:latin typeface="Times New Roman" pitchFamily="18" charset="0"/>
            </a:endParaRPr>
          </a:p>
        </p:txBody>
      </p:sp>
      <p:sp>
        <p:nvSpPr>
          <p:cNvPr id="313" name="Rounded Rectangle 312"/>
          <p:cNvSpPr/>
          <p:nvPr/>
        </p:nvSpPr>
        <p:spPr bwMode="auto">
          <a:xfrm>
            <a:off x="3289265" y="1446987"/>
            <a:ext cx="1323686" cy="2764651"/>
          </a:xfrm>
          <a:prstGeom prst="roundRect">
            <a:avLst>
              <a:gd name="adj" fmla="val 8440"/>
            </a:avLst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CA" sz="2400" b="0" smtClean="0">
              <a:solidFill>
                <a:srgbClr val="463634"/>
              </a:solidFill>
              <a:latin typeface="Times New Roman" pitchFamily="18" charset="0"/>
            </a:endParaRPr>
          </a:p>
        </p:txBody>
      </p:sp>
      <p:sp>
        <p:nvSpPr>
          <p:cNvPr id="314" name="Rounded Rectangular Callout 313"/>
          <p:cNvSpPr/>
          <p:nvPr/>
        </p:nvSpPr>
        <p:spPr bwMode="auto">
          <a:xfrm>
            <a:off x="5975887" y="3109435"/>
            <a:ext cx="2744860" cy="1029318"/>
          </a:xfrm>
          <a:prstGeom prst="wedgeRoundRectCallout">
            <a:avLst>
              <a:gd name="adj1" fmla="val -155992"/>
              <a:gd name="adj2" fmla="val 69985"/>
              <a:gd name="adj3" fmla="val 16667"/>
            </a:avLst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outcome of implementing a RMP at this facility reduces loss incidents by 4 per year, at $25,000 per loss incident. 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5" name="Rounded Rectangle 314"/>
          <p:cNvSpPr/>
          <p:nvPr/>
        </p:nvSpPr>
        <p:spPr bwMode="auto">
          <a:xfrm>
            <a:off x="3585542" y="5126038"/>
            <a:ext cx="4966321" cy="476043"/>
          </a:xfrm>
          <a:prstGeom prst="roundRect">
            <a:avLst>
              <a:gd name="adj" fmla="val 8440"/>
            </a:avLst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CA" sz="2400" b="0" smtClean="0">
              <a:solidFill>
                <a:srgbClr val="463634"/>
              </a:solidFill>
              <a:latin typeface="Times New Roman" pitchFamily="18" charset="0"/>
            </a:endParaRPr>
          </a:p>
        </p:txBody>
      </p:sp>
      <p:sp>
        <p:nvSpPr>
          <p:cNvPr id="316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ALE #1: Creating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Positive Stakeholder Value – An Empirical Approach: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10845" y="6059269"/>
            <a:ext cx="8309293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If towards the end of the lecture, stop here and resume in the next lecture. Students can work on it as “homework”. </a:t>
            </a:r>
            <a:endParaRPr lang="en-US" dirty="0"/>
          </a:p>
        </p:txBody>
      </p:sp>
      <p:sp>
        <p:nvSpPr>
          <p:cNvPr id="311" name="TextBox 310"/>
          <p:cNvSpPr txBox="1"/>
          <p:nvPr/>
        </p:nvSpPr>
        <p:spPr>
          <a:xfrm>
            <a:off x="180000" y="828000"/>
            <a:ext cx="8640000" cy="576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i="1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confer (pen-to-paper, no MM): Given the values </a:t>
            </a:r>
            <a:r>
              <a:rPr kumimoji="0" 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encircled in red, calculate the </a:t>
            </a:r>
            <a:r>
              <a:rPr kumimoji="0" lang="en-US" sz="1600" b="0" i="1" u="sng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net gains</a:t>
            </a:r>
            <a:r>
              <a:rPr kumimoji="0" 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and the annualized ROI. Keep in mind</a:t>
            </a:r>
            <a:r>
              <a:rPr kumimoji="0" lang="en-US" sz="1600" b="0" i="1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any </a:t>
            </a:r>
            <a:r>
              <a:rPr kumimoji="0" 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challenges while performing this analysis.</a:t>
            </a:r>
          </a:p>
        </p:txBody>
      </p:sp>
    </p:spTree>
    <p:extLst>
      <p:ext uri="{BB962C8B-B14F-4D97-AF65-F5344CB8AC3E}">
        <p14:creationId xmlns:p14="http://schemas.microsoft.com/office/powerpoint/2010/main" val="5231112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80000" y="828000"/>
            <a:ext cx="5992200" cy="57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Challenges? Questions?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6.3: The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Business Case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for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a Risk Management Program </a:t>
            </a:r>
          </a:p>
        </p:txBody>
      </p:sp>
      <p:sp>
        <p:nvSpPr>
          <p:cNvPr id="316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Example: Creating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Positive Stakeholder Value – An Empirical Approach: </a:t>
            </a:r>
          </a:p>
        </p:txBody>
      </p:sp>
      <p:pic>
        <p:nvPicPr>
          <p:cNvPr id="150" name="Picture 1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8" y="1530324"/>
            <a:ext cx="9017077" cy="435242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51" name="TextBox 150"/>
          <p:cNvSpPr txBox="1"/>
          <p:nvPr/>
        </p:nvSpPr>
        <p:spPr>
          <a:xfrm>
            <a:off x="381000" y="4724400"/>
            <a:ext cx="2971800" cy="1066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Annual basis: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 $870,000 / $500,000 = 1.74 (174%)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sng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Not including production gains</a:t>
            </a:r>
          </a:p>
        </p:txBody>
      </p:sp>
      <p:sp>
        <p:nvSpPr>
          <p:cNvPr id="152" name="Rounded Rectangular Callout 151"/>
          <p:cNvSpPr/>
          <p:nvPr/>
        </p:nvSpPr>
        <p:spPr bwMode="auto">
          <a:xfrm>
            <a:off x="7218360" y="1071918"/>
            <a:ext cx="1763280" cy="772200"/>
          </a:xfrm>
          <a:prstGeom prst="wedgeRoundRectCallout">
            <a:avLst>
              <a:gd name="adj1" fmla="val -58321"/>
              <a:gd name="adj2" fmla="val 530861"/>
              <a:gd name="adj3" fmla="val 16667"/>
            </a:avLst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If your answer is $870,000 then you are correct!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2278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 err="1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AIChE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one of many models and approaches that can be used to economically justify a risk management program. 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can justify investment in a RMP based on a business case analysis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Good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planning for risk management minimises / eliminates PEAP losses with spin-off benefits in productivity, efficiency, quality, etc.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(all measurable in $’s)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Summary and Key Lessons: 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6.3: The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Business Case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for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a Risk Management Program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032" y="3313049"/>
            <a:ext cx="4572000" cy="2842951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8303409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Any questions?</a:t>
            </a:r>
            <a:endParaRPr lang="en-US" altLang="en-US" sz="2400" b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69141</TotalTime>
  <Words>1507</Words>
  <Application>Microsoft Office PowerPoint</Application>
  <PresentationFormat>On-screen Show (4:3)</PresentationFormat>
  <Paragraphs>268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ＭＳ Ｐゴシック</vt:lpstr>
      <vt:lpstr>Arial</vt:lpstr>
      <vt:lpstr>Calibri</vt:lpstr>
      <vt:lpstr>Tahoma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John Cocchio</cp:lastModifiedBy>
  <cp:revision>1939</cp:revision>
  <cp:lastPrinted>2018-12-17T22:21:47Z</cp:lastPrinted>
  <dcterms:created xsi:type="dcterms:W3CDTF">2007-03-28T16:18:47Z</dcterms:created>
  <dcterms:modified xsi:type="dcterms:W3CDTF">2022-05-30T16:33:58Z</dcterms:modified>
</cp:coreProperties>
</file>