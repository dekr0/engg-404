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7"/>
  </p:notesMasterIdLst>
  <p:sldIdLst>
    <p:sldId id="895" r:id="rId2"/>
    <p:sldId id="965" r:id="rId3"/>
    <p:sldId id="969" r:id="rId4"/>
    <p:sldId id="934" r:id="rId5"/>
    <p:sldId id="962" r:id="rId6"/>
    <p:sldId id="935" r:id="rId7"/>
    <p:sldId id="936" r:id="rId8"/>
    <p:sldId id="927" r:id="rId9"/>
    <p:sldId id="940" r:id="rId10"/>
    <p:sldId id="937" r:id="rId11"/>
    <p:sldId id="963" r:id="rId12"/>
    <p:sldId id="964" r:id="rId13"/>
    <p:sldId id="966" r:id="rId14"/>
    <p:sldId id="968" r:id="rId15"/>
    <p:sldId id="900" r:id="rId16"/>
  </p:sldIdLst>
  <p:sldSz cx="9144000" cy="6858000" type="screen4x3"/>
  <p:notesSz cx="7010400" cy="9296400"/>
  <p:embeddedFontLst>
    <p:embeddedFont>
      <p:font typeface="ＭＳ Ｐゴシック" panose="020B0600070205080204" pitchFamily="34" charset="-128"/>
      <p:regular r:id="rId18"/>
    </p:embeddedFont>
    <p:embeddedFont>
      <p:font typeface="Calibri" panose="020F050202020403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209">
          <p15:clr>
            <a:srgbClr val="A4A3A4"/>
          </p15:clr>
        </p15:guide>
      </p15:notes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BtrGPG4P5KEB8nznYTApJ8ic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B556A3-5E30-47F9-BADC-CC6991BF2989}">
  <a:tblStyle styleId="{7EB556A3-5E30-47F9-BADC-CC6991BF298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877" autoAdjust="0"/>
    <p:restoredTop sz="94087" autoAdjust="0"/>
  </p:normalViewPr>
  <p:slideViewPr>
    <p:cSldViewPr snapToGrid="0">
      <p:cViewPr varScale="1">
        <p:scale>
          <a:sx n="70" d="100"/>
          <a:sy n="70" d="100"/>
        </p:scale>
        <p:origin x="864" y="56"/>
      </p:cViewPr>
      <p:guideLst>
        <p:guide orient="horz" pos="2160"/>
        <p:guide pos="2880"/>
      </p:guideLst>
    </p:cSldViewPr>
  </p:slideViewPr>
  <p:notesTextViewPr>
    <p:cViewPr>
      <p:scale>
        <a:sx n="1" d="1"/>
        <a:sy n="1" d="1"/>
      </p:scale>
      <p:origin x="0" y="0"/>
    </p:cViewPr>
  </p:notesTextViewPr>
  <p:sorterViewPr>
    <p:cViewPr>
      <p:scale>
        <a:sx n="130" d="100"/>
        <a:sy n="130" d="100"/>
      </p:scale>
      <p:origin x="0" y="-9052"/>
    </p:cViewPr>
  </p:sorterViewPr>
  <p:notesViewPr>
    <p:cSldViewPr snapToGrid="0">
      <p:cViewPr varScale="1">
        <p:scale>
          <a:sx n="100" d="100"/>
          <a:sy n="100" d="100"/>
        </p:scale>
        <p:origin x="0" y="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2.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3037760" cy="464714"/>
          </a:xfrm>
          <a:prstGeom prst="rect">
            <a:avLst/>
          </a:prstGeom>
          <a:noFill/>
          <a:ln>
            <a:noFill/>
          </a:ln>
        </p:spPr>
        <p:txBody>
          <a:bodyPr spcFirstLastPara="1" wrap="square" lIns="93275" tIns="46625" rIns="93275" bIns="46625"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72641" y="2"/>
            <a:ext cx="3037760" cy="464714"/>
          </a:xfrm>
          <a:prstGeom prst="rect">
            <a:avLst/>
          </a:prstGeom>
          <a:noFill/>
          <a:ln>
            <a:noFill/>
          </a:ln>
        </p:spPr>
        <p:txBody>
          <a:bodyPr spcFirstLastPara="1" wrap="square" lIns="93275" tIns="46625" rIns="93275" bIns="46625"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81100" y="695325"/>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4880" y="4415844"/>
            <a:ext cx="5140641" cy="4184546"/>
          </a:xfrm>
          <a:prstGeom prst="rect">
            <a:avLst/>
          </a:prstGeom>
          <a:noFill/>
          <a:ln>
            <a:noFill/>
          </a:ln>
        </p:spPr>
        <p:txBody>
          <a:bodyPr spcFirstLastPara="1" wrap="square" lIns="93275" tIns="46625" rIns="93275" bIns="466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1686"/>
            <a:ext cx="3037760" cy="464714"/>
          </a:xfrm>
          <a:prstGeom prst="rect">
            <a:avLst/>
          </a:prstGeom>
          <a:noFill/>
          <a:ln>
            <a:noFill/>
          </a:ln>
        </p:spPr>
        <p:txBody>
          <a:bodyPr spcFirstLastPara="1" wrap="square" lIns="93275" tIns="46625" rIns="93275" bIns="46625"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72641" y="8831686"/>
            <a:ext cx="3037760" cy="46471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773587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5026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162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4675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6026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497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50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1676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11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0174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407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0594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4473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716274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1263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900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5/25/2022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395568730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139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On Becoming a </a:t>
            </a:r>
            <a:b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2</a:t>
            </a:r>
            <a:r>
              <a:rPr lang="en-CA"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Fernie Memorial Arena Loss Incident (2017</a:t>
            </a:r>
            <a:r>
              <a:rPr lang="en-CA"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and an Examination of Risk Management System Elements</a:t>
            </a:r>
            <a:endPar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marR="0" lvl="0" algn="l" rtl="0">
              <a:lnSpc>
                <a:spcPct val="100000"/>
              </a:lnSpc>
              <a:spcBef>
                <a:spcPts val="0"/>
              </a:spcBef>
              <a:spcAft>
                <a:spcPts val="0"/>
              </a:spcAft>
              <a:defRPr/>
            </a:defPPr>
            <a:lvl1pPr marL="0" indent="0" algn="ctr" defTabSz="914400" eaLnBrk="1" fontAlgn="auto" latinLnBrk="0" hangingPunct="1">
              <a:buClrTx/>
              <a:buSzTx/>
              <a:buFontTx/>
              <a:buNone/>
              <a:tabLst/>
              <a:defRPr kumimoji="0" sz="1200" kern="0" spc="0" normalizeH="0" baseline="0">
                <a:ln>
                  <a:noFill/>
                </a:ln>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marR="0" lvl="0" algn="l" rtl="0">
              <a:lnSpc>
                <a:spcPct val="100000"/>
              </a:lnSpc>
              <a:spcBef>
                <a:spcPts val="0"/>
              </a:spcBef>
              <a:spcAft>
                <a:spcPts val="0"/>
              </a:spcAft>
              <a:defRPr/>
            </a:defPPr>
            <a:lvl1pPr marL="0" indent="0" algn="ctr" defTabSz="914400" eaLnBrk="1" fontAlgn="auto" latinLnBrk="0" hangingPunct="1">
              <a:buClrTx/>
              <a:buSzTx/>
              <a:buFontTx/>
              <a:buNone/>
              <a:tabLst/>
              <a:defRPr kumimoji="0" sz="1200" kern="0" spc="0" normalizeH="0" baseline="0">
                <a:ln>
                  <a:noFill/>
                </a:ln>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9"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41"/>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2" y="400741"/>
            <a:ext cx="151818"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3" y="400741"/>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marR="0" lvl="0" algn="l" rtl="0">
              <a:lnSpc>
                <a:spcPct val="100000"/>
              </a:lnSpc>
              <a:spcBef>
                <a:spcPts val="0"/>
              </a:spcBef>
              <a:spcAft>
                <a:spcPts val="0"/>
              </a:spcAft>
            </a:defPPr>
            <a:lvl1pPr marL="0" indent="0" algn="ctr" defTabSz="914400" eaLnBrk="1" fontAlgn="auto" latinLnBrk="0" hangingPunct="1">
              <a:buClrTx/>
              <a:buSzTx/>
              <a:buFontTx/>
              <a:buNone/>
              <a:tabLst/>
              <a:defRPr kumimoji="0" sz="1200" kern="0" spc="0" normalizeH="0" baseline="0">
                <a:ln>
                  <a:noFill/>
                </a:ln>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Critique </a:t>
            </a:r>
            <a:r>
              <a:rPr lang="en-CA" altLang="en-US" u="sng"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actions of </a:t>
            </a:r>
            <a:r>
              <a:rPr lang="en-CA" altLang="en-US"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on-site leadership</a:t>
            </a:r>
            <a:r>
              <a:rPr lang="en-CA"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 lack thereof</a:t>
            </a:r>
            <a:r>
              <a:rPr lang="en-CA"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by comparing actions with the elements of the APEGA Risk Management System in </a:t>
            </a:r>
            <a:r>
              <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medium-sized organization (municipal government and infrastructure management) which manages significant risks </a:t>
            </a:r>
            <a:r>
              <a:rPr lang="en-CA"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their daily jobs across </a:t>
            </a:r>
            <a:r>
              <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city.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6558017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defRPr/>
            </a:pPr>
            <a:r>
              <a:rPr lang="en-US" altLang="en-US" sz="2400" kern="1200" dirty="0">
                <a:solidFill>
                  <a:srgbClr val="333399"/>
                </a:solidFill>
                <a:latin typeface="Arial" panose="020B0604020202020204" pitchFamily="34" charset="0"/>
                <a:ea typeface="+mn-ea"/>
                <a:cs typeface="Arial" panose="020B0604020202020204" pitchFamily="34" charset="0"/>
              </a:rPr>
              <a:t>Recall from Case 2: </a:t>
            </a:r>
            <a:r>
              <a:rPr lang="en-US" altLang="en-US" sz="2400" kern="1200" dirty="0" err="1">
                <a:solidFill>
                  <a:srgbClr val="333399"/>
                </a:solidFill>
                <a:latin typeface="Arial" panose="020B0604020202020204" pitchFamily="34" charset="0"/>
                <a:ea typeface="+mn-ea"/>
                <a:cs typeface="Arial" panose="020B0604020202020204" pitchFamily="34" charset="0"/>
              </a:rPr>
              <a:t>Fernie</a:t>
            </a:r>
            <a:r>
              <a:rPr lang="en-US" altLang="en-US" sz="2400" kern="1200" dirty="0">
                <a:solidFill>
                  <a:srgbClr val="333399"/>
                </a:solidFill>
                <a:latin typeface="Arial" panose="020B0604020202020204" pitchFamily="34" charset="0"/>
                <a:ea typeface="+mn-ea"/>
                <a:cs typeface="Arial" panose="020B0604020202020204" pitchFamily="34" charset="0"/>
              </a:rPr>
              <a: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Memorial Arena LI Background:</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1446939" y="3610098"/>
            <a:ext cx="3359999" cy="2520000"/>
          </a:xfrm>
          <a:prstGeom prst="rect">
            <a:avLst/>
          </a:prstGeom>
          <a:ln>
            <a:solidFill>
              <a:schemeClr val="tx1"/>
            </a:solidFill>
          </a:ln>
        </p:spPr>
      </p:pic>
      <p:pic>
        <p:nvPicPr>
          <p:cNvPr id="3" name="Picture 2"/>
          <p:cNvPicPr>
            <a:picLocks noChangeAspect="1"/>
          </p:cNvPicPr>
          <p:nvPr/>
        </p:nvPicPr>
        <p:blipFill>
          <a:blip r:embed="rId4"/>
          <a:stretch>
            <a:fillRect/>
          </a:stretch>
        </p:blipFill>
        <p:spPr>
          <a:xfrm>
            <a:off x="5460001" y="3610098"/>
            <a:ext cx="3359999" cy="2520000"/>
          </a:xfrm>
          <a:prstGeom prst="rect">
            <a:avLst/>
          </a:prstGeom>
          <a:ln>
            <a:solidFill>
              <a:schemeClr val="tx1"/>
            </a:solidFill>
          </a:ln>
        </p:spPr>
      </p:pic>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pic>
        <p:nvPicPr>
          <p:cNvPr id="11" name="Picture 10"/>
          <p:cNvPicPr>
            <a:picLocks noChangeAspect="1"/>
          </p:cNvPicPr>
          <p:nvPr/>
        </p:nvPicPr>
        <p:blipFill>
          <a:blip r:embed="rId5"/>
          <a:stretch>
            <a:fillRect/>
          </a:stretch>
        </p:blipFill>
        <p:spPr>
          <a:xfrm>
            <a:off x="180000" y="905049"/>
            <a:ext cx="3359999" cy="2520000"/>
          </a:xfrm>
          <a:prstGeom prst="rect">
            <a:avLst/>
          </a:prstGeom>
          <a:ln>
            <a:solidFill>
              <a:schemeClr val="tx1"/>
            </a:solidFill>
          </a:ln>
        </p:spPr>
      </p:pic>
      <p:pic>
        <p:nvPicPr>
          <p:cNvPr id="14" name="Picture 13"/>
          <p:cNvPicPr>
            <a:picLocks noChangeAspect="1"/>
          </p:cNvPicPr>
          <p:nvPr/>
        </p:nvPicPr>
        <p:blipFill>
          <a:blip r:embed="rId6"/>
          <a:stretch>
            <a:fillRect/>
          </a:stretch>
        </p:blipFill>
        <p:spPr>
          <a:xfrm>
            <a:off x="3720000" y="905049"/>
            <a:ext cx="3359999" cy="2520000"/>
          </a:xfrm>
          <a:prstGeom prst="rect">
            <a:avLst/>
          </a:prstGeom>
          <a:ln>
            <a:solidFill>
              <a:schemeClr val="tx1"/>
            </a:solidFill>
          </a:ln>
        </p:spPr>
      </p:pic>
    </p:spTree>
    <p:extLst>
      <p:ext uri="{BB962C8B-B14F-4D97-AF65-F5344CB8AC3E}">
        <p14:creationId xmlns:p14="http://schemas.microsoft.com/office/powerpoint/2010/main" val="277564613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461268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City of </a:t>
            </a:r>
            <a:r>
              <a:rPr kumimoji="0" lang="en-CA" altLang="en-US" sz="1800"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Fernie</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Municipal Government (MG) owns, operates, and maintains the Fernie Memorial Arena (city workers were dispatched to the scene).</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Workers understood</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hazards of ammonia as evidenced by their wearing SCBA on their first entry to the mechanical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room.</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Tx/>
              <a:buSzPct val="100000"/>
              <a:buNone/>
              <a:tabLst/>
              <a:defRPr/>
            </a:pPr>
            <a:r>
              <a:rPr lang="en-CA"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but for the second entry:</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underestimated</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Potential quantity of the leakage from the ammonia system to the brine system</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Build-up of pressure on the brine-side of the system </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Pressure of the ammonia system exceeding the pressure-rating of the brine side</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potential for the over-pressure condition to rupture the brine piping system</a:t>
            </a: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wear self-contained breathing apparatus (SCBA</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[PPE]</a:t>
            </a:r>
            <a:endPar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Tx/>
              <a:buSzPct val="100000"/>
              <a:buNone/>
              <a:tabLst/>
              <a:defRPr/>
            </a:pP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Key Points of the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
        <p:nvSpPr>
          <p:cNvPr id="2" name="TextBox 1"/>
          <p:cNvSpPr txBox="1"/>
          <p:nvPr/>
        </p:nvSpPr>
        <p:spPr>
          <a:xfrm>
            <a:off x="180000" y="5580000"/>
            <a:ext cx="8640000" cy="369332"/>
          </a:xfrm>
          <a:prstGeom prst="rect">
            <a:avLst/>
          </a:prstGeom>
          <a:solidFill>
            <a:schemeClr val="tx1"/>
          </a:solidFill>
          <a:ln>
            <a:solidFill>
              <a:schemeClr val="tx1"/>
            </a:solidFill>
          </a:ln>
        </p:spPr>
        <p:txBody>
          <a:bodyPr wrap="square" rtlCol="0">
            <a:spAutoFit/>
          </a:bodyPr>
          <a:lstStyle/>
          <a:p>
            <a:pPr lvl="0" algn="ctr"/>
            <a:r>
              <a:rPr lang="en-CA" altLang="en-US" sz="1800" b="1"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Q: Would a FLRA have helped? </a:t>
            </a:r>
            <a:r>
              <a:rPr lang="en-CA" altLang="en-US" sz="1200" b="1"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(There is no evidence that one was used</a:t>
            </a:r>
            <a:r>
              <a:rPr lang="en-CA" altLang="en-US" sz="1200" b="1" i="1"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lang="en-US" sz="1200" dirty="0">
              <a:solidFill>
                <a:schemeClr val="bg1"/>
              </a:solidFill>
            </a:endParaRPr>
          </a:p>
        </p:txBody>
      </p:sp>
    </p:spTree>
    <p:extLst>
      <p:ext uri="{BB962C8B-B14F-4D97-AF65-F5344CB8AC3E}">
        <p14:creationId xmlns:p14="http://schemas.microsoft.com/office/powerpoint/2010/main" val="202718808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disabled the ammonia alarm system and ventilation system without appropriate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backup controls or management of change.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Control and Administrative Control</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initially check nor monitor for ammonia in the mechanical room.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[EC &amp; AC</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look for “signals” (excessive pressure in the brine side? Ammonia in the brine?) i.e. something is “not right” or disregarded any of these signals.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 Discovery Approach, Situational awareness]</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ask and were not prepared for:</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something bad that can happen?”</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bad can it be?”</a:t>
            </a:r>
          </a:p>
          <a:p>
            <a:pPr marL="72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worse case scenario</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spcAft>
                <a:spcPct val="0"/>
              </a:spcAft>
              <a:buClrTx/>
              <a:buSzPct val="100000"/>
              <a:buNone/>
              <a:defRPr/>
            </a:pPr>
            <a:endParaRPr kumimoji="0" lang="en-CA" altLang="en-US" sz="18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spcAft>
                <a:spcPct val="0"/>
              </a:spcAft>
              <a:buClrTx/>
              <a:buSzPct val="100000"/>
              <a:buNone/>
              <a:defRPr/>
            </a:pPr>
            <a:endPar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endParaRPr kumimoji="0" lang="en-CA" altLang="en-US" sz="18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spcAft>
                <a:spcPct val="0"/>
              </a:spcAft>
              <a:buClrTx/>
              <a:buSzPct val="100000"/>
              <a:buNone/>
              <a:defRPr/>
            </a:pPr>
            <a:endParaRPr kumimoji="0" lang="en-CA" altLang="en-US" sz="18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spcAft>
                <a:spcPct val="0"/>
              </a:spcAft>
              <a:buClrTx/>
              <a:buSzPct val="100000"/>
              <a:buNone/>
              <a:defRPr/>
            </a:pPr>
            <a:endPar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r>
              <a:rPr kumimoji="0" lang="en-CA" altLang="en-US" sz="18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Note</a:t>
            </a:r>
            <a:r>
              <a:rPr kumimoji="0" lang="en-CA" altLang="en-US" sz="18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mechanical room would not meet the definition of a confined space. </a:t>
            </a: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Key Points of the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
        <p:nvSpPr>
          <p:cNvPr id="7" name="TextBox 6"/>
          <p:cNvSpPr txBox="1"/>
          <p:nvPr/>
        </p:nvSpPr>
        <p:spPr>
          <a:xfrm>
            <a:off x="180000" y="4608000"/>
            <a:ext cx="8640000" cy="1152000"/>
          </a:xfrm>
          <a:prstGeom prst="rect">
            <a:avLst/>
          </a:prstGeom>
          <a:solidFill>
            <a:schemeClr val="tx1"/>
          </a:solidFill>
          <a:ln>
            <a:solidFill>
              <a:schemeClr val="tx1"/>
            </a:solidFill>
          </a:ln>
        </p:spPr>
        <p:txBody>
          <a:bodyPr wrap="square" rtlCol="0" anchor="ctr" anchorCtr="1">
            <a:noAutofit/>
          </a:bodyPr>
          <a:lstStyle/>
          <a:p>
            <a:pPr lvl="0" eaLnBrk="0" fontAlgn="base" hangingPunct="0">
              <a:lnSpc>
                <a:spcPct val="90000"/>
              </a:lnSpc>
              <a:spcAft>
                <a:spcPct val="0"/>
              </a:spcAft>
              <a:buClrTx/>
              <a:buSzPct val="100000"/>
              <a:defRPr/>
            </a:pPr>
            <a:r>
              <a:rPr lang="en-CA" altLang="en-US" sz="1800" b="1" i="1"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Q</a:t>
            </a:r>
            <a:r>
              <a:rPr lang="en-CA" altLang="en-US" sz="1800" b="1"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Would a Permit-To-Work (PTW) have helped?</a:t>
            </a:r>
            <a:r>
              <a:rPr lang="en-CA" altLang="en-US" sz="1200"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(No evidence that one was used.)</a:t>
            </a:r>
            <a:endParaRPr lang="en-CA" altLang="en-US" sz="1800"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lvl="0" eaLnBrk="0" fontAlgn="base" hangingPunct="0">
              <a:lnSpc>
                <a:spcPct val="90000"/>
              </a:lnSpc>
              <a:spcAft>
                <a:spcPct val="0"/>
              </a:spcAft>
              <a:buClrTx/>
              <a:buSzPct val="100000"/>
              <a:defRPr/>
            </a:pPr>
            <a:r>
              <a:rPr lang="en-CA" altLang="en-US" sz="1800" b="1"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Q: Would a detailed Job Safety Analysis / Safe Maintenance Procedure / Safe Operating Procedure JSA/SMP/SOP) have helped? </a:t>
            </a:r>
            <a:r>
              <a:rPr lang="en-CA" altLang="en-US"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(No evidence that these were used</a:t>
            </a:r>
            <a:r>
              <a:rPr lang="en-CA" altLang="en-US" i="1"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lang="en-CA" altLang="en-US" sz="1800" i="1" kern="120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34326051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Organizational Factors</a:t>
            </a:r>
            <a:r>
              <a:rPr kumimoji="0" lang="en-US"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can drive decisions in unintended ways: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Recall that it was old equipment</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near or at end-of-life</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Equipment - who</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is responsible for:</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Assessing risks on end-of-life equipment?</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Developing and implementing</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alternative and temporary controls to manage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risks on end-of-life equipment</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Making the decision that</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risk level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end-of-life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equipment without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alternative and temporary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controls is acceptable / not acceptable? </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capital</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replacement budget?</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City Workers and Contractors -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is responsible for:</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training on ammonia-brine refrigeration systems and their hazards? </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training of abnormal / upset / unusual workplace conditions?</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Ensuring the use</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of FLRA, JSA/SOP/SMP, SQRA?</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Organizational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Factors: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19770586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marR="0" lvl="2"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Immediate Causes (sub-std conditions, sub-std practices):</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lang="en-CA" sz="1800" dirty="0" smtClean="0">
                <a:solidFill>
                  <a:srgbClr val="000000"/>
                </a:solidFill>
                <a:latin typeface="Arial" panose="020B0604020202020204" pitchFamily="34" charset="0"/>
                <a:cs typeface="Arial" panose="020B0604020202020204" pitchFamily="34" charset="0"/>
              </a:rPr>
              <a:t>Pin-hole leak</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Brine system</a:t>
            </a:r>
            <a:r>
              <a:rPr kumimoji="0" lang="en-CA" sz="1800" b="0" i="0" u="none" strike="noStrike" kern="0" cap="none" spc="0" normalizeH="0" noProof="0" dirty="0" smtClean="0">
                <a:ln>
                  <a:noFill/>
                </a:ln>
                <a:solidFill>
                  <a:srgbClr val="000000"/>
                </a:solidFill>
                <a:effectLst/>
                <a:uLnTx/>
                <a:uFillTx/>
                <a:latin typeface="Arial" panose="020B0604020202020204" pitchFamily="34" charset="0"/>
                <a:cs typeface="Arial" panose="020B0604020202020204" pitchFamily="34" charset="0"/>
                <a:sym typeface="Arial"/>
              </a:rPr>
              <a:t> was over-pressured and ruptured</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Did not recognize nor manage / control the potential for system rupture</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457200" marR="0" lvl="0"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startAt="2"/>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Basic Causes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(EDF, JF, PF):</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Relating to the Release</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 inadequate monitoring of the pin-hole</a:t>
            </a:r>
            <a:r>
              <a:rPr kumimoji="0" lang="en-CA" sz="1800" b="0" i="0" u="none" strike="noStrike" kern="0" cap="none" spc="0" normalizeH="0" noProof="0" dirty="0" smtClean="0">
                <a:ln>
                  <a:noFill/>
                </a:ln>
                <a:solidFill>
                  <a:srgbClr val="000000"/>
                </a:solidFill>
                <a:effectLst/>
                <a:uLnTx/>
                <a:uFillTx/>
                <a:latin typeface="Arial" panose="020B0604020202020204" pitchFamily="34" charset="0"/>
                <a:cs typeface="Arial" panose="020B0604020202020204" pitchFamily="34" charset="0"/>
                <a:sym typeface="Arial"/>
              </a:rPr>
              <a:t> leak and system pressures; lack of over-pressure protection on the brine system</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Relating</a:t>
            </a:r>
            <a:r>
              <a:rPr kumimoji="0" lang="en-CA" sz="1800" b="0" i="0" u="none" strike="noStrike" kern="0" cap="none" spc="0" normalizeH="0" noProof="0" dirty="0" smtClean="0">
                <a:ln>
                  <a:noFill/>
                </a:ln>
                <a:solidFill>
                  <a:srgbClr val="000000"/>
                </a:solidFill>
                <a:effectLst/>
                <a:uLnTx/>
                <a:uFillTx/>
                <a:latin typeface="Arial" panose="020B0604020202020204" pitchFamily="34" charset="0"/>
                <a:cs typeface="Arial" panose="020B0604020202020204" pitchFamily="34" charset="0"/>
                <a:sym typeface="Arial"/>
              </a:rPr>
              <a:t> to assessment of risks: lack of using FLRA, JSA/SOP/SMP/SQRA</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Relating </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to Mitigation (preventing release, or reducing impact of release): inadequate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emergency preparedness and response</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Relating to the Exposure: </a:t>
            </a:r>
            <a:r>
              <a:rPr lang="en-CA" sz="1800" dirty="0" smtClean="0">
                <a:solidFill>
                  <a:srgbClr val="000000"/>
                </a:solidFill>
                <a:latin typeface="Arial" panose="020B0604020202020204" pitchFamily="34" charset="0"/>
                <a:cs typeface="Arial" panose="020B0604020202020204" pitchFamily="34" charset="0"/>
              </a:rPr>
              <a:t>lack of personal protective equipment</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457200" marR="0" lvl="2"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startAt="3"/>
              <a:tabLst/>
              <a:defRPr/>
            </a:pP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457200" marR="0" lvl="2"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startAt="3"/>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Latent Causes (Weaknesses in which RMS Elements?):</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Let’s explore this area further…</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A Brief Summary of 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85493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Identify </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and Describe Weaknesses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the RMS</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 </a:t>
            </a: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(open discussion):</a:t>
            </a: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Not considering any weaknesses </a:t>
            </a: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the first element (MLCA), </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select any other element </a:t>
            </a: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of the risk management system </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and describe how the that element was weak i.e. the rationale behind a latent cause.</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 name="Google Shape;309;p17">
            <a:extLst>
              <a:ext uri="{FF2B5EF4-FFF2-40B4-BE49-F238E27FC236}">
                <a16:creationId xmlns:a16="http://schemas.microsoft.com/office/drawing/2014/main" id="{B39F5243-E57A-46ED-BE4D-5B31F42A3A55}"/>
              </a:ext>
            </a:extLst>
          </p:cNvPr>
          <p:cNvSpPr/>
          <p:nvPr/>
        </p:nvSpPr>
        <p:spPr>
          <a:xfrm>
            <a:off x="914400" y="2641037"/>
            <a:ext cx="7315200" cy="3433961"/>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1600" b="1"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Risk Management System (APEGA Model):</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Management Leadership, Commitment and Accountability (MLCA)</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Risk Assessment and Management of Risks (RAMR)</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Community Awareness and Emergency Preparedness (CAEP)</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Management of Change (MOC)</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Incident Reporting, Investigation, Analysis and Actions (IRIAA)</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Program Evaluation and Continuous Improvement (PECI)</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Design, Construction and Start-up (DCSU)</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Operations and Maintenance (OM)</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Employee Competency and Training (ECT)</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Contractor Competency and Integration (CCI)</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Operations and Facilities Information and Documentation (OFID)</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7498807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#2 Risk Assessment and Management of Risks: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hazards of a release of ammonia were understood but the potential for an ammonia-brine leak, brine system over-pressure and rupture were neither understood nor recognized. </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job to “change the oil” and the breadth of hazards associated with a system under “upset” conditions were not properly assessed. </a:t>
            </a: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100000"/>
              </a:lnSpc>
              <a:spcBef>
                <a:spcPts val="0"/>
              </a:spcBef>
              <a:spcAft>
                <a:spcPct val="0"/>
              </a:spcAft>
              <a:buClr>
                <a:srgbClr val="000000"/>
              </a:buClr>
              <a:buSzPct val="100000"/>
              <a:buNone/>
              <a:defRPr/>
            </a:pPr>
            <a:r>
              <a:rPr lang="en-CA"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#3 Community Awareness and Emergency Preparedness:</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 MG illustrated deficiencies in the procedures for handling emergencies, both by the city workers and contractor employees. </a:t>
            </a:r>
          </a:p>
          <a:p>
            <a:pPr marL="360000" indent="-360000" defTabSz="91440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showed the need for organizations to collaborate with the community emergency services to identify incidents that might occur and their consequences, drawing up plans to cope with them and exercising these plans – sounds like good risk management</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defTabSz="91440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#2</a:t>
            </a:r>
            <a:r>
              <a:rPr lang="en-US" altLang="en-US" sz="2400" kern="1200" dirty="0">
                <a:solidFill>
                  <a:srgbClr val="333399"/>
                </a:solidFill>
                <a:latin typeface="Arial" panose="020B0604020202020204" pitchFamily="34" charset="0"/>
                <a:ea typeface="+mn-ea"/>
                <a:cs typeface="Arial" panose="020B0604020202020204" pitchFamily="34" charset="0"/>
              </a:rPr>
              <a:t> </a:t>
            </a:r>
            <a:r>
              <a:rPr lang="en-US" altLang="en-US" sz="2400" kern="1200" dirty="0" smtClean="0">
                <a:solidFill>
                  <a:srgbClr val="333399"/>
                </a:solidFill>
                <a:latin typeface="Arial" panose="020B0604020202020204" pitchFamily="34" charset="0"/>
                <a:ea typeface="+mn-ea"/>
                <a:cs typeface="Arial" panose="020B0604020202020204" pitchFamily="34" charset="0"/>
              </a:rPr>
              <a:t>&amp;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#3:</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2060629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9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 Management of Change: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often think of management of change as changes in areas such as design, operating procedures, equipment replacement, etc.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certainly apparent that MOC was not applied for the unusual / upset / abnormal shut-down and repair of the refrigeration system i.e. doing something different</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#5 Incident Reporting, Investigation, Analysis, &amp; Action: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similar events or close calls / near-misses happened in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other municipal arenas, and had these been reported, investigated, and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analysed</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BC Provincial Government certainly did so after this loss incident.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#4 &amp; #5:</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4884325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#6 Program Evaluation and Continuous Improvement: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senior management from the </a:t>
            </a:r>
            <a:r>
              <a:rPr lang="en-US" altLang="en-US" sz="1800" kern="12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MG conducted any:</a:t>
            </a:r>
          </a:p>
          <a:p>
            <a:pPr marL="72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On-site audits of work practices and the required administrative controls (PTW, FLRA)?</a:t>
            </a:r>
          </a:p>
          <a:p>
            <a:pPr marL="72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Checked training programs on FLRA? </a:t>
            </a:r>
            <a:r>
              <a:rPr lang="en-US" altLang="en-US" sz="1800" kern="120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Refrigeration systems? </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tools</a:t>
            </a:r>
          </a:p>
          <a:p>
            <a:pPr marL="72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#7 Design, Construction, and Start-Up: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Building and maintaining the competency of employees and contractors in operating/maintaining/repairing complex unit operations with significant “process safety”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(compressed ammonia gas),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implementing safeguards</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Similarly,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senior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managers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aware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hazards of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compressed ammonia gas,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 they have a “grasp” of the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purpose of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the necessity of process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systems in controlling the hazards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compressed ammonia gas? </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#6 &amp; #7:</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79121973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#8 Operations and Maintenance: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city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and contractor refrigeration mechanic deem this as “a simple, ordinary job to change the oil”?</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any maintenance procedures</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so, were these maintenance procedures deficient?</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not deficient, were these followed? </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the maintenance procedures detailed, based on a Job Safety Analysis or Semi-Quantitative Risk Assessment</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endPar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9 Employee Competency &amp; </a:t>
            </a: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Training: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Developing and sustaining the competency of employees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operating / maintaining / repairing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complex unit operations with significant “process safety” hazards, and implementing safeguards</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10 Contractor Competency &amp; Integration: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Checking and confirming the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competency of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contractors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operating / maintaining / repairing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complex unit operations with significant “process safety” hazards, and implementing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#8 &amp; #9 &amp; #10:</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062728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Fernie LI was the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result of a breakdown in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many</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elements of a risk management system/program e.g. #2, #3, #4, #6, #7, #8, #9, &amp; #10.</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kern="1200" baseline="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Process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management,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specialized</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field of risk management, is often under-estimated in facilities operated and maintained by organizations whose core business (education, public infrastructure, retail complexes) is NOT related to process safety, and with which we, the public, have continual exposure.</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Lessons</a:t>
            </a:r>
            <a:r>
              <a:rPr lang="en-CA" altLang="en-US" sz="2400" kern="1200" dirty="0" smtClean="0">
                <a:solidFill>
                  <a:srgbClr val="333399"/>
                </a:solidFill>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4232365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2-Oct-2019: “We </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completely removed the ammonia gas refrigeration system and installed a new ice plant that uses Freon. The risks with exposure to Freon are significantly different to ammonia gas exposure, and generally, Freon exposure is only harmful at much higher concentrations as compared to ammonia. Our new plant alarm and call-out protocols have been revised based on the </a:t>
            </a: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Freon </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plant and in collaboration with Technical Safety BC. In the first year of training our staff with the new plant, we had a management contract set up with a refrigeration contractor for any maintenance and any alarm call-outs. We have also made significant changes to our corporate safety management system as a whole and are hiring a full-time permanent employee to manage our safety system. In the linked Council agenda, you will find a staff report by me regarding this position and some of the changes towards our corporate approach to workplace safety:</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https</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://fernie.civicweb.net/filepro/documents/87449?preview=99320</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Zabrina</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i="1"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Pendon</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i="1"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P.Eng</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MBA  |  Director of Operational Services  |  City of </a:t>
            </a:r>
            <a:r>
              <a:rPr lang="en-US" altLang="en-US" sz="1800" i="1" kern="12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a:t>
            </a:r>
            <a:endParaRPr kumimoji="0" lang="en-CA" altLang="en-US" sz="18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Update: The City of </a:t>
            </a:r>
            <a:r>
              <a:rPr kumimoji="0" lang="en-US" altLang="en-US" sz="2400" b="0" i="0" u="none" strike="noStrike" kern="1200" cap="none" spc="0" normalizeH="0" baseline="0" noProof="0" dirty="0" err="1" smtClean="0">
                <a:ln>
                  <a:noFill/>
                </a:ln>
                <a:solidFill>
                  <a:srgbClr val="333399"/>
                </a:solidFill>
                <a:effectLst/>
                <a:uLnTx/>
                <a:uFillTx/>
                <a:latin typeface="Arial" panose="020B0604020202020204" pitchFamily="34" charset="0"/>
                <a:ea typeface="+mn-ea"/>
                <a:cs typeface="Arial" panose="020B0604020202020204" pitchFamily="34" charset="0"/>
              </a:rPr>
              <a:t>Fernie</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rPr>
              <a:t> Replaced Ammonia with Freon</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a:buSzPts val="1600"/>
              <a:defRPr/>
            </a:pPr>
            <a:r>
              <a:rPr lang="en-US" sz="1200" b="1" i="1" dirty="0">
                <a:latin typeface="Arial" charset="0"/>
                <a:ea typeface="Times New Roman"/>
                <a:cs typeface="Arial" panose="020B0604020202020204" pitchFamily="34" charset="0"/>
                <a:sym typeface="Times New Roman"/>
              </a:rPr>
              <a:t>Case 2: The </a:t>
            </a:r>
            <a:r>
              <a:rPr lang="en-US" sz="1200" b="1" i="1" dirty="0" err="1">
                <a:latin typeface="Arial" charset="0"/>
                <a:ea typeface="Times New Roman"/>
                <a:cs typeface="Arial" panose="020B0604020202020204" pitchFamily="34" charset="0"/>
                <a:sym typeface="Times New Roman"/>
              </a:rPr>
              <a:t>Fernie</a:t>
            </a:r>
            <a:r>
              <a:rPr lang="en-US" sz="1200" b="1" i="1" dirty="0">
                <a:latin typeface="Arial" charset="0"/>
                <a:ea typeface="Times New Roman"/>
                <a:cs typeface="Arial" panose="020B0604020202020204" pitchFamily="34" charset="0"/>
                <a:sym typeface="Times New Roman"/>
              </a:rPr>
              <a:t> Memorial Arena </a:t>
            </a:r>
            <a:r>
              <a:rPr lang="en-US" sz="1200" b="1" i="1" dirty="0" smtClean="0">
                <a:latin typeface="Arial" charset="0"/>
                <a:ea typeface="Times New Roman"/>
                <a:cs typeface="Arial" panose="020B0604020202020204" pitchFamily="34" charset="0"/>
                <a:sym typeface="Times New Roman"/>
              </a:rPr>
              <a:t>LI and RME’s Examination</a:t>
            </a:r>
            <a:endParaRPr lang="en-US" sz="1200" b="1" i="1" dirty="0">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925214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782</TotalTime>
  <Words>1859</Words>
  <Application>Microsoft Office PowerPoint</Application>
  <PresentationFormat>On-screen Show (4:3)</PresentationFormat>
  <Paragraphs>196</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Times New Roman</vt:lpstr>
      <vt:lpstr>ＭＳ Ｐゴシック</vt:lpstr>
      <vt:lpstr>Noto Sans Symbols</vt:lpstr>
      <vt:lpstr>Calibri</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Becoming a Leader in  Risk Management</dc:title>
  <dc:creator>D.MCM</dc:creator>
  <cp:lastModifiedBy>John Cocchio</cp:lastModifiedBy>
  <cp:revision>84</cp:revision>
  <dcterms:created xsi:type="dcterms:W3CDTF">2000-06-15T15:09:46Z</dcterms:created>
  <dcterms:modified xsi:type="dcterms:W3CDTF">2022-05-25T15:11:06Z</dcterms:modified>
</cp:coreProperties>
</file>