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1"/>
  </p:notesMasterIdLst>
  <p:handoutMasterIdLst>
    <p:handoutMasterId r:id="rId22"/>
  </p:handoutMasterIdLst>
  <p:sldIdLst>
    <p:sldId id="929" r:id="rId3"/>
    <p:sldId id="880" r:id="rId4"/>
    <p:sldId id="1004" r:id="rId5"/>
    <p:sldId id="936" r:id="rId6"/>
    <p:sldId id="967" r:id="rId7"/>
    <p:sldId id="939" r:id="rId8"/>
    <p:sldId id="940" r:id="rId9"/>
    <p:sldId id="966" r:id="rId10"/>
    <p:sldId id="927" r:id="rId11"/>
    <p:sldId id="968" r:id="rId12"/>
    <p:sldId id="969" r:id="rId13"/>
    <p:sldId id="970" r:id="rId14"/>
    <p:sldId id="971" r:id="rId15"/>
    <p:sldId id="972" r:id="rId16"/>
    <p:sldId id="948" r:id="rId17"/>
    <p:sldId id="995" r:id="rId18"/>
    <p:sldId id="923" r:id="rId19"/>
    <p:sldId id="900" r:id="rId20"/>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29"/>
            <p14:sldId id="880"/>
            <p14:sldId id="1004"/>
            <p14:sldId id="936"/>
            <p14:sldId id="967"/>
            <p14:sldId id="939"/>
            <p14:sldId id="940"/>
            <p14:sldId id="966"/>
            <p14:sldId id="927"/>
            <p14:sldId id="968"/>
            <p14:sldId id="969"/>
            <p14:sldId id="970"/>
            <p14:sldId id="971"/>
            <p14:sldId id="972"/>
            <p14:sldId id="948"/>
            <p14:sldId id="995"/>
            <p14:sldId id="923"/>
            <p14:sldId id="900"/>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00"/>
    <a:srgbClr val="F8F8F8"/>
    <a:srgbClr val="0000CC"/>
    <a:srgbClr val="F5D7F1"/>
    <a:srgbClr val="5F5F5F"/>
    <a:srgbClr val="DDDDDD"/>
    <a:srgbClr val="FBA3E8"/>
    <a:srgbClr val="333333"/>
    <a:srgbClr val="BDB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11" autoAdjust="0"/>
    <p:restoredTop sz="87967" autoAdjust="0"/>
  </p:normalViewPr>
  <p:slideViewPr>
    <p:cSldViewPr>
      <p:cViewPr varScale="1">
        <p:scale>
          <a:sx n="105" d="100"/>
          <a:sy n="105" d="100"/>
        </p:scale>
        <p:origin x="1740" y="102"/>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968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7/7/2022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7/7/2022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xfrm>
            <a:off x="1181100" y="698500"/>
            <a:ext cx="4648200" cy="348615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332721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6415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a:t>
            </a:fld>
            <a:endParaRPr sz="1200">
              <a:solidFill>
                <a:schemeClr val="dk1"/>
              </a:solidFill>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4</a:t>
            </a:fld>
            <a:endParaRPr sz="1200">
              <a:solidFill>
                <a:schemeClr val="dk1"/>
              </a:solidFill>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9951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8491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215" name="Google Shape;215;p10: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6" name="Google Shape;216;p10: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17" name="Google Shape;217;p10: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0: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Tree>
    <p:extLst>
      <p:ext uri="{BB962C8B-B14F-4D97-AF65-F5344CB8AC3E}">
        <p14:creationId xmlns:p14="http://schemas.microsoft.com/office/powerpoint/2010/main" val="2817554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4:notes"/>
          <p:cNvSpPr txBox="1">
            <a:spLocks noGrp="1"/>
          </p:cNvSpPr>
          <p:nvPr>
            <p:ph type="body" idx="1"/>
          </p:nvPr>
        </p:nvSpPr>
        <p:spPr>
          <a:xfrm>
            <a:off x="927730" y="4424471"/>
            <a:ext cx="5099378" cy="4188858"/>
          </a:xfrm>
          <a:prstGeom prst="rect">
            <a:avLst/>
          </a:prstGeom>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
        <p:nvSpPr>
          <p:cNvPr id="262" name="Google Shape;262;p14:notes"/>
          <p:cNvSpPr>
            <a:spLocks noGrp="1" noRot="1" noChangeAspect="1"/>
          </p:cNvSpPr>
          <p:nvPr>
            <p:ph type="sldImg" idx="2"/>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5122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021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9</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9</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8: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12" name="Google Shape;312;p18: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313" name="Google Shape;313;p18: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10</a:t>
            </a:fld>
            <a:endParaRPr sz="1200">
              <a:solidFill>
                <a:schemeClr val="dk1"/>
              </a:solidFill>
              <a:latin typeface="Times New Roman"/>
              <a:ea typeface="Times New Roman"/>
              <a:cs typeface="Times New Roman"/>
              <a:sym typeface="Times New Roman"/>
            </a:endParaRPr>
          </a:p>
        </p:txBody>
      </p:sp>
      <p:sp>
        <p:nvSpPr>
          <p:cNvPr id="314" name="Google Shape;314;p18: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18: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360"/>
              </a:spcBef>
              <a:spcAft>
                <a:spcPts val="0"/>
              </a:spcAft>
              <a:buNone/>
            </a:pPr>
            <a:endParaRPr dirty="0"/>
          </a:p>
        </p:txBody>
      </p:sp>
    </p:spTree>
    <p:extLst>
      <p:ext uri="{BB962C8B-B14F-4D97-AF65-F5344CB8AC3E}">
        <p14:creationId xmlns:p14="http://schemas.microsoft.com/office/powerpoint/2010/main" val="3019369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1877212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lang="en-CA" dirty="0"/>
          </a:p>
        </p:txBody>
      </p:sp>
    </p:spTree>
    <p:extLst>
      <p:ext uri="{BB962C8B-B14F-4D97-AF65-F5344CB8AC3E}">
        <p14:creationId xmlns:p14="http://schemas.microsoft.com/office/powerpoint/2010/main" val="563939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238160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1256182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224723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9: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2015-2016</a:t>
            </a:r>
            <a:endParaRPr kumimoji="0" sz="1200" b="0" i="0" u="none" strike="noStrike" kern="0" cap="none" spc="0" normalizeH="0" baseline="0" noProof="0">
              <a:ln>
                <a:noFill/>
              </a:ln>
              <a:solidFill>
                <a:srgbClr val="000000"/>
              </a:solidFill>
              <a:effectLst/>
              <a:uLnTx/>
              <a:uFillTx/>
              <a:latin typeface="Times New Roman"/>
              <a:cs typeface="Times New Roman"/>
              <a:sym typeface="Times New Roman"/>
            </a:endParaRPr>
          </a:p>
        </p:txBody>
      </p:sp>
      <p:sp>
        <p:nvSpPr>
          <p:cNvPr id="324" name="Google Shape;324;p19: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5" name="Google Shape;325;p19: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2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326" name="Google Shape;326;p19: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7" name="Google Shape;327;p19: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None/>
            </a:pPr>
            <a:endParaRPr dirty="0"/>
          </a:p>
        </p:txBody>
      </p:sp>
    </p:spTree>
    <p:extLst>
      <p:ext uri="{BB962C8B-B14F-4D97-AF65-F5344CB8AC3E}">
        <p14:creationId xmlns:p14="http://schemas.microsoft.com/office/powerpoint/2010/main" val="3978355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7/7/2022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4"/>
            <a:ext cx="7772400" cy="1470025"/>
          </a:xfrm>
        </p:spPr>
        <p:txBody>
          <a:bodyPr/>
          <a:lstStyle>
            <a:lvl1pPr>
              <a:spcBef>
                <a:spcPct val="20000"/>
              </a:spcBef>
              <a:defRPr sz="27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350267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257175" indent="-257175">
              <a:buClrTx/>
              <a:buFont typeface="Wingdings" charset="2"/>
              <a:buChar char="§"/>
              <a:defRPr sz="1800">
                <a:solidFill>
                  <a:schemeClr val="tx1"/>
                </a:solidFill>
              </a:defRPr>
            </a:lvl1pPr>
            <a:lvl2pPr marL="557213" indent="-214313">
              <a:buClrTx/>
              <a:buFont typeface="Arial"/>
              <a:buChar char="•"/>
              <a:defRPr sz="1650">
                <a:solidFill>
                  <a:schemeClr val="tx1"/>
                </a:solidFill>
              </a:defRPr>
            </a:lvl2pPr>
            <a:lvl3pPr marL="857250" indent="-171450">
              <a:buClrTx/>
              <a:buFont typeface="Arial"/>
              <a:buChar char="•"/>
              <a:defRPr sz="1500">
                <a:solidFill>
                  <a:schemeClr val="tx1"/>
                </a:solidFill>
              </a:defRPr>
            </a:lvl3pPr>
            <a:lvl4pPr marL="1200150" indent="-171450">
              <a:buClrTx/>
              <a:buFont typeface="Arial"/>
              <a:buChar char="•"/>
              <a:defRPr>
                <a:solidFill>
                  <a:schemeClr val="tx1"/>
                </a:solidFill>
              </a:defRPr>
            </a:lvl4pPr>
            <a:lvl5pPr marL="1543050" indent="-17145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64931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9"/>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322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7/7/2022</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3591283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42"/>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830290"/>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Lst>
  <p:hf hdr="0" ftr="0" dt="0"/>
  <p:txStyles>
    <p:titleStyle>
      <a:lvl1pPr algn="ctr" rtl="0" eaLnBrk="0" fontAlgn="base" hangingPunct="0">
        <a:spcBef>
          <a:spcPct val="0"/>
        </a:spcBef>
        <a:spcAft>
          <a:spcPct val="0"/>
        </a:spcAft>
        <a:defRPr sz="2700" b="1">
          <a:solidFill>
            <a:schemeClr val="accent2"/>
          </a:solidFill>
          <a:latin typeface="Calibri" pitchFamily="34" charset="0"/>
          <a:ea typeface="+mj-ea"/>
          <a:cs typeface="+mj-cs"/>
        </a:defRPr>
      </a:lvl1pPr>
      <a:lvl2pPr algn="ctr" rtl="0" eaLnBrk="0" fontAlgn="base" hangingPunct="0">
        <a:spcBef>
          <a:spcPct val="0"/>
        </a:spcBef>
        <a:spcAft>
          <a:spcPct val="0"/>
        </a:spcAft>
        <a:defRPr sz="2700">
          <a:solidFill>
            <a:srgbClr val="002C5F"/>
          </a:solidFill>
          <a:latin typeface="Calibri" pitchFamily="34" charset="0"/>
        </a:defRPr>
      </a:lvl2pPr>
      <a:lvl3pPr algn="ctr" rtl="0" eaLnBrk="0" fontAlgn="base" hangingPunct="0">
        <a:spcBef>
          <a:spcPct val="0"/>
        </a:spcBef>
        <a:spcAft>
          <a:spcPct val="0"/>
        </a:spcAft>
        <a:defRPr sz="2700">
          <a:solidFill>
            <a:srgbClr val="002C5F"/>
          </a:solidFill>
          <a:latin typeface="Calibri" pitchFamily="34" charset="0"/>
        </a:defRPr>
      </a:lvl3pPr>
      <a:lvl4pPr algn="ctr" rtl="0" eaLnBrk="0" fontAlgn="base" hangingPunct="0">
        <a:spcBef>
          <a:spcPct val="0"/>
        </a:spcBef>
        <a:spcAft>
          <a:spcPct val="0"/>
        </a:spcAft>
        <a:defRPr sz="2700">
          <a:solidFill>
            <a:srgbClr val="002C5F"/>
          </a:solidFill>
          <a:latin typeface="Calibri" pitchFamily="34" charset="0"/>
        </a:defRPr>
      </a:lvl4pPr>
      <a:lvl5pPr algn="ctr" rtl="0" eaLnBrk="0" fontAlgn="base" hangingPunct="0">
        <a:spcBef>
          <a:spcPct val="0"/>
        </a:spcBef>
        <a:spcAft>
          <a:spcPct val="0"/>
        </a:spcAft>
        <a:defRPr sz="2700">
          <a:solidFill>
            <a:srgbClr val="002C5F"/>
          </a:solidFill>
          <a:latin typeface="Calibri" pitchFamily="34" charset="0"/>
        </a:defRPr>
      </a:lvl5pPr>
      <a:lvl6pPr marL="342900" algn="ctr" rtl="0" fontAlgn="base">
        <a:spcBef>
          <a:spcPct val="0"/>
        </a:spcBef>
        <a:spcAft>
          <a:spcPct val="0"/>
        </a:spcAft>
        <a:defRPr sz="2700" b="1">
          <a:solidFill>
            <a:srgbClr val="002C5F"/>
          </a:solidFill>
          <a:latin typeface="Arial" charset="0"/>
        </a:defRPr>
      </a:lvl6pPr>
      <a:lvl7pPr marL="685800" algn="ctr" rtl="0" fontAlgn="base">
        <a:spcBef>
          <a:spcPct val="0"/>
        </a:spcBef>
        <a:spcAft>
          <a:spcPct val="0"/>
        </a:spcAft>
        <a:defRPr sz="2700" b="1">
          <a:solidFill>
            <a:srgbClr val="002C5F"/>
          </a:solidFill>
          <a:latin typeface="Arial" charset="0"/>
        </a:defRPr>
      </a:lvl7pPr>
      <a:lvl8pPr marL="1028700" algn="ctr" rtl="0" fontAlgn="base">
        <a:spcBef>
          <a:spcPct val="0"/>
        </a:spcBef>
        <a:spcAft>
          <a:spcPct val="0"/>
        </a:spcAft>
        <a:defRPr sz="2700" b="1">
          <a:solidFill>
            <a:srgbClr val="002C5F"/>
          </a:solidFill>
          <a:latin typeface="Arial" charset="0"/>
        </a:defRPr>
      </a:lvl8pPr>
      <a:lvl9pPr marL="1371600" algn="ctr" rtl="0" fontAlgn="base">
        <a:spcBef>
          <a:spcPct val="0"/>
        </a:spcBef>
        <a:spcAft>
          <a:spcPct val="0"/>
        </a:spcAft>
        <a:defRPr sz="2700" b="1">
          <a:solidFill>
            <a:srgbClr val="002C5F"/>
          </a:solidFill>
          <a:latin typeface="Arial" charset="0"/>
        </a:defRPr>
      </a:lvl9pPr>
    </p:titleStyle>
    <p:bodyStyle>
      <a:lvl1pPr marL="257175" indent="-257175" algn="l" rtl="0" eaLnBrk="0" fontAlgn="base" hangingPunct="0">
        <a:spcBef>
          <a:spcPct val="20000"/>
        </a:spcBef>
        <a:spcAft>
          <a:spcPct val="0"/>
        </a:spcAft>
        <a:buClr>
          <a:srgbClr val="AA9C8F"/>
        </a:buClr>
        <a:buFont typeface="Wingdings" pitchFamily="2" charset="2"/>
        <a:buChar char="§"/>
        <a:defRPr sz="2100">
          <a:solidFill>
            <a:srgbClr val="4D4D4D"/>
          </a:solidFill>
          <a:latin typeface="Calibri" pitchFamily="34" charset="0"/>
          <a:ea typeface="+mn-ea"/>
          <a:cs typeface="+mn-cs"/>
        </a:defRPr>
      </a:lvl1pPr>
      <a:lvl2pPr marL="557213" indent="-214313" algn="l" rtl="0" eaLnBrk="0" fontAlgn="base" hangingPunct="0">
        <a:spcBef>
          <a:spcPct val="20000"/>
        </a:spcBef>
        <a:spcAft>
          <a:spcPct val="0"/>
        </a:spcAft>
        <a:buClr>
          <a:srgbClr val="C75B12"/>
        </a:buClr>
        <a:buFont typeface="Wingdings" pitchFamily="2" charset="2"/>
        <a:buChar char="§"/>
        <a:defRPr sz="1950">
          <a:solidFill>
            <a:schemeClr val="tx1"/>
          </a:solidFill>
          <a:latin typeface="Calibri" pitchFamily="34" charset="0"/>
        </a:defRPr>
      </a:lvl2pPr>
      <a:lvl3pPr marL="857250" indent="-171450" algn="l" rtl="0" eaLnBrk="0" fontAlgn="base" hangingPunct="0">
        <a:spcBef>
          <a:spcPct val="20000"/>
        </a:spcBef>
        <a:spcAft>
          <a:spcPct val="0"/>
        </a:spcAft>
        <a:buClr>
          <a:srgbClr val="C75B12"/>
        </a:buClr>
        <a:buFont typeface="Wingdings" pitchFamily="2" charset="2"/>
        <a:buChar char="§"/>
        <a:defRPr sz="1800">
          <a:solidFill>
            <a:schemeClr val="tx1"/>
          </a:solidFill>
          <a:latin typeface="Calibri" pitchFamily="34" charset="0"/>
        </a:defRPr>
      </a:lvl3pPr>
      <a:lvl4pPr marL="12001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4pPr>
      <a:lvl5pPr marL="1543050" indent="-171450" algn="l" rtl="0" eaLnBrk="0" fontAlgn="base" hangingPunct="0">
        <a:spcBef>
          <a:spcPct val="20000"/>
        </a:spcBef>
        <a:spcAft>
          <a:spcPct val="0"/>
        </a:spcAft>
        <a:buClr>
          <a:srgbClr val="C75B12"/>
        </a:buClr>
        <a:buFont typeface="Wingdings" pitchFamily="2" charset="2"/>
        <a:buChar char="§"/>
        <a:defRPr sz="1500">
          <a:solidFill>
            <a:schemeClr val="tx1"/>
          </a:solidFill>
          <a:latin typeface="Calibri" pitchFamily="34" charset="0"/>
        </a:defRPr>
      </a:lvl5pPr>
      <a:lvl6pPr marL="18859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6pPr>
      <a:lvl7pPr marL="22288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7pPr>
      <a:lvl8pPr marL="25717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8pPr>
      <a:lvl9pPr marL="2914650" indent="-171450" algn="l" rtl="0" fontAlgn="base">
        <a:spcBef>
          <a:spcPct val="20000"/>
        </a:spcBef>
        <a:spcAft>
          <a:spcPct val="0"/>
        </a:spcAft>
        <a:buClr>
          <a:srgbClr val="C75B12"/>
        </a:buClr>
        <a:buFont typeface="Wingdings" pitchFamily="2" charset="2"/>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www.cbc.ca/news/canada/british-columbia/discipline-engineers-mount-polley-mine-waste-quesnel-lake-1.6137265"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9.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180000" y="864000"/>
            <a:ext cx="8820000" cy="144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2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180000" y="2304000"/>
            <a:ext cx="8820000" cy="257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Study 5: </a:t>
            </a:r>
          </a:p>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Mount </a:t>
            </a:r>
            <a:r>
              <a:rPr lang="en-US" altLang="en-US" sz="3200" b="1" dirty="0" err="1">
                <a:solidFill>
                  <a:schemeClr val="tx2"/>
                </a:solidFill>
                <a:latin typeface="Arial" panose="020B0604020202020204" pitchFamily="34" charset="0"/>
                <a:ea typeface="ＭＳ Ｐゴシック" panose="020B0600070205080204" pitchFamily="34" charset="-128"/>
                <a:cs typeface="Arial" panose="020B0604020202020204" pitchFamily="34" charset="0"/>
              </a:rPr>
              <a:t>Polley</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Tailings Storage Facility Failure, Imperial Metals,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near Likely, British Columbia,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4-August-2014</a:t>
            </a:r>
          </a:p>
        </p:txBody>
      </p:sp>
      <p:sp>
        <p:nvSpPr>
          <p:cNvPr id="9" name="TextBox 8">
            <a:extLst>
              <a:ext uri="{FF2B5EF4-FFF2-40B4-BE49-F238E27FC236}">
                <a16:creationId xmlns:a16="http://schemas.microsoft.com/office/drawing/2014/main" id="{45837290-7F22-4D42-BFDD-D5AD4C09C01F}"/>
              </a:ext>
            </a:extLst>
          </p:cNvPr>
          <p:cNvSpPr txBox="1"/>
          <p:nvPr/>
        </p:nvSpPr>
        <p:spPr>
          <a:xfrm>
            <a:off x="135000" y="108000"/>
            <a:ext cx="9918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Fundamentals of Risk Management</a:t>
            </a:r>
          </a:p>
        </p:txBody>
      </p:sp>
      <p:sp>
        <p:nvSpPr>
          <p:cNvPr id="10" name="TextBox 9">
            <a:extLst>
              <a:ext uri="{FF2B5EF4-FFF2-40B4-BE49-F238E27FC236}">
                <a16:creationId xmlns:a16="http://schemas.microsoft.com/office/drawing/2014/main" id="{7618FDCA-D6EA-3540-8AE2-F6CD31336ABE}"/>
              </a:ext>
            </a:extLst>
          </p:cNvPr>
          <p:cNvSpPr txBox="1"/>
          <p:nvPr/>
        </p:nvSpPr>
        <p:spPr>
          <a:xfrm>
            <a:off x="121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Process, &amp; Program</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695000" y="108000"/>
            <a:ext cx="991800" cy="540000"/>
          </a:xfrm>
          <a:prstGeom prst="rect">
            <a:avLst/>
          </a:prstGeom>
          <a:solidFill>
            <a:srgbClr val="FFFF00"/>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Applications &amp;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445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People &amp; Organizations</a:t>
            </a:r>
          </a:p>
        </p:txBody>
      </p:sp>
      <p:sp>
        <p:nvSpPr>
          <p:cNvPr id="13" name="TextBox 12">
            <a:extLst>
              <a:ext uri="{FF2B5EF4-FFF2-40B4-BE49-F238E27FC236}">
                <a16:creationId xmlns:a16="http://schemas.microsoft.com/office/drawing/2014/main" id="{00457A8C-8AD1-BC48-A393-2CA6461462C7}"/>
              </a:ext>
            </a:extLst>
          </p:cNvPr>
          <p:cNvSpPr txBox="1"/>
          <p:nvPr/>
        </p:nvSpPr>
        <p:spPr>
          <a:xfrm>
            <a:off x="2295000" y="108000"/>
            <a:ext cx="90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 &amp; Analysis</a:t>
            </a:r>
          </a:p>
        </p:txBody>
      </p:sp>
      <p:sp>
        <p:nvSpPr>
          <p:cNvPr id="14" name="TextBox 13">
            <a:extLst>
              <a:ext uri="{FF2B5EF4-FFF2-40B4-BE49-F238E27FC236}">
                <a16:creationId xmlns:a16="http://schemas.microsoft.com/office/drawing/2014/main" id="{D7E14612-2C60-CA49-88DC-A40274E52BE8}"/>
              </a:ext>
            </a:extLst>
          </p:cNvPr>
          <p:cNvSpPr txBox="1"/>
          <p:nvPr/>
        </p:nvSpPr>
        <p:spPr>
          <a:xfrm>
            <a:off x="3375000" y="108000"/>
            <a:ext cx="810000" cy="540000"/>
          </a:xfrm>
          <a:prstGeom prst="rect">
            <a:avLst/>
          </a:prstGeom>
          <a:solidFill>
            <a:srgbClr val="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6615000" y="108000"/>
            <a:ext cx="81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sp>
        <p:nvSpPr>
          <p:cNvPr id="23" name="TextBox 22">
            <a:extLst>
              <a:ext uri="{FF2B5EF4-FFF2-40B4-BE49-F238E27FC236}">
                <a16:creationId xmlns:a16="http://schemas.microsoft.com/office/drawing/2014/main" id="{E97011C2-9A0B-664B-83CB-DE2410B86B87}"/>
              </a:ext>
            </a:extLst>
          </p:cNvPr>
          <p:cNvSpPr txBox="1"/>
          <p:nvPr/>
        </p:nvSpPr>
        <p:spPr>
          <a:xfrm>
            <a:off x="5535000" y="108000"/>
            <a:ext cx="900000" cy="540000"/>
          </a:xfrm>
          <a:prstGeom prst="rect">
            <a:avLst/>
          </a:prstGeom>
          <a:solidFill>
            <a:sysClr val="window" lastClr="FFFFFF"/>
          </a:solidFill>
          <a:ln w="12700" cap="flat" cmpd="sng" algn="ctr">
            <a:solidFill>
              <a:schemeClr val="tx1"/>
            </a:solidFill>
            <a:prstDash val="solid"/>
            <a:miter lim="800000"/>
          </a:ln>
          <a:effectLst/>
        </p:spPr>
        <p:txBody>
          <a:bodyPr wrap="square" rtlCol="0" anchor="ctr" anchorCtr="1">
            <a:no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000" b="0" i="0" u="none" strike="noStrike" kern="0" cap="none" spc="0" normalizeH="0" baseline="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as Applied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4320000"/>
            <a:ext cx="1800000" cy="1800000"/>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0313" y="4320000"/>
            <a:ext cx="2638887" cy="1800000"/>
          </a:xfrm>
          <a:prstGeom prst="rect">
            <a:avLst/>
          </a:prstGeom>
        </p:spPr>
      </p:pic>
      <p:cxnSp>
        <p:nvCxnSpPr>
          <p:cNvPr id="5" name="Straight Arrow Connector 4"/>
          <p:cNvCxnSpPr>
            <a:stCxn id="9" idx="3"/>
            <a:endCxn id="10" idx="1"/>
          </p:cNvCxnSpPr>
          <p:nvPr/>
        </p:nvCxnSpPr>
        <p:spPr>
          <a:xfrm>
            <a:off x="1126800" y="378000"/>
            <a:ext cx="882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0" idx="3"/>
            <a:endCxn id="13" idx="1"/>
          </p:cNvCxnSpPr>
          <p:nvPr/>
        </p:nvCxnSpPr>
        <p:spPr>
          <a:xfrm>
            <a:off x="211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3"/>
            <a:endCxn id="14" idx="1"/>
          </p:cNvCxnSpPr>
          <p:nvPr/>
        </p:nvCxnSpPr>
        <p:spPr>
          <a:xfrm>
            <a:off x="319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4" idx="3"/>
            <a:endCxn id="12" idx="1"/>
          </p:cNvCxnSpPr>
          <p:nvPr/>
        </p:nvCxnSpPr>
        <p:spPr>
          <a:xfrm>
            <a:off x="418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12" idx="3"/>
            <a:endCxn id="23" idx="1"/>
          </p:cNvCxnSpPr>
          <p:nvPr/>
        </p:nvCxnSpPr>
        <p:spPr>
          <a:xfrm>
            <a:off x="535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3" idx="3"/>
            <a:endCxn id="15" idx="1"/>
          </p:cNvCxnSpPr>
          <p:nvPr/>
        </p:nvCxnSpPr>
        <p:spPr>
          <a:xfrm>
            <a:off x="6435000" y="378000"/>
            <a:ext cx="18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15" idx="3"/>
            <a:endCxn id="11" idx="1"/>
          </p:cNvCxnSpPr>
          <p:nvPr/>
        </p:nvCxnSpPr>
        <p:spPr>
          <a:xfrm>
            <a:off x="7425000" y="378000"/>
            <a:ext cx="27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2791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Explore the basis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for complacency in the </a:t>
            </a: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following</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risk management system </a:t>
            </a: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elements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and </a:t>
            </a: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explain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Management Leadership, Commitment and Accountability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and Management of Risks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Design, Construction and Start-up </a:t>
            </a:r>
          </a:p>
          <a:p>
            <a:pPr marL="72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Employee Competency and Training</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Recognize a situation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where the </a:t>
            </a:r>
            <a:r>
              <a:rPr lang="en-US" altLang="en-US" b="0" dirty="0">
                <a:solidFill>
                  <a:srgbClr val="000000"/>
                </a:solidFill>
                <a:highlight>
                  <a:srgbClr val="FFFF00"/>
                </a:highlight>
                <a:latin typeface="Arial" panose="020B0604020202020204" pitchFamily="34" charset="0"/>
                <a:ea typeface="ＭＳ Ｐゴシック" panose="020B0600070205080204" pitchFamily="34" charset="-128"/>
                <a:cs typeface="Arial" panose="020B0604020202020204" pitchFamily="34" charset="0"/>
              </a:rPr>
              <a:t>degradation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management leadership and risk assessment applies to a loss incident, and apply the principles of risk management in a case study analysis. </a:t>
            </a: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Update: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3"/>
              </a:rPr>
              <a:t>https://www.cbc.ca/news/canada/british-columbia/discipline-engineers-mount-polley-mine-waste-quesnel-lake-1.6137265</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Tx/>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455612"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BEFORE</a:t>
            </a:r>
          </a:p>
          <a:p>
            <a:pPr marL="0" indent="0" algn="ctr"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Tailings Storage Facility (TSF)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intact – the blue pond.</a:t>
            </a:r>
            <a:endPar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Before and After the Technical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pic>
        <p:nvPicPr>
          <p:cNvPr id="6" name="Picture 5" descr="A close up of a mountain&#10;&#10;Description automatically generated">
            <a:extLst>
              <a:ext uri="{FF2B5EF4-FFF2-40B4-BE49-F238E27FC236}">
                <a16:creationId xmlns:a16="http://schemas.microsoft.com/office/drawing/2014/main" id="{561AF3C9-18FB-4825-81DD-A4B1509D0E9E}"/>
              </a:ext>
            </a:extLst>
          </p:cNvPr>
          <p:cNvPicPr>
            <a:picLocks noChangeAspect="1"/>
          </p:cNvPicPr>
          <p:nvPr/>
        </p:nvPicPr>
        <p:blipFill>
          <a:blip r:embed="rId3"/>
          <a:stretch>
            <a:fillRect/>
          </a:stretch>
        </p:blipFill>
        <p:spPr>
          <a:xfrm>
            <a:off x="455612" y="2191433"/>
            <a:ext cx="8231188" cy="4056967"/>
          </a:xfrm>
          <a:prstGeom prst="rect">
            <a:avLst/>
          </a:prstGeom>
        </p:spPr>
      </p:pic>
      <p:sp>
        <p:nvSpPr>
          <p:cNvPr id="7" name="Rectangle 3"/>
          <p:cNvSpPr>
            <a:spLocks noChangeArrowheads="1"/>
          </p:cNvSpPr>
          <p:nvPr/>
        </p:nvSpPr>
        <p:spPr bwMode="auto">
          <a:xfrm>
            <a:off x="4571716" y="990600"/>
            <a:ext cx="4116388" cy="51654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gn="ctr" eaLnBrk="0" hangingPunct="0">
              <a:lnSpc>
                <a:spcPct val="100000"/>
              </a:lnSpc>
              <a:spcBef>
                <a:spcPts val="0"/>
              </a:spcBef>
              <a:buClr>
                <a:srgbClr val="000000"/>
              </a:buClr>
              <a:buSzPct val="100000"/>
              <a:buNone/>
            </a:pP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AFTER</a:t>
            </a:r>
          </a:p>
          <a:p>
            <a:pPr marL="0" indent="0" algn="ctr" eaLnBrk="0" hangingPunct="0">
              <a:lnSpc>
                <a:spcPct val="100000"/>
              </a:lnSpc>
              <a:spcBef>
                <a:spcPts val="0"/>
              </a:spcBef>
              <a:buClr>
                <a:srgbClr val="000000"/>
              </a:buClr>
              <a:buSzPct val="100000"/>
              <a:buNone/>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TSF</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has failed.</a:t>
            </a:r>
          </a:p>
        </p:txBody>
      </p:sp>
      <p:sp>
        <p:nvSpPr>
          <p:cNvPr id="2" name="Left Arrow 1"/>
          <p:cNvSpPr/>
          <p:nvPr/>
        </p:nvSpPr>
        <p:spPr>
          <a:xfrm rot="20993515">
            <a:off x="6433823" y="3428153"/>
            <a:ext cx="1114624" cy="609600"/>
          </a:xfrm>
          <a:prstGeom prst="lef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dirty="0">
                <a:solidFill>
                  <a:srgbClr val="FF0000"/>
                </a:solidFill>
              </a:rPr>
              <a:t>Contamination</a:t>
            </a:r>
          </a:p>
        </p:txBody>
      </p:sp>
      <p:sp>
        <p:nvSpPr>
          <p:cNvPr id="10" name="Right Arrow 9"/>
          <p:cNvSpPr/>
          <p:nvPr/>
        </p:nvSpPr>
        <p:spPr>
          <a:xfrm rot="1651143">
            <a:off x="7117219" y="4575900"/>
            <a:ext cx="1114624" cy="60960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dirty="0">
                <a:solidFill>
                  <a:srgbClr val="FF0000"/>
                </a:solidFill>
              </a:rPr>
              <a:t>Contamination</a:t>
            </a:r>
          </a:p>
        </p:txBody>
      </p:sp>
    </p:spTree>
    <p:extLst>
      <p:ext uri="{BB962C8B-B14F-4D97-AF65-F5344CB8AC3E}">
        <p14:creationId xmlns:p14="http://schemas.microsoft.com/office/powerpoint/2010/main" val="35900459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292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1800"/>
              <a:buNone/>
            </a:pPr>
            <a:r>
              <a:rPr lang="en-US" sz="1800" dirty="0">
                <a:solidFill>
                  <a:srgbClr val="000000"/>
                </a:solidFill>
                <a:latin typeface="Arial"/>
                <a:cs typeface="Arial"/>
                <a:sym typeface="Arial"/>
              </a:rPr>
              <a:t>The weak clay layer below embankment failed from excessive stress due to:</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Overly steep slope downstream of the embankment </a:t>
            </a:r>
          </a:p>
          <a:p>
            <a:pPr marL="360000" lvl="1" indent="-360000">
              <a:spcBef>
                <a:spcPts val="0"/>
              </a:spcBef>
              <a:spcAft>
                <a:spcPts val="0"/>
              </a:spcAft>
              <a:buClr>
                <a:srgbClr val="000000"/>
              </a:buClr>
              <a:buFont typeface="Noto Sans Symbols"/>
              <a:buChar char="⮚"/>
            </a:pPr>
            <a:r>
              <a:rPr lang="en-US" sz="1800" dirty="0">
                <a:solidFill>
                  <a:srgbClr val="000000"/>
                </a:solidFill>
                <a:latin typeface="Arial"/>
                <a:cs typeface="Arial"/>
                <a:sym typeface="Arial"/>
              </a:rPr>
              <a:t>Embankment height </a:t>
            </a:r>
            <a:r>
              <a:rPr lang="en-US" sz="1800" dirty="0">
                <a:solidFill>
                  <a:srgbClr val="000000"/>
                </a:solidFill>
                <a:highlight>
                  <a:srgbClr val="FFFF00"/>
                </a:highlight>
                <a:latin typeface="Arial"/>
                <a:cs typeface="Arial"/>
                <a:sym typeface="Arial"/>
              </a:rPr>
              <a:t>higher than design standards</a:t>
            </a:r>
            <a:r>
              <a:rPr lang="en-US" sz="1800" dirty="0">
                <a:solidFill>
                  <a:srgbClr val="000000"/>
                </a:solidFill>
                <a:latin typeface="Arial"/>
                <a:cs typeface="Arial"/>
                <a:sym typeface="Arial"/>
              </a:rPr>
              <a:t> (~40m)</a:t>
            </a:r>
          </a:p>
          <a:p>
            <a:pPr marL="360000" lvl="1" indent="-360000">
              <a:spcBef>
                <a:spcPts val="0"/>
              </a:spcBef>
              <a:spcAft>
                <a:spcPts val="0"/>
              </a:spcAft>
              <a:buClr>
                <a:srgbClr val="000000"/>
              </a:buClr>
              <a:buFont typeface="Noto Sans Symbols"/>
              <a:buChar char="⮚"/>
            </a:pPr>
            <a:r>
              <a:rPr lang="en-US" sz="1800" dirty="0">
                <a:solidFill>
                  <a:srgbClr val="000000"/>
                </a:solidFill>
                <a:highlight>
                  <a:srgbClr val="FFFF00"/>
                </a:highlight>
                <a:latin typeface="Arial"/>
                <a:cs typeface="Arial"/>
                <a:sym typeface="Arial"/>
              </a:rPr>
              <a:t>Open sub-excavation</a:t>
            </a:r>
            <a:r>
              <a:rPr lang="en-US" sz="1800" dirty="0">
                <a:solidFill>
                  <a:srgbClr val="000000"/>
                </a:solidFill>
                <a:latin typeface="Arial"/>
                <a:cs typeface="Arial"/>
                <a:sym typeface="Arial"/>
              </a:rPr>
              <a:t> at the toe of the embankment</a:t>
            </a:r>
          </a:p>
          <a:p>
            <a:pPr marL="360000" lvl="1" indent="-360000">
              <a:spcBef>
                <a:spcPts val="0"/>
              </a:spcBef>
              <a:spcAft>
                <a:spcPts val="0"/>
              </a:spcAft>
              <a:buClr>
                <a:srgbClr val="000000"/>
              </a:buClr>
              <a:buFont typeface="Noto Sans Symbols"/>
              <a:buChar char="⮚"/>
            </a:pPr>
            <a:r>
              <a:rPr lang="en-US" sz="1800" dirty="0">
                <a:solidFill>
                  <a:srgbClr val="000000"/>
                </a:solidFill>
                <a:highlight>
                  <a:srgbClr val="FFFF00"/>
                </a:highlight>
                <a:latin typeface="Arial"/>
                <a:cs typeface="Arial"/>
                <a:sym typeface="Arial"/>
              </a:rPr>
              <a:t>Surplus of water</a:t>
            </a:r>
            <a:r>
              <a:rPr lang="en-US" sz="1800" dirty="0">
                <a:solidFill>
                  <a:srgbClr val="000000"/>
                </a:solidFill>
                <a:latin typeface="Arial"/>
                <a:cs typeface="Arial"/>
                <a:sym typeface="Arial"/>
              </a:rPr>
              <a:t> in TSF (Tailings Storage Facility)</a:t>
            </a:r>
          </a:p>
          <a:p>
            <a:pPr marL="360000" lvl="1" indent="-360000">
              <a:spcBef>
                <a:spcPts val="0"/>
              </a:spcBef>
              <a:spcAft>
                <a:spcPts val="0"/>
              </a:spcAft>
              <a:buClr>
                <a:srgbClr val="000000"/>
              </a:buClr>
              <a:buFont typeface="Noto Sans Symbols"/>
              <a:buChar char="⮚"/>
            </a:pPr>
            <a:r>
              <a:rPr lang="en-US" sz="1800" dirty="0">
                <a:solidFill>
                  <a:srgbClr val="000000"/>
                </a:solidFill>
                <a:highlight>
                  <a:srgbClr val="FFFF00"/>
                </a:highlight>
                <a:latin typeface="Arial"/>
                <a:cs typeface="Arial"/>
                <a:sym typeface="Arial"/>
              </a:rPr>
              <a:t>Insufficient tailings beaches</a:t>
            </a:r>
            <a:r>
              <a:rPr lang="en-US" sz="1800" dirty="0">
                <a:solidFill>
                  <a:srgbClr val="000000"/>
                </a:solidFill>
                <a:latin typeface="Arial"/>
                <a:cs typeface="Arial"/>
                <a:sym typeface="Arial"/>
              </a:rPr>
              <a:t> to protect embankment structure </a:t>
            </a:r>
          </a:p>
          <a:p>
            <a:pPr marL="360000" lvl="0" indent="-360000" algn="l" rtl="0">
              <a:spcBef>
                <a:spcPts val="0"/>
              </a:spcBef>
              <a:spcAft>
                <a:spcPts val="0"/>
              </a:spcAft>
              <a:buClr>
                <a:srgbClr val="000000"/>
              </a:buClr>
              <a:buSzPts val="1800"/>
              <a:buNone/>
            </a:pPr>
            <a:endParaRPr lang="en-US" sz="1800" dirty="0">
              <a:solidFill>
                <a:srgbClr val="000000"/>
              </a:solidFill>
              <a:latin typeface="Arial"/>
              <a:cs typeface="Arial"/>
              <a:sym typeface="Arial"/>
            </a:endParaRPr>
          </a:p>
        </p:txBody>
      </p:sp>
      <p:pic>
        <p:nvPicPr>
          <p:cNvPr id="5" name="Picture 4" descr="A screen shot of a computer&#10;&#10;Description automatically generated">
            <a:extLst>
              <a:ext uri="{FF2B5EF4-FFF2-40B4-BE49-F238E27FC236}">
                <a16:creationId xmlns:a16="http://schemas.microsoft.com/office/drawing/2014/main" id="{13B087AE-FE97-4F52-94B5-614E671FFF78}"/>
              </a:ext>
            </a:extLst>
          </p:cNvPr>
          <p:cNvPicPr>
            <a:picLocks noChangeAspect="1"/>
          </p:cNvPicPr>
          <p:nvPr/>
        </p:nvPicPr>
        <p:blipFill>
          <a:blip r:embed="rId3"/>
          <a:stretch>
            <a:fillRect/>
          </a:stretch>
        </p:blipFill>
        <p:spPr>
          <a:xfrm>
            <a:off x="482618" y="3459534"/>
            <a:ext cx="8199420" cy="2484066"/>
          </a:xfrm>
          <a:prstGeom prst="rect">
            <a:avLst/>
          </a:prstGeom>
        </p:spPr>
      </p:pic>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Immediate (and Intermediate) Causes:</a:t>
            </a:r>
          </a:p>
        </p:txBody>
      </p:sp>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530632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Technical Causes of the Incident:</a:t>
            </a:r>
          </a:p>
        </p:txBody>
      </p:sp>
      <p:pic>
        <p:nvPicPr>
          <p:cNvPr id="4" name="Picture 3"/>
          <p:cNvPicPr>
            <a:picLocks noChangeAspect="1"/>
          </p:cNvPicPr>
          <p:nvPr/>
        </p:nvPicPr>
        <p:blipFill>
          <a:blip r:embed="rId3"/>
          <a:stretch>
            <a:fillRect/>
          </a:stretch>
        </p:blipFill>
        <p:spPr>
          <a:xfrm>
            <a:off x="180000" y="1080000"/>
            <a:ext cx="8640000" cy="4569600"/>
          </a:xfrm>
          <a:prstGeom prst="rect">
            <a:avLst/>
          </a:prstGeom>
        </p:spPr>
      </p:pic>
      <p:sp>
        <p:nvSpPr>
          <p:cNvPr id="7"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2" name="Rounded Rectangular Callout 1"/>
          <p:cNvSpPr/>
          <p:nvPr/>
        </p:nvSpPr>
        <p:spPr>
          <a:xfrm>
            <a:off x="5791200" y="216000"/>
            <a:ext cx="2061848" cy="578882"/>
          </a:xfrm>
          <a:prstGeom prst="wedgeRoundRectCallout">
            <a:avLst>
              <a:gd name="adj1" fmla="val -83237"/>
              <a:gd name="adj2" fmla="val 521989"/>
              <a:gd name="adj3" fmla="val 1666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1400" dirty="0">
                <a:solidFill>
                  <a:schemeClr val="tx1"/>
                </a:solidFill>
              </a:rPr>
              <a:t>The embankment dam structure failed.</a:t>
            </a:r>
          </a:p>
        </p:txBody>
      </p:sp>
    </p:spTree>
    <p:extLst>
      <p:ext uri="{BB962C8B-B14F-4D97-AF65-F5344CB8AC3E}">
        <p14:creationId xmlns:p14="http://schemas.microsoft.com/office/powerpoint/2010/main" val="2988669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0"/>
          <p:cNvSpPr txBox="1">
            <a:spLocks noGrp="1"/>
          </p:cNvSpPr>
          <p:nvPr>
            <p:ph type="body" idx="1"/>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342900" lvl="0" indent="-228600" algn="l" rtl="0">
              <a:spcBef>
                <a:spcPts val="0"/>
              </a:spcBef>
              <a:spcAft>
                <a:spcPts val="0"/>
              </a:spcAft>
              <a:buClr>
                <a:srgbClr val="000000"/>
              </a:buClr>
              <a:buSzPts val="1800"/>
              <a:buFont typeface="Noto Sans Symbols"/>
              <a:buNone/>
            </a:pPr>
            <a:endParaRPr lang="en-CA" sz="1800" dirty="0">
              <a:latin typeface="Arial"/>
              <a:ea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Engineering and Design Factors: </a:t>
            </a:r>
            <a:endParaRPr lang="en-US" sz="1800" u="sng" dirty="0">
              <a:highlight>
                <a:srgbClr val="FFFF00"/>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evaluation of change: </a:t>
            </a:r>
            <a:r>
              <a:rPr lang="en-US" sz="1800" dirty="0">
                <a:latin typeface="Arial"/>
                <a:cs typeface="Arial"/>
                <a:sym typeface="Arial"/>
              </a:rPr>
              <a:t>Risks introduced by the sub excavation activity at the toe of the embankment were not identified nor assessed.</a:t>
            </a:r>
            <a:endParaRPr lang="en-US" sz="1800" dirty="0">
              <a:highlight>
                <a:srgbClr val="00FFFF"/>
              </a:highlight>
              <a:latin typeface="Arial"/>
              <a:cs typeface="Arial"/>
              <a:sym typeface="Arial"/>
            </a:endParaRPr>
          </a:p>
          <a:p>
            <a:pPr marL="342900" lvl="0" indent="-342900" algn="l" rtl="0">
              <a:spcBef>
                <a:spcPts val="0"/>
              </a:spcBef>
              <a:spcAft>
                <a:spcPts val="0"/>
              </a:spcAft>
              <a:buClr>
                <a:srgbClr val="000000"/>
              </a:buClr>
              <a:buSzPts val="1800"/>
              <a:buFont typeface="Noto Sans Symbols"/>
              <a:buChar char="⮚"/>
            </a:pPr>
            <a:r>
              <a:rPr lang="en-US" sz="1800" b="1" dirty="0">
                <a:latin typeface="Arial"/>
                <a:cs typeface="Arial"/>
                <a:sym typeface="Arial"/>
              </a:rPr>
              <a:t>Inadequate monitoring of construction:</a:t>
            </a:r>
            <a:r>
              <a:rPr lang="en-US" sz="1800" dirty="0">
                <a:latin typeface="Arial"/>
                <a:cs typeface="Arial"/>
                <a:sym typeface="Arial"/>
              </a:rPr>
              <a:t> Subexcavation remained open for 8 months without any concern from engineers or management.</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a:latin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Job Factors: </a:t>
            </a: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ea typeface="Arial"/>
                <a:cs typeface="Arial" panose="020B0604020202020204" pitchFamily="34" charset="0"/>
                <a:sym typeface="Arial"/>
              </a:rPr>
              <a:t>Inadequate guidance manuals:</a:t>
            </a:r>
            <a:r>
              <a:rPr lang="en-CA" sz="1800" dirty="0">
                <a:latin typeface="Arial" panose="020B0604020202020204" pitchFamily="34" charset="0"/>
                <a:ea typeface="Arial"/>
                <a:cs typeface="Arial" panose="020B0604020202020204" pitchFamily="34" charset="0"/>
                <a:sym typeface="Arial"/>
              </a:rPr>
              <a:t> The construction manual for buttress excavation did not include any construction procedures.</a:t>
            </a:r>
            <a:r>
              <a:rPr lang="en-CA" sz="1800" dirty="0">
                <a:highlight>
                  <a:srgbClr val="FFFF00"/>
                </a:highlight>
                <a:latin typeface="Arial" panose="020B0604020202020204" pitchFamily="34" charset="0"/>
                <a:ea typeface="Arial"/>
                <a:cs typeface="Arial" panose="020B0604020202020204" pitchFamily="34" charset="0"/>
                <a:sym typeface="Arial"/>
              </a:rPr>
              <a:t> </a:t>
            </a: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inspection/monitoring: </a:t>
            </a:r>
            <a:r>
              <a:rPr lang="en-CA" sz="1800" dirty="0">
                <a:latin typeface="Arial" panose="020B0604020202020204" pitchFamily="34" charset="0"/>
                <a:cs typeface="Arial" panose="020B0604020202020204" pitchFamily="34" charset="0"/>
                <a:sym typeface="Arial"/>
              </a:rPr>
              <a:t>Inadequate supervision during TSF operations</a:t>
            </a:r>
            <a:endParaRPr lang="en-CA" sz="1800" dirty="0">
              <a:highlight>
                <a:srgbClr val="FFFF00"/>
              </a:highlight>
              <a:latin typeface="Arial" panose="020B0604020202020204" pitchFamily="34" charset="0"/>
              <a:cs typeface="Arial" panose="020B0604020202020204" pitchFamily="34" charset="0"/>
              <a:sym typeface="Arial"/>
            </a:endParaRPr>
          </a:p>
          <a:p>
            <a:pPr marL="342900" indent="-342900">
              <a:spcBef>
                <a:spcPts val="0"/>
              </a:spcBef>
              <a:spcAft>
                <a:spcPts val="0"/>
              </a:spcAft>
              <a:buClr>
                <a:srgbClr val="000000"/>
              </a:buClr>
              <a:buSzPts val="1800"/>
              <a:buFont typeface="Noto Sans Symbols"/>
              <a:buChar char="⮚"/>
            </a:pPr>
            <a:r>
              <a:rPr lang="en-CA" sz="1800" b="1" dirty="0">
                <a:latin typeface="Arial" panose="020B0604020202020204" pitchFamily="34" charset="0"/>
                <a:cs typeface="Arial" panose="020B0604020202020204" pitchFamily="34" charset="0"/>
                <a:sym typeface="Arial"/>
              </a:rPr>
              <a:t>Inadequate work planning:</a:t>
            </a:r>
            <a:r>
              <a:rPr lang="en-CA" sz="1800" dirty="0">
                <a:latin typeface="Arial" panose="020B0604020202020204" pitchFamily="34" charset="0"/>
                <a:cs typeface="Arial" panose="020B0604020202020204" pitchFamily="34" charset="0"/>
                <a:sym typeface="Arial"/>
              </a:rPr>
              <a:t> Inadequate water management plan</a:t>
            </a:r>
            <a:endParaRPr lang="en-US" sz="1800" dirty="0">
              <a:highlight>
                <a:srgbClr val="FFFF00"/>
              </a:highlight>
              <a:latin typeface="Arial"/>
              <a:cs typeface="Arial"/>
              <a:sym typeface="Arial"/>
            </a:endParaRPr>
          </a:p>
          <a:p>
            <a:pPr marL="0" lvl="0" indent="0" algn="l" rtl="0">
              <a:spcBef>
                <a:spcPts val="0"/>
              </a:spcBef>
              <a:spcAft>
                <a:spcPts val="0"/>
              </a:spcAft>
              <a:buClr>
                <a:srgbClr val="000000"/>
              </a:buClr>
              <a:buSzPts val="1800"/>
              <a:buNone/>
            </a:pPr>
            <a:endParaRPr lang="en-US" sz="1800" u="sng" dirty="0">
              <a:latin typeface="Arial"/>
              <a:cs typeface="Arial"/>
              <a:sym typeface="Arial"/>
            </a:endParaRPr>
          </a:p>
          <a:p>
            <a:pPr marL="0" lvl="0" indent="0" algn="l" rtl="0">
              <a:spcBef>
                <a:spcPts val="0"/>
              </a:spcBef>
              <a:spcAft>
                <a:spcPts val="0"/>
              </a:spcAft>
              <a:buClr>
                <a:srgbClr val="000000"/>
              </a:buClr>
              <a:buSzPts val="1800"/>
              <a:buNone/>
            </a:pPr>
            <a:r>
              <a:rPr lang="en-US" sz="1800" u="sng" dirty="0">
                <a:latin typeface="Arial"/>
                <a:cs typeface="Arial"/>
                <a:sym typeface="Arial"/>
              </a:rPr>
              <a:t>Personal Factors:</a:t>
            </a:r>
          </a:p>
          <a:p>
            <a:pPr marL="342900" indent="-342900">
              <a:spcBef>
                <a:spcPts val="0"/>
              </a:spcBef>
              <a:spcAft>
                <a:spcPts val="0"/>
              </a:spcAft>
              <a:buClr>
                <a:srgbClr val="000000"/>
              </a:buClr>
              <a:buSzPts val="1800"/>
              <a:buFont typeface="Noto Sans Symbols"/>
              <a:buChar char="⮚"/>
            </a:pPr>
            <a:r>
              <a:rPr lang="en-US" sz="1800" b="1" dirty="0">
                <a:latin typeface="Arial" panose="020B0604020202020204" pitchFamily="34" charset="0"/>
                <a:ea typeface="Arial"/>
                <a:cs typeface="Arial" panose="020B0604020202020204" pitchFamily="34" charset="0"/>
                <a:sym typeface="Arial"/>
              </a:rPr>
              <a:t>Improper risk taking: </a:t>
            </a:r>
            <a:r>
              <a:rPr lang="en-US" sz="1800" dirty="0">
                <a:latin typeface="Arial" panose="020B0604020202020204" pitchFamily="34" charset="0"/>
                <a:ea typeface="Arial"/>
                <a:cs typeface="Arial" panose="020B0604020202020204" pitchFamily="34" charset="0"/>
                <a:sym typeface="Arial"/>
              </a:rPr>
              <a:t>Design engineers were overconfident in their professional judgement </a:t>
            </a:r>
          </a:p>
        </p:txBody>
      </p:sp>
      <p:sp>
        <p:nvSpPr>
          <p:cNvPr id="4"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Basic Causes:</a:t>
            </a: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549784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p:nvPr/>
        </p:nvSpPr>
        <p:spPr>
          <a:xfrm>
            <a:off x="180000" y="828000"/>
            <a:ext cx="8640000" cy="5328000"/>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lvl="0">
              <a:buClr>
                <a:srgbClr val="FFFFFF"/>
              </a:buClr>
              <a:buSzPts val="2000"/>
            </a:pPr>
            <a:r>
              <a:rPr lang="en-CA" sz="2000" b="1" i="1" dirty="0">
                <a:solidFill>
                  <a:srgbClr val="FFFFFF"/>
                </a:solidFill>
              </a:rPr>
              <a:t>It is vital to combat complacency in all aspects </a:t>
            </a:r>
          </a:p>
          <a:p>
            <a:pPr lvl="0">
              <a:buClr>
                <a:srgbClr val="FFFFFF"/>
              </a:buClr>
              <a:buSzPts val="2000"/>
            </a:pPr>
            <a:r>
              <a:rPr lang="en-CA" sz="2000" b="1" i="1" dirty="0">
                <a:solidFill>
                  <a:srgbClr val="FFFFFF"/>
                </a:solidFill>
              </a:rPr>
              <a:t>of </a:t>
            </a:r>
            <a:r>
              <a:rPr lang="en-CA" sz="2000" b="1" i="1">
                <a:solidFill>
                  <a:srgbClr val="FFFFFF"/>
                </a:solidFill>
              </a:rPr>
              <a:t>risk management.</a:t>
            </a:r>
            <a:endParaRPr dirty="0">
              <a:highlight>
                <a:srgbClr val="00FFFF"/>
              </a:highlight>
            </a:endParaRPr>
          </a:p>
          <a:p>
            <a:pPr marL="0" marR="0" lvl="0" indent="0" algn="l" rtl="0">
              <a:spcBef>
                <a:spcPts val="0"/>
              </a:spcBef>
              <a:spcAft>
                <a:spcPts val="0"/>
              </a:spcAft>
              <a:buClr>
                <a:schemeClr val="dk1"/>
              </a:buClr>
              <a:buSzPts val="2000"/>
              <a:buFont typeface="Noto Sans Symbols"/>
              <a:buNone/>
            </a:pPr>
            <a:endParaRPr sz="1000" b="1" i="1" dirty="0">
              <a:solidFill>
                <a:srgbClr val="FFFFFF"/>
              </a:solidFill>
              <a:latin typeface="Arial"/>
              <a:ea typeface="Arial"/>
              <a:cs typeface="Arial"/>
              <a:sym typeface="Arial"/>
            </a:endParaRPr>
          </a:p>
          <a:p>
            <a:pPr marL="0" marR="0" lvl="0" indent="0" algn="l" rtl="0">
              <a:spcBef>
                <a:spcPts val="0"/>
              </a:spcBef>
              <a:spcAft>
                <a:spcPts val="0"/>
              </a:spcAft>
              <a:buClr>
                <a:srgbClr val="FFFFFF"/>
              </a:buClr>
              <a:buSzPts val="2000"/>
              <a:buFont typeface="Noto Sans Symbols"/>
              <a:buNone/>
            </a:pPr>
            <a:r>
              <a:rPr lang="en-US" sz="2000" i="1" dirty="0">
                <a:solidFill>
                  <a:srgbClr val="FFFFFF"/>
                </a:solidFill>
                <a:latin typeface="Arial"/>
                <a:ea typeface="Arial"/>
                <a:cs typeface="Arial"/>
                <a:sym typeface="Arial"/>
              </a:rPr>
              <a:t>Using this list, select one and think about possible</a:t>
            </a:r>
            <a:br>
              <a:rPr lang="en-US" sz="2000" i="1" dirty="0">
                <a:solidFill>
                  <a:srgbClr val="FFFFFF"/>
                </a:solidFill>
                <a:latin typeface="Arial"/>
                <a:ea typeface="Arial"/>
                <a:cs typeface="Arial"/>
                <a:sym typeface="Arial"/>
              </a:rPr>
            </a:br>
            <a:r>
              <a:rPr lang="en-US" sz="2000" i="1" dirty="0">
                <a:solidFill>
                  <a:srgbClr val="FFFFFF"/>
                </a:solidFill>
                <a:latin typeface="Arial"/>
                <a:ea typeface="Arial"/>
                <a:cs typeface="Arial"/>
                <a:sym typeface="Arial"/>
              </a:rPr>
              <a:t>causes of failure in organizational leadership:</a:t>
            </a:r>
            <a:endParaRPr dirty="0"/>
          </a:p>
        </p:txBody>
      </p:sp>
      <p:sp>
        <p:nvSpPr>
          <p:cNvPr id="270" name="Google Shape;270;p14"/>
          <p:cNvSpPr/>
          <p:nvPr/>
        </p:nvSpPr>
        <p:spPr>
          <a:xfrm>
            <a:off x="228600" y="2407306"/>
            <a:ext cx="6223338" cy="292669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spcAft>
                <a:spcPts val="0"/>
              </a:spcAft>
              <a:buSzPts val="1600"/>
              <a:buFont typeface="Times New Roman"/>
              <a:buAutoNum type="arabicParenR"/>
            </a:pPr>
            <a:r>
              <a:rPr lang="en-US" sz="1600" dirty="0">
                <a:sym typeface="Arial"/>
              </a:rPr>
              <a:t>Management Leadership, Commitment and Accountability</a:t>
            </a:r>
            <a:endParaRPr sz="1600" dirty="0"/>
          </a:p>
          <a:p>
            <a:pPr marL="342900" marR="0" lvl="0" indent="-342900" algn="l" rtl="0">
              <a:spcAft>
                <a:spcPts val="0"/>
              </a:spcAft>
              <a:buSzPts val="1600"/>
              <a:buFont typeface="Times New Roman"/>
              <a:buAutoNum type="arabicParenR"/>
            </a:pPr>
            <a:r>
              <a:rPr lang="en-US" sz="1600" dirty="0">
                <a:sym typeface="Arial"/>
              </a:rPr>
              <a:t>Risk Assessment and Management of Risks</a:t>
            </a:r>
            <a:endParaRPr sz="1600" dirty="0"/>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Community Awareness and Emergency Preparedness</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Management of Change.</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Incident Reporting, Investigation, Analysis and Actions</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Program Evaluation and Continuous Improvement.</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ym typeface="Arial"/>
              </a:rPr>
              <a:t>Design, Construction and Start-up</a:t>
            </a:r>
            <a:endParaRPr sz="1600" dirty="0"/>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Operations and Maintenance.</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ym typeface="Arial"/>
              </a:rPr>
              <a:t>Employee Competency and Training.</a:t>
            </a:r>
            <a:endParaRPr sz="1600" dirty="0"/>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Contractor Competency and Integration.</a:t>
            </a:r>
            <a:endParaRPr sz="1600" dirty="0">
              <a:solidFill>
                <a:schemeClr val="bg1">
                  <a:lumMod val="65000"/>
                </a:schemeClr>
              </a:solidFill>
            </a:endParaRPr>
          </a:p>
          <a:p>
            <a:pPr marL="342900" marR="0" lvl="0" indent="-342900" algn="l" rtl="0">
              <a:spcAft>
                <a:spcPts val="0"/>
              </a:spcAft>
              <a:buSzPts val="1600"/>
              <a:buFont typeface="Times New Roman"/>
              <a:buAutoNum type="arabicParenR"/>
            </a:pPr>
            <a:r>
              <a:rPr lang="en-US" sz="1600" dirty="0">
                <a:solidFill>
                  <a:schemeClr val="bg1">
                    <a:lumMod val="65000"/>
                  </a:schemeClr>
                </a:solidFill>
                <a:sym typeface="Arial"/>
              </a:rPr>
              <a:t>Operations and Facilities Information and Documentation.</a:t>
            </a:r>
            <a:endParaRPr sz="1600" dirty="0">
              <a:solidFill>
                <a:schemeClr val="bg1">
                  <a:lumMod val="65000"/>
                </a:schemeClr>
              </a:solidFill>
            </a:endParaRPr>
          </a:p>
        </p:txBody>
      </p:sp>
      <p:pic>
        <p:nvPicPr>
          <p:cNvPr id="3" name="Picture 2" descr="A view of the ocean&#10;&#10;Description automatically generated">
            <a:extLst>
              <a:ext uri="{FF2B5EF4-FFF2-40B4-BE49-F238E27FC236}">
                <a16:creationId xmlns:a16="http://schemas.microsoft.com/office/drawing/2014/main" id="{1FAAE589-C56B-4FF3-9D5B-913EAC624CF9}"/>
              </a:ext>
            </a:extLst>
          </p:cNvPr>
          <p:cNvPicPr>
            <a:picLocks noChangeAspect="1"/>
          </p:cNvPicPr>
          <p:nvPr/>
        </p:nvPicPr>
        <p:blipFill>
          <a:blip r:embed="rId3"/>
          <a:stretch>
            <a:fillRect/>
          </a:stretch>
        </p:blipFill>
        <p:spPr>
          <a:xfrm>
            <a:off x="6471139" y="822961"/>
            <a:ext cx="2368061" cy="1882831"/>
          </a:xfrm>
          <a:prstGeom prst="rect">
            <a:avLst/>
          </a:prstGeom>
        </p:spPr>
      </p:pic>
      <p:pic>
        <p:nvPicPr>
          <p:cNvPr id="5" name="Picture 4" descr="A close up of a mountain&#10;&#10;Description automatically generated">
            <a:extLst>
              <a:ext uri="{FF2B5EF4-FFF2-40B4-BE49-F238E27FC236}">
                <a16:creationId xmlns:a16="http://schemas.microsoft.com/office/drawing/2014/main" id="{803C471C-E048-49E2-AA83-0D9E1B85D6CC}"/>
              </a:ext>
            </a:extLst>
          </p:cNvPr>
          <p:cNvPicPr>
            <a:picLocks noChangeAspect="1"/>
          </p:cNvPicPr>
          <p:nvPr/>
        </p:nvPicPr>
        <p:blipFill>
          <a:blip r:embed="rId4"/>
          <a:stretch>
            <a:fillRect/>
          </a:stretch>
        </p:blipFill>
        <p:spPr>
          <a:xfrm>
            <a:off x="6471139" y="2705792"/>
            <a:ext cx="2368061" cy="1488831"/>
          </a:xfrm>
          <a:prstGeom prst="rect">
            <a:avLst/>
          </a:prstGeom>
        </p:spPr>
      </p:pic>
      <p:pic>
        <p:nvPicPr>
          <p:cNvPr id="7" name="Picture 6" descr="A body of water&#10;&#10;Description automatically generated">
            <a:extLst>
              <a:ext uri="{FF2B5EF4-FFF2-40B4-BE49-F238E27FC236}">
                <a16:creationId xmlns:a16="http://schemas.microsoft.com/office/drawing/2014/main" id="{7488A2E0-279F-4D6B-9D27-ECD5C1AC655D}"/>
              </a:ext>
            </a:extLst>
          </p:cNvPr>
          <p:cNvPicPr>
            <a:picLocks noChangeAspect="1"/>
          </p:cNvPicPr>
          <p:nvPr/>
        </p:nvPicPr>
        <p:blipFill>
          <a:blip r:embed="rId5"/>
          <a:stretch>
            <a:fillRect/>
          </a:stretch>
        </p:blipFill>
        <p:spPr>
          <a:xfrm>
            <a:off x="6471138" y="4194623"/>
            <a:ext cx="2368061" cy="1966363"/>
          </a:xfrm>
          <a:prstGeom prst="rect">
            <a:avLst/>
          </a:prstGeom>
        </p:spPr>
      </p:pic>
      <p:sp>
        <p:nvSpPr>
          <p:cNvPr id="8"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 Latent Causes and Lessons in Leadership:</a:t>
            </a:r>
          </a:p>
        </p:txBody>
      </p:sp>
      <p:sp>
        <p:nvSpPr>
          <p:cNvPr id="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112484054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tx1"/>
          </a:solidFill>
          <a:ln w="9525">
            <a:solidFill>
              <a:schemeClr val="tx1"/>
            </a:solid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90000"/>
              </a:lnSpc>
              <a:spcBef>
                <a:spcPts val="0"/>
              </a:spcBef>
              <a:buClr>
                <a:srgbClr val="000000"/>
              </a:buClr>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#1 MLCA:</a:t>
            </a:r>
          </a:p>
          <a:p>
            <a:pPr marL="36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Lack of management commitment, leadership, and  accountability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ignored previous warnings and concerns from Regulator and employees</a:t>
            </a:r>
          </a:p>
          <a:p>
            <a:pPr marL="0" lvl="0" indent="0" eaLnBrk="0" hangingPunct="0">
              <a:lnSpc>
                <a:spcPct val="90000"/>
              </a:lnSpc>
              <a:spcBef>
                <a:spcPts val="0"/>
              </a:spcBef>
              <a:buClrTx/>
              <a:buSzPct val="100000"/>
              <a:buNone/>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marL="0" lvl="0" indent="0" eaLnBrk="0" hangingPunct="0">
              <a:lnSpc>
                <a:spcPct val="90000"/>
              </a:lnSpc>
              <a:spcBef>
                <a:spcPts val="0"/>
              </a:spcBef>
              <a:buClrTx/>
              <a:buSzPct val="100000"/>
              <a:buNone/>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hangingPunct="0">
              <a:lnSpc>
                <a:spcPct val="90000"/>
              </a:lnSpc>
              <a:spcBef>
                <a:spcPts val="0"/>
              </a:spcBef>
              <a:buClrTx/>
              <a:buSzPct val="100000"/>
              <a:buNone/>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program</a:t>
            </a:r>
          </a:p>
          <a:p>
            <a:pPr marL="432000" indent="-432000" eaLnBrk="0" hangingPunct="0">
              <a:lnSpc>
                <a:spcPct val="90000"/>
              </a:lnSpc>
              <a:spcBef>
                <a:spcPts val="0"/>
              </a:spcBef>
              <a:buClrTx/>
              <a:buSzPct val="100000"/>
              <a:buFont typeface="Wingdings" panose="05000000000000000000" pitchFamily="2" charset="2"/>
              <a:buChar char="Ø"/>
            </a:pPr>
            <a:endParaRPr lang="en-US" altLang="en-US" sz="1800" b="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bg1"/>
                </a:solidFill>
                <a:latin typeface="Arial" panose="020B0604020202020204" pitchFamily="34" charset="0"/>
                <a:ea typeface="+mj-ea"/>
                <a:cs typeface="Arial" panose="020B0604020202020204" pitchFamily="34" charset="0"/>
              </a:rPr>
              <a:t>An Examination of the Weaknesses in RM Elements (LC’s):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1366504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#1: Can you draft a latent cause statement?</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Please confer (Open discussion), select one of these management system elements and draft a statement for a latent cause:</a:t>
            </a:r>
          </a:p>
          <a:p>
            <a:pPr marL="360000" lvl="0" indent="-360000" eaLnBrk="0" hangingPunct="0">
              <a:lnSpc>
                <a:spcPct val="90000"/>
              </a:lnSpc>
              <a:spcBef>
                <a:spcPts val="0"/>
              </a:spcBef>
              <a:buSzPct val="100000"/>
              <a:buFont typeface="Wingdings" panose="05000000000000000000" pitchFamily="2" charset="2"/>
              <a:buChar char="Ø"/>
            </a:pP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#2 RA&amp;MR:</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risk assessment and management of risk</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Insufficient hazard identification during operations in TSF</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provided inadequate supervision and inspections during operations</a:t>
            </a:r>
          </a:p>
          <a:p>
            <a:pPr marL="360000" lvl="0" indent="-360000" eaLnBrk="0" hangingPunct="0">
              <a:lnSpc>
                <a:spcPct val="90000"/>
              </a:lnSpc>
              <a:spcBef>
                <a:spcPts val="0"/>
              </a:spcBef>
              <a:buSzPct val="100000"/>
              <a:buFont typeface="Wingdings" panose="05000000000000000000" pitchFamily="2" charset="2"/>
              <a:buChar char="Ø"/>
            </a:pP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#7 DC&amp;SU:</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design and assessment  </a:t>
            </a:r>
          </a:p>
          <a:p>
            <a:pPr marL="72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 team had a poor understanding of underlying terrain during the design phase of TSF  </a:t>
            </a:r>
          </a:p>
          <a:p>
            <a:pPr marL="72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Design team heavily relied on Factor of Safety calculations prone to error   </a:t>
            </a:r>
          </a:p>
          <a:p>
            <a:pPr lvl="0" eaLnBrk="0" hangingPunct="0">
              <a:lnSpc>
                <a:spcPct val="90000"/>
              </a:lnSpc>
              <a:spcBef>
                <a:spcPts val="0"/>
              </a:spcBef>
              <a:buSzPct val="100000"/>
            </a:pPr>
            <a:endPar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lvl="0" eaLnBrk="0" hangingPunct="0">
              <a:lnSpc>
                <a:spcPct val="90000"/>
              </a:lnSpc>
              <a:spcBef>
                <a:spcPts val="0"/>
              </a:spcBef>
              <a:buSzPct val="100000"/>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#9 EC&amp;T:</a:t>
            </a:r>
          </a:p>
          <a:p>
            <a:pPr marL="36000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Inadequate employee competency </a:t>
            </a:r>
          </a:p>
          <a:p>
            <a:pPr marL="720000" lvl="0" indent="-360000" eaLnBrk="0" hangingPunct="0">
              <a:lnSpc>
                <a:spcPct val="90000"/>
              </a:lnSpc>
              <a:spcBef>
                <a:spcPts val="0"/>
              </a:spcBef>
              <a:buSzPct val="100000"/>
              <a:buFont typeface="Wingdings" panose="05000000000000000000" pitchFamily="2" charset="2"/>
              <a:buChar char="Ø"/>
            </a:pPr>
            <a:r>
              <a:rPr lang="en-US" altLang="en-US" b="0" i="1"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Unqualified personnel overseeing water management program</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297498807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8"/>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RME #2: Risk Assessment and Management of Risks: </a:t>
            </a:r>
          </a:p>
          <a:p>
            <a:pPr marL="0" lvl="0" indent="0" algn="l" rtl="0">
              <a:lnSpc>
                <a:spcPct val="90000"/>
              </a:lnSpc>
              <a:spcBef>
                <a:spcPts val="0"/>
              </a:spcBef>
              <a:spcAft>
                <a:spcPts val="0"/>
              </a:spcAft>
              <a:buClr>
                <a:srgbClr val="000000"/>
              </a:buClr>
              <a:buSzPts val="2000"/>
              <a:buNone/>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Initial and on-going, continuing need to assess and manage risks. </a:t>
            </a:r>
            <a:endParaRPr lang="en-US" sz="1800" b="1"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Substandard hazard identification program resulted in unaddressed risks during the operations phase of the TSF:</a:t>
            </a:r>
          </a:p>
          <a:p>
            <a:pPr marL="720000" lvl="2" indent="-360000" algn="l" rtl="0">
              <a:lnSpc>
                <a:spcPct val="90000"/>
              </a:lnSpc>
              <a:spcBef>
                <a:spcPts val="0"/>
              </a:spcBef>
              <a:spcAft>
                <a:spcPts val="0"/>
              </a:spcAft>
              <a:buClr>
                <a:srgbClr val="000000"/>
              </a:buClr>
              <a:buSzPts val="2000"/>
              <a:buFont typeface="Noto Sans Symbols"/>
              <a:buChar char="⮚"/>
            </a:pPr>
            <a:r>
              <a:rPr lang="en-CA" sz="1800" dirty="0">
                <a:latin typeface="Arial" panose="020B0604020202020204" pitchFamily="34" charset="0"/>
                <a:ea typeface="Arial"/>
                <a:cs typeface="Arial" panose="020B0604020202020204" pitchFamily="34" charset="0"/>
                <a:sym typeface="Arial"/>
              </a:rPr>
              <a:t>TSF Inspections were not adequately performed nor adequately supervised</a:t>
            </a:r>
          </a:p>
          <a:p>
            <a:pPr marL="720000" lvl="2" indent="-360000" algn="l" rtl="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gn="l" rtl="0">
              <a:lnSpc>
                <a:spcPct val="90000"/>
              </a:lnSpc>
              <a:spcBef>
                <a:spcPts val="0"/>
              </a:spcBef>
              <a:spcAft>
                <a:spcPts val="0"/>
              </a:spcAft>
              <a:buClr>
                <a:srgbClr val="000000"/>
              </a:buClr>
              <a:buSzPts val="2000"/>
              <a:buNone/>
            </a:pPr>
            <a:r>
              <a:rPr lang="en-CA" sz="1800" b="1" dirty="0">
                <a:latin typeface="Arial" panose="020B0604020202020204" pitchFamily="34" charset="0"/>
                <a:ea typeface="Arial"/>
                <a:cs typeface="Arial" panose="020B0604020202020204" pitchFamily="34" charset="0"/>
                <a:sym typeface="Arial"/>
              </a:rPr>
              <a:t>Latent Cause: </a:t>
            </a:r>
          </a:p>
          <a:p>
            <a:pPr marL="36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LC-S: The risk assessment program did not include a standard to identify and assess hazards of the TSF foundation and hydraulic conditions while the TSF was in operation. #2 RAMR</a:t>
            </a:r>
            <a:endParaRPr lang="en-CA"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Latent Cause Relating to RME#2</a:t>
            </a:r>
          </a:p>
        </p:txBody>
      </p:sp>
    </p:spTree>
    <p:extLst>
      <p:ext uri="{BB962C8B-B14F-4D97-AF65-F5344CB8AC3E}">
        <p14:creationId xmlns:p14="http://schemas.microsoft.com/office/powerpoint/2010/main" val="92939087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RME #7: Design, Construction and Start-up:</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Risk assessment during design is vital to assess and control the risks. </a:t>
            </a:r>
            <a:endParaRPr lang="en-US" sz="1800" dirty="0">
              <a:highlight>
                <a:srgbClr val="FFFF00"/>
              </a:highlight>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Design team heavily relied on Factor of Safety (</a:t>
            </a:r>
            <a:r>
              <a:rPr lang="en-US" sz="1800" dirty="0" err="1">
                <a:latin typeface="Arial" panose="020B0604020202020204" pitchFamily="34" charset="0"/>
                <a:ea typeface="Arial"/>
                <a:cs typeface="Arial" panose="020B0604020202020204" pitchFamily="34" charset="0"/>
                <a:sym typeface="Arial"/>
              </a:rPr>
              <a:t>FoS</a:t>
            </a:r>
            <a:r>
              <a:rPr lang="en-US" sz="1800" dirty="0">
                <a:latin typeface="Arial" panose="020B0604020202020204" pitchFamily="34" charset="0"/>
                <a:ea typeface="Arial"/>
                <a:cs typeface="Arial" panose="020B0604020202020204" pitchFamily="34" charset="0"/>
                <a:sym typeface="Arial"/>
              </a:rPr>
              <a:t>) calculations, but they were not reliable. </a:t>
            </a: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Used unsuitable calculation guidelines from the Canadian Dam Association </a:t>
            </a: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Calculations used data from an inadequate assessment, leading to incorrect calculations </a:t>
            </a: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The Mining Association of Canada’s guidelines were not followed. </a:t>
            </a: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Design team relied more on their professional judgement</a:t>
            </a:r>
          </a:p>
          <a:p>
            <a:pPr marL="720000" lvl="2" indent="-36000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Guidelines would have likely identified most of the key technical causes. </a:t>
            </a:r>
          </a:p>
          <a:p>
            <a:pPr marL="0" lvl="2" indent="0">
              <a:lnSpc>
                <a:spcPct val="90000"/>
              </a:lnSpc>
              <a:spcBef>
                <a:spcPts val="0"/>
              </a:spcBef>
              <a:spcAft>
                <a:spcPts val="0"/>
              </a:spcAft>
              <a:buClr>
                <a:srgbClr val="000000"/>
              </a:buClr>
              <a:buSzPts val="2000"/>
              <a:buNone/>
            </a:pPr>
            <a:endParaRPr lang="en-CA" sz="1800" b="1" dirty="0">
              <a:solidFill>
                <a:srgbClr val="000000"/>
              </a:solidFill>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a:solidFill>
                  <a:srgbClr val="000000"/>
                </a:solidFill>
                <a:latin typeface="Arial" panose="020B0604020202020204" pitchFamily="34" charset="0"/>
                <a:ea typeface="Arial"/>
                <a:cs typeface="Arial" panose="020B0604020202020204" pitchFamily="34" charset="0"/>
                <a:sym typeface="Arial"/>
              </a:rPr>
              <a:t>Latent Cause: </a:t>
            </a:r>
            <a:endParaRPr lang="en-US" sz="1800" dirty="0">
              <a:latin typeface="Arial" panose="020B0604020202020204" pitchFamily="34" charset="0"/>
              <a:ea typeface="Arial"/>
              <a:cs typeface="Arial" panose="020B0604020202020204" pitchFamily="34" charset="0"/>
              <a:sym typeface="Arial"/>
            </a:endParaRPr>
          </a:p>
          <a:p>
            <a:pPr marL="360000" lvl="2" indent="-360000">
              <a:lnSpc>
                <a:spcPct val="90000"/>
              </a:lnSpc>
              <a:spcBef>
                <a:spcPts val="0"/>
              </a:spcBef>
              <a:spcAft>
                <a:spcPts val="0"/>
              </a:spcAft>
              <a:buClr>
                <a:srgbClr val="000000"/>
              </a:buClr>
              <a:buSzPts val="2000"/>
              <a:buFont typeface="Noto Sans Symbols"/>
              <a:buChar char="⮚"/>
            </a:pPr>
            <a:r>
              <a:rPr lang="en-CA" sz="1800" dirty="0">
                <a:solidFill>
                  <a:srgbClr val="000000"/>
                </a:solidFill>
                <a:latin typeface="Arial" panose="020B0604020202020204" pitchFamily="34" charset="0"/>
                <a:ea typeface="Arial"/>
                <a:cs typeface="Arial" panose="020B0604020202020204" pitchFamily="34" charset="0"/>
                <a:sym typeface="Arial"/>
              </a:rPr>
              <a:t>LC-S: The design program standard for applying the factors of safety during the design phase of the TSF project did not reference the necessary calculation guidelines from the Mining Association of Canada. #7 DCSU</a:t>
            </a:r>
            <a:endParaRPr lang="en-US" sz="1800" dirty="0">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Latent Cause Relating to RME#7</a:t>
            </a:r>
          </a:p>
        </p:txBody>
      </p:sp>
    </p:spTree>
    <p:extLst>
      <p:ext uri="{BB962C8B-B14F-4D97-AF65-F5344CB8AC3E}">
        <p14:creationId xmlns:p14="http://schemas.microsoft.com/office/powerpoint/2010/main" val="1258971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RME #9: Employee Competency and Training:</a:t>
            </a:r>
            <a:endParaRPr sz="1800" dirty="0">
              <a:solidFill>
                <a:schemeClr val="tx1"/>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Must ensure that employees are fully competent.</a:t>
            </a:r>
          </a:p>
          <a:p>
            <a:pPr marL="720000" lvl="2" indent="-360000">
              <a:lnSpc>
                <a:spcPct val="90000"/>
              </a:lnSpc>
              <a:spcBef>
                <a:spcPts val="0"/>
              </a:spcBef>
              <a:spcAft>
                <a:spcPts val="0"/>
              </a:spcAft>
              <a:buClr>
                <a:srgbClr val="000000"/>
              </a:buClr>
              <a:buSzPts val="2000"/>
              <a:buFont typeface="Noto Sans Symbols"/>
              <a:buChar char="⮚"/>
            </a:pPr>
            <a:r>
              <a:rPr lang="en-CA" sz="1800" dirty="0">
                <a:latin typeface="Arial" panose="020B0604020202020204" pitchFamily="34" charset="0"/>
                <a:ea typeface="Arial"/>
                <a:cs typeface="Arial" panose="020B0604020202020204" pitchFamily="34" charset="0"/>
                <a:sym typeface="Arial"/>
              </a:rPr>
              <a:t>The individual who was hired to lead the water management plan was not qualified.  Through the actions of this individual, this resulted in excess water levels in the TSF.</a:t>
            </a:r>
          </a:p>
          <a:p>
            <a:pPr marL="360000" lvl="2" indent="-360000">
              <a:lnSpc>
                <a:spcPct val="90000"/>
              </a:lnSpc>
              <a:spcBef>
                <a:spcPts val="0"/>
              </a:spcBef>
              <a:spcAft>
                <a:spcPts val="0"/>
              </a:spcAft>
              <a:buClr>
                <a:srgbClr val="000000"/>
              </a:buClr>
              <a:buSzPts val="2000"/>
              <a:buFont typeface="Noto Sans Symbols"/>
              <a:buChar char="⮚"/>
            </a:pPr>
            <a:endParaRPr lang="en-CA" sz="1800" dirty="0">
              <a:latin typeface="Arial" panose="020B0604020202020204" pitchFamily="34" charset="0"/>
              <a:ea typeface="Arial"/>
              <a:cs typeface="Arial" panose="020B0604020202020204" pitchFamily="34" charset="0"/>
              <a:sym typeface="Arial"/>
            </a:endParaRPr>
          </a:p>
          <a:p>
            <a:pPr marL="0" lvl="2" indent="0">
              <a:lnSpc>
                <a:spcPct val="90000"/>
              </a:lnSpc>
              <a:spcBef>
                <a:spcPts val="0"/>
              </a:spcBef>
              <a:spcAft>
                <a:spcPts val="0"/>
              </a:spcAft>
              <a:buClr>
                <a:srgbClr val="000000"/>
              </a:buClr>
              <a:buSzPts val="2000"/>
              <a:buNone/>
            </a:pPr>
            <a:r>
              <a:rPr lang="en-CA" sz="1800" b="1" dirty="0">
                <a:latin typeface="Arial" panose="020B0604020202020204" pitchFamily="34" charset="0"/>
                <a:ea typeface="Arial"/>
                <a:cs typeface="Arial" panose="020B0604020202020204" pitchFamily="34" charset="0"/>
                <a:sym typeface="Arial"/>
              </a:rPr>
              <a:t>Latent Cause:</a:t>
            </a:r>
          </a:p>
          <a:p>
            <a:pPr marL="360000" lvl="2" indent="-360000">
              <a:lnSpc>
                <a:spcPct val="90000"/>
              </a:lnSpc>
              <a:spcBef>
                <a:spcPts val="0"/>
              </a:spcBef>
              <a:spcAft>
                <a:spcPts val="0"/>
              </a:spcAft>
              <a:buClr>
                <a:srgbClr val="000000"/>
              </a:buClr>
              <a:buSzPts val="2000"/>
              <a:buFont typeface="Noto Sans Symbols"/>
              <a:buChar char="⮚"/>
            </a:pPr>
            <a:r>
              <a:rPr lang="en-CA" sz="1800" dirty="0">
                <a:latin typeface="Arial" panose="020B0604020202020204" pitchFamily="34" charset="0"/>
                <a:ea typeface="Arial"/>
                <a:cs typeface="Arial" panose="020B0604020202020204" pitchFamily="34" charset="0"/>
                <a:sym typeface="Arial"/>
              </a:rPr>
              <a:t>LC-S: The employee competency program standard for recruiting, selecting, and hiring new employees was inadequate. #9 ECT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Latent Cause Relating to RME#9</a:t>
            </a:r>
          </a:p>
        </p:txBody>
      </p:sp>
    </p:spTree>
    <p:extLst>
      <p:ext uri="{BB962C8B-B14F-4D97-AF65-F5344CB8AC3E}">
        <p14:creationId xmlns:p14="http://schemas.microsoft.com/office/powerpoint/2010/main" val="297433309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a:solidFill>
                  <a:srgbClr val="000000"/>
                </a:solidFill>
                <a:latin typeface="Arial" panose="020B0604020202020204" pitchFamily="34" charset="0"/>
                <a:ea typeface="Arial"/>
                <a:cs typeface="Arial" panose="020B0604020202020204" pitchFamily="34" charset="0"/>
                <a:sym typeface="Arial"/>
              </a:rPr>
              <a:t>RME #1: Management Leadership, Commitment, and Accountability </a:t>
            </a:r>
            <a:endParaRPr sz="1800" b="1" dirty="0">
              <a:solidFill>
                <a:srgbClr val="000000"/>
              </a:solidFill>
              <a:latin typeface="Arial" panose="020B0604020202020204" pitchFamily="34" charset="0"/>
              <a:ea typeface="Arial"/>
              <a:cs typeface="Arial" panose="020B0604020202020204" pitchFamily="34" charset="0"/>
              <a:sym typeface="Arial"/>
            </a:endParaRPr>
          </a:p>
          <a:p>
            <a:pPr marL="742950" lvl="1" indent="-285750" algn="l" rtl="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r>
              <a:rPr lang="en-US" sz="1800" b="1" dirty="0">
                <a:solidFill>
                  <a:srgbClr val="000000"/>
                </a:solidFill>
                <a:latin typeface="Arial" panose="020B0604020202020204" pitchFamily="34" charset="0"/>
                <a:ea typeface="Arial"/>
                <a:cs typeface="Arial" panose="020B0604020202020204" pitchFamily="34" charset="0"/>
                <a:sym typeface="Arial"/>
              </a:rPr>
              <a:t>Corporate Safety Culture: </a:t>
            </a:r>
            <a:r>
              <a:rPr lang="en-US" sz="1800" u="sng" dirty="0">
                <a:solidFill>
                  <a:srgbClr val="000000"/>
                </a:solidFill>
                <a:latin typeface="Arial" panose="020B0604020202020204" pitchFamily="34" charset="0"/>
                <a:ea typeface="Arial"/>
                <a:cs typeface="Arial" panose="020B0604020202020204" pitchFamily="34" charset="0"/>
                <a:sym typeface="Arial"/>
              </a:rPr>
              <a:t>Leadership</a:t>
            </a:r>
            <a:r>
              <a:rPr lang="en-US" sz="1800" dirty="0">
                <a:solidFill>
                  <a:srgbClr val="000000"/>
                </a:solidFill>
                <a:latin typeface="Arial" panose="020B0604020202020204" pitchFamily="34" charset="0"/>
                <a:ea typeface="Arial"/>
                <a:cs typeface="Arial" panose="020B0604020202020204" pitchFamily="34" charset="0"/>
                <a:sym typeface="Arial"/>
              </a:rPr>
              <a:t> influences and </a:t>
            </a:r>
            <a:r>
              <a:rPr lang="en-US" sz="1800" u="sng" dirty="0">
                <a:solidFill>
                  <a:srgbClr val="000000"/>
                </a:solidFill>
                <a:latin typeface="Arial" panose="020B0604020202020204" pitchFamily="34" charset="0"/>
                <a:ea typeface="Arial"/>
                <a:cs typeface="Arial" panose="020B0604020202020204" pitchFamily="34" charset="0"/>
                <a:sym typeface="Arial"/>
              </a:rPr>
              <a:t>drives culture</a:t>
            </a:r>
            <a:r>
              <a:rPr lang="en-US" sz="1800" dirty="0">
                <a:solidFill>
                  <a:srgbClr val="000000"/>
                </a:solidFill>
                <a:latin typeface="Arial" panose="020B0604020202020204" pitchFamily="34" charset="0"/>
                <a:ea typeface="Arial"/>
                <a:cs typeface="Arial" panose="020B0604020202020204" pitchFamily="34" charset="0"/>
                <a:sym typeface="Arial"/>
              </a:rPr>
              <a:t>; </a:t>
            </a:r>
            <a:r>
              <a:rPr lang="en-US" sz="1800" u="sng" dirty="0">
                <a:solidFill>
                  <a:srgbClr val="000000"/>
                </a:solidFill>
                <a:latin typeface="Arial" panose="020B0604020202020204" pitchFamily="34" charset="0"/>
                <a:ea typeface="Arial"/>
                <a:cs typeface="Arial" panose="020B0604020202020204" pitchFamily="34" charset="0"/>
                <a:sym typeface="Arial"/>
              </a:rPr>
              <a:t>values</a:t>
            </a:r>
            <a:r>
              <a:rPr lang="en-US" sz="1800" dirty="0">
                <a:solidFill>
                  <a:srgbClr val="000000"/>
                </a:solidFill>
                <a:latin typeface="Arial" panose="020B0604020202020204" pitchFamily="34" charset="0"/>
                <a:ea typeface="Arial"/>
                <a:cs typeface="Arial" panose="020B0604020202020204" pitchFamily="34" charset="0"/>
                <a:sym typeface="Arial"/>
              </a:rPr>
              <a:t> and </a:t>
            </a:r>
            <a:r>
              <a:rPr lang="en-US" sz="1800" u="sng" dirty="0">
                <a:solidFill>
                  <a:srgbClr val="000000"/>
                </a:solidFill>
                <a:latin typeface="Arial" panose="020B0604020202020204" pitchFamily="34" charset="0"/>
                <a:ea typeface="Arial"/>
                <a:cs typeface="Arial" panose="020B0604020202020204" pitchFamily="34" charset="0"/>
                <a:sym typeface="Arial"/>
              </a:rPr>
              <a:t>actions</a:t>
            </a:r>
            <a:r>
              <a:rPr lang="en-US" sz="1800" dirty="0">
                <a:solidFill>
                  <a:srgbClr val="000000"/>
                </a:solidFill>
                <a:latin typeface="Arial" panose="020B0604020202020204" pitchFamily="34" charset="0"/>
                <a:ea typeface="Arial"/>
                <a:cs typeface="Arial" panose="020B0604020202020204" pitchFamily="34" charset="0"/>
                <a:sym typeface="Arial"/>
              </a:rPr>
              <a:t> define the culture. Both a good culture and sound risk management program are necessary for sustainable performance. </a:t>
            </a: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The concerns of employees and regulators about the TSF were ignored by Imperial Metals management. </a:t>
            </a:r>
          </a:p>
          <a:p>
            <a:pPr marL="360000" lvl="1" indent="-360000" algn="l" rtl="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0" lvl="1" indent="0" algn="l" rtl="0">
              <a:lnSpc>
                <a:spcPct val="90000"/>
              </a:lnSpc>
              <a:spcBef>
                <a:spcPts val="0"/>
              </a:spcBef>
              <a:spcAft>
                <a:spcPts val="0"/>
              </a:spcAft>
              <a:buClr>
                <a:srgbClr val="000000"/>
              </a:buClr>
              <a:buSzPts val="2000"/>
              <a:buNone/>
            </a:pPr>
            <a:r>
              <a:rPr lang="en-US" sz="1800" b="1" dirty="0">
                <a:solidFill>
                  <a:srgbClr val="000000"/>
                </a:solidFill>
                <a:latin typeface="Arial" panose="020B0604020202020204" pitchFamily="34" charset="0"/>
                <a:cs typeface="Arial" panose="020B0604020202020204" pitchFamily="34" charset="0"/>
                <a:sym typeface="Arial"/>
              </a:rPr>
              <a:t>Latent Cause:</a:t>
            </a: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leadership program did not include a management standard to assign responsibility and drive accountability for oversight of the safe TSF operation in addressing safety concerns. #1 MLCA</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Latent Cause Relating to RME#1</a:t>
            </a:r>
          </a:p>
        </p:txBody>
      </p:sp>
    </p:spTree>
    <p:extLst>
      <p:ext uri="{BB962C8B-B14F-4D97-AF65-F5344CB8AC3E}">
        <p14:creationId xmlns:p14="http://schemas.microsoft.com/office/powerpoint/2010/main" val="16687219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a:solidFill>
                  <a:srgbClr val="000000"/>
                </a:solidFill>
                <a:latin typeface="Arial" panose="020B0604020202020204" pitchFamily="34" charset="0"/>
                <a:ea typeface="Arial"/>
                <a:cs typeface="Arial" panose="020B0604020202020204" pitchFamily="34" charset="0"/>
                <a:sym typeface="Arial"/>
              </a:rPr>
              <a:t>What recommendations could you make for each latent cause?</a:t>
            </a:r>
            <a:endParaRPr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leadership program did not include a management plan (standard) to assign responsibility and drive accountability for oversight of the safe TSF operation in addressing safety concerns. #1 MLCA</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risk assessment program did not include a standard to identify and assess hazards of the TSF foundation and hydraulic conditions while the TSF was in operation. #2 RAMR</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ea typeface="Arial"/>
                <a:cs typeface="Arial" panose="020B0604020202020204" pitchFamily="34" charset="0"/>
                <a:sym typeface="Arial"/>
              </a:rPr>
              <a:t>LC-S: The design program standard for applying the factors of safety during the design phase of the TSF project did not reference the necessary calculation guidelines from the Mining Association of Canada. #7 DCSU</a:t>
            </a:r>
          </a:p>
          <a:p>
            <a:pPr marL="360000" lvl="1" indent="-360000">
              <a:lnSpc>
                <a:spcPct val="90000"/>
              </a:lnSpc>
              <a:spcBef>
                <a:spcPts val="0"/>
              </a:spcBef>
              <a:spcAft>
                <a:spcPts val="0"/>
              </a:spcAft>
              <a:buClr>
                <a:srgbClr val="000000"/>
              </a:buClr>
              <a:buSzPts val="2000"/>
              <a:buFont typeface="Noto Sans Symbols"/>
              <a:buChar char="⮚"/>
            </a:pPr>
            <a:endParaRPr lang="en-US" sz="1800" dirty="0">
              <a:solidFill>
                <a:srgbClr val="000000"/>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dirty="0">
                <a:solidFill>
                  <a:srgbClr val="000000"/>
                </a:solidFill>
                <a:latin typeface="Arial" panose="020B0604020202020204" pitchFamily="34" charset="0"/>
                <a:cs typeface="Arial" panose="020B0604020202020204" pitchFamily="34" charset="0"/>
                <a:sym typeface="Arial"/>
              </a:rPr>
              <a:t>LC-S: The employee competency program standard for recruiting, selecting, and hiring new employees was inadequate. #9 ECT </a:t>
            </a:r>
          </a:p>
          <a:p>
            <a:pPr marL="360000" lvl="1" indent="-360000">
              <a:lnSpc>
                <a:spcPct val="90000"/>
              </a:lnSpc>
              <a:spcBef>
                <a:spcPts val="0"/>
              </a:spcBef>
              <a:spcAft>
                <a:spcPts val="0"/>
              </a:spcAft>
              <a:buClr>
                <a:srgbClr val="000000"/>
              </a:buClr>
              <a:buSzPts val="2000"/>
              <a:buFont typeface="Noto Sans Symbols"/>
              <a:buChar char="⮚"/>
            </a:pPr>
            <a:endParaRPr lang="en-US" sz="1800" b="1" dirty="0">
              <a:solidFill>
                <a:srgbClr val="000000"/>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
                <a:srgbClr val="000000"/>
              </a:buClr>
              <a:buSzPts val="2000"/>
              <a:buFont typeface="Noto Sans Symbols"/>
              <a:buChar char="⮚"/>
            </a:pPr>
            <a:r>
              <a:rPr lang="en-US" sz="1800" b="1" dirty="0">
                <a:solidFill>
                  <a:srgbClr val="000000"/>
                </a:solidFill>
                <a:latin typeface="Arial" panose="020B0604020202020204" pitchFamily="34" charset="0"/>
                <a:ea typeface="Arial"/>
                <a:cs typeface="Arial" panose="020B0604020202020204" pitchFamily="34" charset="0"/>
                <a:sym typeface="Arial"/>
              </a:rPr>
              <a:t>We will come back to this – how to make recommendations – later in the term. </a:t>
            </a:r>
            <a:endParaRPr sz="1800" b="1" dirty="0">
              <a:solidFill>
                <a:srgbClr val="CBBEB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Recommendations Based on Latent Causes?</a:t>
            </a:r>
          </a:p>
        </p:txBody>
      </p:sp>
    </p:spTree>
    <p:extLst>
      <p:ext uri="{BB962C8B-B14F-4D97-AF65-F5344CB8AC3E}">
        <p14:creationId xmlns:p14="http://schemas.microsoft.com/office/powerpoint/2010/main" val="410849636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txBox="1">
            <a:spLocks noGrp="1"/>
          </p:cNvSpPr>
          <p:nvPr>
            <p:ph type="body" idx="4294967295"/>
          </p:nvPr>
        </p:nvSpPr>
        <p:spPr>
          <a:xfrm>
            <a:off x="180000" y="828000"/>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indent="0">
              <a:spcBef>
                <a:spcPts val="0"/>
              </a:spcBef>
              <a:spcAft>
                <a:spcPts val="0"/>
              </a:spcAft>
              <a:buClr>
                <a:srgbClr val="000000"/>
              </a:buClr>
              <a:buSzPts val="2000"/>
              <a:buNone/>
            </a:pPr>
            <a:r>
              <a:rPr lang="en-US" sz="1800" b="1" dirty="0">
                <a:solidFill>
                  <a:schemeClr val="tx1"/>
                </a:solidFill>
                <a:latin typeface="Arial" panose="020B0604020202020204" pitchFamily="34" charset="0"/>
                <a:ea typeface="Arial"/>
                <a:cs typeface="Arial" panose="020B0604020202020204" pitchFamily="34" charset="0"/>
                <a:sym typeface="Arial"/>
              </a:rPr>
              <a:t>Incident investigations can result in changes beyond the organization involved in the loss incident!</a:t>
            </a:r>
          </a:p>
          <a:p>
            <a:pPr marL="360000" lvl="0" indent="-360000" algn="l" rtl="0">
              <a:spcBef>
                <a:spcPts val="0"/>
              </a:spcBef>
              <a:spcAft>
                <a:spcPts val="0"/>
              </a:spcAft>
              <a:buClr>
                <a:srgbClr val="000000"/>
              </a:buClr>
              <a:buSzPts val="2000"/>
              <a:buFont typeface="Noto Sans Symbols"/>
              <a:buChar char="⮚"/>
            </a:pP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a:solidFill>
                  <a:schemeClr val="tx1"/>
                </a:solidFill>
                <a:latin typeface="Arial" panose="020B0604020202020204" pitchFamily="34" charset="0"/>
                <a:ea typeface="Arial"/>
                <a:cs typeface="Arial" panose="020B0604020202020204" pitchFamily="34" charset="0"/>
                <a:sym typeface="Arial"/>
              </a:rPr>
              <a:t>As a result of the Mount Polley incident, several changes were made to guidelines and practices for tailings facilities. </a:t>
            </a:r>
          </a:p>
          <a:p>
            <a:pPr marL="360000" lvl="0" indent="-360000" algn="l" rtl="0">
              <a:spcBef>
                <a:spcPts val="0"/>
              </a:spcBef>
              <a:spcAft>
                <a:spcPts val="0"/>
              </a:spcAft>
              <a:buClr>
                <a:srgbClr val="000000"/>
              </a:buClr>
              <a:buSzPts val="2000"/>
              <a:buFont typeface="Noto Sans Symbols"/>
              <a:buChar char="⮚"/>
            </a:pPr>
            <a:endParaRPr lang="en-US" sz="1800" dirty="0">
              <a:solidFill>
                <a:schemeClr val="tx1"/>
              </a:solidFill>
              <a:latin typeface="Arial" panose="020B0604020202020204" pitchFamily="34" charset="0"/>
              <a:ea typeface="Arial"/>
              <a:cs typeface="Arial" panose="020B0604020202020204" pitchFamily="34" charset="0"/>
              <a:sym typeface="Arial"/>
            </a:endParaRPr>
          </a:p>
          <a:p>
            <a:pPr marL="360000" lvl="0" indent="-360000" algn="l" rtl="0">
              <a:spcBef>
                <a:spcPts val="0"/>
              </a:spcBef>
              <a:spcAft>
                <a:spcPts val="0"/>
              </a:spcAft>
              <a:buClr>
                <a:srgbClr val="000000"/>
              </a:buClr>
              <a:buSzPts val="2000"/>
              <a:buFont typeface="Noto Sans Symbols"/>
              <a:buChar char="⮚"/>
            </a:pPr>
            <a:r>
              <a:rPr lang="en-US" sz="1800" dirty="0">
                <a:solidFill>
                  <a:schemeClr val="tx1"/>
                </a:solidFill>
                <a:latin typeface="Arial" panose="020B0604020202020204" pitchFamily="34" charset="0"/>
                <a:ea typeface="Arial"/>
                <a:cs typeface="Arial" panose="020B0604020202020204" pitchFamily="34" charset="0"/>
                <a:sym typeface="Arial"/>
              </a:rPr>
              <a:t>Changes to the Mining Association of Canada’s “A Guide to the Management of Tailings Facilities” (2019) and the B.C. Government’s “Health, Safety and Reclamation Code for Mines in British Columbia” (2017) include: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Requiring an independent review of site selection, design, construction, operation, investigation, and closure for tailings facilities.</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Improved risk assessment methodology, including a risk-based ranking system for non-conformances.</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Additional regulations for managing the change of Engineers of Record and ownership </a:t>
            </a:r>
          </a:p>
          <a:p>
            <a:pPr marL="720000" lvl="1" indent="-360000">
              <a:spcBef>
                <a:spcPts val="0"/>
              </a:spcBef>
              <a:spcAft>
                <a:spcPts val="0"/>
              </a:spcAft>
              <a:buClr>
                <a:srgbClr val="000000"/>
              </a:buClr>
              <a:buSzPts val="2000"/>
              <a:buFont typeface="Noto Sans Symbols"/>
              <a:buChar char="⮚"/>
            </a:pPr>
            <a:r>
              <a:rPr lang="en-US" sz="1800" dirty="0">
                <a:latin typeface="Arial" panose="020B0604020202020204" pitchFamily="34" charset="0"/>
                <a:ea typeface="Arial"/>
                <a:cs typeface="Arial" panose="020B0604020202020204" pitchFamily="34" charset="0"/>
                <a:sym typeface="Arial"/>
              </a:rPr>
              <a:t>More technical guidance for site selection and design </a:t>
            </a:r>
          </a:p>
          <a:p>
            <a:pPr marL="720000" lvl="1" indent="-360000">
              <a:spcBef>
                <a:spcPts val="0"/>
              </a:spcBef>
              <a:spcAft>
                <a:spcPts val="0"/>
              </a:spcAft>
              <a:buClr>
                <a:srgbClr val="000000"/>
              </a:buClr>
              <a:buSzPts val="2000"/>
              <a:buFont typeface="Noto Sans Symbols"/>
              <a:buChar char="⮚"/>
            </a:pPr>
            <a:endParaRPr lang="en-US" sz="1800" dirty="0">
              <a:latin typeface="Arial" panose="020B0604020202020204" pitchFamily="34" charset="0"/>
              <a:ea typeface="Arial"/>
              <a:cs typeface="Arial" panose="020B0604020202020204" pitchFamily="34" charset="0"/>
              <a:sym typeface="Arial"/>
            </a:endParaRPr>
          </a:p>
          <a:p>
            <a:pPr marL="0" lvl="1" indent="0">
              <a:spcBef>
                <a:spcPts val="0"/>
              </a:spcBef>
              <a:spcAft>
                <a:spcPts val="0"/>
              </a:spcAft>
              <a:buClr>
                <a:srgbClr val="000000"/>
              </a:buClr>
              <a:buSzPts val="2000"/>
              <a:buNone/>
            </a:pPr>
            <a:r>
              <a:rPr lang="en-US" sz="1800" b="1" i="1" dirty="0">
                <a:latin typeface="Arial" panose="020B0604020202020204" pitchFamily="34" charset="0"/>
                <a:ea typeface="Arial"/>
                <a:cs typeface="Arial" panose="020B0604020202020204" pitchFamily="34" charset="0"/>
                <a:sym typeface="Arial"/>
              </a:rPr>
              <a:t>But for the purposes of your Team project, limit latent causes (and recommendations to what is within the scope of The ABC Conglomerate). </a:t>
            </a: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Mount </a:t>
            </a:r>
            <a:r>
              <a:rPr lang="en-US" altLang="en-US" sz="2400" b="0" dirty="0" err="1">
                <a:solidFill>
                  <a:schemeClr val="accent2"/>
                </a:solidFill>
                <a:latin typeface="Arial" panose="020B0604020202020204" pitchFamily="34" charset="0"/>
                <a:ea typeface="+mj-ea"/>
                <a:cs typeface="Arial" panose="020B0604020202020204" pitchFamily="34" charset="0"/>
              </a:rPr>
              <a:t>Polley</a:t>
            </a:r>
            <a:r>
              <a:rPr lang="en-US" altLang="en-US" sz="2400" b="0" dirty="0">
                <a:solidFill>
                  <a:schemeClr val="accent2"/>
                </a:solidFill>
                <a:latin typeface="Arial" panose="020B0604020202020204" pitchFamily="34" charset="0"/>
                <a:ea typeface="+mj-ea"/>
                <a:cs typeface="Arial" panose="020B0604020202020204" pitchFamily="34" charset="0"/>
              </a:rPr>
              <a:t> LI: Impact on the Mining Industry</a:t>
            </a:r>
          </a:p>
        </p:txBody>
      </p:sp>
    </p:spTree>
    <p:extLst>
      <p:ext uri="{BB962C8B-B14F-4D97-AF65-F5344CB8AC3E}">
        <p14:creationId xmlns:p14="http://schemas.microsoft.com/office/powerpoint/2010/main" val="19182190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2" name="Picture 1" descr="&lt;strong&gt;Looking Into The Future&lt;/strong&gt; Stock Photo - Download Image Now ..."/>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0" y="216000"/>
            <a:ext cx="2587752" cy="1726010"/>
          </a:xfrm>
          <a:prstGeom prst="rect">
            <a:avLst/>
          </a:prstGeom>
        </p:spPr>
      </p:pic>
      <p:sp>
        <p:nvSpPr>
          <p:cNvPr id="329" name="Google Shape;329;p19"/>
          <p:cNvSpPr txBox="1">
            <a:spLocks noGrp="1"/>
          </p:cNvSpPr>
          <p:nvPr>
            <p:ph type="body" idx="4294967295"/>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p>
            <a:pPr marL="0" indent="0">
              <a:lnSpc>
                <a:spcPct val="90000"/>
              </a:lnSpc>
              <a:spcBef>
                <a:spcPts val="0"/>
              </a:spcBef>
              <a:spcAft>
                <a:spcPts val="0"/>
              </a:spcAft>
              <a:buClr>
                <a:srgbClr val="000000"/>
              </a:buClr>
              <a:buSzPts val="2000"/>
              <a:buNone/>
            </a:pPr>
            <a:r>
              <a:rPr lang="en-US" sz="1600" b="1" dirty="0">
                <a:solidFill>
                  <a:schemeClr val="tx1"/>
                </a:solidFill>
                <a:latin typeface="Arial" panose="020B0604020202020204" pitchFamily="34" charset="0"/>
                <a:ea typeface="Arial"/>
                <a:cs typeface="Arial" panose="020B0604020202020204" pitchFamily="34" charset="0"/>
                <a:sym typeface="Arial"/>
              </a:rPr>
              <a:t>Q: Will you ever be in this situation?</a:t>
            </a:r>
          </a:p>
          <a:p>
            <a:pPr marL="0" lvl="0" indent="0">
              <a:lnSpc>
                <a:spcPct val="90000"/>
              </a:lnSpc>
              <a:spcBef>
                <a:spcPts val="0"/>
              </a:spcBef>
              <a:spcAft>
                <a:spcPts val="0"/>
              </a:spcAft>
              <a:buClr>
                <a:srgbClr val="000000"/>
              </a:buClr>
              <a:buSzPts val="2000"/>
              <a:buNone/>
            </a:pPr>
            <a:endParaRPr lang="en-US" sz="1600"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“Seven years after Canada's largest tailings spill, the </a:t>
            </a:r>
            <a:r>
              <a:rPr lang="en-US" sz="1600" b="1" i="1" dirty="0">
                <a:solidFill>
                  <a:schemeClr val="tx1"/>
                </a:solidFill>
                <a:latin typeface="Arial" panose="020B0604020202020204" pitchFamily="34" charset="0"/>
                <a:ea typeface="Arial"/>
                <a:cs typeface="Arial" panose="020B0604020202020204" pitchFamily="34" charset="0"/>
                <a:sym typeface="Arial"/>
              </a:rPr>
              <a:t>two engineers who </a:t>
            </a:r>
            <a:br>
              <a:rPr lang="en-US" sz="1600" b="1" i="1" dirty="0">
                <a:solidFill>
                  <a:schemeClr val="tx1"/>
                </a:solidFill>
                <a:latin typeface="Arial" panose="020B0604020202020204" pitchFamily="34" charset="0"/>
                <a:ea typeface="Arial"/>
                <a:cs typeface="Arial" panose="020B0604020202020204" pitchFamily="34" charset="0"/>
                <a:sym typeface="Arial"/>
              </a:rPr>
            </a:br>
            <a:r>
              <a:rPr lang="en-US" sz="1600" b="1" i="1" dirty="0">
                <a:solidFill>
                  <a:schemeClr val="tx1"/>
                </a:solidFill>
                <a:latin typeface="Arial" panose="020B0604020202020204" pitchFamily="34" charset="0"/>
                <a:ea typeface="Arial"/>
                <a:cs typeface="Arial" panose="020B0604020202020204" pitchFamily="34" charset="0"/>
                <a:sym typeface="Arial"/>
              </a:rPr>
              <a:t>were involved have been found in breach of their professional codes </a:t>
            </a:r>
            <a:br>
              <a:rPr lang="en-US" sz="1600" b="1" i="1" dirty="0">
                <a:solidFill>
                  <a:schemeClr val="tx1"/>
                </a:solidFill>
                <a:latin typeface="Arial" panose="020B0604020202020204" pitchFamily="34" charset="0"/>
                <a:ea typeface="Arial"/>
                <a:cs typeface="Arial" panose="020B0604020202020204" pitchFamily="34" charset="0"/>
                <a:sym typeface="Arial"/>
              </a:rPr>
            </a:br>
            <a:r>
              <a:rPr lang="en-US" sz="1600" b="1" i="1" dirty="0">
                <a:solidFill>
                  <a:schemeClr val="tx1"/>
                </a:solidFill>
                <a:latin typeface="Arial" panose="020B0604020202020204" pitchFamily="34" charset="0"/>
                <a:ea typeface="Arial"/>
                <a:cs typeface="Arial" panose="020B0604020202020204" pitchFamily="34" charset="0"/>
                <a:sym typeface="Arial"/>
              </a:rPr>
              <a:t>of conduct</a:t>
            </a:r>
            <a:r>
              <a:rPr lang="en-US" sz="1600" i="1" dirty="0">
                <a:solidFill>
                  <a:schemeClr val="tx1"/>
                </a:solidFill>
                <a:latin typeface="Arial" panose="020B0604020202020204" pitchFamily="34" charset="0"/>
                <a:ea typeface="Arial"/>
                <a:cs typeface="Arial" panose="020B0604020202020204" pitchFamily="34" charset="0"/>
                <a:sym typeface="Arial"/>
              </a:rPr>
              <a:t>,  Engineers and Geoscientists of British Columbia (EGBC)</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The panel found that both Rice and Fidel </a:t>
            </a:r>
            <a:r>
              <a:rPr lang="en-US" sz="1600" b="1" i="1" dirty="0">
                <a:solidFill>
                  <a:schemeClr val="tx1"/>
                </a:solidFill>
                <a:highlight>
                  <a:srgbClr val="FFFF00"/>
                </a:highlight>
                <a:latin typeface="Arial" panose="020B0604020202020204" pitchFamily="34" charset="0"/>
                <a:ea typeface="Arial"/>
                <a:cs typeface="Arial" panose="020B0604020202020204" pitchFamily="34" charset="0"/>
                <a:sym typeface="Arial"/>
              </a:rPr>
              <a:t>demonstrated unprofessional conduct</a:t>
            </a:r>
            <a:r>
              <a:rPr lang="en-US" sz="1600" b="1" i="1" dirty="0">
                <a:solidFill>
                  <a:schemeClr val="tx1"/>
                </a:solidFill>
                <a:latin typeface="Arial" panose="020B0604020202020204" pitchFamily="34" charset="0"/>
                <a:ea typeface="Arial"/>
                <a:cs typeface="Arial" panose="020B0604020202020204" pitchFamily="34" charset="0"/>
                <a:sym typeface="Arial"/>
              </a:rPr>
              <a:t> </a:t>
            </a:r>
            <a:r>
              <a:rPr lang="en-US" sz="1600" i="1" dirty="0">
                <a:solidFill>
                  <a:schemeClr val="tx1"/>
                </a:solidFill>
                <a:latin typeface="Arial" panose="020B0604020202020204" pitchFamily="34" charset="0"/>
                <a:ea typeface="Arial"/>
                <a:cs typeface="Arial" panose="020B0604020202020204" pitchFamily="34" charset="0"/>
                <a:sym typeface="Arial"/>
              </a:rPr>
              <a:t>in the course of their work at the mine.  …</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EGBC reported that a discipline hearing panel had imposed a </a:t>
            </a:r>
            <a:r>
              <a:rPr lang="en-US" sz="1600" b="1" i="1" dirty="0">
                <a:solidFill>
                  <a:schemeClr val="tx1"/>
                </a:solidFill>
                <a:latin typeface="Arial" panose="020B0604020202020204" pitchFamily="34" charset="0"/>
                <a:ea typeface="Arial"/>
                <a:cs typeface="Arial" panose="020B0604020202020204" pitchFamily="34" charset="0"/>
                <a:sym typeface="Arial"/>
              </a:rPr>
              <a:t>maximum fine of $25,000 against Rice</a:t>
            </a:r>
            <a:r>
              <a:rPr lang="en-US" sz="1600" i="1" dirty="0">
                <a:solidFill>
                  <a:schemeClr val="tx1"/>
                </a:solidFill>
                <a:latin typeface="Arial" panose="020B0604020202020204" pitchFamily="34" charset="0"/>
                <a:ea typeface="Arial"/>
                <a:cs typeface="Arial" panose="020B0604020202020204" pitchFamily="34" charset="0"/>
                <a:sym typeface="Arial"/>
              </a:rPr>
              <a:t>, who resigned in 2018. Rice also agreed to pay </a:t>
            </a:r>
            <a:r>
              <a:rPr lang="en-US" sz="1600" b="1" i="1" dirty="0">
                <a:solidFill>
                  <a:schemeClr val="tx1"/>
                </a:solidFill>
                <a:latin typeface="Arial" panose="020B0604020202020204" pitchFamily="34" charset="0"/>
                <a:ea typeface="Arial"/>
                <a:cs typeface="Arial" panose="020B0604020202020204" pitchFamily="34" charset="0"/>
                <a:sym typeface="Arial"/>
              </a:rPr>
              <a:t>$107,500 dollars in legal costs </a:t>
            </a:r>
            <a:r>
              <a:rPr lang="en-US" sz="1600" i="1" dirty="0">
                <a:solidFill>
                  <a:schemeClr val="tx1"/>
                </a:solidFill>
                <a:latin typeface="Arial" panose="020B0604020202020204" pitchFamily="34" charset="0"/>
                <a:ea typeface="Arial"/>
                <a:cs typeface="Arial" panose="020B0604020202020204" pitchFamily="34" charset="0"/>
                <a:sym typeface="Arial"/>
              </a:rPr>
              <a:t>to the association and is </a:t>
            </a:r>
            <a:r>
              <a:rPr lang="en-US" sz="1600" i="1" dirty="0">
                <a:solidFill>
                  <a:schemeClr val="tx1"/>
                </a:solidFill>
                <a:highlight>
                  <a:srgbClr val="FFFF00"/>
                </a:highlight>
                <a:latin typeface="Arial" panose="020B0604020202020204" pitchFamily="34" charset="0"/>
                <a:ea typeface="Arial"/>
                <a:cs typeface="Arial" panose="020B0604020202020204" pitchFamily="34" charset="0"/>
                <a:sym typeface="Arial"/>
              </a:rPr>
              <a:t>no longer permitted to practice</a:t>
            </a:r>
            <a:r>
              <a:rPr lang="en-US" sz="1600" i="1" dirty="0">
                <a:solidFill>
                  <a:schemeClr val="tx1"/>
                </a:solidFill>
                <a:latin typeface="Arial" panose="020B0604020202020204" pitchFamily="34" charset="0"/>
                <a:ea typeface="Arial"/>
                <a:cs typeface="Arial" panose="020B0604020202020204" pitchFamily="34" charset="0"/>
                <a:sym typeface="Arial"/>
              </a:rPr>
              <a:t> as a </a:t>
            </a:r>
            <a:r>
              <a:rPr lang="en-US" sz="1600" i="1" dirty="0">
                <a:solidFill>
                  <a:schemeClr val="tx1"/>
                </a:solidFill>
                <a:highlight>
                  <a:srgbClr val="FFFF00"/>
                </a:highlight>
                <a:latin typeface="Arial" panose="020B0604020202020204" pitchFamily="34" charset="0"/>
                <a:ea typeface="Arial"/>
                <a:cs typeface="Arial" panose="020B0604020202020204" pitchFamily="34" charset="0"/>
                <a:sym typeface="Arial"/>
              </a:rPr>
              <a:t>professional engineer in the province</a:t>
            </a:r>
            <a:r>
              <a:rPr lang="en-US" sz="1600" i="1" dirty="0">
                <a:solidFill>
                  <a:schemeClr val="tx1"/>
                </a:solidFill>
                <a:latin typeface="Arial" panose="020B0604020202020204" pitchFamily="34" charset="0"/>
                <a:ea typeface="Arial"/>
                <a:cs typeface="Arial" panose="020B0604020202020204" pitchFamily="34" charset="0"/>
                <a:sym typeface="Arial"/>
              </a:rPr>
              <a:t>.</a:t>
            </a:r>
          </a:p>
          <a:p>
            <a:pPr marL="0" lvl="0" indent="0">
              <a:lnSpc>
                <a:spcPct val="90000"/>
              </a:lnSpc>
              <a:spcBef>
                <a:spcPts val="0"/>
              </a:spcBef>
              <a:spcAft>
                <a:spcPts val="0"/>
              </a:spcAft>
              <a:buClr>
                <a:srgbClr val="000000"/>
              </a:buClr>
              <a:buSzPts val="2000"/>
              <a:buNone/>
            </a:pPr>
            <a:endParaRPr lang="en-US" sz="1600" i="1" dirty="0">
              <a:solidFill>
                <a:schemeClr val="tx1"/>
              </a:solidFill>
              <a:latin typeface="Arial" panose="020B0604020202020204" pitchFamily="34" charset="0"/>
              <a:ea typeface="Arial"/>
              <a:cs typeface="Arial" panose="020B0604020202020204" pitchFamily="34" charset="0"/>
              <a:sym typeface="Arial"/>
            </a:endParaRPr>
          </a:p>
          <a:p>
            <a:pPr marL="0" lvl="0" indent="0">
              <a:lnSpc>
                <a:spcPct val="90000"/>
              </a:lnSpc>
              <a:spcBef>
                <a:spcPts val="0"/>
              </a:spcBef>
              <a:spcAft>
                <a:spcPts val="0"/>
              </a:spcAft>
              <a:buClr>
                <a:srgbClr val="000000"/>
              </a:buClr>
              <a:buSzPts val="2000"/>
              <a:buNone/>
            </a:pPr>
            <a:r>
              <a:rPr lang="en-US" sz="1600" i="1" dirty="0">
                <a:solidFill>
                  <a:schemeClr val="tx1"/>
                </a:solidFill>
                <a:latin typeface="Arial" panose="020B0604020202020204" pitchFamily="34" charset="0"/>
                <a:ea typeface="Arial"/>
                <a:cs typeface="Arial" panose="020B0604020202020204" pitchFamily="34" charset="0"/>
                <a:sym typeface="Arial"/>
              </a:rPr>
              <a:t>A separate discipline hearing panel found that Fidel also committed several acts of unprofessional conduct.”</a:t>
            </a:r>
          </a:p>
          <a:p>
            <a:pPr marL="0" lvl="0" indent="0">
              <a:lnSpc>
                <a:spcPct val="90000"/>
              </a:lnSpc>
              <a:spcBef>
                <a:spcPts val="0"/>
              </a:spcBef>
              <a:spcAft>
                <a:spcPts val="0"/>
              </a:spcAft>
              <a:buClr>
                <a:srgbClr val="000000"/>
              </a:buClr>
              <a:buSzPts val="2000"/>
              <a:buNone/>
            </a:pPr>
            <a:r>
              <a:rPr lang="en-US" sz="1100" dirty="0">
                <a:solidFill>
                  <a:schemeClr val="tx1"/>
                </a:solidFill>
                <a:latin typeface="Arial" panose="020B0604020202020204" pitchFamily="34" charset="0"/>
                <a:ea typeface="Arial"/>
                <a:cs typeface="Arial" panose="020B0604020202020204" pitchFamily="34" charset="0"/>
                <a:sym typeface="Arial"/>
              </a:rPr>
              <a:t>https://www.cbc.ca/news/canada/british-columbia/discipline-engineers-mount-polley-mine-waste-quesnel-lake-1.6137265</a:t>
            </a: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600" b="1" dirty="0">
                <a:solidFill>
                  <a:schemeClr val="tx1"/>
                </a:solidFill>
                <a:latin typeface="Arial" panose="020B0604020202020204" pitchFamily="34" charset="0"/>
                <a:ea typeface="Arial"/>
                <a:cs typeface="Arial" panose="020B0604020202020204" pitchFamily="34" charset="0"/>
                <a:sym typeface="Arial"/>
              </a:rPr>
              <a:t>A: Not when practicing the principles and practices of “Leadership in Risk Management”, a key competency!</a:t>
            </a:r>
          </a:p>
          <a:p>
            <a:pPr marL="0" indent="0">
              <a:lnSpc>
                <a:spcPct val="90000"/>
              </a:lnSpc>
              <a:spcBef>
                <a:spcPts val="0"/>
              </a:spcBef>
              <a:spcAft>
                <a:spcPts val="0"/>
              </a:spcAft>
              <a:buClr>
                <a:srgbClr val="000000"/>
              </a:buClr>
              <a:buSzPts val="2000"/>
              <a:buNone/>
            </a:pPr>
            <a:endParaRPr lang="en-US" sz="1600" b="1" dirty="0">
              <a:solidFill>
                <a:schemeClr val="tx1"/>
              </a:solidFill>
              <a:latin typeface="Arial" panose="020B0604020202020204" pitchFamily="34" charset="0"/>
              <a:ea typeface="Arial"/>
              <a:cs typeface="Arial" panose="020B0604020202020204" pitchFamily="34" charset="0"/>
              <a:sym typeface="Arial"/>
            </a:endParaRPr>
          </a:p>
          <a:p>
            <a:pPr marL="0" indent="0">
              <a:lnSpc>
                <a:spcPct val="90000"/>
              </a:lnSpc>
              <a:spcBef>
                <a:spcPts val="0"/>
              </a:spcBef>
              <a:spcAft>
                <a:spcPts val="0"/>
              </a:spcAft>
              <a:buClr>
                <a:srgbClr val="000000"/>
              </a:buClr>
              <a:buSzPts val="2000"/>
              <a:buNone/>
            </a:pPr>
            <a:r>
              <a:rPr lang="en-US" sz="1800" b="1" i="1" dirty="0">
                <a:solidFill>
                  <a:srgbClr val="0000FF"/>
                </a:solidFill>
                <a:latin typeface="Arial" panose="020B0604020202020204" pitchFamily="34" charset="0"/>
                <a:ea typeface="Arial"/>
                <a:cs typeface="Arial" panose="020B0604020202020204" pitchFamily="34" charset="0"/>
                <a:sym typeface="Arial"/>
              </a:rPr>
              <a:t>We will revisit ethics and professional conduct later in the term.</a:t>
            </a:r>
          </a:p>
          <a:p>
            <a:pPr marL="0" indent="0">
              <a:lnSpc>
                <a:spcPct val="90000"/>
              </a:lnSpc>
              <a:spcBef>
                <a:spcPts val="0"/>
              </a:spcBef>
              <a:spcAft>
                <a:spcPts val="0"/>
              </a:spcAft>
              <a:buClr>
                <a:srgbClr val="000000"/>
              </a:buClr>
              <a:buSzPts val="2000"/>
              <a:buNone/>
            </a:pPr>
            <a:endParaRPr lang="en-US" sz="1600" dirty="0">
              <a:solidFill>
                <a:schemeClr val="tx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
        <p:nvSpPr>
          <p:cNvPr id="6"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Look into the future about your career …</a:t>
            </a:r>
          </a:p>
        </p:txBody>
      </p:sp>
    </p:spTree>
    <p:extLst>
      <p:ext uri="{BB962C8B-B14F-4D97-AF65-F5344CB8AC3E}">
        <p14:creationId xmlns:p14="http://schemas.microsoft.com/office/powerpoint/2010/main" val="272201149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It is vital to combat complacency in all aspects of risk management.</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quickly does management address identified deficiencies? Are responsibilities embraced or deflected to others?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#1 MLCA Management Leadership, Commitment, and Accountability</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How are hazards identified and assessed throughout the facility lifecycle? Is this system embedded throughout the organization?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#2 RAMR Risk Assessment and Management of Risks </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accepted standards of practice used for risk assessment during design and other stages? Can the certainty and confidence in obtained results be reasonably justified? </a:t>
            </a:r>
          </a:p>
          <a:p>
            <a:pPr marL="72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#7 DCSU Design, Construction and Start-up</a:t>
            </a:r>
          </a:p>
          <a:p>
            <a:pPr marL="36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pPr>
            <a:r>
              <a:rPr lang="en-US" altLang="en-US" sz="1800" b="0" dirty="0">
                <a:latin typeface="Arial" panose="020B0604020202020204" pitchFamily="34" charset="0"/>
                <a:ea typeface="ＭＳ Ｐゴシック" panose="020B0600070205080204" pitchFamily="34" charset="-128"/>
                <a:cs typeface="Arial" panose="020B0604020202020204" pitchFamily="34" charset="0"/>
              </a:rPr>
              <a:t>Are employees fully trained and qualified for their roles? Does management have an effective training program in place?   </a:t>
            </a:r>
          </a:p>
          <a:p>
            <a:pPr marL="720000" lvl="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#9 ECT Employee Competency and Training</a:t>
            </a:r>
          </a:p>
          <a:p>
            <a:pPr marL="720000" lvl="0" indent="-360000" eaLnBrk="0" hangingPunct="0">
              <a:lnSpc>
                <a:spcPct val="90000"/>
              </a:lnSpc>
              <a:spcBef>
                <a:spcPts val="0"/>
              </a:spcBef>
              <a:buClrTx/>
              <a:buSzPct val="100000"/>
              <a:buFont typeface="Wingdings" panose="05000000000000000000" pitchFamily="2" charset="2"/>
              <a:buChar char="Ø"/>
            </a:pP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90000"/>
              </a:lnSpc>
              <a:spcBef>
                <a:spcPts val="0"/>
              </a:spcBef>
              <a:buClrTx/>
              <a:buSzPct val="100000"/>
              <a:buFont typeface="Wingdings" panose="05000000000000000000" pitchFamily="2" charset="2"/>
              <a:buChar char="Ø"/>
            </a:pPr>
            <a:r>
              <a:rPr lang="en-US" altLang="en-US" sz="1800" dirty="0">
                <a:latin typeface="Arial" panose="020B0604020202020204" pitchFamily="34" charset="0"/>
                <a:ea typeface="ＭＳ Ｐゴシック" panose="020B0600070205080204" pitchFamily="34" charset="-128"/>
                <a:cs typeface="Arial" panose="020B0604020202020204" pitchFamily="34" charset="0"/>
              </a:rPr>
              <a:t>Lastly, the key lesson is applying the RM principles, practices, and concepts to </a:t>
            </a:r>
            <a:r>
              <a:rPr lang="en-US" altLang="en-US" sz="1800" dirty="0" err="1">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dirty="0">
                <a:latin typeface="Arial" panose="020B0604020202020204" pitchFamily="34" charset="0"/>
                <a:ea typeface="ＭＳ Ｐゴシック" panose="020B0600070205080204" pitchFamily="34" charset="-128"/>
                <a:cs typeface="Arial" panose="020B0604020202020204" pitchFamily="34" charset="0"/>
              </a:rPr>
              <a:t> a case study / loss incident!</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Summary and Key Lessons:</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a:solidFill>
                  <a:srgbClr val="000000"/>
                </a:solidFill>
                <a:ea typeface="Times New Roman"/>
                <a:cs typeface="Arial" panose="020B0604020202020204" pitchFamily="34" charset="0"/>
                <a:sym typeface="Times New Roman"/>
              </a:rPr>
              <a:t>Case 5 Mount </a:t>
            </a:r>
            <a:r>
              <a:rPr lang="en-US" sz="1200" i="1" kern="0" dirty="0" err="1">
                <a:solidFill>
                  <a:srgbClr val="000000"/>
                </a:solidFill>
                <a:ea typeface="Times New Roman"/>
                <a:cs typeface="Arial" panose="020B0604020202020204" pitchFamily="34" charset="0"/>
                <a:sym typeface="Times New Roman"/>
              </a:rPr>
              <a:t>Polley</a:t>
            </a:r>
            <a:r>
              <a:rPr lang="en-US" sz="1200" i="1" kern="0" dirty="0">
                <a:solidFill>
                  <a:srgbClr val="000000"/>
                </a:solidFill>
                <a:ea typeface="Times New Roman"/>
                <a:cs typeface="Arial" panose="020B0604020202020204" pitchFamily="34" charset="0"/>
                <a:sym typeface="Times New Roman"/>
              </a:rPr>
              <a:t> LI</a:t>
            </a: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bg1"/>
                </a:solidFill>
                <a:latin typeface="Arial" panose="020B0604020202020204" pitchFamily="34" charset="0"/>
                <a:ea typeface="+mj-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70376</TotalTime>
  <Words>1954</Words>
  <Application>Microsoft Office PowerPoint</Application>
  <PresentationFormat>On-screen Show (4:3)</PresentationFormat>
  <Paragraphs>270</Paragraphs>
  <Slides>18</Slides>
  <Notes>18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Noto Sans Symbols</vt:lpstr>
      <vt:lpstr>Arial</vt:lpstr>
      <vt:lpstr>Calibri</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Li Dekr0</cp:lastModifiedBy>
  <cp:revision>1972</cp:revision>
  <cp:lastPrinted>2018-12-17T22:21:47Z</cp:lastPrinted>
  <dcterms:created xsi:type="dcterms:W3CDTF">2007-03-28T16:18:47Z</dcterms:created>
  <dcterms:modified xsi:type="dcterms:W3CDTF">2022-07-08T05:09:52Z</dcterms:modified>
</cp:coreProperties>
</file>