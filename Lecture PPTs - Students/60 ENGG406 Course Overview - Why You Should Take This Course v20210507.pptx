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841" r:id="rId2"/>
    <p:sldId id="842" r:id="rId3"/>
    <p:sldId id="843" r:id="rId4"/>
    <p:sldId id="844" r:id="rId5"/>
    <p:sldId id="845" r:id="rId6"/>
    <p:sldId id="846" r:id="rId7"/>
    <p:sldId id="847" r:id="rId8"/>
    <p:sldId id="848" r:id="rId9"/>
    <p:sldId id="849" r:id="rId10"/>
    <p:sldId id="850" r:id="rId1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  <p:cmAuthor id="1" name="Norman Nibber" initials="NN" lastIdx="1" clrIdx="1">
    <p:extLst>
      <p:ext uri="{19B8F6BF-5375-455C-9EA6-DF929625EA0E}">
        <p15:presenceInfo xmlns:p15="http://schemas.microsoft.com/office/powerpoint/2012/main" userId="39593923ee316fcb" providerId="Windows Live"/>
      </p:ext>
    </p:extLst>
  </p:cmAuthor>
  <p:cmAuthor id="2" name="Christopher Coles" initials="CC" lastIdx="1" clrIdx="2">
    <p:extLst>
      <p:ext uri="{19B8F6BF-5375-455C-9EA6-DF929625EA0E}">
        <p15:presenceInfo xmlns:p15="http://schemas.microsoft.com/office/powerpoint/2012/main" userId="Christopher Col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F5D7F1"/>
    <a:srgbClr val="5F5F5F"/>
    <a:srgbClr val="F8F8F8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5" autoAdjust="0"/>
    <p:restoredTop sz="95841" autoAdjust="0"/>
  </p:normalViewPr>
  <p:slideViewPr>
    <p:cSldViewPr>
      <p:cViewPr varScale="1">
        <p:scale>
          <a:sx n="66" d="100"/>
          <a:sy n="66" d="100"/>
        </p:scale>
        <p:origin x="1464" y="40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-1218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116E40-189D-4864-913A-67CD8353692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0BBCA7-35A7-4B4F-AB63-D3B11D203E66}">
      <dgm:prSet phldrT="[Text]" custT="1"/>
      <dgm:spPr/>
      <dgm:t>
        <a:bodyPr/>
        <a:lstStyle/>
        <a:p>
          <a:r>
            <a:rPr lang="en-US" sz="1200" b="1" dirty="0" smtClean="0">
              <a:solidFill>
                <a:schemeClr val="tx1"/>
              </a:solidFill>
            </a:rPr>
            <a:t>Hazards</a:t>
          </a:r>
          <a:endParaRPr lang="en-US" sz="1200" b="1" dirty="0">
            <a:solidFill>
              <a:schemeClr val="tx1"/>
            </a:solidFill>
          </a:endParaRPr>
        </a:p>
      </dgm:t>
    </dgm:pt>
    <dgm:pt modelId="{D2CA9FAC-4FAA-4FFD-B442-FFF373243A86}" type="parTrans" cxnId="{DE22EFBF-A628-44EB-B69B-278388BD2450}">
      <dgm:prSet/>
      <dgm:spPr/>
      <dgm:t>
        <a:bodyPr/>
        <a:lstStyle/>
        <a:p>
          <a:endParaRPr lang="en-US" sz="1200"/>
        </a:p>
      </dgm:t>
    </dgm:pt>
    <dgm:pt modelId="{693CD534-059E-4299-B768-3411BAA832B4}" type="sibTrans" cxnId="{DE22EFBF-A628-44EB-B69B-278388BD2450}">
      <dgm:prSet/>
      <dgm:spPr/>
      <dgm:t>
        <a:bodyPr/>
        <a:lstStyle/>
        <a:p>
          <a:endParaRPr lang="en-US" sz="1200"/>
        </a:p>
      </dgm:t>
    </dgm:pt>
    <dgm:pt modelId="{1B9B3943-0184-4E68-AB2F-119B76EF4A0A}">
      <dgm:prSet phldrT="[Text]" custT="1"/>
      <dgm:spPr/>
      <dgm:t>
        <a:bodyPr/>
        <a:lstStyle/>
        <a:p>
          <a:r>
            <a:rPr lang="en-US" sz="1200" dirty="0" smtClean="0"/>
            <a:t>Risk Based Process Safety; Hazard ID; Risk Management Concepts; Fires, Explosions &amp; Releases</a:t>
          </a:r>
          <a:endParaRPr lang="en-US" sz="1200" dirty="0"/>
        </a:p>
      </dgm:t>
    </dgm:pt>
    <dgm:pt modelId="{F8678E8A-3D3D-479F-8EBA-3B38E9E23748}" type="parTrans" cxnId="{98885E0F-931F-46AC-92D0-26723F5FDF4C}">
      <dgm:prSet/>
      <dgm:spPr/>
      <dgm:t>
        <a:bodyPr/>
        <a:lstStyle/>
        <a:p>
          <a:endParaRPr lang="en-US" sz="1200"/>
        </a:p>
      </dgm:t>
    </dgm:pt>
    <dgm:pt modelId="{38F11F53-43D1-4137-A25D-D0342DCD8DD8}" type="sibTrans" cxnId="{98885E0F-931F-46AC-92D0-26723F5FDF4C}">
      <dgm:prSet/>
      <dgm:spPr/>
      <dgm:t>
        <a:bodyPr/>
        <a:lstStyle/>
        <a:p>
          <a:endParaRPr lang="en-US" sz="1200"/>
        </a:p>
      </dgm:t>
    </dgm:pt>
    <dgm:pt modelId="{C94ACF8A-196C-4C2E-88A5-882940226F70}">
      <dgm:prSet phldrT="[Text]" custT="1"/>
      <dgm:spPr/>
      <dgm:t>
        <a:bodyPr/>
        <a:lstStyle/>
        <a:p>
          <a:r>
            <a:rPr lang="en-US" sz="1200" b="1" dirty="0" smtClean="0">
              <a:solidFill>
                <a:schemeClr val="tx1"/>
              </a:solidFill>
            </a:rPr>
            <a:t>Inherent Safety</a:t>
          </a:r>
          <a:endParaRPr lang="en-US" sz="1200" b="1" dirty="0">
            <a:solidFill>
              <a:schemeClr val="tx1"/>
            </a:solidFill>
          </a:endParaRPr>
        </a:p>
      </dgm:t>
    </dgm:pt>
    <dgm:pt modelId="{4E232641-D152-479E-BE39-8B229232E766}" type="parTrans" cxnId="{CDCBC9AA-BC9A-4C1A-AC33-F5DCEC7A5DFD}">
      <dgm:prSet/>
      <dgm:spPr/>
      <dgm:t>
        <a:bodyPr/>
        <a:lstStyle/>
        <a:p>
          <a:endParaRPr lang="en-US" sz="1200"/>
        </a:p>
      </dgm:t>
    </dgm:pt>
    <dgm:pt modelId="{114BAB5E-CFF4-4FED-9551-D241586A285B}" type="sibTrans" cxnId="{CDCBC9AA-BC9A-4C1A-AC33-F5DCEC7A5DFD}">
      <dgm:prSet/>
      <dgm:spPr/>
      <dgm:t>
        <a:bodyPr/>
        <a:lstStyle/>
        <a:p>
          <a:endParaRPr lang="en-US" sz="1200"/>
        </a:p>
      </dgm:t>
    </dgm:pt>
    <dgm:pt modelId="{9A21D2A8-E7A9-4352-AD85-00AB4D151CBB}">
      <dgm:prSet phldrT="[Text]" custT="1"/>
      <dgm:spPr/>
      <dgm:t>
        <a:bodyPr/>
        <a:lstStyle/>
        <a:p>
          <a:r>
            <a:rPr lang="en-US" sz="1200" dirty="0" smtClean="0"/>
            <a:t>Inherently Safer Design; Bhopal Loss Incident </a:t>
          </a:r>
          <a:endParaRPr lang="en-US" sz="1200" dirty="0"/>
        </a:p>
      </dgm:t>
    </dgm:pt>
    <dgm:pt modelId="{B105FB48-AF66-42E5-A0D3-CFB6AFA8AB22}" type="parTrans" cxnId="{82D0D624-C2E6-4F2F-81FA-DFB8D15451C8}">
      <dgm:prSet/>
      <dgm:spPr/>
      <dgm:t>
        <a:bodyPr/>
        <a:lstStyle/>
        <a:p>
          <a:endParaRPr lang="en-US" sz="1200"/>
        </a:p>
      </dgm:t>
    </dgm:pt>
    <dgm:pt modelId="{8CD58FDC-A20E-45AF-8D79-65E183675D1C}" type="sibTrans" cxnId="{82D0D624-C2E6-4F2F-81FA-DFB8D15451C8}">
      <dgm:prSet/>
      <dgm:spPr/>
      <dgm:t>
        <a:bodyPr/>
        <a:lstStyle/>
        <a:p>
          <a:endParaRPr lang="en-US" sz="1200"/>
        </a:p>
      </dgm:t>
    </dgm:pt>
    <dgm:pt modelId="{C86D31BF-89F9-41CE-BA26-D5807AE4DD29}">
      <dgm:prSet phldrT="[Text]" custT="1"/>
      <dgm:spPr/>
      <dgm:t>
        <a:bodyPr/>
        <a:lstStyle/>
        <a:p>
          <a:r>
            <a:rPr lang="en-US" sz="1200" b="1" dirty="0" smtClean="0">
              <a:solidFill>
                <a:schemeClr val="tx1"/>
              </a:solidFill>
            </a:rPr>
            <a:t>Design</a:t>
          </a:r>
          <a:endParaRPr lang="en-US" sz="1200" b="1" dirty="0">
            <a:solidFill>
              <a:schemeClr val="tx1"/>
            </a:solidFill>
          </a:endParaRPr>
        </a:p>
      </dgm:t>
    </dgm:pt>
    <dgm:pt modelId="{F8C91F4B-ECA1-4DF0-82AE-F986A0D4592E}" type="parTrans" cxnId="{FD6DDB30-8B21-467F-84A3-F4954E19384D}">
      <dgm:prSet/>
      <dgm:spPr/>
      <dgm:t>
        <a:bodyPr/>
        <a:lstStyle/>
        <a:p>
          <a:endParaRPr lang="en-US" sz="1200"/>
        </a:p>
      </dgm:t>
    </dgm:pt>
    <dgm:pt modelId="{837D5BE0-398D-4E37-89DD-3DE1B461AFB1}" type="sibTrans" cxnId="{FD6DDB30-8B21-467F-84A3-F4954E19384D}">
      <dgm:prSet/>
      <dgm:spPr/>
      <dgm:t>
        <a:bodyPr/>
        <a:lstStyle/>
        <a:p>
          <a:endParaRPr lang="en-US" sz="1200"/>
        </a:p>
      </dgm:t>
    </dgm:pt>
    <dgm:pt modelId="{96146816-3724-4A9B-B9F4-FEB1FF100E33}">
      <dgm:prSet phldrT="[Text]" custT="1"/>
      <dgm:spPr/>
      <dgm:t>
        <a:bodyPr/>
        <a:lstStyle/>
        <a:p>
          <a:r>
            <a:rPr lang="en-US" sz="1200" dirty="0" smtClean="0"/>
            <a:t>Facility Siting, Hazardous Area Classification; Regulations; Occupational Health &amp; Toxicology</a:t>
          </a:r>
          <a:endParaRPr lang="en-US" sz="1200" dirty="0"/>
        </a:p>
      </dgm:t>
    </dgm:pt>
    <dgm:pt modelId="{271261AF-5499-4A5D-8C61-57513B11B4AC}" type="parTrans" cxnId="{82F64E89-0663-43D9-BCB0-AEF36EF7E818}">
      <dgm:prSet/>
      <dgm:spPr/>
      <dgm:t>
        <a:bodyPr/>
        <a:lstStyle/>
        <a:p>
          <a:endParaRPr lang="en-US" sz="1200"/>
        </a:p>
      </dgm:t>
    </dgm:pt>
    <dgm:pt modelId="{F2C7A652-898F-4A26-B28E-2C0462016D0B}" type="sibTrans" cxnId="{82F64E89-0663-43D9-BCB0-AEF36EF7E818}">
      <dgm:prSet/>
      <dgm:spPr/>
      <dgm:t>
        <a:bodyPr/>
        <a:lstStyle/>
        <a:p>
          <a:endParaRPr lang="en-US" sz="1200"/>
        </a:p>
      </dgm:t>
    </dgm:pt>
    <dgm:pt modelId="{536B7A24-AC56-407B-9F7B-B8B2D5D30C92}">
      <dgm:prSet custT="1"/>
      <dgm:spPr/>
      <dgm:t>
        <a:bodyPr/>
        <a:lstStyle/>
        <a:p>
          <a:r>
            <a:rPr lang="en-US" sz="1200" b="1" dirty="0" smtClean="0">
              <a:solidFill>
                <a:schemeClr val="tx1"/>
              </a:solidFill>
            </a:rPr>
            <a:t>Operations</a:t>
          </a:r>
          <a:endParaRPr lang="en-US" sz="1200" b="1" dirty="0">
            <a:solidFill>
              <a:schemeClr val="tx1"/>
            </a:solidFill>
          </a:endParaRPr>
        </a:p>
      </dgm:t>
    </dgm:pt>
    <dgm:pt modelId="{539D7BEC-AB59-4848-B698-08111E35955A}" type="parTrans" cxnId="{2194999C-12FF-407A-B3DB-01CD32759EEA}">
      <dgm:prSet/>
      <dgm:spPr/>
      <dgm:t>
        <a:bodyPr/>
        <a:lstStyle/>
        <a:p>
          <a:endParaRPr lang="en-US" sz="1200"/>
        </a:p>
      </dgm:t>
    </dgm:pt>
    <dgm:pt modelId="{9FC6229C-AF0C-4991-9F4C-8F2F36DAB30F}" type="sibTrans" cxnId="{2194999C-12FF-407A-B3DB-01CD32759EEA}">
      <dgm:prSet/>
      <dgm:spPr/>
      <dgm:t>
        <a:bodyPr/>
        <a:lstStyle/>
        <a:p>
          <a:endParaRPr lang="en-US" sz="1200"/>
        </a:p>
      </dgm:t>
    </dgm:pt>
    <dgm:pt modelId="{FA3813B0-8594-47F7-BC22-DF6B4E99A853}">
      <dgm:prSet custT="1"/>
      <dgm:spPr/>
      <dgm:t>
        <a:bodyPr/>
        <a:lstStyle/>
        <a:p>
          <a:r>
            <a:rPr lang="en-US" sz="1200" b="1" dirty="0" smtClean="0">
              <a:solidFill>
                <a:schemeClr val="tx1"/>
              </a:solidFill>
            </a:rPr>
            <a:t>Risk Assessment</a:t>
          </a:r>
          <a:endParaRPr lang="en-US" sz="1200" b="1" dirty="0">
            <a:solidFill>
              <a:schemeClr val="tx1"/>
            </a:solidFill>
          </a:endParaRPr>
        </a:p>
      </dgm:t>
    </dgm:pt>
    <dgm:pt modelId="{F02FDC96-0612-4EC9-B675-981A9CC838A2}" type="parTrans" cxnId="{B8DFA5DE-3964-4709-B8CD-F4D4FCF47162}">
      <dgm:prSet/>
      <dgm:spPr/>
      <dgm:t>
        <a:bodyPr/>
        <a:lstStyle/>
        <a:p>
          <a:endParaRPr lang="en-US" sz="1200"/>
        </a:p>
      </dgm:t>
    </dgm:pt>
    <dgm:pt modelId="{910C674A-31DC-4DB5-9C9C-F8EC22B2AAD3}" type="sibTrans" cxnId="{B8DFA5DE-3964-4709-B8CD-F4D4FCF47162}">
      <dgm:prSet/>
      <dgm:spPr/>
      <dgm:t>
        <a:bodyPr/>
        <a:lstStyle/>
        <a:p>
          <a:endParaRPr lang="en-US" sz="1200"/>
        </a:p>
      </dgm:t>
    </dgm:pt>
    <dgm:pt modelId="{8CCB3745-B839-42FA-8E94-5314FDE4C5E5}">
      <dgm:prSet custT="1"/>
      <dgm:spPr/>
      <dgm:t>
        <a:bodyPr/>
        <a:lstStyle/>
        <a:p>
          <a:r>
            <a:rPr lang="en-US" sz="1200" b="1" dirty="0" smtClean="0">
              <a:solidFill>
                <a:schemeClr val="tx1"/>
              </a:solidFill>
            </a:rPr>
            <a:t>Safeguards</a:t>
          </a:r>
          <a:endParaRPr lang="en-US" sz="1200" b="1" dirty="0">
            <a:solidFill>
              <a:schemeClr val="tx1"/>
            </a:solidFill>
          </a:endParaRPr>
        </a:p>
      </dgm:t>
    </dgm:pt>
    <dgm:pt modelId="{9C78A557-78B2-4592-B9F4-3AB339C32119}" type="parTrans" cxnId="{7C62BDF4-AC51-473D-8F66-482E79F18DEB}">
      <dgm:prSet/>
      <dgm:spPr/>
      <dgm:t>
        <a:bodyPr/>
        <a:lstStyle/>
        <a:p>
          <a:endParaRPr lang="en-US" sz="1200"/>
        </a:p>
      </dgm:t>
    </dgm:pt>
    <dgm:pt modelId="{AD201CB7-0121-4010-9B15-E22E48F01E3B}" type="sibTrans" cxnId="{7C62BDF4-AC51-473D-8F66-482E79F18DEB}">
      <dgm:prSet/>
      <dgm:spPr/>
      <dgm:t>
        <a:bodyPr/>
        <a:lstStyle/>
        <a:p>
          <a:endParaRPr lang="en-US" sz="1200"/>
        </a:p>
      </dgm:t>
    </dgm:pt>
    <dgm:pt modelId="{EA59CF13-C579-43FB-AB71-A67507FF23F8}">
      <dgm:prSet custT="1"/>
      <dgm:spPr/>
      <dgm:t>
        <a:bodyPr/>
        <a:lstStyle/>
        <a:p>
          <a:r>
            <a:rPr lang="en-US" sz="1200" b="1" dirty="0" smtClean="0">
              <a:solidFill>
                <a:schemeClr val="tx1"/>
              </a:solidFill>
            </a:rPr>
            <a:t>Alarms</a:t>
          </a:r>
          <a:endParaRPr lang="en-US" sz="1200" b="1" dirty="0">
            <a:solidFill>
              <a:schemeClr val="tx1"/>
            </a:solidFill>
          </a:endParaRPr>
        </a:p>
      </dgm:t>
    </dgm:pt>
    <dgm:pt modelId="{995D5268-8E51-4EAD-BA76-0221D48B441D}" type="parTrans" cxnId="{15E99CB9-59C9-4E80-BBBE-47E2DD29D65E}">
      <dgm:prSet/>
      <dgm:spPr/>
      <dgm:t>
        <a:bodyPr/>
        <a:lstStyle/>
        <a:p>
          <a:endParaRPr lang="en-US" sz="1200"/>
        </a:p>
      </dgm:t>
    </dgm:pt>
    <dgm:pt modelId="{E9845E8A-58DF-427E-855C-F3401B528FEF}" type="sibTrans" cxnId="{15E99CB9-59C9-4E80-BBBE-47E2DD29D65E}">
      <dgm:prSet/>
      <dgm:spPr/>
      <dgm:t>
        <a:bodyPr/>
        <a:lstStyle/>
        <a:p>
          <a:endParaRPr lang="en-US" sz="1200"/>
        </a:p>
      </dgm:t>
    </dgm:pt>
    <dgm:pt modelId="{0D9DA991-EE35-40E4-8DEF-29462CA80CCC}">
      <dgm:prSet custT="1"/>
      <dgm:spPr/>
      <dgm:t>
        <a:bodyPr/>
        <a:lstStyle/>
        <a:p>
          <a:r>
            <a:rPr lang="en-US" sz="1200" dirty="0" smtClean="0"/>
            <a:t>Pre-Startup Safety Review; Management of Change; Human Factors; </a:t>
          </a:r>
          <a:r>
            <a:rPr lang="en-US" sz="1200" dirty="0" err="1" smtClean="0"/>
            <a:t>Flixborough</a:t>
          </a:r>
          <a:r>
            <a:rPr lang="en-US" sz="1200" dirty="0" smtClean="0"/>
            <a:t> Incident; Phillips 66 Polyethylene Plant incident (Pasadena, TX); Marathon Texas City Refinery HF Release; Emergency Management; Key Performance Indicators; Audits; PSM frameworks</a:t>
          </a:r>
          <a:endParaRPr lang="en-US" sz="1200" dirty="0"/>
        </a:p>
      </dgm:t>
    </dgm:pt>
    <dgm:pt modelId="{7D6F3C10-CCB5-415C-A081-0E267658F916}" type="parTrans" cxnId="{F32361C5-EF20-481E-8FDD-2BD980AE0F97}">
      <dgm:prSet/>
      <dgm:spPr/>
      <dgm:t>
        <a:bodyPr/>
        <a:lstStyle/>
        <a:p>
          <a:endParaRPr lang="en-US" sz="1200"/>
        </a:p>
      </dgm:t>
    </dgm:pt>
    <dgm:pt modelId="{882910FB-ED43-453C-B34F-EA6028B7BF1E}" type="sibTrans" cxnId="{F32361C5-EF20-481E-8FDD-2BD980AE0F97}">
      <dgm:prSet/>
      <dgm:spPr/>
      <dgm:t>
        <a:bodyPr/>
        <a:lstStyle/>
        <a:p>
          <a:endParaRPr lang="en-US" sz="1200"/>
        </a:p>
      </dgm:t>
    </dgm:pt>
    <dgm:pt modelId="{20BE97AF-E13A-4A81-B09D-05AAACF626ED}">
      <dgm:prSet custT="1"/>
      <dgm:spPr/>
      <dgm:t>
        <a:bodyPr/>
        <a:lstStyle/>
        <a:p>
          <a:r>
            <a:rPr lang="en-US" sz="1200" dirty="0" smtClean="0"/>
            <a:t>Independent Layers of Protection; Basic Process Control Systems; Safety-Instrumented Systems; Safety System Impairment; BP Texas City Incident</a:t>
          </a:r>
          <a:endParaRPr lang="en-US" sz="1200" dirty="0"/>
        </a:p>
      </dgm:t>
    </dgm:pt>
    <dgm:pt modelId="{AB2D298E-895C-49CB-9F41-E095FD391EB2}" type="parTrans" cxnId="{9E875BD2-6FAB-444E-BEC9-3EA39F74B9D8}">
      <dgm:prSet/>
      <dgm:spPr/>
      <dgm:t>
        <a:bodyPr/>
        <a:lstStyle/>
        <a:p>
          <a:endParaRPr lang="en-US" sz="1200"/>
        </a:p>
      </dgm:t>
    </dgm:pt>
    <dgm:pt modelId="{88DD8377-14DB-490F-814B-B60C391F4B13}" type="sibTrans" cxnId="{9E875BD2-6FAB-444E-BEC9-3EA39F74B9D8}">
      <dgm:prSet/>
      <dgm:spPr/>
      <dgm:t>
        <a:bodyPr/>
        <a:lstStyle/>
        <a:p>
          <a:endParaRPr lang="en-US" sz="1200"/>
        </a:p>
      </dgm:t>
    </dgm:pt>
    <dgm:pt modelId="{741F1EA7-4D20-4649-A6AA-75130A2A79C9}">
      <dgm:prSet custT="1"/>
      <dgm:spPr/>
      <dgm:t>
        <a:bodyPr/>
        <a:lstStyle/>
        <a:p>
          <a:r>
            <a:rPr lang="en-US" sz="1200" dirty="0" smtClean="0"/>
            <a:t>Overpressure protection; specialized safeguards; asset integrity/barrier analysis</a:t>
          </a:r>
          <a:endParaRPr lang="en-US" sz="1200" dirty="0"/>
        </a:p>
      </dgm:t>
    </dgm:pt>
    <dgm:pt modelId="{10859B04-B5BA-4641-9128-E0FF18CE16FD}" type="parTrans" cxnId="{3392453E-23FF-44D1-BCCD-36A6809201DB}">
      <dgm:prSet/>
      <dgm:spPr/>
      <dgm:t>
        <a:bodyPr/>
        <a:lstStyle/>
        <a:p>
          <a:endParaRPr lang="en-US" sz="1200"/>
        </a:p>
      </dgm:t>
    </dgm:pt>
    <dgm:pt modelId="{8FDDF8EA-320B-4151-B146-DB6870620481}" type="sibTrans" cxnId="{3392453E-23FF-44D1-BCCD-36A6809201DB}">
      <dgm:prSet/>
      <dgm:spPr/>
      <dgm:t>
        <a:bodyPr/>
        <a:lstStyle/>
        <a:p>
          <a:endParaRPr lang="en-US" sz="1200"/>
        </a:p>
      </dgm:t>
    </dgm:pt>
    <dgm:pt modelId="{1E226432-480A-48B2-9219-525A889F384A}">
      <dgm:prSet custT="1"/>
      <dgm:spPr/>
      <dgm:t>
        <a:bodyPr/>
        <a:lstStyle/>
        <a:p>
          <a:r>
            <a:rPr lang="en-US" sz="1200" dirty="0" smtClean="0"/>
            <a:t>Chemical Reactivity; What-if; HAZOP; FMEA; Event Tree; Fault Tree; Dispersion &amp; Consequence Analysis; Layer of Protection Analysis (LOPA); Dow FEI &amp; CEI tools; </a:t>
          </a:r>
          <a:r>
            <a:rPr lang="en-US" sz="1200" dirty="0" err="1" smtClean="0"/>
            <a:t>BowTie</a:t>
          </a:r>
          <a:r>
            <a:rPr lang="en-US" sz="1200" dirty="0" smtClean="0"/>
            <a:t>; Safety Integrity Level; Piper Alpha &amp; BP </a:t>
          </a:r>
          <a:r>
            <a:rPr lang="en-US" sz="1200" dirty="0" err="1" smtClean="0"/>
            <a:t>Macondo</a:t>
          </a:r>
          <a:r>
            <a:rPr lang="en-US" sz="1200" dirty="0" smtClean="0"/>
            <a:t> incidents</a:t>
          </a:r>
          <a:endParaRPr lang="en-US" sz="1200" dirty="0">
            <a:solidFill>
              <a:srgbClr val="FF0000"/>
            </a:solidFill>
          </a:endParaRPr>
        </a:p>
      </dgm:t>
    </dgm:pt>
    <dgm:pt modelId="{479C1E6F-ACA4-459B-9DE6-8139E8C90852}" type="parTrans" cxnId="{D446FB68-DDBB-4A27-8F0B-D0F4F61655E1}">
      <dgm:prSet/>
      <dgm:spPr/>
      <dgm:t>
        <a:bodyPr/>
        <a:lstStyle/>
        <a:p>
          <a:endParaRPr lang="en-US" sz="1200"/>
        </a:p>
      </dgm:t>
    </dgm:pt>
    <dgm:pt modelId="{6121A8CB-9A0B-4FEF-9328-DAD33A596ED7}" type="sibTrans" cxnId="{D446FB68-DDBB-4A27-8F0B-D0F4F61655E1}">
      <dgm:prSet/>
      <dgm:spPr/>
      <dgm:t>
        <a:bodyPr/>
        <a:lstStyle/>
        <a:p>
          <a:endParaRPr lang="en-US" sz="1200"/>
        </a:p>
      </dgm:t>
    </dgm:pt>
    <dgm:pt modelId="{9A70CB97-AF19-4CA0-ACDB-51979561D03B}">
      <dgm:prSet custT="1"/>
      <dgm:spPr/>
      <dgm:t>
        <a:bodyPr/>
        <a:lstStyle/>
        <a:p>
          <a:r>
            <a:rPr lang="en-US" sz="1200" b="1" dirty="0" smtClean="0">
              <a:solidFill>
                <a:schemeClr val="tx1"/>
              </a:solidFill>
            </a:rPr>
            <a:t>Guest Lecture</a:t>
          </a:r>
        </a:p>
        <a:p>
          <a:r>
            <a:rPr lang="en-US" sz="1200" b="1" dirty="0" smtClean="0">
              <a:solidFill>
                <a:schemeClr val="tx1"/>
              </a:solidFill>
            </a:rPr>
            <a:t>Organizations </a:t>
          </a:r>
          <a:endParaRPr lang="en-US" sz="1200" b="1" dirty="0">
            <a:solidFill>
              <a:schemeClr val="tx1"/>
            </a:solidFill>
          </a:endParaRPr>
        </a:p>
      </dgm:t>
    </dgm:pt>
    <dgm:pt modelId="{41D01AEB-C9F0-4923-A4B5-CE725A26016B}" type="parTrans" cxnId="{808B9C1D-17B1-4713-9024-9FDEA83C06CF}">
      <dgm:prSet/>
      <dgm:spPr/>
      <dgm:t>
        <a:bodyPr/>
        <a:lstStyle/>
        <a:p>
          <a:endParaRPr lang="en-US" sz="1200"/>
        </a:p>
      </dgm:t>
    </dgm:pt>
    <dgm:pt modelId="{6C1CA19F-8CB6-445B-8F2B-B1ADBF1427ED}" type="sibTrans" cxnId="{808B9C1D-17B1-4713-9024-9FDEA83C06CF}">
      <dgm:prSet/>
      <dgm:spPr/>
      <dgm:t>
        <a:bodyPr/>
        <a:lstStyle/>
        <a:p>
          <a:endParaRPr lang="en-US" sz="1200"/>
        </a:p>
      </dgm:t>
    </dgm:pt>
    <dgm:pt modelId="{8ED4B54D-59E9-4EBD-8E39-5FB9210DA909}">
      <dgm:prSet custT="1"/>
      <dgm:spPr/>
      <dgm:t>
        <a:bodyPr/>
        <a:lstStyle/>
        <a:p>
          <a:r>
            <a:rPr lang="en-US" sz="1200" b="0" dirty="0" smtClean="0">
              <a:solidFill>
                <a:schemeClr val="tx1"/>
              </a:solidFill>
            </a:rPr>
            <a:t>U of A Faculty of Medicine &amp; Dentistry; Alberta Boilers Safety Association (ABSA); </a:t>
          </a:r>
          <a:r>
            <a:rPr lang="en-US" sz="1200" b="0" dirty="0" err="1" smtClean="0">
              <a:solidFill>
                <a:schemeClr val="tx1"/>
              </a:solidFill>
            </a:rPr>
            <a:t>Syncrude</a:t>
          </a:r>
          <a:r>
            <a:rPr lang="en-US" sz="1200" b="0" dirty="0" smtClean="0">
              <a:solidFill>
                <a:schemeClr val="tx1"/>
              </a:solidFill>
            </a:rPr>
            <a:t>; Imperial Oil; Chevron; Dow; NOVA Chemicals; Shell; C-FER; Top Hat</a:t>
          </a:r>
          <a:endParaRPr lang="en-US" sz="1200" b="0" dirty="0">
            <a:solidFill>
              <a:schemeClr val="tx1"/>
            </a:solidFill>
          </a:endParaRPr>
        </a:p>
      </dgm:t>
    </dgm:pt>
    <dgm:pt modelId="{7A467C84-8B99-4979-9DB3-ACEB692AB043}" type="parTrans" cxnId="{8AE73D68-08CE-41BF-BB14-A2FADF057FD8}">
      <dgm:prSet/>
      <dgm:spPr/>
      <dgm:t>
        <a:bodyPr/>
        <a:lstStyle/>
        <a:p>
          <a:endParaRPr lang="en-US" sz="1200"/>
        </a:p>
      </dgm:t>
    </dgm:pt>
    <dgm:pt modelId="{3F2EA0DE-371E-4F57-954C-C1051951B134}" type="sibTrans" cxnId="{8AE73D68-08CE-41BF-BB14-A2FADF057FD8}">
      <dgm:prSet/>
      <dgm:spPr/>
      <dgm:t>
        <a:bodyPr/>
        <a:lstStyle/>
        <a:p>
          <a:endParaRPr lang="en-US" sz="1200"/>
        </a:p>
      </dgm:t>
    </dgm:pt>
    <dgm:pt modelId="{3F0E4E04-B984-461F-BBD6-4C02E0F7860B}" type="pres">
      <dgm:prSet presAssocID="{52116E40-189D-4864-913A-67CD8353692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4E0675-E2CA-4F2B-BAA5-5936A7E2DDB7}" type="pres">
      <dgm:prSet presAssocID="{8E0BBCA7-35A7-4B4F-AB63-D3B11D203E66}" presName="linNode" presStyleCnt="0"/>
      <dgm:spPr/>
    </dgm:pt>
    <dgm:pt modelId="{A17C13A1-0ECA-47E7-9888-72B8DD0FBB3E}" type="pres">
      <dgm:prSet presAssocID="{8E0BBCA7-35A7-4B4F-AB63-D3B11D203E66}" presName="parentText" presStyleLbl="node1" presStyleIdx="0" presStyleCnt="8" custScaleX="58430" custScaleY="4172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BF7C52-20D9-42FB-BB47-EFE9CF0E08AC}" type="pres">
      <dgm:prSet presAssocID="{8E0BBCA7-35A7-4B4F-AB63-D3B11D203E66}" presName="descendantText" presStyleLbl="alignAccFollowNode1" presStyleIdx="0" presStyleCnt="8" custScaleX="321048" custScaleY="40138" custLinFactNeighborX="16579" custLinFactNeighborY="327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D5A103-5BB8-4722-AD02-3426CB3F1397}" type="pres">
      <dgm:prSet presAssocID="{693CD534-059E-4299-B768-3411BAA832B4}" presName="sp" presStyleCnt="0"/>
      <dgm:spPr/>
    </dgm:pt>
    <dgm:pt modelId="{0E0C75E8-5341-4499-83DF-C50B550A5D34}" type="pres">
      <dgm:prSet presAssocID="{C94ACF8A-196C-4C2E-88A5-882940226F70}" presName="linNode" presStyleCnt="0"/>
      <dgm:spPr/>
    </dgm:pt>
    <dgm:pt modelId="{894334F0-A857-4998-B872-5762D0921C21}" type="pres">
      <dgm:prSet presAssocID="{C94ACF8A-196C-4C2E-88A5-882940226F70}" presName="parentText" presStyleLbl="node1" presStyleIdx="1" presStyleCnt="8" custScaleX="41735" custScaleY="3716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2D9591-AD7C-49D7-9094-77CEAC4F4FB6}" type="pres">
      <dgm:prSet presAssocID="{C94ACF8A-196C-4C2E-88A5-882940226F70}" presName="descendantText" presStyleLbl="alignAccFollowNode1" presStyleIdx="1" presStyleCnt="8" custScaleX="112737" custScaleY="372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AEEF11-26AB-4110-8CC2-2CBA9E5BAF86}" type="pres">
      <dgm:prSet presAssocID="{114BAB5E-CFF4-4FED-9551-D241586A285B}" presName="sp" presStyleCnt="0"/>
      <dgm:spPr/>
    </dgm:pt>
    <dgm:pt modelId="{677F4B25-24E8-4809-89C8-1CF9AE183428}" type="pres">
      <dgm:prSet presAssocID="{C86D31BF-89F9-41CE-BA26-D5807AE4DD29}" presName="linNode" presStyleCnt="0"/>
      <dgm:spPr/>
    </dgm:pt>
    <dgm:pt modelId="{2BEDD279-7DEC-478C-AED3-D8EBF9B174EE}" type="pres">
      <dgm:prSet presAssocID="{C86D31BF-89F9-41CE-BA26-D5807AE4DD29}" presName="parentText" presStyleLbl="node1" presStyleIdx="2" presStyleCnt="8" custScaleX="47589" custScaleY="4609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184081-B703-48A1-B3DD-0E9EC31732E5}" type="pres">
      <dgm:prSet presAssocID="{C86D31BF-89F9-41CE-BA26-D5807AE4DD29}" presName="descendantText" presStyleLbl="alignAccFollowNode1" presStyleIdx="2" presStyleCnt="8" custScaleX="206782" custScaleY="5317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DD0C05-21A2-432F-B0CA-D37A38525FF6}" type="pres">
      <dgm:prSet presAssocID="{837D5BE0-398D-4E37-89DD-3DE1B461AFB1}" presName="sp" presStyleCnt="0"/>
      <dgm:spPr/>
    </dgm:pt>
    <dgm:pt modelId="{DBCD2588-1DEA-4C2F-A0F3-3956125775EE}" type="pres">
      <dgm:prSet presAssocID="{536B7A24-AC56-407B-9F7B-B8B2D5D30C92}" presName="linNode" presStyleCnt="0"/>
      <dgm:spPr/>
    </dgm:pt>
    <dgm:pt modelId="{88B4C54F-2B12-4289-9435-A713CF75FE4F}" type="pres">
      <dgm:prSet presAssocID="{536B7A24-AC56-407B-9F7B-B8B2D5D30C92}" presName="parentText" presStyleLbl="node1" presStyleIdx="3" presStyleCnt="8" custScaleX="75600" custScaleY="4653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9A833A-BEF6-43CA-83AF-BE63C15188BD}" type="pres">
      <dgm:prSet presAssocID="{536B7A24-AC56-407B-9F7B-B8B2D5D30C92}" presName="descendantText" presStyleLbl="alignAccFollowNode1" presStyleIdx="3" presStyleCnt="8" custScaleX="278102" custScaleY="486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4F27B8-5107-4CC1-8882-1A55B857DEED}" type="pres">
      <dgm:prSet presAssocID="{9FC6229C-AF0C-4991-9F4C-8F2F36DAB30F}" presName="sp" presStyleCnt="0"/>
      <dgm:spPr/>
    </dgm:pt>
    <dgm:pt modelId="{39447171-5C2F-4117-A6FC-5A0BB401A457}" type="pres">
      <dgm:prSet presAssocID="{EA59CF13-C579-43FB-AB71-A67507FF23F8}" presName="linNode" presStyleCnt="0"/>
      <dgm:spPr/>
    </dgm:pt>
    <dgm:pt modelId="{FC48821B-A805-4B7D-8D33-6DDCAFDC59BB}" type="pres">
      <dgm:prSet presAssocID="{EA59CF13-C579-43FB-AB71-A67507FF23F8}" presName="parentText" presStyleLbl="node1" presStyleIdx="4" presStyleCnt="8" custScaleX="46751" custScaleY="6106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204E57-0164-4968-A5B5-1B9D047DDF6E}" type="pres">
      <dgm:prSet presAssocID="{EA59CF13-C579-43FB-AB71-A67507FF23F8}" presName="descendantText" presStyleLbl="alignAccFollowNode1" presStyleIdx="4" presStyleCnt="8" custScaleX="215751" custScaleY="611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0020B9-3134-4620-A6E3-B60697D1CAB8}" type="pres">
      <dgm:prSet presAssocID="{E9845E8A-58DF-427E-855C-F3401B528FEF}" presName="sp" presStyleCnt="0"/>
      <dgm:spPr/>
    </dgm:pt>
    <dgm:pt modelId="{260A0209-C791-4E23-BA7A-74714FF68851}" type="pres">
      <dgm:prSet presAssocID="{8CCB3745-B839-42FA-8E94-5314FDE4C5E5}" presName="linNode" presStyleCnt="0"/>
      <dgm:spPr/>
    </dgm:pt>
    <dgm:pt modelId="{F1349B64-76F0-4C6F-82F4-7196AA3AC19D}" type="pres">
      <dgm:prSet presAssocID="{8CCB3745-B839-42FA-8E94-5314FDE4C5E5}" presName="parentText" presStyleLbl="node1" presStyleIdx="5" presStyleCnt="8" custScaleX="65861" custScaleY="4745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A94ED6-4FE4-4E42-966F-BF1A651C5F59}" type="pres">
      <dgm:prSet presAssocID="{8CCB3745-B839-42FA-8E94-5314FDE4C5E5}" presName="descendantText" presStyleLbl="alignAccFollowNode1" presStyleIdx="5" presStyleCnt="8" custScaleX="244460" custScaleY="461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60A106-BD0C-403B-AD4F-AE45903CFC7C}" type="pres">
      <dgm:prSet presAssocID="{AD201CB7-0121-4010-9B15-E22E48F01E3B}" presName="sp" presStyleCnt="0"/>
      <dgm:spPr/>
    </dgm:pt>
    <dgm:pt modelId="{B16D79E9-F159-4E9B-AA03-B5FC8B7E0055}" type="pres">
      <dgm:prSet presAssocID="{FA3813B0-8594-47F7-BC22-DF6B4E99A853}" presName="linNode" presStyleCnt="0"/>
      <dgm:spPr/>
    </dgm:pt>
    <dgm:pt modelId="{0B9027F1-592A-4F2E-A3D2-C683E3429CE7}" type="pres">
      <dgm:prSet presAssocID="{FA3813B0-8594-47F7-BC22-DF6B4E99A853}" presName="parentText" presStyleLbl="node1" presStyleIdx="6" presStyleCnt="8" custScaleX="42576" custScaleY="761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6616AE-9BA6-42E6-8368-92157C053B74}" type="pres">
      <dgm:prSet presAssocID="{FA3813B0-8594-47F7-BC22-DF6B4E99A853}" presName="descendantText" presStyleLbl="alignAccFollowNode1" presStyleIdx="6" presStyleCnt="8" custScaleX="168581" custScaleY="87638" custLinFactNeighborY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7EB1C3-14C5-484B-912A-749449CAA5E0}" type="pres">
      <dgm:prSet presAssocID="{910C674A-31DC-4DB5-9C9C-F8EC22B2AAD3}" presName="sp" presStyleCnt="0"/>
      <dgm:spPr/>
    </dgm:pt>
    <dgm:pt modelId="{BA868507-6ABF-4428-A222-B4D877FEAC58}" type="pres">
      <dgm:prSet presAssocID="{9A70CB97-AF19-4CA0-ACDB-51979561D03B}" presName="linNode" presStyleCnt="0"/>
      <dgm:spPr/>
    </dgm:pt>
    <dgm:pt modelId="{DCBA8994-BB08-49E3-80DD-D15682CC5F50}" type="pres">
      <dgm:prSet presAssocID="{9A70CB97-AF19-4CA0-ACDB-51979561D03B}" presName="parentText" presStyleLbl="node1" presStyleIdx="7" presStyleCnt="8" custScaleX="47482" custScaleY="5958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108021-3534-4378-BB36-E49A42D11245}" type="pres">
      <dgm:prSet presAssocID="{9A70CB97-AF19-4CA0-ACDB-51979561D03B}" presName="descendantText" presStyleLbl="alignAccFollowNode1" presStyleIdx="7" presStyleCnt="8" custScaleX="141511" custScaleY="6247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29AE72-93BC-4721-9F22-CD5706EA03A0}" type="presOf" srcId="{8CCB3745-B839-42FA-8E94-5314FDE4C5E5}" destId="{F1349B64-76F0-4C6F-82F4-7196AA3AC19D}" srcOrd="0" destOrd="0" presId="urn:microsoft.com/office/officeart/2005/8/layout/vList5"/>
    <dgm:cxn modelId="{34AB8770-4C7F-49E4-A1B1-02A43E2A1A17}" type="presOf" srcId="{C86D31BF-89F9-41CE-BA26-D5807AE4DD29}" destId="{2BEDD279-7DEC-478C-AED3-D8EBF9B174EE}" srcOrd="0" destOrd="0" presId="urn:microsoft.com/office/officeart/2005/8/layout/vList5"/>
    <dgm:cxn modelId="{29A3DFB9-D49E-4276-99FB-A0AC92590CC2}" type="presOf" srcId="{9A21D2A8-E7A9-4352-AD85-00AB4D151CBB}" destId="{972D9591-AD7C-49D7-9094-77CEAC4F4FB6}" srcOrd="0" destOrd="0" presId="urn:microsoft.com/office/officeart/2005/8/layout/vList5"/>
    <dgm:cxn modelId="{98885E0F-931F-46AC-92D0-26723F5FDF4C}" srcId="{8E0BBCA7-35A7-4B4F-AB63-D3B11D203E66}" destId="{1B9B3943-0184-4E68-AB2F-119B76EF4A0A}" srcOrd="0" destOrd="0" parTransId="{F8678E8A-3D3D-479F-8EBA-3B38E9E23748}" sibTransId="{38F11F53-43D1-4137-A25D-D0342DCD8DD8}"/>
    <dgm:cxn modelId="{2194999C-12FF-407A-B3DB-01CD32759EEA}" srcId="{52116E40-189D-4864-913A-67CD8353692F}" destId="{536B7A24-AC56-407B-9F7B-B8B2D5D30C92}" srcOrd="3" destOrd="0" parTransId="{539D7BEC-AB59-4848-B698-08111E35955A}" sibTransId="{9FC6229C-AF0C-4991-9F4C-8F2F36DAB30F}"/>
    <dgm:cxn modelId="{15E99CB9-59C9-4E80-BBBE-47E2DD29D65E}" srcId="{52116E40-189D-4864-913A-67CD8353692F}" destId="{EA59CF13-C579-43FB-AB71-A67507FF23F8}" srcOrd="4" destOrd="0" parTransId="{995D5268-8E51-4EAD-BA76-0221D48B441D}" sibTransId="{E9845E8A-58DF-427E-855C-F3401B528FEF}"/>
    <dgm:cxn modelId="{82D0D624-C2E6-4F2F-81FA-DFB8D15451C8}" srcId="{C94ACF8A-196C-4C2E-88A5-882940226F70}" destId="{9A21D2A8-E7A9-4352-AD85-00AB4D151CBB}" srcOrd="0" destOrd="0" parTransId="{B105FB48-AF66-42E5-A0D3-CFB6AFA8AB22}" sibTransId="{8CD58FDC-A20E-45AF-8D79-65E183675D1C}"/>
    <dgm:cxn modelId="{3B7B390E-3FC7-4FEA-90C9-2E9B67068E6E}" type="presOf" srcId="{52116E40-189D-4864-913A-67CD8353692F}" destId="{3F0E4E04-B984-461F-BBD6-4C02E0F7860B}" srcOrd="0" destOrd="0" presId="urn:microsoft.com/office/officeart/2005/8/layout/vList5"/>
    <dgm:cxn modelId="{CDCBC9AA-BC9A-4C1A-AC33-F5DCEC7A5DFD}" srcId="{52116E40-189D-4864-913A-67CD8353692F}" destId="{C94ACF8A-196C-4C2E-88A5-882940226F70}" srcOrd="1" destOrd="0" parTransId="{4E232641-D152-479E-BE39-8B229232E766}" sibTransId="{114BAB5E-CFF4-4FED-9551-D241586A285B}"/>
    <dgm:cxn modelId="{83E7605B-AB4E-4DE9-BC61-9FDE0C13B0B1}" type="presOf" srcId="{96146816-3724-4A9B-B9F4-FEB1FF100E33}" destId="{42184081-B703-48A1-B3DD-0E9EC31732E5}" srcOrd="0" destOrd="0" presId="urn:microsoft.com/office/officeart/2005/8/layout/vList5"/>
    <dgm:cxn modelId="{DE22EFBF-A628-44EB-B69B-278388BD2450}" srcId="{52116E40-189D-4864-913A-67CD8353692F}" destId="{8E0BBCA7-35A7-4B4F-AB63-D3B11D203E66}" srcOrd="0" destOrd="0" parTransId="{D2CA9FAC-4FAA-4FFD-B442-FFF373243A86}" sibTransId="{693CD534-059E-4299-B768-3411BAA832B4}"/>
    <dgm:cxn modelId="{EF97B281-BAF4-4C70-9E3F-1A9D48856662}" type="presOf" srcId="{8ED4B54D-59E9-4EBD-8E39-5FB9210DA909}" destId="{56108021-3534-4378-BB36-E49A42D11245}" srcOrd="0" destOrd="0" presId="urn:microsoft.com/office/officeart/2005/8/layout/vList5"/>
    <dgm:cxn modelId="{1DA06955-670F-4FE1-8763-C51E48350CA6}" type="presOf" srcId="{536B7A24-AC56-407B-9F7B-B8B2D5D30C92}" destId="{88B4C54F-2B12-4289-9435-A713CF75FE4F}" srcOrd="0" destOrd="0" presId="urn:microsoft.com/office/officeart/2005/8/layout/vList5"/>
    <dgm:cxn modelId="{F128AD40-D735-407E-A047-19780D1C372D}" type="presOf" srcId="{FA3813B0-8594-47F7-BC22-DF6B4E99A853}" destId="{0B9027F1-592A-4F2E-A3D2-C683E3429CE7}" srcOrd="0" destOrd="0" presId="urn:microsoft.com/office/officeart/2005/8/layout/vList5"/>
    <dgm:cxn modelId="{C0447415-644E-4B0F-8F4E-CEA9605D8FA2}" type="presOf" srcId="{C94ACF8A-196C-4C2E-88A5-882940226F70}" destId="{894334F0-A857-4998-B872-5762D0921C21}" srcOrd="0" destOrd="0" presId="urn:microsoft.com/office/officeart/2005/8/layout/vList5"/>
    <dgm:cxn modelId="{56249D1D-5F63-42CF-B521-7657FE01E5BF}" type="presOf" srcId="{8E0BBCA7-35A7-4B4F-AB63-D3B11D203E66}" destId="{A17C13A1-0ECA-47E7-9888-72B8DD0FBB3E}" srcOrd="0" destOrd="0" presId="urn:microsoft.com/office/officeart/2005/8/layout/vList5"/>
    <dgm:cxn modelId="{85F88411-DF6D-45EE-9FA0-6CFE27B8272D}" type="presOf" srcId="{20BE97AF-E13A-4A81-B09D-05AAACF626ED}" destId="{73204E57-0164-4968-A5B5-1B9D047DDF6E}" srcOrd="0" destOrd="0" presId="urn:microsoft.com/office/officeart/2005/8/layout/vList5"/>
    <dgm:cxn modelId="{808B9C1D-17B1-4713-9024-9FDEA83C06CF}" srcId="{52116E40-189D-4864-913A-67CD8353692F}" destId="{9A70CB97-AF19-4CA0-ACDB-51979561D03B}" srcOrd="7" destOrd="0" parTransId="{41D01AEB-C9F0-4923-A4B5-CE725A26016B}" sibTransId="{6C1CA19F-8CB6-445B-8F2B-B1ADBF1427ED}"/>
    <dgm:cxn modelId="{7C62BDF4-AC51-473D-8F66-482E79F18DEB}" srcId="{52116E40-189D-4864-913A-67CD8353692F}" destId="{8CCB3745-B839-42FA-8E94-5314FDE4C5E5}" srcOrd="5" destOrd="0" parTransId="{9C78A557-78B2-4592-B9F4-3AB339C32119}" sibTransId="{AD201CB7-0121-4010-9B15-E22E48F01E3B}"/>
    <dgm:cxn modelId="{76F85E29-E82D-4D0E-A96A-2C3875C2B54F}" type="presOf" srcId="{741F1EA7-4D20-4649-A6AA-75130A2A79C9}" destId="{DFA94ED6-4FE4-4E42-966F-BF1A651C5F59}" srcOrd="0" destOrd="0" presId="urn:microsoft.com/office/officeart/2005/8/layout/vList5"/>
    <dgm:cxn modelId="{3392453E-23FF-44D1-BCCD-36A6809201DB}" srcId="{8CCB3745-B839-42FA-8E94-5314FDE4C5E5}" destId="{741F1EA7-4D20-4649-A6AA-75130A2A79C9}" srcOrd="0" destOrd="0" parTransId="{10859B04-B5BA-4641-9128-E0FF18CE16FD}" sibTransId="{8FDDF8EA-320B-4151-B146-DB6870620481}"/>
    <dgm:cxn modelId="{F32361C5-EF20-481E-8FDD-2BD980AE0F97}" srcId="{536B7A24-AC56-407B-9F7B-B8B2D5D30C92}" destId="{0D9DA991-EE35-40E4-8DEF-29462CA80CCC}" srcOrd="0" destOrd="0" parTransId="{7D6F3C10-CCB5-415C-A081-0E267658F916}" sibTransId="{882910FB-ED43-453C-B34F-EA6028B7BF1E}"/>
    <dgm:cxn modelId="{1EAE4892-5A5A-468E-B72A-0CB7C8E4C346}" type="presOf" srcId="{1E226432-480A-48B2-9219-525A889F384A}" destId="{8B6616AE-9BA6-42E6-8368-92157C053B74}" srcOrd="0" destOrd="0" presId="urn:microsoft.com/office/officeart/2005/8/layout/vList5"/>
    <dgm:cxn modelId="{FCBAD53B-3749-4710-824E-3AA2E9041C40}" type="presOf" srcId="{0D9DA991-EE35-40E4-8DEF-29462CA80CCC}" destId="{959A833A-BEF6-43CA-83AF-BE63C15188BD}" srcOrd="0" destOrd="0" presId="urn:microsoft.com/office/officeart/2005/8/layout/vList5"/>
    <dgm:cxn modelId="{FD6DDB30-8B21-467F-84A3-F4954E19384D}" srcId="{52116E40-189D-4864-913A-67CD8353692F}" destId="{C86D31BF-89F9-41CE-BA26-D5807AE4DD29}" srcOrd="2" destOrd="0" parTransId="{F8C91F4B-ECA1-4DF0-82AE-F986A0D4592E}" sibTransId="{837D5BE0-398D-4E37-89DD-3DE1B461AFB1}"/>
    <dgm:cxn modelId="{D446FB68-DDBB-4A27-8F0B-D0F4F61655E1}" srcId="{FA3813B0-8594-47F7-BC22-DF6B4E99A853}" destId="{1E226432-480A-48B2-9219-525A889F384A}" srcOrd="0" destOrd="0" parTransId="{479C1E6F-ACA4-459B-9DE6-8139E8C90852}" sibTransId="{6121A8CB-9A0B-4FEF-9328-DAD33A596ED7}"/>
    <dgm:cxn modelId="{312815A3-C4E5-42B8-970F-98FDB1A18E6E}" type="presOf" srcId="{EA59CF13-C579-43FB-AB71-A67507FF23F8}" destId="{FC48821B-A805-4B7D-8D33-6DDCAFDC59BB}" srcOrd="0" destOrd="0" presId="urn:microsoft.com/office/officeart/2005/8/layout/vList5"/>
    <dgm:cxn modelId="{82F64E89-0663-43D9-BCB0-AEF36EF7E818}" srcId="{C86D31BF-89F9-41CE-BA26-D5807AE4DD29}" destId="{96146816-3724-4A9B-B9F4-FEB1FF100E33}" srcOrd="0" destOrd="0" parTransId="{271261AF-5499-4A5D-8C61-57513B11B4AC}" sibTransId="{F2C7A652-898F-4A26-B28E-2C0462016D0B}"/>
    <dgm:cxn modelId="{B8DFA5DE-3964-4709-B8CD-F4D4FCF47162}" srcId="{52116E40-189D-4864-913A-67CD8353692F}" destId="{FA3813B0-8594-47F7-BC22-DF6B4E99A853}" srcOrd="6" destOrd="0" parTransId="{F02FDC96-0612-4EC9-B675-981A9CC838A2}" sibTransId="{910C674A-31DC-4DB5-9C9C-F8EC22B2AAD3}"/>
    <dgm:cxn modelId="{9E875BD2-6FAB-444E-BEC9-3EA39F74B9D8}" srcId="{EA59CF13-C579-43FB-AB71-A67507FF23F8}" destId="{20BE97AF-E13A-4A81-B09D-05AAACF626ED}" srcOrd="0" destOrd="0" parTransId="{AB2D298E-895C-49CB-9F41-E095FD391EB2}" sibTransId="{88DD8377-14DB-490F-814B-B60C391F4B13}"/>
    <dgm:cxn modelId="{CC105BAC-E89E-4029-92C9-0C203D87AEBD}" type="presOf" srcId="{9A70CB97-AF19-4CA0-ACDB-51979561D03B}" destId="{DCBA8994-BB08-49E3-80DD-D15682CC5F50}" srcOrd="0" destOrd="0" presId="urn:microsoft.com/office/officeart/2005/8/layout/vList5"/>
    <dgm:cxn modelId="{9698A9B5-226B-4DE8-81DF-851C88F1450D}" type="presOf" srcId="{1B9B3943-0184-4E68-AB2F-119B76EF4A0A}" destId="{49BF7C52-20D9-42FB-BB47-EFE9CF0E08AC}" srcOrd="0" destOrd="0" presId="urn:microsoft.com/office/officeart/2005/8/layout/vList5"/>
    <dgm:cxn modelId="{8AE73D68-08CE-41BF-BB14-A2FADF057FD8}" srcId="{9A70CB97-AF19-4CA0-ACDB-51979561D03B}" destId="{8ED4B54D-59E9-4EBD-8E39-5FB9210DA909}" srcOrd="0" destOrd="0" parTransId="{7A467C84-8B99-4979-9DB3-ACEB692AB043}" sibTransId="{3F2EA0DE-371E-4F57-954C-C1051951B134}"/>
    <dgm:cxn modelId="{6DA57B33-D667-47FD-BAB9-4992DF819056}" type="presParOf" srcId="{3F0E4E04-B984-461F-BBD6-4C02E0F7860B}" destId="{864E0675-E2CA-4F2B-BAA5-5936A7E2DDB7}" srcOrd="0" destOrd="0" presId="urn:microsoft.com/office/officeart/2005/8/layout/vList5"/>
    <dgm:cxn modelId="{DEC82C48-0CBD-421A-A802-044A64961F4E}" type="presParOf" srcId="{864E0675-E2CA-4F2B-BAA5-5936A7E2DDB7}" destId="{A17C13A1-0ECA-47E7-9888-72B8DD0FBB3E}" srcOrd="0" destOrd="0" presId="urn:microsoft.com/office/officeart/2005/8/layout/vList5"/>
    <dgm:cxn modelId="{FE0A90FE-83B1-4E16-A24A-A489DE3C1440}" type="presParOf" srcId="{864E0675-E2CA-4F2B-BAA5-5936A7E2DDB7}" destId="{49BF7C52-20D9-42FB-BB47-EFE9CF0E08AC}" srcOrd="1" destOrd="0" presId="urn:microsoft.com/office/officeart/2005/8/layout/vList5"/>
    <dgm:cxn modelId="{EE43C0CD-1B8C-4DD3-8DBA-A592B7C13841}" type="presParOf" srcId="{3F0E4E04-B984-461F-BBD6-4C02E0F7860B}" destId="{36D5A103-5BB8-4722-AD02-3426CB3F1397}" srcOrd="1" destOrd="0" presId="urn:microsoft.com/office/officeart/2005/8/layout/vList5"/>
    <dgm:cxn modelId="{F0F36995-7253-45F8-8AD1-9042F13D311F}" type="presParOf" srcId="{3F0E4E04-B984-461F-BBD6-4C02E0F7860B}" destId="{0E0C75E8-5341-4499-83DF-C50B550A5D34}" srcOrd="2" destOrd="0" presId="urn:microsoft.com/office/officeart/2005/8/layout/vList5"/>
    <dgm:cxn modelId="{FD68F864-2705-46A7-B3E9-CA2EA949AEC9}" type="presParOf" srcId="{0E0C75E8-5341-4499-83DF-C50B550A5D34}" destId="{894334F0-A857-4998-B872-5762D0921C21}" srcOrd="0" destOrd="0" presId="urn:microsoft.com/office/officeart/2005/8/layout/vList5"/>
    <dgm:cxn modelId="{36F50DC0-374E-4ED3-8FB3-1C0A8F8F0E59}" type="presParOf" srcId="{0E0C75E8-5341-4499-83DF-C50B550A5D34}" destId="{972D9591-AD7C-49D7-9094-77CEAC4F4FB6}" srcOrd="1" destOrd="0" presId="urn:microsoft.com/office/officeart/2005/8/layout/vList5"/>
    <dgm:cxn modelId="{E98D0831-0323-4234-B308-332C67830F5D}" type="presParOf" srcId="{3F0E4E04-B984-461F-BBD6-4C02E0F7860B}" destId="{68AEEF11-26AB-4110-8CC2-2CBA9E5BAF86}" srcOrd="3" destOrd="0" presId="urn:microsoft.com/office/officeart/2005/8/layout/vList5"/>
    <dgm:cxn modelId="{7633ACA2-394F-434A-B3AE-C55286E49457}" type="presParOf" srcId="{3F0E4E04-B984-461F-BBD6-4C02E0F7860B}" destId="{677F4B25-24E8-4809-89C8-1CF9AE183428}" srcOrd="4" destOrd="0" presId="urn:microsoft.com/office/officeart/2005/8/layout/vList5"/>
    <dgm:cxn modelId="{A4EEFC66-6AF2-4841-8BAB-07B40881CD69}" type="presParOf" srcId="{677F4B25-24E8-4809-89C8-1CF9AE183428}" destId="{2BEDD279-7DEC-478C-AED3-D8EBF9B174EE}" srcOrd="0" destOrd="0" presId="urn:microsoft.com/office/officeart/2005/8/layout/vList5"/>
    <dgm:cxn modelId="{FD2F9AD9-4701-4C98-83B4-11EC132F0FFA}" type="presParOf" srcId="{677F4B25-24E8-4809-89C8-1CF9AE183428}" destId="{42184081-B703-48A1-B3DD-0E9EC31732E5}" srcOrd="1" destOrd="0" presId="urn:microsoft.com/office/officeart/2005/8/layout/vList5"/>
    <dgm:cxn modelId="{BA27E4D3-8A99-4A6C-948D-B64CB1527FFB}" type="presParOf" srcId="{3F0E4E04-B984-461F-BBD6-4C02E0F7860B}" destId="{3FDD0C05-21A2-432F-B0CA-D37A38525FF6}" srcOrd="5" destOrd="0" presId="urn:microsoft.com/office/officeart/2005/8/layout/vList5"/>
    <dgm:cxn modelId="{14744AAA-7DDD-4AC7-8E7A-DFA19D4A5006}" type="presParOf" srcId="{3F0E4E04-B984-461F-BBD6-4C02E0F7860B}" destId="{DBCD2588-1DEA-4C2F-A0F3-3956125775EE}" srcOrd="6" destOrd="0" presId="urn:microsoft.com/office/officeart/2005/8/layout/vList5"/>
    <dgm:cxn modelId="{2FE8B94B-D316-45DC-A83F-79CFCF4D956A}" type="presParOf" srcId="{DBCD2588-1DEA-4C2F-A0F3-3956125775EE}" destId="{88B4C54F-2B12-4289-9435-A713CF75FE4F}" srcOrd="0" destOrd="0" presId="urn:microsoft.com/office/officeart/2005/8/layout/vList5"/>
    <dgm:cxn modelId="{4C1757AD-71A8-4C97-B16C-7A66A0A687F9}" type="presParOf" srcId="{DBCD2588-1DEA-4C2F-A0F3-3956125775EE}" destId="{959A833A-BEF6-43CA-83AF-BE63C15188BD}" srcOrd="1" destOrd="0" presId="urn:microsoft.com/office/officeart/2005/8/layout/vList5"/>
    <dgm:cxn modelId="{0FA2408E-0746-4FA7-B854-BD073FE774A3}" type="presParOf" srcId="{3F0E4E04-B984-461F-BBD6-4C02E0F7860B}" destId="{074F27B8-5107-4CC1-8882-1A55B857DEED}" srcOrd="7" destOrd="0" presId="urn:microsoft.com/office/officeart/2005/8/layout/vList5"/>
    <dgm:cxn modelId="{799ADC2D-E3D9-418D-B2CC-E04768F4B49C}" type="presParOf" srcId="{3F0E4E04-B984-461F-BBD6-4C02E0F7860B}" destId="{39447171-5C2F-4117-A6FC-5A0BB401A457}" srcOrd="8" destOrd="0" presId="urn:microsoft.com/office/officeart/2005/8/layout/vList5"/>
    <dgm:cxn modelId="{867F6C1F-DFFA-464B-A8FF-1553B251227C}" type="presParOf" srcId="{39447171-5C2F-4117-A6FC-5A0BB401A457}" destId="{FC48821B-A805-4B7D-8D33-6DDCAFDC59BB}" srcOrd="0" destOrd="0" presId="urn:microsoft.com/office/officeart/2005/8/layout/vList5"/>
    <dgm:cxn modelId="{27797E96-529A-428E-A86F-ECF395CFF7F8}" type="presParOf" srcId="{39447171-5C2F-4117-A6FC-5A0BB401A457}" destId="{73204E57-0164-4968-A5B5-1B9D047DDF6E}" srcOrd="1" destOrd="0" presId="urn:microsoft.com/office/officeart/2005/8/layout/vList5"/>
    <dgm:cxn modelId="{5BFBBD2A-F237-4E3B-8988-E94FE72C12F7}" type="presParOf" srcId="{3F0E4E04-B984-461F-BBD6-4C02E0F7860B}" destId="{4E0020B9-3134-4620-A6E3-B60697D1CAB8}" srcOrd="9" destOrd="0" presId="urn:microsoft.com/office/officeart/2005/8/layout/vList5"/>
    <dgm:cxn modelId="{598EB6D3-4E22-4EB3-B698-EDA9919D7FEB}" type="presParOf" srcId="{3F0E4E04-B984-461F-BBD6-4C02E0F7860B}" destId="{260A0209-C791-4E23-BA7A-74714FF68851}" srcOrd="10" destOrd="0" presId="urn:microsoft.com/office/officeart/2005/8/layout/vList5"/>
    <dgm:cxn modelId="{7B08F726-094B-48C0-B30B-64F70CCA7D5B}" type="presParOf" srcId="{260A0209-C791-4E23-BA7A-74714FF68851}" destId="{F1349B64-76F0-4C6F-82F4-7196AA3AC19D}" srcOrd="0" destOrd="0" presId="urn:microsoft.com/office/officeart/2005/8/layout/vList5"/>
    <dgm:cxn modelId="{E94B54BA-3DED-41B6-9730-B7E749285AC9}" type="presParOf" srcId="{260A0209-C791-4E23-BA7A-74714FF68851}" destId="{DFA94ED6-4FE4-4E42-966F-BF1A651C5F59}" srcOrd="1" destOrd="0" presId="urn:microsoft.com/office/officeart/2005/8/layout/vList5"/>
    <dgm:cxn modelId="{46E28C4B-F31D-4D0C-89CA-85C50A3FDD3B}" type="presParOf" srcId="{3F0E4E04-B984-461F-BBD6-4C02E0F7860B}" destId="{A460A106-BD0C-403B-AD4F-AE45903CFC7C}" srcOrd="11" destOrd="0" presId="urn:microsoft.com/office/officeart/2005/8/layout/vList5"/>
    <dgm:cxn modelId="{45C27C27-FB84-485D-B063-110EFA2BF10A}" type="presParOf" srcId="{3F0E4E04-B984-461F-BBD6-4C02E0F7860B}" destId="{B16D79E9-F159-4E9B-AA03-B5FC8B7E0055}" srcOrd="12" destOrd="0" presId="urn:microsoft.com/office/officeart/2005/8/layout/vList5"/>
    <dgm:cxn modelId="{0ACB7E29-1B6D-4274-9389-EA958DC61C31}" type="presParOf" srcId="{B16D79E9-F159-4E9B-AA03-B5FC8B7E0055}" destId="{0B9027F1-592A-4F2E-A3D2-C683E3429CE7}" srcOrd="0" destOrd="0" presId="urn:microsoft.com/office/officeart/2005/8/layout/vList5"/>
    <dgm:cxn modelId="{DA8C671C-78E3-4533-B4AF-1B68F1AC2D9E}" type="presParOf" srcId="{B16D79E9-F159-4E9B-AA03-B5FC8B7E0055}" destId="{8B6616AE-9BA6-42E6-8368-92157C053B74}" srcOrd="1" destOrd="0" presId="urn:microsoft.com/office/officeart/2005/8/layout/vList5"/>
    <dgm:cxn modelId="{3BA449D4-8226-4CBB-8D12-A80F804C20DF}" type="presParOf" srcId="{3F0E4E04-B984-461F-BBD6-4C02E0F7860B}" destId="{CB7EB1C3-14C5-484B-912A-749449CAA5E0}" srcOrd="13" destOrd="0" presId="urn:microsoft.com/office/officeart/2005/8/layout/vList5"/>
    <dgm:cxn modelId="{6E564904-A74C-4122-A55A-8143C0D0E572}" type="presParOf" srcId="{3F0E4E04-B984-461F-BBD6-4C02E0F7860B}" destId="{BA868507-6ABF-4428-A222-B4D877FEAC58}" srcOrd="14" destOrd="0" presId="urn:microsoft.com/office/officeart/2005/8/layout/vList5"/>
    <dgm:cxn modelId="{1D976E1D-EC7B-45D2-A0AF-472A966C2A03}" type="presParOf" srcId="{BA868507-6ABF-4428-A222-B4D877FEAC58}" destId="{DCBA8994-BB08-49E3-80DD-D15682CC5F50}" srcOrd="0" destOrd="0" presId="urn:microsoft.com/office/officeart/2005/8/layout/vList5"/>
    <dgm:cxn modelId="{EDF60A1E-2247-4FC1-A850-4C2F9105D670}" type="presParOf" srcId="{BA868507-6ABF-4428-A222-B4D877FEAC58}" destId="{56108021-3534-4378-BB36-E49A42D1124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F7C52-20D9-42FB-BB47-EFE9CF0E08AC}">
      <dsp:nvSpPr>
        <dsp:cNvPr id="0" name=""/>
        <dsp:cNvSpPr/>
      </dsp:nvSpPr>
      <dsp:spPr>
        <a:xfrm rot="5400000">
          <a:off x="4529579" y="-3644852"/>
          <a:ext cx="352565" cy="780947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Risk Based Process Safety; Hazard ID; Risk Management Concepts; Fires, Explosions &amp; Releases</a:t>
          </a:r>
          <a:endParaRPr lang="en-US" sz="1200" kern="1200" dirty="0"/>
        </a:p>
      </dsp:txBody>
      <dsp:txXfrm rot="-5400000">
        <a:off x="801125" y="100813"/>
        <a:ext cx="7792263" cy="318143"/>
      </dsp:txXfrm>
    </dsp:sp>
    <dsp:sp modelId="{A17C13A1-0ECA-47E7-9888-72B8DD0FBB3E}">
      <dsp:nvSpPr>
        <dsp:cNvPr id="0" name=""/>
        <dsp:cNvSpPr/>
      </dsp:nvSpPr>
      <dsp:spPr>
        <a:xfrm>
          <a:off x="160" y="2044"/>
          <a:ext cx="799484" cy="4581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1"/>
              </a:solidFill>
            </a:rPr>
            <a:t>Hazards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22526" y="24410"/>
        <a:ext cx="754752" cy="413432"/>
      </dsp:txXfrm>
    </dsp:sp>
    <dsp:sp modelId="{972D9591-AD7C-49D7-9094-77CEAC4F4FB6}">
      <dsp:nvSpPr>
        <dsp:cNvPr id="0" name=""/>
        <dsp:cNvSpPr/>
      </dsp:nvSpPr>
      <dsp:spPr>
        <a:xfrm rot="5400000">
          <a:off x="4236708" y="-2387233"/>
          <a:ext cx="327013" cy="62126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Inherently Safer Design; Bhopal Loss Incident </a:t>
          </a:r>
          <a:endParaRPr lang="en-US" sz="1200" kern="1200" dirty="0"/>
        </a:p>
      </dsp:txBody>
      <dsp:txXfrm rot="-5400000">
        <a:off x="1293869" y="571569"/>
        <a:ext cx="6196729" cy="295087"/>
      </dsp:txXfrm>
    </dsp:sp>
    <dsp:sp modelId="{894334F0-A857-4998-B872-5762D0921C21}">
      <dsp:nvSpPr>
        <dsp:cNvPr id="0" name=""/>
        <dsp:cNvSpPr/>
      </dsp:nvSpPr>
      <dsp:spPr>
        <a:xfrm>
          <a:off x="160" y="515107"/>
          <a:ext cx="1293708" cy="4080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1"/>
              </a:solidFill>
            </a:rPr>
            <a:t>Inherent Safety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20077" y="535024"/>
        <a:ext cx="1253874" cy="368175"/>
      </dsp:txXfrm>
    </dsp:sp>
    <dsp:sp modelId="{42184081-B703-48A1-B3DD-0E9EC31732E5}">
      <dsp:nvSpPr>
        <dsp:cNvPr id="0" name=""/>
        <dsp:cNvSpPr/>
      </dsp:nvSpPr>
      <dsp:spPr>
        <a:xfrm rot="5400000">
          <a:off x="4564866" y="-2580341"/>
          <a:ext cx="467045" cy="762283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Facility Siting, Hazardous Area Classification; Regulations; Occupational Health &amp; Toxicology</a:t>
          </a:r>
          <a:endParaRPr lang="en-US" sz="1200" kern="1200" dirty="0"/>
        </a:p>
      </dsp:txBody>
      <dsp:txXfrm rot="-5400000">
        <a:off x="986970" y="1020354"/>
        <a:ext cx="7600039" cy="421447"/>
      </dsp:txXfrm>
    </dsp:sp>
    <dsp:sp modelId="{2BEDD279-7DEC-478C-AED3-D8EBF9B174EE}">
      <dsp:nvSpPr>
        <dsp:cNvPr id="0" name=""/>
        <dsp:cNvSpPr/>
      </dsp:nvSpPr>
      <dsp:spPr>
        <a:xfrm>
          <a:off x="160" y="978016"/>
          <a:ext cx="986809" cy="506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1"/>
              </a:solidFill>
            </a:rPr>
            <a:t>Design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24867" y="1002723"/>
        <a:ext cx="937395" cy="456710"/>
      </dsp:txXfrm>
    </dsp:sp>
    <dsp:sp modelId="{959A833A-BEF6-43CA-83AF-BE63C15188BD}">
      <dsp:nvSpPr>
        <dsp:cNvPr id="0" name=""/>
        <dsp:cNvSpPr/>
      </dsp:nvSpPr>
      <dsp:spPr>
        <a:xfrm rot="5400000">
          <a:off x="4662600" y="-1939628"/>
          <a:ext cx="427316" cy="746823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Pre-Startup Safety Review; Management of Change; Human Factors; </a:t>
          </a:r>
          <a:r>
            <a:rPr lang="en-US" sz="1200" kern="1200" dirty="0" err="1" smtClean="0"/>
            <a:t>Flixborough</a:t>
          </a:r>
          <a:r>
            <a:rPr lang="en-US" sz="1200" kern="1200" dirty="0" smtClean="0"/>
            <a:t> Incident; Phillips 66 Polyethylene Plant incident (Pasadena, TX); Marathon Texas City Refinery HF Release; Emergency Management; Key Performance Indicators; Audits; PSM frameworks</a:t>
          </a:r>
          <a:endParaRPr lang="en-US" sz="1200" kern="1200" dirty="0"/>
        </a:p>
      </dsp:txBody>
      <dsp:txXfrm rot="-5400000">
        <a:off x="1142140" y="1601692"/>
        <a:ext cx="7447376" cy="385596"/>
      </dsp:txXfrm>
    </dsp:sp>
    <dsp:sp modelId="{88B4C54F-2B12-4289-9435-A713CF75FE4F}">
      <dsp:nvSpPr>
        <dsp:cNvPr id="0" name=""/>
        <dsp:cNvSpPr/>
      </dsp:nvSpPr>
      <dsp:spPr>
        <a:xfrm>
          <a:off x="160" y="1539039"/>
          <a:ext cx="1141979" cy="5109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1"/>
              </a:solidFill>
            </a:rPr>
            <a:t>Operations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25100" y="1563979"/>
        <a:ext cx="1092099" cy="461020"/>
      </dsp:txXfrm>
    </dsp:sp>
    <dsp:sp modelId="{73204E57-0164-4968-A5B5-1B9D047DDF6E}">
      <dsp:nvSpPr>
        <dsp:cNvPr id="0" name=""/>
        <dsp:cNvSpPr/>
      </dsp:nvSpPr>
      <dsp:spPr>
        <a:xfrm rot="5400000">
          <a:off x="4504274" y="-1397309"/>
          <a:ext cx="537518" cy="767481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Independent Layers of Protection; Basic Process Control Systems; Safety-Instrumented Systems; Safety System Impairment; BP Texas City Incident</a:t>
          </a:r>
          <a:endParaRPr lang="en-US" sz="1200" kern="1200" dirty="0"/>
        </a:p>
      </dsp:txBody>
      <dsp:txXfrm rot="-5400000">
        <a:off x="935628" y="2197576"/>
        <a:ext cx="7648572" cy="485040"/>
      </dsp:txXfrm>
    </dsp:sp>
    <dsp:sp modelId="{FC48821B-A805-4B7D-8D33-6DDCAFDC59BB}">
      <dsp:nvSpPr>
        <dsp:cNvPr id="0" name=""/>
        <dsp:cNvSpPr/>
      </dsp:nvSpPr>
      <dsp:spPr>
        <a:xfrm>
          <a:off x="160" y="2104839"/>
          <a:ext cx="935466" cy="6705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1"/>
              </a:solidFill>
            </a:rPr>
            <a:t>Alarms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32892" y="2137571"/>
        <a:ext cx="870002" cy="605050"/>
      </dsp:txXfrm>
    </dsp:sp>
    <dsp:sp modelId="{DFA94ED6-4FE4-4E42-966F-BF1A651C5F59}">
      <dsp:nvSpPr>
        <dsp:cNvPr id="0" name=""/>
        <dsp:cNvSpPr/>
      </dsp:nvSpPr>
      <dsp:spPr>
        <a:xfrm rot="5400000">
          <a:off x="4666342" y="-645505"/>
          <a:ext cx="405066" cy="747256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Overpressure protection; specialized safeguards; asset integrity/barrier analysis</a:t>
          </a:r>
          <a:endParaRPr lang="en-US" sz="1200" kern="1200" dirty="0"/>
        </a:p>
      </dsp:txBody>
      <dsp:txXfrm rot="-5400000">
        <a:off x="1132594" y="2908017"/>
        <a:ext cx="7452788" cy="365518"/>
      </dsp:txXfrm>
    </dsp:sp>
    <dsp:sp modelId="{F1349B64-76F0-4C6F-82F4-7196AA3AC19D}">
      <dsp:nvSpPr>
        <dsp:cNvPr id="0" name=""/>
        <dsp:cNvSpPr/>
      </dsp:nvSpPr>
      <dsp:spPr>
        <a:xfrm>
          <a:off x="160" y="2830252"/>
          <a:ext cx="1132433" cy="521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1"/>
              </a:solidFill>
            </a:rPr>
            <a:t>Safeguards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25595" y="2855687"/>
        <a:ext cx="1081563" cy="470176"/>
      </dsp:txXfrm>
    </dsp:sp>
    <dsp:sp modelId="{8B6616AE-9BA6-42E6-8368-92157C053B74}">
      <dsp:nvSpPr>
        <dsp:cNvPr id="0" name=""/>
        <dsp:cNvSpPr/>
      </dsp:nvSpPr>
      <dsp:spPr>
        <a:xfrm rot="5400000">
          <a:off x="4455873" y="54447"/>
          <a:ext cx="769797" cy="753916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Chemical Reactivity; What-if; HAZOP; FMEA; Event Tree; Fault Tree; Dispersion &amp; Consequence Analysis; Layer of Protection Analysis (LOPA); Dow FEI &amp; CEI tools; </a:t>
          </a:r>
          <a:r>
            <a:rPr lang="en-US" sz="1200" kern="1200" dirty="0" err="1" smtClean="0"/>
            <a:t>BowTie</a:t>
          </a:r>
          <a:r>
            <a:rPr lang="en-US" sz="1200" kern="1200" dirty="0" smtClean="0"/>
            <a:t>; Safety Integrity Level; Piper Alpha &amp; BP </a:t>
          </a:r>
          <a:r>
            <a:rPr lang="en-US" sz="1200" kern="1200" dirty="0" err="1" smtClean="0"/>
            <a:t>Macondo</a:t>
          </a:r>
          <a:r>
            <a:rPr lang="en-US" sz="1200" kern="1200" dirty="0" smtClean="0"/>
            <a:t> incidents</a:t>
          </a:r>
          <a:endParaRPr lang="en-US" sz="1200" kern="1200" dirty="0">
            <a:solidFill>
              <a:srgbClr val="FF0000"/>
            </a:solidFill>
          </a:endParaRPr>
        </a:p>
      </dsp:txBody>
      <dsp:txXfrm rot="-5400000">
        <a:off x="1071191" y="3476707"/>
        <a:ext cx="7501584" cy="694641"/>
      </dsp:txXfrm>
    </dsp:sp>
    <dsp:sp modelId="{0B9027F1-592A-4F2E-A3D2-C683E3429CE7}">
      <dsp:nvSpPr>
        <dsp:cNvPr id="0" name=""/>
        <dsp:cNvSpPr/>
      </dsp:nvSpPr>
      <dsp:spPr>
        <a:xfrm>
          <a:off x="160" y="3406197"/>
          <a:ext cx="1071030" cy="8356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1"/>
              </a:solidFill>
            </a:rPr>
            <a:t>Risk Assessment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40954" y="3446991"/>
        <a:ext cx="989442" cy="754073"/>
      </dsp:txXfrm>
    </dsp:sp>
    <dsp:sp modelId="{56108021-3534-4378-BB36-E49A42D11245}">
      <dsp:nvSpPr>
        <dsp:cNvPr id="0" name=""/>
        <dsp:cNvSpPr/>
      </dsp:nvSpPr>
      <dsp:spPr>
        <a:xfrm rot="5400000">
          <a:off x="4713921" y="1002643"/>
          <a:ext cx="548761" cy="72424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0" kern="1200" dirty="0" smtClean="0">
              <a:solidFill>
                <a:schemeClr val="tx1"/>
              </a:solidFill>
            </a:rPr>
            <a:t>U of A Faculty of Medicine &amp; Dentistry; Alberta Boilers Safety Association (ABSA); </a:t>
          </a:r>
          <a:r>
            <a:rPr lang="en-US" sz="1200" b="0" kern="1200" dirty="0" err="1" smtClean="0">
              <a:solidFill>
                <a:schemeClr val="tx1"/>
              </a:solidFill>
            </a:rPr>
            <a:t>Syncrude</a:t>
          </a:r>
          <a:r>
            <a:rPr lang="en-US" sz="1200" b="0" kern="1200" dirty="0" smtClean="0">
              <a:solidFill>
                <a:schemeClr val="tx1"/>
              </a:solidFill>
            </a:rPr>
            <a:t>; Imperial Oil; Chevron; Dow; NOVA Chemicals; Shell; C-FER; Top Hat</a:t>
          </a:r>
          <a:endParaRPr lang="en-US" sz="1200" b="0" kern="1200" dirty="0">
            <a:solidFill>
              <a:schemeClr val="tx1"/>
            </a:solidFill>
          </a:endParaRPr>
        </a:p>
      </dsp:txBody>
      <dsp:txXfrm rot="-5400000">
        <a:off x="1367088" y="4376264"/>
        <a:ext cx="7215639" cy="495185"/>
      </dsp:txXfrm>
    </dsp:sp>
    <dsp:sp modelId="{DCBA8994-BB08-49E3-80DD-D15682CC5F50}">
      <dsp:nvSpPr>
        <dsp:cNvPr id="0" name=""/>
        <dsp:cNvSpPr/>
      </dsp:nvSpPr>
      <dsp:spPr>
        <a:xfrm>
          <a:off x="160" y="4296757"/>
          <a:ext cx="1366927" cy="6541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1"/>
              </a:solidFill>
            </a:rPr>
            <a:t>Guest Lecture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solidFill>
                <a:schemeClr val="tx1"/>
              </a:solidFill>
            </a:rPr>
            <a:t>Organizations 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32095" y="4328692"/>
        <a:ext cx="1303057" cy="590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5/7/2021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134478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4732" indent="-29323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779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494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0922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0753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85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60416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40248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0FF416-537F-4655-9785-8FC1743BF314}" type="slidenum">
              <a:rPr lang="en-US" altLang="en-US" smtClean="0"/>
              <a:pPr/>
              <a:t>2</a:t>
            </a:fld>
            <a:endParaRPr lang="en-US" altLang="en-US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6149" name="Footer Placeholder 1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en-US" smtClean="0"/>
              <a:t>Total pages = 172 J.R. Cocchio © </a:t>
            </a:r>
            <a:endParaRPr lang="en-US" altLang="en-US" smtClean="0"/>
          </a:p>
        </p:txBody>
      </p:sp>
      <p:sp>
        <p:nvSpPr>
          <p:cNvPr id="6150" name="Header Placeholder 2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GoSafetyPro Isolation Techniques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A38ABFC-0E77-414D-B8F6-A76199230D10}" type="datetime1">
              <a:rPr lang="en-US" altLang="en-US" smtClean="0"/>
              <a:t>5/7/2021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4066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196" name="Slide Number Placeholder 6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4732" indent="-29323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779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494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0922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0753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85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60416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40248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2DBFC1-AF6B-4D1F-915A-D9FDEF0CBE64}" type="slidenum">
              <a:rPr lang="en-US" altLang="en-US" smtClean="0"/>
              <a:pPr/>
              <a:t>6</a:t>
            </a:fld>
            <a:endParaRPr lang="en-US" altLang="en-US" smtClean="0"/>
          </a:p>
        </p:txBody>
      </p:sp>
      <p:sp>
        <p:nvSpPr>
          <p:cNvPr id="8197" name="Footer Placeholder 1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en-US" smtClean="0"/>
              <a:t>Total pages = 172 J.R. Cocchio © </a:t>
            </a:r>
            <a:endParaRPr lang="en-US" altLang="en-US" smtClean="0"/>
          </a:p>
        </p:txBody>
      </p:sp>
      <p:sp>
        <p:nvSpPr>
          <p:cNvPr id="819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GoSafetyPro Isolation Techniques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137779B3-E299-49E4-8F78-319CDC7BA513}" type="datetime1">
              <a:rPr lang="en-US" altLang="en-US" smtClean="0"/>
              <a:t>5/7/2021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7365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196" name="Slide Number Placeholder 6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4732" indent="-29323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779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494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0922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0753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85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60416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40248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2DBFC1-AF6B-4D1F-915A-D9FDEF0CBE64}" type="slidenum">
              <a:rPr lang="en-US" altLang="en-US" smtClean="0"/>
              <a:pPr/>
              <a:t>7</a:t>
            </a:fld>
            <a:endParaRPr lang="en-US" altLang="en-US" smtClean="0"/>
          </a:p>
        </p:txBody>
      </p:sp>
      <p:sp>
        <p:nvSpPr>
          <p:cNvPr id="8197" name="Footer Placeholder 1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en-US" smtClean="0"/>
              <a:t>Total pages = 172 J.R. Cocchio © </a:t>
            </a:r>
            <a:endParaRPr lang="en-US" altLang="en-US" smtClean="0"/>
          </a:p>
        </p:txBody>
      </p:sp>
      <p:sp>
        <p:nvSpPr>
          <p:cNvPr id="819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GoSafetyPro Isolation Techniques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137779B3-E299-49E4-8F78-319CDC7BA513}" type="datetime1">
              <a:rPr lang="en-US" altLang="en-US" smtClean="0"/>
              <a:t>5/7/2021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1185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196" name="Slide Number Placeholder 6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4732" indent="-29323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779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494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0922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0753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85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60416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40248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2DBFC1-AF6B-4D1F-915A-D9FDEF0CBE64}" type="slidenum">
              <a:rPr lang="en-US" altLang="en-US" smtClean="0"/>
              <a:pPr/>
              <a:t>9</a:t>
            </a:fld>
            <a:endParaRPr lang="en-US" altLang="en-US" smtClean="0"/>
          </a:p>
        </p:txBody>
      </p:sp>
      <p:sp>
        <p:nvSpPr>
          <p:cNvPr id="8197" name="Footer Placeholder 1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en-US" smtClean="0"/>
              <a:t>Total pages = 172 J.R. Cocchio © </a:t>
            </a:r>
            <a:endParaRPr lang="en-US" altLang="en-US" smtClean="0"/>
          </a:p>
        </p:txBody>
      </p:sp>
      <p:sp>
        <p:nvSpPr>
          <p:cNvPr id="819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GoSafetyPro Isolation Techniques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137779B3-E299-49E4-8F78-319CDC7BA513}" type="datetime1">
              <a:rPr lang="en-US" altLang="en-US" smtClean="0"/>
              <a:t>5/7/2021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91149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196" name="Slide Number Placeholder 6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64732" indent="-29323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779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49420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20922" indent="-233251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0753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85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60416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40248" indent="-233251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2DBFC1-AF6B-4D1F-915A-D9FDEF0CBE64}" type="slidenum">
              <a:rPr lang="en-US" altLang="en-US" smtClean="0"/>
              <a:pPr/>
              <a:t>10</a:t>
            </a:fld>
            <a:endParaRPr lang="en-US" altLang="en-US" smtClean="0"/>
          </a:p>
        </p:txBody>
      </p:sp>
      <p:sp>
        <p:nvSpPr>
          <p:cNvPr id="8197" name="Footer Placeholder 1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altLang="en-US" smtClean="0"/>
              <a:t>Total pages = 172 J.R. Cocchio © </a:t>
            </a:r>
            <a:endParaRPr lang="en-US" altLang="en-US" smtClean="0"/>
          </a:p>
        </p:txBody>
      </p:sp>
      <p:sp>
        <p:nvSpPr>
          <p:cNvPr id="819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1407" indent="-284900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1266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9438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5944" indent="-228254" defTabSz="964662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5776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15607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5438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5270" indent="-228254" defTabSz="96466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GoSafetyPro Isolation Techniques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137779B3-E299-49E4-8F78-319CDC7BA513}" type="datetime1">
              <a:rPr lang="en-US" altLang="en-US" smtClean="0"/>
              <a:t>5/7/2021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828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J.R. Cocchio © 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AA375-92BE-4DFD-8C4A-3E0EBBB758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22077-575B-43F4-B59B-A50CD6C21934}" type="datetimeFigureOut">
              <a:rPr lang="en-US" altLang="en-US" smtClean="0"/>
              <a:pPr>
                <a:defRPr/>
              </a:pPr>
              <a:t>5/7/2021</a:t>
            </a:fld>
            <a:r>
              <a:rPr lang="en-US" altLang="en-US" dirty="0" smtClean="0"/>
              <a:t>03-March-2018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748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99080331"/>
              </p:ext>
            </p:extLst>
          </p:nvPr>
        </p:nvGraphicFramePr>
        <p:xfrm>
          <a:off x="228600" y="838200"/>
          <a:ext cx="86106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227013" y="227013"/>
            <a:ext cx="868838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rPr>
              <a:t>ENGG406 Course Overview</a:t>
            </a:r>
            <a:endParaRPr lang="en-US" altLang="en-US" b="0" dirty="0">
              <a:solidFill>
                <a:schemeClr val="accent2"/>
              </a:solidFill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92304"/>
            <a:ext cx="7772400" cy="2209800"/>
          </a:xfrm>
        </p:spPr>
        <p:txBody>
          <a:bodyPr/>
          <a:lstStyle/>
          <a:p>
            <a:pPr algn="ctr" eaLnBrk="1" hangingPunct="1"/>
            <a:r>
              <a:rPr lang="en-US" altLang="en-US" sz="4000" b="1" i="1" dirty="0" smtClean="0"/>
              <a:t>ENGG406</a:t>
            </a:r>
            <a:r>
              <a:rPr lang="en-US" altLang="en-US" sz="3200" b="1" i="1" dirty="0" smtClean="0"/>
              <a:t/>
            </a:r>
            <a:br>
              <a:rPr lang="en-US" altLang="en-US" sz="3200" b="1" i="1" dirty="0" smtClean="0"/>
            </a:br>
            <a:r>
              <a:rPr lang="en-US" altLang="en-US" sz="3200" b="1" i="1" dirty="0" smtClean="0"/>
              <a:t>A Course in Process Safety</a:t>
            </a:r>
            <a:br>
              <a:rPr lang="en-US" altLang="en-US" sz="3200" b="1" i="1" dirty="0" smtClean="0"/>
            </a:br>
            <a:r>
              <a:rPr lang="en-US" altLang="en-US" sz="2400" b="1" i="1" dirty="0" smtClean="0"/>
              <a:t>Engineering Safety –</a:t>
            </a:r>
            <a:br>
              <a:rPr lang="en-US" altLang="en-US" sz="2400" b="1" i="1" dirty="0" smtClean="0"/>
            </a:br>
            <a:r>
              <a:rPr lang="en-US" altLang="en-US" sz="2400" b="1" i="1" dirty="0" smtClean="0"/>
              <a:t>Methodologies </a:t>
            </a:r>
            <a:r>
              <a:rPr lang="en-US" altLang="en-US" sz="2400" b="1" i="1" dirty="0"/>
              <a:t>&amp; </a:t>
            </a:r>
            <a:r>
              <a:rPr lang="en-US" altLang="en-US" sz="2400" b="1" i="1" dirty="0" smtClean="0"/>
              <a:t>Tools</a:t>
            </a:r>
            <a:endParaRPr lang="en-US" altLang="en-US" sz="2000" b="1" i="1" dirty="0" smtClean="0"/>
          </a:p>
        </p:txBody>
      </p:sp>
      <p:sp>
        <p:nvSpPr>
          <p:cNvPr id="5127" name="Subtitle 1"/>
          <p:cNvSpPr>
            <a:spLocks noGrp="1"/>
          </p:cNvSpPr>
          <p:nvPr>
            <p:ph type="subTitle" idx="1"/>
          </p:nvPr>
        </p:nvSpPr>
        <p:spPr>
          <a:xfrm>
            <a:off x="228600" y="4267200"/>
            <a:ext cx="8763000" cy="2133600"/>
          </a:xfrm>
        </p:spPr>
        <p:txBody>
          <a:bodyPr/>
          <a:lstStyle/>
          <a:p>
            <a:pPr algn="ctr"/>
            <a:r>
              <a:rPr lang="en-US" altLang="en-US" sz="2800" i="1" dirty="0" smtClean="0"/>
              <a:t>Q: Why should you consider </a:t>
            </a:r>
            <a:r>
              <a:rPr lang="en-US" altLang="en-US" sz="2800" i="1" dirty="0"/>
              <a:t>taking this </a:t>
            </a:r>
            <a:r>
              <a:rPr lang="en-US" altLang="en-US" sz="2800" i="1" dirty="0" smtClean="0"/>
              <a:t>course?</a:t>
            </a:r>
          </a:p>
          <a:p>
            <a:pPr algn="ctr"/>
            <a:endParaRPr lang="en-US" altLang="en-US" sz="2800" i="1" dirty="0"/>
          </a:p>
          <a:p>
            <a:pPr algn="ctr"/>
            <a:r>
              <a:rPr lang="en-US" altLang="en-US" sz="2800" i="1" dirty="0" smtClean="0"/>
              <a:t>A: You have ENGG404 </a:t>
            </a:r>
            <a:r>
              <a:rPr lang="en-US" altLang="en-US" sz="2800" i="1" dirty="0"/>
              <a:t>“Leadership in Risk Management” </a:t>
            </a:r>
            <a:r>
              <a:rPr lang="en-US" altLang="en-US" sz="2800" i="1" dirty="0" smtClean="0"/>
              <a:t>… </a:t>
            </a:r>
            <a:r>
              <a:rPr lang="en-US" altLang="en-US" sz="2800" i="1" u="sng" dirty="0" smtClean="0"/>
              <a:t>now </a:t>
            </a:r>
            <a:r>
              <a:rPr lang="en-US" altLang="en-US" sz="2800" i="1" u="sng" dirty="0"/>
              <a:t>build on </a:t>
            </a:r>
            <a:r>
              <a:rPr lang="en-US" altLang="en-US" sz="2800" i="1" u="sng" dirty="0" smtClean="0"/>
              <a:t>it</a:t>
            </a:r>
            <a:r>
              <a:rPr lang="en-US" altLang="en-US" sz="2800" i="1" dirty="0" smtClean="0"/>
              <a:t>!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4000" cy="1463040"/>
            <a:chOff x="14177" y="0"/>
            <a:chExt cx="9129823" cy="143613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77" y="0"/>
              <a:ext cx="9129823" cy="1436132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14177" y="0"/>
              <a:ext cx="9129823" cy="369332"/>
            </a:xfrm>
            <a:prstGeom prst="rect">
              <a:avLst/>
            </a:prstGeom>
            <a:solidFill>
              <a:schemeClr val="bg2">
                <a:lumMod val="60000"/>
                <a:lumOff val="40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The David and Joan Lynch School of Engineering Safety and Risk </a:t>
              </a:r>
              <a:r>
                <a:rPr lang="en-US" dirty="0" smtClean="0">
                  <a:solidFill>
                    <a:schemeClr val="bg1"/>
                  </a:solidFill>
                </a:rPr>
                <a:t>Management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7200" y="381000"/>
              <a:ext cx="1007878" cy="1007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04196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9200"/>
            <a:ext cx="4524682" cy="272113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49" y="3200400"/>
            <a:ext cx="4515651" cy="257998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360000" y="180000"/>
            <a:ext cx="8280000" cy="540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sz="2800" b="1" i="1" kern="0" dirty="0" smtClean="0"/>
              <a:t>Process Safety vs. Occupational Safety</a:t>
            </a:r>
            <a:endParaRPr lang="en-US" altLang="en-US" sz="2800" b="1" i="1" kern="0" dirty="0"/>
          </a:p>
        </p:txBody>
      </p:sp>
    </p:spTree>
    <p:extLst>
      <p:ext uri="{BB962C8B-B14F-4D97-AF65-F5344CB8AC3E}">
        <p14:creationId xmlns:p14="http://schemas.microsoft.com/office/powerpoint/2010/main" val="232028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1663B7-1454-47DF-8032-A1279B538654}"/>
              </a:ext>
            </a:extLst>
          </p:cNvPr>
          <p:cNvSpPr/>
          <p:nvPr/>
        </p:nvSpPr>
        <p:spPr>
          <a:xfrm>
            <a:off x="457200" y="1143000"/>
            <a:ext cx="8229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A disciplined framework for managing the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integrity</a:t>
            </a:r>
            <a:r>
              <a:rPr kumimoji="0" lang="en-US" sz="200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of operating systems and processes handling hazardous substances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by applying good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design principles, engineering, and operating practices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 </a:t>
            </a:r>
            <a:endParaRPr kumimoji="0" lang="en-US" sz="200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000" dirty="0">
              <a:solidFill>
                <a:srgbClr val="000000"/>
              </a:solidFill>
              <a:latin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It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deals with the </a:t>
            </a:r>
            <a:r>
              <a:rPr kumimoji="0" lang="en-US" sz="200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prevention </a:t>
            </a:r>
            <a:r>
              <a:rPr kumimoji="0" lang="en-US" sz="200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of </a:t>
            </a:r>
            <a:r>
              <a:rPr kumimoji="0" lang="en-US" sz="200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incidents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that have the potential to release hazardous materials or </a:t>
            </a: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energy, and the </a:t>
            </a:r>
            <a:r>
              <a:rPr kumimoji="0" lang="en-US" sz="200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mitigation or control</a:t>
            </a:r>
            <a:r>
              <a:rPr kumimoji="0" lang="en-US" sz="2000" i="0" u="sng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of those incidents</a:t>
            </a:r>
            <a:r>
              <a:rPr kumimoji="0" lang="en-US" sz="200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 should they occur</a:t>
            </a: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000" dirty="0">
              <a:solidFill>
                <a:srgbClr val="000000"/>
              </a:solidFill>
              <a:latin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Process safety incidents: </a:t>
            </a:r>
            <a:b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</a:br>
            <a:r>
              <a:rPr kumimoji="0" lang="en-US" sz="200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“extremely low frequency but extremely high impact”.</a:t>
            </a:r>
            <a:endParaRPr kumimoji="0" lang="en-US" sz="200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000" dirty="0">
              <a:solidFill>
                <a:srgbClr val="000000"/>
              </a:solidFill>
              <a:latin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Such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incidents can cause toxic effects, fire, or explosion and could ultimately result in serious injuries, property damage, lost production, and environmental impact.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60000" y="180000"/>
            <a:ext cx="8280000" cy="540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sz="2800" b="1" i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altLang="en-US" sz="2800" b="1" i="1" kern="0" dirty="0">
                <a:latin typeface="Arial" panose="020B0604020202020204" pitchFamily="34" charset="0"/>
                <a:cs typeface="Arial" panose="020B0604020202020204" pitchFamily="34" charset="0"/>
              </a:rPr>
              <a:t>Definition: Process Safety</a:t>
            </a:r>
          </a:p>
        </p:txBody>
      </p:sp>
    </p:spTree>
    <p:extLst>
      <p:ext uri="{BB962C8B-B14F-4D97-AF65-F5344CB8AC3E}">
        <p14:creationId xmlns:p14="http://schemas.microsoft.com/office/powerpoint/2010/main" val="231867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254C360-9869-4B3C-9A9A-DC3987DFE0EA}"/>
              </a:ext>
            </a:extLst>
          </p:cNvPr>
          <p:cNvGrpSpPr>
            <a:grpSpLocks noGrp="1" noUngrp="1" noChangeAspect="1"/>
          </p:cNvGrpSpPr>
          <p:nvPr/>
        </p:nvGrpSpPr>
        <p:grpSpPr>
          <a:xfrm>
            <a:off x="838200" y="1376413"/>
            <a:ext cx="6634101" cy="4572000"/>
            <a:chOff x="1838325" y="685800"/>
            <a:chExt cx="8513763" cy="5867400"/>
          </a:xfrm>
        </p:grpSpPr>
        <p:pic>
          <p:nvPicPr>
            <p:cNvPr id="5" name="Picture 4" descr="Crowl_f01_01">
              <a:extLst>
                <a:ext uri="{FF2B5EF4-FFF2-40B4-BE49-F238E27FC236}">
                  <a16:creationId xmlns:a16="http://schemas.microsoft.com/office/drawing/2014/main" id="{BA75FDCE-5AB8-43F1-80B0-C6A1A845D25B}"/>
                </a:ext>
              </a:extLst>
            </p:cNvPr>
            <p:cNvPicPr>
              <a:picLocks noRot="1" noChangeAspect="1" noMove="1" noResize="1"/>
            </p:cNvPicPr>
            <p:nvPr isPhoto="1"/>
          </p:nvPicPr>
          <p:blipFill>
            <a:blip r:embed="rId2">
              <a:lum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8325" y="685800"/>
              <a:ext cx="8513763" cy="54864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561DC55-D5A3-4E6E-8112-08C8AC4CBA68}"/>
                </a:ext>
              </a:extLst>
            </p:cNvPr>
            <p:cNvSpPr/>
            <p:nvPr/>
          </p:nvSpPr>
          <p:spPr>
            <a:xfrm>
              <a:off x="1838325" y="6210300"/>
              <a:ext cx="8513763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rmAutofit fontScale="55000" lnSpcReduction="20000"/>
            </a:bodyPr>
            <a:lstStyle/>
            <a:p>
              <a:pPr algn="ctr"/>
              <a:endParaRPr lang="en-IN" sz="2400" dirty="0"/>
            </a:p>
          </p:txBody>
        </p:sp>
      </p:grp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60000" y="180000"/>
            <a:ext cx="8280000" cy="54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eaLnBrk="1" hangingPunct="1">
              <a:defRPr sz="2800" i="1" kern="0"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eaLnBrk="0" hangingPunct="0">
              <a:defRPr sz="4400">
                <a:latin typeface="Arial" pitchFamily="34" charset="0"/>
              </a:defRPr>
            </a:lvl2pPr>
            <a:lvl3pPr eaLnBrk="0" hangingPunct="0">
              <a:defRPr sz="4400">
                <a:latin typeface="Arial" pitchFamily="34" charset="0"/>
              </a:defRPr>
            </a:lvl3pPr>
            <a:lvl4pPr eaLnBrk="0" hangingPunct="0">
              <a:defRPr sz="4400">
                <a:latin typeface="Arial" pitchFamily="34" charset="0"/>
              </a:defRPr>
            </a:lvl4pPr>
            <a:lvl5pPr eaLnBrk="0" hangingPunct="0">
              <a:defRPr sz="4400"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400"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400"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400"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400">
                <a:latin typeface="Arial" pitchFamily="34" charset="0"/>
              </a:defRPr>
            </a:lvl9pPr>
          </a:lstStyle>
          <a:p>
            <a:r>
              <a:rPr lang="en-US" altLang="en-US" dirty="0"/>
              <a:t>Process Safety vs. Occupational Safety</a:t>
            </a:r>
            <a:endParaRPr lang="en-US" altLang="en-US" dirty="0"/>
          </a:p>
        </p:txBody>
      </p:sp>
      <p:sp>
        <p:nvSpPr>
          <p:cNvPr id="19" name="Left Arrow 18"/>
          <p:cNvSpPr/>
          <p:nvPr/>
        </p:nvSpPr>
        <p:spPr bwMode="auto">
          <a:xfrm>
            <a:off x="5971068" y="1497685"/>
            <a:ext cx="2560320" cy="1230830"/>
          </a:xfrm>
          <a:prstGeom prst="leftArrow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solidFill>
                  <a:srgbClr val="FF0000"/>
                </a:solidFill>
              </a:rPr>
              <a:t>ENGG406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3728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60000" y="180000"/>
            <a:ext cx="8280000" cy="54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Process Safety </a:t>
            </a:r>
            <a:r>
              <a:rPr lang="en-US" altLang="en-US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 </a:t>
            </a:r>
            <a:r>
              <a:rPr lang="en-US" altLang="en-US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Industry?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0292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You </a:t>
            </a:r>
            <a:r>
              <a:rPr lang="en-US" altLang="en-US" sz="2000" dirty="0"/>
              <a:t>will be confronted with a myriad of risks during your career</a:t>
            </a:r>
            <a:r>
              <a:rPr lang="en-US" altLang="en-US" sz="2000" dirty="0" smtClean="0"/>
              <a:t>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You </a:t>
            </a:r>
            <a:r>
              <a:rPr lang="en-US" altLang="en-US" sz="2000" dirty="0"/>
              <a:t>will be expected to manage those risks all of them</a:t>
            </a:r>
            <a:r>
              <a:rPr lang="en-US" altLang="en-US" sz="2000" dirty="0" smtClean="0"/>
              <a:t>.</a:t>
            </a:r>
            <a:endParaRPr lang="en-US" altLang="en-US" sz="20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/>
              <a:t>You will need to know methodologies &amp; tools that can be used </a:t>
            </a:r>
            <a:r>
              <a:rPr lang="en-US" altLang="en-US" sz="2000" dirty="0" smtClean="0"/>
              <a:t>to assess </a:t>
            </a:r>
            <a:r>
              <a:rPr lang="en-US" altLang="en-US" sz="2000" dirty="0"/>
              <a:t>the consequences, likelihoods, and risk exposures at </a:t>
            </a:r>
            <a:r>
              <a:rPr lang="en-US" altLang="en-US" sz="2000" dirty="0" smtClean="0"/>
              <a:t>all facilities </a:t>
            </a:r>
            <a:r>
              <a:rPr lang="en-US" altLang="en-US" sz="2000" dirty="0"/>
              <a:t>and plant operations.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You </a:t>
            </a:r>
            <a:r>
              <a:rPr lang="en-US" altLang="en-US" sz="2000" dirty="0"/>
              <a:t>will need to identify hazards and develop rational risk </a:t>
            </a:r>
            <a:r>
              <a:rPr lang="en-US" altLang="en-US" sz="2000" dirty="0" smtClean="0"/>
              <a:t>reduction solutions </a:t>
            </a:r>
            <a:r>
              <a:rPr lang="en-US" altLang="en-US" sz="2000" dirty="0"/>
              <a:t>to prevent loss incidents.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You </a:t>
            </a:r>
            <a:r>
              <a:rPr lang="en-US" altLang="en-US" sz="2000" dirty="0"/>
              <a:t>will need to lead your organization in deciding on how </a:t>
            </a:r>
            <a:r>
              <a:rPr lang="en-US" altLang="en-US" sz="2000" dirty="0" smtClean="0"/>
              <a:t>to manage </a:t>
            </a:r>
            <a:r>
              <a:rPr lang="en-US" altLang="en-US" sz="2000" dirty="0"/>
              <a:t>risk by: identifying, analyzing, evaluating , &amp; </a:t>
            </a:r>
            <a:r>
              <a:rPr lang="en-US" altLang="en-US" sz="2000" dirty="0" smtClean="0"/>
              <a:t>assessing them </a:t>
            </a:r>
            <a:r>
              <a:rPr lang="en-US" altLang="en-US" sz="2000" dirty="0"/>
              <a:t>against some acceptable criteria</a:t>
            </a:r>
            <a:r>
              <a:rPr lang="en-US" altLang="en-US" sz="2000" dirty="0" smtClean="0"/>
              <a:t>.</a:t>
            </a:r>
            <a:endParaRPr lang="en-US" altLang="en-US" sz="20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dirty="0" smtClean="0"/>
              <a:t>Then, </a:t>
            </a:r>
            <a:r>
              <a:rPr lang="en-US" altLang="en-US" sz="2000" dirty="0"/>
              <a:t>you will be asked to find cost </a:t>
            </a:r>
            <a:r>
              <a:rPr lang="en-US" altLang="en-US" sz="2000" dirty="0" smtClean="0"/>
              <a:t>effective solutions.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dirty="0"/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lang="en-US" altLang="en-US" sz="2000" b="1" dirty="0" smtClean="0"/>
              <a:t>With the ultimate goal of preventing process safety loss incidents. </a:t>
            </a: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092911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60000" y="180000"/>
            <a:ext cx="8280000" cy="54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ENGG406?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0292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Ø"/>
            </a:pPr>
            <a:r>
              <a:rPr lang="en-US" altLang="en-US" sz="2400" dirty="0"/>
              <a:t>ENGG404 </a:t>
            </a:r>
            <a:r>
              <a:rPr lang="en-US" altLang="en-US" sz="2400" dirty="0" smtClean="0"/>
              <a:t>is </a:t>
            </a:r>
            <a:r>
              <a:rPr lang="en-US" altLang="en-US" sz="2400" dirty="0"/>
              <a:t>about </a:t>
            </a:r>
            <a:r>
              <a:rPr lang="en-US" altLang="en-US" sz="2400" dirty="0" smtClean="0"/>
              <a:t>concepts and applications of </a:t>
            </a:r>
            <a:r>
              <a:rPr lang="en-US" altLang="en-US" sz="2400" u="sng" dirty="0" smtClean="0"/>
              <a:t>leadership</a:t>
            </a:r>
            <a:r>
              <a:rPr lang="en-US" altLang="en-US" sz="2400" u="sng" dirty="0"/>
              <a:t>, culture, people, and organizations</a:t>
            </a:r>
            <a:r>
              <a:rPr lang="en-US" altLang="en-US" sz="2400" dirty="0"/>
              <a:t>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Ø"/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Ø"/>
            </a:pPr>
            <a:r>
              <a:rPr lang="en-US" altLang="en-US" sz="2400" dirty="0"/>
              <a:t>ENGG406 is </a:t>
            </a:r>
            <a:r>
              <a:rPr lang="en-US" altLang="en-US" sz="2400" dirty="0" smtClean="0"/>
              <a:t>more </a:t>
            </a:r>
            <a:r>
              <a:rPr lang="en-US" altLang="en-US" sz="2400" dirty="0"/>
              <a:t>of a </a:t>
            </a:r>
            <a:r>
              <a:rPr lang="en-US" altLang="en-US" sz="2400" u="sng" dirty="0"/>
              <a:t>technical </a:t>
            </a:r>
            <a:r>
              <a:rPr lang="en-US" altLang="en-US" sz="2400" u="sng" dirty="0" smtClean="0"/>
              <a:t>safety course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than ENGG404 as it has a focus on the tools and methodologies for </a:t>
            </a:r>
            <a:r>
              <a:rPr lang="en-US" altLang="en-US" sz="2400" u="sng" dirty="0"/>
              <a:t>process safety risk </a:t>
            </a:r>
            <a:r>
              <a:rPr lang="en-US" altLang="en-US" sz="2400" u="sng" dirty="0" smtClean="0"/>
              <a:t>management</a:t>
            </a:r>
            <a:r>
              <a:rPr lang="en-US" altLang="en-US" sz="2400" dirty="0" smtClean="0"/>
              <a:t>.</a:t>
            </a:r>
            <a:endParaRPr lang="en-US" altLang="en-US" sz="24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Ø"/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Ø"/>
            </a:pPr>
            <a:r>
              <a:rPr lang="en-US" altLang="en-US" sz="2400" dirty="0"/>
              <a:t>Process safety risk management is a </a:t>
            </a:r>
            <a:r>
              <a:rPr lang="en-US" altLang="en-US" sz="2400" u="sng" dirty="0"/>
              <a:t>complementary study to process design engineering</a:t>
            </a:r>
            <a:r>
              <a:rPr lang="en-US" altLang="en-US" sz="2400" dirty="0"/>
              <a:t>, and is a great asset for those who desire a career in process design or in process / plant </a:t>
            </a:r>
            <a:r>
              <a:rPr lang="en-US" altLang="en-US" sz="2400" dirty="0" smtClean="0"/>
              <a:t>operations e.g. chemical engineers, mechanical engineers in process technologies, management/industrial engineers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2791807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60000" y="180000"/>
            <a:ext cx="8280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2800" i="1"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eaLnBrk="0" hangingPunct="0"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eaLnBrk="0" hangingPunct="0"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eaLnBrk="0" hangingPunct="0"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eaLnBrk="0" hangingPunct="0"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</a:defRPr>
            </a:lvl9pPr>
          </a:lstStyle>
          <a:p>
            <a:r>
              <a:rPr lang="en-US" altLang="en-US" dirty="0"/>
              <a:t>ENGG404 vs. ENGG406</a:t>
            </a:r>
            <a:endParaRPr lang="en-US" altLang="en-US" dirty="0"/>
          </a:p>
        </p:txBody>
      </p:sp>
      <p:sp>
        <p:nvSpPr>
          <p:cNvPr id="2" name="Left Arrow 1"/>
          <p:cNvSpPr/>
          <p:nvPr/>
        </p:nvSpPr>
        <p:spPr bwMode="auto">
          <a:xfrm>
            <a:off x="2758440" y="1664770"/>
            <a:ext cx="2560320" cy="1230830"/>
          </a:xfrm>
          <a:prstGeom prst="leftArrow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solidFill>
                  <a:srgbClr val="FF0000"/>
                </a:solidFill>
              </a:rPr>
              <a:t>ENGG406</a:t>
            </a:r>
            <a:br>
              <a:rPr lang="en-US" sz="2000" b="1" dirty="0" smtClean="0">
                <a:solidFill>
                  <a:srgbClr val="FF0000"/>
                </a:solidFill>
              </a:rPr>
            </a:br>
            <a:r>
              <a:rPr lang="en-US" sz="2000" b="1" dirty="0" smtClean="0">
                <a:solidFill>
                  <a:srgbClr val="FF0000"/>
                </a:solidFill>
              </a:rPr>
              <a:t>lots of tools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" name="Freeform 2"/>
          <p:cNvSpPr/>
          <p:nvPr/>
        </p:nvSpPr>
        <p:spPr bwMode="auto">
          <a:xfrm>
            <a:off x="2438400" y="1780674"/>
            <a:ext cx="3200400" cy="3200400"/>
          </a:xfrm>
          <a:custGeom>
            <a:avLst/>
            <a:gdLst>
              <a:gd name="connsiteX0" fmla="*/ 0 w 4411579"/>
              <a:gd name="connsiteY0" fmla="*/ 0 h 3064042"/>
              <a:gd name="connsiteX1" fmla="*/ 0 w 4411579"/>
              <a:gd name="connsiteY1" fmla="*/ 3064042 h 3064042"/>
              <a:gd name="connsiteX2" fmla="*/ 4411579 w 4411579"/>
              <a:gd name="connsiteY2" fmla="*/ 3064042 h 306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11579" h="3064042">
                <a:moveTo>
                  <a:pt x="0" y="0"/>
                </a:moveTo>
                <a:lnTo>
                  <a:pt x="0" y="3064042"/>
                </a:lnTo>
                <a:lnTo>
                  <a:pt x="4411579" y="3064042"/>
                </a:lnTo>
              </a:path>
            </a:pathLst>
          </a:cu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76500" y="5206904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000099"/>
                </a:solidFill>
              </a:rPr>
              <a:t>Leadership Competencies</a:t>
            </a:r>
            <a:endParaRPr lang="en-US" b="1" i="1" dirty="0">
              <a:solidFill>
                <a:srgbClr val="00009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803" y="2242527"/>
            <a:ext cx="238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Technology: </a:t>
            </a:r>
            <a:br>
              <a:rPr lang="en-US" b="1" i="1" dirty="0" smtClean="0">
                <a:solidFill>
                  <a:srgbClr val="FF0000"/>
                </a:solidFill>
              </a:rPr>
            </a:br>
            <a:r>
              <a:rPr lang="en-US" b="1" i="1" dirty="0" smtClean="0">
                <a:solidFill>
                  <a:srgbClr val="FF0000"/>
                </a:solidFill>
              </a:rPr>
              <a:t>engineering safety </a:t>
            </a:r>
            <a:br>
              <a:rPr lang="en-US" b="1" i="1" dirty="0" smtClean="0">
                <a:solidFill>
                  <a:srgbClr val="FF0000"/>
                </a:solidFill>
              </a:rPr>
            </a:br>
            <a:r>
              <a:rPr lang="en-US" b="1" i="1" dirty="0" smtClean="0">
                <a:solidFill>
                  <a:srgbClr val="FF0000"/>
                </a:solidFill>
              </a:rPr>
              <a:t>tools and methods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4" name="Freeform 13"/>
          <p:cNvSpPr/>
          <p:nvPr/>
        </p:nvSpPr>
        <p:spPr bwMode="auto">
          <a:xfrm>
            <a:off x="2590800" y="1860884"/>
            <a:ext cx="2971800" cy="2823411"/>
          </a:xfrm>
          <a:custGeom>
            <a:avLst/>
            <a:gdLst>
              <a:gd name="connsiteX0" fmla="*/ 4366 w 3982808"/>
              <a:gd name="connsiteY0" fmla="*/ 0 h 2823411"/>
              <a:gd name="connsiteX1" fmla="*/ 20408 w 3982808"/>
              <a:gd name="connsiteY1" fmla="*/ 834190 h 2823411"/>
              <a:gd name="connsiteX2" fmla="*/ 164787 w 3982808"/>
              <a:gd name="connsiteY2" fmla="*/ 1844842 h 2823411"/>
              <a:gd name="connsiteX3" fmla="*/ 421461 w 3982808"/>
              <a:gd name="connsiteY3" fmla="*/ 2261937 h 2823411"/>
              <a:gd name="connsiteX4" fmla="*/ 950850 w 3982808"/>
              <a:gd name="connsiteY4" fmla="*/ 2518611 h 2823411"/>
              <a:gd name="connsiteX5" fmla="*/ 1913377 w 3982808"/>
              <a:gd name="connsiteY5" fmla="*/ 2727158 h 2823411"/>
              <a:gd name="connsiteX6" fmla="*/ 2972155 w 3982808"/>
              <a:gd name="connsiteY6" fmla="*/ 2775284 h 2823411"/>
              <a:gd name="connsiteX7" fmla="*/ 3982808 w 3982808"/>
              <a:gd name="connsiteY7" fmla="*/ 2823411 h 2823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2808" h="2823411">
                <a:moveTo>
                  <a:pt x="4366" y="0"/>
                </a:moveTo>
                <a:cubicBezTo>
                  <a:pt x="-982" y="263358"/>
                  <a:pt x="-6329" y="526717"/>
                  <a:pt x="20408" y="834190"/>
                </a:cubicBezTo>
                <a:cubicBezTo>
                  <a:pt x="47145" y="1141663"/>
                  <a:pt x="97945" y="1606884"/>
                  <a:pt x="164787" y="1844842"/>
                </a:cubicBezTo>
                <a:cubicBezTo>
                  <a:pt x="231629" y="2082800"/>
                  <a:pt x="290451" y="2149642"/>
                  <a:pt x="421461" y="2261937"/>
                </a:cubicBezTo>
                <a:cubicBezTo>
                  <a:pt x="552471" y="2374232"/>
                  <a:pt x="702197" y="2441074"/>
                  <a:pt x="950850" y="2518611"/>
                </a:cubicBezTo>
                <a:cubicBezTo>
                  <a:pt x="1199503" y="2596148"/>
                  <a:pt x="1576493" y="2684379"/>
                  <a:pt x="1913377" y="2727158"/>
                </a:cubicBezTo>
                <a:cubicBezTo>
                  <a:pt x="2250261" y="2769937"/>
                  <a:pt x="2972155" y="2775284"/>
                  <a:pt x="2972155" y="2775284"/>
                </a:cubicBezTo>
                <a:lnTo>
                  <a:pt x="3982808" y="2823411"/>
                </a:lnTo>
              </a:path>
            </a:pathLst>
          </a:cu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Left Arrow 18"/>
          <p:cNvSpPr/>
          <p:nvPr/>
        </p:nvSpPr>
        <p:spPr bwMode="auto">
          <a:xfrm>
            <a:off x="5715000" y="4026970"/>
            <a:ext cx="3160295" cy="1230830"/>
          </a:xfrm>
          <a:prstGeom prst="lef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 smtClean="0">
                <a:solidFill>
                  <a:srgbClr val="000099"/>
                </a:solidFill>
              </a:rPr>
              <a:t>ENGG404</a:t>
            </a:r>
            <a:br>
              <a:rPr lang="en-US" sz="2000" b="1" dirty="0" smtClean="0">
                <a:solidFill>
                  <a:srgbClr val="000099"/>
                </a:solidFill>
              </a:rPr>
            </a:br>
            <a:r>
              <a:rPr lang="en-US" sz="2000" b="1" dirty="0" smtClean="0">
                <a:solidFill>
                  <a:srgbClr val="000099"/>
                </a:solidFill>
              </a:rPr>
              <a:t>Leadership concepts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rgbClr val="00009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7345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60000" y="180000"/>
            <a:ext cx="8280000" cy="54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i="1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ENGG406 Overview &amp; Emphasis: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0292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Assess </a:t>
            </a:r>
            <a:r>
              <a:rPr lang="en-US" altLang="en-US" sz="2400" dirty="0"/>
              <a:t>process safety risks inherent in any </a:t>
            </a:r>
            <a:r>
              <a:rPr lang="en-US" altLang="en-US" sz="2400" dirty="0" smtClean="0"/>
              <a:t>operation and determine </a:t>
            </a:r>
            <a:r>
              <a:rPr lang="en-US" altLang="en-US" sz="2400" dirty="0"/>
              <a:t>appropriate risk reduction </a:t>
            </a:r>
            <a:r>
              <a:rPr lang="en-US" altLang="en-US" sz="2400" dirty="0" smtClean="0"/>
              <a:t>solutions.</a:t>
            </a:r>
            <a:endParaRPr lang="en-US" altLang="en-US" sz="24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Apply proactive </a:t>
            </a:r>
            <a:r>
              <a:rPr lang="en-US" altLang="en-US" sz="2400" dirty="0"/>
              <a:t>risk assessment work processes, tools, </a:t>
            </a:r>
            <a:r>
              <a:rPr lang="en-US" altLang="en-US" sz="2400" dirty="0" smtClean="0"/>
              <a:t>and methodologies </a:t>
            </a:r>
            <a:r>
              <a:rPr lang="en-US" altLang="en-US" sz="2400" dirty="0"/>
              <a:t>for: hazard identification, analysis, </a:t>
            </a:r>
            <a:r>
              <a:rPr lang="en-US" altLang="en-US" sz="2400" dirty="0" smtClean="0"/>
              <a:t>evaluation, assessment</a:t>
            </a:r>
            <a:r>
              <a:rPr lang="en-US" altLang="en-US" sz="2400" dirty="0"/>
              <a:t>, and process safety </a:t>
            </a:r>
            <a:r>
              <a:rPr lang="en-US" altLang="en-US" sz="2400" dirty="0" smtClean="0"/>
              <a:t>management.</a:t>
            </a:r>
            <a:endParaRPr lang="en-US" altLang="en-US" sz="24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Learn </a:t>
            </a:r>
            <a:r>
              <a:rPr lang="en-US" altLang="en-US" sz="2400" dirty="0"/>
              <a:t>in a </a:t>
            </a:r>
            <a:r>
              <a:rPr lang="en-US" altLang="en-US" sz="2400" dirty="0" smtClean="0"/>
              <a:t>smaller </a:t>
            </a:r>
            <a:r>
              <a:rPr lang="en-US" altLang="en-US" sz="2400" dirty="0"/>
              <a:t>class size where you will have opportunities </a:t>
            </a:r>
            <a:r>
              <a:rPr lang="en-US" altLang="en-US" sz="2400" dirty="0" smtClean="0"/>
              <a:t>to discuss </a:t>
            </a:r>
            <a:r>
              <a:rPr lang="en-US" altLang="en-US" sz="2400" dirty="0"/>
              <a:t>questions posed, </a:t>
            </a:r>
            <a:r>
              <a:rPr lang="en-US" altLang="en-US" sz="2400" dirty="0" smtClean="0"/>
              <a:t>collaborate with your peers, and </a:t>
            </a:r>
            <a:r>
              <a:rPr lang="en-US" altLang="en-US" sz="2400" dirty="0"/>
              <a:t>interact </a:t>
            </a:r>
            <a:r>
              <a:rPr lang="en-US" altLang="en-US" sz="2400" dirty="0" smtClean="0"/>
              <a:t>with industry </a:t>
            </a:r>
            <a:r>
              <a:rPr lang="en-US" altLang="en-US" sz="2400" dirty="0"/>
              <a:t>experts.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dirty="0" smtClean="0"/>
              <a:t>Learn </a:t>
            </a:r>
            <a:r>
              <a:rPr lang="en-US" altLang="en-US" sz="2400" dirty="0"/>
              <a:t>from others by using </a:t>
            </a:r>
            <a:r>
              <a:rPr lang="en-US" altLang="en-US" sz="2400" dirty="0" smtClean="0"/>
              <a:t>these new concepts, </a:t>
            </a:r>
            <a:r>
              <a:rPr lang="en-US" altLang="en-US" sz="2400" dirty="0"/>
              <a:t>tools, and methodologies in </a:t>
            </a:r>
            <a:r>
              <a:rPr lang="en-US" altLang="en-US" sz="2400" dirty="0" smtClean="0"/>
              <a:t>your assignments.</a:t>
            </a:r>
          </a:p>
        </p:txBody>
      </p:sp>
    </p:spTree>
    <p:extLst>
      <p:ext uri="{BB962C8B-B14F-4D97-AF65-F5344CB8AC3E}">
        <p14:creationId xmlns:p14="http://schemas.microsoft.com/office/powerpoint/2010/main" val="146477531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60000" y="180000"/>
            <a:ext cx="8280000" cy="54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2800" i="1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to You by taking ENGG406!</a:t>
            </a:r>
            <a:endParaRPr lang="en-US" altLang="en-US" sz="2800" i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1148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Ø"/>
            </a:pPr>
            <a:r>
              <a:rPr lang="en-US" altLang="en-US" sz="2400" dirty="0" smtClean="0"/>
              <a:t>Build </a:t>
            </a:r>
            <a:r>
              <a:rPr lang="en-US" altLang="en-US" sz="2400" dirty="0"/>
              <a:t>your expertise in this field by taking ENGG406, and get a step ahead of the competition in your career.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Ø"/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Ø"/>
            </a:pPr>
            <a:r>
              <a:rPr lang="en-US" altLang="en-US" sz="2400" dirty="0"/>
              <a:t>Energy and related industrial companies value those who have leadership in risk </a:t>
            </a:r>
            <a:r>
              <a:rPr lang="en-US" altLang="en-US" sz="2400" dirty="0" smtClean="0"/>
              <a:t>management.</a:t>
            </a:r>
          </a:p>
          <a:p>
            <a:pPr marL="720000" indent="-360000" eaLnBrk="1" hangingPunct="1">
              <a:spcBef>
                <a:spcPct val="0"/>
              </a:spcBef>
              <a:spcAft>
                <a:spcPts val="600"/>
              </a:spcAft>
              <a:buClr>
                <a:srgbClr val="000000"/>
              </a:buClr>
              <a:buSzPct val="100000"/>
              <a:buChar char="Ø"/>
            </a:pPr>
            <a:r>
              <a:rPr lang="en-US" altLang="en-US" sz="2400" dirty="0" smtClean="0">
                <a:ea typeface="+mn-ea"/>
                <a:cs typeface="+mn-cs"/>
              </a:rPr>
              <a:t>So</a:t>
            </a:r>
            <a:r>
              <a:rPr lang="en-US" altLang="en-US" sz="2400" dirty="0">
                <a:ea typeface="+mn-ea"/>
                <a:cs typeface="+mn-cs"/>
              </a:rPr>
              <a:t>, why </a:t>
            </a:r>
            <a:r>
              <a:rPr lang="en-US" altLang="en-US" sz="2400" dirty="0">
                <a:ea typeface="+mn-ea"/>
                <a:cs typeface="+mn-cs"/>
              </a:rPr>
              <a:t>not add expertise in process safety risk management and further build your prospects</a:t>
            </a:r>
            <a:r>
              <a:rPr lang="en-US" altLang="en-US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8479550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68898</TotalTime>
  <Words>772</Words>
  <Application>Microsoft Office PowerPoint</Application>
  <PresentationFormat>On-screen Show (4:3)</PresentationFormat>
  <Paragraphs>84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ＭＳ Ｐゴシック</vt:lpstr>
      <vt:lpstr>Arial</vt:lpstr>
      <vt:lpstr>Calibri</vt:lpstr>
      <vt:lpstr>Wingdings</vt:lpstr>
      <vt:lpstr>Default Design</vt:lpstr>
      <vt:lpstr>PowerPoint Presentation</vt:lpstr>
      <vt:lpstr>ENGG406 A Course in Process Safety Engineering Safety – Methodologies &amp; Tools</vt:lpstr>
      <vt:lpstr>PowerPoint Presentation</vt:lpstr>
      <vt:lpstr>PowerPoint Presentation</vt:lpstr>
      <vt:lpstr>PowerPoint Presentation</vt:lpstr>
      <vt:lpstr>Why is Process Safety Important to Industry?</vt:lpstr>
      <vt:lpstr>What is ENGG406?</vt:lpstr>
      <vt:lpstr>PowerPoint Presentation</vt:lpstr>
      <vt:lpstr>ENGG406 Overview &amp; Emphasis:</vt:lpstr>
      <vt:lpstr>Benefits to You by taking ENGG406!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2015</cp:revision>
  <cp:lastPrinted>2020-01-03T21:31:41Z</cp:lastPrinted>
  <dcterms:created xsi:type="dcterms:W3CDTF">2007-03-28T16:18:47Z</dcterms:created>
  <dcterms:modified xsi:type="dcterms:W3CDTF">2021-05-08T00:37:58Z</dcterms:modified>
</cp:coreProperties>
</file>