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45" roundtripDataSignature="AMtx7mgvGoVBlWTEKQE0uiShzr2kITrN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486EE9-67D6-45F7-BF01-9C491CAAE02E}">
  <a:tblStyle styleId="{61486EE9-67D6-45F7-BF01-9C491CAAE0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5" name="Google Shape;105;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28" name="Google Shape;128;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37" name="Google Shape;137;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46" name="Google Shape;146;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155" name="Google Shape;155;p5: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156" name="Google Shape;156;p5: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57" name="Google Shape;157;p5: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158" name="Google Shape;158;p5: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5: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The aim of this exercise is to pick on their answers in Mentimeter and discuss some of them in terms of “jumping to conclusions”, “facts”, “logic leaps”, etc.</a:t>
            </a:r>
            <a:endParaRPr/>
          </a:p>
          <a:p>
            <a:pPr indent="0" lvl="0" marL="0" rtl="0" algn="l">
              <a:spcBef>
                <a:spcPts val="300"/>
              </a:spcBef>
              <a:spcAft>
                <a:spcPts val="0"/>
              </a:spcAft>
              <a:buNone/>
            </a:pPr>
            <a:r>
              <a:rPr lang="en-US"/>
              <a:t>Another aim is to demonstrate that the causation of a loss incident can be explained in rational, sequentially logical terms. </a:t>
            </a:r>
            <a:endParaRPr/>
          </a:p>
          <a:p>
            <a:pPr indent="0" lvl="0" marL="0" rtl="0" algn="l">
              <a:spcBef>
                <a:spcPts val="3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68" name="Google Shape;168;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77" name="Google Shape;177;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90" name="Google Shape;190;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C&amp;E helps you be more specific in terms of losses and causes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u="none">
                <a:solidFill>
                  <a:schemeClr val="dk1"/>
                </a:solidFill>
                <a:latin typeface="Arial"/>
                <a:ea typeface="Arial"/>
                <a:cs typeface="Arial"/>
                <a:sym typeface="Arial"/>
              </a:rPr>
              <a:t>‹#›</a:t>
            </a:fld>
            <a:endParaRPr b="1" sz="1200" u="none">
              <a:solidFill>
                <a:schemeClr val="dk1"/>
              </a:solidFill>
              <a:latin typeface="Arial"/>
              <a:ea typeface="Arial"/>
              <a:cs typeface="Arial"/>
              <a:sym typeface="Arial"/>
            </a:endParaRPr>
          </a:p>
        </p:txBody>
      </p:sp>
      <p:sp>
        <p:nvSpPr>
          <p:cNvPr id="200" name="Google Shape;200;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C&amp;E helps you be more specific in terms of losses and causes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11" name="Google Shape;211;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C&amp;E helps you be more specific in terms of losses and causes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22" name="Google Shape;222;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31" name="Google Shape;231;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41" name="Google Shape;241;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51" name="Google Shape;251;p1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1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61" name="Google Shape;261;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70" name="Google Shape;270;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79" name="Google Shape;279;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305" name="Google Shape;305;p18: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306" name="Google Shape;306;p18: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07" name="Google Shape;307;p18: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308" name="Google Shape;308;p18: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317" name="Google Shape;317;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0: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348" name="Google Shape;348;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95" name="Google Shape;395;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04" name="Google Shape;404;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13" name="Google Shape;413;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4: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426" name="Google Shape;426;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5: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465" name="Google Shape;465;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6: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513" name="Google Shape;513;p2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7: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563" name="Google Shape;563;p2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8: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620" name="Google Shape;620;p28: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621" name="Google Shape;621;p28: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22" name="Google Shape;622;p28: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623" name="Google Shape;623;p28: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2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You may have noticed on the RCA Chart that some of these were aligned with “Immediate Cause” and some with “Intermediate Cause”. An intermediate cause can link an immediate cause to a basic cause but if it can clearly be categorized and sub-categorized as an “Immediate Cause”, then that is quite acceptable; and it is quite acceptable to have an immediate cause caused by another immediate cause.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35" name="Google Shape;635;p2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2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44" name="Google Shape;644;p3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3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1:notes"/>
          <p:cNvSpPr txBox="1"/>
          <p:nvPr>
            <p:ph idx="1" type="body"/>
          </p:nvPr>
        </p:nvSpPr>
        <p:spPr>
          <a:xfrm>
            <a:off x="700881" y="4415157"/>
            <a:ext cx="5608640" cy="4183696"/>
          </a:xfrm>
          <a:prstGeom prst="rect">
            <a:avLst/>
          </a:prstGeom>
        </p:spPr>
        <p:txBody>
          <a:bodyPr anchorCtr="0" anchor="t" bIns="46550" lIns="93125" spcFirstLastPara="1" rIns="93125" wrap="square" tIns="46550">
            <a:noAutofit/>
          </a:bodyPr>
          <a:lstStyle/>
          <a:p>
            <a:pPr indent="0" lvl="0" marL="0" rtl="0" algn="l">
              <a:spcBef>
                <a:spcPts val="300"/>
              </a:spcBef>
              <a:spcAft>
                <a:spcPts val="0"/>
              </a:spcAft>
              <a:buNone/>
            </a:pPr>
            <a:r>
              <a:t/>
            </a:r>
            <a:endParaRPr/>
          </a:p>
        </p:txBody>
      </p:sp>
      <p:sp>
        <p:nvSpPr>
          <p:cNvPr id="653" name="Google Shape;653;p3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2: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698" name="Google Shape;698;p32: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699" name="Google Shape;699;p32: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00" name="Google Shape;700;p32: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701" name="Google Shape;701;p32: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32: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714" name="Google Shape;714;p3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5" name="Google Shape;715;p3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723" name="Google Shape;723;p3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p3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3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734" name="Google Shape;734;p3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p3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3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763" name="Google Shape;763;p3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3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3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787" name="Google Shape;787;p3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8" name="Google Shape;788;p3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39"/>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39"/>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4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3"/>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3"/>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44"/>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44"/>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44"/>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4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4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4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4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4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4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4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4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4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4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4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5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5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5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0" name="Google Shape;80;p5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5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5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52"/>
          <p:cNvSpPr/>
          <p:nvPr>
            <p:ph idx="2" type="pic"/>
          </p:nvPr>
        </p:nvSpPr>
        <p:spPr>
          <a:xfrm>
            <a:off x="3887391" y="987426"/>
            <a:ext cx="4629150" cy="4873625"/>
          </a:xfrm>
          <a:prstGeom prst="rect">
            <a:avLst/>
          </a:prstGeom>
          <a:noFill/>
          <a:ln>
            <a:noFill/>
          </a:ln>
        </p:spPr>
      </p:sp>
      <p:sp>
        <p:nvSpPr>
          <p:cNvPr id="87" name="Google Shape;87;p5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8" name="Google Shape;88;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1" name="Shape 91"/>
        <p:cNvGrpSpPr/>
        <p:nvPr/>
      </p:nvGrpSpPr>
      <p:grpSpPr>
        <a:xfrm>
          <a:off x="0" y="0"/>
          <a:ext cx="0" cy="0"/>
          <a:chOff x="0" y="0"/>
          <a:chExt cx="0" cy="0"/>
        </a:xfrm>
      </p:grpSpPr>
      <p:sp>
        <p:nvSpPr>
          <p:cNvPr id="92" name="Google Shape;92;p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 name="Shape 97"/>
        <p:cNvGrpSpPr/>
        <p:nvPr/>
      </p:nvGrpSpPr>
      <p:grpSpPr>
        <a:xfrm>
          <a:off x="0" y="0"/>
          <a:ext cx="0" cy="0"/>
          <a:chOff x="0" y="0"/>
          <a:chExt cx="0" cy="0"/>
        </a:xfrm>
      </p:grpSpPr>
      <p:sp>
        <p:nvSpPr>
          <p:cNvPr id="98" name="Google Shape;98;p5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5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2" Type="http://schemas.openxmlformats.org/officeDocument/2006/relationships/theme" Target="../theme/theme3.xml"/><Relationship Id="rId9" Type="http://schemas.openxmlformats.org/officeDocument/2006/relationships/slideLayout" Target="../slideLayouts/slideLayout1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38"/>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38"/>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38"/>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4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4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4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2" name="Google Shape;32;p4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3" name="Google Shape;33;p4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vmlDrawing" Target="../drawings/vmlDrawing1.vml"/><Relationship Id="rId4" Type="http://schemas.openxmlformats.org/officeDocument/2006/relationships/image" Target="../media/image11.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nvSpPr>
        <p:spPr>
          <a:xfrm>
            <a:off x="228600" y="838200"/>
            <a:ext cx="8610600" cy="16621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a:p>
          <a:p>
            <a:pPr indent="0" lvl="0" marL="0" marR="0" rtl="0" algn="ctr">
              <a:spcBef>
                <a:spcPts val="0"/>
              </a:spcBef>
              <a:spcAft>
                <a:spcPts val="0"/>
              </a:spcAft>
              <a:buNone/>
            </a:pPr>
            <a:r>
              <a:rPr b="1" i="0" lang="en-US" sz="3200" u="none" cap="none" strike="noStrike">
                <a:solidFill>
                  <a:srgbClr val="000000"/>
                </a:solidFill>
                <a:latin typeface="Arial"/>
                <a:ea typeface="Arial"/>
                <a:cs typeface="Arial"/>
                <a:sym typeface="Arial"/>
              </a:rPr>
              <a:t>ENGG404 - Lecture</a:t>
            </a:r>
            <a:endParaRPr b="1" i="1" sz="3600" u="none" cap="none" strike="noStrike">
              <a:solidFill>
                <a:srgbClr val="000099"/>
              </a:solidFill>
              <a:latin typeface="Calibri"/>
              <a:ea typeface="Calibri"/>
              <a:cs typeface="Calibri"/>
              <a:sym typeface="Calibri"/>
            </a:endParaRPr>
          </a:p>
        </p:txBody>
      </p:sp>
      <p:sp>
        <p:nvSpPr>
          <p:cNvPr id="108" name="Google Shape;108;p1"/>
          <p:cNvSpPr txBox="1"/>
          <p:nvPr>
            <p:ph idx="1" type="subTitle"/>
          </p:nvPr>
        </p:nvSpPr>
        <p:spPr>
          <a:xfrm>
            <a:off x="228600" y="2500342"/>
            <a:ext cx="8610600" cy="222405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AA9C8F"/>
              </a:buClr>
              <a:buSzPts val="2400"/>
              <a:buFont typeface="Noto Sans Symbols"/>
              <a:buNone/>
            </a:pPr>
            <a:r>
              <a:rPr b="1" i="0" lang="en-US" sz="2400" u="none" cap="none" strike="noStrike">
                <a:solidFill>
                  <a:schemeClr val="dk2"/>
                </a:solidFill>
                <a:latin typeface="Arial"/>
                <a:ea typeface="Arial"/>
                <a:cs typeface="Arial"/>
                <a:sym typeface="Arial"/>
              </a:rPr>
              <a:t>Chapter 4.2: Cause and Effect Model for Incident Analysis</a:t>
            </a:r>
            <a:endParaRPr/>
          </a:p>
          <a:p>
            <a:pPr indent="0" lvl="0" marL="0" marR="0" rtl="0" algn="ctr">
              <a:spcBef>
                <a:spcPts val="0"/>
              </a:spcBef>
              <a:spcAft>
                <a:spcPts val="0"/>
              </a:spcAft>
              <a:buClr>
                <a:srgbClr val="AA9C8F"/>
              </a:buClr>
              <a:buSzPts val="2400"/>
              <a:buFont typeface="Noto Sans Symbols"/>
              <a:buNone/>
            </a:pPr>
            <a:r>
              <a:t/>
            </a:r>
            <a:endParaRPr b="1" i="0" sz="2400" u="none" cap="none" strike="noStrike">
              <a:solidFill>
                <a:schemeClr val="dk2"/>
              </a:solidFill>
              <a:latin typeface="Arial"/>
              <a:ea typeface="Arial"/>
              <a:cs typeface="Arial"/>
              <a:sym typeface="Arial"/>
            </a:endParaRPr>
          </a:p>
          <a:p>
            <a:pPr indent="0" lvl="0" marL="0" marR="0" rtl="0" algn="ctr">
              <a:spcBef>
                <a:spcPts val="0"/>
              </a:spcBef>
              <a:spcAft>
                <a:spcPts val="0"/>
              </a:spcAft>
              <a:buClr>
                <a:srgbClr val="AA9C8F"/>
              </a:buClr>
              <a:buSzPts val="2400"/>
              <a:buFont typeface="Noto Sans Symbols"/>
              <a:buNone/>
            </a:pPr>
            <a:r>
              <a:rPr b="1" i="0" lang="en-US" sz="2400" u="none" cap="none" strike="noStrike">
                <a:solidFill>
                  <a:schemeClr val="dk2"/>
                </a:solidFill>
                <a:latin typeface="Arial"/>
                <a:ea typeface="Arial"/>
                <a:cs typeface="Arial"/>
                <a:sym typeface="Arial"/>
              </a:rPr>
              <a:t>Chapter 4.3: Root Cause Analysis of an Incident</a:t>
            </a:r>
            <a:endParaRPr/>
          </a:p>
          <a:p>
            <a:pPr indent="0" lvl="0" marL="0" marR="0" rtl="0" algn="ctr">
              <a:spcBef>
                <a:spcPts val="0"/>
              </a:spcBef>
              <a:spcAft>
                <a:spcPts val="0"/>
              </a:spcAft>
              <a:buClr>
                <a:srgbClr val="AA9C8F"/>
              </a:buClr>
              <a:buSzPts val="2400"/>
              <a:buFont typeface="Noto Sans Symbols"/>
              <a:buNone/>
            </a:pPr>
            <a:r>
              <a:t/>
            </a:r>
            <a:endParaRPr b="1" i="0" sz="2400" u="none" cap="none" strike="noStrike">
              <a:solidFill>
                <a:schemeClr val="dk2"/>
              </a:solidFill>
              <a:latin typeface="Arial"/>
              <a:ea typeface="Arial"/>
              <a:cs typeface="Arial"/>
              <a:sym typeface="Arial"/>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 Fundamentals -</a:t>
            </a:r>
            <a:endParaRPr b="1" i="0" sz="3200" u="none" cap="none" strike="noStrike">
              <a:solidFill>
                <a:schemeClr val="dk2"/>
              </a:solidFill>
              <a:latin typeface="Arial"/>
              <a:ea typeface="Arial"/>
              <a:cs typeface="Arial"/>
              <a:sym typeface="Arial"/>
            </a:endParaRPr>
          </a:p>
        </p:txBody>
      </p:sp>
      <p:sp>
        <p:nvSpPr>
          <p:cNvPr id="109" name="Google Shape;109;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110" name="Google Shape;110;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111" name="Google Shape;111;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112" name="Google Shape;112;p1"/>
          <p:cNvSpPr txBox="1"/>
          <p:nvPr/>
        </p:nvSpPr>
        <p:spPr>
          <a:xfrm>
            <a:off x="7051217" y="169908"/>
            <a:ext cx="671096"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113" name="Google Shape;113;p1"/>
          <p:cNvSpPr txBox="1"/>
          <p:nvPr/>
        </p:nvSpPr>
        <p:spPr>
          <a:xfrm>
            <a:off x="3834670"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114" name="Google Shape;114;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115" name="Google Shape;115;p1"/>
          <p:cNvSpPr txBox="1"/>
          <p:nvPr/>
        </p:nvSpPr>
        <p:spPr>
          <a:xfrm>
            <a:off x="2657853" y="170432"/>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116" name="Google Shape;116;p1"/>
          <p:cNvCxnSpPr>
            <a:stCxn id="109" idx="3"/>
            <a:endCxn id="110"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117" name="Google Shape;117;p1"/>
          <p:cNvCxnSpPr>
            <a:stCxn id="110" idx="3"/>
            <a:endCxn id="115"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118" name="Google Shape;118;p1"/>
          <p:cNvCxnSpPr>
            <a:stCxn id="115" idx="3"/>
            <a:endCxn id="113"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119" name="Google Shape;119;p1"/>
          <p:cNvCxnSpPr>
            <a:stCxn id="113" idx="3"/>
            <a:endCxn id="114"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0" name="Google Shape;120;p1"/>
          <p:cNvCxnSpPr>
            <a:stCxn id="114"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1" name="Google Shape;121;p1"/>
          <p:cNvCxnSpPr>
            <a:endCxn id="112"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22" name="Google Shape;122;p1"/>
          <p:cNvCxnSpPr>
            <a:stCxn id="112" idx="3"/>
            <a:endCxn id="111"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123" name="Google Shape;123;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124" name="Google Shape;124;p1"/>
          <p:cNvPicPr preferRelativeResize="0"/>
          <p:nvPr/>
        </p:nvPicPr>
        <p:blipFill rotWithShape="1">
          <a:blip r:embed="rId3">
            <a:alphaModFix/>
          </a:blip>
          <a:srcRect b="0" l="0" r="0" t="0"/>
          <a:stretch/>
        </p:blipFill>
        <p:spPr>
          <a:xfrm>
            <a:off x="891182" y="4405529"/>
            <a:ext cx="1766671" cy="1766671"/>
          </a:xfrm>
          <a:prstGeom prst="rect">
            <a:avLst/>
          </a:prstGeom>
          <a:noFill/>
          <a:ln>
            <a:noFill/>
          </a:ln>
        </p:spPr>
      </p:pic>
      <p:pic>
        <p:nvPicPr>
          <p:cNvPr descr="Introduction to Sociology - 2013 - The Collaboratory" id="125" name="Google Shape;125;p1"/>
          <p:cNvPicPr preferRelativeResize="0"/>
          <p:nvPr/>
        </p:nvPicPr>
        <p:blipFill rotWithShape="1">
          <a:blip r:embed="rId4">
            <a:alphaModFix/>
          </a:blip>
          <a:srcRect b="0" l="0" r="0" t="0"/>
          <a:stretch/>
        </p:blipFill>
        <p:spPr>
          <a:xfrm>
            <a:off x="6096500" y="4405342"/>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This topic explains the purpose and application of the Cause &amp; Effect Model, and the fundamental constructs of a Root Cause Analysis.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Analyze an incident sequentially and explain the nature of the different types of causes, and their sub-categories.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Apply the Discovery Model to start the RCA Chart.</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Logically link the causal factors in incident investigations.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Interpret and apply a Cause and Effect Model for analyzing incidents.</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Interpret, apply, and construct a Root Cause Analysis of a loss incident.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Differentiate between immediate, intermediate, basic, and latent causes.</a:t>
            </a:r>
            <a:endParaRPr b="0" i="0" sz="2000" u="none" cap="none" strike="noStrike">
              <a:solidFill>
                <a:srgbClr val="000000"/>
              </a:solidFill>
              <a:latin typeface="Arial"/>
              <a:ea typeface="Arial"/>
              <a:cs typeface="Arial"/>
              <a:sym typeface="Arial"/>
            </a:endParaRPr>
          </a:p>
        </p:txBody>
      </p:sp>
      <p:sp>
        <p:nvSpPr>
          <p:cNvPr id="132" name="Google Shape;132;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a:t>
            </a:r>
            <a:endParaRPr/>
          </a:p>
        </p:txBody>
      </p:sp>
      <p:sp>
        <p:nvSpPr>
          <p:cNvPr id="133" name="Google Shape;133;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4" name="Google Shape;134;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Chapters 4.2 and 4.3 teach you how to analyse a loss incident!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Two </a:t>
            </a:r>
            <a:r>
              <a:rPr b="0" i="0" lang="en-US" sz="2000" u="sng" cap="none" strike="noStrike">
                <a:solidFill>
                  <a:srgbClr val="000000"/>
                </a:solidFill>
                <a:latin typeface="Arial"/>
                <a:ea typeface="Arial"/>
                <a:cs typeface="Arial"/>
                <a:sym typeface="Arial"/>
              </a:rPr>
              <a:t>complementary tools</a:t>
            </a:r>
            <a:r>
              <a:rPr b="0" i="0" lang="en-US" sz="2000" u="none" cap="none" strike="noStrike">
                <a:solidFill>
                  <a:srgbClr val="000000"/>
                </a:solidFill>
                <a:latin typeface="Arial"/>
                <a:ea typeface="Arial"/>
                <a:cs typeface="Arial"/>
                <a:sym typeface="Arial"/>
              </a:rPr>
              <a:t> for Incident Investigation: </a:t>
            </a:r>
            <a:endParaRPr/>
          </a:p>
          <a:p>
            <a:pPr indent="-359999" lvl="0" marL="720000" marR="0" rtl="0" algn="l">
              <a:lnSpc>
                <a:spcPct val="10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Cause and Effect Model</a:t>
            </a:r>
            <a:endParaRPr/>
          </a:p>
          <a:p>
            <a:pPr indent="-359999" lvl="0" marL="720000" marR="0" rtl="0" algn="l">
              <a:lnSpc>
                <a:spcPct val="10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Root Cause Analysis Work Process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These will allow you to:</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Find all potential cause-effect relationships in a logical manner.</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Classify causes by their type such that they can be better understood and recommendations are optimized.</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Link incident causes with failures in the RMS.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t>
            </a:r>
            <a:r>
              <a:rPr b="0" i="0" lang="en-US" sz="2000" u="sng" cap="none" strike="noStrike">
                <a:solidFill>
                  <a:srgbClr val="000000"/>
                </a:solidFill>
                <a:latin typeface="Arial"/>
                <a:ea typeface="Arial"/>
                <a:cs typeface="Arial"/>
                <a:sym typeface="Arial"/>
              </a:rPr>
              <a:t>RCA WP</a:t>
            </a:r>
            <a:r>
              <a:rPr b="0" i="0" lang="en-US" sz="2000" u="none" cap="none" strike="noStrike">
                <a:solidFill>
                  <a:srgbClr val="000000"/>
                </a:solidFill>
                <a:latin typeface="Arial"/>
                <a:ea typeface="Arial"/>
                <a:cs typeface="Arial"/>
                <a:sym typeface="Arial"/>
              </a:rPr>
              <a:t> is applied to </a:t>
            </a:r>
            <a:r>
              <a:rPr b="0" i="0" lang="en-US" sz="2000" u="sng" cap="none" strike="noStrike">
                <a:solidFill>
                  <a:srgbClr val="000000"/>
                </a:solidFill>
                <a:latin typeface="Arial"/>
                <a:ea typeface="Arial"/>
                <a:cs typeface="Arial"/>
                <a:sym typeface="Arial"/>
              </a:rPr>
              <a:t>analyse a loss incident</a:t>
            </a:r>
            <a:r>
              <a:rPr b="0" i="0" lang="en-US" sz="2000" u="none" cap="none" strike="noStrike">
                <a:solidFill>
                  <a:srgbClr val="000000"/>
                </a:solidFill>
                <a:latin typeface="Arial"/>
                <a:ea typeface="Arial"/>
                <a:cs typeface="Arial"/>
                <a:sym typeface="Arial"/>
              </a:rPr>
              <a:t> and create an </a:t>
            </a:r>
            <a:r>
              <a:rPr b="0" i="0" lang="en-US" sz="2000" u="sng" cap="none" strike="noStrike">
                <a:solidFill>
                  <a:srgbClr val="000000"/>
                </a:solidFill>
                <a:latin typeface="Arial"/>
                <a:ea typeface="Arial"/>
                <a:cs typeface="Arial"/>
                <a:sym typeface="Arial"/>
              </a:rPr>
              <a:t>RCA Chart</a:t>
            </a:r>
            <a:r>
              <a:rPr b="0" i="0" lang="en-US" sz="2000" u="none" cap="none" strike="noStrike">
                <a:solidFill>
                  <a:srgbClr val="000000"/>
                </a:solidFill>
                <a:latin typeface="Arial"/>
                <a:ea typeface="Arial"/>
                <a:cs typeface="Arial"/>
                <a:sym typeface="Arial"/>
              </a:rPr>
              <a:t>.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C&amp;E Model</a:t>
            </a:r>
            <a:r>
              <a:rPr b="0" i="0" lang="en-US" sz="2000" u="none" cap="none" strike="noStrike">
                <a:solidFill>
                  <a:srgbClr val="000000"/>
                </a:solidFill>
                <a:latin typeface="Arial"/>
                <a:ea typeface="Arial"/>
                <a:cs typeface="Arial"/>
                <a:sym typeface="Arial"/>
              </a:rPr>
              <a:t> is used to </a:t>
            </a:r>
            <a:r>
              <a:rPr b="0" i="0" lang="en-US" sz="2000" u="sng" cap="none" strike="noStrike">
                <a:solidFill>
                  <a:srgbClr val="000000"/>
                </a:solidFill>
                <a:latin typeface="Arial"/>
                <a:ea typeface="Arial"/>
                <a:cs typeface="Arial"/>
                <a:sym typeface="Arial"/>
              </a:rPr>
              <a:t>check the thoroughness</a:t>
            </a:r>
            <a:r>
              <a:rPr b="0" i="0" lang="en-US" sz="2000" u="none" cap="none" strike="noStrike">
                <a:solidFill>
                  <a:srgbClr val="000000"/>
                </a:solidFill>
                <a:latin typeface="Arial"/>
                <a:ea typeface="Arial"/>
                <a:cs typeface="Arial"/>
                <a:sym typeface="Arial"/>
              </a:rPr>
              <a:t> of the </a:t>
            </a:r>
            <a:r>
              <a:rPr b="0" i="0" lang="en-US" sz="2000" u="sng" cap="none" strike="noStrike">
                <a:solidFill>
                  <a:srgbClr val="000000"/>
                </a:solidFill>
                <a:latin typeface="Arial"/>
                <a:ea typeface="Arial"/>
                <a:cs typeface="Arial"/>
                <a:sym typeface="Arial"/>
              </a:rPr>
              <a:t>RCA Chart</a:t>
            </a:r>
            <a:r>
              <a:rPr b="0" i="0" lang="en-US" sz="2000" u="none" cap="none" strike="noStrike">
                <a:solidFill>
                  <a:srgbClr val="000000"/>
                </a:solidFill>
                <a:latin typeface="Arial"/>
                <a:ea typeface="Arial"/>
                <a:cs typeface="Arial"/>
                <a:sym typeface="Arial"/>
              </a:rPr>
              <a:t>.</a:t>
            </a:r>
            <a:endParaRPr/>
          </a:p>
        </p:txBody>
      </p:sp>
      <p:sp>
        <p:nvSpPr>
          <p:cNvPr id="141" name="Google Shape;141;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Introduction:</a:t>
            </a:r>
            <a:endParaRPr/>
          </a:p>
        </p:txBody>
      </p:sp>
      <p:sp>
        <p:nvSpPr>
          <p:cNvPr id="142" name="Google Shape;142;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3" name="Google Shape;143;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Learning how to do an RCA is easy!</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Learning </a:t>
            </a:r>
            <a:r>
              <a:rPr b="0" i="0" lang="en-US" sz="2000" u="sng" cap="none" strike="noStrike">
                <a:solidFill>
                  <a:srgbClr val="000000"/>
                </a:solidFill>
                <a:latin typeface="Arial"/>
                <a:ea typeface="Arial"/>
                <a:cs typeface="Arial"/>
                <a:sym typeface="Arial"/>
              </a:rPr>
              <a:t>how to do an RCA well is a struggle</a:t>
            </a:r>
            <a:r>
              <a:rPr b="0" i="0" lang="en-US" sz="2000" u="none" cap="none" strike="noStrike">
                <a:solidFill>
                  <a:srgbClr val="000000"/>
                </a:solidFill>
                <a:latin typeface="Arial"/>
                <a:ea typeface="Arial"/>
                <a:cs typeface="Arial"/>
                <a:sym typeface="Arial"/>
              </a:rPr>
              <a:t>!</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Easy to confuse causes, effects, and consequences.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Easy to jump to conclusions ... </a:t>
            </a:r>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approach taken here is to build your competency in layers.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arenR"/>
            </a:pPr>
            <a:r>
              <a:rPr b="0" i="0" lang="en-US" sz="2000" u="none" cap="none" strike="noStrike">
                <a:solidFill>
                  <a:srgbClr val="000000"/>
                </a:solidFill>
                <a:latin typeface="Arial"/>
                <a:ea typeface="Arial"/>
                <a:cs typeface="Arial"/>
                <a:sym typeface="Arial"/>
              </a:rPr>
              <a:t>First, the facts and sequence of events [timeline] are needed!</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(incident investigation work process)</a:t>
            </a:r>
            <a:endParaRPr/>
          </a:p>
          <a:p>
            <a:pPr indent="-330200" lvl="0" marL="45720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arenR"/>
            </a:pPr>
            <a:r>
              <a:rPr b="0" i="0" lang="en-US" sz="2000" u="none" cap="none" strike="noStrike">
                <a:solidFill>
                  <a:srgbClr val="000000"/>
                </a:solidFill>
                <a:latin typeface="Arial"/>
                <a:ea typeface="Arial"/>
                <a:cs typeface="Arial"/>
                <a:sym typeface="Arial"/>
              </a:rPr>
              <a:t>Second, apply the RCA work process to create the RCA Chart.</a:t>
            </a:r>
            <a:endParaRPr/>
          </a:p>
          <a:p>
            <a:pPr indent="-330200" lvl="0" marL="45720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arenR"/>
            </a:pPr>
            <a:r>
              <a:rPr b="0" i="0" lang="en-US" sz="2000" u="none" cap="none" strike="noStrike">
                <a:solidFill>
                  <a:srgbClr val="000000"/>
                </a:solidFill>
                <a:latin typeface="Arial"/>
                <a:ea typeface="Arial"/>
                <a:cs typeface="Arial"/>
                <a:sym typeface="Arial"/>
              </a:rPr>
              <a:t>Third, apply the Cause and Effect Model to check the RCA Chart.  </a:t>
            </a:r>
            <a:endParaRPr/>
          </a:p>
          <a:p>
            <a:pPr indent="-330200" lvl="0" marL="45720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50" name="Google Shape;150;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Important To Keep In Mind:</a:t>
            </a:r>
            <a:endParaRPr b="0" i="0" sz="2400" u="none" cap="none" strike="noStrike">
              <a:solidFill>
                <a:schemeClr val="accent2"/>
              </a:solidFill>
              <a:latin typeface="Arial"/>
              <a:ea typeface="Arial"/>
              <a:cs typeface="Arial"/>
              <a:sym typeface="Arial"/>
            </a:endParaRPr>
          </a:p>
        </p:txBody>
      </p:sp>
      <p:sp>
        <p:nvSpPr>
          <p:cNvPr id="151" name="Google Shape;151;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2" name="Google Shape;152;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Lead-in: Losses and Causes </a:t>
            </a:r>
            <a:endParaRPr b="0" i="0" sz="2400" u="none" cap="none" strike="noStrike">
              <a:solidFill>
                <a:srgbClr val="F8F8F8"/>
              </a:solidFill>
              <a:latin typeface="Arial"/>
              <a:ea typeface="Arial"/>
              <a:cs typeface="Arial"/>
              <a:sym typeface="Arial"/>
            </a:endParaRPr>
          </a:p>
        </p:txBody>
      </p:sp>
      <p:sp>
        <p:nvSpPr>
          <p:cNvPr id="162" name="Google Shape;162;p5"/>
          <p:cNvSpPr/>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000" u="none" cap="none" strike="noStrike">
                <a:solidFill>
                  <a:srgbClr val="F8F8F8"/>
                </a:solidFill>
                <a:latin typeface="Arial"/>
                <a:ea typeface="Arial"/>
                <a:cs typeface="Arial"/>
                <a:sym typeface="Arial"/>
              </a:rPr>
              <a:t>Put yourself into the role of the supervisor in this real loss incident:</a:t>
            </a:r>
            <a:endParaRPr/>
          </a:p>
          <a:p>
            <a:pPr indent="0" lvl="0" marL="0" marR="0" rtl="0" algn="l">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You are called to a scene where a mining haul truck and a shovel have been crushed with debris from an adjacent slope. You find one individual with a severe injury. You know the slopes are being monitored, you know there are procedures for safe work near the slopes, and you know it has been raining for the last week.</a:t>
            </a:r>
            <a:endParaRPr/>
          </a:p>
          <a:p>
            <a:pPr indent="-305000" lvl="0" marL="432000" marR="0" rtl="0" algn="l">
              <a:spcBef>
                <a:spcPts val="0"/>
              </a:spcBef>
              <a:spcAft>
                <a:spcPts val="0"/>
              </a:spcAft>
              <a:buClr>
                <a:schemeClr val="dk1"/>
              </a:buClr>
              <a:buSzPts val="2000"/>
              <a:buFont typeface="Noto Sans Symbols"/>
              <a:buNone/>
            </a:pPr>
            <a:r>
              <a:t/>
            </a:r>
            <a:endParaRPr b="0" i="1" sz="2000" u="none" cap="none" strike="noStrike">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This “Mine Loss LI” will be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used during this lecture to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develop your skills in the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RCA work process. </a:t>
            </a:r>
            <a:endParaRPr/>
          </a:p>
          <a:p>
            <a:pPr indent="-305000" lvl="0" marL="432000" marR="0" rtl="0" algn="l">
              <a:spcBef>
                <a:spcPts val="0"/>
              </a:spcBef>
              <a:spcAft>
                <a:spcPts val="0"/>
              </a:spcAft>
              <a:buClr>
                <a:schemeClr val="dk1"/>
              </a:buClr>
              <a:buSzPts val="2000"/>
              <a:buFont typeface="Noto Sans Symbols"/>
              <a:buNone/>
            </a:pPr>
            <a:r>
              <a:t/>
            </a:r>
            <a:endParaRPr b="0" i="1" sz="2000" u="none" cap="none" strike="noStrike">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Using your best engineering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know-how and deduction skills,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please confer and answer the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following questions:</a:t>
            </a:r>
            <a:endParaRPr/>
          </a:p>
        </p:txBody>
      </p:sp>
      <p:sp>
        <p:nvSpPr>
          <p:cNvPr id="163" name="Google Shape;163;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4" name="Google Shape;164;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a:p>
        </p:txBody>
      </p:sp>
      <p:pic>
        <p:nvPicPr>
          <p:cNvPr id="165" name="Google Shape;165;p5"/>
          <p:cNvPicPr preferRelativeResize="0"/>
          <p:nvPr/>
        </p:nvPicPr>
        <p:blipFill rotWithShape="1">
          <a:blip r:embed="rId3">
            <a:alphaModFix/>
          </a:blip>
          <a:srcRect b="0" l="0" r="0" t="0"/>
          <a:stretch/>
        </p:blipFill>
        <p:spPr>
          <a:xfrm>
            <a:off x="4267707" y="3103419"/>
            <a:ext cx="4495293" cy="2992581"/>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Unstructured exercise:</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previous exercise was meant to be “unstructured”.</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There were many causes, so which one is the correct response?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How can all these causes be logically organized?</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 order to logically analyse an incident, </a:t>
            </a:r>
            <a:r>
              <a:rPr b="0" i="0" lang="en-US" sz="2000" u="sng" cap="none" strike="noStrike">
                <a:solidFill>
                  <a:srgbClr val="000000"/>
                </a:solidFill>
                <a:latin typeface="Arial"/>
                <a:ea typeface="Arial"/>
                <a:cs typeface="Arial"/>
                <a:sym typeface="Arial"/>
              </a:rPr>
              <a:t>one needs to apply the different categories of causes</a:t>
            </a:r>
            <a:r>
              <a:rPr b="0" i="0" lang="en-US" sz="2000" u="none" cap="none" strike="noStrike">
                <a:solidFill>
                  <a:srgbClr val="000000"/>
                </a:solidFill>
                <a:latin typeface="Arial"/>
                <a:ea typeface="Arial"/>
                <a:cs typeface="Arial"/>
                <a:sym typeface="Arial"/>
              </a:rPr>
              <a: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Cause and Effect Model can be used to:</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Categorize and summarize the facts of a loss incident.</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Communicate the nature of an incident and its causes.</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Helps you </a:t>
            </a:r>
            <a:r>
              <a:rPr b="0" i="0" lang="en-US" sz="1800" u="sng" cap="none" strike="noStrike">
                <a:solidFill>
                  <a:srgbClr val="000000"/>
                </a:solidFill>
                <a:latin typeface="Arial"/>
                <a:ea typeface="Arial"/>
                <a:cs typeface="Arial"/>
                <a:sym typeface="Arial"/>
              </a:rPr>
              <a:t>discern the various different categories of causes</a:t>
            </a:r>
            <a:r>
              <a:rPr b="0" i="0" lang="en-US" sz="1800" u="none" cap="none" strike="noStrike">
                <a:solidFill>
                  <a:srgbClr val="000000"/>
                </a:solidFill>
                <a:latin typeface="Arial"/>
                <a:ea typeface="Arial"/>
                <a:cs typeface="Arial"/>
                <a:sym typeface="Arial"/>
              </a:rPr>
              <a:t>, and thus aid in the development of the root cause analysis of a loss incident.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Check the thoroughness of the incident investigation and the  root cause analysis.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Note: There are many different C&amp;E Models practiced in industry. This is one of many.</a:t>
            </a:r>
            <a:endParaRPr/>
          </a:p>
        </p:txBody>
      </p:sp>
      <p:sp>
        <p:nvSpPr>
          <p:cNvPr id="172" name="Google Shape;172;p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Cause and Effect Model:</a:t>
            </a:r>
            <a:endParaRPr b="0" i="0" sz="2400" u="none" cap="none" strike="noStrike">
              <a:solidFill>
                <a:schemeClr val="accent2"/>
              </a:solidFill>
              <a:latin typeface="Arial"/>
              <a:ea typeface="Arial"/>
              <a:cs typeface="Arial"/>
              <a:sym typeface="Arial"/>
            </a:endParaRPr>
          </a:p>
        </p:txBody>
      </p:sp>
      <p:sp>
        <p:nvSpPr>
          <p:cNvPr id="173" name="Google Shape;173;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4" name="Google Shape;174;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Cause and Effect Model: </a:t>
            </a:r>
            <a:endParaRPr b="0" i="0" sz="2400" u="none" cap="none" strike="noStrike">
              <a:solidFill>
                <a:schemeClr val="accent2"/>
              </a:solidFill>
              <a:latin typeface="Arial"/>
              <a:ea typeface="Arial"/>
              <a:cs typeface="Arial"/>
              <a:sym typeface="Arial"/>
            </a:endParaRPr>
          </a:p>
        </p:txBody>
      </p:sp>
      <p:sp>
        <p:nvSpPr>
          <p:cNvPr id="181" name="Google Shape;181;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2" name="Google Shape;182;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pic>
        <p:nvPicPr>
          <p:cNvPr id="183" name="Google Shape;183;p7"/>
          <p:cNvPicPr preferRelativeResize="0"/>
          <p:nvPr/>
        </p:nvPicPr>
        <p:blipFill rotWithShape="1">
          <a:blip r:embed="rId3">
            <a:alphaModFix/>
          </a:blip>
          <a:srcRect b="0" l="0" r="0" t="0"/>
          <a:stretch/>
        </p:blipFill>
        <p:spPr>
          <a:xfrm>
            <a:off x="504032" y="1183886"/>
            <a:ext cx="4162425" cy="2873375"/>
          </a:xfrm>
          <a:prstGeom prst="rect">
            <a:avLst/>
          </a:prstGeom>
          <a:noFill/>
          <a:ln>
            <a:noFill/>
          </a:ln>
        </p:spPr>
      </p:pic>
      <p:sp>
        <p:nvSpPr>
          <p:cNvPr id="184" name="Google Shape;184;p7"/>
          <p:cNvSpPr/>
          <p:nvPr/>
        </p:nvSpPr>
        <p:spPr>
          <a:xfrm>
            <a:off x="527359" y="4144137"/>
            <a:ext cx="3669196" cy="1799463"/>
          </a:xfrm>
          <a:prstGeom prst="rect">
            <a:avLst/>
          </a:prstGeom>
          <a:solidFill>
            <a:srgbClr val="92D05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1050"/>
              <a:buFont typeface="Noto Sans Symbols"/>
              <a:buNone/>
            </a:pPr>
            <a:r>
              <a:rPr b="0" i="0" lang="en-US" sz="1050" u="none" cap="none" strike="noStrike">
                <a:solidFill>
                  <a:srgbClr val="262626"/>
                </a:solidFill>
                <a:latin typeface="Arial"/>
                <a:ea typeface="Arial"/>
                <a:cs typeface="Arial"/>
                <a:sym typeface="Arial"/>
              </a:rPr>
              <a:t>The Five Components of a Cause and Effect Model:</a:t>
            </a:r>
            <a:endParaRPr b="0" i="0" sz="1050" u="none" cap="none" strike="noStrike">
              <a:solidFill>
                <a:srgbClr val="262626"/>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Losses (PEAP)</a:t>
            </a:r>
            <a:endParaRPr/>
          </a:p>
          <a:p>
            <a:pPr indent="-457200" lvl="0" marL="45720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Incident Description</a:t>
            </a:r>
            <a:endParaRPr/>
          </a:p>
          <a:p>
            <a:pPr indent="-457200" lvl="0" marL="45720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Immediate Causes in two categories:</a:t>
            </a:r>
            <a:endParaRPr/>
          </a:p>
          <a:p>
            <a:pPr indent="-285750" lvl="1" marL="74295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Substandard practices and sub-groups</a:t>
            </a:r>
            <a:endParaRPr/>
          </a:p>
          <a:p>
            <a:pPr indent="-285750" lvl="1" marL="74295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Substandard conditions and sub-groups</a:t>
            </a:r>
            <a:endParaRPr/>
          </a:p>
          <a:p>
            <a:pPr indent="-457200" lvl="0" marL="45720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Basic Causes in three categories:</a:t>
            </a:r>
            <a:endParaRPr/>
          </a:p>
          <a:p>
            <a:pPr indent="-285750" lvl="1" marL="74295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Engineering &amp; Design Factors</a:t>
            </a:r>
            <a:endParaRPr/>
          </a:p>
          <a:p>
            <a:pPr indent="-285750" lvl="1" marL="74295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Job Factors and sub-groups</a:t>
            </a:r>
            <a:endParaRPr/>
          </a:p>
          <a:p>
            <a:pPr indent="-285750" lvl="1" marL="74295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Personal Factors and sub-groups</a:t>
            </a:r>
            <a:endParaRPr/>
          </a:p>
          <a:p>
            <a:pPr indent="-457200" lvl="0" marL="457200" marR="0" rtl="0" algn="l">
              <a:lnSpc>
                <a:spcPct val="100000"/>
              </a:lnSpc>
              <a:spcBef>
                <a:spcPts val="0"/>
              </a:spcBef>
              <a:spcAft>
                <a:spcPts val="0"/>
              </a:spcAft>
              <a:buClr>
                <a:srgbClr val="000000"/>
              </a:buClr>
              <a:buSzPts val="1050"/>
              <a:buFont typeface="Noto Sans Symbols"/>
              <a:buChar char="⮚"/>
            </a:pPr>
            <a:r>
              <a:rPr b="0" i="0" lang="en-US" sz="1050" u="none" cap="none" strike="noStrike">
                <a:solidFill>
                  <a:srgbClr val="262626"/>
                </a:solidFill>
                <a:latin typeface="Arial"/>
                <a:ea typeface="Arial"/>
                <a:cs typeface="Arial"/>
                <a:sym typeface="Arial"/>
              </a:rPr>
              <a:t>Latent Causes  </a:t>
            </a:r>
            <a:endParaRPr/>
          </a:p>
        </p:txBody>
      </p:sp>
      <p:pic>
        <p:nvPicPr>
          <p:cNvPr id="185" name="Google Shape;185;p7"/>
          <p:cNvPicPr preferRelativeResize="0"/>
          <p:nvPr/>
        </p:nvPicPr>
        <p:blipFill rotWithShape="1">
          <a:blip r:embed="rId4">
            <a:alphaModFix/>
          </a:blip>
          <a:srcRect b="0" l="0" r="0" t="0"/>
          <a:stretch/>
        </p:blipFill>
        <p:spPr>
          <a:xfrm>
            <a:off x="4373869" y="2547806"/>
            <a:ext cx="4160531" cy="3205731"/>
          </a:xfrm>
          <a:prstGeom prst="rect">
            <a:avLst/>
          </a:prstGeom>
          <a:noFill/>
          <a:ln cap="flat" cmpd="sng" w="12700">
            <a:solidFill>
              <a:srgbClr val="000000"/>
            </a:solidFill>
            <a:prstDash val="solid"/>
            <a:miter lim="800000"/>
            <a:headEnd len="sm" w="sm" type="none"/>
            <a:tailEnd len="sm" w="sm" type="none"/>
          </a:ln>
        </p:spPr>
      </p:pic>
      <p:sp>
        <p:nvSpPr>
          <p:cNvPr id="186" name="Google Shape;186;p7"/>
          <p:cNvSpPr/>
          <p:nvPr/>
        </p:nvSpPr>
        <p:spPr>
          <a:xfrm>
            <a:off x="4666457" y="1097010"/>
            <a:ext cx="1277143" cy="1204918"/>
          </a:xfrm>
          <a:prstGeom prst="leftArrow">
            <a:avLst>
              <a:gd fmla="val 50000" name="adj1"/>
              <a:gd fmla="val 50000" name="adj2"/>
            </a:avLst>
          </a:prstGeom>
          <a:solidFill>
            <a:srgbClr val="00FFFF"/>
          </a:solidFill>
          <a:ln cap="flat" cmpd="sng" w="12700">
            <a:solidFill>
              <a:srgbClr val="00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Overview</a:t>
            </a:r>
            <a:endParaRPr b="0" i="1" sz="1600" u="none" cap="none" strike="noStrike">
              <a:solidFill>
                <a:srgbClr val="000000"/>
              </a:solidFill>
              <a:latin typeface="Calibri"/>
              <a:ea typeface="Calibri"/>
              <a:cs typeface="Calibri"/>
              <a:sym typeface="Calibri"/>
            </a:endParaRPr>
          </a:p>
        </p:txBody>
      </p:sp>
      <p:sp>
        <p:nvSpPr>
          <p:cNvPr id="187" name="Google Shape;187;p7"/>
          <p:cNvSpPr/>
          <p:nvPr/>
        </p:nvSpPr>
        <p:spPr>
          <a:xfrm>
            <a:off x="5851887" y="1752600"/>
            <a:ext cx="1662545" cy="795205"/>
          </a:xfrm>
          <a:prstGeom prst="downArrow">
            <a:avLst>
              <a:gd fmla="val 50000" name="adj1"/>
              <a:gd fmla="val 50000" name="adj2"/>
            </a:avLst>
          </a:prstGeom>
          <a:solidFill>
            <a:srgbClr val="00FFFF"/>
          </a:solidFill>
          <a:ln cap="flat" cmpd="sng" w="12700">
            <a:solidFill>
              <a:srgbClr val="00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600" u="none" cap="none" strike="noStrike">
                <a:solidFill>
                  <a:srgbClr val="000000"/>
                </a:solidFill>
                <a:latin typeface="Calibri"/>
                <a:ea typeface="Calibri"/>
                <a:cs typeface="Calibri"/>
                <a:sym typeface="Calibri"/>
              </a:rPr>
              <a:t>Details</a:t>
            </a:r>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Cause and Effect Model:</a:t>
            </a:r>
            <a:endParaRPr b="0" i="0" sz="2400" u="none" cap="none" strike="noStrike">
              <a:solidFill>
                <a:schemeClr val="accent2"/>
              </a:solidFill>
              <a:latin typeface="Arial"/>
              <a:ea typeface="Arial"/>
              <a:cs typeface="Arial"/>
              <a:sym typeface="Arial"/>
            </a:endParaRPr>
          </a:p>
        </p:txBody>
      </p:sp>
      <p:sp>
        <p:nvSpPr>
          <p:cNvPr id="194" name="Google Shape;194;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5" name="Google Shape;195;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pic>
        <p:nvPicPr>
          <p:cNvPr id="196" name="Google Shape;196;p8"/>
          <p:cNvPicPr preferRelativeResize="0"/>
          <p:nvPr/>
        </p:nvPicPr>
        <p:blipFill rotWithShape="1">
          <a:blip r:embed="rId3">
            <a:alphaModFix/>
          </a:blip>
          <a:srcRect b="50086" l="0" r="54167" t="0"/>
          <a:stretch/>
        </p:blipFill>
        <p:spPr>
          <a:xfrm>
            <a:off x="432000" y="1368000"/>
            <a:ext cx="8136000" cy="4680000"/>
          </a:xfrm>
          <a:prstGeom prst="rect">
            <a:avLst/>
          </a:prstGeom>
          <a:noFill/>
          <a:ln>
            <a:noFill/>
          </a:ln>
        </p:spPr>
      </p:pic>
      <p:sp>
        <p:nvSpPr>
          <p:cNvPr id="197" name="Google Shape;197;p8"/>
          <p:cNvSpPr/>
          <p:nvPr/>
        </p:nvSpPr>
        <p:spPr>
          <a:xfrm>
            <a:off x="180000" y="828000"/>
            <a:ext cx="8640000" cy="53280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3200"/>
              <a:buFont typeface="Arial"/>
              <a:buNone/>
            </a:pPr>
            <a:r>
              <a:rPr b="1" i="1" lang="en-US" sz="3200" u="none" cap="none" strike="noStrike">
                <a:solidFill>
                  <a:srgbClr val="FF0000"/>
                </a:solidFill>
                <a:latin typeface="Arial"/>
                <a:ea typeface="Arial"/>
                <a:cs typeface="Arial"/>
                <a:sym typeface="Arial"/>
              </a:rPr>
              <a:t>Left side:</a:t>
            </a:r>
            <a:endParaRPr b="1" i="1" sz="3200" u="none" cap="none" strike="noStrike">
              <a:solidFill>
                <a:srgbClr val="FF0000"/>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Cause and Effect Model:</a:t>
            </a:r>
            <a:endParaRPr b="0" i="0" sz="2400" u="none" cap="none" strike="noStrike">
              <a:solidFill>
                <a:schemeClr val="accent2"/>
              </a:solidFill>
              <a:latin typeface="Arial"/>
              <a:ea typeface="Arial"/>
              <a:cs typeface="Arial"/>
              <a:sym typeface="Arial"/>
            </a:endParaRPr>
          </a:p>
        </p:txBody>
      </p:sp>
      <p:sp>
        <p:nvSpPr>
          <p:cNvPr id="204" name="Google Shape;204;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5" name="Google Shape;205;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206" name="Google Shape;206;p9"/>
          <p:cNvSpPr/>
          <p:nvPr/>
        </p:nvSpPr>
        <p:spPr>
          <a:xfrm>
            <a:off x="180000" y="828000"/>
            <a:ext cx="8640000" cy="53280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3200"/>
              <a:buFont typeface="Arial"/>
              <a:buNone/>
            </a:pPr>
            <a:r>
              <a:rPr b="1" i="1" lang="en-US" sz="3200" u="none" cap="none" strike="noStrike">
                <a:solidFill>
                  <a:srgbClr val="FF0000"/>
                </a:solidFill>
                <a:latin typeface="Arial"/>
                <a:ea typeface="Arial"/>
                <a:cs typeface="Arial"/>
                <a:sym typeface="Arial"/>
              </a:rPr>
              <a:t>Middle:</a:t>
            </a:r>
            <a:endParaRPr b="1" i="1" sz="3200" u="none" cap="none" strike="noStrike">
              <a:solidFill>
                <a:srgbClr val="FF0000"/>
              </a:solidFill>
              <a:latin typeface="Arial"/>
              <a:ea typeface="Arial"/>
              <a:cs typeface="Arial"/>
              <a:sym typeface="Arial"/>
            </a:endParaRPr>
          </a:p>
        </p:txBody>
      </p:sp>
      <p:pic>
        <p:nvPicPr>
          <p:cNvPr id="207" name="Google Shape;207;p9"/>
          <p:cNvPicPr preferRelativeResize="0"/>
          <p:nvPr/>
        </p:nvPicPr>
        <p:blipFill rotWithShape="1">
          <a:blip r:embed="rId3">
            <a:alphaModFix/>
          </a:blip>
          <a:srcRect b="0" l="0" r="0" t="0"/>
          <a:stretch/>
        </p:blipFill>
        <p:spPr>
          <a:xfrm>
            <a:off x="5105400" y="905187"/>
            <a:ext cx="3581400" cy="5157357"/>
          </a:xfrm>
          <a:prstGeom prst="rect">
            <a:avLst/>
          </a:prstGeom>
          <a:noFill/>
          <a:ln>
            <a:noFill/>
          </a:ln>
        </p:spPr>
      </p:pic>
      <p:sp>
        <p:nvSpPr>
          <p:cNvPr id="208" name="Google Shape;208;p9"/>
          <p:cNvSpPr/>
          <p:nvPr/>
        </p:nvSpPr>
        <p:spPr>
          <a:xfrm>
            <a:off x="304800" y="2057400"/>
            <a:ext cx="4572000" cy="3200400"/>
          </a:xfrm>
          <a:prstGeom prst="wedgeRectCallout">
            <a:avLst>
              <a:gd fmla="val 55485" name="adj1"/>
              <a:gd fmla="val -83160"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chemeClr val="lt1"/>
                </a:solidFill>
                <a:latin typeface="Arial"/>
                <a:ea typeface="Arial"/>
                <a:cs typeface="Arial"/>
                <a:sym typeface="Arial"/>
              </a:rPr>
              <a:t>This list is not all-inclusive. Sub-sub-categories of causes along similar lines can be added! For example: </a:t>
            </a:r>
            <a:endParaRPr/>
          </a:p>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E&amp;DF: Inadequate assessment of hazards/risk</a:t>
            </a:r>
            <a:endParaRPr/>
          </a:p>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E&amp;DF: inadequate monitoring during initial construction/assembly/fabrication</a:t>
            </a:r>
            <a:endParaRPr/>
          </a:p>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E&amp;DF: inadequate management of change</a:t>
            </a:r>
            <a:endParaRPr/>
          </a:p>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JF: incompatible goals within the organization</a:t>
            </a:r>
            <a:endParaRPr/>
          </a:p>
          <a:p>
            <a:pPr indent="0" lvl="0" marL="0" marR="0" rtl="0" algn="l">
              <a:spcBef>
                <a:spcPts val="0"/>
              </a:spcBef>
              <a:spcAft>
                <a:spcPts val="0"/>
              </a:spcAft>
              <a:buNone/>
            </a:pPr>
            <a:r>
              <a:rPr b="1" lang="en-US" sz="1600">
                <a:solidFill>
                  <a:schemeClr val="lt1"/>
                </a:solidFill>
                <a:latin typeface="Arial"/>
                <a:ea typeface="Arial"/>
                <a:cs typeface="Arial"/>
                <a:sym typeface="Arial"/>
              </a:rPr>
              <a:t>If you cannot find a sub-category that is a direct match, it is acceptable to create another unique sub-sub-category.  </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The Cause and Effect Model:</a:t>
            </a:r>
            <a:endParaRPr b="0" sz="2400">
              <a:solidFill>
                <a:schemeClr val="accent2"/>
              </a:solidFill>
              <a:latin typeface="Arial"/>
              <a:ea typeface="Arial"/>
              <a:cs typeface="Arial"/>
              <a:sym typeface="Arial"/>
            </a:endParaRPr>
          </a:p>
        </p:txBody>
      </p:sp>
      <p:sp>
        <p:nvSpPr>
          <p:cNvPr id="215" name="Google Shape;215;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16" name="Google Shape;216;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
        <p:nvSpPr>
          <p:cNvPr id="217" name="Google Shape;217;p10"/>
          <p:cNvSpPr/>
          <p:nvPr/>
        </p:nvSpPr>
        <p:spPr>
          <a:xfrm>
            <a:off x="180000" y="828000"/>
            <a:ext cx="8640000" cy="5328000"/>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0000"/>
              </a:buClr>
              <a:buSzPts val="3200"/>
              <a:buFont typeface="Arial"/>
              <a:buNone/>
            </a:pPr>
            <a:r>
              <a:rPr b="1" i="1" lang="en-US" sz="3200" u="none" cap="none" strike="noStrike">
                <a:solidFill>
                  <a:srgbClr val="FF0000"/>
                </a:solidFill>
                <a:latin typeface="Arial"/>
                <a:ea typeface="Arial"/>
                <a:cs typeface="Arial"/>
                <a:sym typeface="Arial"/>
              </a:rPr>
              <a:t>Right side:</a:t>
            </a:r>
            <a:endParaRPr b="1" i="1" sz="3200" u="none" cap="none" strike="noStrike">
              <a:solidFill>
                <a:srgbClr val="FF0000"/>
              </a:solidFill>
              <a:latin typeface="Arial"/>
              <a:ea typeface="Arial"/>
              <a:cs typeface="Arial"/>
              <a:sym typeface="Arial"/>
            </a:endParaRPr>
          </a:p>
        </p:txBody>
      </p:sp>
      <p:pic>
        <p:nvPicPr>
          <p:cNvPr id="218" name="Google Shape;218;p10"/>
          <p:cNvPicPr preferRelativeResize="0"/>
          <p:nvPr/>
        </p:nvPicPr>
        <p:blipFill rotWithShape="1">
          <a:blip r:embed="rId3">
            <a:alphaModFix/>
          </a:blip>
          <a:srcRect b="0" l="0" r="0" t="0"/>
          <a:stretch/>
        </p:blipFill>
        <p:spPr>
          <a:xfrm>
            <a:off x="463555" y="1066800"/>
            <a:ext cx="6200937" cy="4724400"/>
          </a:xfrm>
          <a:prstGeom prst="rect">
            <a:avLst/>
          </a:prstGeom>
          <a:noFill/>
          <a:ln>
            <a:noFill/>
          </a:ln>
        </p:spPr>
      </p:pic>
      <p:sp>
        <p:nvSpPr>
          <p:cNvPr id="219" name="Google Shape;219;p10"/>
          <p:cNvSpPr/>
          <p:nvPr/>
        </p:nvSpPr>
        <p:spPr>
          <a:xfrm>
            <a:off x="5333999" y="4565116"/>
            <a:ext cx="3444241" cy="1498412"/>
          </a:xfrm>
          <a:prstGeom prst="wedgeRectCallout">
            <a:avLst>
              <a:gd fmla="val -70212" name="adj1"/>
              <a:gd fmla="val -247379"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A Risk Management System Element is NOT a latent cause.</a:t>
            </a:r>
            <a:endParaRPr/>
          </a:p>
          <a:p>
            <a:pPr indent="-285750" lvl="0" marL="285750" marR="0" rtl="0" algn="l">
              <a:spcBef>
                <a:spcPts val="0"/>
              </a:spcBef>
              <a:spcAft>
                <a:spcPts val="0"/>
              </a:spcAft>
              <a:buClr>
                <a:schemeClr val="lt1"/>
              </a:buClr>
              <a:buSzPts val="1600"/>
              <a:buFont typeface="Noto Sans Symbols"/>
              <a:buChar char="⮚"/>
            </a:pPr>
            <a:r>
              <a:rPr b="1" lang="en-US" sz="1600">
                <a:solidFill>
                  <a:schemeClr val="lt1"/>
                </a:solidFill>
                <a:latin typeface="Arial"/>
                <a:ea typeface="Arial"/>
                <a:cs typeface="Arial"/>
                <a:sym typeface="Arial"/>
              </a:rPr>
              <a:t>A weakness in a RME IS a latent cause.</a:t>
            </a:r>
            <a:endParaRPr b="1" sz="1600">
              <a:solidFill>
                <a:schemeClr val="lt1"/>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Nature of the different categories of causes:</a:t>
            </a:r>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Immediate Causes – two sub-categories:</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Sub-standard Conditions (SCs)</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Sub-standard Practices (SPs)</a:t>
            </a:r>
            <a:endParaRPr/>
          </a:p>
          <a:p>
            <a:pPr indent="-360000" lvl="0" marL="360000" marR="0" rtl="0" algn="l">
              <a:lnSpc>
                <a:spcPct val="90000"/>
              </a:lnSpc>
              <a:spcBef>
                <a:spcPts val="0"/>
              </a:spcBef>
              <a:spcAft>
                <a:spcPts val="0"/>
              </a:spcAft>
              <a:buClr>
                <a:srgbClr val="000000"/>
              </a:buClr>
              <a:buSzPts val="1800"/>
              <a:buFont typeface="Noto Sans Symbols"/>
              <a:buChar char="⮚"/>
            </a:pPr>
            <a:r>
              <a:rPr b="0" i="1" lang="en-US" sz="1800">
                <a:solidFill>
                  <a:srgbClr val="000000"/>
                </a:solidFill>
                <a:latin typeface="Arial"/>
                <a:ea typeface="Arial"/>
                <a:cs typeface="Arial"/>
                <a:sym typeface="Arial"/>
              </a:rPr>
              <a:t>Other terms used: Technical Factors or Actions </a:t>
            </a:r>
            <a:endParaRPr b="0" i="1" sz="18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1" lang="en-US" sz="1800">
                <a:solidFill>
                  <a:srgbClr val="000000"/>
                </a:solidFill>
                <a:latin typeface="Arial"/>
                <a:ea typeface="Arial"/>
                <a:cs typeface="Arial"/>
                <a:sym typeface="Arial"/>
              </a:rPr>
              <a:t>Sub-standard = unacceptable, incorrect, improper, inadequate, at-risk</a:t>
            </a:r>
            <a:endParaRPr b="0" i="1" sz="1800">
              <a:solidFill>
                <a:srgbClr val="000000"/>
              </a:solidFill>
              <a:latin typeface="Arial"/>
              <a:ea typeface="Arial"/>
              <a:cs typeface="Arial"/>
              <a:sym typeface="Arial"/>
            </a:endParaRPr>
          </a:p>
          <a:p>
            <a:pPr indent="-387350" lvl="0" marL="51435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Basic Causes – three sub-categories: </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Engineering &amp; Design Factors</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Job Factors</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Personal Factors</a:t>
            </a:r>
            <a:endParaRPr/>
          </a:p>
          <a:p>
            <a:pPr indent="-360000" lvl="0" marL="360000" marR="0" rtl="0" algn="l">
              <a:lnSpc>
                <a:spcPct val="90000"/>
              </a:lnSpc>
              <a:spcBef>
                <a:spcPts val="0"/>
              </a:spcBef>
              <a:spcAft>
                <a:spcPts val="0"/>
              </a:spcAft>
              <a:buClr>
                <a:srgbClr val="000000"/>
              </a:buClr>
              <a:buSzPts val="1800"/>
              <a:buFont typeface="Noto Sans Symbols"/>
              <a:buChar char="⮚"/>
            </a:pPr>
            <a:r>
              <a:rPr b="0" i="1" lang="en-US" sz="1800">
                <a:solidFill>
                  <a:srgbClr val="000000"/>
                </a:solidFill>
                <a:latin typeface="Arial"/>
                <a:ea typeface="Arial"/>
                <a:cs typeface="Arial"/>
                <a:sym typeface="Arial"/>
              </a:rPr>
              <a:t>Latter two are sometimes collectively referred to Human Factors</a:t>
            </a:r>
            <a:endParaRPr/>
          </a:p>
          <a:p>
            <a:pPr indent="0" lvl="0" marL="0" marR="0" rtl="0" algn="l">
              <a:lnSpc>
                <a:spcPct val="90000"/>
              </a:lnSpc>
              <a:spcBef>
                <a:spcPts val="0"/>
              </a:spcBef>
              <a:spcAft>
                <a:spcPts val="0"/>
              </a:spcAft>
              <a:buClr>
                <a:srgbClr val="000000"/>
              </a:buClr>
              <a:buSzPts val="2000"/>
              <a:buFont typeface="Arial"/>
              <a:buNone/>
            </a:pPr>
            <a:r>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Latent Causes:</a:t>
            </a:r>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Directly associated to failures or weaknesses in the Risk Management System and its elements.</a:t>
            </a:r>
            <a:endParaRPr/>
          </a:p>
          <a:p>
            <a:pPr indent="-360000" lvl="0" marL="360000" marR="0" rtl="0" algn="l">
              <a:lnSpc>
                <a:spcPct val="90000"/>
              </a:lnSpc>
              <a:spcBef>
                <a:spcPts val="0"/>
              </a:spcBef>
              <a:spcAft>
                <a:spcPts val="0"/>
              </a:spcAft>
              <a:buClr>
                <a:srgbClr val="000000"/>
              </a:buClr>
              <a:buSzPts val="1800"/>
              <a:buFont typeface="Noto Sans Symbols"/>
              <a:buChar char="⮚"/>
            </a:pPr>
            <a:r>
              <a:rPr b="1" lang="en-US" sz="1800">
                <a:solidFill>
                  <a:srgbClr val="000000"/>
                </a:solidFill>
                <a:latin typeface="Arial"/>
                <a:ea typeface="Arial"/>
                <a:cs typeface="Arial"/>
                <a:sym typeface="Arial"/>
              </a:rPr>
              <a:t>Important!</a:t>
            </a:r>
            <a:r>
              <a:rPr b="0" lang="en-US" sz="1800">
                <a:solidFill>
                  <a:srgbClr val="000000"/>
                </a:solidFill>
                <a:latin typeface="Arial"/>
                <a:ea typeface="Arial"/>
                <a:cs typeface="Arial"/>
                <a:sym typeface="Arial"/>
              </a:rPr>
              <a:t> Latent Causes ARE NOT the elements of the Risk Management System</a:t>
            </a:r>
            <a:endParaRPr/>
          </a:p>
          <a:p>
            <a:pPr indent="-305000" lvl="0" marL="432000" marR="0" rtl="0" algn="l">
              <a:lnSpc>
                <a:spcPct val="9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p:txBody>
      </p:sp>
      <p:sp>
        <p:nvSpPr>
          <p:cNvPr id="226" name="Google Shape;226;p1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Categories of Causes:</a:t>
            </a:r>
            <a:endParaRPr b="0" sz="2400">
              <a:solidFill>
                <a:schemeClr val="accent2"/>
              </a:solidFill>
              <a:latin typeface="Arial"/>
              <a:ea typeface="Arial"/>
              <a:cs typeface="Arial"/>
              <a:sym typeface="Arial"/>
            </a:endParaRPr>
          </a:p>
        </p:txBody>
      </p:sp>
      <p:sp>
        <p:nvSpPr>
          <p:cNvPr id="227" name="Google Shape;227;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28" name="Google Shape;228;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262626"/>
                </a:solidFill>
                <a:latin typeface="Arial"/>
                <a:ea typeface="Arial"/>
                <a:cs typeface="Arial"/>
                <a:sym typeface="Arial"/>
              </a:rPr>
              <a:t>The intent of this exercise is </a:t>
            </a:r>
            <a:br>
              <a:rPr b="0" lang="en-US" sz="2000">
                <a:solidFill>
                  <a:srgbClr val="262626"/>
                </a:solidFill>
                <a:latin typeface="Arial"/>
                <a:ea typeface="Arial"/>
                <a:cs typeface="Arial"/>
                <a:sym typeface="Arial"/>
              </a:rPr>
            </a:br>
            <a:r>
              <a:rPr b="1" lang="en-US" sz="2000">
                <a:solidFill>
                  <a:srgbClr val="262626"/>
                </a:solidFill>
                <a:latin typeface="Arial"/>
                <a:ea typeface="Arial"/>
                <a:cs typeface="Arial"/>
                <a:sym typeface="Arial"/>
              </a:rPr>
              <a:t>NOT to inform you or test you</a:t>
            </a:r>
            <a:r>
              <a:rPr b="0" lang="en-US" sz="2000">
                <a:solidFill>
                  <a:srgbClr val="262626"/>
                </a:solidFill>
                <a:latin typeface="Arial"/>
                <a:ea typeface="Arial"/>
                <a:cs typeface="Arial"/>
                <a:sym typeface="Arial"/>
              </a:rPr>
              <a:t> </a:t>
            </a:r>
            <a:br>
              <a:rPr b="0" lang="en-US" sz="2000">
                <a:solidFill>
                  <a:srgbClr val="262626"/>
                </a:solidFill>
                <a:latin typeface="Arial"/>
                <a:ea typeface="Arial"/>
                <a:cs typeface="Arial"/>
                <a:sym typeface="Arial"/>
              </a:rPr>
            </a:br>
            <a:r>
              <a:rPr b="0" lang="en-US" sz="2000">
                <a:solidFill>
                  <a:srgbClr val="262626"/>
                </a:solidFill>
                <a:latin typeface="Arial"/>
                <a:ea typeface="Arial"/>
                <a:cs typeface="Arial"/>
                <a:sym typeface="Arial"/>
              </a:rPr>
              <a:t>on the causes of this LI!</a:t>
            </a:r>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US" sz="2000">
                <a:solidFill>
                  <a:srgbClr val="262626"/>
                </a:solidFill>
                <a:latin typeface="Arial"/>
                <a:ea typeface="Arial"/>
                <a:cs typeface="Arial"/>
                <a:sym typeface="Arial"/>
              </a:rPr>
              <a:t>The intent of this exercise is to:</a:t>
            </a:r>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Select your responses in Mentimeter and discuss some of them in terms of “jumping to conclusions”, “facts”, “logic leaps”, “combination of causes”, etc.</a:t>
            </a:r>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Demonstrate that the causation of a loss incident must be explained in rational and sequentially logical terms in order to make sense and be of value in determining the latent causes of a loss incident. </a:t>
            </a:r>
            <a:endParaRPr/>
          </a:p>
          <a:p>
            <a:pPr indent="0" lvl="0" marL="0" marR="0" rtl="0" algn="l">
              <a:lnSpc>
                <a:spcPct val="100000"/>
              </a:lnSpc>
              <a:spcBef>
                <a:spcPts val="0"/>
              </a:spcBef>
              <a:spcAft>
                <a:spcPts val="0"/>
              </a:spcAft>
              <a:buClr>
                <a:srgbClr val="000000"/>
              </a:buClr>
              <a:buSzPts val="2000"/>
              <a:buFont typeface="Arial"/>
              <a:buNone/>
            </a:pPr>
            <a:r>
              <a:t/>
            </a:r>
            <a:endParaRPr b="0" sz="2000">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sz="2000">
              <a:solidFill>
                <a:srgbClr val="262626"/>
              </a:solidFill>
              <a:latin typeface="Arial"/>
              <a:ea typeface="Arial"/>
              <a:cs typeface="Arial"/>
              <a:sym typeface="Arial"/>
            </a:endParaRPr>
          </a:p>
        </p:txBody>
      </p:sp>
      <p:sp>
        <p:nvSpPr>
          <p:cNvPr id="235" name="Google Shape;235;p1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The Intent of the Active Learning Exercise:</a:t>
            </a:r>
            <a:endParaRPr/>
          </a:p>
        </p:txBody>
      </p:sp>
      <p:sp>
        <p:nvSpPr>
          <p:cNvPr id="236" name="Google Shape;236;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37" name="Google Shape;237;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pic>
        <p:nvPicPr>
          <p:cNvPr id="238" name="Google Shape;238;p12"/>
          <p:cNvPicPr preferRelativeResize="0"/>
          <p:nvPr/>
        </p:nvPicPr>
        <p:blipFill rotWithShape="1">
          <a:blip r:embed="rId3">
            <a:alphaModFix/>
          </a:blip>
          <a:srcRect b="0" l="0" r="0" t="0"/>
          <a:stretch/>
        </p:blipFill>
        <p:spPr>
          <a:xfrm>
            <a:off x="4267200" y="762000"/>
            <a:ext cx="4572638" cy="3429479"/>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Incident Description: </a:t>
            </a:r>
            <a:r>
              <a:rPr b="0" lang="en-US" sz="1800">
                <a:solidFill>
                  <a:srgbClr val="262626"/>
                </a:solidFill>
                <a:latin typeface="Arial"/>
                <a:ea typeface="Arial"/>
                <a:cs typeface="Arial"/>
                <a:sym typeface="Arial"/>
              </a:rPr>
              <a:t>“The slope of an open quarry </a:t>
            </a:r>
            <a:br>
              <a:rPr b="0" lang="en-US" sz="1800">
                <a:solidFill>
                  <a:srgbClr val="262626"/>
                </a:solidFill>
                <a:latin typeface="Arial"/>
                <a:ea typeface="Arial"/>
                <a:cs typeface="Arial"/>
                <a:sym typeface="Arial"/>
              </a:rPr>
            </a:br>
            <a:r>
              <a:rPr b="0" lang="en-US" sz="1800">
                <a:solidFill>
                  <a:srgbClr val="262626"/>
                </a:solidFill>
                <a:latin typeface="Arial"/>
                <a:ea typeface="Arial"/>
                <a:cs typeface="Arial"/>
                <a:sym typeface="Arial"/>
              </a:rPr>
              <a:t>slid down, debris fell on equipment adjacent to slope </a:t>
            </a:r>
            <a:br>
              <a:rPr b="0" lang="en-US" sz="1800">
                <a:solidFill>
                  <a:srgbClr val="262626"/>
                </a:solidFill>
                <a:latin typeface="Arial"/>
                <a:ea typeface="Arial"/>
                <a:cs typeface="Arial"/>
                <a:sym typeface="Arial"/>
              </a:rPr>
            </a:br>
            <a:r>
              <a:rPr b="0" lang="en-US" sz="1800">
                <a:solidFill>
                  <a:srgbClr val="262626"/>
                </a:solidFill>
                <a:latin typeface="Arial"/>
                <a:ea typeface="Arial"/>
                <a:cs typeface="Arial"/>
                <a:sym typeface="Arial"/>
              </a:rPr>
              <a:t>causing injury, equipment loss, and production loss.”</a:t>
            </a:r>
            <a:endParaRPr/>
          </a:p>
          <a:p>
            <a:pPr indent="0" lvl="0" marL="0" marR="0" rtl="0" algn="l">
              <a:lnSpc>
                <a:spcPct val="100000"/>
              </a:lnSpc>
              <a:spcBef>
                <a:spcPts val="0"/>
              </a:spcBef>
              <a:spcAft>
                <a:spcPts val="0"/>
              </a:spcAft>
              <a:buClr>
                <a:srgbClr val="000000"/>
              </a:buClr>
              <a:buSzPts val="1800"/>
              <a:buFont typeface="Arial"/>
              <a:buNone/>
            </a:pPr>
            <a:r>
              <a:t/>
            </a:r>
            <a:endParaRPr b="0" sz="1800">
              <a:solidFill>
                <a:srgbClr val="262626"/>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Causes:</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Debris fell from the side</a:t>
            </a:r>
            <a:endParaRPr b="0" i="0" sz="1800" u="none" cap="none" strike="noStrike">
              <a:solidFill>
                <a:srgbClr val="262626"/>
              </a:solidFill>
              <a:latin typeface="Arial"/>
              <a:ea typeface="Arial"/>
              <a:cs typeface="Arial"/>
              <a:sym typeface="Arial"/>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Slope was unstable</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Truck and shovel were inside the exclusion zone</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Supervisor told Operator to work in the exclusion zone</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Operator was not aware of exclusion zone procedures</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Monitoring data was not evaluated</a:t>
            </a:r>
            <a:endParaRPr/>
          </a:p>
          <a:p>
            <a:pPr indent="-342900" lvl="0" marL="457200" marR="0" rtl="0" algn="l">
              <a:lnSpc>
                <a:spcPct val="100000"/>
              </a:lnSpc>
              <a:spcBef>
                <a:spcPts val="0"/>
              </a:spcBef>
              <a:spcAft>
                <a:spcPts val="0"/>
              </a:spcAft>
              <a:buClr>
                <a:schemeClr val="dk1"/>
              </a:buClr>
              <a:buSzPts val="1800"/>
              <a:buFont typeface="Noto Sans Symbols"/>
              <a:buNone/>
            </a:pPr>
            <a:r>
              <a:t/>
            </a:r>
            <a:endParaRPr b="0" sz="1800">
              <a:solidFill>
                <a:srgbClr val="262626"/>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Some points:</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Difficult to decide – immediate or basic!</a:t>
            </a:r>
            <a:endParaRPr/>
          </a:p>
          <a:p>
            <a:pPr indent="-359999" lvl="1" marL="72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Not quite logical … something is missing!</a:t>
            </a:r>
            <a:endParaRPr/>
          </a:p>
          <a:p>
            <a:pPr indent="-359999" lvl="1" marL="108000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“AND” and “OR” gates will help structure the logic.</a:t>
            </a:r>
            <a:endParaRPr/>
          </a:p>
          <a:p>
            <a:pPr indent="-342900" lvl="0" marL="457200" marR="0" rtl="0" algn="l">
              <a:lnSpc>
                <a:spcPct val="100000"/>
              </a:lnSpc>
              <a:spcBef>
                <a:spcPts val="0"/>
              </a:spcBef>
              <a:spcAft>
                <a:spcPts val="0"/>
              </a:spcAft>
              <a:buClr>
                <a:schemeClr val="dk1"/>
              </a:buClr>
              <a:buSzPts val="1800"/>
              <a:buFont typeface="Noto Sans Symbols"/>
              <a:buNone/>
            </a:pPr>
            <a:r>
              <a:t/>
            </a:r>
            <a:endParaRPr b="0" sz="1800">
              <a:solidFill>
                <a:srgbClr val="262626"/>
              </a:solidFill>
              <a:latin typeface="Arial"/>
              <a:ea typeface="Arial"/>
              <a:cs typeface="Arial"/>
              <a:sym typeface="Arial"/>
            </a:endParaRPr>
          </a:p>
          <a:p>
            <a:pPr indent="-360000" lvl="0" marL="360000" marR="0" rtl="0" algn="l">
              <a:lnSpc>
                <a:spcPct val="100000"/>
              </a:lnSpc>
              <a:spcBef>
                <a:spcPts val="0"/>
              </a:spcBef>
              <a:spcAft>
                <a:spcPts val="0"/>
              </a:spcAft>
              <a:buClr>
                <a:srgbClr val="262626"/>
              </a:buClr>
              <a:buSzPts val="1800"/>
              <a:buFont typeface="Noto Sans Symbols"/>
              <a:buChar char="⮚"/>
            </a:pPr>
            <a:r>
              <a:rPr b="0" lang="en-US" sz="1800">
                <a:solidFill>
                  <a:srgbClr val="262626"/>
                </a:solidFill>
                <a:latin typeface="Arial"/>
                <a:ea typeface="Arial"/>
                <a:cs typeface="Arial"/>
                <a:sym typeface="Arial"/>
              </a:rPr>
              <a:t>To make sense, the loss incident and its sequence of events are best analysed using the </a:t>
            </a:r>
            <a:r>
              <a:rPr b="1" lang="en-US" sz="1800">
                <a:solidFill>
                  <a:srgbClr val="262626"/>
                </a:solidFill>
                <a:latin typeface="Arial"/>
                <a:ea typeface="Arial"/>
                <a:cs typeface="Arial"/>
                <a:sym typeface="Arial"/>
              </a:rPr>
              <a:t>Root Cause Analysis</a:t>
            </a:r>
            <a:r>
              <a:rPr b="0" lang="en-US" sz="1800">
                <a:solidFill>
                  <a:srgbClr val="262626"/>
                </a:solidFill>
                <a:latin typeface="Arial"/>
                <a:ea typeface="Arial"/>
                <a:cs typeface="Arial"/>
                <a:sym typeface="Arial"/>
              </a:rPr>
              <a:t> work process and C&amp;E Model!</a:t>
            </a:r>
            <a:endParaRPr/>
          </a:p>
        </p:txBody>
      </p:sp>
      <p:sp>
        <p:nvSpPr>
          <p:cNvPr id="245" name="Google Shape;245;p1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Logical Progression of Causes of an Incident:</a:t>
            </a:r>
            <a:endParaRPr b="0" sz="2400">
              <a:solidFill>
                <a:schemeClr val="accent2"/>
              </a:solidFill>
              <a:latin typeface="Arial"/>
              <a:ea typeface="Arial"/>
              <a:cs typeface="Arial"/>
              <a:sym typeface="Arial"/>
            </a:endParaRPr>
          </a:p>
        </p:txBody>
      </p:sp>
      <p:sp>
        <p:nvSpPr>
          <p:cNvPr id="246" name="Google Shape;246;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47" name="Google Shape;247;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pic>
        <p:nvPicPr>
          <p:cNvPr id="248" name="Google Shape;248;p13"/>
          <p:cNvPicPr preferRelativeResize="0"/>
          <p:nvPr/>
        </p:nvPicPr>
        <p:blipFill rotWithShape="1">
          <a:blip r:embed="rId3">
            <a:alphaModFix/>
          </a:blip>
          <a:srcRect b="0" l="0" r="0" t="0"/>
          <a:stretch/>
        </p:blipFill>
        <p:spPr>
          <a:xfrm>
            <a:off x="5867400" y="887983"/>
            <a:ext cx="2803316" cy="1866207"/>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Collect the facts … complete as much of the </a:t>
            </a:r>
            <a:r>
              <a:rPr b="1" lang="en-US" sz="2000">
                <a:solidFill>
                  <a:srgbClr val="000000"/>
                </a:solidFill>
                <a:latin typeface="Arial"/>
                <a:ea typeface="Arial"/>
                <a:cs typeface="Arial"/>
                <a:sym typeface="Arial"/>
              </a:rPr>
              <a:t>Incident </a:t>
            </a:r>
            <a:br>
              <a:rPr b="1" lang="en-US" sz="2000">
                <a:solidFill>
                  <a:srgbClr val="000000"/>
                </a:solidFill>
                <a:latin typeface="Arial"/>
                <a:ea typeface="Arial"/>
                <a:cs typeface="Arial"/>
                <a:sym typeface="Arial"/>
              </a:rPr>
            </a:br>
            <a:r>
              <a:rPr b="1" lang="en-US" sz="2000">
                <a:solidFill>
                  <a:srgbClr val="000000"/>
                </a:solidFill>
                <a:latin typeface="Arial"/>
                <a:ea typeface="Arial"/>
                <a:cs typeface="Arial"/>
                <a:sym typeface="Arial"/>
              </a:rPr>
              <a:t>Investigation WP</a:t>
            </a:r>
            <a:r>
              <a:rPr b="0" lang="en-US" sz="2000">
                <a:solidFill>
                  <a:srgbClr val="000000"/>
                </a:solidFill>
                <a:latin typeface="Arial"/>
                <a:ea typeface="Arial"/>
                <a:cs typeface="Arial"/>
                <a:sym typeface="Arial"/>
              </a:rPr>
              <a:t> before  moving on to the RCA WP!</a:t>
            </a:r>
            <a:endParaRPr/>
          </a:p>
          <a:p>
            <a:pPr indent="-359999" lvl="0" marL="720000" marR="0" rtl="0" algn="l">
              <a:lnSpc>
                <a:spcPct val="100000"/>
              </a:lnSpc>
              <a:spcBef>
                <a:spcPts val="0"/>
              </a:spcBef>
              <a:spcAft>
                <a:spcPts val="0"/>
              </a:spcAft>
              <a:buClr>
                <a:srgbClr val="000000"/>
              </a:buClr>
              <a:buSzPts val="1600"/>
              <a:buFont typeface="Noto Sans Symbols"/>
              <a:buChar char="⮚"/>
            </a:pPr>
            <a:r>
              <a:rPr b="0" lang="en-US" sz="1600">
                <a:solidFill>
                  <a:srgbClr val="000000"/>
                </a:solidFill>
                <a:latin typeface="Arial"/>
                <a:ea typeface="Arial"/>
                <a:cs typeface="Arial"/>
                <a:sym typeface="Arial"/>
              </a:rPr>
              <a:t>Absolutely necessary that facts of the incident are known </a:t>
            </a:r>
            <a:br>
              <a:rPr b="0" lang="en-US" sz="1600">
                <a:solidFill>
                  <a:srgbClr val="000000"/>
                </a:solidFill>
                <a:latin typeface="Arial"/>
                <a:ea typeface="Arial"/>
                <a:cs typeface="Arial"/>
                <a:sym typeface="Arial"/>
              </a:rPr>
            </a:br>
            <a:r>
              <a:rPr b="0" lang="en-US" sz="1600">
                <a:solidFill>
                  <a:srgbClr val="000000"/>
                </a:solidFill>
                <a:latin typeface="Arial"/>
                <a:ea typeface="Arial"/>
                <a:cs typeface="Arial"/>
                <a:sym typeface="Arial"/>
              </a:rPr>
              <a:t>especially the </a:t>
            </a:r>
            <a:r>
              <a:rPr b="1" lang="en-US" sz="1600">
                <a:solidFill>
                  <a:srgbClr val="000000"/>
                </a:solidFill>
                <a:latin typeface="Arial"/>
                <a:ea typeface="Arial"/>
                <a:cs typeface="Arial"/>
                <a:sym typeface="Arial"/>
              </a:rPr>
              <a:t>sequence of events</a:t>
            </a:r>
            <a:r>
              <a:rPr b="0" lang="en-US" sz="1600">
                <a:solidFill>
                  <a:srgbClr val="000000"/>
                </a:solidFill>
                <a:latin typeface="Arial"/>
                <a:ea typeface="Arial"/>
                <a:cs typeface="Arial"/>
                <a:sym typeface="Arial"/>
              </a:rPr>
              <a:t> leading up to the incident.</a:t>
            </a:r>
            <a:endParaRPr b="0" sz="1600">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600"/>
              <a:buFont typeface="Noto Sans Symbols"/>
              <a:buChar char="⮚"/>
            </a:pPr>
            <a:r>
              <a:rPr b="0" lang="en-US" sz="1600">
                <a:solidFill>
                  <a:srgbClr val="000000"/>
                </a:solidFill>
                <a:latin typeface="Arial"/>
                <a:ea typeface="Arial"/>
                <a:cs typeface="Arial"/>
                <a:sym typeface="Arial"/>
              </a:rPr>
              <a:t>Time and effort can be saved by avoiding debate driven by </a:t>
            </a:r>
            <a:br>
              <a:rPr b="0" lang="en-US" sz="1600">
                <a:solidFill>
                  <a:srgbClr val="000000"/>
                </a:solidFill>
                <a:latin typeface="Arial"/>
                <a:ea typeface="Arial"/>
                <a:cs typeface="Arial"/>
                <a:sym typeface="Arial"/>
              </a:rPr>
            </a:br>
            <a:r>
              <a:rPr b="0" lang="en-US" sz="1600">
                <a:solidFill>
                  <a:srgbClr val="000000"/>
                </a:solidFill>
                <a:latin typeface="Arial"/>
                <a:ea typeface="Arial"/>
                <a:cs typeface="Arial"/>
                <a:sym typeface="Arial"/>
              </a:rPr>
              <a:t>lack of information, or lack of consensus on plausible events. </a:t>
            </a:r>
            <a:endParaRPr b="0" sz="16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a:solidFill>
                  <a:srgbClr val="000000"/>
                </a:solidFill>
                <a:latin typeface="Arial"/>
                <a:ea typeface="Arial"/>
                <a:cs typeface="Arial"/>
                <a:sym typeface="Arial"/>
              </a:rPr>
              <a:t>Apply the RCA WP to logically breakdown</a:t>
            </a:r>
            <a:r>
              <a:rPr b="0" lang="en-US" sz="2000">
                <a:solidFill>
                  <a:srgbClr val="000000"/>
                </a:solidFill>
                <a:latin typeface="Arial"/>
                <a:ea typeface="Arial"/>
                <a:cs typeface="Arial"/>
                <a:sym typeface="Arial"/>
              </a:rPr>
              <a:t> the loss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incident to identify the causes of an incident, including </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immediate causes, and</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basic causes, and</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latent causes;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In other words, to construct the </a:t>
            </a:r>
            <a:r>
              <a:rPr b="1" lang="en-US" sz="2000">
                <a:solidFill>
                  <a:srgbClr val="000000"/>
                </a:solidFill>
                <a:latin typeface="Arial"/>
                <a:ea typeface="Arial"/>
                <a:cs typeface="Arial"/>
                <a:sym typeface="Arial"/>
              </a:rPr>
              <a:t>Root Cause Analysis Chart</a:t>
            </a:r>
            <a:r>
              <a:rPr b="0" lang="en-US" sz="2000">
                <a:solidFill>
                  <a:srgbClr val="000000"/>
                </a:solidFill>
                <a:latin typeface="Arial"/>
                <a:ea typeface="Arial"/>
                <a:cs typeface="Arial"/>
                <a:sym typeface="Arial"/>
              </a:rPr>
              <a:t>!</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RCA Team identifies </a:t>
            </a:r>
            <a:r>
              <a:rPr b="1" lang="en-US" sz="2000">
                <a:solidFill>
                  <a:srgbClr val="000000"/>
                </a:solidFill>
                <a:latin typeface="Arial"/>
                <a:ea typeface="Arial"/>
                <a:cs typeface="Arial"/>
                <a:sym typeface="Arial"/>
              </a:rPr>
              <a:t>actual</a:t>
            </a:r>
            <a:r>
              <a:rPr b="0" lang="en-US" sz="2000">
                <a:solidFill>
                  <a:srgbClr val="000000"/>
                </a:solidFill>
                <a:latin typeface="Arial"/>
                <a:ea typeface="Arial"/>
                <a:cs typeface="Arial"/>
                <a:sym typeface="Arial"/>
              </a:rPr>
              <a:t> causes as well as </a:t>
            </a:r>
            <a:r>
              <a:rPr b="1" lang="en-US" sz="2000">
                <a:solidFill>
                  <a:srgbClr val="000000"/>
                </a:solidFill>
                <a:latin typeface="Arial"/>
                <a:ea typeface="Arial"/>
                <a:cs typeface="Arial"/>
                <a:sym typeface="Arial"/>
              </a:rPr>
              <a:t>possible, probable, plausible, or conceivable</a:t>
            </a:r>
            <a:r>
              <a:rPr b="0" lang="en-US" sz="2000">
                <a:solidFill>
                  <a:srgbClr val="000000"/>
                </a:solidFill>
                <a:latin typeface="Arial"/>
                <a:ea typeface="Arial"/>
                <a:cs typeface="Arial"/>
                <a:sym typeface="Arial"/>
              </a:rPr>
              <a:t> causes. </a:t>
            </a:r>
            <a:endParaRPr/>
          </a:p>
        </p:txBody>
      </p:sp>
      <p:sp>
        <p:nvSpPr>
          <p:cNvPr id="255" name="Google Shape;255;p1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Root Cause Analysis Work Process:</a:t>
            </a:r>
            <a:endParaRPr/>
          </a:p>
        </p:txBody>
      </p:sp>
      <p:sp>
        <p:nvSpPr>
          <p:cNvPr id="256" name="Google Shape;256;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57" name="Google Shape;257;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pic>
        <p:nvPicPr>
          <p:cNvPr id="258" name="Google Shape;258;p14"/>
          <p:cNvPicPr preferRelativeResize="0"/>
          <p:nvPr/>
        </p:nvPicPr>
        <p:blipFill rotWithShape="1">
          <a:blip r:embed="rId3">
            <a:alphaModFix/>
          </a:blip>
          <a:srcRect b="0" l="0" r="0" t="0"/>
          <a:stretch/>
        </p:blipFill>
        <p:spPr>
          <a:xfrm>
            <a:off x="6848524" y="793841"/>
            <a:ext cx="2079333" cy="2406559"/>
          </a:xfrm>
          <a:prstGeom prst="rect">
            <a:avLst/>
          </a:prstGeom>
          <a:noFill/>
          <a:ln>
            <a:noFill/>
          </a:ln>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Purpose, Starting Point, and Outcome:</a:t>
            </a:r>
            <a:endParaRPr b="1"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RCA WP is intended to drill down to the </a:t>
            </a:r>
            <a:r>
              <a:rPr b="1" lang="en-US" sz="2000">
                <a:solidFill>
                  <a:srgbClr val="000000"/>
                </a:solidFill>
                <a:latin typeface="Arial"/>
                <a:ea typeface="Arial"/>
                <a:cs typeface="Arial"/>
                <a:sym typeface="Arial"/>
              </a:rPr>
              <a:t>latent causes</a:t>
            </a:r>
            <a:r>
              <a:rPr b="0" lang="en-US" sz="2000">
                <a:solidFill>
                  <a:srgbClr val="000000"/>
                </a:solidFill>
                <a:latin typeface="Arial"/>
                <a:ea typeface="Arial"/>
                <a:cs typeface="Arial"/>
                <a:sym typeface="Arial"/>
              </a:rPr>
              <a:t>. </a:t>
            </a:r>
            <a:endParaRPr/>
          </a:p>
          <a:p>
            <a:pPr indent="-359999" lvl="1" marL="720000" marR="0" rtl="0" algn="l">
              <a:lnSpc>
                <a:spcPct val="100000"/>
              </a:lnSpc>
              <a:spcBef>
                <a:spcPts val="0"/>
              </a:spcBef>
              <a:spcAft>
                <a:spcPts val="0"/>
              </a:spcAft>
              <a:buClr>
                <a:srgbClr val="262626"/>
              </a:buClr>
              <a:buSzPts val="2000"/>
              <a:buFont typeface="Noto Sans Symbols"/>
              <a:buChar char="⮚"/>
            </a:pPr>
            <a:r>
              <a:rPr b="0" i="0" lang="en-US" sz="2000" u="none" cap="none" strike="noStrike">
                <a:solidFill>
                  <a:srgbClr val="262626"/>
                </a:solidFill>
                <a:latin typeface="Arial"/>
                <a:ea typeface="Arial"/>
                <a:cs typeface="Arial"/>
                <a:sym typeface="Arial"/>
              </a:rPr>
              <a:t>Once latent causes (RMS element weaknesses) are identified, needed improvements &amp; recommendations become evident. </a:t>
            </a:r>
            <a:endParaRPr/>
          </a:p>
          <a:p>
            <a:pPr indent="0" lvl="0" marL="0" marR="0" rtl="0" algn="l">
              <a:lnSpc>
                <a:spcPct val="100000"/>
              </a:lnSpc>
              <a:spcBef>
                <a:spcPts val="0"/>
              </a:spcBef>
              <a:spcAft>
                <a:spcPts val="0"/>
              </a:spcAft>
              <a:buClr>
                <a:srgbClr val="E7E6E6"/>
              </a:buClr>
              <a:buSzPts val="2000"/>
              <a:buFont typeface="Noto Sans Symbols"/>
              <a:buNone/>
            </a:pPr>
            <a:r>
              <a:t/>
            </a:r>
            <a:endParaRPr b="0" sz="2000">
              <a:solidFill>
                <a:srgbClr val="262626"/>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starting point is the </a:t>
            </a:r>
            <a:r>
              <a:rPr b="1" lang="en-US" sz="2000">
                <a:solidFill>
                  <a:srgbClr val="000000"/>
                </a:solidFill>
                <a:latin typeface="Arial"/>
                <a:ea typeface="Arial"/>
                <a:cs typeface="Arial"/>
                <a:sym typeface="Arial"/>
              </a:rPr>
              <a:t>Incident Description</a:t>
            </a:r>
            <a:r>
              <a:rPr b="0" lang="en-US" sz="2000">
                <a:solidFill>
                  <a:srgbClr val="000000"/>
                </a:solidFill>
                <a:latin typeface="Arial"/>
                <a:ea typeface="Arial"/>
                <a:cs typeface="Arial"/>
                <a:sym typeface="Arial"/>
              </a:rPr>
              <a:t>. </a:t>
            </a:r>
            <a:endParaRPr b="0" sz="2000">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262626"/>
              </a:buClr>
              <a:buSzPts val="2000"/>
              <a:buFont typeface="Noto Sans Symbols"/>
              <a:buChar char="⮚"/>
            </a:pPr>
            <a:r>
              <a:rPr b="0" i="0" lang="en-US" sz="2000" u="none" cap="none" strike="noStrike">
                <a:solidFill>
                  <a:srgbClr val="262626"/>
                </a:solidFill>
                <a:latin typeface="Arial"/>
                <a:ea typeface="Arial"/>
                <a:cs typeface="Arial"/>
                <a:sym typeface="Arial"/>
              </a:rPr>
              <a:t>The RCA reliably describes the </a:t>
            </a:r>
            <a:r>
              <a:rPr b="1" i="0" lang="en-US" sz="2000" u="none" cap="none" strike="noStrike">
                <a:solidFill>
                  <a:srgbClr val="262626"/>
                </a:solidFill>
                <a:latin typeface="Arial"/>
                <a:ea typeface="Arial"/>
                <a:cs typeface="Arial"/>
                <a:sym typeface="Arial"/>
              </a:rPr>
              <a:t>sequence of events </a:t>
            </a:r>
            <a:r>
              <a:rPr b="0" i="0" lang="en-US" sz="2000" u="none" cap="none" strike="noStrike">
                <a:solidFill>
                  <a:srgbClr val="262626"/>
                </a:solidFill>
                <a:latin typeface="Arial"/>
                <a:ea typeface="Arial"/>
                <a:cs typeface="Arial"/>
                <a:sym typeface="Arial"/>
              </a:rPr>
              <a:t>leading up to the incident – </a:t>
            </a:r>
            <a:r>
              <a:rPr b="1" i="0" lang="en-US" sz="2000" u="none" cap="none" strike="noStrike">
                <a:solidFill>
                  <a:srgbClr val="262626"/>
                </a:solidFill>
                <a:latin typeface="Arial"/>
                <a:ea typeface="Arial"/>
                <a:cs typeface="Arial"/>
                <a:sym typeface="Arial"/>
              </a:rPr>
              <a:t>in detail</a:t>
            </a:r>
            <a:r>
              <a:rPr b="0" i="0" lang="en-US" sz="2000" u="none" cap="none" strike="noStrike">
                <a:solidFill>
                  <a:srgbClr val="262626"/>
                </a:solidFill>
                <a:latin typeface="Arial"/>
                <a:ea typeface="Arial"/>
                <a:cs typeface="Arial"/>
                <a:sym typeface="Arial"/>
              </a:rPr>
              <a:t>. </a:t>
            </a:r>
            <a:endParaRPr b="0" i="0" sz="2000" u="none" cap="none" strike="noStrike">
              <a:solidFill>
                <a:srgbClr val="262626"/>
              </a:solidFill>
              <a:latin typeface="Arial"/>
              <a:ea typeface="Arial"/>
              <a:cs typeface="Arial"/>
              <a:sym typeface="Arial"/>
            </a:endParaRPr>
          </a:p>
          <a:p>
            <a:pPr indent="-232999" lvl="1"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262626"/>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product or </a:t>
            </a:r>
            <a:r>
              <a:rPr b="1" lang="en-US" sz="2000">
                <a:solidFill>
                  <a:srgbClr val="000000"/>
                </a:solidFill>
                <a:latin typeface="Arial"/>
                <a:ea typeface="Arial"/>
                <a:cs typeface="Arial"/>
                <a:sym typeface="Arial"/>
              </a:rPr>
              <a:t>outcome</a:t>
            </a:r>
            <a:r>
              <a:rPr b="0" lang="en-US" sz="2000">
                <a:solidFill>
                  <a:srgbClr val="000000"/>
                </a:solidFill>
                <a:latin typeface="Arial"/>
                <a:ea typeface="Arial"/>
                <a:cs typeface="Arial"/>
                <a:sym typeface="Arial"/>
              </a:rPr>
              <a:t> of the RCA Work Process is an </a:t>
            </a:r>
            <a:r>
              <a:rPr b="1" lang="en-US" sz="2000">
                <a:solidFill>
                  <a:srgbClr val="000000"/>
                </a:solidFill>
                <a:latin typeface="Arial"/>
                <a:ea typeface="Arial"/>
                <a:cs typeface="Arial"/>
                <a:sym typeface="Arial"/>
              </a:rPr>
              <a:t>RCA Chart</a:t>
            </a:r>
            <a:r>
              <a:rPr b="0" lang="en-US" sz="2000">
                <a:solidFill>
                  <a:srgbClr val="000000"/>
                </a:solidFill>
                <a:latin typeface="Arial"/>
                <a:ea typeface="Arial"/>
                <a:cs typeface="Arial"/>
                <a:sym typeface="Arial"/>
              </a:rPr>
              <a:t>.</a:t>
            </a:r>
            <a:endParaRPr/>
          </a:p>
          <a:p>
            <a:pPr indent="-232999" lvl="1"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262626"/>
              </a:solidFill>
              <a:latin typeface="Arial"/>
              <a:ea typeface="Arial"/>
              <a:cs typeface="Arial"/>
              <a:sym typeface="Arial"/>
            </a:endParaRPr>
          </a:p>
          <a:p>
            <a:pPr indent="-457200" lvl="0" marL="457200" marR="0" rtl="0" algn="l">
              <a:lnSpc>
                <a:spcPct val="100000"/>
              </a:lnSpc>
              <a:spcBef>
                <a:spcPts val="0"/>
              </a:spcBef>
              <a:spcAft>
                <a:spcPts val="0"/>
              </a:spcAft>
              <a:buClr>
                <a:srgbClr val="E7E6E6"/>
              </a:buClr>
              <a:buSzPts val="2000"/>
              <a:buFont typeface="Arial"/>
              <a:buNone/>
            </a:pPr>
            <a:r>
              <a:rPr b="0" lang="en-US" sz="2000">
                <a:solidFill>
                  <a:srgbClr val="262626"/>
                </a:solidFill>
                <a:latin typeface="Arial"/>
                <a:ea typeface="Arial"/>
                <a:cs typeface="Arial"/>
                <a:sym typeface="Arial"/>
              </a:rPr>
              <a:t>Some benefits:</a:t>
            </a:r>
            <a:endParaRPr/>
          </a:p>
          <a:p>
            <a:pPr indent="-360000" lvl="0" marL="360000" marR="0" rtl="0" algn="l">
              <a:lnSpc>
                <a:spcPct val="100000"/>
              </a:lnSpc>
              <a:spcBef>
                <a:spcPts val="0"/>
              </a:spcBef>
              <a:spcAft>
                <a:spcPts val="0"/>
              </a:spcAft>
              <a:buClr>
                <a:srgbClr val="262626"/>
              </a:buClr>
              <a:buSzPts val="2000"/>
              <a:buFont typeface="Noto Sans Symbols"/>
              <a:buChar char="⮚"/>
            </a:pPr>
            <a:r>
              <a:rPr b="0" lang="en-US" sz="2000">
                <a:solidFill>
                  <a:srgbClr val="262626"/>
                </a:solidFill>
                <a:latin typeface="Arial"/>
                <a:ea typeface="Arial"/>
                <a:cs typeface="Arial"/>
                <a:sym typeface="Arial"/>
              </a:rPr>
              <a:t>Focuses on one specific cause at a time. </a:t>
            </a:r>
            <a:endParaRPr/>
          </a:p>
          <a:p>
            <a:pPr indent="-360000" lvl="0" marL="360000" marR="0" rtl="0" algn="l">
              <a:lnSpc>
                <a:spcPct val="100000"/>
              </a:lnSpc>
              <a:spcBef>
                <a:spcPts val="0"/>
              </a:spcBef>
              <a:spcAft>
                <a:spcPts val="0"/>
              </a:spcAft>
              <a:buClr>
                <a:srgbClr val="262626"/>
              </a:buClr>
              <a:buSzPts val="2000"/>
              <a:buFont typeface="Noto Sans Symbols"/>
              <a:buChar char="⮚"/>
            </a:pPr>
            <a:r>
              <a:rPr b="0" lang="en-US" sz="2000">
                <a:solidFill>
                  <a:srgbClr val="262626"/>
                </a:solidFill>
                <a:latin typeface="Arial"/>
                <a:ea typeface="Arial"/>
                <a:cs typeface="Arial"/>
                <a:sym typeface="Arial"/>
              </a:rPr>
              <a:t>Identifies all causes through brainstorm thinking, supported by evidence in actual loss incidents under investigation</a:t>
            </a:r>
            <a:endParaRPr/>
          </a:p>
          <a:p>
            <a:pPr indent="-360000" lvl="0" marL="360000" marR="0" rtl="0" algn="l">
              <a:lnSpc>
                <a:spcPct val="100000"/>
              </a:lnSpc>
              <a:spcBef>
                <a:spcPts val="0"/>
              </a:spcBef>
              <a:spcAft>
                <a:spcPts val="0"/>
              </a:spcAft>
              <a:buClr>
                <a:srgbClr val="262626"/>
              </a:buClr>
              <a:buSzPts val="2000"/>
              <a:buFont typeface="Noto Sans Symbols"/>
              <a:buChar char="⮚"/>
            </a:pPr>
            <a:r>
              <a:rPr b="0" lang="en-US" sz="2000">
                <a:solidFill>
                  <a:srgbClr val="262626"/>
                </a:solidFill>
                <a:latin typeface="Arial"/>
                <a:ea typeface="Arial"/>
                <a:cs typeface="Arial"/>
                <a:sym typeface="Arial"/>
              </a:rPr>
              <a:t>Provides a visual representation of the incident in a clear and logical manner.</a:t>
            </a:r>
            <a:endParaRPr/>
          </a:p>
        </p:txBody>
      </p:sp>
      <p:sp>
        <p:nvSpPr>
          <p:cNvPr id="265" name="Google Shape;265;p1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Root Cause Analysis Work Process:</a:t>
            </a:r>
            <a:endParaRPr/>
          </a:p>
        </p:txBody>
      </p:sp>
      <p:sp>
        <p:nvSpPr>
          <p:cNvPr id="266" name="Google Shape;266;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67" name="Google Shape;267;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How to Construct a Root Cause Analysis – the Steps:</a:t>
            </a:r>
            <a:endParaRPr b="1"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sz="2000">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Define and state the Incident Description. </a:t>
            </a:r>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Ask what caused this i.e. “Ask why?”</a:t>
            </a:r>
            <a:endParaRPr b="0" sz="2000">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For each subsequent cause, ask the same question, “why?” </a:t>
            </a:r>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Immediate causes at the initial levels, followed by basic causes.</a:t>
            </a:r>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Use “AND” and “OR” gates to logically connect causes. </a:t>
            </a:r>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Continue to drill down to ultimately discover the latent causes. </a:t>
            </a:r>
            <a:endParaRPr/>
          </a:p>
          <a:p>
            <a:pPr indent="-457200" lvl="0" marL="457200" marR="0" rtl="0" algn="l">
              <a:lnSpc>
                <a:spcPct val="100000"/>
              </a:lnSpc>
              <a:spcBef>
                <a:spcPts val="60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Build sound logic in your RCA Chart - avoid “logic leaps”.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Use the narrative technique: “</a:t>
            </a:r>
            <a:r>
              <a:rPr b="0" i="1" lang="en-US" sz="2000">
                <a:solidFill>
                  <a:srgbClr val="000000"/>
                </a:solidFill>
                <a:latin typeface="Arial"/>
                <a:ea typeface="Arial"/>
                <a:cs typeface="Arial"/>
                <a:sym typeface="Arial"/>
              </a:rPr>
              <a:t>This</a:t>
            </a:r>
            <a:r>
              <a:rPr b="0" lang="en-US" sz="2000">
                <a:solidFill>
                  <a:srgbClr val="000000"/>
                </a:solidFill>
                <a:latin typeface="Arial"/>
                <a:ea typeface="Arial"/>
                <a:cs typeface="Arial"/>
                <a:sym typeface="Arial"/>
              </a:rPr>
              <a:t> … was caused by </a:t>
            </a:r>
            <a:r>
              <a:rPr b="0" i="1" lang="en-US" sz="2000">
                <a:solidFill>
                  <a:srgbClr val="000000"/>
                </a:solidFill>
                <a:latin typeface="Arial"/>
                <a:ea typeface="Arial"/>
                <a:cs typeface="Arial"/>
                <a:sym typeface="Arial"/>
              </a:rPr>
              <a:t>this</a:t>
            </a:r>
            <a:r>
              <a:rPr b="0" lang="en-US" sz="2000">
                <a:solidFill>
                  <a:srgbClr val="000000"/>
                </a:solidFill>
                <a:latin typeface="Arial"/>
                <a:ea typeface="Arial"/>
                <a:cs typeface="Arial"/>
                <a:sym typeface="Arial"/>
              </a:rPr>
              <a:t> … . </a:t>
            </a:r>
            <a:r>
              <a:rPr b="0" i="1" lang="en-US" sz="2000">
                <a:solidFill>
                  <a:srgbClr val="000000"/>
                </a:solidFill>
                <a:latin typeface="Arial"/>
                <a:ea typeface="Arial"/>
                <a:cs typeface="Arial"/>
                <a:sym typeface="Arial"/>
              </a:rPr>
              <a:t>This</a:t>
            </a:r>
            <a:r>
              <a:rPr b="0" lang="en-US" sz="2000">
                <a:solidFill>
                  <a:srgbClr val="000000"/>
                </a:solidFill>
                <a:latin typeface="Arial"/>
                <a:ea typeface="Arial"/>
                <a:cs typeface="Arial"/>
                <a:sym typeface="Arial"/>
              </a:rPr>
              <a:t> … was caused by </a:t>
            </a:r>
            <a:r>
              <a:rPr b="0" i="1" lang="en-US" sz="2000">
                <a:solidFill>
                  <a:srgbClr val="000000"/>
                </a:solidFill>
                <a:latin typeface="Arial"/>
                <a:ea typeface="Arial"/>
                <a:cs typeface="Arial"/>
                <a:sym typeface="Arial"/>
              </a:rPr>
              <a:t>this</a:t>
            </a:r>
            <a:r>
              <a:rPr b="0" lang="en-US" sz="2000">
                <a:solidFill>
                  <a:srgbClr val="000000"/>
                </a:solidFill>
                <a:latin typeface="Arial"/>
                <a:ea typeface="Arial"/>
                <a:cs typeface="Arial"/>
                <a:sym typeface="Arial"/>
              </a:rPr>
              <a:t> … .” </a:t>
            </a:r>
            <a:endParaRPr/>
          </a:p>
        </p:txBody>
      </p:sp>
      <p:sp>
        <p:nvSpPr>
          <p:cNvPr id="274" name="Google Shape;274;p1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Root Cause Analysis Work Process:</a:t>
            </a:r>
            <a:endParaRPr/>
          </a:p>
        </p:txBody>
      </p:sp>
      <p:sp>
        <p:nvSpPr>
          <p:cNvPr id="275" name="Google Shape;275;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76" name="Google Shape;276;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Nomenclature and Symbols for Root Cause Analysis:</a:t>
            </a:r>
            <a:endParaRPr/>
          </a:p>
        </p:txBody>
      </p:sp>
      <p:sp>
        <p:nvSpPr>
          <p:cNvPr id="283" name="Google Shape;283;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84" name="Google Shape;284;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
        <p:nvSpPr>
          <p:cNvPr id="285" name="Google Shape;285;p17"/>
          <p:cNvSpPr txBox="1"/>
          <p:nvPr/>
        </p:nvSpPr>
        <p:spPr>
          <a:xfrm>
            <a:off x="1553142" y="960540"/>
            <a:ext cx="7266858" cy="50592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solidFill>
                  <a:srgbClr val="000000"/>
                </a:solidFill>
                <a:latin typeface="Arial"/>
                <a:ea typeface="Arial"/>
                <a:cs typeface="Arial"/>
                <a:sym typeface="Arial"/>
              </a:rPr>
              <a:t>How practices (activities, actions, behaviours) and conditions (hazards) are viewed in order to cause an event:</a:t>
            </a:r>
            <a:endParaRPr/>
          </a:p>
          <a:p>
            <a:pPr indent="0" lvl="0" marL="0" marR="0" rtl="0" algn="l">
              <a:lnSpc>
                <a:spcPct val="100000"/>
              </a:lnSpc>
              <a:spcBef>
                <a:spcPts val="0"/>
              </a:spcBef>
              <a:spcAft>
                <a:spcPts val="0"/>
              </a:spcAft>
              <a:buClr>
                <a:schemeClr val="dk1"/>
              </a:buClr>
              <a:buSzPts val="1800"/>
              <a:buFont typeface="Noto Sans Symbols"/>
              <a:buNone/>
            </a:pPr>
            <a:r>
              <a:t/>
            </a:r>
            <a:endParaRPr b="1" sz="1800">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rgbClr val="000000"/>
                </a:solidFill>
                <a:latin typeface="Arial"/>
                <a:ea typeface="Arial"/>
                <a:cs typeface="Arial"/>
                <a:sym typeface="Arial"/>
              </a:rPr>
              <a:t>“AND” Gate: </a:t>
            </a:r>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One possibility is a combination of practices must happen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i.e. Practice A AND Practice B</a:t>
            </a:r>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Another possibility is a combination of conditions must be present</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i.e. Condition A AND Condition B</a:t>
            </a:r>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And another possibility is a combination of practices must happen and conditions must be present   i.e. Practice A AND Condition B.</a:t>
            </a:r>
            <a:endParaRPr/>
          </a:p>
          <a:p>
            <a:pPr indent="-228600" lvl="0" marL="228600" marR="0" rtl="0" algn="l">
              <a:lnSpc>
                <a:spcPct val="100000"/>
              </a:lnSpc>
              <a:spcBef>
                <a:spcPts val="0"/>
              </a:spcBef>
              <a:spcAft>
                <a:spcPts val="0"/>
              </a:spcAft>
              <a:buClr>
                <a:schemeClr val="dk1"/>
              </a:buClr>
              <a:buSzPts val="1800"/>
              <a:buFont typeface="Noto Sans Symbols"/>
              <a:buNone/>
            </a:pPr>
            <a:r>
              <a:t/>
            </a:r>
            <a:endParaRPr b="0" sz="1800">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rPr b="1" lang="en-US" sz="1800">
                <a:solidFill>
                  <a:srgbClr val="000000"/>
                </a:solidFill>
                <a:latin typeface="Arial"/>
                <a:ea typeface="Arial"/>
                <a:cs typeface="Arial"/>
                <a:sym typeface="Arial"/>
              </a:rPr>
              <a:t>“OR” Gate:</a:t>
            </a:r>
            <a:endParaRPr b="0" sz="1800">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One of several practice must happen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i.e. Practice A OR Practice B</a:t>
            </a:r>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One of several conditions must be present </a:t>
            </a: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i.e. Condition A OR Condition B</a:t>
            </a:r>
            <a:endParaRPr/>
          </a:p>
          <a:p>
            <a:pPr indent="-228600" lvl="0" marL="2286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One of several practices must happen or conditions must be present i.e. Practice A OR Condition B.</a:t>
            </a:r>
            <a:endParaRPr b="0" sz="1800">
              <a:solidFill>
                <a:srgbClr val="000000"/>
              </a:solidFill>
              <a:latin typeface="Arial"/>
              <a:ea typeface="Arial"/>
              <a:cs typeface="Arial"/>
              <a:sym typeface="Arial"/>
            </a:endParaRPr>
          </a:p>
        </p:txBody>
      </p:sp>
      <p:grpSp>
        <p:nvGrpSpPr>
          <p:cNvPr id="286" name="Google Shape;286;p17"/>
          <p:cNvGrpSpPr/>
          <p:nvPr/>
        </p:nvGrpSpPr>
        <p:grpSpPr>
          <a:xfrm>
            <a:off x="396000" y="1676400"/>
            <a:ext cx="1080000" cy="1981200"/>
            <a:chOff x="7467600" y="2133600"/>
            <a:chExt cx="1066800" cy="1981200"/>
          </a:xfrm>
        </p:grpSpPr>
        <p:sp>
          <p:nvSpPr>
            <p:cNvPr id="287" name="Google Shape;287;p17"/>
            <p:cNvSpPr/>
            <p:nvPr/>
          </p:nvSpPr>
          <p:spPr>
            <a:xfrm rot="-5400000">
              <a:off x="7677150" y="2762250"/>
              <a:ext cx="647700" cy="609600"/>
            </a:xfrm>
            <a:prstGeom prst="flowChartDelay">
              <a:avLst/>
            </a:prstGeom>
            <a:solidFill>
              <a:srgbClr val="FFFFFF"/>
            </a:solidFill>
            <a:ln cap="flat" cmpd="sng" w="9525">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7"/>
            <p:cNvSpPr txBox="1"/>
            <p:nvPr/>
          </p:nvSpPr>
          <p:spPr>
            <a:xfrm>
              <a:off x="7785474" y="2838054"/>
              <a:ext cx="431052" cy="55284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Noto Sans Symbols"/>
                <a:buNone/>
              </a:pPr>
              <a:r>
                <a:rPr b="0" lang="en-US" sz="1600">
                  <a:solidFill>
                    <a:srgbClr val="000000"/>
                  </a:solidFill>
                  <a:latin typeface="Arial"/>
                  <a:ea typeface="Arial"/>
                  <a:cs typeface="Arial"/>
                  <a:sym typeface="Arial"/>
                </a:rPr>
                <a:t>AND</a:t>
              </a:r>
              <a:endParaRPr/>
            </a:p>
          </p:txBody>
        </p:sp>
        <p:sp>
          <p:nvSpPr>
            <p:cNvPr id="289" name="Google Shape;289;p17"/>
            <p:cNvSpPr/>
            <p:nvPr/>
          </p:nvSpPr>
          <p:spPr>
            <a:xfrm>
              <a:off x="7467600" y="3657600"/>
              <a:ext cx="304800" cy="457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A</a:t>
              </a:r>
              <a:endParaRPr/>
            </a:p>
          </p:txBody>
        </p:sp>
        <p:sp>
          <p:nvSpPr>
            <p:cNvPr id="290" name="Google Shape;290;p17"/>
            <p:cNvSpPr/>
            <p:nvPr/>
          </p:nvSpPr>
          <p:spPr>
            <a:xfrm>
              <a:off x="8229600" y="3657600"/>
              <a:ext cx="304800" cy="457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B</a:t>
              </a:r>
              <a:endParaRPr/>
            </a:p>
          </p:txBody>
        </p:sp>
        <p:sp>
          <p:nvSpPr>
            <p:cNvPr id="291" name="Google Shape;291;p17"/>
            <p:cNvSpPr/>
            <p:nvPr/>
          </p:nvSpPr>
          <p:spPr>
            <a:xfrm>
              <a:off x="7467600" y="2133600"/>
              <a:ext cx="1066800" cy="381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Event</a:t>
              </a:r>
              <a:endParaRPr/>
            </a:p>
          </p:txBody>
        </p:sp>
        <p:cxnSp>
          <p:nvCxnSpPr>
            <p:cNvPr id="292" name="Google Shape;292;p17"/>
            <p:cNvCxnSpPr>
              <a:stCxn id="289" idx="0"/>
              <a:endCxn id="287" idx="1"/>
            </p:cNvCxnSpPr>
            <p:nvPr/>
          </p:nvCxnSpPr>
          <p:spPr>
            <a:xfrm rot="-5400000">
              <a:off x="7677150" y="3333750"/>
              <a:ext cx="266700" cy="381000"/>
            </a:xfrm>
            <a:prstGeom prst="bentConnector3">
              <a:avLst>
                <a:gd fmla="val -121429" name="adj1"/>
              </a:avLst>
            </a:prstGeom>
            <a:noFill/>
            <a:ln cap="flat" cmpd="sng" w="25400">
              <a:solidFill>
                <a:srgbClr val="000000"/>
              </a:solidFill>
              <a:prstDash val="solid"/>
              <a:miter lim="800000"/>
              <a:headEnd len="med" w="med" type="none"/>
              <a:tailEnd len="med" w="med" type="none"/>
            </a:ln>
          </p:spPr>
        </p:cxnSp>
        <p:cxnSp>
          <p:nvCxnSpPr>
            <p:cNvPr id="293" name="Google Shape;293;p17"/>
            <p:cNvCxnSpPr>
              <a:stCxn id="287" idx="3"/>
              <a:endCxn id="291" idx="2"/>
            </p:cNvCxnSpPr>
            <p:nvPr/>
          </p:nvCxnSpPr>
          <p:spPr>
            <a:xfrm rot="10800000">
              <a:off x="8001000" y="2514600"/>
              <a:ext cx="0" cy="228600"/>
            </a:xfrm>
            <a:prstGeom prst="straightConnector1">
              <a:avLst/>
            </a:prstGeom>
            <a:noFill/>
            <a:ln cap="flat" cmpd="sng" w="25400">
              <a:solidFill>
                <a:srgbClr val="000000"/>
              </a:solidFill>
              <a:prstDash val="solid"/>
              <a:round/>
              <a:headEnd len="med" w="med" type="none"/>
              <a:tailEnd len="med" w="med" type="none"/>
            </a:ln>
          </p:spPr>
        </p:cxnSp>
        <p:cxnSp>
          <p:nvCxnSpPr>
            <p:cNvPr id="294" name="Google Shape;294;p17"/>
            <p:cNvCxnSpPr>
              <a:stCxn id="287" idx="1"/>
              <a:endCxn id="290" idx="0"/>
            </p:cNvCxnSpPr>
            <p:nvPr/>
          </p:nvCxnSpPr>
          <p:spPr>
            <a:xfrm flipH="1" rot="-5400000">
              <a:off x="8058150" y="3333750"/>
              <a:ext cx="266700" cy="381000"/>
            </a:xfrm>
            <a:prstGeom prst="bentConnector3">
              <a:avLst>
                <a:gd fmla="val 221429" name="adj1"/>
              </a:avLst>
            </a:prstGeom>
            <a:noFill/>
            <a:ln cap="flat" cmpd="sng" w="25400">
              <a:solidFill>
                <a:srgbClr val="000000"/>
              </a:solidFill>
              <a:prstDash val="solid"/>
              <a:miter lim="800000"/>
              <a:headEnd len="med" w="med" type="none"/>
              <a:tailEnd len="med" w="med" type="none"/>
            </a:ln>
          </p:spPr>
        </p:cxnSp>
      </p:grpSp>
      <p:grpSp>
        <p:nvGrpSpPr>
          <p:cNvPr id="295" name="Google Shape;295;p17"/>
          <p:cNvGrpSpPr/>
          <p:nvPr/>
        </p:nvGrpSpPr>
        <p:grpSpPr>
          <a:xfrm>
            <a:off x="396000" y="4038600"/>
            <a:ext cx="1080000" cy="1981200"/>
            <a:chOff x="7467600" y="4343400"/>
            <a:chExt cx="1066800" cy="1981200"/>
          </a:xfrm>
        </p:grpSpPr>
        <p:sp>
          <p:nvSpPr>
            <p:cNvPr id="296" name="Google Shape;296;p17"/>
            <p:cNvSpPr/>
            <p:nvPr/>
          </p:nvSpPr>
          <p:spPr>
            <a:xfrm>
              <a:off x="7467600" y="5867400"/>
              <a:ext cx="304800" cy="457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A</a:t>
              </a:r>
              <a:endParaRPr/>
            </a:p>
          </p:txBody>
        </p:sp>
        <p:sp>
          <p:nvSpPr>
            <p:cNvPr id="297" name="Google Shape;297;p17"/>
            <p:cNvSpPr/>
            <p:nvPr/>
          </p:nvSpPr>
          <p:spPr>
            <a:xfrm>
              <a:off x="8229600" y="5867400"/>
              <a:ext cx="304800" cy="457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B</a:t>
              </a:r>
              <a:endParaRPr/>
            </a:p>
          </p:txBody>
        </p:sp>
        <p:sp>
          <p:nvSpPr>
            <p:cNvPr id="298" name="Google Shape;298;p17"/>
            <p:cNvSpPr/>
            <p:nvPr/>
          </p:nvSpPr>
          <p:spPr>
            <a:xfrm>
              <a:off x="7467600" y="4343400"/>
              <a:ext cx="1066800" cy="381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000"/>
                <a:buFont typeface="Noto Sans Symbols"/>
                <a:buNone/>
              </a:pPr>
              <a:r>
                <a:rPr b="0" lang="en-US" sz="2000">
                  <a:solidFill>
                    <a:srgbClr val="000000"/>
                  </a:solidFill>
                  <a:latin typeface="Arial"/>
                  <a:ea typeface="Arial"/>
                  <a:cs typeface="Arial"/>
                  <a:sym typeface="Arial"/>
                </a:rPr>
                <a:t>Event</a:t>
              </a:r>
              <a:endParaRPr/>
            </a:p>
          </p:txBody>
        </p:sp>
        <p:cxnSp>
          <p:nvCxnSpPr>
            <p:cNvPr id="299" name="Google Shape;299;p17"/>
            <p:cNvCxnSpPr>
              <a:stCxn id="296" idx="0"/>
              <a:endCxn id="298" idx="2"/>
            </p:cNvCxnSpPr>
            <p:nvPr/>
          </p:nvCxnSpPr>
          <p:spPr>
            <a:xfrm rot="-5400000">
              <a:off x="7239000" y="5105400"/>
              <a:ext cx="1143000" cy="381000"/>
            </a:xfrm>
            <a:prstGeom prst="bentConnector3">
              <a:avLst>
                <a:gd fmla="val -4028" name="adj1"/>
              </a:avLst>
            </a:prstGeom>
            <a:noFill/>
            <a:ln cap="flat" cmpd="sng" w="25400">
              <a:solidFill>
                <a:srgbClr val="000000"/>
              </a:solidFill>
              <a:prstDash val="solid"/>
              <a:miter lim="800000"/>
              <a:headEnd len="med" w="med" type="none"/>
              <a:tailEnd len="med" w="med" type="none"/>
            </a:ln>
          </p:spPr>
        </p:cxnSp>
        <p:cxnSp>
          <p:nvCxnSpPr>
            <p:cNvPr id="300" name="Google Shape;300;p17"/>
            <p:cNvCxnSpPr>
              <a:stCxn id="298" idx="2"/>
              <a:endCxn id="297" idx="0"/>
            </p:cNvCxnSpPr>
            <p:nvPr/>
          </p:nvCxnSpPr>
          <p:spPr>
            <a:xfrm flipH="1" rot="-5400000">
              <a:off x="7620000" y="5105400"/>
              <a:ext cx="1143000" cy="381000"/>
            </a:xfrm>
            <a:prstGeom prst="bentConnector3">
              <a:avLst>
                <a:gd fmla="val 104023" name="adj1"/>
              </a:avLst>
            </a:prstGeom>
            <a:noFill/>
            <a:ln cap="flat" cmpd="sng" w="25400">
              <a:solidFill>
                <a:srgbClr val="000000"/>
              </a:solidFill>
              <a:prstDash val="solid"/>
              <a:miter lim="800000"/>
              <a:headEnd len="med" w="med" type="none"/>
              <a:tailEnd len="med" w="med" type="none"/>
            </a:ln>
          </p:spPr>
        </p:cxnSp>
        <p:sp>
          <p:nvSpPr>
            <p:cNvPr id="301" name="Google Shape;301;p17"/>
            <p:cNvSpPr/>
            <p:nvPr/>
          </p:nvSpPr>
          <p:spPr>
            <a:xfrm rot="5400000">
              <a:off x="7696200" y="4953000"/>
              <a:ext cx="609600" cy="609600"/>
            </a:xfrm>
            <a:prstGeom prst="flowChartOnlineStorage">
              <a:avLst/>
            </a:prstGeom>
            <a:solidFill>
              <a:srgbClr val="FFFFFF"/>
            </a:solidFill>
            <a:ln cap="flat" cmpd="sng" w="9525">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txBox="1"/>
            <p:nvPr/>
          </p:nvSpPr>
          <p:spPr>
            <a:xfrm>
              <a:off x="7696200" y="5054600"/>
              <a:ext cx="609600" cy="40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Noto Sans Symbols"/>
                <a:buNone/>
              </a:pPr>
              <a:r>
                <a:rPr b="0" lang="en-US" sz="1800">
                  <a:solidFill>
                    <a:srgbClr val="000000"/>
                  </a:solidFill>
                  <a:latin typeface="Arial"/>
                  <a:ea typeface="Arial"/>
                  <a:cs typeface="Arial"/>
                  <a:sym typeface="Arial"/>
                </a:rPr>
                <a:t>OR</a:t>
              </a:r>
              <a:endParaRPr/>
            </a:p>
          </p:txBody>
        </p:sp>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Example: “AND” and “OR” Gates</a:t>
            </a:r>
            <a:endParaRPr/>
          </a:p>
        </p:txBody>
      </p:sp>
      <p:sp>
        <p:nvSpPr>
          <p:cNvPr id="312" name="Google Shape;312;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13" name="Google Shape;313;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a:p>
        </p:txBody>
      </p:sp>
      <p:sp>
        <p:nvSpPr>
          <p:cNvPr id="314" name="Google Shape;314;p18"/>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00">
                <a:solidFill>
                  <a:srgbClr val="F8F8F8"/>
                </a:solidFill>
                <a:latin typeface="Arial"/>
                <a:ea typeface="Arial"/>
                <a:cs typeface="Arial"/>
                <a:sym typeface="Arial"/>
              </a:rPr>
              <a:t>With this knowledge, and for our example of the mining incident:</a:t>
            </a:r>
            <a:endParaRPr/>
          </a:p>
          <a:p>
            <a:pPr indent="0" lvl="0" marL="0" marR="0" rtl="0" algn="l">
              <a:spcBef>
                <a:spcPts val="0"/>
              </a:spcBef>
              <a:spcAft>
                <a:spcPts val="0"/>
              </a:spcAft>
              <a:buNone/>
            </a:pPr>
            <a:r>
              <a:t/>
            </a:r>
            <a:endParaRPr b="0" sz="2000">
              <a:solidFill>
                <a:srgbClr val="F8F8F8"/>
              </a:solidFill>
              <a:latin typeface="Arial"/>
              <a:ea typeface="Arial"/>
              <a:cs typeface="Arial"/>
              <a:sym typeface="Arial"/>
            </a:endParaRPr>
          </a:p>
          <a:p>
            <a:pPr indent="0" lvl="0" marL="0" marR="0" rtl="0" algn="l">
              <a:spcBef>
                <a:spcPts val="0"/>
              </a:spcBef>
              <a:spcAft>
                <a:spcPts val="0"/>
              </a:spcAft>
              <a:buNone/>
            </a:pPr>
            <a:r>
              <a:rPr b="0" i="1" lang="en-US" sz="2000">
                <a:solidFill>
                  <a:srgbClr val="F8F8F8"/>
                </a:solidFill>
                <a:latin typeface="Arial"/>
                <a:ea typeface="Arial"/>
                <a:cs typeface="Arial"/>
                <a:sym typeface="Arial"/>
              </a:rPr>
              <a:t>“You are called to a scene where a mining haul truck and a shovel have been crushed with debris from an adjacent slope. You find one individual with a serious injury. You know the slopes are being monitored, you know there are procedures for safe work near the slopes, you know it had been raining for the last week.”</a:t>
            </a:r>
            <a:endParaRPr/>
          </a:p>
          <a:p>
            <a:pPr indent="0" lvl="0" marL="0" marR="0" rtl="0" algn="l">
              <a:spcBef>
                <a:spcPts val="0"/>
              </a:spcBef>
              <a:spcAft>
                <a:spcPts val="0"/>
              </a:spcAft>
              <a:buNone/>
            </a:pPr>
            <a:r>
              <a:t/>
            </a:r>
            <a:endParaRPr b="0" sz="2000">
              <a:solidFill>
                <a:srgbClr val="F8F8F8"/>
              </a:solidFill>
              <a:latin typeface="Arial"/>
              <a:ea typeface="Arial"/>
              <a:cs typeface="Arial"/>
              <a:sym typeface="Arial"/>
            </a:endParaRPr>
          </a:p>
          <a:p>
            <a:pPr indent="0" lvl="0" marL="0" marR="0" rtl="0" algn="l">
              <a:spcBef>
                <a:spcPts val="0"/>
              </a:spcBef>
              <a:spcAft>
                <a:spcPts val="0"/>
              </a:spcAft>
              <a:buNone/>
            </a:pPr>
            <a:r>
              <a:rPr b="0" lang="en-US" sz="2000">
                <a:solidFill>
                  <a:srgbClr val="F8F8F8"/>
                </a:solidFill>
                <a:latin typeface="Arial"/>
                <a:ea typeface="Arial"/>
                <a:cs typeface="Arial"/>
                <a:sym typeface="Arial"/>
              </a:rPr>
              <a:t>Think about where the ‘and’ and ‘or’ gates would apply in this case.</a:t>
            </a:r>
            <a:endParaRPr/>
          </a:p>
          <a:p>
            <a:pPr indent="0" lvl="0" marL="0" marR="0" rtl="0" algn="l">
              <a:spcBef>
                <a:spcPts val="0"/>
              </a:spcBef>
              <a:spcAft>
                <a:spcPts val="0"/>
              </a:spcAft>
              <a:buNone/>
            </a:pPr>
            <a:r>
              <a:t/>
            </a:r>
            <a:endParaRPr b="0" sz="2000">
              <a:solidFill>
                <a:srgbClr val="F8F8F8"/>
              </a:solidFill>
              <a:latin typeface="Arial"/>
              <a:ea typeface="Arial"/>
              <a:cs typeface="Arial"/>
              <a:sym typeface="Arial"/>
            </a:endParaRPr>
          </a:p>
          <a:p>
            <a:pPr indent="0" lvl="0" marL="0" marR="0" rtl="0" algn="l">
              <a:spcBef>
                <a:spcPts val="0"/>
              </a:spcBef>
              <a:spcAft>
                <a:spcPts val="0"/>
              </a:spcAft>
              <a:buNone/>
            </a:pPr>
            <a:r>
              <a:rPr b="0" lang="en-US" sz="2000">
                <a:solidFill>
                  <a:srgbClr val="F8F8F8"/>
                </a:solidFill>
                <a:latin typeface="Arial"/>
                <a:ea typeface="Arial"/>
                <a:cs typeface="Arial"/>
                <a:sym typeface="Arial"/>
              </a:rPr>
              <a:t>Let’s begin with an RCA Chart of this loss incident:</a:t>
            </a:r>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320" name="Google Shape;320;p19"/>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321" name="Google Shape;321;p19"/>
          <p:cNvSpPr txBox="1"/>
          <p:nvPr/>
        </p:nvSpPr>
        <p:spPr>
          <a:xfrm>
            <a:off x="5459084"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322" name="Google Shape;322;p19"/>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323" name="Google Shape;323;p19"/>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324" name="Google Shape;324;p19"/>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325" name="Google Shape;325;p19"/>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326" name="Google Shape;326;p19"/>
          <p:cNvSpPr txBox="1"/>
          <p:nvPr/>
        </p:nvSpPr>
        <p:spPr>
          <a:xfrm>
            <a:off x="98985" y="215160"/>
            <a:ext cx="12192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&amp; Losses</a:t>
            </a:r>
            <a:endParaRPr/>
          </a:p>
        </p:txBody>
      </p:sp>
      <p:sp>
        <p:nvSpPr>
          <p:cNvPr id="327" name="Google Shape;327;p19"/>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328" name="Google Shape;328;p19"/>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329" name="Google Shape;329;p19"/>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330" name="Google Shape;330;p19"/>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331" name="Google Shape;331;p19"/>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332" name="Google Shape;332;p19"/>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333" name="Google Shape;333;p19"/>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cxnSp>
        <p:nvCxnSpPr>
          <p:cNvPr id="334" name="Google Shape;334;p19"/>
          <p:cNvCxnSpPr>
            <a:stCxn id="319" idx="2"/>
            <a:endCxn id="320"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335" name="Google Shape;335;p19"/>
          <p:cNvCxnSpPr>
            <a:stCxn id="319" idx="2"/>
            <a:endCxn id="336" idx="0"/>
          </p:cNvCxnSpPr>
          <p:nvPr/>
        </p:nvCxnSpPr>
        <p:spPr>
          <a:xfrm flipH="1" rot="-5400000">
            <a:off x="5662049" y="132127"/>
            <a:ext cx="762300" cy="1723200"/>
          </a:xfrm>
          <a:prstGeom prst="bentConnector3">
            <a:avLst>
              <a:gd fmla="val 68943" name="adj1"/>
            </a:avLst>
          </a:prstGeom>
          <a:noFill/>
          <a:ln cap="flat" cmpd="sng" w="9525">
            <a:solidFill>
              <a:schemeClr val="dk1"/>
            </a:solidFill>
            <a:prstDash val="solid"/>
            <a:miter lim="800000"/>
            <a:headEnd len="sm" w="sm" type="none"/>
            <a:tailEnd len="med" w="med" type="triangle"/>
          </a:ln>
        </p:spPr>
      </p:cxnSp>
      <p:sp>
        <p:nvSpPr>
          <p:cNvPr id="337" name="Google Shape;337;p19"/>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338" name="Google Shape;338;p19"/>
          <p:cNvSpPr/>
          <p:nvPr/>
        </p:nvSpPr>
        <p:spPr>
          <a:xfrm>
            <a:off x="4909507" y="625034"/>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9" name="Google Shape;339;p19"/>
          <p:cNvSpPr/>
          <p:nvPr/>
        </p:nvSpPr>
        <p:spPr>
          <a:xfrm>
            <a:off x="1872000" y="4680000"/>
            <a:ext cx="5400000" cy="1369192"/>
          </a:xfrm>
          <a:prstGeom prst="roundRect">
            <a:avLst>
              <a:gd fmla="val 16667" name="adj"/>
            </a:avLst>
          </a:prstGeom>
          <a:noFill/>
          <a:ln cap="flat" cmpd="sng" w="57150">
            <a:solidFill>
              <a:srgbClr val="0000FF"/>
            </a:solidFill>
            <a:prstDash val="solid"/>
            <a:round/>
            <a:headEnd len="sm" w="sm" type="none"/>
            <a:tailEnd len="sm" w="sm" type="none"/>
          </a:ln>
        </p:spPr>
        <p:txBody>
          <a:bodyPr anchorCtr="1" anchor="ctr" bIns="45700" lIns="91425" spcFirstLastPara="1" rIns="91425" wrap="square" tIns="45700">
            <a:noAutofit/>
          </a:bodyPr>
          <a:lstStyle/>
          <a:p>
            <a:pPr indent="0" lvl="1" marL="0" marR="0" rtl="0" algn="ctr">
              <a:lnSpc>
                <a:spcPct val="100000"/>
              </a:lnSpc>
              <a:spcBef>
                <a:spcPts val="0"/>
              </a:spcBef>
              <a:spcAft>
                <a:spcPts val="0"/>
              </a:spcAft>
              <a:buClr>
                <a:srgbClr val="262626"/>
              </a:buClr>
              <a:buSzPts val="1800"/>
              <a:buFont typeface="Arial"/>
              <a:buNone/>
            </a:pPr>
            <a:r>
              <a:rPr b="0" i="1" lang="en-US" sz="1800" u="none" cap="none" strike="noStrike">
                <a:solidFill>
                  <a:srgbClr val="262626"/>
                </a:solidFill>
                <a:latin typeface="Arial"/>
                <a:ea typeface="Arial"/>
                <a:cs typeface="Arial"/>
                <a:sym typeface="Arial"/>
              </a:rPr>
              <a:t>We begin to construct our RCA Chart by starting with an INCIDENT DESCRIPTION AND asking </a:t>
            </a:r>
            <a:br>
              <a:rPr b="0" i="1" lang="en-US" sz="1800" u="none" cap="none" strike="noStrike">
                <a:solidFill>
                  <a:srgbClr val="262626"/>
                </a:solidFill>
                <a:latin typeface="Arial"/>
                <a:ea typeface="Arial"/>
                <a:cs typeface="Arial"/>
                <a:sym typeface="Arial"/>
              </a:rPr>
            </a:br>
            <a:r>
              <a:rPr b="0" i="1" lang="en-US" sz="1800" u="none" cap="none" strike="noStrike">
                <a:solidFill>
                  <a:srgbClr val="262626"/>
                </a:solidFill>
                <a:latin typeface="Arial"/>
                <a:ea typeface="Arial"/>
                <a:cs typeface="Arial"/>
                <a:sym typeface="Arial"/>
              </a:rPr>
              <a:t>“what caused debris to fall on equipment, etc.?”</a:t>
            </a:r>
            <a:endParaRPr/>
          </a:p>
          <a:p>
            <a:pPr indent="0" lvl="1" marL="0" marR="0" rtl="0" algn="ctr">
              <a:lnSpc>
                <a:spcPct val="100000"/>
              </a:lnSpc>
              <a:spcBef>
                <a:spcPts val="0"/>
              </a:spcBef>
              <a:spcAft>
                <a:spcPts val="0"/>
              </a:spcAft>
              <a:buClr>
                <a:srgbClr val="262626"/>
              </a:buClr>
              <a:buSzPts val="1800"/>
              <a:buFont typeface="Arial"/>
              <a:buNone/>
            </a:pPr>
            <a:r>
              <a:rPr b="0" i="1" lang="en-US" sz="1800" u="none" cap="none" strike="noStrike">
                <a:solidFill>
                  <a:srgbClr val="262626"/>
                </a:solidFill>
                <a:latin typeface="Arial"/>
                <a:ea typeface="Arial"/>
                <a:cs typeface="Arial"/>
                <a:sym typeface="Arial"/>
              </a:rPr>
              <a:t>Note the use of the AND gate here.</a:t>
            </a:r>
            <a:endParaRPr b="0" i="1" sz="1800" u="none" cap="none" strike="noStrike">
              <a:solidFill>
                <a:srgbClr val="262626"/>
              </a:solidFill>
              <a:latin typeface="Arial"/>
              <a:ea typeface="Arial"/>
              <a:cs typeface="Arial"/>
              <a:sym typeface="Arial"/>
            </a:endParaRPr>
          </a:p>
        </p:txBody>
      </p:sp>
      <p:sp>
        <p:nvSpPr>
          <p:cNvPr id="336" name="Google Shape;336;p19"/>
          <p:cNvSpPr/>
          <p:nvPr/>
        </p:nvSpPr>
        <p:spPr>
          <a:xfrm>
            <a:off x="5446568" y="1374938"/>
            <a:ext cx="2916174" cy="700566"/>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0" name="Google Shape;340;p19"/>
          <p:cNvSpPr/>
          <p:nvPr/>
        </p:nvSpPr>
        <p:spPr>
          <a:xfrm>
            <a:off x="1981199" y="1275917"/>
            <a:ext cx="174086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41" name="Google Shape;341;p19"/>
          <p:cNvCxnSpPr>
            <a:stCxn id="340" idx="2"/>
            <a:endCxn id="339" idx="0"/>
          </p:cNvCxnSpPr>
          <p:nvPr/>
        </p:nvCxnSpPr>
        <p:spPr>
          <a:xfrm>
            <a:off x="2851634" y="1871821"/>
            <a:ext cx="1720500" cy="2808300"/>
          </a:xfrm>
          <a:prstGeom prst="straightConnector1">
            <a:avLst/>
          </a:prstGeom>
          <a:noFill/>
          <a:ln cap="flat" cmpd="sng" w="57150">
            <a:solidFill>
              <a:srgbClr val="0000FF"/>
            </a:solidFill>
            <a:prstDash val="solid"/>
            <a:round/>
            <a:headEnd len="med" w="med" type="triangle"/>
            <a:tailEnd len="sm" w="sm" type="none"/>
          </a:ln>
        </p:spPr>
      </p:cxnSp>
      <p:cxnSp>
        <p:nvCxnSpPr>
          <p:cNvPr id="342" name="Google Shape;342;p19"/>
          <p:cNvCxnSpPr>
            <a:stCxn id="336" idx="2"/>
            <a:endCxn id="339" idx="0"/>
          </p:cNvCxnSpPr>
          <p:nvPr/>
        </p:nvCxnSpPr>
        <p:spPr>
          <a:xfrm flipH="1">
            <a:off x="4571855" y="2075504"/>
            <a:ext cx="2332800" cy="2604600"/>
          </a:xfrm>
          <a:prstGeom prst="straightConnector1">
            <a:avLst/>
          </a:prstGeom>
          <a:noFill/>
          <a:ln cap="flat" cmpd="sng" w="57150">
            <a:solidFill>
              <a:srgbClr val="0000FF"/>
            </a:solidFill>
            <a:prstDash val="solid"/>
            <a:round/>
            <a:headEnd len="med" w="med" type="triangle"/>
            <a:tailEnd len="sm" w="sm" type="none"/>
          </a:ln>
        </p:spPr>
      </p:cxnSp>
      <p:cxnSp>
        <p:nvCxnSpPr>
          <p:cNvPr id="343" name="Google Shape;343;p19"/>
          <p:cNvCxnSpPr>
            <a:stCxn id="338" idx="2"/>
            <a:endCxn id="339" idx="0"/>
          </p:cNvCxnSpPr>
          <p:nvPr/>
        </p:nvCxnSpPr>
        <p:spPr>
          <a:xfrm flipH="1">
            <a:off x="4572117" y="1220938"/>
            <a:ext cx="593700" cy="3459000"/>
          </a:xfrm>
          <a:prstGeom prst="straightConnector1">
            <a:avLst/>
          </a:prstGeom>
          <a:noFill/>
          <a:ln cap="flat" cmpd="sng" w="57150">
            <a:solidFill>
              <a:srgbClr val="0000FF"/>
            </a:solidFill>
            <a:prstDash val="solid"/>
            <a:round/>
            <a:headEnd len="med" w="med" type="triangle"/>
            <a:tailEnd len="sm" w="sm" type="none"/>
          </a:ln>
        </p:spPr>
      </p:cxnSp>
      <p:sp>
        <p:nvSpPr>
          <p:cNvPr id="344" name="Google Shape;344;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345" name="Google Shape;345;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cxnSp>
        <p:nvCxnSpPr>
          <p:cNvPr id="350" name="Google Shape;350;p20"/>
          <p:cNvCxnSpPr>
            <a:stCxn id="351" idx="2"/>
            <a:endCxn id="352"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353" name="Google Shape;353;p20"/>
          <p:cNvCxnSpPr>
            <a:stCxn id="351" idx="2"/>
            <a:endCxn id="354"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355" name="Google Shape;355;p20"/>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356" name="Google Shape;356;p20"/>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357" name="Google Shape;357;p20"/>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358" name="Google Shape;358;p20"/>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351" name="Google Shape;351;p20"/>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359" name="Google Shape;359;p20"/>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360" name="Google Shape;360;p20"/>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361" name="Google Shape;361;p20"/>
          <p:cNvSpPr txBox="1"/>
          <p:nvPr/>
        </p:nvSpPr>
        <p:spPr>
          <a:xfrm>
            <a:off x="98985" y="215160"/>
            <a:ext cx="12192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&amp; Losses</a:t>
            </a:r>
            <a:endParaRPr/>
          </a:p>
        </p:txBody>
      </p:sp>
      <p:sp>
        <p:nvSpPr>
          <p:cNvPr id="354" name="Google Shape;354;p20"/>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362" name="Google Shape;362;p20"/>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352" name="Google Shape;352;p20"/>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363" name="Google Shape;363;p20"/>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364" name="Google Shape;364;p20"/>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365" name="Google Shape;365;p20"/>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366" name="Google Shape;366;p20"/>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367" name="Google Shape;367;p20"/>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368" name="Google Shape;368;p20"/>
          <p:cNvCxnSpPr>
            <a:stCxn id="356" idx="2"/>
            <a:endCxn id="365"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369" name="Google Shape;369;p20"/>
          <p:cNvCxnSpPr>
            <a:stCxn id="356" idx="2"/>
            <a:endCxn id="358"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370" name="Google Shape;370;p20"/>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371" name="Google Shape;371;p20"/>
          <p:cNvCxnSpPr>
            <a:stCxn id="355" idx="2"/>
            <a:endCxn id="356"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372" name="Google Shape;372;p20"/>
          <p:cNvCxnSpPr>
            <a:stCxn id="355" idx="2"/>
            <a:endCxn id="357"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373" name="Google Shape;373;p20"/>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374" name="Google Shape;374;p20"/>
          <p:cNvCxnSpPr>
            <a:stCxn id="357" idx="2"/>
            <a:endCxn id="351"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375" name="Google Shape;375;p20"/>
          <p:cNvCxnSpPr>
            <a:stCxn id="357" idx="2"/>
            <a:endCxn id="359"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376" name="Google Shape;376;p20"/>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377" name="Google Shape;377;p20"/>
          <p:cNvCxnSpPr>
            <a:stCxn id="358" idx="2"/>
            <a:endCxn id="366"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378" name="Google Shape;378;p20"/>
          <p:cNvCxnSpPr>
            <a:stCxn id="358" idx="2"/>
            <a:endCxn id="360"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379" name="Google Shape;379;p20"/>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380" name="Google Shape;380;p20"/>
          <p:cNvCxnSpPr>
            <a:stCxn id="359" idx="2"/>
            <a:endCxn id="364"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381" name="Google Shape;381;p20"/>
          <p:cNvCxnSpPr>
            <a:stCxn id="359" idx="2"/>
            <a:endCxn id="363"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382" name="Google Shape;382;p20"/>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383" name="Google Shape;383;p20"/>
          <p:cNvSpPr/>
          <p:nvPr/>
        </p:nvSpPr>
        <p:spPr>
          <a:xfrm>
            <a:off x="2595982" y="1733053"/>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4" name="Google Shape;384;p20"/>
          <p:cNvSpPr/>
          <p:nvPr/>
        </p:nvSpPr>
        <p:spPr>
          <a:xfrm>
            <a:off x="6245569" y="1940538"/>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5" name="Google Shape;385;p20"/>
          <p:cNvSpPr/>
          <p:nvPr/>
        </p:nvSpPr>
        <p:spPr>
          <a:xfrm>
            <a:off x="1820484" y="2842095"/>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6" name="Google Shape;386;p20"/>
          <p:cNvSpPr/>
          <p:nvPr/>
        </p:nvSpPr>
        <p:spPr>
          <a:xfrm>
            <a:off x="4855663" y="3134972"/>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7" name="Google Shape;387;p20"/>
          <p:cNvSpPr/>
          <p:nvPr/>
        </p:nvSpPr>
        <p:spPr>
          <a:xfrm>
            <a:off x="7511578" y="2896108"/>
            <a:ext cx="512619" cy="595904"/>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20"/>
          <p:cNvSpPr/>
          <p:nvPr/>
        </p:nvSpPr>
        <p:spPr>
          <a:xfrm>
            <a:off x="1872000" y="4680000"/>
            <a:ext cx="5400000" cy="1080000"/>
          </a:xfrm>
          <a:prstGeom prst="roundRect">
            <a:avLst>
              <a:gd fmla="val 16667" name="adj"/>
            </a:avLst>
          </a:prstGeom>
          <a:noFill/>
          <a:ln cap="flat" cmpd="sng" w="57150">
            <a:solidFill>
              <a:srgbClr val="0000FF"/>
            </a:solidFill>
            <a:prstDash val="solid"/>
            <a:round/>
            <a:headEnd len="sm" w="sm" type="none"/>
            <a:tailEnd len="sm" w="sm" type="none"/>
          </a:ln>
        </p:spPr>
        <p:txBody>
          <a:bodyPr anchorCtr="1" anchor="ctr" bIns="45700" lIns="91425" spcFirstLastPara="1" rIns="91425" wrap="square" tIns="45700">
            <a:noAutofit/>
          </a:bodyPr>
          <a:lstStyle/>
          <a:p>
            <a:pPr indent="0" lvl="1" marL="0" marR="0" rtl="0" algn="ctr">
              <a:lnSpc>
                <a:spcPct val="100000"/>
              </a:lnSpc>
              <a:spcBef>
                <a:spcPts val="0"/>
              </a:spcBef>
              <a:spcAft>
                <a:spcPts val="0"/>
              </a:spcAft>
              <a:buClr>
                <a:srgbClr val="262626"/>
              </a:buClr>
              <a:buSzPts val="1800"/>
              <a:buFont typeface="Arial"/>
              <a:buNone/>
            </a:pPr>
            <a:r>
              <a:rPr b="0" i="1" lang="en-US" sz="1800" u="none" cap="none" strike="noStrike">
                <a:solidFill>
                  <a:srgbClr val="262626"/>
                </a:solidFill>
                <a:latin typeface="Arial"/>
                <a:ea typeface="Arial"/>
                <a:cs typeface="Arial"/>
                <a:sym typeface="Arial"/>
              </a:rPr>
              <a:t>We continue to construct our RCA Chart by asking “why?” or “what caused…?” Note the use of AND and OR gates to make the logical connections.</a:t>
            </a:r>
            <a:endParaRPr b="0" i="0" sz="2000" u="none" cap="none" strike="noStrike">
              <a:solidFill>
                <a:srgbClr val="000000"/>
              </a:solidFill>
              <a:latin typeface="Calibri"/>
              <a:ea typeface="Calibri"/>
              <a:cs typeface="Calibri"/>
              <a:sym typeface="Calibri"/>
            </a:endParaRPr>
          </a:p>
        </p:txBody>
      </p:sp>
      <p:cxnSp>
        <p:nvCxnSpPr>
          <p:cNvPr id="389" name="Google Shape;389;p20"/>
          <p:cNvCxnSpPr>
            <a:stCxn id="383" idx="2"/>
            <a:endCxn id="388" idx="0"/>
          </p:cNvCxnSpPr>
          <p:nvPr/>
        </p:nvCxnSpPr>
        <p:spPr>
          <a:xfrm>
            <a:off x="2852292" y="2328957"/>
            <a:ext cx="1719600" cy="2351100"/>
          </a:xfrm>
          <a:prstGeom prst="straightConnector1">
            <a:avLst/>
          </a:prstGeom>
          <a:noFill/>
          <a:ln cap="flat" cmpd="sng" w="57150">
            <a:solidFill>
              <a:srgbClr val="0000FF"/>
            </a:solidFill>
            <a:prstDash val="solid"/>
            <a:round/>
            <a:headEnd len="med" w="med" type="triangle"/>
            <a:tailEnd len="sm" w="sm" type="none"/>
          </a:ln>
        </p:spPr>
      </p:cxnSp>
      <p:cxnSp>
        <p:nvCxnSpPr>
          <p:cNvPr id="390" name="Google Shape;390;p20"/>
          <p:cNvCxnSpPr>
            <a:stCxn id="384" idx="1"/>
            <a:endCxn id="388" idx="0"/>
          </p:cNvCxnSpPr>
          <p:nvPr/>
        </p:nvCxnSpPr>
        <p:spPr>
          <a:xfrm flipH="1">
            <a:off x="4571869" y="2238490"/>
            <a:ext cx="1673700" cy="2441400"/>
          </a:xfrm>
          <a:prstGeom prst="straightConnector1">
            <a:avLst/>
          </a:prstGeom>
          <a:noFill/>
          <a:ln cap="flat" cmpd="sng" w="57150">
            <a:solidFill>
              <a:srgbClr val="0000FF"/>
            </a:solidFill>
            <a:prstDash val="solid"/>
            <a:round/>
            <a:headEnd len="med" w="med" type="triangle"/>
            <a:tailEnd len="sm" w="sm" type="none"/>
          </a:ln>
        </p:spPr>
      </p:cxnSp>
      <p:sp>
        <p:nvSpPr>
          <p:cNvPr id="391" name="Google Shape;391;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92" name="Google Shape;392;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Use the Detailed</a:t>
            </a:r>
            <a:r>
              <a:rPr b="1" i="0" lang="en-US" sz="2000" u="none" cap="none" strike="noStrike">
                <a:solidFill>
                  <a:srgbClr val="000000"/>
                </a:solidFill>
                <a:latin typeface="Arial"/>
                <a:ea typeface="Arial"/>
                <a:cs typeface="Arial"/>
                <a:sym typeface="Arial"/>
              </a:rPr>
              <a:t> Cause and Effect Model:</a:t>
            </a:r>
            <a:endParaRPr b="1"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Recall your Cause and Effect Model … a detailed look:</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Immediate Causes in two categories: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Substandard practices and sub-groups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Substandard conditions and sub-groups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Basic Causes in three categories: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Engineering &amp; Design Factors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Job Factors and sub-groups</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Personal Factors and sub-groups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Intermediate cause – a cause statement that cannot be readily categorized as any one of IC, BC, or LC.</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1" lang="en-US" sz="2000">
                <a:solidFill>
                  <a:srgbClr val="000000"/>
                </a:solidFill>
                <a:latin typeface="Arial"/>
                <a:ea typeface="Arial"/>
                <a:cs typeface="Arial"/>
                <a:sym typeface="Arial"/>
              </a:rPr>
              <a:t>Latent Causes – will be discussed in much more depth in the next topic.</a:t>
            </a:r>
            <a:endParaRPr b="0" i="1" sz="2000" u="none" cap="none" strike="noStrike">
              <a:solidFill>
                <a:srgbClr val="000000"/>
              </a:solidFill>
              <a:latin typeface="Arial"/>
              <a:ea typeface="Arial"/>
              <a:cs typeface="Arial"/>
              <a:sym typeface="Arial"/>
            </a:endParaRPr>
          </a:p>
        </p:txBody>
      </p:sp>
      <p:sp>
        <p:nvSpPr>
          <p:cNvPr id="399" name="Google Shape;399;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Aids For Finding and Classifying Causes:</a:t>
            </a:r>
            <a:endParaRPr/>
          </a:p>
        </p:txBody>
      </p:sp>
      <p:sp>
        <p:nvSpPr>
          <p:cNvPr id="400" name="Google Shape;400;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01" name="Google Shape;401;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Immediate Cause Categories and Sub-categories:</a:t>
            </a:r>
            <a:endParaRPr/>
          </a:p>
        </p:txBody>
      </p:sp>
      <p:sp>
        <p:nvSpPr>
          <p:cNvPr id="408" name="Google Shape;408;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09" name="Google Shape;409;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graphicFrame>
        <p:nvGraphicFramePr>
          <p:cNvPr id="410" name="Google Shape;410;p22"/>
          <p:cNvGraphicFramePr/>
          <p:nvPr/>
        </p:nvGraphicFramePr>
        <p:xfrm>
          <a:off x="454026" y="969813"/>
          <a:ext cx="3000000" cy="3000000"/>
        </p:xfrm>
        <a:graphic>
          <a:graphicData uri="http://schemas.openxmlformats.org/drawingml/2006/table">
            <a:tbl>
              <a:tblPr>
                <a:noFill/>
                <a:tableStyleId>{61486EE9-67D6-45F7-BF01-9C491CAAE02E}</a:tableStyleId>
              </a:tblPr>
              <a:tblGrid>
                <a:gridCol w="4159825"/>
                <a:gridCol w="4072950"/>
              </a:tblGrid>
              <a:tr h="648625">
                <a:tc>
                  <a:txBody>
                    <a:bodyPr/>
                    <a:lstStyle/>
                    <a:p>
                      <a:pPr indent="0" lvl="0" marL="0" marR="0" rtl="0" algn="l">
                        <a:lnSpc>
                          <a:spcPct val="100000"/>
                        </a:lnSpc>
                        <a:spcBef>
                          <a:spcPts val="0"/>
                        </a:spcBef>
                        <a:spcAft>
                          <a:spcPts val="0"/>
                        </a:spcAft>
                        <a:buClr>
                          <a:srgbClr val="262626"/>
                        </a:buClr>
                        <a:buSzPts val="1800"/>
                        <a:buFont typeface="Arial"/>
                        <a:buNone/>
                      </a:pPr>
                      <a:r>
                        <a:rPr b="0" i="0" lang="en-US" sz="1800" u="none" cap="none" strike="noStrike">
                          <a:solidFill>
                            <a:srgbClr val="262626"/>
                          </a:solidFill>
                          <a:latin typeface="Arial"/>
                          <a:ea typeface="Arial"/>
                          <a:cs typeface="Arial"/>
                          <a:sym typeface="Arial"/>
                        </a:rPr>
                        <a:t>Substandard Practices (examples)</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62626"/>
                        </a:buClr>
                        <a:buSzPts val="1800"/>
                        <a:buFont typeface="Arial"/>
                        <a:buNone/>
                      </a:pPr>
                      <a:r>
                        <a:rPr b="0" i="0" lang="en-US" sz="1800" u="none" cap="none" strike="noStrike">
                          <a:solidFill>
                            <a:srgbClr val="262626"/>
                          </a:solidFill>
                          <a:latin typeface="Arial"/>
                          <a:ea typeface="Arial"/>
                          <a:cs typeface="Arial"/>
                          <a:sym typeface="Arial"/>
                        </a:rPr>
                        <a:t>Substandard Conditions (examples)</a:t>
                      </a:r>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923700">
                <a:tc>
                  <a:txBody>
                    <a:bodyPr/>
                    <a:lstStyle/>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Operating equipment without authority</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Failure to follow established procedures</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Making safety devices inoperable</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Failing to use personal protective equipment</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Servicing equipment in operation</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Horseplay</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Under influence of alcohol, drugs</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c>
                  <a:txBody>
                    <a:bodyPr/>
                    <a:lstStyle/>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Inadequate or improper protective equipment</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Defective tools, equipment or materials</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Inadequate warning systems</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Fire and explosion hazards (hidden)</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Poor housekeeping; disorderly workplace</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Hazardous environmental conditions</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Noise exposures</a:t>
                      </a:r>
                      <a:endParaRPr/>
                    </a:p>
                    <a:p>
                      <a:pPr indent="-114300" lvl="0" marL="0" marR="0" rtl="0" algn="l">
                        <a:lnSpc>
                          <a:spcPct val="100000"/>
                        </a:lnSpc>
                        <a:spcBef>
                          <a:spcPts val="0"/>
                        </a:spcBef>
                        <a:spcAft>
                          <a:spcPts val="0"/>
                        </a:spcAft>
                        <a:buClr>
                          <a:srgbClr val="262626"/>
                        </a:buClr>
                        <a:buSzPts val="1800"/>
                        <a:buFont typeface="Noto Sans Symbols"/>
                        <a:buChar char="∙"/>
                      </a:pPr>
                      <a:r>
                        <a:rPr b="0" i="0" lang="en-US" sz="1800" u="none" cap="none" strike="noStrike">
                          <a:solidFill>
                            <a:srgbClr val="262626"/>
                          </a:solidFill>
                          <a:latin typeface="Arial"/>
                          <a:ea typeface="Arial"/>
                          <a:cs typeface="Arial"/>
                          <a:sym typeface="Arial"/>
                        </a:rPr>
                        <a:t>Inadequate ventilation</a:t>
                      </a:r>
                      <a:endParaRPr b="0" i="0" sz="1800" u="none" cap="none" strike="noStrike">
                        <a:solidFill>
                          <a:srgbClr val="262626"/>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3"/>
          <p:cNvSpPr/>
          <p:nvPr/>
        </p:nvSpPr>
        <p:spPr>
          <a:xfrm>
            <a:off x="455613" y="1051560"/>
            <a:ext cx="8229600" cy="49682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1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pic>
        <p:nvPicPr>
          <p:cNvPr id="417" name="Google Shape;417;p23"/>
          <p:cNvPicPr preferRelativeResize="0"/>
          <p:nvPr/>
        </p:nvPicPr>
        <p:blipFill rotWithShape="1">
          <a:blip r:embed="rId4">
            <a:alphaModFix/>
          </a:blip>
          <a:srcRect b="0" l="0" r="0" t="0"/>
          <a:stretch/>
        </p:blipFill>
        <p:spPr>
          <a:xfrm>
            <a:off x="519221" y="2488249"/>
            <a:ext cx="3055990" cy="1702751"/>
          </a:xfrm>
          <a:prstGeom prst="rect">
            <a:avLst/>
          </a:prstGeom>
          <a:noFill/>
          <a:ln>
            <a:noFill/>
          </a:ln>
        </p:spPr>
      </p:pic>
      <p:sp>
        <p:nvSpPr>
          <p:cNvPr id="418" name="Google Shape;418;p2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Immediate Cause Categories &amp; Sub-categories Detailed Lists:</a:t>
            </a:r>
            <a:endParaRPr/>
          </a:p>
        </p:txBody>
      </p:sp>
      <p:sp>
        <p:nvSpPr>
          <p:cNvPr id="419" name="Google Shape;419;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20" name="Google Shape;420;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graphicFrame>
        <p:nvGraphicFramePr>
          <p:cNvPr id="421" name="Google Shape;421;p23"/>
          <p:cNvGraphicFramePr/>
          <p:nvPr/>
        </p:nvGraphicFramePr>
        <p:xfrm>
          <a:off x="3326086" y="1148195"/>
          <a:ext cx="5304536" cy="4871605"/>
        </p:xfrm>
        <a:graphic>
          <a:graphicData uri="http://schemas.openxmlformats.org/presentationml/2006/ole">
            <mc:AlternateContent>
              <mc:Choice Requires="v">
                <p:oleObj r:id="rId5" imgH="4871605" imgW="5304536" progId="Word.Document.8" spid="_x0000_s1">
                  <p:embed/>
                </p:oleObj>
              </mc:Choice>
              <mc:Fallback>
                <p:oleObj r:id="rId6" imgH="4871605" imgW="5304536" progId="Word.Document.8">
                  <p:embed/>
                  <p:pic>
                    <p:nvPicPr>
                      <p:cNvPr id="421" name="Google Shape;421;p23"/>
                      <p:cNvPicPr preferRelativeResize="0"/>
                      <p:nvPr/>
                    </p:nvPicPr>
                    <p:blipFill rotWithShape="1">
                      <a:blip r:embed="rId7">
                        <a:alphaModFix/>
                      </a:blip>
                      <a:srcRect b="0" l="0" r="0" t="0"/>
                      <a:stretch/>
                    </p:blipFill>
                    <p:spPr>
                      <a:xfrm>
                        <a:off x="3326086" y="1148195"/>
                        <a:ext cx="5304536" cy="4871605"/>
                      </a:xfrm>
                      <a:prstGeom prst="rect">
                        <a:avLst/>
                      </a:prstGeom>
                      <a:noFill/>
                      <a:ln>
                        <a:noFill/>
                      </a:ln>
                    </p:spPr>
                  </p:pic>
                </p:oleObj>
              </mc:Fallback>
            </mc:AlternateContent>
          </a:graphicData>
        </a:graphic>
      </p:graphicFrame>
      <p:sp>
        <p:nvSpPr>
          <p:cNvPr id="422" name="Google Shape;422;p23"/>
          <p:cNvSpPr/>
          <p:nvPr/>
        </p:nvSpPr>
        <p:spPr>
          <a:xfrm rot="-1184528">
            <a:off x="998538" y="1622425"/>
            <a:ext cx="2570162" cy="485775"/>
          </a:xfrm>
          <a:prstGeom prst="rightArrow">
            <a:avLst>
              <a:gd fmla="val 50000" name="adj1"/>
              <a:gd fmla="val 132271" name="adj2"/>
            </a:avLst>
          </a:prstGeom>
          <a:solidFill>
            <a:srgbClr val="00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423" name="Google Shape;423;p23"/>
          <p:cNvSpPr/>
          <p:nvPr/>
        </p:nvSpPr>
        <p:spPr>
          <a:xfrm rot="3098261">
            <a:off x="2223294" y="3201194"/>
            <a:ext cx="1808163" cy="485775"/>
          </a:xfrm>
          <a:prstGeom prst="rightArrow">
            <a:avLst>
              <a:gd fmla="val 50000" name="adj1"/>
              <a:gd fmla="val 93056" name="adj2"/>
            </a:avLst>
          </a:prstGeom>
          <a:solidFill>
            <a:srgbClr val="00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cxnSp>
        <p:nvCxnSpPr>
          <p:cNvPr id="428" name="Google Shape;428;p24"/>
          <p:cNvCxnSpPr>
            <a:stCxn id="429" idx="2"/>
            <a:endCxn id="430"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431" name="Google Shape;431;p24"/>
          <p:cNvCxnSpPr>
            <a:stCxn id="429" idx="2"/>
            <a:endCxn id="432"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433" name="Google Shape;433;p24"/>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434" name="Google Shape;434;p24"/>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435" name="Google Shape;435;p24"/>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436" name="Google Shape;436;p24"/>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429" name="Google Shape;429;p24"/>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437" name="Google Shape;437;p24"/>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438" name="Google Shape;438;p24"/>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432" name="Google Shape;432;p24"/>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sp>
        <p:nvSpPr>
          <p:cNvPr id="430" name="Google Shape;430;p24"/>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439" name="Google Shape;439;p24"/>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440" name="Google Shape;440;p24"/>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441" name="Google Shape;441;p24"/>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442" name="Google Shape;442;p24"/>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443" name="Google Shape;443;p24"/>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44" name="Google Shape;444;p24"/>
          <p:cNvCxnSpPr>
            <a:stCxn id="434" idx="2"/>
            <a:endCxn id="441"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445" name="Google Shape;445;p24"/>
          <p:cNvCxnSpPr>
            <a:stCxn id="434" idx="2"/>
            <a:endCxn id="436"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446" name="Google Shape;446;p24"/>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47" name="Google Shape;447;p24"/>
          <p:cNvCxnSpPr>
            <a:stCxn id="433" idx="2"/>
            <a:endCxn id="434"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448" name="Google Shape;448;p24"/>
          <p:cNvCxnSpPr>
            <a:stCxn id="433" idx="2"/>
            <a:endCxn id="435"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449" name="Google Shape;449;p24"/>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50" name="Google Shape;450;p24"/>
          <p:cNvCxnSpPr>
            <a:stCxn id="435" idx="2"/>
            <a:endCxn id="429"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451" name="Google Shape;451;p24"/>
          <p:cNvCxnSpPr>
            <a:stCxn id="435" idx="2"/>
            <a:endCxn id="437"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452" name="Google Shape;452;p24"/>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53" name="Google Shape;453;p24"/>
          <p:cNvCxnSpPr>
            <a:stCxn id="436" idx="2"/>
            <a:endCxn id="442"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454" name="Google Shape;454;p24"/>
          <p:cNvCxnSpPr>
            <a:stCxn id="436" idx="2"/>
            <a:endCxn id="438"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455" name="Google Shape;455;p24"/>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56" name="Google Shape;456;p24"/>
          <p:cNvCxnSpPr>
            <a:stCxn id="437" idx="2"/>
            <a:endCxn id="440"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457" name="Google Shape;457;p24"/>
          <p:cNvCxnSpPr>
            <a:stCxn id="437" idx="2"/>
            <a:endCxn id="439"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458" name="Google Shape;458;p24"/>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59" name="Google Shape;459;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60" name="Google Shape;460;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461" name="Google Shape;461;p24"/>
          <p:cNvSpPr txBox="1"/>
          <p:nvPr/>
        </p:nvSpPr>
        <p:spPr>
          <a:xfrm>
            <a:off x="489907" y="4718696"/>
            <a:ext cx="8273093" cy="101566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Noto Sans Symbols"/>
              <a:buNone/>
            </a:pPr>
            <a:r>
              <a:rPr b="0" i="1" lang="en-US" sz="2000" u="none" cap="none" strike="noStrike">
                <a:solidFill>
                  <a:srgbClr val="FFFFFF"/>
                </a:solidFill>
                <a:latin typeface="Arial"/>
                <a:ea typeface="Arial"/>
                <a:cs typeface="Arial"/>
                <a:sym typeface="Arial"/>
              </a:rPr>
              <a:t>Can you</a:t>
            </a:r>
            <a:r>
              <a:rPr b="0" i="1" lang="en-US" sz="2000" u="none" cap="none" strike="noStrike">
                <a:solidFill>
                  <a:srgbClr val="FFFFFF"/>
                </a:solidFill>
                <a:latin typeface="Arial"/>
                <a:ea typeface="Arial"/>
                <a:cs typeface="Arial"/>
                <a:sym typeface="Arial"/>
              </a:rPr>
              <a:t> identify</a:t>
            </a:r>
            <a:r>
              <a:rPr b="0" i="1" lang="en-US" sz="2000">
                <a:solidFill>
                  <a:srgbClr val="FFFFFF"/>
                </a:solidFill>
                <a:latin typeface="Arial"/>
                <a:ea typeface="Arial"/>
                <a:cs typeface="Arial"/>
                <a:sym typeface="Arial"/>
              </a:rPr>
              <a:t> three</a:t>
            </a:r>
            <a:r>
              <a:rPr b="0" i="1" lang="en-US" sz="2000" u="none" cap="none" strike="noStrike">
                <a:solidFill>
                  <a:srgbClr val="FFFFFF"/>
                </a:solidFill>
                <a:latin typeface="Arial"/>
                <a:ea typeface="Arial"/>
                <a:cs typeface="Arial"/>
                <a:sym typeface="Arial"/>
              </a:rPr>
              <a:t> immediate causes? </a:t>
            </a:r>
            <a:endParaRPr b="0" i="1" sz="2000" u="none" cap="none" strike="noStrike">
              <a:solidFill>
                <a:srgbClr val="FFFFFF"/>
              </a:solidFill>
              <a:latin typeface="Arial"/>
              <a:ea typeface="Arial"/>
              <a:cs typeface="Arial"/>
              <a:sym typeface="Arial"/>
            </a:endParaRPr>
          </a:p>
        </p:txBody>
      </p:sp>
      <p:sp>
        <p:nvSpPr>
          <p:cNvPr id="462" name="Google Shape;462;p24"/>
          <p:cNvSpPr txBox="1"/>
          <p:nvPr/>
        </p:nvSpPr>
        <p:spPr>
          <a:xfrm>
            <a:off x="98985" y="215160"/>
            <a:ext cx="11880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t>
            </a:r>
            <a:r>
              <a:rPr b="0" lang="en-US" sz="1400">
                <a:solidFill>
                  <a:srgbClr val="FF0000"/>
                </a:solidFill>
                <a:latin typeface="Arial"/>
                <a:ea typeface="Arial"/>
                <a:cs typeface="Arial"/>
                <a:sym typeface="Arial"/>
              </a:rPr>
              <a:t>Description</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5"/>
          <p:cNvSpPr/>
          <p:nvPr/>
        </p:nvSpPr>
        <p:spPr>
          <a:xfrm rot="429013">
            <a:off x="1642362" y="1365790"/>
            <a:ext cx="3298819" cy="3960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400">
              <a:solidFill>
                <a:srgbClr val="262626"/>
              </a:solidFill>
              <a:latin typeface="Arial"/>
              <a:ea typeface="Arial"/>
              <a:cs typeface="Arial"/>
              <a:sym typeface="Arial"/>
            </a:endParaRPr>
          </a:p>
        </p:txBody>
      </p:sp>
      <p:cxnSp>
        <p:nvCxnSpPr>
          <p:cNvPr id="468" name="Google Shape;468;p25"/>
          <p:cNvCxnSpPr>
            <a:stCxn id="469" idx="2"/>
            <a:endCxn id="470"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471" name="Google Shape;471;p25"/>
          <p:cNvCxnSpPr>
            <a:stCxn id="469" idx="2"/>
            <a:endCxn id="472"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473" name="Google Shape;473;p25"/>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474" name="Google Shape;474;p25"/>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475" name="Google Shape;475;p25"/>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476" name="Google Shape;476;p25"/>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469" name="Google Shape;469;p25"/>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477" name="Google Shape;477;p25"/>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478" name="Google Shape;478;p25"/>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479" name="Google Shape;479;p25"/>
          <p:cNvSpPr/>
          <p:nvPr/>
        </p:nvSpPr>
        <p:spPr>
          <a:xfrm>
            <a:off x="1303293" y="352915"/>
            <a:ext cx="457200" cy="2477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80" name="Google Shape;480;p25"/>
          <p:cNvSpPr/>
          <p:nvPr/>
        </p:nvSpPr>
        <p:spPr>
          <a:xfrm rot="2742197">
            <a:off x="1244103" y="1799338"/>
            <a:ext cx="537837" cy="311184"/>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81" name="Google Shape;481;p25"/>
          <p:cNvSpPr txBox="1"/>
          <p:nvPr/>
        </p:nvSpPr>
        <p:spPr>
          <a:xfrm>
            <a:off x="489907" y="1147393"/>
            <a:ext cx="12192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Immediate Causes</a:t>
            </a:r>
            <a:endParaRPr/>
          </a:p>
        </p:txBody>
      </p:sp>
      <p:sp>
        <p:nvSpPr>
          <p:cNvPr id="472" name="Google Shape;472;p25"/>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482" name="Google Shape;482;p25"/>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470" name="Google Shape;470;p25"/>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483" name="Google Shape;483;p25"/>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484" name="Google Shape;484;p25"/>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485" name="Google Shape;485;p25"/>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486" name="Google Shape;486;p25"/>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487" name="Google Shape;487;p25"/>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88" name="Google Shape;488;p25"/>
          <p:cNvSpPr/>
          <p:nvPr/>
        </p:nvSpPr>
        <p:spPr>
          <a:xfrm rot="1022632">
            <a:off x="1619781" y="1936363"/>
            <a:ext cx="2199097" cy="361338"/>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89" name="Google Shape;489;p25"/>
          <p:cNvCxnSpPr>
            <a:stCxn id="474" idx="2"/>
            <a:endCxn id="485"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490" name="Google Shape;490;p25"/>
          <p:cNvCxnSpPr>
            <a:stCxn id="474" idx="2"/>
            <a:endCxn id="476"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491" name="Google Shape;491;p25"/>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92" name="Google Shape;492;p25"/>
          <p:cNvCxnSpPr>
            <a:stCxn id="473" idx="2"/>
            <a:endCxn id="474"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493" name="Google Shape;493;p25"/>
          <p:cNvCxnSpPr>
            <a:stCxn id="473" idx="2"/>
            <a:endCxn id="475"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494" name="Google Shape;494;p25"/>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95" name="Google Shape;495;p25"/>
          <p:cNvCxnSpPr>
            <a:stCxn id="475" idx="2"/>
            <a:endCxn id="469"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496" name="Google Shape;496;p25"/>
          <p:cNvCxnSpPr>
            <a:stCxn id="475" idx="2"/>
            <a:endCxn id="477"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497" name="Google Shape;497;p25"/>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498" name="Google Shape;498;p25"/>
          <p:cNvCxnSpPr>
            <a:stCxn id="476" idx="2"/>
            <a:endCxn id="486"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499" name="Google Shape;499;p25"/>
          <p:cNvCxnSpPr>
            <a:stCxn id="476" idx="2"/>
            <a:endCxn id="478"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500" name="Google Shape;500;p25"/>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01" name="Google Shape;501;p25"/>
          <p:cNvCxnSpPr>
            <a:stCxn id="477" idx="2"/>
            <a:endCxn id="484"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502" name="Google Shape;502;p25"/>
          <p:cNvCxnSpPr>
            <a:stCxn id="477" idx="2"/>
            <a:endCxn id="483"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503" name="Google Shape;503;p25"/>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04" name="Google Shape;504;p25"/>
          <p:cNvSpPr/>
          <p:nvPr/>
        </p:nvSpPr>
        <p:spPr>
          <a:xfrm>
            <a:off x="4953000" y="1284055"/>
            <a:ext cx="3165764"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5" name="Google Shape;505;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06" name="Google Shape;506;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07" name="Google Shape;507;p25"/>
          <p:cNvSpPr/>
          <p:nvPr/>
        </p:nvSpPr>
        <p:spPr>
          <a:xfrm>
            <a:off x="1334557" y="2259442"/>
            <a:ext cx="1441090"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8" name="Google Shape;508;p25"/>
          <p:cNvSpPr/>
          <p:nvPr/>
        </p:nvSpPr>
        <p:spPr>
          <a:xfrm>
            <a:off x="3627330" y="2529445"/>
            <a:ext cx="2978826"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9" name="Google Shape;509;p25"/>
          <p:cNvSpPr txBox="1"/>
          <p:nvPr/>
        </p:nvSpPr>
        <p:spPr>
          <a:xfrm>
            <a:off x="489907" y="4718696"/>
            <a:ext cx="8273093" cy="101566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Noto Sans Symbols"/>
              <a:buNone/>
            </a:pPr>
            <a:r>
              <a:rPr b="0" i="1" lang="en-US" sz="2000" u="none" cap="none" strike="noStrike">
                <a:solidFill>
                  <a:srgbClr val="FFFFFF"/>
                </a:solidFill>
                <a:latin typeface="Arial"/>
                <a:ea typeface="Arial"/>
                <a:cs typeface="Arial"/>
                <a:sym typeface="Arial"/>
              </a:rPr>
              <a:t>How could </a:t>
            </a:r>
            <a:r>
              <a:rPr b="0" i="1" lang="en-US" sz="2000">
                <a:solidFill>
                  <a:srgbClr val="FFFFFF"/>
                </a:solidFill>
                <a:latin typeface="Arial"/>
                <a:ea typeface="Arial"/>
                <a:cs typeface="Arial"/>
                <a:sym typeface="Arial"/>
              </a:rPr>
              <a:t>these three</a:t>
            </a:r>
            <a:r>
              <a:rPr b="0" i="1" lang="en-US" sz="2000" u="none" cap="none" strike="noStrike">
                <a:solidFill>
                  <a:srgbClr val="FFFFFF"/>
                </a:solidFill>
                <a:latin typeface="Arial"/>
                <a:ea typeface="Arial"/>
                <a:cs typeface="Arial"/>
                <a:sym typeface="Arial"/>
              </a:rPr>
              <a:t> immediate causes be categorized? </a:t>
            </a:r>
            <a:endParaRPr/>
          </a:p>
          <a:p>
            <a:pPr indent="-457200" lvl="0" marL="4572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Sub-standard condition? </a:t>
            </a:r>
            <a:endParaRPr/>
          </a:p>
          <a:p>
            <a:pPr indent="-457200" lvl="0" marL="4572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Sub-standard work practice?</a:t>
            </a:r>
            <a:endParaRPr/>
          </a:p>
        </p:txBody>
      </p:sp>
      <p:sp>
        <p:nvSpPr>
          <p:cNvPr id="510" name="Google Shape;510;p25"/>
          <p:cNvSpPr txBox="1"/>
          <p:nvPr/>
        </p:nvSpPr>
        <p:spPr>
          <a:xfrm>
            <a:off x="98985" y="215160"/>
            <a:ext cx="11880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t>
            </a:r>
            <a:r>
              <a:rPr b="0" lang="en-US" sz="1400">
                <a:solidFill>
                  <a:srgbClr val="FF0000"/>
                </a:solidFill>
                <a:latin typeface="Arial"/>
                <a:ea typeface="Arial"/>
                <a:cs typeface="Arial"/>
                <a:sym typeface="Arial"/>
              </a:rPr>
              <a:t>Description</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6"/>
          <p:cNvSpPr/>
          <p:nvPr/>
        </p:nvSpPr>
        <p:spPr>
          <a:xfrm>
            <a:off x="1709107" y="1246720"/>
            <a:ext cx="3298819" cy="3960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16" name="Google Shape;516;p26"/>
          <p:cNvCxnSpPr>
            <a:stCxn id="517" idx="2"/>
            <a:endCxn id="518"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519" name="Google Shape;519;p26"/>
          <p:cNvCxnSpPr>
            <a:stCxn id="517" idx="2"/>
            <a:endCxn id="520"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521" name="Google Shape;521;p26"/>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522" name="Google Shape;522;p26"/>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523" name="Google Shape;523;p26"/>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524" name="Google Shape;524;p26"/>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517" name="Google Shape;517;p26"/>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525" name="Google Shape;525;p26"/>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526" name="Google Shape;526;p26"/>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527" name="Google Shape;527;p26"/>
          <p:cNvSpPr/>
          <p:nvPr/>
        </p:nvSpPr>
        <p:spPr>
          <a:xfrm>
            <a:off x="1303293" y="352915"/>
            <a:ext cx="457200" cy="2477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28" name="Google Shape;528;p26"/>
          <p:cNvSpPr/>
          <p:nvPr/>
        </p:nvSpPr>
        <p:spPr>
          <a:xfrm rot="2742197">
            <a:off x="1244103" y="1799338"/>
            <a:ext cx="537837" cy="311184"/>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29" name="Google Shape;529;p26"/>
          <p:cNvSpPr txBox="1"/>
          <p:nvPr/>
        </p:nvSpPr>
        <p:spPr>
          <a:xfrm>
            <a:off x="489907" y="1147393"/>
            <a:ext cx="12192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Immediate Causes</a:t>
            </a:r>
            <a:endParaRPr/>
          </a:p>
        </p:txBody>
      </p:sp>
      <p:sp>
        <p:nvSpPr>
          <p:cNvPr id="520" name="Google Shape;520;p26"/>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530" name="Google Shape;530;p26"/>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518" name="Google Shape;518;p26"/>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531" name="Google Shape;531;p26"/>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532" name="Google Shape;532;p26"/>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533" name="Google Shape;533;p26"/>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534" name="Google Shape;534;p26"/>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535" name="Google Shape;535;p26"/>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36" name="Google Shape;536;p26"/>
          <p:cNvSpPr/>
          <p:nvPr/>
        </p:nvSpPr>
        <p:spPr>
          <a:xfrm rot="1022632">
            <a:off x="1619781" y="1936363"/>
            <a:ext cx="2199097" cy="361338"/>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37" name="Google Shape;537;p26"/>
          <p:cNvCxnSpPr>
            <a:stCxn id="522" idx="2"/>
            <a:endCxn id="533"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538" name="Google Shape;538;p26"/>
          <p:cNvCxnSpPr>
            <a:stCxn id="522" idx="2"/>
            <a:endCxn id="524"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539" name="Google Shape;539;p26"/>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40" name="Google Shape;540;p26"/>
          <p:cNvCxnSpPr>
            <a:stCxn id="521" idx="2"/>
            <a:endCxn id="522"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541" name="Google Shape;541;p26"/>
          <p:cNvCxnSpPr>
            <a:stCxn id="521" idx="2"/>
            <a:endCxn id="523"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542" name="Google Shape;542;p26"/>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43" name="Google Shape;543;p26"/>
          <p:cNvCxnSpPr>
            <a:stCxn id="523" idx="2"/>
            <a:endCxn id="517"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544" name="Google Shape;544;p26"/>
          <p:cNvCxnSpPr>
            <a:stCxn id="523" idx="2"/>
            <a:endCxn id="525"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545" name="Google Shape;545;p26"/>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46" name="Google Shape;546;p26"/>
          <p:cNvCxnSpPr>
            <a:stCxn id="524" idx="2"/>
            <a:endCxn id="534"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547" name="Google Shape;547;p26"/>
          <p:cNvCxnSpPr>
            <a:stCxn id="524" idx="2"/>
            <a:endCxn id="526"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548" name="Google Shape;548;p26"/>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49" name="Google Shape;549;p26"/>
          <p:cNvCxnSpPr>
            <a:stCxn id="525" idx="2"/>
            <a:endCxn id="532"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550" name="Google Shape;550;p26"/>
          <p:cNvCxnSpPr>
            <a:stCxn id="525" idx="2"/>
            <a:endCxn id="531"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551" name="Google Shape;551;p26"/>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52" name="Google Shape;552;p26"/>
          <p:cNvSpPr/>
          <p:nvPr/>
        </p:nvSpPr>
        <p:spPr>
          <a:xfrm>
            <a:off x="4953000" y="1284055"/>
            <a:ext cx="3165764"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53" name="Google Shape;553;p2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54" name="Google Shape;554;p2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555" name="Google Shape;555;p26"/>
          <p:cNvSpPr/>
          <p:nvPr/>
        </p:nvSpPr>
        <p:spPr>
          <a:xfrm>
            <a:off x="1334557" y="2259442"/>
            <a:ext cx="1441090"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56" name="Google Shape;556;p26"/>
          <p:cNvSpPr/>
          <p:nvPr/>
        </p:nvSpPr>
        <p:spPr>
          <a:xfrm>
            <a:off x="3627330" y="2529445"/>
            <a:ext cx="2978826"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57" name="Google Shape;557;p26"/>
          <p:cNvSpPr/>
          <p:nvPr/>
        </p:nvSpPr>
        <p:spPr>
          <a:xfrm>
            <a:off x="720000" y="5400000"/>
            <a:ext cx="1980000" cy="756000"/>
          </a:xfrm>
          <a:prstGeom prst="wedgeRoundRectCallout">
            <a:avLst>
              <a:gd fmla="val 6150" name="adj1"/>
              <a:gd fmla="val -368109"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condition</a:t>
            </a:r>
            <a:endParaRPr b="0" i="1" sz="2000" u="none" cap="none" strike="noStrike">
              <a:solidFill>
                <a:srgbClr val="FFFFFF"/>
              </a:solidFill>
              <a:latin typeface="Arial"/>
              <a:ea typeface="Arial"/>
              <a:cs typeface="Arial"/>
              <a:sym typeface="Arial"/>
            </a:endParaRPr>
          </a:p>
        </p:txBody>
      </p:sp>
      <p:sp>
        <p:nvSpPr>
          <p:cNvPr id="558" name="Google Shape;558;p26"/>
          <p:cNvSpPr/>
          <p:nvPr/>
        </p:nvSpPr>
        <p:spPr>
          <a:xfrm>
            <a:off x="6465955" y="5400000"/>
            <a:ext cx="1980000" cy="756000"/>
          </a:xfrm>
          <a:prstGeom prst="wedgeRoundRectCallout">
            <a:avLst>
              <a:gd fmla="val -17380" name="adj1"/>
              <a:gd fmla="val -428696"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work practice</a:t>
            </a:r>
            <a:endParaRPr b="0" i="1" sz="2000" u="none" cap="none" strike="noStrike">
              <a:solidFill>
                <a:srgbClr val="FFFFFF"/>
              </a:solidFill>
              <a:latin typeface="Arial"/>
              <a:ea typeface="Arial"/>
              <a:cs typeface="Arial"/>
              <a:sym typeface="Arial"/>
            </a:endParaRPr>
          </a:p>
        </p:txBody>
      </p:sp>
      <p:sp>
        <p:nvSpPr>
          <p:cNvPr id="559" name="Google Shape;559;p26"/>
          <p:cNvSpPr/>
          <p:nvPr/>
        </p:nvSpPr>
        <p:spPr>
          <a:xfrm>
            <a:off x="3445879" y="5400000"/>
            <a:ext cx="1980000" cy="756000"/>
          </a:xfrm>
          <a:prstGeom prst="wedgeRoundRectCallout">
            <a:avLst>
              <a:gd fmla="val 2603" name="adj1"/>
              <a:gd fmla="val -327147"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work practice</a:t>
            </a:r>
            <a:endParaRPr b="0" i="1" sz="2000" u="none" cap="none" strike="noStrike">
              <a:solidFill>
                <a:srgbClr val="FFFFFF"/>
              </a:solidFill>
              <a:latin typeface="Arial"/>
              <a:ea typeface="Arial"/>
              <a:cs typeface="Arial"/>
              <a:sym typeface="Arial"/>
            </a:endParaRPr>
          </a:p>
        </p:txBody>
      </p:sp>
      <p:sp>
        <p:nvSpPr>
          <p:cNvPr id="560" name="Google Shape;560;p26"/>
          <p:cNvSpPr txBox="1"/>
          <p:nvPr/>
        </p:nvSpPr>
        <p:spPr>
          <a:xfrm>
            <a:off x="98985" y="215160"/>
            <a:ext cx="11880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t>
            </a:r>
            <a:r>
              <a:rPr b="0" lang="en-US" sz="1400">
                <a:solidFill>
                  <a:srgbClr val="FF0000"/>
                </a:solidFill>
                <a:latin typeface="Arial"/>
                <a:ea typeface="Arial"/>
                <a:cs typeface="Arial"/>
                <a:sym typeface="Arial"/>
              </a:rPr>
              <a:t>Description</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7"/>
          <p:cNvSpPr/>
          <p:nvPr/>
        </p:nvSpPr>
        <p:spPr>
          <a:xfrm>
            <a:off x="1709107" y="1246720"/>
            <a:ext cx="3298819" cy="3960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66" name="Google Shape;566;p27"/>
          <p:cNvCxnSpPr>
            <a:stCxn id="567" idx="2"/>
            <a:endCxn id="568"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569" name="Google Shape;569;p27"/>
          <p:cNvCxnSpPr>
            <a:stCxn id="567" idx="2"/>
            <a:endCxn id="570"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571" name="Google Shape;571;p27"/>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572" name="Google Shape;572;p27"/>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573" name="Google Shape;573;p27"/>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574" name="Google Shape;574;p27"/>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567" name="Google Shape;567;p27"/>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575" name="Google Shape;575;p27"/>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576" name="Google Shape;576;p27"/>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577" name="Google Shape;577;p27"/>
          <p:cNvSpPr/>
          <p:nvPr/>
        </p:nvSpPr>
        <p:spPr>
          <a:xfrm>
            <a:off x="1303293" y="352915"/>
            <a:ext cx="457200" cy="2477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78" name="Google Shape;578;p27"/>
          <p:cNvSpPr/>
          <p:nvPr/>
        </p:nvSpPr>
        <p:spPr>
          <a:xfrm rot="2742197">
            <a:off x="1244103" y="1799338"/>
            <a:ext cx="537837" cy="311184"/>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79" name="Google Shape;579;p27"/>
          <p:cNvSpPr/>
          <p:nvPr/>
        </p:nvSpPr>
        <p:spPr>
          <a:xfrm>
            <a:off x="205022" y="3704003"/>
            <a:ext cx="457200" cy="254833"/>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580" name="Google Shape;580;p27"/>
          <p:cNvSpPr txBox="1"/>
          <p:nvPr/>
        </p:nvSpPr>
        <p:spPr>
          <a:xfrm>
            <a:off x="489907" y="1147393"/>
            <a:ext cx="12192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Immediate Causes</a:t>
            </a:r>
            <a:endParaRPr/>
          </a:p>
        </p:txBody>
      </p:sp>
      <p:sp>
        <p:nvSpPr>
          <p:cNvPr id="581" name="Google Shape;581;p27"/>
          <p:cNvSpPr txBox="1"/>
          <p:nvPr/>
        </p:nvSpPr>
        <p:spPr>
          <a:xfrm>
            <a:off x="61661" y="3086655"/>
            <a:ext cx="796762"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Basic Causes</a:t>
            </a:r>
            <a:endParaRPr/>
          </a:p>
        </p:txBody>
      </p:sp>
      <p:sp>
        <p:nvSpPr>
          <p:cNvPr id="570" name="Google Shape;570;p27"/>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582" name="Google Shape;582;p27"/>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568" name="Google Shape;568;p27"/>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583" name="Google Shape;583;p27"/>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584" name="Google Shape;584;p27"/>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585" name="Google Shape;585;p27"/>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586" name="Google Shape;586;p27"/>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587" name="Google Shape;587;p27"/>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588" name="Google Shape;588;p27"/>
          <p:cNvSpPr txBox="1"/>
          <p:nvPr/>
        </p:nvSpPr>
        <p:spPr>
          <a:xfrm>
            <a:off x="16969" y="2397826"/>
            <a:ext cx="1266553" cy="528452"/>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Intermediate Causes</a:t>
            </a:r>
            <a:endParaRPr/>
          </a:p>
        </p:txBody>
      </p:sp>
      <p:sp>
        <p:nvSpPr>
          <p:cNvPr id="589" name="Google Shape;589;p27"/>
          <p:cNvSpPr/>
          <p:nvPr/>
        </p:nvSpPr>
        <p:spPr>
          <a:xfrm rot="1022632">
            <a:off x="1619781" y="1936363"/>
            <a:ext cx="2199097" cy="361338"/>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90" name="Google Shape;590;p27"/>
          <p:cNvCxnSpPr>
            <a:stCxn id="572" idx="2"/>
            <a:endCxn id="585"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591" name="Google Shape;591;p27"/>
          <p:cNvCxnSpPr>
            <a:stCxn id="572" idx="2"/>
            <a:endCxn id="574"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592" name="Google Shape;592;p27"/>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93" name="Google Shape;593;p27"/>
          <p:cNvCxnSpPr>
            <a:stCxn id="571" idx="2"/>
            <a:endCxn id="572"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594" name="Google Shape;594;p27"/>
          <p:cNvCxnSpPr>
            <a:stCxn id="571" idx="2"/>
            <a:endCxn id="573"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595" name="Google Shape;595;p27"/>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96" name="Google Shape;596;p27"/>
          <p:cNvCxnSpPr>
            <a:stCxn id="573" idx="2"/>
            <a:endCxn id="567"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597" name="Google Shape;597;p27"/>
          <p:cNvCxnSpPr>
            <a:stCxn id="573" idx="2"/>
            <a:endCxn id="575"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598" name="Google Shape;598;p27"/>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599" name="Google Shape;599;p27"/>
          <p:cNvCxnSpPr>
            <a:stCxn id="574" idx="2"/>
            <a:endCxn id="586"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600" name="Google Shape;600;p27"/>
          <p:cNvCxnSpPr>
            <a:stCxn id="574" idx="2"/>
            <a:endCxn id="576"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601" name="Google Shape;601;p27"/>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602" name="Google Shape;602;p27"/>
          <p:cNvCxnSpPr>
            <a:stCxn id="575" idx="2"/>
            <a:endCxn id="584"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603" name="Google Shape;603;p27"/>
          <p:cNvCxnSpPr>
            <a:stCxn id="575" idx="2"/>
            <a:endCxn id="583"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604" name="Google Shape;604;p27"/>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05" name="Google Shape;605;p27"/>
          <p:cNvSpPr/>
          <p:nvPr/>
        </p:nvSpPr>
        <p:spPr>
          <a:xfrm>
            <a:off x="4953000" y="1284055"/>
            <a:ext cx="3165764"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6" name="Google Shape;606;p2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07" name="Google Shape;607;p2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08" name="Google Shape;608;p27"/>
          <p:cNvSpPr/>
          <p:nvPr/>
        </p:nvSpPr>
        <p:spPr>
          <a:xfrm>
            <a:off x="1334557" y="2259442"/>
            <a:ext cx="1441090"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9" name="Google Shape;609;p27"/>
          <p:cNvSpPr/>
          <p:nvPr/>
        </p:nvSpPr>
        <p:spPr>
          <a:xfrm>
            <a:off x="3627330" y="2529445"/>
            <a:ext cx="2978826" cy="782965"/>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10" name="Google Shape;610;p27"/>
          <p:cNvSpPr/>
          <p:nvPr/>
        </p:nvSpPr>
        <p:spPr>
          <a:xfrm>
            <a:off x="720000" y="5400000"/>
            <a:ext cx="1980000" cy="756000"/>
          </a:xfrm>
          <a:prstGeom prst="wedgeRoundRectCallout">
            <a:avLst>
              <a:gd fmla="val 6150" name="adj1"/>
              <a:gd fmla="val -368109"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condition</a:t>
            </a:r>
            <a:endParaRPr b="0" i="1" sz="2000" u="none" cap="none" strike="noStrike">
              <a:solidFill>
                <a:srgbClr val="FFFFFF"/>
              </a:solidFill>
              <a:latin typeface="Arial"/>
              <a:ea typeface="Arial"/>
              <a:cs typeface="Arial"/>
              <a:sym typeface="Arial"/>
            </a:endParaRPr>
          </a:p>
        </p:txBody>
      </p:sp>
      <p:sp>
        <p:nvSpPr>
          <p:cNvPr id="611" name="Google Shape;611;p27"/>
          <p:cNvSpPr/>
          <p:nvPr/>
        </p:nvSpPr>
        <p:spPr>
          <a:xfrm>
            <a:off x="6465955" y="5400000"/>
            <a:ext cx="1980000" cy="756000"/>
          </a:xfrm>
          <a:prstGeom prst="wedgeRoundRectCallout">
            <a:avLst>
              <a:gd fmla="val -17380" name="adj1"/>
              <a:gd fmla="val -428696"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work practice</a:t>
            </a:r>
            <a:endParaRPr b="0" i="1" sz="2000" u="none" cap="none" strike="noStrike">
              <a:solidFill>
                <a:srgbClr val="FFFFFF"/>
              </a:solidFill>
              <a:latin typeface="Arial"/>
              <a:ea typeface="Arial"/>
              <a:cs typeface="Arial"/>
              <a:sym typeface="Arial"/>
            </a:endParaRPr>
          </a:p>
        </p:txBody>
      </p:sp>
      <p:sp>
        <p:nvSpPr>
          <p:cNvPr id="612" name="Google Shape;612;p27"/>
          <p:cNvSpPr/>
          <p:nvPr/>
        </p:nvSpPr>
        <p:spPr>
          <a:xfrm>
            <a:off x="3445879" y="5400000"/>
            <a:ext cx="1980000" cy="756000"/>
          </a:xfrm>
          <a:prstGeom prst="wedgeRoundRectCallout">
            <a:avLst>
              <a:gd fmla="val 2603" name="adj1"/>
              <a:gd fmla="val -327147" name="adj2"/>
              <a:gd fmla="val 16667" name="adj3"/>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Noto Sans Symbols"/>
              <a:buNone/>
            </a:pPr>
            <a:r>
              <a:rPr b="0" i="1" lang="en-US" sz="2000" u="none" cap="none" strike="noStrike">
                <a:solidFill>
                  <a:srgbClr val="FFFFFF"/>
                </a:solidFill>
                <a:latin typeface="Arial"/>
                <a:ea typeface="Arial"/>
                <a:cs typeface="Arial"/>
                <a:sym typeface="Arial"/>
              </a:rPr>
              <a:t>Sub-standard work practice</a:t>
            </a:r>
            <a:endParaRPr b="0" i="1" sz="2000" u="none" cap="none" strike="noStrike">
              <a:solidFill>
                <a:srgbClr val="FFFFFF"/>
              </a:solidFill>
              <a:latin typeface="Arial"/>
              <a:ea typeface="Arial"/>
              <a:cs typeface="Arial"/>
              <a:sym typeface="Arial"/>
            </a:endParaRPr>
          </a:p>
        </p:txBody>
      </p:sp>
      <p:sp>
        <p:nvSpPr>
          <p:cNvPr id="613" name="Google Shape;613;p27"/>
          <p:cNvSpPr txBox="1"/>
          <p:nvPr/>
        </p:nvSpPr>
        <p:spPr>
          <a:xfrm>
            <a:off x="668153" y="4680000"/>
            <a:ext cx="2124000" cy="52322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“1</a:t>
            </a:r>
            <a:r>
              <a:rPr b="1" baseline="30000" lang="en-US" sz="1400">
                <a:solidFill>
                  <a:schemeClr val="dk1"/>
                </a:solidFill>
                <a:latin typeface="Arial"/>
                <a:ea typeface="Arial"/>
                <a:cs typeface="Arial"/>
                <a:sym typeface="Arial"/>
              </a:rPr>
              <a:t>st</a:t>
            </a:r>
            <a:r>
              <a:rPr b="1" lang="en-US" sz="1400">
                <a:solidFill>
                  <a:schemeClr val="dk1"/>
                </a:solidFill>
                <a:latin typeface="Arial"/>
                <a:ea typeface="Arial"/>
                <a:cs typeface="Arial"/>
                <a:sym typeface="Arial"/>
              </a:rPr>
              <a:t> immediate cause” in the root pathway</a:t>
            </a:r>
            <a:endParaRPr b="1" sz="1400">
              <a:solidFill>
                <a:schemeClr val="dk1"/>
              </a:solidFill>
              <a:latin typeface="Arial"/>
              <a:ea typeface="Arial"/>
              <a:cs typeface="Arial"/>
              <a:sym typeface="Arial"/>
            </a:endParaRPr>
          </a:p>
        </p:txBody>
      </p:sp>
      <p:sp>
        <p:nvSpPr>
          <p:cNvPr id="614" name="Google Shape;614;p27"/>
          <p:cNvSpPr txBox="1"/>
          <p:nvPr/>
        </p:nvSpPr>
        <p:spPr>
          <a:xfrm>
            <a:off x="6466270" y="4680000"/>
            <a:ext cx="2124000" cy="52322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“1</a:t>
            </a:r>
            <a:r>
              <a:rPr b="1" baseline="30000" lang="en-US" sz="1400">
                <a:solidFill>
                  <a:schemeClr val="dk1"/>
                </a:solidFill>
                <a:latin typeface="Arial"/>
                <a:ea typeface="Arial"/>
                <a:cs typeface="Arial"/>
                <a:sym typeface="Arial"/>
              </a:rPr>
              <a:t>st</a:t>
            </a:r>
            <a:r>
              <a:rPr b="1" lang="en-US" sz="1400">
                <a:solidFill>
                  <a:schemeClr val="dk1"/>
                </a:solidFill>
                <a:latin typeface="Arial"/>
                <a:ea typeface="Arial"/>
                <a:cs typeface="Arial"/>
                <a:sym typeface="Arial"/>
              </a:rPr>
              <a:t> immediate cause” in the root pathway</a:t>
            </a:r>
            <a:endParaRPr b="1" sz="1400">
              <a:solidFill>
                <a:schemeClr val="dk1"/>
              </a:solidFill>
              <a:latin typeface="Arial"/>
              <a:ea typeface="Arial"/>
              <a:cs typeface="Arial"/>
              <a:sym typeface="Arial"/>
            </a:endParaRPr>
          </a:p>
        </p:txBody>
      </p:sp>
      <p:sp>
        <p:nvSpPr>
          <p:cNvPr id="615" name="Google Shape;615;p27"/>
          <p:cNvSpPr txBox="1"/>
          <p:nvPr/>
        </p:nvSpPr>
        <p:spPr>
          <a:xfrm>
            <a:off x="3445879" y="4698110"/>
            <a:ext cx="2124000" cy="52322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“2</a:t>
            </a:r>
            <a:r>
              <a:rPr b="1" baseline="30000" lang="en-US" sz="1400">
                <a:solidFill>
                  <a:schemeClr val="dk1"/>
                </a:solidFill>
                <a:latin typeface="Arial"/>
                <a:ea typeface="Arial"/>
                <a:cs typeface="Arial"/>
                <a:sym typeface="Arial"/>
              </a:rPr>
              <a:t>nd</a:t>
            </a:r>
            <a:r>
              <a:rPr b="1" lang="en-US" sz="1400">
                <a:solidFill>
                  <a:schemeClr val="dk1"/>
                </a:solidFill>
                <a:latin typeface="Arial"/>
                <a:ea typeface="Arial"/>
                <a:cs typeface="Arial"/>
                <a:sym typeface="Arial"/>
              </a:rPr>
              <a:t> immediate cause” in the root pathway</a:t>
            </a:r>
            <a:endParaRPr b="1" sz="1400">
              <a:solidFill>
                <a:schemeClr val="dk1"/>
              </a:solidFill>
              <a:latin typeface="Arial"/>
              <a:ea typeface="Arial"/>
              <a:cs typeface="Arial"/>
              <a:sym typeface="Arial"/>
            </a:endParaRPr>
          </a:p>
        </p:txBody>
      </p:sp>
      <p:sp>
        <p:nvSpPr>
          <p:cNvPr id="616" name="Google Shape;616;p27"/>
          <p:cNvSpPr/>
          <p:nvPr/>
        </p:nvSpPr>
        <p:spPr>
          <a:xfrm>
            <a:off x="2862711" y="649912"/>
            <a:ext cx="2124000" cy="578882"/>
          </a:xfrm>
          <a:prstGeom prst="wedgeRoundRectCallout">
            <a:avLst>
              <a:gd fmla="val -41928" name="adj1"/>
              <a:gd fmla="val 97251" name="adj2"/>
              <a:gd fmla="val 16667" name="adj3"/>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400">
                <a:solidFill>
                  <a:schemeClr val="dk1"/>
                </a:solidFill>
                <a:latin typeface="Arial"/>
                <a:ea typeface="Arial"/>
                <a:cs typeface="Arial"/>
                <a:sym typeface="Arial"/>
              </a:rPr>
              <a:t>This is an “event” in the incident.</a:t>
            </a:r>
            <a:endParaRPr b="1" i="1" sz="1400">
              <a:solidFill>
                <a:schemeClr val="dk1"/>
              </a:solidFill>
              <a:latin typeface="Arial"/>
              <a:ea typeface="Arial"/>
              <a:cs typeface="Arial"/>
              <a:sym typeface="Arial"/>
            </a:endParaRPr>
          </a:p>
        </p:txBody>
      </p:sp>
      <p:sp>
        <p:nvSpPr>
          <p:cNvPr id="617" name="Google Shape;617;p27"/>
          <p:cNvSpPr txBox="1"/>
          <p:nvPr/>
        </p:nvSpPr>
        <p:spPr>
          <a:xfrm>
            <a:off x="98985" y="215160"/>
            <a:ext cx="11880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t>
            </a:r>
            <a:r>
              <a:rPr b="0" lang="en-US" sz="1400">
                <a:solidFill>
                  <a:srgbClr val="FF0000"/>
                </a:solidFill>
                <a:latin typeface="Arial"/>
                <a:ea typeface="Arial"/>
                <a:cs typeface="Arial"/>
                <a:sym typeface="Arial"/>
              </a:rPr>
              <a:t>Description</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28"/>
          <p:cNvSpPr/>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000">
                <a:solidFill>
                  <a:srgbClr val="F8F8F8"/>
                </a:solidFill>
                <a:latin typeface="Arial"/>
                <a:ea typeface="Arial"/>
                <a:cs typeface="Arial"/>
                <a:sym typeface="Arial"/>
              </a:rPr>
              <a:t>The category and sub-category for each of these three Immediate Causes:</a:t>
            </a:r>
            <a:endParaRPr/>
          </a:p>
          <a:p>
            <a:pPr indent="-457200" lvl="0" marL="81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Unstable slope</a:t>
            </a:r>
            <a:endParaRPr/>
          </a:p>
          <a:p>
            <a:pPr indent="-457200" lvl="0" marL="81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Equipment &amp; operator in exclusion zone</a:t>
            </a:r>
            <a:endParaRPr/>
          </a:p>
          <a:p>
            <a:pPr indent="-457200" lvl="0" marL="81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Operator didn’t follow exclusion zone procedures</a:t>
            </a:r>
            <a:endParaRPr b="0" i="1" sz="2000">
              <a:solidFill>
                <a:srgbClr val="F8F8F8"/>
              </a:solidFill>
              <a:latin typeface="Arial"/>
              <a:ea typeface="Arial"/>
              <a:cs typeface="Arial"/>
              <a:sym typeface="Arial"/>
            </a:endParaRPr>
          </a:p>
          <a:p>
            <a:pPr indent="0" lvl="0" marL="0" marR="0" rtl="0" algn="l">
              <a:spcBef>
                <a:spcPts val="0"/>
              </a:spcBef>
              <a:spcAft>
                <a:spcPts val="0"/>
              </a:spcAft>
              <a:buNone/>
            </a:pPr>
            <a:r>
              <a:rPr b="0" i="1" lang="en-US" sz="2000">
                <a:solidFill>
                  <a:srgbClr val="F8F8F8"/>
                </a:solidFill>
                <a:latin typeface="Arial"/>
                <a:ea typeface="Arial"/>
                <a:cs typeface="Arial"/>
                <a:sym typeface="Arial"/>
              </a:rPr>
              <a:t>(See NOTES below.)</a:t>
            </a:r>
            <a:endParaRPr/>
          </a:p>
        </p:txBody>
      </p:sp>
      <p:graphicFrame>
        <p:nvGraphicFramePr>
          <p:cNvPr id="627" name="Google Shape;627;p28"/>
          <p:cNvGraphicFramePr/>
          <p:nvPr/>
        </p:nvGraphicFramePr>
        <p:xfrm>
          <a:off x="684213" y="3063224"/>
          <a:ext cx="3000000" cy="3000000"/>
        </p:xfrm>
        <a:graphic>
          <a:graphicData uri="http://schemas.openxmlformats.org/drawingml/2006/table">
            <a:tbl>
              <a:tblPr>
                <a:noFill/>
                <a:tableStyleId>{61486EE9-67D6-45F7-BF01-9C491CAAE02E}</a:tableStyleId>
              </a:tblPr>
              <a:tblGrid>
                <a:gridCol w="3735375"/>
                <a:gridCol w="4037025"/>
              </a:tblGrid>
              <a:tr h="316725">
                <a:tc>
                  <a:txBody>
                    <a:bodyPr/>
                    <a:lstStyle/>
                    <a:p>
                      <a:pPr indent="0" lvl="0" marL="0" marR="0" rtl="0" algn="l">
                        <a:lnSpc>
                          <a:spcPct val="100000"/>
                        </a:lnSpc>
                        <a:spcBef>
                          <a:spcPts val="0"/>
                        </a:spcBef>
                        <a:spcAft>
                          <a:spcPts val="0"/>
                        </a:spcAft>
                        <a:buClr>
                          <a:srgbClr val="262626"/>
                        </a:buClr>
                        <a:buSzPts val="1600"/>
                        <a:buFont typeface="Arial"/>
                        <a:buNone/>
                      </a:pPr>
                      <a:r>
                        <a:rPr b="0" i="0" lang="en-US" sz="1600" u="none" cap="none" strike="noStrike">
                          <a:solidFill>
                            <a:srgbClr val="262626"/>
                          </a:solidFill>
                          <a:latin typeface="Arial"/>
                          <a:ea typeface="Arial"/>
                          <a:cs typeface="Arial"/>
                          <a:sym typeface="Arial"/>
                        </a:rPr>
                        <a:t>Substandard Practices (examples)</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262626"/>
                        </a:buClr>
                        <a:buSzPts val="1600"/>
                        <a:buFont typeface="Arial"/>
                        <a:buNone/>
                      </a:pPr>
                      <a:r>
                        <a:rPr b="0" i="0" lang="en-US" sz="1600" u="none" cap="none" strike="noStrike">
                          <a:solidFill>
                            <a:srgbClr val="262626"/>
                          </a:solidFill>
                          <a:latin typeface="Arial"/>
                          <a:ea typeface="Arial"/>
                          <a:cs typeface="Arial"/>
                          <a:sym typeface="Arial"/>
                        </a:rPr>
                        <a:t>Substandard Conditions (examples)</a:t>
                      </a:r>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684925">
                <a:tc>
                  <a:txBody>
                    <a:bodyPr/>
                    <a:lstStyle/>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Operating equipment without authority</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Failure to follow established procedures</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Making safety devices inoperable</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Failing to use personal protective equipment</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Servicing equipment in operation</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Horseplay</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Under influence of alcohol, drugs</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chemeClr val="lt1"/>
                    </a:solidFill>
                  </a:tcPr>
                </a:tc>
                <a:tc>
                  <a:txBody>
                    <a:bodyPr/>
                    <a:lstStyle/>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Inadequate or improper protective equipment</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Defective tools, equipment or materials</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Inadequate warning systems</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Fire and explosion hazards (hidden)</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Poor housekeeping; disorderly workplace</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Hazardous environmental conditions</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Noise exposures</a:t>
                      </a:r>
                      <a:endParaRPr/>
                    </a:p>
                    <a:p>
                      <a:pPr indent="-101600" lvl="0" marL="0" marR="0" rtl="0" algn="l">
                        <a:lnSpc>
                          <a:spcPct val="100000"/>
                        </a:lnSpc>
                        <a:spcBef>
                          <a:spcPts val="0"/>
                        </a:spcBef>
                        <a:spcAft>
                          <a:spcPts val="0"/>
                        </a:spcAft>
                        <a:buClr>
                          <a:srgbClr val="262626"/>
                        </a:buClr>
                        <a:buSzPts val="1600"/>
                        <a:buFont typeface="Noto Sans Symbols"/>
                        <a:buChar char="∙"/>
                      </a:pPr>
                      <a:r>
                        <a:rPr b="0" i="0" lang="en-US" sz="1600" u="none" cap="none" strike="noStrike">
                          <a:solidFill>
                            <a:srgbClr val="262626"/>
                          </a:solidFill>
                          <a:latin typeface="Arial"/>
                          <a:ea typeface="Arial"/>
                          <a:cs typeface="Arial"/>
                          <a:sym typeface="Arial"/>
                        </a:rPr>
                        <a:t>Inadequate ventilation</a:t>
                      </a:r>
                      <a:endParaRPr b="0" i="0" sz="1600" u="none" cap="none" strike="noStrike">
                        <a:solidFill>
                          <a:srgbClr val="262626"/>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chemeClr val="lt1"/>
                    </a:solidFill>
                  </a:tcPr>
                </a:tc>
              </a:tr>
            </a:tbl>
          </a:graphicData>
        </a:graphic>
      </p:graphicFrame>
      <p:sp>
        <p:nvSpPr>
          <p:cNvPr id="628" name="Google Shape;628;p28"/>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Example: </a:t>
            </a:r>
            <a:r>
              <a:rPr b="0" lang="en-US" sz="2400">
                <a:solidFill>
                  <a:srgbClr val="F8F8F8"/>
                </a:solidFill>
                <a:latin typeface="Arial"/>
                <a:ea typeface="Arial"/>
                <a:cs typeface="Arial"/>
                <a:sym typeface="Arial"/>
              </a:rPr>
              <a:t>Immediate Causes - Categories and Sub-categories</a:t>
            </a:r>
            <a:endParaRPr b="0" i="0" sz="2400" u="none" cap="none" strike="noStrike">
              <a:solidFill>
                <a:srgbClr val="F8F8F8"/>
              </a:solidFill>
              <a:latin typeface="Arial"/>
              <a:ea typeface="Arial"/>
              <a:cs typeface="Arial"/>
              <a:sym typeface="Arial"/>
            </a:endParaRPr>
          </a:p>
        </p:txBody>
      </p:sp>
      <p:sp>
        <p:nvSpPr>
          <p:cNvPr id="629" name="Google Shape;629;p2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30" name="Google Shape;630;p2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
        <p:nvSpPr>
          <p:cNvPr id="631" name="Google Shape;631;p28"/>
          <p:cNvSpPr/>
          <p:nvPr/>
        </p:nvSpPr>
        <p:spPr>
          <a:xfrm>
            <a:off x="4419600" y="4876195"/>
            <a:ext cx="3883180" cy="345600"/>
          </a:xfrm>
          <a:prstGeom prst="rect">
            <a:avLst/>
          </a:prstGeom>
          <a:solidFill>
            <a:schemeClr val="lt1"/>
          </a:solidFill>
          <a:ln cap="flat" cmpd="sng" w="571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alibri"/>
              <a:buNone/>
            </a:pPr>
            <a:r>
              <a:rPr b="0" i="0" lang="en-US" sz="1600" u="none" cap="none" strike="noStrike">
                <a:solidFill>
                  <a:srgbClr val="FF0000"/>
                </a:solidFill>
                <a:latin typeface="Calibri"/>
                <a:ea typeface="Calibri"/>
                <a:cs typeface="Calibri"/>
                <a:sym typeface="Calibri"/>
              </a:rPr>
              <a:t>a) Hazardous environmental conditions</a:t>
            </a:r>
            <a:endParaRPr b="0" i="0" sz="1600" u="none" cap="none" strike="noStrike">
              <a:solidFill>
                <a:srgbClr val="FF0000"/>
              </a:solidFill>
              <a:latin typeface="Calibri"/>
              <a:ea typeface="Calibri"/>
              <a:cs typeface="Calibri"/>
              <a:sym typeface="Calibri"/>
            </a:endParaRPr>
          </a:p>
        </p:txBody>
      </p:sp>
      <p:sp>
        <p:nvSpPr>
          <p:cNvPr id="632" name="Google Shape;632;p28"/>
          <p:cNvSpPr/>
          <p:nvPr/>
        </p:nvSpPr>
        <p:spPr>
          <a:xfrm>
            <a:off x="687233" y="3682425"/>
            <a:ext cx="3883180" cy="584775"/>
          </a:xfrm>
          <a:prstGeom prst="rect">
            <a:avLst/>
          </a:prstGeom>
          <a:solidFill>
            <a:schemeClr val="lt1"/>
          </a:solidFill>
          <a:ln cap="flat" cmpd="sng" w="571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alibri"/>
              <a:buNone/>
            </a:pPr>
            <a:r>
              <a:rPr b="0" i="0" lang="en-US" sz="1600" u="none" cap="none" strike="noStrike">
                <a:solidFill>
                  <a:srgbClr val="FF0000"/>
                </a:solidFill>
                <a:latin typeface="Calibri"/>
                <a:ea typeface="Calibri"/>
                <a:cs typeface="Calibri"/>
                <a:sym typeface="Calibri"/>
              </a:rPr>
              <a:t>b) c) Failure to follow established procedures (Admin. Controls: safety rules, policies, etc.)</a:t>
            </a:r>
            <a:endParaRPr b="0" i="0" sz="1600" u="none" cap="none" strike="noStrike">
              <a:solidFill>
                <a:srgbClr val="FF0000"/>
              </a:solidFill>
              <a:latin typeface="Calibri"/>
              <a:ea typeface="Calibri"/>
              <a:cs typeface="Calibri"/>
              <a:sym typeface="Calibri"/>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2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Basic Causes and Categories:</a:t>
            </a:r>
            <a:endParaRPr/>
          </a:p>
        </p:txBody>
      </p:sp>
      <p:sp>
        <p:nvSpPr>
          <p:cNvPr id="639" name="Google Shape;639;p2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40" name="Google Shape;640;p2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graphicFrame>
        <p:nvGraphicFramePr>
          <p:cNvPr id="641" name="Google Shape;641;p29"/>
          <p:cNvGraphicFramePr/>
          <p:nvPr/>
        </p:nvGraphicFramePr>
        <p:xfrm>
          <a:off x="180000" y="914400"/>
          <a:ext cx="3000000" cy="3000000"/>
        </p:xfrm>
        <a:graphic>
          <a:graphicData uri="http://schemas.openxmlformats.org/drawingml/2006/table">
            <a:tbl>
              <a:tblPr>
                <a:noFill/>
                <a:tableStyleId>{61486EE9-67D6-45F7-BF01-9C491CAAE02E}</a:tableStyleId>
              </a:tblPr>
              <a:tblGrid>
                <a:gridCol w="3426350"/>
                <a:gridCol w="2246600"/>
                <a:gridCol w="2967050"/>
              </a:tblGrid>
              <a:tr h="999350">
                <a:tc>
                  <a:txBody>
                    <a:bodyPr/>
                    <a:lstStyle/>
                    <a:p>
                      <a:pPr indent="0" lvl="0" marL="0" marR="0" rtl="0" algn="l">
                        <a:lnSpc>
                          <a:spcPct val="9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Engineering &amp; Design Factors: </a:t>
                      </a:r>
                      <a:br>
                        <a:rPr b="1" i="0" lang="en-US" sz="1600" u="none" cap="none" strike="noStrike">
                          <a:solidFill>
                            <a:schemeClr val="dk1"/>
                          </a:solidFill>
                          <a:latin typeface="Arial"/>
                          <a:ea typeface="Arial"/>
                          <a:cs typeface="Arial"/>
                          <a:sym typeface="Arial"/>
                        </a:rPr>
                      </a:br>
                      <a:r>
                        <a:rPr b="0" i="1" lang="en-US" sz="1600" u="none" cap="none" strike="noStrike">
                          <a:solidFill>
                            <a:schemeClr val="dk1"/>
                          </a:solidFill>
                          <a:latin typeface="Arial"/>
                          <a:ea typeface="Arial"/>
                          <a:cs typeface="Arial"/>
                          <a:sym typeface="Arial"/>
                        </a:rPr>
                        <a:t>(can apply to structures, equipment, tools, products, raw materials, i.e. any engineered system)</a:t>
                      </a:r>
                      <a:endParaRPr b="0" i="0" sz="1800" u="none" cap="none" strike="noStrike">
                        <a:solidFill>
                          <a:schemeClr val="dk1"/>
                        </a:solidFill>
                        <a:latin typeface="Arial"/>
                        <a:ea typeface="Arial"/>
                        <a:cs typeface="Arial"/>
                        <a:sym typeface="Arial"/>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Job Factors:</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Personal Factors:</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968875">
                <a:tc>
                  <a:txBody>
                    <a:bodyPr/>
                    <a:lstStyle/>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technical design</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ergonomic design</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assessment of loss exposures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standards, specifications and/or design criteria</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monitoring of construction</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assessment of operational readiness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monitoring of initial operation</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evaluation and/or documentation of change</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inherently safe design</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c>
                  <a:txBody>
                    <a:bodyPr/>
                    <a:lstStyle/>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maintenance </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job procedures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Error-inducing conditions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Organizational factors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Incompatible goals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training</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communication</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c>
                  <a:txBody>
                    <a:bodyPr/>
                    <a:lstStyle/>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Inadequate physical / physiological state / capability to do the work.</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Perceived inadequate mental / psychological state / capability to do the work.</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Physical or physiological stress.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Perceived mental or psychological stress.</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Improper risk taking / improper motivation</a:t>
                      </a:r>
                      <a:endParaRPr/>
                    </a:p>
                    <a:p>
                      <a:pPr indent="-114300" lvl="0" marL="98425"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Lack of knowledge / lack of skill.</a:t>
                      </a:r>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How do you identify basic</a:t>
            </a:r>
            <a:r>
              <a:rPr b="1" i="0" lang="en-US" sz="2000" u="none" cap="none" strike="noStrike">
                <a:solidFill>
                  <a:srgbClr val="000000"/>
                </a:solidFill>
                <a:latin typeface="Arial"/>
                <a:ea typeface="Arial"/>
                <a:cs typeface="Arial"/>
                <a:sym typeface="Arial"/>
              </a:rPr>
              <a:t> causes?</a:t>
            </a:r>
            <a:endParaRPr b="1"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Difficult to identify; often not evident until after an incident has been investigated and analyzed.</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Two Questions to ask to get the Basic Causes:</a:t>
            </a:r>
            <a:endParaRPr/>
          </a:p>
          <a:p>
            <a:pPr indent="-359999" lvl="0" marL="720000" marR="0" rtl="0" algn="l">
              <a:lnSpc>
                <a:spcPct val="100000"/>
              </a:lnSpc>
              <a:spcBef>
                <a:spcPts val="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Why did that </a:t>
            </a:r>
            <a:r>
              <a:rPr b="0" lang="en-US" sz="2000" u="sng">
                <a:solidFill>
                  <a:srgbClr val="000000"/>
                </a:solidFill>
                <a:latin typeface="Arial"/>
                <a:ea typeface="Arial"/>
                <a:cs typeface="Arial"/>
                <a:sym typeface="Arial"/>
              </a:rPr>
              <a:t>Substandard Condition</a:t>
            </a:r>
            <a:r>
              <a:rPr b="0" lang="en-US" sz="2000">
                <a:solidFill>
                  <a:srgbClr val="000000"/>
                </a:solidFill>
                <a:latin typeface="Arial"/>
                <a:ea typeface="Arial"/>
                <a:cs typeface="Arial"/>
                <a:sym typeface="Arial"/>
              </a:rPr>
              <a:t> exist?</a:t>
            </a:r>
            <a:endParaRPr/>
          </a:p>
          <a:p>
            <a:pPr indent="-359999" lvl="0" marL="720000" marR="0" rtl="0" algn="l">
              <a:lnSpc>
                <a:spcPct val="100000"/>
              </a:lnSpc>
              <a:spcBef>
                <a:spcPts val="0"/>
              </a:spcBef>
              <a:spcAft>
                <a:spcPts val="0"/>
              </a:spcAft>
              <a:buClr>
                <a:srgbClr val="000000"/>
              </a:buClr>
              <a:buSzPts val="2000"/>
              <a:buFont typeface="Arial"/>
              <a:buAutoNum type="arabicParenR"/>
            </a:pPr>
            <a:r>
              <a:rPr b="0" lang="en-US" sz="2000">
                <a:solidFill>
                  <a:srgbClr val="000000"/>
                </a:solidFill>
                <a:latin typeface="Arial"/>
                <a:ea typeface="Arial"/>
                <a:cs typeface="Arial"/>
                <a:sym typeface="Arial"/>
              </a:rPr>
              <a:t>Why did that </a:t>
            </a:r>
            <a:r>
              <a:rPr b="0" lang="en-US" sz="2000" u="sng">
                <a:solidFill>
                  <a:srgbClr val="000000"/>
                </a:solidFill>
                <a:latin typeface="Arial"/>
                <a:ea typeface="Arial"/>
                <a:cs typeface="Arial"/>
                <a:sym typeface="Arial"/>
              </a:rPr>
              <a:t>Substandard Practice</a:t>
            </a:r>
            <a:r>
              <a:rPr b="0" lang="en-US" sz="2000">
                <a:solidFill>
                  <a:srgbClr val="000000"/>
                </a:solidFill>
                <a:latin typeface="Arial"/>
                <a:ea typeface="Arial"/>
                <a:cs typeface="Arial"/>
                <a:sym typeface="Arial"/>
              </a:rPr>
              <a:t> occur?</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p:txBody>
      </p:sp>
      <p:sp>
        <p:nvSpPr>
          <p:cNvPr id="648" name="Google Shape;648;p3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Basic Causes (Engineering / Job / Personal Factors):</a:t>
            </a:r>
            <a:endParaRPr/>
          </a:p>
        </p:txBody>
      </p:sp>
      <p:sp>
        <p:nvSpPr>
          <p:cNvPr id="649" name="Google Shape;649;p3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50" name="Google Shape;650;p3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cxnSp>
        <p:nvCxnSpPr>
          <p:cNvPr id="655" name="Google Shape;655;p31"/>
          <p:cNvCxnSpPr>
            <a:stCxn id="656" idx="2"/>
            <a:endCxn id="657" idx="0"/>
          </p:cNvCxnSpPr>
          <p:nvPr/>
        </p:nvCxnSpPr>
        <p:spPr>
          <a:xfrm rot="5400000">
            <a:off x="7085101" y="2837542"/>
            <a:ext cx="554700" cy="787500"/>
          </a:xfrm>
          <a:prstGeom prst="bentConnector3">
            <a:avLst>
              <a:gd fmla="val 50010" name="adj1"/>
            </a:avLst>
          </a:prstGeom>
          <a:noFill/>
          <a:ln cap="flat" cmpd="sng" w="9525">
            <a:solidFill>
              <a:schemeClr val="dk1"/>
            </a:solidFill>
            <a:prstDash val="solid"/>
            <a:miter lim="800000"/>
            <a:headEnd len="sm" w="sm" type="none"/>
            <a:tailEnd len="med" w="med" type="triangle"/>
          </a:ln>
        </p:spPr>
      </p:cxnSp>
      <p:cxnSp>
        <p:nvCxnSpPr>
          <p:cNvPr id="658" name="Google Shape;658;p31"/>
          <p:cNvCxnSpPr>
            <a:stCxn id="656" idx="2"/>
            <a:endCxn id="659" idx="0"/>
          </p:cNvCxnSpPr>
          <p:nvPr/>
        </p:nvCxnSpPr>
        <p:spPr>
          <a:xfrm flipH="1" rot="-5400000">
            <a:off x="7764751" y="2945392"/>
            <a:ext cx="553800" cy="570900"/>
          </a:xfrm>
          <a:prstGeom prst="bentConnector3">
            <a:avLst>
              <a:gd fmla="val 49993" name="adj1"/>
            </a:avLst>
          </a:prstGeom>
          <a:noFill/>
          <a:ln cap="flat" cmpd="sng" w="9525">
            <a:solidFill>
              <a:schemeClr val="dk1"/>
            </a:solidFill>
            <a:prstDash val="solid"/>
            <a:miter lim="800000"/>
            <a:headEnd len="sm" w="sm" type="none"/>
            <a:tailEnd len="med" w="med" type="triangle"/>
          </a:ln>
        </p:spPr>
      </p:cxnSp>
      <p:sp>
        <p:nvSpPr>
          <p:cNvPr id="660" name="Google Shape;660;p31"/>
          <p:cNvSpPr txBox="1"/>
          <p:nvPr/>
        </p:nvSpPr>
        <p:spPr>
          <a:xfrm>
            <a:off x="1981199" y="304800"/>
            <a:ext cx="6400799"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 on equipment, injuring one worker &amp; damaging equipment</a:t>
            </a:r>
            <a:endParaRPr/>
          </a:p>
        </p:txBody>
      </p:sp>
      <p:sp>
        <p:nvSpPr>
          <p:cNvPr id="661" name="Google Shape;661;p31"/>
          <p:cNvSpPr txBox="1"/>
          <p:nvPr/>
        </p:nvSpPr>
        <p:spPr>
          <a:xfrm>
            <a:off x="2064781" y="1445329"/>
            <a:ext cx="1497426"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Debris Fell</a:t>
            </a:r>
            <a:endParaRPr/>
          </a:p>
        </p:txBody>
      </p:sp>
      <p:sp>
        <p:nvSpPr>
          <p:cNvPr id="662" name="Google Shape;662;p31"/>
          <p:cNvSpPr txBox="1"/>
          <p:nvPr/>
        </p:nvSpPr>
        <p:spPr>
          <a:xfrm>
            <a:off x="5041992" y="1433198"/>
            <a:ext cx="2847927"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Equipment &amp; Operator Were In Exclusion Zone</a:t>
            </a:r>
            <a:endParaRPr/>
          </a:p>
        </p:txBody>
      </p:sp>
      <p:sp>
        <p:nvSpPr>
          <p:cNvPr id="663" name="Google Shape;663;p31"/>
          <p:cNvSpPr txBox="1"/>
          <p:nvPr/>
        </p:nvSpPr>
        <p:spPr>
          <a:xfrm>
            <a:off x="1387799" y="2411244"/>
            <a:ext cx="1295149"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Unstable slope</a:t>
            </a:r>
            <a:endParaRPr/>
          </a:p>
        </p:txBody>
      </p:sp>
      <p:sp>
        <p:nvSpPr>
          <p:cNvPr id="656" name="Google Shape;656;p31"/>
          <p:cNvSpPr txBox="1"/>
          <p:nvPr/>
        </p:nvSpPr>
        <p:spPr>
          <a:xfrm>
            <a:off x="6582082" y="2646165"/>
            <a:ext cx="2348238"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warning</a:t>
            </a:r>
            <a:endParaRPr/>
          </a:p>
        </p:txBody>
      </p:sp>
      <p:sp>
        <p:nvSpPr>
          <p:cNvPr id="664" name="Google Shape;664;p31"/>
          <p:cNvSpPr txBox="1"/>
          <p:nvPr/>
        </p:nvSpPr>
        <p:spPr>
          <a:xfrm>
            <a:off x="3722068" y="2662052"/>
            <a:ext cx="277981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Didn’t follow exclusion zone procedures</a:t>
            </a:r>
            <a:endParaRPr/>
          </a:p>
        </p:txBody>
      </p:sp>
      <p:sp>
        <p:nvSpPr>
          <p:cNvPr id="665" name="Google Shape;665;p31"/>
          <p:cNvSpPr txBox="1"/>
          <p:nvPr/>
        </p:nvSpPr>
        <p:spPr>
          <a:xfrm>
            <a:off x="712123" y="3555393"/>
            <a:ext cx="1223102"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construction</a:t>
            </a:r>
            <a:endParaRPr b="0" i="0" sz="1400" u="none" cap="none" strike="noStrike">
              <a:solidFill>
                <a:srgbClr val="262626"/>
              </a:solidFill>
              <a:latin typeface="Arial"/>
              <a:ea typeface="Arial"/>
              <a:cs typeface="Arial"/>
              <a:sym typeface="Arial"/>
            </a:endParaRPr>
          </a:p>
        </p:txBody>
      </p:sp>
      <p:sp>
        <p:nvSpPr>
          <p:cNvPr id="666" name="Google Shape;666;p31"/>
          <p:cNvSpPr/>
          <p:nvPr/>
        </p:nvSpPr>
        <p:spPr>
          <a:xfrm>
            <a:off x="1303293" y="352915"/>
            <a:ext cx="457200" cy="247710"/>
          </a:xfrm>
          <a:prstGeom prst="rightArrow">
            <a:avLst>
              <a:gd fmla="val 50000" name="adj1"/>
              <a:gd fmla="val 50000" name="adj2"/>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67" name="Google Shape;667;p31"/>
          <p:cNvSpPr txBox="1"/>
          <p:nvPr/>
        </p:nvSpPr>
        <p:spPr>
          <a:xfrm>
            <a:off x="98985" y="215160"/>
            <a:ext cx="1188000" cy="52322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Incident </a:t>
            </a:r>
            <a:r>
              <a:rPr b="0" lang="en-US" sz="1400">
                <a:solidFill>
                  <a:srgbClr val="FF0000"/>
                </a:solidFill>
                <a:latin typeface="Arial"/>
                <a:ea typeface="Arial"/>
                <a:cs typeface="Arial"/>
                <a:sym typeface="Arial"/>
              </a:rPr>
              <a:t>Description</a:t>
            </a:r>
            <a:endParaRPr b="0" i="0" sz="1400" u="none" cap="none" strike="noStrike">
              <a:solidFill>
                <a:srgbClr val="FF0000"/>
              </a:solidFill>
              <a:latin typeface="Arial"/>
              <a:ea typeface="Arial"/>
              <a:cs typeface="Arial"/>
              <a:sym typeface="Arial"/>
            </a:endParaRPr>
          </a:p>
        </p:txBody>
      </p:sp>
      <p:sp>
        <p:nvSpPr>
          <p:cNvPr id="668" name="Google Shape;668;p31"/>
          <p:cNvSpPr txBox="1"/>
          <p:nvPr/>
        </p:nvSpPr>
        <p:spPr>
          <a:xfrm>
            <a:off x="97927" y="1154929"/>
            <a:ext cx="1188000" cy="46800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Immediate Causes</a:t>
            </a:r>
            <a:endParaRPr/>
          </a:p>
        </p:txBody>
      </p:sp>
      <p:sp>
        <p:nvSpPr>
          <p:cNvPr id="669" name="Google Shape;669;p31"/>
          <p:cNvSpPr txBox="1"/>
          <p:nvPr/>
        </p:nvSpPr>
        <p:spPr>
          <a:xfrm>
            <a:off x="133171" y="2961000"/>
            <a:ext cx="1188000" cy="46800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Basic Causes</a:t>
            </a:r>
            <a:endParaRPr/>
          </a:p>
        </p:txBody>
      </p:sp>
      <p:sp>
        <p:nvSpPr>
          <p:cNvPr id="659" name="Google Shape;659;p31"/>
          <p:cNvSpPr txBox="1"/>
          <p:nvPr/>
        </p:nvSpPr>
        <p:spPr>
          <a:xfrm>
            <a:off x="7636358" y="3507669"/>
            <a:ext cx="1381281" cy="523220"/>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No effective communication</a:t>
            </a:r>
            <a:endParaRPr/>
          </a:p>
        </p:txBody>
      </p:sp>
      <p:cxnSp>
        <p:nvCxnSpPr>
          <p:cNvPr id="670" name="Google Shape;670;p31"/>
          <p:cNvCxnSpPr/>
          <p:nvPr/>
        </p:nvCxnSpPr>
        <p:spPr>
          <a:xfrm>
            <a:off x="6201340" y="4323278"/>
            <a:ext cx="0" cy="228600"/>
          </a:xfrm>
          <a:prstGeom prst="straightConnector1">
            <a:avLst/>
          </a:prstGeom>
          <a:noFill/>
          <a:ln cap="flat" cmpd="sng" w="9525">
            <a:solidFill>
              <a:schemeClr val="dk1"/>
            </a:solidFill>
            <a:prstDash val="solid"/>
            <a:miter lim="800000"/>
            <a:headEnd len="sm" w="sm" type="none"/>
            <a:tailEnd len="sm" w="sm" type="none"/>
          </a:ln>
        </p:spPr>
      </p:cxnSp>
      <p:sp>
        <p:nvSpPr>
          <p:cNvPr id="657" name="Google Shape;657;p31"/>
          <p:cNvSpPr txBox="1"/>
          <p:nvPr/>
        </p:nvSpPr>
        <p:spPr>
          <a:xfrm>
            <a:off x="6366395" y="3508752"/>
            <a:ext cx="1204648"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Monitoring data not evaluated</a:t>
            </a:r>
            <a:endParaRPr/>
          </a:p>
        </p:txBody>
      </p:sp>
      <p:sp>
        <p:nvSpPr>
          <p:cNvPr id="671" name="Google Shape;671;p31"/>
          <p:cNvSpPr txBox="1"/>
          <p:nvPr/>
        </p:nvSpPr>
        <p:spPr>
          <a:xfrm>
            <a:off x="2909392" y="3815446"/>
            <a:ext cx="1656830"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Operator not aware of exclusion zone procedures</a:t>
            </a:r>
            <a:endParaRPr/>
          </a:p>
        </p:txBody>
      </p:sp>
      <p:sp>
        <p:nvSpPr>
          <p:cNvPr id="672" name="Google Shape;672;p31"/>
          <p:cNvSpPr txBox="1"/>
          <p:nvPr/>
        </p:nvSpPr>
        <p:spPr>
          <a:xfrm>
            <a:off x="4582551" y="3815446"/>
            <a:ext cx="1652427"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Supervisor told Op to be inside the exclusion zone</a:t>
            </a:r>
            <a:endParaRPr/>
          </a:p>
        </p:txBody>
      </p:sp>
      <p:sp>
        <p:nvSpPr>
          <p:cNvPr id="673" name="Google Shape;673;p31"/>
          <p:cNvSpPr txBox="1"/>
          <p:nvPr/>
        </p:nvSpPr>
        <p:spPr>
          <a:xfrm>
            <a:off x="2841058" y="2424808"/>
            <a:ext cx="722900" cy="307777"/>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Rain</a:t>
            </a:r>
            <a:endParaRPr/>
          </a:p>
        </p:txBody>
      </p:sp>
      <p:sp>
        <p:nvSpPr>
          <p:cNvPr id="674" name="Google Shape;674;p31"/>
          <p:cNvSpPr txBox="1"/>
          <p:nvPr/>
        </p:nvSpPr>
        <p:spPr>
          <a:xfrm>
            <a:off x="1968091" y="3551772"/>
            <a:ext cx="872966" cy="738664"/>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62626"/>
              </a:buClr>
              <a:buSzPts val="1400"/>
              <a:buFont typeface="Arial"/>
              <a:buNone/>
            </a:pPr>
            <a:r>
              <a:rPr b="0" i="0" lang="en-US" sz="1400" u="none" cap="none" strike="noStrike">
                <a:solidFill>
                  <a:srgbClr val="262626"/>
                </a:solidFill>
                <a:latin typeface="Arial"/>
                <a:ea typeface="Arial"/>
                <a:cs typeface="Arial"/>
                <a:sym typeface="Arial"/>
              </a:rPr>
              <a:t>Poor slope design</a:t>
            </a:r>
            <a:endParaRPr/>
          </a:p>
        </p:txBody>
      </p:sp>
      <p:sp>
        <p:nvSpPr>
          <p:cNvPr id="675" name="Google Shape;675;p31"/>
          <p:cNvSpPr/>
          <p:nvPr/>
        </p:nvSpPr>
        <p:spPr>
          <a:xfrm>
            <a:off x="7620101" y="3060747"/>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76" name="Google Shape;676;p31"/>
          <p:cNvSpPr txBox="1"/>
          <p:nvPr/>
        </p:nvSpPr>
        <p:spPr>
          <a:xfrm>
            <a:off x="138374" y="1913788"/>
            <a:ext cx="1188000" cy="46800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Intermediate Causes</a:t>
            </a:r>
            <a:endParaRPr/>
          </a:p>
        </p:txBody>
      </p:sp>
      <p:cxnSp>
        <p:nvCxnSpPr>
          <p:cNvPr id="677" name="Google Shape;677;p31"/>
          <p:cNvCxnSpPr>
            <a:stCxn id="661" idx="2"/>
            <a:endCxn id="673" idx="0"/>
          </p:cNvCxnSpPr>
          <p:nvPr/>
        </p:nvCxnSpPr>
        <p:spPr>
          <a:xfrm flipH="1" rot="-5400000">
            <a:off x="2672194" y="1894406"/>
            <a:ext cx="671700" cy="389100"/>
          </a:xfrm>
          <a:prstGeom prst="bentConnector3">
            <a:avLst>
              <a:gd fmla="val 80939" name="adj1"/>
            </a:avLst>
          </a:prstGeom>
          <a:noFill/>
          <a:ln cap="flat" cmpd="sng" w="9525">
            <a:solidFill>
              <a:schemeClr val="dk1"/>
            </a:solidFill>
            <a:prstDash val="solid"/>
            <a:miter lim="800000"/>
            <a:headEnd len="sm" w="sm" type="none"/>
            <a:tailEnd len="med" w="med" type="triangle"/>
          </a:ln>
        </p:spPr>
      </p:cxnSp>
      <p:cxnSp>
        <p:nvCxnSpPr>
          <p:cNvPr id="678" name="Google Shape;678;p31"/>
          <p:cNvCxnSpPr>
            <a:stCxn id="661" idx="2"/>
            <a:endCxn id="663" idx="0"/>
          </p:cNvCxnSpPr>
          <p:nvPr/>
        </p:nvCxnSpPr>
        <p:spPr>
          <a:xfrm rot="5400000">
            <a:off x="2095294" y="1693106"/>
            <a:ext cx="658200" cy="778200"/>
          </a:xfrm>
          <a:prstGeom prst="bentConnector3">
            <a:avLst>
              <a:gd fmla="val 81569" name="adj1"/>
            </a:avLst>
          </a:prstGeom>
          <a:noFill/>
          <a:ln cap="flat" cmpd="sng" w="9525">
            <a:solidFill>
              <a:schemeClr val="dk1"/>
            </a:solidFill>
            <a:prstDash val="solid"/>
            <a:miter lim="800000"/>
            <a:headEnd len="sm" w="sm" type="none"/>
            <a:tailEnd len="med" w="med" type="triangle"/>
          </a:ln>
        </p:spPr>
      </p:cxnSp>
      <p:sp>
        <p:nvSpPr>
          <p:cNvPr id="679" name="Google Shape;679;p31"/>
          <p:cNvSpPr/>
          <p:nvPr/>
        </p:nvSpPr>
        <p:spPr>
          <a:xfrm rot="-5400000">
            <a:off x="2679029" y="1911417"/>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680" name="Google Shape;680;p31"/>
          <p:cNvCxnSpPr>
            <a:stCxn id="660" idx="2"/>
            <a:endCxn id="661" idx="0"/>
          </p:cNvCxnSpPr>
          <p:nvPr/>
        </p:nvCxnSpPr>
        <p:spPr>
          <a:xfrm rot="5400000">
            <a:off x="3581099" y="-155123"/>
            <a:ext cx="832800" cy="2368200"/>
          </a:xfrm>
          <a:prstGeom prst="bentConnector3">
            <a:avLst>
              <a:gd fmla="val 63306" name="adj1"/>
            </a:avLst>
          </a:prstGeom>
          <a:noFill/>
          <a:ln cap="flat" cmpd="sng" w="9525">
            <a:solidFill>
              <a:schemeClr val="dk1"/>
            </a:solidFill>
            <a:prstDash val="solid"/>
            <a:miter lim="800000"/>
            <a:headEnd len="sm" w="sm" type="none"/>
            <a:tailEnd len="med" w="med" type="triangle"/>
          </a:ln>
        </p:spPr>
      </p:cxnSp>
      <p:cxnSp>
        <p:nvCxnSpPr>
          <p:cNvPr id="681" name="Google Shape;681;p31"/>
          <p:cNvCxnSpPr>
            <a:stCxn id="660" idx="2"/>
            <a:endCxn id="662" idx="0"/>
          </p:cNvCxnSpPr>
          <p:nvPr/>
        </p:nvCxnSpPr>
        <p:spPr>
          <a:xfrm flipH="1" rot="-5400000">
            <a:off x="5413499" y="380677"/>
            <a:ext cx="820500" cy="1284300"/>
          </a:xfrm>
          <a:prstGeom prst="bentConnector3">
            <a:avLst>
              <a:gd fmla="val 63516" name="adj1"/>
            </a:avLst>
          </a:prstGeom>
          <a:noFill/>
          <a:ln cap="flat" cmpd="sng" w="9525">
            <a:solidFill>
              <a:schemeClr val="dk1"/>
            </a:solidFill>
            <a:prstDash val="solid"/>
            <a:miter lim="800000"/>
            <a:headEnd len="sm" w="sm" type="none"/>
            <a:tailEnd len="med" w="med" type="triangle"/>
          </a:ln>
        </p:spPr>
      </p:cxnSp>
      <p:sp>
        <p:nvSpPr>
          <p:cNvPr id="682" name="Google Shape;682;p31"/>
          <p:cNvSpPr/>
          <p:nvPr/>
        </p:nvSpPr>
        <p:spPr>
          <a:xfrm rot="-5400000">
            <a:off x="5047282" y="763888"/>
            <a:ext cx="268638" cy="240630"/>
          </a:xfrm>
          <a:prstGeom prst="flowChartDelay">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683" name="Google Shape;683;p31"/>
          <p:cNvCxnSpPr>
            <a:stCxn id="662" idx="2"/>
            <a:endCxn id="656" idx="0"/>
          </p:cNvCxnSpPr>
          <p:nvPr/>
        </p:nvCxnSpPr>
        <p:spPr>
          <a:xfrm flipH="1" rot="-5400000">
            <a:off x="6766256" y="1656118"/>
            <a:ext cx="689700" cy="1290300"/>
          </a:xfrm>
          <a:prstGeom prst="bentConnector3">
            <a:avLst>
              <a:gd fmla="val 72100" name="adj1"/>
            </a:avLst>
          </a:prstGeom>
          <a:noFill/>
          <a:ln cap="flat" cmpd="sng" w="9525">
            <a:solidFill>
              <a:schemeClr val="dk1"/>
            </a:solidFill>
            <a:prstDash val="solid"/>
            <a:miter lim="800000"/>
            <a:headEnd len="sm" w="sm" type="none"/>
            <a:tailEnd len="med" w="med" type="triangle"/>
          </a:ln>
        </p:spPr>
      </p:cxnSp>
      <p:cxnSp>
        <p:nvCxnSpPr>
          <p:cNvPr id="684" name="Google Shape;684;p31"/>
          <p:cNvCxnSpPr>
            <a:stCxn id="662" idx="2"/>
            <a:endCxn id="664" idx="0"/>
          </p:cNvCxnSpPr>
          <p:nvPr/>
        </p:nvCxnSpPr>
        <p:spPr>
          <a:xfrm rot="5400000">
            <a:off x="5436206" y="1632268"/>
            <a:ext cx="705600" cy="1353900"/>
          </a:xfrm>
          <a:prstGeom prst="bentConnector3">
            <a:avLst>
              <a:gd fmla="val 71601" name="adj1"/>
            </a:avLst>
          </a:prstGeom>
          <a:noFill/>
          <a:ln cap="flat" cmpd="sng" w="9525">
            <a:solidFill>
              <a:schemeClr val="dk1"/>
            </a:solidFill>
            <a:prstDash val="solid"/>
            <a:miter lim="800000"/>
            <a:headEnd len="sm" w="sm" type="none"/>
            <a:tailEnd len="med" w="med" type="triangle"/>
          </a:ln>
        </p:spPr>
      </p:cxnSp>
      <p:sp>
        <p:nvSpPr>
          <p:cNvPr id="685" name="Google Shape;685;p31"/>
          <p:cNvSpPr/>
          <p:nvPr/>
        </p:nvSpPr>
        <p:spPr>
          <a:xfrm flipH="1">
            <a:off x="6316623" y="2099508"/>
            <a:ext cx="336011" cy="271586"/>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686" name="Google Shape;686;p31"/>
          <p:cNvCxnSpPr>
            <a:stCxn id="663" idx="2"/>
            <a:endCxn id="674" idx="0"/>
          </p:cNvCxnSpPr>
          <p:nvPr/>
        </p:nvCxnSpPr>
        <p:spPr>
          <a:xfrm flipH="1" rot="-5400000">
            <a:off x="1911324" y="3058514"/>
            <a:ext cx="617400" cy="369300"/>
          </a:xfrm>
          <a:prstGeom prst="bentConnector3">
            <a:avLst>
              <a:gd fmla="val 49993" name="adj1"/>
            </a:avLst>
          </a:prstGeom>
          <a:noFill/>
          <a:ln cap="flat" cmpd="sng" w="9525">
            <a:solidFill>
              <a:schemeClr val="dk1"/>
            </a:solidFill>
            <a:prstDash val="solid"/>
            <a:miter lim="800000"/>
            <a:headEnd len="sm" w="sm" type="none"/>
            <a:tailEnd len="med" w="med" type="triangle"/>
          </a:ln>
        </p:spPr>
      </p:cxnSp>
      <p:cxnSp>
        <p:nvCxnSpPr>
          <p:cNvPr id="687" name="Google Shape;687;p31"/>
          <p:cNvCxnSpPr>
            <a:stCxn id="663" idx="2"/>
            <a:endCxn id="665" idx="0"/>
          </p:cNvCxnSpPr>
          <p:nvPr/>
        </p:nvCxnSpPr>
        <p:spPr>
          <a:xfrm rot="5400000">
            <a:off x="1369074" y="2889164"/>
            <a:ext cx="621000" cy="711600"/>
          </a:xfrm>
          <a:prstGeom prst="bentConnector3">
            <a:avLst>
              <a:gd fmla="val 49994" name="adj1"/>
            </a:avLst>
          </a:prstGeom>
          <a:noFill/>
          <a:ln cap="flat" cmpd="sng" w="9525">
            <a:solidFill>
              <a:schemeClr val="dk1"/>
            </a:solidFill>
            <a:prstDash val="solid"/>
            <a:miter lim="800000"/>
            <a:headEnd len="sm" w="sm" type="none"/>
            <a:tailEnd len="med" w="med" type="triangle"/>
          </a:ln>
        </p:spPr>
      </p:cxnSp>
      <p:sp>
        <p:nvSpPr>
          <p:cNvPr id="688" name="Google Shape;688;p31"/>
          <p:cNvSpPr/>
          <p:nvPr/>
        </p:nvSpPr>
        <p:spPr>
          <a:xfrm>
            <a:off x="1897543" y="3052998"/>
            <a:ext cx="266437" cy="228600"/>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cxnSp>
        <p:nvCxnSpPr>
          <p:cNvPr id="689" name="Google Shape;689;p31"/>
          <p:cNvCxnSpPr>
            <a:stCxn id="664" idx="2"/>
            <a:endCxn id="672" idx="0"/>
          </p:cNvCxnSpPr>
          <p:nvPr/>
        </p:nvCxnSpPr>
        <p:spPr>
          <a:xfrm flipH="1" rot="-5400000">
            <a:off x="4945173" y="3352072"/>
            <a:ext cx="630300" cy="296700"/>
          </a:xfrm>
          <a:prstGeom prst="bentConnector3">
            <a:avLst>
              <a:gd fmla="val 49990" name="adj1"/>
            </a:avLst>
          </a:prstGeom>
          <a:noFill/>
          <a:ln cap="flat" cmpd="sng" w="9525">
            <a:solidFill>
              <a:schemeClr val="dk1"/>
            </a:solidFill>
            <a:prstDash val="solid"/>
            <a:miter lim="800000"/>
            <a:headEnd len="sm" w="sm" type="none"/>
            <a:tailEnd len="med" w="med" type="triangle"/>
          </a:ln>
        </p:spPr>
      </p:cxnSp>
      <p:cxnSp>
        <p:nvCxnSpPr>
          <p:cNvPr id="690" name="Google Shape;690;p31"/>
          <p:cNvCxnSpPr>
            <a:stCxn id="664" idx="2"/>
            <a:endCxn id="671" idx="0"/>
          </p:cNvCxnSpPr>
          <p:nvPr/>
        </p:nvCxnSpPr>
        <p:spPr>
          <a:xfrm rot="5400000">
            <a:off x="4109673" y="2813272"/>
            <a:ext cx="630300" cy="1374300"/>
          </a:xfrm>
          <a:prstGeom prst="bentConnector3">
            <a:avLst>
              <a:gd fmla="val 49990" name="adj1"/>
            </a:avLst>
          </a:prstGeom>
          <a:noFill/>
          <a:ln cap="flat" cmpd="sng" w="9525">
            <a:solidFill>
              <a:schemeClr val="dk1"/>
            </a:solidFill>
            <a:prstDash val="solid"/>
            <a:miter lim="800000"/>
            <a:headEnd len="sm" w="sm" type="none"/>
            <a:tailEnd len="med" w="med" type="triangle"/>
          </a:ln>
        </p:spPr>
      </p:cxnSp>
      <p:sp>
        <p:nvSpPr>
          <p:cNvPr id="691" name="Google Shape;691;p31"/>
          <p:cNvSpPr/>
          <p:nvPr/>
        </p:nvSpPr>
        <p:spPr>
          <a:xfrm>
            <a:off x="4885340" y="3292226"/>
            <a:ext cx="423956" cy="300712"/>
          </a:xfrm>
          <a:prstGeom prst="flowChartPunchedTape">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92" name="Google Shape;692;p31"/>
          <p:cNvSpPr txBox="1"/>
          <p:nvPr/>
        </p:nvSpPr>
        <p:spPr>
          <a:xfrm>
            <a:off x="489907" y="4744665"/>
            <a:ext cx="8273093" cy="707886"/>
          </a:xfrm>
          <a:prstGeom prst="rect">
            <a:avLst/>
          </a:prstGeom>
          <a:solidFill>
            <a:srgbClr val="0000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How could our </a:t>
            </a:r>
            <a:r>
              <a:rPr b="1" i="0" lang="en-US" sz="2000" u="none" cap="none" strike="noStrike">
                <a:solidFill>
                  <a:srgbClr val="FFFFFF"/>
                </a:solidFill>
                <a:latin typeface="Arial"/>
                <a:ea typeface="Arial"/>
                <a:cs typeface="Arial"/>
                <a:sym typeface="Arial"/>
              </a:rPr>
              <a:t>basic causes</a:t>
            </a:r>
            <a:r>
              <a:rPr b="0" i="0" lang="en-US" sz="2000" u="none" cap="none" strike="noStrike">
                <a:solidFill>
                  <a:srgbClr val="FFFFFF"/>
                </a:solidFill>
                <a:latin typeface="Arial"/>
                <a:ea typeface="Arial"/>
                <a:cs typeface="Arial"/>
                <a:sym typeface="Arial"/>
              </a:rPr>
              <a:t> be categorized? </a:t>
            </a:r>
            <a:endParaRPr/>
          </a:p>
          <a:p>
            <a:pPr indent="-342900" lvl="0" marL="342900" marR="0" rtl="0" algn="l">
              <a:lnSpc>
                <a:spcPct val="10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Arial"/>
                <a:ea typeface="Arial"/>
                <a:cs typeface="Arial"/>
                <a:sym typeface="Arial"/>
              </a:rPr>
              <a:t>Job factors, Personal Factors, Engineering &amp; Design Factors?</a:t>
            </a:r>
            <a:endParaRPr b="0" i="0" sz="2000" u="none" cap="none" strike="noStrike">
              <a:solidFill>
                <a:srgbClr val="FFFFFF"/>
              </a:solidFill>
              <a:latin typeface="Arial"/>
              <a:ea typeface="Arial"/>
              <a:cs typeface="Arial"/>
              <a:sym typeface="Arial"/>
            </a:endParaRPr>
          </a:p>
        </p:txBody>
      </p:sp>
      <p:sp>
        <p:nvSpPr>
          <p:cNvPr id="693" name="Google Shape;693;p31"/>
          <p:cNvSpPr/>
          <p:nvPr/>
        </p:nvSpPr>
        <p:spPr>
          <a:xfrm>
            <a:off x="1981199" y="3472153"/>
            <a:ext cx="4335424" cy="1201979"/>
          </a:xfrm>
          <a:prstGeom prst="roundRect">
            <a:avLst>
              <a:gd fmla="val 16667" name="adj"/>
            </a:avLst>
          </a:prstGeom>
          <a:noFill/>
          <a:ln cap="flat" cmpd="sng" w="57150">
            <a:solidFill>
              <a:srgbClr val="0000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94" name="Google Shape;694;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95" name="Google Shape;695;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4.2: C&amp;E Model &amp; Chapter 4.3: RCA of an Incident</a:t>
            </a:r>
            <a:endParaRPr b="1" i="1" sz="12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2"/>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Example</a:t>
            </a:r>
            <a:r>
              <a:rPr b="0" i="0" lang="en-US" sz="2400" u="none" cap="none" strike="noStrike">
                <a:solidFill>
                  <a:srgbClr val="F8F8F8"/>
                </a:solidFill>
                <a:latin typeface="Arial"/>
                <a:ea typeface="Arial"/>
                <a:cs typeface="Arial"/>
                <a:sym typeface="Arial"/>
              </a:rPr>
              <a:t>: </a:t>
            </a:r>
            <a:r>
              <a:rPr b="0" lang="en-US" sz="2400">
                <a:solidFill>
                  <a:srgbClr val="F8F8F8"/>
                </a:solidFill>
                <a:latin typeface="Arial"/>
                <a:ea typeface="Arial"/>
                <a:cs typeface="Arial"/>
                <a:sym typeface="Arial"/>
              </a:rPr>
              <a:t>Basic Causes and Categories</a:t>
            </a:r>
            <a:endParaRPr b="0" i="0" sz="2400" u="none" cap="none" strike="noStrike">
              <a:solidFill>
                <a:srgbClr val="F8F8F8"/>
              </a:solidFill>
              <a:latin typeface="Arial"/>
              <a:ea typeface="Arial"/>
              <a:cs typeface="Arial"/>
              <a:sym typeface="Arial"/>
            </a:endParaRPr>
          </a:p>
        </p:txBody>
      </p:sp>
      <p:sp>
        <p:nvSpPr>
          <p:cNvPr id="705" name="Google Shape;705;p32"/>
          <p:cNvSpPr/>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1" sz="2000">
              <a:solidFill>
                <a:srgbClr val="F8F8F8"/>
              </a:solidFill>
              <a:latin typeface="Arial"/>
              <a:ea typeface="Arial"/>
              <a:cs typeface="Arial"/>
              <a:sym typeface="Arial"/>
            </a:endParaRPr>
          </a:p>
          <a:p>
            <a:pPr indent="0" lvl="0" marL="0" marR="0" rtl="0" algn="l">
              <a:spcBef>
                <a:spcPts val="0"/>
              </a:spcBef>
              <a:spcAft>
                <a:spcPts val="0"/>
              </a:spcAft>
              <a:buNone/>
            </a:pPr>
            <a:r>
              <a:rPr b="0" i="1" lang="en-US" sz="2000">
                <a:solidFill>
                  <a:srgbClr val="F8F8F8"/>
                </a:solidFill>
                <a:latin typeface="Arial"/>
                <a:ea typeface="Arial"/>
                <a:cs typeface="Arial"/>
                <a:sym typeface="Arial"/>
              </a:rPr>
              <a:t>The basic cause categories for the following:</a:t>
            </a:r>
            <a:endParaRPr b="0" i="1" sz="2000">
              <a:solidFill>
                <a:srgbClr val="F8F8F8"/>
              </a:solidFill>
              <a:latin typeface="Arial"/>
              <a:ea typeface="Arial"/>
              <a:cs typeface="Arial"/>
              <a:sym typeface="Arial"/>
            </a:endParaRPr>
          </a:p>
          <a:p>
            <a:pPr indent="-457200" lvl="0" marL="45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Poor slope design</a:t>
            </a:r>
            <a:endParaRPr/>
          </a:p>
          <a:p>
            <a:pPr indent="-457200" lvl="0" marL="45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Operator not aware of exclusion zone procedures</a:t>
            </a:r>
            <a:endParaRPr/>
          </a:p>
          <a:p>
            <a:pPr indent="-457200" lvl="0" marL="457200" marR="0" rtl="0" algn="l">
              <a:spcBef>
                <a:spcPts val="0"/>
              </a:spcBef>
              <a:spcAft>
                <a:spcPts val="0"/>
              </a:spcAft>
              <a:buClr>
                <a:srgbClr val="F8F8F8"/>
              </a:buClr>
              <a:buSzPts val="2000"/>
              <a:buFont typeface="Arial"/>
              <a:buAutoNum type="alphaLcParenR"/>
            </a:pPr>
            <a:r>
              <a:rPr b="0" i="1" lang="en-US" sz="2000">
                <a:solidFill>
                  <a:srgbClr val="F8F8F8"/>
                </a:solidFill>
                <a:latin typeface="Arial"/>
                <a:ea typeface="Arial"/>
                <a:cs typeface="Arial"/>
                <a:sym typeface="Arial"/>
              </a:rPr>
              <a:t>Supervisor told Operator to be in exclusion zone</a:t>
            </a:r>
            <a:endParaRPr b="0" i="1" sz="2000">
              <a:solidFill>
                <a:srgbClr val="F8F8F8"/>
              </a:solidFill>
              <a:latin typeface="Arial"/>
              <a:ea typeface="Arial"/>
              <a:cs typeface="Arial"/>
              <a:sym typeface="Arial"/>
            </a:endParaRPr>
          </a:p>
        </p:txBody>
      </p:sp>
      <p:sp>
        <p:nvSpPr>
          <p:cNvPr id="706" name="Google Shape;706;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graphicFrame>
        <p:nvGraphicFramePr>
          <p:cNvPr id="707" name="Google Shape;707;p32"/>
          <p:cNvGraphicFramePr/>
          <p:nvPr/>
        </p:nvGraphicFramePr>
        <p:xfrm>
          <a:off x="432001" y="2957280"/>
          <a:ext cx="3000000" cy="3000000"/>
        </p:xfrm>
        <a:graphic>
          <a:graphicData uri="http://schemas.openxmlformats.org/drawingml/2006/table">
            <a:tbl>
              <a:tblPr>
                <a:noFill/>
                <a:tableStyleId>{61486EE9-67D6-45F7-BF01-9C491CAAE02E}</a:tableStyleId>
              </a:tblPr>
              <a:tblGrid>
                <a:gridCol w="3283600"/>
                <a:gridCol w="2152975"/>
                <a:gridCol w="2843425"/>
              </a:tblGrid>
              <a:tr h="669325">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Engineering &amp; Design Factors: </a:t>
                      </a:r>
                      <a:br>
                        <a:rPr b="1" i="0" lang="en-US" sz="1200" u="none" cap="none" strike="noStrike">
                          <a:solidFill>
                            <a:schemeClr val="dk1"/>
                          </a:solidFill>
                          <a:latin typeface="Arial"/>
                          <a:ea typeface="Arial"/>
                          <a:cs typeface="Arial"/>
                          <a:sym typeface="Arial"/>
                        </a:rPr>
                      </a:br>
                      <a:r>
                        <a:rPr b="0" i="1" lang="en-US" sz="1200" u="none" cap="none" strike="noStrike">
                          <a:solidFill>
                            <a:schemeClr val="dk1"/>
                          </a:solidFill>
                          <a:latin typeface="Arial"/>
                          <a:ea typeface="Arial"/>
                          <a:cs typeface="Arial"/>
                          <a:sym typeface="Arial"/>
                        </a:rPr>
                        <a:t>(can apply to structures, equipment, tools, i.e. any engineered system)</a:t>
                      </a:r>
                      <a:endParaRPr b="0" i="0" sz="1200" u="none" cap="none" strike="noStrike">
                        <a:solidFill>
                          <a:schemeClr val="dk1"/>
                        </a:solidFill>
                        <a:latin typeface="Arial"/>
                        <a:ea typeface="Arial"/>
                        <a:cs typeface="Arial"/>
                        <a:sym typeface="Arial"/>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Job Factors:</a:t>
                      </a:r>
                      <a:endParaRPr b="0" i="0" sz="12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Personal Factors:</a:t>
                      </a:r>
                      <a:endParaRPr b="0" i="0" sz="12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390425">
                <a:tc>
                  <a:txBody>
                    <a:bodyPr/>
                    <a:lstStyle/>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technical design</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ergonomic design</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assessment of loss exposures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standards, specifications and/or design criteria</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monitoring of construction</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assessment of operational readiness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monitoring of initial operation</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evaluation and/or documentation of change</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inherently safe design</a:t>
                      </a:r>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c>
                  <a:txBody>
                    <a:bodyPr/>
                    <a:lstStyle/>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maintenance </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job procedures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Error-inducing conditions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Organizational factors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Incompatible goals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training</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communication</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c>
                  <a:txBody>
                    <a:bodyPr/>
                    <a:lstStyle/>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Inadequate physical / physiological state / capability to do the work.</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Perceived inadequate mental / psychological state / capability to do the work.</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Physical or physiological stress.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Perceived mental or psychological stress.</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Improper risk taking / improper motivation</a:t>
                      </a:r>
                      <a:endParaRPr/>
                    </a:p>
                    <a:p>
                      <a:pPr indent="-88900" lvl="0" marL="98425"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Arial"/>
                          <a:ea typeface="Arial"/>
                          <a:cs typeface="Arial"/>
                          <a:sym typeface="Arial"/>
                        </a:rPr>
                        <a:t>Lack of knowledge / lack of skill.</a:t>
                      </a:r>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FFFFFF"/>
                    </a:solidFill>
                  </a:tcPr>
                </a:tc>
              </a:tr>
            </a:tbl>
          </a:graphicData>
        </a:graphic>
      </p:graphicFrame>
      <p:sp>
        <p:nvSpPr>
          <p:cNvPr id="708" name="Google Shape;708;p32"/>
          <p:cNvSpPr/>
          <p:nvPr/>
        </p:nvSpPr>
        <p:spPr>
          <a:xfrm>
            <a:off x="454026" y="3665786"/>
            <a:ext cx="2817387" cy="338554"/>
          </a:xfrm>
          <a:prstGeom prst="rect">
            <a:avLst/>
          </a:prstGeom>
          <a:solidFill>
            <a:srgbClr val="FFFFFF"/>
          </a:solid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alibri"/>
              <a:buNone/>
            </a:pPr>
            <a:r>
              <a:rPr b="0" i="0" lang="en-US" sz="1600" u="none" cap="none" strike="noStrike">
                <a:solidFill>
                  <a:srgbClr val="FF0000"/>
                </a:solidFill>
                <a:latin typeface="Calibri"/>
                <a:ea typeface="Calibri"/>
                <a:cs typeface="Calibri"/>
                <a:sym typeface="Calibri"/>
              </a:rPr>
              <a:t>a) Inadequate technical design</a:t>
            </a:r>
            <a:endParaRPr/>
          </a:p>
        </p:txBody>
      </p:sp>
      <p:sp>
        <p:nvSpPr>
          <p:cNvPr id="709" name="Google Shape;709;p32"/>
          <p:cNvSpPr/>
          <p:nvPr/>
        </p:nvSpPr>
        <p:spPr>
          <a:xfrm>
            <a:off x="6019794" y="4771134"/>
            <a:ext cx="2253300" cy="584700"/>
          </a:xfrm>
          <a:prstGeom prst="rect">
            <a:avLst/>
          </a:prstGeom>
          <a:solidFill>
            <a:srgbClr val="FFFFFF"/>
          </a:solidFill>
          <a:ln cap="flat" cmpd="sng" w="5715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Calibri"/>
              <a:buNone/>
            </a:pPr>
            <a:r>
              <a:rPr b="0" i="0" lang="en-US" sz="1600" u="none" cap="none" strike="noStrike">
                <a:solidFill>
                  <a:srgbClr val="FF0000"/>
                </a:solidFill>
                <a:latin typeface="Calibri"/>
                <a:ea typeface="Calibri"/>
                <a:cs typeface="Calibri"/>
                <a:sym typeface="Calibri"/>
              </a:rPr>
              <a:t>c) Improper motivation / improper risk taking</a:t>
            </a:r>
            <a:endParaRPr b="0" i="0" sz="1600" u="none" cap="none" strike="noStrike">
              <a:solidFill>
                <a:srgbClr val="FF0000"/>
              </a:solidFill>
              <a:latin typeface="Calibri"/>
              <a:ea typeface="Calibri"/>
              <a:cs typeface="Calibri"/>
              <a:sym typeface="Calibri"/>
            </a:endParaRPr>
          </a:p>
        </p:txBody>
      </p:sp>
      <p:sp>
        <p:nvSpPr>
          <p:cNvPr id="710" name="Google Shape;710;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pic>
        <p:nvPicPr>
          <p:cNvPr id="711" name="Google Shape;711;p32"/>
          <p:cNvPicPr preferRelativeResize="0"/>
          <p:nvPr/>
        </p:nvPicPr>
        <p:blipFill>
          <a:blip r:embed="rId3">
            <a:alphaModFix/>
          </a:blip>
          <a:stretch>
            <a:fillRect/>
          </a:stretch>
        </p:blipFill>
        <p:spPr>
          <a:xfrm>
            <a:off x="6030926" y="5494650"/>
            <a:ext cx="2425275" cy="431775"/>
          </a:xfrm>
          <a:prstGeom prst="rect">
            <a:avLst/>
          </a:prstGeom>
          <a:noFill/>
          <a:ln>
            <a:noFill/>
          </a:ln>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The Intent of The Tables of Detailed Lists: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Tables help guide the user in categorizing the incident details including the immediate and basic causes. </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FYI: These tables are not exhaustive and all-inclusive; there may be other sub-sub-categories that can be created.</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Categorization of Causes:</a:t>
            </a:r>
            <a:endParaRPr b="1"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When reporting the categories of a cause, it is important to recognize the major </a:t>
            </a:r>
            <a:r>
              <a:rPr b="0" lang="en-US" sz="2000" u="sng">
                <a:solidFill>
                  <a:srgbClr val="000000"/>
                </a:solidFill>
                <a:latin typeface="Arial"/>
                <a:ea typeface="Arial"/>
                <a:cs typeface="Arial"/>
                <a:sym typeface="Arial"/>
              </a:rPr>
              <a:t>category</a:t>
            </a:r>
            <a:r>
              <a:rPr b="0" lang="en-US" sz="2000">
                <a:solidFill>
                  <a:srgbClr val="000000"/>
                </a:solidFill>
                <a:latin typeface="Arial"/>
                <a:ea typeface="Arial"/>
                <a:cs typeface="Arial"/>
                <a:sym typeface="Arial"/>
              </a:rPr>
              <a:t>, the </a:t>
            </a:r>
            <a:r>
              <a:rPr b="0" lang="en-US" sz="2000" u="sng">
                <a:solidFill>
                  <a:srgbClr val="000000"/>
                </a:solidFill>
                <a:latin typeface="Arial"/>
                <a:ea typeface="Arial"/>
                <a:cs typeface="Arial"/>
                <a:sym typeface="Arial"/>
              </a:rPr>
              <a:t>sub-category</a:t>
            </a:r>
            <a:r>
              <a:rPr b="0" lang="en-US" sz="2000">
                <a:solidFill>
                  <a:srgbClr val="000000"/>
                </a:solidFill>
                <a:latin typeface="Arial"/>
                <a:ea typeface="Arial"/>
                <a:cs typeface="Arial"/>
                <a:sym typeface="Arial"/>
              </a:rPr>
              <a:t>, and the </a:t>
            </a:r>
            <a:r>
              <a:rPr b="0" lang="en-US" sz="2000" u="sng">
                <a:solidFill>
                  <a:srgbClr val="000000"/>
                </a:solidFill>
                <a:latin typeface="Arial"/>
                <a:ea typeface="Arial"/>
                <a:cs typeface="Arial"/>
                <a:sym typeface="Arial"/>
              </a:rPr>
              <a:t>sub-sub-category</a:t>
            </a:r>
            <a:r>
              <a:rPr b="0" lang="en-US" sz="2000">
                <a:solidFill>
                  <a:srgbClr val="000000"/>
                </a:solidFill>
                <a:latin typeface="Arial"/>
                <a:ea typeface="Arial"/>
                <a:cs typeface="Arial"/>
                <a:sym typeface="Arial"/>
              </a:rPr>
              <a:t> </a:t>
            </a:r>
            <a:endParaRPr b="0" sz="2000">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e.g. basic cause, job factor, inadequate training.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Latent causes will be discussed in detail in the next topic.</a:t>
            </a:r>
            <a:endParaRPr b="0" sz="2000">
              <a:solidFill>
                <a:srgbClr val="000000"/>
              </a:solidFill>
              <a:latin typeface="Arial"/>
              <a:ea typeface="Arial"/>
              <a:cs typeface="Arial"/>
              <a:sym typeface="Arial"/>
            </a:endParaRPr>
          </a:p>
        </p:txBody>
      </p:sp>
      <p:sp>
        <p:nvSpPr>
          <p:cNvPr id="718" name="Google Shape;718;p3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Key Points:</a:t>
            </a:r>
            <a:endParaRPr/>
          </a:p>
        </p:txBody>
      </p:sp>
      <p:sp>
        <p:nvSpPr>
          <p:cNvPr id="719" name="Google Shape;719;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720" name="Google Shape;720;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3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After you have written a detailed incident description, summarise it.</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t>
            </a:r>
            <a:r>
              <a:rPr b="0" lang="en-US" sz="2000" u="sng">
                <a:solidFill>
                  <a:srgbClr val="000000"/>
                </a:solidFill>
                <a:latin typeface="Arial"/>
                <a:ea typeface="Arial"/>
                <a:cs typeface="Arial"/>
                <a:sym typeface="Arial"/>
              </a:rPr>
              <a:t>Ask Why?</a:t>
            </a:r>
            <a:r>
              <a:rPr b="0" lang="en-US" sz="2000">
                <a:solidFill>
                  <a:srgbClr val="000000"/>
                </a:solidFill>
                <a:latin typeface="Arial"/>
                <a:ea typeface="Arial"/>
                <a:cs typeface="Arial"/>
                <a:sym typeface="Arial"/>
              </a:rPr>
              <a:t>”, as demonstrated in the previous slides, and the </a:t>
            </a:r>
            <a:br>
              <a:rPr b="0" lang="en-US" sz="2000">
                <a:solidFill>
                  <a:srgbClr val="000000"/>
                </a:solidFill>
                <a:latin typeface="Arial"/>
                <a:ea typeface="Arial"/>
                <a:cs typeface="Arial"/>
                <a:sym typeface="Arial"/>
              </a:rPr>
            </a:br>
            <a:r>
              <a:rPr b="0" lang="en-US" sz="2000" u="sng">
                <a:solidFill>
                  <a:srgbClr val="000000"/>
                </a:solidFill>
                <a:latin typeface="Arial"/>
                <a:ea typeface="Arial"/>
                <a:cs typeface="Arial"/>
                <a:sym typeface="Arial"/>
              </a:rPr>
              <a:t>Discovery Approach</a:t>
            </a:r>
            <a:r>
              <a:rPr b="0" lang="en-US" sz="2000">
                <a:solidFill>
                  <a:srgbClr val="000000"/>
                </a:solidFill>
                <a:latin typeface="Arial"/>
                <a:ea typeface="Arial"/>
                <a:cs typeface="Arial"/>
                <a:sym typeface="Arial"/>
              </a:rPr>
              <a:t> are suitable.</a:t>
            </a:r>
            <a:endParaRPr/>
          </a:p>
          <a:p>
            <a:pPr indent="-359999" lvl="0" marL="72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See topic </a:t>
            </a:r>
            <a:r>
              <a:rPr b="1" lang="en-US" sz="2000">
                <a:solidFill>
                  <a:srgbClr val="000000"/>
                </a:solidFill>
                <a:latin typeface="Arial"/>
                <a:ea typeface="Arial"/>
                <a:cs typeface="Arial"/>
                <a:sym typeface="Arial"/>
              </a:rPr>
              <a:t>#11 Chapter 2.3: Hazards and Hazard Identification</a:t>
            </a:r>
            <a:r>
              <a:rPr b="0" lang="en-US" sz="2000">
                <a:solidFill>
                  <a:srgbClr val="000000"/>
                </a:solidFill>
                <a:latin typeface="Arial"/>
                <a:ea typeface="Arial"/>
                <a:cs typeface="Arial"/>
                <a:sym typeface="Arial"/>
              </a:rPr>
              <a:t> to review </a:t>
            </a:r>
            <a:r>
              <a:rPr b="0" lang="en-US" sz="2000" u="sng">
                <a:solidFill>
                  <a:srgbClr val="000000"/>
                </a:solidFill>
                <a:latin typeface="Arial"/>
                <a:ea typeface="Arial"/>
                <a:cs typeface="Arial"/>
                <a:sym typeface="Arial"/>
              </a:rPr>
              <a:t>The Discovery Approach</a:t>
            </a:r>
            <a:endParaRPr b="0" sz="2000" u="sng">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432000" lvl="0" marL="432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Discovery Approach is much more methodical:</a:t>
            </a:r>
            <a:endParaRPr/>
          </a:p>
          <a:p>
            <a:pPr indent="-359999" lvl="0" marL="720000" marR="0" rtl="0" algn="l">
              <a:lnSpc>
                <a:spcPct val="90000"/>
              </a:lnSpc>
              <a:spcBef>
                <a:spcPts val="0"/>
              </a:spcBef>
              <a:spcAft>
                <a:spcPts val="0"/>
              </a:spcAft>
              <a:buClr>
                <a:srgbClr val="000000"/>
              </a:buClr>
              <a:buSzPts val="2000"/>
              <a:buFont typeface="Noto Sans Symbols"/>
              <a:buChar char="⮚"/>
            </a:pPr>
            <a:r>
              <a:rPr b="0" i="1" lang="en-US" sz="2000">
                <a:solidFill>
                  <a:srgbClr val="000000"/>
                </a:solidFill>
                <a:latin typeface="Arial"/>
                <a:ea typeface="Arial"/>
                <a:cs typeface="Arial"/>
                <a:sym typeface="Arial"/>
              </a:rPr>
              <a:t>What is the Energy Source?</a:t>
            </a:r>
            <a:endParaRPr/>
          </a:p>
          <a:p>
            <a:pPr indent="-359999" lvl="0" marL="720000" marR="0" rtl="0" algn="l">
              <a:lnSpc>
                <a:spcPct val="90000"/>
              </a:lnSpc>
              <a:spcBef>
                <a:spcPts val="0"/>
              </a:spcBef>
              <a:spcAft>
                <a:spcPts val="0"/>
              </a:spcAft>
              <a:buClr>
                <a:srgbClr val="000000"/>
              </a:buClr>
              <a:buSzPts val="2000"/>
              <a:buFont typeface="Noto Sans Symbols"/>
              <a:buChar char="⮚"/>
            </a:pPr>
            <a:r>
              <a:rPr b="0" i="1" lang="en-US" sz="2000">
                <a:solidFill>
                  <a:srgbClr val="000000"/>
                </a:solidFill>
                <a:latin typeface="Arial"/>
                <a:ea typeface="Arial"/>
                <a:cs typeface="Arial"/>
                <a:sym typeface="Arial"/>
              </a:rPr>
              <a:t>What is the Triggering Event?</a:t>
            </a:r>
            <a:endParaRPr/>
          </a:p>
          <a:p>
            <a:pPr indent="-359999" lvl="0" marL="720000" marR="0" rtl="0" algn="l">
              <a:lnSpc>
                <a:spcPct val="90000"/>
              </a:lnSpc>
              <a:spcBef>
                <a:spcPts val="0"/>
              </a:spcBef>
              <a:spcAft>
                <a:spcPts val="0"/>
              </a:spcAft>
              <a:buClr>
                <a:srgbClr val="000000"/>
              </a:buClr>
              <a:buSzPts val="2000"/>
              <a:buFont typeface="Noto Sans Symbols"/>
              <a:buChar char="⮚"/>
            </a:pPr>
            <a:r>
              <a:rPr b="0" i="1" lang="en-US" sz="2000">
                <a:solidFill>
                  <a:srgbClr val="000000"/>
                </a:solidFill>
                <a:latin typeface="Arial"/>
                <a:ea typeface="Arial"/>
                <a:cs typeface="Arial"/>
                <a:sym typeface="Arial"/>
              </a:rPr>
              <a:t>What is in the Line-of-Fire?</a:t>
            </a:r>
            <a:endParaRPr/>
          </a:p>
          <a:p>
            <a:pPr indent="-359999" lvl="0" marL="720000" marR="0" rtl="0" algn="l">
              <a:lnSpc>
                <a:spcPct val="90000"/>
              </a:lnSpc>
              <a:spcBef>
                <a:spcPts val="0"/>
              </a:spcBef>
              <a:spcAft>
                <a:spcPts val="0"/>
              </a:spcAft>
              <a:buClr>
                <a:srgbClr val="000000"/>
              </a:buClr>
              <a:buSzPts val="2000"/>
              <a:buFont typeface="Noto Sans Symbols"/>
              <a:buChar char="⮚"/>
            </a:pPr>
            <a:r>
              <a:rPr b="0" i="1" lang="en-US" sz="2000">
                <a:solidFill>
                  <a:srgbClr val="000000"/>
                </a:solidFill>
                <a:latin typeface="Arial"/>
                <a:ea typeface="Arial"/>
                <a:cs typeface="Arial"/>
                <a:sym typeface="Arial"/>
              </a:rPr>
              <a:t>What is the lack of or No Safeguard?</a:t>
            </a:r>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t/>
            </a:r>
            <a:endParaRPr b="0" sz="2000">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p:txBody>
      </p:sp>
      <p:sp>
        <p:nvSpPr>
          <p:cNvPr id="727" name="Google Shape;727;p3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“Ask Why?” and The Discovery Approach</a:t>
            </a:r>
            <a:endParaRPr b="0" sz="2400">
              <a:solidFill>
                <a:schemeClr val="accent2"/>
              </a:solidFill>
              <a:latin typeface="Arial"/>
              <a:ea typeface="Arial"/>
              <a:cs typeface="Arial"/>
              <a:sym typeface="Arial"/>
            </a:endParaRPr>
          </a:p>
        </p:txBody>
      </p:sp>
      <p:sp>
        <p:nvSpPr>
          <p:cNvPr id="728" name="Google Shape;728;p3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729" name="Google Shape;729;p3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pic>
        <p:nvPicPr>
          <p:cNvPr id="730" name="Google Shape;730;p34"/>
          <p:cNvPicPr preferRelativeResize="0"/>
          <p:nvPr/>
        </p:nvPicPr>
        <p:blipFill rotWithShape="1">
          <a:blip r:embed="rId3">
            <a:alphaModFix/>
          </a:blip>
          <a:srcRect b="0" l="0" r="0" t="0"/>
          <a:stretch/>
        </p:blipFill>
        <p:spPr>
          <a:xfrm>
            <a:off x="1246926" y="4038600"/>
            <a:ext cx="2906148" cy="2133600"/>
          </a:xfrm>
          <a:prstGeom prst="rect">
            <a:avLst/>
          </a:prstGeom>
          <a:solidFill>
            <a:schemeClr val="lt1"/>
          </a:solidFill>
          <a:ln cap="flat" cmpd="sng" w="9525">
            <a:solidFill>
              <a:schemeClr val="dk1"/>
            </a:solidFill>
            <a:prstDash val="solid"/>
            <a:round/>
            <a:headEnd len="sm" w="sm" type="none"/>
            <a:tailEnd len="sm" w="sm" type="none"/>
          </a:ln>
        </p:spPr>
      </p:pic>
      <p:pic>
        <p:nvPicPr>
          <p:cNvPr descr="BD06711_[1]" id="731" name="Google Shape;731;p34"/>
          <p:cNvPicPr preferRelativeResize="0"/>
          <p:nvPr/>
        </p:nvPicPr>
        <p:blipFill rotWithShape="1">
          <a:blip r:embed="rId4">
            <a:alphaModFix/>
          </a:blip>
          <a:srcRect b="0" l="0" r="0" t="0"/>
          <a:stretch/>
        </p:blipFill>
        <p:spPr>
          <a:xfrm>
            <a:off x="5031297" y="4038600"/>
            <a:ext cx="2910480" cy="2074190"/>
          </a:xfrm>
          <a:prstGeom prst="rect">
            <a:avLst/>
          </a:prstGeom>
          <a:solidFill>
            <a:schemeClr val="lt1"/>
          </a:solid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5"/>
          <p:cNvSpPr/>
          <p:nvPr/>
        </p:nvSpPr>
        <p:spPr>
          <a:xfrm>
            <a:off x="180000" y="828000"/>
            <a:ext cx="8640000" cy="206741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chemeClr val="lt1"/>
                </a:solidFill>
                <a:latin typeface="Arial"/>
                <a:ea typeface="Arial"/>
                <a:cs typeface="Arial"/>
                <a:sym typeface="Arial"/>
              </a:rPr>
              <a:t>What are the responses to the questions when applying the Discovery Approach?</a:t>
            </a:r>
            <a:endParaRPr/>
          </a:p>
          <a:p>
            <a:pPr indent="-495300" lvl="0" marL="609600" marR="0" rtl="0" algn="l">
              <a:lnSpc>
                <a:spcPct val="90000"/>
              </a:lnSpc>
              <a:spcBef>
                <a:spcPts val="0"/>
              </a:spcBef>
              <a:spcAft>
                <a:spcPts val="0"/>
              </a:spcAft>
              <a:buClr>
                <a:srgbClr val="000000"/>
              </a:buClr>
              <a:buSzPts val="1800"/>
              <a:buFont typeface="Noto Sans Symbols"/>
              <a:buNone/>
            </a:pPr>
            <a:r>
              <a:t/>
            </a:r>
            <a:endParaRPr b="0" sz="1800">
              <a:solidFill>
                <a:schemeClr val="lt1"/>
              </a:solidFill>
              <a:latin typeface="Arial"/>
              <a:ea typeface="Arial"/>
              <a:cs typeface="Arial"/>
              <a:sym typeface="Arial"/>
            </a:endParaRPr>
          </a:p>
          <a:p>
            <a:pPr indent="-317700" lvl="0" marL="432000" marR="0" rtl="0" algn="l">
              <a:lnSpc>
                <a:spcPct val="90000"/>
              </a:lnSpc>
              <a:spcBef>
                <a:spcPts val="0"/>
              </a:spcBef>
              <a:spcAft>
                <a:spcPts val="0"/>
              </a:spcAft>
              <a:buClr>
                <a:srgbClr val="000000"/>
              </a:buClr>
              <a:buSzPts val="1800"/>
              <a:buFont typeface="Noto Sans Symbols"/>
              <a:buNone/>
            </a:pPr>
            <a:r>
              <a:t/>
            </a:r>
            <a:endParaRPr b="0" sz="1800">
              <a:solidFill>
                <a:schemeClr val="lt1"/>
              </a:solidFill>
              <a:latin typeface="Arial"/>
              <a:ea typeface="Arial"/>
              <a:cs typeface="Arial"/>
              <a:sym typeface="Arial"/>
            </a:endParaRPr>
          </a:p>
        </p:txBody>
      </p:sp>
      <p:sp>
        <p:nvSpPr>
          <p:cNvPr id="738" name="Google Shape;738;p35"/>
          <p:cNvSpPr/>
          <p:nvPr/>
        </p:nvSpPr>
        <p:spPr>
          <a:xfrm>
            <a:off x="636300" y="1215888"/>
            <a:ext cx="7898100" cy="1427531"/>
          </a:xfrm>
          <a:prstGeom prst="rect">
            <a:avLst/>
          </a:prstGeom>
          <a:solidFill>
            <a:srgbClr val="66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Discovery Approach:</a:t>
            </a:r>
            <a:endParaRPr b="1" sz="1800">
              <a:solidFill>
                <a:srgbClr val="000000"/>
              </a:solidFill>
              <a:latin typeface="Arial"/>
              <a:ea typeface="Arial"/>
              <a:cs typeface="Arial"/>
              <a:sym typeface="Arial"/>
            </a:endParaRPr>
          </a:p>
          <a:p>
            <a:pPr indent="-360000" lvl="1"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Energy Source?</a:t>
            </a:r>
            <a:endParaRPr/>
          </a:p>
          <a:p>
            <a:pPr indent="-360000" lvl="1"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Triggering Event?</a:t>
            </a:r>
            <a:endParaRPr/>
          </a:p>
          <a:p>
            <a:pPr indent="-360000" lvl="1"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Line-of-Fire?</a:t>
            </a:r>
            <a:endParaRPr/>
          </a:p>
          <a:p>
            <a:pPr indent="-360000" lvl="1"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No Safeguard?</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sz="1800">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p:txBody>
      </p:sp>
      <p:sp>
        <p:nvSpPr>
          <p:cNvPr id="739" name="Google Shape;739;p3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t/>
            </a:r>
            <a:endParaRPr b="0" sz="1800">
              <a:solidFill>
                <a:srgbClr val="000000"/>
              </a:solidFill>
              <a:latin typeface="Arial"/>
              <a:ea typeface="Arial"/>
              <a:cs typeface="Arial"/>
              <a:sym typeface="Arial"/>
            </a:endParaRPr>
          </a:p>
          <a:p>
            <a:pPr indent="-317700" lvl="0" marL="432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p:txBody>
      </p:sp>
      <p:sp>
        <p:nvSpPr>
          <p:cNvPr id="740" name="Google Shape;740;p35"/>
          <p:cNvSpPr/>
          <p:nvPr/>
        </p:nvSpPr>
        <p:spPr>
          <a:xfrm>
            <a:off x="180000" y="216000"/>
            <a:ext cx="8640000" cy="504000"/>
          </a:xfrm>
          <a:prstGeom prst="rect">
            <a:avLst/>
          </a:prstGeom>
          <a:solidFill>
            <a:schemeClr val="dk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lang="en-US" sz="2400">
                <a:solidFill>
                  <a:schemeClr val="lt1"/>
                </a:solidFill>
                <a:latin typeface="Arial"/>
                <a:ea typeface="Arial"/>
                <a:cs typeface="Arial"/>
                <a:sym typeface="Arial"/>
              </a:rPr>
              <a:t>Example: Apply the Discovery Approach in an RCA:</a:t>
            </a:r>
            <a:endParaRPr b="0" sz="2400">
              <a:solidFill>
                <a:schemeClr val="lt1"/>
              </a:solidFill>
              <a:latin typeface="Arial"/>
              <a:ea typeface="Arial"/>
              <a:cs typeface="Arial"/>
              <a:sym typeface="Arial"/>
            </a:endParaRPr>
          </a:p>
        </p:txBody>
      </p:sp>
      <p:sp>
        <p:nvSpPr>
          <p:cNvPr id="741" name="Google Shape;741;p3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742" name="Google Shape;742;p3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grpSp>
        <p:nvGrpSpPr>
          <p:cNvPr id="743" name="Google Shape;743;p35"/>
          <p:cNvGrpSpPr/>
          <p:nvPr/>
        </p:nvGrpSpPr>
        <p:grpSpPr>
          <a:xfrm>
            <a:off x="4355400" y="1295400"/>
            <a:ext cx="3188400" cy="1295400"/>
            <a:chOff x="4355400" y="1295400"/>
            <a:chExt cx="3188400" cy="1295400"/>
          </a:xfrm>
        </p:grpSpPr>
        <p:pic>
          <p:nvPicPr>
            <p:cNvPr id="744" name="Google Shape;744;p35"/>
            <p:cNvPicPr preferRelativeResize="0"/>
            <p:nvPr/>
          </p:nvPicPr>
          <p:blipFill rotWithShape="1">
            <a:blip r:embed="rId3">
              <a:alphaModFix/>
            </a:blip>
            <a:srcRect b="0" l="0" r="0" t="0"/>
            <a:stretch/>
          </p:blipFill>
          <p:spPr>
            <a:xfrm>
              <a:off x="4355400" y="1295400"/>
              <a:ext cx="1615596" cy="1295400"/>
            </a:xfrm>
            <a:prstGeom prst="rect">
              <a:avLst/>
            </a:prstGeom>
            <a:solidFill>
              <a:schemeClr val="lt1"/>
            </a:solidFill>
            <a:ln cap="flat" cmpd="sng" w="9525">
              <a:solidFill>
                <a:schemeClr val="dk1"/>
              </a:solidFill>
              <a:prstDash val="solid"/>
              <a:round/>
              <a:headEnd len="sm" w="sm" type="none"/>
              <a:tailEnd len="sm" w="sm" type="none"/>
            </a:ln>
          </p:spPr>
        </p:pic>
        <p:pic>
          <p:nvPicPr>
            <p:cNvPr descr="BD06711_[1]" id="745" name="Google Shape;745;p35"/>
            <p:cNvPicPr preferRelativeResize="0"/>
            <p:nvPr/>
          </p:nvPicPr>
          <p:blipFill rotWithShape="1">
            <a:blip r:embed="rId4">
              <a:alphaModFix/>
            </a:blip>
            <a:srcRect b="0" l="0" r="0" t="0"/>
            <a:stretch/>
          </p:blipFill>
          <p:spPr>
            <a:xfrm>
              <a:off x="6062844" y="1295400"/>
              <a:ext cx="1480956" cy="1295400"/>
            </a:xfrm>
            <a:prstGeom prst="rect">
              <a:avLst/>
            </a:prstGeom>
            <a:solidFill>
              <a:schemeClr val="lt1"/>
            </a:solidFill>
            <a:ln cap="flat" cmpd="sng" w="9525">
              <a:solidFill>
                <a:schemeClr val="dk1"/>
              </a:solidFill>
              <a:prstDash val="solid"/>
              <a:round/>
              <a:headEnd len="sm" w="sm" type="none"/>
              <a:tailEnd len="sm" w="sm" type="none"/>
            </a:ln>
          </p:spPr>
        </p:pic>
      </p:grpSp>
      <p:sp>
        <p:nvSpPr>
          <p:cNvPr id="746" name="Google Shape;746;p35"/>
          <p:cNvSpPr txBox="1"/>
          <p:nvPr/>
        </p:nvSpPr>
        <p:spPr>
          <a:xfrm>
            <a:off x="180000" y="5587425"/>
            <a:ext cx="1725000"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Energy Source: </a:t>
            </a:r>
            <a:br>
              <a:rPr b="1" i="1" lang="en-US" sz="1600">
                <a:solidFill>
                  <a:schemeClr val="dk1"/>
                </a:solidFill>
                <a:latin typeface="Arial"/>
                <a:ea typeface="Arial"/>
                <a:cs typeface="Arial"/>
                <a:sym typeface="Arial"/>
              </a:rPr>
            </a:br>
            <a:r>
              <a:rPr b="1" i="1" lang="en-US" sz="1600">
                <a:solidFill>
                  <a:schemeClr val="dk1"/>
                </a:solidFill>
                <a:latin typeface="Arial"/>
                <a:ea typeface="Arial"/>
                <a:cs typeface="Arial"/>
                <a:sym typeface="Arial"/>
              </a:rPr>
              <a:t>?</a:t>
            </a:r>
            <a:endParaRPr b="1" i="1" sz="1600">
              <a:solidFill>
                <a:schemeClr val="dk1"/>
              </a:solidFill>
              <a:latin typeface="Arial"/>
              <a:ea typeface="Arial"/>
              <a:cs typeface="Arial"/>
              <a:sym typeface="Arial"/>
            </a:endParaRPr>
          </a:p>
        </p:txBody>
      </p:sp>
      <p:sp>
        <p:nvSpPr>
          <p:cNvPr id="747" name="Google Shape;747;p35"/>
          <p:cNvSpPr txBox="1"/>
          <p:nvPr/>
        </p:nvSpPr>
        <p:spPr>
          <a:xfrm>
            <a:off x="2057400" y="5587425"/>
            <a:ext cx="2302200"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Triggering Event: </a:t>
            </a:r>
            <a:br>
              <a:rPr b="1" i="1" lang="en-US" sz="1600">
                <a:solidFill>
                  <a:schemeClr val="dk1"/>
                </a:solidFill>
                <a:latin typeface="Arial"/>
                <a:ea typeface="Arial"/>
                <a:cs typeface="Arial"/>
                <a:sym typeface="Arial"/>
              </a:rPr>
            </a:br>
            <a:r>
              <a:rPr b="1" i="1" lang="en-US" sz="1600">
                <a:solidFill>
                  <a:schemeClr val="dk1"/>
                </a:solidFill>
                <a:latin typeface="Arial"/>
                <a:ea typeface="Arial"/>
                <a:cs typeface="Arial"/>
                <a:sym typeface="Arial"/>
              </a:rPr>
              <a:t>?</a:t>
            </a:r>
            <a:endParaRPr/>
          </a:p>
        </p:txBody>
      </p:sp>
      <p:sp>
        <p:nvSpPr>
          <p:cNvPr id="748" name="Google Shape;748;p35"/>
          <p:cNvSpPr txBox="1"/>
          <p:nvPr/>
        </p:nvSpPr>
        <p:spPr>
          <a:xfrm>
            <a:off x="4495800" y="5587424"/>
            <a:ext cx="2134848"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Line-of-Fire:</a:t>
            </a:r>
            <a:endParaRPr/>
          </a:p>
          <a:p>
            <a:pPr indent="0" lvl="0" marL="0" marR="0" rtl="0" algn="ctr">
              <a:spcBef>
                <a:spcPts val="0"/>
              </a:spcBef>
              <a:spcAft>
                <a:spcPts val="0"/>
              </a:spcAft>
              <a:buNone/>
            </a:pPr>
            <a:r>
              <a:rPr b="1" i="1" lang="en-US" sz="1600">
                <a:solidFill>
                  <a:schemeClr val="dk1"/>
                </a:solidFill>
                <a:latin typeface="Arial"/>
                <a:ea typeface="Arial"/>
                <a:cs typeface="Arial"/>
                <a:sym typeface="Arial"/>
              </a:rPr>
              <a:t>?</a:t>
            </a:r>
            <a:endParaRPr b="1" i="1" sz="1600">
              <a:solidFill>
                <a:schemeClr val="dk1"/>
              </a:solidFill>
              <a:latin typeface="Arial"/>
              <a:ea typeface="Arial"/>
              <a:cs typeface="Arial"/>
              <a:sym typeface="Arial"/>
            </a:endParaRPr>
          </a:p>
        </p:txBody>
      </p:sp>
      <p:sp>
        <p:nvSpPr>
          <p:cNvPr id="749" name="Google Shape;749;p35"/>
          <p:cNvSpPr txBox="1"/>
          <p:nvPr/>
        </p:nvSpPr>
        <p:spPr>
          <a:xfrm>
            <a:off x="6740652" y="5584376"/>
            <a:ext cx="2231748"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No Safeguard:</a:t>
            </a:r>
            <a:endParaRPr/>
          </a:p>
          <a:p>
            <a:pPr indent="0" lvl="0" marL="0" marR="0" rtl="0" algn="ctr">
              <a:spcBef>
                <a:spcPts val="0"/>
              </a:spcBef>
              <a:spcAft>
                <a:spcPts val="0"/>
              </a:spcAft>
              <a:buNone/>
            </a:pPr>
            <a:r>
              <a:rPr b="1" i="1" lang="en-US" sz="1600">
                <a:solidFill>
                  <a:schemeClr val="dk1"/>
                </a:solidFill>
                <a:latin typeface="Arial"/>
                <a:ea typeface="Arial"/>
                <a:cs typeface="Arial"/>
                <a:sym typeface="Arial"/>
              </a:rPr>
              <a:t>?</a:t>
            </a:r>
            <a:endParaRPr b="1" i="1" sz="1600">
              <a:solidFill>
                <a:schemeClr val="dk1"/>
              </a:solidFill>
              <a:latin typeface="Arial"/>
              <a:ea typeface="Arial"/>
              <a:cs typeface="Arial"/>
              <a:sym typeface="Arial"/>
            </a:endParaRPr>
          </a:p>
        </p:txBody>
      </p:sp>
      <p:sp>
        <p:nvSpPr>
          <p:cNvPr id="750" name="Google Shape;750;p35"/>
          <p:cNvSpPr txBox="1"/>
          <p:nvPr/>
        </p:nvSpPr>
        <p:spPr>
          <a:xfrm>
            <a:off x="2057400" y="2971798"/>
            <a:ext cx="4599444" cy="646333"/>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The slope slid, debris fell on equipment, injuring one worker &amp; damaging equipment</a:t>
            </a:r>
            <a:endParaRPr/>
          </a:p>
        </p:txBody>
      </p:sp>
      <p:sp>
        <p:nvSpPr>
          <p:cNvPr id="751" name="Google Shape;751;p35"/>
          <p:cNvSpPr txBox="1"/>
          <p:nvPr/>
        </p:nvSpPr>
        <p:spPr>
          <a:xfrm>
            <a:off x="180000" y="4916268"/>
            <a:ext cx="1725000"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752" name="Google Shape;752;p35"/>
          <p:cNvSpPr txBox="1"/>
          <p:nvPr/>
        </p:nvSpPr>
        <p:spPr>
          <a:xfrm>
            <a:off x="2057400" y="4916269"/>
            <a:ext cx="2302200"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753" name="Google Shape;753;p35"/>
          <p:cNvSpPr txBox="1"/>
          <p:nvPr/>
        </p:nvSpPr>
        <p:spPr>
          <a:xfrm>
            <a:off x="4521996" y="4916268"/>
            <a:ext cx="2134848"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754" name="Google Shape;754;p35"/>
          <p:cNvSpPr/>
          <p:nvPr/>
        </p:nvSpPr>
        <p:spPr>
          <a:xfrm rot="-5400000">
            <a:off x="4158000" y="3868200"/>
            <a:ext cx="396000" cy="432000"/>
          </a:xfrm>
          <a:prstGeom prst="flowChartDelay">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cxnSp>
        <p:nvCxnSpPr>
          <p:cNvPr id="755" name="Google Shape;755;p35"/>
          <p:cNvCxnSpPr>
            <a:stCxn id="750" idx="2"/>
            <a:endCxn id="754" idx="3"/>
          </p:cNvCxnSpPr>
          <p:nvPr/>
        </p:nvCxnSpPr>
        <p:spPr>
          <a:xfrm rot="5400000">
            <a:off x="4222422" y="3751631"/>
            <a:ext cx="268200" cy="1200"/>
          </a:xfrm>
          <a:prstGeom prst="bentConnector3">
            <a:avLst>
              <a:gd fmla="val 49975" name="adj1"/>
            </a:avLst>
          </a:prstGeom>
          <a:noFill/>
          <a:ln cap="flat" cmpd="sng" w="38100">
            <a:solidFill>
              <a:schemeClr val="dk1"/>
            </a:solidFill>
            <a:prstDash val="solid"/>
            <a:round/>
            <a:headEnd len="sm" w="sm" type="none"/>
            <a:tailEnd len="med" w="med" type="triangle"/>
          </a:ln>
        </p:spPr>
      </p:cxnSp>
      <p:cxnSp>
        <p:nvCxnSpPr>
          <p:cNvPr id="756" name="Google Shape;756;p35"/>
          <p:cNvCxnSpPr>
            <a:stCxn id="754" idx="1"/>
            <a:endCxn id="753" idx="0"/>
          </p:cNvCxnSpPr>
          <p:nvPr/>
        </p:nvCxnSpPr>
        <p:spPr>
          <a:xfrm flipH="1" rot="-5400000">
            <a:off x="4655550" y="3982650"/>
            <a:ext cx="634200" cy="1233300"/>
          </a:xfrm>
          <a:prstGeom prst="bentConnector3">
            <a:avLst>
              <a:gd fmla="val 49990" name="adj1"/>
            </a:avLst>
          </a:prstGeom>
          <a:noFill/>
          <a:ln cap="flat" cmpd="sng" w="38100">
            <a:solidFill>
              <a:schemeClr val="dk1"/>
            </a:solidFill>
            <a:prstDash val="solid"/>
            <a:round/>
            <a:headEnd len="sm" w="sm" type="none"/>
            <a:tailEnd len="med" w="med" type="triangle"/>
          </a:ln>
        </p:spPr>
      </p:cxnSp>
      <p:cxnSp>
        <p:nvCxnSpPr>
          <p:cNvPr id="757" name="Google Shape;757;p35"/>
          <p:cNvCxnSpPr>
            <a:stCxn id="754" idx="1"/>
            <a:endCxn id="752" idx="0"/>
          </p:cNvCxnSpPr>
          <p:nvPr/>
        </p:nvCxnSpPr>
        <p:spPr>
          <a:xfrm rot="5400000">
            <a:off x="3465150" y="4025550"/>
            <a:ext cx="634200" cy="1147500"/>
          </a:xfrm>
          <a:prstGeom prst="bentConnector3">
            <a:avLst>
              <a:gd fmla="val 49990" name="adj1"/>
            </a:avLst>
          </a:prstGeom>
          <a:noFill/>
          <a:ln cap="flat" cmpd="sng" w="38100">
            <a:solidFill>
              <a:schemeClr val="dk1"/>
            </a:solidFill>
            <a:prstDash val="solid"/>
            <a:round/>
            <a:headEnd len="sm" w="sm" type="none"/>
            <a:tailEnd len="med" w="med" type="triangle"/>
          </a:ln>
        </p:spPr>
      </p:cxnSp>
      <p:cxnSp>
        <p:nvCxnSpPr>
          <p:cNvPr id="758" name="Google Shape;758;p35"/>
          <p:cNvCxnSpPr>
            <a:stCxn id="754" idx="1"/>
            <a:endCxn id="751" idx="0"/>
          </p:cNvCxnSpPr>
          <p:nvPr/>
        </p:nvCxnSpPr>
        <p:spPr>
          <a:xfrm rot="5400000">
            <a:off x="2382150" y="2942550"/>
            <a:ext cx="634200" cy="3313500"/>
          </a:xfrm>
          <a:prstGeom prst="bentConnector3">
            <a:avLst>
              <a:gd fmla="val 49990" name="adj1"/>
            </a:avLst>
          </a:prstGeom>
          <a:noFill/>
          <a:ln cap="flat" cmpd="sng" w="38100">
            <a:solidFill>
              <a:schemeClr val="dk1"/>
            </a:solidFill>
            <a:prstDash val="solid"/>
            <a:round/>
            <a:headEnd len="sm" w="sm" type="none"/>
            <a:tailEnd len="med" w="med" type="triangle"/>
          </a:ln>
        </p:spPr>
      </p:cxnSp>
      <p:sp>
        <p:nvSpPr>
          <p:cNvPr id="759" name="Google Shape;759;p35"/>
          <p:cNvSpPr txBox="1"/>
          <p:nvPr/>
        </p:nvSpPr>
        <p:spPr>
          <a:xfrm>
            <a:off x="6766848" y="4913220"/>
            <a:ext cx="2231748"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cxnSp>
        <p:nvCxnSpPr>
          <p:cNvPr id="760" name="Google Shape;760;p35"/>
          <p:cNvCxnSpPr>
            <a:stCxn id="754" idx="1"/>
            <a:endCxn id="759" idx="0"/>
          </p:cNvCxnSpPr>
          <p:nvPr/>
        </p:nvCxnSpPr>
        <p:spPr>
          <a:xfrm flipH="1" rot="-5400000">
            <a:off x="5803950" y="2834250"/>
            <a:ext cx="630900" cy="3526800"/>
          </a:xfrm>
          <a:prstGeom prst="bentConnector3">
            <a:avLst>
              <a:gd fmla="val 50010" name="adj1"/>
            </a:avLst>
          </a:prstGeom>
          <a:noFill/>
          <a:ln cap="flat" cmpd="sng" w="38100">
            <a:solidFill>
              <a:schemeClr val="dk1"/>
            </a:solidFill>
            <a:prstDash val="solid"/>
            <a:round/>
            <a:headEnd len="sm" w="sm" type="none"/>
            <a:tailEnd len="med" w="med" type="triangle"/>
          </a:ln>
        </p:spPr>
      </p:cxn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6"/>
          <p:cNvSpPr/>
          <p:nvPr/>
        </p:nvSpPr>
        <p:spPr>
          <a:xfrm>
            <a:off x="180000" y="828000"/>
            <a:ext cx="8640000" cy="146959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chemeClr val="lt1"/>
                </a:solidFill>
                <a:latin typeface="Arial"/>
                <a:ea typeface="Arial"/>
                <a:cs typeface="Arial"/>
                <a:sym typeface="Arial"/>
              </a:rPr>
              <a:t>The example shown here is but one of many ways to start constructing the RCA chart based on the summarized incident description. As you progress through the RCA chart by “asking why”, the logical order of these causes may be changed in order to make each of the developing roots in the chart flow logically and smoothly.</a:t>
            </a:r>
            <a:endParaRPr/>
          </a:p>
          <a:p>
            <a:pPr indent="-495300" lvl="0" marL="609600" marR="0" rtl="0" algn="l">
              <a:lnSpc>
                <a:spcPct val="90000"/>
              </a:lnSpc>
              <a:spcBef>
                <a:spcPts val="0"/>
              </a:spcBef>
              <a:spcAft>
                <a:spcPts val="0"/>
              </a:spcAft>
              <a:buClr>
                <a:srgbClr val="000000"/>
              </a:buClr>
              <a:buSzPts val="1800"/>
              <a:buFont typeface="Noto Sans Symbols"/>
              <a:buNone/>
            </a:pPr>
            <a:r>
              <a:t/>
            </a:r>
            <a:endParaRPr b="0" sz="1800">
              <a:solidFill>
                <a:schemeClr val="lt1"/>
              </a:solidFill>
              <a:latin typeface="Arial"/>
              <a:ea typeface="Arial"/>
              <a:cs typeface="Arial"/>
              <a:sym typeface="Arial"/>
            </a:endParaRPr>
          </a:p>
          <a:p>
            <a:pPr indent="-317700" lvl="0" marL="432000" marR="0" rtl="0" algn="l">
              <a:lnSpc>
                <a:spcPct val="90000"/>
              </a:lnSpc>
              <a:spcBef>
                <a:spcPts val="0"/>
              </a:spcBef>
              <a:spcAft>
                <a:spcPts val="0"/>
              </a:spcAft>
              <a:buClr>
                <a:srgbClr val="000000"/>
              </a:buClr>
              <a:buSzPts val="1800"/>
              <a:buFont typeface="Noto Sans Symbols"/>
              <a:buNone/>
            </a:pPr>
            <a:r>
              <a:t/>
            </a:r>
            <a:endParaRPr b="0" sz="1800">
              <a:solidFill>
                <a:schemeClr val="lt1"/>
              </a:solidFill>
              <a:latin typeface="Arial"/>
              <a:ea typeface="Arial"/>
              <a:cs typeface="Arial"/>
              <a:sym typeface="Arial"/>
            </a:endParaRPr>
          </a:p>
        </p:txBody>
      </p:sp>
      <p:sp>
        <p:nvSpPr>
          <p:cNvPr id="767" name="Google Shape;767;p36"/>
          <p:cNvSpPr/>
          <p:nvPr/>
        </p:nvSpPr>
        <p:spPr>
          <a:xfrm>
            <a:off x="180000" y="216000"/>
            <a:ext cx="8640000" cy="504000"/>
          </a:xfrm>
          <a:prstGeom prst="rect">
            <a:avLst/>
          </a:prstGeom>
          <a:solidFill>
            <a:schemeClr val="dk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lang="en-US" sz="2400">
                <a:solidFill>
                  <a:schemeClr val="lt1"/>
                </a:solidFill>
                <a:latin typeface="Arial"/>
                <a:ea typeface="Arial"/>
                <a:cs typeface="Arial"/>
                <a:sym typeface="Arial"/>
              </a:rPr>
              <a:t>Example: Apply the Discovery Approach in an RCA:</a:t>
            </a:r>
            <a:endParaRPr b="0" sz="2400">
              <a:solidFill>
                <a:schemeClr val="lt1"/>
              </a:solidFill>
              <a:latin typeface="Arial"/>
              <a:ea typeface="Arial"/>
              <a:cs typeface="Arial"/>
              <a:sym typeface="Arial"/>
            </a:endParaRPr>
          </a:p>
        </p:txBody>
      </p:sp>
      <p:sp>
        <p:nvSpPr>
          <p:cNvPr id="768" name="Google Shape;768;p3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769" name="Google Shape;769;p3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
        <p:nvSpPr>
          <p:cNvPr id="770" name="Google Shape;770;p36"/>
          <p:cNvSpPr txBox="1"/>
          <p:nvPr/>
        </p:nvSpPr>
        <p:spPr>
          <a:xfrm>
            <a:off x="180000" y="5587425"/>
            <a:ext cx="1725000"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Energy Source: </a:t>
            </a:r>
            <a:br>
              <a:rPr b="1" i="1" lang="en-US" sz="1600">
                <a:solidFill>
                  <a:schemeClr val="dk1"/>
                </a:solidFill>
                <a:latin typeface="Arial"/>
                <a:ea typeface="Arial"/>
                <a:cs typeface="Arial"/>
                <a:sym typeface="Arial"/>
              </a:rPr>
            </a:br>
            <a:r>
              <a:rPr b="1" i="1" lang="en-US" sz="1600">
                <a:solidFill>
                  <a:schemeClr val="dk1"/>
                </a:solidFill>
                <a:latin typeface="Arial"/>
                <a:ea typeface="Arial"/>
                <a:cs typeface="Arial"/>
                <a:sym typeface="Arial"/>
              </a:rPr>
              <a:t>gravity</a:t>
            </a:r>
            <a:endParaRPr b="1" i="1" sz="1600">
              <a:solidFill>
                <a:schemeClr val="dk1"/>
              </a:solidFill>
              <a:latin typeface="Arial"/>
              <a:ea typeface="Arial"/>
              <a:cs typeface="Arial"/>
              <a:sym typeface="Arial"/>
            </a:endParaRPr>
          </a:p>
        </p:txBody>
      </p:sp>
      <p:sp>
        <p:nvSpPr>
          <p:cNvPr id="771" name="Google Shape;771;p36"/>
          <p:cNvSpPr txBox="1"/>
          <p:nvPr/>
        </p:nvSpPr>
        <p:spPr>
          <a:xfrm>
            <a:off x="2057400" y="5587425"/>
            <a:ext cx="2302200"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Triggering Event: </a:t>
            </a:r>
            <a:br>
              <a:rPr b="1" i="1" lang="en-US" sz="1600">
                <a:solidFill>
                  <a:schemeClr val="dk1"/>
                </a:solidFill>
                <a:latin typeface="Arial"/>
                <a:ea typeface="Arial"/>
                <a:cs typeface="Arial"/>
                <a:sym typeface="Arial"/>
              </a:rPr>
            </a:br>
            <a:r>
              <a:rPr b="1" i="1" lang="en-US" sz="1600">
                <a:solidFill>
                  <a:schemeClr val="dk1"/>
                </a:solidFill>
                <a:latin typeface="Arial"/>
                <a:ea typeface="Arial"/>
                <a:cs typeface="Arial"/>
                <a:sym typeface="Arial"/>
              </a:rPr>
              <a:t>instability</a:t>
            </a:r>
            <a:endParaRPr/>
          </a:p>
        </p:txBody>
      </p:sp>
      <p:sp>
        <p:nvSpPr>
          <p:cNvPr id="772" name="Google Shape;772;p36"/>
          <p:cNvSpPr txBox="1"/>
          <p:nvPr/>
        </p:nvSpPr>
        <p:spPr>
          <a:xfrm>
            <a:off x="4495800" y="5587424"/>
            <a:ext cx="2134848"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Line-of-Fire:</a:t>
            </a:r>
            <a:endParaRPr/>
          </a:p>
          <a:p>
            <a:pPr indent="0" lvl="0" marL="0" marR="0" rtl="0" algn="ctr">
              <a:spcBef>
                <a:spcPts val="0"/>
              </a:spcBef>
              <a:spcAft>
                <a:spcPts val="0"/>
              </a:spcAft>
              <a:buNone/>
            </a:pPr>
            <a:r>
              <a:rPr b="1" i="1" lang="en-US" sz="1600">
                <a:solidFill>
                  <a:schemeClr val="dk1"/>
                </a:solidFill>
                <a:latin typeface="Arial"/>
                <a:ea typeface="Arial"/>
                <a:cs typeface="Arial"/>
                <a:sym typeface="Arial"/>
              </a:rPr>
              <a:t>people &amp; equipment</a:t>
            </a:r>
            <a:endParaRPr b="1" i="1" sz="1600">
              <a:solidFill>
                <a:schemeClr val="dk1"/>
              </a:solidFill>
              <a:latin typeface="Arial"/>
              <a:ea typeface="Arial"/>
              <a:cs typeface="Arial"/>
              <a:sym typeface="Arial"/>
            </a:endParaRPr>
          </a:p>
        </p:txBody>
      </p:sp>
      <p:sp>
        <p:nvSpPr>
          <p:cNvPr id="773" name="Google Shape;773;p36"/>
          <p:cNvSpPr txBox="1"/>
          <p:nvPr/>
        </p:nvSpPr>
        <p:spPr>
          <a:xfrm>
            <a:off x="6740652" y="5584376"/>
            <a:ext cx="2231748" cy="584775"/>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Arial"/>
                <a:ea typeface="Arial"/>
                <a:cs typeface="Arial"/>
                <a:sym typeface="Arial"/>
              </a:rPr>
              <a:t>No Safeguard:</a:t>
            </a:r>
            <a:endParaRPr/>
          </a:p>
          <a:p>
            <a:pPr indent="0" lvl="0" marL="0" marR="0" rtl="0" algn="ctr">
              <a:spcBef>
                <a:spcPts val="0"/>
              </a:spcBef>
              <a:spcAft>
                <a:spcPts val="0"/>
              </a:spcAft>
              <a:buNone/>
            </a:pPr>
            <a:r>
              <a:rPr b="1" i="1" lang="en-US" sz="1600">
                <a:solidFill>
                  <a:schemeClr val="dk1"/>
                </a:solidFill>
                <a:latin typeface="Arial"/>
                <a:ea typeface="Arial"/>
                <a:cs typeface="Arial"/>
                <a:sym typeface="Arial"/>
              </a:rPr>
              <a:t>No physical barrier</a:t>
            </a:r>
            <a:endParaRPr b="1" i="1" sz="1600">
              <a:solidFill>
                <a:schemeClr val="dk1"/>
              </a:solidFill>
              <a:latin typeface="Arial"/>
              <a:ea typeface="Arial"/>
              <a:cs typeface="Arial"/>
              <a:sym typeface="Arial"/>
            </a:endParaRPr>
          </a:p>
        </p:txBody>
      </p:sp>
      <p:sp>
        <p:nvSpPr>
          <p:cNvPr id="774" name="Google Shape;774;p36"/>
          <p:cNvSpPr txBox="1"/>
          <p:nvPr/>
        </p:nvSpPr>
        <p:spPr>
          <a:xfrm>
            <a:off x="2057400" y="2971798"/>
            <a:ext cx="4599444" cy="646333"/>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The slope slid, debris fell on equipment, injuring one worker &amp; damaging equipment</a:t>
            </a:r>
            <a:endParaRPr/>
          </a:p>
        </p:txBody>
      </p:sp>
      <p:sp>
        <p:nvSpPr>
          <p:cNvPr id="775" name="Google Shape;775;p36"/>
          <p:cNvSpPr txBox="1"/>
          <p:nvPr/>
        </p:nvSpPr>
        <p:spPr>
          <a:xfrm>
            <a:off x="180000" y="4916268"/>
            <a:ext cx="1725000"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Debris fell</a:t>
            </a:r>
            <a:endParaRPr b="1" sz="1600">
              <a:solidFill>
                <a:schemeClr val="dk1"/>
              </a:solidFill>
              <a:latin typeface="Arial"/>
              <a:ea typeface="Arial"/>
              <a:cs typeface="Arial"/>
              <a:sym typeface="Arial"/>
            </a:endParaRPr>
          </a:p>
        </p:txBody>
      </p:sp>
      <p:sp>
        <p:nvSpPr>
          <p:cNvPr id="776" name="Google Shape;776;p36"/>
          <p:cNvSpPr txBox="1"/>
          <p:nvPr/>
        </p:nvSpPr>
        <p:spPr>
          <a:xfrm>
            <a:off x="2057400" y="4916269"/>
            <a:ext cx="2302200"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Slope was unstable</a:t>
            </a:r>
            <a:endParaRPr b="1" sz="1600">
              <a:solidFill>
                <a:schemeClr val="dk1"/>
              </a:solidFill>
              <a:latin typeface="Arial"/>
              <a:ea typeface="Arial"/>
              <a:cs typeface="Arial"/>
              <a:sym typeface="Arial"/>
            </a:endParaRPr>
          </a:p>
        </p:txBody>
      </p:sp>
      <p:sp>
        <p:nvSpPr>
          <p:cNvPr id="777" name="Google Shape;777;p36"/>
          <p:cNvSpPr txBox="1"/>
          <p:nvPr/>
        </p:nvSpPr>
        <p:spPr>
          <a:xfrm>
            <a:off x="4495800" y="4916268"/>
            <a:ext cx="2134848"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 and People in the area</a:t>
            </a:r>
            <a:endParaRPr b="1" sz="1600">
              <a:solidFill>
                <a:schemeClr val="dk1"/>
              </a:solidFill>
              <a:latin typeface="Arial"/>
              <a:ea typeface="Arial"/>
              <a:cs typeface="Arial"/>
              <a:sym typeface="Arial"/>
            </a:endParaRPr>
          </a:p>
        </p:txBody>
      </p:sp>
      <p:sp>
        <p:nvSpPr>
          <p:cNvPr id="778" name="Google Shape;778;p36"/>
          <p:cNvSpPr/>
          <p:nvPr/>
        </p:nvSpPr>
        <p:spPr>
          <a:xfrm rot="-5400000">
            <a:off x="4158000" y="3868200"/>
            <a:ext cx="396000" cy="432000"/>
          </a:xfrm>
          <a:prstGeom prst="flowChartDelay">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cxnSp>
        <p:nvCxnSpPr>
          <p:cNvPr id="779" name="Google Shape;779;p36"/>
          <p:cNvCxnSpPr>
            <a:stCxn id="774" idx="2"/>
            <a:endCxn id="778" idx="3"/>
          </p:cNvCxnSpPr>
          <p:nvPr/>
        </p:nvCxnSpPr>
        <p:spPr>
          <a:xfrm rot="5400000">
            <a:off x="4222422" y="3751631"/>
            <a:ext cx="268200" cy="1200"/>
          </a:xfrm>
          <a:prstGeom prst="bentConnector3">
            <a:avLst>
              <a:gd fmla="val 49975" name="adj1"/>
            </a:avLst>
          </a:prstGeom>
          <a:noFill/>
          <a:ln cap="flat" cmpd="sng" w="38100">
            <a:solidFill>
              <a:schemeClr val="dk1"/>
            </a:solidFill>
            <a:prstDash val="solid"/>
            <a:round/>
            <a:headEnd len="sm" w="sm" type="none"/>
            <a:tailEnd len="med" w="med" type="triangle"/>
          </a:ln>
        </p:spPr>
      </p:cxnSp>
      <p:cxnSp>
        <p:nvCxnSpPr>
          <p:cNvPr id="780" name="Google Shape;780;p36"/>
          <p:cNvCxnSpPr>
            <a:stCxn id="778" idx="1"/>
            <a:endCxn id="777" idx="0"/>
          </p:cNvCxnSpPr>
          <p:nvPr/>
        </p:nvCxnSpPr>
        <p:spPr>
          <a:xfrm flipH="1" rot="-5400000">
            <a:off x="4642500" y="3995700"/>
            <a:ext cx="634200" cy="1207200"/>
          </a:xfrm>
          <a:prstGeom prst="bentConnector3">
            <a:avLst>
              <a:gd fmla="val 49990" name="adj1"/>
            </a:avLst>
          </a:prstGeom>
          <a:noFill/>
          <a:ln cap="flat" cmpd="sng" w="38100">
            <a:solidFill>
              <a:schemeClr val="dk1"/>
            </a:solidFill>
            <a:prstDash val="solid"/>
            <a:round/>
            <a:headEnd len="sm" w="sm" type="none"/>
            <a:tailEnd len="med" w="med" type="triangle"/>
          </a:ln>
        </p:spPr>
      </p:cxnSp>
      <p:cxnSp>
        <p:nvCxnSpPr>
          <p:cNvPr id="781" name="Google Shape;781;p36"/>
          <p:cNvCxnSpPr>
            <a:stCxn id="778" idx="1"/>
            <a:endCxn id="776" idx="0"/>
          </p:cNvCxnSpPr>
          <p:nvPr/>
        </p:nvCxnSpPr>
        <p:spPr>
          <a:xfrm rot="5400000">
            <a:off x="3465150" y="4025550"/>
            <a:ext cx="634200" cy="1147500"/>
          </a:xfrm>
          <a:prstGeom prst="bentConnector3">
            <a:avLst>
              <a:gd fmla="val 49990" name="adj1"/>
            </a:avLst>
          </a:prstGeom>
          <a:noFill/>
          <a:ln cap="flat" cmpd="sng" w="38100">
            <a:solidFill>
              <a:schemeClr val="dk1"/>
            </a:solidFill>
            <a:prstDash val="solid"/>
            <a:round/>
            <a:headEnd len="sm" w="sm" type="none"/>
            <a:tailEnd len="med" w="med" type="triangle"/>
          </a:ln>
        </p:spPr>
      </p:cxnSp>
      <p:cxnSp>
        <p:nvCxnSpPr>
          <p:cNvPr id="782" name="Google Shape;782;p36"/>
          <p:cNvCxnSpPr>
            <a:stCxn id="778" idx="1"/>
            <a:endCxn id="775" idx="0"/>
          </p:cNvCxnSpPr>
          <p:nvPr/>
        </p:nvCxnSpPr>
        <p:spPr>
          <a:xfrm rot="5400000">
            <a:off x="2382150" y="2942550"/>
            <a:ext cx="634200" cy="3313500"/>
          </a:xfrm>
          <a:prstGeom prst="bentConnector3">
            <a:avLst>
              <a:gd fmla="val 49990" name="adj1"/>
            </a:avLst>
          </a:prstGeom>
          <a:noFill/>
          <a:ln cap="flat" cmpd="sng" w="38100">
            <a:solidFill>
              <a:schemeClr val="dk1"/>
            </a:solidFill>
            <a:prstDash val="solid"/>
            <a:round/>
            <a:headEnd len="sm" w="sm" type="none"/>
            <a:tailEnd len="med" w="med" type="triangle"/>
          </a:ln>
        </p:spPr>
      </p:cxnSp>
      <p:sp>
        <p:nvSpPr>
          <p:cNvPr id="783" name="Google Shape;783;p36"/>
          <p:cNvSpPr txBox="1"/>
          <p:nvPr/>
        </p:nvSpPr>
        <p:spPr>
          <a:xfrm>
            <a:off x="6740652" y="4913220"/>
            <a:ext cx="2231748" cy="646331"/>
          </a:xfrm>
          <a:prstGeom prst="rect">
            <a:avLst/>
          </a:prstGeom>
          <a:noFill/>
          <a:ln cap="flat" cmpd="sng" w="9525">
            <a:solidFill>
              <a:schemeClr val="dk1"/>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Exclusion zone not marked</a:t>
            </a:r>
            <a:endParaRPr b="1" sz="1600">
              <a:solidFill>
                <a:schemeClr val="dk1"/>
              </a:solidFill>
              <a:latin typeface="Arial"/>
              <a:ea typeface="Arial"/>
              <a:cs typeface="Arial"/>
              <a:sym typeface="Arial"/>
            </a:endParaRPr>
          </a:p>
        </p:txBody>
      </p:sp>
      <p:cxnSp>
        <p:nvCxnSpPr>
          <p:cNvPr id="784" name="Google Shape;784;p36"/>
          <p:cNvCxnSpPr>
            <a:stCxn id="778" idx="1"/>
            <a:endCxn id="783" idx="0"/>
          </p:cNvCxnSpPr>
          <p:nvPr/>
        </p:nvCxnSpPr>
        <p:spPr>
          <a:xfrm flipH="1" rot="-5400000">
            <a:off x="5790750" y="2847450"/>
            <a:ext cx="630900" cy="3500400"/>
          </a:xfrm>
          <a:prstGeom prst="bentConnector3">
            <a:avLst>
              <a:gd fmla="val 50010" name="adj1"/>
            </a:avLst>
          </a:prstGeom>
          <a:noFill/>
          <a:ln cap="flat" cmpd="sng" w="38100">
            <a:solidFill>
              <a:schemeClr val="dk1"/>
            </a:solidFill>
            <a:prstDash val="solid"/>
            <a:round/>
            <a:headEnd len="sm" w="sm" type="none"/>
            <a:tailEnd len="med" w="med" type="triangle"/>
          </a:ln>
        </p:spPr>
      </p:cxn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3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Summary:</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This topic explains the purpose and application of the Cause &amp; Effect Model, and the fundamental constructs of a Root Cause Analysis.</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Detailed Cause &amp; Effect Model is introduced as a means to understand and explain the various different categories of causes.</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RCA Work Process is introduced as a means to logically discover and arrange all of the causes leading to an incident.</a:t>
            </a:r>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RCA WP starts with the Incident Description, and proceeds through immediate causes, basic causes, and latent causes. </a:t>
            </a:r>
            <a:endParaRPr b="0" i="0" sz="2000" u="none" cap="none" strike="noStrike">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“Ask why?” can be applied throughout the RCA</a:t>
            </a:r>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Discovery Approach can be applied to start the RCA. </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Key Lessons:</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RCA work process is used to create an RCA Chart. </a:t>
            </a:r>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After the chart has been created, the Cause &amp; Effect Model is used to:</a:t>
            </a:r>
            <a:endParaRPr/>
          </a:p>
          <a:p>
            <a:pPr indent="-359999" lvl="0" marL="72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Categorize the causes in an RCA Chart, </a:t>
            </a:r>
            <a:endParaRPr/>
          </a:p>
          <a:p>
            <a:pPr indent="-359999" lvl="0" marL="72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Check the thoroughness and quality of an RCA Chart, and</a:t>
            </a:r>
            <a:endParaRPr b="0" sz="2000">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Revise the RCA Chart to make improvements on it. </a:t>
            </a:r>
            <a:endParaRPr b="0" sz="2000">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000"/>
              <a:buFont typeface="Arial"/>
              <a:buNone/>
            </a:pPr>
            <a:r>
              <a:t/>
            </a:r>
            <a:endParaRPr b="0" sz="2000">
              <a:solidFill>
                <a:srgbClr val="000000"/>
              </a:solidFill>
              <a:latin typeface="Arial"/>
              <a:ea typeface="Arial"/>
              <a:cs typeface="Arial"/>
              <a:sym typeface="Arial"/>
            </a:endParaRPr>
          </a:p>
        </p:txBody>
      </p:sp>
      <p:sp>
        <p:nvSpPr>
          <p:cNvPr id="791" name="Google Shape;791;p3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Summary and Key Lessons:</a:t>
            </a:r>
            <a:endParaRPr/>
          </a:p>
        </p:txBody>
      </p:sp>
      <p:sp>
        <p:nvSpPr>
          <p:cNvPr id="792" name="Google Shape;792;p3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793" name="Google Shape;793;p3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4.2: C&amp;E Model &amp; Chapter 4.3: RCA of an Incident</a:t>
            </a:r>
            <a:endParaRPr b="1" i="1" sz="1200">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