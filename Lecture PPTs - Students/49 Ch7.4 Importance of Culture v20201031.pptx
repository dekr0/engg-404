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9" r:id="rId1"/>
  </p:sldMasterIdLst>
  <p:notesMasterIdLst>
    <p:notesMasterId r:id="rId17"/>
  </p:notesMasterIdLst>
  <p:handoutMasterIdLst>
    <p:handoutMasterId r:id="rId18"/>
  </p:handoutMasterIdLst>
  <p:sldIdLst>
    <p:sldId id="895" r:id="rId2"/>
    <p:sldId id="880" r:id="rId3"/>
    <p:sldId id="928" r:id="rId4"/>
    <p:sldId id="927" r:id="rId5"/>
    <p:sldId id="930" r:id="rId6"/>
    <p:sldId id="931" r:id="rId7"/>
    <p:sldId id="932" r:id="rId8"/>
    <p:sldId id="933" r:id="rId9"/>
    <p:sldId id="939" r:id="rId10"/>
    <p:sldId id="929" r:id="rId11"/>
    <p:sldId id="935" r:id="rId12"/>
    <p:sldId id="937" r:id="rId13"/>
    <p:sldId id="938" r:id="rId14"/>
    <p:sldId id="936" r:id="rId15"/>
    <p:sldId id="900" r:id="rId16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08" autoAdjust="0"/>
    <p:restoredTop sz="90254" autoAdjust="0"/>
  </p:normalViewPr>
  <p:slideViewPr>
    <p:cSldViewPr snapToGrid="0">
      <p:cViewPr varScale="1">
        <p:scale>
          <a:sx n="73" d="100"/>
          <a:sy n="73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644"/>
    </p:cViewPr>
  </p:sorterViewPr>
  <p:notesViewPr>
    <p:cSldViewPr snapToGrid="0">
      <p:cViewPr varScale="1">
        <p:scale>
          <a:sx n="51" d="100"/>
          <a:sy n="51" d="100"/>
        </p:scale>
        <p:origin x="2680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r>
              <a:rPr lang="en-US" dirty="0"/>
              <a:t>2017-2018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55EAD04F-FD92-4E2B-A6C4-86A88C834C21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101AC80-9859-42E8-970F-6731D5ED4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61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91283A88-A3A2-4A9D-B781-0B5CCFB9C6EB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9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08AD1E8B-481E-4480-A349-A9B8B8C61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question challenges students to critique the tenet that “all loss incidents</a:t>
            </a:r>
            <a:r>
              <a:rPr lang="en-US" baseline="0" dirty="0"/>
              <a:t> are preventable”. The instructor will need to be on the ball to defend the tenet.  </a:t>
            </a:r>
            <a:endParaRPr lang="en-US" dirty="0"/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004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579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141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188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227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437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67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663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6169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254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815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6/20/2022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0594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47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7.4: </a:t>
            </a: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Importance of Culture &amp;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Making Everyone a Leader in Safety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“Three Tenets of Risk Management”.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“The Incident Pyramid” and the relationship between its layers, and that its set of ratios is not an absolute.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concept that performance is based on safety culture.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Infer the safety culture of an organization based on its metrics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 how everyone can be a leader in safety and risk management.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99999" y="6300000"/>
            <a:ext cx="5580001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Incidents occur, and are regularly reported in the media.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losses cannot be denied nor diminished.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+mj-lt"/>
              <a:buAutoNum type="arabicParenR" startAt="2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Incidents are a source of learning, </a:t>
            </a: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but this is a hard way to learn.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 are a tragedy, but the greater tragedy would be NOT to learn from them.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+mj-lt"/>
              <a:buAutoNum type="arabicParenR" startAt="3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incidents are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unacceptable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and all are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preventable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Our position and stature as a leader require us to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espouse this belief, and diligently work towards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all incidents.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CA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These tenets, </a:t>
            </a:r>
            <a:r>
              <a:rPr kumimoji="0" lang="en-CA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our beliefs as leaders in risk management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are the base on which we create our values and </a:t>
            </a:r>
            <a:r>
              <a:rPr kumimoji="0" lang="en-CA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we influence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culture of our organizations.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Three Tenets of Risk Management: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699999" y="6300000"/>
            <a:ext cx="5580001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Three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Tenets of Risk Management: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</a:t>
            </a:r>
            <a:r>
              <a:rPr kumimoji="0" lang="en-CA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respond (pen-to-paper,</a:t>
            </a:r>
            <a:r>
              <a:rPr kumimoji="0" lang="en-CA" sz="2000" b="0" i="1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sz="2000" b="0" i="1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Open discussion</a:t>
            </a:r>
            <a:r>
              <a:rPr kumimoji="0" lang="en-CA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):</a:t>
            </a:r>
            <a:endParaRPr kumimoji="0" lang="en-CA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Concerning the third tenet “All incidents are unacceptable and all are preventable!”, challenge the belief that “all incidents are preventable” and support with an argument using either a principle or an example.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Phrase your response either as “Some incidents cannot be prevented because …” or “Some incidents cannot be prevented such as …”.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29749880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Incident Pyramid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depicts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performance of the organization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24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Incident Pyramid, per Frank Bird, ILCI: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14" name="Picture 40">
            <a:extLst>
              <a:ext uri="{FF2B5EF4-FFF2-40B4-BE49-F238E27FC236}">
                <a16:creationId xmlns:a16="http://schemas.microsoft.com/office/drawing/2014/main" id="{7C1191ED-C2EF-4A76-B306-46D600C5A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89" y="1276971"/>
            <a:ext cx="6984821" cy="426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9B82D2-6EB3-4D70-915D-99AD46701E71}"/>
              </a:ext>
            </a:extLst>
          </p:cNvPr>
          <p:cNvCxnSpPr/>
          <p:nvPr/>
        </p:nvCxnSpPr>
        <p:spPr>
          <a:xfrm flipV="1">
            <a:off x="1079635" y="4067868"/>
            <a:ext cx="6948000" cy="0"/>
          </a:xfrm>
          <a:prstGeom prst="lin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Text Box 41">
            <a:extLst>
              <a:ext uri="{FF2B5EF4-FFF2-40B4-BE49-F238E27FC236}">
                <a16:creationId xmlns:a16="http://schemas.microsoft.com/office/drawing/2014/main" id="{EE83F4DF-D544-4CD2-9D28-93316CA9E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90" y="5545558"/>
            <a:ext cx="6948046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Bird, Frank E., and Loftus, Robert G., Loss Control Management, 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International </a:t>
            </a: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Loss Control Institute, 1976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Arial" panose="020B0604020202020204" pitchFamily="34" charset="0"/>
              </a:rPr>
              <a:t>For our purposes, use the ratios (1 : 10 : 30 : 600 : 10,000) as shown above.</a:t>
            </a:r>
          </a:p>
        </p:txBody>
      </p:sp>
      <p:sp>
        <p:nvSpPr>
          <p:cNvPr id="2" name="Up-Down Arrow 1"/>
          <p:cNvSpPr/>
          <p:nvPr/>
        </p:nvSpPr>
        <p:spPr>
          <a:xfrm>
            <a:off x="1291866" y="3562529"/>
            <a:ext cx="504282" cy="1045028"/>
          </a:xfrm>
          <a:prstGeom prst="up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791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Incidents with Consequence vs. Incidents with No Consequence: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DE18409-E0D2-4B64-B2B5-1A132A9E1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86" y="1008622"/>
            <a:ext cx="6852828" cy="496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202905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Ratios vary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widely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degree of observations and self-reporting on substandard conditions and substandard practices;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extent of reporting incidents such as near miss incidents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(close calls);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extent of reporting minor incidents;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extent of reporting major incidents.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“culture” of the company defines what is reported:</a:t>
            </a:r>
          </a:p>
          <a:p>
            <a:pPr marL="720000" lvl="0" indent="-36000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Leading organizations focus on both actual and potential consequences of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Inferior companies only report what is required by law e.g. fatalities, major fires.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Shape of the Incident Pyramid: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</p:spTree>
    <p:extLst>
      <p:ext uri="{BB962C8B-B14F-4D97-AF65-F5344CB8AC3E}">
        <p14:creationId xmlns:p14="http://schemas.microsoft.com/office/powerpoint/2010/main" val="42164669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Proactive Action versus Reactive Response: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0E116-5DC6-4513-A4A5-7026C0D6A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92" y="901957"/>
            <a:ext cx="7223816" cy="5054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052700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Notice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US" altLang="en-US" sz="2000" b="1" i="0" u="sng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underlying foundation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Incident Pyramid: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Incident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Pyramid and Safety Culture: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EE83F4DF-D544-4CD2-9D28-93316CA9E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634" y="5529235"/>
            <a:ext cx="5439554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An adaptation of Bird</a:t>
            </a: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, Frank E., and Loftus, Robert G., Loss Control Management, 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International </a:t>
            </a: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Loss Control Institute, 1976</a:t>
            </a:r>
            <a:r>
              <a:rPr lang="en-US" altLang="en-US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4685B9-556C-4577-BDC9-8CD615EF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634" y="1440807"/>
            <a:ext cx="5439554" cy="394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02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Relationship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Between Safety Culture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Performance: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</a:t>
            </a:r>
            <a:r>
              <a:rPr kumimoji="0" lang="en-CA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confer and respond (pen-to-paper; </a:t>
            </a:r>
            <a:r>
              <a:rPr kumimoji="0" lang="en-CA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open discussion):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safety culture impact safety performance? What is the direct relationship between safety culture and safety performance? Phrase your response as “Performance improves as … because …”.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685B9-556C-4577-BDC9-8CD615EF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6" y="2173810"/>
            <a:ext cx="5439554" cy="3944428"/>
          </a:xfrm>
          <a:prstGeom prst="rect">
            <a:avLst/>
          </a:prstGeom>
        </p:spPr>
      </p:pic>
      <p:sp>
        <p:nvSpPr>
          <p:cNvPr id="7" name="Left Arrow 3">
            <a:extLst>
              <a:ext uri="{FF2B5EF4-FFF2-40B4-BE49-F238E27FC236}">
                <a16:creationId xmlns:a16="http://schemas.microsoft.com/office/drawing/2014/main" id="{F6AB4237-0C97-4988-8F15-D30CC45FF284}"/>
              </a:ext>
            </a:extLst>
          </p:cNvPr>
          <p:cNvSpPr/>
          <p:nvPr/>
        </p:nvSpPr>
        <p:spPr>
          <a:xfrm>
            <a:off x="3192913" y="5482560"/>
            <a:ext cx="5314686" cy="398172"/>
          </a:xfrm>
          <a:prstGeom prst="leftArrow">
            <a:avLst>
              <a:gd name="adj1" fmla="val 100000"/>
              <a:gd name="adj2" fmla="val 75413"/>
            </a:avLst>
          </a:prstGeom>
          <a:solidFill>
            <a:srgbClr val="0033CC"/>
          </a:solidFill>
          <a:ln w="28575">
            <a:solidFill>
              <a:sysClr val="window" lastClr="FFFFFF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Relationship between safety culture &amp; performance?</a:t>
            </a:r>
          </a:p>
        </p:txBody>
      </p:sp>
    </p:spTree>
    <p:extLst>
      <p:ext uri="{BB962C8B-B14F-4D97-AF65-F5344CB8AC3E}">
        <p14:creationId xmlns:p14="http://schemas.microsoft.com/office/powerpoint/2010/main" val="3433955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3037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Relationship Between Safety Culture and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Performance: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7AE7-A2CB-4B06-A50F-762DEE8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" y="876501"/>
            <a:ext cx="7148983" cy="51840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D5585C-2E6B-4A8F-88FF-EB040B633DD5}"/>
              </a:ext>
            </a:extLst>
          </p:cNvPr>
          <p:cNvSpPr/>
          <p:nvPr/>
        </p:nvSpPr>
        <p:spPr>
          <a:xfrm>
            <a:off x="2224935" y="1763555"/>
            <a:ext cx="358924" cy="1898479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Curved Right Arrow 17">
            <a:extLst>
              <a:ext uri="{FF2B5EF4-FFF2-40B4-BE49-F238E27FC236}">
                <a16:creationId xmlns:a16="http://schemas.microsoft.com/office/drawing/2014/main" id="{B8E07BB5-66E3-4B0B-8D53-2EB8A8C056DA}"/>
              </a:ext>
            </a:extLst>
          </p:cNvPr>
          <p:cNvSpPr/>
          <p:nvPr/>
        </p:nvSpPr>
        <p:spPr>
          <a:xfrm flipV="1">
            <a:off x="1345337" y="2524392"/>
            <a:ext cx="811851" cy="2463213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Curved Right Arrow 18">
            <a:extLst>
              <a:ext uri="{FF2B5EF4-FFF2-40B4-BE49-F238E27FC236}">
                <a16:creationId xmlns:a16="http://schemas.microsoft.com/office/drawing/2014/main" id="{CA59AE24-81E7-45E5-BA52-0316682C3CBF}"/>
              </a:ext>
            </a:extLst>
          </p:cNvPr>
          <p:cNvSpPr/>
          <p:nvPr/>
        </p:nvSpPr>
        <p:spPr>
          <a:xfrm flipV="1">
            <a:off x="1300791" y="3926035"/>
            <a:ext cx="811851" cy="105395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Curved Right Arrow 19">
            <a:extLst>
              <a:ext uri="{FF2B5EF4-FFF2-40B4-BE49-F238E27FC236}">
                <a16:creationId xmlns:a16="http://schemas.microsoft.com/office/drawing/2014/main" id="{7EECC824-F761-4CD4-89B1-64B0740C4CD8}"/>
              </a:ext>
            </a:extLst>
          </p:cNvPr>
          <p:cNvSpPr/>
          <p:nvPr/>
        </p:nvSpPr>
        <p:spPr>
          <a:xfrm flipV="1">
            <a:off x="1159470" y="4555098"/>
            <a:ext cx="811851" cy="100646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9" name="Left Arrow 11">
            <a:extLst>
              <a:ext uri="{FF2B5EF4-FFF2-40B4-BE49-F238E27FC236}">
                <a16:creationId xmlns:a16="http://schemas.microsoft.com/office/drawing/2014/main" id="{4C5B3E2C-E792-4356-8B07-3E4ACE4817C4}"/>
              </a:ext>
            </a:extLst>
          </p:cNvPr>
          <p:cNvSpPr/>
          <p:nvPr/>
        </p:nvSpPr>
        <p:spPr>
          <a:xfrm>
            <a:off x="4089000" y="4702629"/>
            <a:ext cx="4731000" cy="1453371"/>
          </a:xfrm>
          <a:prstGeom prst="leftArrow">
            <a:avLst>
              <a:gd name="adj1" fmla="val 100000"/>
              <a:gd name="adj2" fmla="val 34100"/>
            </a:avLst>
          </a:prstGeom>
          <a:solidFill>
            <a:sysClr val="windowText" lastClr="0000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If you have a safety culture that addresses </a:t>
            </a:r>
            <a:r>
              <a:rPr kumimoji="0" lang="en-US" sz="16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sub-standard conditions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and </a:t>
            </a:r>
            <a:r>
              <a:rPr kumimoji="0" lang="en-US" sz="16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sub-standard practices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it reduces the number of near misses, incidents, and injuries up the </a:t>
            </a: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pyramid i.e. performance improves.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14500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3037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Between Safety Culture and Performance: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7AE7-A2CB-4B06-A50F-762DEE8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" y="876501"/>
            <a:ext cx="7148983" cy="51840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D5585C-2E6B-4A8F-88FF-EB040B633DD5}"/>
              </a:ext>
            </a:extLst>
          </p:cNvPr>
          <p:cNvSpPr/>
          <p:nvPr/>
        </p:nvSpPr>
        <p:spPr>
          <a:xfrm>
            <a:off x="2224935" y="1763555"/>
            <a:ext cx="358924" cy="1898479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Curved Right Arrow 11">
            <a:extLst>
              <a:ext uri="{FF2B5EF4-FFF2-40B4-BE49-F238E27FC236}">
                <a16:creationId xmlns:a16="http://schemas.microsoft.com/office/drawing/2014/main" id="{71F7F162-A4A9-4EEB-B251-06C542B1FC12}"/>
              </a:ext>
            </a:extLst>
          </p:cNvPr>
          <p:cNvSpPr/>
          <p:nvPr/>
        </p:nvSpPr>
        <p:spPr>
          <a:xfrm rot="10800000" flipV="1">
            <a:off x="4086199" y="3310869"/>
            <a:ext cx="811851" cy="2366721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Curved Right Arrow 17">
            <a:extLst>
              <a:ext uri="{FF2B5EF4-FFF2-40B4-BE49-F238E27FC236}">
                <a16:creationId xmlns:a16="http://schemas.microsoft.com/office/drawing/2014/main" id="{B8E07BB5-66E3-4B0B-8D53-2EB8A8C056DA}"/>
              </a:ext>
            </a:extLst>
          </p:cNvPr>
          <p:cNvSpPr/>
          <p:nvPr/>
        </p:nvSpPr>
        <p:spPr>
          <a:xfrm flipV="1">
            <a:off x="1345337" y="2524392"/>
            <a:ext cx="811851" cy="2463213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Curved Right Arrow 18">
            <a:extLst>
              <a:ext uri="{FF2B5EF4-FFF2-40B4-BE49-F238E27FC236}">
                <a16:creationId xmlns:a16="http://schemas.microsoft.com/office/drawing/2014/main" id="{CA59AE24-81E7-45E5-BA52-0316682C3CBF}"/>
              </a:ext>
            </a:extLst>
          </p:cNvPr>
          <p:cNvSpPr/>
          <p:nvPr/>
        </p:nvSpPr>
        <p:spPr>
          <a:xfrm flipV="1">
            <a:off x="1300791" y="3926035"/>
            <a:ext cx="811851" cy="105395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Curved Right Arrow 19">
            <a:extLst>
              <a:ext uri="{FF2B5EF4-FFF2-40B4-BE49-F238E27FC236}">
                <a16:creationId xmlns:a16="http://schemas.microsoft.com/office/drawing/2014/main" id="{7EECC824-F761-4CD4-89B1-64B0740C4CD8}"/>
              </a:ext>
            </a:extLst>
          </p:cNvPr>
          <p:cNvSpPr/>
          <p:nvPr/>
        </p:nvSpPr>
        <p:spPr>
          <a:xfrm flipV="1">
            <a:off x="1159470" y="4555098"/>
            <a:ext cx="811851" cy="100646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28D335E4-ECB3-4D72-8113-8F50FBAEC329}"/>
              </a:ext>
            </a:extLst>
          </p:cNvPr>
          <p:cNvSpPr/>
          <p:nvPr/>
        </p:nvSpPr>
        <p:spPr>
          <a:xfrm rot="10800000">
            <a:off x="7523514" y="1822760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F7DF158-F774-4915-B676-962414069DA2}"/>
              </a:ext>
            </a:extLst>
          </p:cNvPr>
          <p:cNvSpPr/>
          <p:nvPr/>
        </p:nvSpPr>
        <p:spPr>
          <a:xfrm rot="10800000">
            <a:off x="3621326" y="1875279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0305F-9338-464F-81D9-6ACFAABDA7D8}"/>
              </a:ext>
            </a:extLst>
          </p:cNvPr>
          <p:cNvSpPr/>
          <p:nvPr/>
        </p:nvSpPr>
        <p:spPr>
          <a:xfrm>
            <a:off x="4310743" y="5110847"/>
            <a:ext cx="4545442" cy="1045153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sz="1600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Further, by </a:t>
            </a:r>
            <a:r>
              <a:rPr lang="en-US" sz="1600" kern="0" dirty="0">
                <a:solidFill>
                  <a:prstClr val="white"/>
                </a:solidFill>
                <a:cs typeface="Arial" panose="020B0604020202020204" pitchFamily="34" charset="0"/>
              </a:rPr>
              <a:t>promoting and building a strong safety culture, leaders have a significant influence on workplace safety performance.</a:t>
            </a:r>
          </a:p>
        </p:txBody>
      </p:sp>
    </p:spTree>
    <p:extLst>
      <p:ext uri="{BB962C8B-B14F-4D97-AF65-F5344CB8AC3E}">
        <p14:creationId xmlns:p14="http://schemas.microsoft.com/office/powerpoint/2010/main" val="69081939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3037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Making Everyone a Leader in Safety &amp; Risk Management: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7AE7-A2CB-4B06-A50F-762DEE8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" y="876501"/>
            <a:ext cx="7148983" cy="51840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D5585C-2E6B-4A8F-88FF-EB040B633DD5}"/>
              </a:ext>
            </a:extLst>
          </p:cNvPr>
          <p:cNvSpPr/>
          <p:nvPr/>
        </p:nvSpPr>
        <p:spPr>
          <a:xfrm>
            <a:off x="2224935" y="1763555"/>
            <a:ext cx="358924" cy="1898479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Curved Right Arrow 11">
            <a:extLst>
              <a:ext uri="{FF2B5EF4-FFF2-40B4-BE49-F238E27FC236}">
                <a16:creationId xmlns:a16="http://schemas.microsoft.com/office/drawing/2014/main" id="{71F7F162-A4A9-4EEB-B251-06C542B1FC12}"/>
              </a:ext>
            </a:extLst>
          </p:cNvPr>
          <p:cNvSpPr/>
          <p:nvPr/>
        </p:nvSpPr>
        <p:spPr>
          <a:xfrm rot="10800000" flipV="1">
            <a:off x="4086199" y="3310869"/>
            <a:ext cx="811851" cy="2366721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Curved Right Arrow 17">
            <a:extLst>
              <a:ext uri="{FF2B5EF4-FFF2-40B4-BE49-F238E27FC236}">
                <a16:creationId xmlns:a16="http://schemas.microsoft.com/office/drawing/2014/main" id="{B8E07BB5-66E3-4B0B-8D53-2EB8A8C056DA}"/>
              </a:ext>
            </a:extLst>
          </p:cNvPr>
          <p:cNvSpPr/>
          <p:nvPr/>
        </p:nvSpPr>
        <p:spPr>
          <a:xfrm flipV="1">
            <a:off x="1345337" y="2524392"/>
            <a:ext cx="811851" cy="2463213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Curved Right Arrow 18">
            <a:extLst>
              <a:ext uri="{FF2B5EF4-FFF2-40B4-BE49-F238E27FC236}">
                <a16:creationId xmlns:a16="http://schemas.microsoft.com/office/drawing/2014/main" id="{CA59AE24-81E7-45E5-BA52-0316682C3CBF}"/>
              </a:ext>
            </a:extLst>
          </p:cNvPr>
          <p:cNvSpPr/>
          <p:nvPr/>
        </p:nvSpPr>
        <p:spPr>
          <a:xfrm flipV="1">
            <a:off x="1300791" y="3926035"/>
            <a:ext cx="811851" cy="105395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Curved Right Arrow 19">
            <a:extLst>
              <a:ext uri="{FF2B5EF4-FFF2-40B4-BE49-F238E27FC236}">
                <a16:creationId xmlns:a16="http://schemas.microsoft.com/office/drawing/2014/main" id="{7EECC824-F761-4CD4-89B1-64B0740C4CD8}"/>
              </a:ext>
            </a:extLst>
          </p:cNvPr>
          <p:cNvSpPr/>
          <p:nvPr/>
        </p:nvSpPr>
        <p:spPr>
          <a:xfrm flipV="1">
            <a:off x="1159470" y="4555098"/>
            <a:ext cx="811851" cy="1006460"/>
          </a:xfrm>
          <a:prstGeom prst="curvedRightArrow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28D335E4-ECB3-4D72-8113-8F50FBAEC329}"/>
              </a:ext>
            </a:extLst>
          </p:cNvPr>
          <p:cNvSpPr/>
          <p:nvPr/>
        </p:nvSpPr>
        <p:spPr>
          <a:xfrm rot="10800000">
            <a:off x="7523514" y="1822760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F7DF158-F774-4915-B676-962414069DA2}"/>
              </a:ext>
            </a:extLst>
          </p:cNvPr>
          <p:cNvSpPr/>
          <p:nvPr/>
        </p:nvSpPr>
        <p:spPr>
          <a:xfrm rot="10800000">
            <a:off x="3621326" y="1875279"/>
            <a:ext cx="358924" cy="3235568"/>
          </a:xfrm>
          <a:prstGeom prst="leftBrace">
            <a:avLst/>
          </a:prstGeom>
          <a:noFill/>
          <a:ln w="762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0305F-9338-464F-81D9-6ACFAABDA7D8}"/>
              </a:ext>
            </a:extLst>
          </p:cNvPr>
          <p:cNvSpPr/>
          <p:nvPr/>
        </p:nvSpPr>
        <p:spPr>
          <a:xfrm>
            <a:off x="4310743" y="5110847"/>
            <a:ext cx="4545442" cy="1045153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sz="1600" kern="0" dirty="0">
                <a:solidFill>
                  <a:prstClr val="white"/>
                </a:solidFill>
                <a:cs typeface="Arial" panose="020B0604020202020204" pitchFamily="34" charset="0"/>
              </a:rPr>
              <a:t>Leaders can empower their employees to address SC’s and SP’s, and </a:t>
            </a:r>
            <a:r>
              <a:rPr lang="en-US" sz="1600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engage employees in incident investigations; thus developing and strengthening the desired culture!</a:t>
            </a:r>
            <a:endParaRPr lang="en-US" sz="1600" kern="0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700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indent="-3429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CA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Three Tenets</a:t>
            </a: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Risk Management: </a:t>
            </a:r>
          </a:p>
          <a:p>
            <a:pPr marL="914400" lvl="1" indent="-4572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arenR"/>
            </a:pP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Incidents occur. </a:t>
            </a:r>
          </a:p>
          <a:p>
            <a:pPr marL="914400" lvl="1" indent="-4572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arenR"/>
            </a:pP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Incidents are a hard way to learn. </a:t>
            </a:r>
          </a:p>
          <a:p>
            <a:pPr marL="914400" lvl="1" indent="-457200" defTabSz="9144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arenR"/>
            </a:pPr>
            <a:r>
              <a:rPr lang="en-CA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incidents are unacceptable and all are preventable!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Safety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Culture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directly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affects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Safety Performance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Leaders can influence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Culture by addressing 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SC’s, SP’s, NM’s, LI’s, and 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coaching and engaging </a:t>
            </a:r>
            <a:b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 in resolving these.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7.4: 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Importance of Culture &amp; Making Everyone a Leader in Safety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95A13-646D-4CF5-8972-AEA31566C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142" y="2628173"/>
            <a:ext cx="4933155" cy="35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2989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547</TotalTime>
  <Words>828</Words>
  <Application>Microsoft Office PowerPoint</Application>
  <PresentationFormat>On-screen Show (4:3)</PresentationFormat>
  <Paragraphs>129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Times New Roman</vt:lpstr>
      <vt:lpstr>Tw Cen MT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ENGG404 – Lecture 33 Module xxx</dc:title>
  <dc:creator>User</dc:creator>
  <cp:lastModifiedBy>John Cocchio</cp:lastModifiedBy>
  <cp:revision>88</cp:revision>
  <cp:lastPrinted>2017-09-11T21:39:04Z</cp:lastPrinted>
  <dcterms:created xsi:type="dcterms:W3CDTF">2016-09-07T02:58:00Z</dcterms:created>
  <dcterms:modified xsi:type="dcterms:W3CDTF">2022-06-20T15:30:01Z</dcterms:modified>
</cp:coreProperties>
</file>