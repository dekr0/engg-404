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1"/>
    <p:sldMasterId id="2147483665" r:id="rId2"/>
  </p:sldMasterIdLst>
  <p:notesMasterIdLst>
    <p:notesMasterId r:id="rId18"/>
  </p:notesMasterIdLst>
  <p:sldIdLst>
    <p:sldId id="895" r:id="rId3"/>
    <p:sldId id="880" r:id="rId4"/>
    <p:sldId id="926" r:id="rId5"/>
    <p:sldId id="944" r:id="rId6"/>
    <p:sldId id="928" r:id="rId7"/>
    <p:sldId id="929" r:id="rId8"/>
    <p:sldId id="930" r:id="rId9"/>
    <p:sldId id="931" r:id="rId10"/>
    <p:sldId id="932" r:id="rId11"/>
    <p:sldId id="933" r:id="rId12"/>
    <p:sldId id="934" r:id="rId13"/>
    <p:sldId id="940" r:id="rId14"/>
    <p:sldId id="942" r:id="rId15"/>
    <p:sldId id="943" r:id="rId16"/>
    <p:sldId id="923" r:id="rId17"/>
  </p:sldIdLst>
  <p:sldSz cx="9144000" cy="6858000" type="screen4x3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25" roundtripDataSignature="AMtx7miZDvCDvOeAzsx90p3EEtUq0vjI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7192D"/>
    <a:srgbClr val="483E18"/>
    <a:srgbClr val="000000"/>
    <a:srgbClr val="000099"/>
    <a:srgbClr val="0000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92A8C0D-D18E-47F1-99D8-449D1F2251DB}">
  <a:tblStyle styleId="{492A8C0D-D18E-47F1-99D8-449D1F2251D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82" autoAdjust="0"/>
    <p:restoredTop sz="88347" autoAdjust="0"/>
  </p:normalViewPr>
  <p:slideViewPr>
    <p:cSldViewPr snapToGrid="0">
      <p:cViewPr varScale="1">
        <p:scale>
          <a:sx n="62" d="100"/>
          <a:sy n="62" d="100"/>
        </p:scale>
        <p:origin x="1336" y="40"/>
      </p:cViewPr>
      <p:guideLst>
        <p:guide orient="horz" pos="211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3039210" cy="464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00" tIns="46450" rIns="92900" bIns="464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1191" y="1"/>
            <a:ext cx="3039210" cy="464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00" tIns="46450" rIns="92900" bIns="4645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81100" y="695325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35142" y="4418435"/>
            <a:ext cx="5140117" cy="4183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00" tIns="46450" rIns="92900" bIns="4645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32134"/>
            <a:ext cx="3039210" cy="464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00" tIns="46450" rIns="92900" bIns="4645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1191" y="8832134"/>
            <a:ext cx="3039210" cy="464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00" tIns="46450" rIns="92900" bIns="464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80076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93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Just because an activity has significant hazards, does not mean that it is a high risk activity. You can implement measures to reduce risk to an acceptable level.</a:t>
            </a:r>
          </a:p>
        </p:txBody>
      </p:sp>
    </p:spTree>
    <p:extLst>
      <p:ext uri="{BB962C8B-B14F-4D97-AF65-F5344CB8AC3E}">
        <p14:creationId xmlns:p14="http://schemas.microsoft.com/office/powerpoint/2010/main" val="25788524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96716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But how do we define L, M, H?</a:t>
            </a:r>
          </a:p>
        </p:txBody>
      </p:sp>
    </p:spTree>
    <p:extLst>
      <p:ext uri="{BB962C8B-B14F-4D97-AF65-F5344CB8AC3E}">
        <p14:creationId xmlns:p14="http://schemas.microsoft.com/office/powerpoint/2010/main" val="36381514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0513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1156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An activity with a low </a:t>
            </a:r>
            <a:r>
              <a:rPr lang="en-CA" dirty="0" smtClean="0"/>
              <a:t>Likelihood </a:t>
            </a:r>
            <a:r>
              <a:rPr lang="en-CA" dirty="0"/>
              <a:t>but a high impact on </a:t>
            </a:r>
            <a:r>
              <a:rPr lang="en-CA" dirty="0" err="1"/>
              <a:t>peap</a:t>
            </a:r>
            <a:r>
              <a:rPr lang="en-CA" dirty="0"/>
              <a:t>, then it results in a medium risk</a:t>
            </a:r>
          </a:p>
        </p:txBody>
      </p:sp>
    </p:spTree>
    <p:extLst>
      <p:ext uri="{BB962C8B-B14F-4D97-AF65-F5344CB8AC3E}">
        <p14:creationId xmlns:p14="http://schemas.microsoft.com/office/powerpoint/2010/main" val="21259012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Risk</a:t>
            </a:r>
            <a:r>
              <a:rPr lang="en-CA" baseline="0" dirty="0"/>
              <a:t> level is based on the risk criteria.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baseline="0" dirty="0"/>
              <a:t>Increasing likelihood increases the risk level.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baseline="0" dirty="0"/>
              <a:t>Increasing consequence increases the risk level.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baseline="0" dirty="0"/>
              <a:t>Risk is a function of likelihood and consequence, and there is a level of risk which is defined as “Low”, “Medium”, or “High”. But these do not yet define what is an acceptable level of risk.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96114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/>
              <a:t>Management directions go along with each level.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/>
              <a:t>The decision as to whether</a:t>
            </a:r>
            <a:r>
              <a:rPr lang="en-CA" baseline="0" dirty="0"/>
              <a:t> the risk level of an activity is acceptable or not, is defined by the management directions for that level of risk. </a:t>
            </a:r>
            <a:endParaRPr lang="en-CA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lang="en-CA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/>
              <a:t>How can you reduce the risks to an acceptable level?</a:t>
            </a:r>
          </a:p>
        </p:txBody>
      </p:sp>
    </p:spTree>
    <p:extLst>
      <p:ext uri="{BB962C8B-B14F-4D97-AF65-F5344CB8AC3E}">
        <p14:creationId xmlns:p14="http://schemas.microsoft.com/office/powerpoint/2010/main" val="32585276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Up to some interpretation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/>
              <a:t>Different risk profiles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 err="1"/>
              <a:t>Mgmt</a:t>
            </a:r>
            <a:r>
              <a:rPr lang="en-CA" dirty="0"/>
              <a:t> directions may be expressed differently from company to company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CA" dirty="0"/>
              <a:t>But all reduce the risk to an acceptable level in order to proceed</a:t>
            </a:r>
          </a:p>
        </p:txBody>
      </p:sp>
    </p:spTree>
    <p:extLst>
      <p:ext uri="{BB962C8B-B14F-4D97-AF65-F5344CB8AC3E}">
        <p14:creationId xmlns:p14="http://schemas.microsoft.com/office/powerpoint/2010/main" val="11304311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788524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/>
                <a:sym typeface="Times New Roman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/>
                <a:sym typeface="Times New Roman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/>
                <a:sym typeface="Arial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Arial"/>
              <a:sym typeface="Arial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Arial"/>
              <a:sym typeface="Arial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980743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/>
                <a:sym typeface="Times New Roman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/>
                <a:sym typeface="Times New Roman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/>
                <a:sym typeface="Arial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Arial"/>
              <a:sym typeface="Arial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Arial"/>
              <a:sym typeface="Arial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506449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141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51834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49627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784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9/7/2020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222786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66696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2432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835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118CC2-884A-4430-8B4F-9976F3C29C24}" type="datetimeFigureOut"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9/7/2020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823322-A425-42F9-B4E6-DE1BA6748FF3}" type="slidenum">
              <a: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609104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495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7493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66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On Becoming a </a:t>
            </a:r>
            <a:b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</a:br>
            <a: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Leader in Risk Management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A9C8F"/>
              </a:buClr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Lecture</a:t>
            </a:r>
            <a:endParaRPr kumimoji="0" lang="en-US" altLang="en-US" sz="3600" b="1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 pitchFamily="34" charset="0"/>
              <a:ea typeface="ＭＳ Ｐゴシック" panose="020B0600070205080204" pitchFamily="34" charset="-128"/>
              <a:cs typeface="+mj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2500342"/>
            <a:ext cx="7315201" cy="222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2.5: </a:t>
            </a:r>
            <a:b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is an Acceptable </a:t>
            </a:r>
            <a:b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Level of Risk?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in Industry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2" y="4405529"/>
            <a:ext cx="1766671" cy="1766671"/>
          </a:xfrm>
          <a:prstGeom prst="rect">
            <a:avLst/>
          </a:prstGeom>
        </p:spPr>
      </p:pic>
      <p:pic>
        <p:nvPicPr>
          <p:cNvPr id="25" name="Picture 24" descr="Introduction to Sociology - 2013 - The Collaborator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500" y="4405342"/>
            <a:ext cx="2590300" cy="17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937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Interpret a set of risk criteria to determine a risk level.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Construct risk matrices for simple operations and systems, and evaluate the acceptance of risks through these matrices.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a generic risk matrix to decide whether to accept the residual risk and manage it, or determine if additional control measures / safeguards are needed to reduce the risk to an acceptable level.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Learning Outcomes: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2.5 What is an Acceptable Level of Risk?</a:t>
            </a:r>
          </a:p>
        </p:txBody>
      </p:sp>
    </p:spTree>
    <p:extLst>
      <p:ext uri="{BB962C8B-B14F-4D97-AF65-F5344CB8AC3E}">
        <p14:creationId xmlns:p14="http://schemas.microsoft.com/office/powerpoint/2010/main" val="2734127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Acceptable Level of Risk:</a:t>
            </a: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2.5 What is an Acceptable Level of Risk?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TRUE</a:t>
            </a:r>
            <a:r>
              <a:rPr kumimoji="0" lang="en-CA" altLang="en-US" sz="2000" b="1" i="0" u="none" strike="noStrike" kern="1200" cap="none" spc="0" normalizeH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or FALSE?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If 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climbing a ladder is a </a:t>
            </a:r>
            <a:r>
              <a:rPr kumimoji="0" lang="en-CA" alt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high hazard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activity, </a:t>
            </a: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then 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it is a </a:t>
            </a:r>
            <a:r>
              <a:rPr kumimoji="0" lang="en-CA" alt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high risk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activity.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False</a:t>
            </a:r>
          </a:p>
          <a:p>
            <a:pPr marL="720000" lvl="1" indent="-360000" eaLnBrk="0" fontAlgn="base" hangingPunct="0"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Even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though climbing a ladder is a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high hazard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activity,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it is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not necessarily a high risk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activity. </a:t>
            </a:r>
            <a:endParaRPr kumimoji="0" lang="en-CA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1" indent="-360000" eaLnBrk="0" fontAlgn="base" hangingPunct="0"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High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 potential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does not equate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high risk. 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Why? You can apply control measures to the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high hazard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activity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order to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reduce the risk to an acceptable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level.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How? You can either:</a:t>
            </a:r>
          </a:p>
          <a:p>
            <a:pPr marL="914400" lvl="7" indent="-457200">
              <a:buClrTx/>
              <a:buSzPct val="100000"/>
              <a:buFont typeface="Wingdings" panose="05000000000000000000" pitchFamily="2" charset="2"/>
              <a:buChar char="ü"/>
            </a:pPr>
            <a:r>
              <a:rPr lang="en-CA" sz="2000" b="0" u="none" strike="noStrike" cap="none" dirty="0">
                <a:solidFill>
                  <a:srgbClr val="FFFFFF"/>
                </a:solidFill>
                <a:sym typeface="Arial"/>
              </a:rPr>
              <a:t>Reduce the likelihood or </a:t>
            </a:r>
          </a:p>
          <a:p>
            <a:pPr marL="914400" lvl="7" indent="-457200">
              <a:buClrTx/>
              <a:buSzPct val="100000"/>
              <a:buFont typeface="Wingdings" panose="05000000000000000000" pitchFamily="2" charset="2"/>
              <a:buChar char="ü"/>
            </a:pPr>
            <a:r>
              <a:rPr lang="en-CA" sz="2000" dirty="0">
                <a:solidFill>
                  <a:srgbClr val="FFFFFF"/>
                </a:solidFill>
              </a:rPr>
              <a:t>Reduce the consequence, or </a:t>
            </a:r>
          </a:p>
          <a:p>
            <a:pPr marL="914400" lvl="7" indent="-457200">
              <a:buClrTx/>
              <a:buSzPct val="100000"/>
              <a:buFont typeface="Wingdings" panose="05000000000000000000" pitchFamily="2" charset="2"/>
              <a:buChar char="ü"/>
            </a:pPr>
            <a:r>
              <a:rPr lang="en-CA" sz="2000" dirty="0">
                <a:solidFill>
                  <a:srgbClr val="FFFFFF"/>
                </a:solidFill>
              </a:rPr>
              <a:t>Reduce </a:t>
            </a:r>
            <a:r>
              <a:rPr lang="en-CA" sz="2000" dirty="0" smtClean="0">
                <a:solidFill>
                  <a:srgbClr val="FFFFFF"/>
                </a:solidFill>
              </a:rPr>
              <a:t>both,</a:t>
            </a:r>
          </a:p>
          <a:p>
            <a:pPr marL="914400" lvl="7" indent="-457200">
              <a:buClrTx/>
              <a:buSzPct val="100000"/>
              <a:buFont typeface="Wingdings" panose="05000000000000000000" pitchFamily="2" charset="2"/>
              <a:buChar char="ü"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Reduce (control) or eliminate the hazard. 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750497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is a function of consequence and likelihood.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Thus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safeguards (control measures) can be implemented </a:t>
            </a: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to: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reduce the consequence, or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reduce the likelihood, or 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eliminate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</a:t>
            </a:r>
            <a:r>
              <a:rPr kumimoji="0" lang="en-US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reduce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or </a:t>
            </a:r>
            <a:r>
              <a:rPr kumimoji="0" lang="en-US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the hazard.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Build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on Chapter 2: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2.4 Risk as a Function of Likelihood and Consequence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Google Shape;174;p6"/>
          <p:cNvSpPr/>
          <p:nvPr/>
        </p:nvSpPr>
        <p:spPr>
          <a:xfrm>
            <a:off x="3574573" y="4341392"/>
            <a:ext cx="1920240" cy="66632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3634"/>
              </a:buClr>
              <a:buSzPts val="1400"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Risk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7" name="Google Shape;175;p6"/>
          <p:cNvSpPr/>
          <p:nvPr/>
        </p:nvSpPr>
        <p:spPr>
          <a:xfrm>
            <a:off x="762001" y="3503192"/>
            <a:ext cx="192024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How bad </a:t>
            </a: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</a:b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can it be?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0" name="Google Shape;176;p6"/>
          <p:cNvSpPr/>
          <p:nvPr/>
        </p:nvSpPr>
        <p:spPr>
          <a:xfrm>
            <a:off x="6411686" y="3503193"/>
            <a:ext cx="192024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How likely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/>
            </a: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</a:b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is it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to occur?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1" name="Google Shape;177;p6"/>
          <p:cNvSpPr/>
          <p:nvPr/>
        </p:nvSpPr>
        <p:spPr>
          <a:xfrm>
            <a:off x="3574573" y="3503193"/>
            <a:ext cx="192024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What can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/>
            </a: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</a:b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go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wrong?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cxnSp>
        <p:nvCxnSpPr>
          <p:cNvPr id="14" name="Google Shape;178;p6"/>
          <p:cNvCxnSpPr>
            <a:stCxn id="7" idx="3"/>
            <a:endCxn id="11" idx="1"/>
          </p:cNvCxnSpPr>
          <p:nvPr/>
        </p:nvCxnSpPr>
        <p:spPr>
          <a:xfrm>
            <a:off x="2682241" y="3868952"/>
            <a:ext cx="892332" cy="1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" name="Google Shape;179;p6"/>
          <p:cNvCxnSpPr>
            <a:stCxn id="11" idx="3"/>
            <a:endCxn id="10" idx="1"/>
          </p:cNvCxnSpPr>
          <p:nvPr/>
        </p:nvCxnSpPr>
        <p:spPr>
          <a:xfrm>
            <a:off x="5494813" y="3868953"/>
            <a:ext cx="916873" cy="0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" name="Google Shape;180;p6"/>
          <p:cNvCxnSpPr>
            <a:stCxn id="11" idx="2"/>
            <a:endCxn id="6" idx="0"/>
          </p:cNvCxnSpPr>
          <p:nvPr/>
        </p:nvCxnSpPr>
        <p:spPr>
          <a:xfrm>
            <a:off x="4534693" y="4234713"/>
            <a:ext cx="0" cy="106679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7" name="Google Shape;181;p6"/>
          <p:cNvCxnSpPr>
            <a:stCxn id="7" idx="2"/>
            <a:endCxn id="6" idx="2"/>
          </p:cNvCxnSpPr>
          <p:nvPr/>
        </p:nvCxnSpPr>
        <p:spPr>
          <a:xfrm>
            <a:off x="1722121" y="4234712"/>
            <a:ext cx="1852452" cy="439840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8" name="Google Shape;182;p6"/>
          <p:cNvCxnSpPr>
            <a:stCxn id="10" idx="2"/>
            <a:endCxn id="6" idx="6"/>
          </p:cNvCxnSpPr>
          <p:nvPr/>
        </p:nvCxnSpPr>
        <p:spPr>
          <a:xfrm flipH="1">
            <a:off x="5494813" y="4234713"/>
            <a:ext cx="1876993" cy="439839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9" name="Diamond 18"/>
          <p:cNvSpPr/>
          <p:nvPr/>
        </p:nvSpPr>
        <p:spPr>
          <a:xfrm>
            <a:off x="2873532" y="5275203"/>
            <a:ext cx="3322321" cy="893813"/>
          </a:xfrm>
          <a:prstGeom prst="diamond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3634"/>
              </a:buClr>
              <a:buSzPts val="1400"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Is Risk Acceptable?</a:t>
            </a:r>
          </a:p>
        </p:txBody>
      </p:sp>
      <p:sp>
        <p:nvSpPr>
          <p:cNvPr id="20" name="Google Shape;175;p6"/>
          <p:cNvSpPr/>
          <p:nvPr/>
        </p:nvSpPr>
        <p:spPr>
          <a:xfrm>
            <a:off x="575699" y="5260786"/>
            <a:ext cx="1920240" cy="91141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Do NOT do </a:t>
            </a: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</a:b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(or stop doing)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the activity.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cxnSp>
        <p:nvCxnSpPr>
          <p:cNvPr id="21" name="Google Shape;180;p6"/>
          <p:cNvCxnSpPr>
            <a:stCxn id="6" idx="4"/>
            <a:endCxn id="19" idx="0"/>
          </p:cNvCxnSpPr>
          <p:nvPr/>
        </p:nvCxnSpPr>
        <p:spPr>
          <a:xfrm>
            <a:off x="4534693" y="5007712"/>
            <a:ext cx="0" cy="267491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2" name="Google Shape;175;p6"/>
          <p:cNvSpPr/>
          <p:nvPr/>
        </p:nvSpPr>
        <p:spPr>
          <a:xfrm>
            <a:off x="6637020" y="5260786"/>
            <a:ext cx="1920240" cy="91141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Do </a:t>
            </a: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</a:b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(or keep doing)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the activity.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cxnSp>
        <p:nvCxnSpPr>
          <p:cNvPr id="23" name="Google Shape;182;p6"/>
          <p:cNvCxnSpPr>
            <a:stCxn id="19" idx="3"/>
            <a:endCxn id="22" idx="1"/>
          </p:cNvCxnSpPr>
          <p:nvPr/>
        </p:nvCxnSpPr>
        <p:spPr>
          <a:xfrm flipV="1">
            <a:off x="6195853" y="5716493"/>
            <a:ext cx="441167" cy="5617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182;p6"/>
          <p:cNvCxnSpPr>
            <a:stCxn id="19" idx="1"/>
            <a:endCxn id="20" idx="3"/>
          </p:cNvCxnSpPr>
          <p:nvPr/>
        </p:nvCxnSpPr>
        <p:spPr>
          <a:xfrm flipH="1" flipV="1">
            <a:off x="2495939" y="5716493"/>
            <a:ext cx="377593" cy="5617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5" name="TextBox 24"/>
          <p:cNvSpPr txBox="1"/>
          <p:nvPr/>
        </p:nvSpPr>
        <p:spPr>
          <a:xfrm>
            <a:off x="2409941" y="5311353"/>
            <a:ext cx="66620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NO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970814" y="5326571"/>
            <a:ext cx="66620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YES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2" name="Google Shape;175;p6"/>
          <p:cNvSpPr/>
          <p:nvPr/>
        </p:nvSpPr>
        <p:spPr>
          <a:xfrm>
            <a:off x="641680" y="2588745"/>
            <a:ext cx="2111531" cy="898247"/>
          </a:xfrm>
          <a:prstGeom prst="downArrow">
            <a:avLst>
              <a:gd name="adj1" fmla="val 81328"/>
              <a:gd name="adj2" fmla="val 50000"/>
            </a:avLst>
          </a:prstGeom>
          <a:solidFill>
            <a:srgbClr val="00B0F0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Reduce the consequence</a:t>
            </a:r>
            <a:endParaRPr kumimoji="0" sz="18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3" name="Google Shape;176;p6"/>
          <p:cNvSpPr/>
          <p:nvPr/>
        </p:nvSpPr>
        <p:spPr>
          <a:xfrm>
            <a:off x="6291365" y="2588746"/>
            <a:ext cx="2111531" cy="898246"/>
          </a:xfrm>
          <a:prstGeom prst="downArrow">
            <a:avLst>
              <a:gd name="adj1" fmla="val 80075"/>
              <a:gd name="adj2" fmla="val 50000"/>
            </a:avLst>
          </a:prstGeom>
          <a:solidFill>
            <a:srgbClr val="00B0F0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Reduce the likelihood</a:t>
            </a:r>
          </a:p>
        </p:txBody>
      </p:sp>
      <p:sp>
        <p:nvSpPr>
          <p:cNvPr id="34" name="Google Shape;177;p6"/>
          <p:cNvSpPr/>
          <p:nvPr/>
        </p:nvSpPr>
        <p:spPr>
          <a:xfrm>
            <a:off x="2873532" y="2588744"/>
            <a:ext cx="3417833" cy="914447"/>
          </a:xfrm>
          <a:prstGeom prst="downArrow">
            <a:avLst>
              <a:gd name="adj1" fmla="val 82582"/>
              <a:gd name="adj2" fmla="val 50000"/>
            </a:avLst>
          </a:prstGeom>
          <a:solidFill>
            <a:srgbClr val="00B0F0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Reduce (control), or Eliminate the hazard</a:t>
            </a:r>
            <a:endParaRPr kumimoji="0" sz="18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816156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Simple Risk Matrix: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2.5 What is an Acceptable Level of Risk?</a:t>
            </a:r>
          </a:p>
        </p:txBody>
      </p:sp>
      <p:sp>
        <p:nvSpPr>
          <p:cNvPr id="6" name="Google Shape;166;p6">
            <a:extLst>
              <a:ext uri="{FF2B5EF4-FFF2-40B4-BE49-F238E27FC236}">
                <a16:creationId xmlns:a16="http://schemas.microsoft.com/office/drawing/2014/main" id="{66D9A6BB-7875-4192-BF21-566ED67561E9}"/>
              </a:ext>
            </a:extLst>
          </p:cNvPr>
          <p:cNvSpPr/>
          <p:nvPr/>
        </p:nvSpPr>
        <p:spPr>
          <a:xfrm>
            <a:off x="223324" y="1413419"/>
            <a:ext cx="2542103" cy="4093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Terms Used: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Simple = Fundamental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Consequence</a:t>
            </a: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= Impact = 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Severity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Likelihood</a:t>
            </a: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= </a:t>
            </a:r>
            <a:r>
              <a:rPr lang="en-US" sz="2000" i="1" dirty="0">
                <a:solidFill>
                  <a:schemeClr val="tx1"/>
                </a:solidFill>
              </a:rPr>
              <a:t/>
            </a:r>
            <a:br>
              <a:rPr lang="en-US" sz="2000" i="1" dirty="0">
                <a:solidFill>
                  <a:schemeClr val="tx1"/>
                </a:solidFill>
              </a:rPr>
            </a:br>
            <a:r>
              <a:rPr lang="en-US" sz="2000" i="1" dirty="0" smtClean="0">
                <a:solidFill>
                  <a:schemeClr val="tx1"/>
                </a:solidFill>
              </a:rPr>
              <a:t>Probability</a:t>
            </a:r>
            <a:r>
              <a:rPr kumimoji="0" 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 =</a:t>
            </a:r>
            <a:br>
              <a:rPr kumimoji="0" 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</a:br>
            <a:r>
              <a:rPr kumimoji="0" 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Frequency </a:t>
            </a: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= </a:t>
            </a:r>
            <a:r>
              <a:rPr kumimoji="0" 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/>
            </a:r>
            <a:br>
              <a:rPr kumimoji="0" 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</a:br>
            <a:r>
              <a:rPr kumimoji="0" lang="en-US" sz="20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Rate</a:t>
            </a:r>
            <a:endParaRPr kumimoji="0" sz="20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E1F1768-33C1-4E16-982F-DFA24DB0B71D}"/>
              </a:ext>
            </a:extLst>
          </p:cNvPr>
          <p:cNvGrpSpPr/>
          <p:nvPr/>
        </p:nvGrpSpPr>
        <p:grpSpPr>
          <a:xfrm>
            <a:off x="2884714" y="854838"/>
            <a:ext cx="5935286" cy="5301162"/>
            <a:chOff x="3153365" y="775076"/>
            <a:chExt cx="5635035" cy="5115776"/>
          </a:xfrm>
        </p:grpSpPr>
        <p:sp>
          <p:nvSpPr>
            <p:cNvPr id="10" name="Google Shape;159;p6">
              <a:extLst>
                <a:ext uri="{FF2B5EF4-FFF2-40B4-BE49-F238E27FC236}">
                  <a16:creationId xmlns:a16="http://schemas.microsoft.com/office/drawing/2014/main" id="{52FC5A37-6929-47D4-99AD-4CC12BFD6689}"/>
                </a:ext>
              </a:extLst>
            </p:cNvPr>
            <p:cNvSpPr/>
            <p:nvPr/>
          </p:nvSpPr>
          <p:spPr>
            <a:xfrm>
              <a:off x="3153365" y="775076"/>
              <a:ext cx="5635035" cy="511577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400"/>
                <a:buFont typeface="Noto Sans Symbols"/>
                <a:buNone/>
                <a:tabLst/>
                <a:defRPr/>
              </a:pPr>
              <a:r>
                <a:rPr kumimoji="0" lang="en-US" sz="2400" b="1" i="0" u="sng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Simple Risk Matrix:</a:t>
              </a:r>
              <a:endParaRPr kumimoji="0" sz="2400" b="0" i="0" u="sng" strike="noStrike" kern="0" cap="none" spc="0" normalizeH="0" baseline="0" noProof="0">
                <a:ln>
                  <a:noFill/>
                </a:ln>
                <a:solidFill>
                  <a:srgbClr val="463634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Google Shape;160;p6">
              <a:extLst>
                <a:ext uri="{FF2B5EF4-FFF2-40B4-BE49-F238E27FC236}">
                  <a16:creationId xmlns:a16="http://schemas.microsoft.com/office/drawing/2014/main" id="{49AF4F61-F9B0-4579-B7AE-6C4A6E74B212}"/>
                </a:ext>
              </a:extLst>
            </p:cNvPr>
            <p:cNvSpPr/>
            <p:nvPr/>
          </p:nvSpPr>
          <p:spPr>
            <a:xfrm rot="-5400000">
              <a:off x="2283779" y="3035594"/>
              <a:ext cx="2352953" cy="6137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000"/>
                <a:buFont typeface="Noto Sans Symbols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Increasing </a:t>
              </a:r>
              <a:b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</a:b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Consequence</a:t>
              </a: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Google Shape;161;p6">
              <a:extLst>
                <a:ext uri="{FF2B5EF4-FFF2-40B4-BE49-F238E27FC236}">
                  <a16:creationId xmlns:a16="http://schemas.microsoft.com/office/drawing/2014/main" id="{9EBD94E7-358D-457A-876B-DD27DE00B640}"/>
                </a:ext>
              </a:extLst>
            </p:cNvPr>
            <p:cNvSpPr/>
            <p:nvPr/>
          </p:nvSpPr>
          <p:spPr>
            <a:xfrm>
              <a:off x="4726012" y="5586052"/>
              <a:ext cx="26511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000"/>
                <a:buFont typeface="Noto Sans Symbols"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Increasing Likelihood</a:t>
              </a:r>
              <a:endPara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63634"/>
                </a:solidFill>
                <a:effectLst/>
                <a:uLnTx/>
                <a:uFillTx/>
              </a:endParaRPr>
            </a:p>
          </p:txBody>
        </p:sp>
        <p:graphicFrame>
          <p:nvGraphicFramePr>
            <p:cNvPr id="15" name="Google Shape;162;p6">
              <a:extLst>
                <a:ext uri="{FF2B5EF4-FFF2-40B4-BE49-F238E27FC236}">
                  <a16:creationId xmlns:a16="http://schemas.microsoft.com/office/drawing/2014/main" id="{D7E4BB6D-2818-458E-81BA-B00332A61B4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005632119"/>
                </p:ext>
              </p:extLst>
            </p:nvPr>
          </p:nvGraphicFramePr>
          <p:xfrm>
            <a:off x="4683093" y="1346977"/>
            <a:ext cx="3689607" cy="3382620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12954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2954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29540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1168400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9pPr>
                      </a:lstStyle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2"/>
                          </a:buClr>
                          <a:buSzPts val="1820"/>
                          <a:buFont typeface="Noto Sans Symbols"/>
                          <a:buNone/>
                        </a:pPr>
                        <a:r>
                          <a:rPr lang="en-US" sz="2800" b="1" i="0" u="none" strike="noStrike" cap="non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M</a:t>
                        </a:r>
                        <a:endParaRPr/>
                      </a:p>
                    </a:txBody>
                    <a:tcPr marL="36000" marR="36000" marT="36000" marB="36000" anchor="ctr" anchorCtr="1">
                      <a:lnL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9pPr>
                      </a:lstStyle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2"/>
                          </a:buClr>
                          <a:buSzPts val="1820"/>
                          <a:buFont typeface="Noto Sans Symbols"/>
                          <a:buNone/>
                        </a:pPr>
                        <a:r>
                          <a:rPr lang="en-US" sz="2800" b="1" i="0" u="none" strike="noStrike" cap="non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H</a:t>
                        </a:r>
                        <a:endParaRPr/>
                      </a:p>
                    </a:txBody>
                    <a:tcPr marL="36000" marR="36000" marT="36000" marB="36000" anchor="ctr" anchorCtr="1">
                      <a:lnL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9pPr>
                      </a:lstStyle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2"/>
                          </a:buClr>
                          <a:buSzPts val="1820"/>
                          <a:buFont typeface="Noto Sans Symbols"/>
                          <a:buNone/>
                        </a:pPr>
                        <a:r>
                          <a:rPr lang="en-US" sz="2800" b="1" i="0" u="none" strike="noStrike" cap="none" dirty="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H</a:t>
                        </a:r>
                        <a:endParaRPr dirty="0"/>
                      </a:p>
                    </a:txBody>
                    <a:tcPr marL="36000" marR="36000" marT="36000" marB="36000" anchor="ctr" anchorCtr="1">
                      <a:lnL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1168400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9pPr>
                      </a:lstStyle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2"/>
                          </a:buClr>
                          <a:buSzPts val="1820"/>
                          <a:buFont typeface="Noto Sans Symbols"/>
                          <a:buNone/>
                        </a:pPr>
                        <a:r>
                          <a:rPr lang="en-US" sz="2800" b="1" i="0" u="none" strike="noStrike" cap="none" dirty="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L</a:t>
                        </a:r>
                        <a:endParaRPr dirty="0"/>
                      </a:p>
                    </a:txBody>
                    <a:tcPr marL="36000" marR="36000" marT="36000" marB="36000" anchor="ctr" anchorCtr="1">
                      <a:lnL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9pPr>
                      </a:lstStyle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2"/>
                          </a:buClr>
                          <a:buSzPts val="1820"/>
                          <a:buFont typeface="Noto Sans Symbols"/>
                          <a:buNone/>
                        </a:pPr>
                        <a:r>
                          <a:rPr lang="en-US" sz="2800" b="1" i="0" u="none" strike="noStrike" cap="non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M</a:t>
                        </a:r>
                        <a:endParaRPr/>
                      </a:p>
                    </a:txBody>
                    <a:tcPr marL="36000" marR="36000" marT="36000" marB="36000" anchor="ctr" anchorCtr="1">
                      <a:lnL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9pPr>
                      </a:lstStyle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2"/>
                          </a:buClr>
                          <a:buSzPts val="1820"/>
                          <a:buFont typeface="Noto Sans Symbols"/>
                          <a:buNone/>
                        </a:pPr>
                        <a:r>
                          <a:rPr lang="en-US" sz="2800" b="1" i="0" u="none" strike="noStrike" cap="non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H</a:t>
                        </a:r>
                        <a:endParaRPr/>
                      </a:p>
                    </a:txBody>
                    <a:tcPr marL="36000" marR="36000" marT="36000" marB="36000" anchor="ctr" anchorCtr="1">
                      <a:lnL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1168400"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9pPr>
                      </a:lstStyle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2"/>
                          </a:buClr>
                          <a:buSzPts val="1820"/>
                          <a:buFont typeface="Noto Sans Symbols"/>
                          <a:buNone/>
                        </a:pPr>
                        <a:r>
                          <a:rPr lang="en-US" sz="2800" b="1" i="0" u="none" strike="noStrike" cap="non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L</a:t>
                        </a:r>
                        <a:endParaRPr/>
                      </a:p>
                    </a:txBody>
                    <a:tcPr marL="36000" marR="36000" marT="36000" marB="36000" anchor="ctr" anchorCtr="1">
                      <a:lnL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9pPr>
                      </a:lstStyle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2"/>
                          </a:buClr>
                          <a:buSzPts val="1820"/>
                          <a:buFont typeface="Noto Sans Symbols"/>
                          <a:buNone/>
                        </a:pPr>
                        <a:r>
                          <a:rPr lang="en-US" sz="2800" b="1" i="0" u="none" strike="noStrike" cap="non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L</a:t>
                        </a:r>
                        <a:endParaRPr/>
                      </a:p>
                    </a:txBody>
                    <a:tcPr marL="36000" marR="36000" marT="36000" marB="36000" anchor="ctr" anchorCtr="1">
                      <a:lnL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</a:defRPr>
                        </a:lvl9pPr>
                      </a:lstStyle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2"/>
                          </a:buClr>
                          <a:buSzPts val="1820"/>
                          <a:buFont typeface="Noto Sans Symbols"/>
                          <a:buNone/>
                        </a:pPr>
                        <a:r>
                          <a:rPr lang="en-US" sz="2800" b="1" i="0" u="none" strike="noStrike" cap="none" dirty="0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M</a:t>
                        </a:r>
                        <a:endParaRPr dirty="0"/>
                      </a:p>
                    </a:txBody>
                    <a:tcPr marL="36000" marR="36000" marT="36000" marB="36000" anchor="ctr" anchorCtr="1">
                      <a:lnL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2857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</a:tbl>
            </a:graphicData>
          </a:graphic>
        </p:graphicFrame>
        <p:sp>
          <p:nvSpPr>
            <p:cNvPr id="16" name="Google Shape;163;p6">
              <a:extLst>
                <a:ext uri="{FF2B5EF4-FFF2-40B4-BE49-F238E27FC236}">
                  <a16:creationId xmlns:a16="http://schemas.microsoft.com/office/drawing/2014/main" id="{E2B4A7EE-3785-41C7-83ED-09F07E5998FC}"/>
                </a:ext>
              </a:extLst>
            </p:cNvPr>
            <p:cNvSpPr/>
            <p:nvPr/>
          </p:nvSpPr>
          <p:spPr>
            <a:xfrm>
              <a:off x="4726012" y="4869411"/>
              <a:ext cx="3949136" cy="946453"/>
            </a:xfrm>
            <a:prstGeom prst="rightArrow">
              <a:avLst>
                <a:gd name="adj1" fmla="val 50000"/>
                <a:gd name="adj2" fmla="val 92456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" tIns="18000" rIns="18000" bIns="1800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600"/>
                <a:buFont typeface="Noto Sans Symbols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L                   M                  H</a:t>
              </a: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Google Shape;164;p6">
              <a:extLst>
                <a:ext uri="{FF2B5EF4-FFF2-40B4-BE49-F238E27FC236}">
                  <a16:creationId xmlns:a16="http://schemas.microsoft.com/office/drawing/2014/main" id="{6BCACCF8-14B9-4BAC-AC9F-D805573A3334}"/>
                </a:ext>
              </a:extLst>
            </p:cNvPr>
            <p:cNvSpPr/>
            <p:nvPr/>
          </p:nvSpPr>
          <p:spPr>
            <a:xfrm>
              <a:off x="3616381" y="1254296"/>
              <a:ext cx="990600" cy="3508375"/>
            </a:xfrm>
            <a:prstGeom prst="upArrow">
              <a:avLst>
                <a:gd name="adj1" fmla="val 50000"/>
                <a:gd name="adj2" fmla="val 88542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000" tIns="18000" rIns="18000" bIns="1800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600"/>
                <a:buFont typeface="Noto Sans Symbols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H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63634"/>
                </a:buClr>
                <a:buSzPts val="1600"/>
                <a:buFont typeface="Noto Sans Symbols"/>
                <a:buNone/>
                <a:tabLst/>
                <a:defRPr/>
              </a:pPr>
              <a:endParaRPr kumimoji="0" sz="16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63634"/>
                </a:buClr>
                <a:buSzPts val="1600"/>
                <a:buFont typeface="Noto Sans Symbols"/>
                <a:buNone/>
                <a:tabLst/>
                <a:defRPr/>
              </a:pPr>
              <a:endParaRPr kumimoji="0" sz="16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63634"/>
                </a:buClr>
                <a:buSzPts val="1600"/>
                <a:buFont typeface="Noto Sans Symbols"/>
                <a:buNone/>
                <a:tabLst/>
                <a:defRPr/>
              </a:pPr>
              <a:endParaRPr kumimoji="0" sz="16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63634"/>
                </a:buClr>
                <a:buSzPts val="1600"/>
                <a:buFont typeface="Noto Sans Symbols"/>
                <a:buNone/>
                <a:tabLst/>
                <a:defRPr/>
              </a:pPr>
              <a:endParaRPr kumimoji="0" sz="16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600"/>
                <a:buFont typeface="Noto Sans Symbols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M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63634"/>
                </a:buClr>
                <a:buSzPts val="1600"/>
                <a:buFont typeface="Noto Sans Symbols"/>
                <a:buNone/>
                <a:tabLst/>
                <a:defRPr/>
              </a:pPr>
              <a:endParaRPr kumimoji="0" sz="16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63634"/>
                </a:buClr>
                <a:buSzPts val="1600"/>
                <a:buFont typeface="Noto Sans Symbols"/>
                <a:buNone/>
                <a:tabLst/>
                <a:defRPr/>
              </a:pPr>
              <a:endParaRPr kumimoji="0" sz="16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63634"/>
                </a:buClr>
                <a:buSzPts val="1600"/>
                <a:buFont typeface="Noto Sans Symbols"/>
                <a:buNone/>
                <a:tabLst/>
                <a:defRPr/>
              </a:pPr>
              <a:endParaRPr kumimoji="0" sz="16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63634"/>
                </a:buClr>
                <a:buSzPts val="1600"/>
                <a:buFont typeface="Noto Sans Symbols"/>
                <a:buNone/>
                <a:tabLst/>
                <a:defRPr/>
              </a:pPr>
              <a:endParaRPr kumimoji="0" sz="16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600"/>
                <a:buFont typeface="Noto Sans Symbols"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L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5170058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L, M, H Consequence and L, M, H Likelihood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(This is relative and will change depending on the company.)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Risk Criteria Table: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2.5 What is an Acceptable Level of Risk?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3827338"/>
              </p:ext>
            </p:extLst>
          </p:nvPr>
        </p:nvGraphicFramePr>
        <p:xfrm>
          <a:off x="179999" y="1778000"/>
          <a:ext cx="8633400" cy="4295662"/>
        </p:xfrm>
        <a:graphic>
          <a:graphicData uri="http://schemas.openxmlformats.org/drawingml/2006/table">
            <a:tbl>
              <a:tblPr/>
              <a:tblGrid>
                <a:gridCol w="1144080">
                  <a:extLst>
                    <a:ext uri="{9D8B030D-6E8A-4147-A177-3AD203B41FA5}">
                      <a16:colId xmlns:a16="http://schemas.microsoft.com/office/drawing/2014/main" val="1824722372"/>
                    </a:ext>
                  </a:extLst>
                </a:gridCol>
                <a:gridCol w="3872269">
                  <a:extLst>
                    <a:ext uri="{9D8B030D-6E8A-4147-A177-3AD203B41FA5}">
                      <a16:colId xmlns:a16="http://schemas.microsoft.com/office/drawing/2014/main" val="2211066957"/>
                    </a:ext>
                  </a:extLst>
                </a:gridCol>
                <a:gridCol w="3617051">
                  <a:extLst>
                    <a:ext uri="{9D8B030D-6E8A-4147-A177-3AD203B41FA5}">
                      <a16:colId xmlns:a16="http://schemas.microsoft.com/office/drawing/2014/main" val="3910036085"/>
                    </a:ext>
                  </a:extLst>
                </a:gridCol>
              </a:tblGrid>
              <a:tr h="22730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Ratings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FFFFFF"/>
                      </a:fgClr>
                      <a:bgClr>
                        <a:srgbClr val="CCCCCC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Impact on PEAP (Consequences)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FFFFFF"/>
                      </a:fgClr>
                      <a:bgClr>
                        <a:srgbClr val="CCCCCC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Likelihood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rgbClr val="FFFFFF"/>
                      </a:fgClr>
                      <a:bgClr>
                        <a:srgbClr val="CCCCCC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4221653980"/>
                  </a:ext>
                </a:extLst>
              </a:tr>
              <a:tr h="14007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High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74320" indent="-274320"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200" u="sng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High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274320" indent="-274320"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2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	Disabling injury, loss of body part or fatality.</a:t>
                      </a:r>
                    </a:p>
                    <a:p>
                      <a:pPr marL="274320" indent="-274320"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2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	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Reportable violation, toxic release.</a:t>
                      </a:r>
                    </a:p>
                    <a:p>
                      <a:pPr marL="274320" indent="-274320"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2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	High repair cost (Typically &gt; $100k).</a:t>
                      </a:r>
                    </a:p>
                    <a:p>
                      <a:pPr marL="274320" indent="-274320"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200" b="1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Pr</a:t>
                      </a:r>
                      <a:r>
                        <a:rPr lang="en-US" sz="12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	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Loss of function of facility for extended period, with business consequences, major quality deviation.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u="sng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High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Repetitive event.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At least once per year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Several times in the life cycle of a project.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Has happened frequently in similar circumstances.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Greater than 50% chance of occurring.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243828"/>
                  </a:ext>
                </a:extLst>
              </a:tr>
              <a:tr h="124150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Medium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74320" indent="-274320"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200" u="sng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Medium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274320" indent="-274320"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2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	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Medical Aid injury.</a:t>
                      </a:r>
                    </a:p>
                    <a:p>
                      <a:pPr marL="274320" indent="-274320"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2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	Non-reportable spill, non toxic release.</a:t>
                      </a:r>
                    </a:p>
                    <a:p>
                      <a:pPr marL="274320" indent="-274320"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2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	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Moderate repair cost (typically &gt; $10k).</a:t>
                      </a:r>
                    </a:p>
                    <a:p>
                      <a:pPr marL="274320" indent="-274320"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200" b="1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Pr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	Short duration loss of function, serious quality deviation, medium business impact.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u="sng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Medium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Infrequent event.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May only happen occasionally (less than once per year).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Has been observed in similar circumstances.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 to 50% chance of occurring.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9280857"/>
                  </a:ext>
                </a:extLst>
              </a:tr>
              <a:tr h="136381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Low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74320" indent="-274320"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200" u="sng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Low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274320" indent="-274320"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	</a:t>
                      </a: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First aid injury.</a:t>
                      </a:r>
                    </a:p>
                    <a:p>
                      <a:pPr marL="274320" indent="-274320"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	</a:t>
                      </a: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Minor lead, non toxic fugitive emission.</a:t>
                      </a:r>
                    </a:p>
                    <a:p>
                      <a:pPr marL="274320" indent="-274320"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	Low repair cost (typically &lt;$10k).</a:t>
                      </a:r>
                    </a:p>
                    <a:p>
                      <a:pPr marL="274320" indent="-274320">
                        <a:spcAft>
                          <a:spcPts val="0"/>
                        </a:spcAft>
                        <a:tabLst>
                          <a:tab pos="274320" algn="l"/>
                        </a:tabLs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Pr</a:t>
                      </a: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	Brief interruption or minor quality deviation or minor cost to correct.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u="sng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Low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>
                          <a:tab pos="160020" algn="l"/>
                        </a:tabLst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Unlikely event.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>
                          <a:tab pos="160020" algn="l"/>
                        </a:tabLst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Never happened to date.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>
                          <a:tab pos="160020" algn="l"/>
                        </a:tabLst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Has never been observed but is still felt to be a possibility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  <a:tabLst>
                          <a:tab pos="160020" algn="l"/>
                        </a:tabLst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Less than 10% chance of occurring.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3029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494117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67" y="1458083"/>
            <a:ext cx="6654800" cy="4468584"/>
          </a:xfrm>
          <a:prstGeom prst="rect">
            <a:avLst/>
          </a:prstGeom>
        </p:spPr>
      </p:pic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L, M, H Consequence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Risk Criteria Table: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2.5 What is an Acceptable Level of Risk?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5C2EC7B-FE56-4CCF-8C00-01D949DDA1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6958" y="549205"/>
            <a:ext cx="2842664" cy="2746303"/>
          </a:xfrm>
          <a:prstGeom prst="rect">
            <a:avLst/>
          </a:prstGeom>
        </p:spPr>
      </p:pic>
      <p:cxnSp>
        <p:nvCxnSpPr>
          <p:cNvPr id="15" name="Google Shape;200;p8">
            <a:extLst>
              <a:ext uri="{FF2B5EF4-FFF2-40B4-BE49-F238E27FC236}">
                <a16:creationId xmlns:a16="http://schemas.microsoft.com/office/drawing/2014/main" id="{E511CD52-9334-4658-848A-1592CF74829A}"/>
              </a:ext>
            </a:extLst>
          </p:cNvPr>
          <p:cNvCxnSpPr/>
          <p:nvPr/>
        </p:nvCxnSpPr>
        <p:spPr>
          <a:xfrm flipV="1">
            <a:off x="2088898" y="1177269"/>
            <a:ext cx="3773214" cy="1194331"/>
          </a:xfrm>
          <a:prstGeom prst="straightConnector1">
            <a:avLst/>
          </a:prstGeom>
          <a:noFill/>
          <a:ln w="57150" cap="flat" cmpd="sng">
            <a:solidFill>
              <a:srgbClr val="000080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16" name="Google Shape;201;p8">
            <a:extLst>
              <a:ext uri="{FF2B5EF4-FFF2-40B4-BE49-F238E27FC236}">
                <a16:creationId xmlns:a16="http://schemas.microsoft.com/office/drawing/2014/main" id="{EA2C1B1D-6818-4207-B460-3C78F18C7989}"/>
              </a:ext>
            </a:extLst>
          </p:cNvPr>
          <p:cNvCxnSpPr/>
          <p:nvPr/>
        </p:nvCxnSpPr>
        <p:spPr>
          <a:xfrm flipV="1">
            <a:off x="2215022" y="1718956"/>
            <a:ext cx="3647090" cy="2165132"/>
          </a:xfrm>
          <a:prstGeom prst="straightConnector1">
            <a:avLst/>
          </a:prstGeom>
          <a:noFill/>
          <a:ln w="57150" cap="flat" cmpd="sng">
            <a:solidFill>
              <a:srgbClr val="000080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17" name="Google Shape;202;p8">
            <a:extLst>
              <a:ext uri="{FF2B5EF4-FFF2-40B4-BE49-F238E27FC236}">
                <a16:creationId xmlns:a16="http://schemas.microsoft.com/office/drawing/2014/main" id="{F719BDAC-D138-41E1-A4EC-CFFCDA4BFD50}"/>
              </a:ext>
            </a:extLst>
          </p:cNvPr>
          <p:cNvCxnSpPr/>
          <p:nvPr/>
        </p:nvCxnSpPr>
        <p:spPr>
          <a:xfrm flipV="1">
            <a:off x="1962774" y="2475701"/>
            <a:ext cx="3815255" cy="2690649"/>
          </a:xfrm>
          <a:prstGeom prst="straightConnector1">
            <a:avLst/>
          </a:prstGeom>
          <a:noFill/>
          <a:ln w="57150" cap="flat" cmpd="sng">
            <a:solidFill>
              <a:srgbClr val="000080"/>
            </a:solidFill>
            <a:prstDash val="solid"/>
            <a:round/>
            <a:headEnd type="none" w="med" len="med"/>
            <a:tailEnd type="triangle" w="lg" len="lg"/>
          </a:ln>
        </p:spPr>
      </p:cxnSp>
    </p:spTree>
    <p:extLst>
      <p:ext uri="{BB962C8B-B14F-4D97-AF65-F5344CB8AC3E}">
        <p14:creationId xmlns:p14="http://schemas.microsoft.com/office/powerpoint/2010/main" val="48565293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33" y="1728000"/>
            <a:ext cx="6604000" cy="4284000"/>
          </a:xfrm>
          <a:prstGeom prst="rect">
            <a:avLst/>
          </a:prstGeom>
        </p:spPr>
      </p:pic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indent="-360000" algn="r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L, M, H Likelihood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Risk Criteria Table: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2.5 What is an Acceptable Level of Risk?</a:t>
            </a:r>
          </a:p>
        </p:txBody>
      </p:sp>
      <p:cxnSp>
        <p:nvCxnSpPr>
          <p:cNvPr id="14" name="Google Shape;223;p9">
            <a:extLst>
              <a:ext uri="{FF2B5EF4-FFF2-40B4-BE49-F238E27FC236}">
                <a16:creationId xmlns:a16="http://schemas.microsoft.com/office/drawing/2014/main" id="{C303B19C-3551-481A-B987-C320BDB91E2A}"/>
              </a:ext>
            </a:extLst>
          </p:cNvPr>
          <p:cNvCxnSpPr>
            <a:cxnSpLocks/>
          </p:cNvCxnSpPr>
          <p:nvPr/>
        </p:nvCxnSpPr>
        <p:spPr>
          <a:xfrm flipH="1" flipV="1">
            <a:off x="1893182" y="3278628"/>
            <a:ext cx="2494905" cy="2211892"/>
          </a:xfrm>
          <a:prstGeom prst="straightConnector1">
            <a:avLst/>
          </a:prstGeom>
          <a:noFill/>
          <a:ln w="57150" cap="flat" cmpd="sng">
            <a:solidFill>
              <a:srgbClr val="000080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15" name="Google Shape;223;p9">
            <a:extLst>
              <a:ext uri="{FF2B5EF4-FFF2-40B4-BE49-F238E27FC236}">
                <a16:creationId xmlns:a16="http://schemas.microsoft.com/office/drawing/2014/main" id="{D7AF2A11-A2FD-4C53-B5C4-FB14E1D1C3DE}"/>
              </a:ext>
            </a:extLst>
          </p:cNvPr>
          <p:cNvCxnSpPr>
            <a:cxnSpLocks/>
          </p:cNvCxnSpPr>
          <p:nvPr/>
        </p:nvCxnSpPr>
        <p:spPr>
          <a:xfrm flipH="1" flipV="1">
            <a:off x="2696030" y="3358502"/>
            <a:ext cx="1692057" cy="882712"/>
          </a:xfrm>
          <a:prstGeom prst="straightConnector1">
            <a:avLst/>
          </a:prstGeom>
          <a:noFill/>
          <a:ln w="57150" cap="flat" cmpd="sng">
            <a:solidFill>
              <a:srgbClr val="000080"/>
            </a:solidFill>
            <a:prstDash val="solid"/>
            <a:round/>
            <a:headEnd type="none" w="med" len="med"/>
            <a:tailEnd type="triangle" w="lg" len="lg"/>
          </a:ln>
        </p:spPr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7BAF1E16-2074-437F-96D9-86A095471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512" y="786457"/>
            <a:ext cx="2842664" cy="2746303"/>
          </a:xfrm>
          <a:prstGeom prst="rect">
            <a:avLst/>
          </a:prstGeom>
        </p:spPr>
      </p:pic>
      <p:sp>
        <p:nvSpPr>
          <p:cNvPr id="17" name="Freeform 30">
            <a:extLst>
              <a:ext uri="{FF2B5EF4-FFF2-40B4-BE49-F238E27FC236}">
                <a16:creationId xmlns:a16="http://schemas.microsoft.com/office/drawing/2014/main" id="{E32BAA9F-E765-4033-ABF7-619CA8001FF4}"/>
              </a:ext>
            </a:extLst>
          </p:cNvPr>
          <p:cNvSpPr/>
          <p:nvPr/>
        </p:nvSpPr>
        <p:spPr>
          <a:xfrm>
            <a:off x="3316025" y="2256184"/>
            <a:ext cx="1098303" cy="1470179"/>
          </a:xfrm>
          <a:custGeom>
            <a:avLst/>
            <a:gdLst>
              <a:gd name="connsiteX0" fmla="*/ 1114096 w 1114096"/>
              <a:gd name="connsiteY0" fmla="*/ 0 h 1167467"/>
              <a:gd name="connsiteX1" fmla="*/ 346841 w 1114096"/>
              <a:gd name="connsiteY1" fmla="*/ 1135117 h 1167467"/>
              <a:gd name="connsiteX2" fmla="*/ 0 w 1114096"/>
              <a:gd name="connsiteY2" fmla="*/ 746234 h 116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14096" h="1167467">
                <a:moveTo>
                  <a:pt x="1114096" y="0"/>
                </a:moveTo>
                <a:cubicBezTo>
                  <a:pt x="823310" y="505372"/>
                  <a:pt x="532524" y="1010745"/>
                  <a:pt x="346841" y="1135117"/>
                </a:cubicBezTo>
                <a:cubicBezTo>
                  <a:pt x="161158" y="1259489"/>
                  <a:pt x="80579" y="1002861"/>
                  <a:pt x="0" y="746234"/>
                </a:cubicBezTo>
              </a:path>
            </a:pathLst>
          </a:custGeom>
          <a:noFill/>
          <a:ln w="57150" cap="flat" cmpd="sng">
            <a:solidFill>
              <a:srgbClr val="000080"/>
            </a:solidFill>
            <a:prstDash val="solid"/>
            <a:round/>
            <a:headEnd type="none" w="med" len="med"/>
            <a:tailEnd type="triangle" w="lg" len="lg"/>
          </a:ln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4058600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Simple Risk Matrix: </a:t>
            </a:r>
            <a:r>
              <a:rPr kumimoji="0" lang="en-CA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relates to the Risk Criteria Table, and demonstrates the relationship that Risk is a function of Consequence x Likelihood, </a:t>
            </a:r>
            <a:br>
              <a:rPr kumimoji="0" lang="en-CA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kumimoji="0" lang="en-CA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and categorizes the risk level.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Risk Matrix: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2.5 What is an Acceptable Level of Risk?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57E0A3-1842-4E0E-999C-804264140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0" y="1914178"/>
            <a:ext cx="4392000" cy="424182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3123" y="2031998"/>
            <a:ext cx="4177412" cy="210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60861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What does Risk Management Direction Mean?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For any given level of risk for an activity, there must be a decision about the activity based on its risk level (i.e. to proceed or not to proceed).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Risk Matrix: 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2.5 What is an Acceptable Level of Risk?</a:t>
            </a:r>
          </a:p>
        </p:txBody>
      </p:sp>
      <p:sp>
        <p:nvSpPr>
          <p:cNvPr id="6" name="Google Shape;603;p11">
            <a:extLst>
              <a:ext uri="{FF2B5EF4-FFF2-40B4-BE49-F238E27FC236}">
                <a16:creationId xmlns:a16="http://schemas.microsoft.com/office/drawing/2014/main" id="{E834E91D-FCF9-4113-915A-1D9C0A54BCD7}"/>
              </a:ext>
            </a:extLst>
          </p:cNvPr>
          <p:cNvSpPr/>
          <p:nvPr/>
        </p:nvSpPr>
        <p:spPr>
          <a:xfrm>
            <a:off x="5162873" y="2709370"/>
            <a:ext cx="3066254" cy="246221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High means “do not proceed”.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7" name="Google Shape;604;p11">
            <a:extLst>
              <a:ext uri="{FF2B5EF4-FFF2-40B4-BE49-F238E27FC236}">
                <a16:creationId xmlns:a16="http://schemas.microsoft.com/office/drawing/2014/main" id="{41BDE211-A98C-4343-ADAD-21ABEA38589F}"/>
              </a:ext>
            </a:extLst>
          </p:cNvPr>
          <p:cNvSpPr/>
          <p:nvPr/>
        </p:nvSpPr>
        <p:spPr>
          <a:xfrm>
            <a:off x="5162873" y="3134275"/>
            <a:ext cx="3032917" cy="738664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Medium means “do not proceed until further protective measures are applied”.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" name="Google Shape;605;p11">
            <a:extLst>
              <a:ext uri="{FF2B5EF4-FFF2-40B4-BE49-F238E27FC236}">
                <a16:creationId xmlns:a16="http://schemas.microsoft.com/office/drawing/2014/main" id="{44CE7E28-C0AF-4348-AC9C-A4023F197F0D}"/>
              </a:ext>
            </a:extLst>
          </p:cNvPr>
          <p:cNvSpPr/>
          <p:nvPr/>
        </p:nvSpPr>
        <p:spPr>
          <a:xfrm>
            <a:off x="5155121" y="4050468"/>
            <a:ext cx="3009899" cy="605137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Low means “proceed with caution” 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" name="Google Shape;606;p11">
            <a:extLst>
              <a:ext uri="{FF2B5EF4-FFF2-40B4-BE49-F238E27FC236}">
                <a16:creationId xmlns:a16="http://schemas.microsoft.com/office/drawing/2014/main" id="{B3CADBE5-DC42-404C-8798-7168388B2907}"/>
              </a:ext>
            </a:extLst>
          </p:cNvPr>
          <p:cNvSpPr txBox="1"/>
          <p:nvPr/>
        </p:nvSpPr>
        <p:spPr>
          <a:xfrm>
            <a:off x="5124375" y="4855447"/>
            <a:ext cx="3143250" cy="984885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If deemed too high, management direction will dictate how to reduce risks (likelihood and consequence) for a given activity.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14" name="Google Shape;403;p10">
            <a:extLst>
              <a:ext uri="{FF2B5EF4-FFF2-40B4-BE49-F238E27FC236}">
                <a16:creationId xmlns:a16="http://schemas.microsoft.com/office/drawing/2014/main" id="{ABB80690-E766-4206-B031-973117F7EBCE}"/>
              </a:ext>
            </a:extLst>
          </p:cNvPr>
          <p:cNvSpPr/>
          <p:nvPr/>
        </p:nvSpPr>
        <p:spPr>
          <a:xfrm>
            <a:off x="5155121" y="1924378"/>
            <a:ext cx="3081758" cy="55399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Risk Management Directions: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698B86-4D8F-40C3-8556-3B9205CF3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0" y="1914178"/>
            <a:ext cx="4392000" cy="424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51131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Up to interpretation; depends on risk tolerance of the organization.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Every organization will have a set of Management Directions.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You will need to explain and apply for your future organization!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</a:pPr>
            <a:r>
              <a:rPr lang="en-US" sz="2000" b="1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“Organization </a:t>
            </a:r>
            <a:r>
              <a:rPr lang="en-US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A”                               </a:t>
            </a:r>
            <a:r>
              <a:rPr lang="en-US" sz="2000" b="1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“Organization </a:t>
            </a:r>
            <a:r>
              <a:rPr lang="en-US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“B”</a:t>
            </a:r>
            <a:endParaRPr lang="en-US" dirty="0"/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Management Direction: 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2.5 What is an Acceptable Level of Risk?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0EC4CB9-922E-4269-9D0B-4DC07818B62F}"/>
              </a:ext>
            </a:extLst>
          </p:cNvPr>
          <p:cNvGrpSpPr/>
          <p:nvPr/>
        </p:nvGrpSpPr>
        <p:grpSpPr>
          <a:xfrm>
            <a:off x="454025" y="2395067"/>
            <a:ext cx="3876952" cy="3532872"/>
            <a:chOff x="454025" y="2395067"/>
            <a:chExt cx="3876952" cy="353287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7F37992-4C4C-41CA-B19E-681A50D4C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5062" y="2395067"/>
              <a:ext cx="3795915" cy="3532872"/>
            </a:xfrm>
            <a:prstGeom prst="rect">
              <a:avLst/>
            </a:prstGeom>
          </p:spPr>
        </p:pic>
        <p:sp>
          <p:nvSpPr>
            <p:cNvPr id="10" name="Rounded Rectangular Callout 3">
              <a:extLst>
                <a:ext uri="{FF2B5EF4-FFF2-40B4-BE49-F238E27FC236}">
                  <a16:creationId xmlns:a16="http://schemas.microsoft.com/office/drawing/2014/main" id="{21DB6101-4E6F-4700-9ABD-6C2B8BBF09A8}"/>
                </a:ext>
              </a:extLst>
            </p:cNvPr>
            <p:cNvSpPr/>
            <p:nvPr/>
          </p:nvSpPr>
          <p:spPr>
            <a:xfrm>
              <a:off x="454025" y="4508289"/>
              <a:ext cx="1854199" cy="449889"/>
            </a:xfrm>
            <a:prstGeom prst="wedgeRoundRectCallout">
              <a:avLst>
                <a:gd name="adj1" fmla="val 73077"/>
                <a:gd name="adj2" fmla="val -13184"/>
                <a:gd name="adj3" fmla="val 16667"/>
              </a:avLst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Low means readily proceed</a:t>
              </a:r>
            </a:p>
          </p:txBody>
        </p:sp>
        <p:sp>
          <p:nvSpPr>
            <p:cNvPr id="11" name="Rounded Rectangular Callout 11">
              <a:extLst>
                <a:ext uri="{FF2B5EF4-FFF2-40B4-BE49-F238E27FC236}">
                  <a16:creationId xmlns:a16="http://schemas.microsoft.com/office/drawing/2014/main" id="{81BFDD2A-868C-47D9-AB48-4A968C12097B}"/>
                </a:ext>
              </a:extLst>
            </p:cNvPr>
            <p:cNvSpPr/>
            <p:nvPr/>
          </p:nvSpPr>
          <p:spPr>
            <a:xfrm>
              <a:off x="454025" y="3459440"/>
              <a:ext cx="1854199" cy="956847"/>
            </a:xfrm>
            <a:prstGeom prst="wedgeRoundRectCallout">
              <a:avLst>
                <a:gd name="adj1" fmla="val 73672"/>
                <a:gd name="adj2" fmla="val -3471"/>
                <a:gd name="adj3" fmla="val 16667"/>
              </a:avLst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Medium means proceed with caution (ensure safeguards are adequate and implemented)</a:t>
              </a:r>
            </a:p>
          </p:txBody>
        </p:sp>
        <p:sp>
          <p:nvSpPr>
            <p:cNvPr id="14" name="Rounded Rectangular Callout 12">
              <a:extLst>
                <a:ext uri="{FF2B5EF4-FFF2-40B4-BE49-F238E27FC236}">
                  <a16:creationId xmlns:a16="http://schemas.microsoft.com/office/drawing/2014/main" id="{AF54D28B-F4C8-4BEC-8353-5BEEF691B2F7}"/>
                </a:ext>
              </a:extLst>
            </p:cNvPr>
            <p:cNvSpPr/>
            <p:nvPr/>
          </p:nvSpPr>
          <p:spPr>
            <a:xfrm>
              <a:off x="454025" y="2841278"/>
              <a:ext cx="2489200" cy="546100"/>
            </a:xfrm>
            <a:prstGeom prst="wedgeRoundRectCallout">
              <a:avLst>
                <a:gd name="adj1" fmla="val 77401"/>
                <a:gd name="adj2" fmla="val -6099"/>
                <a:gd name="adj3" fmla="val 16667"/>
              </a:avLst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High means do not proceed; take action to reduce risk if possible.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D833DC1-2C80-4FE9-9547-F14F7D363A23}"/>
              </a:ext>
            </a:extLst>
          </p:cNvPr>
          <p:cNvGrpSpPr/>
          <p:nvPr/>
        </p:nvGrpSpPr>
        <p:grpSpPr>
          <a:xfrm>
            <a:off x="4700660" y="2416831"/>
            <a:ext cx="3846440" cy="3532872"/>
            <a:chOff x="4700660" y="2416831"/>
            <a:chExt cx="3846440" cy="3532872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2E6B967-66A8-4885-A634-B08AE4C909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51185" y="2416831"/>
              <a:ext cx="3795915" cy="3532872"/>
            </a:xfrm>
            <a:prstGeom prst="rect">
              <a:avLst/>
            </a:prstGeom>
          </p:spPr>
        </p:pic>
        <p:sp>
          <p:nvSpPr>
            <p:cNvPr id="17" name="Rounded Rectangular Callout 14">
              <a:extLst>
                <a:ext uri="{FF2B5EF4-FFF2-40B4-BE49-F238E27FC236}">
                  <a16:creationId xmlns:a16="http://schemas.microsoft.com/office/drawing/2014/main" id="{2A436E15-C3E4-4F83-9990-4110E1044EA4}"/>
                </a:ext>
              </a:extLst>
            </p:cNvPr>
            <p:cNvSpPr/>
            <p:nvPr/>
          </p:nvSpPr>
          <p:spPr>
            <a:xfrm>
              <a:off x="4700660" y="4572512"/>
              <a:ext cx="1854199" cy="449889"/>
            </a:xfrm>
            <a:prstGeom prst="wedgeRoundRectCallout">
              <a:avLst>
                <a:gd name="adj1" fmla="val 72392"/>
                <a:gd name="adj2" fmla="val -13184"/>
                <a:gd name="adj3" fmla="val 16667"/>
              </a:avLst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Low means proceed with caution</a:t>
              </a:r>
            </a:p>
          </p:txBody>
        </p:sp>
        <p:sp>
          <p:nvSpPr>
            <p:cNvPr id="18" name="Rounded Rectangular Callout 15">
              <a:extLst>
                <a:ext uri="{FF2B5EF4-FFF2-40B4-BE49-F238E27FC236}">
                  <a16:creationId xmlns:a16="http://schemas.microsoft.com/office/drawing/2014/main" id="{42839533-C581-4CBC-910C-0FBB130660E0}"/>
                </a:ext>
              </a:extLst>
            </p:cNvPr>
            <p:cNvSpPr/>
            <p:nvPr/>
          </p:nvSpPr>
          <p:spPr>
            <a:xfrm>
              <a:off x="4700660" y="3500681"/>
              <a:ext cx="1854199" cy="956847"/>
            </a:xfrm>
            <a:prstGeom prst="wedgeRoundRectCallout">
              <a:avLst>
                <a:gd name="adj1" fmla="val 73672"/>
                <a:gd name="adj2" fmla="val -11435"/>
                <a:gd name="adj3" fmla="val 16667"/>
              </a:avLst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Medium means do not proceed until additional control measures are implemented. </a:t>
              </a:r>
            </a:p>
          </p:txBody>
        </p:sp>
        <p:sp>
          <p:nvSpPr>
            <p:cNvPr id="19" name="Rounded Rectangular Callout 16">
              <a:extLst>
                <a:ext uri="{FF2B5EF4-FFF2-40B4-BE49-F238E27FC236}">
                  <a16:creationId xmlns:a16="http://schemas.microsoft.com/office/drawing/2014/main" id="{33635A77-F5BC-48D3-B8EF-1A30F8F7728B}"/>
                </a:ext>
              </a:extLst>
            </p:cNvPr>
            <p:cNvSpPr/>
            <p:nvPr/>
          </p:nvSpPr>
          <p:spPr>
            <a:xfrm>
              <a:off x="4700661" y="2861661"/>
              <a:ext cx="2489200" cy="546100"/>
            </a:xfrm>
            <a:prstGeom prst="wedgeRoundRectCallout">
              <a:avLst>
                <a:gd name="adj1" fmla="val 76381"/>
                <a:gd name="adj2" fmla="val -8425"/>
                <a:gd name="adj3" fmla="val 16667"/>
              </a:avLst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High means do not proceed.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295961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Example: Apply Risk Management Direction</a:t>
            </a: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2.5 What is an Acceptable Level of Risk?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is Our Decision?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Scenario: of liquefied propane gas through a flexible transfer hose from storage tank to truck (an acceptable transfer).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Using Risk Criteria table: “has been observed in similar circumstances”, and “could result in a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disabling injury or fatality,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toxic/flammable release, etc.”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From the table: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Consequence = High, </a:t>
            </a:r>
            <a:b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Likelihood = Medium 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Therefore …. </a:t>
            </a:r>
          </a:p>
          <a:p>
            <a:pPr marL="432000" indent="-432000" eaLnBrk="0" fontAlgn="base" hangingPunct="0"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2000" dirty="0">
                <a:solidFill>
                  <a:srgbClr val="FFFFFF"/>
                </a:solidFill>
              </a:rPr>
              <a:t>Risk is “High”</a:t>
            </a:r>
          </a:p>
          <a:p>
            <a:pPr eaLnBrk="0" fontAlgn="base" hangingPunct="0">
              <a:spcAft>
                <a:spcPct val="0"/>
              </a:spcAft>
              <a:buClrTx/>
              <a:buSzPct val="100000"/>
              <a:defRPr/>
            </a:pPr>
            <a:r>
              <a:rPr lang="en-US" sz="2000" dirty="0">
                <a:solidFill>
                  <a:srgbClr val="FFFFFF"/>
                </a:solidFill>
              </a:rPr>
              <a:t>And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“Do NOT Proceed”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A8BD61-1149-404A-9D4B-48BD839E3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531" y="2671377"/>
            <a:ext cx="3476469" cy="3358623"/>
          </a:xfrm>
          <a:prstGeom prst="rect">
            <a:avLst/>
          </a:prstGeom>
        </p:spPr>
      </p:pic>
      <p:sp>
        <p:nvSpPr>
          <p:cNvPr id="10" name="Google Shape;660;p15">
            <a:extLst>
              <a:ext uri="{FF2B5EF4-FFF2-40B4-BE49-F238E27FC236}">
                <a16:creationId xmlns:a16="http://schemas.microsoft.com/office/drawing/2014/main" id="{82A9D2B6-2183-41BC-973B-6C74FC6CB807}"/>
              </a:ext>
            </a:extLst>
          </p:cNvPr>
          <p:cNvSpPr/>
          <p:nvPr/>
        </p:nvSpPr>
        <p:spPr>
          <a:xfrm>
            <a:off x="6418112" y="2786986"/>
            <a:ext cx="731837" cy="731838"/>
          </a:xfrm>
          <a:prstGeom prst="ellipse">
            <a:avLst/>
          </a:prstGeom>
          <a:noFill/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463634"/>
              </a:buClr>
              <a:buSzPts val="2400"/>
              <a:buFont typeface="Noto Sans Symbols"/>
              <a:buNone/>
            </a:pPr>
            <a:endParaRPr sz="2400">
              <a:solidFill>
                <a:srgbClr val="4636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659;p15">
            <a:extLst>
              <a:ext uri="{FF2B5EF4-FFF2-40B4-BE49-F238E27FC236}">
                <a16:creationId xmlns:a16="http://schemas.microsoft.com/office/drawing/2014/main" id="{B8BEF503-3EE4-421F-9883-3CCCE4EF2128}"/>
              </a:ext>
            </a:extLst>
          </p:cNvPr>
          <p:cNvSpPr/>
          <p:nvPr/>
        </p:nvSpPr>
        <p:spPr>
          <a:xfrm rot="-1693542">
            <a:off x="3539493" y="3703644"/>
            <a:ext cx="3091287" cy="85867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000000"/>
          </a:solidFill>
          <a:ln w="2857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Noto Sans Symbols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Do Not Proceed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29038686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Example: Apply Risk Management Direction</a:t>
            </a: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2.5 What is an Acceptable Level of Risk?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What Does This Mean about Our Business Activity?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We are in the business of storing, transferring, and shipping LPG, so …. do all LPG transfers need to cease? 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What needs to happen in order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for the activity to proceed?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We simply cannot shut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down our business, right?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What should we do?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CC52EE-F595-422C-A7AC-CDE5AB99B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531" y="2671377"/>
            <a:ext cx="3476469" cy="3358623"/>
          </a:xfrm>
          <a:prstGeom prst="rect">
            <a:avLst/>
          </a:prstGeom>
        </p:spPr>
      </p:pic>
      <p:sp>
        <p:nvSpPr>
          <p:cNvPr id="5" name="Google Shape;660;p15">
            <a:extLst>
              <a:ext uri="{FF2B5EF4-FFF2-40B4-BE49-F238E27FC236}">
                <a16:creationId xmlns:a16="http://schemas.microsoft.com/office/drawing/2014/main" id="{CA20CC23-2BD2-4390-9958-4A8C7F0D19CE}"/>
              </a:ext>
            </a:extLst>
          </p:cNvPr>
          <p:cNvSpPr/>
          <p:nvPr/>
        </p:nvSpPr>
        <p:spPr>
          <a:xfrm>
            <a:off x="6418112" y="2786986"/>
            <a:ext cx="731837" cy="731838"/>
          </a:xfrm>
          <a:prstGeom prst="ellipse">
            <a:avLst/>
          </a:prstGeom>
          <a:noFill/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463634"/>
              </a:buClr>
              <a:buSzPts val="2400"/>
              <a:buFont typeface="Noto Sans Symbols"/>
              <a:buNone/>
            </a:pPr>
            <a:endParaRPr sz="2400">
              <a:solidFill>
                <a:srgbClr val="4636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Google Shape;659;p15">
            <a:extLst>
              <a:ext uri="{FF2B5EF4-FFF2-40B4-BE49-F238E27FC236}">
                <a16:creationId xmlns:a16="http://schemas.microsoft.com/office/drawing/2014/main" id="{E9CAAEAC-D8CD-4059-A938-F60BD68F60E8}"/>
              </a:ext>
            </a:extLst>
          </p:cNvPr>
          <p:cNvSpPr/>
          <p:nvPr/>
        </p:nvSpPr>
        <p:spPr>
          <a:xfrm rot="-1693542">
            <a:off x="3539493" y="3703644"/>
            <a:ext cx="3091287" cy="85867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000000"/>
          </a:solidFill>
          <a:ln w="2857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Noto Sans Symbols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Do Not Proceed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526294843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Example: Apply Risk Management Direction</a:t>
            </a: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2.5 What is an Acceptable Level of Risk?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What should we do?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What should the management direction be?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How do you reduce the risk to an acceptable level? 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How do you decrease the likelihood and/or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consequence of an activity?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So you have reduced the risk: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Now what?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“Residual Risk” is the (acceptable)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level of risk ‘left over’ after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controls have been put in place.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Needs to be managed on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an ongoing basis.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DD17580-11A5-4DFC-891B-253A0F8EB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331" y="2650247"/>
            <a:ext cx="3476469" cy="3358623"/>
          </a:xfrm>
          <a:prstGeom prst="rect">
            <a:avLst/>
          </a:prstGeom>
        </p:spPr>
      </p:pic>
      <p:sp>
        <p:nvSpPr>
          <p:cNvPr id="3" name="Google Shape;660;p15">
            <a:extLst>
              <a:ext uri="{FF2B5EF4-FFF2-40B4-BE49-F238E27FC236}">
                <a16:creationId xmlns:a16="http://schemas.microsoft.com/office/drawing/2014/main" id="{2F1B4744-BA86-4ECA-8D99-78697EE7B6E3}"/>
              </a:ext>
            </a:extLst>
          </p:cNvPr>
          <p:cNvSpPr/>
          <p:nvPr/>
        </p:nvSpPr>
        <p:spPr>
          <a:xfrm>
            <a:off x="5856890" y="4668002"/>
            <a:ext cx="731837" cy="731838"/>
          </a:xfrm>
          <a:prstGeom prst="ellipse">
            <a:avLst/>
          </a:prstGeom>
          <a:noFill/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659;p15">
            <a:extLst>
              <a:ext uri="{FF2B5EF4-FFF2-40B4-BE49-F238E27FC236}">
                <a16:creationId xmlns:a16="http://schemas.microsoft.com/office/drawing/2014/main" id="{5D57E0A4-9AA8-4FEC-9DB0-CDFDB4F258FF}"/>
              </a:ext>
            </a:extLst>
          </p:cNvPr>
          <p:cNvSpPr/>
          <p:nvPr/>
        </p:nvSpPr>
        <p:spPr>
          <a:xfrm rot="20851054">
            <a:off x="2960695" y="4970505"/>
            <a:ext cx="3091287" cy="85867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000000"/>
          </a:solidFill>
          <a:ln w="2857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Noto Sans Symbols"/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OK to Proceed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3364985106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We evaluate risk to reduce PEAP losses and increase profitability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We use tools such as risk matrices and risk criteria tables to assess the level of risk from an activity.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If deemed too high, management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direction will dictate how to reduce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risks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(hazard, likelihood, consequence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a given activity to a level acceptable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the organization, or discontinue the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activity if not acceptable.  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level of risk after control measures have been applied to reduce the risk to an acceptable level is termed the “residual risk”.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Summary and Key Lessons: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2.5 What is an Acceptable Level of Risk?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EEA64C-3FFF-4796-AB61-CCE855378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2311" y="2566370"/>
            <a:ext cx="3941689" cy="214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50564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1182</Words>
  <Application>Microsoft Office PowerPoint</Application>
  <PresentationFormat>On-screen Show (4:3)</PresentationFormat>
  <Paragraphs>265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ＭＳ Ｐゴシック</vt:lpstr>
      <vt:lpstr>Arial</vt:lpstr>
      <vt:lpstr>Calibri</vt:lpstr>
      <vt:lpstr>Noto Sans Symbols</vt:lpstr>
      <vt:lpstr>Symbol</vt:lpstr>
      <vt:lpstr>Times New Roman</vt:lpstr>
      <vt:lpstr>Tw Cen MT</vt:lpstr>
      <vt:lpstr>Wingdings</vt:lpstr>
      <vt:lpstr>Default Design</vt:lpstr>
      <vt:lpstr>1_Default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JR Cocchio</dc:creator>
  <cp:lastModifiedBy>JR Cocchio</cp:lastModifiedBy>
  <cp:revision>58</cp:revision>
  <dcterms:created xsi:type="dcterms:W3CDTF">2011-09-07T03:22:54Z</dcterms:created>
  <dcterms:modified xsi:type="dcterms:W3CDTF">2020-09-08T02:59:10Z</dcterms:modified>
</cp:coreProperties>
</file>