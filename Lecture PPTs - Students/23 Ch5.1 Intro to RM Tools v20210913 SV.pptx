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13" r:id="rId2"/>
    <p:sldMasterId id="2147483718" r:id="rId3"/>
    <p:sldMasterId id="2147483723" r:id="rId4"/>
  </p:sldMasterIdLst>
  <p:notesMasterIdLst>
    <p:notesMasterId r:id="rId28"/>
  </p:notesMasterIdLst>
  <p:sldIdLst>
    <p:sldId id="895" r:id="rId5"/>
    <p:sldId id="880" r:id="rId6"/>
    <p:sldId id="953" r:id="rId7"/>
    <p:sldId id="929" r:id="rId8"/>
    <p:sldId id="934" r:id="rId9"/>
    <p:sldId id="935" r:id="rId10"/>
    <p:sldId id="937" r:id="rId11"/>
    <p:sldId id="932" r:id="rId12"/>
    <p:sldId id="958" r:id="rId13"/>
    <p:sldId id="933" r:id="rId14"/>
    <p:sldId id="949" r:id="rId15"/>
    <p:sldId id="962" r:id="rId16"/>
    <p:sldId id="938" r:id="rId17"/>
    <p:sldId id="939" r:id="rId18"/>
    <p:sldId id="952" r:id="rId19"/>
    <p:sldId id="941" r:id="rId20"/>
    <p:sldId id="942" r:id="rId21"/>
    <p:sldId id="943" r:id="rId22"/>
    <p:sldId id="945" r:id="rId23"/>
    <p:sldId id="946" r:id="rId24"/>
    <p:sldId id="959" r:id="rId25"/>
    <p:sldId id="960" r:id="rId26"/>
    <p:sldId id="96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CCECFF"/>
    <a:srgbClr val="CC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73" autoAdjust="0"/>
  </p:normalViewPr>
  <p:slideViewPr>
    <p:cSldViewPr snapToGrid="0">
      <p:cViewPr varScale="1">
        <p:scale>
          <a:sx n="74" d="100"/>
          <a:sy n="74" d="100"/>
        </p:scale>
        <p:origin x="10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B33E5-8C4C-4E85-BEBF-D3242DFF86DC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A2075-A6F1-4E03-8896-95FD9C4B7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36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3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783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5 tools we use and will be discussing each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Cdn</a:t>
            </a:r>
            <a:r>
              <a:rPr lang="en-CA" dirty="0"/>
              <a:t> Centre for OHS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514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5 tools we use and will be discussing each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Cdn</a:t>
            </a:r>
            <a:r>
              <a:rPr lang="en-CA" dirty="0"/>
              <a:t> Centre for OHS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401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6661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313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680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493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3868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916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232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544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90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5 tools we use and will be discussing each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Cdn</a:t>
            </a:r>
            <a:r>
              <a:rPr lang="en-CA" dirty="0"/>
              <a:t> Centre for OHS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137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5 tools we use and will be discussing each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Cdn</a:t>
            </a:r>
            <a:r>
              <a:rPr lang="en-CA" dirty="0"/>
              <a:t> Centre for OHS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9975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5 tools we use and will be discussing each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Cdn</a:t>
            </a:r>
            <a:r>
              <a:rPr lang="en-CA" dirty="0"/>
              <a:t> Centre for OHS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319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13739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9458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771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985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978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918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1830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3806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9/14/2021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76770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2724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8108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786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9/14/2021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47135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218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695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3372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9/14/2021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49693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7526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2865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177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9/14/2021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74539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jpe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66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56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79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76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5.1: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Introduction to Tools to Reduce Risk </a:t>
            </a:r>
            <a:r>
              <a:rPr lang="en-CA" altLang="en-US" sz="3200" b="1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CA" altLang="en-US" sz="3200" b="1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</a:t>
            </a: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Recognize the tools for leadership in risk management, and explain the overall purpose of these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tools.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how to resolve risk concerns by applying a risk reduction hierarchy (order of effectiveness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).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Interpret, critique, and create the following risk management tools: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Field Level Risk Assessment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Semi-Quantitative Risk Assessment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Job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Observations and Planned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Inspections (Audits)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all of these tools as a rudimentary skill of leadership to observe, interact, commend or intervene / coach employees in the work-place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how to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ask and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benefits of asking “open-ended questions”. 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is a function of consequence and likelihood of an uncontrolled hazard.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A potential source of serious harm to people, environment, assets or production.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Consequence: The harm imparted on people, environment, assets or production, when the hazard is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uncontrolled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“Something Bad Could Happen”: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160" y="2947744"/>
            <a:ext cx="5691162" cy="2893296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0854683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the RM work process: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determined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before / without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measures, but can also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determined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with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control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measures.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Various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 can be used to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analyze and reduce risk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an </a:t>
            </a:r>
            <a:b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i.e. reduce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</a:t>
            </a:r>
            <a:r>
              <a:rPr kumimoji="0" lang="en-CA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or likelihood, or </a:t>
            </a:r>
            <a:br>
              <a:rPr kumimoji="0" lang="en-CA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eliminate the hazard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Management Work Process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877;p4">
            <a:extLst>
              <a:ext uri="{FF2B5EF4-FFF2-40B4-BE49-F238E27FC236}">
                <a16:creationId xmlns:a16="http://schemas.microsoft.com/office/drawing/2014/main" id="{115EB0BB-1DD2-41F7-9B88-E457F42545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864000"/>
            <a:ext cx="3972560" cy="5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69" y="4026969"/>
            <a:ext cx="3852605" cy="195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418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this course:</a:t>
            </a:r>
            <a:endParaRPr kumimoji="0" lang="en-CA" altLang="en-US" sz="2000" b="1" i="0" u="none" strike="noStrike" kern="120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FLRA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SQRA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Planned Inspections &amp; Audits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80000" y="2520000"/>
            <a:ext cx="8640000" cy="2160000"/>
            <a:chOff x="324000" y="2829430"/>
            <a:chExt cx="8489400" cy="2150396"/>
          </a:xfrm>
        </p:grpSpPr>
        <p:sp>
          <p:nvSpPr>
            <p:cNvPr id="10" name="Google Shape;700;p2">
              <a:extLst>
                <a:ext uri="{FF2B5EF4-FFF2-40B4-BE49-F238E27FC236}">
                  <a16:creationId xmlns:a16="http://schemas.microsoft.com/office/drawing/2014/main" id="{C60DAF2D-312C-427D-B8FC-4BB46919D377}"/>
                </a:ext>
              </a:extLst>
            </p:cNvPr>
            <p:cNvSpPr/>
            <p:nvPr/>
          </p:nvSpPr>
          <p:spPr>
            <a:xfrm>
              <a:off x="324000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2000"/>
                <a:buFont typeface="Arial"/>
                <a:buNone/>
                <a:defRPr/>
              </a:pPr>
              <a:r>
                <a:rPr lang="en-US" sz="2000" b="1" kern="0">
                  <a:solidFill>
                    <a:srgbClr val="FFFFFF"/>
                  </a:solidFill>
                  <a:ea typeface="Arial"/>
                  <a:cs typeface="Arial"/>
                  <a:sym typeface="Arial"/>
                </a:rPr>
                <a:t>FLRAs</a:t>
              </a:r>
              <a:endParaRPr sz="2000" kern="0">
                <a:solidFill>
                  <a:srgbClr val="FFFFFF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701;p2">
              <a:extLst>
                <a:ext uri="{FF2B5EF4-FFF2-40B4-BE49-F238E27FC236}">
                  <a16:creationId xmlns:a16="http://schemas.microsoft.com/office/drawing/2014/main" id="{559D24CF-85D1-4415-BFD0-879BE5339ED8}"/>
                </a:ext>
              </a:extLst>
            </p:cNvPr>
            <p:cNvSpPr/>
            <p:nvPr/>
          </p:nvSpPr>
          <p:spPr>
            <a:xfrm>
              <a:off x="1941029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FFFFFF"/>
                </a:buClr>
                <a:buSzPts val="2000"/>
                <a:buFont typeface="Arial"/>
                <a:buNone/>
                <a:defRPr/>
              </a:pPr>
              <a:r>
                <a:rPr lang="en-US" sz="2000" b="1" kern="0">
                  <a:solidFill>
                    <a:srgbClr val="FFFFFF"/>
                  </a:solidFill>
                  <a:ea typeface="Arial"/>
                  <a:cs typeface="Arial"/>
                  <a:sym typeface="Arial"/>
                </a:rPr>
                <a:t>SQRAs</a:t>
              </a:r>
              <a:endParaRPr sz="2000" kern="0">
                <a:solidFill>
                  <a:srgbClr val="FFFFFF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02;p2">
              <a:extLst>
                <a:ext uri="{FF2B5EF4-FFF2-40B4-BE49-F238E27FC236}">
                  <a16:creationId xmlns:a16="http://schemas.microsoft.com/office/drawing/2014/main" id="{6146329D-C620-4B8E-BC00-B5E00F4DEDF1}"/>
                </a:ext>
              </a:extLst>
            </p:cNvPr>
            <p:cNvSpPr/>
            <p:nvPr/>
          </p:nvSpPr>
          <p:spPr>
            <a:xfrm>
              <a:off x="3558057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FFFFFF"/>
                </a:buClr>
                <a:buSzPts val="1800"/>
                <a:buFont typeface="Arial"/>
                <a:buNone/>
                <a:defRPr/>
              </a:pPr>
              <a:r>
                <a:rPr lang="en-US" sz="2000" b="1" kern="0" dirty="0">
                  <a:solidFill>
                    <a:schemeClr val="accent5">
                      <a:lumMod val="25000"/>
                    </a:schemeClr>
                  </a:solidFill>
                  <a:ea typeface="Arial"/>
                  <a:cs typeface="Arial"/>
                  <a:sym typeface="Arial"/>
                </a:rPr>
                <a:t>JSAs</a:t>
              </a:r>
              <a:endParaRPr sz="2000" b="1" kern="0" dirty="0">
                <a:solidFill>
                  <a:schemeClr val="accent5">
                    <a:lumMod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703;p2">
              <a:extLst>
                <a:ext uri="{FF2B5EF4-FFF2-40B4-BE49-F238E27FC236}">
                  <a16:creationId xmlns:a16="http://schemas.microsoft.com/office/drawing/2014/main" id="{A4453192-F82C-4F77-9CAE-18F431E0E63E}"/>
                </a:ext>
              </a:extLst>
            </p:cNvPr>
            <p:cNvSpPr/>
            <p:nvPr/>
          </p:nvSpPr>
          <p:spPr>
            <a:xfrm>
              <a:off x="5175085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FFFFFF"/>
                </a:buClr>
                <a:buSzPts val="1800"/>
                <a:buFont typeface="Arial"/>
                <a:buNone/>
                <a:defRPr/>
              </a:pPr>
              <a:r>
                <a:rPr lang="en-US" sz="2000" b="1" kern="0">
                  <a:solidFill>
                    <a:schemeClr val="accent5">
                      <a:lumMod val="25000"/>
                    </a:schemeClr>
                  </a:solidFill>
                  <a:ea typeface="Arial"/>
                  <a:cs typeface="Arial"/>
                  <a:sym typeface="Arial"/>
                </a:rPr>
                <a:t>Checklists</a:t>
              </a:r>
              <a:endParaRPr sz="2000" b="1" kern="0">
                <a:solidFill>
                  <a:schemeClr val="accent5">
                    <a:lumMod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704;p2">
              <a:extLst>
                <a:ext uri="{FF2B5EF4-FFF2-40B4-BE49-F238E27FC236}">
                  <a16:creationId xmlns:a16="http://schemas.microsoft.com/office/drawing/2014/main" id="{BA99B1E6-4050-4835-9231-A54FA8A13FE2}"/>
                </a:ext>
              </a:extLst>
            </p:cNvPr>
            <p:cNvSpPr/>
            <p:nvPr/>
          </p:nvSpPr>
          <p:spPr>
            <a:xfrm>
              <a:off x="6792115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FFFFFF"/>
                </a:buClr>
                <a:buSzPts val="1800"/>
                <a:buFont typeface="Arial"/>
                <a:buNone/>
                <a:defRPr/>
              </a:pPr>
              <a:r>
                <a:rPr lang="en-US" sz="2000" b="1" kern="0" dirty="0">
                  <a:solidFill>
                    <a:srgbClr val="FFFFFF"/>
                  </a:solidFill>
                  <a:ea typeface="Arial"/>
                  <a:cs typeface="Arial"/>
                  <a:sym typeface="Arial"/>
                </a:rPr>
                <a:t>Planned Inspections &amp; Audits</a:t>
              </a:r>
              <a:endParaRPr sz="2000" b="1" kern="0" dirty="0">
                <a:solidFill>
                  <a:srgbClr val="FFFFFF"/>
                </a:solidFill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903;p6">
            <a:extLst>
              <a:ext uri="{FF2B5EF4-FFF2-40B4-BE49-F238E27FC236}">
                <a16:creationId xmlns:a16="http://schemas.microsoft.com/office/drawing/2014/main" id="{5BE426E2-117D-4B20-84BB-D60843F7FB1E}"/>
              </a:ext>
            </a:extLst>
          </p:cNvPr>
          <p:cNvSpPr txBox="1"/>
          <p:nvPr/>
        </p:nvSpPr>
        <p:spPr>
          <a:xfrm>
            <a:off x="180000" y="4932000"/>
            <a:ext cx="8640000" cy="1080000"/>
          </a:xfrm>
          <a:prstGeom prst="rect">
            <a:avLst/>
          </a:prstGeom>
          <a:solidFill>
            <a:srgbClr val="0000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FFFFFF"/>
              </a:buClr>
              <a:buSzPts val="2000"/>
              <a:buFont typeface="Noto Sans Symbols"/>
              <a:buNone/>
              <a:defRPr/>
            </a:pPr>
            <a:r>
              <a:rPr lang="en-US" sz="2000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What tools have you used in your work terms? MM-Poll</a:t>
            </a:r>
            <a:endParaRPr sz="2000" kern="0" dirty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12183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lang="en-CA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approach to these and similar risk reduction tools is the same: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are you doing?” (Activity)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can go wrong?” (Hazards and Risks)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are you going to do about it?” 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en-CA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Detailed Approach: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risk assessment methodology answers these 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questions in order to identify control measure to reduce risk to an acceptable level:</a:t>
            </a: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doing?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(Activity)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could go wrong?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bad could it be?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(Consequence)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likely is it to happen?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(Likelihood)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it acceptable?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(Risk)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I do about it?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(Controls – Admin or </a:t>
            </a:r>
            <a:r>
              <a:rPr lang="en-CA" altLang="en-US" i="1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Eng’g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the control change the L and C? </a:t>
            </a:r>
            <a:b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(Reduce, remain unchanged, or increase?)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000" y="1251627"/>
            <a:ext cx="3110080" cy="157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659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lvl="0" fontAlgn="base"/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sz="240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Risk </a:t>
            </a:r>
            <a:r>
              <a:rPr lang="en-US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Reduction to Making Soup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/>
          <a:lstStyle/>
          <a:p>
            <a:pPr marL="36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Common activity: “cooking noodle soup for lunch” and it needs </a:t>
            </a:r>
            <a:r>
              <a:rPr lang="en-US" altLang="en-US" sz="200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be done </a:t>
            </a: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carefully to “prevent burning yourself”.</a:t>
            </a: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Responses to the questions:</a:t>
            </a: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activity: holding pot of boiling soup</a:t>
            </a:r>
          </a:p>
          <a:p>
            <a:pPr marL="72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</a:t>
            </a:r>
            <a:r>
              <a:rPr lang="en-US" altLang="en-US" sz="200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</a:t>
            </a: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risk: hot handle, burn hand on hot handle</a:t>
            </a:r>
          </a:p>
          <a:p>
            <a:pPr marL="72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measure: use a pot holder or oven mitt.</a:t>
            </a: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 descr="single word requests - What is the name for the &lt;strong&gt;glove&lt;/strong&gt; worn ..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80" b="2332"/>
          <a:stretch/>
        </p:blipFill>
        <p:spPr>
          <a:xfrm>
            <a:off x="4893686" y="3304898"/>
            <a:ext cx="3386314" cy="2424000"/>
          </a:xfrm>
          <a:prstGeom prst="rect">
            <a:avLst/>
          </a:prstGeom>
        </p:spPr>
      </p:pic>
      <p:pic>
        <p:nvPicPr>
          <p:cNvPr id="4" name="Picture 3" descr="food science - Is this &lt;strong&gt;soup&lt;/strong&gt;, stew, or something else ..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43" y="3304898"/>
            <a:ext cx="3232000" cy="2424000"/>
          </a:xfrm>
          <a:prstGeom prst="rect">
            <a:avLst/>
          </a:prstGeom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7013673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This Apply To You as Engineers?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</a:t>
            </a:r>
            <a:r>
              <a:rPr lang="en-CA" altLang="en-US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powerful </a:t>
            </a:r>
            <a:r>
              <a:rPr lang="en-CA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</a:t>
            </a:r>
            <a:r>
              <a:rPr lang="en-CA" altLang="en-US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can positively </a:t>
            </a:r>
            <a:b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influence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culture in two ways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Times New Roman"/>
              <a:buAutoNum type="arabicParenR"/>
              <a:tabLst/>
              <a:defRPr/>
            </a:pPr>
            <a:r>
              <a:rPr kumimoji="0" lang="en-CA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Application: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manage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risks to acceptable </a:t>
            </a:r>
            <a:b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levels and prevent incidents</a:t>
            </a: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Times New Roman"/>
              <a:buAutoNum type="arabicParenR"/>
              <a:tabLst/>
              <a:defRPr/>
            </a:pPr>
            <a:r>
              <a:rPr kumimoji="0" lang="en-CA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Coaching &amp; Mentoring: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Trains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managers to be </a:t>
            </a: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effective;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Raises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visibility: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“walk the talk” 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“lead by example”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CA" sz="20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Engages workers and sets expectations for leader-worker interactions!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CA" b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CA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Q: How </a:t>
            </a:r>
            <a:r>
              <a:rPr lang="en-CA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and Why?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Management – Application &amp; Coaching: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3F519D-4A19-46FF-9074-F9A1317C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145" y="1405792"/>
            <a:ext cx="2650522" cy="24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3271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these powerful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 applied and why?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lang="en-CA" b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Apply this Key Leadership Skill: 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Successful leaders must develop and practice </a:t>
            </a:r>
            <a:b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their ability to ask “</a:t>
            </a:r>
            <a:r>
              <a:rPr lang="en-CA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open-ended questions</a:t>
            </a: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”: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“Help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me understand the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work you are </a:t>
            </a:r>
            <a:b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doing and its hazards.”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“Can you explain to me how your work is </a:t>
            </a:r>
            <a:b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,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and how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to improve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it?”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“Can you tell me about the hazards and safeguards </a:t>
            </a:r>
            <a:b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that are associated with your work?”</a:t>
            </a:r>
            <a:endParaRPr lang="en-CA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lang="en-CA" b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Why?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Demonstrates </a:t>
            </a:r>
            <a:r>
              <a:rPr lang="en-CA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management commitment and leadership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(#1 </a:t>
            </a: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MLCA)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Coach 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in a </a:t>
            </a:r>
            <a:r>
              <a:rPr lang="en-CA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visible and effective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manner (supportive, not adversarial, not confrontational).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– Application &amp; </a:t>
            </a: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Coaching: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3F519D-4A19-46FF-9074-F9A1317C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145" y="1405792"/>
            <a:ext cx="2650522" cy="24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3896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risk assessment methodology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answers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questions: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doing?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(Activity)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could go wrong?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bad could it be?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(Consequence)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likely is it to happen?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(Likelihood)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it acceptable?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(Risk)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I do about it?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(Controls – Admin or Eng’g)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the control change the L and C?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(Reduce, remain unchanged, or increase?)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 different risk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reductions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 with </a:t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same basic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approach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same outcome.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leader uses these tools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positively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influence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culture by demonstrating commitment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</a:t>
            </a:r>
            <a:b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leadership. 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baseline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Leadership Skill: Ability to ask “open-ended questions”.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938;p9">
            <a:extLst>
              <a:ext uri="{FF2B5EF4-FFF2-40B4-BE49-F238E27FC236}">
                <a16:creationId xmlns:a16="http://schemas.microsoft.com/office/drawing/2014/main" id="{388B05BF-C68C-4DE7-81C0-F5899CED416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0203" y="3850640"/>
            <a:ext cx="2356497" cy="215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971" y="1053276"/>
            <a:ext cx="3109229" cy="157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1907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Complete Slide Deck</a:t>
            </a: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follows with 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details.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0192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Recognize the tools for leadership in risk management, and explain the overall purpose of these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tools.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how to resolve risk concerns by applying a risk reduction hierarchy (order of effectiveness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).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Interpret, critique, and create the following risk management tools: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Field Level Risk Assessment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Semi-Quantitative Risk Assessment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Job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Observations and Planned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Inspections (Audits)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all of these tools as a rudimentary skill of leadership to observe, interact, commend or intervene / coach employees in the work-place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how to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ask and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benefits of asking “open-ended questions”. 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65905924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Note: Your courseware may also include instruction</a:t>
            </a:r>
            <a:r>
              <a:rPr kumimoji="0" lang="en-CA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on: 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CCOHS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Job Safety Analysis Model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Checklists for Executing Work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Multi-layered Approach to Hazard / Risk Assessment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Reporting and Correcting Sub-standard Conditions and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At-Risk Behaviours (Sub-standard Practices)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Job Observations and Planned Inspections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all of these tools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kumimoji="0" lang="en-CA" alt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above and </a:t>
            </a:r>
            <a:r>
              <a:rPr lang="en-US" altLang="en-US" sz="180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Field Level Risk </a:t>
            </a:r>
            <a:r>
              <a:rPr lang="en-US" altLang="en-US" sz="180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Assessment, </a:t>
            </a:r>
            <a:endParaRPr lang="en-US" altLang="en-US" sz="1800" i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Semi-Quantitative Risk </a:t>
            </a:r>
            <a:r>
              <a:rPr lang="en-US" altLang="en-US" sz="180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Assessment, Job </a:t>
            </a:r>
            <a:r>
              <a:rPr lang="en-US" altLang="en-US" sz="180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Observations and Planned Inspections (Audits</a:t>
            </a:r>
            <a:r>
              <a:rPr lang="en-US" altLang="en-US" sz="180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as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rudimentary skill of leadership to observe, interact, commend or intervene / coach employees in the work-place.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317580936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two definitions: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Hazard: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potential source of serious harm to people, environment, assets or production.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Consequence: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harm imparted on people, environment, assets or production, when the hazard is uncontrolled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– “something bad could happen”: </a:t>
            </a:r>
          </a:p>
          <a:p>
            <a:pPr marL="1253400" marR="0" lvl="2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possibility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exposures (PEAP)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created by a hazard. </a:t>
            </a:r>
          </a:p>
          <a:p>
            <a:pPr marL="1253400" marR="0" lvl="2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significance of risk is a </a:t>
            </a:r>
            <a:r>
              <a:rPr kumimoji="0" lang="en-CA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function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the </a:t>
            </a:r>
            <a:r>
              <a:rPr kumimoji="0" lang="en-CA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an unwanted incident and the </a:t>
            </a:r>
            <a:r>
              <a:rPr kumimoji="0" lang="en-CA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or the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impact on PEAP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</a:p>
          <a:p>
            <a:pPr marL="1253400" marR="0" lvl="2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Several methodologies are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widely </a:t>
            </a:r>
            <a:b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practiced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In practice, there are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countless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variations of these tools,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go by different names.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gaining skills in these builds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skills in most of those variations.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“Something Bad Could Happen”: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866078"/>
            <a:ext cx="3883398" cy="197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110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the RM work process: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determined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before / without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measures, but can also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determined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with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control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measures.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Various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 can be used to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analyze and reduce risk to an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i.e. reduce</a:t>
            </a:r>
            <a:b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 or likelihood, or </a:t>
            </a:r>
            <a:b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eliminate the hazard.</a:t>
            </a: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Management Work Process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877;p4">
            <a:extLst>
              <a:ext uri="{FF2B5EF4-FFF2-40B4-BE49-F238E27FC236}">
                <a16:creationId xmlns:a16="http://schemas.microsoft.com/office/drawing/2014/main" id="{115EB0BB-1DD2-41F7-9B88-E457F42545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864000"/>
            <a:ext cx="3972560" cy="5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69" y="4026969"/>
            <a:ext cx="3852605" cy="195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6096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Common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Reduction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 used in Industry for Assessing Risk, and Reducing &amp; Controlling Risk to An Acceptable Level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Reduction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sp>
        <p:nvSpPr>
          <p:cNvPr id="6" name="Google Shape;903;p6">
            <a:extLst>
              <a:ext uri="{FF2B5EF4-FFF2-40B4-BE49-F238E27FC236}">
                <a16:creationId xmlns:a16="http://schemas.microsoft.com/office/drawing/2014/main" id="{5BE426E2-117D-4B20-84BB-D60843F7FB1E}"/>
              </a:ext>
            </a:extLst>
          </p:cNvPr>
          <p:cNvSpPr txBox="1"/>
          <p:nvPr/>
        </p:nvSpPr>
        <p:spPr>
          <a:xfrm>
            <a:off x="180000" y="4932000"/>
            <a:ext cx="8640000" cy="1080000"/>
          </a:xfrm>
          <a:prstGeom prst="rect">
            <a:avLst/>
          </a:prstGeom>
          <a:solidFill>
            <a:srgbClr val="0000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What tools have you used in your work terms? MM-Poll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" name="Google Shape;699;p2">
            <a:extLst>
              <a:ext uri="{FF2B5EF4-FFF2-40B4-BE49-F238E27FC236}">
                <a16:creationId xmlns:a16="http://schemas.microsoft.com/office/drawing/2014/main" id="{B3663855-1660-4218-A380-483EB267AB84}"/>
              </a:ext>
            </a:extLst>
          </p:cNvPr>
          <p:cNvGrpSpPr/>
          <p:nvPr/>
        </p:nvGrpSpPr>
        <p:grpSpPr>
          <a:xfrm>
            <a:off x="180000" y="2520000"/>
            <a:ext cx="8640000" cy="2160000"/>
            <a:chOff x="305869" y="2843240"/>
            <a:chExt cx="8760861" cy="2085919"/>
          </a:xfrm>
        </p:grpSpPr>
        <p:sp>
          <p:nvSpPr>
            <p:cNvPr id="10" name="Google Shape;700;p2">
              <a:extLst>
                <a:ext uri="{FF2B5EF4-FFF2-40B4-BE49-F238E27FC236}">
                  <a16:creationId xmlns:a16="http://schemas.microsoft.com/office/drawing/2014/main" id="{C60DAF2D-312C-427D-B8FC-4BB46919D377}"/>
                </a:ext>
              </a:extLst>
            </p:cNvPr>
            <p:cNvSpPr/>
            <p:nvPr/>
          </p:nvSpPr>
          <p:spPr>
            <a:xfrm>
              <a:off x="305869" y="2843240"/>
              <a:ext cx="2085919" cy="2085919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FLRAs</a:t>
              </a: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701;p2">
              <a:extLst>
                <a:ext uri="{FF2B5EF4-FFF2-40B4-BE49-F238E27FC236}">
                  <a16:creationId xmlns:a16="http://schemas.microsoft.com/office/drawing/2014/main" id="{559D24CF-85D1-4415-BFD0-879BE5339ED8}"/>
                </a:ext>
              </a:extLst>
            </p:cNvPr>
            <p:cNvSpPr/>
            <p:nvPr/>
          </p:nvSpPr>
          <p:spPr>
            <a:xfrm>
              <a:off x="1974605" y="2843240"/>
              <a:ext cx="2085919" cy="2085919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SQRAs</a:t>
              </a: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02;p2">
              <a:extLst>
                <a:ext uri="{FF2B5EF4-FFF2-40B4-BE49-F238E27FC236}">
                  <a16:creationId xmlns:a16="http://schemas.microsoft.com/office/drawing/2014/main" id="{6146329D-C620-4B8E-BC00-B5E00F4DEDF1}"/>
                </a:ext>
              </a:extLst>
            </p:cNvPr>
            <p:cNvSpPr/>
            <p:nvPr/>
          </p:nvSpPr>
          <p:spPr>
            <a:xfrm>
              <a:off x="3643340" y="2843240"/>
              <a:ext cx="2085919" cy="2085919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JSAs</a:t>
              </a:r>
              <a:endPara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703;p2">
              <a:extLst>
                <a:ext uri="{FF2B5EF4-FFF2-40B4-BE49-F238E27FC236}">
                  <a16:creationId xmlns:a16="http://schemas.microsoft.com/office/drawing/2014/main" id="{A4453192-F82C-4F77-9CAE-18F431E0E63E}"/>
                </a:ext>
              </a:extLst>
            </p:cNvPr>
            <p:cNvSpPr/>
            <p:nvPr/>
          </p:nvSpPr>
          <p:spPr>
            <a:xfrm>
              <a:off x="5312075" y="2843240"/>
              <a:ext cx="2085919" cy="2085919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Checklists</a:t>
              </a:r>
              <a:endParaRPr kumimoji="0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704;p2">
              <a:extLst>
                <a:ext uri="{FF2B5EF4-FFF2-40B4-BE49-F238E27FC236}">
                  <a16:creationId xmlns:a16="http://schemas.microsoft.com/office/drawing/2014/main" id="{BA99B1E6-4050-4835-9231-A54FA8A13FE2}"/>
                </a:ext>
              </a:extLst>
            </p:cNvPr>
            <p:cNvSpPr/>
            <p:nvPr/>
          </p:nvSpPr>
          <p:spPr>
            <a:xfrm>
              <a:off x="6980811" y="2843240"/>
              <a:ext cx="2085919" cy="2085919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Planned Inspections &amp; Audits</a:t>
              </a:r>
              <a:endPara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83097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this course:</a:t>
            </a:r>
            <a:endParaRPr kumimoji="0" lang="en-CA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FLRA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SQRA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Planned Inspections &amp; Audits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Reduction 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80000" y="2520000"/>
            <a:ext cx="8640000" cy="2160000"/>
            <a:chOff x="324000" y="2829430"/>
            <a:chExt cx="8489400" cy="2150396"/>
          </a:xfrm>
        </p:grpSpPr>
        <p:sp>
          <p:nvSpPr>
            <p:cNvPr id="10" name="Google Shape;700;p2">
              <a:extLst>
                <a:ext uri="{FF2B5EF4-FFF2-40B4-BE49-F238E27FC236}">
                  <a16:creationId xmlns:a16="http://schemas.microsoft.com/office/drawing/2014/main" id="{C60DAF2D-312C-427D-B8FC-4BB46919D377}"/>
                </a:ext>
              </a:extLst>
            </p:cNvPr>
            <p:cNvSpPr/>
            <p:nvPr/>
          </p:nvSpPr>
          <p:spPr>
            <a:xfrm>
              <a:off x="324000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FLRAs</a:t>
              </a: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701;p2">
              <a:extLst>
                <a:ext uri="{FF2B5EF4-FFF2-40B4-BE49-F238E27FC236}">
                  <a16:creationId xmlns:a16="http://schemas.microsoft.com/office/drawing/2014/main" id="{559D24CF-85D1-4415-BFD0-879BE5339ED8}"/>
                </a:ext>
              </a:extLst>
            </p:cNvPr>
            <p:cNvSpPr/>
            <p:nvPr/>
          </p:nvSpPr>
          <p:spPr>
            <a:xfrm>
              <a:off x="1941029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SQRAs</a:t>
              </a: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02;p2">
              <a:extLst>
                <a:ext uri="{FF2B5EF4-FFF2-40B4-BE49-F238E27FC236}">
                  <a16:creationId xmlns:a16="http://schemas.microsoft.com/office/drawing/2014/main" id="{6146329D-C620-4B8E-BC00-B5E00F4DEDF1}"/>
                </a:ext>
              </a:extLst>
            </p:cNvPr>
            <p:cNvSpPr/>
            <p:nvPr/>
          </p:nvSpPr>
          <p:spPr>
            <a:xfrm>
              <a:off x="3558057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DAEDEF">
                      <a:lumMod val="25000"/>
                    </a:srgbClr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JSAs</a:t>
              </a:r>
              <a:endPara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DAEDEF">
                    <a:lumMod val="25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703;p2">
              <a:extLst>
                <a:ext uri="{FF2B5EF4-FFF2-40B4-BE49-F238E27FC236}">
                  <a16:creationId xmlns:a16="http://schemas.microsoft.com/office/drawing/2014/main" id="{A4453192-F82C-4F77-9CAE-18F431E0E63E}"/>
                </a:ext>
              </a:extLst>
            </p:cNvPr>
            <p:cNvSpPr/>
            <p:nvPr/>
          </p:nvSpPr>
          <p:spPr>
            <a:xfrm>
              <a:off x="5175085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DAEDEF">
                      <a:lumMod val="25000"/>
                    </a:srgbClr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Checklists</a:t>
              </a:r>
              <a:endParaRPr kumimoji="0" sz="2000" b="1" i="0" u="none" strike="noStrike" kern="0" cap="none" spc="0" normalizeH="0" baseline="0" noProof="0">
                <a:ln>
                  <a:noFill/>
                </a:ln>
                <a:solidFill>
                  <a:srgbClr val="DAEDEF">
                    <a:lumMod val="25000"/>
                  </a:srgbClr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704;p2">
              <a:extLst>
                <a:ext uri="{FF2B5EF4-FFF2-40B4-BE49-F238E27FC236}">
                  <a16:creationId xmlns:a16="http://schemas.microsoft.com/office/drawing/2014/main" id="{BA99B1E6-4050-4835-9231-A54FA8A13FE2}"/>
                </a:ext>
              </a:extLst>
            </p:cNvPr>
            <p:cNvSpPr/>
            <p:nvPr/>
          </p:nvSpPr>
          <p:spPr>
            <a:xfrm>
              <a:off x="6792115" y="2829430"/>
              <a:ext cx="2021285" cy="2150396"/>
            </a:xfrm>
            <a:custGeom>
              <a:avLst/>
              <a:gdLst/>
              <a:ahLst/>
              <a:cxnLst/>
              <a:rect l="l" t="t" r="r" b="b"/>
              <a:pathLst>
                <a:path w="2085919" h="2085919" extrusionOk="0">
                  <a:moveTo>
                    <a:pt x="0" y="1042960"/>
                  </a:moveTo>
                  <a:cubicBezTo>
                    <a:pt x="0" y="466949"/>
                    <a:pt x="466949" y="0"/>
                    <a:pt x="1042960" y="0"/>
                  </a:cubicBezTo>
                  <a:cubicBezTo>
                    <a:pt x="1618971" y="0"/>
                    <a:pt x="2085920" y="466949"/>
                    <a:pt x="2085920" y="1042960"/>
                  </a:cubicBezTo>
                  <a:cubicBezTo>
                    <a:pt x="2085920" y="1618971"/>
                    <a:pt x="1618971" y="2085920"/>
                    <a:pt x="1042960" y="2085920"/>
                  </a:cubicBezTo>
                  <a:cubicBezTo>
                    <a:pt x="466949" y="2085920"/>
                    <a:pt x="0" y="1618971"/>
                    <a:pt x="0" y="10429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7FD5">
                    <a:shade val="30000"/>
                    <a:satMod val="115000"/>
                  </a:srgbClr>
                </a:gs>
                <a:gs pos="50000">
                  <a:srgbClr val="297FD5">
                    <a:shade val="67500"/>
                    <a:satMod val="115000"/>
                  </a:srgbClr>
                </a:gs>
                <a:gs pos="100000">
                  <a:srgbClr val="297FD5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180000" tIns="180000" rIns="180000" bIns="1800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Planned Inspections &amp; Audits</a:t>
              </a:r>
              <a:endPara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284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approach to these and similar risk reduction tools is the same: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are you doing?” (Activity)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can go wrong?” (Hazards and Risks)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“What are you going to do about it?” (Control Measures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Detailed Approach: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risk assessment methodology answers these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questions in order to identify control measure to reduce risk to an acceptable level: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doing?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(Activity)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could go wrong?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bad could it be?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(Consequence)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likely is it to happen?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(Likelihood)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it acceptable?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(Risk)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I do about it?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(Controls – Admin or </a:t>
            </a:r>
            <a:r>
              <a:rPr kumimoji="0" lang="en-CA" alt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Eng’g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the control change the L and C?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(Reduce, remain unchanged, or increase?)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Reduction 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37783448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Apply Risk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Reduction to Making Soup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/>
          <a:lstStyle/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Common activity: “cooking noodle soup for lunch” and it needs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be done </a:t>
            </a: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carefully to “prevent burning yourself”.</a:t>
            </a: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Responses to the questions:</a:t>
            </a: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activity: holding pot of boiling soup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</a:t>
            </a: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risk: hot handle, burn hand on hot handle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measure: use a pot holder or oven mitt.</a:t>
            </a: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 descr="single word requests - What is the name for the &lt;strong&gt;glove&lt;/strong&gt; worn ..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80" b="2332"/>
          <a:stretch/>
        </p:blipFill>
        <p:spPr>
          <a:xfrm>
            <a:off x="4893686" y="3304898"/>
            <a:ext cx="3386314" cy="2424000"/>
          </a:xfrm>
          <a:prstGeom prst="rect">
            <a:avLst/>
          </a:prstGeom>
        </p:spPr>
      </p:pic>
      <p:pic>
        <p:nvPicPr>
          <p:cNvPr id="4" name="Picture 3" descr="food science - Is this &lt;strong&gt;soup&lt;/strong&gt;, stew, or something else ..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43" y="3304898"/>
            <a:ext cx="3232000" cy="2424000"/>
          </a:xfrm>
          <a:prstGeom prst="rect">
            <a:avLst/>
          </a:prstGeom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5322202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This Apply To You as Engineers?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Management: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938;p9">
            <a:extLst>
              <a:ext uri="{FF2B5EF4-FFF2-40B4-BE49-F238E27FC236}">
                <a16:creationId xmlns:a16="http://schemas.microsoft.com/office/drawing/2014/main" id="{8E0F5EE3-8FDA-4679-9DF1-8170DAF22A2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5640" y="1656080"/>
            <a:ext cx="5068720" cy="4499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206981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This Apply To You as Engineers?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</a:t>
            </a:r>
            <a:r>
              <a:rPr lang="en-CA" altLang="en-US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powerful </a:t>
            </a:r>
            <a:r>
              <a:rPr lang="en-CA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</a:t>
            </a:r>
            <a:r>
              <a:rPr lang="en-CA" altLang="en-US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can positively </a:t>
            </a:r>
            <a:b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influence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culture in two ways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Times New Roman"/>
              <a:buAutoNum type="arabicParenR"/>
              <a:tabLst/>
              <a:defRPr/>
            </a:pPr>
            <a:r>
              <a:rPr kumimoji="0" lang="en-CA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Application: 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manage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risks to acceptable </a:t>
            </a:r>
            <a:b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levels and prevent incidents</a:t>
            </a: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Times New Roman"/>
              <a:buAutoNum type="arabicParenR"/>
              <a:tabLst/>
              <a:defRPr/>
            </a:pPr>
            <a:r>
              <a:rPr kumimoji="0" lang="en-CA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Coaching &amp; Mentoring: 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Trains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managers to be </a:t>
            </a: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effective;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Raises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visibility: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“walk the talk” 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“lead by example”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CA" sz="20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Engages workers, sets expectations for leader-worker interactions, and </a:t>
            </a:r>
            <a:r>
              <a:rPr lang="en-US" sz="20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</a:t>
            </a:r>
            <a:r>
              <a:rPr lang="en-US" sz="20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interactions with employees about the hazards/risks they face on-the-job and how they are going to manage those </a:t>
            </a:r>
            <a:r>
              <a:rPr lang="en-US" sz="20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hazards/risks</a:t>
            </a:r>
            <a:r>
              <a:rPr lang="en-CA" sz="20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</a:p>
          <a:p>
            <a:pPr marL="0" indent="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CA" b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CA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Q: How </a:t>
            </a:r>
            <a:r>
              <a:rPr lang="en-CA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and Why?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Management – Application &amp; Coaching: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3F519D-4A19-46FF-9074-F9A1317C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145" y="1405792"/>
            <a:ext cx="2650522" cy="24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28883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are these powerful management tools applied and why?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lang="en-CA" b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Apply this Key Leadership Skill: 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Successful leaders must develop and practice </a:t>
            </a:r>
            <a:b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their ability to ask “</a:t>
            </a:r>
            <a:r>
              <a:rPr lang="en-CA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open-ended questions</a:t>
            </a: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”: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“Help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me understand the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work you are </a:t>
            </a:r>
            <a:b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doing and its hazards.”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“Can you explain to me how your work is </a:t>
            </a:r>
            <a:b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done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,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and how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to improve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it?”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“Can you tell me about the hazards and safeguards </a:t>
            </a:r>
            <a:b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that are associated with your work?”</a:t>
            </a:r>
            <a:endParaRPr lang="en-CA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lang="en-CA" b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Why?</a:t>
            </a:r>
          </a:p>
          <a:p>
            <a:pPr marL="0" marR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 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leader </a:t>
            </a:r>
            <a:r>
              <a:rPr lang="en-CA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demonstrates management </a:t>
            </a:r>
            <a:r>
              <a:rPr lang="en-CA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commitment and leadership</a:t>
            </a: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(#</a:t>
            </a:r>
            <a:r>
              <a:rPr lang="en-CA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1 </a:t>
            </a: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MLCA) by applying and coaching in a </a:t>
            </a:r>
            <a:r>
              <a:rPr lang="en-CA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visible and effective</a:t>
            </a:r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manner (supportive, not adversarial, not confrontational).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in Risk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– Application &amp; </a:t>
            </a: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Coaching: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3F519D-4A19-46FF-9074-F9A1317C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145" y="1405792"/>
            <a:ext cx="2650522" cy="24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4633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Any risk assessment methodology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answers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questions: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doing?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(Activity)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could go wrong?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bad could it be?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(Consequence)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likely is it to happen?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(Likelihood)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it acceptable?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(Risk)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I do about it?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(Controls – Admin or Eng’g)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the control change the L and C?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(Reduce, remain unchanged, or increase?)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 different risk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reductions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 with </a:t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same basic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approach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same outcome.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leader uses these tools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positively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influence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culture by demonstrating commitment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</a:t>
            </a:r>
            <a:b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leadership. 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baseline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Leadership Skill: Ability to ask “open-ended questions”.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 Tools for Risk Management</a:t>
            </a:r>
          </a:p>
        </p:txBody>
      </p:sp>
      <p:pic>
        <p:nvPicPr>
          <p:cNvPr id="6" name="Google Shape;938;p9">
            <a:extLst>
              <a:ext uri="{FF2B5EF4-FFF2-40B4-BE49-F238E27FC236}">
                <a16:creationId xmlns:a16="http://schemas.microsoft.com/office/drawing/2014/main" id="{388B05BF-C68C-4DE7-81C0-F5899CED416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0203" y="3850640"/>
            <a:ext cx="2356497" cy="215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971" y="1053276"/>
            <a:ext cx="3109229" cy="157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1377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</TotalTime>
  <Words>1278</Words>
  <Application>Microsoft Office PowerPoint</Application>
  <PresentationFormat>On-screen Show (4:3)</PresentationFormat>
  <Paragraphs>318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ＭＳ Ｐゴシック</vt:lpstr>
      <vt:lpstr>Arial</vt:lpstr>
      <vt:lpstr>Calibri</vt:lpstr>
      <vt:lpstr>Noto Sans Symbols</vt:lpstr>
      <vt:lpstr>Times New Roman</vt:lpstr>
      <vt:lpstr>Wingdings</vt:lpstr>
      <vt:lpstr>Default Design</vt:lpstr>
      <vt:lpstr>1_Default Design</vt:lpstr>
      <vt:lpstr>2_Default Design</vt:lpstr>
      <vt:lpstr>3_Default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Faculty of engineering, University of Alberta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JR Cocchio</cp:lastModifiedBy>
  <cp:revision>62</cp:revision>
  <dcterms:created xsi:type="dcterms:W3CDTF">2020-05-22T23:48:02Z</dcterms:created>
  <dcterms:modified xsi:type="dcterms:W3CDTF">2021-09-14T17:42:19Z</dcterms:modified>
</cp:coreProperties>
</file>