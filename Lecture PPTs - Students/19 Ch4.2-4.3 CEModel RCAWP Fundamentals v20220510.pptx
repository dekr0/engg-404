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48"/>
  </p:notesMasterIdLst>
  <p:handoutMasterIdLst>
    <p:handoutMasterId r:id="rId49"/>
  </p:handoutMasterIdLst>
  <p:sldIdLst>
    <p:sldId id="895" r:id="rId3"/>
    <p:sldId id="880" r:id="rId4"/>
    <p:sldId id="928" r:id="rId5"/>
    <p:sldId id="961" r:id="rId6"/>
    <p:sldId id="988" r:id="rId7"/>
    <p:sldId id="989" r:id="rId8"/>
    <p:sldId id="964" r:id="rId9"/>
    <p:sldId id="965" r:id="rId10"/>
    <p:sldId id="967" r:id="rId11"/>
    <p:sldId id="1015" r:id="rId12"/>
    <p:sldId id="1004" r:id="rId13"/>
    <p:sldId id="968" r:id="rId14"/>
    <p:sldId id="990" r:id="rId15"/>
    <p:sldId id="1007" r:id="rId16"/>
    <p:sldId id="1009" r:id="rId17"/>
    <p:sldId id="970" r:id="rId18"/>
    <p:sldId id="971" r:id="rId19"/>
    <p:sldId id="999" r:id="rId20"/>
    <p:sldId id="975" r:id="rId21"/>
    <p:sldId id="974" r:id="rId22"/>
    <p:sldId id="995" r:id="rId23"/>
    <p:sldId id="948" r:id="rId24"/>
    <p:sldId id="949" r:id="rId25"/>
    <p:sldId id="978" r:id="rId26"/>
    <p:sldId id="979" r:id="rId27"/>
    <p:sldId id="980" r:id="rId28"/>
    <p:sldId id="1017" r:id="rId29"/>
    <p:sldId id="1019" r:id="rId30"/>
    <p:sldId id="1020" r:id="rId31"/>
    <p:sldId id="1018" r:id="rId32"/>
    <p:sldId id="991" r:id="rId33"/>
    <p:sldId id="1001" r:id="rId34"/>
    <p:sldId id="984" r:id="rId35"/>
    <p:sldId id="985" r:id="rId36"/>
    <p:sldId id="958" r:id="rId37"/>
    <p:sldId id="994" r:id="rId38"/>
    <p:sldId id="1002" r:id="rId39"/>
    <p:sldId id="1021" r:id="rId40"/>
    <p:sldId id="1003" r:id="rId41"/>
    <p:sldId id="1011" r:id="rId42"/>
    <p:sldId id="1010" r:id="rId43"/>
    <p:sldId id="1013" r:id="rId44"/>
    <p:sldId id="1014" r:id="rId45"/>
    <p:sldId id="1006" r:id="rId46"/>
    <p:sldId id="900" r:id="rId47"/>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8"/>
            <p14:sldId id="961"/>
            <p14:sldId id="988"/>
            <p14:sldId id="989"/>
            <p14:sldId id="964"/>
            <p14:sldId id="965"/>
            <p14:sldId id="967"/>
            <p14:sldId id="1015"/>
            <p14:sldId id="1004"/>
            <p14:sldId id="968"/>
            <p14:sldId id="990"/>
            <p14:sldId id="1007"/>
            <p14:sldId id="1009"/>
            <p14:sldId id="970"/>
            <p14:sldId id="971"/>
            <p14:sldId id="999"/>
            <p14:sldId id="975"/>
            <p14:sldId id="974"/>
            <p14:sldId id="995"/>
            <p14:sldId id="948"/>
            <p14:sldId id="949"/>
            <p14:sldId id="978"/>
            <p14:sldId id="979"/>
            <p14:sldId id="980"/>
            <p14:sldId id="1017"/>
            <p14:sldId id="1019"/>
            <p14:sldId id="1020"/>
            <p14:sldId id="1018"/>
            <p14:sldId id="991"/>
            <p14:sldId id="1001"/>
            <p14:sldId id="984"/>
            <p14:sldId id="985"/>
            <p14:sldId id="958"/>
            <p14:sldId id="994"/>
            <p14:sldId id="1002"/>
            <p14:sldId id="1021"/>
            <p14:sldId id="1003"/>
            <p14:sldId id="1011"/>
            <p14:sldId id="1010"/>
            <p14:sldId id="1013"/>
            <p14:sldId id="1014"/>
            <p14:sldId id="1006"/>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8F8F8"/>
    <a:srgbClr val="0000CC"/>
    <a:srgbClr val="000000"/>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2422" autoAdjust="0"/>
  </p:normalViewPr>
  <p:slideViewPr>
    <p:cSldViewPr>
      <p:cViewPr varScale="1">
        <p:scale>
          <a:sx n="70" d="100"/>
          <a:sy n="70" d="100"/>
        </p:scale>
        <p:origin x="1128"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8088"/>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7/7/2022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7/7/2022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7616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ea typeface="ＭＳ Ｐゴシック" panose="020B0600070205080204" pitchFamily="34" charset="-128"/>
              </a:rPr>
              <a:t>The aim of this exercise is to pick on their answers in </a:t>
            </a:r>
            <a:r>
              <a:rPr lang="en-US" altLang="en-US" dirty="0" err="1" smtClean="0">
                <a:ea typeface="ＭＳ Ｐゴシック" panose="020B0600070205080204" pitchFamily="34" charset="-128"/>
              </a:rPr>
              <a:t>Mentimeter</a:t>
            </a:r>
            <a:r>
              <a:rPr lang="en-US" altLang="en-US" dirty="0" smtClean="0">
                <a:ea typeface="ＭＳ Ｐゴシック" panose="020B0600070205080204" pitchFamily="34" charset="-128"/>
              </a:rPr>
              <a:t> and discuss some of them in terms of “jumping to conclusions”, “facts”, “logic leaps”, etc.</a:t>
            </a:r>
          </a:p>
          <a:p>
            <a:r>
              <a:rPr lang="en-US" altLang="en-US" dirty="0" smtClean="0">
                <a:ea typeface="ＭＳ Ｐゴシック" panose="020B0600070205080204" pitchFamily="34" charset="-128"/>
              </a:rPr>
              <a:t>Another aim is to demonstrate that the causation of a loss incident can be explained in rational,</a:t>
            </a:r>
            <a:r>
              <a:rPr lang="en-US" altLang="en-US" baseline="0" dirty="0" smtClean="0">
                <a:ea typeface="ＭＳ Ｐゴシック" panose="020B0600070205080204" pitchFamily="34" charset="-128"/>
              </a:rPr>
              <a:t> sequentially logical terms. </a:t>
            </a:r>
            <a:endParaRPr lang="en-US" altLang="en-US" dirty="0" smtClean="0">
              <a:ea typeface="ＭＳ Ｐゴシック" panose="020B0600070205080204" pitchFamily="34" charset="-128"/>
            </a:endParaRPr>
          </a:p>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799244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ea typeface="ＭＳ Ｐゴシック" panose="020B0600070205080204" pitchFamily="34" charset="-128"/>
              </a:rPr>
              <a:t>The aim of this exercise is to pick on their answers in </a:t>
            </a:r>
            <a:r>
              <a:rPr lang="en-US" altLang="en-US" dirty="0" err="1" smtClean="0">
                <a:ea typeface="ＭＳ Ｐゴシック" panose="020B0600070205080204" pitchFamily="34" charset="-128"/>
              </a:rPr>
              <a:t>Mentimeter</a:t>
            </a:r>
            <a:r>
              <a:rPr lang="en-US" altLang="en-US" dirty="0" smtClean="0">
                <a:ea typeface="ＭＳ Ｐゴシック" panose="020B0600070205080204" pitchFamily="34" charset="-128"/>
              </a:rPr>
              <a:t> and discuss some of them in terms of “jumping to conclusions”, “facts”, “logic leaps”, etc.</a:t>
            </a:r>
          </a:p>
          <a:p>
            <a:r>
              <a:rPr lang="en-US" altLang="en-US" dirty="0" smtClean="0">
                <a:ea typeface="ＭＳ Ｐゴシック" panose="020B0600070205080204" pitchFamily="34" charset="-128"/>
              </a:rPr>
              <a:t>Another aim is to demonstrate that the causation of a loss incident can be explained in rational, sequentially logical terms. </a:t>
            </a:r>
          </a:p>
        </p:txBody>
      </p:sp>
    </p:spTree>
    <p:extLst>
      <p:ext uri="{BB962C8B-B14F-4D97-AF65-F5344CB8AC3E}">
        <p14:creationId xmlns:p14="http://schemas.microsoft.com/office/powerpoint/2010/main" val="863015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3103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1439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C&amp;E helps you be more specific in terms of losses and causes</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9613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C&amp;E helps you be more specific in terms of losses and causes</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2788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C&amp;E helps you be more specific in terms of losses and causes</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8896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9787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017832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547171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2980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7542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2392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3774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4340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512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399474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0571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009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23948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748587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ea typeface="ＭＳ Ｐゴシック" panose="020B0600070205080204" pitchFamily="34" charset="-128"/>
              </a:rPr>
              <a:t>You may have noticed</a:t>
            </a:r>
            <a:r>
              <a:rPr lang="en-US" altLang="en-US" baseline="0" dirty="0" smtClean="0">
                <a:ea typeface="ＭＳ Ｐゴシック" panose="020B0600070205080204" pitchFamily="34" charset="-128"/>
              </a:rPr>
              <a:t> on the RCA Chart that some of these were aligned with “Immediate Cause” and some with “Intermediate Cause”. An intermediate cause can link an immediate cause to a basic cause but if it can clearly be categorized and sub-categorized as an “Immediate Cause”, then that is quite acceptable; and it is quite acceptable to have an immediate cause caused by another immediate cause. </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230610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0171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1189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58860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545153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4243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2632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927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44830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2100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4242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60745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45</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45</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7/7/2022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316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3180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4631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0548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736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3197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947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2255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107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208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6204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BDCF630-0011-40EF-B645-4D289D2C4882}"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7/7/2022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78648AE-D5F3-4F01-A484-C6ED17A78DD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7844325"/>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p>
          <a:p>
            <a:pPr lvl="0" eaLnBrk="1" hangingPunct="1">
              <a:buClr>
                <a:srgbClr val="AA9C8F"/>
              </a:buClr>
            </a:pPr>
            <a:r>
              <a:rPr lang="en-US" altLang="en-US" sz="3200" kern="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kern="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Lecture</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228600" y="2500342"/>
            <a:ext cx="8610600"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4.2: Cause and Effect </a:t>
            </a:r>
            <a:r>
              <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Model for </a:t>
            </a: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Incident Analysis</a:t>
            </a:r>
          </a:p>
          <a:p>
            <a:pPr marL="0" indent="0" algn="ctr" eaLnBrk="1" hangingPunct="1">
              <a:spcBef>
                <a:spcPct val="0"/>
              </a:spcBef>
              <a:buNone/>
            </a:pPr>
            <a:endPar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4.3: Root Cause Analysis </a:t>
            </a:r>
            <a:r>
              <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sz="24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 Incident</a:t>
            </a:r>
          </a:p>
          <a:p>
            <a:pPr marL="0" indent="0" algn="ctr" eaLnBrk="1" hangingPunct="1">
              <a:spcBef>
                <a:spcPct val="0"/>
              </a:spcBef>
              <a:buNone/>
            </a:pPr>
            <a:endParaRPr lang="en-US" altLang="en-US" sz="24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Fundamentals -</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Analyze an incident sequentially and explain the nature of the different types of causes, and their sub-categories. </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Logically </a:t>
            </a:r>
            <a:r>
              <a:rPr lang="en-US" altLang="en-US" b="0" dirty="0">
                <a:solidFill>
                  <a:prstClr val="black"/>
                </a:solidFill>
                <a:latin typeface="Arial" panose="020B0604020202020204" pitchFamily="34" charset="0"/>
                <a:ea typeface="ＭＳ Ｐゴシック" panose="020B0600070205080204" pitchFamily="34" charset="-128"/>
              </a:rPr>
              <a:t>link the causal factors in incident investigations. </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Interpret and </a:t>
            </a:r>
            <a:r>
              <a:rPr lang="en-US" altLang="en-US" b="0" dirty="0" smtClean="0">
                <a:solidFill>
                  <a:prstClr val="black"/>
                </a:solidFill>
                <a:latin typeface="Arial" panose="020B0604020202020204" pitchFamily="34" charset="0"/>
                <a:ea typeface="ＭＳ Ｐゴシック" panose="020B0600070205080204" pitchFamily="34" charset="-128"/>
              </a:rPr>
              <a:t>apply </a:t>
            </a:r>
            <a:r>
              <a:rPr lang="en-US" altLang="en-US" b="0" dirty="0">
                <a:solidFill>
                  <a:prstClr val="black"/>
                </a:solidFill>
                <a:latin typeface="Arial" panose="020B0604020202020204" pitchFamily="34" charset="0"/>
                <a:ea typeface="ＭＳ Ｐゴシック" panose="020B0600070205080204" pitchFamily="34" charset="-128"/>
              </a:rPr>
              <a:t>a Cause and Effect Model for analyzing incidents.</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Interpret, </a:t>
            </a:r>
            <a:r>
              <a:rPr lang="en-US" altLang="en-US" b="0" dirty="0" smtClean="0">
                <a:solidFill>
                  <a:prstClr val="black"/>
                </a:solidFill>
                <a:latin typeface="Arial" panose="020B0604020202020204" pitchFamily="34" charset="0"/>
                <a:ea typeface="ＭＳ Ｐゴシック" panose="020B0600070205080204" pitchFamily="34" charset="-128"/>
              </a:rPr>
              <a:t>apply, </a:t>
            </a:r>
            <a:r>
              <a:rPr lang="en-US" altLang="en-US" b="0" dirty="0">
                <a:solidFill>
                  <a:prstClr val="black"/>
                </a:solidFill>
                <a:latin typeface="Arial" panose="020B0604020202020204" pitchFamily="34" charset="0"/>
                <a:ea typeface="ＭＳ Ｐゴシック" panose="020B0600070205080204" pitchFamily="34" charset="-128"/>
              </a:rPr>
              <a:t>and construct a Root Cause Analysis of a loss incident. </a:t>
            </a:r>
          </a:p>
          <a:p>
            <a:pPr marL="360000" lvl="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Differentiate between immediate, </a:t>
            </a:r>
            <a:r>
              <a:rPr lang="en-US" altLang="en-US" b="0" dirty="0" smtClean="0">
                <a:solidFill>
                  <a:prstClr val="black"/>
                </a:solidFill>
                <a:latin typeface="Arial" panose="020B0604020202020204" pitchFamily="34" charset="0"/>
                <a:ea typeface="ＭＳ Ｐゴシック" panose="020B0600070205080204" pitchFamily="34" charset="-128"/>
              </a:rPr>
              <a:t>intermediate, basic</a:t>
            </a:r>
            <a:r>
              <a:rPr lang="en-US" altLang="en-US" b="0" dirty="0">
                <a:solidFill>
                  <a:prstClr val="black"/>
                </a:solidFill>
                <a:latin typeface="Arial" panose="020B0604020202020204" pitchFamily="34" charset="0"/>
                <a:ea typeface="ＭＳ Ｐゴシック" panose="020B0600070205080204" pitchFamily="34" charset="-128"/>
              </a:rPr>
              <a:t>, and latent causes</a:t>
            </a:r>
            <a:r>
              <a:rPr lang="en-US" altLang="en-US" b="0" dirty="0" smtClean="0">
                <a:solidFill>
                  <a:prstClr val="black"/>
                </a:solidFill>
                <a:latin typeface="Arial" panose="020B0604020202020204" pitchFamily="34" charset="0"/>
                <a:ea typeface="ＭＳ Ｐゴシック" panose="020B0600070205080204" pitchFamily="34" charset="-128"/>
              </a:rPr>
              <a:t>.</a:t>
            </a:r>
          </a:p>
          <a:p>
            <a:pPr marL="360000" indent="-360000" fontAlgn="auto">
              <a:lnSpc>
                <a:spcPct val="100000"/>
              </a:lnSpc>
              <a:spcBef>
                <a:spcPts val="0"/>
              </a:spcBef>
              <a:spcAft>
                <a:spcPts val="0"/>
              </a:spcAft>
              <a:buClr>
                <a:srgbClr val="000000"/>
              </a:buClr>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Apply the Discovery Model to start the RCA Chart</a:t>
            </a:r>
            <a:r>
              <a:rPr lang="en-US" altLang="en-US" b="0" dirty="0" smtClean="0">
                <a:solidFill>
                  <a:prstClr val="black"/>
                </a:solidFill>
                <a:latin typeface="Arial" panose="020B0604020202020204" pitchFamily="34" charset="0"/>
                <a:ea typeface="ＭＳ Ｐゴシック" panose="020B0600070205080204" pitchFamily="34" charset="-128"/>
              </a:rPr>
              <a:t>.</a:t>
            </a:r>
          </a:p>
          <a:p>
            <a:pPr marL="360000" indent="-360000"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a:solidFill>
                <a:prstClr val="black"/>
              </a:solidFill>
              <a:latin typeface="Arial" panose="020B0604020202020204" pitchFamily="34" charset="0"/>
              <a:ea typeface="ＭＳ Ｐゴシック" panose="020B0600070205080204" pitchFamily="34" charset="-128"/>
            </a:endParaRPr>
          </a:p>
          <a:p>
            <a:pPr marL="360000" indent="-360000"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a:solidFill>
                <a:prstClr val="black"/>
              </a:solidFill>
              <a:latin typeface="Arial" panose="020B0604020202020204" pitchFamily="34" charset="0"/>
              <a:ea typeface="ＭＳ Ｐゴシック" panose="020B0600070205080204" pitchFamily="34" charset="-128"/>
            </a:endParaRPr>
          </a:p>
          <a:p>
            <a:pPr marL="0" indent="0" fontAlgn="auto">
              <a:lnSpc>
                <a:spcPct val="100000"/>
              </a:lnSpc>
              <a:spcBef>
                <a:spcPts val="0"/>
              </a:spcBef>
              <a:spcAft>
                <a:spcPts val="0"/>
              </a:spcAft>
              <a:buClr>
                <a:srgbClr val="000000"/>
              </a:buClr>
              <a:buNone/>
              <a:defRPr/>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topic explains the purpose and application of the Cause &amp; Effect Model, and the fundamental constructs of a Root Cause Analysis</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i="1" dirty="0">
              <a:solidFill>
                <a:prstClr val="black"/>
              </a:solidFill>
              <a:latin typeface="Arial" panose="020B0604020202020204" pitchFamily="34" charset="0"/>
              <a:ea typeface="ＭＳ Ｐゴシック" panose="020B0600070205080204" pitchFamily="34" charset="-128"/>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4.2 and 4.3 teach you how to </a:t>
            </a:r>
            <a:r>
              <a:rPr lang="en-US" altLang="en-US"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loss incident!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complementary tools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Incident Investigation: </a:t>
            </a:r>
          </a:p>
          <a:p>
            <a:pPr marL="72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and Effect Model</a:t>
            </a:r>
          </a:p>
          <a:p>
            <a:pPr marL="72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Analysis Work Process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will allow you to:</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Find all potential cause-effect relationships in a logical manner.</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Classify causes by their type such that they can be better understood and recommendations are optimized.</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Link incident causes with failures in the RMS.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WP</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applied to </a:t>
            </a:r>
            <a:r>
              <a:rPr lang="en-US" altLang="en-US" b="0" u="sng"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loss incident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create an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Chart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C&amp;E Model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used to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the thoroughness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the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Chart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Learning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do an RCA is easy!</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Learning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do an RCA well is a struggle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100000"/>
              </a:lnSpc>
              <a:spcBef>
                <a:spcPts val="0"/>
              </a:spcBef>
              <a:buClrTx/>
              <a:buSzPct val="100000"/>
              <a:buFont typeface="Wingdings" panose="05000000000000000000" pitchFamily="2" charset="2"/>
              <a:buChar char="Ø"/>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Easy to confuse causes, effects, and consequences. </a:t>
            </a:r>
          </a:p>
          <a:p>
            <a:pPr marL="720000" lvl="1" indent="-360000" eaLnBrk="0" hangingPunct="0">
              <a:lnSpc>
                <a:spcPct val="100000"/>
              </a:lnSpc>
              <a:spcBef>
                <a:spcPts val="0"/>
              </a:spcBef>
              <a:buClrTx/>
              <a:buSzPct val="100000"/>
              <a:buFont typeface="Wingdings" panose="05000000000000000000" pitchFamily="2" charset="2"/>
              <a:buChar char="Ø"/>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Easy to jump to conclusions ... </a:t>
            </a:r>
          </a:p>
          <a:p>
            <a:pPr marL="72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approach taken here is to build your competency in layers. </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buClrTx/>
              <a:buSzPct val="100000"/>
              <a:buFont typeface="+mj-lt"/>
              <a:buAutoNum type="arabicParenR"/>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First, the facts and sequence of events [timeline] are needed!</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investigation work process)</a:t>
            </a:r>
          </a:p>
          <a:p>
            <a:pPr marL="457200" indent="-4572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buClrTx/>
              <a:buSzPct val="100000"/>
              <a:buFont typeface="+mj-lt"/>
              <a:buAutoNum type="arabicParenR"/>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Second, apply the RCA work process to create the RCA Chart.</a:t>
            </a:r>
          </a:p>
          <a:p>
            <a:pPr marL="457200" indent="-4572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buClrTx/>
              <a:buSzPct val="100000"/>
              <a:buFont typeface="+mj-lt"/>
              <a:buAutoNum type="arabicParenR"/>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Third, apply the Cause and Effect Model to check the RCA Chart.  </a:t>
            </a:r>
          </a:p>
          <a:p>
            <a:pPr marL="457200" indent="-4572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Important To Keep In Mind: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51474808"/>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Lead-in: Losses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Causes </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eaLnBrk="0" hangingPunct="0">
              <a:spcBef>
                <a:spcPts val="0"/>
              </a:spcBef>
              <a:buSzPct val="100000"/>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actual “Mine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Loss LI”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is used in this topic to develop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skills in the </a:t>
            </a:r>
            <a:b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RCA work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process. So, put yourself into the role of the supervisor:</a:t>
            </a:r>
          </a:p>
          <a:p>
            <a:pPr marL="36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called to a scene where a mining haul truck and a shovel have been crushed with debris from an adjacent slope. You find one individual with a severe injury. You know the slopes are being monitored, you know there are procedures for safe work near the slopes, and you know it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has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been raining for the last week.</a:t>
            </a:r>
          </a:p>
          <a:p>
            <a:pPr marL="360000" lvl="0" indent="-360000" eaLnBrk="0" hangingPunct="0">
              <a:spcBef>
                <a:spcPts val="0"/>
              </a:spcBef>
              <a:buSzPct val="100000"/>
              <a:buFont typeface="Wingdings" panose="05000000000000000000" pitchFamily="2" charset="2"/>
              <a:buChar char="Ø"/>
            </a:pPr>
            <a:endPar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losses:</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People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injured</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Equipment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value</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Operation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time loss</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Public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image</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Ore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loss</a:t>
            </a:r>
          </a:p>
          <a:p>
            <a:pPr marL="540000" lvl="0" indent="-360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Environmental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impact</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707" y="3103419"/>
            <a:ext cx="4495293" cy="2992581"/>
          </a:xfrm>
          <a:prstGeom prst="rect">
            <a:avLst/>
          </a:prstGeom>
        </p:spPr>
      </p:pic>
    </p:spTree>
    <p:extLst>
      <p:ext uri="{BB962C8B-B14F-4D97-AF65-F5344CB8AC3E}">
        <p14:creationId xmlns:p14="http://schemas.microsoft.com/office/powerpoint/2010/main" val="2084285173"/>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What are the Causes?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FF"/>
          </a:solidFill>
          <a:ln>
            <a:solidFill>
              <a:srgbClr val="0000FF"/>
            </a:solidFill>
          </a:ln>
        </p:spPr>
        <p:txBody>
          <a:bodyPr wrap="square">
            <a:noAutofit/>
          </a:bodyPr>
          <a:lstStyle/>
          <a:p>
            <a:pPr lvl="0" fontAlgn="auto">
              <a:lnSpc>
                <a:spcPct val="110000"/>
              </a:lnSpc>
              <a:spcBef>
                <a:spcPct val="20000"/>
              </a:spcBef>
              <a:spcAft>
                <a:spcPts val="0"/>
              </a:spcAft>
              <a:defRPr/>
            </a:pPr>
            <a:r>
              <a:rPr lang="en-US"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Please confer on this question (Open Discussion):</a:t>
            </a:r>
          </a:p>
          <a:p>
            <a:pPr marL="457200" lvl="0" indent="-457200" fontAlgn="auto">
              <a:lnSpc>
                <a:spcPct val="110000"/>
              </a:lnSpc>
              <a:spcBef>
                <a:spcPct val="20000"/>
              </a:spcBef>
              <a:spcAft>
                <a:spcPts val="0"/>
              </a:spcAft>
              <a:buFont typeface="Wingdings" panose="05000000000000000000" pitchFamily="2" charset="2"/>
              <a:buChar char="Ø"/>
              <a:defRPr/>
            </a:pPr>
            <a:r>
              <a:rPr lang="en-US"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What are some </a:t>
            </a:r>
            <a:r>
              <a:rPr lang="en-US" altLang="en-US" sz="2000" b="0" i="1" u="sng" dirty="0" smtClean="0">
                <a:solidFill>
                  <a:srgbClr val="FFFFFF"/>
                </a:solidFill>
                <a:latin typeface="Arial" panose="020B0604020202020204" pitchFamily="34" charset="0"/>
                <a:ea typeface="ＭＳ Ｐゴシック" panose="020B0600070205080204" pitchFamily="34" charset="-128"/>
                <a:sym typeface="Wingdings" pitchFamily="2" charset="2"/>
              </a:rPr>
              <a:t>causes</a:t>
            </a:r>
            <a:r>
              <a:rPr lang="en-US"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 </a:t>
            </a:r>
            <a:r>
              <a:rPr lang="en-US" altLang="en-US" sz="2000" b="0" i="1" dirty="0">
                <a:solidFill>
                  <a:srgbClr val="FFFFFF"/>
                </a:solidFill>
                <a:latin typeface="Arial" panose="020B0604020202020204" pitchFamily="34" charset="0"/>
                <a:ea typeface="ＭＳ Ｐゴシック" panose="020B0600070205080204" pitchFamily="34" charset="-128"/>
                <a:sym typeface="Wingdings" pitchFamily="2" charset="2"/>
              </a:rPr>
              <a:t>of this incident? </a:t>
            </a:r>
            <a:endParaRPr lang="en-US" altLang="en-US" sz="2000" b="0" i="1" dirty="0">
              <a:solidFill>
                <a:srgbClr val="FFFFFF"/>
              </a:solidFill>
              <a:latin typeface="Arial" panose="020B0604020202020204" pitchFamily="34" charset="0"/>
              <a:ea typeface="ＭＳ Ｐゴシック" panose="020B0600070205080204" pitchFamily="34" charset="-128"/>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828800"/>
            <a:ext cx="5743411" cy="3823471"/>
          </a:xfrm>
          <a:prstGeom prst="rect">
            <a:avLst/>
          </a:prstGeom>
        </p:spPr>
      </p:pic>
    </p:spTree>
    <p:extLst>
      <p:ext uri="{BB962C8B-B14F-4D97-AF65-F5344CB8AC3E}">
        <p14:creationId xmlns:p14="http://schemas.microsoft.com/office/powerpoint/2010/main" val="188877870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Unstructured exercise:</a:t>
            </a:r>
          </a:p>
          <a:p>
            <a:pPr marL="432000" indent="-432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previous exercise was meant to be “unstructured”.</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were many causes, so which one is the correct response?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can all these causes be logically organized?</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order to logically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 incident,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one needs to apply the different categories of causes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Cause and Effect Model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be used to:</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Categorize and summarize the facts of a loss incident.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Communicate the nature of an incident and its causes.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Helps you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discern the various different categories of causes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thus aid in the development of the root cause analysis of a loss incident.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the thoroughness of the incident investigation and the  root cause analysis.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 There are many different C&amp;E Models practiced in industry. This is one of many.</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t>
            </a:r>
            <a:r>
              <a:rPr lang="en-US" altLang="en-US" sz="2400" b="0" dirty="0">
                <a:solidFill>
                  <a:schemeClr val="accent2"/>
                </a:solidFill>
                <a:latin typeface="Arial" panose="020B0604020202020204" pitchFamily="34" charset="0"/>
                <a:ea typeface="+mj-ea"/>
                <a:cs typeface="Arial" panose="020B0604020202020204" pitchFamily="34" charset="0"/>
              </a:rPr>
              <a:t>and Effect </a:t>
            </a:r>
            <a:r>
              <a:rPr lang="en-US" altLang="en-US" sz="2400" b="0" dirty="0" smtClean="0">
                <a:solidFill>
                  <a:schemeClr val="accent2"/>
                </a:solidFill>
                <a:latin typeface="Arial" panose="020B0604020202020204" pitchFamily="34" charset="0"/>
                <a:ea typeface="+mj-ea"/>
                <a:cs typeface="Arial" panose="020B0604020202020204" pitchFamily="34" charset="0"/>
              </a:rPr>
              <a:t>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2377966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a:t>
            </a:r>
            <a:r>
              <a:rPr lang="en-US" altLang="en-US" sz="2400" b="0" dirty="0">
                <a:solidFill>
                  <a:schemeClr val="accent2"/>
                </a:solidFill>
                <a:latin typeface="Arial" panose="020B0604020202020204" pitchFamily="34" charset="0"/>
                <a:ea typeface="+mj-ea"/>
                <a:cs typeface="Arial" panose="020B0604020202020204" pitchFamily="34" charset="0"/>
              </a:rPr>
              <a:t>Cause and Effect </a:t>
            </a:r>
            <a:r>
              <a:rPr lang="en-US" altLang="en-US" sz="2400" b="0" dirty="0" smtClean="0">
                <a:solidFill>
                  <a:schemeClr val="accent2"/>
                </a:solidFill>
                <a:latin typeface="Arial" panose="020B0604020202020204" pitchFamily="34" charset="0"/>
                <a:ea typeface="+mj-ea"/>
                <a:cs typeface="Arial" panose="020B0604020202020204" pitchFamily="34" charset="0"/>
              </a:rPr>
              <a:t>Model: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3"/>
          <p:cNvSpPr>
            <a:spLocks noChangeArrowheads="1"/>
          </p:cNvSpPr>
          <p:nvPr/>
        </p:nvSpPr>
        <p:spPr bwMode="auto">
          <a:xfrm>
            <a:off x="180000" y="828000"/>
            <a:ext cx="8640000" cy="5328000"/>
          </a:xfrm>
          <a:prstGeom prst="rect">
            <a:avLst/>
          </a:prstGeom>
          <a:noFill/>
          <a:ln w="9525" algn="ctr">
            <a:noFill/>
            <a:miter lim="800000"/>
            <a:headEnd/>
            <a:tailEnd/>
          </a:ln>
          <a:effectLst/>
          <a:extLst/>
        </p:spPr>
        <p:txBody>
          <a:bodyPr/>
          <a:lstStyle>
            <a:lvl1pPr marL="457200" indent="-4572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None/>
              <a:tabLst/>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The Five Components of </a:t>
            </a:r>
            <a:r>
              <a:rPr lang="en-US" altLang="en-US" sz="1800" b="0" kern="0" dirty="0" smtClean="0">
                <a:solidFill>
                  <a:prstClr val="black">
                    <a:lumMod val="85000"/>
                    <a:lumOff val="15000"/>
                  </a:prstClr>
                </a:solidFill>
                <a:latin typeface="Arial" panose="020B0604020202020204" pitchFamily="34" charset="0"/>
              </a:rPr>
              <a:t>The </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Cause </a:t>
            </a: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and Effect Model</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endPar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endParaRP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Losses </a:t>
            </a: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(PEAP)</a:t>
            </a: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endPar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endParaRPr>
          </a:p>
          <a:p>
            <a:pPr marL="457200" marR="0" lvl="0" indent="-45720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Incident Description</a:t>
            </a:r>
          </a:p>
          <a:p>
            <a:pPr fontAlgn="auto">
              <a:lnSpc>
                <a:spcPct val="90000"/>
              </a:lnSpc>
              <a:spcBef>
                <a:spcPts val="0"/>
              </a:spcBef>
              <a:spcAft>
                <a:spcPts val="0"/>
              </a:spcAft>
              <a:buClr>
                <a:srgbClr val="000000"/>
              </a:buClr>
              <a:buSzTx/>
              <a:buFont typeface="Wingdings" panose="05000000000000000000" pitchFamily="2" charset="2"/>
              <a:buChar char="Ø"/>
              <a:defRPr/>
            </a:pPr>
            <a:endParaRPr lang="en-US" altLang="en-US" sz="1800" b="0" kern="0" dirty="0" smtClean="0">
              <a:solidFill>
                <a:prstClr val="black">
                  <a:lumMod val="85000"/>
                  <a:lumOff val="15000"/>
                </a:prstClr>
              </a:solidFill>
              <a:latin typeface="Arial" panose="020B0604020202020204" pitchFamily="34" charset="0"/>
            </a:endParaRPr>
          </a:p>
          <a:p>
            <a:pPr fontAlgn="auto">
              <a:lnSpc>
                <a:spcPct val="90000"/>
              </a:lnSpc>
              <a:spcBef>
                <a:spcPts val="0"/>
              </a:spcBef>
              <a:spcAft>
                <a:spcPts val="0"/>
              </a:spcAft>
              <a:buClr>
                <a:srgbClr val="000000"/>
              </a:buClr>
              <a:buSzTx/>
              <a:buFont typeface="Wingdings" panose="05000000000000000000" pitchFamily="2" charset="2"/>
              <a:buChar char="Ø"/>
              <a:defRPr/>
            </a:pPr>
            <a:r>
              <a:rPr lang="en-US" altLang="en-US" sz="1800" b="0" kern="0" dirty="0" smtClean="0">
                <a:solidFill>
                  <a:prstClr val="black">
                    <a:lumMod val="85000"/>
                    <a:lumOff val="15000"/>
                  </a:prstClr>
                </a:solidFill>
                <a:latin typeface="Arial" panose="020B0604020202020204" pitchFamily="34" charset="0"/>
              </a:rPr>
              <a:t>Immediate </a:t>
            </a:r>
            <a:r>
              <a:rPr lang="en-US" altLang="en-US" sz="1800" b="0" kern="0" dirty="0">
                <a:solidFill>
                  <a:prstClr val="black">
                    <a:lumMod val="85000"/>
                    <a:lumOff val="15000"/>
                  </a:prstClr>
                </a:solidFill>
                <a:latin typeface="Arial" panose="020B0604020202020204" pitchFamily="34" charset="0"/>
              </a:rPr>
              <a:t>Causes </a:t>
            </a:r>
            <a:r>
              <a:rPr lang="en-US" altLang="en-US" sz="1800" b="0" kern="0" dirty="0" smtClean="0">
                <a:solidFill>
                  <a:prstClr val="black">
                    <a:lumMod val="85000"/>
                    <a:lumOff val="15000"/>
                  </a:prstClr>
                </a:solidFill>
                <a:latin typeface="Arial" panose="020B0604020202020204" pitchFamily="34" charset="0"/>
              </a:rPr>
              <a:t>in </a:t>
            </a:r>
            <a:r>
              <a:rPr lang="en-US" altLang="en-US" sz="1800" b="0" kern="0" dirty="0">
                <a:solidFill>
                  <a:prstClr val="black">
                    <a:lumMod val="85000"/>
                    <a:lumOff val="15000"/>
                  </a:prstClr>
                </a:solidFill>
                <a:latin typeface="Arial" panose="020B0604020202020204" pitchFamily="34" charset="0"/>
              </a:rPr>
              <a:t>two sub-categories:</a:t>
            </a: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Substandard </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practices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Substandard </a:t>
            </a:r>
            <a:r>
              <a:rPr kumimoji="0" lang="en-US" altLang="en-US" sz="1800" b="0" i="0" u="none" strike="noStrike" kern="0" cap="none" spc="0" normalizeH="0" baseline="0" noProof="0" dirty="0" smtClean="0">
                <a:ln>
                  <a:noFill/>
                </a:ln>
                <a:solidFill>
                  <a:prstClr val="black">
                    <a:lumMod val="85000"/>
                    <a:lumOff val="15000"/>
                  </a:prstClr>
                </a:solidFill>
                <a:effectLst/>
                <a:uLnTx/>
                <a:uFillTx/>
                <a:latin typeface="Arial" panose="020B0604020202020204" pitchFamily="34" charset="0"/>
              </a:rPr>
              <a:t>conditions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fontAlgn="auto">
              <a:lnSpc>
                <a:spcPct val="90000"/>
              </a:lnSpc>
              <a:spcBef>
                <a:spcPts val="0"/>
              </a:spcBef>
              <a:spcAft>
                <a:spcPts val="0"/>
              </a:spcAft>
              <a:buClr>
                <a:srgbClr val="000000"/>
              </a:buClr>
              <a:buSzTx/>
              <a:buFont typeface="Wingdings" panose="05000000000000000000" pitchFamily="2" charset="2"/>
              <a:buChar char="Ø"/>
              <a:defRPr/>
            </a:pPr>
            <a:endParaRPr lang="en-US" altLang="en-US" sz="1800" b="0" kern="0" dirty="0" smtClean="0">
              <a:solidFill>
                <a:prstClr val="black">
                  <a:lumMod val="85000"/>
                  <a:lumOff val="15000"/>
                </a:prstClr>
              </a:solidFill>
              <a:latin typeface="Arial" panose="020B0604020202020204" pitchFamily="34" charset="0"/>
            </a:endParaRPr>
          </a:p>
          <a:p>
            <a:pPr fontAlgn="auto">
              <a:lnSpc>
                <a:spcPct val="90000"/>
              </a:lnSpc>
              <a:spcBef>
                <a:spcPts val="0"/>
              </a:spcBef>
              <a:spcAft>
                <a:spcPts val="0"/>
              </a:spcAft>
              <a:buClr>
                <a:srgbClr val="000000"/>
              </a:buClr>
              <a:buSzTx/>
              <a:buFont typeface="Wingdings" panose="05000000000000000000" pitchFamily="2" charset="2"/>
              <a:buChar char="Ø"/>
              <a:defRPr/>
            </a:pPr>
            <a:r>
              <a:rPr lang="en-US" altLang="en-US" sz="1800" b="0" kern="0" dirty="0" smtClean="0">
                <a:solidFill>
                  <a:prstClr val="black">
                    <a:lumMod val="85000"/>
                    <a:lumOff val="15000"/>
                  </a:prstClr>
                </a:solidFill>
                <a:latin typeface="Arial" panose="020B0604020202020204" pitchFamily="34" charset="0"/>
              </a:rPr>
              <a:t>Basic </a:t>
            </a:r>
            <a:r>
              <a:rPr lang="en-US" altLang="en-US" sz="1800" b="0" kern="0" dirty="0">
                <a:solidFill>
                  <a:prstClr val="black">
                    <a:lumMod val="85000"/>
                    <a:lumOff val="15000"/>
                  </a:prstClr>
                </a:solidFill>
                <a:latin typeface="Arial" panose="020B0604020202020204" pitchFamily="34" charset="0"/>
              </a:rPr>
              <a:t>Causes in three sub-categories:</a:t>
            </a: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Engineering &amp; Design </a:t>
            </a:r>
            <a:r>
              <a:rPr lang="en-US" altLang="en-US" sz="1800" b="0" kern="0" dirty="0" smtClean="0">
                <a:solidFill>
                  <a:prstClr val="black">
                    <a:lumMod val="85000"/>
                    <a:lumOff val="15000"/>
                  </a:prstClr>
                </a:solidFill>
                <a:latin typeface="Arial" panose="020B0604020202020204" pitchFamily="34" charset="0"/>
              </a:rPr>
              <a:t>Factors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Job Factors and </a:t>
            </a:r>
            <a:r>
              <a:rPr lang="en-US" altLang="en-US" sz="1800" b="0" kern="0" dirty="0" smtClean="0">
                <a:solidFill>
                  <a:prstClr val="black">
                    <a:lumMod val="85000"/>
                    <a:lumOff val="15000"/>
                  </a:prstClr>
                </a:solidFill>
                <a:latin typeface="Arial" panose="020B0604020202020204" pitchFamily="34" charset="0"/>
              </a:rPr>
              <a:t>sub-groups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lvl="1" fontAlgn="auto">
              <a:lnSpc>
                <a:spcPct val="90000"/>
              </a:lnSpc>
              <a:spcBef>
                <a:spcPts val="0"/>
              </a:spcBef>
              <a:spcAft>
                <a:spcPts val="0"/>
              </a:spcAft>
              <a:buClr>
                <a:srgbClr val="000000"/>
              </a:buClr>
              <a:buFont typeface="Wingdings" panose="05000000000000000000" pitchFamily="2" charset="2"/>
              <a:buChar char="Ø"/>
              <a:defRPr/>
            </a:pPr>
            <a:r>
              <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rPr>
              <a:t>Personal Factors and </a:t>
            </a:r>
            <a:r>
              <a:rPr lang="en-US" altLang="en-US" sz="1800" b="0" kern="0" dirty="0" smtClean="0">
                <a:solidFill>
                  <a:prstClr val="black">
                    <a:lumMod val="85000"/>
                    <a:lumOff val="15000"/>
                  </a:prstClr>
                </a:solidFill>
                <a:latin typeface="Arial" panose="020B0604020202020204" pitchFamily="34" charset="0"/>
              </a:rPr>
              <a:t>sub-groups</a:t>
            </a:r>
            <a:endParaRPr kumimoji="0" lang="en-US" altLang="en-US" sz="1800" b="0" i="0" u="none" strike="noStrike" kern="0" cap="none" spc="0" normalizeH="0" baseline="0" noProof="0" dirty="0">
              <a:ln>
                <a:noFill/>
              </a:ln>
              <a:solidFill>
                <a:prstClr val="black">
                  <a:lumMod val="85000"/>
                  <a:lumOff val="15000"/>
                </a:prstClr>
              </a:solidFill>
              <a:effectLst/>
              <a:uLnTx/>
              <a:uFillTx/>
              <a:latin typeface="Arial" panose="020B0604020202020204" pitchFamily="34" charset="0"/>
            </a:endParaRPr>
          </a:p>
          <a:p>
            <a:pPr marR="0" lvl="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endParaRPr lang="en-US" altLang="en-US" sz="1800" b="0" kern="0" dirty="0" smtClean="0">
              <a:solidFill>
                <a:prstClr val="black">
                  <a:lumMod val="85000"/>
                  <a:lumOff val="15000"/>
                </a:prstClr>
              </a:solidFill>
              <a:latin typeface="Arial" panose="020B0604020202020204" pitchFamily="34" charset="0"/>
            </a:endParaRPr>
          </a:p>
          <a:p>
            <a:pPr marR="0" lvl="0" defTabSz="914400" eaLnBrk="1" fontAlgn="auto" latinLnBrk="0" hangingPunct="1">
              <a:lnSpc>
                <a:spcPct val="90000"/>
              </a:lnSpc>
              <a:spcBef>
                <a:spcPts val="0"/>
              </a:spcBef>
              <a:spcAft>
                <a:spcPts val="0"/>
              </a:spcAft>
              <a:buClr>
                <a:srgbClr val="000000"/>
              </a:buClr>
              <a:buSzTx/>
              <a:buFont typeface="Wingdings" panose="05000000000000000000" pitchFamily="2" charset="2"/>
              <a:buChar char="Ø"/>
              <a:tabLst/>
              <a:defRPr/>
            </a:pPr>
            <a:r>
              <a:rPr lang="en-US" altLang="en-US" sz="1800" b="0" kern="0" dirty="0" smtClean="0">
                <a:solidFill>
                  <a:prstClr val="black">
                    <a:lumMod val="85000"/>
                    <a:lumOff val="15000"/>
                  </a:prstClr>
                </a:solidFill>
                <a:latin typeface="Arial" panose="020B0604020202020204" pitchFamily="34" charset="0"/>
              </a:rPr>
              <a:t>Latent </a:t>
            </a:r>
            <a:r>
              <a:rPr lang="en-US" altLang="en-US" sz="1800" b="0" kern="0" dirty="0">
                <a:solidFill>
                  <a:prstClr val="black">
                    <a:lumMod val="85000"/>
                    <a:lumOff val="15000"/>
                  </a:prstClr>
                </a:solidFill>
                <a:latin typeface="Arial" panose="020B0604020202020204" pitchFamily="34" charset="0"/>
              </a:rPr>
              <a:t>Causes  </a:t>
            </a:r>
          </a:p>
        </p:txBody>
      </p:sp>
      <p:pic>
        <p:nvPicPr>
          <p:cNvPr id="10" name="Picture 9"/>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635987" y="2895600"/>
            <a:ext cx="4184013" cy="3223824"/>
          </a:xfrm>
          <a:prstGeom prst="rect">
            <a:avLst/>
          </a:prstGeom>
          <a:noFill/>
          <a:ln w="12700">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5837F"/>
                  </a:outerShdw>
                </a:effectLst>
              </a14:hiddenEffects>
            </a:ext>
          </a:extLst>
        </p:spPr>
      </p:pic>
    </p:spTree>
    <p:extLst>
      <p:ext uri="{BB962C8B-B14F-4D97-AF65-F5344CB8AC3E}">
        <p14:creationId xmlns:p14="http://schemas.microsoft.com/office/powerpoint/2010/main" val="316844237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and Effect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9"/>
          <p:cNvPicPr>
            <a:picLocks noChangeArrowheads="1"/>
          </p:cNvPicPr>
          <p:nvPr/>
        </p:nvPicPr>
        <p:blipFill rotWithShape="1">
          <a:blip r:embed="rId3" cstate="screen">
            <a:extLst>
              <a:ext uri="{28A0092B-C50C-407E-A947-70E740481C1C}">
                <a14:useLocalDpi xmlns:a14="http://schemas.microsoft.com/office/drawing/2010/main"/>
              </a:ext>
            </a:extLst>
          </a:blip>
          <a:srcRect r="54167" b="50087"/>
          <a:stretch/>
        </p:blipFill>
        <p:spPr bwMode="auto">
          <a:xfrm>
            <a:off x="432000" y="1368000"/>
            <a:ext cx="8136000" cy="46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95837F"/>
                  </a:outerShdw>
                </a:effectLst>
              </a14:hiddenEffects>
            </a:ext>
          </a:extLst>
        </p:spPr>
      </p:pic>
      <p:sp>
        <p:nvSpPr>
          <p:cNvPr id="7" name="Rectangle 6">
            <a:extLst>
              <a:ext uri="{FF2B5EF4-FFF2-40B4-BE49-F238E27FC236}">
                <a16:creationId xmlns:a16="http://schemas.microsoft.com/office/drawing/2014/main" id="{3BDDE472-E2BD-3547-B77A-382600426A66}"/>
              </a:ext>
            </a:extLst>
          </p:cNvPr>
          <p:cNvSpPr/>
          <p:nvPr/>
        </p:nvSpPr>
        <p:spPr bwMode="auto">
          <a:xfrm>
            <a:off x="180000" y="828000"/>
            <a:ext cx="8640000" cy="5328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Left side:</a:t>
            </a:r>
            <a:endParaRPr kumimoji="0" lang="en-US" sz="3200" b="1" i="1"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ular Callout 7"/>
          <p:cNvSpPr/>
          <p:nvPr/>
        </p:nvSpPr>
        <p:spPr>
          <a:xfrm>
            <a:off x="4495800" y="920718"/>
            <a:ext cx="4267201" cy="339282"/>
          </a:xfrm>
          <a:prstGeom prst="wedgeRectCallout">
            <a:avLst>
              <a:gd name="adj1" fmla="val 11254"/>
              <a:gd name="adj2" fmla="val 13992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Two sub-categories of Immediate Causes:</a:t>
            </a:r>
            <a:endParaRPr lang="en-US" sz="1600" dirty="0"/>
          </a:p>
        </p:txBody>
      </p:sp>
    </p:spTree>
    <p:extLst>
      <p:ext uri="{BB962C8B-B14F-4D97-AF65-F5344CB8AC3E}">
        <p14:creationId xmlns:p14="http://schemas.microsoft.com/office/powerpoint/2010/main" val="77784927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and Effect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6">
            <a:extLst>
              <a:ext uri="{FF2B5EF4-FFF2-40B4-BE49-F238E27FC236}">
                <a16:creationId xmlns:a16="http://schemas.microsoft.com/office/drawing/2014/main" id="{3BDDE472-E2BD-3547-B77A-382600426A66}"/>
              </a:ext>
            </a:extLst>
          </p:cNvPr>
          <p:cNvSpPr/>
          <p:nvPr/>
        </p:nvSpPr>
        <p:spPr bwMode="auto">
          <a:xfrm>
            <a:off x="180000" y="828000"/>
            <a:ext cx="8640000" cy="5328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Middle:</a:t>
            </a:r>
            <a:endParaRPr kumimoji="0" lang="en-US" sz="3200" b="1" i="1"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4" name="Picture 3"/>
          <p:cNvPicPr>
            <a:picLocks noChangeAspect="1"/>
          </p:cNvPicPr>
          <p:nvPr/>
        </p:nvPicPr>
        <p:blipFill>
          <a:blip r:embed="rId3"/>
          <a:stretch>
            <a:fillRect/>
          </a:stretch>
        </p:blipFill>
        <p:spPr>
          <a:xfrm>
            <a:off x="5482204" y="1447800"/>
            <a:ext cx="3204596" cy="4614744"/>
          </a:xfrm>
          <a:prstGeom prst="rect">
            <a:avLst/>
          </a:prstGeom>
          <a:ln>
            <a:solidFill>
              <a:schemeClr val="tx1"/>
            </a:solidFill>
          </a:ln>
        </p:spPr>
      </p:pic>
      <p:sp>
        <p:nvSpPr>
          <p:cNvPr id="8" name="Rectangular Callout 7"/>
          <p:cNvSpPr/>
          <p:nvPr/>
        </p:nvSpPr>
        <p:spPr>
          <a:xfrm>
            <a:off x="304800" y="2057400"/>
            <a:ext cx="4572000" cy="3200400"/>
          </a:xfrm>
          <a:prstGeom prst="wedgeRectCallout">
            <a:avLst>
              <a:gd name="adj1" fmla="val 61485"/>
              <a:gd name="adj2" fmla="val -4230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t>This list is not all-inclusive. Sub-sub-categories of causes along similar lines can be added! For example: </a:t>
            </a:r>
          </a:p>
          <a:p>
            <a:pPr marL="285750" indent="-285750">
              <a:buFont typeface="Wingdings" panose="05000000000000000000" pitchFamily="2" charset="2"/>
              <a:buChar char="Ø"/>
            </a:pPr>
            <a:r>
              <a:rPr lang="en-US" sz="1600" dirty="0" smtClean="0"/>
              <a:t>E&amp;DF: Inadequate assessment of hazards/risk</a:t>
            </a:r>
          </a:p>
          <a:p>
            <a:pPr marL="285750" indent="-285750">
              <a:buFont typeface="Wingdings" panose="05000000000000000000" pitchFamily="2" charset="2"/>
              <a:buChar char="Ø"/>
            </a:pPr>
            <a:r>
              <a:rPr lang="en-US" sz="1600" dirty="0" smtClean="0"/>
              <a:t>E&amp;DF: inadequate monitoring during initial construction/assembly/fabrication</a:t>
            </a:r>
          </a:p>
          <a:p>
            <a:pPr marL="285750" indent="-285750">
              <a:buFont typeface="Wingdings" panose="05000000000000000000" pitchFamily="2" charset="2"/>
              <a:buChar char="Ø"/>
            </a:pPr>
            <a:r>
              <a:rPr lang="en-US" sz="1600" dirty="0" smtClean="0"/>
              <a:t>E&amp;DF: inadequate management of change</a:t>
            </a:r>
          </a:p>
          <a:p>
            <a:pPr marL="285750" indent="-285750">
              <a:buFont typeface="Wingdings" panose="05000000000000000000" pitchFamily="2" charset="2"/>
              <a:buChar char="Ø"/>
            </a:pPr>
            <a:r>
              <a:rPr lang="en-US" sz="1600" dirty="0" smtClean="0"/>
              <a:t>JF: incompatible goals within the organization</a:t>
            </a:r>
          </a:p>
          <a:p>
            <a:r>
              <a:rPr lang="en-US" sz="1600" dirty="0" smtClean="0"/>
              <a:t>If you cannot find a sub-category that is a direct match, it is acceptable to create another unique sub-sub-category.  </a:t>
            </a:r>
          </a:p>
        </p:txBody>
      </p:sp>
      <p:sp>
        <p:nvSpPr>
          <p:cNvPr id="10" name="Rectangular Callout 9"/>
          <p:cNvSpPr/>
          <p:nvPr/>
        </p:nvSpPr>
        <p:spPr>
          <a:xfrm>
            <a:off x="4495800" y="920718"/>
            <a:ext cx="4267201" cy="339282"/>
          </a:xfrm>
          <a:prstGeom prst="wedgeRectCallout">
            <a:avLst>
              <a:gd name="adj1" fmla="val 13825"/>
              <a:gd name="adj2" fmla="val 10488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Three sub-categories of Basic Causes:</a:t>
            </a:r>
            <a:endParaRPr lang="en-US" sz="1600" dirty="0"/>
          </a:p>
        </p:txBody>
      </p:sp>
    </p:spTree>
    <p:extLst>
      <p:ext uri="{BB962C8B-B14F-4D97-AF65-F5344CB8AC3E}">
        <p14:creationId xmlns:p14="http://schemas.microsoft.com/office/powerpoint/2010/main" val="3874331671"/>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Cause and Effect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5">
            <a:extLst>
              <a:ext uri="{FF2B5EF4-FFF2-40B4-BE49-F238E27FC236}">
                <a16:creationId xmlns:a16="http://schemas.microsoft.com/office/drawing/2014/main" id="{3BDDE472-E2BD-3547-B77A-382600426A66}"/>
              </a:ext>
            </a:extLst>
          </p:cNvPr>
          <p:cNvSpPr/>
          <p:nvPr/>
        </p:nvSpPr>
        <p:spPr bwMode="auto">
          <a:xfrm>
            <a:off x="180000" y="828000"/>
            <a:ext cx="8640000" cy="5328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3200" b="1"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Right side:</a:t>
            </a:r>
            <a:endParaRPr kumimoji="0" lang="en-US" sz="3200" b="1" i="1"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3" name="Picture 2"/>
          <p:cNvPicPr>
            <a:picLocks noChangeAspect="1"/>
          </p:cNvPicPr>
          <p:nvPr/>
        </p:nvPicPr>
        <p:blipFill>
          <a:blip r:embed="rId3"/>
          <a:stretch>
            <a:fillRect/>
          </a:stretch>
        </p:blipFill>
        <p:spPr>
          <a:xfrm>
            <a:off x="463555" y="1066800"/>
            <a:ext cx="6200937" cy="4724400"/>
          </a:xfrm>
          <a:prstGeom prst="rect">
            <a:avLst/>
          </a:prstGeom>
        </p:spPr>
      </p:pic>
      <p:sp>
        <p:nvSpPr>
          <p:cNvPr id="2" name="Rectangular Callout 1"/>
          <p:cNvSpPr/>
          <p:nvPr/>
        </p:nvSpPr>
        <p:spPr>
          <a:xfrm>
            <a:off x="5333999" y="4565116"/>
            <a:ext cx="3444241" cy="1498412"/>
          </a:xfrm>
          <a:prstGeom prst="wedgeRectCallout">
            <a:avLst>
              <a:gd name="adj1" fmla="val -70212"/>
              <a:gd name="adj2" fmla="val -247379"/>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sz="1600" dirty="0" smtClean="0"/>
              <a:t>A Risk Management System Element is NOT a latent cause.</a:t>
            </a:r>
          </a:p>
          <a:p>
            <a:pPr marL="285750" indent="-285750">
              <a:buFont typeface="Wingdings" panose="05000000000000000000" pitchFamily="2" charset="2"/>
              <a:buChar char="Ø"/>
            </a:pPr>
            <a:r>
              <a:rPr lang="en-US" sz="1600" dirty="0" smtClean="0"/>
              <a:t>A weakness in a RME IS a latent cause.</a:t>
            </a:r>
            <a:endParaRPr lang="en-US" sz="1600" dirty="0"/>
          </a:p>
        </p:txBody>
      </p:sp>
    </p:spTree>
    <p:extLst>
      <p:ext uri="{BB962C8B-B14F-4D97-AF65-F5344CB8AC3E}">
        <p14:creationId xmlns:p14="http://schemas.microsoft.com/office/powerpoint/2010/main" val="846495074"/>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spcAft>
                <a:spcPts val="0"/>
              </a:spcAft>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Nature of the different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categories of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a:t>
            </a:r>
          </a:p>
          <a:p>
            <a:pPr marL="432000" indent="-432000" eaLnBrk="0" hangingPunct="0">
              <a:lnSpc>
                <a:spcPct val="90000"/>
              </a:lnSpc>
              <a:spcBef>
                <a:spcPts val="0"/>
              </a:spcBef>
              <a:spcAft>
                <a:spcPts val="0"/>
              </a:spcAft>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fontAlgn="auto">
              <a:lnSpc>
                <a:spcPct val="90000"/>
              </a:lnSpc>
              <a:spcBef>
                <a:spcPts val="0"/>
              </a:spcBef>
              <a:spcAft>
                <a:spcPts val="0"/>
              </a:spcAft>
              <a:buClr>
                <a:srgbClr val="000000"/>
              </a:buClr>
              <a:buNone/>
              <a:defRPr/>
            </a:pPr>
            <a:r>
              <a:rPr lang="en-CA" altLang="en-US" b="0" dirty="0" smtClean="0">
                <a:solidFill>
                  <a:prstClr val="black"/>
                </a:solidFill>
                <a:latin typeface="Arial" panose="020B0604020202020204" pitchFamily="34" charset="0"/>
                <a:ea typeface="ＭＳ Ｐゴシック" panose="020B0600070205080204" pitchFamily="34" charset="-128"/>
              </a:rPr>
              <a:t>Immediate </a:t>
            </a:r>
            <a:r>
              <a:rPr lang="en-CA" altLang="en-US" b="0" dirty="0">
                <a:solidFill>
                  <a:prstClr val="black"/>
                </a:solidFill>
                <a:latin typeface="Arial" panose="020B0604020202020204" pitchFamily="34" charset="0"/>
                <a:ea typeface="ＭＳ Ｐゴシック" panose="020B0600070205080204" pitchFamily="34" charset="-128"/>
              </a:rPr>
              <a:t>Causes – two sub-categories: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CA" altLang="en-US" sz="1800" b="0" dirty="0" smtClean="0">
                <a:solidFill>
                  <a:prstClr val="black"/>
                </a:solidFill>
                <a:latin typeface="Arial" panose="020B0604020202020204" pitchFamily="34" charset="0"/>
                <a:ea typeface="ＭＳ Ｐゴシック" panose="020B0600070205080204" pitchFamily="34" charset="-128"/>
              </a:rPr>
              <a:t>Sub-standard </a:t>
            </a:r>
            <a:r>
              <a:rPr lang="en-CA" altLang="en-US" sz="1800" b="0" dirty="0">
                <a:solidFill>
                  <a:prstClr val="black"/>
                </a:solidFill>
                <a:latin typeface="Arial" panose="020B0604020202020204" pitchFamily="34" charset="0"/>
                <a:ea typeface="ＭＳ Ｐゴシック" panose="020B0600070205080204" pitchFamily="34" charset="-128"/>
              </a:rPr>
              <a:t>Conditions (SCs)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CA" altLang="en-US" sz="1800" b="0" dirty="0">
                <a:solidFill>
                  <a:prstClr val="black"/>
                </a:solidFill>
                <a:latin typeface="Arial" panose="020B0604020202020204" pitchFamily="34" charset="0"/>
                <a:ea typeface="ＭＳ Ｐゴシック" panose="020B0600070205080204" pitchFamily="34" charset="-128"/>
              </a:rPr>
              <a:t>Sub-standard Practices (SPs)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CA" altLang="en-US" sz="1800" b="0" i="1" dirty="0">
                <a:solidFill>
                  <a:prstClr val="black"/>
                </a:solidFill>
                <a:latin typeface="Arial" panose="020B0604020202020204" pitchFamily="34" charset="0"/>
                <a:ea typeface="ＭＳ Ｐゴシック" panose="020B0600070205080204" pitchFamily="34" charset="-128"/>
              </a:rPr>
              <a:t>Other terms used</a:t>
            </a:r>
            <a:r>
              <a:rPr lang="en-CA" altLang="en-US" sz="1800" b="0" i="1" dirty="0" smtClean="0">
                <a:solidFill>
                  <a:prstClr val="black"/>
                </a:solidFill>
                <a:latin typeface="Arial" panose="020B0604020202020204" pitchFamily="34" charset="0"/>
                <a:ea typeface="ＭＳ Ｐゴシック" panose="020B0600070205080204" pitchFamily="34" charset="-128"/>
              </a:rPr>
              <a:t>: </a:t>
            </a:r>
            <a:r>
              <a:rPr lang="en-US" altLang="en-US" sz="1800" b="0" i="1" dirty="0" smtClean="0">
                <a:solidFill>
                  <a:prstClr val="black"/>
                </a:solidFill>
                <a:latin typeface="Arial" panose="020B0604020202020204" pitchFamily="34" charset="0"/>
                <a:ea typeface="ＭＳ Ｐゴシック" panose="020B0600070205080204" pitchFamily="34" charset="-128"/>
              </a:rPr>
              <a:t>Technical </a:t>
            </a:r>
            <a:r>
              <a:rPr lang="en-US" altLang="en-US" sz="1800" b="0" i="1" dirty="0">
                <a:solidFill>
                  <a:prstClr val="black"/>
                </a:solidFill>
                <a:latin typeface="Arial" panose="020B0604020202020204" pitchFamily="34" charset="0"/>
                <a:ea typeface="ＭＳ Ｐゴシック" panose="020B0600070205080204" pitchFamily="34" charset="-128"/>
              </a:rPr>
              <a:t>Factors </a:t>
            </a:r>
            <a:r>
              <a:rPr lang="en-US" altLang="en-US" sz="1800" b="0" i="1" dirty="0" smtClean="0">
                <a:solidFill>
                  <a:prstClr val="black"/>
                </a:solidFill>
                <a:latin typeface="Arial" panose="020B0604020202020204" pitchFamily="34" charset="0"/>
                <a:ea typeface="ＭＳ Ｐゴシック" panose="020B0600070205080204" pitchFamily="34" charset="-128"/>
              </a:rPr>
              <a:t>or </a:t>
            </a:r>
            <a:r>
              <a:rPr lang="en-US" altLang="en-US" sz="1800" b="0" i="1" dirty="0">
                <a:solidFill>
                  <a:prstClr val="black"/>
                </a:solidFill>
                <a:latin typeface="Arial" panose="020B0604020202020204" pitchFamily="34" charset="0"/>
                <a:ea typeface="ＭＳ Ｐゴシック" panose="020B0600070205080204" pitchFamily="34" charset="-128"/>
              </a:rPr>
              <a:t>Actions </a:t>
            </a:r>
            <a:endParaRPr lang="en-US" altLang="en-US" sz="1800" b="0" i="1" dirty="0" smtClean="0">
              <a:solidFill>
                <a:prstClr val="black"/>
              </a:solidFill>
              <a:latin typeface="Arial" panose="020B0604020202020204" pitchFamily="34" charset="0"/>
              <a:ea typeface="ＭＳ Ｐゴシック" panose="020B0600070205080204" pitchFamily="34" charset="-128"/>
            </a:endParaRP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i="1" dirty="0" smtClean="0">
                <a:solidFill>
                  <a:prstClr val="black"/>
                </a:solidFill>
                <a:latin typeface="Arial" panose="020B0604020202020204" pitchFamily="34" charset="0"/>
                <a:ea typeface="ＭＳ Ｐゴシック" panose="020B0600070205080204" pitchFamily="34" charset="-128"/>
              </a:rPr>
              <a:t>Sub-standard = unacceptable, incorrect</a:t>
            </a:r>
            <a:r>
              <a:rPr lang="en-US" altLang="en-US" sz="1800" b="0" i="1" dirty="0">
                <a:solidFill>
                  <a:prstClr val="black"/>
                </a:solidFill>
                <a:latin typeface="Arial" panose="020B0604020202020204" pitchFamily="34" charset="0"/>
                <a:ea typeface="ＭＳ Ｐゴシック" panose="020B0600070205080204" pitchFamily="34" charset="-128"/>
              </a:rPr>
              <a:t>, improper, inadequate, </a:t>
            </a:r>
            <a:r>
              <a:rPr lang="en-US" altLang="en-US" sz="1800" b="0" i="1" dirty="0" smtClean="0">
                <a:solidFill>
                  <a:prstClr val="black"/>
                </a:solidFill>
                <a:latin typeface="Arial" panose="020B0604020202020204" pitchFamily="34" charset="0"/>
                <a:ea typeface="ＭＳ Ｐゴシック" panose="020B0600070205080204" pitchFamily="34" charset="-128"/>
              </a:rPr>
              <a:t>at-risk</a:t>
            </a:r>
            <a:endParaRPr lang="en-CA" altLang="en-US" sz="1800" b="0" i="1" dirty="0">
              <a:solidFill>
                <a:prstClr val="black"/>
              </a:solidFill>
              <a:latin typeface="Arial" panose="020B0604020202020204" pitchFamily="34" charset="0"/>
              <a:ea typeface="ＭＳ Ｐゴシック" panose="020B0600070205080204" pitchFamily="34" charset="-128"/>
            </a:endParaRPr>
          </a:p>
          <a:p>
            <a:pPr marL="514350" lvl="0" indent="-514350" fontAlgn="auto">
              <a:lnSpc>
                <a:spcPct val="90000"/>
              </a:lnSpc>
              <a:spcBef>
                <a:spcPts val="0"/>
              </a:spcBef>
              <a:spcAft>
                <a:spcPts val="0"/>
              </a:spcAft>
              <a:buClr>
                <a:srgbClr val="000000"/>
              </a:buClr>
              <a:buFont typeface="Wingdings" panose="05000000000000000000" pitchFamily="2" charset="2"/>
              <a:buAutoNum type="romanUcParenR"/>
              <a:defRPr/>
            </a:pPr>
            <a:endParaRPr lang="en-CA" altLang="en-US" b="0" dirty="0">
              <a:solidFill>
                <a:prstClr val="black"/>
              </a:solidFill>
              <a:latin typeface="Arial" panose="020B0604020202020204" pitchFamily="34" charset="0"/>
              <a:ea typeface="ＭＳ Ｐゴシック" panose="020B0600070205080204" pitchFamily="34" charset="-128"/>
            </a:endParaRPr>
          </a:p>
          <a:p>
            <a:pPr marL="0" lvl="0" indent="0" fontAlgn="auto">
              <a:lnSpc>
                <a:spcPct val="90000"/>
              </a:lnSpc>
              <a:spcBef>
                <a:spcPts val="0"/>
              </a:spcBef>
              <a:spcAft>
                <a:spcPts val="0"/>
              </a:spcAft>
              <a:buClr>
                <a:srgbClr val="000000"/>
              </a:buClr>
              <a:buNone/>
              <a:defRPr/>
            </a:pPr>
            <a:r>
              <a:rPr lang="en-CA" altLang="en-US" b="0" dirty="0">
                <a:solidFill>
                  <a:prstClr val="black"/>
                </a:solidFill>
                <a:latin typeface="Arial" panose="020B0604020202020204" pitchFamily="34" charset="0"/>
                <a:ea typeface="ＭＳ Ｐゴシック" panose="020B0600070205080204" pitchFamily="34" charset="-128"/>
              </a:rPr>
              <a:t>Basic Causes </a:t>
            </a:r>
            <a:r>
              <a:rPr lang="en-US" altLang="en-US" b="0" dirty="0">
                <a:solidFill>
                  <a:prstClr val="black"/>
                </a:solidFill>
                <a:latin typeface="Arial" panose="020B0604020202020204" pitchFamily="34" charset="0"/>
                <a:ea typeface="ＭＳ Ｐゴシック" panose="020B0600070205080204" pitchFamily="34" charset="-128"/>
              </a:rPr>
              <a:t>– three sub-categories: </a:t>
            </a:r>
          </a:p>
          <a:p>
            <a:pPr marL="36000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Engineering &amp; Design Factors</a:t>
            </a:r>
          </a:p>
          <a:p>
            <a:pPr marL="36000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Job Factors</a:t>
            </a:r>
          </a:p>
          <a:p>
            <a:pPr marL="36000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Personal Factors</a:t>
            </a:r>
          </a:p>
          <a:p>
            <a:pPr marL="0" lvl="0" indent="0" fontAlgn="auto">
              <a:lnSpc>
                <a:spcPct val="90000"/>
              </a:lnSpc>
              <a:spcBef>
                <a:spcPts val="0"/>
              </a:spcBef>
              <a:spcAft>
                <a:spcPts val="0"/>
              </a:spcAft>
              <a:buClr>
                <a:srgbClr val="000000"/>
              </a:buClr>
              <a:buNone/>
              <a:defRPr/>
            </a:pPr>
            <a:endParaRPr lang="en-CA" altLang="en-US" b="0" dirty="0">
              <a:solidFill>
                <a:prstClr val="black"/>
              </a:solidFill>
              <a:latin typeface="Arial" panose="020B0604020202020204" pitchFamily="34" charset="0"/>
              <a:ea typeface="ＭＳ Ｐゴシック" panose="020B0600070205080204" pitchFamily="34" charset="-128"/>
            </a:endParaRPr>
          </a:p>
          <a:p>
            <a:pPr marL="0" lvl="0" indent="0" fontAlgn="auto">
              <a:lnSpc>
                <a:spcPct val="90000"/>
              </a:lnSpc>
              <a:spcBef>
                <a:spcPts val="0"/>
              </a:spcBef>
              <a:spcAft>
                <a:spcPts val="0"/>
              </a:spcAft>
              <a:buClr>
                <a:srgbClr val="000000"/>
              </a:buClr>
              <a:buNone/>
              <a:defRPr/>
            </a:pPr>
            <a:r>
              <a:rPr lang="en-US" altLang="en-US" b="0" dirty="0">
                <a:solidFill>
                  <a:prstClr val="black"/>
                </a:solidFill>
                <a:latin typeface="Arial" panose="020B0604020202020204" pitchFamily="34" charset="0"/>
                <a:ea typeface="ＭＳ Ｐゴシック" panose="020B0600070205080204" pitchFamily="34" charset="-128"/>
              </a:rPr>
              <a:t>Latent Causes: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b="0" dirty="0">
                <a:solidFill>
                  <a:prstClr val="black"/>
                </a:solidFill>
                <a:latin typeface="Arial" panose="020B0604020202020204" pitchFamily="34" charset="0"/>
                <a:ea typeface="ＭＳ Ｐゴシック" panose="020B0600070205080204" pitchFamily="34" charset="-128"/>
              </a:rPr>
              <a:t>Directly associated to failures or weaknesses in the Risk Management System and its elements.</a:t>
            </a:r>
          </a:p>
          <a:p>
            <a:pPr marL="360000" lvl="0" indent="-360000" fontAlgn="auto">
              <a:lnSpc>
                <a:spcPct val="90000"/>
              </a:lnSpc>
              <a:spcBef>
                <a:spcPts val="0"/>
              </a:spcBef>
              <a:spcAft>
                <a:spcPts val="0"/>
              </a:spcAft>
              <a:buClr>
                <a:srgbClr val="000000"/>
              </a:buClr>
              <a:buFont typeface="Wingdings" panose="05000000000000000000" pitchFamily="2" charset="2"/>
              <a:buChar char="Ø"/>
              <a:defRPr/>
            </a:pPr>
            <a:r>
              <a:rPr lang="en-US" altLang="en-US" sz="1800" dirty="0">
                <a:solidFill>
                  <a:prstClr val="black"/>
                </a:solidFill>
                <a:latin typeface="Arial" panose="020B0604020202020204" pitchFamily="34" charset="0"/>
                <a:ea typeface="ＭＳ Ｐゴシック" panose="020B0600070205080204" pitchFamily="34" charset="-128"/>
              </a:rPr>
              <a:t>Important!</a:t>
            </a:r>
            <a:r>
              <a:rPr lang="en-US" altLang="en-US" sz="1800" b="0" dirty="0">
                <a:solidFill>
                  <a:prstClr val="black"/>
                </a:solidFill>
                <a:latin typeface="Arial" panose="020B0604020202020204" pitchFamily="34" charset="0"/>
                <a:ea typeface="ＭＳ Ｐゴシック" panose="020B0600070205080204" pitchFamily="34" charset="-128"/>
              </a:rPr>
              <a:t> Latent Causes ARE NOT the elements of the Risk Management System</a:t>
            </a:r>
          </a:p>
          <a:p>
            <a:pPr marL="432000" indent="-432000" eaLnBrk="0" hangingPunct="0">
              <a:lnSpc>
                <a:spcPct val="90000"/>
              </a:lnSpc>
              <a:spcBef>
                <a:spcPts val="0"/>
              </a:spcBef>
              <a:spcAft>
                <a:spcPts val="0"/>
              </a:spcAft>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Categories of Causes: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1982856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Logical Progression of Causes of an Incident</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fontAlgn="auto">
              <a:spcBef>
                <a:spcPts val="0"/>
              </a:spcBef>
              <a:spcAft>
                <a:spcPts val="0"/>
              </a:spcAft>
              <a:buClr>
                <a:srgbClr val="000000"/>
              </a:buClr>
              <a:defRPr/>
            </a:pPr>
            <a:r>
              <a:rPr lang="en-US" altLang="en-US" b="0" i="1" dirty="0" smtClean="0">
                <a:solidFill>
                  <a:srgbClr val="FFFFFF"/>
                </a:solidFill>
                <a:latin typeface="Arial" panose="020B0604020202020204" pitchFamily="34" charset="0"/>
                <a:ea typeface="ＭＳ Ｐゴシック" panose="020B0600070205080204" pitchFamily="34" charset="-128"/>
              </a:rPr>
              <a:t>With this fundamental knowledge, and for our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example of the mining truck loss incident:</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“You </a:t>
            </a:r>
            <a:r>
              <a:rPr lang="en-US" altLang="en-US" b="0" i="1" dirty="0">
                <a:solidFill>
                  <a:srgbClr val="FFFFFF"/>
                </a:solidFill>
                <a:latin typeface="Arial" panose="020B0604020202020204" pitchFamily="34" charset="0"/>
                <a:ea typeface="ＭＳ Ｐゴシック" panose="020B0600070205080204" pitchFamily="34" charset="-128"/>
              </a:rPr>
              <a:t>are called to a scene where a mining haul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truck </a:t>
            </a:r>
            <a:r>
              <a:rPr lang="en-US" altLang="en-US" b="0" i="1" dirty="0">
                <a:solidFill>
                  <a:srgbClr val="FFFFFF"/>
                </a:solidFill>
                <a:latin typeface="Arial" panose="020B0604020202020204" pitchFamily="34" charset="0"/>
                <a:ea typeface="ＭＳ Ｐゴシック" panose="020B0600070205080204" pitchFamily="34" charset="-128"/>
              </a:rPr>
              <a:t>and a shovel have been crushed with debris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from </a:t>
            </a:r>
            <a:r>
              <a:rPr lang="en-US" altLang="en-US" b="0" i="1" dirty="0">
                <a:solidFill>
                  <a:srgbClr val="FFFFFF"/>
                </a:solidFill>
                <a:latin typeface="Arial" panose="020B0604020202020204" pitchFamily="34" charset="0"/>
                <a:ea typeface="ＭＳ Ｐゴシック" panose="020B0600070205080204" pitchFamily="34" charset="-128"/>
              </a:rPr>
              <a:t>an adjacent slope. You find one individual with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a </a:t>
            </a:r>
            <a:r>
              <a:rPr lang="en-US" altLang="en-US" b="0" i="1" dirty="0">
                <a:solidFill>
                  <a:srgbClr val="FFFFFF"/>
                </a:solidFill>
                <a:latin typeface="Arial" panose="020B0604020202020204" pitchFamily="34" charset="0"/>
                <a:ea typeface="ＭＳ Ｐゴシック" panose="020B0600070205080204" pitchFamily="34" charset="-128"/>
              </a:rPr>
              <a:t>severe injury. You know the slopes are being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monitored</a:t>
            </a:r>
            <a:r>
              <a:rPr lang="en-US" altLang="en-US" b="0" i="1" dirty="0">
                <a:solidFill>
                  <a:srgbClr val="FFFFFF"/>
                </a:solidFill>
                <a:latin typeface="Arial" panose="020B0604020202020204" pitchFamily="34" charset="0"/>
                <a:ea typeface="ＭＳ Ｐゴシック" panose="020B0600070205080204" pitchFamily="34" charset="-128"/>
              </a:rPr>
              <a:t>, you know there are procedures for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safe </a:t>
            </a:r>
            <a:r>
              <a:rPr lang="en-US" altLang="en-US" b="0" i="1" dirty="0">
                <a:solidFill>
                  <a:srgbClr val="FFFFFF"/>
                </a:solidFill>
                <a:latin typeface="Arial" panose="020B0604020202020204" pitchFamily="34" charset="0"/>
                <a:ea typeface="ＭＳ Ｐゴシック" panose="020B0600070205080204" pitchFamily="34" charset="-128"/>
              </a:rPr>
              <a:t>work near the slopes, and you know it has </a:t>
            </a:r>
            <a:r>
              <a:rPr lang="en-US" altLang="en-US" b="0" i="1" dirty="0" smtClean="0">
                <a:solidFill>
                  <a:srgbClr val="FFFFFF"/>
                </a:solidFill>
                <a:latin typeface="Arial" panose="020B0604020202020204" pitchFamily="34" charset="0"/>
                <a:ea typeface="ＭＳ Ｐゴシック" panose="020B0600070205080204" pitchFamily="34" charset="-128"/>
              </a:rPr>
              <a:t/>
            </a:r>
            <a:br>
              <a:rPr lang="en-US" altLang="en-US" b="0" i="1" dirty="0" smtClean="0">
                <a:solidFill>
                  <a:srgbClr val="FFFFFF"/>
                </a:solidFill>
                <a:latin typeface="Arial" panose="020B0604020202020204" pitchFamily="34" charset="0"/>
                <a:ea typeface="ＭＳ Ｐゴシック" panose="020B0600070205080204" pitchFamily="34" charset="-128"/>
              </a:rPr>
            </a:br>
            <a:r>
              <a:rPr lang="en-US" altLang="en-US" b="0" i="1" dirty="0" smtClean="0">
                <a:solidFill>
                  <a:srgbClr val="FFFFFF"/>
                </a:solidFill>
                <a:latin typeface="Arial" panose="020B0604020202020204" pitchFamily="34" charset="0"/>
                <a:ea typeface="ＭＳ Ｐゴシック" panose="020B0600070205080204" pitchFamily="34" charset="-128"/>
              </a:rPr>
              <a:t>been </a:t>
            </a:r>
            <a:r>
              <a:rPr lang="en-US" altLang="en-US" b="0" i="1" dirty="0">
                <a:solidFill>
                  <a:srgbClr val="FFFFFF"/>
                </a:solidFill>
                <a:latin typeface="Arial" panose="020B0604020202020204" pitchFamily="34" charset="0"/>
                <a:ea typeface="ＭＳ Ｐゴシック" panose="020B0600070205080204" pitchFamily="34" charset="-128"/>
              </a:rPr>
              <a:t>raining for the last week</a:t>
            </a:r>
            <a:r>
              <a:rPr lang="en-US" altLang="en-US" b="0" i="1" dirty="0" smtClean="0">
                <a:solidFill>
                  <a:srgbClr val="FFFFFF"/>
                </a:solidFill>
                <a:latin typeface="Arial" panose="020B0604020202020204" pitchFamily="34" charset="0"/>
                <a:ea typeface="ＭＳ Ｐゴシック" panose="020B0600070205080204" pitchFamily="34" charset="-128"/>
              </a:rPr>
              <a:t>.”</a:t>
            </a:r>
          </a:p>
          <a:p>
            <a:pPr lvl="0" fontAlgn="auto">
              <a:spcBef>
                <a:spcPts val="0"/>
              </a:spcBef>
              <a:spcAft>
                <a:spcPts val="0"/>
              </a:spcAft>
              <a:buClr>
                <a:srgbClr val="000000"/>
              </a:buClr>
              <a:defRPr/>
            </a:pPr>
            <a:endParaRPr lang="en-US" altLang="en-US" b="0" i="1" dirty="0">
              <a:solidFill>
                <a:srgbClr val="FFFFFF"/>
              </a:solidFill>
              <a:latin typeface="Arial" panose="020B0604020202020204" pitchFamily="34" charset="0"/>
              <a:ea typeface="ＭＳ Ｐゴシック" panose="020B0600070205080204" pitchFamily="34" charset="-128"/>
            </a:endParaRPr>
          </a:p>
          <a:p>
            <a:pPr lvl="0" fontAlgn="auto">
              <a:spcBef>
                <a:spcPts val="0"/>
              </a:spcBef>
              <a:spcAft>
                <a:spcPts val="0"/>
              </a:spcAft>
              <a:buClr>
                <a:srgbClr val="000000"/>
              </a:buClr>
              <a:defRPr/>
            </a:pPr>
            <a:r>
              <a:rPr lang="en-US" altLang="en-US" b="0" i="1" dirty="0" smtClean="0">
                <a:solidFill>
                  <a:srgbClr val="FFFFFF"/>
                </a:solidFill>
                <a:latin typeface="Arial" panose="020B0604020202020204" pitchFamily="34" charset="0"/>
                <a:ea typeface="ＭＳ Ｐゴシック" panose="020B0600070205080204" pitchFamily="34" charset="-128"/>
              </a:rPr>
              <a:t>Incident Description: </a:t>
            </a:r>
            <a:r>
              <a:rPr lang="en-US" altLang="en-US" b="0" i="1" dirty="0">
                <a:solidFill>
                  <a:srgbClr val="FFFFFF"/>
                </a:solidFill>
                <a:latin typeface="Arial" panose="020B0604020202020204" pitchFamily="34" charset="0"/>
                <a:ea typeface="ＭＳ Ｐゴシック" panose="020B0600070205080204" pitchFamily="34" charset="-128"/>
              </a:rPr>
              <a:t>“The slope of an open quarry </a:t>
            </a:r>
            <a:r>
              <a:rPr lang="en-US" altLang="en-US" b="0" i="1" dirty="0" smtClean="0">
                <a:solidFill>
                  <a:srgbClr val="FFFFFF"/>
                </a:solidFill>
                <a:latin typeface="Arial" panose="020B0604020202020204" pitchFamily="34" charset="0"/>
                <a:ea typeface="ＭＳ Ｐゴシック" panose="020B0600070205080204" pitchFamily="34" charset="-128"/>
              </a:rPr>
              <a:t>slid down</a:t>
            </a:r>
            <a:r>
              <a:rPr lang="en-US" altLang="en-US" b="0" i="1" dirty="0">
                <a:solidFill>
                  <a:srgbClr val="FFFFFF"/>
                </a:solidFill>
                <a:latin typeface="Arial" panose="020B0604020202020204" pitchFamily="34" charset="0"/>
                <a:ea typeface="ＭＳ Ｐゴシック" panose="020B0600070205080204" pitchFamily="34" charset="-128"/>
              </a:rPr>
              <a:t>, debris </a:t>
            </a:r>
            <a:r>
              <a:rPr lang="en-US" altLang="en-US" b="0" i="1" dirty="0" smtClean="0">
                <a:solidFill>
                  <a:srgbClr val="FFFFFF"/>
                </a:solidFill>
                <a:latin typeface="Arial" panose="020B0604020202020204" pitchFamily="34" charset="0"/>
                <a:ea typeface="ＭＳ Ｐゴシック" panose="020B0600070205080204" pitchFamily="34" charset="-128"/>
              </a:rPr>
              <a:t>fell </a:t>
            </a:r>
            <a:r>
              <a:rPr lang="en-US" altLang="en-US" b="0" i="1" dirty="0">
                <a:solidFill>
                  <a:srgbClr val="FFFFFF"/>
                </a:solidFill>
                <a:latin typeface="Arial" panose="020B0604020202020204" pitchFamily="34" charset="0"/>
                <a:ea typeface="ＭＳ Ｐゴシック" panose="020B0600070205080204" pitchFamily="34" charset="-128"/>
              </a:rPr>
              <a:t>on equipment adjacent to slope </a:t>
            </a:r>
            <a:r>
              <a:rPr lang="en-US" altLang="en-US" b="0" i="1" dirty="0" smtClean="0">
                <a:solidFill>
                  <a:srgbClr val="FFFFFF"/>
                </a:solidFill>
                <a:latin typeface="Arial" panose="020B0604020202020204" pitchFamily="34" charset="0"/>
                <a:ea typeface="ＭＳ Ｐゴシック" panose="020B0600070205080204" pitchFamily="34" charset="-128"/>
              </a:rPr>
              <a:t>causing injury</a:t>
            </a:r>
            <a:r>
              <a:rPr lang="en-US" altLang="en-US" b="0" i="1" dirty="0">
                <a:solidFill>
                  <a:srgbClr val="FFFFFF"/>
                </a:solidFill>
                <a:latin typeface="Arial" panose="020B0604020202020204" pitchFamily="34" charset="0"/>
                <a:ea typeface="ＭＳ Ｐゴシック" panose="020B0600070205080204" pitchFamily="34" charset="-128"/>
              </a:rPr>
              <a:t>, </a:t>
            </a:r>
            <a:r>
              <a:rPr lang="en-US" altLang="en-US" b="0" i="1" dirty="0" smtClean="0">
                <a:solidFill>
                  <a:srgbClr val="FFFFFF"/>
                </a:solidFill>
                <a:latin typeface="Arial" panose="020B0604020202020204" pitchFamily="34" charset="0"/>
                <a:ea typeface="ＭＳ Ｐゴシック" panose="020B0600070205080204" pitchFamily="34" charset="-128"/>
              </a:rPr>
              <a:t>equipment </a:t>
            </a:r>
            <a:r>
              <a:rPr lang="en-US" altLang="en-US" b="0" i="1" dirty="0">
                <a:solidFill>
                  <a:srgbClr val="FFFFFF"/>
                </a:solidFill>
                <a:latin typeface="Arial" panose="020B0604020202020204" pitchFamily="34" charset="0"/>
                <a:ea typeface="ＭＳ Ｐゴシック" panose="020B0600070205080204" pitchFamily="34" charset="-128"/>
              </a:rPr>
              <a:t>loss, and production loss”.</a:t>
            </a:r>
          </a:p>
          <a:p>
            <a:pPr lvl="0" fontAlgn="auto">
              <a:spcBef>
                <a:spcPts val="0"/>
              </a:spcBef>
              <a:spcAft>
                <a:spcPts val="0"/>
              </a:spcAft>
              <a:defRPr/>
            </a:pPr>
            <a:endParaRPr lang="en-CA" altLang="en-US" b="0" i="1" dirty="0" smtClean="0">
              <a:solidFill>
                <a:srgbClr val="FFFFFF"/>
              </a:solidFill>
              <a:latin typeface="Arial" panose="020B0604020202020204" pitchFamily="34" charset="0"/>
              <a:ea typeface="ＭＳ Ｐゴシック" panose="020B0600070205080204" pitchFamily="34" charset="-128"/>
              <a:sym typeface="Wingdings" pitchFamily="2" charset="2"/>
            </a:endParaRPr>
          </a:p>
          <a:p>
            <a:pPr fontAlgn="auto">
              <a:spcBef>
                <a:spcPts val="0"/>
              </a:spcBef>
              <a:spcAft>
                <a:spcPts val="0"/>
              </a:spcAft>
              <a:defRPr/>
            </a:pP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Now consider these two questions: </a:t>
            </a:r>
          </a:p>
          <a:p>
            <a:pPr marL="342900" indent="-342900" fontAlgn="auto">
              <a:spcBef>
                <a:spcPts val="0"/>
              </a:spcBef>
              <a:spcAft>
                <a:spcPts val="0"/>
              </a:spcAft>
              <a:buFont typeface="+mj-lt"/>
              <a:buAutoNum type="arabicParenR"/>
              <a:defRPr/>
            </a:pP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Is </a:t>
            </a:r>
            <a:r>
              <a:rPr lang="en-CA"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it possible to determine </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which of the following are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immediate</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CA"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causes or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basic</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CA"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causes, and </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their relative logical order (on “what caused what)?</a:t>
            </a:r>
          </a:p>
          <a:p>
            <a:pPr marL="342900" indent="-342900" fontAlgn="auto">
              <a:spcBef>
                <a:spcPts val="0"/>
              </a:spcBef>
              <a:spcAft>
                <a:spcPts val="0"/>
              </a:spcAft>
              <a:buFont typeface="+mj-lt"/>
              <a:buAutoNum type="arabicParenR"/>
              <a:defRPr/>
            </a:pPr>
            <a:endParaRPr lang="en-CA" altLang="en-US" b="0" i="1" dirty="0">
              <a:solidFill>
                <a:srgbClr val="FFFFFF"/>
              </a:solidFill>
              <a:latin typeface="Arial" panose="020B0604020202020204" pitchFamily="34" charset="0"/>
              <a:ea typeface="ＭＳ Ｐゴシック" panose="020B0600070205080204" pitchFamily="34" charset="-128"/>
              <a:sym typeface="Wingdings" pitchFamily="2" charset="2"/>
            </a:endParaRPr>
          </a:p>
          <a:p>
            <a:pPr marL="342900" indent="-342900" eaLnBrk="0" hangingPunct="0">
              <a:spcBef>
                <a:spcPts val="0"/>
              </a:spcBef>
              <a:buSzPct val="100000"/>
              <a:buFont typeface="+mj-lt"/>
              <a:buAutoNum type="arabicParenR"/>
              <a:defRPr/>
            </a:pP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What are the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immediate</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causes and the </a:t>
            </a:r>
            <a:r>
              <a:rPr lang="en-CA" altLang="en-US"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basic</a:t>
            </a:r>
            <a:r>
              <a:rPr lang="en-CA" alt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causes?</a:t>
            </a:r>
          </a:p>
          <a:p>
            <a:pPr algn="r" eaLnBrk="0" hangingPunct="0">
              <a:spcBef>
                <a:spcPts val="0"/>
              </a:spcBef>
              <a:buSzPct val="100000"/>
              <a:defRPr/>
            </a:pPr>
            <a:r>
              <a:rPr lang="en-CA" alt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(next pages)</a:t>
            </a:r>
            <a:endParaRPr lang="en-CA" alt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defRPr/>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828000"/>
            <a:ext cx="3214563" cy="2139980"/>
          </a:xfrm>
          <a:prstGeom prst="rect">
            <a:avLst/>
          </a:prstGeom>
        </p:spPr>
      </p:pic>
    </p:spTree>
    <p:extLst>
      <p:ext uri="{BB962C8B-B14F-4D97-AF65-F5344CB8AC3E}">
        <p14:creationId xmlns:p14="http://schemas.microsoft.com/office/powerpoint/2010/main" val="4293605649"/>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Logical Progression of Causes of an Incident</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fontAlgn="auto">
              <a:spcBef>
                <a:spcPts val="0"/>
              </a:spcBef>
              <a:spcAft>
                <a:spcPts val="0"/>
              </a:spcAft>
              <a:buClr>
                <a:srgbClr val="000000"/>
              </a:buClr>
              <a:defRPr/>
            </a:pPr>
            <a:r>
              <a:rPr lang="en-US" altLang="en-US" sz="2000" b="0" i="1" dirty="0" smtClean="0">
                <a:solidFill>
                  <a:srgbClr val="FFFFFF"/>
                </a:solidFill>
                <a:latin typeface="Arial" panose="020B0604020202020204" pitchFamily="34" charset="0"/>
                <a:ea typeface="ＭＳ Ｐゴシック" panose="020B0600070205080204" pitchFamily="34" charset="-128"/>
              </a:rPr>
              <a:t>Incident Description:  “</a:t>
            </a:r>
            <a:r>
              <a:rPr lang="en-US" altLang="en-US" sz="2000" b="0" i="1" dirty="0">
                <a:solidFill>
                  <a:srgbClr val="FFFFFF"/>
                </a:solidFill>
                <a:latin typeface="Arial" panose="020B0604020202020204" pitchFamily="34" charset="0"/>
                <a:ea typeface="ＭＳ Ｐゴシック" panose="020B0600070205080204" pitchFamily="34" charset="-128"/>
              </a:rPr>
              <a:t>The slope of an open </a:t>
            </a:r>
            <a:r>
              <a:rPr lang="en-US" altLang="en-US" sz="2000" b="0" i="1" dirty="0" smtClean="0">
                <a:solidFill>
                  <a:srgbClr val="FFFFFF"/>
                </a:solidFill>
                <a:latin typeface="Arial" panose="020B0604020202020204" pitchFamily="34" charset="0"/>
                <a:ea typeface="ＭＳ Ｐゴシック" panose="020B0600070205080204" pitchFamily="34" charset="-128"/>
              </a:rPr>
              <a:t/>
            </a:r>
            <a:br>
              <a:rPr lang="en-US" altLang="en-US" sz="2000" b="0" i="1" dirty="0" smtClean="0">
                <a:solidFill>
                  <a:srgbClr val="FFFFFF"/>
                </a:solidFill>
                <a:latin typeface="Arial" panose="020B0604020202020204" pitchFamily="34" charset="0"/>
                <a:ea typeface="ＭＳ Ｐゴシック" panose="020B0600070205080204" pitchFamily="34" charset="-128"/>
              </a:rPr>
            </a:br>
            <a:r>
              <a:rPr lang="en-US" altLang="en-US" sz="2000" b="0" i="1" dirty="0" smtClean="0">
                <a:solidFill>
                  <a:srgbClr val="FFFFFF"/>
                </a:solidFill>
                <a:latin typeface="Arial" panose="020B0604020202020204" pitchFamily="34" charset="0"/>
                <a:ea typeface="ＭＳ Ｐゴシック" panose="020B0600070205080204" pitchFamily="34" charset="-128"/>
              </a:rPr>
              <a:t>quarry </a:t>
            </a:r>
            <a:r>
              <a:rPr lang="en-US" altLang="en-US" sz="2000" b="0" i="1" dirty="0">
                <a:solidFill>
                  <a:srgbClr val="FFFFFF"/>
                </a:solidFill>
                <a:latin typeface="Arial" panose="020B0604020202020204" pitchFamily="34" charset="0"/>
                <a:ea typeface="ＭＳ Ｐゴシック" panose="020B0600070205080204" pitchFamily="34" charset="-128"/>
              </a:rPr>
              <a:t>slid </a:t>
            </a:r>
            <a:r>
              <a:rPr lang="en-US" altLang="en-US" sz="2000" b="0" i="1" dirty="0" smtClean="0">
                <a:solidFill>
                  <a:srgbClr val="FFFFFF"/>
                </a:solidFill>
                <a:latin typeface="Arial" panose="020B0604020202020204" pitchFamily="34" charset="0"/>
                <a:ea typeface="ＭＳ Ｐゴシック" panose="020B0600070205080204" pitchFamily="34" charset="-128"/>
              </a:rPr>
              <a:t>down</a:t>
            </a:r>
            <a:r>
              <a:rPr lang="en-US" altLang="en-US" sz="2000" b="0" i="1" dirty="0">
                <a:solidFill>
                  <a:srgbClr val="FFFFFF"/>
                </a:solidFill>
                <a:latin typeface="Arial" panose="020B0604020202020204" pitchFamily="34" charset="0"/>
                <a:ea typeface="ＭＳ Ｐゴシック" panose="020B0600070205080204" pitchFamily="34" charset="-128"/>
              </a:rPr>
              <a:t>, debris fell on equipment </a:t>
            </a:r>
            <a:r>
              <a:rPr lang="en-US" altLang="en-US" sz="2000" b="0" i="1" dirty="0" smtClean="0">
                <a:solidFill>
                  <a:srgbClr val="FFFFFF"/>
                </a:solidFill>
                <a:latin typeface="Arial" panose="020B0604020202020204" pitchFamily="34" charset="0"/>
                <a:ea typeface="ＭＳ Ｐゴシック" panose="020B0600070205080204" pitchFamily="34" charset="-128"/>
              </a:rPr>
              <a:t/>
            </a:r>
            <a:br>
              <a:rPr lang="en-US" altLang="en-US" sz="2000" b="0" i="1" dirty="0" smtClean="0">
                <a:solidFill>
                  <a:srgbClr val="FFFFFF"/>
                </a:solidFill>
                <a:latin typeface="Arial" panose="020B0604020202020204" pitchFamily="34" charset="0"/>
                <a:ea typeface="ＭＳ Ｐゴシック" panose="020B0600070205080204" pitchFamily="34" charset="-128"/>
              </a:rPr>
            </a:br>
            <a:r>
              <a:rPr lang="en-US" altLang="en-US" sz="2000" b="0" i="1" dirty="0" smtClean="0">
                <a:solidFill>
                  <a:srgbClr val="FFFFFF"/>
                </a:solidFill>
                <a:latin typeface="Arial" panose="020B0604020202020204" pitchFamily="34" charset="0"/>
                <a:ea typeface="ＭＳ Ｐゴシック" panose="020B0600070205080204" pitchFamily="34" charset="-128"/>
              </a:rPr>
              <a:t>adjacent </a:t>
            </a:r>
            <a:r>
              <a:rPr lang="en-US" altLang="en-US" sz="2000" b="0" i="1" dirty="0">
                <a:solidFill>
                  <a:srgbClr val="FFFFFF"/>
                </a:solidFill>
                <a:latin typeface="Arial" panose="020B0604020202020204" pitchFamily="34" charset="0"/>
                <a:ea typeface="ＭＳ Ｐゴシック" panose="020B0600070205080204" pitchFamily="34" charset="-128"/>
              </a:rPr>
              <a:t>to slope causing </a:t>
            </a:r>
            <a:r>
              <a:rPr lang="en-US" altLang="en-US" sz="2000" b="0" i="1" dirty="0" smtClean="0">
                <a:solidFill>
                  <a:srgbClr val="FFFFFF"/>
                </a:solidFill>
                <a:latin typeface="Arial" panose="020B0604020202020204" pitchFamily="34" charset="0"/>
                <a:ea typeface="ＭＳ Ｐゴシック" panose="020B0600070205080204" pitchFamily="34" charset="-128"/>
              </a:rPr>
              <a:t>injury</a:t>
            </a:r>
            <a:r>
              <a:rPr lang="en-US" altLang="en-US" sz="2000" b="0" i="1" dirty="0">
                <a:solidFill>
                  <a:srgbClr val="FFFFFF"/>
                </a:solidFill>
                <a:latin typeface="Arial" panose="020B0604020202020204" pitchFamily="34" charset="0"/>
                <a:ea typeface="ＭＳ Ｐゴシック" panose="020B0600070205080204" pitchFamily="34" charset="-128"/>
              </a:rPr>
              <a:t>, equipment </a:t>
            </a:r>
            <a:r>
              <a:rPr lang="en-US" altLang="en-US" sz="2000" b="0" i="1" dirty="0" smtClean="0">
                <a:solidFill>
                  <a:srgbClr val="FFFFFF"/>
                </a:solidFill>
                <a:latin typeface="Arial" panose="020B0604020202020204" pitchFamily="34" charset="0"/>
                <a:ea typeface="ＭＳ Ｐゴシック" panose="020B0600070205080204" pitchFamily="34" charset="-128"/>
              </a:rPr>
              <a:t/>
            </a:r>
            <a:br>
              <a:rPr lang="en-US" altLang="en-US" sz="2000" b="0" i="1" dirty="0" smtClean="0">
                <a:solidFill>
                  <a:srgbClr val="FFFFFF"/>
                </a:solidFill>
                <a:latin typeface="Arial" panose="020B0604020202020204" pitchFamily="34" charset="0"/>
                <a:ea typeface="ＭＳ Ｐゴシック" panose="020B0600070205080204" pitchFamily="34" charset="-128"/>
              </a:rPr>
            </a:br>
            <a:r>
              <a:rPr lang="en-US" altLang="en-US" sz="2000" b="0" i="1" dirty="0" smtClean="0">
                <a:solidFill>
                  <a:srgbClr val="FFFFFF"/>
                </a:solidFill>
                <a:latin typeface="Arial" panose="020B0604020202020204" pitchFamily="34" charset="0"/>
                <a:ea typeface="ＭＳ Ｐゴシック" panose="020B0600070205080204" pitchFamily="34" charset="-128"/>
              </a:rPr>
              <a:t>loss</a:t>
            </a:r>
            <a:r>
              <a:rPr lang="en-US" altLang="en-US" sz="2000" b="0" i="1" dirty="0">
                <a:solidFill>
                  <a:srgbClr val="FFFFFF"/>
                </a:solidFill>
                <a:latin typeface="Arial" panose="020B0604020202020204" pitchFamily="34" charset="0"/>
                <a:ea typeface="ＭＳ Ｐゴシック" panose="020B0600070205080204" pitchFamily="34" charset="-128"/>
              </a:rPr>
              <a:t>, and production </a:t>
            </a:r>
            <a:r>
              <a:rPr lang="en-US" altLang="en-US" sz="2000" b="0" i="1" dirty="0" smtClean="0">
                <a:solidFill>
                  <a:srgbClr val="FFFFFF"/>
                </a:solidFill>
                <a:latin typeface="Arial" panose="020B0604020202020204" pitchFamily="34" charset="0"/>
                <a:ea typeface="ＭＳ Ｐゴシック" panose="020B0600070205080204" pitchFamily="34" charset="-128"/>
              </a:rPr>
              <a:t>loss.”</a:t>
            </a:r>
            <a:endParaRPr lang="en-US" altLang="en-US" sz="2000" b="0" i="1" dirty="0">
              <a:solidFill>
                <a:srgbClr val="FFFFFF"/>
              </a:solidFill>
              <a:latin typeface="Arial" panose="020B0604020202020204" pitchFamily="34" charset="0"/>
              <a:ea typeface="ＭＳ Ｐゴシック" panose="020B0600070205080204" pitchFamily="34" charset="-128"/>
            </a:endParaRPr>
          </a:p>
          <a:p>
            <a:pPr lvl="0" fontAlgn="auto">
              <a:spcBef>
                <a:spcPts val="0"/>
              </a:spcBef>
              <a:spcAft>
                <a:spcPts val="0"/>
              </a:spcAft>
              <a:defRPr/>
            </a:pPr>
            <a:endParaRPr lang="en-CA" altLang="en-US" sz="2000" b="0" i="1" dirty="0">
              <a:solidFill>
                <a:srgbClr val="FFFFFF"/>
              </a:solidFill>
              <a:latin typeface="Arial" panose="020B0604020202020204" pitchFamily="34" charset="0"/>
              <a:ea typeface="ＭＳ Ｐゴシック" panose="020B0600070205080204" pitchFamily="34" charset="-128"/>
              <a:sym typeface="Wingdings" pitchFamily="2" charset="2"/>
            </a:endParaRPr>
          </a:p>
          <a:p>
            <a:pPr lvl="0" fontAlgn="auto">
              <a:spcBef>
                <a:spcPts val="0"/>
              </a:spcBef>
              <a:spcAft>
                <a:spcPts val="0"/>
              </a:spcAft>
              <a:defRPr/>
            </a:pPr>
            <a:r>
              <a:rPr lang="en-CA"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Please </a:t>
            </a:r>
            <a:r>
              <a:rPr lang="en-CA" altLang="en-US" sz="2000" b="0" i="1" dirty="0">
                <a:solidFill>
                  <a:srgbClr val="FFFFFF"/>
                </a:solidFill>
                <a:latin typeface="Arial" panose="020B0604020202020204" pitchFamily="34" charset="0"/>
                <a:ea typeface="ＭＳ Ｐゴシック" panose="020B0600070205080204" pitchFamily="34" charset="-128"/>
                <a:sym typeface="Wingdings" pitchFamily="2" charset="2"/>
              </a:rPr>
              <a:t>confer (</a:t>
            </a:r>
            <a:r>
              <a:rPr lang="en-CA" altLang="en-US" sz="2000" b="0" i="1" dirty="0" smtClean="0">
                <a:solidFill>
                  <a:srgbClr val="FFFFFF"/>
                </a:solidFill>
                <a:latin typeface="Arial" panose="020B0604020202020204" pitchFamily="34" charset="0"/>
                <a:ea typeface="ＭＳ Ｐゴシック" panose="020B0600070205080204" pitchFamily="34" charset="-128"/>
                <a:sym typeface="Wingdings" pitchFamily="2" charset="2"/>
              </a:rPr>
              <a:t>pen-to-paper, MM-Poll):</a:t>
            </a:r>
            <a:endParaRPr lang="en-CA" altLang="en-US" sz="2000" b="0" i="1" dirty="0">
              <a:solidFill>
                <a:srgbClr val="FFFFFF"/>
              </a:solidFill>
              <a:latin typeface="Arial" panose="020B0604020202020204" pitchFamily="34" charset="0"/>
              <a:ea typeface="ＭＳ Ｐゴシック" panose="020B0600070205080204" pitchFamily="34" charset="-128"/>
              <a:sym typeface="Wingdings" pitchFamily="2" charset="2"/>
            </a:endParaRPr>
          </a:p>
          <a:p>
            <a:pPr marL="360000" indent="-360000" eaLnBrk="0" hangingPunct="0">
              <a:spcBef>
                <a:spcPts val="0"/>
              </a:spcBef>
              <a:buSzPct val="100000"/>
              <a:buFont typeface="Wingdings" panose="05000000000000000000" pitchFamily="2" charset="2"/>
              <a:buChar char="Ø"/>
              <a:defRPr/>
            </a:pPr>
            <a: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Which are the </a:t>
            </a:r>
            <a:r>
              <a:rPr lang="en-CA" altLang="en-US" sz="2000" b="0" i="1" u="sng"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immediate causes</a:t>
            </a:r>
            <a:r>
              <a:rPr lang="en-CA"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and </a:t>
            </a:r>
            <a:b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br>
            <a:r>
              <a:rPr lang="en-CA"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which</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are the </a:t>
            </a:r>
            <a:r>
              <a:rPr lang="en-US" altLang="en-US" sz="2000" b="0" i="1" u="sng"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basic causes</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t>
            </a:r>
          </a:p>
          <a:p>
            <a:pPr marL="720000" indent="-360000" eaLnBrk="0" hangingPunct="0">
              <a:spcBef>
                <a:spcPts val="0"/>
              </a:spcBef>
              <a:buSzPct val="100000"/>
              <a:buFont typeface="Wingdings" panose="05000000000000000000" pitchFamily="2" charset="2"/>
              <a:buChar char="Ø"/>
              <a:defRPr/>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Debris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fell</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Slope was unstable</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Truck and shovel were inside the exclusion zone</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Supervisor told Operator to work in the exclusion zone</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Operator was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trained on exclusion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zone procedures</a:t>
            </a:r>
          </a:p>
          <a:p>
            <a:pPr marL="720000" indent="-360000" eaLnBrk="0" hangingPunct="0">
              <a:spcBef>
                <a:spcPts val="0"/>
              </a:spcBef>
              <a:buSzPct val="100000"/>
              <a:buFont typeface="Wingdings" panose="05000000000000000000" pitchFamily="2" charset="2"/>
              <a:buChar char="Ø"/>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Monitoring data was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evaluated</a:t>
            </a:r>
          </a:p>
          <a:p>
            <a:pPr marL="360000" eaLnBrk="0" fontAlgn="auto" hangingPunct="0">
              <a:spcBef>
                <a:spcPts val="0"/>
              </a:spcBef>
              <a:spcAft>
                <a:spcPts val="0"/>
              </a:spcAft>
              <a:buClr>
                <a:srgbClr val="000000"/>
              </a:buClr>
              <a:buSzPct val="100000"/>
              <a:defRPr/>
            </a:pPr>
            <a:endParaRPr lang="en-US" altLang="en-US" sz="2000" b="0" i="1" dirty="0">
              <a:solidFill>
                <a:srgbClr val="FFFFFF"/>
              </a:solidFill>
              <a:latin typeface="Arial" panose="020B0604020202020204" pitchFamily="34" charset="0"/>
              <a:ea typeface="ＭＳ Ｐゴシック" panose="020B0600070205080204" pitchFamily="34" charset="-128"/>
              <a:sym typeface="Wingdings" pitchFamily="2" charset="2"/>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defRPr/>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908020"/>
            <a:ext cx="3214563" cy="2139980"/>
          </a:xfrm>
          <a:prstGeom prst="rect">
            <a:avLst/>
          </a:prstGeom>
        </p:spPr>
      </p:pic>
    </p:spTree>
    <p:extLst>
      <p:ext uri="{BB962C8B-B14F-4D97-AF65-F5344CB8AC3E}">
        <p14:creationId xmlns:p14="http://schemas.microsoft.com/office/powerpoint/2010/main" val="352121808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srgbClr val="000000"/>
              </a:buClr>
              <a:buNone/>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The intent </a:t>
            </a: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of this exercise is </a:t>
            </a:r>
            <a:b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b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NOT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to inform </a:t>
            </a: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you or test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you</a:t>
            </a: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a:t>
            </a: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a:r>
            <a:b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b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on </a:t>
            </a: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the causes </a:t>
            </a: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of this LI nor the </a:t>
            </a:r>
            <a:b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b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category of causes!</a:t>
            </a:r>
            <a:endPar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endPar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0" lvl="0" indent="0" fontAlgn="auto">
              <a:lnSpc>
                <a:spcPct val="100000"/>
              </a:lnSpc>
              <a:spcBef>
                <a:spcPts val="0"/>
              </a:spcBef>
              <a:spcAft>
                <a:spcPts val="0"/>
              </a:spcAft>
              <a:buClr>
                <a:srgbClr val="000000"/>
              </a:buClr>
              <a:buNone/>
              <a:defRPr/>
            </a:pP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The intent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of </a:t>
            </a: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this exercise </a:t>
            </a:r>
            <a:r>
              <a:rPr lang="en-US" altLang="en-US"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is </a:t>
            </a:r>
            <a:r>
              <a:rPr lang="en-US" altLang="en-US"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to:</a:t>
            </a:r>
          </a:p>
          <a:p>
            <a:pPr marL="360000" indent="-360000" fontAlgn="auto">
              <a:lnSpc>
                <a:spcPct val="100000"/>
              </a:lnSpc>
              <a:spcBef>
                <a:spcPts val="0"/>
              </a:spcBef>
              <a:spcAft>
                <a:spcPts val="0"/>
              </a:spcAft>
              <a:buClrTx/>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Discuss some of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responses in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Mentimeter</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in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terms of “jumping to conclusions”, “facts”, “logic leaps”,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“combination of causes”, etc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a:t>
            </a:r>
          </a:p>
          <a:p>
            <a:pPr marL="360000" indent="-360000" fontAlgn="auto">
              <a:lnSpc>
                <a:spcPct val="100000"/>
              </a:lnSpc>
              <a:spcBef>
                <a:spcPts val="0"/>
              </a:spcBef>
              <a:spcAft>
                <a:spcPts val="0"/>
              </a:spcAft>
              <a:buClrTx/>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Demonstrate that the causation of a loss incident must be explained in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rational and sequentially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logical terms in order to make sense and be of value in determining the latent causes of a loss incident. </a:t>
            </a:r>
            <a:endParaRPr lang="en-US"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Intent of the Active Learning Exercise</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4" name="Picture 3"/>
          <p:cNvPicPr>
            <a:picLocks noChangeAspect="1"/>
          </p:cNvPicPr>
          <p:nvPr/>
        </p:nvPicPr>
        <p:blipFill>
          <a:blip r:embed="rId3"/>
          <a:stretch>
            <a:fillRect/>
          </a:stretch>
        </p:blipFill>
        <p:spPr>
          <a:xfrm>
            <a:off x="4240762" y="828000"/>
            <a:ext cx="4572638" cy="3429479"/>
          </a:xfrm>
          <a:prstGeom prst="rect">
            <a:avLst/>
          </a:prstGeom>
          <a:ln>
            <a:solidFill>
              <a:schemeClr val="tx1"/>
            </a:solidFill>
          </a:ln>
        </p:spPr>
      </p:pic>
    </p:spTree>
    <p:extLst>
      <p:ext uri="{BB962C8B-B14F-4D97-AF65-F5344CB8AC3E}">
        <p14:creationId xmlns:p14="http://schemas.microsoft.com/office/powerpoint/2010/main" val="1402127041"/>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spcAft>
                <a:spcPts val="0"/>
              </a:spcAft>
              <a:buClr>
                <a:srgbClr val="000000"/>
              </a:buClr>
              <a:buSzPct val="100000"/>
              <a:buNone/>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Description: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“The slope of an open quarry </a:t>
            </a:r>
            <a:b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b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slid down, debris fell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on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equipment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adjacent to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slope </a:t>
            </a:r>
            <a:b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b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causing injury</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equipment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loss, and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rPr>
              <a:t>production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rPr>
              <a:t>loss.”</a:t>
            </a:r>
          </a:p>
          <a:p>
            <a:pPr marL="0" lvl="0" indent="0" fontAlgn="auto">
              <a:lnSpc>
                <a:spcPct val="100000"/>
              </a:lnSpc>
              <a:spcBef>
                <a:spcPts val="0"/>
              </a:spcBef>
              <a:spcAft>
                <a:spcPts val="0"/>
              </a:spcAft>
              <a:buClr>
                <a:srgbClr val="000000"/>
              </a:buClr>
              <a:buNone/>
              <a:defRPr/>
            </a:pPr>
            <a:endParaRPr lang="en-CA"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360000" lvl="0" indent="-360000" fontAlgn="auto">
              <a:lnSpc>
                <a:spcPct val="100000"/>
              </a:lnSpc>
              <a:spcBef>
                <a:spcPts val="0"/>
              </a:spcBef>
              <a:spcAft>
                <a:spcPts val="0"/>
              </a:spcAft>
              <a:buClrTx/>
              <a:buFont typeface="Wingdings" panose="05000000000000000000" pitchFamily="2" charset="2"/>
              <a:buChar char="Ø"/>
              <a:defRPr/>
            </a:pPr>
            <a:r>
              <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Causes:</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Debris </a:t>
            </a:r>
            <a:r>
              <a:rPr lang="en-CA"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fell from the side</a:t>
            </a:r>
            <a:endPar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Slope was unstable</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Truck and shovel were inside the exclusion zone</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Supervisor told Operator to work in the exclusion zone</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Operator was not </a:t>
            </a:r>
            <a:r>
              <a:rPr lang="en-CA" altLang="en-US"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trained on </a:t>
            </a: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exclusion zone procedures</a:t>
            </a:r>
          </a:p>
          <a:p>
            <a:pPr marL="720000" lvl="1" indent="-360000" eaLnBrk="0" fontAlgn="auto" hangingPunct="0">
              <a:lnSpc>
                <a:spcPct val="100000"/>
              </a:lnSpc>
              <a:spcBef>
                <a:spcPts val="0"/>
              </a:spcBef>
              <a:spcAft>
                <a:spcPts val="0"/>
              </a:spcAft>
              <a:buClrTx/>
              <a:buSzPct val="100000"/>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Monitoring data was not evaluated</a:t>
            </a:r>
          </a:p>
          <a:p>
            <a:pPr marL="457200" lvl="0" indent="-457200" fontAlgn="auto">
              <a:lnSpc>
                <a:spcPct val="100000"/>
              </a:lnSpc>
              <a:spcBef>
                <a:spcPts val="0"/>
              </a:spcBef>
              <a:spcAft>
                <a:spcPts val="0"/>
              </a:spcAft>
              <a:buClrTx/>
              <a:buFont typeface="Wingdings" panose="05000000000000000000" pitchFamily="2" charset="2"/>
              <a:buChar char="Ø"/>
              <a:defRPr/>
            </a:pPr>
            <a:endParaRPr lang="en-CA"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360000" indent="-360000" fontAlgn="auto">
              <a:lnSpc>
                <a:spcPct val="100000"/>
              </a:lnSpc>
              <a:spcBef>
                <a:spcPts val="0"/>
              </a:spcBef>
              <a:spcAft>
                <a:spcPts val="0"/>
              </a:spcAft>
              <a:buClrTx/>
              <a:buFont typeface="Wingdings" panose="05000000000000000000" pitchFamily="2" charset="2"/>
              <a:buChar char="Ø"/>
              <a:defRPr/>
            </a:pPr>
            <a:r>
              <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Wingdings" pitchFamily="2" charset="2"/>
              </a:rPr>
              <a:t>Some points:</a:t>
            </a:r>
          </a:p>
          <a:p>
            <a:pPr marL="720000" lvl="1" indent="-360000" fontAlgn="auto">
              <a:lnSpc>
                <a:spcPct val="100000"/>
              </a:lnSpc>
              <a:spcBef>
                <a:spcPts val="0"/>
              </a:spcBef>
              <a:spcAft>
                <a:spcPts val="0"/>
              </a:spcAft>
              <a:buClrTx/>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Difficult to decide – immediate or basic!</a:t>
            </a:r>
          </a:p>
          <a:p>
            <a:pPr marL="720000" lvl="1" indent="-360000" fontAlgn="auto">
              <a:lnSpc>
                <a:spcPct val="100000"/>
              </a:lnSpc>
              <a:spcBef>
                <a:spcPts val="0"/>
              </a:spcBef>
              <a:spcAft>
                <a:spcPts val="0"/>
              </a:spcAft>
              <a:buClrTx/>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Not quite logical … something is missing!</a:t>
            </a:r>
          </a:p>
          <a:p>
            <a:pPr marL="1080000" lvl="1" indent="-360000" fontAlgn="auto">
              <a:lnSpc>
                <a:spcPct val="100000"/>
              </a:lnSpc>
              <a:spcBef>
                <a:spcPts val="0"/>
              </a:spcBef>
              <a:spcAft>
                <a:spcPts val="0"/>
              </a:spcAft>
              <a:buClrTx/>
              <a:buFont typeface="Wingdings" panose="05000000000000000000" pitchFamily="2" charset="2"/>
              <a:buChar char="Ø"/>
              <a:defRPr/>
            </a:pPr>
            <a:r>
              <a:rPr lang="en-CA" altLang="en-US"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“AND” and “OR” gates will help structure the logic.</a:t>
            </a:r>
          </a:p>
          <a:p>
            <a:pPr marL="457200" lvl="0" indent="-457200" fontAlgn="auto">
              <a:lnSpc>
                <a:spcPct val="100000"/>
              </a:lnSpc>
              <a:spcBef>
                <a:spcPts val="0"/>
              </a:spcBef>
              <a:spcAft>
                <a:spcPts val="0"/>
              </a:spcAft>
              <a:buClrTx/>
              <a:buFont typeface="Wingdings" panose="05000000000000000000" pitchFamily="2" charset="2"/>
              <a:buChar char="Ø"/>
              <a:defRPr/>
            </a:pPr>
            <a:endPar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endParaRP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To make sense, the loss incident and its sequence of events </a:t>
            </a:r>
            <a:r>
              <a:rPr lang="en-US" altLang="en-US" sz="1800" b="0" dirty="0" smtClean="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are </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best </a:t>
            </a:r>
            <a:r>
              <a:rPr lang="en-US" altLang="en-US" sz="1800" b="0" dirty="0" err="1">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analysed</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using the </a:t>
            </a:r>
            <a:r>
              <a:rPr lang="en-US" altLang="en-US" sz="180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Root Cause Analysis</a:t>
            </a:r>
            <a:r>
              <a:rPr lang="en-US" altLang="en-US" sz="1800" b="0" dirty="0">
                <a:solidFill>
                  <a:prstClr val="black">
                    <a:lumMod val="85000"/>
                    <a:lumOff val="15000"/>
                  </a:prstClr>
                </a:solidFill>
                <a:latin typeface="Arial" panose="020B0604020202020204" pitchFamily="34" charset="0"/>
                <a:ea typeface="ＭＳ Ｐゴシック" panose="020B0600070205080204" pitchFamily="34" charset="-128"/>
                <a:sym typeface="Wingdings" pitchFamily="2" charset="2"/>
              </a:rPr>
              <a:t> work process and C&amp;E Model!</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Logical Progression of Causes of an </a:t>
            </a:r>
            <a:r>
              <a:rPr lang="en-US" altLang="en-US" sz="2400" b="0" dirty="0" smtClean="0">
                <a:solidFill>
                  <a:schemeClr val="accent2"/>
                </a:solidFill>
                <a:latin typeface="Arial" panose="020B0604020202020204" pitchFamily="34" charset="0"/>
                <a:ea typeface="+mj-ea"/>
                <a:cs typeface="Arial" panose="020B0604020202020204" pitchFamily="34" charset="0"/>
              </a:rPr>
              <a:t>Incident: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887983"/>
            <a:ext cx="2803316" cy="1866207"/>
          </a:xfrm>
          <a:prstGeom prst="rect">
            <a:avLst/>
          </a:prstGeom>
        </p:spPr>
      </p:pic>
    </p:spTree>
    <p:extLst>
      <p:ext uri="{BB962C8B-B14F-4D97-AF65-F5344CB8AC3E}">
        <p14:creationId xmlns:p14="http://schemas.microsoft.com/office/powerpoint/2010/main" val="187383684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Collect the facts … complete as much of 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Investigation WP</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before  moving on to the RCA WP!</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Absolutely necessary that facts of the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known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especially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sequence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events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leading up to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incident.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and effort can be saved by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avoiding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debate driven by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information</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lack of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consensus on plausible events. </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the RCA WP to logically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breakdown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loss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to identify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causes of an incident, including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causes, and</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basic causes, and</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other words, to construct 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Root Cause Analysis Chart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RCA Team identifies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actual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causes as well as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possible, probable, plausible, or conceivable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causes.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Root Cause Analysis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6848524" y="793841"/>
            <a:ext cx="2079333" cy="2406559"/>
          </a:xfrm>
          <a:prstGeom prst="rect">
            <a:avLst/>
          </a:prstGeom>
        </p:spPr>
      </p:pic>
    </p:spTree>
    <p:extLst>
      <p:ext uri="{BB962C8B-B14F-4D97-AF65-F5344CB8AC3E}">
        <p14:creationId xmlns:p14="http://schemas.microsoft.com/office/powerpoint/2010/main" val="2064190431"/>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Purpose, Starting Point, and Outcome: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RCA WP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intended to drill down to the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causes</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fontAlgn="auto">
              <a:lnSpc>
                <a:spcPct val="100000"/>
              </a:lnSpc>
              <a:spcBef>
                <a:spcPts val="0"/>
              </a:spcBef>
              <a:spcAft>
                <a:spcPts val="0"/>
              </a:spcAft>
              <a:buClrTx/>
              <a:buFont typeface="Wingdings" panose="05000000000000000000" pitchFamily="2" charset="2"/>
              <a:buChar char="Ø"/>
              <a:defRPr/>
            </a:pPr>
            <a:r>
              <a:rPr lang="en-CA" altLang="en-US" sz="2000" b="0" dirty="0">
                <a:solidFill>
                  <a:prstClr val="black">
                    <a:lumMod val="85000"/>
                    <a:lumOff val="15000"/>
                  </a:prstClr>
                </a:solidFill>
                <a:latin typeface="Arial" panose="020B0604020202020204" pitchFamily="34" charset="0"/>
                <a:ea typeface="ＭＳ Ｐゴシック" panose="020B0600070205080204" pitchFamily="34" charset="-128"/>
              </a:rPr>
              <a:t>Once latent causes (RMS element weaknesses) are identified, needed improvements &amp; recommendations become evident. </a:t>
            </a:r>
          </a:p>
          <a:p>
            <a:pPr marL="0" lvl="0" indent="0" fontAlgn="auto">
              <a:lnSpc>
                <a:spcPct val="100000"/>
              </a:lnSpc>
              <a:spcBef>
                <a:spcPts val="0"/>
              </a:spcBef>
              <a:spcAft>
                <a:spcPts val="0"/>
              </a:spcAft>
              <a:buClr>
                <a:srgbClr val="E7E6E6"/>
              </a:buClr>
              <a:buFont typeface="Wingdings" panose="05000000000000000000" pitchFamily="2" charset="2"/>
              <a:buChar char="Ø"/>
              <a:defRPr/>
            </a:pPr>
            <a:endParaRPr lang="en-CA" altLang="en-US" b="0" dirty="0">
              <a:solidFill>
                <a:prstClr val="black">
                  <a:lumMod val="85000"/>
                  <a:lumOff val="15000"/>
                </a:prstClr>
              </a:solidFill>
              <a:latin typeface="Arial" panose="020B0604020202020204" pitchFamily="34" charset="0"/>
              <a:ea typeface="ＭＳ Ｐゴシック" panose="020B0600070205080204" pitchFamily="34" charset="-128"/>
            </a:endParaRPr>
          </a:p>
          <a:p>
            <a:pPr marL="360000" indent="-360000" eaLnBrk="0" hangingPunct="0">
              <a:lnSpc>
                <a:spcPct val="100000"/>
              </a:lnSpc>
              <a:spcBef>
                <a:spcPts val="0"/>
              </a:spcBef>
              <a:buClrTx/>
              <a:buSzPct val="100000"/>
              <a:buFont typeface="Wingdings" panose="05000000000000000000" pitchFamily="2" charset="2"/>
              <a:buChar char="Ø"/>
              <a:defRPr/>
            </a:pP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starting point is the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Description</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fontAlgn="auto">
              <a:lnSpc>
                <a:spcPct val="100000"/>
              </a:lnSpc>
              <a:spcBef>
                <a:spcPts val="0"/>
              </a:spcBef>
              <a:spcAft>
                <a:spcPts val="0"/>
              </a:spcAft>
              <a:buClrTx/>
              <a:buFont typeface="Wingdings" panose="05000000000000000000" pitchFamily="2" charset="2"/>
              <a:buChar char="Ø"/>
              <a:defRPr/>
            </a:pPr>
            <a:r>
              <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rPr>
              <a:t>The RCA reliably describes the </a:t>
            </a:r>
            <a:r>
              <a:rPr lang="en-US" altLang="en-US" sz="2000" dirty="0">
                <a:solidFill>
                  <a:prstClr val="black">
                    <a:lumMod val="85000"/>
                    <a:lumOff val="15000"/>
                  </a:prstClr>
                </a:solidFill>
                <a:latin typeface="Arial" panose="020B0604020202020204" pitchFamily="34" charset="0"/>
                <a:ea typeface="ＭＳ Ｐゴシック" panose="020B0600070205080204" pitchFamily="34" charset="-128"/>
              </a:rPr>
              <a:t>sequence of events </a:t>
            </a:r>
            <a:r>
              <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rPr>
              <a:t>leading up to the incident – </a:t>
            </a:r>
            <a:r>
              <a:rPr lang="en-US" altLang="en-US" sz="2000" dirty="0">
                <a:solidFill>
                  <a:prstClr val="black">
                    <a:lumMod val="85000"/>
                    <a:lumOff val="15000"/>
                  </a:prstClr>
                </a:solidFill>
                <a:latin typeface="Arial" panose="020B0604020202020204" pitchFamily="34" charset="0"/>
                <a:ea typeface="ＭＳ Ｐゴシック" panose="020B0600070205080204" pitchFamily="34" charset="-128"/>
              </a:rPr>
              <a:t>in detail</a:t>
            </a:r>
            <a:r>
              <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rPr>
              <a:t>. </a:t>
            </a:r>
            <a:endParaRPr lang="en-US" altLang="en-US" sz="2000" b="0" dirty="0" smtClean="0">
              <a:solidFill>
                <a:prstClr val="black">
                  <a:lumMod val="85000"/>
                  <a:lumOff val="15000"/>
                </a:prstClr>
              </a:solidFill>
              <a:latin typeface="Arial" panose="020B0604020202020204" pitchFamily="34" charset="0"/>
              <a:ea typeface="ＭＳ Ｐゴシック" panose="020B0600070205080204" pitchFamily="34" charset="-128"/>
            </a:endParaRPr>
          </a:p>
          <a:p>
            <a:pPr marL="720000" lvl="1" indent="-360000" fontAlgn="auto">
              <a:lnSpc>
                <a:spcPct val="100000"/>
              </a:lnSpc>
              <a:spcBef>
                <a:spcPts val="0"/>
              </a:spcBef>
              <a:spcAft>
                <a:spcPts val="0"/>
              </a:spcAft>
              <a:buClrTx/>
              <a:buFont typeface="Wingdings" panose="05000000000000000000" pitchFamily="2" charset="2"/>
              <a:buChar char="Ø"/>
              <a:defRPr/>
            </a:pPr>
            <a:endPar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product or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outcome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the RCA Work Process is an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RCA Chart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fontAlgn="auto">
              <a:lnSpc>
                <a:spcPct val="100000"/>
              </a:lnSpc>
              <a:spcBef>
                <a:spcPts val="0"/>
              </a:spcBef>
              <a:spcAft>
                <a:spcPts val="0"/>
              </a:spcAft>
              <a:buClrTx/>
              <a:buFont typeface="Wingdings" panose="05000000000000000000" pitchFamily="2" charset="2"/>
              <a:buChar char="Ø"/>
              <a:defRPr/>
            </a:pPr>
            <a:endParaRPr lang="en-US" altLang="en-US" sz="2000" b="0" dirty="0">
              <a:solidFill>
                <a:prstClr val="black">
                  <a:lumMod val="85000"/>
                  <a:lumOff val="15000"/>
                </a:prstClr>
              </a:solidFill>
              <a:latin typeface="Arial" panose="020B0604020202020204" pitchFamily="34" charset="0"/>
              <a:ea typeface="ＭＳ Ｐゴシック" panose="020B0600070205080204" pitchFamily="34" charset="-128"/>
            </a:endParaRPr>
          </a:p>
          <a:p>
            <a:pPr marL="457200" lvl="0" indent="-457200" fontAlgn="auto">
              <a:lnSpc>
                <a:spcPct val="100000"/>
              </a:lnSpc>
              <a:spcBef>
                <a:spcPts val="0"/>
              </a:spcBef>
              <a:spcAft>
                <a:spcPts val="0"/>
              </a:spcAft>
              <a:buClr>
                <a:srgbClr val="E7E6E6"/>
              </a:buClr>
              <a:buNone/>
              <a:defRPr/>
            </a:pPr>
            <a:r>
              <a:rPr lang="en-US" altLang="en-US" b="0" dirty="0" smtClean="0">
                <a:solidFill>
                  <a:prstClr val="black">
                    <a:lumMod val="85000"/>
                    <a:lumOff val="15000"/>
                  </a:prstClr>
                </a:solidFill>
                <a:latin typeface="Arial" panose="020B0604020202020204" pitchFamily="34" charset="0"/>
                <a:ea typeface="ＭＳ Ｐゴシック" panose="020B0600070205080204" pitchFamily="34" charset="-128"/>
              </a:rPr>
              <a:t>Some </a:t>
            </a: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benefits:</a:t>
            </a: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Focuses on one specific cause at a time. </a:t>
            </a: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Identifies all causes through brainstorm thinking, supported by evidence in actual loss incidents under investigation</a:t>
            </a:r>
          </a:p>
          <a:p>
            <a:pPr marL="360000" lvl="0" indent="-360000" fontAlgn="auto">
              <a:lnSpc>
                <a:spcPct val="100000"/>
              </a:lnSpc>
              <a:spcBef>
                <a:spcPts val="0"/>
              </a:spcBef>
              <a:spcAft>
                <a:spcPts val="0"/>
              </a:spcAft>
              <a:buClrTx/>
              <a:buFont typeface="Wingdings" panose="05000000000000000000" pitchFamily="2" charset="2"/>
              <a:buChar char="Ø"/>
              <a:defRPr/>
            </a:pPr>
            <a:r>
              <a:rPr lang="en-US" altLang="en-US" b="0" dirty="0">
                <a:solidFill>
                  <a:prstClr val="black">
                    <a:lumMod val="85000"/>
                    <a:lumOff val="15000"/>
                  </a:prstClr>
                </a:solidFill>
                <a:latin typeface="Arial" panose="020B0604020202020204" pitchFamily="34" charset="0"/>
                <a:ea typeface="ＭＳ Ｐゴシック" panose="020B0600070205080204" pitchFamily="34" charset="-128"/>
              </a:rPr>
              <a:t>Provides a visual representation of the incident in a clear and logical manner.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Root Cause Analysis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4660540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Construct a Root Cause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Analysis – the Steps: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spcAft>
                <a:spcPts val="600"/>
              </a:spcAft>
              <a:buClrTx/>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state the Incident Description. </a:t>
            </a:r>
          </a:p>
          <a:p>
            <a:pPr marL="457200" indent="-457200" eaLnBrk="0" hangingPunct="0">
              <a:lnSpc>
                <a:spcPct val="100000"/>
              </a:lnSpc>
              <a:spcBef>
                <a:spcPts val="0"/>
              </a:spcBef>
              <a:spcAft>
                <a:spcPts val="600"/>
              </a:spcAft>
              <a:buClrTx/>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Ask “what caused this?” i.e. “Ask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why</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each subsequent cause, ask the same question, “why?” </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causes at the initial levels, followed by basic causes.</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Use “AND” and “OR” gates to logically connect causes. </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Continue to drill down to ultimately discover the latent causes. </a:t>
            </a:r>
          </a:p>
          <a:p>
            <a:pPr marL="457200" indent="-457200" eaLnBrk="0" hangingPunct="0">
              <a:lnSpc>
                <a:spcPct val="100000"/>
              </a:lnSpc>
              <a:spcBef>
                <a:spcPts val="0"/>
              </a:spcBef>
              <a:spcAft>
                <a:spcPts val="600"/>
              </a:spcAft>
              <a:buClrTx/>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 sound logic in your RCA Chart - avoid “logic leaps”.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Use the narrative technique: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was caused by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was caused by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Root Cause Analysis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7244023"/>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Nomenclature and Symbols for Root Cause Analysis: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3"/>
          <p:cNvSpPr txBox="1">
            <a:spLocks noChangeArrowheads="1"/>
          </p:cNvSpPr>
          <p:nvPr/>
        </p:nvSpPr>
        <p:spPr>
          <a:xfrm>
            <a:off x="1553142" y="960540"/>
            <a:ext cx="7266858" cy="5059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spcAft>
                <a:spcPts val="0"/>
              </a:spcAft>
              <a:buClr>
                <a:schemeClr val="tx1"/>
              </a:buClr>
              <a:buFont typeface="Arial" panose="020B0604020202020204" pitchFamily="34" charset="0"/>
              <a:buNone/>
            </a:pPr>
            <a:r>
              <a:rPr lang="en-US" altLang="en-US" sz="1800" b="1" dirty="0" smtClean="0">
                <a:solidFill>
                  <a:srgbClr val="000000"/>
                </a:solidFill>
                <a:latin typeface="Arial" panose="020B0604020202020204" pitchFamily="34" charset="0"/>
                <a:ea typeface="ＭＳ Ｐゴシック" panose="020B0600070205080204" pitchFamily="34" charset="-128"/>
              </a:rPr>
              <a:t>How practices (activities, actions, behaviours) and conditions (hazards) are viewed in order to cause an event:</a:t>
            </a:r>
          </a:p>
          <a:p>
            <a:pPr marL="0" indent="0" fontAlgn="auto">
              <a:lnSpc>
                <a:spcPct val="100000"/>
              </a:lnSpc>
              <a:spcBef>
                <a:spcPts val="0"/>
              </a:spcBef>
              <a:spcAft>
                <a:spcPts val="0"/>
              </a:spcAft>
              <a:buClr>
                <a:schemeClr val="tx1"/>
              </a:buClr>
              <a:buFont typeface="Wingdings" panose="05000000000000000000" pitchFamily="2" charset="2"/>
              <a:buNone/>
            </a:pPr>
            <a:endParaRPr lang="en-US" altLang="en-US" sz="1800" b="1" dirty="0" smtClean="0">
              <a:solidFill>
                <a:srgbClr val="000000"/>
              </a:solidFill>
              <a:latin typeface="Arial" panose="020B0604020202020204" pitchFamily="34" charset="0"/>
              <a:ea typeface="ＭＳ Ｐゴシック" panose="020B0600070205080204" pitchFamily="34" charset="-128"/>
            </a:endParaRPr>
          </a:p>
          <a:p>
            <a:pPr marL="0" indent="0" fontAlgn="auto">
              <a:lnSpc>
                <a:spcPct val="100000"/>
              </a:lnSpc>
              <a:spcBef>
                <a:spcPts val="0"/>
              </a:spcBef>
              <a:spcAft>
                <a:spcPts val="0"/>
              </a:spcAft>
              <a:buClr>
                <a:schemeClr val="tx1"/>
              </a:buClr>
              <a:buFont typeface="Wingdings" panose="05000000000000000000" pitchFamily="2" charset="2"/>
              <a:buNone/>
            </a:pPr>
            <a:r>
              <a:rPr lang="en-US" altLang="en-US" sz="1800" b="1" dirty="0" smtClean="0">
                <a:solidFill>
                  <a:srgbClr val="000000"/>
                </a:solidFill>
                <a:latin typeface="Arial" panose="020B0604020202020204" pitchFamily="34" charset="0"/>
                <a:ea typeface="ＭＳ Ｐゴシック" panose="020B0600070205080204" pitchFamily="34" charset="-128"/>
              </a:rPr>
              <a:t>“AND” Gate: </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possibility is a combination of practices must happen </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Practice A AND Practice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Another possibility is a combination of conditions must be present</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Condition A AND Condition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And another possibility is a combination of practices must happen and conditions must be present   i.e. Practice A AND Condition B.</a:t>
            </a:r>
          </a:p>
          <a:p>
            <a:pPr fontAlgn="auto">
              <a:lnSpc>
                <a:spcPct val="100000"/>
              </a:lnSpc>
              <a:spcBef>
                <a:spcPts val="0"/>
              </a:spcBef>
              <a:spcAft>
                <a:spcPts val="0"/>
              </a:spcAft>
              <a:buClr>
                <a:schemeClr val="tx1"/>
              </a:buClr>
              <a:buFont typeface="Wingdings" panose="05000000000000000000" pitchFamily="2" charset="2"/>
              <a:buNone/>
            </a:pPr>
            <a:endParaRPr lang="en-US" altLang="en-US" sz="1800" b="0" dirty="0" smtClean="0">
              <a:solidFill>
                <a:srgbClr val="000000"/>
              </a:solidFill>
              <a:latin typeface="Arial" panose="020B0604020202020204" pitchFamily="34" charset="0"/>
              <a:ea typeface="ＭＳ Ｐゴシック" panose="020B0600070205080204" pitchFamily="34" charset="-128"/>
            </a:endParaRPr>
          </a:p>
          <a:p>
            <a:pPr marL="0" indent="0" fontAlgn="auto">
              <a:lnSpc>
                <a:spcPct val="100000"/>
              </a:lnSpc>
              <a:spcBef>
                <a:spcPts val="0"/>
              </a:spcBef>
              <a:spcAft>
                <a:spcPts val="0"/>
              </a:spcAft>
              <a:buClr>
                <a:schemeClr val="tx1"/>
              </a:buClr>
              <a:buFont typeface="Wingdings" panose="05000000000000000000" pitchFamily="2" charset="2"/>
              <a:buNone/>
            </a:pPr>
            <a:r>
              <a:rPr lang="en-US" altLang="en-US" sz="1800" b="1" dirty="0" smtClean="0">
                <a:solidFill>
                  <a:srgbClr val="000000"/>
                </a:solidFill>
                <a:latin typeface="Arial" panose="020B0604020202020204" pitchFamily="34" charset="0"/>
                <a:ea typeface="ＭＳ Ｐゴシック" panose="020B0600070205080204" pitchFamily="34" charset="-128"/>
              </a:rPr>
              <a:t>“OR” Gate:</a:t>
            </a:r>
            <a:endParaRPr lang="en-US" altLang="en-US" sz="1800" b="0" dirty="0" smtClean="0">
              <a:solidFill>
                <a:srgbClr val="000000"/>
              </a:solidFill>
              <a:latin typeface="Arial" panose="020B0604020202020204" pitchFamily="34" charset="0"/>
              <a:ea typeface="ＭＳ Ｐゴシック" panose="020B0600070205080204" pitchFamily="34" charset="-128"/>
            </a:endParaRP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of several practice must happen </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Practice A OR Practice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of several conditions must be present </a:t>
            </a:r>
            <a:br>
              <a:rPr lang="en-US" altLang="en-US" sz="1800" b="0" dirty="0" smtClean="0">
                <a:solidFill>
                  <a:srgbClr val="000000"/>
                </a:solidFill>
                <a:latin typeface="Arial" panose="020B0604020202020204" pitchFamily="34" charset="0"/>
                <a:ea typeface="ＭＳ Ｐゴシック" panose="020B0600070205080204" pitchFamily="34" charset="-128"/>
              </a:rPr>
            </a:br>
            <a:r>
              <a:rPr lang="en-US" altLang="en-US" sz="1800" b="0" dirty="0" smtClean="0">
                <a:solidFill>
                  <a:srgbClr val="000000"/>
                </a:solidFill>
                <a:latin typeface="Arial" panose="020B0604020202020204" pitchFamily="34" charset="0"/>
                <a:ea typeface="ＭＳ Ｐゴシック" panose="020B0600070205080204" pitchFamily="34" charset="-128"/>
              </a:rPr>
              <a:t>i.e. Condition A OR Condition B</a:t>
            </a:r>
          </a:p>
          <a:p>
            <a:pPr fontAlgn="auto">
              <a:lnSpc>
                <a:spcPct val="100000"/>
              </a:lnSpc>
              <a:spcBef>
                <a:spcPts val="0"/>
              </a:spcBef>
              <a:spcAft>
                <a:spcPts val="0"/>
              </a:spcAft>
              <a:buClr>
                <a:srgbClr val="000000"/>
              </a:buClr>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rPr>
              <a:t>One of several practices must happen or conditions must be present i.e. Practice A OR Condition B.</a:t>
            </a:r>
            <a:endParaRPr lang="en-US" altLang="en-US" sz="1800" b="0" dirty="0">
              <a:solidFill>
                <a:srgbClr val="000000"/>
              </a:solidFill>
              <a:latin typeface="Arial" panose="020B0604020202020204" pitchFamily="34" charset="0"/>
              <a:ea typeface="ＭＳ Ｐゴシック" panose="020B0600070205080204" pitchFamily="34" charset="-128"/>
            </a:endParaRPr>
          </a:p>
        </p:txBody>
      </p:sp>
      <p:grpSp>
        <p:nvGrpSpPr>
          <p:cNvPr id="7" name="Group 2"/>
          <p:cNvGrpSpPr>
            <a:grpSpLocks/>
          </p:cNvGrpSpPr>
          <p:nvPr/>
        </p:nvGrpSpPr>
        <p:grpSpPr bwMode="auto">
          <a:xfrm>
            <a:off x="396000" y="1676400"/>
            <a:ext cx="1080000" cy="1981200"/>
            <a:chOff x="7467600" y="2133600"/>
            <a:chExt cx="1066800" cy="1981200"/>
          </a:xfrm>
        </p:grpSpPr>
        <p:sp>
          <p:nvSpPr>
            <p:cNvPr id="10" name="AutoShape 10"/>
            <p:cNvSpPr>
              <a:spLocks noChangeArrowheads="1"/>
            </p:cNvSpPr>
            <p:nvPr/>
          </p:nvSpPr>
          <p:spPr bwMode="auto">
            <a:xfrm rot="-5400000">
              <a:off x="7677150" y="2762250"/>
              <a:ext cx="647700" cy="609600"/>
            </a:xfrm>
            <a:prstGeom prst="flowChartDelay">
              <a:avLst/>
            </a:prstGeom>
            <a:solidFill>
              <a:srgbClr val="FFFFFF"/>
            </a:solidFill>
            <a:ln w="9525">
              <a:solidFill>
                <a:srgbClr val="000000"/>
              </a:solidFill>
              <a:miter lim="800000"/>
              <a:headEnd/>
              <a:tailEnd/>
            </a:ln>
          </p:spPr>
          <p:txBody>
            <a:bodyPr vert="eaVert"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1600" b="0">
                  <a:solidFill>
                    <a:srgbClr val="000000"/>
                  </a:solidFill>
                  <a:latin typeface="Arial" panose="020B0604020202020204" pitchFamily="34" charset="0"/>
                </a:rPr>
                <a:t>AND</a:t>
              </a:r>
            </a:p>
          </p:txBody>
        </p:sp>
        <p:sp>
          <p:nvSpPr>
            <p:cNvPr id="11" name="Rectangle 11"/>
            <p:cNvSpPr>
              <a:spLocks noChangeArrowheads="1"/>
            </p:cNvSpPr>
            <p:nvPr/>
          </p:nvSpPr>
          <p:spPr bwMode="auto">
            <a:xfrm>
              <a:off x="7467600" y="36576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A</a:t>
              </a:r>
            </a:p>
          </p:txBody>
        </p:sp>
        <p:sp>
          <p:nvSpPr>
            <p:cNvPr id="14" name="Rectangle 12"/>
            <p:cNvSpPr>
              <a:spLocks noChangeArrowheads="1"/>
            </p:cNvSpPr>
            <p:nvPr/>
          </p:nvSpPr>
          <p:spPr bwMode="auto">
            <a:xfrm>
              <a:off x="8229600" y="36576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B</a:t>
              </a:r>
            </a:p>
          </p:txBody>
        </p:sp>
        <p:sp>
          <p:nvSpPr>
            <p:cNvPr id="15" name="Rectangle 13"/>
            <p:cNvSpPr>
              <a:spLocks noChangeArrowheads="1"/>
            </p:cNvSpPr>
            <p:nvPr/>
          </p:nvSpPr>
          <p:spPr bwMode="auto">
            <a:xfrm>
              <a:off x="7467600" y="2133600"/>
              <a:ext cx="1066800" cy="3810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Event</a:t>
              </a:r>
            </a:p>
          </p:txBody>
        </p:sp>
        <p:cxnSp>
          <p:nvCxnSpPr>
            <p:cNvPr id="16" name="AutoShape 14"/>
            <p:cNvCxnSpPr>
              <a:cxnSpLocks noChangeShapeType="1"/>
              <a:stCxn id="11" idx="0"/>
              <a:endCxn id="10" idx="1"/>
            </p:cNvCxnSpPr>
            <p:nvPr/>
          </p:nvCxnSpPr>
          <p:spPr bwMode="auto">
            <a:xfrm rot="-5400000">
              <a:off x="7677150" y="3333750"/>
              <a:ext cx="266700" cy="381000"/>
            </a:xfrm>
            <a:prstGeom prst="bentConnector3">
              <a:avLst>
                <a:gd name="adj1" fmla="val 50000"/>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17" name="AutoShape 15"/>
            <p:cNvCxnSpPr>
              <a:cxnSpLocks noChangeShapeType="1"/>
              <a:stCxn id="10" idx="3"/>
              <a:endCxn id="15" idx="2"/>
            </p:cNvCxnSpPr>
            <p:nvPr/>
          </p:nvCxnSpPr>
          <p:spPr bwMode="auto">
            <a:xfrm rot="-5400000">
              <a:off x="7886700" y="2628900"/>
              <a:ext cx="22860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8" name="AutoShape 16"/>
            <p:cNvCxnSpPr>
              <a:cxnSpLocks noChangeShapeType="1"/>
              <a:stCxn id="10" idx="1"/>
              <a:endCxn id="14" idx="0"/>
            </p:cNvCxnSpPr>
            <p:nvPr/>
          </p:nvCxnSpPr>
          <p:spPr bwMode="auto">
            <a:xfrm rot="16200000" flipH="1">
              <a:off x="8058150" y="3333750"/>
              <a:ext cx="266700" cy="381000"/>
            </a:xfrm>
            <a:prstGeom prst="bentConnector3">
              <a:avLst>
                <a:gd name="adj1" fmla="val 50000"/>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grpSp>
      <p:grpSp>
        <p:nvGrpSpPr>
          <p:cNvPr id="19" name="Group 1"/>
          <p:cNvGrpSpPr>
            <a:grpSpLocks/>
          </p:cNvGrpSpPr>
          <p:nvPr/>
        </p:nvGrpSpPr>
        <p:grpSpPr bwMode="auto">
          <a:xfrm>
            <a:off x="396000" y="4038600"/>
            <a:ext cx="1080000" cy="1981200"/>
            <a:chOff x="7467600" y="4343400"/>
            <a:chExt cx="1066800" cy="1981200"/>
          </a:xfrm>
        </p:grpSpPr>
        <p:sp>
          <p:nvSpPr>
            <p:cNvPr id="20" name="Rectangle 18"/>
            <p:cNvSpPr>
              <a:spLocks noChangeArrowheads="1"/>
            </p:cNvSpPr>
            <p:nvPr/>
          </p:nvSpPr>
          <p:spPr bwMode="auto">
            <a:xfrm>
              <a:off x="7467600" y="58674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A</a:t>
              </a:r>
            </a:p>
          </p:txBody>
        </p:sp>
        <p:sp>
          <p:nvSpPr>
            <p:cNvPr id="21" name="Rectangle 19"/>
            <p:cNvSpPr>
              <a:spLocks noChangeArrowheads="1"/>
            </p:cNvSpPr>
            <p:nvPr/>
          </p:nvSpPr>
          <p:spPr bwMode="auto">
            <a:xfrm>
              <a:off x="8229600" y="5867400"/>
              <a:ext cx="304800" cy="4572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B</a:t>
              </a:r>
            </a:p>
          </p:txBody>
        </p:sp>
        <p:sp>
          <p:nvSpPr>
            <p:cNvPr id="22" name="Rectangle 20"/>
            <p:cNvSpPr>
              <a:spLocks noChangeArrowheads="1"/>
            </p:cNvSpPr>
            <p:nvPr/>
          </p:nvSpPr>
          <p:spPr bwMode="auto">
            <a:xfrm>
              <a:off x="7467600" y="4343400"/>
              <a:ext cx="1066800" cy="381000"/>
            </a:xfrm>
            <a:prstGeom prst="rect">
              <a:avLst/>
            </a:prstGeom>
            <a:solidFill>
              <a:srgbClr val="FFFFFF"/>
            </a:solidFill>
            <a:ln w="9525">
              <a:solidFill>
                <a:srgbClr val="00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2000" b="0">
                  <a:solidFill>
                    <a:srgbClr val="000000"/>
                  </a:solidFill>
                  <a:latin typeface="Arial" panose="020B0604020202020204" pitchFamily="34" charset="0"/>
                </a:rPr>
                <a:t>Event</a:t>
              </a:r>
            </a:p>
          </p:txBody>
        </p:sp>
        <p:cxnSp>
          <p:nvCxnSpPr>
            <p:cNvPr id="23" name="AutoShape 21"/>
            <p:cNvCxnSpPr>
              <a:cxnSpLocks noChangeShapeType="1"/>
              <a:stCxn id="20" idx="0"/>
              <a:endCxn id="22" idx="2"/>
            </p:cNvCxnSpPr>
            <p:nvPr/>
          </p:nvCxnSpPr>
          <p:spPr bwMode="auto">
            <a:xfrm rot="-5400000">
              <a:off x="7239000" y="5105400"/>
              <a:ext cx="1143000" cy="381000"/>
            </a:xfrm>
            <a:prstGeom prst="bentConnector3">
              <a:avLst>
                <a:gd name="adj1" fmla="val 22639"/>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cxnSp>
          <p:nvCxnSpPr>
            <p:cNvPr id="24" name="AutoShape 23"/>
            <p:cNvCxnSpPr>
              <a:cxnSpLocks noChangeShapeType="1"/>
              <a:stCxn id="22" idx="2"/>
              <a:endCxn id="21" idx="0"/>
            </p:cNvCxnSpPr>
            <p:nvPr/>
          </p:nvCxnSpPr>
          <p:spPr bwMode="auto">
            <a:xfrm rot="16200000" flipH="1">
              <a:off x="7620000" y="5105400"/>
              <a:ext cx="1143000" cy="381000"/>
            </a:xfrm>
            <a:prstGeom prst="bentConnector3">
              <a:avLst>
                <a:gd name="adj1" fmla="val 77356"/>
              </a:avLst>
            </a:prstGeom>
            <a:noFill/>
            <a:ln w="25400">
              <a:solidFill>
                <a:srgbClr val="000000"/>
              </a:solidFill>
              <a:miter lim="800000"/>
              <a:headEnd/>
              <a:tailEnd/>
            </a:ln>
            <a:extLst>
              <a:ext uri="{909E8E84-426E-40DD-AFC4-6F175D3DCCD1}">
                <a14:hiddenFill xmlns:a14="http://schemas.microsoft.com/office/drawing/2010/main">
                  <a:noFill/>
                </a14:hiddenFill>
              </a:ext>
            </a:extLst>
          </p:spPr>
        </p:cxnSp>
        <p:sp>
          <p:nvSpPr>
            <p:cNvPr id="25" name="AutoShape 24"/>
            <p:cNvSpPr>
              <a:spLocks noChangeArrowheads="1"/>
            </p:cNvSpPr>
            <p:nvPr/>
          </p:nvSpPr>
          <p:spPr bwMode="auto">
            <a:xfrm rot="5400000">
              <a:off x="7696200" y="4953000"/>
              <a:ext cx="609600" cy="609600"/>
            </a:xfrm>
            <a:prstGeom prst="flowChartOnlineStorage">
              <a:avLst/>
            </a:prstGeom>
            <a:solidFill>
              <a:srgbClr val="FFFFFF"/>
            </a:solidFill>
            <a:ln w="9525">
              <a:solidFill>
                <a:srgbClr val="000000"/>
              </a:solidFill>
              <a:miter lim="800000"/>
              <a:headEnd/>
              <a:tailEnd/>
            </a:ln>
          </p:spPr>
          <p:txBody>
            <a:bodyPr rot="10800000" vert="eaVert"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fontAlgn="auto">
                <a:spcBef>
                  <a:spcPct val="0"/>
                </a:spcBef>
                <a:spcAft>
                  <a:spcPts val="0"/>
                </a:spcAft>
                <a:buClrTx/>
                <a:buSzTx/>
                <a:buFontTx/>
                <a:buNone/>
                <a:defRPr/>
              </a:pPr>
              <a:r>
                <a:rPr lang="en-US" altLang="en-US" sz="1800" b="0" dirty="0">
                  <a:solidFill>
                    <a:srgbClr val="000000"/>
                  </a:solidFill>
                  <a:latin typeface="Arial" panose="020B0604020202020204" pitchFamily="34" charset="0"/>
                </a:rPr>
                <a:t>OR</a:t>
              </a:r>
            </a:p>
          </p:txBody>
        </p:sp>
      </p:grpSp>
    </p:spTree>
    <p:extLst>
      <p:ext uri="{BB962C8B-B14F-4D97-AF65-F5344CB8AC3E}">
        <p14:creationId xmlns:p14="http://schemas.microsoft.com/office/powerpoint/2010/main" val="1014666860"/>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defRPr/>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and “OR” Gates</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fontAlgn="auto">
              <a:spcBef>
                <a:spcPts val="0"/>
              </a:spcBef>
              <a:spcAft>
                <a:spcPts val="0"/>
              </a:spcAft>
              <a:buClr>
                <a:srgbClr val="000000"/>
              </a:buClr>
              <a:buSzPts val="1600"/>
              <a:defRPr/>
            </a:pPr>
            <a:r>
              <a:rPr lang="en-US" sz="1200" i="1" kern="0" dirty="0">
                <a:solidFill>
                  <a:srgbClr val="000000"/>
                </a:solidFill>
                <a:ea typeface="Times New Roman"/>
                <a:cs typeface="Arial" panose="020B0604020202020204" pitchFamily="34" charset="0"/>
                <a:sym typeface="Times New Roman"/>
              </a:rPr>
              <a:t>Chapter 4.2: C&amp;E Model &amp; Chapter 4.3: RCA of an Incident</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a:extLst/>
        </p:spPr>
        <p:txBody>
          <a:bodyPr/>
          <a:lstStyle/>
          <a:p>
            <a:pPr lvl="0" eaLnBrk="0" hangingPunct="0">
              <a:spcBef>
                <a:spcPts val="0"/>
              </a:spcBef>
              <a:buClr>
                <a:srgbClr val="000000"/>
              </a:buClr>
              <a:buSzPct val="100000"/>
              <a:defRPr/>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With this knowledge, and for our example of the mining incident:</a:t>
            </a:r>
          </a:p>
          <a:p>
            <a:pPr lvl="0" eaLnBrk="0" hangingPunct="0">
              <a:spcBef>
                <a:spcPts val="0"/>
              </a:spcBef>
              <a:buClr>
                <a:srgbClr val="000000"/>
              </a:buClr>
              <a:buSzPct val="100000"/>
              <a:defRPr/>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Clr>
                <a:srgbClr val="000000"/>
              </a:buClr>
              <a:buSzPct val="100000"/>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are called to a scene where a mining haul truck and a shovel have been crushed with debris from an adjacent slope. You find one individual with a serious injury. You know the slopes are being monitored, you know there are procedures for safe work near the slopes, you know it had been raining for the last week.”</a:t>
            </a:r>
          </a:p>
          <a:p>
            <a:pPr lvl="0" eaLnBrk="0" hangingPunct="0">
              <a:spcBef>
                <a:spcPts val="0"/>
              </a:spcBef>
              <a:buClr>
                <a:srgbClr val="000000"/>
              </a:buClr>
              <a:buSzPct val="100000"/>
              <a:defRPr/>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Clr>
                <a:srgbClr val="000000"/>
              </a:buClr>
              <a:buSzPct val="100000"/>
              <a:defRPr/>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Think about where the ‘and’ and ‘or’ gates would apply in this case.</a:t>
            </a:r>
          </a:p>
          <a:p>
            <a:pPr lvl="0" eaLnBrk="0" hangingPunct="0">
              <a:spcBef>
                <a:spcPts val="0"/>
              </a:spcBef>
              <a:buClr>
                <a:srgbClr val="000000"/>
              </a:buClr>
              <a:buSzPct val="100000"/>
              <a:defRPr/>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Clr>
                <a:srgbClr val="000000"/>
              </a:buClr>
              <a:buSzPct val="100000"/>
              <a:defRPr/>
            </a:pPr>
            <a:r>
              <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Let’s begin with an RCA Chart of this loss incident:</a:t>
            </a:r>
          </a:p>
        </p:txBody>
      </p:sp>
    </p:spTree>
    <p:extLst>
      <p:ext uri="{BB962C8B-B14F-4D97-AF65-F5344CB8AC3E}">
        <p14:creationId xmlns:p14="http://schemas.microsoft.com/office/powerpoint/2010/main" val="2167456955"/>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459084"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45" name="TextBox 44"/>
          <p:cNvSpPr txBox="1"/>
          <p:nvPr/>
        </p:nvSpPr>
        <p:spPr>
          <a:xfrm>
            <a:off x="98985" y="215160"/>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&amp; Losses</a:t>
            </a: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77" idx="0"/>
          </p:cNvCxnSpPr>
          <p:nvPr/>
        </p:nvCxnSpPr>
        <p:spPr>
          <a:xfrm rot="16200000" flipH="1">
            <a:off x="5661947" y="132229"/>
            <a:ext cx="762361" cy="1723056"/>
          </a:xfrm>
          <a:prstGeom prst="bentConnector3">
            <a:avLst>
              <a:gd name="adj1" fmla="val 6893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8" name="Rounded Rectangle 47"/>
          <p:cNvSpPr/>
          <p:nvPr/>
        </p:nvSpPr>
        <p:spPr>
          <a:xfrm>
            <a:off x="4909507" y="625034"/>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TextBox 75"/>
          <p:cNvSpPr txBox="1"/>
          <p:nvPr/>
        </p:nvSpPr>
        <p:spPr>
          <a:xfrm>
            <a:off x="1872000" y="4680000"/>
            <a:ext cx="5400000" cy="1369192"/>
          </a:xfrm>
          <a:prstGeom prst="roundRect">
            <a:avLst/>
          </a:prstGeom>
          <a:noFill/>
          <a:ln w="57150">
            <a:solidFill>
              <a:srgbClr val="0000FF"/>
            </a:solidFill>
            <a:prstDash val="solid"/>
          </a:ln>
        </p:spPr>
        <p:txBody>
          <a:bodyPr wrap="square" rtlCol="0" anchor="ctr" anchorCtr="1">
            <a:noAutofit/>
          </a:bodyPr>
          <a:lstStyle>
            <a:defPPr>
              <a:defRPr lang="en-US"/>
            </a:defPPr>
            <a:lvl2pPr marL="0" lvl="1" algn="ctr">
              <a:defRPr i="1">
                <a:solidFill>
                  <a:schemeClr val="tx1">
                    <a:lumMod val="85000"/>
                    <a:lumOff val="15000"/>
                  </a:schemeClr>
                </a:solidFill>
                <a:latin typeface="Arial" panose="020B0604020202020204" pitchFamily="34" charset="0"/>
              </a:defRPr>
            </a:lvl2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We begin to construct our RCA Chart by </a:t>
            </a:r>
            <a:r>
              <a:rPr kumimoji="0" lang="en-US" altLang="en-US" sz="1800" b="0" i="1"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starting with an INCIDENT DESCRIPTION AND asking </a:t>
            </a: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
            </a:r>
            <a:b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b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“what caused debris to fall on equipment, etc.?”</a:t>
            </a: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Note the use of the AND gate here.</a:t>
            </a:r>
            <a:endParaRPr kumimoji="0" lang="en-US" sz="1800" b="0" i="1"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mn-cs"/>
            </a:endParaRPr>
          </a:p>
        </p:txBody>
      </p:sp>
      <p:sp>
        <p:nvSpPr>
          <p:cNvPr id="77" name="Rounded Rectangle 76"/>
          <p:cNvSpPr/>
          <p:nvPr/>
        </p:nvSpPr>
        <p:spPr>
          <a:xfrm>
            <a:off x="5446568" y="1374938"/>
            <a:ext cx="2916174" cy="700566"/>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ounded Rectangle 77"/>
          <p:cNvSpPr/>
          <p:nvPr/>
        </p:nvSpPr>
        <p:spPr>
          <a:xfrm>
            <a:off x="1981199" y="1275917"/>
            <a:ext cx="174086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9" name="Straight Arrow Connector 78"/>
          <p:cNvCxnSpPr>
            <a:stCxn id="78" idx="2"/>
            <a:endCxn id="76" idx="0"/>
          </p:cNvCxnSpPr>
          <p:nvPr/>
        </p:nvCxnSpPr>
        <p:spPr>
          <a:xfrm>
            <a:off x="2851634" y="1871821"/>
            <a:ext cx="1720366" cy="2808179"/>
          </a:xfrm>
          <a:prstGeom prst="straightConnector1">
            <a:avLst/>
          </a:prstGeom>
          <a:noFill/>
          <a:ln w="57150">
            <a:solidFill>
              <a:srgbClr val="0000FF"/>
            </a:solidFill>
            <a:prstDash val="solid"/>
            <a:headEnd type="triangle" w="med" len="med"/>
            <a:tailEnd type="none" w="med" len="med"/>
          </a:ln>
        </p:spPr>
      </p:cxnSp>
      <p:cxnSp>
        <p:nvCxnSpPr>
          <p:cNvPr id="80" name="Straight Arrow Connector 79"/>
          <p:cNvCxnSpPr>
            <a:stCxn id="77" idx="2"/>
            <a:endCxn id="76" idx="0"/>
          </p:cNvCxnSpPr>
          <p:nvPr/>
        </p:nvCxnSpPr>
        <p:spPr>
          <a:xfrm flipH="1">
            <a:off x="4572000" y="2075504"/>
            <a:ext cx="2332655" cy="2604496"/>
          </a:xfrm>
          <a:prstGeom prst="straightConnector1">
            <a:avLst/>
          </a:prstGeom>
          <a:noFill/>
          <a:ln w="57150">
            <a:solidFill>
              <a:srgbClr val="0000FF"/>
            </a:solidFill>
            <a:prstDash val="solid"/>
            <a:headEnd type="triangle" w="med" len="med"/>
            <a:tailEnd type="none" w="med" len="med"/>
          </a:ln>
        </p:spPr>
      </p:cxnSp>
      <p:cxnSp>
        <p:nvCxnSpPr>
          <p:cNvPr id="81" name="Straight Arrow Connector 80"/>
          <p:cNvCxnSpPr>
            <a:stCxn id="48" idx="2"/>
            <a:endCxn id="76" idx="0"/>
          </p:cNvCxnSpPr>
          <p:nvPr/>
        </p:nvCxnSpPr>
        <p:spPr>
          <a:xfrm flipH="1">
            <a:off x="4572000" y="1220938"/>
            <a:ext cx="593817" cy="3459062"/>
          </a:xfrm>
          <a:prstGeom prst="straightConnector1">
            <a:avLst/>
          </a:prstGeom>
          <a:noFill/>
          <a:ln w="57150">
            <a:solidFill>
              <a:srgbClr val="0000FF"/>
            </a:solidFill>
            <a:prstDash val="solid"/>
            <a:headEnd type="triangle" w="med" len="med"/>
            <a:tailEnd type="none" w="med" len="med"/>
          </a:ln>
        </p:spPr>
      </p:cxnSp>
      <p:sp>
        <p:nvSpPr>
          <p:cNvPr id="3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910262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5" name="TextBox 44"/>
          <p:cNvSpPr txBox="1"/>
          <p:nvPr/>
        </p:nvSpPr>
        <p:spPr>
          <a:xfrm>
            <a:off x="98985" y="215160"/>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&amp; Losses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55385"/>
          </a:xfrm>
          <a:prstGeom prst="rect">
            <a:avLst/>
          </a:prstGeom>
          <a:solidFill>
            <a:srgbClr val="FFFFFF"/>
          </a:solidFill>
          <a:ln>
            <a:solidFill>
              <a:schemeClr val="tx1"/>
            </a:solidFill>
          </a:ln>
        </p:spPr>
        <p:txBody>
          <a:bodyPr wrap="square" lIns="36000" tIns="36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8" name="Rounded Rectangle 47"/>
          <p:cNvSpPr/>
          <p:nvPr/>
        </p:nvSpPr>
        <p:spPr>
          <a:xfrm>
            <a:off x="2595982" y="1733053"/>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ounded Rectangle 75"/>
          <p:cNvSpPr/>
          <p:nvPr/>
        </p:nvSpPr>
        <p:spPr>
          <a:xfrm>
            <a:off x="6245569" y="1940538"/>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ounded Rectangle 78"/>
          <p:cNvSpPr/>
          <p:nvPr/>
        </p:nvSpPr>
        <p:spPr>
          <a:xfrm>
            <a:off x="1820484" y="2842095"/>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ounded Rectangle 79"/>
          <p:cNvSpPr/>
          <p:nvPr/>
        </p:nvSpPr>
        <p:spPr>
          <a:xfrm>
            <a:off x="4855663" y="3134972"/>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ounded Rectangle 80"/>
          <p:cNvSpPr/>
          <p:nvPr/>
        </p:nvSpPr>
        <p:spPr>
          <a:xfrm>
            <a:off x="7511578" y="2896108"/>
            <a:ext cx="512619" cy="595904"/>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TextBox 81"/>
          <p:cNvSpPr txBox="1"/>
          <p:nvPr/>
        </p:nvSpPr>
        <p:spPr>
          <a:xfrm>
            <a:off x="1872000" y="4680000"/>
            <a:ext cx="5400000" cy="1080000"/>
          </a:xfrm>
          <a:prstGeom prst="roundRect">
            <a:avLst/>
          </a:prstGeom>
          <a:noFill/>
          <a:ln w="57150">
            <a:solidFill>
              <a:srgbClr val="0000FF"/>
            </a:solidFill>
            <a:prstDash val="solid"/>
          </a:ln>
        </p:spPr>
        <p:txBody>
          <a:bodyPr wrap="square" rtlCol="0" anchor="ctr" anchorCtr="1">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We continue to construct our RCA Chart by asking “why?” or “what caused…?” Note the use of AND </a:t>
            </a:r>
            <a:r>
              <a:rPr kumimoji="0" lang="en-US" altLang="en-US" sz="1800" b="0" i="1" u="none" strike="noStrike" kern="1200" cap="none" spc="0" normalizeH="0" baseline="0" noProof="0" dirty="0" err="1"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and</a:t>
            </a:r>
            <a:r>
              <a:rPr kumimoji="0" lang="en-US" altLang="en-US" sz="1800" b="0" i="1"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mn-cs"/>
                <a:sym typeface="Wingdings" pitchFamily="2" charset="2"/>
              </a:rPr>
              <a:t> OR gates to make the logical connections.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 name="Straight Arrow Connector 5"/>
          <p:cNvCxnSpPr>
            <a:stCxn id="48" idx="2"/>
            <a:endCxn id="82" idx="0"/>
          </p:cNvCxnSpPr>
          <p:nvPr/>
        </p:nvCxnSpPr>
        <p:spPr>
          <a:xfrm>
            <a:off x="2852292" y="2328957"/>
            <a:ext cx="1719708" cy="2351043"/>
          </a:xfrm>
          <a:prstGeom prst="straightConnector1">
            <a:avLst/>
          </a:prstGeom>
          <a:noFill/>
          <a:ln w="57150">
            <a:solidFill>
              <a:srgbClr val="0000FF"/>
            </a:solidFill>
            <a:prstDash val="solid"/>
            <a:headEnd type="triangle" w="med" len="med"/>
            <a:tailEnd type="none" w="med" len="med"/>
          </a:ln>
        </p:spPr>
      </p:cxnSp>
      <p:cxnSp>
        <p:nvCxnSpPr>
          <p:cNvPr id="83" name="Straight Arrow Connector 82"/>
          <p:cNvCxnSpPr>
            <a:stCxn id="76" idx="1"/>
            <a:endCxn id="82" idx="0"/>
          </p:cNvCxnSpPr>
          <p:nvPr/>
        </p:nvCxnSpPr>
        <p:spPr>
          <a:xfrm flipH="1">
            <a:off x="4572000" y="2238490"/>
            <a:ext cx="1673569" cy="2441510"/>
          </a:xfrm>
          <a:prstGeom prst="straightConnector1">
            <a:avLst/>
          </a:prstGeom>
          <a:noFill/>
          <a:ln w="57150">
            <a:solidFill>
              <a:srgbClr val="0000FF"/>
            </a:solidFill>
            <a:prstDash val="solid"/>
            <a:headEnd type="triangle" w="med" len="med"/>
            <a:tailEnd type="none" w="med" len="med"/>
          </a:ln>
        </p:spPr>
      </p:cxn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30129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defRPr/>
            </a:pPr>
            <a:r>
              <a:rPr lang="en-CA" altLang="en-US" b="0" dirty="0" smtClean="0">
                <a:solidFill>
                  <a:prstClr val="black"/>
                </a:solidFill>
                <a:latin typeface="Arial" panose="020B0604020202020204" pitchFamily="34" charset="0"/>
                <a:ea typeface="ＭＳ Ｐゴシック" panose="020B0600070205080204" pitchFamily="34" charset="-128"/>
              </a:rPr>
              <a:t>The </a:t>
            </a:r>
            <a:r>
              <a:rPr lang="en-CA" altLang="en-US" b="0" dirty="0">
                <a:solidFill>
                  <a:prstClr val="black"/>
                </a:solidFill>
                <a:latin typeface="Arial" panose="020B0604020202020204" pitchFamily="34" charset="0"/>
                <a:ea typeface="ＭＳ Ｐゴシック" panose="020B0600070205080204" pitchFamily="34" charset="-128"/>
              </a:rPr>
              <a:t>C&amp;E Model is used to categorize all the causes in your RCA Chart.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your Cause and Effect Model … a detailed look:</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Causes in two categories:</a:t>
            </a:r>
          </a:p>
          <a:p>
            <a:pPr marL="72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practices and sub-groups</a:t>
            </a:r>
          </a:p>
          <a:p>
            <a:pPr marL="72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conditions and sub-groups</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Basic Causes in three categories:</a:t>
            </a:r>
          </a:p>
          <a:p>
            <a:pPr marL="72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&amp; Design Factors</a:t>
            </a:r>
          </a:p>
          <a:p>
            <a:pPr marL="72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Job Factors and sub-groups</a:t>
            </a:r>
          </a:p>
          <a:p>
            <a:pPr marL="72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Personal Factors and sub-groups</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Intermediate cause – a cause statement that cannot be readily categorized as any one of IC, BC, or LC.</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Causes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 be discussed in much more depth in the next topic.</a:t>
            </a:r>
            <a:endParaRPr kumimoji="0" lang="en-US" altLang="en-US" sz="20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smtClean="0">
                <a:solidFill>
                  <a:srgbClr val="333399"/>
                </a:solidFill>
                <a:latin typeface="Arial" panose="020B0604020202020204" pitchFamily="34" charset="0"/>
                <a:cs typeface="Arial" panose="020B0604020202020204" pitchFamily="34" charset="0"/>
              </a:rPr>
              <a:t>Use the C&amp;E Model to Find </a:t>
            </a:r>
            <a:r>
              <a:rPr lang="en-US" altLang="en-US" sz="2400" b="0" dirty="0">
                <a:solidFill>
                  <a:srgbClr val="333399"/>
                </a:solidFill>
                <a:latin typeface="Arial" panose="020B0604020202020204" pitchFamily="34" charset="0"/>
                <a:cs typeface="Arial" panose="020B0604020202020204" pitchFamily="34" charset="0"/>
              </a:rPr>
              <a:t>and </a:t>
            </a:r>
            <a:r>
              <a:rPr lang="en-US" altLang="en-US" sz="2400" b="0" dirty="0" smtClean="0">
                <a:solidFill>
                  <a:srgbClr val="333399"/>
                </a:solidFill>
                <a:latin typeface="Arial" panose="020B0604020202020204" pitchFamily="34" charset="0"/>
                <a:cs typeface="Arial" panose="020B0604020202020204" pitchFamily="34" charset="0"/>
              </a:rPr>
              <a:t>Categorize the </a:t>
            </a:r>
            <a:r>
              <a:rPr lang="en-US" altLang="en-US" sz="2400" b="0" dirty="0">
                <a:solidFill>
                  <a:srgbClr val="333399"/>
                </a:solidFill>
                <a:latin typeface="Arial" panose="020B0604020202020204" pitchFamily="34" charset="0"/>
                <a:cs typeface="Arial" panose="020B0604020202020204" pitchFamily="34" charset="0"/>
              </a:rPr>
              <a:t>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18855820"/>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Immediate </a:t>
            </a:r>
            <a:r>
              <a:rPr lang="en-US" altLang="en-US" sz="2400" b="0" dirty="0" smtClean="0">
                <a:solidFill>
                  <a:srgbClr val="333399"/>
                </a:solidFill>
                <a:latin typeface="Arial" panose="020B0604020202020204" pitchFamily="34" charset="0"/>
                <a:cs typeface="Arial" panose="020B0604020202020204" pitchFamily="34" charset="0"/>
              </a:rPr>
              <a:t>Cause </a:t>
            </a:r>
            <a:r>
              <a:rPr lang="en-US" altLang="en-US" sz="2400" b="0" dirty="0">
                <a:solidFill>
                  <a:srgbClr val="333399"/>
                </a:solidFill>
                <a:latin typeface="Arial" panose="020B0604020202020204" pitchFamily="34" charset="0"/>
                <a:cs typeface="Arial" panose="020B0604020202020204" pitchFamily="34" charset="0"/>
              </a:rPr>
              <a:t>Categories and Sub-categories: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62"/>
          <p:cNvGraphicFramePr>
            <a:graphicFrameLocks noGrp="1"/>
          </p:cNvGraphicFramePr>
          <p:nvPr>
            <p:extLst>
              <p:ext uri="{D42A27DB-BD31-4B8C-83A1-F6EECF244321}">
                <p14:modId xmlns:p14="http://schemas.microsoft.com/office/powerpoint/2010/main" val="1116641197"/>
              </p:ext>
            </p:extLst>
          </p:nvPr>
        </p:nvGraphicFramePr>
        <p:xfrm>
          <a:off x="454026" y="969813"/>
          <a:ext cx="8232773" cy="4572317"/>
        </p:xfrm>
        <a:graphic>
          <a:graphicData uri="http://schemas.openxmlformats.org/drawingml/2006/table">
            <a:tbl>
              <a:tblPr/>
              <a:tblGrid>
                <a:gridCol w="4159824">
                  <a:extLst>
                    <a:ext uri="{9D8B030D-6E8A-4147-A177-3AD203B41FA5}">
                      <a16:colId xmlns:a16="http://schemas.microsoft.com/office/drawing/2014/main" val="20000"/>
                    </a:ext>
                  </a:extLst>
                </a:gridCol>
                <a:gridCol w="4072949">
                  <a:extLst>
                    <a:ext uri="{9D8B030D-6E8A-4147-A177-3AD203B41FA5}">
                      <a16:colId xmlns:a16="http://schemas.microsoft.com/office/drawing/2014/main" val="20001"/>
                    </a:ext>
                  </a:extLst>
                </a:gridCol>
              </a:tblGrid>
              <a:tr h="648613">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Practices (examples)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lumMod val="85000"/>
                              <a:lumOff val="15000"/>
                            </a:schemeClr>
                          </a:solidFill>
                          <a:effectLst/>
                          <a:latin typeface="Arial" pitchFamily="34" charset="0"/>
                          <a:ea typeface="Times New Roman" pitchFamily="18" charset="0"/>
                          <a:cs typeface="Arial" pitchFamily="34" charset="0"/>
                        </a:rPr>
                        <a:t>Substandard Conditions (examples)</a:t>
                      </a: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923704">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Operating equipment without authority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Failure to follow established procedures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Making safety devices inoperable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Failing to use personal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Servicing equipment in operation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Horseplay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Under influence of alcohol, drugs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or improper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Defective tools, equipment or materials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warning systems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Fire and explosion hazards (hidden)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Poor housekeeping; disorderly workplace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Hazardous environmental conditions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Noise exposures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a:t>
                      </a:r>
                      <a:r>
                        <a:rPr kumimoji="0" lang="en-US" altLang="en-US" sz="1800" b="0" i="0" u="none" strike="noStrike" cap="none" normalizeH="0" baseline="0" dirty="0" smtClean="0">
                          <a:ln>
                            <a:noFill/>
                          </a:ln>
                          <a:solidFill>
                            <a:schemeClr val="tx1">
                              <a:lumMod val="85000"/>
                              <a:lumOff val="15000"/>
                            </a:schemeClr>
                          </a:solidFill>
                          <a:effectLst/>
                          <a:latin typeface="Arial" pitchFamily="34" charset="0"/>
                          <a:ea typeface="Times New Roman" pitchFamily="18" charset="0"/>
                          <a:cs typeface="Arial" pitchFamily="34" charset="0"/>
                        </a:rPr>
                        <a:t>ventilation</a:t>
                      </a:r>
                      <a:endParaRPr kumimoji="0" lang="en-US" altLang="en-US" sz="18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7225380"/>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noChangeArrowheads="1"/>
          </p:cNvSpPr>
          <p:nvPr/>
        </p:nvSpPr>
        <p:spPr bwMode="auto">
          <a:xfrm>
            <a:off x="455613" y="1051560"/>
            <a:ext cx="8229600" cy="4968240"/>
          </a:xfrm>
          <a:prstGeom prst="rect">
            <a:avLst/>
          </a:prstGeom>
          <a:solidFill>
            <a:sysClr val="window" lastClr="FFFFFF">
              <a:alpha val="70195"/>
            </a:sysClr>
          </a:solidFill>
          <a:ln w="9525" algn="ctr">
            <a:solidFill>
              <a:sysClr val="windowText" lastClr="000000"/>
            </a:solidFill>
            <a:miter lim="800000"/>
            <a:headEnd/>
            <a:tailEnd/>
          </a:ln>
          <a:effectLst/>
          <a:extLst/>
        </p:spPr>
        <p:txBody>
          <a:bodyPr/>
          <a:lstStyle>
            <a:lvl1pPr marL="457200" indent="-4572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457200" marR="0" lvl="0" indent="-457200" defTabSz="914400" eaLnBrk="1" fontAlgn="auto" latinLnBrk="0" hangingPunct="1">
              <a:lnSpc>
                <a:spcPct val="110000"/>
              </a:lnSpc>
              <a:spcBef>
                <a:spcPct val="20000"/>
              </a:spcBef>
              <a:spcAft>
                <a:spcPts val="0"/>
              </a:spcAft>
              <a:buClr>
                <a:srgbClr val="000000"/>
              </a:buClr>
              <a:buSzTx/>
              <a:buFont typeface="Wingdings" panose="05000000000000000000" pitchFamily="2" charset="2"/>
              <a:buNone/>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endParaRPr>
          </a:p>
        </p:txBody>
      </p:sp>
      <p:pic>
        <p:nvPicPr>
          <p:cNvPr id="2" name="Picture 1"/>
          <p:cNvPicPr>
            <a:picLocks noChangeAspect="1"/>
          </p:cNvPicPr>
          <p:nvPr/>
        </p:nvPicPr>
        <p:blipFill>
          <a:blip r:embed="rId4"/>
          <a:stretch>
            <a:fillRect/>
          </a:stretch>
        </p:blipFill>
        <p:spPr>
          <a:xfrm>
            <a:off x="519221" y="2488249"/>
            <a:ext cx="3055990" cy="1702751"/>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Immediate </a:t>
            </a:r>
            <a:r>
              <a:rPr lang="en-US" altLang="en-US" sz="2400" b="0" dirty="0" smtClean="0">
                <a:solidFill>
                  <a:srgbClr val="333399"/>
                </a:solidFill>
                <a:latin typeface="Arial" panose="020B0604020202020204" pitchFamily="34" charset="0"/>
                <a:cs typeface="Arial" panose="020B0604020202020204" pitchFamily="34" charset="0"/>
              </a:rPr>
              <a:t>Cause </a:t>
            </a:r>
            <a:r>
              <a:rPr lang="en-US" altLang="en-US" sz="2400" b="0" dirty="0">
                <a:solidFill>
                  <a:srgbClr val="333399"/>
                </a:solidFill>
                <a:latin typeface="Arial" panose="020B0604020202020204" pitchFamily="34" charset="0"/>
                <a:cs typeface="Arial" panose="020B0604020202020204" pitchFamily="34" charset="0"/>
              </a:rPr>
              <a:t>Categories &amp; Sub-categories Detailed Lists: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19" name="Object 46"/>
          <p:cNvGraphicFramePr>
            <a:graphicFrameLocks noChangeAspect="1"/>
          </p:cNvGraphicFramePr>
          <p:nvPr>
            <p:extLst>
              <p:ext uri="{D42A27DB-BD31-4B8C-83A1-F6EECF244321}">
                <p14:modId xmlns:p14="http://schemas.microsoft.com/office/powerpoint/2010/main" val="4207351599"/>
              </p:ext>
            </p:extLst>
          </p:nvPr>
        </p:nvGraphicFramePr>
        <p:xfrm>
          <a:off x="3326086" y="1148195"/>
          <a:ext cx="5304536" cy="4871605"/>
        </p:xfrm>
        <a:graphic>
          <a:graphicData uri="http://schemas.openxmlformats.org/presentationml/2006/ole">
            <mc:AlternateContent xmlns:mc="http://schemas.openxmlformats.org/markup-compatibility/2006">
              <mc:Choice xmlns:v="urn:schemas-microsoft-com:vml" Requires="v">
                <p:oleObj spid="_x0000_s2105" name="Document" r:id="rId5" imgW="6670507" imgH="6126840" progId="Word.Document.8">
                  <p:embed/>
                </p:oleObj>
              </mc:Choice>
              <mc:Fallback>
                <p:oleObj name="Document" r:id="rId5" imgW="6670507" imgH="6126840" progId="Word.Document.8">
                  <p:embed/>
                  <p:pic>
                    <p:nvPicPr>
                      <p:cNvPr id="10258"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6086" y="1148195"/>
                        <a:ext cx="5304536" cy="4871605"/>
                      </a:xfrm>
                      <a:prstGeom prst="rect">
                        <a:avLst/>
                      </a:prstGeom>
                      <a:noFill/>
                      <a:ln>
                        <a:noFill/>
                      </a:ln>
                      <a:effectLst/>
                      <a:extLst/>
                    </p:spPr>
                  </p:pic>
                </p:oleObj>
              </mc:Fallback>
            </mc:AlternateContent>
          </a:graphicData>
        </a:graphic>
      </p:graphicFrame>
      <p:sp>
        <p:nvSpPr>
          <p:cNvPr id="20" name="AutoShape 51"/>
          <p:cNvSpPr>
            <a:spLocks noChangeArrowheads="1"/>
          </p:cNvSpPr>
          <p:nvPr/>
        </p:nvSpPr>
        <p:spPr bwMode="auto">
          <a:xfrm rot="20415472">
            <a:off x="998538" y="1622425"/>
            <a:ext cx="2570162" cy="485775"/>
          </a:xfrm>
          <a:prstGeom prst="rightArrow">
            <a:avLst>
              <a:gd name="adj1" fmla="val 50000"/>
              <a:gd name="adj2" fmla="val 132271"/>
            </a:avLst>
          </a:prstGeom>
          <a:solidFill>
            <a:srgbClr val="0000FF"/>
          </a:solidFill>
          <a:ln>
            <a:noFill/>
          </a:ln>
          <a:effectLst>
            <a:prstShdw prst="shdw17" dist="17961" dir="2700000">
              <a:srgbClr val="000099"/>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CA" altLang="en-US" sz="2400" b="0" i="0" u="none" strike="noStrike" kern="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endParaRPr>
          </a:p>
        </p:txBody>
      </p:sp>
      <p:sp>
        <p:nvSpPr>
          <p:cNvPr id="21" name="AutoShape 52"/>
          <p:cNvSpPr>
            <a:spLocks noChangeArrowheads="1"/>
          </p:cNvSpPr>
          <p:nvPr/>
        </p:nvSpPr>
        <p:spPr bwMode="auto">
          <a:xfrm rot="3098261">
            <a:off x="2223294" y="3201194"/>
            <a:ext cx="1808163" cy="485775"/>
          </a:xfrm>
          <a:prstGeom prst="rightArrow">
            <a:avLst>
              <a:gd name="adj1" fmla="val 50000"/>
              <a:gd name="adj2" fmla="val 93056"/>
            </a:avLst>
          </a:prstGeom>
          <a:solidFill>
            <a:srgbClr val="0000FF"/>
          </a:solidFill>
          <a:ln>
            <a:noFill/>
          </a:ln>
          <a:effectLst>
            <a:prstShdw prst="shdw17" dist="17961" dir="2700000">
              <a:srgbClr val="000099"/>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CA" altLang="en-US" sz="2400" b="0" i="0" u="none" strike="noStrike" kern="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5134051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85" name="TextBox 84">
            <a:extLst>
              <a:ext uri="{FF2B5EF4-FFF2-40B4-BE49-F238E27FC236}">
                <a16:creationId xmlns:a16="http://schemas.microsoft.com/office/drawing/2014/main" id="{FBED4873-AA48-4F0A-ADAA-65FC9815F027}"/>
              </a:ext>
            </a:extLst>
          </p:cNvPr>
          <p:cNvSpPr txBox="1"/>
          <p:nvPr/>
        </p:nvSpPr>
        <p:spPr>
          <a:xfrm>
            <a:off x="489907" y="4718696"/>
            <a:ext cx="8273093" cy="1015663"/>
          </a:xfrm>
          <a:prstGeom prst="rect">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457200" marR="0" lvl="0" indent="-4572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Can you</a:t>
            </a:r>
            <a:r>
              <a:rPr kumimoji="0" lang="en-CA" sz="2000" b="0" i="1"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identify</a:t>
            </a:r>
            <a:r>
              <a:rPr lang="en-CA" b="0" i="1" dirty="0" smtClean="0"/>
              <a:t> three</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immediate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causes? </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6" name="TextBox 85"/>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0281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ight Arrow 45">
            <a:extLst>
              <a:ext uri="{FF2B5EF4-FFF2-40B4-BE49-F238E27FC236}">
                <a16:creationId xmlns:a16="http://schemas.microsoft.com/office/drawing/2014/main" id="{D51CC670-33B2-48D1-9477-2961E896065F}"/>
              </a:ext>
            </a:extLst>
          </p:cNvPr>
          <p:cNvSpPr/>
          <p:nvPr/>
        </p:nvSpPr>
        <p:spPr>
          <a:xfrm rot="429013">
            <a:off x="1642362" y="1365790"/>
            <a:ext cx="3298819" cy="3960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CA" sz="1400" b="0">
              <a:solidFill>
                <a:prstClr val="black">
                  <a:lumMod val="85000"/>
                  <a:lumOff val="15000"/>
                </a:prstClr>
              </a:solidFill>
              <a:latin typeface="Arial" panose="020B0604020202020204" pitchFamily="34" charset="0"/>
              <a:cs typeface="Arial" panose="020B0604020202020204" pitchFamily="34" charset="0"/>
            </a:endParaRPr>
          </a:p>
        </p:txBody>
      </p:sp>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6" name="Right Arrow 45"/>
          <p:cNvSpPr/>
          <p:nvPr/>
        </p:nvSpPr>
        <p:spPr>
          <a:xfrm rot="2742197">
            <a:off x="1244103" y="1799338"/>
            <a:ext cx="537837" cy="311184"/>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489907" y="1147393"/>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63" name="Right Arrow 45">
            <a:extLst>
              <a:ext uri="{FF2B5EF4-FFF2-40B4-BE49-F238E27FC236}">
                <a16:creationId xmlns:a16="http://schemas.microsoft.com/office/drawing/2014/main" id="{D51CC670-33B2-48D1-9477-2961E896065F}"/>
              </a:ext>
            </a:extLst>
          </p:cNvPr>
          <p:cNvSpPr/>
          <p:nvPr/>
        </p:nvSpPr>
        <p:spPr>
          <a:xfrm rot="1022632">
            <a:off x="1619781" y="1936363"/>
            <a:ext cx="2199097" cy="361338"/>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8" name="Rounded Rectangle 77"/>
          <p:cNvSpPr/>
          <p:nvPr/>
        </p:nvSpPr>
        <p:spPr>
          <a:xfrm>
            <a:off x="4953000" y="1284055"/>
            <a:ext cx="3165764"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3" name="Rounded Rectangle 52"/>
          <p:cNvSpPr/>
          <p:nvPr/>
        </p:nvSpPr>
        <p:spPr>
          <a:xfrm>
            <a:off x="1334557" y="2259442"/>
            <a:ext cx="1441090"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53"/>
          <p:cNvSpPr/>
          <p:nvPr/>
        </p:nvSpPr>
        <p:spPr>
          <a:xfrm>
            <a:off x="3627330" y="2529445"/>
            <a:ext cx="2978826"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a:extLst>
              <a:ext uri="{FF2B5EF4-FFF2-40B4-BE49-F238E27FC236}">
                <a16:creationId xmlns:a16="http://schemas.microsoft.com/office/drawing/2014/main" id="{FBED4873-AA48-4F0A-ADAA-65FC9815F027}"/>
              </a:ext>
            </a:extLst>
          </p:cNvPr>
          <p:cNvSpPr txBox="1"/>
          <p:nvPr/>
        </p:nvSpPr>
        <p:spPr>
          <a:xfrm>
            <a:off x="489907" y="4718696"/>
            <a:ext cx="8273093" cy="1015663"/>
          </a:xfrm>
          <a:prstGeom prst="rect">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457200" marR="0" lvl="0" indent="-4572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None/>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How could </a:t>
            </a:r>
            <a:r>
              <a:rPr lang="en-CA" b="0" i="1" dirty="0" smtClean="0"/>
              <a:t>these three</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immediate causes be categorized? </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condition? </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work practice?</a:t>
            </a:r>
          </a:p>
        </p:txBody>
      </p:sp>
      <p:sp>
        <p:nvSpPr>
          <p:cNvPr id="86" name="TextBox 85"/>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84596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ight Arrow 45">
            <a:extLst>
              <a:ext uri="{FF2B5EF4-FFF2-40B4-BE49-F238E27FC236}">
                <a16:creationId xmlns:a16="http://schemas.microsoft.com/office/drawing/2014/main" id="{D51CC670-33B2-48D1-9477-2961E896065F}"/>
              </a:ext>
            </a:extLst>
          </p:cNvPr>
          <p:cNvSpPr/>
          <p:nvPr/>
        </p:nvSpPr>
        <p:spPr>
          <a:xfrm>
            <a:off x="1709107" y="1246720"/>
            <a:ext cx="3298819" cy="3960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6" name="Right Arrow 45"/>
          <p:cNvSpPr/>
          <p:nvPr/>
        </p:nvSpPr>
        <p:spPr>
          <a:xfrm rot="2742197">
            <a:off x="1244103" y="1799338"/>
            <a:ext cx="537837" cy="311184"/>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489907" y="1147393"/>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63" name="Right Arrow 45">
            <a:extLst>
              <a:ext uri="{FF2B5EF4-FFF2-40B4-BE49-F238E27FC236}">
                <a16:creationId xmlns:a16="http://schemas.microsoft.com/office/drawing/2014/main" id="{D51CC670-33B2-48D1-9477-2961E896065F}"/>
              </a:ext>
            </a:extLst>
          </p:cNvPr>
          <p:cNvSpPr/>
          <p:nvPr/>
        </p:nvSpPr>
        <p:spPr>
          <a:xfrm rot="1022632">
            <a:off x="1619781" y="1936363"/>
            <a:ext cx="2199097" cy="361338"/>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8" name="Rounded Rectangle 77"/>
          <p:cNvSpPr/>
          <p:nvPr/>
        </p:nvSpPr>
        <p:spPr>
          <a:xfrm>
            <a:off x="4953000" y="1284055"/>
            <a:ext cx="3165764"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3" name="Rounded Rectangle 52"/>
          <p:cNvSpPr/>
          <p:nvPr/>
        </p:nvSpPr>
        <p:spPr>
          <a:xfrm>
            <a:off x="1334557" y="2259442"/>
            <a:ext cx="1441090"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53"/>
          <p:cNvSpPr/>
          <p:nvPr/>
        </p:nvSpPr>
        <p:spPr>
          <a:xfrm>
            <a:off x="3627330" y="2529445"/>
            <a:ext cx="2978826"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FBED4873-AA48-4F0A-ADAA-65FC9815F027}"/>
              </a:ext>
            </a:extLst>
          </p:cNvPr>
          <p:cNvSpPr txBox="1"/>
          <p:nvPr/>
        </p:nvSpPr>
        <p:spPr>
          <a:xfrm>
            <a:off x="720000" y="5400000"/>
            <a:ext cx="1980000" cy="756000"/>
          </a:xfrm>
          <a:prstGeom prst="wedgeRoundRectCallout">
            <a:avLst>
              <a:gd name="adj1" fmla="val 6150"/>
              <a:gd name="adj2" fmla="val -368109"/>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condition</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0" name="TextBox 79">
            <a:extLst>
              <a:ext uri="{FF2B5EF4-FFF2-40B4-BE49-F238E27FC236}">
                <a16:creationId xmlns:a16="http://schemas.microsoft.com/office/drawing/2014/main" id="{FBED4873-AA48-4F0A-ADAA-65FC9815F027}"/>
              </a:ext>
            </a:extLst>
          </p:cNvPr>
          <p:cNvSpPr txBox="1"/>
          <p:nvPr/>
        </p:nvSpPr>
        <p:spPr>
          <a:xfrm>
            <a:off x="3445879" y="5400000"/>
            <a:ext cx="1980000" cy="756000"/>
          </a:xfrm>
          <a:prstGeom prst="wedgeRoundRectCallout">
            <a:avLst>
              <a:gd name="adj1" fmla="val 2603"/>
              <a:gd name="adj2" fmla="val -327147"/>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1" name="TextBox 80"/>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48" name="TextBox 47">
            <a:extLst>
              <a:ext uri="{FF2B5EF4-FFF2-40B4-BE49-F238E27FC236}">
                <a16:creationId xmlns:a16="http://schemas.microsoft.com/office/drawing/2014/main" id="{FBED4873-AA48-4F0A-ADAA-65FC9815F027}"/>
              </a:ext>
            </a:extLst>
          </p:cNvPr>
          <p:cNvSpPr txBox="1"/>
          <p:nvPr/>
        </p:nvSpPr>
        <p:spPr>
          <a:xfrm>
            <a:off x="6465955" y="5400000"/>
            <a:ext cx="1980000" cy="756000"/>
          </a:xfrm>
          <a:prstGeom prst="wedgeRoundRectCallout">
            <a:avLst>
              <a:gd name="adj1" fmla="val -16456"/>
              <a:gd name="adj2" fmla="val -494010"/>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058565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ight Arrow 45">
            <a:extLst>
              <a:ext uri="{FF2B5EF4-FFF2-40B4-BE49-F238E27FC236}">
                <a16:creationId xmlns:a16="http://schemas.microsoft.com/office/drawing/2014/main" id="{D51CC670-33B2-48D1-9477-2961E896065F}"/>
              </a:ext>
            </a:extLst>
          </p:cNvPr>
          <p:cNvSpPr/>
          <p:nvPr/>
        </p:nvSpPr>
        <p:spPr>
          <a:xfrm>
            <a:off x="1709107" y="1246720"/>
            <a:ext cx="3298819" cy="3960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6" name="Right Arrow 45"/>
          <p:cNvSpPr/>
          <p:nvPr/>
        </p:nvSpPr>
        <p:spPr>
          <a:xfrm rot="2742197">
            <a:off x="1244103" y="1799338"/>
            <a:ext cx="537837" cy="311184"/>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7" name="Right Arrow 46"/>
          <p:cNvSpPr/>
          <p:nvPr/>
        </p:nvSpPr>
        <p:spPr>
          <a:xfrm>
            <a:off x="205022" y="3704003"/>
            <a:ext cx="457200" cy="254833"/>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489907" y="1147393"/>
            <a:ext cx="12192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2" name="TextBox 51"/>
          <p:cNvSpPr txBox="1"/>
          <p:nvPr/>
        </p:nvSpPr>
        <p:spPr>
          <a:xfrm>
            <a:off x="61661" y="3086655"/>
            <a:ext cx="796762"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Basic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9392" y="3815446"/>
            <a:ext cx="1656830"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582551" y="3815446"/>
            <a:ext cx="1652427"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2981DCC2-7565-4BF5-B1BD-5D61B59CFDBC}"/>
              </a:ext>
            </a:extLst>
          </p:cNvPr>
          <p:cNvSpPr txBox="1"/>
          <p:nvPr/>
        </p:nvSpPr>
        <p:spPr>
          <a:xfrm>
            <a:off x="16969" y="2397826"/>
            <a:ext cx="1266553" cy="528452"/>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Intermediate Causes</a:t>
            </a:r>
          </a:p>
        </p:txBody>
      </p:sp>
      <p:sp>
        <p:nvSpPr>
          <p:cNvPr id="63" name="Right Arrow 45">
            <a:extLst>
              <a:ext uri="{FF2B5EF4-FFF2-40B4-BE49-F238E27FC236}">
                <a16:creationId xmlns:a16="http://schemas.microsoft.com/office/drawing/2014/main" id="{D51CC670-33B2-48D1-9477-2961E896065F}"/>
              </a:ext>
            </a:extLst>
          </p:cNvPr>
          <p:cNvSpPr/>
          <p:nvPr/>
        </p:nvSpPr>
        <p:spPr>
          <a:xfrm rot="1022632">
            <a:off x="1619781" y="1936363"/>
            <a:ext cx="2199097" cy="361338"/>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45282" y="3351963"/>
            <a:ext cx="630174" cy="29679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09804" y="2813276"/>
            <a:ext cx="630174" cy="137416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8" name="Rounded Rectangle 77"/>
          <p:cNvSpPr/>
          <p:nvPr/>
        </p:nvSpPr>
        <p:spPr>
          <a:xfrm>
            <a:off x="4953000" y="1284055"/>
            <a:ext cx="3165764"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53" name="Rounded Rectangle 52"/>
          <p:cNvSpPr/>
          <p:nvPr/>
        </p:nvSpPr>
        <p:spPr>
          <a:xfrm>
            <a:off x="1334557" y="2259442"/>
            <a:ext cx="1441090"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ounded Rectangle 53"/>
          <p:cNvSpPr/>
          <p:nvPr/>
        </p:nvSpPr>
        <p:spPr>
          <a:xfrm>
            <a:off x="3627330" y="2529445"/>
            <a:ext cx="2978826" cy="782965"/>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FBED4873-AA48-4F0A-ADAA-65FC9815F027}"/>
              </a:ext>
            </a:extLst>
          </p:cNvPr>
          <p:cNvSpPr txBox="1"/>
          <p:nvPr/>
        </p:nvSpPr>
        <p:spPr>
          <a:xfrm>
            <a:off x="720000" y="5400000"/>
            <a:ext cx="1980000" cy="756000"/>
          </a:xfrm>
          <a:prstGeom prst="wedgeRoundRectCallout">
            <a:avLst>
              <a:gd name="adj1" fmla="val 6150"/>
              <a:gd name="adj2" fmla="val -368109"/>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condition</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79" name="TextBox 78">
            <a:extLst>
              <a:ext uri="{FF2B5EF4-FFF2-40B4-BE49-F238E27FC236}">
                <a16:creationId xmlns:a16="http://schemas.microsoft.com/office/drawing/2014/main" id="{FBED4873-AA48-4F0A-ADAA-65FC9815F027}"/>
              </a:ext>
            </a:extLst>
          </p:cNvPr>
          <p:cNvSpPr txBox="1"/>
          <p:nvPr/>
        </p:nvSpPr>
        <p:spPr>
          <a:xfrm>
            <a:off x="6465955" y="5400000"/>
            <a:ext cx="1980000" cy="756000"/>
          </a:xfrm>
          <a:prstGeom prst="wedgeRoundRectCallout">
            <a:avLst>
              <a:gd name="adj1" fmla="val -16456"/>
              <a:gd name="adj2" fmla="val -494010"/>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0" name="TextBox 79">
            <a:extLst>
              <a:ext uri="{FF2B5EF4-FFF2-40B4-BE49-F238E27FC236}">
                <a16:creationId xmlns:a16="http://schemas.microsoft.com/office/drawing/2014/main" id="{FBED4873-AA48-4F0A-ADAA-65FC9815F027}"/>
              </a:ext>
            </a:extLst>
          </p:cNvPr>
          <p:cNvSpPr txBox="1"/>
          <p:nvPr/>
        </p:nvSpPr>
        <p:spPr>
          <a:xfrm>
            <a:off x="3445879" y="5400000"/>
            <a:ext cx="1980000" cy="756000"/>
          </a:xfrm>
          <a:prstGeom prst="wedgeRoundRectCallout">
            <a:avLst>
              <a:gd name="adj1" fmla="val 2603"/>
              <a:gd name="adj2" fmla="val -327147"/>
              <a:gd name="adj3" fmla="val 16667"/>
            </a:avLst>
          </a:prstGeom>
          <a:solidFill>
            <a:schemeClr val="tx1"/>
          </a:solidFill>
          <a:ln w="9525" algn="ctr">
            <a:solidFill>
              <a:schemeClr val="tx1"/>
            </a:solidFill>
            <a:miter lim="800000"/>
            <a:headEnd/>
            <a:tailEnd/>
          </a:ln>
          <a:effectLst/>
        </p:spPr>
        <p:txBody>
          <a:bodyPr/>
          <a:lstStyle>
            <a:defPPr>
              <a:defRPr lang="en-US"/>
            </a:defPPr>
            <a:lvl1pPr marL="457200" indent="-457200">
              <a:spcBef>
                <a:spcPts val="0"/>
              </a:spcBef>
              <a:buClr>
                <a:srgbClr val="000000"/>
              </a:buClr>
              <a:buSzTx/>
              <a:buFont typeface="Wingdings" panose="05000000000000000000" pitchFamily="2" charset="2"/>
              <a:buNone/>
              <a:defRPr sz="2000">
                <a:solidFill>
                  <a:srgbClr val="FFFFFF"/>
                </a:solidFill>
                <a:latin typeface="Arial" panose="020B0604020202020204" pitchFamily="34" charset="0"/>
                <a:ea typeface="ＭＳ Ｐゴシック" panose="020B0600070205080204" pitchFamily="34" charset="-128"/>
              </a:defRPr>
            </a:lvl1pPr>
            <a:lvl2pPr marL="742950" lvl="1" indent="-285750">
              <a:spcBef>
                <a:spcPts val="0"/>
              </a:spcBef>
              <a:buFont typeface="Wingdings" panose="05000000000000000000" pitchFamily="2" charset="2"/>
              <a:buChar char="Ø"/>
              <a:defRPr sz="2000">
                <a:solidFill>
                  <a:srgbClr val="FFFFFF"/>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tabLst/>
              <a:defRPr/>
            </a:pP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Sub-standard </a:t>
            </a:r>
            <a:r>
              <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work </a:t>
            </a:r>
            <a:r>
              <a:rPr kumimoji="0" lang="en-CA"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practice</a:t>
            </a:r>
            <a:endParaRPr kumimoji="0" lang="en-CA"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
        <p:nvSpPr>
          <p:cNvPr id="81" name="TextBox 80"/>
          <p:cNvSpPr txBox="1"/>
          <p:nvPr/>
        </p:nvSpPr>
        <p:spPr>
          <a:xfrm>
            <a:off x="668153" y="4680000"/>
            <a:ext cx="2124000" cy="523220"/>
          </a:xfrm>
          <a:prstGeom prst="rect">
            <a:avLst/>
          </a:prstGeom>
          <a:solidFill>
            <a:srgbClr val="FFFF00"/>
          </a:solidFill>
          <a:ln>
            <a:solidFill>
              <a:schemeClr val="tx1"/>
            </a:solidFill>
          </a:ln>
        </p:spPr>
        <p:txBody>
          <a:bodyPr wrap="square" rtlCol="0">
            <a:spAutoFit/>
          </a:bodyPr>
          <a:lstStyle/>
          <a:p>
            <a:pPr algn="ctr"/>
            <a:r>
              <a:rPr lang="en-US" sz="1400" dirty="0" smtClean="0"/>
              <a:t>“1</a:t>
            </a:r>
            <a:r>
              <a:rPr lang="en-US" sz="1400" baseline="30000" dirty="0" smtClean="0"/>
              <a:t>st</a:t>
            </a:r>
            <a:r>
              <a:rPr lang="en-US" sz="1400" dirty="0" smtClean="0"/>
              <a:t> immediate cause” in the root pathway</a:t>
            </a:r>
            <a:endParaRPr lang="en-US" sz="1400" dirty="0"/>
          </a:p>
        </p:txBody>
      </p:sp>
      <p:sp>
        <p:nvSpPr>
          <p:cNvPr id="82" name="TextBox 81"/>
          <p:cNvSpPr txBox="1"/>
          <p:nvPr/>
        </p:nvSpPr>
        <p:spPr>
          <a:xfrm>
            <a:off x="6466270" y="4680000"/>
            <a:ext cx="2124000" cy="523220"/>
          </a:xfrm>
          <a:prstGeom prst="rect">
            <a:avLst/>
          </a:prstGeom>
          <a:solidFill>
            <a:srgbClr val="FFFF00"/>
          </a:solidFill>
          <a:ln>
            <a:solidFill>
              <a:schemeClr val="tx1"/>
            </a:solidFill>
          </a:ln>
        </p:spPr>
        <p:txBody>
          <a:bodyPr wrap="square" rtlCol="0">
            <a:spAutoFit/>
          </a:bodyPr>
          <a:lstStyle/>
          <a:p>
            <a:pPr algn="ctr"/>
            <a:r>
              <a:rPr lang="en-US" sz="1400" dirty="0" smtClean="0"/>
              <a:t>“1</a:t>
            </a:r>
            <a:r>
              <a:rPr lang="en-US" sz="1400" baseline="30000" dirty="0" smtClean="0"/>
              <a:t>st</a:t>
            </a:r>
            <a:r>
              <a:rPr lang="en-US" sz="1400" dirty="0" smtClean="0"/>
              <a:t> immediate cause” in the root pathway</a:t>
            </a:r>
            <a:endParaRPr lang="en-US" sz="1400" dirty="0"/>
          </a:p>
        </p:txBody>
      </p:sp>
      <p:sp>
        <p:nvSpPr>
          <p:cNvPr id="83" name="TextBox 82"/>
          <p:cNvSpPr txBox="1"/>
          <p:nvPr/>
        </p:nvSpPr>
        <p:spPr>
          <a:xfrm>
            <a:off x="3445879" y="4698110"/>
            <a:ext cx="2124000" cy="523220"/>
          </a:xfrm>
          <a:prstGeom prst="rect">
            <a:avLst/>
          </a:prstGeom>
          <a:solidFill>
            <a:srgbClr val="FFFF00"/>
          </a:solidFill>
          <a:ln>
            <a:solidFill>
              <a:schemeClr val="tx1"/>
            </a:solidFill>
          </a:ln>
        </p:spPr>
        <p:txBody>
          <a:bodyPr wrap="square" rtlCol="0">
            <a:spAutoFit/>
          </a:bodyPr>
          <a:lstStyle/>
          <a:p>
            <a:pPr algn="ctr"/>
            <a:r>
              <a:rPr lang="en-US" sz="1400" dirty="0" smtClean="0"/>
              <a:t>“2</a:t>
            </a:r>
            <a:r>
              <a:rPr lang="en-US" sz="1400" baseline="30000" dirty="0" smtClean="0"/>
              <a:t>nd</a:t>
            </a:r>
            <a:r>
              <a:rPr lang="en-US" sz="1400" dirty="0" smtClean="0"/>
              <a:t> immediate cause” in the root pathway</a:t>
            </a:r>
            <a:endParaRPr lang="en-US" sz="1400" dirty="0"/>
          </a:p>
        </p:txBody>
      </p:sp>
      <p:sp>
        <p:nvSpPr>
          <p:cNvPr id="85" name="TextBox 84"/>
          <p:cNvSpPr txBox="1"/>
          <p:nvPr/>
        </p:nvSpPr>
        <p:spPr>
          <a:xfrm>
            <a:off x="2862711" y="649912"/>
            <a:ext cx="2124000" cy="578882"/>
          </a:xfrm>
          <a:prstGeom prst="wedgeRoundRectCallout">
            <a:avLst>
              <a:gd name="adj1" fmla="val -41928"/>
              <a:gd name="adj2" fmla="val 97251"/>
              <a:gd name="adj3" fmla="val 16667"/>
            </a:avLst>
          </a:prstGeom>
          <a:solidFill>
            <a:srgbClr val="FFFF00"/>
          </a:solidFill>
          <a:ln>
            <a:solidFill>
              <a:schemeClr val="tx1"/>
            </a:solidFill>
          </a:ln>
        </p:spPr>
        <p:txBody>
          <a:bodyPr wrap="square" rtlCol="0">
            <a:spAutoFit/>
          </a:bodyPr>
          <a:lstStyle/>
          <a:p>
            <a:pPr algn="ctr"/>
            <a:r>
              <a:rPr lang="en-US" sz="1400" i="1" dirty="0" smtClean="0"/>
              <a:t>This is an “event” in the incident.</a:t>
            </a:r>
            <a:endParaRPr lang="en-US" sz="1400" i="1" dirty="0"/>
          </a:p>
        </p:txBody>
      </p:sp>
      <p:sp>
        <p:nvSpPr>
          <p:cNvPr id="86" name="TextBox 85"/>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66828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#3: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Immediate Causes - Categories and Sub-categories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spcBef>
                <a:spcPts val="0"/>
              </a:spcBef>
              <a:spcAft>
                <a:spcPts val="0"/>
              </a:spcAft>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response on MM not intended): </a:t>
            </a:r>
          </a:p>
          <a:p>
            <a:pPr marL="360000" indent="-360000" eaLnBrk="0" hangingPunct="0">
              <a:spcBef>
                <a:spcPts val="0"/>
              </a:spcBef>
              <a:buSzPct val="100000"/>
              <a:buFont typeface="Wingdings" panose="05000000000000000000" pitchFamily="2" charset="2"/>
              <a:buChar char="Ø"/>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From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our Mining LI, identify the category and sub-category for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each of these three Immediate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Causes:</a:t>
            </a:r>
          </a:p>
          <a:p>
            <a:pPr marL="817200" indent="-457200" eaLnBrk="0" hangingPunct="0">
              <a:spcBef>
                <a:spcPts val="0"/>
              </a:spcBef>
              <a:buSzPct val="100000"/>
              <a:buFont typeface="+mj-lt"/>
              <a:buAutoNum type="alphaLcParenR"/>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Unstable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Equipment &amp; operator in exclusion zone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didn’t follow exclusion zone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procedures</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Group 62"/>
          <p:cNvGraphicFramePr>
            <a:graphicFrameLocks noGrp="1"/>
          </p:cNvGraphicFramePr>
          <p:nvPr>
            <p:extLst>
              <p:ext uri="{D42A27DB-BD31-4B8C-83A1-F6EECF244321}">
                <p14:modId xmlns:p14="http://schemas.microsoft.com/office/powerpoint/2010/main" val="4214399160"/>
              </p:ext>
            </p:extLst>
          </p:nvPr>
        </p:nvGraphicFramePr>
        <p:xfrm>
          <a:off x="684213" y="3063224"/>
          <a:ext cx="7772400" cy="3020216"/>
        </p:xfrm>
        <a:graphic>
          <a:graphicData uri="http://schemas.openxmlformats.org/drawingml/2006/table">
            <a:tbl>
              <a:tblPr/>
              <a:tblGrid>
                <a:gridCol w="3735387">
                  <a:extLst>
                    <a:ext uri="{9D8B030D-6E8A-4147-A177-3AD203B41FA5}">
                      <a16:colId xmlns:a16="http://schemas.microsoft.com/office/drawing/2014/main" val="20000"/>
                    </a:ext>
                  </a:extLst>
                </a:gridCol>
                <a:gridCol w="4037013">
                  <a:extLst>
                    <a:ext uri="{9D8B030D-6E8A-4147-A177-3AD203B41FA5}">
                      <a16:colId xmlns:a16="http://schemas.microsoft.com/office/drawing/2014/main" val="20001"/>
                    </a:ext>
                  </a:extLst>
                </a:gridCol>
              </a:tblGrid>
              <a:tr h="316737">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Practices (examples)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Conditions (examples)</a:t>
                      </a: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684928">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Operating equipment without authority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Failure to follow established procedures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Making safety devices inoperable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Failing to use personal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Servicing equipment in operation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Horseplay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Under influence of alcohol, drugs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or improper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Defective tools, equipment or materials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warning systems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Fire and explosion hazards (hidden)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Poor housekeeping; disorderly workplace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Hazardous environmental conditions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Noise exposures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a:t>
                      </a:r>
                      <a:r>
                        <a:rPr kumimoji="0" lang="en-US" altLang="en-US" sz="1600" b="0" i="0" u="none" strike="noStrike" cap="none" normalizeH="0" baseline="0" dirty="0" smtClean="0">
                          <a:ln>
                            <a:noFill/>
                          </a:ln>
                          <a:solidFill>
                            <a:schemeClr val="tx1">
                              <a:lumMod val="85000"/>
                              <a:lumOff val="15000"/>
                            </a:schemeClr>
                          </a:solidFill>
                          <a:effectLst/>
                          <a:latin typeface="Arial" pitchFamily="34" charset="0"/>
                          <a:ea typeface="Times New Roman" pitchFamily="18" charset="0"/>
                          <a:cs typeface="Arial" pitchFamily="34" charset="0"/>
                        </a:rPr>
                        <a:t>ventilation</a:t>
                      </a:r>
                      <a:endPar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69911340"/>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eaLnBrk="0" hangingPunct="0">
              <a:spcBef>
                <a:spcPts val="0"/>
              </a:spcBef>
              <a:buSzPct val="100000"/>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category and sub-category for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each of these three Immediate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Causes:</a:t>
            </a:r>
          </a:p>
          <a:p>
            <a:pPr marL="817200" indent="-457200" eaLnBrk="0" hangingPunct="0">
              <a:spcBef>
                <a:spcPts val="0"/>
              </a:spcBef>
              <a:buSzPct val="100000"/>
              <a:buFont typeface="+mj-lt"/>
              <a:buAutoNum type="alphaLcParenR"/>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Unstable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Equipment &amp; operator in exclusion zone</a:t>
            </a:r>
          </a:p>
          <a:p>
            <a:pPr marL="817200" indent="-457200" eaLnBrk="0" hangingPunct="0">
              <a:spcBef>
                <a:spcPts val="0"/>
              </a:spcBef>
              <a:buSzPct val="100000"/>
              <a:buFont typeface="+mj-lt"/>
              <a:buAutoNum type="alphaLcParenR"/>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didn’t follow exclusion zone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procedures</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spcBef>
                <a:spcPts val="0"/>
              </a:spcBef>
              <a:buSzPct val="100000"/>
              <a:defRPr/>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See NOTES below.)</a:t>
            </a:r>
          </a:p>
        </p:txBody>
      </p:sp>
      <p:graphicFrame>
        <p:nvGraphicFramePr>
          <p:cNvPr id="12" name="Group 62"/>
          <p:cNvGraphicFramePr>
            <a:graphicFrameLocks noGrp="1"/>
          </p:cNvGraphicFramePr>
          <p:nvPr>
            <p:extLst>
              <p:ext uri="{D42A27DB-BD31-4B8C-83A1-F6EECF244321}">
                <p14:modId xmlns:p14="http://schemas.microsoft.com/office/powerpoint/2010/main" val="546725745"/>
              </p:ext>
            </p:extLst>
          </p:nvPr>
        </p:nvGraphicFramePr>
        <p:xfrm>
          <a:off x="684213" y="3063224"/>
          <a:ext cx="7772400" cy="3020216"/>
        </p:xfrm>
        <a:graphic>
          <a:graphicData uri="http://schemas.openxmlformats.org/drawingml/2006/table">
            <a:tbl>
              <a:tblPr/>
              <a:tblGrid>
                <a:gridCol w="3735387">
                  <a:extLst>
                    <a:ext uri="{9D8B030D-6E8A-4147-A177-3AD203B41FA5}">
                      <a16:colId xmlns:a16="http://schemas.microsoft.com/office/drawing/2014/main" val="20000"/>
                    </a:ext>
                  </a:extLst>
                </a:gridCol>
                <a:gridCol w="4037013">
                  <a:extLst>
                    <a:ext uri="{9D8B030D-6E8A-4147-A177-3AD203B41FA5}">
                      <a16:colId xmlns:a16="http://schemas.microsoft.com/office/drawing/2014/main" val="20001"/>
                    </a:ext>
                  </a:extLst>
                </a:gridCol>
              </a:tblGrid>
              <a:tr h="316737">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Practices (examples)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defRPr sz="2800">
                          <a:solidFill>
                            <a:schemeClr val="tx1"/>
                          </a:solidFill>
                          <a:latin typeface="Times New Roman" pitchFamily="18" charset="0"/>
                          <a:ea typeface="ＭＳ Ｐゴシック" pitchFamily="34" charset="-128"/>
                        </a:defRPr>
                      </a:lvl1pPr>
                      <a:lvl2pPr marL="742950" indent="-285750">
                        <a:spcBef>
                          <a:spcPct val="20000"/>
                        </a:spcBef>
                        <a:defRPr sz="2400">
                          <a:solidFill>
                            <a:schemeClr val="tx1"/>
                          </a:solidFill>
                          <a:latin typeface="Times New Roman" pitchFamily="18" charset="0"/>
                          <a:ea typeface="ＭＳ Ｐゴシック" pitchFamily="34" charset="-128"/>
                        </a:defRPr>
                      </a:lvl2pPr>
                      <a:lvl3pPr marL="1143000" indent="-228600">
                        <a:spcBef>
                          <a:spcPct val="20000"/>
                        </a:spcBef>
                        <a:defRPr sz="2000">
                          <a:solidFill>
                            <a:schemeClr val="tx1"/>
                          </a:solidFill>
                          <a:latin typeface="Times New Roman" pitchFamily="18" charset="0"/>
                          <a:ea typeface="ＭＳ Ｐゴシック" pitchFamily="34" charset="-128"/>
                        </a:defRPr>
                      </a:lvl3pPr>
                      <a:lvl4pPr marL="1600200" indent="-228600">
                        <a:spcBef>
                          <a:spcPct val="20000"/>
                        </a:spcBef>
                        <a:defRPr>
                          <a:solidFill>
                            <a:schemeClr val="tx1"/>
                          </a:solidFill>
                          <a:latin typeface="Times New Roman" pitchFamily="18" charset="0"/>
                          <a:ea typeface="ＭＳ Ｐゴシック" pitchFamily="34" charset="-128"/>
                        </a:defRPr>
                      </a:lvl4pPr>
                      <a:lvl5pPr marL="2057400" indent="-228600">
                        <a:spcBef>
                          <a:spcPct val="20000"/>
                        </a:spcBef>
                        <a:buSzPct val="65000"/>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Substandard Conditions (examples)</a:t>
                      </a: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684928">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Operating equipment without authority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Failure to follow established procedures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Making safety devices inoperable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Failing to use personal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Servicing equipment in operation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Horseplay</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Under influence of alcohol, drugs</a:t>
                      </a: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or improper protective equipment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Defective tools, equipment or materials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warning systems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Fire and explosion hazards (hidden)</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Poor housekeeping; disorderly workplace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Hazardous environmental conditions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Noise exposures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rPr>
                        <a:t>Inadequate </a:t>
                      </a:r>
                      <a:r>
                        <a:rPr kumimoji="0" lang="en-US" altLang="en-US" sz="1600" b="0" i="0" u="none" strike="noStrike" cap="none" normalizeH="0" baseline="0" dirty="0" smtClean="0">
                          <a:ln>
                            <a:noFill/>
                          </a:ln>
                          <a:solidFill>
                            <a:schemeClr val="tx1">
                              <a:lumMod val="85000"/>
                              <a:lumOff val="15000"/>
                            </a:schemeClr>
                          </a:solidFill>
                          <a:effectLst/>
                          <a:latin typeface="Arial" pitchFamily="34" charset="0"/>
                          <a:ea typeface="Times New Roman" pitchFamily="18" charset="0"/>
                          <a:cs typeface="Arial" pitchFamily="34" charset="0"/>
                        </a:rPr>
                        <a:t>ventilation</a:t>
                      </a:r>
                      <a:endParaRPr kumimoji="0" lang="en-US" altLang="en-US" sz="1600" b="0" i="0" u="none" strike="noStrike" cap="none" normalizeH="0" baseline="0" dirty="0">
                        <a:ln>
                          <a:noFill/>
                        </a:ln>
                        <a:solidFill>
                          <a:schemeClr val="tx1">
                            <a:lumMod val="85000"/>
                            <a:lumOff val="15000"/>
                          </a:schemeClr>
                        </a:solidFill>
                        <a:effectLst/>
                        <a:latin typeface="Arial" pitchFamily="34" charset="0"/>
                        <a:ea typeface="Times New Roman" pitchFamily="18" charset="0"/>
                        <a:cs typeface="Arial" pitchFamily="34" charset="0"/>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Immediate Causes - Categories and Sub-categories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9" name="Rectangle 8"/>
          <p:cNvSpPr/>
          <p:nvPr/>
        </p:nvSpPr>
        <p:spPr>
          <a:xfrm>
            <a:off x="4419600" y="4876195"/>
            <a:ext cx="3883180" cy="345600"/>
          </a:xfrm>
          <a:prstGeom prst="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rPr>
              <a:t>a) </a:t>
            </a:r>
            <a:r>
              <a:rPr kumimoji="0" lang="en-US" sz="1600" b="0" i="0" u="none" strike="noStrike" kern="1200" cap="none" spc="0" normalizeH="0" baseline="0" noProof="0" dirty="0" smtClean="0">
                <a:ln>
                  <a:noFill/>
                </a:ln>
                <a:solidFill>
                  <a:srgbClr val="FF0000"/>
                </a:solidFill>
                <a:effectLst/>
                <a:uLnTx/>
                <a:uFillTx/>
                <a:latin typeface="Calibri" panose="020F0502020204030204"/>
                <a:ea typeface="+mn-ea"/>
                <a:cs typeface="+mn-cs"/>
              </a:rPr>
              <a:t>Hazardous environmental conditions</a:t>
            </a:r>
            <a:endPar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1" name="Rectangle 10"/>
          <p:cNvSpPr/>
          <p:nvPr/>
        </p:nvSpPr>
        <p:spPr>
          <a:xfrm>
            <a:off x="687233" y="3682425"/>
            <a:ext cx="3883180" cy="584775"/>
          </a:xfrm>
          <a:prstGeom prst="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rgbClr val="FF0000"/>
                </a:solidFill>
                <a:effectLst/>
                <a:uLnTx/>
                <a:uFillTx/>
                <a:latin typeface="Calibri" panose="020F0502020204030204"/>
                <a:ea typeface="+mn-ea"/>
                <a:cs typeface="+mn-cs"/>
              </a:rPr>
              <a:t>b) c) Failure </a:t>
            </a:r>
            <a:r>
              <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rPr>
              <a:t>to follow </a:t>
            </a:r>
            <a:r>
              <a:rPr kumimoji="0" lang="en-US" sz="1600" b="0" i="0" u="none" strike="noStrike" kern="1200" cap="none" spc="0" normalizeH="0" baseline="0" noProof="0" dirty="0" smtClean="0">
                <a:ln>
                  <a:noFill/>
                </a:ln>
                <a:solidFill>
                  <a:srgbClr val="FF0000"/>
                </a:solidFill>
                <a:effectLst/>
                <a:uLnTx/>
                <a:uFillTx/>
                <a:latin typeface="Calibri" panose="020F0502020204030204"/>
                <a:ea typeface="+mn-ea"/>
                <a:cs typeface="+mn-cs"/>
              </a:rPr>
              <a:t>established procedures (Admin. Controls: safety rules, policies, etc.)</a:t>
            </a:r>
            <a:endParaRPr kumimoji="0" lang="en-US" sz="16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535591"/>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Basic Causes and Categories: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86"/>
          <p:cNvGraphicFramePr>
            <a:graphicFrameLocks noGrp="1"/>
          </p:cNvGraphicFramePr>
          <p:nvPr>
            <p:extLst>
              <p:ext uri="{D42A27DB-BD31-4B8C-83A1-F6EECF244321}">
                <p14:modId xmlns:p14="http://schemas.microsoft.com/office/powerpoint/2010/main" val="1415028268"/>
              </p:ext>
            </p:extLst>
          </p:nvPr>
        </p:nvGraphicFramePr>
        <p:xfrm>
          <a:off x="180000" y="914400"/>
          <a:ext cx="8640000" cy="5287895"/>
        </p:xfrm>
        <a:graphic>
          <a:graphicData uri="http://schemas.openxmlformats.org/drawingml/2006/table">
            <a:tbl>
              <a:tblPr/>
              <a:tblGrid>
                <a:gridCol w="3426360">
                  <a:extLst>
                    <a:ext uri="{9D8B030D-6E8A-4147-A177-3AD203B41FA5}">
                      <a16:colId xmlns:a16="http://schemas.microsoft.com/office/drawing/2014/main" val="20000"/>
                    </a:ext>
                  </a:extLst>
                </a:gridCol>
                <a:gridCol w="2246595">
                  <a:extLst>
                    <a:ext uri="{9D8B030D-6E8A-4147-A177-3AD203B41FA5}">
                      <a16:colId xmlns:a16="http://schemas.microsoft.com/office/drawing/2014/main" val="20001"/>
                    </a:ext>
                  </a:extLst>
                </a:gridCol>
                <a:gridCol w="2967045">
                  <a:extLst>
                    <a:ext uri="{9D8B030D-6E8A-4147-A177-3AD203B41FA5}">
                      <a16:colId xmlns:a16="http://schemas.microsoft.com/office/drawing/2014/main" val="20002"/>
                    </a:ext>
                  </a:extLst>
                </a:gridCol>
              </a:tblGrid>
              <a:tr h="999359">
                <a:tc>
                  <a:txBody>
                    <a:bodyPr/>
                    <a:lstStyle>
                      <a:lvl1pPr>
                        <a:spcBef>
                          <a:spcPct val="20000"/>
                        </a:spcBef>
                        <a:buClr>
                          <a:schemeClr val="tx2"/>
                        </a:buClr>
                        <a:buSzPct val="65000"/>
                        <a:buFont typeface="Wingdings" pitchFamily="2" charset="2"/>
                        <a:tabLst>
                          <a:tab pos="457200" algn="r"/>
                          <a:tab pos="2743200" algn="ctr"/>
                          <a:tab pos="5486400" algn="r"/>
                        </a:tabLst>
                        <a:defRPr sz="2800">
                          <a:solidFill>
                            <a:schemeClr val="tx1"/>
                          </a:solidFill>
                          <a:latin typeface="Times New Roman" pitchFamily="18" charset="0"/>
                          <a:ea typeface="ＭＳ Ｐゴシック" pitchFamily="34" charset="-128"/>
                        </a:defRPr>
                      </a:lvl1pPr>
                      <a:lvl2pPr marL="742950" indent="-285750">
                        <a:spcBef>
                          <a:spcPct val="20000"/>
                        </a:spcBef>
                        <a:tabLst>
                          <a:tab pos="457200" algn="r"/>
                          <a:tab pos="2743200" algn="ctr"/>
                          <a:tab pos="5486400" algn="r"/>
                        </a:tabLst>
                        <a:defRPr sz="2400">
                          <a:solidFill>
                            <a:schemeClr val="tx1"/>
                          </a:solidFill>
                          <a:latin typeface="Times New Roman" pitchFamily="18" charset="0"/>
                          <a:ea typeface="ＭＳ Ｐゴシック" pitchFamily="34" charset="-128"/>
                        </a:defRPr>
                      </a:lvl2pPr>
                      <a:lvl3pPr marL="1143000" indent="-228600">
                        <a:spcBef>
                          <a:spcPct val="20000"/>
                        </a:spcBef>
                        <a:tabLst>
                          <a:tab pos="457200" algn="r"/>
                          <a:tab pos="2743200" algn="ctr"/>
                          <a:tab pos="5486400" algn="r"/>
                        </a:tabLst>
                        <a:defRPr sz="2000">
                          <a:solidFill>
                            <a:schemeClr val="tx1"/>
                          </a:solidFill>
                          <a:latin typeface="Times New Roman" pitchFamily="18" charset="0"/>
                          <a:ea typeface="ＭＳ Ｐゴシック" pitchFamily="34" charset="-128"/>
                        </a:defRPr>
                      </a:lvl3pPr>
                      <a:lvl4pPr marL="1600200" indent="-228600">
                        <a:spcBef>
                          <a:spcPct val="20000"/>
                        </a:spcBef>
                        <a:tabLst>
                          <a:tab pos="457200" algn="r"/>
                          <a:tab pos="2743200" algn="ctr"/>
                          <a:tab pos="5486400" algn="r"/>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457200" algn="r"/>
                          <a:tab pos="2743200" algn="ctr"/>
                          <a:tab pos="5486400" algn="r"/>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tab pos="457200" algn="r"/>
                          <a:tab pos="2743200" algn="ctr"/>
                          <a:tab pos="5486400" algn="r"/>
                        </a:tabLst>
                      </a:pPr>
                      <a:r>
                        <a:rPr kumimoji="0" lang="en-US" altLang="en-US" sz="1600" b="1" i="0" u="none" strike="noStrike" cap="none" normalizeH="0" baseline="0" dirty="0">
                          <a:ln>
                            <a:noFill/>
                          </a:ln>
                          <a:solidFill>
                            <a:schemeClr val="tx1"/>
                          </a:solidFill>
                          <a:effectLst/>
                          <a:latin typeface="Arial" pitchFamily="34" charset="0"/>
                          <a:ea typeface="Times New Roman" pitchFamily="18" charset="0"/>
                          <a:cs typeface="Arial" pitchFamily="34" charset="0"/>
                        </a:rPr>
                        <a:t>Engineering &amp; Design Factors: </a:t>
                      </a:r>
                      <a:br>
                        <a:rPr kumimoji="0" lang="en-US" altLang="en-US" sz="1600" b="1" i="0" u="none" strike="noStrike" cap="none" normalizeH="0" baseline="0" dirty="0">
                          <a:ln>
                            <a:noFill/>
                          </a:ln>
                          <a:solidFill>
                            <a:schemeClr val="tx1"/>
                          </a:solidFill>
                          <a:effectLst/>
                          <a:latin typeface="Arial" pitchFamily="34" charset="0"/>
                          <a:ea typeface="Times New Roman" pitchFamily="18" charset="0"/>
                          <a:cs typeface="Arial" pitchFamily="34" charset="0"/>
                        </a:rPr>
                      </a:br>
                      <a:r>
                        <a:rPr kumimoji="0" lang="en-US" altLang="en-US" sz="1600" b="0" i="1" u="none" strike="noStrike" cap="none" normalizeH="0" baseline="0" dirty="0">
                          <a:ln>
                            <a:noFill/>
                          </a:ln>
                          <a:solidFill>
                            <a:schemeClr val="tx1"/>
                          </a:solidFill>
                          <a:effectLst/>
                          <a:latin typeface="Arial" pitchFamily="34" charset="0"/>
                          <a:ea typeface="Times New Roman" pitchFamily="18" charset="0"/>
                          <a:cs typeface="Arial" pitchFamily="34" charset="0"/>
                        </a:rPr>
                        <a:t>(can apply to structures, equipment, tools, </a:t>
                      </a:r>
                      <a:r>
                        <a:rPr kumimoji="0" lang="en-US" altLang="en-US" sz="16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products, raw materials, i.e</a:t>
                      </a:r>
                      <a:r>
                        <a:rPr kumimoji="0" lang="en-US" altLang="en-US" sz="1600" b="0" i="1" u="none" strike="noStrike" cap="none" normalizeH="0" baseline="0" dirty="0">
                          <a:ln>
                            <a:noFill/>
                          </a:ln>
                          <a:solidFill>
                            <a:schemeClr val="tx1"/>
                          </a:solidFill>
                          <a:effectLst/>
                          <a:latin typeface="Arial" pitchFamily="34" charset="0"/>
                          <a:ea typeface="Times New Roman" pitchFamily="18" charset="0"/>
                          <a:cs typeface="Arial" pitchFamily="34" charset="0"/>
                        </a:rPr>
                        <a:t>. any engineered system)</a:t>
                      </a:r>
                      <a:endParaRPr kumimoji="0" lang="en-US" altLang="en-US" sz="18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457200" algn="r"/>
                          <a:tab pos="2743200" algn="ctr"/>
                          <a:tab pos="5486400" algn="r"/>
                        </a:tabLst>
                        <a:defRPr sz="2800">
                          <a:solidFill>
                            <a:schemeClr val="tx1"/>
                          </a:solidFill>
                          <a:latin typeface="Times New Roman" pitchFamily="18" charset="0"/>
                          <a:ea typeface="ＭＳ Ｐゴシック" pitchFamily="34" charset="-128"/>
                        </a:defRPr>
                      </a:lvl1pPr>
                      <a:lvl2pPr marL="742950" indent="-285750">
                        <a:spcBef>
                          <a:spcPct val="20000"/>
                        </a:spcBef>
                        <a:tabLst>
                          <a:tab pos="457200" algn="r"/>
                          <a:tab pos="2743200" algn="ctr"/>
                          <a:tab pos="5486400" algn="r"/>
                        </a:tabLst>
                        <a:defRPr sz="2400">
                          <a:solidFill>
                            <a:schemeClr val="tx1"/>
                          </a:solidFill>
                          <a:latin typeface="Times New Roman" pitchFamily="18" charset="0"/>
                          <a:ea typeface="ＭＳ Ｐゴシック" pitchFamily="34" charset="-128"/>
                        </a:defRPr>
                      </a:lvl2pPr>
                      <a:lvl3pPr marL="1143000" indent="-228600">
                        <a:spcBef>
                          <a:spcPct val="20000"/>
                        </a:spcBef>
                        <a:tabLst>
                          <a:tab pos="457200" algn="r"/>
                          <a:tab pos="2743200" algn="ctr"/>
                          <a:tab pos="5486400" algn="r"/>
                        </a:tabLst>
                        <a:defRPr sz="2000">
                          <a:solidFill>
                            <a:schemeClr val="tx1"/>
                          </a:solidFill>
                          <a:latin typeface="Times New Roman" pitchFamily="18" charset="0"/>
                          <a:ea typeface="ＭＳ Ｐゴシック" pitchFamily="34" charset="-128"/>
                        </a:defRPr>
                      </a:lvl3pPr>
                      <a:lvl4pPr marL="1600200" indent="-228600">
                        <a:spcBef>
                          <a:spcPct val="20000"/>
                        </a:spcBef>
                        <a:tabLst>
                          <a:tab pos="457200" algn="r"/>
                          <a:tab pos="2743200" algn="ctr"/>
                          <a:tab pos="5486400" algn="r"/>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457200" algn="r"/>
                          <a:tab pos="2743200" algn="ctr"/>
                          <a:tab pos="5486400" algn="r"/>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tab pos="457200" algn="r"/>
                          <a:tab pos="2743200" algn="ctr"/>
                          <a:tab pos="5486400" algn="r"/>
                        </a:tabLst>
                      </a:pPr>
                      <a:r>
                        <a:rPr kumimoji="0" lang="en-US" altLang="en-US" sz="1800" b="1" i="0" u="none" strike="noStrike" cap="none" normalizeH="0" baseline="0" dirty="0">
                          <a:ln>
                            <a:noFill/>
                          </a:ln>
                          <a:solidFill>
                            <a:schemeClr val="tx1"/>
                          </a:solidFill>
                          <a:effectLst/>
                          <a:latin typeface="Arial" pitchFamily="34" charset="0"/>
                          <a:ea typeface="Times New Roman" pitchFamily="18" charset="0"/>
                          <a:cs typeface="Arial" pitchFamily="34" charset="0"/>
                        </a:rPr>
                        <a:t>Job Factors:</a:t>
                      </a:r>
                      <a:endParaRPr kumimoji="0" lang="en-US" altLang="en-US" sz="18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457200" algn="r"/>
                          <a:tab pos="2743200" algn="ctr"/>
                          <a:tab pos="5486400" algn="r"/>
                        </a:tabLst>
                        <a:defRPr sz="2800">
                          <a:solidFill>
                            <a:schemeClr val="tx1"/>
                          </a:solidFill>
                          <a:latin typeface="Times New Roman" pitchFamily="18" charset="0"/>
                          <a:ea typeface="ＭＳ Ｐゴシック" pitchFamily="34" charset="-128"/>
                        </a:defRPr>
                      </a:lvl1pPr>
                      <a:lvl2pPr marL="742950" indent="-285750">
                        <a:spcBef>
                          <a:spcPct val="20000"/>
                        </a:spcBef>
                        <a:tabLst>
                          <a:tab pos="457200" algn="r"/>
                          <a:tab pos="2743200" algn="ctr"/>
                          <a:tab pos="5486400" algn="r"/>
                        </a:tabLst>
                        <a:defRPr sz="2400">
                          <a:solidFill>
                            <a:schemeClr val="tx1"/>
                          </a:solidFill>
                          <a:latin typeface="Times New Roman" pitchFamily="18" charset="0"/>
                          <a:ea typeface="ＭＳ Ｐゴシック" pitchFamily="34" charset="-128"/>
                        </a:defRPr>
                      </a:lvl2pPr>
                      <a:lvl3pPr marL="1143000" indent="-228600">
                        <a:spcBef>
                          <a:spcPct val="20000"/>
                        </a:spcBef>
                        <a:tabLst>
                          <a:tab pos="457200" algn="r"/>
                          <a:tab pos="2743200" algn="ctr"/>
                          <a:tab pos="5486400" algn="r"/>
                        </a:tabLst>
                        <a:defRPr sz="2000">
                          <a:solidFill>
                            <a:schemeClr val="tx1"/>
                          </a:solidFill>
                          <a:latin typeface="Times New Roman" pitchFamily="18" charset="0"/>
                          <a:ea typeface="ＭＳ Ｐゴシック" pitchFamily="34" charset="-128"/>
                        </a:defRPr>
                      </a:lvl3pPr>
                      <a:lvl4pPr marL="1600200" indent="-228600">
                        <a:spcBef>
                          <a:spcPct val="20000"/>
                        </a:spcBef>
                        <a:tabLst>
                          <a:tab pos="457200" algn="r"/>
                          <a:tab pos="2743200" algn="ctr"/>
                          <a:tab pos="5486400" algn="r"/>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457200" algn="r"/>
                          <a:tab pos="2743200" algn="ctr"/>
                          <a:tab pos="5486400" algn="r"/>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457200" algn="r"/>
                          <a:tab pos="2743200" algn="ctr"/>
                          <a:tab pos="5486400" algn="r"/>
                        </a:tabLst>
                        <a:defRPr>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tab pos="457200" algn="r"/>
                          <a:tab pos="2743200" algn="ctr"/>
                          <a:tab pos="5486400" algn="r"/>
                        </a:tabLst>
                      </a:pPr>
                      <a:r>
                        <a:rPr kumimoji="0" lang="en-US" altLang="en-US" sz="1800" b="1" i="0" u="none" strike="noStrike" cap="none" normalizeH="0" baseline="0">
                          <a:ln>
                            <a:noFill/>
                          </a:ln>
                          <a:solidFill>
                            <a:schemeClr val="tx1"/>
                          </a:solidFill>
                          <a:effectLst/>
                          <a:latin typeface="Arial" pitchFamily="34" charset="0"/>
                          <a:ea typeface="Times New Roman" pitchFamily="18" charset="0"/>
                          <a:cs typeface="Arial" pitchFamily="34" charset="0"/>
                        </a:rPr>
                        <a:t>Personal Factors:</a:t>
                      </a:r>
                      <a:endParaRPr kumimoji="0" lang="en-US" altLang="en-US" sz="18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968881">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technical design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ergonomic design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loss exposures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standards, specifications and/or design criteria</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construction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operational readiness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initial operation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evaluation and/or documentation of change</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inherently safe design</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maintenance </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job procedures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Error-inducing conditions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Organizational factors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Incompatible goals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training</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communication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buClr>
                          <a:schemeClr val="tx2"/>
                        </a:buClr>
                        <a:buSzPct val="65000"/>
                        <a:buFont typeface="Wingdings" pitchFamily="2" charset="2"/>
                        <a:tabLst>
                          <a:tab pos="228600" algn="l"/>
                        </a:tabLst>
                        <a:defRPr sz="2800">
                          <a:solidFill>
                            <a:schemeClr val="tx1"/>
                          </a:solidFill>
                          <a:latin typeface="Times New Roman" pitchFamily="18" charset="0"/>
                          <a:ea typeface="ＭＳ Ｐゴシック" pitchFamily="34" charset="-128"/>
                        </a:defRPr>
                      </a:lvl1pPr>
                      <a:lvl2pPr marL="742950" indent="-285750">
                        <a:spcBef>
                          <a:spcPct val="20000"/>
                        </a:spcBef>
                        <a:tabLst>
                          <a:tab pos="228600" algn="l"/>
                        </a:tabLst>
                        <a:defRPr sz="2400">
                          <a:solidFill>
                            <a:schemeClr val="tx1"/>
                          </a:solidFill>
                          <a:latin typeface="Times New Roman" pitchFamily="18" charset="0"/>
                          <a:ea typeface="ＭＳ Ｐゴシック" pitchFamily="34" charset="-128"/>
                        </a:defRPr>
                      </a:lvl2pPr>
                      <a:lvl3pPr marL="1143000" indent="-228600">
                        <a:spcBef>
                          <a:spcPct val="20000"/>
                        </a:spcBef>
                        <a:tabLst>
                          <a:tab pos="228600" algn="l"/>
                        </a:tabLst>
                        <a:defRPr sz="2000">
                          <a:solidFill>
                            <a:schemeClr val="tx1"/>
                          </a:solidFill>
                          <a:latin typeface="Times New Roman" pitchFamily="18" charset="0"/>
                          <a:ea typeface="ＭＳ Ｐゴシック" pitchFamily="34" charset="-128"/>
                        </a:defRPr>
                      </a:lvl3pPr>
                      <a:lvl4pPr marL="1600200" indent="-228600">
                        <a:spcBef>
                          <a:spcPct val="20000"/>
                        </a:spcBef>
                        <a:tabLst>
                          <a:tab pos="228600" algn="l"/>
                        </a:tabLst>
                        <a:defRPr>
                          <a:solidFill>
                            <a:schemeClr val="tx1"/>
                          </a:solidFill>
                          <a:latin typeface="Times New Roman" pitchFamily="18" charset="0"/>
                          <a:ea typeface="ＭＳ Ｐゴシック" pitchFamily="34" charset="-128"/>
                        </a:defRPr>
                      </a:lvl4pPr>
                      <a:lvl5pPr marL="2057400" indent="-228600">
                        <a:spcBef>
                          <a:spcPct val="20000"/>
                        </a:spcBef>
                        <a:buSzPct val="65000"/>
                        <a:tabLst>
                          <a:tab pos="228600" algn="l"/>
                        </a:tabLst>
                        <a:defRPr>
                          <a:solidFill>
                            <a:schemeClr val="tx1"/>
                          </a:solidFill>
                          <a:latin typeface="Times New Roman" pitchFamily="18" charset="0"/>
                          <a:ea typeface="ＭＳ Ｐゴシック" pitchFamily="34" charset="-128"/>
                        </a:defRPr>
                      </a:lvl5pPr>
                      <a:lvl6pPr marL="25146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6pPr>
                      <a:lvl7pPr marL="29718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7pPr>
                      <a:lvl8pPr marL="34290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8pPr>
                      <a:lvl9pPr marL="3886200" indent="-228600" eaLnBrk="0" fontAlgn="base" hangingPunct="0">
                        <a:spcBef>
                          <a:spcPct val="20000"/>
                        </a:spcBef>
                        <a:spcAft>
                          <a:spcPct val="0"/>
                        </a:spcAft>
                        <a:buSzPct val="65000"/>
                        <a:tabLst>
                          <a:tab pos="228600" algn="l"/>
                        </a:tabLst>
                        <a:defRPr>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physical / physiological state / capability to do the work.</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inadequate mental / psychological state / capability to do the work.</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Physical or physiological stress.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mental or psychological stress.</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Improper risk taking / improper motivation</a:t>
                      </a:r>
                    </a:p>
                    <a:p>
                      <a:pPr marL="98425" marR="0" lvl="0" indent="-88900" algn="l" defTabSz="914400" rtl="0" eaLnBrk="0" fontAlgn="base" latinLnBrk="0" hangingPunct="0">
                        <a:lnSpc>
                          <a:spcPct val="90000"/>
                        </a:lnSpc>
                        <a:spcBef>
                          <a:spcPct val="0"/>
                        </a:spcBef>
                        <a:spcAft>
                          <a:spcPct val="0"/>
                        </a:spcAft>
                        <a:buClrTx/>
                        <a:buSzTx/>
                        <a:buFont typeface="Symbol" pitchFamily="18" charset="2"/>
                        <a:buChar char=""/>
                        <a:tabLst>
                          <a:tab pos="228600" algn="l"/>
                        </a:tabLst>
                      </a:pPr>
                      <a:r>
                        <a:rPr kumimoji="0" lang="en-US" alt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Lack of knowledge / lack of skill.</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0983012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r>
              <a:rPr kumimoji="0" lang="en-US"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identify basic</a:t>
            </a:r>
            <a:r>
              <a:rPr kumimoji="0" lang="en-US" altLang="en-US" sz="20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causes?</a:t>
            </a:r>
            <a:endParaRPr kumimoji="0" lang="en-US"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Difficult to identify; often not evident until after an incident has been investigated and analyzed.</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Questions to ask to get the Basic Causes:</a:t>
            </a:r>
          </a:p>
          <a:p>
            <a:pPr marL="720000" lvl="0" indent="-360000" eaLnBrk="0" hangingPunct="0">
              <a:lnSpc>
                <a:spcPct val="100000"/>
              </a:lnSpc>
              <a:spcBef>
                <a:spcPts val="0"/>
              </a:spcBef>
              <a:buClrTx/>
              <a:buSzPct val="100000"/>
              <a:buFont typeface="+mj-lt"/>
              <a:buAutoNum type="arabicParenR"/>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that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condition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exist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0" indent="-360000" eaLnBrk="0" hangingPunct="0">
              <a:lnSpc>
                <a:spcPct val="100000"/>
              </a:lnSpc>
              <a:spcBef>
                <a:spcPts val="0"/>
              </a:spcBef>
              <a:buClrTx/>
              <a:buSzPct val="100000"/>
              <a:buFont typeface="+mj-lt"/>
              <a:buAutoNum type="arabicParenR"/>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that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practice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occur?</a:t>
            </a:r>
          </a:p>
          <a:p>
            <a:pPr marL="720000" lvl="0" indent="-360000" eaLnBrk="0" hangingPunct="0">
              <a:lnSpc>
                <a:spcPct val="100000"/>
              </a:lnSpc>
              <a:spcBef>
                <a:spcPts val="0"/>
              </a:spcBef>
              <a:buClrTx/>
              <a:buSzPct val="100000"/>
              <a:buFont typeface="+mj-lt"/>
              <a:buAutoNum type="arabicParenR"/>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Tx/>
              <a:buSzPct val="100000"/>
              <a:buNone/>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 There may be “intermediate causes” or more immediate causes between the “first immediate cause” and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“first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basic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 root.</a:t>
            </a:r>
          </a:p>
          <a:p>
            <a:pPr marL="360000" lvl="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Basic Causes (Engineering / Job / Personal Factors):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86562334"/>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Elbow Connector 74"/>
          <p:cNvCxnSpPr>
            <a:stCxn id="29" idx="2"/>
            <a:endCxn id="61" idx="0"/>
          </p:cNvCxnSpPr>
          <p:nvPr/>
        </p:nvCxnSpPr>
        <p:spPr>
          <a:xfrm rot="5400000">
            <a:off x="7085055" y="2837606"/>
            <a:ext cx="554810" cy="78748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p:cNvCxnSpPr>
            <a:stCxn id="29" idx="2"/>
            <a:endCxn id="57" idx="0"/>
          </p:cNvCxnSpPr>
          <p:nvPr/>
        </p:nvCxnSpPr>
        <p:spPr>
          <a:xfrm rot="16200000" flipH="1">
            <a:off x="7764737" y="2945406"/>
            <a:ext cx="553727" cy="5707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981199" y="304800"/>
            <a:ext cx="6400799"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 on equipment, injuring one worker &amp; damaging equipment</a:t>
            </a:r>
          </a:p>
        </p:txBody>
      </p:sp>
      <p:sp>
        <p:nvSpPr>
          <p:cNvPr id="25" name="TextBox 24"/>
          <p:cNvSpPr txBox="1"/>
          <p:nvPr/>
        </p:nvSpPr>
        <p:spPr>
          <a:xfrm>
            <a:off x="2064781" y="1445329"/>
            <a:ext cx="1497426"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Debris Fell</a:t>
            </a:r>
          </a:p>
        </p:txBody>
      </p:sp>
      <p:sp>
        <p:nvSpPr>
          <p:cNvPr id="26" name="TextBox 25"/>
          <p:cNvSpPr txBox="1"/>
          <p:nvPr/>
        </p:nvSpPr>
        <p:spPr>
          <a:xfrm>
            <a:off x="5041992" y="1433198"/>
            <a:ext cx="2847927"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Equipment &amp; Operator Were In Exclusion Zone</a:t>
            </a:r>
          </a:p>
        </p:txBody>
      </p:sp>
      <p:sp>
        <p:nvSpPr>
          <p:cNvPr id="28" name="TextBox 27"/>
          <p:cNvSpPr txBox="1"/>
          <p:nvPr/>
        </p:nvSpPr>
        <p:spPr>
          <a:xfrm>
            <a:off x="1387799" y="2411244"/>
            <a:ext cx="1295149"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Unstable slope</a:t>
            </a:r>
          </a:p>
        </p:txBody>
      </p:sp>
      <p:sp>
        <p:nvSpPr>
          <p:cNvPr id="29" name="TextBox 28"/>
          <p:cNvSpPr txBox="1"/>
          <p:nvPr/>
        </p:nvSpPr>
        <p:spPr>
          <a:xfrm>
            <a:off x="6582082" y="2646165"/>
            <a:ext cx="2348238"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warning</a:t>
            </a:r>
          </a:p>
        </p:txBody>
      </p:sp>
      <p:sp>
        <p:nvSpPr>
          <p:cNvPr id="30" name="TextBox 29"/>
          <p:cNvSpPr txBox="1"/>
          <p:nvPr/>
        </p:nvSpPr>
        <p:spPr>
          <a:xfrm>
            <a:off x="3722068" y="2662052"/>
            <a:ext cx="277981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Didn’t follow exclusion zone procedures</a:t>
            </a:r>
          </a:p>
        </p:txBody>
      </p:sp>
      <p:sp>
        <p:nvSpPr>
          <p:cNvPr id="35" name="TextBox 34"/>
          <p:cNvSpPr txBox="1"/>
          <p:nvPr/>
        </p:nvSpPr>
        <p:spPr>
          <a:xfrm>
            <a:off x="712123" y="3555393"/>
            <a:ext cx="1223102"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a:t>
            </a: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construction</a:t>
            </a:r>
            <a:endPar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39" name="Right Arrow 38"/>
          <p:cNvSpPr/>
          <p:nvPr/>
        </p:nvSpPr>
        <p:spPr>
          <a:xfrm>
            <a:off x="1303293" y="352915"/>
            <a:ext cx="457200" cy="247710"/>
          </a:xfrm>
          <a:prstGeom prst="rightArrow">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45" name="TextBox 44"/>
          <p:cNvSpPr txBox="1"/>
          <p:nvPr/>
        </p:nvSpPr>
        <p:spPr>
          <a:xfrm>
            <a:off x="98985" y="215160"/>
            <a:ext cx="1188000" cy="52322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Incident </a:t>
            </a:r>
            <a:r>
              <a:rPr lang="en-CA" sz="1400" b="0" dirty="0" smtClean="0">
                <a:solidFill>
                  <a:srgbClr val="FF0000"/>
                </a:solidFill>
                <a:latin typeface="Arial" panose="020B0604020202020204" pitchFamily="34" charset="0"/>
                <a:cs typeface="Arial" panose="020B0604020202020204" pitchFamily="34" charset="0"/>
              </a:rPr>
              <a:t>Description</a:t>
            </a:r>
            <a:endPar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50" name="TextBox 49"/>
          <p:cNvSpPr txBox="1"/>
          <p:nvPr/>
        </p:nvSpPr>
        <p:spPr>
          <a:xfrm>
            <a:off x="97927" y="1154929"/>
            <a:ext cx="1188000" cy="46800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Immediate Causes</a:t>
            </a:r>
          </a:p>
        </p:txBody>
      </p:sp>
      <p:sp>
        <p:nvSpPr>
          <p:cNvPr id="52" name="TextBox 51"/>
          <p:cNvSpPr txBox="1"/>
          <p:nvPr/>
        </p:nvSpPr>
        <p:spPr>
          <a:xfrm>
            <a:off x="133171" y="2961000"/>
            <a:ext cx="1188000" cy="46800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Basic Causes</a:t>
            </a:r>
          </a:p>
        </p:txBody>
      </p:sp>
      <p:sp>
        <p:nvSpPr>
          <p:cNvPr id="57" name="TextBox 56"/>
          <p:cNvSpPr txBox="1"/>
          <p:nvPr/>
        </p:nvSpPr>
        <p:spPr>
          <a:xfrm>
            <a:off x="7636358" y="3507669"/>
            <a:ext cx="1381281" cy="52322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No effective communication</a:t>
            </a:r>
          </a:p>
        </p:txBody>
      </p:sp>
      <p:cxnSp>
        <p:nvCxnSpPr>
          <p:cNvPr id="58" name="Straight Connector 57"/>
          <p:cNvCxnSpPr/>
          <p:nvPr/>
        </p:nvCxnSpPr>
        <p:spPr>
          <a:xfrm>
            <a:off x="6201340" y="4323278"/>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6366395" y="3508752"/>
            <a:ext cx="1204648"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Monitoring data not evaluated</a:t>
            </a:r>
          </a:p>
        </p:txBody>
      </p:sp>
      <p:sp>
        <p:nvSpPr>
          <p:cNvPr id="62" name="TextBox 61"/>
          <p:cNvSpPr txBox="1"/>
          <p:nvPr/>
        </p:nvSpPr>
        <p:spPr>
          <a:xfrm>
            <a:off x="2902375" y="3757136"/>
            <a:ext cx="1669625" cy="738664"/>
          </a:xfrm>
          <a:prstGeom prst="rect">
            <a:avLst/>
          </a:prstGeom>
          <a:solidFill>
            <a:srgbClr val="FFFFFF"/>
          </a:solidFill>
          <a:ln>
            <a:solidFill>
              <a:schemeClr val="tx1"/>
            </a:solidFill>
          </a:ln>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Operator not trained on </a:t>
            </a: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exclusion zone procedures</a:t>
            </a:r>
          </a:p>
        </p:txBody>
      </p:sp>
      <p:sp>
        <p:nvSpPr>
          <p:cNvPr id="64" name="TextBox 63"/>
          <p:cNvSpPr txBox="1"/>
          <p:nvPr/>
        </p:nvSpPr>
        <p:spPr>
          <a:xfrm>
            <a:off x="4633318" y="3815446"/>
            <a:ext cx="1601660" cy="738664"/>
          </a:xfrm>
          <a:prstGeom prst="rect">
            <a:avLst/>
          </a:prstGeom>
          <a:solidFill>
            <a:srgbClr val="FFFFFF"/>
          </a:solidFill>
          <a:ln>
            <a:solidFill>
              <a:schemeClr val="tx1"/>
            </a:solidFill>
          </a:ln>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Supervisor told Op to </a:t>
            </a:r>
            <a:r>
              <a:rPr kumimoji="0" lang="en-US" sz="1400" b="0" i="0" u="none" strike="noStrike" kern="1200" cap="none" spc="0" normalizeH="0" baseline="0" noProof="0" dirty="0" smtClean="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be inside </a:t>
            </a:r>
            <a:r>
              <a:rPr kumimoji="0" lang="en-US"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the exclusion zone</a:t>
            </a:r>
          </a:p>
        </p:txBody>
      </p:sp>
      <p:sp>
        <p:nvSpPr>
          <p:cNvPr id="51" name="TextBox 50">
            <a:extLst>
              <a:ext uri="{FF2B5EF4-FFF2-40B4-BE49-F238E27FC236}">
                <a16:creationId xmlns:a16="http://schemas.microsoft.com/office/drawing/2014/main" id="{C362153A-205B-4322-A65D-C1B7DE95D74A}"/>
              </a:ext>
            </a:extLst>
          </p:cNvPr>
          <p:cNvSpPr txBox="1"/>
          <p:nvPr/>
        </p:nvSpPr>
        <p:spPr>
          <a:xfrm>
            <a:off x="2841058" y="2424808"/>
            <a:ext cx="722900" cy="307777"/>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Rain</a:t>
            </a:r>
          </a:p>
        </p:txBody>
      </p:sp>
      <p:sp>
        <p:nvSpPr>
          <p:cNvPr id="67" name="TextBox 66">
            <a:extLst>
              <a:ext uri="{FF2B5EF4-FFF2-40B4-BE49-F238E27FC236}">
                <a16:creationId xmlns:a16="http://schemas.microsoft.com/office/drawing/2014/main" id="{880627F3-4C48-4BE7-88C6-ED37A2917A84}"/>
              </a:ext>
            </a:extLst>
          </p:cNvPr>
          <p:cNvSpPr txBox="1"/>
          <p:nvPr/>
        </p:nvSpPr>
        <p:spPr>
          <a:xfrm>
            <a:off x="1968091" y="3551772"/>
            <a:ext cx="872966" cy="738664"/>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rPr>
              <a:t>Poor slope design</a:t>
            </a:r>
          </a:p>
        </p:txBody>
      </p:sp>
      <p:sp>
        <p:nvSpPr>
          <p:cNvPr id="70" name="Flowchart: Punched Tape 69">
            <a:extLst>
              <a:ext uri="{FF2B5EF4-FFF2-40B4-BE49-F238E27FC236}">
                <a16:creationId xmlns:a16="http://schemas.microsoft.com/office/drawing/2014/main" id="{A8D8A9BD-33D5-420E-97D4-ED3FE6FA6D7D}"/>
              </a:ext>
            </a:extLst>
          </p:cNvPr>
          <p:cNvSpPr/>
          <p:nvPr/>
        </p:nvSpPr>
        <p:spPr bwMode="auto">
          <a:xfrm>
            <a:off x="7620101" y="3060747"/>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2981DCC2-7565-4BF5-B1BD-5D61B59CFDBC}"/>
              </a:ext>
            </a:extLst>
          </p:cNvPr>
          <p:cNvSpPr txBox="1"/>
          <p:nvPr/>
        </p:nvSpPr>
        <p:spPr>
          <a:xfrm>
            <a:off x="138374" y="1913788"/>
            <a:ext cx="1188000" cy="468000"/>
          </a:xfrm>
          <a:prstGeom prst="rect">
            <a:avLst/>
          </a:prstGeom>
          <a:solidFill>
            <a:srgbClr val="FFFFFF"/>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Intermediate Causes</a:t>
            </a:r>
          </a:p>
        </p:txBody>
      </p:sp>
      <p:cxnSp>
        <p:nvCxnSpPr>
          <p:cNvPr id="5" name="Elbow Connector 4"/>
          <p:cNvCxnSpPr>
            <a:stCxn id="25" idx="2"/>
            <a:endCxn id="51" idx="0"/>
          </p:cNvCxnSpPr>
          <p:nvPr/>
        </p:nvCxnSpPr>
        <p:spPr>
          <a:xfrm rot="16200000" flipH="1">
            <a:off x="2672150" y="1894450"/>
            <a:ext cx="671702" cy="389014"/>
          </a:xfrm>
          <a:prstGeom prst="bentConnector3">
            <a:avLst>
              <a:gd name="adj1" fmla="val 809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25" idx="2"/>
            <a:endCxn id="28" idx="0"/>
          </p:cNvCxnSpPr>
          <p:nvPr/>
        </p:nvCxnSpPr>
        <p:spPr>
          <a:xfrm rot="5400000">
            <a:off x="2095365" y="1693115"/>
            <a:ext cx="658138" cy="778120"/>
          </a:xfrm>
          <a:prstGeom prst="bentConnector3">
            <a:avLst>
              <a:gd name="adj1" fmla="val 815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Delay 65">
            <a:extLst>
              <a:ext uri="{FF2B5EF4-FFF2-40B4-BE49-F238E27FC236}">
                <a16:creationId xmlns:a16="http://schemas.microsoft.com/office/drawing/2014/main" id="{48F56B4C-4C1D-4914-95FC-4759B4B992D0}"/>
              </a:ext>
            </a:extLst>
          </p:cNvPr>
          <p:cNvSpPr/>
          <p:nvPr/>
        </p:nvSpPr>
        <p:spPr>
          <a:xfrm rot="16200000">
            <a:off x="2679029" y="1911417"/>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18" name="Elbow Connector 17"/>
          <p:cNvCxnSpPr>
            <a:stCxn id="4" idx="2"/>
            <a:endCxn id="25" idx="0"/>
          </p:cNvCxnSpPr>
          <p:nvPr/>
        </p:nvCxnSpPr>
        <p:spPr>
          <a:xfrm rot="5400000">
            <a:off x="3581171" y="-155099"/>
            <a:ext cx="832752" cy="2368105"/>
          </a:xfrm>
          <a:prstGeom prst="bentConnector3">
            <a:avLst>
              <a:gd name="adj1" fmla="val 633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4" idx="2"/>
            <a:endCxn id="26" idx="0"/>
          </p:cNvCxnSpPr>
          <p:nvPr/>
        </p:nvCxnSpPr>
        <p:spPr>
          <a:xfrm rot="16200000" flipH="1">
            <a:off x="5413467" y="380708"/>
            <a:ext cx="820621" cy="1284357"/>
          </a:xfrm>
          <a:prstGeom prst="bentConnector3">
            <a:avLst>
              <a:gd name="adj1" fmla="val 635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lowchart: Delay 7"/>
          <p:cNvSpPr/>
          <p:nvPr/>
        </p:nvSpPr>
        <p:spPr>
          <a:xfrm rot="16200000">
            <a:off x="5047282" y="763888"/>
            <a:ext cx="268638" cy="240630"/>
          </a:xfrm>
          <a:prstGeom prst="flowChartDelay">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55" name="Elbow Connector 54"/>
          <p:cNvCxnSpPr>
            <a:stCxn id="26" idx="2"/>
            <a:endCxn id="29" idx="0"/>
          </p:cNvCxnSpPr>
          <p:nvPr/>
        </p:nvCxnSpPr>
        <p:spPr>
          <a:xfrm rot="16200000" flipH="1">
            <a:off x="6766205" y="1656168"/>
            <a:ext cx="689747" cy="1290245"/>
          </a:xfrm>
          <a:prstGeom prst="bentConnector3">
            <a:avLst>
              <a:gd name="adj1" fmla="val 720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6" idx="2"/>
            <a:endCxn id="30" idx="0"/>
          </p:cNvCxnSpPr>
          <p:nvPr/>
        </p:nvCxnSpPr>
        <p:spPr>
          <a:xfrm rot="5400000">
            <a:off x="5436148" y="1632244"/>
            <a:ext cx="705634" cy="1353982"/>
          </a:xfrm>
          <a:prstGeom prst="bentConnector3">
            <a:avLst>
              <a:gd name="adj1" fmla="val 715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lowchart: Punched Tape 1">
            <a:extLst>
              <a:ext uri="{FF2B5EF4-FFF2-40B4-BE49-F238E27FC236}">
                <a16:creationId xmlns:a16="http://schemas.microsoft.com/office/drawing/2014/main" id="{CDBB2755-2E57-4292-ACF3-8ABB475BBFAE}"/>
              </a:ext>
            </a:extLst>
          </p:cNvPr>
          <p:cNvSpPr/>
          <p:nvPr/>
        </p:nvSpPr>
        <p:spPr bwMode="auto">
          <a:xfrm flipH="1">
            <a:off x="6316623" y="2099508"/>
            <a:ext cx="336011" cy="271586"/>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65" name="Elbow Connector 64"/>
          <p:cNvCxnSpPr>
            <a:stCxn id="28" idx="2"/>
            <a:endCxn id="67" idx="0"/>
          </p:cNvCxnSpPr>
          <p:nvPr/>
        </p:nvCxnSpPr>
        <p:spPr>
          <a:xfrm rot="16200000" flipH="1">
            <a:off x="1911320" y="3058518"/>
            <a:ext cx="617308" cy="3692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28" idx="2"/>
            <a:endCxn id="35" idx="0"/>
          </p:cNvCxnSpPr>
          <p:nvPr/>
        </p:nvCxnSpPr>
        <p:spPr>
          <a:xfrm rot="5400000">
            <a:off x="1369060" y="2889078"/>
            <a:ext cx="620929" cy="71170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unched Tape 67">
            <a:extLst>
              <a:ext uri="{FF2B5EF4-FFF2-40B4-BE49-F238E27FC236}">
                <a16:creationId xmlns:a16="http://schemas.microsoft.com/office/drawing/2014/main" id="{878F44D0-47E5-4B2E-9EF9-5E912B38548B}"/>
              </a:ext>
            </a:extLst>
          </p:cNvPr>
          <p:cNvSpPr/>
          <p:nvPr/>
        </p:nvSpPr>
        <p:spPr bwMode="auto">
          <a:xfrm>
            <a:off x="1897543" y="3052998"/>
            <a:ext cx="266437" cy="228600"/>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cxnSp>
        <p:nvCxnSpPr>
          <p:cNvPr id="72" name="Elbow Connector 71"/>
          <p:cNvCxnSpPr>
            <a:stCxn id="30" idx="2"/>
            <a:endCxn id="64" idx="0"/>
          </p:cNvCxnSpPr>
          <p:nvPr/>
        </p:nvCxnSpPr>
        <p:spPr>
          <a:xfrm rot="16200000" flipH="1">
            <a:off x="4957974" y="3339272"/>
            <a:ext cx="630174" cy="32217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0" idx="2"/>
            <a:endCxn id="62" idx="0"/>
          </p:cNvCxnSpPr>
          <p:nvPr/>
        </p:nvCxnSpPr>
        <p:spPr>
          <a:xfrm rot="5400000">
            <a:off x="4138649" y="2783811"/>
            <a:ext cx="571864" cy="137478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unched Tape 68">
            <a:extLst>
              <a:ext uri="{FF2B5EF4-FFF2-40B4-BE49-F238E27FC236}">
                <a16:creationId xmlns:a16="http://schemas.microsoft.com/office/drawing/2014/main" id="{0CBF65F1-61F1-43C7-A26B-B97AA653A457}"/>
              </a:ext>
            </a:extLst>
          </p:cNvPr>
          <p:cNvSpPr/>
          <p:nvPr/>
        </p:nvSpPr>
        <p:spPr bwMode="auto">
          <a:xfrm>
            <a:off x="4885340" y="3292226"/>
            <a:ext cx="423956" cy="300712"/>
          </a:xfrm>
          <a:prstGeom prst="flowChartPunchedTape">
            <a:avLst/>
          </a:prstGeom>
          <a:solidFill>
            <a:srgbClr val="FFFF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panose="020B0604020202020204" pitchFamily="34" charset="0"/>
            </a:endParaRPr>
          </a:p>
        </p:txBody>
      </p:sp>
      <p:sp>
        <p:nvSpPr>
          <p:cNvPr id="76" name="TextBox 75">
            <a:extLst>
              <a:ext uri="{FF2B5EF4-FFF2-40B4-BE49-F238E27FC236}">
                <a16:creationId xmlns:a16="http://schemas.microsoft.com/office/drawing/2014/main" id="{FBED4873-AA48-4F0A-ADAA-65FC9815F027}"/>
              </a:ext>
            </a:extLst>
          </p:cNvPr>
          <p:cNvSpPr txBox="1"/>
          <p:nvPr/>
        </p:nvSpPr>
        <p:spPr>
          <a:xfrm>
            <a:off x="489907" y="4744665"/>
            <a:ext cx="8273093" cy="707886"/>
          </a:xfrm>
          <a:prstGeom prst="rect">
            <a:avLst/>
          </a:prstGeom>
          <a:solidFill>
            <a:schemeClr val="tx1"/>
          </a:solid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How could our </a:t>
            </a:r>
            <a:r>
              <a:rPr kumimoji="0" lang="en-CA" sz="2000" b="1"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basic causes</a:t>
            </a: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be categorized?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Job factors, </a:t>
            </a:r>
            <a:r>
              <a:rPr kumimoji="0" lang="en-CA" sz="2000" b="0"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Personal Factors</a:t>
            </a: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sz="2000" b="0"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Engineering </a:t>
            </a:r>
            <a:r>
              <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&amp; </a:t>
            </a:r>
            <a:r>
              <a:rPr kumimoji="0" lang="en-CA" sz="2000" b="0" i="0" u="none" strike="noStrike" kern="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Design Factors?</a:t>
            </a:r>
            <a:endParaRPr kumimoji="0" lang="en-CA" sz="20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7" name="Rounded Rectangle 76"/>
          <p:cNvSpPr/>
          <p:nvPr/>
        </p:nvSpPr>
        <p:spPr>
          <a:xfrm>
            <a:off x="1981199" y="3472153"/>
            <a:ext cx="4335424" cy="1201979"/>
          </a:xfrm>
          <a:prstGeom prst="roundRect">
            <a:avLst/>
          </a:prstGeom>
          <a:noFill/>
          <a:ln w="571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4.2: C&amp;E Model &amp; Chapter 4.3: RCA of an Incident</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29037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#4: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Basic Causes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a:spcBef>
                <a:spcPts val="0"/>
              </a:spcBef>
              <a:spcAft>
                <a:spcPts val="0"/>
              </a:spcAft>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response on MM not intended): </a:t>
            </a:r>
          </a:p>
          <a:p>
            <a:pPr marL="360000" lvl="0" indent="-360000" eaLnBrk="0" hangingPunct="0">
              <a:spcBef>
                <a:spcPts val="0"/>
              </a:spcBef>
              <a:buSzPct val="100000"/>
              <a:buFont typeface="Wingdings" panose="05000000000000000000" pitchFamily="2" charset="2"/>
              <a:buChar char="Ø"/>
              <a:defRPr/>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are the basic cause categories for the following?</a:t>
            </a:r>
          </a:p>
          <a:p>
            <a:pPr marL="457200" lvl="0" indent="-457200" eaLnBrk="0" hangingPunct="0">
              <a:spcBef>
                <a:spcPts val="0"/>
              </a:spcBef>
              <a:buSzPct val="100000"/>
              <a:buFont typeface="+mj-lt"/>
              <a:buAutoNum type="alphaLcParenR"/>
              <a:defRPr/>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Poor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 design</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trained 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exclusion zone procedures</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Supervisor told Operator to be in exclusion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zone</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11" name="Group 86"/>
          <p:cNvGraphicFramePr>
            <a:graphicFrameLocks noGrp="1"/>
          </p:cNvGraphicFramePr>
          <p:nvPr>
            <p:extLst>
              <p:ext uri="{D42A27DB-BD31-4B8C-83A1-F6EECF244321}">
                <p14:modId xmlns:p14="http://schemas.microsoft.com/office/powerpoint/2010/main" val="3024953904"/>
              </p:ext>
            </p:extLst>
          </p:nvPr>
        </p:nvGraphicFramePr>
        <p:xfrm>
          <a:off x="432001" y="2957280"/>
          <a:ext cx="8279999" cy="3059734"/>
        </p:xfrm>
        <a:graphic>
          <a:graphicData uri="http://schemas.openxmlformats.org/drawingml/2006/table">
            <a:tbl>
              <a:tblPr/>
              <a:tblGrid>
                <a:gridCol w="3283595">
                  <a:extLst>
                    <a:ext uri="{9D8B030D-6E8A-4147-A177-3AD203B41FA5}">
                      <a16:colId xmlns:a16="http://schemas.microsoft.com/office/drawing/2014/main" val="20000"/>
                    </a:ext>
                  </a:extLst>
                </a:gridCol>
                <a:gridCol w="2152987">
                  <a:extLst>
                    <a:ext uri="{9D8B030D-6E8A-4147-A177-3AD203B41FA5}">
                      <a16:colId xmlns:a16="http://schemas.microsoft.com/office/drawing/2014/main" val="20001"/>
                    </a:ext>
                  </a:extLst>
                </a:gridCol>
                <a:gridCol w="2843417">
                  <a:extLst>
                    <a:ext uri="{9D8B030D-6E8A-4147-A177-3AD203B41FA5}">
                      <a16:colId xmlns:a16="http://schemas.microsoft.com/office/drawing/2014/main" val="20002"/>
                    </a:ext>
                  </a:extLst>
                </a:gridCol>
              </a:tblGrid>
              <a:tr h="669317">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t>Engineering &amp; Design Factors: </a:t>
                      </a:r>
                      <a:b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br>
                      <a:r>
                        <a:rPr kumimoji="0" lang="en-US" altLang="en-US" sz="1200" b="0" i="1" u="none" strike="noStrike" cap="none" normalizeH="0" baseline="0" dirty="0">
                          <a:ln>
                            <a:noFill/>
                          </a:ln>
                          <a:solidFill>
                            <a:schemeClr val="tx1"/>
                          </a:solidFill>
                          <a:effectLst/>
                          <a:latin typeface="Arial" pitchFamily="34" charset="0"/>
                          <a:ea typeface="Times New Roman" pitchFamily="18" charset="0"/>
                          <a:cs typeface="Arial" pitchFamily="34" charset="0"/>
                        </a:rPr>
                        <a:t>(can apply to structures, equipment, tools, i.e. any engineered system)</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Job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Personal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390417">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technical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ergonomic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loss exposures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standards, specifications and/or design criteria</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construction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operational readiness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initial operation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evaluation and/or documentation of change</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inherently safe design</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maintenance </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job procedures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Error-inducing conditions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Organizational factors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Incompatible goals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training</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communication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physical / physiological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inadequate mental / psychological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Physical or physiological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mental or psychological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Improper risk taking / improper motivation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Lack of knowledge / lack of skill.</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12"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55439709"/>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lvl="0">
              <a:spcBef>
                <a:spcPts val="0"/>
              </a:spcBef>
              <a:spcAft>
                <a:spcPts val="0"/>
              </a:spcAft>
              <a:defRPr/>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Basic Causes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Categories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a:spcBef>
                <a:spcPts val="0"/>
              </a:spcBef>
              <a:spcAft>
                <a:spcPts val="0"/>
              </a:spcAft>
              <a:defRPr/>
            </a:pPr>
            <a:endPar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endParaRPr>
          </a:p>
          <a:p>
            <a:pPr lvl="0">
              <a:spcBef>
                <a:spcPts val="0"/>
              </a:spcBef>
              <a:spcAft>
                <a:spcPts val="0"/>
              </a:spcAft>
              <a:defRPr/>
            </a:pPr>
            <a:r>
              <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rPr>
              <a:t>The </a:t>
            </a:r>
            <a:r>
              <a:rPr lang="en-US" sz="2000" b="0" i="1" dirty="0">
                <a:solidFill>
                  <a:srgbClr val="F8F8F8"/>
                </a:solidFill>
                <a:latin typeface="Arial" panose="020B0604020202020204" pitchFamily="34" charset="0"/>
                <a:ea typeface="Times New Roman" panose="02020603050405020304" pitchFamily="18" charset="0"/>
                <a:cs typeface="Arial" panose="020B0604020202020204" pitchFamily="34" charset="0"/>
              </a:rPr>
              <a:t>basic cause categories for the </a:t>
            </a:r>
            <a:r>
              <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rPr>
              <a:t>following:</a:t>
            </a:r>
            <a:endParaRPr lang="en-US" sz="2000" b="0" i="1" dirty="0">
              <a:solidFill>
                <a:srgbClr val="F8F8F8"/>
              </a:solidFill>
              <a:latin typeface="Arial" panose="020B0604020202020204" pitchFamily="34" charset="0"/>
              <a:ea typeface="Times New Roman" panose="02020603050405020304" pitchFamily="18" charset="0"/>
              <a:cs typeface="Arial" panose="020B0604020202020204" pitchFamily="34" charset="0"/>
            </a:endParaRPr>
          </a:p>
          <a:p>
            <a:pPr marL="457200" lvl="0" indent="-457200" eaLnBrk="0" hangingPunct="0">
              <a:spcBef>
                <a:spcPts val="0"/>
              </a:spcBef>
              <a:buSzPct val="100000"/>
              <a:buFont typeface="+mj-lt"/>
              <a:buAutoNum type="alphaLcParenR"/>
              <a:defRPr/>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Poor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slope design</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Operator not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trained on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exclusion zone procedures</a:t>
            </a:r>
          </a:p>
          <a:p>
            <a:pPr marL="457200" lvl="0" indent="-457200" eaLnBrk="0" hangingPunct="0">
              <a:spcBef>
                <a:spcPts val="0"/>
              </a:spcBef>
              <a:buSzPct val="100000"/>
              <a:buFont typeface="+mj-lt"/>
              <a:buAutoNum type="alphaLcParenR"/>
              <a:defRPr/>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Supervisor told Operator to be in exclusion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zone</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11" name="Group 86"/>
          <p:cNvGraphicFramePr>
            <a:graphicFrameLocks noGrp="1"/>
          </p:cNvGraphicFramePr>
          <p:nvPr>
            <p:extLst>
              <p:ext uri="{D42A27DB-BD31-4B8C-83A1-F6EECF244321}">
                <p14:modId xmlns:p14="http://schemas.microsoft.com/office/powerpoint/2010/main" val="3024953904"/>
              </p:ext>
            </p:extLst>
          </p:nvPr>
        </p:nvGraphicFramePr>
        <p:xfrm>
          <a:off x="432001" y="2957280"/>
          <a:ext cx="8279999" cy="3059734"/>
        </p:xfrm>
        <a:graphic>
          <a:graphicData uri="http://schemas.openxmlformats.org/drawingml/2006/table">
            <a:tbl>
              <a:tblPr/>
              <a:tblGrid>
                <a:gridCol w="3283595">
                  <a:extLst>
                    <a:ext uri="{9D8B030D-6E8A-4147-A177-3AD203B41FA5}">
                      <a16:colId xmlns:a16="http://schemas.microsoft.com/office/drawing/2014/main" val="20000"/>
                    </a:ext>
                  </a:extLst>
                </a:gridCol>
                <a:gridCol w="2152987">
                  <a:extLst>
                    <a:ext uri="{9D8B030D-6E8A-4147-A177-3AD203B41FA5}">
                      <a16:colId xmlns:a16="http://schemas.microsoft.com/office/drawing/2014/main" val="20001"/>
                    </a:ext>
                  </a:extLst>
                </a:gridCol>
                <a:gridCol w="2843417">
                  <a:extLst>
                    <a:ext uri="{9D8B030D-6E8A-4147-A177-3AD203B41FA5}">
                      <a16:colId xmlns:a16="http://schemas.microsoft.com/office/drawing/2014/main" val="20002"/>
                    </a:ext>
                  </a:extLst>
                </a:gridCol>
              </a:tblGrid>
              <a:tr h="669317">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t>Engineering &amp; Design Factors: </a:t>
                      </a:r>
                      <a:br>
                        <a:rPr kumimoji="0" lang="en-US" altLang="en-US" sz="1200" b="1" i="0" u="none" strike="noStrike" cap="none" normalizeH="0" baseline="0" dirty="0">
                          <a:ln>
                            <a:noFill/>
                          </a:ln>
                          <a:solidFill>
                            <a:schemeClr val="tx1"/>
                          </a:solidFill>
                          <a:effectLst/>
                          <a:latin typeface="Arial" pitchFamily="34" charset="0"/>
                          <a:ea typeface="Times New Roman" pitchFamily="18" charset="0"/>
                          <a:cs typeface="Arial" pitchFamily="34" charset="0"/>
                        </a:rPr>
                      </a:br>
                      <a:r>
                        <a:rPr kumimoji="0" lang="en-US" altLang="en-US" sz="1200" b="0" i="1" u="none" strike="noStrike" cap="none" normalizeH="0" baseline="0" dirty="0">
                          <a:ln>
                            <a:noFill/>
                          </a:ln>
                          <a:solidFill>
                            <a:schemeClr val="tx1"/>
                          </a:solidFill>
                          <a:effectLst/>
                          <a:latin typeface="Arial" pitchFamily="34" charset="0"/>
                          <a:ea typeface="Times New Roman" pitchFamily="18" charset="0"/>
                          <a:cs typeface="Arial" pitchFamily="34" charset="0"/>
                        </a:rPr>
                        <a:t>(can apply to structures, equipment, tools, i.e. any engineered system)</a:t>
                      </a:r>
                      <a:endParaRPr kumimoji="0" lang="en-US" altLang="en-US" sz="1200" b="0" i="0" u="none" strike="noStrike" cap="none" normalizeH="0" baseline="0" dirty="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Job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457200" algn="r"/>
                          <a:tab pos="2743200" algn="ctr"/>
                          <a:tab pos="5486400" algn="r"/>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457200" algn="r"/>
                          <a:tab pos="2743200" algn="ctr"/>
                          <a:tab pos="5486400" algn="r"/>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457200" algn="r"/>
                          <a:tab pos="2743200" algn="ctr"/>
                          <a:tab pos="5486400" algn="r"/>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457200" algn="r"/>
                          <a:tab pos="2743200" algn="ctr"/>
                          <a:tab pos="5486400" algn="r"/>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457200" algn="r"/>
                          <a:tab pos="2743200" algn="ctr"/>
                          <a:tab pos="5486400" algn="r"/>
                        </a:tabLst>
                        <a:defRPr sz="1800" kern="1200">
                          <a:solidFill>
                            <a:schemeClr val="tx1"/>
                          </a:solidFill>
                          <a:latin typeface="Times New Roman" pitchFamily="18" charset="0"/>
                          <a:ea typeface="ＭＳ Ｐゴシック"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US" altLang="en-US" sz="1200" b="1" i="0" u="none" strike="noStrike" cap="none" normalizeH="0" baseline="0">
                          <a:ln>
                            <a:noFill/>
                          </a:ln>
                          <a:solidFill>
                            <a:schemeClr val="tx1"/>
                          </a:solidFill>
                          <a:effectLst/>
                          <a:latin typeface="Arial" pitchFamily="34" charset="0"/>
                          <a:ea typeface="Times New Roman" pitchFamily="18" charset="0"/>
                          <a:cs typeface="Arial" pitchFamily="34" charset="0"/>
                        </a:rPr>
                        <a:t>Personal Factors:</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itchFamily="18"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390417">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technical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ergonomic design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loss exposures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standards, specifications and/or design criteria</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construction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assessment of operational readiness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monitoring of initial operation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evaluation and/or documentation of change</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inherently safe design</a:t>
                      </a: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maintenance </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job procedures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Error-inducing conditions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Organizational factors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Incompatible goals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training</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communication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itchFamily="2" charset="2"/>
                        <a:tabLst>
                          <a:tab pos="228600" algn="l"/>
                        </a:tabLst>
                        <a:defRPr sz="2800" kern="1200">
                          <a:solidFill>
                            <a:schemeClr val="tx1"/>
                          </a:solidFill>
                          <a:latin typeface="Times New Roman" pitchFamily="18" charset="0"/>
                          <a:ea typeface="ＭＳ Ｐゴシック" pitchFamily="34" charset="-128"/>
                        </a:defRPr>
                      </a:lvl1pPr>
                      <a:lvl2pPr marL="742950" indent="-285750" algn="l" defTabSz="914400" rtl="0" eaLnBrk="1" latinLnBrk="0" hangingPunct="1">
                        <a:spcBef>
                          <a:spcPct val="20000"/>
                        </a:spcBef>
                        <a:tabLst>
                          <a:tab pos="228600" algn="l"/>
                        </a:tabLst>
                        <a:defRPr sz="2400" kern="1200">
                          <a:solidFill>
                            <a:schemeClr val="tx1"/>
                          </a:solidFill>
                          <a:latin typeface="Times New Roman" pitchFamily="18" charset="0"/>
                          <a:ea typeface="ＭＳ Ｐゴシック" pitchFamily="34" charset="-128"/>
                        </a:defRPr>
                      </a:lvl2pPr>
                      <a:lvl3pPr marL="1143000" indent="-228600" algn="l" defTabSz="914400" rtl="0" eaLnBrk="1" latinLnBrk="0" hangingPunct="1">
                        <a:spcBef>
                          <a:spcPct val="20000"/>
                        </a:spcBef>
                        <a:tabLst>
                          <a:tab pos="228600" algn="l"/>
                        </a:tabLst>
                        <a:defRPr sz="2000" kern="1200">
                          <a:solidFill>
                            <a:schemeClr val="tx1"/>
                          </a:solidFill>
                          <a:latin typeface="Times New Roman" pitchFamily="18" charset="0"/>
                          <a:ea typeface="ＭＳ Ｐゴシック" pitchFamily="34" charset="-128"/>
                        </a:defRPr>
                      </a:lvl3pPr>
                      <a:lvl4pPr marL="1600200" indent="-228600" algn="l" defTabSz="914400" rtl="0" eaLnBrk="1" latinLnBrk="0" hangingPunct="1">
                        <a:spcBef>
                          <a:spcPct val="20000"/>
                        </a:spcBef>
                        <a:tabLst>
                          <a:tab pos="228600" algn="l"/>
                        </a:tabLst>
                        <a:defRPr sz="1800" kern="1200">
                          <a:solidFill>
                            <a:schemeClr val="tx1"/>
                          </a:solidFill>
                          <a:latin typeface="Times New Roman" pitchFamily="18" charset="0"/>
                          <a:ea typeface="ＭＳ Ｐゴシック" pitchFamily="34" charset="-128"/>
                        </a:defRPr>
                      </a:lvl4pPr>
                      <a:lvl5pPr marL="2057400" indent="-228600" algn="l" defTabSz="914400" rtl="0" eaLnBrk="1" latinLnBrk="0" hangingPunct="1">
                        <a:spcBef>
                          <a:spcPct val="20000"/>
                        </a:spcBef>
                        <a:buSzPct val="65000"/>
                        <a:tabLst>
                          <a:tab pos="228600" algn="l"/>
                        </a:tabLst>
                        <a:defRPr sz="1800" kern="1200">
                          <a:solidFill>
                            <a:schemeClr val="tx1"/>
                          </a:solidFill>
                          <a:latin typeface="Times New Roman" pitchFamily="18" charset="0"/>
                          <a:ea typeface="ＭＳ Ｐゴシック" pitchFamily="34" charset="-128"/>
                        </a:defRPr>
                      </a:lvl5pPr>
                      <a:lvl6pPr marL="25146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6pPr>
                      <a:lvl7pPr marL="29718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7pPr>
                      <a:lvl8pPr marL="34290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8pPr>
                      <a:lvl9pPr marL="3886200" indent="-228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itchFamily="18" charset="0"/>
                          <a:ea typeface="ＭＳ Ｐゴシック" pitchFamily="34" charset="-128"/>
                        </a:defRPr>
                      </a:lvl9pPr>
                    </a:lstStyle>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Inadequate physical / physiological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inadequate mental / psychological state / capability to do the work.</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Physical or physiological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Perceived mental or psychological stress.</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Improper risk taking / improper motivation</a:t>
                      </a:r>
                    </a:p>
                    <a:p>
                      <a:pPr marL="98425" marR="0" lvl="0" indent="-8890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US" altLang="en-US" sz="1200" b="0" i="0" u="none" strike="noStrike" cap="none" normalizeH="0" baseline="0" dirty="0">
                          <a:ln>
                            <a:noFill/>
                          </a:ln>
                          <a:solidFill>
                            <a:schemeClr val="tx1"/>
                          </a:solidFill>
                          <a:effectLst/>
                          <a:latin typeface="Arial" pitchFamily="34" charset="0"/>
                          <a:ea typeface="Times New Roman" pitchFamily="18" charset="0"/>
                          <a:cs typeface="Arial" pitchFamily="34" charset="0"/>
                        </a:rPr>
                        <a:t>Lack of knowledge / lack of skill.</a:t>
                      </a: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10" name="Rectangle 9"/>
          <p:cNvSpPr/>
          <p:nvPr/>
        </p:nvSpPr>
        <p:spPr>
          <a:xfrm>
            <a:off x="454026" y="3665786"/>
            <a:ext cx="2817387" cy="338554"/>
          </a:xfrm>
          <a:prstGeom prst="rect">
            <a:avLst/>
          </a:prstGeom>
          <a:solidFill>
            <a:sysClr val="window" lastClr="FFFFFF"/>
          </a:solidFill>
          <a:ln w="57150" cap="flat" cmpd="sng" algn="ctr">
            <a:solidFill>
              <a:srgbClr val="FF0000"/>
            </a:solidFill>
            <a:prstDash val="solid"/>
            <a:miter lim="800000"/>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0000"/>
                </a:solidFill>
                <a:effectLst/>
                <a:uLnTx/>
                <a:uFillTx/>
                <a:latin typeface="Calibri" panose="020F0502020204030204"/>
                <a:ea typeface="+mn-ea"/>
                <a:cs typeface="+mn-cs"/>
              </a:rPr>
              <a:t>a) Inadequate technical design</a:t>
            </a:r>
          </a:p>
        </p:txBody>
      </p:sp>
      <p:sp>
        <p:nvSpPr>
          <p:cNvPr id="12" name="Rectangle 11"/>
          <p:cNvSpPr/>
          <p:nvPr/>
        </p:nvSpPr>
        <p:spPr>
          <a:xfrm>
            <a:off x="3624945" y="4489932"/>
            <a:ext cx="2253341" cy="338554"/>
          </a:xfrm>
          <a:prstGeom prst="rect">
            <a:avLst/>
          </a:prstGeom>
          <a:solidFill>
            <a:sysClr val="window" lastClr="FFFFFF"/>
          </a:solidFill>
          <a:ln w="57150" cap="flat" cmpd="sng" algn="ctr">
            <a:solidFill>
              <a:srgbClr val="FF0000"/>
            </a:solidFill>
            <a:prstDash val="solid"/>
            <a:miter lim="800000"/>
          </a:ln>
          <a:effectLst/>
        </p:spPr>
        <p:txBody>
          <a:bodyPr rtlCol="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FF0000"/>
                </a:solidFill>
                <a:effectLst/>
                <a:uLnTx/>
                <a:uFillTx/>
                <a:latin typeface="Calibri" panose="020F0502020204030204"/>
                <a:ea typeface="+mn-ea"/>
                <a:cs typeface="+mn-cs"/>
              </a:rPr>
              <a:t>b) Inadequate training</a:t>
            </a:r>
            <a:endParaRPr kumimoji="0" lang="en-US" sz="1600" b="0" i="0" u="none" strike="noStrike" kern="0" cap="none" spc="0" normalizeH="0" baseline="0" noProof="0" dirty="0">
              <a:ln>
                <a:noFill/>
              </a:ln>
              <a:solidFill>
                <a:srgbClr val="FF0000"/>
              </a:solidFill>
              <a:effectLst/>
              <a:uLnTx/>
              <a:uFillTx/>
              <a:latin typeface="Calibri" panose="020F0502020204030204"/>
              <a:ea typeface="+mn-ea"/>
              <a:cs typeface="+mn-cs"/>
            </a:endParaRPr>
          </a:p>
        </p:txBody>
      </p:sp>
      <p:sp>
        <p:nvSpPr>
          <p:cNvPr id="13" name="Rectangle 12"/>
          <p:cNvSpPr/>
          <p:nvPr/>
        </p:nvSpPr>
        <p:spPr>
          <a:xfrm>
            <a:off x="5952969" y="5008984"/>
            <a:ext cx="2253341" cy="584775"/>
          </a:xfrm>
          <a:prstGeom prst="rect">
            <a:avLst/>
          </a:prstGeom>
          <a:solidFill>
            <a:sysClr val="window" lastClr="FFFFFF"/>
          </a:solidFill>
          <a:ln w="57150" cap="flat" cmpd="sng" algn="ctr">
            <a:solidFill>
              <a:srgbClr val="FF0000"/>
            </a:solidFill>
            <a:prstDash val="solid"/>
            <a:miter lim="800000"/>
          </a:ln>
          <a:effectLst/>
        </p:spPr>
        <p:txBody>
          <a:bodyPr rtlCol="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FF0000"/>
                </a:solidFill>
                <a:effectLst/>
                <a:uLnTx/>
                <a:uFillTx/>
                <a:latin typeface="Calibri" panose="020F0502020204030204"/>
                <a:ea typeface="+mn-ea"/>
                <a:cs typeface="+mn-cs"/>
              </a:rPr>
              <a:t>c) Improper motivation / improper risk taking</a:t>
            </a:r>
            <a:endParaRPr kumimoji="0" lang="en-US" sz="1600" b="0" i="0" u="none" strike="noStrike" kern="0" cap="none" spc="0" normalizeH="0" baseline="0" noProof="0" dirty="0">
              <a:ln>
                <a:noFill/>
              </a:ln>
              <a:solidFill>
                <a:srgbClr val="FF0000"/>
              </a:solidFill>
              <a:effectLst/>
              <a:uLnTx/>
              <a:uFillTx/>
              <a:latin typeface="Calibri" panose="020F0502020204030204"/>
              <a:ea typeface="+mn-ea"/>
              <a:cs typeface="+mn-cs"/>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96241117"/>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TextBox 5">
            <a:extLst>
              <a:ext uri="{FF2B5EF4-FFF2-40B4-BE49-F238E27FC236}">
                <a16:creationId xmlns:a16="http://schemas.microsoft.com/office/drawing/2014/main" id="{22FD59BD-EB3B-4D7F-A7A9-0AE2BDFDE4BF}"/>
              </a:ext>
            </a:extLst>
          </p:cNvPr>
          <p:cNvSpPr txBox="1"/>
          <p:nvPr/>
        </p:nvSpPr>
        <p:spPr>
          <a:xfrm>
            <a:off x="360000" y="1206645"/>
            <a:ext cx="3600000" cy="540000"/>
          </a:xfrm>
          <a:prstGeom prst="rect">
            <a:avLst/>
          </a:prstGeom>
          <a:solidFill>
            <a:srgbClr val="00B0F0"/>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Debris fell on equipment, injuring one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Worker </a:t>
            </a: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&amp;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damaged equipment</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7" name="TextBox 6">
            <a:extLst>
              <a:ext uri="{FF2B5EF4-FFF2-40B4-BE49-F238E27FC236}">
                <a16:creationId xmlns:a16="http://schemas.microsoft.com/office/drawing/2014/main" id="{0945C928-CC38-454E-8795-A8C1DBEC105D}"/>
              </a:ext>
            </a:extLst>
          </p:cNvPr>
          <p:cNvSpPr txBox="1"/>
          <p:nvPr/>
        </p:nvSpPr>
        <p:spPr>
          <a:xfrm>
            <a:off x="360000" y="1911810"/>
            <a:ext cx="3600000" cy="540000"/>
          </a:xfrm>
          <a:prstGeom prst="rect">
            <a:avLst/>
          </a:prstGeom>
          <a:solidFill>
            <a:srgbClr val="FFFF00"/>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Equipment &amp;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Worker </a:t>
            </a: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Were In Exclusion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Zone IC-SC</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10" name="TextBox 9">
            <a:extLst>
              <a:ext uri="{FF2B5EF4-FFF2-40B4-BE49-F238E27FC236}">
                <a16:creationId xmlns:a16="http://schemas.microsoft.com/office/drawing/2014/main" id="{0228A437-C1E3-474E-A526-F56414306009}"/>
              </a:ext>
            </a:extLst>
          </p:cNvPr>
          <p:cNvSpPr txBox="1"/>
          <p:nvPr/>
        </p:nvSpPr>
        <p:spPr>
          <a:xfrm>
            <a:off x="360000" y="2603189"/>
            <a:ext cx="3600000" cy="540000"/>
          </a:xfrm>
          <a:prstGeom prst="rect">
            <a:avLst/>
          </a:prstGeom>
          <a:solidFill>
            <a:srgbClr val="FFFF00"/>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Worker did not follow exclusion zone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procedures IC-SP</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11" name="TextBox 10">
            <a:extLst>
              <a:ext uri="{FF2B5EF4-FFF2-40B4-BE49-F238E27FC236}">
                <a16:creationId xmlns:a16="http://schemas.microsoft.com/office/drawing/2014/main" id="{25351731-B625-4045-96E2-230805AEB74B}"/>
              </a:ext>
            </a:extLst>
          </p:cNvPr>
          <p:cNvSpPr txBox="1"/>
          <p:nvPr/>
        </p:nvSpPr>
        <p:spPr>
          <a:xfrm>
            <a:off x="360000" y="3346200"/>
            <a:ext cx="3600000" cy="523220"/>
          </a:xfrm>
          <a:prstGeom prst="rect">
            <a:avLst/>
          </a:prstGeom>
          <a:solidFill>
            <a:srgbClr val="92D050"/>
          </a:solidFill>
          <a:ln>
            <a:solidFill>
              <a:srgbClr val="000000"/>
            </a:solidFill>
          </a:ln>
        </p:spPr>
        <p:txBody>
          <a:bodyPr wrap="square" rtlCol="0">
            <a:spAutoFit/>
          </a:bodyPr>
          <a:lstStyle>
            <a:defPPr>
              <a:defRPr lang="en-US"/>
            </a:defPPr>
            <a:lvl1pPr marR="0" lvl="0" indent="0" algn="ctr" eaLnBrk="0" fontAlgn="base" hangingPunct="0">
              <a:lnSpc>
                <a:spcPct val="100000"/>
              </a:lnSpc>
              <a:spcBef>
                <a:spcPct val="0"/>
              </a:spcBef>
              <a:spcAft>
                <a:spcPct val="0"/>
              </a:spcAft>
              <a:buClrTx/>
              <a:buSzTx/>
              <a:buFontTx/>
              <a:buNone/>
              <a:tabLst/>
              <a:defRPr kumimoji="0" sz="1400" b="0" i="0" u="none" strike="noStrike" kern="0" cap="none" spc="0" normalizeH="0" baseline="0">
                <a:ln>
                  <a:noFill/>
                </a:ln>
                <a:solidFill>
                  <a:srgbClr val="000000"/>
                </a:solidFill>
                <a:effectLst/>
                <a:uLnTx/>
                <a:uFillTx/>
                <a:latin typeface="Arial"/>
                <a:ea typeface="ＭＳ Ｐゴシック" panose="020B0600070205080204" pitchFamily="34" charset="-128"/>
                <a:cs typeface="Arial" panose="020B0604020202020204" pitchFamily="34" charset="0"/>
              </a:defRPr>
            </a:lvl1pPr>
          </a:lstStyle>
          <a:p>
            <a:r>
              <a:rPr lang="en-CA" dirty="0"/>
              <a:t>Worker was not aware of exclusion zone </a:t>
            </a:r>
            <a:r>
              <a:rPr lang="en-CA" dirty="0" smtClean="0"/>
              <a:t>procedures BC1-JF: inadequate training</a:t>
            </a:r>
            <a:endParaRPr lang="en-CA" dirty="0"/>
          </a:p>
        </p:txBody>
      </p:sp>
      <p:sp>
        <p:nvSpPr>
          <p:cNvPr id="18" name="TextBox 17">
            <a:extLst>
              <a:ext uri="{FF2B5EF4-FFF2-40B4-BE49-F238E27FC236}">
                <a16:creationId xmlns:a16="http://schemas.microsoft.com/office/drawing/2014/main" id="{9EB24479-13B4-4014-993C-EEC8B9CBD96A}"/>
              </a:ext>
            </a:extLst>
          </p:cNvPr>
          <p:cNvSpPr txBox="1"/>
          <p:nvPr/>
        </p:nvSpPr>
        <p:spPr>
          <a:xfrm>
            <a:off x="360000" y="5446107"/>
            <a:ext cx="3600000" cy="720000"/>
          </a:xfrm>
          <a:prstGeom prst="rect">
            <a:avLst/>
          </a:prstGeom>
          <a:solidFill>
            <a:srgbClr val="FFC000">
              <a:lumMod val="40000"/>
              <a:lumOff val="60000"/>
            </a:srgbClr>
          </a:solidFill>
          <a:ln>
            <a:solidFill>
              <a:srgbClr val="000000"/>
            </a:solidFill>
          </a:ln>
        </p:spPr>
        <p:txBody>
          <a:bodyPr wrap="square" rtlCol="0">
            <a:spAutoFit/>
          </a:bodyPr>
          <a:lstStyle/>
          <a:p>
            <a:pPr lvl="0" algn="ctr" eaLnBrk="0" fontAlgn="base" hangingPunct="0">
              <a:spcBef>
                <a:spcPct val="0"/>
              </a:spcBef>
              <a:spcAft>
                <a:spcPct val="0"/>
              </a:spcAft>
              <a:defRPr/>
            </a:pPr>
            <a:r>
              <a:rPr kumimoji="0" lang="en-US" sz="1400" b="1" i="0" u="none" strike="noStrike" kern="0" cap="none" spc="0" normalizeH="0" baseline="0" noProof="0" dirty="0" smtClean="0">
                <a:ln>
                  <a:noFill/>
                </a:ln>
                <a:solidFill>
                  <a:srgbClr val="000000"/>
                </a:solidFill>
                <a:effectLst/>
                <a:uLnTx/>
                <a:uFillTx/>
                <a:latin typeface="Arial"/>
                <a:ea typeface="ＭＳ Ｐゴシック" panose="020B0600070205080204" pitchFamily="34" charset="-128"/>
                <a:cs typeface="Arial" panose="020B0604020202020204" pitchFamily="34" charset="0"/>
              </a:rPr>
              <a:t>LC1-S: The </a:t>
            </a:r>
            <a:r>
              <a:rPr kumimoji="0" lang="en-US" sz="1400" b="1"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Arial" panose="020B0604020202020204" pitchFamily="34" charset="0"/>
              </a:rPr>
              <a:t>training program </a:t>
            </a:r>
            <a:r>
              <a:rPr lang="en-US" sz="1400" b="1" kern="0" dirty="0" smtClean="0">
                <a:solidFill>
                  <a:srgbClr val="000000"/>
                </a:solidFill>
                <a:ea typeface="ＭＳ Ｐゴシック" panose="020B0600070205080204" pitchFamily="34" charset="-128"/>
                <a:cs typeface="Arial" panose="020B0604020202020204" pitchFamily="34" charset="0"/>
              </a:rPr>
              <a:t>did not include a standard to train workers on the exclusion zone procedures. #9 ECT</a:t>
            </a:r>
            <a:endParaRPr lang="en-US" sz="1400" b="1" kern="0" dirty="0">
              <a:solidFill>
                <a:srgbClr val="000000"/>
              </a:solidFill>
              <a:ea typeface="ＭＳ Ｐゴシック" panose="020B0600070205080204" pitchFamily="34" charset="-128"/>
              <a:cs typeface="Arial" panose="020B0604020202020204" pitchFamily="34" charset="0"/>
            </a:endParaRPr>
          </a:p>
        </p:txBody>
      </p:sp>
      <p:cxnSp>
        <p:nvCxnSpPr>
          <p:cNvPr id="19" name="Straight Arrow Connector 18">
            <a:extLst>
              <a:ext uri="{FF2B5EF4-FFF2-40B4-BE49-F238E27FC236}">
                <a16:creationId xmlns:a16="http://schemas.microsoft.com/office/drawing/2014/main" id="{959A13DE-954E-49A4-8A09-48118BA5021D}"/>
              </a:ext>
            </a:extLst>
          </p:cNvPr>
          <p:cNvCxnSpPr>
            <a:stCxn id="11" idx="2"/>
            <a:endCxn id="20" idx="0"/>
          </p:cNvCxnSpPr>
          <p:nvPr/>
        </p:nvCxnSpPr>
        <p:spPr>
          <a:xfrm>
            <a:off x="2160000" y="3869420"/>
            <a:ext cx="0" cy="781360"/>
          </a:xfrm>
          <a:prstGeom prst="straightConnector1">
            <a:avLst/>
          </a:prstGeom>
          <a:noFill/>
          <a:ln w="6350" cap="flat" cmpd="sng" algn="ctr">
            <a:solidFill>
              <a:sysClr val="windowText" lastClr="000000"/>
            </a:solidFill>
            <a:prstDash val="solid"/>
            <a:miter lim="800000"/>
            <a:tailEnd type="triangle"/>
          </a:ln>
          <a:effectLst/>
        </p:spPr>
      </p:cxnSp>
      <p:sp>
        <p:nvSpPr>
          <p:cNvPr id="20" name="TextBox 19">
            <a:extLst>
              <a:ext uri="{FF2B5EF4-FFF2-40B4-BE49-F238E27FC236}">
                <a16:creationId xmlns:a16="http://schemas.microsoft.com/office/drawing/2014/main" id="{634176DB-910F-467F-936E-BF2DBB8B14B5}"/>
              </a:ext>
            </a:extLst>
          </p:cNvPr>
          <p:cNvSpPr txBox="1"/>
          <p:nvPr/>
        </p:nvSpPr>
        <p:spPr>
          <a:xfrm>
            <a:off x="360000" y="4650780"/>
            <a:ext cx="3600000" cy="540000"/>
          </a:xfrm>
          <a:prstGeom prst="rect">
            <a:avLst/>
          </a:prstGeom>
          <a:solidFill>
            <a:srgbClr val="FFFFFF"/>
          </a:solidFill>
          <a:ln>
            <a:solidFill>
              <a:sysClr val="windowText" lastClr="000000"/>
            </a:solidFill>
          </a:ln>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0" i="0" u="none" strike="noStrike" kern="0" cap="none" spc="0" normalizeH="0" baseline="0">
                <a:ln>
                  <a:noFill/>
                </a:ln>
                <a:solidFill>
                  <a:prstClr val="black">
                    <a:lumMod val="85000"/>
                    <a:lumOff val="15000"/>
                  </a:prstClr>
                </a:solidFill>
                <a:effectLst/>
                <a:uLnTx/>
                <a:uFillTx/>
                <a:latin typeface="Arial"/>
                <a:cs typeface="Arial" panose="020B0604020202020204" pitchFamily="34" charset="0"/>
              </a:defRPr>
            </a:lvl1pPr>
          </a:lstStyle>
          <a:p>
            <a:r>
              <a:rPr lang="en-US" dirty="0"/>
              <a:t>Worker was not trained on those procedures</a:t>
            </a:r>
            <a:endParaRPr lang="en-CA" dirty="0"/>
          </a:p>
        </p:txBody>
      </p:sp>
      <p:cxnSp>
        <p:nvCxnSpPr>
          <p:cNvPr id="21" name="Straight Arrow Connector 20">
            <a:extLst>
              <a:ext uri="{FF2B5EF4-FFF2-40B4-BE49-F238E27FC236}">
                <a16:creationId xmlns:a16="http://schemas.microsoft.com/office/drawing/2014/main" id="{65B268F9-12A6-4173-BD62-66107BA9DEB1}"/>
              </a:ext>
            </a:extLst>
          </p:cNvPr>
          <p:cNvCxnSpPr>
            <a:stCxn id="20" idx="2"/>
            <a:endCxn id="18" idx="0"/>
          </p:cNvCxnSpPr>
          <p:nvPr/>
        </p:nvCxnSpPr>
        <p:spPr>
          <a:xfrm>
            <a:off x="2160000" y="5190780"/>
            <a:ext cx="0" cy="255327"/>
          </a:xfrm>
          <a:prstGeom prst="straightConnector1">
            <a:avLst/>
          </a:prstGeom>
          <a:noFill/>
          <a:ln w="6350" cap="flat" cmpd="sng" algn="ctr">
            <a:solidFill>
              <a:sysClr val="windowText" lastClr="000000"/>
            </a:solidFill>
            <a:prstDash val="solid"/>
            <a:miter lim="800000"/>
            <a:tailEnd type="triangle"/>
          </a:ln>
          <a:effectLst/>
        </p:spPr>
      </p:cxnSp>
      <p:cxnSp>
        <p:nvCxnSpPr>
          <p:cNvPr id="22" name="Straight Arrow Connector 21">
            <a:extLst>
              <a:ext uri="{FF2B5EF4-FFF2-40B4-BE49-F238E27FC236}">
                <a16:creationId xmlns:a16="http://schemas.microsoft.com/office/drawing/2014/main" id="{AA8F5DE7-5433-4F2F-8556-2D38D5384E77}"/>
              </a:ext>
            </a:extLst>
          </p:cNvPr>
          <p:cNvCxnSpPr>
            <a:stCxn id="7" idx="2"/>
            <a:endCxn id="10" idx="0"/>
          </p:cNvCxnSpPr>
          <p:nvPr/>
        </p:nvCxnSpPr>
        <p:spPr>
          <a:xfrm>
            <a:off x="2160000" y="2451810"/>
            <a:ext cx="0" cy="151379"/>
          </a:xfrm>
          <a:prstGeom prst="straightConnector1">
            <a:avLst/>
          </a:prstGeom>
          <a:noFill/>
          <a:ln w="6350" cap="flat" cmpd="sng" algn="ctr">
            <a:solidFill>
              <a:sysClr val="windowText" lastClr="000000"/>
            </a:solidFill>
            <a:prstDash val="solid"/>
            <a:miter lim="800000"/>
            <a:tailEnd type="triangle"/>
          </a:ln>
          <a:effectLst/>
        </p:spPr>
      </p:cxnSp>
      <p:cxnSp>
        <p:nvCxnSpPr>
          <p:cNvPr id="23" name="Straight Arrow Connector 22">
            <a:extLst>
              <a:ext uri="{FF2B5EF4-FFF2-40B4-BE49-F238E27FC236}">
                <a16:creationId xmlns:a16="http://schemas.microsoft.com/office/drawing/2014/main" id="{574AFDF7-A884-4481-8221-E281E515BDED}"/>
              </a:ext>
            </a:extLst>
          </p:cNvPr>
          <p:cNvCxnSpPr>
            <a:stCxn id="6" idx="2"/>
            <a:endCxn id="7" idx="0"/>
          </p:cNvCxnSpPr>
          <p:nvPr/>
        </p:nvCxnSpPr>
        <p:spPr>
          <a:xfrm>
            <a:off x="2160000" y="1746645"/>
            <a:ext cx="0" cy="165165"/>
          </a:xfrm>
          <a:prstGeom prst="straightConnector1">
            <a:avLst/>
          </a:prstGeom>
          <a:noFill/>
          <a:ln w="6350" cap="flat" cmpd="sng" algn="ctr">
            <a:solidFill>
              <a:sysClr val="windowText" lastClr="000000"/>
            </a:solidFill>
            <a:prstDash val="solid"/>
            <a:miter lim="800000"/>
            <a:tailEnd type="triangle"/>
          </a:ln>
          <a:effectLst/>
        </p:spPr>
      </p:cxnSp>
      <p:sp>
        <p:nvSpPr>
          <p:cNvPr id="3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52" name="Straight Arrow Connector 51">
            <a:extLst>
              <a:ext uri="{FF2B5EF4-FFF2-40B4-BE49-F238E27FC236}">
                <a16:creationId xmlns:a16="http://schemas.microsoft.com/office/drawing/2014/main" id="{AA8F5DE7-5433-4F2F-8556-2D38D5384E77}"/>
              </a:ext>
            </a:extLst>
          </p:cNvPr>
          <p:cNvCxnSpPr>
            <a:stCxn id="10" idx="2"/>
            <a:endCxn id="11" idx="0"/>
          </p:cNvCxnSpPr>
          <p:nvPr/>
        </p:nvCxnSpPr>
        <p:spPr>
          <a:xfrm>
            <a:off x="2160000" y="3143189"/>
            <a:ext cx="0" cy="203011"/>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a16="http://schemas.microsoft.com/office/drawing/2014/main" id="{22FD59BD-EB3B-4D7F-A7A9-0AE2BDFDE4BF}"/>
              </a:ext>
            </a:extLst>
          </p:cNvPr>
          <p:cNvSpPr txBox="1"/>
          <p:nvPr/>
        </p:nvSpPr>
        <p:spPr>
          <a:xfrm>
            <a:off x="4773504" y="1206645"/>
            <a:ext cx="3600000" cy="540000"/>
          </a:xfrm>
          <a:prstGeom prst="rect">
            <a:avLst/>
          </a:prstGeom>
          <a:solidFill>
            <a:srgbClr val="00B0F0"/>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Debris fell on equipment, injuring one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Worker </a:t>
            </a: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&amp;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damaged equipment</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56" name="TextBox 55">
            <a:extLst>
              <a:ext uri="{FF2B5EF4-FFF2-40B4-BE49-F238E27FC236}">
                <a16:creationId xmlns:a16="http://schemas.microsoft.com/office/drawing/2014/main" id="{0945C928-CC38-454E-8795-A8C1DBEC105D}"/>
              </a:ext>
            </a:extLst>
          </p:cNvPr>
          <p:cNvSpPr txBox="1"/>
          <p:nvPr/>
        </p:nvSpPr>
        <p:spPr>
          <a:xfrm>
            <a:off x="4773504" y="1911810"/>
            <a:ext cx="3600000" cy="540000"/>
          </a:xfrm>
          <a:prstGeom prst="rect">
            <a:avLst/>
          </a:prstGeom>
          <a:solidFill>
            <a:srgbClr val="FFFF00"/>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Equipment &amp;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Worker </a:t>
            </a: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Were In Exclusion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Zone IC-SC</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0228A437-C1E3-474E-A526-F56414306009}"/>
              </a:ext>
            </a:extLst>
          </p:cNvPr>
          <p:cNvSpPr txBox="1"/>
          <p:nvPr/>
        </p:nvSpPr>
        <p:spPr>
          <a:xfrm>
            <a:off x="4773504" y="2603189"/>
            <a:ext cx="3600000" cy="540000"/>
          </a:xfrm>
          <a:prstGeom prst="rect">
            <a:avLst/>
          </a:prstGeom>
          <a:solidFill>
            <a:srgbClr val="FFFF00"/>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Worker did not follow exclusion zone </a:t>
            </a: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procedures IC-SP</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25351731-B625-4045-96E2-230805AEB74B}"/>
              </a:ext>
            </a:extLst>
          </p:cNvPr>
          <p:cNvSpPr txBox="1"/>
          <p:nvPr/>
        </p:nvSpPr>
        <p:spPr>
          <a:xfrm>
            <a:off x="4773504" y="3346200"/>
            <a:ext cx="3600000" cy="540000"/>
          </a:xfrm>
          <a:prstGeom prst="rect">
            <a:avLst/>
          </a:prstGeom>
          <a:solidFill>
            <a:srgbClr val="FFFFFF"/>
          </a:solidFill>
          <a:ln>
            <a:solidFill>
              <a:sysClr val="windowText" lastClr="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Worker </a:t>
            </a:r>
            <a:r>
              <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rPr>
              <a:t>was not aware of exclusion zone procedures</a:t>
            </a:r>
          </a:p>
        </p:txBody>
      </p:sp>
      <p:sp>
        <p:nvSpPr>
          <p:cNvPr id="59" name="TextBox 58">
            <a:extLst>
              <a:ext uri="{FF2B5EF4-FFF2-40B4-BE49-F238E27FC236}">
                <a16:creationId xmlns:a16="http://schemas.microsoft.com/office/drawing/2014/main" id="{9EB24479-13B4-4014-993C-EEC8B9CBD96A}"/>
              </a:ext>
            </a:extLst>
          </p:cNvPr>
          <p:cNvSpPr txBox="1"/>
          <p:nvPr/>
        </p:nvSpPr>
        <p:spPr>
          <a:xfrm>
            <a:off x="4773504" y="5446107"/>
            <a:ext cx="3600000" cy="720000"/>
          </a:xfrm>
          <a:prstGeom prst="rect">
            <a:avLst/>
          </a:prstGeom>
          <a:solidFill>
            <a:srgbClr val="FFC000">
              <a:lumMod val="40000"/>
              <a:lumOff val="60000"/>
            </a:srgbClr>
          </a:solidFill>
          <a:ln>
            <a:solidFill>
              <a:srgbClr val="000000"/>
            </a:solidFill>
          </a:ln>
        </p:spPr>
        <p:txBody>
          <a:bodyPr wrap="square" rtlCol="0">
            <a:spAutoFit/>
          </a:bodyPr>
          <a:lstStyle/>
          <a:p>
            <a:pPr lvl="0" algn="ctr" eaLnBrk="0" fontAlgn="base" hangingPunct="0">
              <a:spcBef>
                <a:spcPct val="0"/>
              </a:spcBef>
              <a:spcAft>
                <a:spcPct val="0"/>
              </a:spcAft>
              <a:defRPr/>
            </a:pPr>
            <a:r>
              <a:rPr kumimoji="0" lang="en-US" sz="1400" b="1" i="0" u="none" strike="noStrike" kern="0" cap="none" spc="0" normalizeH="0" baseline="0" noProof="0" dirty="0" smtClean="0">
                <a:ln>
                  <a:noFill/>
                </a:ln>
                <a:solidFill>
                  <a:srgbClr val="000000"/>
                </a:solidFill>
                <a:effectLst/>
                <a:uLnTx/>
                <a:uFillTx/>
                <a:latin typeface="Arial"/>
                <a:ea typeface="ＭＳ Ｐゴシック" panose="020B0600070205080204" pitchFamily="34" charset="-128"/>
                <a:cs typeface="Arial" panose="020B0604020202020204" pitchFamily="34" charset="0"/>
              </a:rPr>
              <a:t>LC1-S: The </a:t>
            </a:r>
            <a:r>
              <a:rPr kumimoji="0" lang="en-US" sz="1400" b="1"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Arial" panose="020B0604020202020204" pitchFamily="34" charset="0"/>
              </a:rPr>
              <a:t>training program </a:t>
            </a:r>
            <a:r>
              <a:rPr lang="en-US" sz="1400" b="1" kern="0" dirty="0" smtClean="0">
                <a:solidFill>
                  <a:srgbClr val="000000"/>
                </a:solidFill>
                <a:ea typeface="ＭＳ Ｐゴシック" panose="020B0600070205080204" pitchFamily="34" charset="-128"/>
                <a:cs typeface="Arial" panose="020B0604020202020204" pitchFamily="34" charset="0"/>
              </a:rPr>
              <a:t>did not include a standard to train workers on the exclusion zone procedures. #9 ECT</a:t>
            </a:r>
            <a:endParaRPr lang="en-US" sz="1400" b="1" kern="0" dirty="0">
              <a:solidFill>
                <a:srgbClr val="000000"/>
              </a:solidFill>
              <a:ea typeface="ＭＳ Ｐゴシック" panose="020B0600070205080204" pitchFamily="34" charset="-128"/>
              <a:cs typeface="Arial" panose="020B0604020202020204" pitchFamily="34" charset="0"/>
            </a:endParaRPr>
          </a:p>
        </p:txBody>
      </p:sp>
      <p:cxnSp>
        <p:nvCxnSpPr>
          <p:cNvPr id="60" name="Straight Arrow Connector 59">
            <a:extLst>
              <a:ext uri="{FF2B5EF4-FFF2-40B4-BE49-F238E27FC236}">
                <a16:creationId xmlns:a16="http://schemas.microsoft.com/office/drawing/2014/main" id="{959A13DE-954E-49A4-8A09-48118BA5021D}"/>
              </a:ext>
            </a:extLst>
          </p:cNvPr>
          <p:cNvCxnSpPr>
            <a:stCxn id="58" idx="2"/>
            <a:endCxn id="61" idx="0"/>
          </p:cNvCxnSpPr>
          <p:nvPr/>
        </p:nvCxnSpPr>
        <p:spPr>
          <a:xfrm>
            <a:off x="6573504" y="3886200"/>
            <a:ext cx="0" cy="764580"/>
          </a:xfrm>
          <a:prstGeom prst="straightConnector1">
            <a:avLst/>
          </a:prstGeom>
          <a:noFill/>
          <a:ln w="6350" cap="flat" cmpd="sng" algn="ctr">
            <a:solidFill>
              <a:sysClr val="windowText" lastClr="000000"/>
            </a:solidFill>
            <a:prstDash val="solid"/>
            <a:miter lim="800000"/>
            <a:tailEnd type="triangle"/>
          </a:ln>
          <a:effectLst/>
        </p:spPr>
      </p:cxnSp>
      <p:sp>
        <p:nvSpPr>
          <p:cNvPr id="61" name="TextBox 60">
            <a:extLst>
              <a:ext uri="{FF2B5EF4-FFF2-40B4-BE49-F238E27FC236}">
                <a16:creationId xmlns:a16="http://schemas.microsoft.com/office/drawing/2014/main" id="{634176DB-910F-467F-936E-BF2DBB8B14B5}"/>
              </a:ext>
            </a:extLst>
          </p:cNvPr>
          <p:cNvSpPr txBox="1"/>
          <p:nvPr/>
        </p:nvSpPr>
        <p:spPr>
          <a:xfrm>
            <a:off x="4773504" y="4650780"/>
            <a:ext cx="3600000" cy="540000"/>
          </a:xfrm>
          <a:prstGeom prst="rect">
            <a:avLst/>
          </a:prstGeom>
          <a:solidFill>
            <a:srgbClr val="92D050"/>
          </a:solidFill>
          <a:ln>
            <a:solidFill>
              <a:srgbClr val="000000"/>
            </a:solidFill>
          </a:ln>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smtClean="0">
                <a:ln>
                  <a:noFill/>
                </a:ln>
                <a:solidFill>
                  <a:srgbClr val="000000"/>
                </a:solidFill>
                <a:effectLst/>
                <a:uLnTx/>
                <a:uFillTx/>
                <a:latin typeface="Arial"/>
                <a:ea typeface="ＭＳ Ｐゴシック" panose="020B0600070205080204" pitchFamily="34" charset="-128"/>
                <a:cs typeface="Arial" panose="020B0604020202020204" pitchFamily="34" charset="0"/>
              </a:rPr>
              <a:t>Worker was not trained on those procedures BC1-JF: inadequate</a:t>
            </a:r>
            <a:r>
              <a:rPr kumimoji="0" lang="en-US" sz="1400" b="0" i="0" u="none" strike="noStrike" kern="0" cap="none" spc="0" normalizeH="0" noProof="0" dirty="0" smtClean="0">
                <a:ln>
                  <a:noFill/>
                </a:ln>
                <a:solidFill>
                  <a:srgbClr val="000000"/>
                </a:solidFill>
                <a:effectLst/>
                <a:uLnTx/>
                <a:uFillTx/>
                <a:latin typeface="Arial"/>
                <a:ea typeface="ＭＳ Ｐゴシック" panose="020B0600070205080204" pitchFamily="34" charset="-128"/>
                <a:cs typeface="Arial" panose="020B0604020202020204" pitchFamily="34" charset="0"/>
              </a:rPr>
              <a:t> training</a:t>
            </a:r>
            <a:endParaRPr kumimoji="0" lang="en-CA" sz="1400" b="0" i="0" u="none" strike="noStrike" kern="0" cap="none" spc="0" normalizeH="0" baseline="0" noProof="0" dirty="0">
              <a:ln>
                <a:noFill/>
              </a:ln>
              <a:solidFill>
                <a:srgbClr val="000000"/>
              </a:solidFill>
              <a:effectLst/>
              <a:uLnTx/>
              <a:uFillTx/>
              <a:latin typeface="Arial"/>
              <a:ea typeface="ＭＳ Ｐゴシック" panose="020B0600070205080204" pitchFamily="34" charset="-128"/>
              <a:cs typeface="Arial" panose="020B0604020202020204" pitchFamily="34" charset="0"/>
            </a:endParaRPr>
          </a:p>
        </p:txBody>
      </p:sp>
      <p:cxnSp>
        <p:nvCxnSpPr>
          <p:cNvPr id="62" name="Straight Arrow Connector 61">
            <a:extLst>
              <a:ext uri="{FF2B5EF4-FFF2-40B4-BE49-F238E27FC236}">
                <a16:creationId xmlns:a16="http://schemas.microsoft.com/office/drawing/2014/main" id="{65B268F9-12A6-4173-BD62-66107BA9DEB1}"/>
              </a:ext>
            </a:extLst>
          </p:cNvPr>
          <p:cNvCxnSpPr>
            <a:stCxn id="61" idx="2"/>
            <a:endCxn id="59" idx="0"/>
          </p:cNvCxnSpPr>
          <p:nvPr/>
        </p:nvCxnSpPr>
        <p:spPr>
          <a:xfrm>
            <a:off x="6573504" y="5190780"/>
            <a:ext cx="0" cy="255327"/>
          </a:xfrm>
          <a:prstGeom prst="straightConnector1">
            <a:avLst/>
          </a:prstGeom>
          <a:noFill/>
          <a:ln w="6350" cap="flat" cmpd="sng" algn="ctr">
            <a:solidFill>
              <a:sysClr val="windowText" lastClr="000000"/>
            </a:solidFill>
            <a:prstDash val="solid"/>
            <a:miter lim="800000"/>
            <a:tailEnd type="triangle"/>
          </a:ln>
          <a:effectLst/>
        </p:spPr>
      </p:cxnSp>
      <p:cxnSp>
        <p:nvCxnSpPr>
          <p:cNvPr id="63" name="Straight Arrow Connector 62">
            <a:extLst>
              <a:ext uri="{FF2B5EF4-FFF2-40B4-BE49-F238E27FC236}">
                <a16:creationId xmlns:a16="http://schemas.microsoft.com/office/drawing/2014/main" id="{AA8F5DE7-5433-4F2F-8556-2D38D5384E77}"/>
              </a:ext>
            </a:extLst>
          </p:cNvPr>
          <p:cNvCxnSpPr>
            <a:stCxn id="56" idx="2"/>
            <a:endCxn id="57" idx="0"/>
          </p:cNvCxnSpPr>
          <p:nvPr/>
        </p:nvCxnSpPr>
        <p:spPr>
          <a:xfrm>
            <a:off x="6573504" y="2451810"/>
            <a:ext cx="0" cy="151379"/>
          </a:xfrm>
          <a:prstGeom prst="straightConnector1">
            <a:avLst/>
          </a:prstGeom>
          <a:noFill/>
          <a:ln w="6350" cap="flat" cmpd="sng" algn="ctr">
            <a:solidFill>
              <a:sysClr val="windowText" lastClr="000000"/>
            </a:solidFill>
            <a:prstDash val="solid"/>
            <a:miter lim="800000"/>
            <a:tailEnd type="triangle"/>
          </a:ln>
          <a:effectLst/>
        </p:spPr>
      </p:cxnSp>
      <p:cxnSp>
        <p:nvCxnSpPr>
          <p:cNvPr id="64" name="Straight Arrow Connector 63">
            <a:extLst>
              <a:ext uri="{FF2B5EF4-FFF2-40B4-BE49-F238E27FC236}">
                <a16:creationId xmlns:a16="http://schemas.microsoft.com/office/drawing/2014/main" id="{574AFDF7-A884-4481-8221-E281E515BDED}"/>
              </a:ext>
            </a:extLst>
          </p:cNvPr>
          <p:cNvCxnSpPr>
            <a:stCxn id="55" idx="2"/>
            <a:endCxn id="56" idx="0"/>
          </p:cNvCxnSpPr>
          <p:nvPr/>
        </p:nvCxnSpPr>
        <p:spPr>
          <a:xfrm>
            <a:off x="6573504" y="1746645"/>
            <a:ext cx="0" cy="165165"/>
          </a:xfrm>
          <a:prstGeom prst="straightConnector1">
            <a:avLst/>
          </a:prstGeom>
          <a:noFill/>
          <a:ln w="6350" cap="flat" cmpd="sng" algn="ctr">
            <a:solidFill>
              <a:sysClr val="windowText" lastClr="000000"/>
            </a:solidFill>
            <a:prstDash val="solid"/>
            <a:miter lim="800000"/>
            <a:tailEnd type="triangle"/>
          </a:ln>
          <a:effectLst/>
        </p:spPr>
      </p:cxnSp>
      <p:cxnSp>
        <p:nvCxnSpPr>
          <p:cNvPr id="65" name="Straight Arrow Connector 64">
            <a:extLst>
              <a:ext uri="{FF2B5EF4-FFF2-40B4-BE49-F238E27FC236}">
                <a16:creationId xmlns:a16="http://schemas.microsoft.com/office/drawing/2014/main" id="{AA8F5DE7-5433-4F2F-8556-2D38D5384E77}"/>
              </a:ext>
            </a:extLst>
          </p:cNvPr>
          <p:cNvCxnSpPr>
            <a:stCxn id="57" idx="2"/>
            <a:endCxn id="58" idx="0"/>
          </p:cNvCxnSpPr>
          <p:nvPr/>
        </p:nvCxnSpPr>
        <p:spPr>
          <a:xfrm>
            <a:off x="6573504" y="3143189"/>
            <a:ext cx="0" cy="203011"/>
          </a:xfrm>
          <a:prstGeom prst="straightConnector1">
            <a:avLst/>
          </a:prstGeom>
          <a:noFill/>
          <a:ln w="6350" cap="flat" cmpd="sng" algn="ctr">
            <a:solidFill>
              <a:sysClr val="windowText" lastClr="000000"/>
            </a:solidFill>
            <a:prstDash val="solid"/>
            <a:miter lim="800000"/>
            <a:tailEnd type="triangle"/>
          </a:ln>
          <a:effectLst/>
        </p:spPr>
      </p:cxnSp>
      <p:sp>
        <p:nvSpPr>
          <p:cNvPr id="66" name="TextBox 65"/>
          <p:cNvSpPr txBox="1"/>
          <p:nvPr/>
        </p:nvSpPr>
        <p:spPr>
          <a:xfrm>
            <a:off x="3452148" y="3604963"/>
            <a:ext cx="1077791" cy="1200329"/>
          </a:xfrm>
          <a:prstGeom prst="rect">
            <a:avLst/>
          </a:prstGeom>
          <a:noFill/>
        </p:spPr>
        <p:txBody>
          <a:bodyPr wrap="square" rtlCol="0">
            <a:spAutoFit/>
          </a:bodyPr>
          <a:lstStyle/>
          <a:p>
            <a:r>
              <a:rPr lang="en-US" sz="7200" dirty="0" smtClean="0">
                <a:solidFill>
                  <a:srgbClr val="FF0000"/>
                </a:solidFill>
                <a:latin typeface="Comic Sans MS" panose="030F0702030302020204" pitchFamily="66" charset="0"/>
              </a:rPr>
              <a:t>X</a:t>
            </a:r>
            <a:endParaRPr lang="en-US" sz="7200" dirty="0">
              <a:solidFill>
                <a:srgbClr val="FF0000"/>
              </a:solidFill>
              <a:latin typeface="Comic Sans MS" panose="030F0702030302020204" pitchFamily="66" charset="0"/>
            </a:endParaRPr>
          </a:p>
        </p:txBody>
      </p:sp>
      <p:pic>
        <p:nvPicPr>
          <p:cNvPr id="69" name="Picture 68" descr="File:&lt;strong&gt;Check mark&lt;/strong&gt;.svg — StrategyWiki, the video game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1414" y="3552555"/>
            <a:ext cx="1144179" cy="1144179"/>
          </a:xfrm>
          <a:prstGeom prst="rect">
            <a:avLst/>
          </a:prstGeom>
        </p:spPr>
      </p:pic>
      <p:sp>
        <p:nvSpPr>
          <p:cNvPr id="70" name="TextBox 69"/>
          <p:cNvSpPr txBox="1"/>
          <p:nvPr/>
        </p:nvSpPr>
        <p:spPr>
          <a:xfrm>
            <a:off x="360000" y="3989757"/>
            <a:ext cx="3225925" cy="523220"/>
          </a:xfrm>
          <a:prstGeom prst="rect">
            <a:avLst/>
          </a:prstGeom>
          <a:solidFill>
            <a:srgbClr val="FFFFFF">
              <a:alpha val="20000"/>
            </a:srgbClr>
          </a:solidFill>
        </p:spPr>
        <p:txBody>
          <a:bodyPr wrap="square" rtlCol="0">
            <a:spAutoFit/>
          </a:bodyPr>
          <a:lstStyle>
            <a:defPPr>
              <a:defRPr lang="en-US"/>
            </a:defPPr>
            <a:lvl1pPr algn="ctr">
              <a:defRPr sz="1400">
                <a:latin typeface="Comic Sans MS" panose="030F0702030302020204" pitchFamily="66" charset="0"/>
              </a:defRPr>
            </a:lvl1pPr>
          </a:lstStyle>
          <a:p>
            <a:r>
              <a:rPr lang="en-US" i="1" dirty="0" smtClean="0"/>
              <a:t>“Worker </a:t>
            </a:r>
            <a:r>
              <a:rPr lang="en-US" i="1" dirty="0"/>
              <a:t>was not </a:t>
            </a:r>
            <a:r>
              <a:rPr lang="en-US" i="1" dirty="0" smtClean="0"/>
              <a:t>aware… </a:t>
            </a:r>
            <a:r>
              <a:rPr lang="en-US" i="1" dirty="0"/>
              <a:t>because of inadequate </a:t>
            </a:r>
            <a:r>
              <a:rPr lang="en-US" i="1" dirty="0" smtClean="0"/>
              <a:t>training…”</a:t>
            </a:r>
            <a:endParaRPr lang="en-US" i="1" dirty="0"/>
          </a:p>
        </p:txBody>
      </p:sp>
      <p:sp>
        <p:nvSpPr>
          <p:cNvPr id="71" name="TextBox 70"/>
          <p:cNvSpPr txBox="1"/>
          <p:nvPr/>
        </p:nvSpPr>
        <p:spPr>
          <a:xfrm>
            <a:off x="4773504" y="3943518"/>
            <a:ext cx="3099480" cy="523220"/>
          </a:xfrm>
          <a:prstGeom prst="rect">
            <a:avLst/>
          </a:prstGeom>
          <a:solidFill>
            <a:srgbClr val="FFFFFF">
              <a:alpha val="20000"/>
            </a:srgbClr>
          </a:solidFill>
        </p:spPr>
        <p:txBody>
          <a:bodyPr wrap="square" rtlCol="0">
            <a:spAutoFit/>
          </a:bodyPr>
          <a:lstStyle/>
          <a:p>
            <a:pPr algn="ctr"/>
            <a:r>
              <a:rPr lang="en-US" sz="1400" i="1" dirty="0" smtClean="0">
                <a:latin typeface="Comic Sans MS" panose="030F0702030302020204" pitchFamily="66" charset="0"/>
              </a:rPr>
              <a:t>“Worker was not aware… because the worker was not trained…”</a:t>
            </a:r>
            <a:endParaRPr lang="en-US" sz="1400" i="1" dirty="0">
              <a:latin typeface="Comic Sans MS" panose="030F0702030302020204" pitchFamily="66" charset="0"/>
            </a:endParaRPr>
          </a:p>
        </p:txBody>
      </p:sp>
      <p:sp>
        <p:nvSpPr>
          <p:cNvPr id="72" name="Rectangle 2"/>
          <p:cNvSpPr>
            <a:spLocks noChangeArrowheads="1"/>
          </p:cNvSpPr>
          <p:nvPr/>
        </p:nvSpPr>
        <p:spPr bwMode="auto">
          <a:xfrm>
            <a:off x="216000" y="180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800" b="0" i="0" u="none" strike="noStrike" kern="1200" cap="none" spc="0" normalizeH="0" baseline="0" noProof="0" dirty="0" smtClean="0">
                <a:ln>
                  <a:noFill/>
                </a:ln>
                <a:solidFill>
                  <a:srgbClr val="333399"/>
                </a:solidFill>
                <a:effectLst/>
                <a:uLnTx/>
                <a:uFillTx/>
                <a:latin typeface="Calibri" pitchFamily="34" charset="0"/>
                <a:ea typeface="+mn-ea"/>
                <a:cs typeface="+mn-cs"/>
              </a:rPr>
              <a:t>Do NOT</a:t>
            </a:r>
            <a:r>
              <a:rPr kumimoji="0" lang="en-US" altLang="en-US" sz="2800" b="0" i="0" u="none" strike="noStrike" kern="1200" cap="none" spc="0" normalizeH="0" noProof="0" dirty="0" smtClean="0">
                <a:ln>
                  <a:noFill/>
                </a:ln>
                <a:solidFill>
                  <a:srgbClr val="333399"/>
                </a:solidFill>
                <a:effectLst/>
                <a:uLnTx/>
                <a:uFillTx/>
                <a:latin typeface="Calibri" pitchFamily="34" charset="0"/>
                <a:ea typeface="+mn-ea"/>
                <a:cs typeface="+mn-cs"/>
              </a:rPr>
              <a:t> </a:t>
            </a:r>
            <a:r>
              <a:rPr lang="en-US" altLang="en-US" sz="2800" b="0" dirty="0" smtClean="0">
                <a:solidFill>
                  <a:srgbClr val="333399"/>
                </a:solidFill>
                <a:latin typeface="Calibri" pitchFamily="34" charset="0"/>
              </a:rPr>
              <a:t>create a Causal Relationship! </a:t>
            </a:r>
            <a:r>
              <a:rPr kumimoji="0" lang="en-US" altLang="en-US" sz="2800" b="0" i="0" u="none" strike="noStrike" kern="1200" cap="none" spc="0" normalizeH="0" baseline="0" noProof="0" dirty="0" smtClean="0">
                <a:ln>
                  <a:noFill/>
                </a:ln>
                <a:solidFill>
                  <a:srgbClr val="333399"/>
                </a:solidFill>
                <a:effectLst/>
                <a:uLnTx/>
                <a:uFillTx/>
                <a:latin typeface="Calibri" pitchFamily="34" charset="0"/>
                <a:ea typeface="+mn-ea"/>
                <a:cs typeface="+mn-cs"/>
              </a:rPr>
              <a:t>Categorize</a:t>
            </a:r>
            <a:r>
              <a:rPr kumimoji="0" lang="en-US" altLang="en-US" sz="2800" b="0" i="0" u="none" strike="noStrike" kern="1200" cap="none" spc="0" normalizeH="0" noProof="0" dirty="0" smtClean="0">
                <a:ln>
                  <a:noFill/>
                </a:ln>
                <a:solidFill>
                  <a:srgbClr val="333399"/>
                </a:solidFill>
                <a:effectLst/>
                <a:uLnTx/>
                <a:uFillTx/>
                <a:latin typeface="Calibri" pitchFamily="34" charset="0"/>
                <a:ea typeface="+mn-ea"/>
                <a:cs typeface="+mn-cs"/>
              </a:rPr>
              <a:t> Your BCs!</a:t>
            </a:r>
            <a:endParaRPr kumimoji="0" lang="fr-FR" altLang="en-US" sz="2800" b="0" i="0" u="none" strike="noStrike" kern="1200" cap="none" spc="0" normalizeH="0" baseline="0" noProof="0" dirty="0">
              <a:ln>
                <a:noFill/>
              </a:ln>
              <a:solidFill>
                <a:srgbClr val="333399"/>
              </a:solidFill>
              <a:effectLst/>
              <a:uLnTx/>
              <a:uFillTx/>
              <a:latin typeface="Calibri" pitchFamily="34" charset="0"/>
              <a:ea typeface="+mn-ea"/>
              <a:cs typeface="+mn-cs"/>
            </a:endParaRPr>
          </a:p>
        </p:txBody>
      </p:sp>
      <p:sp>
        <p:nvSpPr>
          <p:cNvPr id="33" name="TextBox 32">
            <a:extLst>
              <a:ext uri="{FF2B5EF4-FFF2-40B4-BE49-F238E27FC236}">
                <a16:creationId xmlns:a16="http://schemas.microsoft.com/office/drawing/2014/main" id="{22FD59BD-EB3B-4D7F-A7A9-0AE2BDFDE4BF}"/>
              </a:ext>
            </a:extLst>
          </p:cNvPr>
          <p:cNvSpPr txBox="1"/>
          <p:nvPr/>
        </p:nvSpPr>
        <p:spPr>
          <a:xfrm>
            <a:off x="368496" y="825645"/>
            <a:ext cx="3600000" cy="307777"/>
          </a:xfrm>
          <a:prstGeom prst="rect">
            <a:avLst/>
          </a:prstGeom>
          <a:solidFill>
            <a:srgbClr val="FF00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smtClean="0">
                <a:ln>
                  <a:noFill/>
                </a:ln>
                <a:solidFill>
                  <a:schemeClr val="bg1"/>
                </a:solidFill>
                <a:effectLst/>
                <a:uLnTx/>
                <a:uFillTx/>
                <a:latin typeface="Arial"/>
                <a:ea typeface="+mn-ea"/>
                <a:cs typeface="Arial" panose="020B0604020202020204" pitchFamily="34" charset="0"/>
              </a:rPr>
              <a:t>Incorrect</a:t>
            </a:r>
            <a:r>
              <a:rPr kumimoji="0" lang="en-CA" sz="1400" b="0" i="0" u="none" strike="noStrike" kern="0" cap="none" spc="0" normalizeH="0" noProof="0" dirty="0" smtClean="0">
                <a:ln>
                  <a:noFill/>
                </a:ln>
                <a:solidFill>
                  <a:schemeClr val="bg1"/>
                </a:solidFill>
                <a:effectLst/>
                <a:uLnTx/>
                <a:uFillTx/>
                <a:latin typeface="Arial"/>
                <a:ea typeface="+mn-ea"/>
                <a:cs typeface="Arial" panose="020B0604020202020204" pitchFamily="34" charset="0"/>
              </a:rPr>
              <a:t> use – NOT Causation</a:t>
            </a:r>
            <a:endParaRPr kumimoji="0" lang="en-CA" sz="1400" b="0" i="0" u="none" strike="noStrike" kern="0" cap="none" spc="0" normalizeH="0" baseline="0" noProof="0" dirty="0">
              <a:ln>
                <a:noFill/>
              </a:ln>
              <a:solidFill>
                <a:schemeClr val="bg1"/>
              </a:solidFill>
              <a:effectLst/>
              <a:uLnTx/>
              <a:uFillTx/>
              <a:latin typeface="Arial"/>
              <a:ea typeface="+mn-ea"/>
              <a:cs typeface="Arial" panose="020B0604020202020204" pitchFamily="34" charset="0"/>
            </a:endParaRPr>
          </a:p>
        </p:txBody>
      </p:sp>
      <p:sp>
        <p:nvSpPr>
          <p:cNvPr id="34" name="TextBox 33">
            <a:extLst>
              <a:ext uri="{FF2B5EF4-FFF2-40B4-BE49-F238E27FC236}">
                <a16:creationId xmlns:a16="http://schemas.microsoft.com/office/drawing/2014/main" id="{22FD59BD-EB3B-4D7F-A7A9-0AE2BDFDE4BF}"/>
              </a:ext>
            </a:extLst>
          </p:cNvPr>
          <p:cNvSpPr txBox="1"/>
          <p:nvPr/>
        </p:nvSpPr>
        <p:spPr>
          <a:xfrm>
            <a:off x="4782000" y="825645"/>
            <a:ext cx="3600000" cy="307777"/>
          </a:xfrm>
          <a:prstGeom prst="rect">
            <a:avLst/>
          </a:prstGeom>
          <a:solidFill>
            <a:srgbClr val="00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0" cap="none" spc="0" normalizeH="0" baseline="0" noProof="0" dirty="0" smtClean="0">
                <a:ln>
                  <a:noFill/>
                </a:ln>
                <a:solidFill>
                  <a:prstClr val="black">
                    <a:lumMod val="85000"/>
                    <a:lumOff val="15000"/>
                  </a:prstClr>
                </a:solidFill>
                <a:effectLst/>
                <a:uLnTx/>
                <a:uFillTx/>
                <a:latin typeface="Arial"/>
                <a:ea typeface="+mn-ea"/>
                <a:cs typeface="Arial" panose="020B0604020202020204" pitchFamily="34" charset="0"/>
              </a:rPr>
              <a:t>Correct use - Categorization</a:t>
            </a:r>
            <a:endParaRPr kumimoji="0" lang="en-CA" sz="1400" b="0" i="0" u="none" strike="noStrike" kern="0" cap="none" spc="0" normalizeH="0" baseline="0" noProof="0" dirty="0">
              <a:ln>
                <a:noFill/>
              </a:ln>
              <a:solidFill>
                <a:prstClr val="black">
                  <a:lumMod val="85000"/>
                  <a:lumOff val="15000"/>
                </a:prstClr>
              </a:solidFill>
              <a:effectLst/>
              <a:uLnTx/>
              <a:uFillTx/>
              <a:latin typeface="Arial"/>
              <a:ea typeface="+mn-ea"/>
              <a:cs typeface="Arial" panose="020B0604020202020204" pitchFamily="34" charset="0"/>
            </a:endParaRPr>
          </a:p>
        </p:txBody>
      </p:sp>
      <p:sp>
        <p:nvSpPr>
          <p:cNvPr id="3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4062669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Intent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Tables of Detailed Lists:</a:t>
            </a: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Tables </a:t>
            </a:r>
            <a:r>
              <a:rPr lang="en-US" altLang="en-US" b="0" dirty="0">
                <a:solidFill>
                  <a:prstClr val="black"/>
                </a:solidFill>
                <a:latin typeface="Arial" panose="020B0604020202020204" pitchFamily="34" charset="0"/>
                <a:ea typeface="ＭＳ Ｐゴシック" panose="020B0600070205080204" pitchFamily="34" charset="-128"/>
              </a:rPr>
              <a:t>help guide the user in categorizing the incident details including the immediate and basic causes. </a:t>
            </a:r>
          </a:p>
          <a:p>
            <a:pPr marL="72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FYI: These tables are not exhaustive and all-inclusive; there may be other sub-sub-categories that can be created.</a:t>
            </a: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0" indent="0" eaLnBrk="0" hangingPunct="0">
              <a:lnSpc>
                <a:spcPct val="100000"/>
              </a:lnSpc>
              <a:spcBef>
                <a:spcPts val="0"/>
              </a:spcBef>
              <a:buClrTx/>
              <a:buSzPct val="100000"/>
              <a:buNone/>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Categorization of Causes: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When </a:t>
            </a:r>
            <a:r>
              <a:rPr lang="en-US" altLang="en-US" b="0" dirty="0">
                <a:solidFill>
                  <a:prstClr val="black"/>
                </a:solidFill>
                <a:latin typeface="Arial" panose="020B0604020202020204" pitchFamily="34" charset="0"/>
                <a:ea typeface="ＭＳ Ｐゴシック" panose="020B0600070205080204" pitchFamily="34" charset="-128"/>
              </a:rPr>
              <a:t>reporting the categories of a cause, it is important to recognize the major </a:t>
            </a:r>
            <a:r>
              <a:rPr lang="en-US" altLang="en-US" b="0" u="sng" dirty="0">
                <a:solidFill>
                  <a:prstClr val="black"/>
                </a:solidFill>
                <a:latin typeface="Arial" panose="020B0604020202020204" pitchFamily="34" charset="0"/>
                <a:ea typeface="ＭＳ Ｐゴシック" panose="020B0600070205080204" pitchFamily="34" charset="-128"/>
              </a:rPr>
              <a:t>category</a:t>
            </a:r>
            <a:r>
              <a:rPr lang="en-US" altLang="en-US" b="0" dirty="0">
                <a:solidFill>
                  <a:prstClr val="black"/>
                </a:solidFill>
                <a:latin typeface="Arial" panose="020B0604020202020204" pitchFamily="34" charset="0"/>
                <a:ea typeface="ＭＳ Ｐゴシック" panose="020B0600070205080204" pitchFamily="34" charset="-128"/>
              </a:rPr>
              <a:t>, the </a:t>
            </a:r>
            <a:r>
              <a:rPr lang="en-US" altLang="en-US" b="0" u="sng" dirty="0">
                <a:solidFill>
                  <a:prstClr val="black"/>
                </a:solidFill>
                <a:latin typeface="Arial" panose="020B0604020202020204" pitchFamily="34" charset="0"/>
                <a:ea typeface="ＭＳ Ｐゴシック" panose="020B0600070205080204" pitchFamily="34" charset="-128"/>
              </a:rPr>
              <a:t>sub-category</a:t>
            </a:r>
            <a:r>
              <a:rPr lang="en-US" altLang="en-US" b="0" dirty="0">
                <a:solidFill>
                  <a:prstClr val="black"/>
                </a:solidFill>
                <a:latin typeface="Arial" panose="020B0604020202020204" pitchFamily="34" charset="0"/>
                <a:ea typeface="ＭＳ Ｐゴシック" panose="020B0600070205080204" pitchFamily="34" charset="-128"/>
              </a:rPr>
              <a:t>, and the </a:t>
            </a:r>
            <a:r>
              <a:rPr lang="en-US" altLang="en-US" b="0" u="sng" dirty="0">
                <a:solidFill>
                  <a:prstClr val="black"/>
                </a:solidFill>
                <a:latin typeface="Arial" panose="020B0604020202020204" pitchFamily="34" charset="0"/>
                <a:ea typeface="ＭＳ Ｐゴシック" panose="020B0600070205080204" pitchFamily="34" charset="-128"/>
              </a:rPr>
              <a:t>sub-sub-category</a:t>
            </a:r>
            <a:r>
              <a:rPr lang="en-US" altLang="en-US" b="0" dirty="0">
                <a:solidFill>
                  <a:prstClr val="black"/>
                </a:solidFill>
                <a:latin typeface="Arial" panose="020B0604020202020204" pitchFamily="34" charset="0"/>
                <a:ea typeface="ＭＳ Ｐゴシック" panose="020B0600070205080204" pitchFamily="34" charset="-128"/>
              </a:rPr>
              <a:t> </a:t>
            </a: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72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e.g. basic cause, job factor, inadequate training. </a:t>
            </a: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360000" indent="-360000" eaLnBrk="0" fontAlgn="auto" hangingPunct="0">
              <a:lnSpc>
                <a:spcPct val="10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Latent causes will </a:t>
            </a:r>
            <a:r>
              <a:rPr lang="en-US" altLang="en-US" b="0" dirty="0">
                <a:solidFill>
                  <a:prstClr val="black"/>
                </a:solidFill>
                <a:latin typeface="Arial" panose="020B0604020202020204" pitchFamily="34" charset="0"/>
                <a:ea typeface="ＭＳ Ｐゴシック" panose="020B0600070205080204" pitchFamily="34" charset="-128"/>
              </a:rPr>
              <a:t>be discussed in </a:t>
            </a:r>
            <a:r>
              <a:rPr lang="en-US" altLang="en-US" b="0" dirty="0" smtClean="0">
                <a:solidFill>
                  <a:prstClr val="black"/>
                </a:solidFill>
                <a:latin typeface="Arial" panose="020B0604020202020204" pitchFamily="34" charset="0"/>
                <a:ea typeface="ＭＳ Ｐゴシック" panose="020B0600070205080204" pitchFamily="34" charset="-128"/>
              </a:rPr>
              <a:t>detail in the </a:t>
            </a:r>
            <a:r>
              <a:rPr lang="en-US" altLang="en-US" b="0" dirty="0">
                <a:solidFill>
                  <a:prstClr val="black"/>
                </a:solidFill>
                <a:latin typeface="Arial" panose="020B0604020202020204" pitchFamily="34" charset="0"/>
                <a:ea typeface="ＭＳ Ｐゴシック" panose="020B0600070205080204" pitchFamily="34" charset="-128"/>
              </a:rPr>
              <a:t>next </a:t>
            </a:r>
            <a:r>
              <a:rPr lang="en-US" altLang="en-US" b="0" dirty="0" smtClean="0">
                <a:solidFill>
                  <a:prstClr val="black"/>
                </a:solidFill>
                <a:latin typeface="Arial" panose="020B0604020202020204" pitchFamily="34" charset="0"/>
                <a:ea typeface="ＭＳ Ｐゴシック" panose="020B0600070205080204" pitchFamily="34" charset="-128"/>
              </a:rPr>
              <a:t>topic.</a:t>
            </a:r>
            <a:endParaRPr lang="en-US" altLang="en-US" b="0" dirty="0">
              <a:solidFill>
                <a:prstClr val="black"/>
              </a:solidFill>
              <a:latin typeface="Arial" panose="020B0604020202020204" pitchFamily="34" charset="0"/>
              <a:ea typeface="ＭＳ Ｐゴシック" panose="020B0600070205080204" pitchFamily="34" charset="-128"/>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18813405"/>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2601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Incident Description: “The slope of an open quarry slid down, debris fell on equipment adjacent to slope causing injury, equipment loss, and production loss.”</a:t>
            </a:r>
          </a:p>
          <a:p>
            <a:pPr marL="0" indent="0" eaLnBrk="0" hangingPunct="0">
              <a:lnSpc>
                <a:spcPct val="90000"/>
              </a:lnSpc>
              <a:spcBef>
                <a:spcPts val="0"/>
              </a:spcBef>
              <a:buClr>
                <a:srgbClr val="000000"/>
              </a:buClr>
              <a:buSzPct val="100000"/>
              <a:buNone/>
            </a:pP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Sometimes, it is difficult to get started on an RCA. </a:t>
            </a:r>
          </a:p>
          <a:p>
            <a:pPr marL="36000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tools can you use to start your RCA after you have </a:t>
            </a:r>
            <a:r>
              <a:rPr lang="en-US" altLang="en-US" sz="18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learned about the incident and summarized </a:t>
            </a:r>
            <a:r>
              <a:rPr lang="en-US" altLang="en-US" sz="18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incident description</a:t>
            </a:r>
            <a:r>
              <a:rPr lang="en-US" altLang="en-US" sz="18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 Simply ask “why?”      b</a:t>
            </a:r>
            <a:r>
              <a:rPr lang="en-US" altLang="en-US" sz="1800" b="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RM </a:t>
            </a: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Program?     c) </a:t>
            </a:r>
            <a:r>
              <a:rPr lang="en-US" altLang="en-US" sz="1800" b="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The Discovery Approach? </a:t>
            </a:r>
            <a:endPar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 RM Work Process?    e</a:t>
            </a:r>
            <a:r>
              <a:rPr lang="en-US" altLang="en-US" sz="1800" b="0" i="1"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 Semi-Quantitative Risk Assessment?  </a:t>
            </a:r>
          </a:p>
        </p:txBody>
      </p:sp>
      <p:sp>
        <p:nvSpPr>
          <p:cNvPr id="9" name="Rectangle 2"/>
          <p:cNvSpPr>
            <a:spLocks noChangeArrowheads="1"/>
          </p:cNvSpPr>
          <p:nvPr/>
        </p:nvSpPr>
        <p:spPr bwMode="auto">
          <a:xfrm>
            <a:off x="180000" y="216000"/>
            <a:ext cx="8640000" cy="504000"/>
          </a:xfrm>
          <a:prstGeom prst="rect">
            <a:avLst/>
          </a:prstGeom>
          <a:solidFill>
            <a:schemeClr val="tx1"/>
          </a:solidFill>
          <a:ln w="9525">
            <a:solidFill>
              <a:schemeClr val="tx1"/>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Tools to Start the RCA</a:t>
            </a:r>
            <a:r>
              <a:rPr lang="en-US" altLang="en-US" sz="2400" b="0" dirty="0">
                <a:solidFill>
                  <a:schemeClr val="bg1"/>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2" name="TextBox 1"/>
          <p:cNvSpPr txBox="1"/>
          <p:nvPr/>
        </p:nvSpPr>
        <p:spPr>
          <a:xfrm>
            <a:off x="2057400" y="3505198"/>
            <a:ext cx="4599444" cy="646333"/>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The slope slid, debris </a:t>
            </a:r>
            <a:r>
              <a:rPr lang="en-US" sz="1600" dirty="0">
                <a:latin typeface="Arial" panose="020B0604020202020204" pitchFamily="34" charset="0"/>
                <a:cs typeface="Arial" panose="020B0604020202020204" pitchFamily="34" charset="0"/>
              </a:rPr>
              <a:t>fell on equipment, injuring one worker &amp; damaging equipment</a:t>
            </a:r>
          </a:p>
        </p:txBody>
      </p:sp>
      <p:sp>
        <p:nvSpPr>
          <p:cNvPr id="10" name="TextBox 9"/>
          <p:cNvSpPr txBox="1"/>
          <p:nvPr/>
        </p:nvSpPr>
        <p:spPr>
          <a:xfrm>
            <a:off x="180000" y="5449668"/>
            <a:ext cx="1725000" cy="646331"/>
          </a:xfrm>
          <a:prstGeom prst="rect">
            <a:avLst/>
          </a:prstGeom>
          <a:noFill/>
          <a:ln>
            <a:solidFill>
              <a:schemeClr val="tx1"/>
            </a:solidFill>
          </a:ln>
        </p:spPr>
        <p:txBody>
          <a:bodyPr wrap="square" lIns="36000" tIns="36000" rIns="36000" bIns="36000" rtlCol="0" anchor="ctr">
            <a:noAutofit/>
          </a:bodyPr>
          <a:lstStyle/>
          <a:p>
            <a:pPr algn="ctr"/>
            <a:r>
              <a:rPr lang="en-US" sz="1600" dirty="0">
                <a:latin typeface="Arial" panose="020B0604020202020204" pitchFamily="34" charset="0"/>
                <a:cs typeface="Arial" panose="020B0604020202020204" pitchFamily="34" charset="0"/>
              </a:rPr>
              <a:t>?</a:t>
            </a:r>
          </a:p>
        </p:txBody>
      </p:sp>
      <p:sp>
        <p:nvSpPr>
          <p:cNvPr id="14" name="TextBox 13"/>
          <p:cNvSpPr txBox="1"/>
          <p:nvPr/>
        </p:nvSpPr>
        <p:spPr>
          <a:xfrm>
            <a:off x="3276600" y="5449668"/>
            <a:ext cx="21348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3" name="Flowchart: Delay 2"/>
          <p:cNvSpPr/>
          <p:nvPr/>
        </p:nvSpPr>
        <p:spPr>
          <a:xfrm rot="16200000">
            <a:off x="4158000" y="4401600"/>
            <a:ext cx="396000" cy="43200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5" name="Elbow Connector 4"/>
          <p:cNvCxnSpPr>
            <a:stCxn id="2" idx="2"/>
            <a:endCxn id="3" idx="3"/>
          </p:cNvCxnSpPr>
          <p:nvPr/>
        </p:nvCxnSpPr>
        <p:spPr>
          <a:xfrm rot="5400000">
            <a:off x="4222527" y="4285004"/>
            <a:ext cx="268069" cy="11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3" idx="1"/>
            <a:endCxn id="14" idx="0"/>
          </p:cNvCxnSpPr>
          <p:nvPr/>
        </p:nvCxnSpPr>
        <p:spPr>
          <a:xfrm rot="5400000">
            <a:off x="4032978" y="5126646"/>
            <a:ext cx="634068" cy="1197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3" idx="1"/>
            <a:endCxn id="10" idx="0"/>
          </p:cNvCxnSpPr>
          <p:nvPr/>
        </p:nvCxnSpPr>
        <p:spPr>
          <a:xfrm rot="5400000">
            <a:off x="2382216" y="3475884"/>
            <a:ext cx="634068" cy="3313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766848" y="5446620"/>
            <a:ext cx="22317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cxnSp>
        <p:nvCxnSpPr>
          <p:cNvPr id="38" name="Elbow Connector 37"/>
          <p:cNvCxnSpPr>
            <a:stCxn id="3" idx="1"/>
            <a:endCxn id="36" idx="0"/>
          </p:cNvCxnSpPr>
          <p:nvPr/>
        </p:nvCxnSpPr>
        <p:spPr>
          <a:xfrm rot="16200000" flipH="1">
            <a:off x="5803851" y="3367749"/>
            <a:ext cx="631020" cy="35267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09477"/>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detailed incident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description is written,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summarise</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then:</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Ask Why?</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as demonstrated in the previous slides, and the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Discovery Approach</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are suitable.</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See topic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#11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2.3: Hazards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Hazard Identification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review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Discovery Approach</a:t>
            </a:r>
            <a:endPar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Discovery Approach is much more methodical</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“Ask Why?” and The Discovery Approach</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5220002" y="2664000"/>
            <a:ext cx="3579977" cy="3492000"/>
          </a:xfrm>
          <a:prstGeom prst="rect">
            <a:avLst/>
          </a:prstGeom>
        </p:spPr>
      </p:pic>
      <p:pic>
        <p:nvPicPr>
          <p:cNvPr id="3" name="Picture 2"/>
          <p:cNvPicPr>
            <a:picLocks noChangeAspect="1"/>
          </p:cNvPicPr>
          <p:nvPr/>
        </p:nvPicPr>
        <p:blipFill>
          <a:blip r:embed="rId4"/>
          <a:stretch>
            <a:fillRect/>
          </a:stretch>
        </p:blipFill>
        <p:spPr>
          <a:xfrm>
            <a:off x="360000" y="2664000"/>
            <a:ext cx="4655999" cy="3492000"/>
          </a:xfrm>
          <a:prstGeom prst="rect">
            <a:avLst/>
          </a:prstGeom>
          <a:ln>
            <a:solidFill>
              <a:schemeClr val="tx1"/>
            </a:solidFill>
          </a:ln>
        </p:spPr>
      </p:pic>
    </p:spTree>
    <p:extLst>
      <p:ext uri="{BB962C8B-B14F-4D97-AF65-F5344CB8AC3E}">
        <p14:creationId xmlns:p14="http://schemas.microsoft.com/office/powerpoint/2010/main" val="4064280450"/>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3"/>
          <p:cNvSpPr>
            <a:spLocks noChangeArrowheads="1"/>
          </p:cNvSpPr>
          <p:nvPr/>
        </p:nvSpPr>
        <p:spPr bwMode="auto">
          <a:xfrm>
            <a:off x="180000" y="828000"/>
            <a:ext cx="8640000" cy="2347574"/>
          </a:xfrm>
          <a:prstGeom prst="rect">
            <a:avLst/>
          </a:prstGeom>
          <a:solidFill>
            <a:srgbClr val="0000FF"/>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Please confer and respond (Open discussion):</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What are the responses to the questions when applying </a:t>
            </a:r>
            <a:b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i="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Discovery Approach”?</a:t>
            </a:r>
          </a:p>
          <a:p>
            <a:pPr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41" name="Rectangle 3"/>
          <p:cNvSpPr>
            <a:spLocks noChangeArrowheads="1"/>
          </p:cNvSpPr>
          <p:nvPr/>
        </p:nvSpPr>
        <p:spPr bwMode="auto">
          <a:xfrm>
            <a:off x="636300" y="1696669"/>
            <a:ext cx="7898100" cy="1427531"/>
          </a:xfrm>
          <a:prstGeom prst="rect">
            <a:avLst/>
          </a:prstGeom>
          <a:solidFill>
            <a:srgbClr val="66FFFF"/>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Discovery Approach:</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Energy Source?</a:t>
            </a:r>
          </a:p>
          <a:p>
            <a:pPr marL="360000" lvl="1" indent="-360000" eaLnBrk="0" hangingPunct="0">
              <a:lnSpc>
                <a:spcPct val="90000"/>
              </a:lnSpc>
              <a:spcBef>
                <a:spcPts val="0"/>
              </a:spcBef>
              <a:buClr>
                <a:srgbClr val="000000"/>
              </a:buClr>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Line-of-Fire?</a:t>
            </a:r>
          </a:p>
          <a:p>
            <a:pPr marL="360000" lvl="1" indent="-360000" eaLnBrk="0" hangingPunct="0">
              <a:lnSpc>
                <a:spcPct val="90000"/>
              </a:lnSpc>
              <a:spcBef>
                <a:spcPts val="0"/>
              </a:spcBef>
              <a:buClr>
                <a:srgbClr val="000000"/>
              </a:buClr>
              <a:buSzPct val="100000"/>
              <a:buFont typeface="+mj-lt"/>
              <a:buAutoNum type="arabicParen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 of or No Safeguard?</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w="9525">
            <a:solidFill>
              <a:srgbClr val="000000"/>
            </a:solidFill>
            <a:miter lim="800000"/>
            <a:headEnd/>
            <a:tailEnd/>
          </a:ln>
          <a:extLst/>
        </p:spPr>
        <p:txBody>
          <a:bodyPr anchor="ctr"/>
          <a:lstStyle/>
          <a:p>
            <a:pPr>
              <a:buFont typeface="Arial" panose="020B0604020202020204" pitchFamily="34" charset="0"/>
              <a:buNone/>
            </a:pPr>
            <a:r>
              <a:rPr lang="en-US" altLang="en-US" sz="2400" b="0" dirty="0">
                <a:solidFill>
                  <a:schemeClr val="bg1"/>
                </a:solidFill>
                <a:latin typeface="Arial" panose="020B0604020202020204" pitchFamily="34" charset="0"/>
                <a:ea typeface="+mj-ea"/>
                <a:cs typeface="Arial" panose="020B0604020202020204" pitchFamily="34" charset="0"/>
              </a:rPr>
              <a:t>ALE </a:t>
            </a:r>
            <a:r>
              <a:rPr lang="en-US" altLang="en-US" sz="2400" b="0" dirty="0" smtClean="0">
                <a:solidFill>
                  <a:schemeClr val="bg1"/>
                </a:solidFill>
                <a:latin typeface="Arial" panose="020B0604020202020204" pitchFamily="34" charset="0"/>
                <a:ea typeface="+mj-ea"/>
                <a:cs typeface="Arial" panose="020B0604020202020204" pitchFamily="34" charset="0"/>
              </a:rPr>
              <a:t>#5: </a:t>
            </a:r>
            <a:r>
              <a:rPr lang="en-US" altLang="en-US" sz="2400" b="0" dirty="0">
                <a:solidFill>
                  <a:schemeClr val="bg1"/>
                </a:solidFill>
                <a:latin typeface="Arial" panose="020B0604020202020204" pitchFamily="34" charset="0"/>
                <a:ea typeface="+mj-ea"/>
                <a:cs typeface="Arial" panose="020B0604020202020204" pitchFamily="34" charset="0"/>
              </a:rPr>
              <a:t>Apply the Discovery Approach in an RCA: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29" name="TextBox 28"/>
          <p:cNvSpPr txBox="1"/>
          <p:nvPr/>
        </p:nvSpPr>
        <p:spPr>
          <a:xfrm>
            <a:off x="180000" y="5587425"/>
            <a:ext cx="1725000"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Energy Source: </a:t>
            </a:r>
            <a:br>
              <a:rPr lang="en-US" sz="1600" i="1" dirty="0" smtClean="0">
                <a:latin typeface="Arial" panose="020B0604020202020204" pitchFamily="34" charset="0"/>
                <a:cs typeface="Arial" panose="020B0604020202020204" pitchFamily="34" charset="0"/>
              </a:rPr>
            </a:b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p:txBody>
      </p:sp>
      <p:sp>
        <p:nvSpPr>
          <p:cNvPr id="31" name="TextBox 30"/>
          <p:cNvSpPr txBox="1"/>
          <p:nvPr/>
        </p:nvSpPr>
        <p:spPr>
          <a:xfrm>
            <a:off x="3276600" y="5587424"/>
            <a:ext cx="21348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Line-of-Fire:</a:t>
            </a:r>
          </a:p>
          <a:p>
            <a:pPr algn="ct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p:txBody>
      </p:sp>
      <p:sp>
        <p:nvSpPr>
          <p:cNvPr id="37" name="TextBox 36"/>
          <p:cNvSpPr txBox="1"/>
          <p:nvPr/>
        </p:nvSpPr>
        <p:spPr>
          <a:xfrm>
            <a:off x="6740652" y="5584376"/>
            <a:ext cx="22317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Loss of Control:</a:t>
            </a:r>
          </a:p>
          <a:p>
            <a:pPr algn="ctr"/>
            <a:r>
              <a:rPr lang="en-US" sz="1600" i="1" dirty="0" smtClean="0">
                <a:latin typeface="Arial" panose="020B0604020202020204" pitchFamily="34" charset="0"/>
                <a:cs typeface="Arial" panose="020B0604020202020204" pitchFamily="34" charset="0"/>
              </a:rPr>
              <a:t>?</a:t>
            </a:r>
            <a:endParaRPr lang="en-US" sz="1600" i="1" dirty="0">
              <a:latin typeface="Arial" panose="020B0604020202020204" pitchFamily="34" charset="0"/>
              <a:cs typeface="Arial" panose="020B0604020202020204" pitchFamily="34" charset="0"/>
            </a:endParaRPr>
          </a:p>
        </p:txBody>
      </p:sp>
      <p:sp>
        <p:nvSpPr>
          <p:cNvPr id="25" name="TextBox 24"/>
          <p:cNvSpPr txBox="1"/>
          <p:nvPr/>
        </p:nvSpPr>
        <p:spPr>
          <a:xfrm>
            <a:off x="2057400" y="3200400"/>
            <a:ext cx="4599444" cy="646333"/>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The slope slid, debris </a:t>
            </a:r>
            <a:r>
              <a:rPr lang="en-US" sz="1600" dirty="0">
                <a:latin typeface="Arial" panose="020B0604020202020204" pitchFamily="34" charset="0"/>
                <a:cs typeface="Arial" panose="020B0604020202020204" pitchFamily="34" charset="0"/>
              </a:rPr>
              <a:t>fell on equipment, injuring one worker &amp; damaging equipment</a:t>
            </a:r>
          </a:p>
        </p:txBody>
      </p:sp>
      <p:sp>
        <p:nvSpPr>
          <p:cNvPr id="26" name="TextBox 25"/>
          <p:cNvSpPr txBox="1"/>
          <p:nvPr/>
        </p:nvSpPr>
        <p:spPr>
          <a:xfrm>
            <a:off x="180000" y="4916268"/>
            <a:ext cx="1725000" cy="646331"/>
          </a:xfrm>
          <a:prstGeom prst="rect">
            <a:avLst/>
          </a:prstGeom>
          <a:noFill/>
          <a:ln>
            <a:solidFill>
              <a:schemeClr val="tx1"/>
            </a:solidFill>
          </a:ln>
        </p:spPr>
        <p:txBody>
          <a:bodyPr wrap="square" lIns="36000" tIns="36000" rIns="36000" bIns="36000" rtlCol="0" anchor="ctr">
            <a:noAutofit/>
          </a:bodyPr>
          <a:lstStyle/>
          <a:p>
            <a:pPr algn="ctr"/>
            <a:r>
              <a:rPr lang="en-US" sz="1600" dirty="0">
                <a:latin typeface="Arial" panose="020B0604020202020204" pitchFamily="34" charset="0"/>
                <a:cs typeface="Arial" panose="020B0604020202020204" pitchFamily="34" charset="0"/>
              </a:rPr>
              <a:t>?</a:t>
            </a:r>
          </a:p>
        </p:txBody>
      </p:sp>
      <p:sp>
        <p:nvSpPr>
          <p:cNvPr id="28" name="TextBox 27"/>
          <p:cNvSpPr txBox="1"/>
          <p:nvPr/>
        </p:nvSpPr>
        <p:spPr>
          <a:xfrm>
            <a:off x="3302796" y="4916268"/>
            <a:ext cx="21348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32" name="Flowchart: Delay 31"/>
          <p:cNvSpPr/>
          <p:nvPr/>
        </p:nvSpPr>
        <p:spPr>
          <a:xfrm rot="16200000">
            <a:off x="4158000" y="4081800"/>
            <a:ext cx="396000" cy="43200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33" name="Elbow Connector 32"/>
          <p:cNvCxnSpPr>
            <a:stCxn id="25" idx="2"/>
            <a:endCxn id="32" idx="3"/>
          </p:cNvCxnSpPr>
          <p:nvPr/>
        </p:nvCxnSpPr>
        <p:spPr>
          <a:xfrm rot="5400000">
            <a:off x="4230028" y="3972705"/>
            <a:ext cx="253067" cy="11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32" idx="1"/>
            <a:endCxn id="28" idx="0"/>
          </p:cNvCxnSpPr>
          <p:nvPr/>
        </p:nvCxnSpPr>
        <p:spPr>
          <a:xfrm rot="16200000" flipH="1">
            <a:off x="4152876" y="4698924"/>
            <a:ext cx="420468" cy="142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32" idx="1"/>
            <a:endCxn id="26" idx="0"/>
          </p:cNvCxnSpPr>
          <p:nvPr/>
        </p:nvCxnSpPr>
        <p:spPr>
          <a:xfrm rot="5400000">
            <a:off x="2489016" y="3049284"/>
            <a:ext cx="420468" cy="3313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766848" y="4913220"/>
            <a:ext cx="22317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cxnSp>
        <p:nvCxnSpPr>
          <p:cNvPr id="42" name="Elbow Connector 41"/>
          <p:cNvCxnSpPr>
            <a:stCxn id="32" idx="1"/>
            <a:endCxn id="40" idx="0"/>
          </p:cNvCxnSpPr>
          <p:nvPr/>
        </p:nvCxnSpPr>
        <p:spPr>
          <a:xfrm rot="16200000" flipH="1">
            <a:off x="5910651" y="2941149"/>
            <a:ext cx="417420" cy="35267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3"/>
          <a:stretch>
            <a:fillRect/>
          </a:stretch>
        </p:blipFill>
        <p:spPr>
          <a:xfrm>
            <a:off x="4704705" y="1751007"/>
            <a:ext cx="1391296" cy="1358011"/>
          </a:xfrm>
          <a:prstGeom prst="rect">
            <a:avLst/>
          </a:prstGeom>
        </p:spPr>
      </p:pic>
    </p:spTree>
    <p:extLst>
      <p:ext uri="{BB962C8B-B14F-4D97-AF65-F5344CB8AC3E}">
        <p14:creationId xmlns:p14="http://schemas.microsoft.com/office/powerpoint/2010/main" val="2489667212"/>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3"/>
          <p:cNvSpPr>
            <a:spLocks noChangeArrowheads="1"/>
          </p:cNvSpPr>
          <p:nvPr/>
        </p:nvSpPr>
        <p:spPr bwMode="auto">
          <a:xfrm>
            <a:off x="180000" y="828000"/>
            <a:ext cx="8640000" cy="1469593"/>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example shown here is but one of many ways to start constructing the RCA chart based on the summarized incident description. As you progress through the RCA chart by “asking why”, the logical order of these causes may be changed in order to make each of the developing roots in the chart flow logically and smoothly.</a:t>
            </a:r>
          </a:p>
          <a:p>
            <a:pPr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w="9525">
            <a:solidFill>
              <a:srgbClr val="000000"/>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Apply the Discovery Approach in an RCA:</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
        <p:nvSpPr>
          <p:cNvPr id="29" name="TextBox 28"/>
          <p:cNvSpPr txBox="1"/>
          <p:nvPr/>
        </p:nvSpPr>
        <p:spPr>
          <a:xfrm>
            <a:off x="180000" y="5587425"/>
            <a:ext cx="1725000"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Energy Source: </a:t>
            </a:r>
            <a:br>
              <a:rPr lang="en-US" sz="1600" i="1" dirty="0" smtClean="0">
                <a:latin typeface="Arial" panose="020B0604020202020204" pitchFamily="34" charset="0"/>
                <a:cs typeface="Arial" panose="020B0604020202020204" pitchFamily="34" charset="0"/>
              </a:rPr>
            </a:br>
            <a:r>
              <a:rPr lang="en-US" sz="1600" i="1" dirty="0" smtClean="0">
                <a:latin typeface="Arial" panose="020B0604020202020204" pitchFamily="34" charset="0"/>
                <a:cs typeface="Arial" panose="020B0604020202020204" pitchFamily="34" charset="0"/>
              </a:rPr>
              <a:t>gravity</a:t>
            </a:r>
            <a:endParaRPr lang="en-US" sz="1600" i="1" dirty="0">
              <a:latin typeface="Arial" panose="020B0604020202020204" pitchFamily="34" charset="0"/>
              <a:cs typeface="Arial" panose="020B0604020202020204" pitchFamily="34" charset="0"/>
            </a:endParaRPr>
          </a:p>
        </p:txBody>
      </p:sp>
      <p:sp>
        <p:nvSpPr>
          <p:cNvPr id="30" name="TextBox 29"/>
          <p:cNvSpPr txBox="1"/>
          <p:nvPr/>
        </p:nvSpPr>
        <p:spPr>
          <a:xfrm>
            <a:off x="2057400" y="5587425"/>
            <a:ext cx="2302200"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Energy Source: </a:t>
            </a:r>
            <a:r>
              <a:rPr lang="en-US" sz="1600" i="1" dirty="0">
                <a:latin typeface="Arial" panose="020B0604020202020204" pitchFamily="34" charset="0"/>
                <a:cs typeface="Arial" panose="020B0604020202020204" pitchFamily="34" charset="0"/>
              </a:rPr>
              <a:t/>
            </a:r>
            <a:br>
              <a:rPr lang="en-US" sz="1600" i="1" dirty="0">
                <a:latin typeface="Arial" panose="020B0604020202020204" pitchFamily="34" charset="0"/>
                <a:cs typeface="Arial" panose="020B0604020202020204" pitchFamily="34" charset="0"/>
              </a:rPr>
            </a:br>
            <a:r>
              <a:rPr lang="en-US" sz="1600" i="1" dirty="0" smtClean="0">
                <a:latin typeface="Arial" panose="020B0604020202020204" pitchFamily="34" charset="0"/>
                <a:cs typeface="Arial" panose="020B0604020202020204" pitchFamily="34" charset="0"/>
              </a:rPr>
              <a:t>instability</a:t>
            </a:r>
          </a:p>
        </p:txBody>
      </p:sp>
      <p:sp>
        <p:nvSpPr>
          <p:cNvPr id="31" name="TextBox 30"/>
          <p:cNvSpPr txBox="1"/>
          <p:nvPr/>
        </p:nvSpPr>
        <p:spPr>
          <a:xfrm>
            <a:off x="4495800" y="5587424"/>
            <a:ext cx="21348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Line-of-Fire:</a:t>
            </a:r>
          </a:p>
          <a:p>
            <a:pPr algn="ctr"/>
            <a:r>
              <a:rPr lang="en-US" sz="1600" i="1" dirty="0">
                <a:latin typeface="Arial" panose="020B0604020202020204" pitchFamily="34" charset="0"/>
                <a:cs typeface="Arial" panose="020B0604020202020204" pitchFamily="34" charset="0"/>
              </a:rPr>
              <a:t>p</a:t>
            </a:r>
            <a:r>
              <a:rPr lang="en-US" sz="1600" i="1" dirty="0" smtClean="0">
                <a:latin typeface="Arial" panose="020B0604020202020204" pitchFamily="34" charset="0"/>
                <a:cs typeface="Arial" panose="020B0604020202020204" pitchFamily="34" charset="0"/>
              </a:rPr>
              <a:t>eople &amp; equipment</a:t>
            </a:r>
            <a:endParaRPr lang="en-US" sz="1600" i="1" dirty="0">
              <a:latin typeface="Arial" panose="020B0604020202020204" pitchFamily="34" charset="0"/>
              <a:cs typeface="Arial" panose="020B0604020202020204" pitchFamily="34" charset="0"/>
            </a:endParaRPr>
          </a:p>
        </p:txBody>
      </p:sp>
      <p:sp>
        <p:nvSpPr>
          <p:cNvPr id="37" name="TextBox 36"/>
          <p:cNvSpPr txBox="1"/>
          <p:nvPr/>
        </p:nvSpPr>
        <p:spPr>
          <a:xfrm>
            <a:off x="6740652" y="5584376"/>
            <a:ext cx="2231748" cy="584775"/>
          </a:xfrm>
          <a:prstGeom prst="rect">
            <a:avLst/>
          </a:prstGeom>
          <a:solidFill>
            <a:srgbClr val="FFFF00"/>
          </a:solidFill>
          <a:ln>
            <a:solidFill>
              <a:schemeClr val="tx1"/>
            </a:solidFill>
          </a:ln>
        </p:spPr>
        <p:txBody>
          <a:bodyPr wrap="square" rtlCol="0">
            <a:spAutoFit/>
          </a:bodyPr>
          <a:lstStyle/>
          <a:p>
            <a:pPr algn="ctr"/>
            <a:r>
              <a:rPr lang="en-US" sz="1600" i="1" dirty="0" smtClean="0">
                <a:latin typeface="Arial" panose="020B0604020202020204" pitchFamily="34" charset="0"/>
                <a:cs typeface="Arial" panose="020B0604020202020204" pitchFamily="34" charset="0"/>
              </a:rPr>
              <a:t>Loss of Control:</a:t>
            </a:r>
          </a:p>
          <a:p>
            <a:pPr algn="ctr"/>
            <a:r>
              <a:rPr lang="en-US" sz="1600" i="1" dirty="0" smtClean="0">
                <a:latin typeface="Arial" panose="020B0604020202020204" pitchFamily="34" charset="0"/>
                <a:cs typeface="Arial" panose="020B0604020202020204" pitchFamily="34" charset="0"/>
              </a:rPr>
              <a:t>No physical barrier</a:t>
            </a:r>
            <a:endParaRPr lang="en-US" sz="1600" i="1" dirty="0">
              <a:latin typeface="Arial" panose="020B0604020202020204" pitchFamily="34" charset="0"/>
              <a:cs typeface="Arial" panose="020B0604020202020204" pitchFamily="34" charset="0"/>
            </a:endParaRPr>
          </a:p>
        </p:txBody>
      </p:sp>
      <p:sp>
        <p:nvSpPr>
          <p:cNvPr id="25" name="TextBox 24"/>
          <p:cNvSpPr txBox="1"/>
          <p:nvPr/>
        </p:nvSpPr>
        <p:spPr>
          <a:xfrm>
            <a:off x="2057400" y="2971798"/>
            <a:ext cx="4599444" cy="646333"/>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The slope slid, debris </a:t>
            </a:r>
            <a:r>
              <a:rPr lang="en-US" sz="1600" dirty="0">
                <a:latin typeface="Arial" panose="020B0604020202020204" pitchFamily="34" charset="0"/>
                <a:cs typeface="Arial" panose="020B0604020202020204" pitchFamily="34" charset="0"/>
              </a:rPr>
              <a:t>fell on equipment, injuring one worker &amp; damaging equipment</a:t>
            </a:r>
          </a:p>
        </p:txBody>
      </p:sp>
      <p:sp>
        <p:nvSpPr>
          <p:cNvPr id="26" name="TextBox 25"/>
          <p:cNvSpPr txBox="1"/>
          <p:nvPr/>
        </p:nvSpPr>
        <p:spPr>
          <a:xfrm>
            <a:off x="180000" y="4916268"/>
            <a:ext cx="1725000"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Debris fell</a:t>
            </a:r>
            <a:endParaRPr lang="en-US" sz="1600" dirty="0">
              <a:latin typeface="Arial" panose="020B0604020202020204" pitchFamily="34" charset="0"/>
              <a:cs typeface="Arial" panose="020B0604020202020204" pitchFamily="34" charset="0"/>
            </a:endParaRPr>
          </a:p>
        </p:txBody>
      </p:sp>
      <p:sp>
        <p:nvSpPr>
          <p:cNvPr id="27" name="TextBox 26"/>
          <p:cNvSpPr txBox="1"/>
          <p:nvPr/>
        </p:nvSpPr>
        <p:spPr>
          <a:xfrm>
            <a:off x="2057400" y="4916269"/>
            <a:ext cx="2302200"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Slope was unstable</a:t>
            </a:r>
            <a:endParaRPr lang="en-US" sz="1600" dirty="0">
              <a:latin typeface="Arial" panose="020B0604020202020204" pitchFamily="34" charset="0"/>
              <a:cs typeface="Arial" panose="020B0604020202020204" pitchFamily="34" charset="0"/>
            </a:endParaRPr>
          </a:p>
        </p:txBody>
      </p:sp>
      <p:sp>
        <p:nvSpPr>
          <p:cNvPr id="28" name="TextBox 27"/>
          <p:cNvSpPr txBox="1"/>
          <p:nvPr/>
        </p:nvSpPr>
        <p:spPr>
          <a:xfrm>
            <a:off x="4495800" y="4916268"/>
            <a:ext cx="21348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Equipment and People in the area</a:t>
            </a:r>
            <a:endParaRPr lang="en-US" sz="1600" dirty="0">
              <a:latin typeface="Arial" panose="020B0604020202020204" pitchFamily="34" charset="0"/>
              <a:cs typeface="Arial" panose="020B0604020202020204" pitchFamily="34" charset="0"/>
            </a:endParaRPr>
          </a:p>
        </p:txBody>
      </p:sp>
      <p:sp>
        <p:nvSpPr>
          <p:cNvPr id="32" name="Flowchart: Delay 31"/>
          <p:cNvSpPr/>
          <p:nvPr/>
        </p:nvSpPr>
        <p:spPr>
          <a:xfrm rot="16200000">
            <a:off x="4158000" y="3868200"/>
            <a:ext cx="396000" cy="43200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33" name="Elbow Connector 32"/>
          <p:cNvCxnSpPr>
            <a:stCxn id="25" idx="2"/>
            <a:endCxn id="32" idx="3"/>
          </p:cNvCxnSpPr>
          <p:nvPr/>
        </p:nvCxnSpPr>
        <p:spPr>
          <a:xfrm rot="16200000" flipH="1">
            <a:off x="4221666" y="3751865"/>
            <a:ext cx="268069" cy="6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32" idx="1"/>
            <a:endCxn id="28" idx="0"/>
          </p:cNvCxnSpPr>
          <p:nvPr/>
        </p:nvCxnSpPr>
        <p:spPr>
          <a:xfrm rot="16200000" flipH="1">
            <a:off x="4655676" y="3982524"/>
            <a:ext cx="634068" cy="12334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32" idx="1"/>
            <a:endCxn id="27" idx="0"/>
          </p:cNvCxnSpPr>
          <p:nvPr/>
        </p:nvCxnSpPr>
        <p:spPr>
          <a:xfrm rot="5400000">
            <a:off x="3465216" y="4025484"/>
            <a:ext cx="634069" cy="1147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32" idx="1"/>
            <a:endCxn id="26" idx="0"/>
          </p:cNvCxnSpPr>
          <p:nvPr/>
        </p:nvCxnSpPr>
        <p:spPr>
          <a:xfrm rot="5400000">
            <a:off x="2382216" y="2942484"/>
            <a:ext cx="634068" cy="33135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740652" y="4913220"/>
            <a:ext cx="2231748" cy="646331"/>
          </a:xfrm>
          <a:prstGeom prst="rect">
            <a:avLst/>
          </a:prstGeom>
          <a:noFill/>
          <a:ln>
            <a:solidFill>
              <a:schemeClr val="tx1"/>
            </a:solidFill>
          </a:ln>
        </p:spPr>
        <p:txBody>
          <a:bodyPr wrap="square" lIns="36000" tIns="36000" rIns="36000" bIns="36000" rtlCol="0" anchor="ctr">
            <a:noAutofit/>
          </a:bodyPr>
          <a:lstStyle/>
          <a:p>
            <a:pPr algn="ctr"/>
            <a:r>
              <a:rPr lang="en-US" sz="1600" dirty="0" smtClean="0">
                <a:latin typeface="Arial" panose="020B0604020202020204" pitchFamily="34" charset="0"/>
                <a:cs typeface="Arial" panose="020B0604020202020204" pitchFamily="34" charset="0"/>
              </a:rPr>
              <a:t>Exclusion zone not marked</a:t>
            </a:r>
            <a:endParaRPr lang="en-US" sz="1600" dirty="0">
              <a:latin typeface="Arial" panose="020B0604020202020204" pitchFamily="34" charset="0"/>
              <a:cs typeface="Arial" panose="020B0604020202020204" pitchFamily="34" charset="0"/>
            </a:endParaRPr>
          </a:p>
        </p:txBody>
      </p:sp>
      <p:cxnSp>
        <p:nvCxnSpPr>
          <p:cNvPr id="42" name="Elbow Connector 41"/>
          <p:cNvCxnSpPr>
            <a:stCxn id="32" idx="1"/>
            <a:endCxn id="40" idx="0"/>
          </p:cNvCxnSpPr>
          <p:nvPr/>
        </p:nvCxnSpPr>
        <p:spPr>
          <a:xfrm rot="16200000" flipH="1">
            <a:off x="5803851" y="2834349"/>
            <a:ext cx="631020" cy="352672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2154414"/>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spcAft>
                <a:spcPts val="0"/>
              </a:spcAft>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This </a:t>
            </a:r>
            <a:r>
              <a:rPr lang="en-US" altLang="en-US" b="0" dirty="0">
                <a:solidFill>
                  <a:prstClr val="black"/>
                </a:solidFill>
                <a:latin typeface="Arial" panose="020B0604020202020204" pitchFamily="34" charset="0"/>
                <a:ea typeface="ＭＳ Ｐゴシック" panose="020B0600070205080204" pitchFamily="34" charset="-128"/>
              </a:rPr>
              <a:t>topic explains the purpose and application of the Cause &amp; Effect Model, and the fundamental constructs of a Root Cause Analysis</a:t>
            </a:r>
            <a:r>
              <a:rPr lang="en-US" altLang="en-US" b="0" dirty="0" smtClean="0">
                <a:solidFill>
                  <a:prstClr val="black"/>
                </a:solidFill>
                <a:latin typeface="Arial" panose="020B0604020202020204" pitchFamily="34" charset="0"/>
                <a:ea typeface="ＭＳ Ｐゴシック" panose="020B0600070205080204" pitchFamily="34" charset="-128"/>
              </a:rPr>
              <a:t>.</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The Detailed Cause &amp; Effect Model is introduced as </a:t>
            </a:r>
            <a:r>
              <a:rPr lang="en-US" altLang="en-US" b="0" dirty="0" smtClean="0">
                <a:solidFill>
                  <a:prstClr val="black"/>
                </a:solidFill>
                <a:latin typeface="Arial" panose="020B0604020202020204" pitchFamily="34" charset="0"/>
                <a:ea typeface="ＭＳ Ｐゴシック" panose="020B0600070205080204" pitchFamily="34" charset="-128"/>
              </a:rPr>
              <a:t>a means to understand and explain the various different categories of causes.</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The RCA Work Process is introduced as a means to logically discover and arrange all of the causes leading to an incident.</a:t>
            </a:r>
          </a:p>
          <a:p>
            <a:pPr marL="720000" lvl="1"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sz="2000" b="0" dirty="0">
                <a:solidFill>
                  <a:prstClr val="black"/>
                </a:solidFill>
                <a:latin typeface="Arial" panose="020B0604020202020204" pitchFamily="34" charset="0"/>
                <a:ea typeface="ＭＳ Ｐゴシック" panose="020B0600070205080204" pitchFamily="34" charset="-128"/>
              </a:rPr>
              <a:t>The RCA WP starts with the Incident Description, and proceeds through immediate causes, basic causes, and latent causes. </a:t>
            </a:r>
            <a:endParaRPr lang="en-US" altLang="en-US" sz="2000" b="0" dirty="0" smtClean="0">
              <a:solidFill>
                <a:prstClr val="black"/>
              </a:solidFill>
              <a:latin typeface="Arial" panose="020B0604020202020204" pitchFamily="34" charset="0"/>
              <a:ea typeface="ＭＳ Ｐゴシック" panose="020B0600070205080204" pitchFamily="34" charset="-128"/>
            </a:endParaRPr>
          </a:p>
          <a:p>
            <a:pPr marL="720000" lvl="1"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sz="2000" b="0" dirty="0" smtClean="0">
                <a:solidFill>
                  <a:prstClr val="black"/>
                </a:solidFill>
                <a:latin typeface="Arial" panose="020B0604020202020204" pitchFamily="34" charset="0"/>
                <a:ea typeface="ＭＳ Ｐゴシック" panose="020B0600070205080204" pitchFamily="34" charset="-128"/>
              </a:rPr>
              <a:t>“Ask why?” can be applied throughout the RCA</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endParaRPr lang="en-US" altLang="en-US" b="0" dirty="0" smtClean="0">
              <a:solidFill>
                <a:prstClr val="black"/>
              </a:solidFill>
              <a:latin typeface="Arial" panose="020B0604020202020204" pitchFamily="34" charset="0"/>
              <a:ea typeface="ＭＳ Ｐゴシック" panose="020B0600070205080204" pitchFamily="34" charset="-128"/>
            </a:endParaRPr>
          </a:p>
          <a:p>
            <a:pPr marL="0" indent="0" eaLnBrk="0" hangingPunct="0">
              <a:lnSpc>
                <a:spcPct val="90000"/>
              </a:lnSpc>
              <a:spcBef>
                <a:spcPts val="0"/>
              </a:spcBef>
              <a:spcAft>
                <a:spcPts val="0"/>
              </a:spcAft>
              <a:buClrTx/>
              <a:buSzPct val="100000"/>
              <a:buNone/>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The RCA work process is used to create an RCA Chart. </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a:solidFill>
                  <a:prstClr val="black"/>
                </a:solidFill>
                <a:latin typeface="Arial" panose="020B0604020202020204" pitchFamily="34" charset="0"/>
                <a:ea typeface="ＭＳ Ｐゴシック" panose="020B0600070205080204" pitchFamily="34" charset="-128"/>
              </a:rPr>
              <a:t>The Discovery Approach can be applied to start the RCA. </a:t>
            </a:r>
          </a:p>
          <a:p>
            <a:pPr marL="36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After </a:t>
            </a:r>
            <a:r>
              <a:rPr lang="en-US" altLang="en-US" b="0" dirty="0">
                <a:solidFill>
                  <a:prstClr val="black"/>
                </a:solidFill>
                <a:latin typeface="Arial" panose="020B0604020202020204" pitchFamily="34" charset="0"/>
                <a:ea typeface="ＭＳ Ｐゴシック" panose="020B0600070205080204" pitchFamily="34" charset="-128"/>
              </a:rPr>
              <a:t>the chart has been </a:t>
            </a:r>
            <a:r>
              <a:rPr lang="en-US" altLang="en-US" b="0" dirty="0" smtClean="0">
                <a:solidFill>
                  <a:prstClr val="black"/>
                </a:solidFill>
                <a:latin typeface="Arial" panose="020B0604020202020204" pitchFamily="34" charset="0"/>
                <a:ea typeface="ＭＳ Ｐゴシック" panose="020B0600070205080204" pitchFamily="34" charset="-128"/>
              </a:rPr>
              <a:t>created, the Cause &amp; Effect Model is used to:</a:t>
            </a:r>
          </a:p>
          <a:p>
            <a:pPr marL="72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Categorize the causes in an RCA Chart, </a:t>
            </a:r>
          </a:p>
          <a:p>
            <a:pPr marL="72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Check the thoroughness and quality of an RCA Chart, and</a:t>
            </a:r>
            <a:endParaRPr lang="en-US" altLang="en-US" b="0" dirty="0">
              <a:solidFill>
                <a:prstClr val="black"/>
              </a:solidFill>
              <a:latin typeface="Arial" panose="020B0604020202020204" pitchFamily="34" charset="0"/>
              <a:ea typeface="ＭＳ Ｐゴシック" panose="020B0600070205080204" pitchFamily="34" charset="-128"/>
            </a:endParaRPr>
          </a:p>
          <a:p>
            <a:pPr marL="720000" indent="-360000" eaLnBrk="0" fontAlgn="auto" hangingPunct="0">
              <a:lnSpc>
                <a:spcPct val="90000"/>
              </a:lnSpc>
              <a:spcBef>
                <a:spcPts val="0"/>
              </a:spcBef>
              <a:spcAft>
                <a:spcPts val="0"/>
              </a:spcAft>
              <a:buClr>
                <a:srgbClr val="000000"/>
              </a:buClr>
              <a:buSzPct val="100000"/>
              <a:buFont typeface="Wingdings" panose="05000000000000000000" pitchFamily="2" charset="2"/>
              <a:buChar char="Ø"/>
              <a:defRPr/>
            </a:pPr>
            <a:r>
              <a:rPr lang="en-US" altLang="en-US" b="0" dirty="0" smtClean="0">
                <a:solidFill>
                  <a:prstClr val="black"/>
                </a:solidFill>
                <a:latin typeface="Arial" panose="020B0604020202020204" pitchFamily="34" charset="0"/>
                <a:ea typeface="ＭＳ Ｐゴシック" panose="020B0600070205080204" pitchFamily="34" charset="-128"/>
              </a:rPr>
              <a:t>Revise the RCA Chart to make improvements on it. </a:t>
            </a:r>
            <a:endParaRPr lang="en-US" altLang="en-US" b="0" dirty="0">
              <a:solidFill>
                <a:prstClr val="black"/>
              </a:solidFill>
              <a:latin typeface="Arial" panose="020B0604020202020204" pitchFamily="34" charset="0"/>
              <a:ea typeface="ＭＳ Ｐゴシック" panose="020B0600070205080204" pitchFamily="34" charset="-128"/>
            </a:endParaRPr>
          </a:p>
          <a:p>
            <a:pPr marL="0" indent="0" eaLnBrk="0" hangingPunct="0">
              <a:lnSpc>
                <a:spcPct val="90000"/>
              </a:lnSpc>
              <a:spcBef>
                <a:spcPts val="0"/>
              </a:spcBef>
              <a:spcAft>
                <a:spcPts val="0"/>
              </a:spcAft>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4.2: C&amp;E Model &amp; Chapter 4.3: RCA of an Incident</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7439666"/>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2"/>
        </a:solidFill>
        <a:ln w="9525" algn="ctr">
          <a:solidFill>
            <a:srgbClr val="000000"/>
          </a:solidFill>
          <a:miter lim="800000"/>
          <a:headEnd/>
          <a:tailEnd/>
        </a:ln>
        <a:effectLst/>
        <a:extLst/>
      </a:spPr>
      <a:bodyPr/>
      <a:lstStyle>
        <a:defPPr marL="0" indent="0" eaLnBrk="1" hangingPunct="1">
          <a:spcBef>
            <a:spcPts val="0"/>
          </a:spcBef>
          <a:buClr>
            <a:srgbClr val="000000"/>
          </a:buClr>
          <a:buSzTx/>
          <a:buNone/>
          <a:defRPr sz="1800" dirty="0" smtClean="0">
            <a:solidFill>
              <a:schemeClr val="tx1">
                <a:lumMod val="85000"/>
                <a:lumOff val="15000"/>
              </a:schemeClr>
            </a:solidFill>
            <a:latin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70076</TotalTime>
  <Words>4537</Words>
  <Application>Microsoft Office PowerPoint</Application>
  <PresentationFormat>On-screen Show (4:3)</PresentationFormat>
  <Paragraphs>809</Paragraphs>
  <Slides>45</Slides>
  <Notes>38</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45</vt:i4>
      </vt:variant>
    </vt:vector>
  </HeadingPairs>
  <TitlesOfParts>
    <vt:vector size="56" baseType="lpstr">
      <vt:lpstr>ＭＳ Ｐゴシック</vt:lpstr>
      <vt:lpstr>Arial</vt:lpstr>
      <vt:lpstr>Calibri</vt:lpstr>
      <vt:lpstr>Calibri Light</vt:lpstr>
      <vt:lpstr>Comic Sans MS</vt:lpstr>
      <vt:lpstr>Symbol</vt:lpstr>
      <vt:lpstr>Times New Roman</vt:lpstr>
      <vt:lpstr>Wingdings</vt:lpstr>
      <vt:lpstr>Default Design</vt:lpstr>
      <vt:lpstr>Office Theme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2004</cp:revision>
  <cp:lastPrinted>2018-12-17T22:21:47Z</cp:lastPrinted>
  <dcterms:created xsi:type="dcterms:W3CDTF">2007-03-28T16:18:47Z</dcterms:created>
  <dcterms:modified xsi:type="dcterms:W3CDTF">2022-07-07T15:46:32Z</dcterms:modified>
</cp:coreProperties>
</file>