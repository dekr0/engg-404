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4151" r:id="rId2"/>
  </p:sldMasterIdLst>
  <p:notesMasterIdLst>
    <p:notesMasterId r:id="rId47"/>
  </p:notesMasterIdLst>
  <p:handoutMasterIdLst>
    <p:handoutMasterId r:id="rId48"/>
  </p:handoutMasterIdLst>
  <p:sldIdLst>
    <p:sldId id="895" r:id="rId3"/>
    <p:sldId id="880" r:id="rId4"/>
    <p:sldId id="928" r:id="rId5"/>
    <p:sldId id="961" r:id="rId6"/>
    <p:sldId id="988" r:id="rId7"/>
    <p:sldId id="989" r:id="rId8"/>
    <p:sldId id="964" r:id="rId9"/>
    <p:sldId id="965" r:id="rId10"/>
    <p:sldId id="967" r:id="rId11"/>
    <p:sldId id="1015" r:id="rId12"/>
    <p:sldId id="1004" r:id="rId13"/>
    <p:sldId id="968" r:id="rId14"/>
    <p:sldId id="990" r:id="rId15"/>
    <p:sldId id="1007" r:id="rId16"/>
    <p:sldId id="1009" r:id="rId17"/>
    <p:sldId id="970" r:id="rId18"/>
    <p:sldId id="971" r:id="rId19"/>
    <p:sldId id="999" r:id="rId20"/>
    <p:sldId id="975" r:id="rId21"/>
    <p:sldId id="974" r:id="rId22"/>
    <p:sldId id="995" r:id="rId23"/>
    <p:sldId id="948" r:id="rId24"/>
    <p:sldId id="949" r:id="rId25"/>
    <p:sldId id="978" r:id="rId26"/>
    <p:sldId id="979" r:id="rId27"/>
    <p:sldId id="980" r:id="rId28"/>
    <p:sldId id="1017" r:id="rId29"/>
    <p:sldId id="1019" r:id="rId30"/>
    <p:sldId id="1020" r:id="rId31"/>
    <p:sldId id="1018" r:id="rId32"/>
    <p:sldId id="991" r:id="rId33"/>
    <p:sldId id="1001" r:id="rId34"/>
    <p:sldId id="984" r:id="rId35"/>
    <p:sldId id="985" r:id="rId36"/>
    <p:sldId id="958" r:id="rId37"/>
    <p:sldId id="994" r:id="rId38"/>
    <p:sldId id="1002" r:id="rId39"/>
    <p:sldId id="1003" r:id="rId40"/>
    <p:sldId id="1011" r:id="rId41"/>
    <p:sldId id="1010" r:id="rId42"/>
    <p:sldId id="1013" r:id="rId43"/>
    <p:sldId id="1014" r:id="rId44"/>
    <p:sldId id="1006" r:id="rId45"/>
    <p:sldId id="900" r:id="rId46"/>
  </p:sldIdLst>
  <p:sldSz cx="9144000" cy="6858000" type="screen4x3"/>
  <p:notesSz cx="7010400" cy="9296400"/>
  <p:defaultTextStyle>
    <a:defPPr>
      <a:defRPr lang="en-US"/>
    </a:defPPr>
    <a:lvl1pPr algn="l" rtl="0" fontAlgn="base">
      <a:spcBef>
        <a:spcPct val="0"/>
      </a:spcBef>
      <a:spcAft>
        <a:spcPct val="0"/>
      </a:spcAft>
      <a:defRPr b="1" kern="1200">
        <a:solidFill>
          <a:schemeClr val="tx1"/>
        </a:solidFill>
        <a:latin typeface="Arial" charset="0"/>
        <a:ea typeface="+mn-ea"/>
        <a:cs typeface="+mn-cs"/>
      </a:defRPr>
    </a:lvl1pPr>
    <a:lvl2pPr marL="457200" algn="l" rtl="0" fontAlgn="base">
      <a:spcBef>
        <a:spcPct val="0"/>
      </a:spcBef>
      <a:spcAft>
        <a:spcPct val="0"/>
      </a:spcAft>
      <a:defRPr b="1" kern="1200">
        <a:solidFill>
          <a:schemeClr val="tx1"/>
        </a:solidFill>
        <a:latin typeface="Arial" charset="0"/>
        <a:ea typeface="+mn-ea"/>
        <a:cs typeface="+mn-cs"/>
      </a:defRPr>
    </a:lvl2pPr>
    <a:lvl3pPr marL="914400" algn="l" rtl="0" fontAlgn="base">
      <a:spcBef>
        <a:spcPct val="0"/>
      </a:spcBef>
      <a:spcAft>
        <a:spcPct val="0"/>
      </a:spcAft>
      <a:defRPr b="1" kern="1200">
        <a:solidFill>
          <a:schemeClr val="tx1"/>
        </a:solidFill>
        <a:latin typeface="Arial" charset="0"/>
        <a:ea typeface="+mn-ea"/>
        <a:cs typeface="+mn-cs"/>
      </a:defRPr>
    </a:lvl3pPr>
    <a:lvl4pPr marL="1371600" algn="l" rtl="0" fontAlgn="base">
      <a:spcBef>
        <a:spcPct val="0"/>
      </a:spcBef>
      <a:spcAft>
        <a:spcPct val="0"/>
      </a:spcAft>
      <a:defRPr b="1" kern="1200">
        <a:solidFill>
          <a:schemeClr val="tx1"/>
        </a:solidFill>
        <a:latin typeface="Arial" charset="0"/>
        <a:ea typeface="+mn-ea"/>
        <a:cs typeface="+mn-cs"/>
      </a:defRPr>
    </a:lvl4pPr>
    <a:lvl5pPr marL="1828800" algn="l" rtl="0" fontAlgn="base">
      <a:spcBef>
        <a:spcPct val="0"/>
      </a:spcBef>
      <a:spcAft>
        <a:spcPct val="0"/>
      </a:spcAft>
      <a:defRPr b="1" kern="1200">
        <a:solidFill>
          <a:schemeClr val="tx1"/>
        </a:solidFill>
        <a:latin typeface="Arial" charset="0"/>
        <a:ea typeface="+mn-ea"/>
        <a:cs typeface="+mn-cs"/>
      </a:defRPr>
    </a:lvl5pPr>
    <a:lvl6pPr marL="2286000" algn="l" defTabSz="914400" rtl="0" eaLnBrk="1" latinLnBrk="0" hangingPunct="1">
      <a:defRPr b="1" kern="1200">
        <a:solidFill>
          <a:schemeClr val="tx1"/>
        </a:solidFill>
        <a:latin typeface="Arial" charset="0"/>
        <a:ea typeface="+mn-ea"/>
        <a:cs typeface="+mn-cs"/>
      </a:defRPr>
    </a:lvl6pPr>
    <a:lvl7pPr marL="2743200" algn="l" defTabSz="914400" rtl="0" eaLnBrk="1" latinLnBrk="0" hangingPunct="1">
      <a:defRPr b="1" kern="1200">
        <a:solidFill>
          <a:schemeClr val="tx1"/>
        </a:solidFill>
        <a:latin typeface="Arial" charset="0"/>
        <a:ea typeface="+mn-ea"/>
        <a:cs typeface="+mn-cs"/>
      </a:defRPr>
    </a:lvl7pPr>
    <a:lvl8pPr marL="3200400" algn="l" defTabSz="914400" rtl="0" eaLnBrk="1" latinLnBrk="0" hangingPunct="1">
      <a:defRPr b="1" kern="1200">
        <a:solidFill>
          <a:schemeClr val="tx1"/>
        </a:solidFill>
        <a:latin typeface="Arial" charset="0"/>
        <a:ea typeface="+mn-ea"/>
        <a:cs typeface="+mn-cs"/>
      </a:defRPr>
    </a:lvl8pPr>
    <a:lvl9pPr marL="3657600" algn="l" defTabSz="914400" rtl="0" eaLnBrk="1" latinLnBrk="0" hangingPunct="1">
      <a:defRPr b="1" kern="1200">
        <a:solidFill>
          <a:schemeClr val="tx1"/>
        </a:solidFill>
        <a:latin typeface="Arial" charset="0"/>
        <a:ea typeface="+mn-ea"/>
        <a:cs typeface="+mn-cs"/>
      </a:defRPr>
    </a:lvl9pPr>
  </p:defaultTextStyle>
  <p:extLst>
    <p:ext uri="{521415D9-36F7-43E2-AB2F-B90AF26B5E84}">
      <p14:sectionLst xmlns:p14="http://schemas.microsoft.com/office/powerpoint/2010/main">
        <p14:section name="Default Section" id="{C9E92DFA-6333-4D24-89B4-B39EC0786CAA}">
          <p14:sldIdLst>
            <p14:sldId id="895"/>
            <p14:sldId id="880"/>
            <p14:sldId id="928"/>
            <p14:sldId id="961"/>
            <p14:sldId id="988"/>
            <p14:sldId id="989"/>
            <p14:sldId id="964"/>
            <p14:sldId id="965"/>
            <p14:sldId id="967"/>
            <p14:sldId id="1015"/>
            <p14:sldId id="1004"/>
            <p14:sldId id="968"/>
            <p14:sldId id="990"/>
            <p14:sldId id="1007"/>
            <p14:sldId id="1009"/>
            <p14:sldId id="970"/>
            <p14:sldId id="971"/>
            <p14:sldId id="999"/>
            <p14:sldId id="975"/>
            <p14:sldId id="974"/>
            <p14:sldId id="995"/>
            <p14:sldId id="948"/>
            <p14:sldId id="949"/>
            <p14:sldId id="978"/>
            <p14:sldId id="979"/>
            <p14:sldId id="980"/>
            <p14:sldId id="1017"/>
            <p14:sldId id="1019"/>
            <p14:sldId id="1020"/>
            <p14:sldId id="1018"/>
            <p14:sldId id="991"/>
            <p14:sldId id="1001"/>
            <p14:sldId id="984"/>
            <p14:sldId id="985"/>
            <p14:sldId id="958"/>
            <p14:sldId id="994"/>
            <p14:sldId id="1002"/>
            <p14:sldId id="1003"/>
            <p14:sldId id="1011"/>
            <p14:sldId id="1010"/>
            <p14:sldId id="1013"/>
            <p14:sldId id="1014"/>
            <p14:sldId id="1006"/>
            <p14:sldId id="900"/>
          </p14:sldIdLst>
        </p14:section>
      </p14:sectionLst>
    </p:ext>
    <p:ext uri="{EFAFB233-063F-42B5-8137-9DF3F51BA10A}">
      <p15:sldGuideLst xmlns:p15="http://schemas.microsoft.com/office/powerpoint/2012/main">
        <p15:guide id="1" orient="horz" pos="576">
          <p15:clr>
            <a:srgbClr val="A4A3A4"/>
          </p15:clr>
        </p15:guide>
        <p15:guide id="2" pos="3792">
          <p15:clr>
            <a:srgbClr val="A4A3A4"/>
          </p15:clr>
        </p15:guide>
      </p15:sldGuideLst>
    </p:ext>
    <p:ext uri="{2D200454-40CA-4A62-9FC3-DE9A4176ACB9}">
      <p15:notesGuideLst xmlns:p15="http://schemas.microsoft.com/office/powerpoint/2012/main">
        <p15:guide id="1" orient="horz" pos="2928" userDrawn="1">
          <p15:clr>
            <a:srgbClr val="A4A3A4"/>
          </p15:clr>
        </p15:guide>
        <p15:guide id="2" pos="2209"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Joel Gehman"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FF"/>
    <a:srgbClr val="F8F8F8"/>
    <a:srgbClr val="0000CC"/>
    <a:srgbClr val="000000"/>
    <a:srgbClr val="F5D7F1"/>
    <a:srgbClr val="5F5F5F"/>
    <a:srgbClr val="DDDDDD"/>
    <a:srgbClr val="FBA3E8"/>
    <a:srgbClr val="333333"/>
    <a:srgbClr val="BDB1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2422" autoAdjust="0"/>
  </p:normalViewPr>
  <p:slideViewPr>
    <p:cSldViewPr>
      <p:cViewPr varScale="1">
        <p:scale>
          <a:sx n="70" d="100"/>
          <a:sy n="70" d="100"/>
        </p:scale>
        <p:origin x="1128" y="56"/>
      </p:cViewPr>
      <p:guideLst>
        <p:guide orient="horz" pos="576"/>
        <p:guide pos="3792"/>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20" d="100"/>
        <a:sy n="120" d="100"/>
      </p:scale>
      <p:origin x="0" y="-18088"/>
    </p:cViewPr>
  </p:sorterViewPr>
  <p:notesViewPr>
    <p:cSldViewPr>
      <p:cViewPr>
        <p:scale>
          <a:sx n="66" d="100"/>
          <a:sy n="66" d="100"/>
        </p:scale>
        <p:origin x="-2634" y="222"/>
      </p:cViewPr>
      <p:guideLst>
        <p:guide orient="horz" pos="2928"/>
        <p:guide pos="2209"/>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tableStyles" Target="tableStyles.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handoutMaster" Target="handoutMasters/handoutMaster1.xml"/><Relationship Id="rId8" Type="http://schemas.openxmlformats.org/officeDocument/2006/relationships/slide" Target="slides/slide6.xml"/><Relationship Id="rId51" Type="http://schemas.openxmlformats.org/officeDocument/2006/relationships/viewProps" Target="viewProp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commentAuthors" Target="commentAuthors.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0.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0162" name="Rectangle 2"/>
          <p:cNvSpPr>
            <a:spLocks noGrp="1" noChangeArrowheads="1"/>
          </p:cNvSpPr>
          <p:nvPr>
            <p:ph type="hdr" sz="quarter"/>
          </p:nvPr>
        </p:nvSpPr>
        <p:spPr bwMode="auto">
          <a:xfrm>
            <a:off x="1" y="1"/>
            <a:ext cx="3037146" cy="464504"/>
          </a:xfrm>
          <a:prstGeom prst="rect">
            <a:avLst/>
          </a:prstGeom>
          <a:noFill/>
          <a:ln w="9525">
            <a:noFill/>
            <a:miter lim="800000"/>
            <a:headEnd/>
            <a:tailEnd/>
          </a:ln>
          <a:effectLst/>
        </p:spPr>
        <p:txBody>
          <a:bodyPr vert="horz" wrap="square" lIns="93136" tIns="46568" rIns="93136" bIns="46568" numCol="1" anchor="t" anchorCtr="0" compatLnSpc="1">
            <a:prstTxWarp prst="textNoShape">
              <a:avLst/>
            </a:prstTxWarp>
          </a:bodyPr>
          <a:lstStyle>
            <a:lvl1pPr eaLnBrk="0" hangingPunct="0">
              <a:defRPr sz="1200" b="0">
                <a:latin typeface="Arial" charset="0"/>
              </a:defRPr>
            </a:lvl1pPr>
          </a:lstStyle>
          <a:p>
            <a:pPr>
              <a:defRPr/>
            </a:pPr>
            <a:endParaRPr lang="en-US"/>
          </a:p>
        </p:txBody>
      </p:sp>
      <p:sp>
        <p:nvSpPr>
          <p:cNvPr id="220163" name="Rectangle 3"/>
          <p:cNvSpPr>
            <a:spLocks noGrp="1" noChangeArrowheads="1"/>
          </p:cNvSpPr>
          <p:nvPr>
            <p:ph type="dt" sz="quarter" idx="1"/>
          </p:nvPr>
        </p:nvSpPr>
        <p:spPr bwMode="auto">
          <a:xfrm>
            <a:off x="3971654" y="1"/>
            <a:ext cx="3037146" cy="464504"/>
          </a:xfrm>
          <a:prstGeom prst="rect">
            <a:avLst/>
          </a:prstGeom>
          <a:noFill/>
          <a:ln w="9525">
            <a:noFill/>
            <a:miter lim="800000"/>
            <a:headEnd/>
            <a:tailEnd/>
          </a:ln>
          <a:effectLst/>
        </p:spPr>
        <p:txBody>
          <a:bodyPr vert="horz" wrap="square" lIns="93136" tIns="46568" rIns="93136" bIns="46568" numCol="1" anchor="t" anchorCtr="0" compatLnSpc="1">
            <a:prstTxWarp prst="textNoShape">
              <a:avLst/>
            </a:prstTxWarp>
          </a:bodyPr>
          <a:lstStyle>
            <a:lvl1pPr algn="r" eaLnBrk="0" hangingPunct="0">
              <a:defRPr sz="1200" b="0">
                <a:latin typeface="Arial" charset="0"/>
              </a:defRPr>
            </a:lvl1pPr>
          </a:lstStyle>
          <a:p>
            <a:pPr>
              <a:defRPr/>
            </a:pPr>
            <a:fld id="{25E55AEC-8BF8-47AA-8A9C-C1CC4D3D3CD7}" type="datetimeFigureOut">
              <a:rPr lang="en-US"/>
              <a:pPr>
                <a:defRPr/>
              </a:pPr>
              <a:t>5/10/2022</a:t>
            </a:fld>
            <a:endParaRPr lang="en-US"/>
          </a:p>
        </p:txBody>
      </p:sp>
      <p:sp>
        <p:nvSpPr>
          <p:cNvPr id="220164" name="Rectangle 4"/>
          <p:cNvSpPr>
            <a:spLocks noGrp="1" noChangeArrowheads="1"/>
          </p:cNvSpPr>
          <p:nvPr>
            <p:ph type="ftr" sz="quarter" idx="2"/>
          </p:nvPr>
        </p:nvSpPr>
        <p:spPr bwMode="auto">
          <a:xfrm>
            <a:off x="1" y="8830312"/>
            <a:ext cx="3037146" cy="464504"/>
          </a:xfrm>
          <a:prstGeom prst="rect">
            <a:avLst/>
          </a:prstGeom>
          <a:noFill/>
          <a:ln w="9525">
            <a:noFill/>
            <a:miter lim="800000"/>
            <a:headEnd/>
            <a:tailEnd/>
          </a:ln>
          <a:effectLst/>
        </p:spPr>
        <p:txBody>
          <a:bodyPr vert="horz" wrap="square" lIns="93136" tIns="46568" rIns="93136" bIns="46568" numCol="1" anchor="b" anchorCtr="0" compatLnSpc="1">
            <a:prstTxWarp prst="textNoShape">
              <a:avLst/>
            </a:prstTxWarp>
          </a:bodyPr>
          <a:lstStyle>
            <a:lvl1pPr eaLnBrk="0" hangingPunct="0">
              <a:defRPr sz="1200" b="0">
                <a:latin typeface="Arial" charset="0"/>
              </a:defRPr>
            </a:lvl1pPr>
          </a:lstStyle>
          <a:p>
            <a:pPr>
              <a:defRPr/>
            </a:pPr>
            <a:endParaRPr lang="en-US"/>
          </a:p>
        </p:txBody>
      </p:sp>
      <p:sp>
        <p:nvSpPr>
          <p:cNvPr id="220165" name="Rectangle 5"/>
          <p:cNvSpPr>
            <a:spLocks noGrp="1" noChangeArrowheads="1"/>
          </p:cNvSpPr>
          <p:nvPr>
            <p:ph type="sldNum" sz="quarter" idx="3"/>
          </p:nvPr>
        </p:nvSpPr>
        <p:spPr bwMode="auto">
          <a:xfrm>
            <a:off x="3971654" y="8830312"/>
            <a:ext cx="3037146" cy="464504"/>
          </a:xfrm>
          <a:prstGeom prst="rect">
            <a:avLst/>
          </a:prstGeom>
          <a:noFill/>
          <a:ln w="9525">
            <a:noFill/>
            <a:miter lim="800000"/>
            <a:headEnd/>
            <a:tailEnd/>
          </a:ln>
          <a:effectLst/>
        </p:spPr>
        <p:txBody>
          <a:bodyPr vert="horz" wrap="square" lIns="93136" tIns="46568" rIns="93136" bIns="46568" numCol="1" anchor="b" anchorCtr="0" compatLnSpc="1">
            <a:prstTxWarp prst="textNoShape">
              <a:avLst/>
            </a:prstTxWarp>
          </a:bodyPr>
          <a:lstStyle>
            <a:lvl1pPr algn="r" eaLnBrk="0" hangingPunct="0">
              <a:defRPr sz="1200" b="0">
                <a:latin typeface="Arial" charset="0"/>
              </a:defRPr>
            </a:lvl1pPr>
          </a:lstStyle>
          <a:p>
            <a:pPr>
              <a:defRPr/>
            </a:pPr>
            <a:fld id="{E75F24CD-7E4C-4840-9EE0-3BA263838CCD}" type="slidenum">
              <a:rPr lang="en-US"/>
              <a:pPr>
                <a:defRPr/>
              </a:pPr>
              <a:t>‹#›</a:t>
            </a:fld>
            <a:endParaRPr lang="en-US"/>
          </a:p>
        </p:txBody>
      </p:sp>
    </p:spTree>
    <p:extLst>
      <p:ext uri="{BB962C8B-B14F-4D97-AF65-F5344CB8AC3E}">
        <p14:creationId xmlns:p14="http://schemas.microsoft.com/office/powerpoint/2010/main" val="282217162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3037146" cy="464504"/>
          </a:xfrm>
          <a:prstGeom prst="rect">
            <a:avLst/>
          </a:prstGeom>
        </p:spPr>
        <p:txBody>
          <a:bodyPr vert="horz" wrap="square" lIns="93136" tIns="46568" rIns="93136" bIns="46568" numCol="1" anchor="t" anchorCtr="0" compatLnSpc="1">
            <a:prstTxWarp prst="textNoShape">
              <a:avLst/>
            </a:prstTxWarp>
          </a:bodyPr>
          <a:lstStyle>
            <a:lvl1pPr>
              <a:defRPr sz="1200" b="0">
                <a:latin typeface="Arial" charset="0"/>
              </a:defRPr>
            </a:lvl1pPr>
          </a:lstStyle>
          <a:p>
            <a:pPr>
              <a:defRPr/>
            </a:pPr>
            <a:endParaRPr lang="en-US"/>
          </a:p>
        </p:txBody>
      </p:sp>
      <p:sp>
        <p:nvSpPr>
          <p:cNvPr id="3" name="Date Placeholder 2"/>
          <p:cNvSpPr>
            <a:spLocks noGrp="1"/>
          </p:cNvSpPr>
          <p:nvPr>
            <p:ph type="dt" idx="1"/>
          </p:nvPr>
        </p:nvSpPr>
        <p:spPr>
          <a:xfrm>
            <a:off x="3971654" y="1"/>
            <a:ext cx="3037146" cy="464504"/>
          </a:xfrm>
          <a:prstGeom prst="rect">
            <a:avLst/>
          </a:prstGeom>
        </p:spPr>
        <p:txBody>
          <a:bodyPr vert="horz" wrap="square" lIns="93136" tIns="46568" rIns="93136" bIns="46568" numCol="1" anchor="t" anchorCtr="0" compatLnSpc="1">
            <a:prstTxWarp prst="textNoShape">
              <a:avLst/>
            </a:prstTxWarp>
          </a:bodyPr>
          <a:lstStyle>
            <a:lvl1pPr algn="r">
              <a:defRPr sz="1200" b="0">
                <a:latin typeface="Arial" charset="0"/>
              </a:defRPr>
            </a:lvl1pPr>
          </a:lstStyle>
          <a:p>
            <a:pPr>
              <a:defRPr/>
            </a:pPr>
            <a:fld id="{B38EBD9A-77E5-4352-9685-9DCF1AB5D0AE}" type="datetimeFigureOut">
              <a:rPr lang="en-US"/>
              <a:pPr>
                <a:defRPr/>
              </a:pPr>
              <a:t>5/10/2022</a:t>
            </a:fld>
            <a:endParaRPr lang="en-US"/>
          </a:p>
        </p:txBody>
      </p:sp>
      <p:sp>
        <p:nvSpPr>
          <p:cNvPr id="4" name="Slide Image Placeholder 3"/>
          <p:cNvSpPr>
            <a:spLocks noGrp="1" noRot="1" noChangeAspect="1"/>
          </p:cNvSpPr>
          <p:nvPr>
            <p:ph type="sldImg" idx="2"/>
          </p:nvPr>
        </p:nvSpPr>
        <p:spPr>
          <a:xfrm>
            <a:off x="1181100" y="698500"/>
            <a:ext cx="4648200" cy="3486150"/>
          </a:xfrm>
          <a:prstGeom prst="rect">
            <a:avLst/>
          </a:prstGeom>
          <a:noFill/>
          <a:ln w="12700">
            <a:solidFill>
              <a:prstClr val="black"/>
            </a:solidFill>
          </a:ln>
        </p:spPr>
        <p:txBody>
          <a:bodyPr vert="horz" lIns="93136" tIns="46568" rIns="93136" bIns="46568" rtlCol="0" anchor="ctr"/>
          <a:lstStyle/>
          <a:p>
            <a:pPr lvl="0"/>
            <a:endParaRPr lang="en-US" noProof="0"/>
          </a:p>
        </p:txBody>
      </p:sp>
      <p:sp>
        <p:nvSpPr>
          <p:cNvPr id="5" name="Notes Placeholder 4"/>
          <p:cNvSpPr>
            <a:spLocks noGrp="1"/>
          </p:cNvSpPr>
          <p:nvPr>
            <p:ph type="body" sz="quarter" idx="3"/>
          </p:nvPr>
        </p:nvSpPr>
        <p:spPr>
          <a:xfrm>
            <a:off x="700881" y="4415157"/>
            <a:ext cx="5608640" cy="4183696"/>
          </a:xfrm>
          <a:prstGeom prst="rect">
            <a:avLst/>
          </a:prstGeom>
        </p:spPr>
        <p:txBody>
          <a:bodyPr vert="horz" wrap="square" lIns="93136" tIns="46568" rIns="93136" bIns="46568" numCol="1" anchor="t" anchorCtr="0" compatLnSpc="1">
            <a:prstTxWarp prst="textNoShape">
              <a:avLst/>
            </a:prstTxWarp>
            <a:normAutofit/>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Footer Placeholder 5"/>
          <p:cNvSpPr>
            <a:spLocks noGrp="1"/>
          </p:cNvSpPr>
          <p:nvPr>
            <p:ph type="ftr" sz="quarter" idx="4"/>
          </p:nvPr>
        </p:nvSpPr>
        <p:spPr>
          <a:xfrm>
            <a:off x="1" y="8830312"/>
            <a:ext cx="3037146" cy="464504"/>
          </a:xfrm>
          <a:prstGeom prst="rect">
            <a:avLst/>
          </a:prstGeom>
        </p:spPr>
        <p:txBody>
          <a:bodyPr vert="horz" wrap="square" lIns="93136" tIns="46568" rIns="93136" bIns="46568" numCol="1" anchor="b" anchorCtr="0" compatLnSpc="1">
            <a:prstTxWarp prst="textNoShape">
              <a:avLst/>
            </a:prstTxWarp>
          </a:bodyPr>
          <a:lstStyle>
            <a:lvl1pPr>
              <a:defRPr sz="1200" b="0">
                <a:latin typeface="Arial" charset="0"/>
              </a:defRPr>
            </a:lvl1pPr>
          </a:lstStyle>
          <a:p>
            <a:pPr>
              <a:defRPr/>
            </a:pPr>
            <a:endParaRPr lang="en-US"/>
          </a:p>
        </p:txBody>
      </p:sp>
      <p:sp>
        <p:nvSpPr>
          <p:cNvPr id="7" name="Slide Number Placeholder 6"/>
          <p:cNvSpPr>
            <a:spLocks noGrp="1"/>
          </p:cNvSpPr>
          <p:nvPr>
            <p:ph type="sldNum" sz="quarter" idx="5"/>
          </p:nvPr>
        </p:nvSpPr>
        <p:spPr>
          <a:xfrm>
            <a:off x="3971654" y="8830312"/>
            <a:ext cx="3037146" cy="464504"/>
          </a:xfrm>
          <a:prstGeom prst="rect">
            <a:avLst/>
          </a:prstGeom>
        </p:spPr>
        <p:txBody>
          <a:bodyPr vert="horz" wrap="square" lIns="93136" tIns="46568" rIns="93136" bIns="46568" numCol="1" anchor="b" anchorCtr="0" compatLnSpc="1">
            <a:prstTxWarp prst="textNoShape">
              <a:avLst/>
            </a:prstTxWarp>
          </a:bodyPr>
          <a:lstStyle>
            <a:lvl1pPr algn="r">
              <a:defRPr sz="1200" b="0">
                <a:latin typeface="Arial" charset="0"/>
              </a:defRPr>
            </a:lvl1pPr>
          </a:lstStyle>
          <a:p>
            <a:pPr>
              <a:defRPr/>
            </a:pPr>
            <a:fld id="{4A7289C4-4137-4B30-96C9-7C06C8229121}" type="slidenum">
              <a:rPr lang="en-US"/>
              <a:pPr>
                <a:defRPr/>
              </a:pPr>
              <a:t>‹#›</a:t>
            </a:fld>
            <a:endParaRPr lang="en-US"/>
          </a:p>
        </p:txBody>
      </p:sp>
    </p:spTree>
    <p:extLst>
      <p:ext uri="{BB962C8B-B14F-4D97-AF65-F5344CB8AC3E}">
        <p14:creationId xmlns:p14="http://schemas.microsoft.com/office/powerpoint/2010/main" val="333532138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000" kern="1200">
        <a:solidFill>
          <a:schemeClr val="tx1"/>
        </a:solidFill>
        <a:latin typeface="+mn-lt"/>
        <a:ea typeface="+mn-ea"/>
        <a:cs typeface="Arial" charset="0"/>
      </a:defRPr>
    </a:lvl1pPr>
    <a:lvl2pPr marL="457200" algn="l" rtl="0" eaLnBrk="0" fontAlgn="base" hangingPunct="0">
      <a:spcBef>
        <a:spcPct val="30000"/>
      </a:spcBef>
      <a:spcAft>
        <a:spcPct val="0"/>
      </a:spcAft>
      <a:defRPr sz="1000" kern="1200">
        <a:solidFill>
          <a:schemeClr val="tx1"/>
        </a:solidFill>
        <a:latin typeface="+mn-lt"/>
        <a:ea typeface="+mn-ea"/>
        <a:cs typeface="Arial" charset="0"/>
      </a:defRPr>
    </a:lvl2pPr>
    <a:lvl3pPr marL="914400" algn="l" rtl="0" eaLnBrk="0" fontAlgn="base" hangingPunct="0">
      <a:spcBef>
        <a:spcPct val="30000"/>
      </a:spcBef>
      <a:spcAft>
        <a:spcPct val="0"/>
      </a:spcAft>
      <a:defRPr sz="1000" kern="1200">
        <a:solidFill>
          <a:schemeClr val="tx1"/>
        </a:solidFill>
        <a:latin typeface="+mn-lt"/>
        <a:ea typeface="+mn-ea"/>
        <a:cs typeface="Arial" charset="0"/>
      </a:defRPr>
    </a:lvl3pPr>
    <a:lvl4pPr marL="1371600" algn="l" rtl="0" eaLnBrk="0" fontAlgn="base" hangingPunct="0">
      <a:spcBef>
        <a:spcPct val="30000"/>
      </a:spcBef>
      <a:spcAft>
        <a:spcPct val="0"/>
      </a:spcAft>
      <a:defRPr sz="1000" kern="1200">
        <a:solidFill>
          <a:schemeClr val="tx1"/>
        </a:solidFill>
        <a:latin typeface="+mn-lt"/>
        <a:ea typeface="+mn-ea"/>
        <a:cs typeface="Arial" charset="0"/>
      </a:defRPr>
    </a:lvl4pPr>
    <a:lvl5pPr marL="1828800" algn="l" rtl="0" eaLnBrk="0" fontAlgn="base" hangingPunct="0">
      <a:spcBef>
        <a:spcPct val="30000"/>
      </a:spcBef>
      <a:spcAft>
        <a:spcPct val="0"/>
      </a:spcAft>
      <a:defRPr sz="1000" kern="1200">
        <a:solidFill>
          <a:schemeClr val="tx1"/>
        </a:solidFill>
        <a:latin typeface="+mn-lt"/>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7651" name="Rectangle 3"/>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baseline="0" dirty="0"/>
          </a:p>
        </p:txBody>
      </p:sp>
    </p:spTree>
    <p:extLst>
      <p:ext uri="{BB962C8B-B14F-4D97-AF65-F5344CB8AC3E}">
        <p14:creationId xmlns:p14="http://schemas.microsoft.com/office/powerpoint/2010/main" val="18007670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2</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63931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3</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38151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4</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07616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smtClean="0">
                <a:ea typeface="ＭＳ Ｐゴシック" panose="020B0600070205080204" pitchFamily="34" charset="-128"/>
              </a:rPr>
              <a:t>The aim of this exercise is to pick on their answers in </a:t>
            </a:r>
            <a:r>
              <a:rPr lang="en-US" altLang="en-US" dirty="0" err="1" smtClean="0">
                <a:ea typeface="ＭＳ Ｐゴシック" panose="020B0600070205080204" pitchFamily="34" charset="-128"/>
              </a:rPr>
              <a:t>Mentimeter</a:t>
            </a:r>
            <a:r>
              <a:rPr lang="en-US" altLang="en-US" dirty="0" smtClean="0">
                <a:ea typeface="ＭＳ Ｐゴシック" panose="020B0600070205080204" pitchFamily="34" charset="-128"/>
              </a:rPr>
              <a:t> and discuss some of them in terms of “jumping to conclusions”, “facts”, “logic leaps”, etc.</a:t>
            </a:r>
          </a:p>
          <a:p>
            <a:r>
              <a:rPr lang="en-US" altLang="en-US" dirty="0" smtClean="0">
                <a:ea typeface="ＭＳ Ｐゴシック" panose="020B0600070205080204" pitchFamily="34" charset="-128"/>
              </a:rPr>
              <a:t>Another aim is to demonstrate that the causation of a loss incident can be explained in rational,</a:t>
            </a:r>
            <a:r>
              <a:rPr lang="en-US" altLang="en-US" baseline="0" dirty="0" smtClean="0">
                <a:ea typeface="ＭＳ Ｐゴシック" panose="020B0600070205080204" pitchFamily="34" charset="-128"/>
              </a:rPr>
              <a:t> sequentially logical terms. </a:t>
            </a:r>
            <a:endParaRPr lang="en-US" altLang="en-US" dirty="0" smtClean="0">
              <a:ea typeface="ＭＳ Ｐゴシック" panose="020B0600070205080204" pitchFamily="34" charset="-128"/>
            </a:endParaRPr>
          </a:p>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17992448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smtClean="0">
                <a:ea typeface="ＭＳ Ｐゴシック" panose="020B0600070205080204" pitchFamily="34" charset="-128"/>
              </a:rPr>
              <a:t>The aim of this exercise is to pick on their answers in </a:t>
            </a:r>
            <a:r>
              <a:rPr lang="en-US" altLang="en-US" dirty="0" err="1" smtClean="0">
                <a:ea typeface="ＭＳ Ｐゴシック" panose="020B0600070205080204" pitchFamily="34" charset="-128"/>
              </a:rPr>
              <a:t>Mentimeter</a:t>
            </a:r>
            <a:r>
              <a:rPr lang="en-US" altLang="en-US" dirty="0" smtClean="0">
                <a:ea typeface="ＭＳ Ｐゴシック" panose="020B0600070205080204" pitchFamily="34" charset="-128"/>
              </a:rPr>
              <a:t> and discuss some of them in terms of “jumping to conclusions”, “facts”, “logic leaps”, etc.</a:t>
            </a:r>
          </a:p>
          <a:p>
            <a:r>
              <a:rPr lang="en-US" altLang="en-US" dirty="0" smtClean="0">
                <a:ea typeface="ＭＳ Ｐゴシック" panose="020B0600070205080204" pitchFamily="34" charset="-128"/>
              </a:rPr>
              <a:t>Another aim is to demonstrate that the causation of a loss incident can be explained in rational, sequentially logical terms. </a:t>
            </a:r>
          </a:p>
        </p:txBody>
      </p:sp>
    </p:spTree>
    <p:extLst>
      <p:ext uri="{BB962C8B-B14F-4D97-AF65-F5344CB8AC3E}">
        <p14:creationId xmlns:p14="http://schemas.microsoft.com/office/powerpoint/2010/main" val="8630153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7</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31030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8</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114395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9</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r>
              <a:rPr lang="en-US" altLang="en-US" dirty="0" smtClean="0">
                <a:latin typeface="Arial" panose="020B0604020202020204" pitchFamily="34" charset="0"/>
                <a:cs typeface="Arial" panose="020B0604020202020204" pitchFamily="34" charset="0"/>
              </a:rPr>
              <a:t>C&amp;E helps you be more specific in terms of losses and causes</a:t>
            </a:r>
          </a:p>
          <a:p>
            <a:pPr eaLnBrk="1" hangingPunct="1"/>
            <a:endParaRPr lang="en-US" altLang="en-US"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396138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10</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r>
              <a:rPr lang="en-US" altLang="en-US" dirty="0" smtClean="0">
                <a:latin typeface="Arial" panose="020B0604020202020204" pitchFamily="34" charset="0"/>
                <a:cs typeface="Arial" panose="020B0604020202020204" pitchFamily="34" charset="0"/>
              </a:rPr>
              <a:t>C&amp;E helps you be more specific in terms of losses and causes</a:t>
            </a:r>
          </a:p>
          <a:p>
            <a:pPr eaLnBrk="1" hangingPunct="1"/>
            <a:endParaRPr lang="en-US" altLang="en-US"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127881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11</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r>
              <a:rPr lang="en-US" altLang="en-US" dirty="0" smtClean="0">
                <a:latin typeface="Arial" panose="020B0604020202020204" pitchFamily="34" charset="0"/>
                <a:cs typeface="Arial" panose="020B0604020202020204" pitchFamily="34" charset="0"/>
              </a:rPr>
              <a:t>C&amp;E helps you be more specific in terms of losses and causes</a:t>
            </a:r>
          </a:p>
          <a:p>
            <a:pPr eaLnBrk="1" hangingPunct="1"/>
            <a:endParaRPr lang="en-US" altLang="en-US"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88962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12</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9978784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13</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301783251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14</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14</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15471710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15</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229802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16</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875424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17</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423920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18</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437744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19</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243401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20</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45128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21</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21</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239947454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24</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2057188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25</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800945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023948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31</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31</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7485877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32</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smtClean="0">
                <a:ea typeface="ＭＳ Ｐゴシック" panose="020B0600070205080204" pitchFamily="34" charset="-128"/>
              </a:rPr>
              <a:t>You may have noticed</a:t>
            </a:r>
            <a:r>
              <a:rPr lang="en-US" altLang="en-US" baseline="0" dirty="0" smtClean="0">
                <a:ea typeface="ＭＳ Ｐゴシック" panose="020B0600070205080204" pitchFamily="34" charset="-128"/>
              </a:rPr>
              <a:t> on the RCA Chart that some of these were aligned with “Immediate Cause” and some with “Intermediate Cause”. An intermediate cause can link an immediate cause to a basic cause but if it can clearly be categorized and sub-categorized as an “Immediate Cause”, then that is quite acceptable; and it is quite acceptable to have an immediate cause caused by another immediate cause. </a:t>
            </a:r>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42306106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33</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301710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C41DADFD-3BE4-4AB0-B910-544CAFF0BCC2}" type="slidenum">
              <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altLang="en-US" sz="1200" b="1" i="0" u="none" strike="noStrike" kern="1200" cap="none" spc="0" normalizeH="0" baseline="0" noProof="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dirty="0"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3118913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36</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25886037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l" defTabSz="930321" rtl="0" eaLnBrk="1" fontAlgn="base" latinLnBrk="0" hangingPunct="1">
              <a:lnSpc>
                <a:spcPct val="100000"/>
              </a:lnSpc>
              <a:spcBef>
                <a:spcPct val="0"/>
              </a:spcBef>
              <a:spcAft>
                <a:spcPct val="0"/>
              </a:spcAft>
              <a:buClrTx/>
              <a:buSzTx/>
              <a:buFontTx/>
              <a:buNone/>
              <a:tabLst/>
              <a:defRPr/>
            </a:pPr>
            <a:r>
              <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rPr>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27152" rtl="0" eaLnBrk="1" fontAlgn="base" latinLnBrk="0" hangingPunct="1">
              <a:lnSpc>
                <a:spcPct val="100000"/>
              </a:lnSpc>
              <a:spcBef>
                <a:spcPct val="0"/>
              </a:spcBef>
              <a:spcAft>
                <a:spcPct val="0"/>
              </a:spcAft>
              <a:buClrTx/>
              <a:buSzTx/>
              <a:buFontTx/>
              <a:buNone/>
              <a:tabLst/>
              <a:defRPr/>
            </a:pPr>
            <a:fld id="{E2E0E8D8-AE63-4BAB-AE10-86197CF9CB04}" type="slidenum">
              <a:rPr kumimoji="0" lang="en-US" altLang="en-US" sz="1200" b="0"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27152" rtl="0" eaLnBrk="1" fontAlgn="base" latinLnBrk="0" hangingPunct="1">
                <a:lnSpc>
                  <a:spcPct val="100000"/>
                </a:lnSpc>
                <a:spcBef>
                  <a:spcPct val="0"/>
                </a:spcBef>
                <a:spcAft>
                  <a:spcPct val="0"/>
                </a:spcAft>
                <a:buClrTx/>
                <a:buSzTx/>
                <a:buFontTx/>
                <a:buNone/>
                <a:tabLst/>
                <a:defRPr/>
              </a:pPr>
              <a:t>37</a:t>
            </a:fld>
            <a:endParaRPr kumimoji="0" lang="en-US" altLang="en-US" sz="1200" b="0"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0B6B2B90-B612-42CC-80D2-4870E63A5117}" type="slidenum">
              <a:rPr kumimoji="0" lang="en-US" altLang="en-US" sz="1200" b="1" i="0" u="none" strike="noStrike" kern="120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37</a:t>
            </a:fld>
            <a:endParaRPr kumimoji="0" lang="en-US" altLang="en-US" sz="1200" b="1" i="0" u="none" strike="noStrike" kern="1200" cap="none" spc="0" normalizeH="0" baseline="0" noProof="0" dirty="0">
              <a:ln>
                <a:noFill/>
              </a:ln>
              <a:solidFill>
                <a:prstClr val="black"/>
              </a:solidFill>
              <a:effectLst/>
              <a:uLnTx/>
              <a:uFillTx/>
              <a:latin typeface="Times New Roman" panose="02020603050405020304" pitchFamily="18" charset="0"/>
              <a:ea typeface="ＭＳ Ｐゴシック" panose="020B0600070205080204" pitchFamily="34" charset="-128"/>
              <a:cs typeface="+mn-cs"/>
            </a:endParaRPr>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5451534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38</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926329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39</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992707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40</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3448308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41</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021004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42</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3424243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7"/>
          <p:cNvSpPr txBox="1">
            <a:spLocks noGrp="1" noChangeArrowheads="1"/>
          </p:cNvSpPr>
          <p:nvPr/>
        </p:nvSpPr>
        <p:spPr bwMode="auto">
          <a:xfrm>
            <a:off x="3970250" y="8829564"/>
            <a:ext cx="3038956" cy="464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2511" tIns="46256" rIns="92511" bIns="46256" anchor="b"/>
          <a:lstStyle>
            <a:lvl1pPr>
              <a:spcBef>
                <a:spcPct val="30000"/>
              </a:spcBef>
              <a:defRPr sz="1200">
                <a:solidFill>
                  <a:schemeClr val="tx1"/>
                </a:solidFill>
                <a:latin typeface="Arial" panose="020B0604020202020204" pitchFamily="34" charset="0"/>
                <a:cs typeface="Arial" panose="020B0604020202020204" pitchFamily="34" charset="0"/>
              </a:defRPr>
            </a:lvl1pPr>
            <a:lvl2pPr marL="742950" indent="-285750">
              <a:spcBef>
                <a:spcPct val="30000"/>
              </a:spcBef>
              <a:defRPr sz="1200">
                <a:solidFill>
                  <a:schemeClr val="tx1"/>
                </a:solidFill>
                <a:latin typeface="Arial" panose="020B0604020202020204" pitchFamily="34" charset="0"/>
                <a:cs typeface="Arial" panose="020B0604020202020204" pitchFamily="34" charset="0"/>
              </a:defRPr>
            </a:lvl2pPr>
            <a:lvl3pPr marL="1143000" indent="-228600">
              <a:spcBef>
                <a:spcPct val="30000"/>
              </a:spcBef>
              <a:defRPr sz="1200">
                <a:solidFill>
                  <a:schemeClr val="tx1"/>
                </a:solidFill>
                <a:latin typeface="Arial" panose="020B0604020202020204" pitchFamily="34" charset="0"/>
                <a:cs typeface="Arial" panose="020B0604020202020204" pitchFamily="34" charset="0"/>
              </a:defRPr>
            </a:lvl3pPr>
            <a:lvl4pPr marL="1600200" indent="-228600">
              <a:spcBef>
                <a:spcPct val="30000"/>
              </a:spcBef>
              <a:defRPr sz="1200">
                <a:solidFill>
                  <a:schemeClr val="tx1"/>
                </a:solidFill>
                <a:latin typeface="Arial" panose="020B0604020202020204" pitchFamily="34" charset="0"/>
                <a:cs typeface="Arial" panose="020B0604020202020204" pitchFamily="34" charset="0"/>
              </a:defRPr>
            </a:lvl4pPr>
            <a:lvl5pPr marL="2057400" indent="-228600">
              <a:spcBef>
                <a:spcPct val="30000"/>
              </a:spcBef>
              <a:defRPr sz="1200">
                <a:solidFill>
                  <a:schemeClr val="tx1"/>
                </a:solidFill>
                <a:latin typeface="Arial" panose="020B0604020202020204" pitchFamily="34" charset="0"/>
                <a:cs typeface="Arial" panose="020B0604020202020204" pitchFamily="34" charset="0"/>
              </a:defRPr>
            </a:lvl5pPr>
            <a:lvl6pPr marL="25146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6pPr>
            <a:lvl7pPr marL="29718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7pPr>
            <a:lvl8pPr marL="34290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8pPr>
            <a:lvl9pPr marL="3886200" indent="-228600" eaLnBrk="0" fontAlgn="base" hangingPunct="0">
              <a:spcBef>
                <a:spcPct val="30000"/>
              </a:spcBef>
              <a:spcAft>
                <a:spcPct val="0"/>
              </a:spcAft>
              <a:defRPr sz="1200">
                <a:solidFill>
                  <a:schemeClr val="tx1"/>
                </a:solidFill>
                <a:latin typeface="Arial" panose="020B0604020202020204" pitchFamily="34" charset="0"/>
                <a:cs typeface="Arial" panose="020B0604020202020204" pitchFamily="34" charset="0"/>
              </a:defRPr>
            </a:lvl9pPr>
          </a:lstStyle>
          <a:p>
            <a:pPr algn="r" eaLnBrk="1" hangingPunct="1">
              <a:spcBef>
                <a:spcPct val="0"/>
              </a:spcBef>
            </a:pPr>
            <a:fld id="{C41DADFD-3BE4-4AB0-B910-544CAFF0BCC2}" type="slidenum">
              <a:rPr lang="en-US" altLang="en-US"/>
              <a:pPr algn="r" eaLnBrk="1" hangingPunct="1">
                <a:spcBef>
                  <a:spcPct val="0"/>
                </a:spcBef>
              </a:pPr>
              <a:t>43</a:t>
            </a:fld>
            <a:endParaRPr lang="en-US" altLang="en-US"/>
          </a:p>
        </p:txBody>
      </p:sp>
      <p:sp>
        <p:nvSpPr>
          <p:cNvPr id="24579" name="Rectangle 2"/>
          <p:cNvSpPr>
            <a:spLocks noGrp="1" noRot="1" noChangeAspect="1" noChangeArrowheads="1" noTextEdit="1"/>
          </p:cNvSpPr>
          <p:nvPr>
            <p:ph type="sldImg"/>
          </p:nvPr>
        </p:nvSpPr>
        <p:spPr>
          <a:ln/>
        </p:spPr>
      </p:sp>
      <p:sp>
        <p:nvSpPr>
          <p:cNvPr id="24580" name="Rectangle 3"/>
          <p:cNvSpPr>
            <a:spLocks noGrp="1" noChangeArrowheads="1"/>
          </p:cNvSpPr>
          <p:nvPr>
            <p:ph type="body" idx="1"/>
          </p:nvPr>
        </p:nvSpPr>
        <p:spPr>
          <a:xfrm>
            <a:off x="934880" y="4415844"/>
            <a:ext cx="5140641" cy="4182424"/>
          </a:xfrm>
          <a:noFill/>
        </p:spPr>
        <p:txBody>
          <a:bodyPr/>
          <a:lstStyle/>
          <a:p>
            <a:pPr eaLnBrk="1" hangingPunct="1"/>
            <a:endParaRPr lang="en-US" altLang="en-US" smtClean="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060745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1200" dirty="0"/>
              <a:t>ENGG406 2015W</a:t>
            </a:r>
          </a:p>
        </p:txBody>
      </p:sp>
      <p:sp>
        <p:nvSpPr>
          <p:cNvPr id="72707"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321">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30321">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30321">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30321">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30321">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30321"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r>
              <a:rPr lang="en-US" altLang="en-US" sz="1200" dirty="0"/>
              <a:t>3-March-2015</a:t>
            </a:r>
          </a:p>
        </p:txBody>
      </p:sp>
      <p:sp>
        <p:nvSpPr>
          <p:cNvPr id="72708"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7152">
              <a:defRPr sz="2400">
                <a:solidFill>
                  <a:schemeClr val="tx1"/>
                </a:solidFill>
                <a:latin typeface="Times New Roman" panose="02020603050405020304" pitchFamily="18" charset="0"/>
                <a:ea typeface="ＭＳ Ｐゴシック" panose="020B0600070205080204" pitchFamily="34" charset="-128"/>
              </a:defRPr>
            </a:lvl1pPr>
            <a:lvl2pPr marL="741721" indent="-285277" defTabSz="927152">
              <a:defRPr sz="2400">
                <a:solidFill>
                  <a:schemeClr val="tx1"/>
                </a:solidFill>
                <a:latin typeface="Times New Roman" panose="02020603050405020304" pitchFamily="18" charset="0"/>
                <a:ea typeface="ＭＳ Ｐゴシック" panose="020B0600070205080204" pitchFamily="34" charset="-128"/>
              </a:defRPr>
            </a:lvl2pPr>
            <a:lvl3pPr marL="1141110" indent="-228222" defTabSz="927152">
              <a:defRPr sz="2400">
                <a:solidFill>
                  <a:schemeClr val="tx1"/>
                </a:solidFill>
                <a:latin typeface="Times New Roman" panose="02020603050405020304" pitchFamily="18" charset="0"/>
                <a:ea typeface="ＭＳ Ｐゴシック" panose="020B0600070205080204" pitchFamily="34" charset="-128"/>
              </a:defRPr>
            </a:lvl3pPr>
            <a:lvl4pPr marL="1597553" indent="-228222" defTabSz="927152">
              <a:defRPr sz="2400">
                <a:solidFill>
                  <a:schemeClr val="tx1"/>
                </a:solidFill>
                <a:latin typeface="Times New Roman" panose="02020603050405020304" pitchFamily="18" charset="0"/>
                <a:ea typeface="ＭＳ Ｐゴシック" panose="020B0600070205080204" pitchFamily="34" charset="-128"/>
              </a:defRPr>
            </a:lvl4pPr>
            <a:lvl5pPr marL="2053997" indent="-228222" defTabSz="927152">
              <a:defRPr sz="2400">
                <a:solidFill>
                  <a:schemeClr val="tx1"/>
                </a:solidFill>
                <a:latin typeface="Times New Roman" panose="02020603050405020304" pitchFamily="18" charset="0"/>
                <a:ea typeface="ＭＳ Ｐゴシック" panose="020B0600070205080204" pitchFamily="34" charset="-128"/>
              </a:defRPr>
            </a:lvl5pPr>
            <a:lvl6pPr marL="2510440"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66884"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3328"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79772" indent="-228222" defTabSz="927152"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fld id="{E2E0E8D8-AE63-4BAB-AE10-86197CF9CB04}" type="slidenum">
              <a:rPr lang="en-US" altLang="en-US" sz="1200"/>
              <a:pPr/>
              <a:t>44</a:t>
            </a:fld>
            <a:endParaRPr lang="en-US" altLang="en-US" sz="1200" dirty="0"/>
          </a:p>
        </p:txBody>
      </p:sp>
      <p:sp>
        <p:nvSpPr>
          <p:cNvPr id="72709" name="Rectangle 7"/>
          <p:cNvSpPr txBox="1">
            <a:spLocks noGrp="1" noChangeArrowheads="1"/>
          </p:cNvSpPr>
          <p:nvPr/>
        </p:nvSpPr>
        <p:spPr bwMode="auto">
          <a:xfrm>
            <a:off x="3974250" y="8831898"/>
            <a:ext cx="3036150" cy="4645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122" tIns="46561" rIns="93122" bIns="46561" anchor="b"/>
          <a:lstStyle>
            <a:lvl1pPr>
              <a:defRPr sz="2400">
                <a:solidFill>
                  <a:schemeClr val="tx1"/>
                </a:solidFill>
                <a:latin typeface="Times New Roman" panose="02020603050405020304" pitchFamily="18" charset="0"/>
                <a:ea typeface="ＭＳ Ｐゴシック" panose="020B0600070205080204" pitchFamily="34" charset="-128"/>
              </a:defRPr>
            </a:lvl1pPr>
            <a:lvl2pPr marL="742950" indent="-285750">
              <a:defRPr sz="2400">
                <a:solidFill>
                  <a:schemeClr val="tx1"/>
                </a:solidFill>
                <a:latin typeface="Times New Roman" panose="02020603050405020304" pitchFamily="18" charset="0"/>
                <a:ea typeface="ＭＳ Ｐゴシック" panose="020B0600070205080204" pitchFamily="34" charset="-128"/>
              </a:defRPr>
            </a:lvl2pPr>
            <a:lvl3pPr marL="1143000" indent="-228600">
              <a:defRPr sz="2400">
                <a:solidFill>
                  <a:schemeClr val="tx1"/>
                </a:solidFill>
                <a:latin typeface="Times New Roman" panose="02020603050405020304" pitchFamily="18" charset="0"/>
                <a:ea typeface="ＭＳ Ｐゴシック" panose="020B0600070205080204" pitchFamily="34" charset="-128"/>
              </a:defRPr>
            </a:lvl3pPr>
            <a:lvl4pPr marL="1600200" indent="-228600">
              <a:defRPr sz="2400">
                <a:solidFill>
                  <a:schemeClr val="tx1"/>
                </a:solidFill>
                <a:latin typeface="Times New Roman" panose="02020603050405020304" pitchFamily="18" charset="0"/>
                <a:ea typeface="ＭＳ Ｐゴシック" panose="020B0600070205080204" pitchFamily="34" charset="-128"/>
              </a:defRPr>
            </a:lvl4pPr>
            <a:lvl5pPr marL="2057400" indent="-228600">
              <a:defRPr sz="24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ea typeface="ＭＳ Ｐゴシック" panose="020B0600070205080204" pitchFamily="34" charset="-128"/>
              </a:defRPr>
            </a:lvl9pPr>
          </a:lstStyle>
          <a:p>
            <a:pPr algn="r"/>
            <a:fld id="{0B6B2B90-B612-42CC-80D2-4870E63A5117}" type="slidenum">
              <a:rPr lang="en-US" altLang="en-US" sz="1200"/>
              <a:pPr algn="r"/>
              <a:t>44</a:t>
            </a:fld>
            <a:endParaRPr lang="en-US" altLang="en-US" sz="1200" dirty="0"/>
          </a:p>
        </p:txBody>
      </p:sp>
      <p:sp>
        <p:nvSpPr>
          <p:cNvPr id="72710" name="Rectangle 2"/>
          <p:cNvSpPr>
            <a:spLocks noGrp="1" noRot="1" noChangeAspect="1" noChangeArrowheads="1" noTextEdit="1"/>
          </p:cNvSpPr>
          <p:nvPr>
            <p:ph type="sldImg"/>
          </p:nvPr>
        </p:nvSpPr>
        <p:spPr>
          <a:ln/>
        </p:spPr>
      </p:sp>
      <p:sp>
        <p:nvSpPr>
          <p:cNvPr id="7271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smtClean="0">
              <a:ea typeface="ＭＳ Ｐゴシック" panose="020B0600070205080204" pitchFamily="34" charset="-128"/>
            </a:endParaRPr>
          </a:p>
        </p:txBody>
      </p:sp>
    </p:spTree>
    <p:extLst>
      <p:ext uri="{BB962C8B-B14F-4D97-AF65-F5344CB8AC3E}">
        <p14:creationId xmlns:p14="http://schemas.microsoft.com/office/powerpoint/2010/main" val="16302351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16066" name="Rectangle 2"/>
          <p:cNvSpPr>
            <a:spLocks noGrp="1" noChangeArrowheads="1"/>
          </p:cNvSpPr>
          <p:nvPr>
            <p:ph type="ctrTitle"/>
          </p:nvPr>
        </p:nvSpPr>
        <p:spPr>
          <a:xfrm>
            <a:off x="685800" y="1905000"/>
            <a:ext cx="7772400" cy="1470025"/>
          </a:xfrm>
        </p:spPr>
        <p:txBody>
          <a:bodyPr/>
          <a:lstStyle>
            <a:lvl1pPr>
              <a:spcBef>
                <a:spcPct val="20000"/>
              </a:spcBef>
              <a:defRPr sz="3600" smtClean="0"/>
            </a:lvl1pPr>
          </a:lstStyle>
          <a:p>
            <a:r>
              <a:rPr lang="en-US" dirty="0"/>
              <a:t>Click to edit Master title style</a:t>
            </a:r>
          </a:p>
        </p:txBody>
      </p:sp>
      <p:sp>
        <p:nvSpPr>
          <p:cNvPr id="216067" name="Rectangle 3"/>
          <p:cNvSpPr>
            <a:spLocks noGrp="1" noChangeArrowheads="1"/>
          </p:cNvSpPr>
          <p:nvPr>
            <p:ph type="subTitle" idx="1"/>
          </p:nvPr>
        </p:nvSpPr>
        <p:spPr>
          <a:xfrm>
            <a:off x="1371600" y="4114800"/>
            <a:ext cx="6400800" cy="1752600"/>
          </a:xfrm>
          <a:prstGeom prst="rect">
            <a:avLst/>
          </a:prstGeom>
        </p:spPr>
        <p:txBody>
          <a:bodyPr/>
          <a:lstStyle>
            <a:lvl1pPr marL="0" indent="0" algn="ctr">
              <a:buFont typeface="Wingdings" pitchFamily="2" charset="2"/>
              <a:buNone/>
              <a:defRPr smtClean="0"/>
            </a:lvl1pPr>
          </a:lstStyle>
          <a:p>
            <a:r>
              <a:rPr lang="en-US"/>
              <a:t>Click to edit Master subtitle style</a:t>
            </a:r>
          </a:p>
        </p:txBody>
      </p:sp>
    </p:spTree>
    <p:extLst>
      <p:ext uri="{BB962C8B-B14F-4D97-AF65-F5344CB8AC3E}">
        <p14:creationId xmlns:p14="http://schemas.microsoft.com/office/powerpoint/2010/main" val="309349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3200"/>
            </a:lvl1pPr>
          </a:lstStyle>
          <a:p>
            <a:r>
              <a:rPr lang="en-US" dirty="0"/>
              <a:t>Click to edit Master title style</a:t>
            </a:r>
          </a:p>
        </p:txBody>
      </p:sp>
      <p:sp>
        <p:nvSpPr>
          <p:cNvPr id="3" name="Content Placeholder 2"/>
          <p:cNvSpPr>
            <a:spLocks noGrp="1"/>
          </p:cNvSpPr>
          <p:nvPr>
            <p:ph idx="1"/>
          </p:nvPr>
        </p:nvSpPr>
        <p:spPr>
          <a:xfrm>
            <a:off x="663389" y="1120588"/>
            <a:ext cx="8153400" cy="5105400"/>
          </a:xfrm>
          <a:prstGeom prst="rect">
            <a:avLst/>
          </a:prstGeom>
        </p:spPr>
        <p:txBody>
          <a:bodyPr/>
          <a:lstStyle>
            <a:lvl1pPr marL="342900" indent="-342900">
              <a:buClrTx/>
              <a:buFont typeface="Wingdings" charset="2"/>
              <a:buChar char="§"/>
              <a:defRPr sz="2400">
                <a:solidFill>
                  <a:schemeClr val="tx1"/>
                </a:solidFill>
              </a:defRPr>
            </a:lvl1pPr>
            <a:lvl2pPr marL="742950" indent="-285750">
              <a:buClrTx/>
              <a:buFont typeface="Arial"/>
              <a:buChar char="•"/>
              <a:defRPr sz="2200">
                <a:solidFill>
                  <a:schemeClr val="tx1"/>
                </a:solidFill>
              </a:defRPr>
            </a:lvl2pPr>
            <a:lvl3pPr marL="1143000" indent="-228600">
              <a:buClrTx/>
              <a:buFont typeface="Arial"/>
              <a:buChar char="•"/>
              <a:defRPr sz="2000">
                <a:solidFill>
                  <a:schemeClr val="tx1"/>
                </a:solidFill>
              </a:defRPr>
            </a:lvl3pPr>
            <a:lvl4pPr marL="1600200" indent="-228600">
              <a:buClrTx/>
              <a:buFont typeface="Arial"/>
              <a:buChar char="•"/>
              <a:defRPr>
                <a:solidFill>
                  <a:schemeClr val="tx1"/>
                </a:solidFill>
              </a:defRPr>
            </a:lvl4pPr>
            <a:lvl5pPr marL="2057400" indent="-228600">
              <a:buClrTx/>
              <a:buFont typeface="Arial"/>
              <a:buChar cha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0803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577850" y="168275"/>
            <a:ext cx="8229600" cy="563563"/>
          </a:xfrm>
        </p:spPr>
        <p:txBody>
          <a:bodyPr/>
          <a:lstStyle/>
          <a:p>
            <a:r>
              <a:rPr lang="en-US"/>
              <a:t>Click to edit Master title style</a:t>
            </a:r>
          </a:p>
        </p:txBody>
      </p:sp>
      <p:sp>
        <p:nvSpPr>
          <p:cNvPr id="3" name="Text Placeholder 2"/>
          <p:cNvSpPr>
            <a:spLocks noGrp="1"/>
          </p:cNvSpPr>
          <p:nvPr>
            <p:ph type="body" sz="half" idx="1"/>
          </p:nvPr>
        </p:nvSpPr>
        <p:spPr>
          <a:xfrm>
            <a:off x="577850" y="758825"/>
            <a:ext cx="4038600" cy="5718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68850" y="758825"/>
            <a:ext cx="4038600" cy="5718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13579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Rectangle 1028"/>
          <p:cNvSpPr>
            <a:spLocks noGrp="1" noChangeArrowheads="1"/>
          </p:cNvSpPr>
          <p:nvPr>
            <p:ph type="dt" sz="half" idx="10"/>
          </p:nvPr>
        </p:nvSpPr>
        <p:spPr>
          <a:xfrm>
            <a:off x="685800" y="6248400"/>
            <a:ext cx="1905000" cy="457200"/>
          </a:xfrm>
          <a:prstGeom prst="rect">
            <a:avLst/>
          </a:prstGeom>
          <a:ln/>
        </p:spPr>
        <p:txBody>
          <a:bodyPr/>
          <a:lstStyle>
            <a:lvl1pPr>
              <a:defRPr/>
            </a:lvl1pPr>
          </a:lstStyle>
          <a:p>
            <a:pPr>
              <a:defRPr/>
            </a:pPr>
            <a:fld id="{53118CC2-884A-4430-8B4F-9976F3C29C24}" type="datetimeFigureOut">
              <a:rPr lang="en-US"/>
              <a:pPr>
                <a:defRPr/>
              </a:pPr>
              <a:t>5/10/2022</a:t>
            </a:fld>
            <a:endParaRPr lang="en-US"/>
          </a:p>
        </p:txBody>
      </p:sp>
      <p:sp>
        <p:nvSpPr>
          <p:cNvPr id="3" name="Rectangle 1029"/>
          <p:cNvSpPr>
            <a:spLocks noGrp="1" noChangeArrowheads="1"/>
          </p:cNvSpPr>
          <p:nvPr>
            <p:ph type="ftr" sz="quarter" idx="11"/>
          </p:nvPr>
        </p:nvSpPr>
        <p:spPr>
          <a:xfrm>
            <a:off x="3124200" y="6248400"/>
            <a:ext cx="2895600" cy="457200"/>
          </a:xfrm>
          <a:prstGeom prst="rect">
            <a:avLst/>
          </a:prstGeom>
          <a:ln/>
        </p:spPr>
        <p:txBody>
          <a:bodyPr/>
          <a:lstStyle>
            <a:lvl1pPr>
              <a:defRPr/>
            </a:lvl1pPr>
          </a:lstStyle>
          <a:p>
            <a:pPr>
              <a:defRPr/>
            </a:pPr>
            <a:endParaRPr lang="en-US" altLang="en-US"/>
          </a:p>
        </p:txBody>
      </p:sp>
      <p:sp>
        <p:nvSpPr>
          <p:cNvPr id="4" name="Rectangle 1030"/>
          <p:cNvSpPr>
            <a:spLocks noGrp="1" noChangeArrowheads="1"/>
          </p:cNvSpPr>
          <p:nvPr>
            <p:ph type="sldNum" sz="quarter" idx="12"/>
          </p:nvPr>
        </p:nvSpPr>
        <p:spPr>
          <a:xfrm>
            <a:off x="6553200" y="6248400"/>
            <a:ext cx="1905000" cy="457200"/>
          </a:xfrm>
          <a:prstGeom prst="rect">
            <a:avLst/>
          </a:prstGeom>
          <a:ln/>
        </p:spPr>
        <p:txBody>
          <a:bodyPr/>
          <a:lstStyle>
            <a:lvl1pPr>
              <a:defRPr/>
            </a:lvl1pPr>
          </a:lstStyle>
          <a:p>
            <a:pPr>
              <a:defRPr/>
            </a:pPr>
            <a:fld id="{91823322-A425-42F9-B4E6-DE1BA6748FF3}" type="slidenum">
              <a:rPr lang="en-US" altLang="en-US"/>
              <a:pPr>
                <a:defRPr/>
              </a:pPr>
              <a:t>‹#›</a:t>
            </a:fld>
            <a:endParaRPr lang="en-US" altLang="en-US"/>
          </a:p>
        </p:txBody>
      </p:sp>
    </p:spTree>
    <p:extLst>
      <p:ext uri="{BB962C8B-B14F-4D97-AF65-F5344CB8AC3E}">
        <p14:creationId xmlns:p14="http://schemas.microsoft.com/office/powerpoint/2010/main" val="2368737125"/>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smtClean="0"/>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43316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931804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smtClean="0"/>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246311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005481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smtClean="0"/>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073679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03197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99477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smtClean="0"/>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622550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21073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120828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762049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e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theme" Target="../theme/theme2.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685800" y="168275"/>
            <a:ext cx="8153400" cy="56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dirty="0"/>
              <a:t>Click to enter page Title</a:t>
            </a:r>
          </a:p>
        </p:txBody>
      </p:sp>
      <p:cxnSp>
        <p:nvCxnSpPr>
          <p:cNvPr id="10" name="Straight Connector 9"/>
          <p:cNvCxnSpPr/>
          <p:nvPr/>
        </p:nvCxnSpPr>
        <p:spPr>
          <a:xfrm>
            <a:off x="76200" y="762000"/>
            <a:ext cx="8763000" cy="1588"/>
          </a:xfrm>
          <a:prstGeom prst="line">
            <a:avLst/>
          </a:prstGeom>
          <a:ln w="9525">
            <a:solidFill>
              <a:srgbClr val="AA9C8F"/>
            </a:solidFill>
          </a:ln>
        </p:spPr>
        <p:style>
          <a:lnRef idx="1">
            <a:schemeClr val="accent1"/>
          </a:lnRef>
          <a:fillRef idx="0">
            <a:schemeClr val="accent1"/>
          </a:fillRef>
          <a:effectRef idx="0">
            <a:schemeClr val="accent1"/>
          </a:effectRef>
          <a:fontRef idx="minor">
            <a:schemeClr val="tx1"/>
          </a:fontRef>
        </p:style>
      </p:cxnSp>
      <p:cxnSp>
        <p:nvCxnSpPr>
          <p:cNvPr id="7" name="Straight Connector 4"/>
          <p:cNvCxnSpPr/>
          <p:nvPr/>
        </p:nvCxnSpPr>
        <p:spPr>
          <a:xfrm>
            <a:off x="76200" y="6248400"/>
            <a:ext cx="8763000" cy="1588"/>
          </a:xfrm>
          <a:prstGeom prst="line">
            <a:avLst/>
          </a:prstGeom>
          <a:ln w="9525">
            <a:solidFill>
              <a:srgbClr val="AA9C8F"/>
            </a:solidFill>
          </a:ln>
        </p:spPr>
        <p:style>
          <a:lnRef idx="1">
            <a:schemeClr val="accent1"/>
          </a:lnRef>
          <a:fillRef idx="0">
            <a:schemeClr val="accent1"/>
          </a:fillRef>
          <a:effectRef idx="0">
            <a:schemeClr val="accent1"/>
          </a:effectRef>
          <a:fontRef idx="minor">
            <a:schemeClr val="tx1"/>
          </a:fontRef>
        </p:style>
      </p:cxnSp>
      <p:pic>
        <p:nvPicPr>
          <p:cNvPr id="4" name="Picture 2" descr="http://www.nanobridge.ca/Portals/0/Images/eng-logo.jp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61999" y="6307038"/>
            <a:ext cx="1838325" cy="552451"/>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4149" r:id="rId1"/>
    <p:sldLayoutId id="2147484147" r:id="rId2"/>
    <p:sldLayoutId id="2147484148" r:id="rId3"/>
    <p:sldLayoutId id="2147484150" r:id="rId4"/>
  </p:sldLayoutIdLst>
  <p:hf hdr="0" ftr="0" dt="0"/>
  <p:txStyles>
    <p:titleStyle>
      <a:lvl1pPr algn="ctr" rtl="0" eaLnBrk="0" fontAlgn="base" hangingPunct="0">
        <a:spcBef>
          <a:spcPct val="0"/>
        </a:spcBef>
        <a:spcAft>
          <a:spcPct val="0"/>
        </a:spcAft>
        <a:defRPr sz="3600" b="1">
          <a:solidFill>
            <a:schemeClr val="accent2"/>
          </a:solidFill>
          <a:latin typeface="Calibri" pitchFamily="34" charset="0"/>
          <a:ea typeface="+mj-ea"/>
          <a:cs typeface="+mj-cs"/>
        </a:defRPr>
      </a:lvl1pPr>
      <a:lvl2pPr algn="ctr" rtl="0" eaLnBrk="0" fontAlgn="base" hangingPunct="0">
        <a:spcBef>
          <a:spcPct val="0"/>
        </a:spcBef>
        <a:spcAft>
          <a:spcPct val="0"/>
        </a:spcAft>
        <a:defRPr sz="3600">
          <a:solidFill>
            <a:srgbClr val="002C5F"/>
          </a:solidFill>
          <a:latin typeface="Calibri" pitchFamily="34" charset="0"/>
        </a:defRPr>
      </a:lvl2pPr>
      <a:lvl3pPr algn="ctr" rtl="0" eaLnBrk="0" fontAlgn="base" hangingPunct="0">
        <a:spcBef>
          <a:spcPct val="0"/>
        </a:spcBef>
        <a:spcAft>
          <a:spcPct val="0"/>
        </a:spcAft>
        <a:defRPr sz="3600">
          <a:solidFill>
            <a:srgbClr val="002C5F"/>
          </a:solidFill>
          <a:latin typeface="Calibri" pitchFamily="34" charset="0"/>
        </a:defRPr>
      </a:lvl3pPr>
      <a:lvl4pPr algn="ctr" rtl="0" eaLnBrk="0" fontAlgn="base" hangingPunct="0">
        <a:spcBef>
          <a:spcPct val="0"/>
        </a:spcBef>
        <a:spcAft>
          <a:spcPct val="0"/>
        </a:spcAft>
        <a:defRPr sz="3600">
          <a:solidFill>
            <a:srgbClr val="002C5F"/>
          </a:solidFill>
          <a:latin typeface="Calibri" pitchFamily="34" charset="0"/>
        </a:defRPr>
      </a:lvl4pPr>
      <a:lvl5pPr algn="ctr" rtl="0" eaLnBrk="0" fontAlgn="base" hangingPunct="0">
        <a:spcBef>
          <a:spcPct val="0"/>
        </a:spcBef>
        <a:spcAft>
          <a:spcPct val="0"/>
        </a:spcAft>
        <a:defRPr sz="3600">
          <a:solidFill>
            <a:srgbClr val="002C5F"/>
          </a:solidFill>
          <a:latin typeface="Calibri" pitchFamily="34" charset="0"/>
        </a:defRPr>
      </a:lvl5pPr>
      <a:lvl6pPr marL="457200" algn="ctr" rtl="0" fontAlgn="base">
        <a:spcBef>
          <a:spcPct val="0"/>
        </a:spcBef>
        <a:spcAft>
          <a:spcPct val="0"/>
        </a:spcAft>
        <a:defRPr sz="3600" b="1">
          <a:solidFill>
            <a:srgbClr val="002C5F"/>
          </a:solidFill>
          <a:latin typeface="Arial" charset="0"/>
        </a:defRPr>
      </a:lvl6pPr>
      <a:lvl7pPr marL="914400" algn="ctr" rtl="0" fontAlgn="base">
        <a:spcBef>
          <a:spcPct val="0"/>
        </a:spcBef>
        <a:spcAft>
          <a:spcPct val="0"/>
        </a:spcAft>
        <a:defRPr sz="3600" b="1">
          <a:solidFill>
            <a:srgbClr val="002C5F"/>
          </a:solidFill>
          <a:latin typeface="Arial" charset="0"/>
        </a:defRPr>
      </a:lvl7pPr>
      <a:lvl8pPr marL="1371600" algn="ctr" rtl="0" fontAlgn="base">
        <a:spcBef>
          <a:spcPct val="0"/>
        </a:spcBef>
        <a:spcAft>
          <a:spcPct val="0"/>
        </a:spcAft>
        <a:defRPr sz="3600" b="1">
          <a:solidFill>
            <a:srgbClr val="002C5F"/>
          </a:solidFill>
          <a:latin typeface="Arial" charset="0"/>
        </a:defRPr>
      </a:lvl8pPr>
      <a:lvl9pPr marL="1828800" algn="ctr" rtl="0" fontAlgn="base">
        <a:spcBef>
          <a:spcPct val="0"/>
        </a:spcBef>
        <a:spcAft>
          <a:spcPct val="0"/>
        </a:spcAft>
        <a:defRPr sz="3600" b="1">
          <a:solidFill>
            <a:srgbClr val="002C5F"/>
          </a:solidFill>
          <a:latin typeface="Arial" charset="0"/>
        </a:defRPr>
      </a:lvl9pPr>
    </p:titleStyle>
    <p:bodyStyle>
      <a:lvl1pPr marL="342900" indent="-342900" algn="l" rtl="0" eaLnBrk="0" fontAlgn="base" hangingPunct="0">
        <a:spcBef>
          <a:spcPct val="20000"/>
        </a:spcBef>
        <a:spcAft>
          <a:spcPct val="0"/>
        </a:spcAft>
        <a:buClr>
          <a:srgbClr val="AA9C8F"/>
        </a:buClr>
        <a:buFont typeface="Wingdings" pitchFamily="2" charset="2"/>
        <a:buChar char="§"/>
        <a:defRPr sz="2800">
          <a:solidFill>
            <a:srgbClr val="4D4D4D"/>
          </a:solidFill>
          <a:latin typeface="Calibri" pitchFamily="34" charset="0"/>
          <a:ea typeface="+mn-ea"/>
          <a:cs typeface="+mn-cs"/>
        </a:defRPr>
      </a:lvl1pPr>
      <a:lvl2pPr marL="742950" indent="-285750" algn="l" rtl="0" eaLnBrk="0" fontAlgn="base" hangingPunct="0">
        <a:spcBef>
          <a:spcPct val="20000"/>
        </a:spcBef>
        <a:spcAft>
          <a:spcPct val="0"/>
        </a:spcAft>
        <a:buClr>
          <a:srgbClr val="C75B12"/>
        </a:buClr>
        <a:buFont typeface="Wingdings" pitchFamily="2" charset="2"/>
        <a:buChar char="§"/>
        <a:defRPr sz="2600">
          <a:solidFill>
            <a:schemeClr val="tx1"/>
          </a:solidFill>
          <a:latin typeface="Calibri" pitchFamily="34" charset="0"/>
        </a:defRPr>
      </a:lvl2pPr>
      <a:lvl3pPr marL="1143000" indent="-228600" algn="l" rtl="0" eaLnBrk="0" fontAlgn="base" hangingPunct="0">
        <a:spcBef>
          <a:spcPct val="20000"/>
        </a:spcBef>
        <a:spcAft>
          <a:spcPct val="0"/>
        </a:spcAft>
        <a:buClr>
          <a:srgbClr val="C75B12"/>
        </a:buClr>
        <a:buFont typeface="Wingdings" pitchFamily="2" charset="2"/>
        <a:buChar char="§"/>
        <a:defRPr sz="2400">
          <a:solidFill>
            <a:schemeClr val="tx1"/>
          </a:solidFill>
          <a:latin typeface="Calibri" pitchFamily="34" charset="0"/>
        </a:defRPr>
      </a:lvl3pPr>
      <a:lvl4pPr marL="1600200" indent="-228600" algn="l" rtl="0" eaLnBrk="0" fontAlgn="base" hangingPunct="0">
        <a:spcBef>
          <a:spcPct val="20000"/>
        </a:spcBef>
        <a:spcAft>
          <a:spcPct val="0"/>
        </a:spcAft>
        <a:buClr>
          <a:srgbClr val="C75B12"/>
        </a:buClr>
        <a:buFont typeface="Wingdings" pitchFamily="2" charset="2"/>
        <a:buChar char="§"/>
        <a:defRPr sz="2000">
          <a:solidFill>
            <a:schemeClr val="tx1"/>
          </a:solidFill>
          <a:latin typeface="Calibri" pitchFamily="34" charset="0"/>
        </a:defRPr>
      </a:lvl4pPr>
      <a:lvl5pPr marL="2057400" indent="-228600" algn="l" rtl="0" eaLnBrk="0" fontAlgn="base" hangingPunct="0">
        <a:spcBef>
          <a:spcPct val="20000"/>
        </a:spcBef>
        <a:spcAft>
          <a:spcPct val="0"/>
        </a:spcAft>
        <a:buClr>
          <a:srgbClr val="C75B12"/>
        </a:buClr>
        <a:buFont typeface="Wingdings" pitchFamily="2" charset="2"/>
        <a:buChar char="§"/>
        <a:defRPr sz="2000">
          <a:solidFill>
            <a:schemeClr val="tx1"/>
          </a:solidFill>
          <a:latin typeface="Calibri" pitchFamily="34" charset="0"/>
        </a:defRPr>
      </a:lvl5pPr>
      <a:lvl6pPr marL="25146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6pPr>
      <a:lvl7pPr marL="29718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7pPr>
      <a:lvl8pPr marL="34290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8pPr>
      <a:lvl9pPr marL="3886200" indent="-228600" algn="l" rtl="0" fontAlgn="base">
        <a:spcBef>
          <a:spcPct val="20000"/>
        </a:spcBef>
        <a:spcAft>
          <a:spcPct val="0"/>
        </a:spcAft>
        <a:buClr>
          <a:srgbClr val="C75B12"/>
        </a:buClr>
        <a:buFont typeface="Wingdings" pitchFamily="2" charset="2"/>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6BDCF630-0011-40EF-B645-4D289D2C4882}" type="datetimeFigureOut">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5/10/2022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A78648AE-D5F3-4F01-A484-C6ED17A78DD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7844325"/>
      </p:ext>
    </p:extLst>
  </p:cSld>
  <p:clrMap bg1="lt1" tx1="dk1" bg2="lt2" tx2="dk2" accent1="accent1" accent2="accent2" accent3="accent3" accent4="accent4" accent5="accent5" accent6="accent6" hlink="hlink" folHlink="folHlink"/>
  <p:sldLayoutIdLst>
    <p:sldLayoutId id="2147484152" r:id="rId1"/>
    <p:sldLayoutId id="2147484153" r:id="rId2"/>
    <p:sldLayoutId id="2147484154" r:id="rId3"/>
    <p:sldLayoutId id="2147484155" r:id="rId4"/>
    <p:sldLayoutId id="2147484156" r:id="rId5"/>
    <p:sldLayoutId id="2147484157" r:id="rId6"/>
    <p:sldLayoutId id="2147484158" r:id="rId7"/>
    <p:sldLayoutId id="2147484159" r:id="rId8"/>
    <p:sldLayoutId id="2147484160" r:id="rId9"/>
    <p:sldLayoutId id="2147484161" r:id="rId10"/>
    <p:sldLayoutId id="214748416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4.xml"/><Relationship Id="rId1" Type="http://schemas.openxmlformats.org/officeDocument/2006/relationships/vmlDrawing" Target="../drawings/vmlDrawing1.vml"/><Relationship Id="rId6" Type="http://schemas.openxmlformats.org/officeDocument/2006/relationships/image" Target="../media/image10.emf"/><Relationship Id="rId5" Type="http://schemas.openxmlformats.org/officeDocument/2006/relationships/oleObject" Target="../embeddings/oleObject1.bin"/><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2"/>
          <p:cNvSpPr txBox="1">
            <a:spLocks noChangeArrowheads="1"/>
          </p:cNvSpPr>
          <p:nvPr/>
        </p:nvSpPr>
        <p:spPr bwMode="auto">
          <a:xfrm>
            <a:off x="228600" y="838200"/>
            <a:ext cx="8610600" cy="1662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algn="ctr" rtl="0" eaLnBrk="0" fontAlgn="base" hangingPunct="0">
              <a:spcBef>
                <a:spcPct val="0"/>
              </a:spcBef>
              <a:spcAft>
                <a:spcPct val="0"/>
              </a:spcAft>
              <a:defRPr sz="3600" b="1">
                <a:solidFill>
                  <a:schemeClr val="accent2"/>
                </a:solidFill>
                <a:latin typeface="Calibri" pitchFamily="34" charset="0"/>
                <a:ea typeface="+mj-ea"/>
                <a:cs typeface="+mj-cs"/>
              </a:defRPr>
            </a:lvl1pPr>
            <a:lvl2pPr algn="ctr" rtl="0" eaLnBrk="0" fontAlgn="base" hangingPunct="0">
              <a:spcBef>
                <a:spcPct val="0"/>
              </a:spcBef>
              <a:spcAft>
                <a:spcPct val="0"/>
              </a:spcAft>
              <a:defRPr sz="3600">
                <a:solidFill>
                  <a:srgbClr val="002C5F"/>
                </a:solidFill>
                <a:latin typeface="Calibri" pitchFamily="34" charset="0"/>
              </a:defRPr>
            </a:lvl2pPr>
            <a:lvl3pPr algn="ctr" rtl="0" eaLnBrk="0" fontAlgn="base" hangingPunct="0">
              <a:spcBef>
                <a:spcPct val="0"/>
              </a:spcBef>
              <a:spcAft>
                <a:spcPct val="0"/>
              </a:spcAft>
              <a:defRPr sz="3600">
                <a:solidFill>
                  <a:srgbClr val="002C5F"/>
                </a:solidFill>
                <a:latin typeface="Calibri" pitchFamily="34" charset="0"/>
              </a:defRPr>
            </a:lvl3pPr>
            <a:lvl4pPr algn="ctr" rtl="0" eaLnBrk="0" fontAlgn="base" hangingPunct="0">
              <a:spcBef>
                <a:spcPct val="0"/>
              </a:spcBef>
              <a:spcAft>
                <a:spcPct val="0"/>
              </a:spcAft>
              <a:defRPr sz="3600">
                <a:solidFill>
                  <a:srgbClr val="002C5F"/>
                </a:solidFill>
                <a:latin typeface="Calibri" pitchFamily="34" charset="0"/>
              </a:defRPr>
            </a:lvl4pPr>
            <a:lvl5pPr algn="ctr" rtl="0" eaLnBrk="0" fontAlgn="base" hangingPunct="0">
              <a:spcBef>
                <a:spcPct val="0"/>
              </a:spcBef>
              <a:spcAft>
                <a:spcPct val="0"/>
              </a:spcAft>
              <a:defRPr sz="3600">
                <a:solidFill>
                  <a:srgbClr val="002C5F"/>
                </a:solidFill>
                <a:latin typeface="Calibri" pitchFamily="34" charset="0"/>
              </a:defRPr>
            </a:lvl5pPr>
            <a:lvl6pPr marL="457200" algn="ctr" rtl="0" fontAlgn="base">
              <a:spcBef>
                <a:spcPct val="0"/>
              </a:spcBef>
              <a:spcAft>
                <a:spcPct val="0"/>
              </a:spcAft>
              <a:defRPr sz="3600" b="1">
                <a:solidFill>
                  <a:srgbClr val="002C5F"/>
                </a:solidFill>
                <a:latin typeface="Arial" charset="0"/>
              </a:defRPr>
            </a:lvl6pPr>
            <a:lvl7pPr marL="914400" algn="ctr" rtl="0" fontAlgn="base">
              <a:spcBef>
                <a:spcPct val="0"/>
              </a:spcBef>
              <a:spcAft>
                <a:spcPct val="0"/>
              </a:spcAft>
              <a:defRPr sz="3600" b="1">
                <a:solidFill>
                  <a:srgbClr val="002C5F"/>
                </a:solidFill>
                <a:latin typeface="Arial" charset="0"/>
              </a:defRPr>
            </a:lvl7pPr>
            <a:lvl8pPr marL="1371600" algn="ctr" rtl="0" fontAlgn="base">
              <a:spcBef>
                <a:spcPct val="0"/>
              </a:spcBef>
              <a:spcAft>
                <a:spcPct val="0"/>
              </a:spcAft>
              <a:defRPr sz="3600" b="1">
                <a:solidFill>
                  <a:srgbClr val="002C5F"/>
                </a:solidFill>
                <a:latin typeface="Arial" charset="0"/>
              </a:defRPr>
            </a:lvl8pPr>
            <a:lvl9pPr marL="1828800" algn="ctr" rtl="0" fontAlgn="base">
              <a:spcBef>
                <a:spcPct val="0"/>
              </a:spcBef>
              <a:spcAft>
                <a:spcPct val="0"/>
              </a:spcAft>
              <a:defRPr sz="3600" b="1">
                <a:solidFill>
                  <a:srgbClr val="002C5F"/>
                </a:solidFill>
                <a:latin typeface="Arial" charset="0"/>
              </a:defRPr>
            </a:lvl9pPr>
          </a:lstStyle>
          <a:p>
            <a:pPr eaLnBrk="1" hangingPunct="1"/>
            <a:r>
              <a:rPr lang="en-CA" altLang="en-US" i="1" kern="0" dirty="0" smtClean="0">
                <a:solidFill>
                  <a:srgbClr val="000099"/>
                </a:solidFill>
                <a:ea typeface="ＭＳ Ｐゴシック" panose="020B0600070205080204" pitchFamily="34" charset="-128"/>
              </a:rPr>
              <a:t>On Becoming a </a:t>
            </a:r>
            <a:br>
              <a:rPr lang="en-CA" altLang="en-US" i="1" kern="0" dirty="0" smtClean="0">
                <a:solidFill>
                  <a:srgbClr val="000099"/>
                </a:solidFill>
                <a:ea typeface="ＭＳ Ｐゴシック" panose="020B0600070205080204" pitchFamily="34" charset="-128"/>
              </a:rPr>
            </a:br>
            <a:r>
              <a:rPr lang="en-CA" altLang="en-US" i="1" kern="0" dirty="0" smtClean="0">
                <a:solidFill>
                  <a:srgbClr val="000099"/>
                </a:solidFill>
                <a:ea typeface="ＭＳ Ｐゴシック" panose="020B0600070205080204" pitchFamily="34" charset="-128"/>
              </a:rPr>
              <a:t>Leader in Risk Management</a:t>
            </a:r>
          </a:p>
          <a:p>
            <a:pPr lvl="0" eaLnBrk="1" hangingPunct="1">
              <a:buClr>
                <a:srgbClr val="AA9C8F"/>
              </a:buClr>
            </a:pPr>
            <a:r>
              <a:rPr lang="en-US" altLang="en-US" sz="3200" kern="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ENGG404 - </a:t>
            </a:r>
            <a:r>
              <a:rPr lang="en-US" altLang="en-US" sz="3200" kern="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Lecture</a:t>
            </a:r>
            <a:endParaRPr lang="en-US" altLang="en-US" i="1" kern="0" dirty="0">
              <a:solidFill>
                <a:srgbClr val="000099"/>
              </a:solidFill>
              <a:ea typeface="ＭＳ Ｐゴシック" panose="020B0600070205080204" pitchFamily="34" charset="-128"/>
            </a:endParaRPr>
          </a:p>
        </p:txBody>
      </p:sp>
      <p:sp>
        <p:nvSpPr>
          <p:cNvPr id="8" name="Rectangle 3"/>
          <p:cNvSpPr>
            <a:spLocks noGrp="1" noChangeArrowheads="1"/>
          </p:cNvSpPr>
          <p:nvPr>
            <p:ph type="subTitle" idx="4294967295"/>
          </p:nvPr>
        </p:nvSpPr>
        <p:spPr>
          <a:xfrm>
            <a:off x="228600" y="2500342"/>
            <a:ext cx="8610600" cy="22240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indent="0" algn="ctr" eaLnBrk="1" hangingPunct="1">
              <a:spcBef>
                <a:spcPct val="0"/>
              </a:spcBef>
              <a:buNone/>
            </a:pPr>
            <a:r>
              <a:rPr lang="en-US" altLang="en-US" sz="24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Chapter 4.2: Cause and Effect </a:t>
            </a:r>
            <a:r>
              <a:rPr lang="en-US" altLang="en-US" sz="24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rPr>
              <a:t>Model for </a:t>
            </a:r>
            <a:r>
              <a:rPr lang="en-US" altLang="en-US" sz="24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Incident Analysis</a:t>
            </a:r>
          </a:p>
          <a:p>
            <a:pPr marL="0" indent="0" algn="ctr" eaLnBrk="1" hangingPunct="1">
              <a:spcBef>
                <a:spcPct val="0"/>
              </a:spcBef>
              <a:buNone/>
            </a:pPr>
            <a:endParaRPr lang="en-US" altLang="en-US" sz="24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endParaRPr>
          </a:p>
          <a:p>
            <a:pPr marL="0" indent="0" algn="ctr" eaLnBrk="1" hangingPunct="1">
              <a:spcBef>
                <a:spcPct val="0"/>
              </a:spcBef>
              <a:buNone/>
            </a:pPr>
            <a:r>
              <a:rPr lang="en-US" altLang="en-US" sz="24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rPr>
              <a:t>Chapter </a:t>
            </a:r>
            <a:r>
              <a:rPr lang="en-US" altLang="en-US" sz="24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4.3: Root Cause Analysis </a:t>
            </a:r>
            <a:r>
              <a:rPr lang="en-US" altLang="en-US" sz="24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rPr>
              <a:t>of </a:t>
            </a:r>
            <a:r>
              <a:rPr lang="en-US" altLang="en-US" sz="24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rPr>
              <a:t>an Incident</a:t>
            </a:r>
          </a:p>
          <a:p>
            <a:pPr marL="0" indent="0" algn="ctr" eaLnBrk="1" hangingPunct="1">
              <a:spcBef>
                <a:spcPct val="0"/>
              </a:spcBef>
              <a:buNone/>
            </a:pPr>
            <a:endParaRPr lang="en-US" altLang="en-US" sz="24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endParaRPr>
          </a:p>
          <a:p>
            <a:pPr marL="0" indent="0" algn="ctr" eaLnBrk="1" hangingPunct="1">
              <a:spcBef>
                <a:spcPct val="0"/>
              </a:spcBef>
              <a:buNone/>
            </a:pPr>
            <a:r>
              <a:rPr lang="en-US" altLang="en-US" sz="3200" b="1" dirty="0" smtClean="0">
                <a:solidFill>
                  <a:schemeClr val="tx2"/>
                </a:solidFill>
                <a:latin typeface="Arial" panose="020B0604020202020204" pitchFamily="34" charset="0"/>
                <a:ea typeface="ＭＳ Ｐゴシック" panose="020B0600070205080204" pitchFamily="34" charset="-128"/>
                <a:cs typeface="Arial" panose="020B0604020202020204" pitchFamily="34" charset="0"/>
              </a:rPr>
              <a:t>- Fundamentals -</a:t>
            </a:r>
            <a:endParaRPr lang="en-US" altLang="en-US" sz="3200" b="1" dirty="0">
              <a:solidFill>
                <a:schemeClr val="tx2"/>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TextBox 8">
            <a:extLst>
              <a:ext uri="{FF2B5EF4-FFF2-40B4-BE49-F238E27FC236}">
                <a16:creationId xmlns:a16="http://schemas.microsoft.com/office/drawing/2014/main" id="{45837290-7F22-4D42-BFDD-D5AD4C09C01F}"/>
              </a:ext>
            </a:extLst>
          </p:cNvPr>
          <p:cNvSpPr txBox="1"/>
          <p:nvPr/>
        </p:nvSpPr>
        <p:spPr>
          <a:xfrm>
            <a:off x="152402" y="176015"/>
            <a:ext cx="1176817" cy="461665"/>
          </a:xfrm>
          <a:prstGeom prst="rect">
            <a:avLst/>
          </a:prstGeom>
          <a:solidFill>
            <a:sysClr val="window" lastClr="FFFFFF"/>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r>
              <a:rPr lang="en-US" dirty="0"/>
              <a:t>Fundamentals of RM</a:t>
            </a:r>
          </a:p>
        </p:txBody>
      </p:sp>
      <p:sp>
        <p:nvSpPr>
          <p:cNvPr id="10" name="TextBox 9">
            <a:extLst>
              <a:ext uri="{FF2B5EF4-FFF2-40B4-BE49-F238E27FC236}">
                <a16:creationId xmlns:a16="http://schemas.microsoft.com/office/drawing/2014/main" id="{7618FDCA-D6EA-3540-8AE2-F6CD31336ABE}"/>
              </a:ext>
            </a:extLst>
          </p:cNvPr>
          <p:cNvSpPr txBox="1"/>
          <p:nvPr/>
        </p:nvSpPr>
        <p:spPr>
          <a:xfrm>
            <a:off x="1481037" y="169908"/>
            <a:ext cx="1024999" cy="461665"/>
          </a:xfrm>
          <a:prstGeom prst="rect">
            <a:avLst/>
          </a:prstGeom>
          <a:solidFill>
            <a:sysClr val="window" lastClr="FFFFFF"/>
          </a:solidFill>
          <a:ln w="12700" cap="flat" cmpd="sng" algn="ctr">
            <a:solidFill>
              <a:schemeClr val="tx1"/>
            </a:solidFill>
            <a:prstDash val="solid"/>
            <a:miter lim="800000"/>
          </a:ln>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effectLst/>
                <a:uLnTx/>
                <a:uFillTx/>
                <a:latin typeface="Calibri" panose="020F0502020204030204"/>
                <a:ea typeface="ＭＳ Ｐゴシック" panose="020B0600070205080204" pitchFamily="34" charset="-128"/>
                <a:cs typeface="+mn-cs"/>
              </a:rPr>
              <a:t>RM System and Process</a:t>
            </a:r>
          </a:p>
        </p:txBody>
      </p:sp>
      <p:sp>
        <p:nvSpPr>
          <p:cNvPr id="11" name="TextBox 10">
            <a:extLst>
              <a:ext uri="{FF2B5EF4-FFF2-40B4-BE49-F238E27FC236}">
                <a16:creationId xmlns:a16="http://schemas.microsoft.com/office/drawing/2014/main" id="{45BC740A-AE56-7744-84D0-32724BDFA21D}"/>
              </a:ext>
            </a:extLst>
          </p:cNvPr>
          <p:cNvSpPr txBox="1"/>
          <p:nvPr/>
        </p:nvSpPr>
        <p:spPr>
          <a:xfrm>
            <a:off x="7874130" y="169908"/>
            <a:ext cx="1155550" cy="461665"/>
          </a:xfrm>
          <a:prstGeom prst="rect">
            <a:avLst/>
          </a:prstGeom>
          <a:solidFill>
            <a:srgbClr val="FFFFFF"/>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r>
              <a:rPr lang="en-US" dirty="0"/>
              <a:t>Application and Perspectives</a:t>
            </a:r>
          </a:p>
        </p:txBody>
      </p:sp>
      <p:sp>
        <p:nvSpPr>
          <p:cNvPr id="12" name="TextBox 11">
            <a:extLst>
              <a:ext uri="{FF2B5EF4-FFF2-40B4-BE49-F238E27FC236}">
                <a16:creationId xmlns:a16="http://schemas.microsoft.com/office/drawing/2014/main" id="{0A7D91E5-FF6E-C346-BD54-1494F0C62548}"/>
              </a:ext>
            </a:extLst>
          </p:cNvPr>
          <p:cNvSpPr txBox="1"/>
          <p:nvPr/>
        </p:nvSpPr>
        <p:spPr>
          <a:xfrm>
            <a:off x="7051217" y="169908"/>
            <a:ext cx="671096" cy="461665"/>
          </a:xfrm>
          <a:prstGeom prst="rect">
            <a:avLst/>
          </a:prstGeom>
          <a:solidFill>
            <a:sysClr val="window" lastClr="FFFFFF"/>
          </a:solidFill>
          <a:ln w="12700" cap="flat" cmpd="sng" algn="ctr">
            <a:solidFill>
              <a:schemeClr val="tx1"/>
            </a:solidFill>
            <a:prstDash val="solid"/>
            <a:miter lim="800000"/>
          </a:ln>
          <a:effectLst/>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effectLst/>
                <a:uLnTx/>
                <a:uFillTx/>
                <a:latin typeface="Calibri" panose="020F0502020204030204"/>
                <a:ea typeface="ＭＳ Ｐゴシック" panose="020B0600070205080204" pitchFamily="34" charset="-128"/>
                <a:cs typeface="+mn-cs"/>
              </a:rPr>
              <a:t>People &amp; Org.</a:t>
            </a:r>
          </a:p>
        </p:txBody>
      </p:sp>
      <p:sp>
        <p:nvSpPr>
          <p:cNvPr id="13" name="TextBox 12">
            <a:extLst>
              <a:ext uri="{FF2B5EF4-FFF2-40B4-BE49-F238E27FC236}">
                <a16:creationId xmlns:a16="http://schemas.microsoft.com/office/drawing/2014/main" id="{00457A8C-8AD1-BC48-A393-2CA6461462C7}"/>
              </a:ext>
            </a:extLst>
          </p:cNvPr>
          <p:cNvSpPr txBox="1"/>
          <p:nvPr/>
        </p:nvSpPr>
        <p:spPr>
          <a:xfrm>
            <a:off x="3834670" y="169908"/>
            <a:ext cx="1024999" cy="461665"/>
          </a:xfrm>
          <a:prstGeom prst="rect">
            <a:avLst/>
          </a:prstGeom>
          <a:solidFill>
            <a:srgbClr val="FFFF00"/>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r>
              <a:rPr lang="en-US" dirty="0"/>
              <a:t>Incident Investigation</a:t>
            </a:r>
          </a:p>
        </p:txBody>
      </p:sp>
      <p:sp>
        <p:nvSpPr>
          <p:cNvPr id="14" name="TextBox 13">
            <a:extLst>
              <a:ext uri="{FF2B5EF4-FFF2-40B4-BE49-F238E27FC236}">
                <a16:creationId xmlns:a16="http://schemas.microsoft.com/office/drawing/2014/main" id="{D7E14612-2C60-CA49-88DC-A40274E52BE8}"/>
              </a:ext>
            </a:extLst>
          </p:cNvPr>
          <p:cNvSpPr txBox="1"/>
          <p:nvPr/>
        </p:nvSpPr>
        <p:spPr>
          <a:xfrm>
            <a:off x="5011486" y="169908"/>
            <a:ext cx="1024999" cy="461665"/>
          </a:xfrm>
          <a:prstGeom prst="rect">
            <a:avLst/>
          </a:prstGeom>
          <a:solidFill>
            <a:srgbClr val="FFFFFF"/>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r>
              <a:rPr lang="en-US" dirty="0"/>
              <a:t>RM Tools &amp; Challenges</a:t>
            </a:r>
          </a:p>
        </p:txBody>
      </p:sp>
      <p:sp>
        <p:nvSpPr>
          <p:cNvPr id="15" name="TextBox 14">
            <a:extLst>
              <a:ext uri="{FF2B5EF4-FFF2-40B4-BE49-F238E27FC236}">
                <a16:creationId xmlns:a16="http://schemas.microsoft.com/office/drawing/2014/main" id="{F48AF929-DEC8-B045-BD5C-00378213E2AE}"/>
              </a:ext>
            </a:extLst>
          </p:cNvPr>
          <p:cNvSpPr txBox="1"/>
          <p:nvPr/>
        </p:nvSpPr>
        <p:spPr>
          <a:xfrm>
            <a:off x="2657853" y="170432"/>
            <a:ext cx="1024999" cy="461665"/>
          </a:xfrm>
          <a:prstGeom prst="rect">
            <a:avLst/>
          </a:prstGeom>
          <a:solidFill>
            <a:sysClr val="window" lastClr="FFFFFF"/>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r>
              <a:rPr lang="en-US" dirty="0"/>
              <a:t>Leadership in RM</a:t>
            </a:r>
          </a:p>
        </p:txBody>
      </p:sp>
      <p:cxnSp>
        <p:nvCxnSpPr>
          <p:cNvPr id="16" name="Straight Arrow Connector 15">
            <a:extLst>
              <a:ext uri="{FF2B5EF4-FFF2-40B4-BE49-F238E27FC236}">
                <a16:creationId xmlns:a16="http://schemas.microsoft.com/office/drawing/2014/main" id="{194E84B9-8682-8C4B-A72E-1FFEAF78256B}"/>
              </a:ext>
            </a:extLst>
          </p:cNvPr>
          <p:cNvCxnSpPr>
            <a:cxnSpLocks/>
            <a:stCxn id="9" idx="3"/>
            <a:endCxn id="10" idx="1"/>
          </p:cNvCxnSpPr>
          <p:nvPr/>
        </p:nvCxnSpPr>
        <p:spPr>
          <a:xfrm flipV="1">
            <a:off x="1329217" y="400741"/>
            <a:ext cx="151818" cy="6107"/>
          </a:xfrm>
          <a:prstGeom prst="straightConnector1">
            <a:avLst/>
          </a:prstGeom>
          <a:noFill/>
          <a:ln w="6350" cap="flat" cmpd="sng" algn="ctr">
            <a:solidFill>
              <a:schemeClr val="tx1"/>
            </a:solidFill>
            <a:prstDash val="solid"/>
            <a:miter lim="800000"/>
            <a:tailEnd type="triangle"/>
          </a:ln>
          <a:effectLst/>
        </p:spPr>
      </p:cxnSp>
      <p:cxnSp>
        <p:nvCxnSpPr>
          <p:cNvPr id="17" name="Straight Arrow Connector 16">
            <a:extLst>
              <a:ext uri="{FF2B5EF4-FFF2-40B4-BE49-F238E27FC236}">
                <a16:creationId xmlns:a16="http://schemas.microsoft.com/office/drawing/2014/main" id="{BCED6320-D6B4-374B-AE59-18735BF60E66}"/>
              </a:ext>
            </a:extLst>
          </p:cNvPr>
          <p:cNvCxnSpPr>
            <a:stCxn id="10" idx="3"/>
            <a:endCxn id="15" idx="1"/>
          </p:cNvCxnSpPr>
          <p:nvPr/>
        </p:nvCxnSpPr>
        <p:spPr>
          <a:xfrm>
            <a:off x="2506036" y="400739"/>
            <a:ext cx="151817" cy="524"/>
          </a:xfrm>
          <a:prstGeom prst="straightConnector1">
            <a:avLst/>
          </a:prstGeom>
          <a:noFill/>
          <a:ln w="6350" cap="flat" cmpd="sng" algn="ctr">
            <a:solidFill>
              <a:schemeClr val="tx1"/>
            </a:solidFill>
            <a:prstDash val="solid"/>
            <a:miter lim="800000"/>
            <a:tailEnd type="triangle"/>
          </a:ln>
          <a:effectLst/>
        </p:spPr>
      </p:cxnSp>
      <p:cxnSp>
        <p:nvCxnSpPr>
          <p:cNvPr id="18" name="Straight Arrow Connector 17">
            <a:extLst>
              <a:ext uri="{FF2B5EF4-FFF2-40B4-BE49-F238E27FC236}">
                <a16:creationId xmlns:a16="http://schemas.microsoft.com/office/drawing/2014/main" id="{BA27112B-E9F0-2348-9B20-FB76B2277E3D}"/>
              </a:ext>
            </a:extLst>
          </p:cNvPr>
          <p:cNvCxnSpPr>
            <a:stCxn id="15" idx="3"/>
            <a:endCxn id="13" idx="1"/>
          </p:cNvCxnSpPr>
          <p:nvPr/>
        </p:nvCxnSpPr>
        <p:spPr>
          <a:xfrm flipV="1">
            <a:off x="3682853" y="400739"/>
            <a:ext cx="151817" cy="524"/>
          </a:xfrm>
          <a:prstGeom prst="straightConnector1">
            <a:avLst/>
          </a:prstGeom>
          <a:noFill/>
          <a:ln w="6350" cap="flat" cmpd="sng" algn="ctr">
            <a:solidFill>
              <a:schemeClr val="tx1"/>
            </a:solidFill>
            <a:prstDash val="solid"/>
            <a:miter lim="800000"/>
            <a:tailEnd type="triangle"/>
          </a:ln>
          <a:effectLst/>
        </p:spPr>
      </p:cxnSp>
      <p:cxnSp>
        <p:nvCxnSpPr>
          <p:cNvPr id="19" name="Straight Arrow Connector 18">
            <a:extLst>
              <a:ext uri="{FF2B5EF4-FFF2-40B4-BE49-F238E27FC236}">
                <a16:creationId xmlns:a16="http://schemas.microsoft.com/office/drawing/2014/main" id="{D6FCC88D-6DFA-474E-80EC-662B2D4B909B}"/>
              </a:ext>
            </a:extLst>
          </p:cNvPr>
          <p:cNvCxnSpPr>
            <a:stCxn id="13" idx="3"/>
            <a:endCxn id="14" idx="1"/>
          </p:cNvCxnSpPr>
          <p:nvPr/>
        </p:nvCxnSpPr>
        <p:spPr>
          <a:xfrm>
            <a:off x="4859669" y="400741"/>
            <a:ext cx="151817" cy="0"/>
          </a:xfrm>
          <a:prstGeom prst="straightConnector1">
            <a:avLst/>
          </a:prstGeom>
          <a:noFill/>
          <a:ln w="6350" cap="flat" cmpd="sng" algn="ctr">
            <a:solidFill>
              <a:schemeClr val="tx1"/>
            </a:solidFill>
            <a:prstDash val="solid"/>
            <a:miter lim="800000"/>
            <a:tailEnd type="triangle"/>
          </a:ln>
          <a:effectLst/>
        </p:spPr>
      </p:cxnSp>
      <p:cxnSp>
        <p:nvCxnSpPr>
          <p:cNvPr id="20" name="Straight Arrow Connector 19">
            <a:extLst>
              <a:ext uri="{FF2B5EF4-FFF2-40B4-BE49-F238E27FC236}">
                <a16:creationId xmlns:a16="http://schemas.microsoft.com/office/drawing/2014/main" id="{5CA7384E-C04D-ED41-9740-B0199EA1890A}"/>
              </a:ext>
            </a:extLst>
          </p:cNvPr>
          <p:cNvCxnSpPr>
            <a:cxnSpLocks/>
            <a:stCxn id="14" idx="3"/>
          </p:cNvCxnSpPr>
          <p:nvPr/>
        </p:nvCxnSpPr>
        <p:spPr>
          <a:xfrm flipV="1">
            <a:off x="6036485" y="400740"/>
            <a:ext cx="151816" cy="1"/>
          </a:xfrm>
          <a:prstGeom prst="straightConnector1">
            <a:avLst/>
          </a:prstGeom>
          <a:noFill/>
          <a:ln w="6350" cap="flat" cmpd="sng" algn="ctr">
            <a:solidFill>
              <a:schemeClr val="tx1"/>
            </a:solidFill>
            <a:prstDash val="solid"/>
            <a:miter lim="800000"/>
            <a:tailEnd type="triangle"/>
          </a:ln>
          <a:effectLst/>
        </p:spPr>
      </p:cxnSp>
      <p:cxnSp>
        <p:nvCxnSpPr>
          <p:cNvPr id="21" name="Straight Arrow Connector 20">
            <a:extLst>
              <a:ext uri="{FF2B5EF4-FFF2-40B4-BE49-F238E27FC236}">
                <a16:creationId xmlns:a16="http://schemas.microsoft.com/office/drawing/2014/main" id="{F37C1AD4-35C5-B84F-A011-FC352A9DC134}"/>
              </a:ext>
            </a:extLst>
          </p:cNvPr>
          <p:cNvCxnSpPr>
            <a:cxnSpLocks/>
            <a:endCxn id="12" idx="1"/>
          </p:cNvCxnSpPr>
          <p:nvPr/>
        </p:nvCxnSpPr>
        <p:spPr>
          <a:xfrm flipV="1">
            <a:off x="6899402" y="400741"/>
            <a:ext cx="151817" cy="1"/>
          </a:xfrm>
          <a:prstGeom prst="straightConnector1">
            <a:avLst/>
          </a:prstGeom>
          <a:noFill/>
          <a:ln w="6350" cap="flat" cmpd="sng" algn="ctr">
            <a:solidFill>
              <a:schemeClr val="tx1"/>
            </a:solidFill>
            <a:prstDash val="solid"/>
            <a:miter lim="800000"/>
            <a:tailEnd type="triangle"/>
          </a:ln>
          <a:effectLst/>
        </p:spPr>
      </p:cxnSp>
      <p:cxnSp>
        <p:nvCxnSpPr>
          <p:cNvPr id="22" name="Straight Arrow Connector 21">
            <a:extLst>
              <a:ext uri="{FF2B5EF4-FFF2-40B4-BE49-F238E27FC236}">
                <a16:creationId xmlns:a16="http://schemas.microsoft.com/office/drawing/2014/main" id="{A40B8989-9D9A-DE41-B118-0BB225CC7043}"/>
              </a:ext>
            </a:extLst>
          </p:cNvPr>
          <p:cNvCxnSpPr>
            <a:stCxn id="12" idx="3"/>
            <a:endCxn id="11" idx="1"/>
          </p:cNvCxnSpPr>
          <p:nvPr/>
        </p:nvCxnSpPr>
        <p:spPr>
          <a:xfrm>
            <a:off x="7722315" y="400739"/>
            <a:ext cx="151817" cy="0"/>
          </a:xfrm>
          <a:prstGeom prst="straightConnector1">
            <a:avLst/>
          </a:prstGeom>
          <a:noFill/>
          <a:ln w="6350" cap="flat" cmpd="sng" algn="ctr">
            <a:solidFill>
              <a:schemeClr val="tx1"/>
            </a:solidFill>
            <a:prstDash val="solid"/>
            <a:miter lim="800000"/>
            <a:tailEnd type="triangle"/>
          </a:ln>
          <a:effectLst/>
        </p:spPr>
      </p:cxnSp>
      <p:sp>
        <p:nvSpPr>
          <p:cNvPr id="23" name="TextBox 22">
            <a:extLst>
              <a:ext uri="{FF2B5EF4-FFF2-40B4-BE49-F238E27FC236}">
                <a16:creationId xmlns:a16="http://schemas.microsoft.com/office/drawing/2014/main" id="{E97011C2-9A0B-664B-83CB-DE2410B86B87}"/>
              </a:ext>
            </a:extLst>
          </p:cNvPr>
          <p:cNvSpPr txBox="1"/>
          <p:nvPr/>
        </p:nvSpPr>
        <p:spPr>
          <a:xfrm>
            <a:off x="6188301" y="169907"/>
            <a:ext cx="692362" cy="461665"/>
          </a:xfrm>
          <a:prstGeom prst="rect">
            <a:avLst/>
          </a:prstGeom>
          <a:solidFill>
            <a:sysClr val="window" lastClr="FFFFFF"/>
          </a:solidFill>
          <a:ln w="12700" cap="flat" cmpd="sng" algn="ctr">
            <a:solidFill>
              <a:schemeClr val="tx1"/>
            </a:solidFill>
            <a:prstDash val="solid"/>
            <a:miter lim="800000"/>
          </a:ln>
          <a:effectLst/>
        </p:spPr>
        <p:txBody>
          <a:bodyPr wrap="square" rtlCol="0">
            <a:spAutoFit/>
          </a:bodyPr>
          <a:lstStyle>
            <a:defPPr>
              <a:defRPr lang="en-US"/>
            </a:defPPr>
            <a:lvl1pPr marL="0" marR="0" lvl="0" indent="0" algn="ctr" defTabSz="914400" eaLnBrk="1" fontAlgn="auto" latinLnBrk="0" hangingPunct="1">
              <a:lnSpc>
                <a:spcPct val="100000"/>
              </a:lnSpc>
              <a:spcBef>
                <a:spcPts val="0"/>
              </a:spcBef>
              <a:spcAft>
                <a:spcPts val="0"/>
              </a:spcAft>
              <a:buClrTx/>
              <a:buSzTx/>
              <a:buFontTx/>
              <a:buNone/>
              <a:tabLst/>
              <a:defRPr kumimoji="0" sz="1200" b="0" i="0" u="none" strike="noStrike" kern="0" cap="none" spc="0" normalizeH="0" baseline="0">
                <a:ln>
                  <a:noFill/>
                </a:ln>
                <a:effectLst/>
                <a:uLnTx/>
                <a:uFillTx/>
                <a:latin typeface="Calibri" panose="020F0502020204030204"/>
                <a:ea typeface="ＭＳ Ｐゴシック" panose="020B0600070205080204" pitchFamily="34" charset="-128"/>
              </a:defRPr>
            </a:lvl1pPr>
          </a:lstStyle>
          <a:p>
            <a:r>
              <a:rPr lang="en-US" dirty="0"/>
              <a:t>RM in Industry</a:t>
            </a:r>
          </a:p>
        </p:txBody>
      </p:sp>
      <p:pic>
        <p:nvPicPr>
          <p:cNvPr id="24" name="Picture 2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1182" y="4405529"/>
            <a:ext cx="1766671" cy="1766671"/>
          </a:xfrm>
          <a:prstGeom prst="rect">
            <a:avLst/>
          </a:prstGeom>
        </p:spPr>
      </p:pic>
      <p:pic>
        <p:nvPicPr>
          <p:cNvPr id="25" name="Picture 24" descr="Introduction to Sociology - 2013 - The Collaboratory"/>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500" y="4405342"/>
            <a:ext cx="2590300" cy="1766857"/>
          </a:xfrm>
          <a:prstGeom prst="rect">
            <a:avLst/>
          </a:prstGeom>
        </p:spPr>
      </p:pic>
    </p:spTree>
    <p:extLst>
      <p:ext uri="{BB962C8B-B14F-4D97-AF65-F5344CB8AC3E}">
        <p14:creationId xmlns:p14="http://schemas.microsoft.com/office/powerpoint/2010/main" val="339493757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100000"/>
              </a:lnSpc>
              <a:spcBef>
                <a:spcPts val="0"/>
              </a:spcBef>
              <a:buClrTx/>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fontAlgn="auto">
              <a:lnSpc>
                <a:spcPct val="100000"/>
              </a:lnSpc>
              <a:spcBef>
                <a:spcPts val="0"/>
              </a:spcBef>
              <a:spcAft>
                <a:spcPts val="0"/>
              </a:spcAft>
              <a:buClr>
                <a:srgbClr val="000000"/>
              </a:buClr>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Analyze an incident sequentially and explain the nature of the different types of causes, and their sub-categories. </a:t>
            </a:r>
          </a:p>
          <a:p>
            <a:pPr marL="360000" lvl="0" indent="-360000" fontAlgn="auto">
              <a:lnSpc>
                <a:spcPct val="100000"/>
              </a:lnSpc>
              <a:spcBef>
                <a:spcPts val="0"/>
              </a:spcBef>
              <a:spcAft>
                <a:spcPts val="0"/>
              </a:spcAft>
              <a:buClr>
                <a:srgbClr val="000000"/>
              </a:buClr>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Logically </a:t>
            </a:r>
            <a:r>
              <a:rPr lang="en-US" altLang="en-US" b="0" dirty="0">
                <a:solidFill>
                  <a:prstClr val="black"/>
                </a:solidFill>
                <a:latin typeface="Arial" panose="020B0604020202020204" pitchFamily="34" charset="0"/>
                <a:ea typeface="ＭＳ Ｐゴシック" panose="020B0600070205080204" pitchFamily="34" charset="-128"/>
              </a:rPr>
              <a:t>link the causal factors in incident investigations. </a:t>
            </a:r>
          </a:p>
          <a:p>
            <a:pPr marL="360000" lvl="0" indent="-360000" fontAlgn="auto">
              <a:lnSpc>
                <a:spcPct val="100000"/>
              </a:lnSpc>
              <a:spcBef>
                <a:spcPts val="0"/>
              </a:spcBef>
              <a:spcAft>
                <a:spcPts val="0"/>
              </a:spcAft>
              <a:buClr>
                <a:srgbClr val="000000"/>
              </a:buClr>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Interpret and </a:t>
            </a:r>
            <a:r>
              <a:rPr lang="en-US" altLang="en-US" b="0" dirty="0" smtClean="0">
                <a:solidFill>
                  <a:prstClr val="black"/>
                </a:solidFill>
                <a:latin typeface="Arial" panose="020B0604020202020204" pitchFamily="34" charset="0"/>
                <a:ea typeface="ＭＳ Ｐゴシック" panose="020B0600070205080204" pitchFamily="34" charset="-128"/>
              </a:rPr>
              <a:t>apply </a:t>
            </a:r>
            <a:r>
              <a:rPr lang="en-US" altLang="en-US" b="0" dirty="0">
                <a:solidFill>
                  <a:prstClr val="black"/>
                </a:solidFill>
                <a:latin typeface="Arial" panose="020B0604020202020204" pitchFamily="34" charset="0"/>
                <a:ea typeface="ＭＳ Ｐゴシック" panose="020B0600070205080204" pitchFamily="34" charset="-128"/>
              </a:rPr>
              <a:t>a Cause and Effect Model for analyzing incidents.</a:t>
            </a:r>
          </a:p>
          <a:p>
            <a:pPr marL="360000" lvl="0" indent="-360000" fontAlgn="auto">
              <a:lnSpc>
                <a:spcPct val="100000"/>
              </a:lnSpc>
              <a:spcBef>
                <a:spcPts val="0"/>
              </a:spcBef>
              <a:spcAft>
                <a:spcPts val="0"/>
              </a:spcAft>
              <a:buClr>
                <a:srgbClr val="000000"/>
              </a:buClr>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Interpret, </a:t>
            </a:r>
            <a:r>
              <a:rPr lang="en-US" altLang="en-US" b="0" dirty="0" smtClean="0">
                <a:solidFill>
                  <a:prstClr val="black"/>
                </a:solidFill>
                <a:latin typeface="Arial" panose="020B0604020202020204" pitchFamily="34" charset="0"/>
                <a:ea typeface="ＭＳ Ｐゴシック" panose="020B0600070205080204" pitchFamily="34" charset="-128"/>
              </a:rPr>
              <a:t>apply, </a:t>
            </a:r>
            <a:r>
              <a:rPr lang="en-US" altLang="en-US" b="0" dirty="0">
                <a:solidFill>
                  <a:prstClr val="black"/>
                </a:solidFill>
                <a:latin typeface="Arial" panose="020B0604020202020204" pitchFamily="34" charset="0"/>
                <a:ea typeface="ＭＳ Ｐゴシック" panose="020B0600070205080204" pitchFamily="34" charset="-128"/>
              </a:rPr>
              <a:t>and construct a Root Cause Analysis of a loss incident. </a:t>
            </a:r>
          </a:p>
          <a:p>
            <a:pPr marL="360000" lvl="0" indent="-360000" fontAlgn="auto">
              <a:lnSpc>
                <a:spcPct val="100000"/>
              </a:lnSpc>
              <a:spcBef>
                <a:spcPts val="0"/>
              </a:spcBef>
              <a:spcAft>
                <a:spcPts val="0"/>
              </a:spcAft>
              <a:buClr>
                <a:srgbClr val="000000"/>
              </a:buClr>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Differentiate between immediate, </a:t>
            </a:r>
            <a:r>
              <a:rPr lang="en-US" altLang="en-US" b="0" dirty="0" smtClean="0">
                <a:solidFill>
                  <a:prstClr val="black"/>
                </a:solidFill>
                <a:latin typeface="Arial" panose="020B0604020202020204" pitchFamily="34" charset="0"/>
                <a:ea typeface="ＭＳ Ｐゴシック" panose="020B0600070205080204" pitchFamily="34" charset="-128"/>
              </a:rPr>
              <a:t>intermediate, basic</a:t>
            </a:r>
            <a:r>
              <a:rPr lang="en-US" altLang="en-US" b="0" dirty="0">
                <a:solidFill>
                  <a:prstClr val="black"/>
                </a:solidFill>
                <a:latin typeface="Arial" panose="020B0604020202020204" pitchFamily="34" charset="0"/>
                <a:ea typeface="ＭＳ Ｐゴシック" panose="020B0600070205080204" pitchFamily="34" charset="-128"/>
              </a:rPr>
              <a:t>, and latent causes</a:t>
            </a:r>
            <a:r>
              <a:rPr lang="en-US" altLang="en-US" b="0" dirty="0" smtClean="0">
                <a:solidFill>
                  <a:prstClr val="black"/>
                </a:solidFill>
                <a:latin typeface="Arial" panose="020B0604020202020204" pitchFamily="34" charset="0"/>
                <a:ea typeface="ＭＳ Ｐゴシック" panose="020B0600070205080204" pitchFamily="34" charset="-128"/>
              </a:rPr>
              <a:t>.</a:t>
            </a:r>
          </a:p>
          <a:p>
            <a:pPr marL="360000" indent="-360000" fontAlgn="auto">
              <a:lnSpc>
                <a:spcPct val="100000"/>
              </a:lnSpc>
              <a:spcBef>
                <a:spcPts val="0"/>
              </a:spcBef>
              <a:spcAft>
                <a:spcPts val="0"/>
              </a:spcAft>
              <a:buClr>
                <a:srgbClr val="000000"/>
              </a:buClr>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Apply the Discovery Model to start the RCA Chart</a:t>
            </a:r>
            <a:r>
              <a:rPr lang="en-US" altLang="en-US" b="0" dirty="0" smtClean="0">
                <a:solidFill>
                  <a:prstClr val="black"/>
                </a:solidFill>
                <a:latin typeface="Arial" panose="020B0604020202020204" pitchFamily="34" charset="0"/>
                <a:ea typeface="ＭＳ Ｐゴシック" panose="020B0600070205080204" pitchFamily="34" charset="-128"/>
              </a:rPr>
              <a:t>.</a:t>
            </a:r>
          </a:p>
          <a:p>
            <a:pPr marL="360000" indent="-360000" fontAlgn="auto">
              <a:lnSpc>
                <a:spcPct val="100000"/>
              </a:lnSpc>
              <a:spcBef>
                <a:spcPts val="0"/>
              </a:spcBef>
              <a:spcAft>
                <a:spcPts val="0"/>
              </a:spcAft>
              <a:buClr>
                <a:srgbClr val="000000"/>
              </a:buClr>
              <a:buFont typeface="Wingdings" panose="05000000000000000000" pitchFamily="2" charset="2"/>
              <a:buChar char="Ø"/>
              <a:defRPr/>
            </a:pPr>
            <a:endParaRPr lang="en-US" altLang="en-US" b="0" dirty="0">
              <a:solidFill>
                <a:prstClr val="black"/>
              </a:solidFill>
              <a:latin typeface="Arial" panose="020B0604020202020204" pitchFamily="34" charset="0"/>
              <a:ea typeface="ＭＳ Ｐゴシック" panose="020B0600070205080204" pitchFamily="34" charset="-128"/>
            </a:endParaRPr>
          </a:p>
          <a:p>
            <a:pPr marL="360000" indent="-360000" fontAlgn="auto">
              <a:lnSpc>
                <a:spcPct val="100000"/>
              </a:lnSpc>
              <a:spcBef>
                <a:spcPts val="0"/>
              </a:spcBef>
              <a:spcAft>
                <a:spcPts val="0"/>
              </a:spcAft>
              <a:buClr>
                <a:srgbClr val="000000"/>
              </a:buClr>
              <a:buFont typeface="Wingdings" panose="05000000000000000000" pitchFamily="2" charset="2"/>
              <a:buChar char="Ø"/>
              <a:defRPr/>
            </a:pP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360000" indent="-360000" fontAlgn="auto">
              <a:lnSpc>
                <a:spcPct val="100000"/>
              </a:lnSpc>
              <a:spcBef>
                <a:spcPts val="0"/>
              </a:spcBef>
              <a:spcAft>
                <a:spcPts val="0"/>
              </a:spcAft>
              <a:buClr>
                <a:srgbClr val="000000"/>
              </a:buClr>
              <a:buFont typeface="Wingdings" panose="05000000000000000000" pitchFamily="2" charset="2"/>
              <a:buChar char="Ø"/>
              <a:defRPr/>
            </a:pPr>
            <a:endParaRPr lang="en-US" altLang="en-US" b="0" dirty="0">
              <a:solidFill>
                <a:prstClr val="black"/>
              </a:solidFill>
              <a:latin typeface="Arial" panose="020B0604020202020204" pitchFamily="34" charset="0"/>
              <a:ea typeface="ＭＳ Ｐゴシック" panose="020B0600070205080204" pitchFamily="34" charset="-128"/>
            </a:endParaRPr>
          </a:p>
          <a:p>
            <a:pPr marL="0" indent="0" fontAlgn="auto">
              <a:lnSpc>
                <a:spcPct val="100000"/>
              </a:lnSpc>
              <a:spcBef>
                <a:spcPts val="0"/>
              </a:spcBef>
              <a:spcAft>
                <a:spcPts val="0"/>
              </a:spcAft>
              <a:buClr>
                <a:srgbClr val="000000"/>
              </a:buClr>
              <a:buNone/>
              <a:defRPr/>
            </a:pPr>
            <a:r>
              <a:rPr lang="en-US" altLang="en-US"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This topic explains the purpose and application of the Cause &amp; Effect Model, and the fundamental constructs of a Root Cause Analysis</a:t>
            </a:r>
            <a:r>
              <a:rPr lang="en-US" altLang="en-US" b="0" i="1"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endParaRPr lang="en-US" altLang="en-US" b="0" i="1" dirty="0">
              <a:solidFill>
                <a:prstClr val="black"/>
              </a:solidFill>
              <a:latin typeface="Arial" panose="020B0604020202020204" pitchFamily="34" charset="0"/>
              <a:ea typeface="ＭＳ Ｐゴシック" panose="020B0600070205080204" pitchFamily="34" charset="-128"/>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Learning Outcomes: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2</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7341274"/>
      </p:ext>
    </p:extLst>
  </p:cSld>
  <p:clrMapOvr>
    <a:masterClrMapping/>
  </p:clrMapOvr>
  <p:transition>
    <p:fade/>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100000"/>
              </a:lnSpc>
              <a:spcBef>
                <a:spcPts val="0"/>
              </a:spcBef>
              <a:buClrTx/>
              <a:buSzPct val="100000"/>
              <a:buNone/>
            </a:pP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Chapters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4.2 and 4.3 teach you how to </a:t>
            </a:r>
            <a:r>
              <a:rPr lang="en-US" altLang="en-US" dirty="0" err="1">
                <a:solidFill>
                  <a:srgbClr val="000000"/>
                </a:solidFill>
                <a:latin typeface="Arial" panose="020B0604020202020204" pitchFamily="34" charset="0"/>
                <a:ea typeface="ＭＳ Ｐゴシック" panose="020B0600070205080204" pitchFamily="34" charset="-128"/>
                <a:cs typeface="Arial" panose="020B0604020202020204" pitchFamily="34" charset="0"/>
              </a:rPr>
              <a:t>analyse</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 loss incident!</a:t>
            </a:r>
          </a:p>
          <a:p>
            <a:pPr marL="360000" indent="-360000" eaLnBrk="0" hangingPunct="0">
              <a:lnSpc>
                <a:spcPct val="100000"/>
              </a:lnSpc>
              <a:spcBef>
                <a:spcPts val="0"/>
              </a:spcBef>
              <a:buClrTx/>
              <a:buSzPct val="100000"/>
              <a:buFont typeface="Wingdings" panose="05000000000000000000" pitchFamily="2" charset="2"/>
              <a:buChar char="Ø"/>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Two </a:t>
            </a:r>
            <a:r>
              <a:rPr lang="en-US" altLang="en-US"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complementary tools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for Incident Investigation: </a:t>
            </a:r>
          </a:p>
          <a:p>
            <a:pPr marL="720000" indent="-360000" eaLnBrk="0" hangingPunct="0">
              <a:lnSpc>
                <a:spcPct val="100000"/>
              </a:lnSpc>
              <a:spcBef>
                <a:spcPts val="0"/>
              </a:spcBef>
              <a:buClrTx/>
              <a:buSzPct val="100000"/>
              <a:buFont typeface="Wingdings" panose="05000000000000000000" pitchFamily="2" charset="2"/>
              <a:buChar char="Ø"/>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Cause and Effect Model</a:t>
            </a:r>
          </a:p>
          <a:p>
            <a:pPr marL="720000" indent="-360000" eaLnBrk="0" hangingPunct="0">
              <a:lnSpc>
                <a:spcPct val="100000"/>
              </a:lnSpc>
              <a:spcBef>
                <a:spcPts val="0"/>
              </a:spcBef>
              <a:buClrTx/>
              <a:buSzPct val="100000"/>
              <a:buFont typeface="Wingdings" panose="05000000000000000000" pitchFamily="2" charset="2"/>
              <a:buChar char="Ø"/>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Root Cause Analysis Work Process</a:t>
            </a:r>
          </a:p>
          <a:p>
            <a:pPr marL="360000" indent="-360000" eaLnBrk="0" hangingPunct="0">
              <a:lnSpc>
                <a:spcPct val="100000"/>
              </a:lnSpc>
              <a:spcBef>
                <a:spcPts val="0"/>
              </a:spcBef>
              <a:buClrTx/>
              <a:buSzPct val="100000"/>
              <a:buFont typeface="Wingdings" panose="05000000000000000000" pitchFamily="2" charset="2"/>
              <a:buChar char="Ø"/>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These will allow you to:</a:t>
            </a:r>
          </a:p>
          <a:p>
            <a:pPr marL="72000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Find all potential cause-effect relationships in a logical manner.</a:t>
            </a:r>
          </a:p>
          <a:p>
            <a:pPr marL="72000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Classify causes by their type such that they can be better understood and recommendations are optimized.</a:t>
            </a:r>
          </a:p>
          <a:p>
            <a:pPr marL="72000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Link incident causes with failures in the RMS.</a:t>
            </a:r>
          </a:p>
          <a:p>
            <a:pPr marL="360000" indent="-360000" eaLnBrk="0" hangingPunct="0">
              <a:lnSpc>
                <a:spcPct val="100000"/>
              </a:lnSpc>
              <a:spcBef>
                <a:spcPts val="0"/>
              </a:spcBef>
              <a:buClrTx/>
              <a:buSzPct val="100000"/>
              <a:buFont typeface="Wingdings" panose="05000000000000000000" pitchFamily="2" charset="2"/>
              <a:buChar char="Ø"/>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a:t>
            </a:r>
            <a:r>
              <a:rPr lang="en-US" altLang="en-US" b="0" u="sng"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RCA </a:t>
            </a:r>
            <a:r>
              <a:rPr lang="en-US" altLang="en-US"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WP</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is applied to </a:t>
            </a:r>
            <a:r>
              <a:rPr lang="en-US" altLang="en-US" b="0" u="sng" dirty="0" err="1">
                <a:solidFill>
                  <a:srgbClr val="000000"/>
                </a:solidFill>
                <a:latin typeface="Arial" panose="020B0604020202020204" pitchFamily="34" charset="0"/>
                <a:ea typeface="ＭＳ Ｐゴシック" panose="020B0600070205080204" pitchFamily="34" charset="-128"/>
                <a:cs typeface="Arial" panose="020B0604020202020204" pitchFamily="34" charset="0"/>
              </a:rPr>
              <a:t>analyse</a:t>
            </a:r>
            <a:r>
              <a:rPr lang="en-US" altLang="en-US"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 loss incident</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and create an </a:t>
            </a:r>
            <a:r>
              <a:rPr lang="en-US" altLang="en-US"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RCA Chart</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t>
            </a:r>
          </a:p>
          <a:p>
            <a:pPr marL="360000" indent="-360000" eaLnBrk="0" hangingPunct="0">
              <a:lnSpc>
                <a:spcPct val="100000"/>
              </a:lnSpc>
              <a:spcBef>
                <a:spcPts val="0"/>
              </a:spcBef>
              <a:buClrTx/>
              <a:buSzPct val="100000"/>
              <a:buFont typeface="Wingdings" panose="05000000000000000000" pitchFamily="2" charset="2"/>
              <a:buChar char="Ø"/>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pPr>
            <a:r>
              <a:rPr lang="en-US" altLang="en-US"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C&amp;E Model</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is used to </a:t>
            </a:r>
            <a:r>
              <a:rPr lang="en-US" altLang="en-US"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check the thoroughness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of the </a:t>
            </a:r>
            <a:r>
              <a:rPr lang="en-US" altLang="en-US"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RCA Chart</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Introduction:</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3</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1285170058"/>
      </p:ext>
    </p:extLst>
  </p:cSld>
  <p:clrMapOvr>
    <a:masterClrMapping/>
  </p:clrMapOvr>
  <p:transition>
    <p:fade/>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100000"/>
              </a:lnSpc>
              <a:spcBef>
                <a:spcPts val="0"/>
              </a:spcBef>
              <a:buClrTx/>
              <a:buSzPct val="100000"/>
              <a:buNone/>
              <a:defRPr/>
            </a:pP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Learning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how to do an RCA is easy!</a:t>
            </a:r>
          </a:p>
          <a:p>
            <a:pPr marL="360000" lvl="0" indent="-360000" eaLnBrk="0" hangingPunct="0">
              <a:lnSpc>
                <a:spcPct val="100000"/>
              </a:lnSpc>
              <a:spcBef>
                <a:spcPts val="0"/>
              </a:spcBef>
              <a:buClrTx/>
              <a:buSzPct val="100000"/>
              <a:buFont typeface="Wingdings" panose="05000000000000000000" pitchFamily="2" charset="2"/>
              <a:buChar char="Ø"/>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Learning </a:t>
            </a:r>
            <a:r>
              <a:rPr lang="en-US" altLang="en-US"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how to do an RCA well is a struggle</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a:p>
            <a:pPr marL="720000" lvl="1" indent="-360000" eaLnBrk="0" hangingPunct="0">
              <a:lnSpc>
                <a:spcPct val="100000"/>
              </a:lnSpc>
              <a:spcBef>
                <a:spcPts val="0"/>
              </a:spcBef>
              <a:buClrTx/>
              <a:buSzPct val="100000"/>
              <a:buFont typeface="Wingdings" panose="05000000000000000000" pitchFamily="2" charset="2"/>
              <a:buChar char="Ø"/>
              <a:defRPr/>
            </a:pPr>
            <a:r>
              <a:rPr lang="en-US" altLang="en-US" sz="20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Easy to confuse causes, effects, and consequences. </a:t>
            </a:r>
          </a:p>
          <a:p>
            <a:pPr marL="720000" lvl="1" indent="-360000" eaLnBrk="0" hangingPunct="0">
              <a:lnSpc>
                <a:spcPct val="100000"/>
              </a:lnSpc>
              <a:spcBef>
                <a:spcPts val="0"/>
              </a:spcBef>
              <a:buClrTx/>
              <a:buSzPct val="100000"/>
              <a:buFont typeface="Wingdings" panose="05000000000000000000" pitchFamily="2" charset="2"/>
              <a:buChar char="Ø"/>
              <a:defRPr/>
            </a:pPr>
            <a:r>
              <a:rPr lang="en-US" altLang="en-US" sz="20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Easy to jump to conclusions ... </a:t>
            </a:r>
          </a:p>
          <a:p>
            <a:pPr marL="720000" lvl="0" indent="-360000" eaLnBrk="0" hangingPunct="0">
              <a:lnSpc>
                <a:spcPct val="100000"/>
              </a:lnSpc>
              <a:spcBef>
                <a:spcPts val="0"/>
              </a:spcBef>
              <a:buClrTx/>
              <a:buSzPct val="100000"/>
              <a:buFont typeface="Wingdings" panose="05000000000000000000" pitchFamily="2" charset="2"/>
              <a:buChar char="Ø"/>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approach taken here is to build your competency in layers. </a:t>
            </a:r>
          </a:p>
          <a:p>
            <a:pPr marL="360000" indent="-360000" eaLnBrk="0" hangingPunct="0">
              <a:lnSpc>
                <a:spcPct val="100000"/>
              </a:lnSpc>
              <a:spcBef>
                <a:spcPts val="0"/>
              </a:spcBef>
              <a:buClrTx/>
              <a:buSzPct val="100000"/>
              <a:buFont typeface="Wingdings" panose="05000000000000000000" pitchFamily="2" charset="2"/>
              <a:buChar char="Ø"/>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57200" indent="-457200" eaLnBrk="0" hangingPunct="0">
              <a:lnSpc>
                <a:spcPct val="100000"/>
              </a:lnSpc>
              <a:spcBef>
                <a:spcPts val="0"/>
              </a:spcBef>
              <a:buClrTx/>
              <a:buSzPct val="100000"/>
              <a:buFont typeface="+mj-lt"/>
              <a:buAutoNum type="arabicParenR"/>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First, the facts and sequence of events [timeline] are needed!</a:t>
            </a:r>
            <a:b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b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(incident investigation work process)</a:t>
            </a:r>
          </a:p>
          <a:p>
            <a:pPr marL="457200" indent="-457200" eaLnBrk="0" hangingPunct="0">
              <a:lnSpc>
                <a:spcPct val="100000"/>
              </a:lnSpc>
              <a:spcBef>
                <a:spcPts val="0"/>
              </a:spcBef>
              <a:buClrTx/>
              <a:buSzPct val="100000"/>
              <a:buFont typeface="+mj-lt"/>
              <a:buAutoNum type="arabicParenR"/>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57200" indent="-457200" eaLnBrk="0" hangingPunct="0">
              <a:lnSpc>
                <a:spcPct val="100000"/>
              </a:lnSpc>
              <a:spcBef>
                <a:spcPts val="0"/>
              </a:spcBef>
              <a:buClrTx/>
              <a:buSzPct val="100000"/>
              <a:buFont typeface="+mj-lt"/>
              <a:buAutoNum type="arabicParenR"/>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Second, apply the RCA work process to create the RCA Chart.</a:t>
            </a:r>
          </a:p>
          <a:p>
            <a:pPr marL="457200" indent="-457200" eaLnBrk="0" hangingPunct="0">
              <a:lnSpc>
                <a:spcPct val="100000"/>
              </a:lnSpc>
              <a:spcBef>
                <a:spcPts val="0"/>
              </a:spcBef>
              <a:buClrTx/>
              <a:buSzPct val="100000"/>
              <a:buFont typeface="+mj-lt"/>
              <a:buAutoNum type="arabicParenR"/>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57200" indent="-457200" eaLnBrk="0" hangingPunct="0">
              <a:lnSpc>
                <a:spcPct val="100000"/>
              </a:lnSpc>
              <a:spcBef>
                <a:spcPts val="0"/>
              </a:spcBef>
              <a:buClrTx/>
              <a:buSzPct val="100000"/>
              <a:buFont typeface="+mj-lt"/>
              <a:buAutoNum type="arabicParenR"/>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Third, apply the Cause and Effect Model to check the RCA Chart.  </a:t>
            </a:r>
          </a:p>
          <a:p>
            <a:pPr marL="457200" indent="-457200" eaLnBrk="0" hangingPunct="0">
              <a:lnSpc>
                <a:spcPct val="100000"/>
              </a:lnSpc>
              <a:spcBef>
                <a:spcPts val="0"/>
              </a:spcBef>
              <a:buClrTx/>
              <a:buSzPct val="100000"/>
              <a:buFont typeface="+mj-lt"/>
              <a:buAutoNum type="arabicParenR"/>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Important To Keep In Mind:</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4</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1451474808"/>
      </p:ext>
    </p:extLst>
  </p:cSld>
  <p:clrMapOvr>
    <a:masterClrMapping/>
  </p:clrMapOvr>
  <p:transition>
    <p:fad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chemeClr val="tx1"/>
          </a:solidFill>
          <a:ln>
            <a:solidFill>
              <a:schemeClr val="tx1"/>
            </a:solidFill>
          </a:ln>
          <a:extLst/>
        </p:spPr>
        <p:txBody>
          <a:bodyPr wrap="square" anchor="ctr" anchorCtr="0">
            <a:noAutofit/>
          </a:bodyPr>
          <a:lstStyle/>
          <a:p>
            <a:pPr lvl="0">
              <a:spcBef>
                <a:spcPts val="0"/>
              </a:spcBef>
              <a:spcAft>
                <a:spcPts val="0"/>
              </a:spcAft>
            </a:pPr>
            <a:r>
              <a:rPr lang="en-US" altLang="en-US" sz="24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ALE Lead-in: Losses </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and Causes </a:t>
            </a:r>
            <a:endParaRPr kumimoji="0" lang="en-US" altLang="en-US" sz="2400" b="0" i="0" u="none" strike="noStrike" kern="1200" cap="none" spc="0" normalizeH="0" baseline="0" noProof="0" dirty="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 name="Rectangle 1"/>
          <p:cNvSpPr/>
          <p:nvPr/>
        </p:nvSpPr>
        <p:spPr>
          <a:xfrm>
            <a:off x="180000" y="828000"/>
            <a:ext cx="8640000" cy="5328000"/>
          </a:xfrm>
          <a:prstGeom prst="rect">
            <a:avLst/>
          </a:prstGeom>
          <a:solidFill>
            <a:schemeClr val="tx1"/>
          </a:solidFill>
          <a:ln>
            <a:solidFill>
              <a:schemeClr val="tx1"/>
            </a:solidFill>
          </a:ln>
        </p:spPr>
        <p:txBody>
          <a:bodyPr wrap="square">
            <a:noAutofit/>
          </a:bodyPr>
          <a:lstStyle/>
          <a:p>
            <a:pPr lvl="0" eaLnBrk="0" hangingPunct="0">
              <a:spcBef>
                <a:spcPts val="0"/>
              </a:spcBef>
              <a:buSzPct val="100000"/>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This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actual “Mine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Loss LI”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is used in this topic to develop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your skills in the </a:t>
            </a:r>
            <a:b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b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RCA work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process. So, p</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ut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yourself into the role of the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supervisor:</a:t>
            </a:r>
            <a:endPar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spcBef>
                <a:spcPts val="0"/>
              </a:spcBef>
              <a:buSzPct val="100000"/>
              <a:buFont typeface="Wingdings" panose="05000000000000000000" pitchFamily="2" charset="2"/>
              <a:buChar char="Ø"/>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You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are called to a scene where a mining haul truck and a shovel have been crushed with debris from an adjacent slope. You find one individual with a severe injury. You know the slopes are being monitored, you know there are procedures for safe work near the slopes, and you know it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has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been raining for the last week.</a:t>
            </a:r>
          </a:p>
          <a:p>
            <a:pPr marL="360000" lvl="0" indent="-360000" eaLnBrk="0" hangingPunct="0">
              <a:spcBef>
                <a:spcPts val="0"/>
              </a:spcBef>
              <a:buSzPct val="100000"/>
              <a:buFont typeface="Wingdings" panose="05000000000000000000" pitchFamily="2" charset="2"/>
              <a:buChar char="Ø"/>
            </a:pPr>
            <a:endPar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spcBef>
                <a:spcPts val="0"/>
              </a:spcBef>
              <a:buSzPct val="100000"/>
              <a:buFont typeface="Wingdings" panose="05000000000000000000" pitchFamily="2" charset="2"/>
              <a:buChar char="Ø"/>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The losses:</a:t>
            </a:r>
            <a:endPar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a:p>
            <a:pPr marL="540000" lvl="0" indent="-360000" eaLnBrk="0" hangingPunct="0">
              <a:spcBef>
                <a:spcPts val="0"/>
              </a:spcBef>
              <a:buSzPct val="100000"/>
              <a:buFont typeface="Wingdings" panose="05000000000000000000" pitchFamily="2" charset="2"/>
              <a:buChar char="Ø"/>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People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injured</a:t>
            </a:r>
          </a:p>
          <a:p>
            <a:pPr marL="540000" lvl="0" indent="-360000" eaLnBrk="0" hangingPunct="0">
              <a:spcBef>
                <a:spcPts val="0"/>
              </a:spcBef>
              <a:buSzPct val="100000"/>
              <a:buFont typeface="Wingdings" panose="05000000000000000000" pitchFamily="2" charset="2"/>
              <a:buChar char="Ø"/>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Equipment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value</a:t>
            </a:r>
          </a:p>
          <a:p>
            <a:pPr marL="540000" lvl="0" indent="-360000" eaLnBrk="0" hangingPunct="0">
              <a:spcBef>
                <a:spcPts val="0"/>
              </a:spcBef>
              <a:buSzPct val="100000"/>
              <a:buFont typeface="Wingdings" panose="05000000000000000000" pitchFamily="2" charset="2"/>
              <a:buChar char="Ø"/>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Operation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time loss</a:t>
            </a:r>
          </a:p>
          <a:p>
            <a:pPr marL="540000" lvl="0" indent="-360000" eaLnBrk="0" hangingPunct="0">
              <a:spcBef>
                <a:spcPts val="0"/>
              </a:spcBef>
              <a:buSzPct val="100000"/>
              <a:buFont typeface="Wingdings" panose="05000000000000000000" pitchFamily="2" charset="2"/>
              <a:buChar char="Ø"/>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Public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image</a:t>
            </a:r>
          </a:p>
          <a:p>
            <a:pPr marL="540000" lvl="0" indent="-360000" eaLnBrk="0" hangingPunct="0">
              <a:spcBef>
                <a:spcPts val="0"/>
              </a:spcBef>
              <a:buSzPct val="100000"/>
              <a:buFont typeface="Wingdings" panose="05000000000000000000" pitchFamily="2" charset="2"/>
              <a:buChar char="Ø"/>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Ore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loss</a:t>
            </a:r>
          </a:p>
          <a:p>
            <a:pPr marL="540000" lvl="0" indent="-360000" eaLnBrk="0" hangingPunct="0">
              <a:spcBef>
                <a:spcPts val="0"/>
              </a:spcBef>
              <a:buSzPct val="100000"/>
              <a:buFont typeface="Wingdings" panose="05000000000000000000" pitchFamily="2" charset="2"/>
              <a:buChar char="Ø"/>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Environmental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impact</a:t>
            </a:r>
          </a:p>
          <a:p>
            <a:pPr marL="432000" lvl="0" indent="-432000" eaLnBrk="0" hangingPunct="0">
              <a:spcBef>
                <a:spcPts val="0"/>
              </a:spcBef>
              <a:buSzPct val="100000"/>
              <a:buFont typeface="Wingdings" panose="05000000000000000000" pitchFamily="2" charset="2"/>
              <a:buChar char="Ø"/>
            </a:pPr>
            <a:endPar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a:p>
            <a:pPr marL="432000" lvl="0" indent="-432000" eaLnBrk="0" hangingPunct="0">
              <a:spcBef>
                <a:spcPts val="0"/>
              </a:spcBef>
              <a:buSzPct val="100000"/>
              <a:buFont typeface="Wingdings" panose="05000000000000000000" pitchFamily="2" charset="2"/>
              <a:buChar char="Ø"/>
            </a:pPr>
            <a:endPar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fontAlgn="auto">
              <a:spcBef>
                <a:spcPts val="0"/>
              </a:spcBef>
              <a:spcAft>
                <a:spcPts val="0"/>
              </a:spcAft>
              <a:buClr>
                <a:srgbClr val="000000"/>
              </a:buClr>
              <a:buSzPts val="1600"/>
            </a:pPr>
            <a:r>
              <a:rPr lang="en-US" sz="1200" i="1" kern="0" dirty="0">
                <a:solidFill>
                  <a:srgbClr val="000000"/>
                </a:solidFill>
                <a:ea typeface="Times New Roman"/>
                <a:cs typeface="Arial" panose="020B0604020202020204" pitchFamily="34" charset="0"/>
                <a:sym typeface="Times New Roman"/>
              </a:rPr>
              <a:t>Chapter 4.2: C&amp;E Model &amp; Chapter 4.3: RCA of an Incident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67707" y="3103419"/>
            <a:ext cx="4495293" cy="2992581"/>
          </a:xfrm>
          <a:prstGeom prst="rect">
            <a:avLst/>
          </a:prstGeom>
        </p:spPr>
      </p:pic>
    </p:spTree>
    <p:extLst>
      <p:ext uri="{BB962C8B-B14F-4D97-AF65-F5344CB8AC3E}">
        <p14:creationId xmlns:p14="http://schemas.microsoft.com/office/powerpoint/2010/main" val="2084285173"/>
      </p:ext>
    </p:extLst>
  </p:cSld>
  <p:clrMapOvr>
    <a:masterClrMapping/>
  </p:clrMapOvr>
  <p:transition>
    <p:fade/>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rgbClr val="0000FF"/>
          </a:solidFill>
          <a:ln>
            <a:solidFill>
              <a:srgbClr val="0000FF"/>
            </a:solidFill>
          </a:ln>
          <a:extLst/>
        </p:spPr>
        <p:txBody>
          <a:bodyPr wrap="square" anchor="ctr" anchorCtr="0">
            <a:noAutofit/>
          </a:bodyPr>
          <a:lstStyle/>
          <a:p>
            <a:pPr lvl="0">
              <a:spcBef>
                <a:spcPts val="0"/>
              </a:spcBef>
              <a:spcAft>
                <a:spcPts val="0"/>
              </a:spcAft>
            </a:pPr>
            <a:r>
              <a:rPr lang="en-US" altLang="en-US" sz="24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ALE #1: What are the Causes?</a:t>
            </a:r>
            <a:endPar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2" name="Rectangle 1"/>
          <p:cNvSpPr/>
          <p:nvPr/>
        </p:nvSpPr>
        <p:spPr>
          <a:xfrm>
            <a:off x="180000" y="828000"/>
            <a:ext cx="8640000" cy="5328000"/>
          </a:xfrm>
          <a:prstGeom prst="rect">
            <a:avLst/>
          </a:prstGeom>
          <a:solidFill>
            <a:srgbClr val="0000FF"/>
          </a:solidFill>
          <a:ln>
            <a:solidFill>
              <a:srgbClr val="0000FF"/>
            </a:solidFill>
          </a:ln>
        </p:spPr>
        <p:txBody>
          <a:bodyPr wrap="square">
            <a:noAutofit/>
          </a:bodyPr>
          <a:lstStyle/>
          <a:p>
            <a:pPr lvl="0" fontAlgn="auto">
              <a:lnSpc>
                <a:spcPct val="110000"/>
              </a:lnSpc>
              <a:spcBef>
                <a:spcPct val="20000"/>
              </a:spcBef>
              <a:spcAft>
                <a:spcPts val="0"/>
              </a:spcAft>
              <a:defRPr/>
            </a:pPr>
            <a:r>
              <a:rPr lang="en-US" altLang="en-US" sz="2000" b="0" i="1" dirty="0" smtClean="0">
                <a:solidFill>
                  <a:srgbClr val="FFFFFF"/>
                </a:solidFill>
                <a:latin typeface="Arial" panose="020B0604020202020204" pitchFamily="34" charset="0"/>
                <a:ea typeface="ＭＳ Ｐゴシック" panose="020B0600070205080204" pitchFamily="34" charset="-128"/>
                <a:sym typeface="Wingdings" pitchFamily="2" charset="2"/>
              </a:rPr>
              <a:t>Please confer on this question (Open Discussion):</a:t>
            </a:r>
          </a:p>
          <a:p>
            <a:pPr marL="457200" lvl="0" indent="-457200" fontAlgn="auto">
              <a:lnSpc>
                <a:spcPct val="110000"/>
              </a:lnSpc>
              <a:spcBef>
                <a:spcPct val="20000"/>
              </a:spcBef>
              <a:spcAft>
                <a:spcPts val="0"/>
              </a:spcAft>
              <a:buFont typeface="Wingdings" panose="05000000000000000000" pitchFamily="2" charset="2"/>
              <a:buChar char="Ø"/>
              <a:defRPr/>
            </a:pPr>
            <a:r>
              <a:rPr lang="en-US" altLang="en-US" sz="2000" b="0" i="1" dirty="0" smtClean="0">
                <a:solidFill>
                  <a:srgbClr val="FFFFFF"/>
                </a:solidFill>
                <a:latin typeface="Arial" panose="020B0604020202020204" pitchFamily="34" charset="0"/>
                <a:ea typeface="ＭＳ Ｐゴシック" panose="020B0600070205080204" pitchFamily="34" charset="-128"/>
                <a:sym typeface="Wingdings" pitchFamily="2" charset="2"/>
              </a:rPr>
              <a:t>What </a:t>
            </a:r>
            <a:r>
              <a:rPr lang="en-US" altLang="en-US" sz="2000" b="0" i="1" dirty="0" smtClean="0">
                <a:solidFill>
                  <a:srgbClr val="FFFFFF"/>
                </a:solidFill>
                <a:latin typeface="Arial" panose="020B0604020202020204" pitchFamily="34" charset="0"/>
                <a:ea typeface="ＭＳ Ｐゴシック" panose="020B0600070205080204" pitchFamily="34" charset="-128"/>
                <a:sym typeface="Wingdings" pitchFamily="2" charset="2"/>
              </a:rPr>
              <a:t>are some </a:t>
            </a:r>
            <a:r>
              <a:rPr lang="en-US" altLang="en-US" sz="2000" b="0" i="1" u="sng" dirty="0" smtClean="0">
                <a:solidFill>
                  <a:srgbClr val="FFFFFF"/>
                </a:solidFill>
                <a:latin typeface="Arial" panose="020B0604020202020204" pitchFamily="34" charset="0"/>
                <a:ea typeface="ＭＳ Ｐゴシック" panose="020B0600070205080204" pitchFamily="34" charset="-128"/>
                <a:sym typeface="Wingdings" pitchFamily="2" charset="2"/>
              </a:rPr>
              <a:t>causes</a:t>
            </a:r>
            <a:r>
              <a:rPr lang="en-US" altLang="en-US" sz="2000" b="0" i="1" dirty="0" smtClean="0">
                <a:solidFill>
                  <a:srgbClr val="FFFFFF"/>
                </a:solidFill>
                <a:latin typeface="Arial" panose="020B0604020202020204" pitchFamily="34" charset="0"/>
                <a:ea typeface="ＭＳ Ｐゴシック" panose="020B0600070205080204" pitchFamily="34" charset="-128"/>
                <a:sym typeface="Wingdings" pitchFamily="2" charset="2"/>
              </a:rPr>
              <a:t> </a:t>
            </a:r>
            <a:r>
              <a:rPr lang="en-US" altLang="en-US" sz="2000" b="0" i="1" dirty="0">
                <a:solidFill>
                  <a:srgbClr val="FFFFFF"/>
                </a:solidFill>
                <a:latin typeface="Arial" panose="020B0604020202020204" pitchFamily="34" charset="0"/>
                <a:ea typeface="ＭＳ Ｐゴシック" panose="020B0600070205080204" pitchFamily="34" charset="-128"/>
                <a:sym typeface="Wingdings" pitchFamily="2" charset="2"/>
              </a:rPr>
              <a:t>of this incident? </a:t>
            </a:r>
            <a:endParaRPr lang="en-US" altLang="en-US" sz="2000" b="0" i="1" dirty="0">
              <a:solidFill>
                <a:srgbClr val="FFFFFF"/>
              </a:solidFill>
              <a:latin typeface="Arial" panose="020B0604020202020204" pitchFamily="34" charset="0"/>
              <a:ea typeface="ＭＳ Ｐゴシック" panose="020B0600070205080204" pitchFamily="34" charset="-128"/>
            </a:endParaRPr>
          </a:p>
        </p:txBody>
      </p:sp>
      <p:sp>
        <p:nvSpPr>
          <p:cNvPr id="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fontAlgn="auto">
              <a:spcBef>
                <a:spcPts val="0"/>
              </a:spcBef>
              <a:spcAft>
                <a:spcPts val="0"/>
              </a:spcAft>
              <a:buClr>
                <a:srgbClr val="000000"/>
              </a:buClr>
              <a:buSzPts val="1600"/>
            </a:pPr>
            <a:r>
              <a:rPr lang="en-US" sz="1200" i="1" kern="0" dirty="0">
                <a:solidFill>
                  <a:srgbClr val="000000"/>
                </a:solidFill>
                <a:ea typeface="Times New Roman"/>
                <a:cs typeface="Arial" panose="020B0604020202020204" pitchFamily="34" charset="0"/>
                <a:sym typeface="Times New Roman"/>
              </a:rPr>
              <a:t>Chapter 4.2: C&amp;E Model &amp; Chapter 4.3: RCA of an Incident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4000" y="1828800"/>
            <a:ext cx="5743411" cy="3823471"/>
          </a:xfrm>
          <a:prstGeom prst="rect">
            <a:avLst/>
          </a:prstGeom>
        </p:spPr>
      </p:pic>
    </p:spTree>
    <p:extLst>
      <p:ext uri="{BB962C8B-B14F-4D97-AF65-F5344CB8AC3E}">
        <p14:creationId xmlns:p14="http://schemas.microsoft.com/office/powerpoint/2010/main" val="1888778706"/>
      </p:ext>
    </p:extLst>
  </p:cSld>
  <p:clrMapOvr>
    <a:masterClrMapping/>
  </p:clrMapOvr>
  <p:transition>
    <p:fade/>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90000"/>
              </a:lnSpc>
              <a:spcBef>
                <a:spcPts val="0"/>
              </a:spcBef>
              <a:buClr>
                <a:srgbClr val="000000"/>
              </a:buClr>
              <a:buSzPct val="100000"/>
              <a:buNone/>
            </a:pP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Unstructured exercise:</a:t>
            </a:r>
          </a:p>
          <a:p>
            <a:pPr marL="432000" indent="-432000" eaLnBrk="0" hangingPunct="0">
              <a:lnSpc>
                <a:spcPct val="90000"/>
              </a:lnSpc>
              <a:spcBef>
                <a:spcPts val="0"/>
              </a:spcBef>
              <a:buClrTx/>
              <a:buSzPct val="100000"/>
              <a:buFont typeface="Wingdings" panose="05000000000000000000" pitchFamily="2" charset="2"/>
              <a:buChar char="Ø"/>
            </a:pPr>
            <a:endPar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90000"/>
              </a:lnSpc>
              <a:spcBef>
                <a:spcPts val="0"/>
              </a:spcBef>
              <a:buClrTx/>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previous exercise was meant to be “unstructured”.</a:t>
            </a:r>
          </a:p>
          <a:p>
            <a:pPr marL="720000" indent="-360000" eaLnBrk="0" hangingPunct="0">
              <a:lnSpc>
                <a:spcPct val="90000"/>
              </a:lnSpc>
              <a:spcBef>
                <a:spcPts val="0"/>
              </a:spcBef>
              <a:buClrTx/>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There were many causes, so which one is the correct response? </a:t>
            </a:r>
          </a:p>
          <a:p>
            <a:pPr marL="720000" indent="-360000" eaLnBrk="0" hangingPunct="0">
              <a:lnSpc>
                <a:spcPct val="90000"/>
              </a:lnSpc>
              <a:spcBef>
                <a:spcPts val="0"/>
              </a:spcBef>
              <a:buClrTx/>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How can all these causes be logically organized?</a:t>
            </a:r>
          </a:p>
          <a:p>
            <a:pPr marL="360000" indent="-360000" eaLnBrk="0" hangingPunct="0">
              <a:lnSpc>
                <a:spcPct val="90000"/>
              </a:lnSpc>
              <a:spcBef>
                <a:spcPts val="0"/>
              </a:spcBef>
              <a:buClrTx/>
              <a:buSzPct val="100000"/>
              <a:buFont typeface="Wingdings" panose="05000000000000000000" pitchFamily="2" charset="2"/>
              <a:buChar char="Ø"/>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90000"/>
              </a:lnSpc>
              <a:spcBef>
                <a:spcPts val="0"/>
              </a:spcBef>
              <a:buClrTx/>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In order to logically </a:t>
            </a:r>
            <a:r>
              <a:rPr lang="en-US" altLang="en-US" sz="1800" b="0" dirty="0" err="1">
                <a:solidFill>
                  <a:srgbClr val="000000"/>
                </a:solidFill>
                <a:latin typeface="Arial" panose="020B0604020202020204" pitchFamily="34" charset="0"/>
                <a:ea typeface="ＭＳ Ｐゴシック" panose="020B0600070205080204" pitchFamily="34" charset="-128"/>
                <a:cs typeface="Arial" panose="020B0604020202020204" pitchFamily="34" charset="0"/>
              </a:rPr>
              <a:t>analyse</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an incident, </a:t>
            </a:r>
            <a:r>
              <a:rPr lang="en-US" altLang="en-US" sz="1800"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one needs to apply the different categories of causes</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a:p>
            <a:pPr marL="360000" indent="-360000" eaLnBrk="0" hangingPunct="0">
              <a:lnSpc>
                <a:spcPct val="90000"/>
              </a:lnSpc>
              <a:spcBef>
                <a:spcPts val="0"/>
              </a:spcBef>
              <a:buClrTx/>
              <a:buSzPct val="100000"/>
              <a:buFont typeface="Wingdings" panose="05000000000000000000" pitchFamily="2" charset="2"/>
              <a:buChar char="Ø"/>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90000"/>
              </a:lnSpc>
              <a:spcBef>
                <a:spcPts val="0"/>
              </a:spcBef>
              <a:buClrTx/>
              <a:buSzPct val="100000"/>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Cause and Effect Model </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can be used to:</a:t>
            </a:r>
          </a:p>
          <a:p>
            <a:pPr marL="720000" indent="-360000" eaLnBrk="0" hangingPunct="0">
              <a:lnSpc>
                <a:spcPct val="90000"/>
              </a:lnSpc>
              <a:spcBef>
                <a:spcPts val="0"/>
              </a:spcBef>
              <a:buClrTx/>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Categorize and summarize the facts of a loss incident.</a:t>
            </a:r>
          </a:p>
          <a:p>
            <a:pPr marL="720000" indent="-360000" eaLnBrk="0" hangingPunct="0">
              <a:lnSpc>
                <a:spcPct val="90000"/>
              </a:lnSpc>
              <a:spcBef>
                <a:spcPts val="0"/>
              </a:spcBef>
              <a:buClrTx/>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Communicate the nature of an incident and its causes.</a:t>
            </a:r>
          </a:p>
          <a:p>
            <a:pPr marL="720000" indent="-360000" eaLnBrk="0" hangingPunct="0">
              <a:lnSpc>
                <a:spcPct val="90000"/>
              </a:lnSpc>
              <a:spcBef>
                <a:spcPts val="0"/>
              </a:spcBef>
              <a:buClrTx/>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Helps you </a:t>
            </a:r>
            <a:r>
              <a:rPr lang="en-US" altLang="en-US" sz="1800"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discern the various different categories of causes</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and thus aid in the development of the root cause analysis of a loss incident.  </a:t>
            </a:r>
          </a:p>
          <a:p>
            <a:pPr marL="720000" indent="-360000" eaLnBrk="0" hangingPunct="0">
              <a:lnSpc>
                <a:spcPct val="90000"/>
              </a:lnSpc>
              <a:spcBef>
                <a:spcPts val="0"/>
              </a:spcBef>
              <a:buClrTx/>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Check the thoroughness of the incident investigation and the  root cause analysis.</a:t>
            </a:r>
          </a:p>
          <a:p>
            <a:pPr marL="360000" indent="-360000" eaLnBrk="0" hangingPunct="0">
              <a:lnSpc>
                <a:spcPct val="90000"/>
              </a:lnSpc>
              <a:spcBef>
                <a:spcPts val="0"/>
              </a:spcBef>
              <a:buClrTx/>
              <a:buSzPct val="100000"/>
              <a:buFont typeface="Wingdings" panose="05000000000000000000" pitchFamily="2" charset="2"/>
              <a:buChar char="Ø"/>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indent="0" eaLnBrk="0" hangingPunct="0">
              <a:lnSpc>
                <a:spcPct val="90000"/>
              </a:lnSpc>
              <a:spcBef>
                <a:spcPts val="0"/>
              </a:spcBef>
              <a:buClrTx/>
              <a:buSzPct val="100000"/>
              <a:buNone/>
            </a:pPr>
            <a:r>
              <a:rPr lang="en-US" altLang="en-US" sz="1800"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Note: There are many different C&amp;E Models practiced in industry. This is one of many.</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The Cause </a:t>
            </a:r>
            <a:r>
              <a:rPr lang="en-US" altLang="en-US" sz="2400" b="0" dirty="0">
                <a:solidFill>
                  <a:schemeClr val="accent2"/>
                </a:solidFill>
                <a:latin typeface="Arial" panose="020B0604020202020204" pitchFamily="34" charset="0"/>
                <a:ea typeface="+mj-ea"/>
                <a:cs typeface="Arial" panose="020B0604020202020204" pitchFamily="34" charset="0"/>
              </a:rPr>
              <a:t>and Effect </a:t>
            </a:r>
            <a:r>
              <a:rPr lang="en-US" altLang="en-US" sz="2400" b="0" dirty="0" smtClean="0">
                <a:solidFill>
                  <a:schemeClr val="accent2"/>
                </a:solidFill>
                <a:latin typeface="Arial" panose="020B0604020202020204" pitchFamily="34" charset="0"/>
                <a:ea typeface="+mj-ea"/>
                <a:cs typeface="Arial" panose="020B0604020202020204" pitchFamily="34" charset="0"/>
              </a:rPr>
              <a:t>Model:</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7</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1423779662"/>
      </p:ext>
    </p:extLst>
  </p:cSld>
  <p:clrMapOvr>
    <a:masterClrMapping/>
  </p:clrMapOvr>
  <p:transition>
    <p:fade/>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The </a:t>
            </a:r>
            <a:r>
              <a:rPr lang="en-US" altLang="en-US" sz="2400" b="0" dirty="0">
                <a:solidFill>
                  <a:schemeClr val="accent2"/>
                </a:solidFill>
                <a:latin typeface="Arial" panose="020B0604020202020204" pitchFamily="34" charset="0"/>
                <a:ea typeface="+mj-ea"/>
                <a:cs typeface="Arial" panose="020B0604020202020204" pitchFamily="34" charset="0"/>
              </a:rPr>
              <a:t>Cause and Effect </a:t>
            </a:r>
            <a:r>
              <a:rPr lang="en-US" altLang="en-US" sz="2400" b="0" dirty="0" smtClean="0">
                <a:solidFill>
                  <a:schemeClr val="accent2"/>
                </a:solidFill>
                <a:latin typeface="Arial" panose="020B0604020202020204" pitchFamily="34" charset="0"/>
                <a:ea typeface="+mj-ea"/>
                <a:cs typeface="Arial" panose="020B0604020202020204" pitchFamily="34" charset="0"/>
              </a:rPr>
              <a:t>Model: </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8</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
        <p:nvSpPr>
          <p:cNvPr id="7" name="Rectangle 3"/>
          <p:cNvSpPr>
            <a:spLocks noChangeArrowheads="1"/>
          </p:cNvSpPr>
          <p:nvPr/>
        </p:nvSpPr>
        <p:spPr bwMode="auto">
          <a:xfrm>
            <a:off x="180000" y="828000"/>
            <a:ext cx="8640000" cy="5328000"/>
          </a:xfrm>
          <a:prstGeom prst="rect">
            <a:avLst/>
          </a:prstGeom>
          <a:noFill/>
          <a:ln w="9525" algn="ctr">
            <a:noFill/>
            <a:miter lim="800000"/>
            <a:headEnd/>
            <a:tailEnd/>
          </a:ln>
          <a:effectLst/>
          <a:extLst/>
        </p:spPr>
        <p:txBody>
          <a:bodyPr/>
          <a:lstStyle>
            <a:lvl1pPr marL="457200" indent="-457200">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457200" marR="0" lvl="0" indent="-457200" defTabSz="914400" eaLnBrk="1" fontAlgn="auto" latinLnBrk="0" hangingPunct="1">
              <a:lnSpc>
                <a:spcPct val="90000"/>
              </a:lnSpc>
              <a:spcBef>
                <a:spcPts val="0"/>
              </a:spcBef>
              <a:spcAft>
                <a:spcPts val="0"/>
              </a:spcAft>
              <a:buClr>
                <a:srgbClr val="000000"/>
              </a:buClr>
              <a:buSzTx/>
              <a:buFont typeface="Wingdings" panose="05000000000000000000" pitchFamily="2" charset="2"/>
              <a:buNone/>
              <a:tabLst/>
              <a:defRPr/>
            </a:pPr>
            <a:r>
              <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rPr>
              <a:t>The Five Components of </a:t>
            </a:r>
            <a:r>
              <a:rPr lang="en-US" altLang="en-US" sz="1800" b="0" kern="0" dirty="0" smtClean="0">
                <a:solidFill>
                  <a:prstClr val="black">
                    <a:lumMod val="85000"/>
                    <a:lumOff val="15000"/>
                  </a:prstClr>
                </a:solidFill>
                <a:latin typeface="Arial" panose="020B0604020202020204" pitchFamily="34" charset="0"/>
              </a:rPr>
              <a:t>The </a:t>
            </a:r>
            <a:r>
              <a:rPr kumimoji="0" lang="en-US" altLang="en-US" sz="1800" b="0" i="0" u="none" strike="noStrike" kern="0" cap="none" spc="0" normalizeH="0" baseline="0" noProof="0" dirty="0" smtClean="0">
                <a:ln>
                  <a:noFill/>
                </a:ln>
                <a:solidFill>
                  <a:prstClr val="black">
                    <a:lumMod val="85000"/>
                    <a:lumOff val="15000"/>
                  </a:prstClr>
                </a:solidFill>
                <a:effectLst/>
                <a:uLnTx/>
                <a:uFillTx/>
                <a:latin typeface="Arial" panose="020B0604020202020204" pitchFamily="34" charset="0"/>
              </a:rPr>
              <a:t>Cause </a:t>
            </a:r>
            <a:r>
              <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rPr>
              <a:t>and Effect Model</a:t>
            </a:r>
            <a:r>
              <a:rPr kumimoji="0" lang="en-US" altLang="en-US" sz="1800" b="0" i="0" u="none" strike="noStrike" kern="0" cap="none" spc="0" normalizeH="0" baseline="0" noProof="0" dirty="0" smtClean="0">
                <a:ln>
                  <a:noFill/>
                </a:ln>
                <a:solidFill>
                  <a:prstClr val="black">
                    <a:lumMod val="85000"/>
                    <a:lumOff val="15000"/>
                  </a:prstClr>
                </a:solidFill>
                <a:effectLst/>
                <a:uLnTx/>
                <a:uFillTx/>
                <a:latin typeface="Arial" panose="020B0604020202020204" pitchFamily="34" charset="0"/>
              </a:rPr>
              <a:t>:</a:t>
            </a:r>
            <a:endPar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endParaRPr>
          </a:p>
          <a:p>
            <a:pPr marL="457200" marR="0" lvl="0" indent="-457200" defTabSz="914400" eaLnBrk="1" fontAlgn="auto" latinLnBrk="0" hangingPunct="1">
              <a:lnSpc>
                <a:spcPct val="90000"/>
              </a:lnSpc>
              <a:spcBef>
                <a:spcPts val="0"/>
              </a:spcBef>
              <a:spcAft>
                <a:spcPts val="0"/>
              </a:spcAft>
              <a:buClr>
                <a:srgbClr val="000000"/>
              </a:buClr>
              <a:buSzTx/>
              <a:buFont typeface="Wingdings" panose="05000000000000000000" pitchFamily="2" charset="2"/>
              <a:buChar char="Ø"/>
              <a:tabLst/>
              <a:defRPr/>
            </a:pPr>
            <a:endParaRPr kumimoji="0" lang="en-US" altLang="en-US" sz="1800" b="0" i="0" u="none" strike="noStrike" kern="0" cap="none" spc="0" normalizeH="0" baseline="0" noProof="0" dirty="0" smtClean="0">
              <a:ln>
                <a:noFill/>
              </a:ln>
              <a:solidFill>
                <a:prstClr val="black">
                  <a:lumMod val="85000"/>
                  <a:lumOff val="15000"/>
                </a:prstClr>
              </a:solidFill>
              <a:effectLst/>
              <a:uLnTx/>
              <a:uFillTx/>
              <a:latin typeface="Arial" panose="020B0604020202020204" pitchFamily="34" charset="0"/>
            </a:endParaRPr>
          </a:p>
          <a:p>
            <a:pPr marL="457200" marR="0" lvl="0" indent="-457200" defTabSz="914400" eaLnBrk="1" fontAlgn="auto" latinLnBrk="0" hangingPunct="1">
              <a:lnSpc>
                <a:spcPct val="90000"/>
              </a:lnSpc>
              <a:spcBef>
                <a:spcPts val="0"/>
              </a:spcBef>
              <a:spcAft>
                <a:spcPts val="0"/>
              </a:spcAft>
              <a:buClr>
                <a:srgbClr val="000000"/>
              </a:buClr>
              <a:buSzTx/>
              <a:buFont typeface="Wingdings" panose="05000000000000000000" pitchFamily="2" charset="2"/>
              <a:buChar char="Ø"/>
              <a:tabLst/>
              <a:defRPr/>
            </a:pPr>
            <a:r>
              <a:rPr kumimoji="0" lang="en-US" altLang="en-US" sz="1800" b="0" i="0" u="none" strike="noStrike" kern="0" cap="none" spc="0" normalizeH="0" baseline="0" noProof="0" dirty="0" smtClean="0">
                <a:ln>
                  <a:noFill/>
                </a:ln>
                <a:solidFill>
                  <a:prstClr val="black">
                    <a:lumMod val="85000"/>
                    <a:lumOff val="15000"/>
                  </a:prstClr>
                </a:solidFill>
                <a:effectLst/>
                <a:uLnTx/>
                <a:uFillTx/>
                <a:latin typeface="Arial" panose="020B0604020202020204" pitchFamily="34" charset="0"/>
              </a:rPr>
              <a:t>Losses </a:t>
            </a:r>
            <a:r>
              <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rPr>
              <a:t>(PEAP)</a:t>
            </a:r>
          </a:p>
          <a:p>
            <a:pPr marL="457200" marR="0" lvl="0" indent="-457200" defTabSz="914400" eaLnBrk="1" fontAlgn="auto" latinLnBrk="0" hangingPunct="1">
              <a:lnSpc>
                <a:spcPct val="90000"/>
              </a:lnSpc>
              <a:spcBef>
                <a:spcPts val="0"/>
              </a:spcBef>
              <a:spcAft>
                <a:spcPts val="0"/>
              </a:spcAft>
              <a:buClr>
                <a:srgbClr val="000000"/>
              </a:buClr>
              <a:buSzTx/>
              <a:buFont typeface="Wingdings" panose="05000000000000000000" pitchFamily="2" charset="2"/>
              <a:buChar char="Ø"/>
              <a:tabLst/>
              <a:defRPr/>
            </a:pPr>
            <a:endParaRPr kumimoji="0" lang="en-US" altLang="en-US" sz="1800" b="0" i="0" u="none" strike="noStrike" kern="0" cap="none" spc="0" normalizeH="0" baseline="0" noProof="0" dirty="0" smtClean="0">
              <a:ln>
                <a:noFill/>
              </a:ln>
              <a:solidFill>
                <a:prstClr val="black">
                  <a:lumMod val="85000"/>
                  <a:lumOff val="15000"/>
                </a:prstClr>
              </a:solidFill>
              <a:effectLst/>
              <a:uLnTx/>
              <a:uFillTx/>
              <a:latin typeface="Arial" panose="020B0604020202020204" pitchFamily="34" charset="0"/>
            </a:endParaRPr>
          </a:p>
          <a:p>
            <a:pPr marL="457200" marR="0" lvl="0" indent="-457200" defTabSz="914400" eaLnBrk="1" fontAlgn="auto" latinLnBrk="0" hangingPunct="1">
              <a:lnSpc>
                <a:spcPct val="90000"/>
              </a:lnSpc>
              <a:spcBef>
                <a:spcPts val="0"/>
              </a:spcBef>
              <a:spcAft>
                <a:spcPts val="0"/>
              </a:spcAft>
              <a:buClr>
                <a:srgbClr val="000000"/>
              </a:buClr>
              <a:buSzTx/>
              <a:buFont typeface="Wingdings" panose="05000000000000000000" pitchFamily="2" charset="2"/>
              <a:buChar char="Ø"/>
              <a:tabLst/>
              <a:defRPr/>
            </a:pPr>
            <a:r>
              <a:rPr kumimoji="0" lang="en-US" altLang="en-US" sz="1800" b="0" i="0" u="none" strike="noStrike" kern="0" cap="none" spc="0" normalizeH="0" baseline="0" noProof="0" dirty="0" smtClean="0">
                <a:ln>
                  <a:noFill/>
                </a:ln>
                <a:solidFill>
                  <a:prstClr val="black">
                    <a:lumMod val="85000"/>
                    <a:lumOff val="15000"/>
                  </a:prstClr>
                </a:solidFill>
                <a:effectLst/>
                <a:uLnTx/>
                <a:uFillTx/>
                <a:latin typeface="Arial" panose="020B0604020202020204" pitchFamily="34" charset="0"/>
              </a:rPr>
              <a:t>Incident Description</a:t>
            </a:r>
          </a:p>
          <a:p>
            <a:pPr fontAlgn="auto">
              <a:lnSpc>
                <a:spcPct val="90000"/>
              </a:lnSpc>
              <a:spcBef>
                <a:spcPts val="0"/>
              </a:spcBef>
              <a:spcAft>
                <a:spcPts val="0"/>
              </a:spcAft>
              <a:buClr>
                <a:srgbClr val="000000"/>
              </a:buClr>
              <a:buSzTx/>
              <a:buFont typeface="Wingdings" panose="05000000000000000000" pitchFamily="2" charset="2"/>
              <a:buChar char="Ø"/>
              <a:defRPr/>
            </a:pPr>
            <a:endParaRPr lang="en-US" altLang="en-US" sz="1800" b="0" kern="0" dirty="0" smtClean="0">
              <a:solidFill>
                <a:prstClr val="black">
                  <a:lumMod val="85000"/>
                  <a:lumOff val="15000"/>
                </a:prstClr>
              </a:solidFill>
              <a:latin typeface="Arial" panose="020B0604020202020204" pitchFamily="34" charset="0"/>
            </a:endParaRPr>
          </a:p>
          <a:p>
            <a:pPr fontAlgn="auto">
              <a:lnSpc>
                <a:spcPct val="90000"/>
              </a:lnSpc>
              <a:spcBef>
                <a:spcPts val="0"/>
              </a:spcBef>
              <a:spcAft>
                <a:spcPts val="0"/>
              </a:spcAft>
              <a:buClr>
                <a:srgbClr val="000000"/>
              </a:buClr>
              <a:buSzTx/>
              <a:buFont typeface="Wingdings" panose="05000000000000000000" pitchFamily="2" charset="2"/>
              <a:buChar char="Ø"/>
              <a:defRPr/>
            </a:pPr>
            <a:r>
              <a:rPr lang="en-US" altLang="en-US" sz="1800" b="0" kern="0" dirty="0" smtClean="0">
                <a:solidFill>
                  <a:prstClr val="black">
                    <a:lumMod val="85000"/>
                    <a:lumOff val="15000"/>
                  </a:prstClr>
                </a:solidFill>
                <a:latin typeface="Arial" panose="020B0604020202020204" pitchFamily="34" charset="0"/>
              </a:rPr>
              <a:t>Immediate </a:t>
            </a:r>
            <a:r>
              <a:rPr lang="en-US" altLang="en-US" sz="1800" b="0" kern="0" dirty="0">
                <a:solidFill>
                  <a:prstClr val="black">
                    <a:lumMod val="85000"/>
                    <a:lumOff val="15000"/>
                  </a:prstClr>
                </a:solidFill>
                <a:latin typeface="Arial" panose="020B0604020202020204" pitchFamily="34" charset="0"/>
              </a:rPr>
              <a:t>Causes </a:t>
            </a:r>
            <a:r>
              <a:rPr lang="en-US" altLang="en-US" sz="1800" b="0" kern="0" dirty="0" smtClean="0">
                <a:solidFill>
                  <a:prstClr val="black">
                    <a:lumMod val="85000"/>
                    <a:lumOff val="15000"/>
                  </a:prstClr>
                </a:solidFill>
                <a:latin typeface="Arial" panose="020B0604020202020204" pitchFamily="34" charset="0"/>
              </a:rPr>
              <a:t>in </a:t>
            </a:r>
            <a:r>
              <a:rPr lang="en-US" altLang="en-US" sz="1800" b="0" kern="0" dirty="0">
                <a:solidFill>
                  <a:prstClr val="black">
                    <a:lumMod val="85000"/>
                    <a:lumOff val="15000"/>
                  </a:prstClr>
                </a:solidFill>
                <a:latin typeface="Arial" panose="020B0604020202020204" pitchFamily="34" charset="0"/>
              </a:rPr>
              <a:t>two </a:t>
            </a:r>
            <a:r>
              <a:rPr lang="en-US" altLang="en-US" sz="1800" b="0" kern="0" dirty="0">
                <a:solidFill>
                  <a:prstClr val="black">
                    <a:lumMod val="85000"/>
                    <a:lumOff val="15000"/>
                  </a:prstClr>
                </a:solidFill>
                <a:latin typeface="Arial" panose="020B0604020202020204" pitchFamily="34" charset="0"/>
              </a:rPr>
              <a:t>sub-categories</a:t>
            </a:r>
            <a:r>
              <a:rPr lang="en-US" altLang="en-US" sz="1800" b="0" kern="0" dirty="0">
                <a:solidFill>
                  <a:prstClr val="black">
                    <a:lumMod val="85000"/>
                    <a:lumOff val="15000"/>
                  </a:prstClr>
                </a:solidFill>
                <a:latin typeface="Arial" panose="020B0604020202020204" pitchFamily="34" charset="0"/>
              </a:rPr>
              <a:t>:</a:t>
            </a:r>
          </a:p>
          <a:p>
            <a:pPr lvl="1" fontAlgn="auto">
              <a:lnSpc>
                <a:spcPct val="90000"/>
              </a:lnSpc>
              <a:spcBef>
                <a:spcPts val="0"/>
              </a:spcBef>
              <a:spcAft>
                <a:spcPts val="0"/>
              </a:spcAft>
              <a:buClr>
                <a:srgbClr val="000000"/>
              </a:buClr>
              <a:buFont typeface="Wingdings" panose="05000000000000000000" pitchFamily="2" charset="2"/>
              <a:buChar char="Ø"/>
              <a:defRPr/>
            </a:pPr>
            <a:r>
              <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rPr>
              <a:t>Substandard </a:t>
            </a:r>
            <a:r>
              <a:rPr kumimoji="0" lang="en-US" altLang="en-US" sz="1800" b="0" i="0" u="none" strike="noStrike" kern="0" cap="none" spc="0" normalizeH="0" baseline="0" noProof="0" dirty="0" smtClean="0">
                <a:ln>
                  <a:noFill/>
                </a:ln>
                <a:solidFill>
                  <a:prstClr val="black">
                    <a:lumMod val="85000"/>
                    <a:lumOff val="15000"/>
                  </a:prstClr>
                </a:solidFill>
                <a:effectLst/>
                <a:uLnTx/>
                <a:uFillTx/>
                <a:latin typeface="Arial" panose="020B0604020202020204" pitchFamily="34" charset="0"/>
              </a:rPr>
              <a:t>practices</a:t>
            </a:r>
            <a:endPar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endParaRPr>
          </a:p>
          <a:p>
            <a:pPr lvl="1" fontAlgn="auto">
              <a:lnSpc>
                <a:spcPct val="90000"/>
              </a:lnSpc>
              <a:spcBef>
                <a:spcPts val="0"/>
              </a:spcBef>
              <a:spcAft>
                <a:spcPts val="0"/>
              </a:spcAft>
              <a:buClr>
                <a:srgbClr val="000000"/>
              </a:buClr>
              <a:buFont typeface="Wingdings" panose="05000000000000000000" pitchFamily="2" charset="2"/>
              <a:buChar char="Ø"/>
              <a:defRPr/>
            </a:pPr>
            <a:r>
              <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rPr>
              <a:t>Substandard </a:t>
            </a:r>
            <a:r>
              <a:rPr kumimoji="0" lang="en-US" altLang="en-US" sz="1800" b="0" i="0" u="none" strike="noStrike" kern="0" cap="none" spc="0" normalizeH="0" baseline="0" noProof="0" dirty="0" smtClean="0">
                <a:ln>
                  <a:noFill/>
                </a:ln>
                <a:solidFill>
                  <a:prstClr val="black">
                    <a:lumMod val="85000"/>
                    <a:lumOff val="15000"/>
                  </a:prstClr>
                </a:solidFill>
                <a:effectLst/>
                <a:uLnTx/>
                <a:uFillTx/>
                <a:latin typeface="Arial" panose="020B0604020202020204" pitchFamily="34" charset="0"/>
              </a:rPr>
              <a:t>conditions</a:t>
            </a:r>
            <a:endPar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endParaRPr>
          </a:p>
          <a:p>
            <a:pPr fontAlgn="auto">
              <a:lnSpc>
                <a:spcPct val="90000"/>
              </a:lnSpc>
              <a:spcBef>
                <a:spcPts val="0"/>
              </a:spcBef>
              <a:spcAft>
                <a:spcPts val="0"/>
              </a:spcAft>
              <a:buClr>
                <a:srgbClr val="000000"/>
              </a:buClr>
              <a:buSzTx/>
              <a:buFont typeface="Wingdings" panose="05000000000000000000" pitchFamily="2" charset="2"/>
              <a:buChar char="Ø"/>
              <a:defRPr/>
            </a:pPr>
            <a:endParaRPr lang="en-US" altLang="en-US" sz="1800" b="0" kern="0" dirty="0" smtClean="0">
              <a:solidFill>
                <a:prstClr val="black">
                  <a:lumMod val="85000"/>
                  <a:lumOff val="15000"/>
                </a:prstClr>
              </a:solidFill>
              <a:latin typeface="Arial" panose="020B0604020202020204" pitchFamily="34" charset="0"/>
            </a:endParaRPr>
          </a:p>
          <a:p>
            <a:pPr fontAlgn="auto">
              <a:lnSpc>
                <a:spcPct val="90000"/>
              </a:lnSpc>
              <a:spcBef>
                <a:spcPts val="0"/>
              </a:spcBef>
              <a:spcAft>
                <a:spcPts val="0"/>
              </a:spcAft>
              <a:buClr>
                <a:srgbClr val="000000"/>
              </a:buClr>
              <a:buSzTx/>
              <a:buFont typeface="Wingdings" panose="05000000000000000000" pitchFamily="2" charset="2"/>
              <a:buChar char="Ø"/>
              <a:defRPr/>
            </a:pPr>
            <a:r>
              <a:rPr lang="en-US" altLang="en-US" sz="1800" b="0" kern="0" dirty="0" smtClean="0">
                <a:solidFill>
                  <a:prstClr val="black">
                    <a:lumMod val="85000"/>
                    <a:lumOff val="15000"/>
                  </a:prstClr>
                </a:solidFill>
                <a:latin typeface="Arial" panose="020B0604020202020204" pitchFamily="34" charset="0"/>
              </a:rPr>
              <a:t>Basic </a:t>
            </a:r>
            <a:r>
              <a:rPr lang="en-US" altLang="en-US" sz="1800" b="0" kern="0" dirty="0">
                <a:solidFill>
                  <a:prstClr val="black">
                    <a:lumMod val="85000"/>
                    <a:lumOff val="15000"/>
                  </a:prstClr>
                </a:solidFill>
                <a:latin typeface="Arial" panose="020B0604020202020204" pitchFamily="34" charset="0"/>
              </a:rPr>
              <a:t>Causes in three sub-categories:</a:t>
            </a:r>
          </a:p>
          <a:p>
            <a:pPr lvl="1" fontAlgn="auto">
              <a:lnSpc>
                <a:spcPct val="90000"/>
              </a:lnSpc>
              <a:spcBef>
                <a:spcPts val="0"/>
              </a:spcBef>
              <a:spcAft>
                <a:spcPts val="0"/>
              </a:spcAft>
              <a:buClr>
                <a:srgbClr val="000000"/>
              </a:buClr>
              <a:buFont typeface="Wingdings" panose="05000000000000000000" pitchFamily="2" charset="2"/>
              <a:buChar char="Ø"/>
              <a:defRPr/>
            </a:pPr>
            <a:r>
              <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rPr>
              <a:t>Engineering &amp; Design </a:t>
            </a:r>
            <a:r>
              <a:rPr lang="en-US" altLang="en-US" sz="1800" b="0" kern="0" dirty="0" smtClean="0">
                <a:solidFill>
                  <a:prstClr val="black">
                    <a:lumMod val="85000"/>
                    <a:lumOff val="15000"/>
                  </a:prstClr>
                </a:solidFill>
                <a:latin typeface="Arial" panose="020B0604020202020204" pitchFamily="34" charset="0"/>
              </a:rPr>
              <a:t>Factors</a:t>
            </a:r>
            <a:endPar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endParaRPr>
          </a:p>
          <a:p>
            <a:pPr lvl="1" fontAlgn="auto">
              <a:lnSpc>
                <a:spcPct val="90000"/>
              </a:lnSpc>
              <a:spcBef>
                <a:spcPts val="0"/>
              </a:spcBef>
              <a:spcAft>
                <a:spcPts val="0"/>
              </a:spcAft>
              <a:buClr>
                <a:srgbClr val="000000"/>
              </a:buClr>
              <a:buFont typeface="Wingdings" panose="05000000000000000000" pitchFamily="2" charset="2"/>
              <a:buChar char="Ø"/>
              <a:defRPr/>
            </a:pPr>
            <a:r>
              <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rPr>
              <a:t>Job Factors and </a:t>
            </a:r>
            <a:r>
              <a:rPr lang="en-US" altLang="en-US" sz="1800" b="0" kern="0" dirty="0" smtClean="0">
                <a:solidFill>
                  <a:prstClr val="black">
                    <a:lumMod val="85000"/>
                    <a:lumOff val="15000"/>
                  </a:prstClr>
                </a:solidFill>
                <a:latin typeface="Arial" panose="020B0604020202020204" pitchFamily="34" charset="0"/>
              </a:rPr>
              <a:t>sub-groups</a:t>
            </a:r>
            <a:endPar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endParaRPr>
          </a:p>
          <a:p>
            <a:pPr lvl="1" fontAlgn="auto">
              <a:lnSpc>
                <a:spcPct val="90000"/>
              </a:lnSpc>
              <a:spcBef>
                <a:spcPts val="0"/>
              </a:spcBef>
              <a:spcAft>
                <a:spcPts val="0"/>
              </a:spcAft>
              <a:buClr>
                <a:srgbClr val="000000"/>
              </a:buClr>
              <a:buFont typeface="Wingdings" panose="05000000000000000000" pitchFamily="2" charset="2"/>
              <a:buChar char="Ø"/>
              <a:defRPr/>
            </a:pPr>
            <a:r>
              <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rPr>
              <a:t>Personal Factors and </a:t>
            </a:r>
            <a:r>
              <a:rPr lang="en-US" altLang="en-US" sz="1800" b="0" kern="0" dirty="0" smtClean="0">
                <a:solidFill>
                  <a:prstClr val="black">
                    <a:lumMod val="85000"/>
                    <a:lumOff val="15000"/>
                  </a:prstClr>
                </a:solidFill>
                <a:latin typeface="Arial" panose="020B0604020202020204" pitchFamily="34" charset="0"/>
              </a:rPr>
              <a:t>sub-groups</a:t>
            </a:r>
            <a:endParaRPr kumimoji="0" lang="en-US" altLang="en-US" sz="1800" b="0" i="0" u="none" strike="noStrike" kern="0" cap="none" spc="0" normalizeH="0" baseline="0" noProof="0" dirty="0">
              <a:ln>
                <a:noFill/>
              </a:ln>
              <a:solidFill>
                <a:prstClr val="black">
                  <a:lumMod val="85000"/>
                  <a:lumOff val="15000"/>
                </a:prstClr>
              </a:solidFill>
              <a:effectLst/>
              <a:uLnTx/>
              <a:uFillTx/>
              <a:latin typeface="Arial" panose="020B0604020202020204" pitchFamily="34" charset="0"/>
            </a:endParaRPr>
          </a:p>
          <a:p>
            <a:pPr marR="0" lvl="0" defTabSz="914400" eaLnBrk="1" fontAlgn="auto" latinLnBrk="0" hangingPunct="1">
              <a:lnSpc>
                <a:spcPct val="90000"/>
              </a:lnSpc>
              <a:spcBef>
                <a:spcPts val="0"/>
              </a:spcBef>
              <a:spcAft>
                <a:spcPts val="0"/>
              </a:spcAft>
              <a:buClr>
                <a:srgbClr val="000000"/>
              </a:buClr>
              <a:buSzTx/>
              <a:buFont typeface="Wingdings" panose="05000000000000000000" pitchFamily="2" charset="2"/>
              <a:buChar char="Ø"/>
              <a:tabLst/>
              <a:defRPr/>
            </a:pPr>
            <a:endParaRPr lang="en-US" altLang="en-US" sz="1800" b="0" kern="0" dirty="0" smtClean="0">
              <a:solidFill>
                <a:prstClr val="black">
                  <a:lumMod val="85000"/>
                  <a:lumOff val="15000"/>
                </a:prstClr>
              </a:solidFill>
              <a:latin typeface="Arial" panose="020B0604020202020204" pitchFamily="34" charset="0"/>
            </a:endParaRPr>
          </a:p>
          <a:p>
            <a:pPr marR="0" lvl="0" defTabSz="914400" eaLnBrk="1" fontAlgn="auto" latinLnBrk="0" hangingPunct="1">
              <a:lnSpc>
                <a:spcPct val="90000"/>
              </a:lnSpc>
              <a:spcBef>
                <a:spcPts val="0"/>
              </a:spcBef>
              <a:spcAft>
                <a:spcPts val="0"/>
              </a:spcAft>
              <a:buClr>
                <a:srgbClr val="000000"/>
              </a:buClr>
              <a:buSzTx/>
              <a:buFont typeface="Wingdings" panose="05000000000000000000" pitchFamily="2" charset="2"/>
              <a:buChar char="Ø"/>
              <a:tabLst/>
              <a:defRPr/>
            </a:pPr>
            <a:r>
              <a:rPr lang="en-US" altLang="en-US" sz="1800" b="0" kern="0" dirty="0" smtClean="0">
                <a:solidFill>
                  <a:prstClr val="black">
                    <a:lumMod val="85000"/>
                    <a:lumOff val="15000"/>
                  </a:prstClr>
                </a:solidFill>
                <a:latin typeface="Arial" panose="020B0604020202020204" pitchFamily="34" charset="0"/>
              </a:rPr>
              <a:t>Latent </a:t>
            </a:r>
            <a:r>
              <a:rPr lang="en-US" altLang="en-US" sz="1800" b="0" kern="0" dirty="0">
                <a:solidFill>
                  <a:prstClr val="black">
                    <a:lumMod val="85000"/>
                    <a:lumOff val="15000"/>
                  </a:prstClr>
                </a:solidFill>
                <a:latin typeface="Arial" panose="020B0604020202020204" pitchFamily="34" charset="0"/>
              </a:rPr>
              <a:t>Causes  </a:t>
            </a:r>
          </a:p>
        </p:txBody>
      </p:sp>
      <p:pic>
        <p:nvPicPr>
          <p:cNvPr id="10" name="Picture 9"/>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4635987" y="2895600"/>
            <a:ext cx="4184013" cy="3223824"/>
          </a:xfrm>
          <a:prstGeom prst="rect">
            <a:avLst/>
          </a:prstGeom>
          <a:noFill/>
          <a:ln w="12700">
            <a:solidFill>
              <a:sysClr val="windowText" lastClr="000000"/>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17961" dir="2700000" algn="ctr" rotWithShape="0">
                    <a:srgbClr val="95837F"/>
                  </a:outerShdw>
                </a:effectLst>
              </a14:hiddenEffects>
            </a:ext>
          </a:extLst>
        </p:spPr>
      </p:pic>
    </p:spTree>
    <p:extLst>
      <p:ext uri="{BB962C8B-B14F-4D97-AF65-F5344CB8AC3E}">
        <p14:creationId xmlns:p14="http://schemas.microsoft.com/office/powerpoint/2010/main" val="3168442374"/>
      </p:ext>
    </p:extLst>
  </p:cSld>
  <p:clrMapOvr>
    <a:masterClrMapping/>
  </p:clrMapOvr>
  <p:transition>
    <p:fade/>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The Cause and Effect Model:</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9</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pic>
        <p:nvPicPr>
          <p:cNvPr id="6" name="Picture 9"/>
          <p:cNvPicPr>
            <a:picLocks noChangeArrowheads="1"/>
          </p:cNvPicPr>
          <p:nvPr/>
        </p:nvPicPr>
        <p:blipFill rotWithShape="1">
          <a:blip r:embed="rId3" cstate="screen">
            <a:extLst>
              <a:ext uri="{28A0092B-C50C-407E-A947-70E740481C1C}">
                <a14:useLocalDpi xmlns:a14="http://schemas.microsoft.com/office/drawing/2010/main"/>
              </a:ext>
            </a:extLst>
          </a:blip>
          <a:srcRect r="54167" b="50087"/>
          <a:stretch/>
        </p:blipFill>
        <p:spPr bwMode="auto">
          <a:xfrm>
            <a:off x="432000" y="1368000"/>
            <a:ext cx="8136000" cy="468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17961" dir="2700000" algn="ctr" rotWithShape="0">
                    <a:srgbClr val="95837F"/>
                  </a:outerShdw>
                </a:effectLst>
              </a14:hiddenEffects>
            </a:ext>
          </a:extLst>
        </p:spPr>
      </p:pic>
      <p:sp>
        <p:nvSpPr>
          <p:cNvPr id="7" name="Rectangle 6">
            <a:extLst>
              <a:ext uri="{FF2B5EF4-FFF2-40B4-BE49-F238E27FC236}">
                <a16:creationId xmlns:a16="http://schemas.microsoft.com/office/drawing/2014/main" id="{3BDDE472-E2BD-3547-B77A-382600426A66}"/>
              </a:ext>
            </a:extLst>
          </p:cNvPr>
          <p:cNvSpPr/>
          <p:nvPr/>
        </p:nvSpPr>
        <p:spPr bwMode="auto">
          <a:xfrm>
            <a:off x="180000" y="828000"/>
            <a:ext cx="8640000" cy="5328000"/>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3200" b="1" i="1" u="none" strike="noStrike" kern="1200" cap="none" spc="0" normalizeH="0" baseline="0" noProof="0" dirty="0" smtClean="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rPr>
              <a:t>Left side:</a:t>
            </a:r>
            <a:endParaRPr kumimoji="0" lang="en-US" sz="3200" b="1" i="1"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8" name="Rectangular Callout 7"/>
          <p:cNvSpPr/>
          <p:nvPr/>
        </p:nvSpPr>
        <p:spPr>
          <a:xfrm>
            <a:off x="4495800" y="920718"/>
            <a:ext cx="4267201" cy="339282"/>
          </a:xfrm>
          <a:prstGeom prst="wedgeRectCallout">
            <a:avLst>
              <a:gd name="adj1" fmla="val 11254"/>
              <a:gd name="adj2" fmla="val 139920"/>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t>Two sub-categories of Immediate Causes:</a:t>
            </a:r>
            <a:endParaRPr lang="en-US" sz="1600" dirty="0"/>
          </a:p>
        </p:txBody>
      </p:sp>
    </p:spTree>
    <p:extLst>
      <p:ext uri="{BB962C8B-B14F-4D97-AF65-F5344CB8AC3E}">
        <p14:creationId xmlns:p14="http://schemas.microsoft.com/office/powerpoint/2010/main" val="777849273"/>
      </p:ext>
    </p:extLst>
  </p:cSld>
  <p:clrMapOvr>
    <a:masterClrMapping/>
  </p:clrMapOvr>
  <p:transition>
    <p:fade/>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The Cause and Effect Model:</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10</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
        <p:nvSpPr>
          <p:cNvPr id="7" name="Rectangle 6">
            <a:extLst>
              <a:ext uri="{FF2B5EF4-FFF2-40B4-BE49-F238E27FC236}">
                <a16:creationId xmlns:a16="http://schemas.microsoft.com/office/drawing/2014/main" id="{3BDDE472-E2BD-3547-B77A-382600426A66}"/>
              </a:ext>
            </a:extLst>
          </p:cNvPr>
          <p:cNvSpPr/>
          <p:nvPr/>
        </p:nvSpPr>
        <p:spPr bwMode="auto">
          <a:xfrm>
            <a:off x="180000" y="828000"/>
            <a:ext cx="8640000" cy="5328000"/>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3200" b="1" i="1" u="none" strike="noStrike" kern="1200" cap="none" spc="0" normalizeH="0" baseline="0" noProof="0" dirty="0" smtClean="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rPr>
              <a:t>Middle:</a:t>
            </a:r>
            <a:endParaRPr kumimoji="0" lang="en-US" sz="3200" b="1" i="1"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pic>
        <p:nvPicPr>
          <p:cNvPr id="4" name="Picture 3"/>
          <p:cNvPicPr>
            <a:picLocks noChangeAspect="1"/>
          </p:cNvPicPr>
          <p:nvPr/>
        </p:nvPicPr>
        <p:blipFill>
          <a:blip r:embed="rId3"/>
          <a:stretch>
            <a:fillRect/>
          </a:stretch>
        </p:blipFill>
        <p:spPr>
          <a:xfrm>
            <a:off x="5482204" y="1447800"/>
            <a:ext cx="3204596" cy="4614744"/>
          </a:xfrm>
          <a:prstGeom prst="rect">
            <a:avLst/>
          </a:prstGeom>
          <a:ln>
            <a:solidFill>
              <a:schemeClr val="tx1"/>
            </a:solidFill>
          </a:ln>
        </p:spPr>
      </p:pic>
      <p:sp>
        <p:nvSpPr>
          <p:cNvPr id="8" name="Rectangular Callout 7"/>
          <p:cNvSpPr/>
          <p:nvPr/>
        </p:nvSpPr>
        <p:spPr>
          <a:xfrm>
            <a:off x="304800" y="2057400"/>
            <a:ext cx="4572000" cy="3200400"/>
          </a:xfrm>
          <a:prstGeom prst="wedgeRectCallout">
            <a:avLst>
              <a:gd name="adj1" fmla="val 61485"/>
              <a:gd name="adj2" fmla="val -42303"/>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600" dirty="0" smtClean="0"/>
              <a:t>This list is not all-inclusive. Sub-sub-categories of causes along similar lines can be added</a:t>
            </a:r>
            <a:r>
              <a:rPr lang="en-US" sz="1600" dirty="0" smtClean="0"/>
              <a:t>! For example: </a:t>
            </a:r>
            <a:endParaRPr lang="en-US" sz="1600" dirty="0" smtClean="0"/>
          </a:p>
          <a:p>
            <a:pPr marL="285750" indent="-285750">
              <a:buFont typeface="Wingdings" panose="05000000000000000000" pitchFamily="2" charset="2"/>
              <a:buChar char="Ø"/>
            </a:pPr>
            <a:r>
              <a:rPr lang="en-US" sz="1600" dirty="0" smtClean="0"/>
              <a:t>E&amp;DF: Inadequate assessment of hazards/risk</a:t>
            </a:r>
          </a:p>
          <a:p>
            <a:pPr marL="285750" indent="-285750">
              <a:buFont typeface="Wingdings" panose="05000000000000000000" pitchFamily="2" charset="2"/>
              <a:buChar char="Ø"/>
            </a:pPr>
            <a:r>
              <a:rPr lang="en-US" sz="1600" dirty="0" smtClean="0"/>
              <a:t>E&amp;DF: inadequate monitoring during initial construction/assembly/fabrication</a:t>
            </a:r>
          </a:p>
          <a:p>
            <a:pPr marL="285750" indent="-285750">
              <a:buFont typeface="Wingdings" panose="05000000000000000000" pitchFamily="2" charset="2"/>
              <a:buChar char="Ø"/>
            </a:pPr>
            <a:r>
              <a:rPr lang="en-US" sz="1600" dirty="0" smtClean="0"/>
              <a:t>E&amp;DF: inadequate management of change</a:t>
            </a:r>
          </a:p>
          <a:p>
            <a:pPr marL="285750" indent="-285750">
              <a:buFont typeface="Wingdings" panose="05000000000000000000" pitchFamily="2" charset="2"/>
              <a:buChar char="Ø"/>
            </a:pPr>
            <a:r>
              <a:rPr lang="en-US" sz="1600" dirty="0" smtClean="0"/>
              <a:t>JF: incompatible goals within the organization</a:t>
            </a:r>
          </a:p>
          <a:p>
            <a:r>
              <a:rPr lang="en-US" sz="1600" dirty="0" smtClean="0"/>
              <a:t>If you cannot find a sub-category that is a direct match, it is acceptable to create another unique sub-sub-category.  </a:t>
            </a:r>
          </a:p>
        </p:txBody>
      </p:sp>
      <p:sp>
        <p:nvSpPr>
          <p:cNvPr id="10" name="Rectangular Callout 9"/>
          <p:cNvSpPr/>
          <p:nvPr/>
        </p:nvSpPr>
        <p:spPr>
          <a:xfrm>
            <a:off x="4495800" y="920718"/>
            <a:ext cx="4267201" cy="339282"/>
          </a:xfrm>
          <a:prstGeom prst="wedgeRectCallout">
            <a:avLst>
              <a:gd name="adj1" fmla="val 13825"/>
              <a:gd name="adj2" fmla="val 104884"/>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t>Three sub-categories of Basic Causes:</a:t>
            </a:r>
            <a:endParaRPr lang="en-US" sz="1600" dirty="0"/>
          </a:p>
        </p:txBody>
      </p:sp>
    </p:spTree>
    <p:extLst>
      <p:ext uri="{BB962C8B-B14F-4D97-AF65-F5344CB8AC3E}">
        <p14:creationId xmlns:p14="http://schemas.microsoft.com/office/powerpoint/2010/main" val="3874331671"/>
      </p:ext>
    </p:extLst>
  </p:cSld>
  <p:clrMapOvr>
    <a:masterClrMapping/>
  </p:clrMapOvr>
  <p:transition>
    <p:fade/>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The Cause and Effect Model:</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11</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
        <p:nvSpPr>
          <p:cNvPr id="6" name="Rectangle 5">
            <a:extLst>
              <a:ext uri="{FF2B5EF4-FFF2-40B4-BE49-F238E27FC236}">
                <a16:creationId xmlns:a16="http://schemas.microsoft.com/office/drawing/2014/main" id="{3BDDE472-E2BD-3547-B77A-382600426A66}"/>
              </a:ext>
            </a:extLst>
          </p:cNvPr>
          <p:cNvSpPr/>
          <p:nvPr/>
        </p:nvSpPr>
        <p:spPr bwMode="auto">
          <a:xfrm>
            <a:off x="180000" y="828000"/>
            <a:ext cx="8640000" cy="5328000"/>
          </a:xfrm>
          <a:prstGeom prst="rect">
            <a:avLst/>
          </a:prstGeom>
          <a:noFill/>
          <a:ln w="38100" cap="flat" cmpd="sng" algn="ctr">
            <a:solidFill>
              <a:srgbClr val="FF0000"/>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r" defTabSz="914400" rtl="0" eaLnBrk="1" fontAlgn="base" latinLnBrk="0" hangingPunct="1">
              <a:lnSpc>
                <a:spcPct val="100000"/>
              </a:lnSpc>
              <a:spcBef>
                <a:spcPct val="0"/>
              </a:spcBef>
              <a:spcAft>
                <a:spcPct val="0"/>
              </a:spcAft>
              <a:buClrTx/>
              <a:buSzTx/>
              <a:buFontTx/>
              <a:buNone/>
              <a:tabLst/>
              <a:defRPr/>
            </a:pPr>
            <a:r>
              <a:rPr kumimoji="0" lang="en-US" sz="3200" b="1" i="1" u="none" strike="noStrike" kern="1200" cap="none" spc="0" normalizeH="0" baseline="0" noProof="0" dirty="0" smtClean="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rPr>
              <a:t>Right side:</a:t>
            </a:r>
            <a:endParaRPr kumimoji="0" lang="en-US" sz="3200" b="1" i="1" u="none" strike="noStrike" kern="120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pic>
        <p:nvPicPr>
          <p:cNvPr id="3" name="Picture 2"/>
          <p:cNvPicPr>
            <a:picLocks noChangeAspect="1"/>
          </p:cNvPicPr>
          <p:nvPr/>
        </p:nvPicPr>
        <p:blipFill>
          <a:blip r:embed="rId3"/>
          <a:stretch>
            <a:fillRect/>
          </a:stretch>
        </p:blipFill>
        <p:spPr>
          <a:xfrm>
            <a:off x="463555" y="1066800"/>
            <a:ext cx="6200937" cy="4724400"/>
          </a:xfrm>
          <a:prstGeom prst="rect">
            <a:avLst/>
          </a:prstGeom>
        </p:spPr>
      </p:pic>
      <p:sp>
        <p:nvSpPr>
          <p:cNvPr id="2" name="Rectangular Callout 1"/>
          <p:cNvSpPr/>
          <p:nvPr/>
        </p:nvSpPr>
        <p:spPr>
          <a:xfrm>
            <a:off x="5333999" y="4565116"/>
            <a:ext cx="3444241" cy="1498412"/>
          </a:xfrm>
          <a:prstGeom prst="wedgeRectCallout">
            <a:avLst>
              <a:gd name="adj1" fmla="val -70212"/>
              <a:gd name="adj2" fmla="val -247379"/>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buFont typeface="Wingdings" panose="05000000000000000000" pitchFamily="2" charset="2"/>
              <a:buChar char="Ø"/>
            </a:pPr>
            <a:r>
              <a:rPr lang="en-US" sz="1600" dirty="0" smtClean="0"/>
              <a:t>A Risk Management System Element is NOT a latent cause.</a:t>
            </a:r>
          </a:p>
          <a:p>
            <a:pPr marL="285750" indent="-285750">
              <a:buFont typeface="Wingdings" panose="05000000000000000000" pitchFamily="2" charset="2"/>
              <a:buChar char="Ø"/>
            </a:pPr>
            <a:r>
              <a:rPr lang="en-US" sz="1600" dirty="0" smtClean="0"/>
              <a:t>A weakness in a RME IS a latent cause.</a:t>
            </a:r>
            <a:endParaRPr lang="en-US" sz="1600" dirty="0"/>
          </a:p>
        </p:txBody>
      </p:sp>
    </p:spTree>
    <p:extLst>
      <p:ext uri="{BB962C8B-B14F-4D97-AF65-F5344CB8AC3E}">
        <p14:creationId xmlns:p14="http://schemas.microsoft.com/office/powerpoint/2010/main" val="846495074"/>
      </p:ext>
    </p:extLst>
  </p:cSld>
  <p:clrMapOvr>
    <a:masterClrMapping/>
  </p:clrMapOvr>
  <p:transition>
    <p:fade/>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90000"/>
              </a:lnSpc>
              <a:spcBef>
                <a:spcPts val="0"/>
              </a:spcBef>
              <a:spcAft>
                <a:spcPts val="0"/>
              </a:spcAft>
              <a:buClr>
                <a:srgbClr val="000000"/>
              </a:buClr>
              <a:buSzPct val="100000"/>
              <a:buNone/>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Nature of the different </a:t>
            </a: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categories of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causes:</a:t>
            </a:r>
          </a:p>
          <a:p>
            <a:pPr marL="432000" indent="-432000" eaLnBrk="0" hangingPunct="0">
              <a:lnSpc>
                <a:spcPct val="90000"/>
              </a:lnSpc>
              <a:spcBef>
                <a:spcPts val="0"/>
              </a:spcBef>
              <a:spcAft>
                <a:spcPts val="0"/>
              </a:spcAft>
              <a:buClr>
                <a:srgbClr val="000000"/>
              </a:buClr>
              <a:buSzPct val="100000"/>
              <a:buFont typeface="Wingdings" panose="05000000000000000000" pitchFamily="2" charset="2"/>
              <a:buChar char="Ø"/>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lvl="0" indent="0" fontAlgn="auto">
              <a:lnSpc>
                <a:spcPct val="90000"/>
              </a:lnSpc>
              <a:spcBef>
                <a:spcPts val="0"/>
              </a:spcBef>
              <a:spcAft>
                <a:spcPts val="0"/>
              </a:spcAft>
              <a:buClr>
                <a:srgbClr val="000000"/>
              </a:buClr>
              <a:buNone/>
              <a:defRPr/>
            </a:pPr>
            <a:r>
              <a:rPr lang="en-CA" altLang="en-US" b="0" dirty="0" smtClean="0">
                <a:solidFill>
                  <a:prstClr val="black"/>
                </a:solidFill>
                <a:latin typeface="Arial" panose="020B0604020202020204" pitchFamily="34" charset="0"/>
                <a:ea typeface="ＭＳ Ｐゴシック" panose="020B0600070205080204" pitchFamily="34" charset="-128"/>
              </a:rPr>
              <a:t>Immediate </a:t>
            </a:r>
            <a:r>
              <a:rPr lang="en-CA" altLang="en-US" b="0" dirty="0">
                <a:solidFill>
                  <a:prstClr val="black"/>
                </a:solidFill>
                <a:latin typeface="Arial" panose="020B0604020202020204" pitchFamily="34" charset="0"/>
                <a:ea typeface="ＭＳ Ｐゴシック" panose="020B0600070205080204" pitchFamily="34" charset="-128"/>
              </a:rPr>
              <a:t>Causes – two sub-categories:</a:t>
            </a:r>
          </a:p>
          <a:p>
            <a:pPr marL="360000" lvl="0" indent="-360000" fontAlgn="auto">
              <a:lnSpc>
                <a:spcPct val="90000"/>
              </a:lnSpc>
              <a:spcBef>
                <a:spcPts val="0"/>
              </a:spcBef>
              <a:spcAft>
                <a:spcPts val="0"/>
              </a:spcAft>
              <a:buClr>
                <a:srgbClr val="000000"/>
              </a:buClr>
              <a:buFont typeface="Wingdings" panose="05000000000000000000" pitchFamily="2" charset="2"/>
              <a:buChar char="Ø"/>
              <a:defRPr/>
            </a:pPr>
            <a:r>
              <a:rPr lang="en-CA" altLang="en-US" sz="1800" b="0" dirty="0" smtClean="0">
                <a:solidFill>
                  <a:prstClr val="black"/>
                </a:solidFill>
                <a:latin typeface="Arial" panose="020B0604020202020204" pitchFamily="34" charset="0"/>
                <a:ea typeface="ＭＳ Ｐゴシック" panose="020B0600070205080204" pitchFamily="34" charset="-128"/>
              </a:rPr>
              <a:t>Sub-standard </a:t>
            </a:r>
            <a:r>
              <a:rPr lang="en-CA" altLang="en-US" sz="1800" b="0" dirty="0">
                <a:solidFill>
                  <a:prstClr val="black"/>
                </a:solidFill>
                <a:latin typeface="Arial" panose="020B0604020202020204" pitchFamily="34" charset="0"/>
                <a:ea typeface="ＭＳ Ｐゴシック" panose="020B0600070205080204" pitchFamily="34" charset="-128"/>
              </a:rPr>
              <a:t>Conditions (SCs)</a:t>
            </a:r>
          </a:p>
          <a:p>
            <a:pPr marL="360000" lvl="0" indent="-360000" fontAlgn="auto">
              <a:lnSpc>
                <a:spcPct val="90000"/>
              </a:lnSpc>
              <a:spcBef>
                <a:spcPts val="0"/>
              </a:spcBef>
              <a:spcAft>
                <a:spcPts val="0"/>
              </a:spcAft>
              <a:buClr>
                <a:srgbClr val="000000"/>
              </a:buClr>
              <a:buFont typeface="Wingdings" panose="05000000000000000000" pitchFamily="2" charset="2"/>
              <a:buChar char="Ø"/>
              <a:defRPr/>
            </a:pPr>
            <a:r>
              <a:rPr lang="en-CA" altLang="en-US" sz="1800" b="0" dirty="0">
                <a:solidFill>
                  <a:prstClr val="black"/>
                </a:solidFill>
                <a:latin typeface="Arial" panose="020B0604020202020204" pitchFamily="34" charset="0"/>
                <a:ea typeface="ＭＳ Ｐゴシック" panose="020B0600070205080204" pitchFamily="34" charset="-128"/>
              </a:rPr>
              <a:t>Sub-standard Practices (SPs)</a:t>
            </a:r>
          </a:p>
          <a:p>
            <a:pPr marL="360000" lvl="0" indent="-360000" fontAlgn="auto">
              <a:lnSpc>
                <a:spcPct val="90000"/>
              </a:lnSpc>
              <a:spcBef>
                <a:spcPts val="0"/>
              </a:spcBef>
              <a:spcAft>
                <a:spcPts val="0"/>
              </a:spcAft>
              <a:buClr>
                <a:srgbClr val="000000"/>
              </a:buClr>
              <a:buFont typeface="Wingdings" panose="05000000000000000000" pitchFamily="2" charset="2"/>
              <a:buChar char="Ø"/>
              <a:defRPr/>
            </a:pPr>
            <a:r>
              <a:rPr lang="en-CA" altLang="en-US" sz="1800" b="0" i="1" dirty="0">
                <a:solidFill>
                  <a:prstClr val="black"/>
                </a:solidFill>
                <a:latin typeface="Arial" panose="020B0604020202020204" pitchFamily="34" charset="0"/>
                <a:ea typeface="ＭＳ Ｐゴシック" panose="020B0600070205080204" pitchFamily="34" charset="-128"/>
              </a:rPr>
              <a:t>Other terms used</a:t>
            </a:r>
            <a:r>
              <a:rPr lang="en-CA" altLang="en-US" sz="1800" b="0" i="1" dirty="0" smtClean="0">
                <a:solidFill>
                  <a:prstClr val="black"/>
                </a:solidFill>
                <a:latin typeface="Arial" panose="020B0604020202020204" pitchFamily="34" charset="0"/>
                <a:ea typeface="ＭＳ Ｐゴシック" panose="020B0600070205080204" pitchFamily="34" charset="-128"/>
              </a:rPr>
              <a:t>: </a:t>
            </a:r>
            <a:r>
              <a:rPr lang="en-US" altLang="en-US" sz="1800" b="0" i="1" dirty="0" smtClean="0">
                <a:solidFill>
                  <a:prstClr val="black"/>
                </a:solidFill>
                <a:latin typeface="Arial" panose="020B0604020202020204" pitchFamily="34" charset="0"/>
                <a:ea typeface="ＭＳ Ｐゴシック" panose="020B0600070205080204" pitchFamily="34" charset="-128"/>
              </a:rPr>
              <a:t>Technical </a:t>
            </a:r>
            <a:r>
              <a:rPr lang="en-US" altLang="en-US" sz="1800" b="0" i="1" dirty="0">
                <a:solidFill>
                  <a:prstClr val="black"/>
                </a:solidFill>
                <a:latin typeface="Arial" panose="020B0604020202020204" pitchFamily="34" charset="0"/>
                <a:ea typeface="ＭＳ Ｐゴシック" panose="020B0600070205080204" pitchFamily="34" charset="-128"/>
              </a:rPr>
              <a:t>Factors </a:t>
            </a:r>
            <a:r>
              <a:rPr lang="en-US" altLang="en-US" sz="1800" b="0" i="1" dirty="0" smtClean="0">
                <a:solidFill>
                  <a:prstClr val="black"/>
                </a:solidFill>
                <a:latin typeface="Arial" panose="020B0604020202020204" pitchFamily="34" charset="0"/>
                <a:ea typeface="ＭＳ Ｐゴシック" panose="020B0600070205080204" pitchFamily="34" charset="-128"/>
              </a:rPr>
              <a:t>or </a:t>
            </a:r>
            <a:r>
              <a:rPr lang="en-US" altLang="en-US" sz="1800" b="0" i="1" dirty="0">
                <a:solidFill>
                  <a:prstClr val="black"/>
                </a:solidFill>
                <a:latin typeface="Arial" panose="020B0604020202020204" pitchFamily="34" charset="0"/>
                <a:ea typeface="ＭＳ Ｐゴシック" panose="020B0600070205080204" pitchFamily="34" charset="-128"/>
              </a:rPr>
              <a:t>Actions </a:t>
            </a:r>
            <a:endParaRPr lang="en-US" altLang="en-US" sz="1800" b="0" i="1" dirty="0" smtClean="0">
              <a:solidFill>
                <a:prstClr val="black"/>
              </a:solidFill>
              <a:latin typeface="Arial" panose="020B0604020202020204" pitchFamily="34" charset="0"/>
              <a:ea typeface="ＭＳ Ｐゴシック" panose="020B0600070205080204" pitchFamily="34" charset="-128"/>
            </a:endParaRPr>
          </a:p>
          <a:p>
            <a:pPr marL="360000" lvl="0" indent="-360000" fontAlgn="auto">
              <a:lnSpc>
                <a:spcPct val="90000"/>
              </a:lnSpc>
              <a:spcBef>
                <a:spcPts val="0"/>
              </a:spcBef>
              <a:spcAft>
                <a:spcPts val="0"/>
              </a:spcAft>
              <a:buClr>
                <a:srgbClr val="000000"/>
              </a:buClr>
              <a:buFont typeface="Wingdings" panose="05000000000000000000" pitchFamily="2" charset="2"/>
              <a:buChar char="Ø"/>
              <a:defRPr/>
            </a:pPr>
            <a:r>
              <a:rPr lang="en-US" altLang="en-US" sz="1800" b="0" i="1" dirty="0" smtClean="0">
                <a:solidFill>
                  <a:prstClr val="black"/>
                </a:solidFill>
                <a:latin typeface="Arial" panose="020B0604020202020204" pitchFamily="34" charset="0"/>
                <a:ea typeface="ＭＳ Ｐゴシック" panose="020B0600070205080204" pitchFamily="34" charset="-128"/>
              </a:rPr>
              <a:t>Sub-standard = unacceptable, incorrect</a:t>
            </a:r>
            <a:r>
              <a:rPr lang="en-US" altLang="en-US" sz="1800" b="0" i="1" dirty="0">
                <a:solidFill>
                  <a:prstClr val="black"/>
                </a:solidFill>
                <a:latin typeface="Arial" panose="020B0604020202020204" pitchFamily="34" charset="0"/>
                <a:ea typeface="ＭＳ Ｐゴシック" panose="020B0600070205080204" pitchFamily="34" charset="-128"/>
              </a:rPr>
              <a:t>, improper, inadequate, </a:t>
            </a:r>
            <a:r>
              <a:rPr lang="en-US" altLang="en-US" sz="1800" b="0" i="1" dirty="0" smtClean="0">
                <a:solidFill>
                  <a:prstClr val="black"/>
                </a:solidFill>
                <a:latin typeface="Arial" panose="020B0604020202020204" pitchFamily="34" charset="0"/>
                <a:ea typeface="ＭＳ Ｐゴシック" panose="020B0600070205080204" pitchFamily="34" charset="-128"/>
              </a:rPr>
              <a:t>at-risk</a:t>
            </a:r>
            <a:endParaRPr lang="en-CA" altLang="en-US" sz="1800" b="0" i="1" dirty="0">
              <a:solidFill>
                <a:prstClr val="black"/>
              </a:solidFill>
              <a:latin typeface="Arial" panose="020B0604020202020204" pitchFamily="34" charset="0"/>
              <a:ea typeface="ＭＳ Ｐゴシック" panose="020B0600070205080204" pitchFamily="34" charset="-128"/>
            </a:endParaRPr>
          </a:p>
          <a:p>
            <a:pPr marL="514350" lvl="0" indent="-514350" fontAlgn="auto">
              <a:lnSpc>
                <a:spcPct val="90000"/>
              </a:lnSpc>
              <a:spcBef>
                <a:spcPts val="0"/>
              </a:spcBef>
              <a:spcAft>
                <a:spcPts val="0"/>
              </a:spcAft>
              <a:buClr>
                <a:srgbClr val="000000"/>
              </a:buClr>
              <a:buFont typeface="Wingdings" panose="05000000000000000000" pitchFamily="2" charset="2"/>
              <a:buAutoNum type="romanUcParenR"/>
              <a:defRPr/>
            </a:pPr>
            <a:endParaRPr lang="en-CA" altLang="en-US" b="0" dirty="0">
              <a:solidFill>
                <a:prstClr val="black"/>
              </a:solidFill>
              <a:latin typeface="Arial" panose="020B0604020202020204" pitchFamily="34" charset="0"/>
              <a:ea typeface="ＭＳ Ｐゴシック" panose="020B0600070205080204" pitchFamily="34" charset="-128"/>
            </a:endParaRPr>
          </a:p>
          <a:p>
            <a:pPr marL="0" lvl="0" indent="0" fontAlgn="auto">
              <a:lnSpc>
                <a:spcPct val="90000"/>
              </a:lnSpc>
              <a:spcBef>
                <a:spcPts val="0"/>
              </a:spcBef>
              <a:spcAft>
                <a:spcPts val="0"/>
              </a:spcAft>
              <a:buClr>
                <a:srgbClr val="000000"/>
              </a:buClr>
              <a:buNone/>
              <a:defRPr/>
            </a:pPr>
            <a:r>
              <a:rPr lang="en-CA" altLang="en-US" b="0" dirty="0">
                <a:solidFill>
                  <a:prstClr val="black"/>
                </a:solidFill>
                <a:latin typeface="Arial" panose="020B0604020202020204" pitchFamily="34" charset="0"/>
                <a:ea typeface="ＭＳ Ｐゴシック" panose="020B0600070205080204" pitchFamily="34" charset="-128"/>
              </a:rPr>
              <a:t>Basic Causes </a:t>
            </a:r>
            <a:r>
              <a:rPr lang="en-US" altLang="en-US" b="0" dirty="0">
                <a:solidFill>
                  <a:prstClr val="black"/>
                </a:solidFill>
                <a:latin typeface="Arial" panose="020B0604020202020204" pitchFamily="34" charset="0"/>
                <a:ea typeface="ＭＳ Ｐゴシック" panose="020B0600070205080204" pitchFamily="34" charset="-128"/>
              </a:rPr>
              <a:t>– three sub-categories: </a:t>
            </a:r>
          </a:p>
          <a:p>
            <a:pPr marL="360000" indent="-360000" fontAlgn="auto">
              <a:lnSpc>
                <a:spcPct val="90000"/>
              </a:lnSpc>
              <a:spcBef>
                <a:spcPts val="0"/>
              </a:spcBef>
              <a:spcAft>
                <a:spcPts val="0"/>
              </a:spcAft>
              <a:buClr>
                <a:srgbClr val="000000"/>
              </a:buClr>
              <a:buFont typeface="Wingdings" panose="05000000000000000000" pitchFamily="2" charset="2"/>
              <a:buChar char="Ø"/>
              <a:defRPr/>
            </a:pPr>
            <a:r>
              <a:rPr lang="en-US" altLang="en-US" sz="1800" b="0" dirty="0">
                <a:solidFill>
                  <a:prstClr val="black"/>
                </a:solidFill>
                <a:latin typeface="Arial" panose="020B0604020202020204" pitchFamily="34" charset="0"/>
                <a:ea typeface="ＭＳ Ｐゴシック" panose="020B0600070205080204" pitchFamily="34" charset="-128"/>
              </a:rPr>
              <a:t>Engineering &amp; Design Factors</a:t>
            </a:r>
          </a:p>
          <a:p>
            <a:pPr marL="360000" indent="-360000" fontAlgn="auto">
              <a:lnSpc>
                <a:spcPct val="90000"/>
              </a:lnSpc>
              <a:spcBef>
                <a:spcPts val="0"/>
              </a:spcBef>
              <a:spcAft>
                <a:spcPts val="0"/>
              </a:spcAft>
              <a:buClr>
                <a:srgbClr val="000000"/>
              </a:buClr>
              <a:buFont typeface="Wingdings" panose="05000000000000000000" pitchFamily="2" charset="2"/>
              <a:buChar char="Ø"/>
              <a:defRPr/>
            </a:pPr>
            <a:r>
              <a:rPr lang="en-US" altLang="en-US" sz="1800" b="0" dirty="0">
                <a:solidFill>
                  <a:prstClr val="black"/>
                </a:solidFill>
                <a:latin typeface="Arial" panose="020B0604020202020204" pitchFamily="34" charset="0"/>
                <a:ea typeface="ＭＳ Ｐゴシック" panose="020B0600070205080204" pitchFamily="34" charset="-128"/>
              </a:rPr>
              <a:t>Job Factors</a:t>
            </a:r>
          </a:p>
          <a:p>
            <a:pPr marL="360000" indent="-360000" fontAlgn="auto">
              <a:lnSpc>
                <a:spcPct val="90000"/>
              </a:lnSpc>
              <a:spcBef>
                <a:spcPts val="0"/>
              </a:spcBef>
              <a:spcAft>
                <a:spcPts val="0"/>
              </a:spcAft>
              <a:buClr>
                <a:srgbClr val="000000"/>
              </a:buClr>
              <a:buFont typeface="Wingdings" panose="05000000000000000000" pitchFamily="2" charset="2"/>
              <a:buChar char="Ø"/>
              <a:defRPr/>
            </a:pPr>
            <a:r>
              <a:rPr lang="en-US" altLang="en-US" sz="1800" b="0" dirty="0">
                <a:solidFill>
                  <a:prstClr val="black"/>
                </a:solidFill>
                <a:latin typeface="Arial" panose="020B0604020202020204" pitchFamily="34" charset="0"/>
                <a:ea typeface="ＭＳ Ｐゴシック" panose="020B0600070205080204" pitchFamily="34" charset="-128"/>
              </a:rPr>
              <a:t>Personal Factors</a:t>
            </a:r>
          </a:p>
          <a:p>
            <a:pPr marL="0" lvl="0" indent="0" fontAlgn="auto">
              <a:lnSpc>
                <a:spcPct val="90000"/>
              </a:lnSpc>
              <a:spcBef>
                <a:spcPts val="0"/>
              </a:spcBef>
              <a:spcAft>
                <a:spcPts val="0"/>
              </a:spcAft>
              <a:buClr>
                <a:srgbClr val="000000"/>
              </a:buClr>
              <a:buNone/>
              <a:defRPr/>
            </a:pPr>
            <a:endParaRPr lang="en-CA" altLang="en-US" b="0" dirty="0">
              <a:solidFill>
                <a:prstClr val="black"/>
              </a:solidFill>
              <a:latin typeface="Arial" panose="020B0604020202020204" pitchFamily="34" charset="0"/>
              <a:ea typeface="ＭＳ Ｐゴシック" panose="020B0600070205080204" pitchFamily="34" charset="-128"/>
            </a:endParaRPr>
          </a:p>
          <a:p>
            <a:pPr marL="0" lvl="0" indent="0" fontAlgn="auto">
              <a:lnSpc>
                <a:spcPct val="90000"/>
              </a:lnSpc>
              <a:spcBef>
                <a:spcPts val="0"/>
              </a:spcBef>
              <a:spcAft>
                <a:spcPts val="0"/>
              </a:spcAft>
              <a:buClr>
                <a:srgbClr val="000000"/>
              </a:buClr>
              <a:buNone/>
              <a:defRPr/>
            </a:pPr>
            <a:r>
              <a:rPr lang="en-US" altLang="en-US" b="0" dirty="0">
                <a:solidFill>
                  <a:prstClr val="black"/>
                </a:solidFill>
                <a:latin typeface="Arial" panose="020B0604020202020204" pitchFamily="34" charset="0"/>
                <a:ea typeface="ＭＳ Ｐゴシック" panose="020B0600070205080204" pitchFamily="34" charset="-128"/>
              </a:rPr>
              <a:t>Latent Causes:</a:t>
            </a:r>
          </a:p>
          <a:p>
            <a:pPr marL="360000" lvl="0" indent="-360000" fontAlgn="auto">
              <a:lnSpc>
                <a:spcPct val="90000"/>
              </a:lnSpc>
              <a:spcBef>
                <a:spcPts val="0"/>
              </a:spcBef>
              <a:spcAft>
                <a:spcPts val="0"/>
              </a:spcAft>
              <a:buClr>
                <a:srgbClr val="000000"/>
              </a:buClr>
              <a:buFont typeface="Wingdings" panose="05000000000000000000" pitchFamily="2" charset="2"/>
              <a:buChar char="Ø"/>
              <a:defRPr/>
            </a:pPr>
            <a:r>
              <a:rPr lang="en-US" altLang="en-US" sz="1800" b="0" dirty="0">
                <a:solidFill>
                  <a:prstClr val="black"/>
                </a:solidFill>
                <a:latin typeface="Arial" panose="020B0604020202020204" pitchFamily="34" charset="0"/>
                <a:ea typeface="ＭＳ Ｐゴシック" panose="020B0600070205080204" pitchFamily="34" charset="-128"/>
              </a:rPr>
              <a:t>Directly associated to failures or weaknesses in the Risk Management System and its elements.</a:t>
            </a:r>
          </a:p>
          <a:p>
            <a:pPr marL="360000" lvl="0" indent="-360000" fontAlgn="auto">
              <a:lnSpc>
                <a:spcPct val="90000"/>
              </a:lnSpc>
              <a:spcBef>
                <a:spcPts val="0"/>
              </a:spcBef>
              <a:spcAft>
                <a:spcPts val="0"/>
              </a:spcAft>
              <a:buClr>
                <a:srgbClr val="000000"/>
              </a:buClr>
              <a:buFont typeface="Wingdings" panose="05000000000000000000" pitchFamily="2" charset="2"/>
              <a:buChar char="Ø"/>
              <a:defRPr/>
            </a:pPr>
            <a:r>
              <a:rPr lang="en-US" altLang="en-US" sz="1800" dirty="0">
                <a:solidFill>
                  <a:prstClr val="black"/>
                </a:solidFill>
                <a:latin typeface="Arial" panose="020B0604020202020204" pitchFamily="34" charset="0"/>
                <a:ea typeface="ＭＳ Ｐゴシック" panose="020B0600070205080204" pitchFamily="34" charset="-128"/>
              </a:rPr>
              <a:t>Important!</a:t>
            </a:r>
            <a:r>
              <a:rPr lang="en-US" altLang="en-US" sz="1800" b="0" dirty="0">
                <a:solidFill>
                  <a:prstClr val="black"/>
                </a:solidFill>
                <a:latin typeface="Arial" panose="020B0604020202020204" pitchFamily="34" charset="0"/>
                <a:ea typeface="ＭＳ Ｐゴシック" panose="020B0600070205080204" pitchFamily="34" charset="-128"/>
              </a:rPr>
              <a:t> Latent Causes ARE NOT the elements of the Risk Management System</a:t>
            </a:r>
          </a:p>
          <a:p>
            <a:pPr marL="432000" indent="-432000" eaLnBrk="0" hangingPunct="0">
              <a:lnSpc>
                <a:spcPct val="90000"/>
              </a:lnSpc>
              <a:spcBef>
                <a:spcPts val="0"/>
              </a:spcBef>
              <a:spcAft>
                <a:spcPts val="0"/>
              </a:spcAft>
              <a:buClrTx/>
              <a:buSzPct val="100000"/>
              <a:buFont typeface="Wingdings" panose="05000000000000000000" pitchFamily="2" charset="2"/>
              <a:buChar char="Ø"/>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Categories of Causes:</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12</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3319828563"/>
      </p:ext>
    </p:extLst>
  </p:cSld>
  <p:clrMapOvr>
    <a:masterClrMapping/>
  </p:clrMapOvr>
  <p:transition>
    <p:fade/>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rgbClr val="0000CC"/>
          </a:solidFill>
          <a:ln>
            <a:solidFill>
              <a:srgbClr val="0000CC"/>
            </a:solidFill>
          </a:ln>
          <a:extLst/>
        </p:spPr>
        <p:txBody>
          <a:bodyPr wrap="square" anchor="ctr" anchorCtr="0">
            <a:noAutofit/>
          </a:bodyPr>
          <a:lstStyle/>
          <a:p>
            <a:pPr lvl="0">
              <a:spcBef>
                <a:spcPts val="0"/>
              </a:spcBef>
              <a:spcAft>
                <a:spcPts val="0"/>
              </a:spcAft>
              <a:defRPr/>
            </a:pP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ALE #</a:t>
            </a: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2: </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Logical Progression of Causes of an Incident</a:t>
            </a:r>
            <a:endParaRPr kumimoji="0" lang="en-US" altLang="en-US" sz="2400" b="0" i="0" u="none" strike="noStrike" kern="1200" cap="none" spc="0" normalizeH="0" baseline="0" noProof="0" dirty="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 name="Rectangle 1"/>
          <p:cNvSpPr/>
          <p:nvPr/>
        </p:nvSpPr>
        <p:spPr>
          <a:xfrm>
            <a:off x="180000" y="828000"/>
            <a:ext cx="8640000" cy="5328000"/>
          </a:xfrm>
          <a:prstGeom prst="rect">
            <a:avLst/>
          </a:prstGeom>
          <a:solidFill>
            <a:srgbClr val="0000CC"/>
          </a:solidFill>
          <a:ln>
            <a:solidFill>
              <a:srgbClr val="0000CC"/>
            </a:solidFill>
          </a:ln>
        </p:spPr>
        <p:txBody>
          <a:bodyPr wrap="square">
            <a:noAutofit/>
          </a:bodyPr>
          <a:lstStyle/>
          <a:p>
            <a:pPr lvl="0" fontAlgn="auto">
              <a:spcBef>
                <a:spcPts val="0"/>
              </a:spcBef>
              <a:spcAft>
                <a:spcPts val="0"/>
              </a:spcAft>
              <a:buClr>
                <a:srgbClr val="000000"/>
              </a:buClr>
              <a:defRPr/>
            </a:pPr>
            <a:r>
              <a:rPr lang="en-US" altLang="en-US" b="0" i="1" dirty="0" smtClean="0">
                <a:solidFill>
                  <a:srgbClr val="FFFFFF"/>
                </a:solidFill>
                <a:latin typeface="Arial" panose="020B0604020202020204" pitchFamily="34" charset="0"/>
                <a:ea typeface="ＭＳ Ｐゴシック" panose="020B0600070205080204" pitchFamily="34" charset="-128"/>
              </a:rPr>
              <a:t>With this fundamental knowledge, and for our </a:t>
            </a:r>
            <a:br>
              <a:rPr lang="en-US" altLang="en-US" b="0" i="1" dirty="0" smtClean="0">
                <a:solidFill>
                  <a:srgbClr val="FFFFFF"/>
                </a:solidFill>
                <a:latin typeface="Arial" panose="020B0604020202020204" pitchFamily="34" charset="0"/>
                <a:ea typeface="ＭＳ Ｐゴシック" panose="020B0600070205080204" pitchFamily="34" charset="-128"/>
              </a:rPr>
            </a:br>
            <a:r>
              <a:rPr lang="en-US" altLang="en-US" b="0" i="1" dirty="0" smtClean="0">
                <a:solidFill>
                  <a:srgbClr val="FFFFFF"/>
                </a:solidFill>
                <a:latin typeface="Arial" panose="020B0604020202020204" pitchFamily="34" charset="0"/>
                <a:ea typeface="ＭＳ Ｐゴシック" panose="020B0600070205080204" pitchFamily="34" charset="-128"/>
              </a:rPr>
              <a:t>example of the mining truck loss incident:</a:t>
            </a:r>
            <a:br>
              <a:rPr lang="en-US" altLang="en-US" b="0" i="1" dirty="0" smtClean="0">
                <a:solidFill>
                  <a:srgbClr val="FFFFFF"/>
                </a:solidFill>
                <a:latin typeface="Arial" panose="020B0604020202020204" pitchFamily="34" charset="0"/>
                <a:ea typeface="ＭＳ Ｐゴシック" panose="020B0600070205080204" pitchFamily="34" charset="-128"/>
              </a:rPr>
            </a:br>
            <a:r>
              <a:rPr lang="en-US" altLang="en-US" b="0" i="1" dirty="0" smtClean="0">
                <a:solidFill>
                  <a:srgbClr val="FFFFFF"/>
                </a:solidFill>
                <a:latin typeface="Arial" panose="020B0604020202020204" pitchFamily="34" charset="0"/>
                <a:ea typeface="ＭＳ Ｐゴシック" panose="020B0600070205080204" pitchFamily="34" charset="-128"/>
              </a:rPr>
              <a:t>“You </a:t>
            </a:r>
            <a:r>
              <a:rPr lang="en-US" altLang="en-US" b="0" i="1" dirty="0">
                <a:solidFill>
                  <a:srgbClr val="FFFFFF"/>
                </a:solidFill>
                <a:latin typeface="Arial" panose="020B0604020202020204" pitchFamily="34" charset="0"/>
                <a:ea typeface="ＭＳ Ｐゴシック" panose="020B0600070205080204" pitchFamily="34" charset="-128"/>
              </a:rPr>
              <a:t>are called to a scene where a mining haul </a:t>
            </a:r>
            <a:r>
              <a:rPr lang="en-US" altLang="en-US" b="0" i="1" dirty="0" smtClean="0">
                <a:solidFill>
                  <a:srgbClr val="FFFFFF"/>
                </a:solidFill>
                <a:latin typeface="Arial" panose="020B0604020202020204" pitchFamily="34" charset="0"/>
                <a:ea typeface="ＭＳ Ｐゴシック" panose="020B0600070205080204" pitchFamily="34" charset="-128"/>
              </a:rPr>
              <a:t/>
            </a:r>
            <a:br>
              <a:rPr lang="en-US" altLang="en-US" b="0" i="1" dirty="0" smtClean="0">
                <a:solidFill>
                  <a:srgbClr val="FFFFFF"/>
                </a:solidFill>
                <a:latin typeface="Arial" panose="020B0604020202020204" pitchFamily="34" charset="0"/>
                <a:ea typeface="ＭＳ Ｐゴシック" panose="020B0600070205080204" pitchFamily="34" charset="-128"/>
              </a:rPr>
            </a:br>
            <a:r>
              <a:rPr lang="en-US" altLang="en-US" b="0" i="1" dirty="0" smtClean="0">
                <a:solidFill>
                  <a:srgbClr val="FFFFFF"/>
                </a:solidFill>
                <a:latin typeface="Arial" panose="020B0604020202020204" pitchFamily="34" charset="0"/>
                <a:ea typeface="ＭＳ Ｐゴシック" panose="020B0600070205080204" pitchFamily="34" charset="-128"/>
              </a:rPr>
              <a:t>truck </a:t>
            </a:r>
            <a:r>
              <a:rPr lang="en-US" altLang="en-US" b="0" i="1" dirty="0">
                <a:solidFill>
                  <a:srgbClr val="FFFFFF"/>
                </a:solidFill>
                <a:latin typeface="Arial" panose="020B0604020202020204" pitchFamily="34" charset="0"/>
                <a:ea typeface="ＭＳ Ｐゴシック" panose="020B0600070205080204" pitchFamily="34" charset="-128"/>
              </a:rPr>
              <a:t>and a shovel have been crushed with debris </a:t>
            </a:r>
            <a:r>
              <a:rPr lang="en-US" altLang="en-US" b="0" i="1" dirty="0" smtClean="0">
                <a:solidFill>
                  <a:srgbClr val="FFFFFF"/>
                </a:solidFill>
                <a:latin typeface="Arial" panose="020B0604020202020204" pitchFamily="34" charset="0"/>
                <a:ea typeface="ＭＳ Ｐゴシック" panose="020B0600070205080204" pitchFamily="34" charset="-128"/>
              </a:rPr>
              <a:t/>
            </a:r>
            <a:br>
              <a:rPr lang="en-US" altLang="en-US" b="0" i="1" dirty="0" smtClean="0">
                <a:solidFill>
                  <a:srgbClr val="FFFFFF"/>
                </a:solidFill>
                <a:latin typeface="Arial" panose="020B0604020202020204" pitchFamily="34" charset="0"/>
                <a:ea typeface="ＭＳ Ｐゴシック" panose="020B0600070205080204" pitchFamily="34" charset="-128"/>
              </a:rPr>
            </a:br>
            <a:r>
              <a:rPr lang="en-US" altLang="en-US" b="0" i="1" dirty="0" smtClean="0">
                <a:solidFill>
                  <a:srgbClr val="FFFFFF"/>
                </a:solidFill>
                <a:latin typeface="Arial" panose="020B0604020202020204" pitchFamily="34" charset="0"/>
                <a:ea typeface="ＭＳ Ｐゴシック" panose="020B0600070205080204" pitchFamily="34" charset="-128"/>
              </a:rPr>
              <a:t>from </a:t>
            </a:r>
            <a:r>
              <a:rPr lang="en-US" altLang="en-US" b="0" i="1" dirty="0">
                <a:solidFill>
                  <a:srgbClr val="FFFFFF"/>
                </a:solidFill>
                <a:latin typeface="Arial" panose="020B0604020202020204" pitchFamily="34" charset="0"/>
                <a:ea typeface="ＭＳ Ｐゴシック" panose="020B0600070205080204" pitchFamily="34" charset="-128"/>
              </a:rPr>
              <a:t>an adjacent slope. You find one individual with </a:t>
            </a:r>
            <a:r>
              <a:rPr lang="en-US" altLang="en-US" b="0" i="1" dirty="0" smtClean="0">
                <a:solidFill>
                  <a:srgbClr val="FFFFFF"/>
                </a:solidFill>
                <a:latin typeface="Arial" panose="020B0604020202020204" pitchFamily="34" charset="0"/>
                <a:ea typeface="ＭＳ Ｐゴシック" panose="020B0600070205080204" pitchFamily="34" charset="-128"/>
              </a:rPr>
              <a:t/>
            </a:r>
            <a:br>
              <a:rPr lang="en-US" altLang="en-US" b="0" i="1" dirty="0" smtClean="0">
                <a:solidFill>
                  <a:srgbClr val="FFFFFF"/>
                </a:solidFill>
                <a:latin typeface="Arial" panose="020B0604020202020204" pitchFamily="34" charset="0"/>
                <a:ea typeface="ＭＳ Ｐゴシック" panose="020B0600070205080204" pitchFamily="34" charset="-128"/>
              </a:rPr>
            </a:br>
            <a:r>
              <a:rPr lang="en-US" altLang="en-US" b="0" i="1" dirty="0" smtClean="0">
                <a:solidFill>
                  <a:srgbClr val="FFFFFF"/>
                </a:solidFill>
                <a:latin typeface="Arial" panose="020B0604020202020204" pitchFamily="34" charset="0"/>
                <a:ea typeface="ＭＳ Ｐゴシック" panose="020B0600070205080204" pitchFamily="34" charset="-128"/>
              </a:rPr>
              <a:t>a </a:t>
            </a:r>
            <a:r>
              <a:rPr lang="en-US" altLang="en-US" b="0" i="1" dirty="0">
                <a:solidFill>
                  <a:srgbClr val="FFFFFF"/>
                </a:solidFill>
                <a:latin typeface="Arial" panose="020B0604020202020204" pitchFamily="34" charset="0"/>
                <a:ea typeface="ＭＳ Ｐゴシック" panose="020B0600070205080204" pitchFamily="34" charset="-128"/>
              </a:rPr>
              <a:t>severe injury. You know the slopes are being </a:t>
            </a:r>
            <a:r>
              <a:rPr lang="en-US" altLang="en-US" b="0" i="1" dirty="0" smtClean="0">
                <a:solidFill>
                  <a:srgbClr val="FFFFFF"/>
                </a:solidFill>
                <a:latin typeface="Arial" panose="020B0604020202020204" pitchFamily="34" charset="0"/>
                <a:ea typeface="ＭＳ Ｐゴシック" panose="020B0600070205080204" pitchFamily="34" charset="-128"/>
              </a:rPr>
              <a:t/>
            </a:r>
            <a:br>
              <a:rPr lang="en-US" altLang="en-US" b="0" i="1" dirty="0" smtClean="0">
                <a:solidFill>
                  <a:srgbClr val="FFFFFF"/>
                </a:solidFill>
                <a:latin typeface="Arial" panose="020B0604020202020204" pitchFamily="34" charset="0"/>
                <a:ea typeface="ＭＳ Ｐゴシック" panose="020B0600070205080204" pitchFamily="34" charset="-128"/>
              </a:rPr>
            </a:br>
            <a:r>
              <a:rPr lang="en-US" altLang="en-US" b="0" i="1" dirty="0" smtClean="0">
                <a:solidFill>
                  <a:srgbClr val="FFFFFF"/>
                </a:solidFill>
                <a:latin typeface="Arial" panose="020B0604020202020204" pitchFamily="34" charset="0"/>
                <a:ea typeface="ＭＳ Ｐゴシック" panose="020B0600070205080204" pitchFamily="34" charset="-128"/>
              </a:rPr>
              <a:t>monitored</a:t>
            </a:r>
            <a:r>
              <a:rPr lang="en-US" altLang="en-US" b="0" i="1" dirty="0">
                <a:solidFill>
                  <a:srgbClr val="FFFFFF"/>
                </a:solidFill>
                <a:latin typeface="Arial" panose="020B0604020202020204" pitchFamily="34" charset="0"/>
                <a:ea typeface="ＭＳ Ｐゴシック" panose="020B0600070205080204" pitchFamily="34" charset="-128"/>
              </a:rPr>
              <a:t>, you know there are procedures for </a:t>
            </a:r>
            <a:r>
              <a:rPr lang="en-US" altLang="en-US" b="0" i="1" dirty="0" smtClean="0">
                <a:solidFill>
                  <a:srgbClr val="FFFFFF"/>
                </a:solidFill>
                <a:latin typeface="Arial" panose="020B0604020202020204" pitchFamily="34" charset="0"/>
                <a:ea typeface="ＭＳ Ｐゴシック" panose="020B0600070205080204" pitchFamily="34" charset="-128"/>
              </a:rPr>
              <a:t/>
            </a:r>
            <a:br>
              <a:rPr lang="en-US" altLang="en-US" b="0" i="1" dirty="0" smtClean="0">
                <a:solidFill>
                  <a:srgbClr val="FFFFFF"/>
                </a:solidFill>
                <a:latin typeface="Arial" panose="020B0604020202020204" pitchFamily="34" charset="0"/>
                <a:ea typeface="ＭＳ Ｐゴシック" panose="020B0600070205080204" pitchFamily="34" charset="-128"/>
              </a:rPr>
            </a:br>
            <a:r>
              <a:rPr lang="en-US" altLang="en-US" b="0" i="1" dirty="0" smtClean="0">
                <a:solidFill>
                  <a:srgbClr val="FFFFFF"/>
                </a:solidFill>
                <a:latin typeface="Arial" panose="020B0604020202020204" pitchFamily="34" charset="0"/>
                <a:ea typeface="ＭＳ Ｐゴシック" panose="020B0600070205080204" pitchFamily="34" charset="-128"/>
              </a:rPr>
              <a:t>safe </a:t>
            </a:r>
            <a:r>
              <a:rPr lang="en-US" altLang="en-US" b="0" i="1" dirty="0">
                <a:solidFill>
                  <a:srgbClr val="FFFFFF"/>
                </a:solidFill>
                <a:latin typeface="Arial" panose="020B0604020202020204" pitchFamily="34" charset="0"/>
                <a:ea typeface="ＭＳ Ｐゴシック" panose="020B0600070205080204" pitchFamily="34" charset="-128"/>
              </a:rPr>
              <a:t>work near the slopes, and you know it has </a:t>
            </a:r>
            <a:r>
              <a:rPr lang="en-US" altLang="en-US" b="0" i="1" dirty="0" smtClean="0">
                <a:solidFill>
                  <a:srgbClr val="FFFFFF"/>
                </a:solidFill>
                <a:latin typeface="Arial" panose="020B0604020202020204" pitchFamily="34" charset="0"/>
                <a:ea typeface="ＭＳ Ｐゴシック" panose="020B0600070205080204" pitchFamily="34" charset="-128"/>
              </a:rPr>
              <a:t/>
            </a:r>
            <a:br>
              <a:rPr lang="en-US" altLang="en-US" b="0" i="1" dirty="0" smtClean="0">
                <a:solidFill>
                  <a:srgbClr val="FFFFFF"/>
                </a:solidFill>
                <a:latin typeface="Arial" panose="020B0604020202020204" pitchFamily="34" charset="0"/>
                <a:ea typeface="ＭＳ Ｐゴシック" panose="020B0600070205080204" pitchFamily="34" charset="-128"/>
              </a:rPr>
            </a:br>
            <a:r>
              <a:rPr lang="en-US" altLang="en-US" b="0" i="1" dirty="0" smtClean="0">
                <a:solidFill>
                  <a:srgbClr val="FFFFFF"/>
                </a:solidFill>
                <a:latin typeface="Arial" panose="020B0604020202020204" pitchFamily="34" charset="0"/>
                <a:ea typeface="ＭＳ Ｐゴシック" panose="020B0600070205080204" pitchFamily="34" charset="-128"/>
              </a:rPr>
              <a:t>been </a:t>
            </a:r>
            <a:r>
              <a:rPr lang="en-US" altLang="en-US" b="0" i="1" dirty="0">
                <a:solidFill>
                  <a:srgbClr val="FFFFFF"/>
                </a:solidFill>
                <a:latin typeface="Arial" panose="020B0604020202020204" pitchFamily="34" charset="0"/>
                <a:ea typeface="ＭＳ Ｐゴシック" panose="020B0600070205080204" pitchFamily="34" charset="-128"/>
              </a:rPr>
              <a:t>raining for the last week</a:t>
            </a:r>
            <a:r>
              <a:rPr lang="en-US" altLang="en-US" b="0" i="1" dirty="0" smtClean="0">
                <a:solidFill>
                  <a:srgbClr val="FFFFFF"/>
                </a:solidFill>
                <a:latin typeface="Arial" panose="020B0604020202020204" pitchFamily="34" charset="0"/>
                <a:ea typeface="ＭＳ Ｐゴシック" panose="020B0600070205080204" pitchFamily="34" charset="-128"/>
              </a:rPr>
              <a:t>.”</a:t>
            </a:r>
          </a:p>
          <a:p>
            <a:pPr lvl="0" fontAlgn="auto">
              <a:spcBef>
                <a:spcPts val="0"/>
              </a:spcBef>
              <a:spcAft>
                <a:spcPts val="0"/>
              </a:spcAft>
              <a:buClr>
                <a:srgbClr val="000000"/>
              </a:buClr>
              <a:defRPr/>
            </a:pPr>
            <a:endParaRPr lang="en-US" altLang="en-US" b="0" i="1" dirty="0">
              <a:solidFill>
                <a:srgbClr val="FFFFFF"/>
              </a:solidFill>
              <a:latin typeface="Arial" panose="020B0604020202020204" pitchFamily="34" charset="0"/>
              <a:ea typeface="ＭＳ Ｐゴシック" panose="020B0600070205080204" pitchFamily="34" charset="-128"/>
            </a:endParaRPr>
          </a:p>
          <a:p>
            <a:pPr lvl="0" fontAlgn="auto">
              <a:spcBef>
                <a:spcPts val="0"/>
              </a:spcBef>
              <a:spcAft>
                <a:spcPts val="0"/>
              </a:spcAft>
              <a:buClr>
                <a:srgbClr val="000000"/>
              </a:buClr>
              <a:defRPr/>
            </a:pPr>
            <a:r>
              <a:rPr lang="en-US" altLang="en-US" b="0" i="1" dirty="0" smtClean="0">
                <a:solidFill>
                  <a:srgbClr val="FFFFFF"/>
                </a:solidFill>
                <a:latin typeface="Arial" panose="020B0604020202020204" pitchFamily="34" charset="0"/>
                <a:ea typeface="ＭＳ Ｐゴシック" panose="020B0600070205080204" pitchFamily="34" charset="-128"/>
              </a:rPr>
              <a:t>Incident Description: </a:t>
            </a:r>
            <a:r>
              <a:rPr lang="en-US" altLang="en-US" b="0" i="1" dirty="0">
                <a:solidFill>
                  <a:srgbClr val="FFFFFF"/>
                </a:solidFill>
                <a:latin typeface="Arial" panose="020B0604020202020204" pitchFamily="34" charset="0"/>
                <a:ea typeface="ＭＳ Ｐゴシック" panose="020B0600070205080204" pitchFamily="34" charset="-128"/>
              </a:rPr>
              <a:t>“The slope of an open quarry </a:t>
            </a:r>
            <a:r>
              <a:rPr lang="en-US" altLang="en-US" b="0" i="1" dirty="0" smtClean="0">
                <a:solidFill>
                  <a:srgbClr val="FFFFFF"/>
                </a:solidFill>
                <a:latin typeface="Arial" panose="020B0604020202020204" pitchFamily="34" charset="0"/>
                <a:ea typeface="ＭＳ Ｐゴシック" panose="020B0600070205080204" pitchFamily="34" charset="-128"/>
              </a:rPr>
              <a:t>slid down</a:t>
            </a:r>
            <a:r>
              <a:rPr lang="en-US" altLang="en-US" b="0" i="1" dirty="0">
                <a:solidFill>
                  <a:srgbClr val="FFFFFF"/>
                </a:solidFill>
                <a:latin typeface="Arial" panose="020B0604020202020204" pitchFamily="34" charset="0"/>
                <a:ea typeface="ＭＳ Ｐゴシック" panose="020B0600070205080204" pitchFamily="34" charset="-128"/>
              </a:rPr>
              <a:t>, debris </a:t>
            </a:r>
            <a:r>
              <a:rPr lang="en-US" altLang="en-US" b="0" i="1" dirty="0" smtClean="0">
                <a:solidFill>
                  <a:srgbClr val="FFFFFF"/>
                </a:solidFill>
                <a:latin typeface="Arial" panose="020B0604020202020204" pitchFamily="34" charset="0"/>
                <a:ea typeface="ＭＳ Ｐゴシック" panose="020B0600070205080204" pitchFamily="34" charset="-128"/>
              </a:rPr>
              <a:t>fell </a:t>
            </a:r>
            <a:r>
              <a:rPr lang="en-US" altLang="en-US" b="0" i="1" dirty="0">
                <a:solidFill>
                  <a:srgbClr val="FFFFFF"/>
                </a:solidFill>
                <a:latin typeface="Arial" panose="020B0604020202020204" pitchFamily="34" charset="0"/>
                <a:ea typeface="ＭＳ Ｐゴシック" panose="020B0600070205080204" pitchFamily="34" charset="-128"/>
              </a:rPr>
              <a:t>on equipment adjacent to slope </a:t>
            </a:r>
            <a:r>
              <a:rPr lang="en-US" altLang="en-US" b="0" i="1" dirty="0" smtClean="0">
                <a:solidFill>
                  <a:srgbClr val="FFFFFF"/>
                </a:solidFill>
                <a:latin typeface="Arial" panose="020B0604020202020204" pitchFamily="34" charset="0"/>
                <a:ea typeface="ＭＳ Ｐゴシック" panose="020B0600070205080204" pitchFamily="34" charset="-128"/>
              </a:rPr>
              <a:t>causing injury</a:t>
            </a:r>
            <a:r>
              <a:rPr lang="en-US" altLang="en-US" b="0" i="1" dirty="0">
                <a:solidFill>
                  <a:srgbClr val="FFFFFF"/>
                </a:solidFill>
                <a:latin typeface="Arial" panose="020B0604020202020204" pitchFamily="34" charset="0"/>
                <a:ea typeface="ＭＳ Ｐゴシック" panose="020B0600070205080204" pitchFamily="34" charset="-128"/>
              </a:rPr>
              <a:t>, </a:t>
            </a:r>
            <a:r>
              <a:rPr lang="en-US" altLang="en-US" b="0" i="1" dirty="0" smtClean="0">
                <a:solidFill>
                  <a:srgbClr val="FFFFFF"/>
                </a:solidFill>
                <a:latin typeface="Arial" panose="020B0604020202020204" pitchFamily="34" charset="0"/>
                <a:ea typeface="ＭＳ Ｐゴシック" panose="020B0600070205080204" pitchFamily="34" charset="-128"/>
              </a:rPr>
              <a:t>equipment </a:t>
            </a:r>
            <a:r>
              <a:rPr lang="en-US" altLang="en-US" b="0" i="1" dirty="0">
                <a:solidFill>
                  <a:srgbClr val="FFFFFF"/>
                </a:solidFill>
                <a:latin typeface="Arial" panose="020B0604020202020204" pitchFamily="34" charset="0"/>
                <a:ea typeface="ＭＳ Ｐゴシック" panose="020B0600070205080204" pitchFamily="34" charset="-128"/>
              </a:rPr>
              <a:t>loss, and production loss”.</a:t>
            </a:r>
          </a:p>
          <a:p>
            <a:pPr lvl="0" fontAlgn="auto">
              <a:spcBef>
                <a:spcPts val="0"/>
              </a:spcBef>
              <a:spcAft>
                <a:spcPts val="0"/>
              </a:spcAft>
              <a:defRPr/>
            </a:pPr>
            <a:endParaRPr lang="en-CA" altLang="en-US" b="0" i="1" dirty="0" smtClean="0">
              <a:solidFill>
                <a:srgbClr val="FFFFFF"/>
              </a:solidFill>
              <a:latin typeface="Arial" panose="020B0604020202020204" pitchFamily="34" charset="0"/>
              <a:ea typeface="ＭＳ Ｐゴシック" panose="020B0600070205080204" pitchFamily="34" charset="-128"/>
              <a:sym typeface="Wingdings" pitchFamily="2" charset="2"/>
            </a:endParaRPr>
          </a:p>
          <a:p>
            <a:pPr fontAlgn="auto">
              <a:spcBef>
                <a:spcPts val="0"/>
              </a:spcBef>
              <a:spcAft>
                <a:spcPts val="0"/>
              </a:spcAft>
              <a:defRPr/>
            </a:pP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Now consider these two questions: </a:t>
            </a:r>
          </a:p>
          <a:p>
            <a:pPr marL="342900" indent="-342900" fontAlgn="auto">
              <a:spcBef>
                <a:spcPts val="0"/>
              </a:spcBef>
              <a:spcAft>
                <a:spcPts val="0"/>
              </a:spcAft>
              <a:buFont typeface="+mj-lt"/>
              <a:buAutoNum type="arabicParenR"/>
              <a:defRPr/>
            </a:pP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Is </a:t>
            </a:r>
            <a:r>
              <a:rPr lang="en-CA" altLang="en-US"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it possible to determine </a:t>
            </a: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which of the following are </a:t>
            </a:r>
            <a:r>
              <a:rPr lang="en-CA" altLang="en-US" b="0" i="1" u="sng"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immediate</a:t>
            </a: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 </a:t>
            </a:r>
            <a:r>
              <a:rPr lang="en-CA" altLang="en-US"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causes or </a:t>
            </a:r>
            <a:r>
              <a:rPr lang="en-CA" altLang="en-US" b="0" i="1" u="sng"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basic</a:t>
            </a: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 </a:t>
            </a:r>
            <a:r>
              <a:rPr lang="en-CA" altLang="en-US"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causes, and </a:t>
            </a: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their relative logical order (on “what caused what)?</a:t>
            </a:r>
          </a:p>
          <a:p>
            <a:pPr marL="342900" indent="-342900" fontAlgn="auto">
              <a:spcBef>
                <a:spcPts val="0"/>
              </a:spcBef>
              <a:spcAft>
                <a:spcPts val="0"/>
              </a:spcAft>
              <a:buFont typeface="+mj-lt"/>
              <a:buAutoNum type="arabicParenR"/>
              <a:defRPr/>
            </a:pPr>
            <a:endParaRPr lang="en-CA" altLang="en-US" b="0" i="1" dirty="0">
              <a:solidFill>
                <a:srgbClr val="FFFFFF"/>
              </a:solidFill>
              <a:latin typeface="Arial" panose="020B0604020202020204" pitchFamily="34" charset="0"/>
              <a:ea typeface="ＭＳ Ｐゴシック" panose="020B0600070205080204" pitchFamily="34" charset="-128"/>
              <a:sym typeface="Wingdings" pitchFamily="2" charset="2"/>
            </a:endParaRPr>
          </a:p>
          <a:p>
            <a:pPr marL="342900" indent="-342900" eaLnBrk="0" hangingPunct="0">
              <a:spcBef>
                <a:spcPts val="0"/>
              </a:spcBef>
              <a:buSzPct val="100000"/>
              <a:buFont typeface="+mj-lt"/>
              <a:buAutoNum type="arabicParenR"/>
              <a:defRPr/>
            </a:pP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What are the </a:t>
            </a:r>
            <a:r>
              <a:rPr lang="en-CA" altLang="en-US" b="0" i="1" u="sng"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immediate</a:t>
            </a: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 causes and the </a:t>
            </a:r>
            <a:r>
              <a:rPr lang="en-CA" altLang="en-US" b="0" i="1" u="sng"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basic</a:t>
            </a:r>
            <a:r>
              <a:rPr lang="en-CA" altLang="en-US"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 causes?</a:t>
            </a:r>
          </a:p>
          <a:p>
            <a:pPr algn="r" eaLnBrk="0" hangingPunct="0">
              <a:spcBef>
                <a:spcPts val="0"/>
              </a:spcBef>
              <a:buSzPct val="100000"/>
              <a:defRPr/>
            </a:pPr>
            <a:r>
              <a:rPr lang="en-CA" altLang="en-US"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(next pages)</a:t>
            </a:r>
            <a:endParaRPr lang="en-CA" altLang="en-US" b="0"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endParaRPr>
          </a:p>
        </p:txBody>
      </p:sp>
      <p:sp>
        <p:nvSpPr>
          <p:cNvPr id="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fontAlgn="auto">
              <a:spcBef>
                <a:spcPts val="0"/>
              </a:spcBef>
              <a:spcAft>
                <a:spcPts val="0"/>
              </a:spcAft>
              <a:buClr>
                <a:srgbClr val="000000"/>
              </a:buClr>
              <a:buSzPts val="1600"/>
              <a:defRPr/>
            </a:pPr>
            <a:r>
              <a:rPr lang="en-US" sz="1200" i="1" kern="0" dirty="0">
                <a:solidFill>
                  <a:srgbClr val="000000"/>
                </a:solidFill>
                <a:ea typeface="Times New Roman"/>
                <a:cs typeface="Arial" panose="020B0604020202020204" pitchFamily="34" charset="0"/>
                <a:sym typeface="Times New Roman"/>
              </a:rPr>
              <a:t>Chapter 4.2: C&amp;E Model &amp; Chapter 4.3: RCA of an Incident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62600" y="828000"/>
            <a:ext cx="3214563" cy="2139980"/>
          </a:xfrm>
          <a:prstGeom prst="rect">
            <a:avLst/>
          </a:prstGeom>
        </p:spPr>
      </p:pic>
    </p:spTree>
    <p:extLst>
      <p:ext uri="{BB962C8B-B14F-4D97-AF65-F5344CB8AC3E}">
        <p14:creationId xmlns:p14="http://schemas.microsoft.com/office/powerpoint/2010/main" val="4293605649"/>
      </p:ext>
    </p:extLst>
  </p:cSld>
  <p:clrMapOvr>
    <a:masterClrMapping/>
  </p:clrMapOvr>
  <p:transition>
    <p:fade/>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rgbClr val="0000CC"/>
          </a:solidFill>
          <a:ln>
            <a:solidFill>
              <a:srgbClr val="0000CC"/>
            </a:solidFill>
          </a:ln>
          <a:extLst/>
        </p:spPr>
        <p:txBody>
          <a:bodyPr wrap="square" anchor="ctr" anchorCtr="0">
            <a:noAutofit/>
          </a:bodyPr>
          <a:lstStyle/>
          <a:p>
            <a:pPr lvl="0">
              <a:spcBef>
                <a:spcPts val="0"/>
              </a:spcBef>
              <a:spcAft>
                <a:spcPts val="0"/>
              </a:spcAft>
              <a:defRPr/>
            </a:pP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ALE #2: </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Logical Progression of Causes of an Incident</a:t>
            </a:r>
            <a:endParaRPr kumimoji="0" lang="en-US" altLang="en-US" sz="2400" b="0" i="0" u="none" strike="noStrike" kern="1200" cap="none" spc="0" normalizeH="0" baseline="0" noProof="0" dirty="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 name="Rectangle 1"/>
          <p:cNvSpPr/>
          <p:nvPr/>
        </p:nvSpPr>
        <p:spPr>
          <a:xfrm>
            <a:off x="180000" y="828000"/>
            <a:ext cx="8640000" cy="5328000"/>
          </a:xfrm>
          <a:prstGeom prst="rect">
            <a:avLst/>
          </a:prstGeom>
          <a:solidFill>
            <a:srgbClr val="0000CC"/>
          </a:solidFill>
          <a:ln>
            <a:solidFill>
              <a:srgbClr val="0000CC"/>
            </a:solidFill>
          </a:ln>
        </p:spPr>
        <p:txBody>
          <a:bodyPr wrap="square">
            <a:noAutofit/>
          </a:bodyPr>
          <a:lstStyle/>
          <a:p>
            <a:pPr lvl="0" fontAlgn="auto">
              <a:spcBef>
                <a:spcPts val="0"/>
              </a:spcBef>
              <a:spcAft>
                <a:spcPts val="0"/>
              </a:spcAft>
              <a:buClr>
                <a:srgbClr val="000000"/>
              </a:buClr>
              <a:defRPr/>
            </a:pPr>
            <a:r>
              <a:rPr lang="en-US" altLang="en-US" sz="2000" b="0" i="1" dirty="0" smtClean="0">
                <a:solidFill>
                  <a:srgbClr val="FFFFFF"/>
                </a:solidFill>
                <a:latin typeface="Arial" panose="020B0604020202020204" pitchFamily="34" charset="0"/>
                <a:ea typeface="ＭＳ Ｐゴシック" panose="020B0600070205080204" pitchFamily="34" charset="-128"/>
              </a:rPr>
              <a:t>Incident Description:  “</a:t>
            </a:r>
            <a:r>
              <a:rPr lang="en-US" altLang="en-US" sz="2000" b="0" i="1" dirty="0">
                <a:solidFill>
                  <a:srgbClr val="FFFFFF"/>
                </a:solidFill>
                <a:latin typeface="Arial" panose="020B0604020202020204" pitchFamily="34" charset="0"/>
                <a:ea typeface="ＭＳ Ｐゴシック" panose="020B0600070205080204" pitchFamily="34" charset="-128"/>
              </a:rPr>
              <a:t>The slope of an open </a:t>
            </a:r>
            <a:r>
              <a:rPr lang="en-US" altLang="en-US" sz="2000" b="0" i="1" dirty="0" smtClean="0">
                <a:solidFill>
                  <a:srgbClr val="FFFFFF"/>
                </a:solidFill>
                <a:latin typeface="Arial" panose="020B0604020202020204" pitchFamily="34" charset="0"/>
                <a:ea typeface="ＭＳ Ｐゴシック" panose="020B0600070205080204" pitchFamily="34" charset="-128"/>
              </a:rPr>
              <a:t/>
            </a:r>
            <a:br>
              <a:rPr lang="en-US" altLang="en-US" sz="2000" b="0" i="1" dirty="0" smtClean="0">
                <a:solidFill>
                  <a:srgbClr val="FFFFFF"/>
                </a:solidFill>
                <a:latin typeface="Arial" panose="020B0604020202020204" pitchFamily="34" charset="0"/>
                <a:ea typeface="ＭＳ Ｐゴシック" panose="020B0600070205080204" pitchFamily="34" charset="-128"/>
              </a:rPr>
            </a:br>
            <a:r>
              <a:rPr lang="en-US" altLang="en-US" sz="2000" b="0" i="1" dirty="0" smtClean="0">
                <a:solidFill>
                  <a:srgbClr val="FFFFFF"/>
                </a:solidFill>
                <a:latin typeface="Arial" panose="020B0604020202020204" pitchFamily="34" charset="0"/>
                <a:ea typeface="ＭＳ Ｐゴシック" panose="020B0600070205080204" pitchFamily="34" charset="-128"/>
              </a:rPr>
              <a:t>quarry </a:t>
            </a:r>
            <a:r>
              <a:rPr lang="en-US" altLang="en-US" sz="2000" b="0" i="1" dirty="0">
                <a:solidFill>
                  <a:srgbClr val="FFFFFF"/>
                </a:solidFill>
                <a:latin typeface="Arial" panose="020B0604020202020204" pitchFamily="34" charset="0"/>
                <a:ea typeface="ＭＳ Ｐゴシック" panose="020B0600070205080204" pitchFamily="34" charset="-128"/>
              </a:rPr>
              <a:t>slid </a:t>
            </a:r>
            <a:r>
              <a:rPr lang="en-US" altLang="en-US" sz="2000" b="0" i="1" dirty="0" smtClean="0">
                <a:solidFill>
                  <a:srgbClr val="FFFFFF"/>
                </a:solidFill>
                <a:latin typeface="Arial" panose="020B0604020202020204" pitchFamily="34" charset="0"/>
                <a:ea typeface="ＭＳ Ｐゴシック" panose="020B0600070205080204" pitchFamily="34" charset="-128"/>
              </a:rPr>
              <a:t>down</a:t>
            </a:r>
            <a:r>
              <a:rPr lang="en-US" altLang="en-US" sz="2000" b="0" i="1" dirty="0">
                <a:solidFill>
                  <a:srgbClr val="FFFFFF"/>
                </a:solidFill>
                <a:latin typeface="Arial" panose="020B0604020202020204" pitchFamily="34" charset="0"/>
                <a:ea typeface="ＭＳ Ｐゴシック" panose="020B0600070205080204" pitchFamily="34" charset="-128"/>
              </a:rPr>
              <a:t>, debris fell on equipment </a:t>
            </a:r>
            <a:r>
              <a:rPr lang="en-US" altLang="en-US" sz="2000" b="0" i="1" dirty="0" smtClean="0">
                <a:solidFill>
                  <a:srgbClr val="FFFFFF"/>
                </a:solidFill>
                <a:latin typeface="Arial" panose="020B0604020202020204" pitchFamily="34" charset="0"/>
                <a:ea typeface="ＭＳ Ｐゴシック" panose="020B0600070205080204" pitchFamily="34" charset="-128"/>
              </a:rPr>
              <a:t/>
            </a:r>
            <a:br>
              <a:rPr lang="en-US" altLang="en-US" sz="2000" b="0" i="1" dirty="0" smtClean="0">
                <a:solidFill>
                  <a:srgbClr val="FFFFFF"/>
                </a:solidFill>
                <a:latin typeface="Arial" panose="020B0604020202020204" pitchFamily="34" charset="0"/>
                <a:ea typeface="ＭＳ Ｐゴシック" panose="020B0600070205080204" pitchFamily="34" charset="-128"/>
              </a:rPr>
            </a:br>
            <a:r>
              <a:rPr lang="en-US" altLang="en-US" sz="2000" b="0" i="1" dirty="0" smtClean="0">
                <a:solidFill>
                  <a:srgbClr val="FFFFFF"/>
                </a:solidFill>
                <a:latin typeface="Arial" panose="020B0604020202020204" pitchFamily="34" charset="0"/>
                <a:ea typeface="ＭＳ Ｐゴシック" panose="020B0600070205080204" pitchFamily="34" charset="-128"/>
              </a:rPr>
              <a:t>adjacent </a:t>
            </a:r>
            <a:r>
              <a:rPr lang="en-US" altLang="en-US" sz="2000" b="0" i="1" dirty="0">
                <a:solidFill>
                  <a:srgbClr val="FFFFFF"/>
                </a:solidFill>
                <a:latin typeface="Arial" panose="020B0604020202020204" pitchFamily="34" charset="0"/>
                <a:ea typeface="ＭＳ Ｐゴシック" panose="020B0600070205080204" pitchFamily="34" charset="-128"/>
              </a:rPr>
              <a:t>to slope causing </a:t>
            </a:r>
            <a:r>
              <a:rPr lang="en-US" altLang="en-US" sz="2000" b="0" i="1" dirty="0" smtClean="0">
                <a:solidFill>
                  <a:srgbClr val="FFFFFF"/>
                </a:solidFill>
                <a:latin typeface="Arial" panose="020B0604020202020204" pitchFamily="34" charset="0"/>
                <a:ea typeface="ＭＳ Ｐゴシック" panose="020B0600070205080204" pitchFamily="34" charset="-128"/>
              </a:rPr>
              <a:t>injury</a:t>
            </a:r>
            <a:r>
              <a:rPr lang="en-US" altLang="en-US" sz="2000" b="0" i="1" dirty="0">
                <a:solidFill>
                  <a:srgbClr val="FFFFFF"/>
                </a:solidFill>
                <a:latin typeface="Arial" panose="020B0604020202020204" pitchFamily="34" charset="0"/>
                <a:ea typeface="ＭＳ Ｐゴシック" panose="020B0600070205080204" pitchFamily="34" charset="-128"/>
              </a:rPr>
              <a:t>, equipment </a:t>
            </a:r>
            <a:r>
              <a:rPr lang="en-US" altLang="en-US" sz="2000" b="0" i="1" dirty="0" smtClean="0">
                <a:solidFill>
                  <a:srgbClr val="FFFFFF"/>
                </a:solidFill>
                <a:latin typeface="Arial" panose="020B0604020202020204" pitchFamily="34" charset="0"/>
                <a:ea typeface="ＭＳ Ｐゴシック" panose="020B0600070205080204" pitchFamily="34" charset="-128"/>
              </a:rPr>
              <a:t/>
            </a:r>
            <a:br>
              <a:rPr lang="en-US" altLang="en-US" sz="2000" b="0" i="1" dirty="0" smtClean="0">
                <a:solidFill>
                  <a:srgbClr val="FFFFFF"/>
                </a:solidFill>
                <a:latin typeface="Arial" panose="020B0604020202020204" pitchFamily="34" charset="0"/>
                <a:ea typeface="ＭＳ Ｐゴシック" panose="020B0600070205080204" pitchFamily="34" charset="-128"/>
              </a:rPr>
            </a:br>
            <a:r>
              <a:rPr lang="en-US" altLang="en-US" sz="2000" b="0" i="1" dirty="0" smtClean="0">
                <a:solidFill>
                  <a:srgbClr val="FFFFFF"/>
                </a:solidFill>
                <a:latin typeface="Arial" panose="020B0604020202020204" pitchFamily="34" charset="0"/>
                <a:ea typeface="ＭＳ Ｐゴシック" panose="020B0600070205080204" pitchFamily="34" charset="-128"/>
              </a:rPr>
              <a:t>loss</a:t>
            </a:r>
            <a:r>
              <a:rPr lang="en-US" altLang="en-US" sz="2000" b="0" i="1" dirty="0">
                <a:solidFill>
                  <a:srgbClr val="FFFFFF"/>
                </a:solidFill>
                <a:latin typeface="Arial" panose="020B0604020202020204" pitchFamily="34" charset="0"/>
                <a:ea typeface="ＭＳ Ｐゴシック" panose="020B0600070205080204" pitchFamily="34" charset="-128"/>
              </a:rPr>
              <a:t>, and production </a:t>
            </a:r>
            <a:r>
              <a:rPr lang="en-US" altLang="en-US" sz="2000" b="0" i="1" dirty="0" smtClean="0">
                <a:solidFill>
                  <a:srgbClr val="FFFFFF"/>
                </a:solidFill>
                <a:latin typeface="Arial" panose="020B0604020202020204" pitchFamily="34" charset="0"/>
                <a:ea typeface="ＭＳ Ｐゴシック" panose="020B0600070205080204" pitchFamily="34" charset="-128"/>
              </a:rPr>
              <a:t>loss.”</a:t>
            </a:r>
            <a:endParaRPr lang="en-US" altLang="en-US" sz="2000" b="0" i="1" dirty="0">
              <a:solidFill>
                <a:srgbClr val="FFFFFF"/>
              </a:solidFill>
              <a:latin typeface="Arial" panose="020B0604020202020204" pitchFamily="34" charset="0"/>
              <a:ea typeface="ＭＳ Ｐゴシック" panose="020B0600070205080204" pitchFamily="34" charset="-128"/>
            </a:endParaRPr>
          </a:p>
          <a:p>
            <a:pPr lvl="0" fontAlgn="auto">
              <a:spcBef>
                <a:spcPts val="0"/>
              </a:spcBef>
              <a:spcAft>
                <a:spcPts val="0"/>
              </a:spcAft>
              <a:defRPr/>
            </a:pPr>
            <a:endParaRPr lang="en-CA" altLang="en-US" sz="2000" b="0" i="1" dirty="0">
              <a:solidFill>
                <a:srgbClr val="FFFFFF"/>
              </a:solidFill>
              <a:latin typeface="Arial" panose="020B0604020202020204" pitchFamily="34" charset="0"/>
              <a:ea typeface="ＭＳ Ｐゴシック" panose="020B0600070205080204" pitchFamily="34" charset="-128"/>
              <a:sym typeface="Wingdings" pitchFamily="2" charset="2"/>
            </a:endParaRPr>
          </a:p>
          <a:p>
            <a:pPr lvl="0" fontAlgn="auto">
              <a:spcBef>
                <a:spcPts val="0"/>
              </a:spcBef>
              <a:spcAft>
                <a:spcPts val="0"/>
              </a:spcAft>
              <a:defRPr/>
            </a:pPr>
            <a:r>
              <a:rPr lang="en-CA" altLang="en-US" sz="2000" b="0" i="1" dirty="0" smtClean="0">
                <a:solidFill>
                  <a:srgbClr val="FFFFFF"/>
                </a:solidFill>
                <a:latin typeface="Arial" panose="020B0604020202020204" pitchFamily="34" charset="0"/>
                <a:ea typeface="ＭＳ Ｐゴシック" panose="020B0600070205080204" pitchFamily="34" charset="-128"/>
                <a:sym typeface="Wingdings" pitchFamily="2" charset="2"/>
              </a:rPr>
              <a:t>Please </a:t>
            </a:r>
            <a:r>
              <a:rPr lang="en-CA" altLang="en-US" sz="2000" b="0" i="1" dirty="0">
                <a:solidFill>
                  <a:srgbClr val="FFFFFF"/>
                </a:solidFill>
                <a:latin typeface="Arial" panose="020B0604020202020204" pitchFamily="34" charset="0"/>
                <a:ea typeface="ＭＳ Ｐゴシック" panose="020B0600070205080204" pitchFamily="34" charset="-128"/>
                <a:sym typeface="Wingdings" pitchFamily="2" charset="2"/>
              </a:rPr>
              <a:t>confer (</a:t>
            </a:r>
            <a:r>
              <a:rPr lang="en-CA" altLang="en-US" sz="2000" b="0" i="1" dirty="0" smtClean="0">
                <a:solidFill>
                  <a:srgbClr val="FFFFFF"/>
                </a:solidFill>
                <a:latin typeface="Arial" panose="020B0604020202020204" pitchFamily="34" charset="0"/>
                <a:ea typeface="ＭＳ Ｐゴシック" panose="020B0600070205080204" pitchFamily="34" charset="-128"/>
                <a:sym typeface="Wingdings" pitchFamily="2" charset="2"/>
              </a:rPr>
              <a:t>pen-to-paper, </a:t>
            </a:r>
            <a:r>
              <a:rPr lang="en-CA" altLang="en-US" sz="2000" b="0" i="1" dirty="0" smtClean="0">
                <a:solidFill>
                  <a:srgbClr val="FFFFFF"/>
                </a:solidFill>
                <a:latin typeface="Arial" panose="020B0604020202020204" pitchFamily="34" charset="0"/>
                <a:ea typeface="ＭＳ Ｐゴシック" panose="020B0600070205080204" pitchFamily="34" charset="-128"/>
                <a:sym typeface="Wingdings" pitchFamily="2" charset="2"/>
              </a:rPr>
              <a:t>MM-Poll):</a:t>
            </a:r>
            <a:endParaRPr lang="en-CA" altLang="en-US" sz="2000" b="0" i="1" dirty="0">
              <a:solidFill>
                <a:srgbClr val="FFFFFF"/>
              </a:solidFill>
              <a:latin typeface="Arial" panose="020B0604020202020204" pitchFamily="34" charset="0"/>
              <a:ea typeface="ＭＳ Ｐゴシック" panose="020B0600070205080204" pitchFamily="34" charset="-128"/>
              <a:sym typeface="Wingdings" pitchFamily="2" charset="2"/>
            </a:endParaRPr>
          </a:p>
          <a:p>
            <a:pPr marL="360000" indent="-360000" eaLnBrk="0" hangingPunct="0">
              <a:spcBef>
                <a:spcPts val="0"/>
              </a:spcBef>
              <a:buSzPct val="100000"/>
              <a:buFont typeface="Wingdings" panose="05000000000000000000" pitchFamily="2" charset="2"/>
              <a:buChar char="Ø"/>
              <a:defRPr/>
            </a:pPr>
            <a:r>
              <a:rPr lang="en-CA"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Which are the </a:t>
            </a:r>
            <a:r>
              <a:rPr lang="en-CA" altLang="en-US" sz="2000" b="0" i="1" u="sng"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immediate </a:t>
            </a:r>
            <a:r>
              <a:rPr lang="en-CA" altLang="en-US" sz="2000" b="0" i="1" u="sng"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causes</a:t>
            </a:r>
            <a:r>
              <a:rPr lang="en-CA"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 </a:t>
            </a:r>
            <a:r>
              <a:rPr lang="en-CA"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and </a:t>
            </a:r>
            <a:br>
              <a:rPr lang="en-CA"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br>
            <a:r>
              <a:rPr lang="en-CA"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which</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are the </a:t>
            </a:r>
            <a:r>
              <a:rPr lang="en-US" altLang="en-US" sz="2000" b="0" i="1" u="sng"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basic causes</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a:t>
            </a:r>
          </a:p>
          <a:p>
            <a:pPr marL="720000" indent="-360000" eaLnBrk="0" hangingPunct="0">
              <a:spcBef>
                <a:spcPts val="0"/>
              </a:spcBef>
              <a:buSzPct val="100000"/>
              <a:buFont typeface="Wingdings" panose="05000000000000000000" pitchFamily="2" charset="2"/>
              <a:buChar char="Ø"/>
              <a:defRPr/>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Debris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fell</a:t>
            </a:r>
          </a:p>
          <a:p>
            <a:pPr marL="720000" indent="-360000" eaLnBrk="0" hangingPunct="0">
              <a:spcBef>
                <a:spcPts val="0"/>
              </a:spcBef>
              <a:buSzPct val="100000"/>
              <a:buFont typeface="Wingdings" panose="05000000000000000000" pitchFamily="2" charset="2"/>
              <a:buChar char="Ø"/>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Slope was unstable</a:t>
            </a:r>
          </a:p>
          <a:p>
            <a:pPr marL="720000" indent="-360000" eaLnBrk="0" hangingPunct="0">
              <a:spcBef>
                <a:spcPts val="0"/>
              </a:spcBef>
              <a:buSzPct val="100000"/>
              <a:buFont typeface="Wingdings" panose="05000000000000000000" pitchFamily="2" charset="2"/>
              <a:buChar char="Ø"/>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Truck and shovel were inside the exclusion zone</a:t>
            </a:r>
          </a:p>
          <a:p>
            <a:pPr marL="720000" indent="-360000" eaLnBrk="0" hangingPunct="0">
              <a:spcBef>
                <a:spcPts val="0"/>
              </a:spcBef>
              <a:buSzPct val="100000"/>
              <a:buFont typeface="Wingdings" panose="05000000000000000000" pitchFamily="2" charset="2"/>
              <a:buChar char="Ø"/>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Supervisor told Operator to work in the exclusion zone</a:t>
            </a:r>
          </a:p>
          <a:p>
            <a:pPr marL="720000" indent="-360000" eaLnBrk="0" hangingPunct="0">
              <a:spcBef>
                <a:spcPts val="0"/>
              </a:spcBef>
              <a:buSzPct val="100000"/>
              <a:buFont typeface="Wingdings" panose="05000000000000000000" pitchFamily="2" charset="2"/>
              <a:buChar char="Ø"/>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Operator was not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trained on exclusion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zone procedures</a:t>
            </a:r>
          </a:p>
          <a:p>
            <a:pPr marL="720000" indent="-360000" eaLnBrk="0" hangingPunct="0">
              <a:spcBef>
                <a:spcPts val="0"/>
              </a:spcBef>
              <a:buSzPct val="100000"/>
              <a:buFont typeface="Wingdings" panose="05000000000000000000" pitchFamily="2" charset="2"/>
              <a:buChar char="Ø"/>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Monitoring data was not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evaluated</a:t>
            </a:r>
          </a:p>
          <a:p>
            <a:pPr marL="360000" eaLnBrk="0" fontAlgn="auto" hangingPunct="0">
              <a:spcBef>
                <a:spcPts val="0"/>
              </a:spcBef>
              <a:spcAft>
                <a:spcPts val="0"/>
              </a:spcAft>
              <a:buClr>
                <a:srgbClr val="000000"/>
              </a:buClr>
              <a:buSzPct val="100000"/>
              <a:defRPr/>
            </a:pPr>
            <a:endParaRPr lang="en-US" altLang="en-US" sz="2000" b="0" i="1" dirty="0">
              <a:solidFill>
                <a:srgbClr val="FFFFFF"/>
              </a:solidFill>
              <a:latin typeface="Arial" panose="020B0604020202020204" pitchFamily="34" charset="0"/>
              <a:ea typeface="ＭＳ Ｐゴシック" panose="020B0600070205080204" pitchFamily="34" charset="-128"/>
              <a:sym typeface="Wingdings" pitchFamily="2" charset="2"/>
            </a:endParaRPr>
          </a:p>
        </p:txBody>
      </p:sp>
      <p:sp>
        <p:nvSpPr>
          <p:cNvPr id="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14</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fontAlgn="auto">
              <a:spcBef>
                <a:spcPts val="0"/>
              </a:spcBef>
              <a:spcAft>
                <a:spcPts val="0"/>
              </a:spcAft>
              <a:buClr>
                <a:srgbClr val="000000"/>
              </a:buClr>
              <a:buSzPts val="1600"/>
              <a:defRPr/>
            </a:pPr>
            <a:r>
              <a:rPr lang="en-US" sz="1200" i="1" kern="0" dirty="0">
                <a:solidFill>
                  <a:srgbClr val="000000"/>
                </a:solidFill>
                <a:ea typeface="Times New Roman"/>
                <a:cs typeface="Arial" panose="020B0604020202020204" pitchFamily="34" charset="0"/>
                <a:sym typeface="Times New Roman"/>
              </a:rPr>
              <a:t>Chapter 4.2: C&amp;E Model &amp; Chapter 4.3: RCA of an Incident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62600" y="908020"/>
            <a:ext cx="3214563" cy="2139980"/>
          </a:xfrm>
          <a:prstGeom prst="rect">
            <a:avLst/>
          </a:prstGeom>
        </p:spPr>
      </p:pic>
    </p:spTree>
    <p:extLst>
      <p:ext uri="{BB962C8B-B14F-4D97-AF65-F5344CB8AC3E}">
        <p14:creationId xmlns:p14="http://schemas.microsoft.com/office/powerpoint/2010/main" val="3521218084"/>
      </p:ext>
    </p:extLst>
  </p:cSld>
  <p:clrMapOvr>
    <a:masterClrMapping/>
  </p:clrMapOvr>
  <p:transition>
    <p:fade/>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fontAlgn="auto">
              <a:lnSpc>
                <a:spcPct val="100000"/>
              </a:lnSpc>
              <a:spcBef>
                <a:spcPts val="0"/>
              </a:spcBef>
              <a:spcAft>
                <a:spcPts val="0"/>
              </a:spcAft>
              <a:buClr>
                <a:srgbClr val="000000"/>
              </a:buClr>
              <a:buNone/>
              <a:defRPr/>
            </a:pPr>
            <a:r>
              <a:rPr lang="en-US"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The intent </a:t>
            </a:r>
            <a: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of this exercise is </a:t>
            </a:r>
            <a:b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br>
            <a:r>
              <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NOT </a:t>
            </a:r>
            <a:r>
              <a:rPr lang="en-US" altLang="en-US"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to inform </a:t>
            </a:r>
            <a:r>
              <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you or test </a:t>
            </a:r>
            <a:r>
              <a:rPr lang="en-US" altLang="en-US"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you</a:t>
            </a:r>
            <a:r>
              <a:rPr lang="en-US"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 </a:t>
            </a:r>
            <a: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
            </a:r>
            <a:b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br>
            <a: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on </a:t>
            </a:r>
            <a:r>
              <a:rPr lang="en-US"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the causes </a:t>
            </a:r>
            <a: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of this </a:t>
            </a:r>
            <a: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LI nor the </a:t>
            </a:r>
            <a:b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br>
            <a: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category of causes!</a:t>
            </a:r>
            <a:endParaRPr lang="en-US"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0" lvl="0" indent="0" fontAlgn="auto">
              <a:lnSpc>
                <a:spcPct val="100000"/>
              </a:lnSpc>
              <a:spcBef>
                <a:spcPts val="0"/>
              </a:spcBef>
              <a:spcAft>
                <a:spcPts val="0"/>
              </a:spcAft>
              <a:buClr>
                <a:srgbClr val="000000"/>
              </a:buClr>
              <a:buNone/>
              <a:defRPr/>
            </a:pPr>
            <a:endParaRPr lang="en-US" altLang="en-US"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0" lvl="0" indent="0" fontAlgn="auto">
              <a:lnSpc>
                <a:spcPct val="100000"/>
              </a:lnSpc>
              <a:spcBef>
                <a:spcPts val="0"/>
              </a:spcBef>
              <a:spcAft>
                <a:spcPts val="0"/>
              </a:spcAft>
              <a:buClr>
                <a:srgbClr val="000000"/>
              </a:buClr>
              <a:buNone/>
              <a:defRPr/>
            </a:pPr>
            <a:endPar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0" lvl="0" indent="0" fontAlgn="auto">
              <a:lnSpc>
                <a:spcPct val="100000"/>
              </a:lnSpc>
              <a:spcBef>
                <a:spcPts val="0"/>
              </a:spcBef>
              <a:spcAft>
                <a:spcPts val="0"/>
              </a:spcAft>
              <a:buClr>
                <a:srgbClr val="000000"/>
              </a:buClr>
              <a:buNone/>
              <a:defRPr/>
            </a:pPr>
            <a:endPar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0" lvl="0" indent="0" fontAlgn="auto">
              <a:lnSpc>
                <a:spcPct val="100000"/>
              </a:lnSpc>
              <a:spcBef>
                <a:spcPts val="0"/>
              </a:spcBef>
              <a:spcAft>
                <a:spcPts val="0"/>
              </a:spcAft>
              <a:buClr>
                <a:srgbClr val="000000"/>
              </a:buClr>
              <a:buNone/>
              <a:defRPr/>
            </a:pPr>
            <a:endPar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0" lvl="0" indent="0" fontAlgn="auto">
              <a:lnSpc>
                <a:spcPct val="100000"/>
              </a:lnSpc>
              <a:spcBef>
                <a:spcPts val="0"/>
              </a:spcBef>
              <a:spcAft>
                <a:spcPts val="0"/>
              </a:spcAft>
              <a:buClr>
                <a:srgbClr val="000000"/>
              </a:buClr>
              <a:buNone/>
              <a:defRPr/>
            </a:pPr>
            <a:endParaRPr lang="en-US" altLang="en-US"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0" lvl="0" indent="0" fontAlgn="auto">
              <a:lnSpc>
                <a:spcPct val="100000"/>
              </a:lnSpc>
              <a:spcBef>
                <a:spcPts val="0"/>
              </a:spcBef>
              <a:spcAft>
                <a:spcPts val="0"/>
              </a:spcAft>
              <a:buClr>
                <a:srgbClr val="000000"/>
              </a:buClr>
              <a:buNone/>
              <a:defRPr/>
            </a:pPr>
            <a:endPar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0" lvl="0" indent="0" fontAlgn="auto">
              <a:lnSpc>
                <a:spcPct val="100000"/>
              </a:lnSpc>
              <a:spcBef>
                <a:spcPts val="0"/>
              </a:spcBef>
              <a:spcAft>
                <a:spcPts val="0"/>
              </a:spcAft>
              <a:buClr>
                <a:srgbClr val="000000"/>
              </a:buClr>
              <a:buNone/>
              <a:defRPr/>
            </a:pPr>
            <a:endParaRPr lang="en-US" altLang="en-US"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0" lvl="0" indent="0" fontAlgn="auto">
              <a:lnSpc>
                <a:spcPct val="100000"/>
              </a:lnSpc>
              <a:spcBef>
                <a:spcPts val="0"/>
              </a:spcBef>
              <a:spcAft>
                <a:spcPts val="0"/>
              </a:spcAft>
              <a:buClr>
                <a:srgbClr val="000000"/>
              </a:buClr>
              <a:buNone/>
              <a:defRPr/>
            </a:pPr>
            <a:r>
              <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The intent </a:t>
            </a:r>
            <a:r>
              <a:rPr lang="en-US" altLang="en-US"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of </a:t>
            </a:r>
            <a:r>
              <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this exercise </a:t>
            </a:r>
            <a:r>
              <a:rPr lang="en-US" altLang="en-US"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is </a:t>
            </a:r>
            <a:r>
              <a:rPr lang="en-US" altLang="en-US"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to:</a:t>
            </a:r>
          </a:p>
          <a:p>
            <a:pPr marL="360000" indent="-360000" fontAlgn="auto">
              <a:lnSpc>
                <a:spcPct val="100000"/>
              </a:lnSpc>
              <a:spcBef>
                <a:spcPts val="0"/>
              </a:spcBef>
              <a:spcAft>
                <a:spcPts val="0"/>
              </a:spcAft>
              <a:buClrTx/>
              <a:buFont typeface="Wingdings" panose="05000000000000000000" pitchFamily="2" charset="2"/>
              <a:buChar char="Ø"/>
              <a:defRPr/>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Discuss some of the </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responses in </a:t>
            </a:r>
            <a:r>
              <a:rPr lang="en-US" altLang="en-US" sz="1800" b="0" dirty="0" err="1">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Mentimeter</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 </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in </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terms of “jumping to conclusions”, “facts”, “logic leaps”, </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“combination of causes”, etc</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a:t>
            </a:r>
          </a:p>
          <a:p>
            <a:pPr marL="360000" indent="-360000" fontAlgn="auto">
              <a:lnSpc>
                <a:spcPct val="100000"/>
              </a:lnSpc>
              <a:spcBef>
                <a:spcPts val="0"/>
              </a:spcBef>
              <a:spcAft>
                <a:spcPts val="0"/>
              </a:spcAft>
              <a:buClrTx/>
              <a:buFont typeface="Wingdings" panose="05000000000000000000" pitchFamily="2" charset="2"/>
              <a:buChar char="Ø"/>
              <a:defRPr/>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Demonstrate that the causation of a loss incident must be explained in </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rational and sequentially </a:t>
            </a: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logical terms in order to make sense and be of value in determining the latent causes of a loss incident. </a:t>
            </a:r>
            <a:endParaRPr lang="en-US"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The Intent of the Active Learning Exercise</a:t>
            </a:r>
            <a:r>
              <a:rPr lang="en-US" altLang="en-US" sz="2400" b="0" dirty="0">
                <a:solidFill>
                  <a:schemeClr val="accent2"/>
                </a:solidFill>
                <a:latin typeface="Arial" panose="020B0604020202020204" pitchFamily="34" charset="0"/>
                <a:ea typeface="+mj-ea"/>
                <a:cs typeface="Arial" panose="020B0604020202020204" pitchFamily="34" charset="0"/>
              </a:rPr>
              <a:t>:</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15</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pic>
        <p:nvPicPr>
          <p:cNvPr id="4" name="Picture 3"/>
          <p:cNvPicPr>
            <a:picLocks noChangeAspect="1"/>
          </p:cNvPicPr>
          <p:nvPr/>
        </p:nvPicPr>
        <p:blipFill>
          <a:blip r:embed="rId3"/>
          <a:stretch>
            <a:fillRect/>
          </a:stretch>
        </p:blipFill>
        <p:spPr>
          <a:xfrm>
            <a:off x="4240762" y="828000"/>
            <a:ext cx="4572638" cy="3429479"/>
          </a:xfrm>
          <a:prstGeom prst="rect">
            <a:avLst/>
          </a:prstGeom>
          <a:ln>
            <a:solidFill>
              <a:schemeClr val="tx1"/>
            </a:solidFill>
          </a:ln>
        </p:spPr>
      </p:pic>
    </p:spTree>
    <p:extLst>
      <p:ext uri="{BB962C8B-B14F-4D97-AF65-F5344CB8AC3E}">
        <p14:creationId xmlns:p14="http://schemas.microsoft.com/office/powerpoint/2010/main" val="1402127041"/>
      </p:ext>
    </p:extLst>
  </p:cSld>
  <p:clrMapOvr>
    <a:masterClrMapping/>
  </p:clrMapOvr>
  <p:transition>
    <p:fade/>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100000"/>
              </a:lnSpc>
              <a:spcBef>
                <a:spcPts val="0"/>
              </a:spcBef>
              <a:spcAft>
                <a:spcPts val="0"/>
              </a:spcAft>
              <a:buClr>
                <a:srgbClr val="000000"/>
              </a:buClr>
              <a:buSzPct val="100000"/>
              <a:buNone/>
              <a:defRPr/>
            </a:pP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Incident </a:t>
            </a:r>
            <a:r>
              <a:rPr lang="en-US" altLang="en-US" sz="180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Description: </a:t>
            </a:r>
            <a: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t>“The slope of an open quarry </a:t>
            </a:r>
            <a:b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br>
            <a: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t>slid down, debris fell </a:t>
            </a: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rPr>
              <a:t>on </a:t>
            </a:r>
            <a: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t>equipment </a:t>
            </a: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rPr>
              <a:t>adjacent to </a:t>
            </a:r>
            <a: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t>slope </a:t>
            </a:r>
            <a:b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br>
            <a: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t>causing injury</a:t>
            </a: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rPr>
              <a:t>, </a:t>
            </a:r>
            <a: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t>equipment </a:t>
            </a: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rPr>
              <a:t>loss, and </a:t>
            </a:r>
            <a: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rPr>
              <a:t>production </a:t>
            </a: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rPr>
              <a:t>loss.”</a:t>
            </a:r>
          </a:p>
          <a:p>
            <a:pPr marL="0" lvl="0" indent="0" fontAlgn="auto">
              <a:lnSpc>
                <a:spcPct val="100000"/>
              </a:lnSpc>
              <a:spcBef>
                <a:spcPts val="0"/>
              </a:spcBef>
              <a:spcAft>
                <a:spcPts val="0"/>
              </a:spcAft>
              <a:buClr>
                <a:srgbClr val="000000"/>
              </a:buClr>
              <a:buNone/>
              <a:defRPr/>
            </a:pPr>
            <a:endParaRPr lang="en-CA" altLang="en-US" sz="1800"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360000" lvl="0" indent="-360000" fontAlgn="auto">
              <a:lnSpc>
                <a:spcPct val="100000"/>
              </a:lnSpc>
              <a:spcBef>
                <a:spcPts val="0"/>
              </a:spcBef>
              <a:spcAft>
                <a:spcPts val="0"/>
              </a:spcAft>
              <a:buClrTx/>
              <a:buFont typeface="Wingdings" panose="05000000000000000000" pitchFamily="2" charset="2"/>
              <a:buChar char="Ø"/>
              <a:defRPr/>
            </a:pPr>
            <a:r>
              <a:rPr lang="en-CA"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Causes:</a:t>
            </a:r>
          </a:p>
          <a:p>
            <a:pPr marL="720000" lvl="1" indent="-360000" eaLnBrk="0" fontAlgn="auto" hangingPunct="0">
              <a:lnSpc>
                <a:spcPct val="100000"/>
              </a:lnSpc>
              <a:spcBef>
                <a:spcPts val="0"/>
              </a:spcBef>
              <a:spcAft>
                <a:spcPts val="0"/>
              </a:spcAft>
              <a:buClrTx/>
              <a:buSzPct val="100000"/>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Debris </a:t>
            </a:r>
            <a:r>
              <a:rPr lang="en-CA"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fell from the side</a:t>
            </a:r>
            <a:endPar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720000" lvl="1" indent="-360000" eaLnBrk="0" fontAlgn="auto" hangingPunct="0">
              <a:lnSpc>
                <a:spcPct val="100000"/>
              </a:lnSpc>
              <a:spcBef>
                <a:spcPts val="0"/>
              </a:spcBef>
              <a:spcAft>
                <a:spcPts val="0"/>
              </a:spcAft>
              <a:buClrTx/>
              <a:buSzPct val="100000"/>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Slope was unstable</a:t>
            </a:r>
          </a:p>
          <a:p>
            <a:pPr marL="720000" lvl="1" indent="-360000" eaLnBrk="0" fontAlgn="auto" hangingPunct="0">
              <a:lnSpc>
                <a:spcPct val="100000"/>
              </a:lnSpc>
              <a:spcBef>
                <a:spcPts val="0"/>
              </a:spcBef>
              <a:spcAft>
                <a:spcPts val="0"/>
              </a:spcAft>
              <a:buClrTx/>
              <a:buSzPct val="100000"/>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Truck and shovel were inside the exclusion zone</a:t>
            </a:r>
          </a:p>
          <a:p>
            <a:pPr marL="720000" lvl="1" indent="-360000" eaLnBrk="0" fontAlgn="auto" hangingPunct="0">
              <a:lnSpc>
                <a:spcPct val="100000"/>
              </a:lnSpc>
              <a:spcBef>
                <a:spcPts val="0"/>
              </a:spcBef>
              <a:spcAft>
                <a:spcPts val="0"/>
              </a:spcAft>
              <a:buClrTx/>
              <a:buSzPct val="100000"/>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Supervisor told Operator to work in the exclusion zone</a:t>
            </a:r>
          </a:p>
          <a:p>
            <a:pPr marL="720000" lvl="1" indent="-360000" eaLnBrk="0" fontAlgn="auto" hangingPunct="0">
              <a:lnSpc>
                <a:spcPct val="100000"/>
              </a:lnSpc>
              <a:spcBef>
                <a:spcPts val="0"/>
              </a:spcBef>
              <a:spcAft>
                <a:spcPts val="0"/>
              </a:spcAft>
              <a:buClrTx/>
              <a:buSzPct val="100000"/>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Operator was not </a:t>
            </a:r>
            <a:r>
              <a:rPr lang="en-CA" altLang="en-US"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trained on </a:t>
            </a: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exclusion zone procedures</a:t>
            </a:r>
          </a:p>
          <a:p>
            <a:pPr marL="720000" lvl="1" indent="-360000" eaLnBrk="0" fontAlgn="auto" hangingPunct="0">
              <a:lnSpc>
                <a:spcPct val="100000"/>
              </a:lnSpc>
              <a:spcBef>
                <a:spcPts val="0"/>
              </a:spcBef>
              <a:spcAft>
                <a:spcPts val="0"/>
              </a:spcAft>
              <a:buClrTx/>
              <a:buSzPct val="100000"/>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Monitoring data was not evaluated</a:t>
            </a:r>
          </a:p>
          <a:p>
            <a:pPr marL="457200" lvl="0" indent="-457200" fontAlgn="auto">
              <a:lnSpc>
                <a:spcPct val="100000"/>
              </a:lnSpc>
              <a:spcBef>
                <a:spcPts val="0"/>
              </a:spcBef>
              <a:spcAft>
                <a:spcPts val="0"/>
              </a:spcAft>
              <a:buClrTx/>
              <a:buFont typeface="Wingdings" panose="05000000000000000000" pitchFamily="2" charset="2"/>
              <a:buChar char="Ø"/>
              <a:defRPr/>
            </a:pPr>
            <a:endParaRPr lang="en-CA" altLang="en-US" sz="1800"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360000" indent="-360000" fontAlgn="auto">
              <a:lnSpc>
                <a:spcPct val="100000"/>
              </a:lnSpc>
              <a:spcBef>
                <a:spcPts val="0"/>
              </a:spcBef>
              <a:spcAft>
                <a:spcPts val="0"/>
              </a:spcAft>
              <a:buClrTx/>
              <a:buFont typeface="Wingdings" panose="05000000000000000000" pitchFamily="2" charset="2"/>
              <a:buChar char="Ø"/>
              <a:defRPr/>
            </a:pPr>
            <a:r>
              <a:rPr lang="en-CA"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sym typeface="Wingdings" pitchFamily="2" charset="2"/>
              </a:rPr>
              <a:t>Some points:</a:t>
            </a:r>
          </a:p>
          <a:p>
            <a:pPr marL="720000" lvl="1" indent="-360000" fontAlgn="auto">
              <a:lnSpc>
                <a:spcPct val="100000"/>
              </a:lnSpc>
              <a:spcBef>
                <a:spcPts val="0"/>
              </a:spcBef>
              <a:spcAft>
                <a:spcPts val="0"/>
              </a:spcAft>
              <a:buClrTx/>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Difficult to decide – immediate or basic!</a:t>
            </a:r>
          </a:p>
          <a:p>
            <a:pPr marL="720000" lvl="1" indent="-360000" fontAlgn="auto">
              <a:lnSpc>
                <a:spcPct val="100000"/>
              </a:lnSpc>
              <a:spcBef>
                <a:spcPts val="0"/>
              </a:spcBef>
              <a:spcAft>
                <a:spcPts val="0"/>
              </a:spcAft>
              <a:buClrTx/>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Not quite logical … something is missing!</a:t>
            </a:r>
          </a:p>
          <a:p>
            <a:pPr marL="1080000" lvl="1" indent="-360000" fontAlgn="auto">
              <a:lnSpc>
                <a:spcPct val="100000"/>
              </a:lnSpc>
              <a:spcBef>
                <a:spcPts val="0"/>
              </a:spcBef>
              <a:spcAft>
                <a:spcPts val="0"/>
              </a:spcAft>
              <a:buClrTx/>
              <a:buFont typeface="Wingdings" panose="05000000000000000000" pitchFamily="2" charset="2"/>
              <a:buChar char="Ø"/>
              <a:defRPr/>
            </a:pPr>
            <a:r>
              <a:rPr lang="en-CA" altLang="en-US"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“AND” and “OR” gates will help structure the logic.</a:t>
            </a:r>
          </a:p>
          <a:p>
            <a:pPr marL="457200" lvl="0" indent="-457200" fontAlgn="auto">
              <a:lnSpc>
                <a:spcPct val="100000"/>
              </a:lnSpc>
              <a:spcBef>
                <a:spcPts val="0"/>
              </a:spcBef>
              <a:spcAft>
                <a:spcPts val="0"/>
              </a:spcAft>
              <a:buClrTx/>
              <a:buFont typeface="Wingdings" panose="05000000000000000000" pitchFamily="2" charset="2"/>
              <a:buChar char="Ø"/>
              <a:defRPr/>
            </a:pPr>
            <a:endPar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endParaRPr>
          </a:p>
          <a:p>
            <a:pPr marL="360000" lvl="0" indent="-360000" fontAlgn="auto">
              <a:lnSpc>
                <a:spcPct val="100000"/>
              </a:lnSpc>
              <a:spcBef>
                <a:spcPts val="0"/>
              </a:spcBef>
              <a:spcAft>
                <a:spcPts val="0"/>
              </a:spcAft>
              <a:buClrTx/>
              <a:buFont typeface="Wingdings" panose="05000000000000000000" pitchFamily="2" charset="2"/>
              <a:buChar char="Ø"/>
              <a:defRPr/>
            </a:pP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To make sense, the loss incident and its sequence of events </a:t>
            </a:r>
            <a:r>
              <a:rPr lang="en-US" altLang="en-US" sz="1800" b="0" dirty="0" smtClean="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are </a:t>
            </a: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best </a:t>
            </a:r>
            <a:r>
              <a:rPr lang="en-US" altLang="en-US" sz="1800" b="0" dirty="0" err="1">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analysed</a:t>
            </a: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 using the </a:t>
            </a:r>
            <a:r>
              <a:rPr lang="en-US" altLang="en-US" sz="180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Root Cause Analysis</a:t>
            </a:r>
            <a:r>
              <a:rPr lang="en-US" altLang="en-US" sz="1800" b="0" dirty="0">
                <a:solidFill>
                  <a:prstClr val="black">
                    <a:lumMod val="85000"/>
                    <a:lumOff val="15000"/>
                  </a:prstClr>
                </a:solidFill>
                <a:latin typeface="Arial" panose="020B0604020202020204" pitchFamily="34" charset="0"/>
                <a:ea typeface="ＭＳ Ｐゴシック" panose="020B0600070205080204" pitchFamily="34" charset="-128"/>
                <a:sym typeface="Wingdings" pitchFamily="2" charset="2"/>
              </a:rPr>
              <a:t> work process and C&amp;E Model!</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Logical Progression of Causes of an </a:t>
            </a:r>
            <a:r>
              <a:rPr lang="en-US" altLang="en-US" sz="2400" b="0" dirty="0" smtClean="0">
                <a:solidFill>
                  <a:schemeClr val="accent2"/>
                </a:solidFill>
                <a:latin typeface="Arial" panose="020B0604020202020204" pitchFamily="34" charset="0"/>
                <a:ea typeface="+mj-ea"/>
                <a:cs typeface="Arial" panose="020B0604020202020204" pitchFamily="34" charset="0"/>
              </a:rPr>
              <a:t>Incident:</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16</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67400" y="887983"/>
            <a:ext cx="2803316" cy="1866207"/>
          </a:xfrm>
          <a:prstGeom prst="rect">
            <a:avLst/>
          </a:prstGeom>
        </p:spPr>
      </p:pic>
    </p:spTree>
    <p:extLst>
      <p:ext uri="{BB962C8B-B14F-4D97-AF65-F5344CB8AC3E}">
        <p14:creationId xmlns:p14="http://schemas.microsoft.com/office/powerpoint/2010/main" val="1873836849"/>
      </p:ext>
    </p:extLst>
  </p:cSld>
  <p:clrMapOvr>
    <a:masterClrMapping/>
  </p:clrMapOvr>
  <p:transition>
    <p:fade/>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360000" indent="-360000" eaLnBrk="0" hangingPunct="0">
              <a:lnSpc>
                <a:spcPct val="10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Collect the facts … complete as much of the </a:t>
            </a: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Incident </a:t>
            </a:r>
            <a:b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b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Investigation WP</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before  moving on to the RCA WP!</a:t>
            </a:r>
          </a:p>
          <a:p>
            <a:pPr marL="720000" indent="-360000" eaLnBrk="0" hangingPunct="0">
              <a:lnSpc>
                <a:spcPct val="100000"/>
              </a:lnSpc>
              <a:spcBef>
                <a:spcPts val="0"/>
              </a:spcBef>
              <a:buClrTx/>
              <a:buSzPct val="100000"/>
              <a:buFont typeface="Wingdings" panose="05000000000000000000" pitchFamily="2" charset="2"/>
              <a:buChar char="Ø"/>
            </a:pPr>
            <a:r>
              <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Absolutely necessary that facts of the </a:t>
            </a: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incident </a:t>
            </a:r>
            <a:r>
              <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are known </a:t>
            </a: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a:r>
            <a:b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b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especially </a:t>
            </a:r>
            <a:r>
              <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a:t>
            </a:r>
            <a:r>
              <a:rPr lang="en-US" altLang="en-US" sz="16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sequence </a:t>
            </a:r>
            <a:r>
              <a:rPr lang="en-US" altLang="en-US" sz="160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of events</a:t>
            </a:r>
            <a:r>
              <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leading up to </a:t>
            </a: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incident.</a:t>
            </a:r>
            <a:endPar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720000" indent="-360000" eaLnBrk="0" hangingPunct="0">
              <a:lnSpc>
                <a:spcPct val="100000"/>
              </a:lnSpc>
              <a:spcBef>
                <a:spcPts val="0"/>
              </a:spcBef>
              <a:buClrTx/>
              <a:buSzPct val="100000"/>
              <a:buFont typeface="Wingdings" panose="05000000000000000000" pitchFamily="2" charset="2"/>
              <a:buChar char="Ø"/>
            </a:pPr>
            <a:r>
              <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Time and effort can be saved by </a:t>
            </a: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avoiding </a:t>
            </a:r>
            <a:r>
              <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debate driven by </a:t>
            </a: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a:r>
            <a:b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b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lack </a:t>
            </a:r>
            <a:r>
              <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of </a:t>
            </a: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information</a:t>
            </a:r>
            <a:r>
              <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or lack of </a:t>
            </a:r>
            <a:r>
              <a:rPr lang="en-US" altLang="en-US" sz="16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consensus on plausible events. </a:t>
            </a:r>
            <a:endParaRPr lang="en-US" altLang="en-US" sz="16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pP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Apply the RCA WP to logically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breakdown</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loss </a:t>
            </a:r>
            <a:b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b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incident to identify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causes of an incident, including </a:t>
            </a:r>
          </a:p>
          <a:p>
            <a:pPr marL="72000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immediate causes, and</a:t>
            </a:r>
          </a:p>
          <a:p>
            <a:pPr marL="72000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basic causes, and</a:t>
            </a:r>
          </a:p>
          <a:p>
            <a:pPr marL="720000" indent="-360000" eaLnBrk="0" hangingPunct="0">
              <a:lnSpc>
                <a:spcPct val="100000"/>
              </a:lnSpc>
              <a:spcBef>
                <a:spcPts val="0"/>
              </a:spcBef>
              <a:buClrTx/>
              <a:buSzPct val="100000"/>
              <a:buFont typeface="Wingdings" panose="05000000000000000000" pitchFamily="2" charset="2"/>
              <a:buChar char="Ø"/>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latent </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causes;</a:t>
            </a:r>
          </a:p>
          <a:p>
            <a:pPr marL="720000" indent="-360000" eaLnBrk="0" hangingPunct="0">
              <a:lnSpc>
                <a:spcPct val="10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 other words, to construct the </a:t>
            </a: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Root Cause Analysis Chart</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RCA Team identifies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actual</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causes as well as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possible, probable, plausible, or conceivable</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causes. </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Root Cause Analysis Work Process: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17</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pic>
        <p:nvPicPr>
          <p:cNvPr id="2" name="Picture 1"/>
          <p:cNvPicPr>
            <a:picLocks noChangeAspect="1"/>
          </p:cNvPicPr>
          <p:nvPr/>
        </p:nvPicPr>
        <p:blipFill>
          <a:blip r:embed="rId3"/>
          <a:stretch>
            <a:fillRect/>
          </a:stretch>
        </p:blipFill>
        <p:spPr>
          <a:xfrm>
            <a:off x="6848524" y="793841"/>
            <a:ext cx="2079333" cy="2406559"/>
          </a:xfrm>
          <a:prstGeom prst="rect">
            <a:avLst/>
          </a:prstGeom>
        </p:spPr>
      </p:pic>
    </p:spTree>
    <p:extLst>
      <p:ext uri="{BB962C8B-B14F-4D97-AF65-F5344CB8AC3E}">
        <p14:creationId xmlns:p14="http://schemas.microsoft.com/office/powerpoint/2010/main" val="2064190431"/>
      </p:ext>
    </p:extLst>
  </p:cSld>
  <p:clrMapOvr>
    <a:masterClrMapping/>
  </p:clrMapOvr>
  <p:transition>
    <p:fad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100000"/>
              </a:lnSpc>
              <a:spcBef>
                <a:spcPts val="0"/>
              </a:spcBef>
              <a:buClrTx/>
              <a:buSzPct val="100000"/>
              <a:buNone/>
            </a:pP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Purpose, Starting Point, and Outcome:</a:t>
            </a:r>
            <a:endPar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CA"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RCA WP </a:t>
            </a:r>
            <a:r>
              <a:rPr lang="en-CA"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is intended to drill down to the </a:t>
            </a:r>
            <a:r>
              <a:rPr lang="en-CA"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latent causes</a:t>
            </a:r>
            <a:r>
              <a:rPr lang="en-CA"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t>
            </a:r>
          </a:p>
          <a:p>
            <a:pPr marL="720000" lvl="1" indent="-360000" fontAlgn="auto">
              <a:lnSpc>
                <a:spcPct val="100000"/>
              </a:lnSpc>
              <a:spcBef>
                <a:spcPts val="0"/>
              </a:spcBef>
              <a:spcAft>
                <a:spcPts val="0"/>
              </a:spcAft>
              <a:buClrTx/>
              <a:buFont typeface="Wingdings" panose="05000000000000000000" pitchFamily="2" charset="2"/>
              <a:buChar char="Ø"/>
              <a:defRPr/>
            </a:pPr>
            <a:r>
              <a:rPr lang="en-CA" altLang="en-US" sz="2000" b="0" dirty="0">
                <a:solidFill>
                  <a:prstClr val="black">
                    <a:lumMod val="85000"/>
                    <a:lumOff val="15000"/>
                  </a:prstClr>
                </a:solidFill>
                <a:latin typeface="Arial" panose="020B0604020202020204" pitchFamily="34" charset="0"/>
                <a:ea typeface="ＭＳ Ｐゴシック" panose="020B0600070205080204" pitchFamily="34" charset="-128"/>
              </a:rPr>
              <a:t>Once latent causes (RMS element weaknesses) are identified, needed improvements &amp; recommendations become evident. </a:t>
            </a:r>
          </a:p>
          <a:p>
            <a:pPr marL="0" lvl="0" indent="0" fontAlgn="auto">
              <a:lnSpc>
                <a:spcPct val="100000"/>
              </a:lnSpc>
              <a:spcBef>
                <a:spcPts val="0"/>
              </a:spcBef>
              <a:spcAft>
                <a:spcPts val="0"/>
              </a:spcAft>
              <a:buClr>
                <a:srgbClr val="E7E6E6"/>
              </a:buClr>
              <a:buFont typeface="Wingdings" panose="05000000000000000000" pitchFamily="2" charset="2"/>
              <a:buChar char="Ø"/>
              <a:defRPr/>
            </a:pPr>
            <a:endParaRPr lang="en-CA" altLang="en-US" b="0" dirty="0">
              <a:solidFill>
                <a:prstClr val="black">
                  <a:lumMod val="85000"/>
                  <a:lumOff val="15000"/>
                </a:prstClr>
              </a:solidFill>
              <a:latin typeface="Arial" panose="020B0604020202020204" pitchFamily="34" charset="0"/>
              <a:ea typeface="ＭＳ Ｐゴシック" panose="020B0600070205080204" pitchFamily="34" charset="-128"/>
            </a:endParaRPr>
          </a:p>
          <a:p>
            <a:pPr marL="360000" indent="-360000" eaLnBrk="0" hangingPunct="0">
              <a:lnSpc>
                <a:spcPct val="100000"/>
              </a:lnSpc>
              <a:spcBef>
                <a:spcPts val="0"/>
              </a:spcBef>
              <a:buClrTx/>
              <a:buSzPct val="100000"/>
              <a:buFont typeface="Wingdings" panose="05000000000000000000" pitchFamily="2" charset="2"/>
              <a:buChar char="Ø"/>
              <a:defRPr/>
            </a:pPr>
            <a:r>
              <a:rPr lang="en-CA"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starting point is the </a:t>
            </a:r>
            <a:r>
              <a:rPr lang="en-CA"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Incident Description</a:t>
            </a:r>
            <a:r>
              <a:rPr lang="en-CA"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a:t>
            </a: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720000" lvl="1" indent="-360000" fontAlgn="auto">
              <a:lnSpc>
                <a:spcPct val="100000"/>
              </a:lnSpc>
              <a:spcBef>
                <a:spcPts val="0"/>
              </a:spcBef>
              <a:spcAft>
                <a:spcPts val="0"/>
              </a:spcAft>
              <a:buClrTx/>
              <a:buFont typeface="Wingdings" panose="05000000000000000000" pitchFamily="2" charset="2"/>
              <a:buChar char="Ø"/>
              <a:defRPr/>
            </a:pPr>
            <a:r>
              <a:rPr lang="en-US" altLang="en-US" sz="2000" b="0" dirty="0">
                <a:solidFill>
                  <a:prstClr val="black">
                    <a:lumMod val="85000"/>
                    <a:lumOff val="15000"/>
                  </a:prstClr>
                </a:solidFill>
                <a:latin typeface="Arial" panose="020B0604020202020204" pitchFamily="34" charset="0"/>
                <a:ea typeface="ＭＳ Ｐゴシック" panose="020B0600070205080204" pitchFamily="34" charset="-128"/>
              </a:rPr>
              <a:t>The RCA reliably describes the </a:t>
            </a:r>
            <a:r>
              <a:rPr lang="en-US" altLang="en-US" sz="2000" dirty="0">
                <a:solidFill>
                  <a:prstClr val="black">
                    <a:lumMod val="85000"/>
                    <a:lumOff val="15000"/>
                  </a:prstClr>
                </a:solidFill>
                <a:latin typeface="Arial" panose="020B0604020202020204" pitchFamily="34" charset="0"/>
                <a:ea typeface="ＭＳ Ｐゴシック" panose="020B0600070205080204" pitchFamily="34" charset="-128"/>
              </a:rPr>
              <a:t>sequence of events </a:t>
            </a:r>
            <a:r>
              <a:rPr lang="en-US" altLang="en-US" sz="2000" b="0" dirty="0">
                <a:solidFill>
                  <a:prstClr val="black">
                    <a:lumMod val="85000"/>
                    <a:lumOff val="15000"/>
                  </a:prstClr>
                </a:solidFill>
                <a:latin typeface="Arial" panose="020B0604020202020204" pitchFamily="34" charset="0"/>
                <a:ea typeface="ＭＳ Ｐゴシック" panose="020B0600070205080204" pitchFamily="34" charset="-128"/>
              </a:rPr>
              <a:t>leading up to the incident – </a:t>
            </a:r>
            <a:r>
              <a:rPr lang="en-US" altLang="en-US" sz="2000" dirty="0">
                <a:solidFill>
                  <a:prstClr val="black">
                    <a:lumMod val="85000"/>
                    <a:lumOff val="15000"/>
                  </a:prstClr>
                </a:solidFill>
                <a:latin typeface="Arial" panose="020B0604020202020204" pitchFamily="34" charset="0"/>
                <a:ea typeface="ＭＳ Ｐゴシック" panose="020B0600070205080204" pitchFamily="34" charset="-128"/>
              </a:rPr>
              <a:t>in detail</a:t>
            </a:r>
            <a:r>
              <a:rPr lang="en-US" altLang="en-US" sz="2000" b="0" dirty="0">
                <a:solidFill>
                  <a:prstClr val="black">
                    <a:lumMod val="85000"/>
                    <a:lumOff val="15000"/>
                  </a:prstClr>
                </a:solidFill>
                <a:latin typeface="Arial" panose="020B0604020202020204" pitchFamily="34" charset="0"/>
                <a:ea typeface="ＭＳ Ｐゴシック" panose="020B0600070205080204" pitchFamily="34" charset="-128"/>
              </a:rPr>
              <a:t>. </a:t>
            </a:r>
            <a:endParaRPr lang="en-US" altLang="en-US" sz="2000" b="0" dirty="0" smtClean="0">
              <a:solidFill>
                <a:prstClr val="black">
                  <a:lumMod val="85000"/>
                  <a:lumOff val="15000"/>
                </a:prstClr>
              </a:solidFill>
              <a:latin typeface="Arial" panose="020B0604020202020204" pitchFamily="34" charset="0"/>
              <a:ea typeface="ＭＳ Ｐゴシック" panose="020B0600070205080204" pitchFamily="34" charset="-128"/>
            </a:endParaRPr>
          </a:p>
          <a:p>
            <a:pPr marL="720000" lvl="1" indent="-360000" fontAlgn="auto">
              <a:lnSpc>
                <a:spcPct val="100000"/>
              </a:lnSpc>
              <a:spcBef>
                <a:spcPts val="0"/>
              </a:spcBef>
              <a:spcAft>
                <a:spcPts val="0"/>
              </a:spcAft>
              <a:buClrTx/>
              <a:buFont typeface="Wingdings" panose="05000000000000000000" pitchFamily="2" charset="2"/>
              <a:buChar char="Ø"/>
              <a:defRPr/>
            </a:pPr>
            <a:endParaRPr lang="en-US" altLang="en-US" sz="2000" b="0" dirty="0">
              <a:solidFill>
                <a:prstClr val="black">
                  <a:lumMod val="85000"/>
                  <a:lumOff val="15000"/>
                </a:prstClr>
              </a:solidFill>
              <a:latin typeface="Arial" panose="020B0604020202020204" pitchFamily="34" charset="0"/>
              <a:ea typeface="ＭＳ Ｐゴシック" panose="020B0600070205080204" pitchFamily="34" charset="-128"/>
            </a:endParaRPr>
          </a:p>
          <a:p>
            <a:pPr marL="36000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product or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outcome</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of the RCA Work Process is an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RCA Chart</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a:p>
            <a:pPr marL="720000" lvl="1" indent="-360000" fontAlgn="auto">
              <a:lnSpc>
                <a:spcPct val="100000"/>
              </a:lnSpc>
              <a:spcBef>
                <a:spcPts val="0"/>
              </a:spcBef>
              <a:spcAft>
                <a:spcPts val="0"/>
              </a:spcAft>
              <a:buClrTx/>
              <a:buFont typeface="Wingdings" panose="05000000000000000000" pitchFamily="2" charset="2"/>
              <a:buChar char="Ø"/>
              <a:defRPr/>
            </a:pPr>
            <a:endParaRPr lang="en-US" altLang="en-US" sz="2000" b="0" dirty="0">
              <a:solidFill>
                <a:prstClr val="black">
                  <a:lumMod val="85000"/>
                  <a:lumOff val="15000"/>
                </a:prstClr>
              </a:solidFill>
              <a:latin typeface="Arial" panose="020B0604020202020204" pitchFamily="34" charset="0"/>
              <a:ea typeface="ＭＳ Ｐゴシック" panose="020B0600070205080204" pitchFamily="34" charset="-128"/>
            </a:endParaRPr>
          </a:p>
          <a:p>
            <a:pPr marL="457200" lvl="0" indent="-457200" fontAlgn="auto">
              <a:lnSpc>
                <a:spcPct val="100000"/>
              </a:lnSpc>
              <a:spcBef>
                <a:spcPts val="0"/>
              </a:spcBef>
              <a:spcAft>
                <a:spcPts val="0"/>
              </a:spcAft>
              <a:buClr>
                <a:srgbClr val="E7E6E6"/>
              </a:buClr>
              <a:buNone/>
              <a:defRPr/>
            </a:pPr>
            <a:r>
              <a:rPr lang="en-US" altLang="en-US" b="0" dirty="0" smtClean="0">
                <a:solidFill>
                  <a:prstClr val="black">
                    <a:lumMod val="85000"/>
                    <a:lumOff val="15000"/>
                  </a:prstClr>
                </a:solidFill>
                <a:latin typeface="Arial" panose="020B0604020202020204" pitchFamily="34" charset="0"/>
                <a:ea typeface="ＭＳ Ｐゴシック" panose="020B0600070205080204" pitchFamily="34" charset="-128"/>
              </a:rPr>
              <a:t>Some </a:t>
            </a:r>
            <a:r>
              <a:rPr lang="en-US" altLang="en-US" b="0" dirty="0">
                <a:solidFill>
                  <a:prstClr val="black">
                    <a:lumMod val="85000"/>
                    <a:lumOff val="15000"/>
                  </a:prstClr>
                </a:solidFill>
                <a:latin typeface="Arial" panose="020B0604020202020204" pitchFamily="34" charset="0"/>
                <a:ea typeface="ＭＳ Ｐゴシック" panose="020B0600070205080204" pitchFamily="34" charset="-128"/>
              </a:rPr>
              <a:t>benefits:</a:t>
            </a:r>
          </a:p>
          <a:p>
            <a:pPr marL="360000" lvl="0" indent="-360000" fontAlgn="auto">
              <a:lnSpc>
                <a:spcPct val="100000"/>
              </a:lnSpc>
              <a:spcBef>
                <a:spcPts val="0"/>
              </a:spcBef>
              <a:spcAft>
                <a:spcPts val="0"/>
              </a:spcAft>
              <a:buClrTx/>
              <a:buFont typeface="Wingdings" panose="05000000000000000000" pitchFamily="2" charset="2"/>
              <a:buChar char="Ø"/>
              <a:defRPr/>
            </a:pPr>
            <a:r>
              <a:rPr lang="en-US" altLang="en-US" b="0" dirty="0">
                <a:solidFill>
                  <a:prstClr val="black">
                    <a:lumMod val="85000"/>
                    <a:lumOff val="15000"/>
                  </a:prstClr>
                </a:solidFill>
                <a:latin typeface="Arial" panose="020B0604020202020204" pitchFamily="34" charset="0"/>
                <a:ea typeface="ＭＳ Ｐゴシック" panose="020B0600070205080204" pitchFamily="34" charset="-128"/>
              </a:rPr>
              <a:t>Focuses on one specific cause at a time. </a:t>
            </a:r>
          </a:p>
          <a:p>
            <a:pPr marL="360000" lvl="0" indent="-360000" fontAlgn="auto">
              <a:lnSpc>
                <a:spcPct val="100000"/>
              </a:lnSpc>
              <a:spcBef>
                <a:spcPts val="0"/>
              </a:spcBef>
              <a:spcAft>
                <a:spcPts val="0"/>
              </a:spcAft>
              <a:buClrTx/>
              <a:buFont typeface="Wingdings" panose="05000000000000000000" pitchFamily="2" charset="2"/>
              <a:buChar char="Ø"/>
              <a:defRPr/>
            </a:pPr>
            <a:r>
              <a:rPr lang="en-US" altLang="en-US" b="0" dirty="0">
                <a:solidFill>
                  <a:prstClr val="black">
                    <a:lumMod val="85000"/>
                    <a:lumOff val="15000"/>
                  </a:prstClr>
                </a:solidFill>
                <a:latin typeface="Arial" panose="020B0604020202020204" pitchFamily="34" charset="0"/>
                <a:ea typeface="ＭＳ Ｐゴシック" panose="020B0600070205080204" pitchFamily="34" charset="-128"/>
              </a:rPr>
              <a:t>Identifies all causes through brainstorm thinking, supported by evidence in actual loss incidents under investigation</a:t>
            </a:r>
          </a:p>
          <a:p>
            <a:pPr marL="360000" lvl="0" indent="-360000" fontAlgn="auto">
              <a:lnSpc>
                <a:spcPct val="100000"/>
              </a:lnSpc>
              <a:spcBef>
                <a:spcPts val="0"/>
              </a:spcBef>
              <a:spcAft>
                <a:spcPts val="0"/>
              </a:spcAft>
              <a:buClrTx/>
              <a:buFont typeface="Wingdings" panose="05000000000000000000" pitchFamily="2" charset="2"/>
              <a:buChar char="Ø"/>
              <a:defRPr/>
            </a:pPr>
            <a:r>
              <a:rPr lang="en-US" altLang="en-US" b="0" dirty="0">
                <a:solidFill>
                  <a:prstClr val="black">
                    <a:lumMod val="85000"/>
                    <a:lumOff val="15000"/>
                  </a:prstClr>
                </a:solidFill>
                <a:latin typeface="Arial" panose="020B0604020202020204" pitchFamily="34" charset="0"/>
                <a:ea typeface="ＭＳ Ｐゴシック" panose="020B0600070205080204" pitchFamily="34" charset="-128"/>
              </a:rPr>
              <a:t>Provides a visual representation of the incident in a clear and logical manner.</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Root Cause Analysis Work Process: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18</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3646605402"/>
      </p:ext>
    </p:extLst>
  </p:cSld>
  <p:clrMapOvr>
    <a:masterClrMapping/>
  </p:clrMapOvr>
  <p:transition>
    <p:fade/>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100000"/>
              </a:lnSpc>
              <a:spcBef>
                <a:spcPts val="0"/>
              </a:spcBef>
              <a:buClr>
                <a:srgbClr val="000000"/>
              </a:buClr>
              <a:buSzPct val="100000"/>
              <a:buNone/>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How to Construct a Root Cause </a:t>
            </a: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Analysis – the Steps:</a:t>
            </a:r>
            <a:endPar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indent="0" eaLnBrk="0" hangingPunct="0">
              <a:lnSpc>
                <a:spcPct val="100000"/>
              </a:lnSpc>
              <a:spcBef>
                <a:spcPts val="0"/>
              </a:spcBef>
              <a:buClrTx/>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57200" indent="-457200" eaLnBrk="0" hangingPunct="0">
              <a:lnSpc>
                <a:spcPct val="100000"/>
              </a:lnSpc>
              <a:spcBef>
                <a:spcPts val="0"/>
              </a:spcBef>
              <a:spcAft>
                <a:spcPts val="600"/>
              </a:spcAft>
              <a:buClrTx/>
              <a:buSzPct val="100000"/>
              <a:buFont typeface="+mj-lt"/>
              <a:buAutoNum type="arabicParenR"/>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Define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and state the Incident Description. </a:t>
            </a:r>
          </a:p>
          <a:p>
            <a:pPr marL="457200" indent="-457200" eaLnBrk="0" hangingPunct="0">
              <a:lnSpc>
                <a:spcPct val="100000"/>
              </a:lnSpc>
              <a:spcBef>
                <a:spcPts val="0"/>
              </a:spcBef>
              <a:spcAft>
                <a:spcPts val="600"/>
              </a:spcAft>
              <a:buClrTx/>
              <a:buSzPct val="100000"/>
              <a:buFont typeface="+mj-lt"/>
              <a:buAutoNum type="arabicParenR"/>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Ask “what caused this?” i.e. “Ask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why</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57200" indent="-457200" eaLnBrk="0" hangingPunct="0">
              <a:lnSpc>
                <a:spcPct val="100000"/>
              </a:lnSpc>
              <a:spcBef>
                <a:spcPts val="0"/>
              </a:spcBef>
              <a:spcAft>
                <a:spcPts val="600"/>
              </a:spcAft>
              <a:buClrTx/>
              <a:buSzPct val="100000"/>
              <a:buFont typeface="+mj-lt"/>
              <a:buAutoNum type="arabicParen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For each subsequent cause, ask the same question, “why?” </a:t>
            </a:r>
          </a:p>
          <a:p>
            <a:pPr marL="457200" indent="-457200" eaLnBrk="0" hangingPunct="0">
              <a:lnSpc>
                <a:spcPct val="100000"/>
              </a:lnSpc>
              <a:spcBef>
                <a:spcPts val="0"/>
              </a:spcBef>
              <a:spcAft>
                <a:spcPts val="600"/>
              </a:spcAft>
              <a:buClrTx/>
              <a:buSzPct val="100000"/>
              <a:buFont typeface="+mj-lt"/>
              <a:buAutoNum type="arabicParen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Immediate causes at the initial levels, followed by basic causes.</a:t>
            </a:r>
          </a:p>
          <a:p>
            <a:pPr marL="457200" indent="-457200" eaLnBrk="0" hangingPunct="0">
              <a:lnSpc>
                <a:spcPct val="100000"/>
              </a:lnSpc>
              <a:spcBef>
                <a:spcPts val="0"/>
              </a:spcBef>
              <a:spcAft>
                <a:spcPts val="600"/>
              </a:spcAft>
              <a:buClrTx/>
              <a:buSzPct val="100000"/>
              <a:buFont typeface="+mj-lt"/>
              <a:buAutoNum type="arabicParen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Use “AND” and “OR” gates to logically connect causes. </a:t>
            </a:r>
          </a:p>
          <a:p>
            <a:pPr marL="457200" indent="-457200" eaLnBrk="0" hangingPunct="0">
              <a:lnSpc>
                <a:spcPct val="100000"/>
              </a:lnSpc>
              <a:spcBef>
                <a:spcPts val="0"/>
              </a:spcBef>
              <a:spcAft>
                <a:spcPts val="600"/>
              </a:spcAft>
              <a:buClrTx/>
              <a:buSzPct val="100000"/>
              <a:buFont typeface="+mj-lt"/>
              <a:buAutoNum type="arabicParen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Continue to drill down to ultimately discover the latent causes. </a:t>
            </a:r>
          </a:p>
          <a:p>
            <a:pPr marL="457200" indent="-457200" eaLnBrk="0" hangingPunct="0">
              <a:lnSpc>
                <a:spcPct val="100000"/>
              </a:lnSpc>
              <a:spcBef>
                <a:spcPts val="0"/>
              </a:spcBef>
              <a:spcAft>
                <a:spcPts val="600"/>
              </a:spcAft>
              <a:buClrTx/>
              <a:buSzPct val="100000"/>
              <a:buFont typeface="+mj-lt"/>
              <a:buAutoNum type="arabicParen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Build sound logic in your RCA Chart - avoid “logic leaps”. </a:t>
            </a:r>
            <a:b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b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Use the narrative technique: “</a:t>
            </a:r>
            <a:r>
              <a:rPr lang="en-US" altLang="en-US"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This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 was caused by </a:t>
            </a:r>
            <a:r>
              <a:rPr lang="en-US" altLang="en-US"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this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 . </a:t>
            </a:r>
            <a:r>
              <a:rPr lang="en-US" altLang="en-US"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This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 was caused by </a:t>
            </a:r>
            <a:r>
              <a:rPr lang="en-US" altLang="en-US"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this</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 … .” </a:t>
            </a: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Root Cause Analysis Work Process: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19</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27244023"/>
      </p:ext>
    </p:extLst>
  </p:cSld>
  <p:clrMapOvr>
    <a:masterClrMapping/>
  </p:clrMapOvr>
  <p:transition>
    <p:fade/>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Nomenclature and Symbols for Root Cause Analysis: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20</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
        <p:nvSpPr>
          <p:cNvPr id="6" name="Rectangle 3"/>
          <p:cNvSpPr txBox="1">
            <a:spLocks noChangeArrowheads="1"/>
          </p:cNvSpPr>
          <p:nvPr/>
        </p:nvSpPr>
        <p:spPr>
          <a:xfrm>
            <a:off x="1553142" y="960540"/>
            <a:ext cx="7266858" cy="505925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fontAlgn="auto">
              <a:lnSpc>
                <a:spcPct val="100000"/>
              </a:lnSpc>
              <a:spcBef>
                <a:spcPts val="0"/>
              </a:spcBef>
              <a:spcAft>
                <a:spcPts val="0"/>
              </a:spcAft>
              <a:buClr>
                <a:schemeClr val="tx1"/>
              </a:buClr>
              <a:buFont typeface="Arial" panose="020B0604020202020204" pitchFamily="34" charset="0"/>
              <a:buNone/>
            </a:pPr>
            <a:r>
              <a:rPr lang="en-US" altLang="en-US" sz="1800" b="1" dirty="0" smtClean="0">
                <a:solidFill>
                  <a:srgbClr val="000000"/>
                </a:solidFill>
                <a:latin typeface="Arial" panose="020B0604020202020204" pitchFamily="34" charset="0"/>
                <a:ea typeface="ＭＳ Ｐゴシック" panose="020B0600070205080204" pitchFamily="34" charset="-128"/>
              </a:rPr>
              <a:t>How practices (activities, actions, behaviours) and conditions (hazards) are viewed in order to cause an event:</a:t>
            </a:r>
          </a:p>
          <a:p>
            <a:pPr marL="0" indent="0" fontAlgn="auto">
              <a:lnSpc>
                <a:spcPct val="100000"/>
              </a:lnSpc>
              <a:spcBef>
                <a:spcPts val="0"/>
              </a:spcBef>
              <a:spcAft>
                <a:spcPts val="0"/>
              </a:spcAft>
              <a:buClr>
                <a:schemeClr val="tx1"/>
              </a:buClr>
              <a:buFont typeface="Wingdings" panose="05000000000000000000" pitchFamily="2" charset="2"/>
              <a:buNone/>
            </a:pPr>
            <a:endParaRPr lang="en-US" altLang="en-US" sz="1800" b="1" dirty="0" smtClean="0">
              <a:solidFill>
                <a:srgbClr val="000000"/>
              </a:solidFill>
              <a:latin typeface="Arial" panose="020B0604020202020204" pitchFamily="34" charset="0"/>
              <a:ea typeface="ＭＳ Ｐゴシック" panose="020B0600070205080204" pitchFamily="34" charset="-128"/>
            </a:endParaRPr>
          </a:p>
          <a:p>
            <a:pPr marL="0" indent="0" fontAlgn="auto">
              <a:lnSpc>
                <a:spcPct val="100000"/>
              </a:lnSpc>
              <a:spcBef>
                <a:spcPts val="0"/>
              </a:spcBef>
              <a:spcAft>
                <a:spcPts val="0"/>
              </a:spcAft>
              <a:buClr>
                <a:schemeClr val="tx1"/>
              </a:buClr>
              <a:buFont typeface="Wingdings" panose="05000000000000000000" pitchFamily="2" charset="2"/>
              <a:buNone/>
            </a:pPr>
            <a:r>
              <a:rPr lang="en-US" altLang="en-US" sz="1800" b="1" dirty="0" smtClean="0">
                <a:solidFill>
                  <a:srgbClr val="000000"/>
                </a:solidFill>
                <a:latin typeface="Arial" panose="020B0604020202020204" pitchFamily="34" charset="0"/>
                <a:ea typeface="ＭＳ Ｐゴシック" panose="020B0600070205080204" pitchFamily="34" charset="-128"/>
              </a:rPr>
              <a:t>“AND” Gate: </a:t>
            </a:r>
          </a:p>
          <a:p>
            <a:pPr fontAlgn="auto">
              <a:lnSpc>
                <a:spcPct val="100000"/>
              </a:lnSpc>
              <a:spcBef>
                <a:spcPts val="0"/>
              </a:spcBef>
              <a:spcAft>
                <a:spcPts val="0"/>
              </a:spcAft>
              <a:buClr>
                <a:srgbClr val="000000"/>
              </a:buClr>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rPr>
              <a:t>One possibility is a combination of practices must happen </a:t>
            </a:r>
            <a:br>
              <a:rPr lang="en-US" altLang="en-US" sz="1800" b="0" dirty="0" smtClean="0">
                <a:solidFill>
                  <a:srgbClr val="000000"/>
                </a:solidFill>
                <a:latin typeface="Arial" panose="020B0604020202020204" pitchFamily="34" charset="0"/>
                <a:ea typeface="ＭＳ Ｐゴシック" panose="020B0600070205080204" pitchFamily="34" charset="-128"/>
              </a:rPr>
            </a:br>
            <a:r>
              <a:rPr lang="en-US" altLang="en-US" sz="1800" b="0" dirty="0" smtClean="0">
                <a:solidFill>
                  <a:srgbClr val="000000"/>
                </a:solidFill>
                <a:latin typeface="Arial" panose="020B0604020202020204" pitchFamily="34" charset="0"/>
                <a:ea typeface="ＭＳ Ｐゴシック" panose="020B0600070205080204" pitchFamily="34" charset="-128"/>
              </a:rPr>
              <a:t>i.e. Practice A AND Practice B</a:t>
            </a:r>
          </a:p>
          <a:p>
            <a:pPr fontAlgn="auto">
              <a:lnSpc>
                <a:spcPct val="100000"/>
              </a:lnSpc>
              <a:spcBef>
                <a:spcPts val="0"/>
              </a:spcBef>
              <a:spcAft>
                <a:spcPts val="0"/>
              </a:spcAft>
              <a:buClr>
                <a:srgbClr val="000000"/>
              </a:buClr>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rPr>
              <a:t>Another possibility is a combination of conditions must be present</a:t>
            </a:r>
            <a:br>
              <a:rPr lang="en-US" altLang="en-US" sz="1800" b="0" dirty="0" smtClean="0">
                <a:solidFill>
                  <a:srgbClr val="000000"/>
                </a:solidFill>
                <a:latin typeface="Arial" panose="020B0604020202020204" pitchFamily="34" charset="0"/>
                <a:ea typeface="ＭＳ Ｐゴシック" panose="020B0600070205080204" pitchFamily="34" charset="-128"/>
              </a:rPr>
            </a:br>
            <a:r>
              <a:rPr lang="en-US" altLang="en-US" sz="1800" b="0" dirty="0" smtClean="0">
                <a:solidFill>
                  <a:srgbClr val="000000"/>
                </a:solidFill>
                <a:latin typeface="Arial" panose="020B0604020202020204" pitchFamily="34" charset="0"/>
                <a:ea typeface="ＭＳ Ｐゴシック" panose="020B0600070205080204" pitchFamily="34" charset="-128"/>
              </a:rPr>
              <a:t>i.e. Condition A AND Condition B</a:t>
            </a:r>
          </a:p>
          <a:p>
            <a:pPr fontAlgn="auto">
              <a:lnSpc>
                <a:spcPct val="100000"/>
              </a:lnSpc>
              <a:spcBef>
                <a:spcPts val="0"/>
              </a:spcBef>
              <a:spcAft>
                <a:spcPts val="0"/>
              </a:spcAft>
              <a:buClr>
                <a:srgbClr val="000000"/>
              </a:buClr>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rPr>
              <a:t>And another possibility is a combination of practices must happen and conditions must be present   i.e. Practice A AND Condition B.</a:t>
            </a:r>
          </a:p>
          <a:p>
            <a:pPr fontAlgn="auto">
              <a:lnSpc>
                <a:spcPct val="100000"/>
              </a:lnSpc>
              <a:spcBef>
                <a:spcPts val="0"/>
              </a:spcBef>
              <a:spcAft>
                <a:spcPts val="0"/>
              </a:spcAft>
              <a:buClr>
                <a:schemeClr val="tx1"/>
              </a:buClr>
              <a:buFont typeface="Wingdings" panose="05000000000000000000" pitchFamily="2" charset="2"/>
              <a:buNone/>
            </a:pPr>
            <a:endParaRPr lang="en-US" altLang="en-US" sz="1800" b="0" dirty="0" smtClean="0">
              <a:solidFill>
                <a:srgbClr val="000000"/>
              </a:solidFill>
              <a:latin typeface="Arial" panose="020B0604020202020204" pitchFamily="34" charset="0"/>
              <a:ea typeface="ＭＳ Ｐゴシック" panose="020B0600070205080204" pitchFamily="34" charset="-128"/>
            </a:endParaRPr>
          </a:p>
          <a:p>
            <a:pPr marL="0" indent="0" fontAlgn="auto">
              <a:lnSpc>
                <a:spcPct val="100000"/>
              </a:lnSpc>
              <a:spcBef>
                <a:spcPts val="0"/>
              </a:spcBef>
              <a:spcAft>
                <a:spcPts val="0"/>
              </a:spcAft>
              <a:buClr>
                <a:schemeClr val="tx1"/>
              </a:buClr>
              <a:buFont typeface="Wingdings" panose="05000000000000000000" pitchFamily="2" charset="2"/>
              <a:buNone/>
            </a:pPr>
            <a:r>
              <a:rPr lang="en-US" altLang="en-US" sz="1800" b="1" dirty="0" smtClean="0">
                <a:solidFill>
                  <a:srgbClr val="000000"/>
                </a:solidFill>
                <a:latin typeface="Arial" panose="020B0604020202020204" pitchFamily="34" charset="0"/>
                <a:ea typeface="ＭＳ Ｐゴシック" panose="020B0600070205080204" pitchFamily="34" charset="-128"/>
              </a:rPr>
              <a:t>“OR” Gate:</a:t>
            </a:r>
            <a:endParaRPr lang="en-US" altLang="en-US" sz="1800" b="0" dirty="0" smtClean="0">
              <a:solidFill>
                <a:srgbClr val="000000"/>
              </a:solidFill>
              <a:latin typeface="Arial" panose="020B0604020202020204" pitchFamily="34" charset="0"/>
              <a:ea typeface="ＭＳ Ｐゴシック" panose="020B0600070205080204" pitchFamily="34" charset="-128"/>
            </a:endParaRPr>
          </a:p>
          <a:p>
            <a:pPr fontAlgn="auto">
              <a:lnSpc>
                <a:spcPct val="100000"/>
              </a:lnSpc>
              <a:spcBef>
                <a:spcPts val="0"/>
              </a:spcBef>
              <a:spcAft>
                <a:spcPts val="0"/>
              </a:spcAft>
              <a:buClr>
                <a:srgbClr val="000000"/>
              </a:buClr>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rPr>
              <a:t>One of several practice must happen </a:t>
            </a:r>
            <a:br>
              <a:rPr lang="en-US" altLang="en-US" sz="1800" b="0" dirty="0" smtClean="0">
                <a:solidFill>
                  <a:srgbClr val="000000"/>
                </a:solidFill>
                <a:latin typeface="Arial" panose="020B0604020202020204" pitchFamily="34" charset="0"/>
                <a:ea typeface="ＭＳ Ｐゴシック" panose="020B0600070205080204" pitchFamily="34" charset="-128"/>
              </a:rPr>
            </a:br>
            <a:r>
              <a:rPr lang="en-US" altLang="en-US" sz="1800" b="0" dirty="0" smtClean="0">
                <a:solidFill>
                  <a:srgbClr val="000000"/>
                </a:solidFill>
                <a:latin typeface="Arial" panose="020B0604020202020204" pitchFamily="34" charset="0"/>
                <a:ea typeface="ＭＳ Ｐゴシック" panose="020B0600070205080204" pitchFamily="34" charset="-128"/>
              </a:rPr>
              <a:t>i.e. Practice A OR Practice B</a:t>
            </a:r>
          </a:p>
          <a:p>
            <a:pPr fontAlgn="auto">
              <a:lnSpc>
                <a:spcPct val="100000"/>
              </a:lnSpc>
              <a:spcBef>
                <a:spcPts val="0"/>
              </a:spcBef>
              <a:spcAft>
                <a:spcPts val="0"/>
              </a:spcAft>
              <a:buClr>
                <a:srgbClr val="000000"/>
              </a:buClr>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rPr>
              <a:t>One of several conditions must be present </a:t>
            </a:r>
            <a:br>
              <a:rPr lang="en-US" altLang="en-US" sz="1800" b="0" dirty="0" smtClean="0">
                <a:solidFill>
                  <a:srgbClr val="000000"/>
                </a:solidFill>
                <a:latin typeface="Arial" panose="020B0604020202020204" pitchFamily="34" charset="0"/>
                <a:ea typeface="ＭＳ Ｐゴシック" panose="020B0600070205080204" pitchFamily="34" charset="-128"/>
              </a:rPr>
            </a:br>
            <a:r>
              <a:rPr lang="en-US" altLang="en-US" sz="1800" b="0" dirty="0" smtClean="0">
                <a:solidFill>
                  <a:srgbClr val="000000"/>
                </a:solidFill>
                <a:latin typeface="Arial" panose="020B0604020202020204" pitchFamily="34" charset="0"/>
                <a:ea typeface="ＭＳ Ｐゴシック" panose="020B0600070205080204" pitchFamily="34" charset="-128"/>
              </a:rPr>
              <a:t>i.e. Condition A OR Condition B</a:t>
            </a:r>
          </a:p>
          <a:p>
            <a:pPr fontAlgn="auto">
              <a:lnSpc>
                <a:spcPct val="100000"/>
              </a:lnSpc>
              <a:spcBef>
                <a:spcPts val="0"/>
              </a:spcBef>
              <a:spcAft>
                <a:spcPts val="0"/>
              </a:spcAft>
              <a:buClr>
                <a:srgbClr val="000000"/>
              </a:buClr>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rPr>
              <a:t>One of several practices must happen or conditions must be present i.e. Practice A OR Condition B.</a:t>
            </a:r>
            <a:endParaRPr lang="en-US" altLang="en-US" sz="1800" b="0" dirty="0">
              <a:solidFill>
                <a:srgbClr val="000000"/>
              </a:solidFill>
              <a:latin typeface="Arial" panose="020B0604020202020204" pitchFamily="34" charset="0"/>
              <a:ea typeface="ＭＳ Ｐゴシック" panose="020B0600070205080204" pitchFamily="34" charset="-128"/>
            </a:endParaRPr>
          </a:p>
        </p:txBody>
      </p:sp>
      <p:grpSp>
        <p:nvGrpSpPr>
          <p:cNvPr id="7" name="Group 2"/>
          <p:cNvGrpSpPr>
            <a:grpSpLocks/>
          </p:cNvGrpSpPr>
          <p:nvPr/>
        </p:nvGrpSpPr>
        <p:grpSpPr bwMode="auto">
          <a:xfrm>
            <a:off x="396000" y="1676400"/>
            <a:ext cx="1080000" cy="1981200"/>
            <a:chOff x="7467600" y="2133600"/>
            <a:chExt cx="1066800" cy="1981200"/>
          </a:xfrm>
        </p:grpSpPr>
        <p:sp>
          <p:nvSpPr>
            <p:cNvPr id="10" name="AutoShape 10"/>
            <p:cNvSpPr>
              <a:spLocks noChangeArrowheads="1"/>
            </p:cNvSpPr>
            <p:nvPr/>
          </p:nvSpPr>
          <p:spPr bwMode="auto">
            <a:xfrm rot="-5400000">
              <a:off x="7677150" y="2762250"/>
              <a:ext cx="647700" cy="609600"/>
            </a:xfrm>
            <a:prstGeom prst="flowChartDelay">
              <a:avLst/>
            </a:prstGeom>
            <a:solidFill>
              <a:srgbClr val="FFFFFF"/>
            </a:solidFill>
            <a:ln w="9525">
              <a:solidFill>
                <a:srgbClr val="000000"/>
              </a:solidFill>
              <a:miter lim="800000"/>
              <a:headEnd/>
              <a:tailEnd/>
            </a:ln>
          </p:spPr>
          <p:txBody>
            <a:bodyPr vert="eaVert"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fontAlgn="auto">
                <a:spcBef>
                  <a:spcPct val="0"/>
                </a:spcBef>
                <a:spcAft>
                  <a:spcPts val="0"/>
                </a:spcAft>
                <a:buClrTx/>
                <a:buSzTx/>
                <a:buFontTx/>
                <a:buNone/>
                <a:defRPr/>
              </a:pPr>
              <a:r>
                <a:rPr lang="en-US" altLang="en-US" sz="1600" b="0">
                  <a:solidFill>
                    <a:srgbClr val="000000"/>
                  </a:solidFill>
                  <a:latin typeface="Arial" panose="020B0604020202020204" pitchFamily="34" charset="0"/>
                </a:rPr>
                <a:t>AND</a:t>
              </a:r>
            </a:p>
          </p:txBody>
        </p:sp>
        <p:sp>
          <p:nvSpPr>
            <p:cNvPr id="11" name="Rectangle 11"/>
            <p:cNvSpPr>
              <a:spLocks noChangeArrowheads="1"/>
            </p:cNvSpPr>
            <p:nvPr/>
          </p:nvSpPr>
          <p:spPr bwMode="auto">
            <a:xfrm>
              <a:off x="7467600" y="3657600"/>
              <a:ext cx="304800" cy="457200"/>
            </a:xfrm>
            <a:prstGeom prst="rect">
              <a:avLst/>
            </a:prstGeom>
            <a:solidFill>
              <a:srgbClr val="FFFFFF"/>
            </a:solidFill>
            <a:ln w="9525">
              <a:solidFill>
                <a:srgbClr val="000000"/>
              </a:solidFill>
              <a:miter lim="800000"/>
              <a:headEnd/>
              <a:tailEnd/>
            </a:ln>
          </p:spPr>
          <p:txBody>
            <a:bodyPr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fontAlgn="auto">
                <a:spcBef>
                  <a:spcPct val="0"/>
                </a:spcBef>
                <a:spcAft>
                  <a:spcPts val="0"/>
                </a:spcAft>
                <a:buClrTx/>
                <a:buSzTx/>
                <a:buFontTx/>
                <a:buNone/>
                <a:defRPr/>
              </a:pPr>
              <a:r>
                <a:rPr lang="en-US" altLang="en-US" sz="2000" b="0">
                  <a:solidFill>
                    <a:srgbClr val="000000"/>
                  </a:solidFill>
                  <a:latin typeface="Arial" panose="020B0604020202020204" pitchFamily="34" charset="0"/>
                </a:rPr>
                <a:t>A</a:t>
              </a:r>
            </a:p>
          </p:txBody>
        </p:sp>
        <p:sp>
          <p:nvSpPr>
            <p:cNvPr id="14" name="Rectangle 12"/>
            <p:cNvSpPr>
              <a:spLocks noChangeArrowheads="1"/>
            </p:cNvSpPr>
            <p:nvPr/>
          </p:nvSpPr>
          <p:spPr bwMode="auto">
            <a:xfrm>
              <a:off x="8229600" y="3657600"/>
              <a:ext cx="304800" cy="457200"/>
            </a:xfrm>
            <a:prstGeom prst="rect">
              <a:avLst/>
            </a:prstGeom>
            <a:solidFill>
              <a:srgbClr val="FFFFFF"/>
            </a:solidFill>
            <a:ln w="9525">
              <a:solidFill>
                <a:srgbClr val="000000"/>
              </a:solidFill>
              <a:miter lim="800000"/>
              <a:headEnd/>
              <a:tailEnd/>
            </a:ln>
          </p:spPr>
          <p:txBody>
            <a:bodyPr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fontAlgn="auto">
                <a:spcBef>
                  <a:spcPct val="0"/>
                </a:spcBef>
                <a:spcAft>
                  <a:spcPts val="0"/>
                </a:spcAft>
                <a:buClrTx/>
                <a:buSzTx/>
                <a:buFontTx/>
                <a:buNone/>
                <a:defRPr/>
              </a:pPr>
              <a:r>
                <a:rPr lang="en-US" altLang="en-US" sz="2000" b="0">
                  <a:solidFill>
                    <a:srgbClr val="000000"/>
                  </a:solidFill>
                  <a:latin typeface="Arial" panose="020B0604020202020204" pitchFamily="34" charset="0"/>
                </a:rPr>
                <a:t>B</a:t>
              </a:r>
            </a:p>
          </p:txBody>
        </p:sp>
        <p:sp>
          <p:nvSpPr>
            <p:cNvPr id="15" name="Rectangle 13"/>
            <p:cNvSpPr>
              <a:spLocks noChangeArrowheads="1"/>
            </p:cNvSpPr>
            <p:nvPr/>
          </p:nvSpPr>
          <p:spPr bwMode="auto">
            <a:xfrm>
              <a:off x="7467600" y="2133600"/>
              <a:ext cx="1066800" cy="381000"/>
            </a:xfrm>
            <a:prstGeom prst="rect">
              <a:avLst/>
            </a:prstGeom>
            <a:solidFill>
              <a:srgbClr val="FFFFFF"/>
            </a:solidFill>
            <a:ln w="9525">
              <a:solidFill>
                <a:srgbClr val="000000"/>
              </a:solidFill>
              <a:miter lim="800000"/>
              <a:headEnd/>
              <a:tailEnd/>
            </a:ln>
          </p:spPr>
          <p:txBody>
            <a:bodyPr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fontAlgn="auto">
                <a:spcBef>
                  <a:spcPct val="0"/>
                </a:spcBef>
                <a:spcAft>
                  <a:spcPts val="0"/>
                </a:spcAft>
                <a:buClrTx/>
                <a:buSzTx/>
                <a:buFontTx/>
                <a:buNone/>
                <a:defRPr/>
              </a:pPr>
              <a:r>
                <a:rPr lang="en-US" altLang="en-US" sz="2000" b="0">
                  <a:solidFill>
                    <a:srgbClr val="000000"/>
                  </a:solidFill>
                  <a:latin typeface="Arial" panose="020B0604020202020204" pitchFamily="34" charset="0"/>
                </a:rPr>
                <a:t>Event</a:t>
              </a:r>
            </a:p>
          </p:txBody>
        </p:sp>
        <p:cxnSp>
          <p:nvCxnSpPr>
            <p:cNvPr id="16" name="AutoShape 14"/>
            <p:cNvCxnSpPr>
              <a:cxnSpLocks noChangeShapeType="1"/>
              <a:stCxn id="11" idx="0"/>
              <a:endCxn id="10" idx="1"/>
            </p:cNvCxnSpPr>
            <p:nvPr/>
          </p:nvCxnSpPr>
          <p:spPr bwMode="auto">
            <a:xfrm rot="-5400000">
              <a:off x="7677150" y="3333750"/>
              <a:ext cx="266700" cy="381000"/>
            </a:xfrm>
            <a:prstGeom prst="bentConnector3">
              <a:avLst>
                <a:gd name="adj1" fmla="val 50000"/>
              </a:avLst>
            </a:prstGeom>
            <a:noFill/>
            <a:ln w="25400">
              <a:solidFill>
                <a:srgbClr val="000000"/>
              </a:solidFill>
              <a:miter lim="800000"/>
              <a:headEnd/>
              <a:tailEnd/>
            </a:ln>
            <a:extLst>
              <a:ext uri="{909E8E84-426E-40DD-AFC4-6F175D3DCCD1}">
                <a14:hiddenFill xmlns:a14="http://schemas.microsoft.com/office/drawing/2010/main">
                  <a:noFill/>
                </a14:hiddenFill>
              </a:ext>
            </a:extLst>
          </p:spPr>
        </p:cxnSp>
        <p:cxnSp>
          <p:nvCxnSpPr>
            <p:cNvPr id="17" name="AutoShape 15"/>
            <p:cNvCxnSpPr>
              <a:cxnSpLocks noChangeShapeType="1"/>
              <a:stCxn id="10" idx="3"/>
              <a:endCxn id="15" idx="2"/>
            </p:cNvCxnSpPr>
            <p:nvPr/>
          </p:nvCxnSpPr>
          <p:spPr bwMode="auto">
            <a:xfrm rot="-5400000">
              <a:off x="7886700" y="2628900"/>
              <a:ext cx="228600" cy="0"/>
            </a:xfrm>
            <a:prstGeom prst="straightConnector1">
              <a:avLst/>
            </a:prstGeom>
            <a:noFill/>
            <a:ln w="25400">
              <a:solidFill>
                <a:srgbClr val="000000"/>
              </a:solidFill>
              <a:round/>
              <a:headEnd/>
              <a:tailEnd/>
            </a:ln>
            <a:extLst>
              <a:ext uri="{909E8E84-426E-40DD-AFC4-6F175D3DCCD1}">
                <a14:hiddenFill xmlns:a14="http://schemas.microsoft.com/office/drawing/2010/main">
                  <a:noFill/>
                </a14:hiddenFill>
              </a:ext>
            </a:extLst>
          </p:spPr>
        </p:cxnSp>
        <p:cxnSp>
          <p:nvCxnSpPr>
            <p:cNvPr id="18" name="AutoShape 16"/>
            <p:cNvCxnSpPr>
              <a:cxnSpLocks noChangeShapeType="1"/>
              <a:stCxn id="10" idx="1"/>
              <a:endCxn id="14" idx="0"/>
            </p:cNvCxnSpPr>
            <p:nvPr/>
          </p:nvCxnSpPr>
          <p:spPr bwMode="auto">
            <a:xfrm rot="16200000" flipH="1">
              <a:off x="8058150" y="3333750"/>
              <a:ext cx="266700" cy="381000"/>
            </a:xfrm>
            <a:prstGeom prst="bentConnector3">
              <a:avLst>
                <a:gd name="adj1" fmla="val 50000"/>
              </a:avLst>
            </a:prstGeom>
            <a:noFill/>
            <a:ln w="25400">
              <a:solidFill>
                <a:srgbClr val="000000"/>
              </a:solidFill>
              <a:miter lim="800000"/>
              <a:headEnd/>
              <a:tailEnd/>
            </a:ln>
            <a:extLst>
              <a:ext uri="{909E8E84-426E-40DD-AFC4-6F175D3DCCD1}">
                <a14:hiddenFill xmlns:a14="http://schemas.microsoft.com/office/drawing/2010/main">
                  <a:noFill/>
                </a14:hiddenFill>
              </a:ext>
            </a:extLst>
          </p:spPr>
        </p:cxnSp>
      </p:grpSp>
      <p:grpSp>
        <p:nvGrpSpPr>
          <p:cNvPr id="19" name="Group 1"/>
          <p:cNvGrpSpPr>
            <a:grpSpLocks/>
          </p:cNvGrpSpPr>
          <p:nvPr/>
        </p:nvGrpSpPr>
        <p:grpSpPr bwMode="auto">
          <a:xfrm>
            <a:off x="396000" y="4038600"/>
            <a:ext cx="1080000" cy="1981200"/>
            <a:chOff x="7467600" y="4343400"/>
            <a:chExt cx="1066800" cy="1981200"/>
          </a:xfrm>
        </p:grpSpPr>
        <p:sp>
          <p:nvSpPr>
            <p:cNvPr id="20" name="Rectangle 18"/>
            <p:cNvSpPr>
              <a:spLocks noChangeArrowheads="1"/>
            </p:cNvSpPr>
            <p:nvPr/>
          </p:nvSpPr>
          <p:spPr bwMode="auto">
            <a:xfrm>
              <a:off x="7467600" y="5867400"/>
              <a:ext cx="304800" cy="457200"/>
            </a:xfrm>
            <a:prstGeom prst="rect">
              <a:avLst/>
            </a:prstGeom>
            <a:solidFill>
              <a:srgbClr val="FFFFFF"/>
            </a:solidFill>
            <a:ln w="9525">
              <a:solidFill>
                <a:srgbClr val="000000"/>
              </a:solidFill>
              <a:miter lim="800000"/>
              <a:headEnd/>
              <a:tailEnd/>
            </a:ln>
          </p:spPr>
          <p:txBody>
            <a:bodyPr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fontAlgn="auto">
                <a:spcBef>
                  <a:spcPct val="0"/>
                </a:spcBef>
                <a:spcAft>
                  <a:spcPts val="0"/>
                </a:spcAft>
                <a:buClrTx/>
                <a:buSzTx/>
                <a:buFontTx/>
                <a:buNone/>
                <a:defRPr/>
              </a:pPr>
              <a:r>
                <a:rPr lang="en-US" altLang="en-US" sz="2000" b="0">
                  <a:solidFill>
                    <a:srgbClr val="000000"/>
                  </a:solidFill>
                  <a:latin typeface="Arial" panose="020B0604020202020204" pitchFamily="34" charset="0"/>
                </a:rPr>
                <a:t>A</a:t>
              </a:r>
            </a:p>
          </p:txBody>
        </p:sp>
        <p:sp>
          <p:nvSpPr>
            <p:cNvPr id="21" name="Rectangle 19"/>
            <p:cNvSpPr>
              <a:spLocks noChangeArrowheads="1"/>
            </p:cNvSpPr>
            <p:nvPr/>
          </p:nvSpPr>
          <p:spPr bwMode="auto">
            <a:xfrm>
              <a:off x="8229600" y="5867400"/>
              <a:ext cx="304800" cy="457200"/>
            </a:xfrm>
            <a:prstGeom prst="rect">
              <a:avLst/>
            </a:prstGeom>
            <a:solidFill>
              <a:srgbClr val="FFFFFF"/>
            </a:solidFill>
            <a:ln w="9525">
              <a:solidFill>
                <a:srgbClr val="000000"/>
              </a:solidFill>
              <a:miter lim="800000"/>
              <a:headEnd/>
              <a:tailEnd/>
            </a:ln>
          </p:spPr>
          <p:txBody>
            <a:bodyPr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fontAlgn="auto">
                <a:spcBef>
                  <a:spcPct val="0"/>
                </a:spcBef>
                <a:spcAft>
                  <a:spcPts val="0"/>
                </a:spcAft>
                <a:buClrTx/>
                <a:buSzTx/>
                <a:buFontTx/>
                <a:buNone/>
                <a:defRPr/>
              </a:pPr>
              <a:r>
                <a:rPr lang="en-US" altLang="en-US" sz="2000" b="0">
                  <a:solidFill>
                    <a:srgbClr val="000000"/>
                  </a:solidFill>
                  <a:latin typeface="Arial" panose="020B0604020202020204" pitchFamily="34" charset="0"/>
                </a:rPr>
                <a:t>B</a:t>
              </a:r>
            </a:p>
          </p:txBody>
        </p:sp>
        <p:sp>
          <p:nvSpPr>
            <p:cNvPr id="22" name="Rectangle 20"/>
            <p:cNvSpPr>
              <a:spLocks noChangeArrowheads="1"/>
            </p:cNvSpPr>
            <p:nvPr/>
          </p:nvSpPr>
          <p:spPr bwMode="auto">
            <a:xfrm>
              <a:off x="7467600" y="4343400"/>
              <a:ext cx="1066800" cy="381000"/>
            </a:xfrm>
            <a:prstGeom prst="rect">
              <a:avLst/>
            </a:prstGeom>
            <a:solidFill>
              <a:srgbClr val="FFFFFF"/>
            </a:solidFill>
            <a:ln w="9525">
              <a:solidFill>
                <a:srgbClr val="000000"/>
              </a:solidFill>
              <a:miter lim="800000"/>
              <a:headEnd/>
              <a:tailEnd/>
            </a:ln>
          </p:spPr>
          <p:txBody>
            <a:bodyPr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fontAlgn="auto">
                <a:spcBef>
                  <a:spcPct val="0"/>
                </a:spcBef>
                <a:spcAft>
                  <a:spcPts val="0"/>
                </a:spcAft>
                <a:buClrTx/>
                <a:buSzTx/>
                <a:buFontTx/>
                <a:buNone/>
                <a:defRPr/>
              </a:pPr>
              <a:r>
                <a:rPr lang="en-US" altLang="en-US" sz="2000" b="0">
                  <a:solidFill>
                    <a:srgbClr val="000000"/>
                  </a:solidFill>
                  <a:latin typeface="Arial" panose="020B0604020202020204" pitchFamily="34" charset="0"/>
                </a:rPr>
                <a:t>Event</a:t>
              </a:r>
            </a:p>
          </p:txBody>
        </p:sp>
        <p:cxnSp>
          <p:nvCxnSpPr>
            <p:cNvPr id="23" name="AutoShape 21"/>
            <p:cNvCxnSpPr>
              <a:cxnSpLocks noChangeShapeType="1"/>
              <a:stCxn id="20" idx="0"/>
              <a:endCxn id="22" idx="2"/>
            </p:cNvCxnSpPr>
            <p:nvPr/>
          </p:nvCxnSpPr>
          <p:spPr bwMode="auto">
            <a:xfrm rot="-5400000">
              <a:off x="7239000" y="5105400"/>
              <a:ext cx="1143000" cy="381000"/>
            </a:xfrm>
            <a:prstGeom prst="bentConnector3">
              <a:avLst>
                <a:gd name="adj1" fmla="val 22639"/>
              </a:avLst>
            </a:prstGeom>
            <a:noFill/>
            <a:ln w="25400">
              <a:solidFill>
                <a:srgbClr val="000000"/>
              </a:solidFill>
              <a:miter lim="800000"/>
              <a:headEnd/>
              <a:tailEnd/>
            </a:ln>
            <a:extLst>
              <a:ext uri="{909E8E84-426E-40DD-AFC4-6F175D3DCCD1}">
                <a14:hiddenFill xmlns:a14="http://schemas.microsoft.com/office/drawing/2010/main">
                  <a:noFill/>
                </a14:hiddenFill>
              </a:ext>
            </a:extLst>
          </p:spPr>
        </p:cxnSp>
        <p:cxnSp>
          <p:nvCxnSpPr>
            <p:cNvPr id="24" name="AutoShape 23"/>
            <p:cNvCxnSpPr>
              <a:cxnSpLocks noChangeShapeType="1"/>
              <a:stCxn id="22" idx="2"/>
              <a:endCxn id="21" idx="0"/>
            </p:cNvCxnSpPr>
            <p:nvPr/>
          </p:nvCxnSpPr>
          <p:spPr bwMode="auto">
            <a:xfrm rot="16200000" flipH="1">
              <a:off x="7620000" y="5105400"/>
              <a:ext cx="1143000" cy="381000"/>
            </a:xfrm>
            <a:prstGeom prst="bentConnector3">
              <a:avLst>
                <a:gd name="adj1" fmla="val 77356"/>
              </a:avLst>
            </a:prstGeom>
            <a:noFill/>
            <a:ln w="25400">
              <a:solidFill>
                <a:srgbClr val="000000"/>
              </a:solidFill>
              <a:miter lim="800000"/>
              <a:headEnd/>
              <a:tailEnd/>
            </a:ln>
            <a:extLst>
              <a:ext uri="{909E8E84-426E-40DD-AFC4-6F175D3DCCD1}">
                <a14:hiddenFill xmlns:a14="http://schemas.microsoft.com/office/drawing/2010/main">
                  <a:noFill/>
                </a14:hiddenFill>
              </a:ext>
            </a:extLst>
          </p:spPr>
        </p:cxnSp>
        <p:sp>
          <p:nvSpPr>
            <p:cNvPr id="25" name="AutoShape 24"/>
            <p:cNvSpPr>
              <a:spLocks noChangeArrowheads="1"/>
            </p:cNvSpPr>
            <p:nvPr/>
          </p:nvSpPr>
          <p:spPr bwMode="auto">
            <a:xfrm rot="5400000">
              <a:off x="7696200" y="4953000"/>
              <a:ext cx="609600" cy="609600"/>
            </a:xfrm>
            <a:prstGeom prst="flowChartOnlineStorage">
              <a:avLst/>
            </a:prstGeom>
            <a:solidFill>
              <a:srgbClr val="FFFFFF"/>
            </a:solidFill>
            <a:ln w="9525">
              <a:solidFill>
                <a:srgbClr val="000000"/>
              </a:solidFill>
              <a:miter lim="800000"/>
              <a:headEnd/>
              <a:tailEnd/>
            </a:ln>
          </p:spPr>
          <p:txBody>
            <a:bodyPr rot="10800000" vert="eaVert"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ctr" fontAlgn="auto">
                <a:spcBef>
                  <a:spcPct val="0"/>
                </a:spcBef>
                <a:spcAft>
                  <a:spcPts val="0"/>
                </a:spcAft>
                <a:buClrTx/>
                <a:buSzTx/>
                <a:buFontTx/>
                <a:buNone/>
                <a:defRPr/>
              </a:pPr>
              <a:r>
                <a:rPr lang="en-US" altLang="en-US" sz="1800" b="0" dirty="0">
                  <a:solidFill>
                    <a:srgbClr val="000000"/>
                  </a:solidFill>
                  <a:latin typeface="Arial" panose="020B0604020202020204" pitchFamily="34" charset="0"/>
                </a:rPr>
                <a:t>OR</a:t>
              </a:r>
            </a:p>
          </p:txBody>
        </p:sp>
      </p:grpSp>
    </p:spTree>
    <p:extLst>
      <p:ext uri="{BB962C8B-B14F-4D97-AF65-F5344CB8AC3E}">
        <p14:creationId xmlns:p14="http://schemas.microsoft.com/office/powerpoint/2010/main" val="1014666860"/>
      </p:ext>
    </p:extLst>
  </p:cSld>
  <p:clrMapOvr>
    <a:masterClrMapping/>
  </p:clrMapOvr>
  <p:transition>
    <p:fade/>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rgbClr val="000000"/>
          </a:solidFill>
          <a:ln>
            <a:solidFill>
              <a:srgbClr val="000000"/>
            </a:solidFill>
          </a:ln>
          <a:extLst/>
        </p:spPr>
        <p:txBody>
          <a:bodyPr wrap="square" anchor="ctr" anchorCtr="0">
            <a:noAutofit/>
          </a:bodyPr>
          <a:lstStyle/>
          <a:p>
            <a:pPr lvl="0">
              <a:spcBef>
                <a:spcPts val="0"/>
              </a:spcBef>
              <a:spcAft>
                <a:spcPts val="0"/>
              </a:spcAft>
              <a:defRPr/>
            </a:pPr>
            <a:r>
              <a:rPr lang="en-US" altLang="en-US" sz="24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Example: </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“AND” and “OR” Gates</a:t>
            </a:r>
          </a:p>
        </p:txBody>
      </p:sp>
      <p:sp>
        <p:nvSpPr>
          <p:cNvPr id="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21</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fontAlgn="auto">
              <a:spcBef>
                <a:spcPts val="0"/>
              </a:spcBef>
              <a:spcAft>
                <a:spcPts val="0"/>
              </a:spcAft>
              <a:buClr>
                <a:srgbClr val="000000"/>
              </a:buClr>
              <a:buSzPts val="1600"/>
              <a:defRPr/>
            </a:pPr>
            <a:r>
              <a:rPr lang="en-US" sz="1200" i="1" kern="0" dirty="0">
                <a:solidFill>
                  <a:srgbClr val="000000"/>
                </a:solidFill>
                <a:ea typeface="Times New Roman"/>
                <a:cs typeface="Arial" panose="020B0604020202020204" pitchFamily="34" charset="0"/>
                <a:sym typeface="Times New Roman"/>
              </a:rPr>
              <a:t>Chapter 4.2: C&amp;E Model &amp; Chapter 4.3: RCA of an Incident</a:t>
            </a:r>
          </a:p>
        </p:txBody>
      </p:sp>
      <p:sp>
        <p:nvSpPr>
          <p:cNvPr id="6" name="Rectangle 3"/>
          <p:cNvSpPr>
            <a:spLocks noChangeArrowheads="1"/>
          </p:cNvSpPr>
          <p:nvPr/>
        </p:nvSpPr>
        <p:spPr bwMode="auto">
          <a:xfrm>
            <a:off x="180000" y="828000"/>
            <a:ext cx="8640000" cy="5328000"/>
          </a:xfrm>
          <a:prstGeom prst="rect">
            <a:avLst/>
          </a:prstGeom>
          <a:solidFill>
            <a:schemeClr val="tx1"/>
          </a:solidFill>
          <a:ln w="9525" algn="ctr">
            <a:solidFill>
              <a:schemeClr val="tx1"/>
            </a:solidFill>
            <a:miter lim="800000"/>
            <a:headEnd/>
            <a:tailEnd/>
          </a:ln>
          <a:effectLst/>
          <a:extLst/>
        </p:spPr>
        <p:txBody>
          <a:bodyPr/>
          <a:lstStyle/>
          <a:p>
            <a:pPr lvl="0" eaLnBrk="0" hangingPunct="0">
              <a:spcBef>
                <a:spcPts val="0"/>
              </a:spcBef>
              <a:buClr>
                <a:srgbClr val="000000"/>
              </a:buClr>
              <a:buSzPct val="100000"/>
              <a:defRPr/>
            </a:pPr>
            <a:r>
              <a:rPr lang="en-US" altLang="en-US" sz="20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With this knowledge, and for our example of the mining incident:</a:t>
            </a:r>
          </a:p>
          <a:p>
            <a:pPr lvl="0" eaLnBrk="0" hangingPunct="0">
              <a:spcBef>
                <a:spcPts val="0"/>
              </a:spcBef>
              <a:buClr>
                <a:srgbClr val="000000"/>
              </a:buClr>
              <a:buSzPct val="100000"/>
              <a:defRPr/>
            </a:pPr>
            <a:endParaRPr lang="en-US" altLang="en-US" sz="20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a:p>
            <a:pPr lvl="0" eaLnBrk="0" hangingPunct="0">
              <a:spcBef>
                <a:spcPts val="0"/>
              </a:spcBef>
              <a:buClr>
                <a:srgbClr val="000000"/>
              </a:buClr>
              <a:buSzPct val="100000"/>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“You are called to a scene where a mining haul truck and a shovel have been crushed with debris from an adjacent slope. You find one individual with a serious injury. You know the slopes are being monitored, you know there are procedures for safe work near the slopes, you know it had been raining for the last week.”</a:t>
            </a:r>
          </a:p>
          <a:p>
            <a:pPr lvl="0" eaLnBrk="0" hangingPunct="0">
              <a:spcBef>
                <a:spcPts val="0"/>
              </a:spcBef>
              <a:buClr>
                <a:srgbClr val="000000"/>
              </a:buClr>
              <a:buSzPct val="100000"/>
              <a:defRPr/>
            </a:pPr>
            <a:endParaRPr lang="en-US" altLang="en-US" sz="20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a:p>
            <a:pPr lvl="0" eaLnBrk="0" hangingPunct="0">
              <a:spcBef>
                <a:spcPts val="0"/>
              </a:spcBef>
              <a:buClr>
                <a:srgbClr val="000000"/>
              </a:buClr>
              <a:buSzPct val="100000"/>
              <a:defRPr/>
            </a:pPr>
            <a:r>
              <a:rPr lang="en-US" altLang="en-US" sz="20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Think about where the ‘and’ and ‘or’ gates would apply in this case.</a:t>
            </a:r>
          </a:p>
          <a:p>
            <a:pPr lvl="0" eaLnBrk="0" hangingPunct="0">
              <a:spcBef>
                <a:spcPts val="0"/>
              </a:spcBef>
              <a:buClr>
                <a:srgbClr val="000000"/>
              </a:buClr>
              <a:buSzPct val="100000"/>
              <a:defRPr/>
            </a:pPr>
            <a:endParaRPr lang="en-US" altLang="en-US" sz="20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a:p>
            <a:pPr lvl="0" eaLnBrk="0" hangingPunct="0">
              <a:spcBef>
                <a:spcPts val="0"/>
              </a:spcBef>
              <a:buClr>
                <a:srgbClr val="000000"/>
              </a:buClr>
              <a:buSzPct val="100000"/>
              <a:defRPr/>
            </a:pPr>
            <a:r>
              <a:rPr lang="en-US" altLang="en-US" sz="20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Let’s begin with an RCA Chart of this loss incident:</a:t>
            </a:r>
          </a:p>
        </p:txBody>
      </p:sp>
    </p:spTree>
    <p:extLst>
      <p:ext uri="{BB962C8B-B14F-4D97-AF65-F5344CB8AC3E}">
        <p14:creationId xmlns:p14="http://schemas.microsoft.com/office/powerpoint/2010/main" val="2167456955"/>
      </p:ext>
    </p:extLst>
  </p:cSld>
  <p:clrMapOvr>
    <a:masterClrMapping/>
  </p:clrMapOvr>
  <p:transition>
    <p:fade/>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981199" y="304800"/>
            <a:ext cx="6400799"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 on equipment, injuring one worker &amp; damaging equipment</a:t>
            </a:r>
          </a:p>
        </p:txBody>
      </p:sp>
      <p:sp>
        <p:nvSpPr>
          <p:cNvPr id="25" name="TextBox 24"/>
          <p:cNvSpPr txBox="1"/>
          <p:nvPr/>
        </p:nvSpPr>
        <p:spPr>
          <a:xfrm>
            <a:off x="2064781" y="1445329"/>
            <a:ext cx="1497426"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a:t>
            </a:r>
          </a:p>
        </p:txBody>
      </p:sp>
      <p:sp>
        <p:nvSpPr>
          <p:cNvPr id="26" name="TextBox 25"/>
          <p:cNvSpPr txBox="1"/>
          <p:nvPr/>
        </p:nvSpPr>
        <p:spPr>
          <a:xfrm>
            <a:off x="5459084" y="1433198"/>
            <a:ext cx="2847927"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Equipment &amp; Operator Were In Exclusion Zone</a:t>
            </a:r>
          </a:p>
        </p:txBody>
      </p:sp>
      <p:sp>
        <p:nvSpPr>
          <p:cNvPr id="45" name="TextBox 44"/>
          <p:cNvSpPr txBox="1"/>
          <p:nvPr/>
        </p:nvSpPr>
        <p:spPr>
          <a:xfrm>
            <a:off x="98985" y="215160"/>
            <a:ext cx="12192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Incident &amp; Losses</a:t>
            </a:r>
          </a:p>
        </p:txBody>
      </p:sp>
      <p:cxnSp>
        <p:nvCxnSpPr>
          <p:cNvPr id="18" name="Elbow Connector 17"/>
          <p:cNvCxnSpPr>
            <a:stCxn id="4" idx="2"/>
            <a:endCxn id="25" idx="0"/>
          </p:cNvCxnSpPr>
          <p:nvPr/>
        </p:nvCxnSpPr>
        <p:spPr>
          <a:xfrm rot="5400000">
            <a:off x="3581171" y="-155099"/>
            <a:ext cx="832752" cy="2368105"/>
          </a:xfrm>
          <a:prstGeom prst="bentConnector3">
            <a:avLst>
              <a:gd name="adj1" fmla="val 633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p:cNvCxnSpPr>
            <a:stCxn id="4" idx="2"/>
            <a:endCxn id="77" idx="0"/>
          </p:cNvCxnSpPr>
          <p:nvPr/>
        </p:nvCxnSpPr>
        <p:spPr>
          <a:xfrm rot="16200000" flipH="1">
            <a:off x="5661947" y="132229"/>
            <a:ext cx="762361" cy="1723056"/>
          </a:xfrm>
          <a:prstGeom prst="bentConnector3">
            <a:avLst>
              <a:gd name="adj1" fmla="val 6893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Flowchart: Delay 7"/>
          <p:cNvSpPr/>
          <p:nvPr/>
        </p:nvSpPr>
        <p:spPr>
          <a:xfrm rot="16200000">
            <a:off x="5047282" y="763888"/>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48" name="Rounded Rectangle 47"/>
          <p:cNvSpPr/>
          <p:nvPr/>
        </p:nvSpPr>
        <p:spPr>
          <a:xfrm>
            <a:off x="4909507" y="625034"/>
            <a:ext cx="512619" cy="595904"/>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TextBox 75"/>
          <p:cNvSpPr txBox="1"/>
          <p:nvPr/>
        </p:nvSpPr>
        <p:spPr>
          <a:xfrm>
            <a:off x="1872000" y="4680000"/>
            <a:ext cx="5400000" cy="1369192"/>
          </a:xfrm>
          <a:prstGeom prst="roundRect">
            <a:avLst/>
          </a:prstGeom>
          <a:noFill/>
          <a:ln w="57150">
            <a:solidFill>
              <a:srgbClr val="0000FF"/>
            </a:solidFill>
            <a:prstDash val="solid"/>
          </a:ln>
        </p:spPr>
        <p:txBody>
          <a:bodyPr wrap="square" rtlCol="0" anchor="ctr" anchorCtr="1">
            <a:noAutofit/>
          </a:bodyPr>
          <a:lstStyle>
            <a:defPPr>
              <a:defRPr lang="en-US"/>
            </a:defPPr>
            <a:lvl2pPr marL="0" lvl="1" algn="ctr">
              <a:defRPr i="1">
                <a:solidFill>
                  <a:schemeClr val="tx1">
                    <a:lumMod val="85000"/>
                    <a:lumOff val="15000"/>
                  </a:schemeClr>
                </a:solidFill>
                <a:latin typeface="Arial" panose="020B0604020202020204" pitchFamily="34" charset="0"/>
              </a:defRPr>
            </a:lvl2pPr>
          </a:lstStyle>
          <a:p>
            <a:pPr marL="0" marR="0" lvl="1" indent="0" algn="ctr"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t>We begin to construct our RCA Chart by </a:t>
            </a:r>
            <a:r>
              <a:rPr kumimoji="0" lang="en-US" altLang="en-US" sz="1800" b="0" i="1"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t>starting with an INCIDENT DESCRIPTION AND asking </a:t>
            </a:r>
            <a:r>
              <a:rPr kumimoji="0" lang="en-US" altLang="en-US" sz="1800" b="0" i="1"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t/>
            </a:r>
            <a:br>
              <a:rPr kumimoji="0" lang="en-US" altLang="en-US" sz="1800" b="0" i="1"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br>
            <a:r>
              <a:rPr kumimoji="0" lang="en-US" altLang="en-US" sz="1800" b="0" i="1"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t>“what caused debris to fall on equipment, etc.?”</a:t>
            </a:r>
          </a:p>
          <a:p>
            <a:pPr marL="0" marR="0" lvl="1" indent="0" algn="ctr"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t>Note the use of the AND gate here.</a:t>
            </a:r>
            <a:endParaRPr kumimoji="0" lang="en-US" sz="1800" b="0" i="1"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mn-cs"/>
            </a:endParaRPr>
          </a:p>
        </p:txBody>
      </p:sp>
      <p:sp>
        <p:nvSpPr>
          <p:cNvPr id="77" name="Rounded Rectangle 76"/>
          <p:cNvSpPr/>
          <p:nvPr/>
        </p:nvSpPr>
        <p:spPr>
          <a:xfrm>
            <a:off x="5446568" y="1374938"/>
            <a:ext cx="2916174" cy="700566"/>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8" name="Rounded Rectangle 77"/>
          <p:cNvSpPr/>
          <p:nvPr/>
        </p:nvSpPr>
        <p:spPr>
          <a:xfrm>
            <a:off x="1981199" y="1275917"/>
            <a:ext cx="1740869" cy="595904"/>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79" name="Straight Arrow Connector 78"/>
          <p:cNvCxnSpPr>
            <a:stCxn id="78" idx="2"/>
            <a:endCxn id="76" idx="0"/>
          </p:cNvCxnSpPr>
          <p:nvPr/>
        </p:nvCxnSpPr>
        <p:spPr>
          <a:xfrm>
            <a:off x="2851634" y="1871821"/>
            <a:ext cx="1720366" cy="2808179"/>
          </a:xfrm>
          <a:prstGeom prst="straightConnector1">
            <a:avLst/>
          </a:prstGeom>
          <a:noFill/>
          <a:ln w="57150">
            <a:solidFill>
              <a:srgbClr val="0000FF"/>
            </a:solidFill>
            <a:prstDash val="solid"/>
            <a:headEnd type="triangle" w="med" len="med"/>
            <a:tailEnd type="none" w="med" len="med"/>
          </a:ln>
        </p:spPr>
      </p:cxnSp>
      <p:cxnSp>
        <p:nvCxnSpPr>
          <p:cNvPr id="80" name="Straight Arrow Connector 79"/>
          <p:cNvCxnSpPr>
            <a:stCxn id="77" idx="2"/>
            <a:endCxn id="76" idx="0"/>
          </p:cNvCxnSpPr>
          <p:nvPr/>
        </p:nvCxnSpPr>
        <p:spPr>
          <a:xfrm flipH="1">
            <a:off x="4572000" y="2075504"/>
            <a:ext cx="2332655" cy="2604496"/>
          </a:xfrm>
          <a:prstGeom prst="straightConnector1">
            <a:avLst/>
          </a:prstGeom>
          <a:noFill/>
          <a:ln w="57150">
            <a:solidFill>
              <a:srgbClr val="0000FF"/>
            </a:solidFill>
            <a:prstDash val="solid"/>
            <a:headEnd type="triangle" w="med" len="med"/>
            <a:tailEnd type="none" w="med" len="med"/>
          </a:ln>
        </p:spPr>
      </p:cxnSp>
      <p:cxnSp>
        <p:nvCxnSpPr>
          <p:cNvPr id="81" name="Straight Arrow Connector 80"/>
          <p:cNvCxnSpPr>
            <a:stCxn id="48" idx="2"/>
            <a:endCxn id="76" idx="0"/>
          </p:cNvCxnSpPr>
          <p:nvPr/>
        </p:nvCxnSpPr>
        <p:spPr>
          <a:xfrm flipH="1">
            <a:off x="4572000" y="1220938"/>
            <a:ext cx="593817" cy="3459062"/>
          </a:xfrm>
          <a:prstGeom prst="straightConnector1">
            <a:avLst/>
          </a:prstGeom>
          <a:noFill/>
          <a:ln w="57150">
            <a:solidFill>
              <a:srgbClr val="0000FF"/>
            </a:solidFill>
            <a:prstDash val="solid"/>
            <a:headEnd type="triangle" w="med" len="med"/>
            <a:tailEnd type="none" w="med" len="med"/>
          </a:ln>
        </p:spPr>
      </p:cxnSp>
      <p:sp>
        <p:nvSpPr>
          <p:cNvPr id="37"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3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22</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Tree>
    <p:extLst>
      <p:ext uri="{BB962C8B-B14F-4D97-AF65-F5344CB8AC3E}">
        <p14:creationId xmlns:p14="http://schemas.microsoft.com/office/powerpoint/2010/main" val="25910262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5" name="Elbow Connector 74"/>
          <p:cNvCxnSpPr>
            <a:stCxn id="29" idx="2"/>
            <a:endCxn id="61" idx="0"/>
          </p:cNvCxnSpPr>
          <p:nvPr/>
        </p:nvCxnSpPr>
        <p:spPr>
          <a:xfrm rot="5400000">
            <a:off x="7085055" y="2837606"/>
            <a:ext cx="554810" cy="78748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Elbow Connector 73"/>
          <p:cNvCxnSpPr>
            <a:stCxn id="29" idx="2"/>
            <a:endCxn id="57" idx="0"/>
          </p:cNvCxnSpPr>
          <p:nvPr/>
        </p:nvCxnSpPr>
        <p:spPr>
          <a:xfrm rot="16200000" flipH="1">
            <a:off x="7764737" y="2945406"/>
            <a:ext cx="553727" cy="57079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1981199" y="304800"/>
            <a:ext cx="6400799"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 on equipment, injuring one worker &amp; damaging equipment</a:t>
            </a:r>
          </a:p>
        </p:txBody>
      </p:sp>
      <p:sp>
        <p:nvSpPr>
          <p:cNvPr id="25" name="TextBox 24"/>
          <p:cNvSpPr txBox="1"/>
          <p:nvPr/>
        </p:nvSpPr>
        <p:spPr>
          <a:xfrm>
            <a:off x="2064781" y="1445329"/>
            <a:ext cx="1497426"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a:t>
            </a:r>
          </a:p>
        </p:txBody>
      </p:sp>
      <p:sp>
        <p:nvSpPr>
          <p:cNvPr id="26" name="TextBox 25"/>
          <p:cNvSpPr txBox="1"/>
          <p:nvPr/>
        </p:nvSpPr>
        <p:spPr>
          <a:xfrm>
            <a:off x="5041992" y="1433198"/>
            <a:ext cx="2847927"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Equipment &amp; Operator Were In Exclusion Zone</a:t>
            </a:r>
          </a:p>
        </p:txBody>
      </p:sp>
      <p:sp>
        <p:nvSpPr>
          <p:cNvPr id="28" name="TextBox 27"/>
          <p:cNvSpPr txBox="1"/>
          <p:nvPr/>
        </p:nvSpPr>
        <p:spPr>
          <a:xfrm>
            <a:off x="1387799" y="2411244"/>
            <a:ext cx="1295149"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Unstable slope</a:t>
            </a:r>
          </a:p>
        </p:txBody>
      </p:sp>
      <p:sp>
        <p:nvSpPr>
          <p:cNvPr id="29" name="TextBox 28"/>
          <p:cNvSpPr txBox="1"/>
          <p:nvPr/>
        </p:nvSpPr>
        <p:spPr>
          <a:xfrm>
            <a:off x="6582082" y="2646165"/>
            <a:ext cx="2348238"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warning</a:t>
            </a:r>
          </a:p>
        </p:txBody>
      </p:sp>
      <p:sp>
        <p:nvSpPr>
          <p:cNvPr id="30" name="TextBox 29"/>
          <p:cNvSpPr txBox="1"/>
          <p:nvPr/>
        </p:nvSpPr>
        <p:spPr>
          <a:xfrm>
            <a:off x="3722068" y="2662052"/>
            <a:ext cx="277981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Didn’t follow exclusion zone procedures</a:t>
            </a:r>
          </a:p>
        </p:txBody>
      </p:sp>
      <p:sp>
        <p:nvSpPr>
          <p:cNvPr id="35" name="TextBox 34"/>
          <p:cNvSpPr txBox="1"/>
          <p:nvPr/>
        </p:nvSpPr>
        <p:spPr>
          <a:xfrm>
            <a:off x="712123" y="3555393"/>
            <a:ext cx="1223102"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construction</a:t>
            </a:r>
            <a:endPar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45" name="TextBox 44"/>
          <p:cNvSpPr txBox="1"/>
          <p:nvPr/>
        </p:nvSpPr>
        <p:spPr>
          <a:xfrm>
            <a:off x="98985" y="215160"/>
            <a:ext cx="12192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Incident &amp; Losses</a:t>
            </a:r>
          </a:p>
        </p:txBody>
      </p:sp>
      <p:sp>
        <p:nvSpPr>
          <p:cNvPr id="57" name="TextBox 56"/>
          <p:cNvSpPr txBox="1"/>
          <p:nvPr/>
        </p:nvSpPr>
        <p:spPr>
          <a:xfrm>
            <a:off x="7636358" y="3507669"/>
            <a:ext cx="138128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communication</a:t>
            </a:r>
          </a:p>
        </p:txBody>
      </p:sp>
      <p:cxnSp>
        <p:nvCxnSpPr>
          <p:cNvPr id="58" name="Straight Connector 57"/>
          <p:cNvCxnSpPr/>
          <p:nvPr/>
        </p:nvCxnSpPr>
        <p:spPr>
          <a:xfrm>
            <a:off x="6201340" y="4323278"/>
            <a:ext cx="0"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p:cNvSpPr txBox="1"/>
          <p:nvPr/>
        </p:nvSpPr>
        <p:spPr>
          <a:xfrm>
            <a:off x="6366395" y="3508752"/>
            <a:ext cx="1204648"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Monitoring data not evaluated</a:t>
            </a:r>
          </a:p>
        </p:txBody>
      </p:sp>
      <p:sp>
        <p:nvSpPr>
          <p:cNvPr id="62" name="TextBox 61"/>
          <p:cNvSpPr txBox="1"/>
          <p:nvPr/>
        </p:nvSpPr>
        <p:spPr>
          <a:xfrm>
            <a:off x="2909392" y="3815446"/>
            <a:ext cx="1656830" cy="755385"/>
          </a:xfrm>
          <a:prstGeom prst="rect">
            <a:avLst/>
          </a:prstGeom>
          <a:solidFill>
            <a:srgbClr val="FFFFFF"/>
          </a:solidFill>
          <a:ln>
            <a:solidFill>
              <a:schemeClr val="tx1"/>
            </a:solidFill>
          </a:ln>
        </p:spPr>
        <p:txBody>
          <a:bodyPr wrap="square" lIns="36000" tIns="36000" rIns="36000" bIns="7200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Operator not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trained on </a:t>
            </a: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exclusion zone procedures</a:t>
            </a:r>
          </a:p>
        </p:txBody>
      </p:sp>
      <p:sp>
        <p:nvSpPr>
          <p:cNvPr id="64" name="TextBox 63"/>
          <p:cNvSpPr txBox="1"/>
          <p:nvPr/>
        </p:nvSpPr>
        <p:spPr>
          <a:xfrm>
            <a:off x="4582551" y="3815446"/>
            <a:ext cx="1652427"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Supervisor told Op to </a:t>
            </a:r>
            <a:r>
              <a:rPr kumimoji="0" lang="en-US"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be inside </a:t>
            </a: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the exclusion zone</a:t>
            </a:r>
          </a:p>
        </p:txBody>
      </p:sp>
      <p:sp>
        <p:nvSpPr>
          <p:cNvPr id="51" name="TextBox 50">
            <a:extLst>
              <a:ext uri="{FF2B5EF4-FFF2-40B4-BE49-F238E27FC236}">
                <a16:creationId xmlns:a16="http://schemas.microsoft.com/office/drawing/2014/main" id="{C362153A-205B-4322-A65D-C1B7DE95D74A}"/>
              </a:ext>
            </a:extLst>
          </p:cNvPr>
          <p:cNvSpPr txBox="1"/>
          <p:nvPr/>
        </p:nvSpPr>
        <p:spPr>
          <a:xfrm>
            <a:off x="2841058" y="2424808"/>
            <a:ext cx="722900"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Rain</a:t>
            </a:r>
          </a:p>
        </p:txBody>
      </p:sp>
      <p:sp>
        <p:nvSpPr>
          <p:cNvPr id="67" name="TextBox 66">
            <a:extLst>
              <a:ext uri="{FF2B5EF4-FFF2-40B4-BE49-F238E27FC236}">
                <a16:creationId xmlns:a16="http://schemas.microsoft.com/office/drawing/2014/main" id="{880627F3-4C48-4BE7-88C6-ED37A2917A84}"/>
              </a:ext>
            </a:extLst>
          </p:cNvPr>
          <p:cNvSpPr txBox="1"/>
          <p:nvPr/>
        </p:nvSpPr>
        <p:spPr>
          <a:xfrm>
            <a:off x="1968091" y="3551772"/>
            <a:ext cx="872966"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design</a:t>
            </a:r>
          </a:p>
        </p:txBody>
      </p:sp>
      <p:sp>
        <p:nvSpPr>
          <p:cNvPr id="70" name="Flowchart: Punched Tape 69">
            <a:extLst>
              <a:ext uri="{FF2B5EF4-FFF2-40B4-BE49-F238E27FC236}">
                <a16:creationId xmlns:a16="http://schemas.microsoft.com/office/drawing/2014/main" id="{A8D8A9BD-33D5-420E-97D4-ED3FE6FA6D7D}"/>
              </a:ext>
            </a:extLst>
          </p:cNvPr>
          <p:cNvSpPr/>
          <p:nvPr/>
        </p:nvSpPr>
        <p:spPr bwMode="auto">
          <a:xfrm>
            <a:off x="7620101" y="3060747"/>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 name="Elbow Connector 4"/>
          <p:cNvCxnSpPr>
            <a:stCxn id="25" idx="2"/>
            <a:endCxn id="51" idx="0"/>
          </p:cNvCxnSpPr>
          <p:nvPr/>
        </p:nvCxnSpPr>
        <p:spPr>
          <a:xfrm rot="16200000" flipH="1">
            <a:off x="2672150" y="1894450"/>
            <a:ext cx="671702" cy="389014"/>
          </a:xfrm>
          <a:prstGeom prst="bentConnector3">
            <a:avLst>
              <a:gd name="adj1" fmla="val 8093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p:cNvCxnSpPr>
            <a:stCxn id="25" idx="2"/>
            <a:endCxn id="28" idx="0"/>
          </p:cNvCxnSpPr>
          <p:nvPr/>
        </p:nvCxnSpPr>
        <p:spPr>
          <a:xfrm rot="5400000">
            <a:off x="2095365" y="1693115"/>
            <a:ext cx="658138" cy="778120"/>
          </a:xfrm>
          <a:prstGeom prst="bentConnector3">
            <a:avLst>
              <a:gd name="adj1" fmla="val 8157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Flowchart: Delay 65">
            <a:extLst>
              <a:ext uri="{FF2B5EF4-FFF2-40B4-BE49-F238E27FC236}">
                <a16:creationId xmlns:a16="http://schemas.microsoft.com/office/drawing/2014/main" id="{48F56B4C-4C1D-4914-95FC-4759B4B992D0}"/>
              </a:ext>
            </a:extLst>
          </p:cNvPr>
          <p:cNvSpPr/>
          <p:nvPr/>
        </p:nvSpPr>
        <p:spPr>
          <a:xfrm rot="16200000">
            <a:off x="2679029" y="1911417"/>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18" name="Elbow Connector 17"/>
          <p:cNvCxnSpPr>
            <a:stCxn id="4" idx="2"/>
            <a:endCxn id="25" idx="0"/>
          </p:cNvCxnSpPr>
          <p:nvPr/>
        </p:nvCxnSpPr>
        <p:spPr>
          <a:xfrm rot="5400000">
            <a:off x="3581171" y="-155099"/>
            <a:ext cx="832752" cy="2368105"/>
          </a:xfrm>
          <a:prstGeom prst="bentConnector3">
            <a:avLst>
              <a:gd name="adj1" fmla="val 633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p:cNvCxnSpPr>
            <a:stCxn id="4" idx="2"/>
            <a:endCxn id="26" idx="0"/>
          </p:cNvCxnSpPr>
          <p:nvPr/>
        </p:nvCxnSpPr>
        <p:spPr>
          <a:xfrm rot="16200000" flipH="1">
            <a:off x="5413467" y="380708"/>
            <a:ext cx="820621" cy="1284357"/>
          </a:xfrm>
          <a:prstGeom prst="bentConnector3">
            <a:avLst>
              <a:gd name="adj1" fmla="val 6350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Flowchart: Delay 7"/>
          <p:cNvSpPr/>
          <p:nvPr/>
        </p:nvSpPr>
        <p:spPr>
          <a:xfrm rot="16200000">
            <a:off x="5047282" y="763888"/>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5" name="Elbow Connector 54"/>
          <p:cNvCxnSpPr>
            <a:stCxn id="26" idx="2"/>
            <a:endCxn id="29" idx="0"/>
          </p:cNvCxnSpPr>
          <p:nvPr/>
        </p:nvCxnSpPr>
        <p:spPr>
          <a:xfrm rot="16200000" flipH="1">
            <a:off x="6766205" y="1656168"/>
            <a:ext cx="689747" cy="1290245"/>
          </a:xfrm>
          <a:prstGeom prst="bentConnector3">
            <a:avLst>
              <a:gd name="adj1" fmla="val 720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Elbow Connector 58"/>
          <p:cNvCxnSpPr>
            <a:stCxn id="26" idx="2"/>
            <a:endCxn id="30" idx="0"/>
          </p:cNvCxnSpPr>
          <p:nvPr/>
        </p:nvCxnSpPr>
        <p:spPr>
          <a:xfrm rot="5400000">
            <a:off x="5436148" y="1632244"/>
            <a:ext cx="705634" cy="1353982"/>
          </a:xfrm>
          <a:prstGeom prst="bentConnector3">
            <a:avLst>
              <a:gd name="adj1" fmla="val 7159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Flowchart: Punched Tape 1">
            <a:extLst>
              <a:ext uri="{FF2B5EF4-FFF2-40B4-BE49-F238E27FC236}">
                <a16:creationId xmlns:a16="http://schemas.microsoft.com/office/drawing/2014/main" id="{CDBB2755-2E57-4292-ACF3-8ABB475BBFAE}"/>
              </a:ext>
            </a:extLst>
          </p:cNvPr>
          <p:cNvSpPr/>
          <p:nvPr/>
        </p:nvSpPr>
        <p:spPr bwMode="auto">
          <a:xfrm flipH="1">
            <a:off x="6316623" y="2099508"/>
            <a:ext cx="336011" cy="271586"/>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65" name="Elbow Connector 64"/>
          <p:cNvCxnSpPr>
            <a:stCxn id="28" idx="2"/>
            <a:endCxn id="67" idx="0"/>
          </p:cNvCxnSpPr>
          <p:nvPr/>
        </p:nvCxnSpPr>
        <p:spPr>
          <a:xfrm rot="16200000" flipH="1">
            <a:off x="1911320" y="3058518"/>
            <a:ext cx="617308" cy="3692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Elbow Connector 70"/>
          <p:cNvCxnSpPr>
            <a:stCxn id="28" idx="2"/>
            <a:endCxn id="35" idx="0"/>
          </p:cNvCxnSpPr>
          <p:nvPr/>
        </p:nvCxnSpPr>
        <p:spPr>
          <a:xfrm rot="5400000">
            <a:off x="1369060" y="2889078"/>
            <a:ext cx="620929" cy="7117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Flowchart: Punched Tape 67">
            <a:extLst>
              <a:ext uri="{FF2B5EF4-FFF2-40B4-BE49-F238E27FC236}">
                <a16:creationId xmlns:a16="http://schemas.microsoft.com/office/drawing/2014/main" id="{878F44D0-47E5-4B2E-9EF9-5E912B38548B}"/>
              </a:ext>
            </a:extLst>
          </p:cNvPr>
          <p:cNvSpPr/>
          <p:nvPr/>
        </p:nvSpPr>
        <p:spPr bwMode="auto">
          <a:xfrm>
            <a:off x="1897543" y="3052998"/>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72" name="Elbow Connector 71"/>
          <p:cNvCxnSpPr>
            <a:stCxn id="30" idx="2"/>
            <a:endCxn id="64" idx="0"/>
          </p:cNvCxnSpPr>
          <p:nvPr/>
        </p:nvCxnSpPr>
        <p:spPr>
          <a:xfrm rot="16200000" flipH="1">
            <a:off x="4945282" y="3351963"/>
            <a:ext cx="630174" cy="29679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Elbow Connector 72"/>
          <p:cNvCxnSpPr>
            <a:stCxn id="30" idx="2"/>
            <a:endCxn id="62" idx="0"/>
          </p:cNvCxnSpPr>
          <p:nvPr/>
        </p:nvCxnSpPr>
        <p:spPr>
          <a:xfrm rot="5400000">
            <a:off x="4109804" y="2813276"/>
            <a:ext cx="630174" cy="1374167"/>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Flowchart: Punched Tape 68">
            <a:extLst>
              <a:ext uri="{FF2B5EF4-FFF2-40B4-BE49-F238E27FC236}">
                <a16:creationId xmlns:a16="http://schemas.microsoft.com/office/drawing/2014/main" id="{0CBF65F1-61F1-43C7-A26B-B97AA653A457}"/>
              </a:ext>
            </a:extLst>
          </p:cNvPr>
          <p:cNvSpPr/>
          <p:nvPr/>
        </p:nvSpPr>
        <p:spPr bwMode="auto">
          <a:xfrm>
            <a:off x="4885340" y="3292226"/>
            <a:ext cx="423956" cy="300712"/>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48" name="Rounded Rectangle 47"/>
          <p:cNvSpPr/>
          <p:nvPr/>
        </p:nvSpPr>
        <p:spPr>
          <a:xfrm>
            <a:off x="2595982" y="1733053"/>
            <a:ext cx="512619" cy="595904"/>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6" name="Rounded Rectangle 75"/>
          <p:cNvSpPr/>
          <p:nvPr/>
        </p:nvSpPr>
        <p:spPr>
          <a:xfrm>
            <a:off x="6245569" y="1940538"/>
            <a:ext cx="512619" cy="595904"/>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9" name="Rounded Rectangle 78"/>
          <p:cNvSpPr/>
          <p:nvPr/>
        </p:nvSpPr>
        <p:spPr>
          <a:xfrm>
            <a:off x="1820484" y="2842095"/>
            <a:ext cx="512619" cy="595904"/>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0" name="Rounded Rectangle 79"/>
          <p:cNvSpPr/>
          <p:nvPr/>
        </p:nvSpPr>
        <p:spPr>
          <a:xfrm>
            <a:off x="4855663" y="3134972"/>
            <a:ext cx="512619" cy="595904"/>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1" name="Rounded Rectangle 80"/>
          <p:cNvSpPr/>
          <p:nvPr/>
        </p:nvSpPr>
        <p:spPr>
          <a:xfrm>
            <a:off x="7511578" y="2896108"/>
            <a:ext cx="512619" cy="595904"/>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2" name="TextBox 81"/>
          <p:cNvSpPr txBox="1"/>
          <p:nvPr/>
        </p:nvSpPr>
        <p:spPr>
          <a:xfrm>
            <a:off x="1872000" y="4680000"/>
            <a:ext cx="5400000" cy="1080000"/>
          </a:xfrm>
          <a:prstGeom prst="roundRect">
            <a:avLst/>
          </a:prstGeom>
          <a:noFill/>
          <a:ln w="57150">
            <a:solidFill>
              <a:srgbClr val="0000FF"/>
            </a:solidFill>
            <a:prstDash val="solid"/>
          </a:ln>
        </p:spPr>
        <p:txBody>
          <a:bodyPr wrap="square" rtlCol="0" anchor="ctr" anchorCtr="1">
            <a:noAutofit/>
          </a:bodyPr>
          <a:lstStyle/>
          <a:p>
            <a:pPr marL="0" marR="0" lvl="1" indent="0" algn="ctr"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t>We continue to construct our RCA Chart by asking “why?” or “what caused…?” Note the use of AND </a:t>
            </a:r>
            <a:r>
              <a:rPr kumimoji="0" lang="en-US" altLang="en-US" sz="1800" b="0" i="1" u="none" strike="noStrike" kern="1200" cap="none" spc="0" normalizeH="0" baseline="0" noProof="0" dirty="0" err="1" smtClean="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t>and</a:t>
            </a:r>
            <a:r>
              <a:rPr kumimoji="0" lang="en-US" altLang="en-US" sz="1800" b="0" i="1"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mn-cs"/>
                <a:sym typeface="Wingdings" pitchFamily="2" charset="2"/>
              </a:rPr>
              <a:t> OR gates to make the logical connections.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6" name="Straight Arrow Connector 5"/>
          <p:cNvCxnSpPr>
            <a:stCxn id="48" idx="2"/>
            <a:endCxn id="82" idx="0"/>
          </p:cNvCxnSpPr>
          <p:nvPr/>
        </p:nvCxnSpPr>
        <p:spPr>
          <a:xfrm>
            <a:off x="2852292" y="2328957"/>
            <a:ext cx="1719708" cy="2351043"/>
          </a:xfrm>
          <a:prstGeom prst="straightConnector1">
            <a:avLst/>
          </a:prstGeom>
          <a:noFill/>
          <a:ln w="57150">
            <a:solidFill>
              <a:srgbClr val="0000FF"/>
            </a:solidFill>
            <a:prstDash val="solid"/>
            <a:headEnd type="triangle" w="med" len="med"/>
            <a:tailEnd type="none" w="med" len="med"/>
          </a:ln>
        </p:spPr>
      </p:cxnSp>
      <p:cxnSp>
        <p:nvCxnSpPr>
          <p:cNvPr id="83" name="Straight Arrow Connector 82"/>
          <p:cNvCxnSpPr>
            <a:stCxn id="76" idx="1"/>
            <a:endCxn id="82" idx="0"/>
          </p:cNvCxnSpPr>
          <p:nvPr/>
        </p:nvCxnSpPr>
        <p:spPr>
          <a:xfrm flipH="1">
            <a:off x="4572000" y="2238490"/>
            <a:ext cx="1673569" cy="2441510"/>
          </a:xfrm>
          <a:prstGeom prst="straightConnector1">
            <a:avLst/>
          </a:prstGeom>
          <a:noFill/>
          <a:ln w="57150">
            <a:solidFill>
              <a:srgbClr val="0000FF"/>
            </a:solidFill>
            <a:prstDash val="solid"/>
            <a:headEnd type="triangle" w="med" len="med"/>
            <a:tailEnd type="none" w="med" len="med"/>
          </a:ln>
        </p:spPr>
      </p:cxnSp>
      <p:sp>
        <p:nvSpPr>
          <p:cNvPr id="60"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23</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7"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0301295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100000"/>
              </a:lnSpc>
              <a:spcBef>
                <a:spcPts val="0"/>
              </a:spcBef>
              <a:buClrTx/>
              <a:buSzPct val="100000"/>
              <a:buNone/>
              <a:defRPr/>
            </a:pPr>
            <a:r>
              <a:rPr lang="en-CA" altLang="en-US" b="0" dirty="0" smtClean="0">
                <a:solidFill>
                  <a:prstClr val="black"/>
                </a:solidFill>
                <a:latin typeface="Arial" panose="020B0604020202020204" pitchFamily="34" charset="0"/>
                <a:ea typeface="ＭＳ Ｐゴシック" panose="020B0600070205080204" pitchFamily="34" charset="-128"/>
              </a:rPr>
              <a:t>The </a:t>
            </a:r>
            <a:r>
              <a:rPr lang="en-CA" altLang="en-US" b="0" dirty="0">
                <a:solidFill>
                  <a:prstClr val="black"/>
                </a:solidFill>
                <a:latin typeface="Arial" panose="020B0604020202020204" pitchFamily="34" charset="0"/>
                <a:ea typeface="ＭＳ Ｐゴシック" panose="020B0600070205080204" pitchFamily="34" charset="-128"/>
              </a:rPr>
              <a:t>C&amp;E Model is used to categorize all the causes in your RCA Chart. </a:t>
            </a:r>
          </a:p>
          <a:p>
            <a:pPr marL="432000" marR="0" lvl="0" indent="-432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Recall your Cause and Effect Model … a detailed look:</a:t>
            </a:r>
          </a:p>
          <a:p>
            <a:pPr marL="360000" lvl="0" indent="-360000" eaLnBrk="0" hangingPunct="0">
              <a:lnSpc>
                <a:spcPct val="100000"/>
              </a:lnSpc>
              <a:spcBef>
                <a:spcPts val="0"/>
              </a:spcBef>
              <a:buClrTx/>
              <a:buSzPct val="100000"/>
              <a:buFont typeface="Wingdings" panose="05000000000000000000" pitchFamily="2" charset="2"/>
              <a:buChar char="Ø"/>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Immediate Causes in two categories:</a:t>
            </a:r>
          </a:p>
          <a:p>
            <a:pPr marL="72000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Substandard practices and sub-groups</a:t>
            </a:r>
          </a:p>
          <a:p>
            <a:pPr marL="72000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Substandard conditions and sub-groups</a:t>
            </a:r>
          </a:p>
          <a:p>
            <a:pPr marL="360000" lvl="0" indent="-360000" eaLnBrk="0" hangingPunct="0">
              <a:lnSpc>
                <a:spcPct val="100000"/>
              </a:lnSpc>
              <a:spcBef>
                <a:spcPts val="0"/>
              </a:spcBef>
              <a:buClrTx/>
              <a:buSzPct val="100000"/>
              <a:buFont typeface="Wingdings" panose="05000000000000000000" pitchFamily="2" charset="2"/>
              <a:buChar char="Ø"/>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Basic Causes in three categories:</a:t>
            </a:r>
          </a:p>
          <a:p>
            <a:pPr marL="720000" lvl="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Engineering &amp; Design Factors</a:t>
            </a:r>
          </a:p>
          <a:p>
            <a:pPr marL="720000" lvl="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Job Factors and sub-groups</a:t>
            </a:r>
          </a:p>
          <a:p>
            <a:pPr marL="720000" lvl="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Personal Factors and sub-groups</a:t>
            </a:r>
          </a:p>
          <a:p>
            <a:pPr marL="360000" lvl="0" indent="-360000" eaLnBrk="0" hangingPunct="0">
              <a:lnSpc>
                <a:spcPct val="100000"/>
              </a:lnSpc>
              <a:spcBef>
                <a:spcPts val="0"/>
              </a:spcBef>
              <a:buClrTx/>
              <a:buSzPct val="100000"/>
              <a:buFont typeface="Wingdings" panose="05000000000000000000" pitchFamily="2" charset="2"/>
              <a:buChar char="Ø"/>
              <a:defRPr/>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Intermediate cause – a cause statement that cannot be readily categorized as any one of IC, BC, or LC.</a:t>
            </a:r>
          </a:p>
          <a:p>
            <a:pPr marL="360000" lvl="0" indent="-360000" eaLnBrk="0" hangingPunct="0">
              <a:lnSpc>
                <a:spcPct val="100000"/>
              </a:lnSpc>
              <a:spcBef>
                <a:spcPts val="0"/>
              </a:spcBef>
              <a:buClrTx/>
              <a:buSzPct val="100000"/>
              <a:buFont typeface="Wingdings" panose="05000000000000000000" pitchFamily="2" charset="2"/>
              <a:buChar char="Ø"/>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0" indent="-360000" eaLnBrk="0" hangingPunct="0">
              <a:lnSpc>
                <a:spcPct val="100000"/>
              </a:lnSpc>
              <a:spcBef>
                <a:spcPts val="0"/>
              </a:spcBef>
              <a:buClrTx/>
              <a:buSzPct val="100000"/>
              <a:buFont typeface="Wingdings" panose="05000000000000000000" pitchFamily="2" charset="2"/>
              <a:buChar char="Ø"/>
              <a:defRPr/>
            </a:pPr>
            <a:r>
              <a:rPr lang="en-US" altLang="en-US"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Latent Causes </a:t>
            </a:r>
            <a:r>
              <a:rPr lang="en-US" altLang="en-US" b="0" i="1"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will be discussed in much more depth in the next topic.</a:t>
            </a:r>
            <a:endParaRPr kumimoji="0" lang="en-US" altLang="en-US" sz="2000" b="0" i="1" u="none" strike="noStrike" kern="120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defRPr/>
            </a:pPr>
            <a:r>
              <a:rPr lang="en-US" altLang="en-US" sz="2400" b="0" dirty="0" smtClean="0">
                <a:solidFill>
                  <a:srgbClr val="333399"/>
                </a:solidFill>
                <a:latin typeface="Arial" panose="020B0604020202020204" pitchFamily="34" charset="0"/>
                <a:cs typeface="Arial" panose="020B0604020202020204" pitchFamily="34" charset="0"/>
              </a:rPr>
              <a:t>Use the C&amp;E Model to Find </a:t>
            </a:r>
            <a:r>
              <a:rPr lang="en-US" altLang="en-US" sz="2400" b="0" dirty="0">
                <a:solidFill>
                  <a:srgbClr val="333399"/>
                </a:solidFill>
                <a:latin typeface="Arial" panose="020B0604020202020204" pitchFamily="34" charset="0"/>
                <a:cs typeface="Arial" panose="020B0604020202020204" pitchFamily="34" charset="0"/>
              </a:rPr>
              <a:t>and </a:t>
            </a:r>
            <a:r>
              <a:rPr lang="en-US" altLang="en-US" sz="2400" b="0" dirty="0" smtClean="0">
                <a:solidFill>
                  <a:srgbClr val="333399"/>
                </a:solidFill>
                <a:latin typeface="Arial" panose="020B0604020202020204" pitchFamily="34" charset="0"/>
                <a:cs typeface="Arial" panose="020B0604020202020204" pitchFamily="34" charset="0"/>
              </a:rPr>
              <a:t>Categorize the </a:t>
            </a:r>
            <a:r>
              <a:rPr lang="en-US" altLang="en-US" sz="2400" b="0" dirty="0">
                <a:solidFill>
                  <a:srgbClr val="333399"/>
                </a:solidFill>
                <a:latin typeface="Arial" panose="020B0604020202020204" pitchFamily="34" charset="0"/>
                <a:cs typeface="Arial" panose="020B0604020202020204" pitchFamily="34" charset="0"/>
              </a:rPr>
              <a:t>Causes: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24</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418855820"/>
      </p:ext>
    </p:extLst>
  </p:cSld>
  <p:clrMapOvr>
    <a:masterClrMapping/>
  </p:clrMapOvr>
  <p:transition>
    <p:fade/>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defRPr/>
            </a:pPr>
            <a:r>
              <a:rPr lang="en-US" altLang="en-US" sz="2400" b="0" dirty="0">
                <a:solidFill>
                  <a:srgbClr val="333399"/>
                </a:solidFill>
                <a:latin typeface="Arial" panose="020B0604020202020204" pitchFamily="34" charset="0"/>
                <a:cs typeface="Arial" panose="020B0604020202020204" pitchFamily="34" charset="0"/>
              </a:rPr>
              <a:t>Immediate </a:t>
            </a:r>
            <a:r>
              <a:rPr lang="en-US" altLang="en-US" sz="2400" b="0" dirty="0" smtClean="0">
                <a:solidFill>
                  <a:srgbClr val="333399"/>
                </a:solidFill>
                <a:latin typeface="Arial" panose="020B0604020202020204" pitchFamily="34" charset="0"/>
                <a:cs typeface="Arial" panose="020B0604020202020204" pitchFamily="34" charset="0"/>
              </a:rPr>
              <a:t>Cause </a:t>
            </a:r>
            <a:r>
              <a:rPr lang="en-US" altLang="en-US" sz="2400" b="0" dirty="0">
                <a:solidFill>
                  <a:srgbClr val="333399"/>
                </a:solidFill>
                <a:latin typeface="Arial" panose="020B0604020202020204" pitchFamily="34" charset="0"/>
                <a:cs typeface="Arial" panose="020B0604020202020204" pitchFamily="34" charset="0"/>
              </a:rPr>
              <a:t>Categories and Sub-categories: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25</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graphicFrame>
        <p:nvGraphicFramePr>
          <p:cNvPr id="6" name="Group 62"/>
          <p:cNvGraphicFramePr>
            <a:graphicFrameLocks noGrp="1"/>
          </p:cNvGraphicFramePr>
          <p:nvPr>
            <p:extLst>
              <p:ext uri="{D42A27DB-BD31-4B8C-83A1-F6EECF244321}">
                <p14:modId xmlns:p14="http://schemas.microsoft.com/office/powerpoint/2010/main" val="1116641197"/>
              </p:ext>
            </p:extLst>
          </p:nvPr>
        </p:nvGraphicFramePr>
        <p:xfrm>
          <a:off x="454026" y="969813"/>
          <a:ext cx="8232773" cy="4572317"/>
        </p:xfrm>
        <a:graphic>
          <a:graphicData uri="http://schemas.openxmlformats.org/drawingml/2006/table">
            <a:tbl>
              <a:tblPr/>
              <a:tblGrid>
                <a:gridCol w="4159824">
                  <a:extLst>
                    <a:ext uri="{9D8B030D-6E8A-4147-A177-3AD203B41FA5}">
                      <a16:colId xmlns:a16="http://schemas.microsoft.com/office/drawing/2014/main" val="20000"/>
                    </a:ext>
                  </a:extLst>
                </a:gridCol>
                <a:gridCol w="4072949">
                  <a:extLst>
                    <a:ext uri="{9D8B030D-6E8A-4147-A177-3AD203B41FA5}">
                      <a16:colId xmlns:a16="http://schemas.microsoft.com/office/drawing/2014/main" val="20001"/>
                    </a:ext>
                  </a:extLst>
                </a:gridCol>
              </a:tblGrid>
              <a:tr h="648613">
                <a:tc>
                  <a:txBody>
                    <a:bodyPr/>
                    <a:lstStyle>
                      <a:lvl1pPr>
                        <a:spcBef>
                          <a:spcPct val="20000"/>
                        </a:spcBef>
                        <a:buClr>
                          <a:schemeClr val="tx2"/>
                        </a:buClr>
                        <a:buSzPct val="65000"/>
                        <a:buFont typeface="Wingdings" pitchFamily="2" charset="2"/>
                        <a:defRPr sz="2800">
                          <a:solidFill>
                            <a:schemeClr val="tx1"/>
                          </a:solidFill>
                          <a:latin typeface="Times New Roman" pitchFamily="18" charset="0"/>
                          <a:ea typeface="ＭＳ Ｐゴシック" pitchFamily="34" charset="-128"/>
                        </a:defRPr>
                      </a:lvl1pPr>
                      <a:lvl2pPr marL="742950" indent="-285750">
                        <a:spcBef>
                          <a:spcPct val="20000"/>
                        </a:spcBef>
                        <a:defRPr sz="2400">
                          <a:solidFill>
                            <a:schemeClr val="tx1"/>
                          </a:solidFill>
                          <a:latin typeface="Times New Roman" pitchFamily="18" charset="0"/>
                          <a:ea typeface="ＭＳ Ｐゴシック" pitchFamily="34" charset="-128"/>
                        </a:defRPr>
                      </a:lvl2pPr>
                      <a:lvl3pPr marL="1143000" indent="-228600">
                        <a:spcBef>
                          <a:spcPct val="20000"/>
                        </a:spcBef>
                        <a:defRPr sz="2000">
                          <a:solidFill>
                            <a:schemeClr val="tx1"/>
                          </a:solidFill>
                          <a:latin typeface="Times New Roman" pitchFamily="18" charset="0"/>
                          <a:ea typeface="ＭＳ Ｐゴシック" pitchFamily="34" charset="-128"/>
                        </a:defRPr>
                      </a:lvl3pPr>
                      <a:lvl4pPr marL="1600200" indent="-228600">
                        <a:spcBef>
                          <a:spcPct val="20000"/>
                        </a:spcBef>
                        <a:defRPr>
                          <a:solidFill>
                            <a:schemeClr val="tx1"/>
                          </a:solidFill>
                          <a:latin typeface="Times New Roman" pitchFamily="18" charset="0"/>
                          <a:ea typeface="ＭＳ Ｐゴシック" pitchFamily="34" charset="-128"/>
                        </a:defRPr>
                      </a:lvl4pPr>
                      <a:lvl5pPr marL="2057400" indent="-228600">
                        <a:spcBef>
                          <a:spcPct val="20000"/>
                        </a:spcBef>
                        <a:buSzPct val="65000"/>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Substandard Practices (examples)</a:t>
                      </a:r>
                    </a:p>
                  </a:txBody>
                  <a:tcPr marT="45724" marB="45724"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a:spcBef>
                          <a:spcPct val="20000"/>
                        </a:spcBef>
                        <a:buClr>
                          <a:schemeClr val="tx2"/>
                        </a:buClr>
                        <a:buSzPct val="65000"/>
                        <a:buFont typeface="Wingdings" pitchFamily="2" charset="2"/>
                        <a:defRPr sz="2800">
                          <a:solidFill>
                            <a:schemeClr val="tx1"/>
                          </a:solidFill>
                          <a:latin typeface="Times New Roman" pitchFamily="18" charset="0"/>
                          <a:ea typeface="ＭＳ Ｐゴシック" pitchFamily="34" charset="-128"/>
                        </a:defRPr>
                      </a:lvl1pPr>
                      <a:lvl2pPr marL="742950" indent="-285750">
                        <a:spcBef>
                          <a:spcPct val="20000"/>
                        </a:spcBef>
                        <a:defRPr sz="2400">
                          <a:solidFill>
                            <a:schemeClr val="tx1"/>
                          </a:solidFill>
                          <a:latin typeface="Times New Roman" pitchFamily="18" charset="0"/>
                          <a:ea typeface="ＭＳ Ｐゴシック" pitchFamily="34" charset="-128"/>
                        </a:defRPr>
                      </a:lvl2pPr>
                      <a:lvl3pPr marL="1143000" indent="-228600">
                        <a:spcBef>
                          <a:spcPct val="20000"/>
                        </a:spcBef>
                        <a:defRPr sz="2000">
                          <a:solidFill>
                            <a:schemeClr val="tx1"/>
                          </a:solidFill>
                          <a:latin typeface="Times New Roman" pitchFamily="18" charset="0"/>
                          <a:ea typeface="ＭＳ Ｐゴシック" pitchFamily="34" charset="-128"/>
                        </a:defRPr>
                      </a:lvl3pPr>
                      <a:lvl4pPr marL="1600200" indent="-228600">
                        <a:spcBef>
                          <a:spcPct val="20000"/>
                        </a:spcBef>
                        <a:defRPr>
                          <a:solidFill>
                            <a:schemeClr val="tx1"/>
                          </a:solidFill>
                          <a:latin typeface="Times New Roman" pitchFamily="18" charset="0"/>
                          <a:ea typeface="ＭＳ Ｐゴシック" pitchFamily="34" charset="-128"/>
                        </a:defRPr>
                      </a:lvl4pPr>
                      <a:lvl5pPr marL="2057400" indent="-228600">
                        <a:spcBef>
                          <a:spcPct val="20000"/>
                        </a:spcBef>
                        <a:buSzPct val="65000"/>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lumMod val="85000"/>
                              <a:lumOff val="15000"/>
                            </a:schemeClr>
                          </a:solidFill>
                          <a:effectLst/>
                          <a:latin typeface="Arial" pitchFamily="34" charset="0"/>
                          <a:ea typeface="Times New Roman" pitchFamily="18" charset="0"/>
                          <a:cs typeface="Arial" pitchFamily="34" charset="0"/>
                        </a:rPr>
                        <a:t>Substandard Conditions (examples)</a:t>
                      </a:r>
                    </a:p>
                  </a:txBody>
                  <a:tcPr marT="45724" marB="45724"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0"/>
                  </a:ext>
                </a:extLst>
              </a:tr>
              <a:tr h="3923704">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Operating equipment without authority</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Failure to follow established procedures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Making safety devices inoperable</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Failing to use personal protective equipment</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Servicing equipment in operation</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Horseplay</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Under influence of alcohol, drugs</a:t>
                      </a:r>
                    </a:p>
                  </a:txBody>
                  <a:tcPr marT="45724" marB="45724"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or improper protective equipment</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Defective tools, equipment or materials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warning systems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Fire and explosion hazards (hidden)</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Poor housekeeping; disorderly workplace</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Hazardous environmental conditions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Noise exposures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a:t>
                      </a:r>
                      <a:r>
                        <a:rPr kumimoji="0" lang="en-US" altLang="en-US" sz="1800" b="0" i="0" u="none" strike="noStrike" cap="none" normalizeH="0" baseline="0" dirty="0" smtClean="0">
                          <a:ln>
                            <a:noFill/>
                          </a:ln>
                          <a:solidFill>
                            <a:schemeClr val="tx1">
                              <a:lumMod val="85000"/>
                              <a:lumOff val="15000"/>
                            </a:schemeClr>
                          </a:solidFill>
                          <a:effectLst/>
                          <a:latin typeface="Arial" pitchFamily="34" charset="0"/>
                          <a:ea typeface="Times New Roman" pitchFamily="18" charset="0"/>
                          <a:cs typeface="Arial" pitchFamily="34" charset="0"/>
                        </a:rPr>
                        <a:t>ventilation</a:t>
                      </a:r>
                      <a:endParaRPr kumimoji="0" lang="en-US" altLang="en-US" sz="18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endParaRPr>
                    </a:p>
                  </a:txBody>
                  <a:tcPr marT="45724" marB="45724"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127225380"/>
      </p:ext>
    </p:extLst>
  </p:cSld>
  <p:clrMapOvr>
    <a:masterClrMapping/>
  </p:clrMapOvr>
  <p:transition>
    <p:fade/>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3"/>
          <p:cNvSpPr>
            <a:spLocks noChangeArrowheads="1"/>
          </p:cNvSpPr>
          <p:nvPr/>
        </p:nvSpPr>
        <p:spPr bwMode="auto">
          <a:xfrm>
            <a:off x="455613" y="1051560"/>
            <a:ext cx="8229600" cy="4968240"/>
          </a:xfrm>
          <a:prstGeom prst="rect">
            <a:avLst/>
          </a:prstGeom>
          <a:solidFill>
            <a:sysClr val="window" lastClr="FFFFFF">
              <a:alpha val="70195"/>
            </a:sysClr>
          </a:solidFill>
          <a:ln w="9525" algn="ctr">
            <a:solidFill>
              <a:sysClr val="windowText" lastClr="000000"/>
            </a:solidFill>
            <a:miter lim="800000"/>
            <a:headEnd/>
            <a:tailEnd/>
          </a:ln>
          <a:effectLst/>
          <a:extLst/>
        </p:spPr>
        <p:txBody>
          <a:bodyPr/>
          <a:lstStyle>
            <a:lvl1pPr marL="457200" indent="-457200">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457200" marR="0" lvl="0" indent="-457200" defTabSz="914400" eaLnBrk="1" fontAlgn="auto" latinLnBrk="0" hangingPunct="1">
              <a:lnSpc>
                <a:spcPct val="110000"/>
              </a:lnSpc>
              <a:spcBef>
                <a:spcPct val="20000"/>
              </a:spcBef>
              <a:spcAft>
                <a:spcPts val="0"/>
              </a:spcAft>
              <a:buClr>
                <a:srgbClr val="000000"/>
              </a:buClr>
              <a:buSzTx/>
              <a:buFont typeface="Wingdings" panose="05000000000000000000" pitchFamily="2" charset="2"/>
              <a:buNone/>
              <a:tabLst/>
              <a:defRPr/>
            </a:pPr>
            <a:endParaRPr kumimoji="0" lang="en-US" altLang="en-US" sz="20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34" charset="-128"/>
            </a:endParaRPr>
          </a:p>
        </p:txBody>
      </p:sp>
      <p:pic>
        <p:nvPicPr>
          <p:cNvPr id="2" name="Picture 1"/>
          <p:cNvPicPr>
            <a:picLocks noChangeAspect="1"/>
          </p:cNvPicPr>
          <p:nvPr/>
        </p:nvPicPr>
        <p:blipFill>
          <a:blip r:embed="rId4"/>
          <a:stretch>
            <a:fillRect/>
          </a:stretch>
        </p:blipFill>
        <p:spPr>
          <a:xfrm>
            <a:off x="519221" y="2488249"/>
            <a:ext cx="3055990" cy="1702751"/>
          </a:xfrm>
          <a:prstGeom prst="rect">
            <a:avLst/>
          </a:prstGeom>
        </p:spPr>
      </p:pic>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defRPr/>
            </a:pPr>
            <a:r>
              <a:rPr lang="en-US" altLang="en-US" sz="2400" b="0" dirty="0">
                <a:solidFill>
                  <a:srgbClr val="333399"/>
                </a:solidFill>
                <a:latin typeface="Arial" panose="020B0604020202020204" pitchFamily="34" charset="0"/>
                <a:cs typeface="Arial" panose="020B0604020202020204" pitchFamily="34" charset="0"/>
              </a:rPr>
              <a:t>Immediate </a:t>
            </a:r>
            <a:r>
              <a:rPr lang="en-US" altLang="en-US" sz="2400" b="0" dirty="0" smtClean="0">
                <a:solidFill>
                  <a:srgbClr val="333399"/>
                </a:solidFill>
                <a:latin typeface="Arial" panose="020B0604020202020204" pitchFamily="34" charset="0"/>
                <a:cs typeface="Arial" panose="020B0604020202020204" pitchFamily="34" charset="0"/>
              </a:rPr>
              <a:t>Cause </a:t>
            </a:r>
            <a:r>
              <a:rPr lang="en-US" altLang="en-US" sz="2400" b="0" dirty="0">
                <a:solidFill>
                  <a:srgbClr val="333399"/>
                </a:solidFill>
                <a:latin typeface="Arial" panose="020B0604020202020204" pitchFamily="34" charset="0"/>
                <a:cs typeface="Arial" panose="020B0604020202020204" pitchFamily="34" charset="0"/>
              </a:rPr>
              <a:t>Categories &amp; Sub-categories Detailed Lists: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26</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graphicFrame>
        <p:nvGraphicFramePr>
          <p:cNvPr id="19" name="Object 46"/>
          <p:cNvGraphicFramePr>
            <a:graphicFrameLocks noChangeAspect="1"/>
          </p:cNvGraphicFramePr>
          <p:nvPr>
            <p:extLst>
              <p:ext uri="{D42A27DB-BD31-4B8C-83A1-F6EECF244321}">
                <p14:modId xmlns:p14="http://schemas.microsoft.com/office/powerpoint/2010/main" val="4207351599"/>
              </p:ext>
            </p:extLst>
          </p:nvPr>
        </p:nvGraphicFramePr>
        <p:xfrm>
          <a:off x="3326086" y="1148195"/>
          <a:ext cx="5304536" cy="4871605"/>
        </p:xfrm>
        <a:graphic>
          <a:graphicData uri="http://schemas.openxmlformats.org/presentationml/2006/ole">
            <mc:AlternateContent xmlns:mc="http://schemas.openxmlformats.org/markup-compatibility/2006">
              <mc:Choice xmlns:v="urn:schemas-microsoft-com:vml" Requires="v">
                <p:oleObj spid="_x0000_s2103" name="Document" r:id="rId5" imgW="6670507" imgH="6126840" progId="Word.Document.8">
                  <p:embed/>
                </p:oleObj>
              </mc:Choice>
              <mc:Fallback>
                <p:oleObj name="Document" r:id="rId5" imgW="6670507" imgH="6126840" progId="Word.Document.8">
                  <p:embed/>
                  <p:pic>
                    <p:nvPicPr>
                      <p:cNvPr id="10258" name="Object 4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26086" y="1148195"/>
                        <a:ext cx="5304536" cy="4871605"/>
                      </a:xfrm>
                      <a:prstGeom prst="rect">
                        <a:avLst/>
                      </a:prstGeom>
                      <a:noFill/>
                      <a:ln>
                        <a:noFill/>
                      </a:ln>
                      <a:effectLst/>
                      <a:extLst/>
                    </p:spPr>
                  </p:pic>
                </p:oleObj>
              </mc:Fallback>
            </mc:AlternateContent>
          </a:graphicData>
        </a:graphic>
      </p:graphicFrame>
      <p:sp>
        <p:nvSpPr>
          <p:cNvPr id="20" name="AutoShape 51"/>
          <p:cNvSpPr>
            <a:spLocks noChangeArrowheads="1"/>
          </p:cNvSpPr>
          <p:nvPr/>
        </p:nvSpPr>
        <p:spPr bwMode="auto">
          <a:xfrm rot="20415472">
            <a:off x="998538" y="1622425"/>
            <a:ext cx="2570162" cy="485775"/>
          </a:xfrm>
          <a:prstGeom prst="rightArrow">
            <a:avLst>
              <a:gd name="adj1" fmla="val 50000"/>
              <a:gd name="adj2" fmla="val 132271"/>
            </a:avLst>
          </a:prstGeom>
          <a:solidFill>
            <a:srgbClr val="0000FF"/>
          </a:solidFill>
          <a:ln>
            <a:noFill/>
          </a:ln>
          <a:effectLst>
            <a:prstShdw prst="shdw17" dist="17961" dir="2700000">
              <a:srgbClr val="000099"/>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CA" altLang="en-US" sz="2400" b="0" i="0" u="none" strike="noStrike" kern="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endParaRPr>
          </a:p>
        </p:txBody>
      </p:sp>
      <p:sp>
        <p:nvSpPr>
          <p:cNvPr id="21" name="AutoShape 52"/>
          <p:cNvSpPr>
            <a:spLocks noChangeArrowheads="1"/>
          </p:cNvSpPr>
          <p:nvPr/>
        </p:nvSpPr>
        <p:spPr bwMode="auto">
          <a:xfrm rot="3098261">
            <a:off x="2223294" y="3201194"/>
            <a:ext cx="1808163" cy="485775"/>
          </a:xfrm>
          <a:prstGeom prst="rightArrow">
            <a:avLst>
              <a:gd name="adj1" fmla="val 50000"/>
              <a:gd name="adj2" fmla="val 93056"/>
            </a:avLst>
          </a:prstGeom>
          <a:solidFill>
            <a:srgbClr val="0000FF"/>
          </a:solidFill>
          <a:ln>
            <a:noFill/>
          </a:ln>
          <a:effectLst>
            <a:prstShdw prst="shdw17" dist="17961" dir="2700000">
              <a:srgbClr val="000099"/>
            </a:prstShdw>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1" fontAlgn="auto" latinLnBrk="0" hangingPunct="1">
              <a:lnSpc>
                <a:spcPct val="100000"/>
              </a:lnSpc>
              <a:spcBef>
                <a:spcPct val="0"/>
              </a:spcBef>
              <a:spcAft>
                <a:spcPts val="0"/>
              </a:spcAft>
              <a:buClrTx/>
              <a:buSzTx/>
              <a:buFontTx/>
              <a:buNone/>
              <a:tabLst/>
              <a:defRPr/>
            </a:pPr>
            <a:endParaRPr kumimoji="0" lang="en-CA" altLang="en-US" sz="2400" b="0" i="0" u="none" strike="noStrike" kern="0" cap="none" spc="0" normalizeH="0" baseline="0" noProof="0">
              <a:ln>
                <a:noFill/>
              </a:ln>
              <a:solidFill>
                <a:prstClr val="black"/>
              </a:solidFill>
              <a:effectLst/>
              <a:uLnTx/>
              <a:uFillTx/>
              <a:latin typeface="Times New Roman" panose="02020603050405020304" pitchFamily="18" charset="0"/>
              <a:ea typeface="ＭＳ Ｐゴシック" panose="020B0600070205080204" pitchFamily="34" charset="-128"/>
            </a:endParaRPr>
          </a:p>
        </p:txBody>
      </p:sp>
    </p:spTree>
    <p:extLst>
      <p:ext uri="{BB962C8B-B14F-4D97-AF65-F5344CB8AC3E}">
        <p14:creationId xmlns:p14="http://schemas.microsoft.com/office/powerpoint/2010/main" val="1351340514"/>
      </p:ext>
    </p:extLst>
  </p:cSld>
  <p:clrMapOvr>
    <a:masterClrMapping/>
  </p:clrMapOvr>
  <p:transition>
    <p:fade/>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5" name="Elbow Connector 74"/>
          <p:cNvCxnSpPr>
            <a:stCxn id="29" idx="2"/>
            <a:endCxn id="61" idx="0"/>
          </p:cNvCxnSpPr>
          <p:nvPr/>
        </p:nvCxnSpPr>
        <p:spPr>
          <a:xfrm rot="5400000">
            <a:off x="7085055" y="2837606"/>
            <a:ext cx="554810" cy="78748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Elbow Connector 73"/>
          <p:cNvCxnSpPr>
            <a:stCxn id="29" idx="2"/>
            <a:endCxn id="57" idx="0"/>
          </p:cNvCxnSpPr>
          <p:nvPr/>
        </p:nvCxnSpPr>
        <p:spPr>
          <a:xfrm rot="16200000" flipH="1">
            <a:off x="7764737" y="2945406"/>
            <a:ext cx="553727" cy="57079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1981199" y="304800"/>
            <a:ext cx="6400799"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 on equipment, injuring one worker &amp; damaging equipment</a:t>
            </a:r>
          </a:p>
        </p:txBody>
      </p:sp>
      <p:sp>
        <p:nvSpPr>
          <p:cNvPr id="25" name="TextBox 24"/>
          <p:cNvSpPr txBox="1"/>
          <p:nvPr/>
        </p:nvSpPr>
        <p:spPr>
          <a:xfrm>
            <a:off x="2064781" y="1445329"/>
            <a:ext cx="1497426"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a:t>
            </a:r>
          </a:p>
        </p:txBody>
      </p:sp>
      <p:sp>
        <p:nvSpPr>
          <p:cNvPr id="26" name="TextBox 25"/>
          <p:cNvSpPr txBox="1"/>
          <p:nvPr/>
        </p:nvSpPr>
        <p:spPr>
          <a:xfrm>
            <a:off x="5041992" y="1433198"/>
            <a:ext cx="2847927"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Equipment &amp; Operator Were In Exclusion Zone</a:t>
            </a:r>
          </a:p>
        </p:txBody>
      </p:sp>
      <p:sp>
        <p:nvSpPr>
          <p:cNvPr id="28" name="TextBox 27"/>
          <p:cNvSpPr txBox="1"/>
          <p:nvPr/>
        </p:nvSpPr>
        <p:spPr>
          <a:xfrm>
            <a:off x="1387799" y="2411244"/>
            <a:ext cx="1295149"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Unstable slope</a:t>
            </a:r>
          </a:p>
        </p:txBody>
      </p:sp>
      <p:sp>
        <p:nvSpPr>
          <p:cNvPr id="29" name="TextBox 28"/>
          <p:cNvSpPr txBox="1"/>
          <p:nvPr/>
        </p:nvSpPr>
        <p:spPr>
          <a:xfrm>
            <a:off x="6582082" y="2646165"/>
            <a:ext cx="2348238"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warning</a:t>
            </a:r>
          </a:p>
        </p:txBody>
      </p:sp>
      <p:sp>
        <p:nvSpPr>
          <p:cNvPr id="30" name="TextBox 29"/>
          <p:cNvSpPr txBox="1"/>
          <p:nvPr/>
        </p:nvSpPr>
        <p:spPr>
          <a:xfrm>
            <a:off x="3722068" y="2662052"/>
            <a:ext cx="277981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Didn’t follow exclusion zone procedures</a:t>
            </a:r>
          </a:p>
        </p:txBody>
      </p:sp>
      <p:sp>
        <p:nvSpPr>
          <p:cNvPr id="35" name="TextBox 34"/>
          <p:cNvSpPr txBox="1"/>
          <p:nvPr/>
        </p:nvSpPr>
        <p:spPr>
          <a:xfrm>
            <a:off x="712123" y="3555393"/>
            <a:ext cx="1223102"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construction</a:t>
            </a:r>
            <a:endPar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57" name="TextBox 56"/>
          <p:cNvSpPr txBox="1"/>
          <p:nvPr/>
        </p:nvSpPr>
        <p:spPr>
          <a:xfrm>
            <a:off x="7636358" y="3507669"/>
            <a:ext cx="138128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communication</a:t>
            </a:r>
          </a:p>
        </p:txBody>
      </p:sp>
      <p:sp>
        <p:nvSpPr>
          <p:cNvPr id="61" name="TextBox 60"/>
          <p:cNvSpPr txBox="1"/>
          <p:nvPr/>
        </p:nvSpPr>
        <p:spPr>
          <a:xfrm>
            <a:off x="6366395" y="3508752"/>
            <a:ext cx="1204648"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Monitoring data not evaluated</a:t>
            </a:r>
          </a:p>
        </p:txBody>
      </p:sp>
      <p:sp>
        <p:nvSpPr>
          <p:cNvPr id="62" name="TextBox 61"/>
          <p:cNvSpPr txBox="1"/>
          <p:nvPr/>
        </p:nvSpPr>
        <p:spPr>
          <a:xfrm>
            <a:off x="2909392" y="3815446"/>
            <a:ext cx="1656830" cy="738664"/>
          </a:xfrm>
          <a:prstGeom prst="rect">
            <a:avLst/>
          </a:prstGeom>
          <a:solidFill>
            <a:srgbClr val="FFFFFF"/>
          </a:solidFill>
          <a:ln>
            <a:solidFill>
              <a:schemeClr val="tx1"/>
            </a:solidFill>
          </a:ln>
        </p:spPr>
        <p:txBody>
          <a:bodyPr wrap="square" lIns="36000" tIns="36000" rIns="36000" bIns="3600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Operator not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trained on </a:t>
            </a: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exclusion zone procedures</a:t>
            </a:r>
          </a:p>
        </p:txBody>
      </p:sp>
      <p:sp>
        <p:nvSpPr>
          <p:cNvPr id="64" name="TextBox 63"/>
          <p:cNvSpPr txBox="1"/>
          <p:nvPr/>
        </p:nvSpPr>
        <p:spPr>
          <a:xfrm>
            <a:off x="4582551" y="3815446"/>
            <a:ext cx="1652427"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Supervisor told Op to </a:t>
            </a:r>
            <a:r>
              <a:rPr kumimoji="0" lang="en-US"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be inside </a:t>
            </a: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the exclusion zone</a:t>
            </a:r>
          </a:p>
        </p:txBody>
      </p:sp>
      <p:sp>
        <p:nvSpPr>
          <p:cNvPr id="51" name="TextBox 50">
            <a:extLst>
              <a:ext uri="{FF2B5EF4-FFF2-40B4-BE49-F238E27FC236}">
                <a16:creationId xmlns:a16="http://schemas.microsoft.com/office/drawing/2014/main" id="{C362153A-205B-4322-A65D-C1B7DE95D74A}"/>
              </a:ext>
            </a:extLst>
          </p:cNvPr>
          <p:cNvSpPr txBox="1"/>
          <p:nvPr/>
        </p:nvSpPr>
        <p:spPr>
          <a:xfrm>
            <a:off x="2841058" y="2424808"/>
            <a:ext cx="722900"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Rain</a:t>
            </a:r>
          </a:p>
        </p:txBody>
      </p:sp>
      <p:sp>
        <p:nvSpPr>
          <p:cNvPr id="67" name="TextBox 66">
            <a:extLst>
              <a:ext uri="{FF2B5EF4-FFF2-40B4-BE49-F238E27FC236}">
                <a16:creationId xmlns:a16="http://schemas.microsoft.com/office/drawing/2014/main" id="{880627F3-4C48-4BE7-88C6-ED37A2917A84}"/>
              </a:ext>
            </a:extLst>
          </p:cNvPr>
          <p:cNvSpPr txBox="1"/>
          <p:nvPr/>
        </p:nvSpPr>
        <p:spPr>
          <a:xfrm>
            <a:off x="1968091" y="3551772"/>
            <a:ext cx="872966"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design</a:t>
            </a:r>
          </a:p>
        </p:txBody>
      </p:sp>
      <p:sp>
        <p:nvSpPr>
          <p:cNvPr id="70" name="Flowchart: Punched Tape 69">
            <a:extLst>
              <a:ext uri="{FF2B5EF4-FFF2-40B4-BE49-F238E27FC236}">
                <a16:creationId xmlns:a16="http://schemas.microsoft.com/office/drawing/2014/main" id="{A8D8A9BD-33D5-420E-97D4-ED3FE6FA6D7D}"/>
              </a:ext>
            </a:extLst>
          </p:cNvPr>
          <p:cNvSpPr/>
          <p:nvPr/>
        </p:nvSpPr>
        <p:spPr bwMode="auto">
          <a:xfrm>
            <a:off x="7620101" y="3060747"/>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 name="Elbow Connector 4"/>
          <p:cNvCxnSpPr>
            <a:stCxn id="25" idx="2"/>
            <a:endCxn id="51" idx="0"/>
          </p:cNvCxnSpPr>
          <p:nvPr/>
        </p:nvCxnSpPr>
        <p:spPr>
          <a:xfrm rot="16200000" flipH="1">
            <a:off x="2672150" y="1894450"/>
            <a:ext cx="671702" cy="389014"/>
          </a:xfrm>
          <a:prstGeom prst="bentConnector3">
            <a:avLst>
              <a:gd name="adj1" fmla="val 8093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p:cNvCxnSpPr>
            <a:stCxn id="25" idx="2"/>
            <a:endCxn id="28" idx="0"/>
          </p:cNvCxnSpPr>
          <p:nvPr/>
        </p:nvCxnSpPr>
        <p:spPr>
          <a:xfrm rot="5400000">
            <a:off x="2095365" y="1693115"/>
            <a:ext cx="658138" cy="778120"/>
          </a:xfrm>
          <a:prstGeom prst="bentConnector3">
            <a:avLst>
              <a:gd name="adj1" fmla="val 8157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Flowchart: Delay 65">
            <a:extLst>
              <a:ext uri="{FF2B5EF4-FFF2-40B4-BE49-F238E27FC236}">
                <a16:creationId xmlns:a16="http://schemas.microsoft.com/office/drawing/2014/main" id="{48F56B4C-4C1D-4914-95FC-4759B4B992D0}"/>
              </a:ext>
            </a:extLst>
          </p:cNvPr>
          <p:cNvSpPr/>
          <p:nvPr/>
        </p:nvSpPr>
        <p:spPr>
          <a:xfrm rot="16200000">
            <a:off x="2679029" y="1911417"/>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18" name="Elbow Connector 17"/>
          <p:cNvCxnSpPr>
            <a:stCxn id="4" idx="2"/>
            <a:endCxn id="25" idx="0"/>
          </p:cNvCxnSpPr>
          <p:nvPr/>
        </p:nvCxnSpPr>
        <p:spPr>
          <a:xfrm rot="5400000">
            <a:off x="3581171" y="-155099"/>
            <a:ext cx="832752" cy="2368105"/>
          </a:xfrm>
          <a:prstGeom prst="bentConnector3">
            <a:avLst>
              <a:gd name="adj1" fmla="val 633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p:cNvCxnSpPr>
            <a:stCxn id="4" idx="2"/>
            <a:endCxn id="26" idx="0"/>
          </p:cNvCxnSpPr>
          <p:nvPr/>
        </p:nvCxnSpPr>
        <p:spPr>
          <a:xfrm rot="16200000" flipH="1">
            <a:off x="5413467" y="380708"/>
            <a:ext cx="820621" cy="1284357"/>
          </a:xfrm>
          <a:prstGeom prst="bentConnector3">
            <a:avLst>
              <a:gd name="adj1" fmla="val 6350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Flowchart: Delay 7"/>
          <p:cNvSpPr/>
          <p:nvPr/>
        </p:nvSpPr>
        <p:spPr>
          <a:xfrm rot="16200000">
            <a:off x="5047282" y="763888"/>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5" name="Elbow Connector 54"/>
          <p:cNvCxnSpPr>
            <a:stCxn id="26" idx="2"/>
            <a:endCxn id="29" idx="0"/>
          </p:cNvCxnSpPr>
          <p:nvPr/>
        </p:nvCxnSpPr>
        <p:spPr>
          <a:xfrm rot="16200000" flipH="1">
            <a:off x="6766205" y="1656168"/>
            <a:ext cx="689747" cy="1290245"/>
          </a:xfrm>
          <a:prstGeom prst="bentConnector3">
            <a:avLst>
              <a:gd name="adj1" fmla="val 720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Elbow Connector 58"/>
          <p:cNvCxnSpPr>
            <a:stCxn id="26" idx="2"/>
            <a:endCxn id="30" idx="0"/>
          </p:cNvCxnSpPr>
          <p:nvPr/>
        </p:nvCxnSpPr>
        <p:spPr>
          <a:xfrm rot="5400000">
            <a:off x="5436148" y="1632244"/>
            <a:ext cx="705634" cy="1353982"/>
          </a:xfrm>
          <a:prstGeom prst="bentConnector3">
            <a:avLst>
              <a:gd name="adj1" fmla="val 7159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Flowchart: Punched Tape 1">
            <a:extLst>
              <a:ext uri="{FF2B5EF4-FFF2-40B4-BE49-F238E27FC236}">
                <a16:creationId xmlns:a16="http://schemas.microsoft.com/office/drawing/2014/main" id="{CDBB2755-2E57-4292-ACF3-8ABB475BBFAE}"/>
              </a:ext>
            </a:extLst>
          </p:cNvPr>
          <p:cNvSpPr/>
          <p:nvPr/>
        </p:nvSpPr>
        <p:spPr bwMode="auto">
          <a:xfrm flipH="1">
            <a:off x="6316623" y="2099508"/>
            <a:ext cx="336011" cy="271586"/>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65" name="Elbow Connector 64"/>
          <p:cNvCxnSpPr>
            <a:stCxn id="28" idx="2"/>
            <a:endCxn id="67" idx="0"/>
          </p:cNvCxnSpPr>
          <p:nvPr/>
        </p:nvCxnSpPr>
        <p:spPr>
          <a:xfrm rot="16200000" flipH="1">
            <a:off x="1911320" y="3058518"/>
            <a:ext cx="617308" cy="3692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Elbow Connector 70"/>
          <p:cNvCxnSpPr>
            <a:stCxn id="28" idx="2"/>
            <a:endCxn id="35" idx="0"/>
          </p:cNvCxnSpPr>
          <p:nvPr/>
        </p:nvCxnSpPr>
        <p:spPr>
          <a:xfrm rot="5400000">
            <a:off x="1369060" y="2889078"/>
            <a:ext cx="620929" cy="7117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Flowchart: Punched Tape 67">
            <a:extLst>
              <a:ext uri="{FF2B5EF4-FFF2-40B4-BE49-F238E27FC236}">
                <a16:creationId xmlns:a16="http://schemas.microsoft.com/office/drawing/2014/main" id="{878F44D0-47E5-4B2E-9EF9-5E912B38548B}"/>
              </a:ext>
            </a:extLst>
          </p:cNvPr>
          <p:cNvSpPr/>
          <p:nvPr/>
        </p:nvSpPr>
        <p:spPr bwMode="auto">
          <a:xfrm>
            <a:off x="1897543" y="3052998"/>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72" name="Elbow Connector 71"/>
          <p:cNvCxnSpPr>
            <a:stCxn id="30" idx="2"/>
            <a:endCxn id="64" idx="0"/>
          </p:cNvCxnSpPr>
          <p:nvPr/>
        </p:nvCxnSpPr>
        <p:spPr>
          <a:xfrm rot="16200000" flipH="1">
            <a:off x="4945282" y="3351963"/>
            <a:ext cx="630174" cy="29679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Elbow Connector 72"/>
          <p:cNvCxnSpPr>
            <a:stCxn id="30" idx="2"/>
            <a:endCxn id="62" idx="0"/>
          </p:cNvCxnSpPr>
          <p:nvPr/>
        </p:nvCxnSpPr>
        <p:spPr>
          <a:xfrm rot="5400000">
            <a:off x="4109804" y="2813276"/>
            <a:ext cx="630174" cy="1374167"/>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Flowchart: Punched Tape 68">
            <a:extLst>
              <a:ext uri="{FF2B5EF4-FFF2-40B4-BE49-F238E27FC236}">
                <a16:creationId xmlns:a16="http://schemas.microsoft.com/office/drawing/2014/main" id="{0CBF65F1-61F1-43C7-A26B-B97AA653A457}"/>
              </a:ext>
            </a:extLst>
          </p:cNvPr>
          <p:cNvSpPr/>
          <p:nvPr/>
        </p:nvSpPr>
        <p:spPr bwMode="auto">
          <a:xfrm>
            <a:off x="4885340" y="3292226"/>
            <a:ext cx="423956" cy="300712"/>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60"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27</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6"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85" name="TextBox 84">
            <a:extLst>
              <a:ext uri="{FF2B5EF4-FFF2-40B4-BE49-F238E27FC236}">
                <a16:creationId xmlns:a16="http://schemas.microsoft.com/office/drawing/2014/main" id="{FBED4873-AA48-4F0A-ADAA-65FC9815F027}"/>
              </a:ext>
            </a:extLst>
          </p:cNvPr>
          <p:cNvSpPr txBox="1"/>
          <p:nvPr/>
        </p:nvSpPr>
        <p:spPr>
          <a:xfrm>
            <a:off x="489907" y="4718696"/>
            <a:ext cx="8273093" cy="1015663"/>
          </a:xfrm>
          <a:prstGeom prst="rect">
            <a:avLst/>
          </a:prstGeom>
          <a:solidFill>
            <a:schemeClr val="tx1"/>
          </a:solidFill>
          <a:ln w="9525" algn="ctr">
            <a:solidFill>
              <a:schemeClr val="tx1"/>
            </a:solidFill>
            <a:miter lim="800000"/>
            <a:headEnd/>
            <a:tailEnd/>
          </a:ln>
          <a:effectLst/>
        </p:spPr>
        <p:txBody>
          <a:bodyPr/>
          <a:lstStyle>
            <a:defPPr>
              <a:defRPr lang="en-US"/>
            </a:defPPr>
            <a:lvl1pPr marL="457200" indent="-457200">
              <a:spcBef>
                <a:spcPts val="0"/>
              </a:spcBef>
              <a:buClr>
                <a:srgbClr val="000000"/>
              </a:buClr>
              <a:buSzTx/>
              <a:buFont typeface="Wingdings" panose="05000000000000000000" pitchFamily="2" charset="2"/>
              <a:buNone/>
              <a:defRPr sz="2000">
                <a:solidFill>
                  <a:srgbClr val="FFFFFF"/>
                </a:solidFill>
                <a:latin typeface="Arial" panose="020B0604020202020204" pitchFamily="34" charset="0"/>
                <a:ea typeface="ＭＳ Ｐゴシック" panose="020B0600070205080204" pitchFamily="34" charset="-128"/>
              </a:defRPr>
            </a:lvl1pPr>
            <a:lvl2pPr marL="742950" lvl="1" indent="-285750">
              <a:spcBef>
                <a:spcPts val="0"/>
              </a:spcBef>
              <a:buFont typeface="Wingdings" panose="05000000000000000000" pitchFamily="2" charset="2"/>
              <a:buChar char="Ø"/>
              <a:defRPr sz="2000">
                <a:solidFill>
                  <a:srgbClr val="FFFFFF"/>
                </a:solidFill>
                <a:latin typeface="Arial" panose="020B0604020202020204" pitchFamily="34" charset="0"/>
                <a:ea typeface="ＭＳ Ｐゴシック" panose="020B0600070205080204" pitchFamily="34" charset="-128"/>
              </a:defRPr>
            </a:lvl2pPr>
            <a:lvl3pPr marL="1143000" indent="-228600">
              <a:spcBef>
                <a:spcPct val="20000"/>
              </a:spcBef>
              <a:buChar char="•"/>
              <a:defRPr sz="2400">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9pPr>
          </a:lstStyle>
          <a:p>
            <a:pPr marL="457200" marR="0" lvl="0" indent="-457200" algn="l" defTabSz="914400" rtl="0" eaLnBrk="1" fontAlgn="auto" latinLnBrk="0" hangingPunct="1">
              <a:lnSpc>
                <a:spcPct val="100000"/>
              </a:lnSpc>
              <a:spcBef>
                <a:spcPts val="0"/>
              </a:spcBef>
              <a:spcAft>
                <a:spcPts val="0"/>
              </a:spcAft>
              <a:buClr>
                <a:srgbClr val="000000"/>
              </a:buClr>
              <a:buSzTx/>
              <a:buFont typeface="Wingdings" panose="05000000000000000000" pitchFamily="2" charset="2"/>
              <a:buNone/>
              <a:tabLst/>
              <a:defRPr/>
            </a:pP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Can you</a:t>
            </a:r>
            <a:r>
              <a:rPr kumimoji="0" lang="en-CA" sz="2000" b="0" i="1" u="none" strike="noStrike" kern="1200" cap="none" spc="0" normalizeH="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 identify</a:t>
            </a:r>
            <a:r>
              <a:rPr lang="en-CA" b="0" i="1" dirty="0" smtClean="0"/>
              <a:t> three</a:t>
            </a: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 </a:t>
            </a: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immediate </a:t>
            </a: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causes? </a:t>
            </a:r>
            <a:endPar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endParaRPr>
          </a:p>
        </p:txBody>
      </p:sp>
      <p:sp>
        <p:nvSpPr>
          <p:cNvPr id="86" name="TextBox 85"/>
          <p:cNvSpPr txBox="1"/>
          <p:nvPr/>
        </p:nvSpPr>
        <p:spPr>
          <a:xfrm>
            <a:off x="98985" y="215160"/>
            <a:ext cx="11880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Incident </a:t>
            </a:r>
            <a:r>
              <a:rPr lang="en-CA" sz="1400" b="0" dirty="0" smtClean="0">
                <a:solidFill>
                  <a:srgbClr val="FF0000"/>
                </a:solidFill>
                <a:latin typeface="Arial" panose="020B0604020202020204" pitchFamily="34" charset="0"/>
                <a:cs typeface="Arial" panose="020B0604020202020204" pitchFamily="34" charset="0"/>
              </a:rPr>
              <a:t>Description</a:t>
            </a:r>
            <a:endPar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3002812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Right Arrow 45">
            <a:extLst>
              <a:ext uri="{FF2B5EF4-FFF2-40B4-BE49-F238E27FC236}">
                <a16:creationId xmlns:a16="http://schemas.microsoft.com/office/drawing/2014/main" id="{D51CC670-33B2-48D1-9477-2961E896065F}"/>
              </a:ext>
            </a:extLst>
          </p:cNvPr>
          <p:cNvSpPr/>
          <p:nvPr/>
        </p:nvSpPr>
        <p:spPr>
          <a:xfrm rot="429013">
            <a:off x="1642362" y="1365790"/>
            <a:ext cx="3298819" cy="396010"/>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fontAlgn="auto">
              <a:spcBef>
                <a:spcPts val="0"/>
              </a:spcBef>
              <a:spcAft>
                <a:spcPts val="0"/>
              </a:spcAft>
            </a:pPr>
            <a:endParaRPr lang="en-CA" sz="1400" b="0">
              <a:solidFill>
                <a:prstClr val="black">
                  <a:lumMod val="85000"/>
                  <a:lumOff val="15000"/>
                </a:prstClr>
              </a:solidFill>
              <a:latin typeface="Arial" panose="020B0604020202020204" pitchFamily="34" charset="0"/>
              <a:cs typeface="Arial" panose="020B0604020202020204" pitchFamily="34" charset="0"/>
            </a:endParaRPr>
          </a:p>
        </p:txBody>
      </p:sp>
      <p:cxnSp>
        <p:nvCxnSpPr>
          <p:cNvPr id="75" name="Elbow Connector 74"/>
          <p:cNvCxnSpPr>
            <a:stCxn id="29" idx="2"/>
            <a:endCxn id="61" idx="0"/>
          </p:cNvCxnSpPr>
          <p:nvPr/>
        </p:nvCxnSpPr>
        <p:spPr>
          <a:xfrm rot="5400000">
            <a:off x="7085055" y="2837606"/>
            <a:ext cx="554810" cy="78748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Elbow Connector 73"/>
          <p:cNvCxnSpPr>
            <a:stCxn id="29" idx="2"/>
            <a:endCxn id="57" idx="0"/>
          </p:cNvCxnSpPr>
          <p:nvPr/>
        </p:nvCxnSpPr>
        <p:spPr>
          <a:xfrm rot="16200000" flipH="1">
            <a:off x="7764737" y="2945406"/>
            <a:ext cx="553727" cy="57079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1981199" y="304800"/>
            <a:ext cx="6400799"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 on equipment, injuring one worker &amp; damaging equipment</a:t>
            </a:r>
          </a:p>
        </p:txBody>
      </p:sp>
      <p:sp>
        <p:nvSpPr>
          <p:cNvPr id="25" name="TextBox 24"/>
          <p:cNvSpPr txBox="1"/>
          <p:nvPr/>
        </p:nvSpPr>
        <p:spPr>
          <a:xfrm>
            <a:off x="2064781" y="1445329"/>
            <a:ext cx="1497426"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a:t>
            </a:r>
          </a:p>
        </p:txBody>
      </p:sp>
      <p:sp>
        <p:nvSpPr>
          <p:cNvPr id="26" name="TextBox 25"/>
          <p:cNvSpPr txBox="1"/>
          <p:nvPr/>
        </p:nvSpPr>
        <p:spPr>
          <a:xfrm>
            <a:off x="5041992" y="1433198"/>
            <a:ext cx="2847927"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Equipment &amp; Operator Were In Exclusion Zone</a:t>
            </a:r>
          </a:p>
        </p:txBody>
      </p:sp>
      <p:sp>
        <p:nvSpPr>
          <p:cNvPr id="28" name="TextBox 27"/>
          <p:cNvSpPr txBox="1"/>
          <p:nvPr/>
        </p:nvSpPr>
        <p:spPr>
          <a:xfrm>
            <a:off x="1387799" y="2411244"/>
            <a:ext cx="1295149"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Unstable slope</a:t>
            </a:r>
          </a:p>
        </p:txBody>
      </p:sp>
      <p:sp>
        <p:nvSpPr>
          <p:cNvPr id="29" name="TextBox 28"/>
          <p:cNvSpPr txBox="1"/>
          <p:nvPr/>
        </p:nvSpPr>
        <p:spPr>
          <a:xfrm>
            <a:off x="6582082" y="2646165"/>
            <a:ext cx="2348238"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warning</a:t>
            </a:r>
          </a:p>
        </p:txBody>
      </p:sp>
      <p:sp>
        <p:nvSpPr>
          <p:cNvPr id="30" name="TextBox 29"/>
          <p:cNvSpPr txBox="1"/>
          <p:nvPr/>
        </p:nvSpPr>
        <p:spPr>
          <a:xfrm>
            <a:off x="3722068" y="2662052"/>
            <a:ext cx="277981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Didn’t follow exclusion zone procedures</a:t>
            </a:r>
          </a:p>
        </p:txBody>
      </p:sp>
      <p:sp>
        <p:nvSpPr>
          <p:cNvPr id="35" name="TextBox 34"/>
          <p:cNvSpPr txBox="1"/>
          <p:nvPr/>
        </p:nvSpPr>
        <p:spPr>
          <a:xfrm>
            <a:off x="712123" y="3555393"/>
            <a:ext cx="1223102"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construction</a:t>
            </a:r>
            <a:endPar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39" name="Right Arrow 38"/>
          <p:cNvSpPr/>
          <p:nvPr/>
        </p:nvSpPr>
        <p:spPr>
          <a:xfrm>
            <a:off x="1303293" y="352915"/>
            <a:ext cx="457200" cy="247710"/>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46" name="Right Arrow 45"/>
          <p:cNvSpPr/>
          <p:nvPr/>
        </p:nvSpPr>
        <p:spPr>
          <a:xfrm rot="2742197">
            <a:off x="1244103" y="1799338"/>
            <a:ext cx="537837" cy="311184"/>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50" name="TextBox 49"/>
          <p:cNvSpPr txBox="1"/>
          <p:nvPr/>
        </p:nvSpPr>
        <p:spPr>
          <a:xfrm>
            <a:off x="489907" y="1147393"/>
            <a:ext cx="12192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Immediate Causes</a:t>
            </a:r>
          </a:p>
        </p:txBody>
      </p:sp>
      <p:sp>
        <p:nvSpPr>
          <p:cNvPr id="57" name="TextBox 56"/>
          <p:cNvSpPr txBox="1"/>
          <p:nvPr/>
        </p:nvSpPr>
        <p:spPr>
          <a:xfrm>
            <a:off x="7636358" y="3507669"/>
            <a:ext cx="138128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communication</a:t>
            </a:r>
          </a:p>
        </p:txBody>
      </p:sp>
      <p:cxnSp>
        <p:nvCxnSpPr>
          <p:cNvPr id="58" name="Straight Connector 57"/>
          <p:cNvCxnSpPr/>
          <p:nvPr/>
        </p:nvCxnSpPr>
        <p:spPr>
          <a:xfrm>
            <a:off x="6201340" y="4323278"/>
            <a:ext cx="0"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p:cNvSpPr txBox="1"/>
          <p:nvPr/>
        </p:nvSpPr>
        <p:spPr>
          <a:xfrm>
            <a:off x="6366395" y="3508752"/>
            <a:ext cx="1204648"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Monitoring data not evaluated</a:t>
            </a:r>
          </a:p>
        </p:txBody>
      </p:sp>
      <p:sp>
        <p:nvSpPr>
          <p:cNvPr id="62" name="TextBox 61"/>
          <p:cNvSpPr txBox="1"/>
          <p:nvPr/>
        </p:nvSpPr>
        <p:spPr>
          <a:xfrm>
            <a:off x="2909392" y="3815446"/>
            <a:ext cx="1656830" cy="738664"/>
          </a:xfrm>
          <a:prstGeom prst="rect">
            <a:avLst/>
          </a:prstGeom>
          <a:solidFill>
            <a:srgbClr val="FFFFFF"/>
          </a:solidFill>
          <a:ln>
            <a:solidFill>
              <a:schemeClr val="tx1"/>
            </a:solidFill>
          </a:ln>
        </p:spPr>
        <p:txBody>
          <a:bodyPr wrap="square" lIns="36000" tIns="36000" rIns="36000" bIns="3600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Operator not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trained on </a:t>
            </a: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exclusion zone procedures</a:t>
            </a:r>
          </a:p>
        </p:txBody>
      </p:sp>
      <p:sp>
        <p:nvSpPr>
          <p:cNvPr id="64" name="TextBox 63"/>
          <p:cNvSpPr txBox="1"/>
          <p:nvPr/>
        </p:nvSpPr>
        <p:spPr>
          <a:xfrm>
            <a:off x="4582551" y="3815446"/>
            <a:ext cx="1652427"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Supervisor told Op to </a:t>
            </a:r>
            <a:r>
              <a:rPr kumimoji="0" lang="en-US"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be inside </a:t>
            </a: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the exclusion zone</a:t>
            </a:r>
          </a:p>
        </p:txBody>
      </p:sp>
      <p:sp>
        <p:nvSpPr>
          <p:cNvPr id="51" name="TextBox 50">
            <a:extLst>
              <a:ext uri="{FF2B5EF4-FFF2-40B4-BE49-F238E27FC236}">
                <a16:creationId xmlns:a16="http://schemas.microsoft.com/office/drawing/2014/main" id="{C362153A-205B-4322-A65D-C1B7DE95D74A}"/>
              </a:ext>
            </a:extLst>
          </p:cNvPr>
          <p:cNvSpPr txBox="1"/>
          <p:nvPr/>
        </p:nvSpPr>
        <p:spPr>
          <a:xfrm>
            <a:off x="2841058" y="2424808"/>
            <a:ext cx="722900"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Rain</a:t>
            </a:r>
          </a:p>
        </p:txBody>
      </p:sp>
      <p:sp>
        <p:nvSpPr>
          <p:cNvPr id="67" name="TextBox 66">
            <a:extLst>
              <a:ext uri="{FF2B5EF4-FFF2-40B4-BE49-F238E27FC236}">
                <a16:creationId xmlns:a16="http://schemas.microsoft.com/office/drawing/2014/main" id="{880627F3-4C48-4BE7-88C6-ED37A2917A84}"/>
              </a:ext>
            </a:extLst>
          </p:cNvPr>
          <p:cNvSpPr txBox="1"/>
          <p:nvPr/>
        </p:nvSpPr>
        <p:spPr>
          <a:xfrm>
            <a:off x="1968091" y="3551772"/>
            <a:ext cx="872966"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design</a:t>
            </a:r>
          </a:p>
        </p:txBody>
      </p:sp>
      <p:sp>
        <p:nvSpPr>
          <p:cNvPr id="70" name="Flowchart: Punched Tape 69">
            <a:extLst>
              <a:ext uri="{FF2B5EF4-FFF2-40B4-BE49-F238E27FC236}">
                <a16:creationId xmlns:a16="http://schemas.microsoft.com/office/drawing/2014/main" id="{A8D8A9BD-33D5-420E-97D4-ED3FE6FA6D7D}"/>
              </a:ext>
            </a:extLst>
          </p:cNvPr>
          <p:cNvSpPr/>
          <p:nvPr/>
        </p:nvSpPr>
        <p:spPr bwMode="auto">
          <a:xfrm>
            <a:off x="7620101" y="3060747"/>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63" name="Right Arrow 45">
            <a:extLst>
              <a:ext uri="{FF2B5EF4-FFF2-40B4-BE49-F238E27FC236}">
                <a16:creationId xmlns:a16="http://schemas.microsoft.com/office/drawing/2014/main" id="{D51CC670-33B2-48D1-9477-2961E896065F}"/>
              </a:ext>
            </a:extLst>
          </p:cNvPr>
          <p:cNvSpPr/>
          <p:nvPr/>
        </p:nvSpPr>
        <p:spPr>
          <a:xfrm rot="1022632">
            <a:off x="1619781" y="1936363"/>
            <a:ext cx="2199097" cy="361338"/>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 name="Elbow Connector 4"/>
          <p:cNvCxnSpPr>
            <a:stCxn id="25" idx="2"/>
            <a:endCxn id="51" idx="0"/>
          </p:cNvCxnSpPr>
          <p:nvPr/>
        </p:nvCxnSpPr>
        <p:spPr>
          <a:xfrm rot="16200000" flipH="1">
            <a:off x="2672150" y="1894450"/>
            <a:ext cx="671702" cy="389014"/>
          </a:xfrm>
          <a:prstGeom prst="bentConnector3">
            <a:avLst>
              <a:gd name="adj1" fmla="val 8093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p:cNvCxnSpPr>
            <a:stCxn id="25" idx="2"/>
            <a:endCxn id="28" idx="0"/>
          </p:cNvCxnSpPr>
          <p:nvPr/>
        </p:nvCxnSpPr>
        <p:spPr>
          <a:xfrm rot="5400000">
            <a:off x="2095365" y="1693115"/>
            <a:ext cx="658138" cy="778120"/>
          </a:xfrm>
          <a:prstGeom prst="bentConnector3">
            <a:avLst>
              <a:gd name="adj1" fmla="val 8157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Flowchart: Delay 65">
            <a:extLst>
              <a:ext uri="{FF2B5EF4-FFF2-40B4-BE49-F238E27FC236}">
                <a16:creationId xmlns:a16="http://schemas.microsoft.com/office/drawing/2014/main" id="{48F56B4C-4C1D-4914-95FC-4759B4B992D0}"/>
              </a:ext>
            </a:extLst>
          </p:cNvPr>
          <p:cNvSpPr/>
          <p:nvPr/>
        </p:nvSpPr>
        <p:spPr>
          <a:xfrm rot="16200000">
            <a:off x="2679029" y="1911417"/>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18" name="Elbow Connector 17"/>
          <p:cNvCxnSpPr>
            <a:stCxn id="4" idx="2"/>
            <a:endCxn id="25" idx="0"/>
          </p:cNvCxnSpPr>
          <p:nvPr/>
        </p:nvCxnSpPr>
        <p:spPr>
          <a:xfrm rot="5400000">
            <a:off x="3581171" y="-155099"/>
            <a:ext cx="832752" cy="2368105"/>
          </a:xfrm>
          <a:prstGeom prst="bentConnector3">
            <a:avLst>
              <a:gd name="adj1" fmla="val 633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p:cNvCxnSpPr>
            <a:stCxn id="4" idx="2"/>
            <a:endCxn id="26" idx="0"/>
          </p:cNvCxnSpPr>
          <p:nvPr/>
        </p:nvCxnSpPr>
        <p:spPr>
          <a:xfrm rot="16200000" flipH="1">
            <a:off x="5413467" y="380708"/>
            <a:ext cx="820621" cy="1284357"/>
          </a:xfrm>
          <a:prstGeom prst="bentConnector3">
            <a:avLst>
              <a:gd name="adj1" fmla="val 6350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Flowchart: Delay 7"/>
          <p:cNvSpPr/>
          <p:nvPr/>
        </p:nvSpPr>
        <p:spPr>
          <a:xfrm rot="16200000">
            <a:off x="5047282" y="763888"/>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5" name="Elbow Connector 54"/>
          <p:cNvCxnSpPr>
            <a:stCxn id="26" idx="2"/>
            <a:endCxn id="29" idx="0"/>
          </p:cNvCxnSpPr>
          <p:nvPr/>
        </p:nvCxnSpPr>
        <p:spPr>
          <a:xfrm rot="16200000" flipH="1">
            <a:off x="6766205" y="1656168"/>
            <a:ext cx="689747" cy="1290245"/>
          </a:xfrm>
          <a:prstGeom prst="bentConnector3">
            <a:avLst>
              <a:gd name="adj1" fmla="val 720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Elbow Connector 58"/>
          <p:cNvCxnSpPr>
            <a:stCxn id="26" idx="2"/>
            <a:endCxn id="30" idx="0"/>
          </p:cNvCxnSpPr>
          <p:nvPr/>
        </p:nvCxnSpPr>
        <p:spPr>
          <a:xfrm rot="5400000">
            <a:off x="5436148" y="1632244"/>
            <a:ext cx="705634" cy="1353982"/>
          </a:xfrm>
          <a:prstGeom prst="bentConnector3">
            <a:avLst>
              <a:gd name="adj1" fmla="val 7159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Flowchart: Punched Tape 1">
            <a:extLst>
              <a:ext uri="{FF2B5EF4-FFF2-40B4-BE49-F238E27FC236}">
                <a16:creationId xmlns:a16="http://schemas.microsoft.com/office/drawing/2014/main" id="{CDBB2755-2E57-4292-ACF3-8ABB475BBFAE}"/>
              </a:ext>
            </a:extLst>
          </p:cNvPr>
          <p:cNvSpPr/>
          <p:nvPr/>
        </p:nvSpPr>
        <p:spPr bwMode="auto">
          <a:xfrm flipH="1">
            <a:off x="6316623" y="2099508"/>
            <a:ext cx="336011" cy="271586"/>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65" name="Elbow Connector 64"/>
          <p:cNvCxnSpPr>
            <a:stCxn id="28" idx="2"/>
            <a:endCxn id="67" idx="0"/>
          </p:cNvCxnSpPr>
          <p:nvPr/>
        </p:nvCxnSpPr>
        <p:spPr>
          <a:xfrm rot="16200000" flipH="1">
            <a:off x="1911320" y="3058518"/>
            <a:ext cx="617308" cy="3692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Elbow Connector 70"/>
          <p:cNvCxnSpPr>
            <a:stCxn id="28" idx="2"/>
            <a:endCxn id="35" idx="0"/>
          </p:cNvCxnSpPr>
          <p:nvPr/>
        </p:nvCxnSpPr>
        <p:spPr>
          <a:xfrm rot="5400000">
            <a:off x="1369060" y="2889078"/>
            <a:ext cx="620929" cy="7117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Flowchart: Punched Tape 67">
            <a:extLst>
              <a:ext uri="{FF2B5EF4-FFF2-40B4-BE49-F238E27FC236}">
                <a16:creationId xmlns:a16="http://schemas.microsoft.com/office/drawing/2014/main" id="{878F44D0-47E5-4B2E-9EF9-5E912B38548B}"/>
              </a:ext>
            </a:extLst>
          </p:cNvPr>
          <p:cNvSpPr/>
          <p:nvPr/>
        </p:nvSpPr>
        <p:spPr bwMode="auto">
          <a:xfrm>
            <a:off x="1897543" y="3052998"/>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72" name="Elbow Connector 71"/>
          <p:cNvCxnSpPr>
            <a:stCxn id="30" idx="2"/>
            <a:endCxn id="64" idx="0"/>
          </p:cNvCxnSpPr>
          <p:nvPr/>
        </p:nvCxnSpPr>
        <p:spPr>
          <a:xfrm rot="16200000" flipH="1">
            <a:off x="4945282" y="3351963"/>
            <a:ext cx="630174" cy="29679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Elbow Connector 72"/>
          <p:cNvCxnSpPr>
            <a:stCxn id="30" idx="2"/>
            <a:endCxn id="62" idx="0"/>
          </p:cNvCxnSpPr>
          <p:nvPr/>
        </p:nvCxnSpPr>
        <p:spPr>
          <a:xfrm rot="5400000">
            <a:off x="4109804" y="2813276"/>
            <a:ext cx="630174" cy="1374167"/>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Flowchart: Punched Tape 68">
            <a:extLst>
              <a:ext uri="{FF2B5EF4-FFF2-40B4-BE49-F238E27FC236}">
                <a16:creationId xmlns:a16="http://schemas.microsoft.com/office/drawing/2014/main" id="{0CBF65F1-61F1-43C7-A26B-B97AA653A457}"/>
              </a:ext>
            </a:extLst>
          </p:cNvPr>
          <p:cNvSpPr/>
          <p:nvPr/>
        </p:nvSpPr>
        <p:spPr bwMode="auto">
          <a:xfrm>
            <a:off x="4885340" y="3292226"/>
            <a:ext cx="423956" cy="300712"/>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78" name="Rounded Rectangle 77"/>
          <p:cNvSpPr/>
          <p:nvPr/>
        </p:nvSpPr>
        <p:spPr>
          <a:xfrm>
            <a:off x="4953000" y="1284055"/>
            <a:ext cx="3165764"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28</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6"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53" name="Rounded Rectangle 52"/>
          <p:cNvSpPr/>
          <p:nvPr/>
        </p:nvSpPr>
        <p:spPr>
          <a:xfrm>
            <a:off x="1334557" y="2259442"/>
            <a:ext cx="1441090"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 name="Rounded Rectangle 53"/>
          <p:cNvSpPr/>
          <p:nvPr/>
        </p:nvSpPr>
        <p:spPr>
          <a:xfrm>
            <a:off x="3627330" y="2529445"/>
            <a:ext cx="2978826"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5" name="TextBox 84">
            <a:extLst>
              <a:ext uri="{FF2B5EF4-FFF2-40B4-BE49-F238E27FC236}">
                <a16:creationId xmlns:a16="http://schemas.microsoft.com/office/drawing/2014/main" id="{FBED4873-AA48-4F0A-ADAA-65FC9815F027}"/>
              </a:ext>
            </a:extLst>
          </p:cNvPr>
          <p:cNvSpPr txBox="1"/>
          <p:nvPr/>
        </p:nvSpPr>
        <p:spPr>
          <a:xfrm>
            <a:off x="489907" y="4718696"/>
            <a:ext cx="8273093" cy="1015663"/>
          </a:xfrm>
          <a:prstGeom prst="rect">
            <a:avLst/>
          </a:prstGeom>
          <a:solidFill>
            <a:schemeClr val="tx1"/>
          </a:solidFill>
          <a:ln w="9525" algn="ctr">
            <a:solidFill>
              <a:schemeClr val="tx1"/>
            </a:solidFill>
            <a:miter lim="800000"/>
            <a:headEnd/>
            <a:tailEnd/>
          </a:ln>
          <a:effectLst/>
        </p:spPr>
        <p:txBody>
          <a:bodyPr/>
          <a:lstStyle>
            <a:defPPr>
              <a:defRPr lang="en-US"/>
            </a:defPPr>
            <a:lvl1pPr marL="457200" indent="-457200">
              <a:spcBef>
                <a:spcPts val="0"/>
              </a:spcBef>
              <a:buClr>
                <a:srgbClr val="000000"/>
              </a:buClr>
              <a:buSzTx/>
              <a:buFont typeface="Wingdings" panose="05000000000000000000" pitchFamily="2" charset="2"/>
              <a:buNone/>
              <a:defRPr sz="2000">
                <a:solidFill>
                  <a:srgbClr val="FFFFFF"/>
                </a:solidFill>
                <a:latin typeface="Arial" panose="020B0604020202020204" pitchFamily="34" charset="0"/>
                <a:ea typeface="ＭＳ Ｐゴシック" panose="020B0600070205080204" pitchFamily="34" charset="-128"/>
              </a:defRPr>
            </a:lvl1pPr>
            <a:lvl2pPr marL="742950" lvl="1" indent="-285750">
              <a:spcBef>
                <a:spcPts val="0"/>
              </a:spcBef>
              <a:buFont typeface="Wingdings" panose="05000000000000000000" pitchFamily="2" charset="2"/>
              <a:buChar char="Ø"/>
              <a:defRPr sz="2000">
                <a:solidFill>
                  <a:srgbClr val="FFFFFF"/>
                </a:solidFill>
                <a:latin typeface="Arial" panose="020B0604020202020204" pitchFamily="34" charset="0"/>
                <a:ea typeface="ＭＳ Ｐゴシック" panose="020B0600070205080204" pitchFamily="34" charset="-128"/>
              </a:defRPr>
            </a:lvl2pPr>
            <a:lvl3pPr marL="1143000" indent="-228600">
              <a:spcBef>
                <a:spcPct val="20000"/>
              </a:spcBef>
              <a:buChar char="•"/>
              <a:defRPr sz="2400">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9pPr>
          </a:lstStyle>
          <a:p>
            <a:pPr marL="457200" marR="0" lvl="0" indent="-457200" algn="l" defTabSz="914400" rtl="0" eaLnBrk="1" fontAlgn="auto" latinLnBrk="0" hangingPunct="1">
              <a:lnSpc>
                <a:spcPct val="100000"/>
              </a:lnSpc>
              <a:spcBef>
                <a:spcPts val="0"/>
              </a:spcBef>
              <a:spcAft>
                <a:spcPts val="0"/>
              </a:spcAft>
              <a:buClr>
                <a:srgbClr val="000000"/>
              </a:buClr>
              <a:buSzTx/>
              <a:buFont typeface="Wingdings" panose="05000000000000000000" pitchFamily="2" charset="2"/>
              <a:buNone/>
              <a:tabLst/>
              <a:defRPr/>
            </a:pP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How could </a:t>
            </a:r>
            <a:r>
              <a:rPr lang="en-CA" b="0" i="1" dirty="0" smtClean="0"/>
              <a:t>these three</a:t>
            </a: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 </a:t>
            </a: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immediate causes be categorized? </a:t>
            </a:r>
          </a:p>
          <a:p>
            <a:pPr marL="457200" marR="0" lvl="0" indent="-45720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Sub-standard condition? </a:t>
            </a:r>
          </a:p>
          <a:p>
            <a:pPr marL="457200" marR="0" lvl="0" indent="-45720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Sub-standard work practice?</a:t>
            </a:r>
          </a:p>
        </p:txBody>
      </p:sp>
      <p:sp>
        <p:nvSpPr>
          <p:cNvPr id="86" name="TextBox 85"/>
          <p:cNvSpPr txBox="1"/>
          <p:nvPr/>
        </p:nvSpPr>
        <p:spPr>
          <a:xfrm>
            <a:off x="98985" y="215160"/>
            <a:ext cx="11880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Incident </a:t>
            </a:r>
            <a:r>
              <a:rPr lang="en-CA" sz="1400" b="0" dirty="0" smtClean="0">
                <a:solidFill>
                  <a:srgbClr val="FF0000"/>
                </a:solidFill>
                <a:latin typeface="Arial" panose="020B0604020202020204" pitchFamily="34" charset="0"/>
                <a:cs typeface="Arial" panose="020B0604020202020204" pitchFamily="34" charset="0"/>
              </a:rPr>
              <a:t>Description</a:t>
            </a:r>
            <a:endPar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2845964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Right Arrow 45">
            <a:extLst>
              <a:ext uri="{FF2B5EF4-FFF2-40B4-BE49-F238E27FC236}">
                <a16:creationId xmlns:a16="http://schemas.microsoft.com/office/drawing/2014/main" id="{D51CC670-33B2-48D1-9477-2961E896065F}"/>
              </a:ext>
            </a:extLst>
          </p:cNvPr>
          <p:cNvSpPr/>
          <p:nvPr/>
        </p:nvSpPr>
        <p:spPr>
          <a:xfrm>
            <a:off x="1709107" y="1246720"/>
            <a:ext cx="3298819" cy="396010"/>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75" name="Elbow Connector 74"/>
          <p:cNvCxnSpPr>
            <a:stCxn id="29" idx="2"/>
            <a:endCxn id="61" idx="0"/>
          </p:cNvCxnSpPr>
          <p:nvPr/>
        </p:nvCxnSpPr>
        <p:spPr>
          <a:xfrm rot="5400000">
            <a:off x="7085055" y="2837606"/>
            <a:ext cx="554810" cy="78748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Elbow Connector 73"/>
          <p:cNvCxnSpPr>
            <a:stCxn id="29" idx="2"/>
            <a:endCxn id="57" idx="0"/>
          </p:cNvCxnSpPr>
          <p:nvPr/>
        </p:nvCxnSpPr>
        <p:spPr>
          <a:xfrm rot="16200000" flipH="1">
            <a:off x="7764737" y="2945406"/>
            <a:ext cx="553727" cy="57079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1981199" y="304800"/>
            <a:ext cx="6400799"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 on equipment, injuring one worker &amp; damaging equipment</a:t>
            </a:r>
          </a:p>
        </p:txBody>
      </p:sp>
      <p:sp>
        <p:nvSpPr>
          <p:cNvPr id="25" name="TextBox 24"/>
          <p:cNvSpPr txBox="1"/>
          <p:nvPr/>
        </p:nvSpPr>
        <p:spPr>
          <a:xfrm>
            <a:off x="2064781" y="1445329"/>
            <a:ext cx="1497426"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a:t>
            </a:r>
          </a:p>
        </p:txBody>
      </p:sp>
      <p:sp>
        <p:nvSpPr>
          <p:cNvPr id="26" name="TextBox 25"/>
          <p:cNvSpPr txBox="1"/>
          <p:nvPr/>
        </p:nvSpPr>
        <p:spPr>
          <a:xfrm>
            <a:off x="5041992" y="1433198"/>
            <a:ext cx="2847927"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Equipment &amp; Operator Were In Exclusion Zone</a:t>
            </a:r>
          </a:p>
        </p:txBody>
      </p:sp>
      <p:sp>
        <p:nvSpPr>
          <p:cNvPr id="28" name="TextBox 27"/>
          <p:cNvSpPr txBox="1"/>
          <p:nvPr/>
        </p:nvSpPr>
        <p:spPr>
          <a:xfrm>
            <a:off x="1387799" y="2411244"/>
            <a:ext cx="1295149"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Unstable slope</a:t>
            </a:r>
          </a:p>
        </p:txBody>
      </p:sp>
      <p:sp>
        <p:nvSpPr>
          <p:cNvPr id="29" name="TextBox 28"/>
          <p:cNvSpPr txBox="1"/>
          <p:nvPr/>
        </p:nvSpPr>
        <p:spPr>
          <a:xfrm>
            <a:off x="6582082" y="2646165"/>
            <a:ext cx="2348238"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warning</a:t>
            </a:r>
          </a:p>
        </p:txBody>
      </p:sp>
      <p:sp>
        <p:nvSpPr>
          <p:cNvPr id="30" name="TextBox 29"/>
          <p:cNvSpPr txBox="1"/>
          <p:nvPr/>
        </p:nvSpPr>
        <p:spPr>
          <a:xfrm>
            <a:off x="3722068" y="2662052"/>
            <a:ext cx="277981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Didn’t follow exclusion zone procedures</a:t>
            </a:r>
          </a:p>
        </p:txBody>
      </p:sp>
      <p:sp>
        <p:nvSpPr>
          <p:cNvPr id="35" name="TextBox 34"/>
          <p:cNvSpPr txBox="1"/>
          <p:nvPr/>
        </p:nvSpPr>
        <p:spPr>
          <a:xfrm>
            <a:off x="712123" y="3555393"/>
            <a:ext cx="1223102"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construction</a:t>
            </a:r>
            <a:endPar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39" name="Right Arrow 38"/>
          <p:cNvSpPr/>
          <p:nvPr/>
        </p:nvSpPr>
        <p:spPr>
          <a:xfrm>
            <a:off x="1303293" y="352915"/>
            <a:ext cx="457200" cy="247710"/>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46" name="Right Arrow 45"/>
          <p:cNvSpPr/>
          <p:nvPr/>
        </p:nvSpPr>
        <p:spPr>
          <a:xfrm rot="2742197">
            <a:off x="1244103" y="1799338"/>
            <a:ext cx="537837" cy="311184"/>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50" name="TextBox 49"/>
          <p:cNvSpPr txBox="1"/>
          <p:nvPr/>
        </p:nvSpPr>
        <p:spPr>
          <a:xfrm>
            <a:off x="489907" y="1147393"/>
            <a:ext cx="12192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Immediate Causes</a:t>
            </a:r>
          </a:p>
        </p:txBody>
      </p:sp>
      <p:sp>
        <p:nvSpPr>
          <p:cNvPr id="57" name="TextBox 56"/>
          <p:cNvSpPr txBox="1"/>
          <p:nvPr/>
        </p:nvSpPr>
        <p:spPr>
          <a:xfrm>
            <a:off x="7636358" y="3507669"/>
            <a:ext cx="138128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communication</a:t>
            </a:r>
          </a:p>
        </p:txBody>
      </p:sp>
      <p:cxnSp>
        <p:nvCxnSpPr>
          <p:cNvPr id="58" name="Straight Connector 57"/>
          <p:cNvCxnSpPr/>
          <p:nvPr/>
        </p:nvCxnSpPr>
        <p:spPr>
          <a:xfrm>
            <a:off x="6201340" y="4323278"/>
            <a:ext cx="0"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p:cNvSpPr txBox="1"/>
          <p:nvPr/>
        </p:nvSpPr>
        <p:spPr>
          <a:xfrm>
            <a:off x="6366395" y="3508752"/>
            <a:ext cx="1204648"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Monitoring data not evaluated</a:t>
            </a:r>
          </a:p>
        </p:txBody>
      </p:sp>
      <p:sp>
        <p:nvSpPr>
          <p:cNvPr id="62" name="TextBox 61"/>
          <p:cNvSpPr txBox="1"/>
          <p:nvPr/>
        </p:nvSpPr>
        <p:spPr>
          <a:xfrm>
            <a:off x="2909392" y="3815446"/>
            <a:ext cx="1656830" cy="738664"/>
          </a:xfrm>
          <a:prstGeom prst="rect">
            <a:avLst/>
          </a:prstGeom>
          <a:solidFill>
            <a:srgbClr val="FFFFFF"/>
          </a:solidFill>
          <a:ln>
            <a:solidFill>
              <a:schemeClr val="tx1"/>
            </a:solidFill>
          </a:ln>
        </p:spPr>
        <p:txBody>
          <a:bodyPr wrap="square" lIns="36000" tIns="36000" rIns="36000" bIns="3600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Operator not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trained on </a:t>
            </a: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exclusion zone procedures</a:t>
            </a:r>
          </a:p>
        </p:txBody>
      </p:sp>
      <p:sp>
        <p:nvSpPr>
          <p:cNvPr id="64" name="TextBox 63"/>
          <p:cNvSpPr txBox="1"/>
          <p:nvPr/>
        </p:nvSpPr>
        <p:spPr>
          <a:xfrm>
            <a:off x="4582551" y="3815446"/>
            <a:ext cx="1652427"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Supervisor told Op to </a:t>
            </a:r>
            <a:r>
              <a:rPr kumimoji="0" lang="en-US"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be inside </a:t>
            </a: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the exclusion zone</a:t>
            </a:r>
          </a:p>
        </p:txBody>
      </p:sp>
      <p:sp>
        <p:nvSpPr>
          <p:cNvPr id="51" name="TextBox 50">
            <a:extLst>
              <a:ext uri="{FF2B5EF4-FFF2-40B4-BE49-F238E27FC236}">
                <a16:creationId xmlns:a16="http://schemas.microsoft.com/office/drawing/2014/main" id="{C362153A-205B-4322-A65D-C1B7DE95D74A}"/>
              </a:ext>
            </a:extLst>
          </p:cNvPr>
          <p:cNvSpPr txBox="1"/>
          <p:nvPr/>
        </p:nvSpPr>
        <p:spPr>
          <a:xfrm>
            <a:off x="2841058" y="2424808"/>
            <a:ext cx="722900"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Rain</a:t>
            </a:r>
          </a:p>
        </p:txBody>
      </p:sp>
      <p:sp>
        <p:nvSpPr>
          <p:cNvPr id="67" name="TextBox 66">
            <a:extLst>
              <a:ext uri="{FF2B5EF4-FFF2-40B4-BE49-F238E27FC236}">
                <a16:creationId xmlns:a16="http://schemas.microsoft.com/office/drawing/2014/main" id="{880627F3-4C48-4BE7-88C6-ED37A2917A84}"/>
              </a:ext>
            </a:extLst>
          </p:cNvPr>
          <p:cNvSpPr txBox="1"/>
          <p:nvPr/>
        </p:nvSpPr>
        <p:spPr>
          <a:xfrm>
            <a:off x="1968091" y="3551772"/>
            <a:ext cx="872966"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design</a:t>
            </a:r>
          </a:p>
        </p:txBody>
      </p:sp>
      <p:sp>
        <p:nvSpPr>
          <p:cNvPr id="70" name="Flowchart: Punched Tape 69">
            <a:extLst>
              <a:ext uri="{FF2B5EF4-FFF2-40B4-BE49-F238E27FC236}">
                <a16:creationId xmlns:a16="http://schemas.microsoft.com/office/drawing/2014/main" id="{A8D8A9BD-33D5-420E-97D4-ED3FE6FA6D7D}"/>
              </a:ext>
            </a:extLst>
          </p:cNvPr>
          <p:cNvSpPr/>
          <p:nvPr/>
        </p:nvSpPr>
        <p:spPr bwMode="auto">
          <a:xfrm>
            <a:off x="7620101" y="3060747"/>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63" name="Right Arrow 45">
            <a:extLst>
              <a:ext uri="{FF2B5EF4-FFF2-40B4-BE49-F238E27FC236}">
                <a16:creationId xmlns:a16="http://schemas.microsoft.com/office/drawing/2014/main" id="{D51CC670-33B2-48D1-9477-2961E896065F}"/>
              </a:ext>
            </a:extLst>
          </p:cNvPr>
          <p:cNvSpPr/>
          <p:nvPr/>
        </p:nvSpPr>
        <p:spPr>
          <a:xfrm rot="1022632">
            <a:off x="1619781" y="1936363"/>
            <a:ext cx="2199097" cy="361338"/>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 name="Elbow Connector 4"/>
          <p:cNvCxnSpPr>
            <a:stCxn id="25" idx="2"/>
            <a:endCxn id="51" idx="0"/>
          </p:cNvCxnSpPr>
          <p:nvPr/>
        </p:nvCxnSpPr>
        <p:spPr>
          <a:xfrm rot="16200000" flipH="1">
            <a:off x="2672150" y="1894450"/>
            <a:ext cx="671702" cy="389014"/>
          </a:xfrm>
          <a:prstGeom prst="bentConnector3">
            <a:avLst>
              <a:gd name="adj1" fmla="val 8093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p:cNvCxnSpPr>
            <a:stCxn id="25" idx="2"/>
            <a:endCxn id="28" idx="0"/>
          </p:cNvCxnSpPr>
          <p:nvPr/>
        </p:nvCxnSpPr>
        <p:spPr>
          <a:xfrm rot="5400000">
            <a:off x="2095365" y="1693115"/>
            <a:ext cx="658138" cy="778120"/>
          </a:xfrm>
          <a:prstGeom prst="bentConnector3">
            <a:avLst>
              <a:gd name="adj1" fmla="val 8157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Flowchart: Delay 65">
            <a:extLst>
              <a:ext uri="{FF2B5EF4-FFF2-40B4-BE49-F238E27FC236}">
                <a16:creationId xmlns:a16="http://schemas.microsoft.com/office/drawing/2014/main" id="{48F56B4C-4C1D-4914-95FC-4759B4B992D0}"/>
              </a:ext>
            </a:extLst>
          </p:cNvPr>
          <p:cNvSpPr/>
          <p:nvPr/>
        </p:nvSpPr>
        <p:spPr>
          <a:xfrm rot="16200000">
            <a:off x="2679029" y="1911417"/>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18" name="Elbow Connector 17"/>
          <p:cNvCxnSpPr>
            <a:stCxn id="4" idx="2"/>
            <a:endCxn id="25" idx="0"/>
          </p:cNvCxnSpPr>
          <p:nvPr/>
        </p:nvCxnSpPr>
        <p:spPr>
          <a:xfrm rot="5400000">
            <a:off x="3581171" y="-155099"/>
            <a:ext cx="832752" cy="2368105"/>
          </a:xfrm>
          <a:prstGeom prst="bentConnector3">
            <a:avLst>
              <a:gd name="adj1" fmla="val 633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p:cNvCxnSpPr>
            <a:stCxn id="4" idx="2"/>
            <a:endCxn id="26" idx="0"/>
          </p:cNvCxnSpPr>
          <p:nvPr/>
        </p:nvCxnSpPr>
        <p:spPr>
          <a:xfrm rot="16200000" flipH="1">
            <a:off x="5413467" y="380708"/>
            <a:ext cx="820621" cy="1284357"/>
          </a:xfrm>
          <a:prstGeom prst="bentConnector3">
            <a:avLst>
              <a:gd name="adj1" fmla="val 6350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Flowchart: Delay 7"/>
          <p:cNvSpPr/>
          <p:nvPr/>
        </p:nvSpPr>
        <p:spPr>
          <a:xfrm rot="16200000">
            <a:off x="5047282" y="763888"/>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5" name="Elbow Connector 54"/>
          <p:cNvCxnSpPr>
            <a:stCxn id="26" idx="2"/>
            <a:endCxn id="29" idx="0"/>
          </p:cNvCxnSpPr>
          <p:nvPr/>
        </p:nvCxnSpPr>
        <p:spPr>
          <a:xfrm rot="16200000" flipH="1">
            <a:off x="6766205" y="1656168"/>
            <a:ext cx="689747" cy="1290245"/>
          </a:xfrm>
          <a:prstGeom prst="bentConnector3">
            <a:avLst>
              <a:gd name="adj1" fmla="val 720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Elbow Connector 58"/>
          <p:cNvCxnSpPr>
            <a:stCxn id="26" idx="2"/>
            <a:endCxn id="30" idx="0"/>
          </p:cNvCxnSpPr>
          <p:nvPr/>
        </p:nvCxnSpPr>
        <p:spPr>
          <a:xfrm rot="5400000">
            <a:off x="5436148" y="1632244"/>
            <a:ext cx="705634" cy="1353982"/>
          </a:xfrm>
          <a:prstGeom prst="bentConnector3">
            <a:avLst>
              <a:gd name="adj1" fmla="val 7159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Flowchart: Punched Tape 1">
            <a:extLst>
              <a:ext uri="{FF2B5EF4-FFF2-40B4-BE49-F238E27FC236}">
                <a16:creationId xmlns:a16="http://schemas.microsoft.com/office/drawing/2014/main" id="{CDBB2755-2E57-4292-ACF3-8ABB475BBFAE}"/>
              </a:ext>
            </a:extLst>
          </p:cNvPr>
          <p:cNvSpPr/>
          <p:nvPr/>
        </p:nvSpPr>
        <p:spPr bwMode="auto">
          <a:xfrm flipH="1">
            <a:off x="6316623" y="2099508"/>
            <a:ext cx="336011" cy="271586"/>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65" name="Elbow Connector 64"/>
          <p:cNvCxnSpPr>
            <a:stCxn id="28" idx="2"/>
            <a:endCxn id="67" idx="0"/>
          </p:cNvCxnSpPr>
          <p:nvPr/>
        </p:nvCxnSpPr>
        <p:spPr>
          <a:xfrm rot="16200000" flipH="1">
            <a:off x="1911320" y="3058518"/>
            <a:ext cx="617308" cy="3692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Elbow Connector 70"/>
          <p:cNvCxnSpPr>
            <a:stCxn id="28" idx="2"/>
            <a:endCxn id="35" idx="0"/>
          </p:cNvCxnSpPr>
          <p:nvPr/>
        </p:nvCxnSpPr>
        <p:spPr>
          <a:xfrm rot="5400000">
            <a:off x="1369060" y="2889078"/>
            <a:ext cx="620929" cy="7117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Flowchart: Punched Tape 67">
            <a:extLst>
              <a:ext uri="{FF2B5EF4-FFF2-40B4-BE49-F238E27FC236}">
                <a16:creationId xmlns:a16="http://schemas.microsoft.com/office/drawing/2014/main" id="{878F44D0-47E5-4B2E-9EF9-5E912B38548B}"/>
              </a:ext>
            </a:extLst>
          </p:cNvPr>
          <p:cNvSpPr/>
          <p:nvPr/>
        </p:nvSpPr>
        <p:spPr bwMode="auto">
          <a:xfrm>
            <a:off x="1897543" y="3052998"/>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72" name="Elbow Connector 71"/>
          <p:cNvCxnSpPr>
            <a:stCxn id="30" idx="2"/>
            <a:endCxn id="64" idx="0"/>
          </p:cNvCxnSpPr>
          <p:nvPr/>
        </p:nvCxnSpPr>
        <p:spPr>
          <a:xfrm rot="16200000" flipH="1">
            <a:off x="4945282" y="3351963"/>
            <a:ext cx="630174" cy="29679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Elbow Connector 72"/>
          <p:cNvCxnSpPr>
            <a:stCxn id="30" idx="2"/>
            <a:endCxn id="62" idx="0"/>
          </p:cNvCxnSpPr>
          <p:nvPr/>
        </p:nvCxnSpPr>
        <p:spPr>
          <a:xfrm rot="5400000">
            <a:off x="4109804" y="2813276"/>
            <a:ext cx="630174" cy="1374167"/>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Flowchart: Punched Tape 68">
            <a:extLst>
              <a:ext uri="{FF2B5EF4-FFF2-40B4-BE49-F238E27FC236}">
                <a16:creationId xmlns:a16="http://schemas.microsoft.com/office/drawing/2014/main" id="{0CBF65F1-61F1-43C7-A26B-B97AA653A457}"/>
              </a:ext>
            </a:extLst>
          </p:cNvPr>
          <p:cNvSpPr/>
          <p:nvPr/>
        </p:nvSpPr>
        <p:spPr bwMode="auto">
          <a:xfrm>
            <a:off x="4885340" y="3292226"/>
            <a:ext cx="423956" cy="300712"/>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78" name="Rounded Rectangle 77"/>
          <p:cNvSpPr/>
          <p:nvPr/>
        </p:nvSpPr>
        <p:spPr>
          <a:xfrm>
            <a:off x="4953000" y="1284055"/>
            <a:ext cx="3165764"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29</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6"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53" name="Rounded Rectangle 52"/>
          <p:cNvSpPr/>
          <p:nvPr/>
        </p:nvSpPr>
        <p:spPr>
          <a:xfrm>
            <a:off x="1334557" y="2259442"/>
            <a:ext cx="1441090"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 name="Rounded Rectangle 53"/>
          <p:cNvSpPr/>
          <p:nvPr/>
        </p:nvSpPr>
        <p:spPr>
          <a:xfrm>
            <a:off x="3627330" y="2529445"/>
            <a:ext cx="2978826"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TextBox 76">
            <a:extLst>
              <a:ext uri="{FF2B5EF4-FFF2-40B4-BE49-F238E27FC236}">
                <a16:creationId xmlns:a16="http://schemas.microsoft.com/office/drawing/2014/main" id="{FBED4873-AA48-4F0A-ADAA-65FC9815F027}"/>
              </a:ext>
            </a:extLst>
          </p:cNvPr>
          <p:cNvSpPr txBox="1"/>
          <p:nvPr/>
        </p:nvSpPr>
        <p:spPr>
          <a:xfrm>
            <a:off x="720000" y="5400000"/>
            <a:ext cx="1980000" cy="756000"/>
          </a:xfrm>
          <a:prstGeom prst="wedgeRoundRectCallout">
            <a:avLst>
              <a:gd name="adj1" fmla="val 6150"/>
              <a:gd name="adj2" fmla="val -368109"/>
              <a:gd name="adj3" fmla="val 16667"/>
            </a:avLst>
          </a:prstGeom>
          <a:solidFill>
            <a:schemeClr val="tx1"/>
          </a:solidFill>
          <a:ln w="9525" algn="ctr">
            <a:solidFill>
              <a:schemeClr val="tx1"/>
            </a:solidFill>
            <a:miter lim="800000"/>
            <a:headEnd/>
            <a:tailEnd/>
          </a:ln>
          <a:effectLst/>
        </p:spPr>
        <p:txBody>
          <a:bodyPr/>
          <a:lstStyle>
            <a:defPPr>
              <a:defRPr lang="en-US"/>
            </a:defPPr>
            <a:lvl1pPr marL="457200" indent="-457200">
              <a:spcBef>
                <a:spcPts val="0"/>
              </a:spcBef>
              <a:buClr>
                <a:srgbClr val="000000"/>
              </a:buClr>
              <a:buSzTx/>
              <a:buFont typeface="Wingdings" panose="05000000000000000000" pitchFamily="2" charset="2"/>
              <a:buNone/>
              <a:defRPr sz="2000">
                <a:solidFill>
                  <a:srgbClr val="FFFFFF"/>
                </a:solidFill>
                <a:latin typeface="Arial" panose="020B0604020202020204" pitchFamily="34" charset="0"/>
                <a:ea typeface="ＭＳ Ｐゴシック" panose="020B0600070205080204" pitchFamily="34" charset="-128"/>
              </a:defRPr>
            </a:lvl1pPr>
            <a:lvl2pPr marL="742950" lvl="1" indent="-285750">
              <a:spcBef>
                <a:spcPts val="0"/>
              </a:spcBef>
              <a:buFont typeface="Wingdings" panose="05000000000000000000" pitchFamily="2" charset="2"/>
              <a:buChar char="Ø"/>
              <a:defRPr sz="2000">
                <a:solidFill>
                  <a:srgbClr val="FFFFFF"/>
                </a:solidFill>
                <a:latin typeface="Arial" panose="020B0604020202020204" pitchFamily="34" charset="0"/>
                <a:ea typeface="ＭＳ Ｐゴシック" panose="020B0600070205080204" pitchFamily="34" charset="-128"/>
              </a:defRPr>
            </a:lvl2pPr>
            <a:lvl3pPr marL="1143000" indent="-228600">
              <a:spcBef>
                <a:spcPct val="20000"/>
              </a:spcBef>
              <a:buChar char="•"/>
              <a:defRPr sz="2400">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tabLst/>
              <a:defRPr/>
            </a:pP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Sub-standard condition</a:t>
            </a:r>
            <a:endPar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endParaRPr>
          </a:p>
        </p:txBody>
      </p:sp>
      <p:sp>
        <p:nvSpPr>
          <p:cNvPr id="80" name="TextBox 79">
            <a:extLst>
              <a:ext uri="{FF2B5EF4-FFF2-40B4-BE49-F238E27FC236}">
                <a16:creationId xmlns:a16="http://schemas.microsoft.com/office/drawing/2014/main" id="{FBED4873-AA48-4F0A-ADAA-65FC9815F027}"/>
              </a:ext>
            </a:extLst>
          </p:cNvPr>
          <p:cNvSpPr txBox="1"/>
          <p:nvPr/>
        </p:nvSpPr>
        <p:spPr>
          <a:xfrm>
            <a:off x="3445879" y="5400000"/>
            <a:ext cx="1980000" cy="756000"/>
          </a:xfrm>
          <a:prstGeom prst="wedgeRoundRectCallout">
            <a:avLst>
              <a:gd name="adj1" fmla="val 2603"/>
              <a:gd name="adj2" fmla="val -327147"/>
              <a:gd name="adj3" fmla="val 16667"/>
            </a:avLst>
          </a:prstGeom>
          <a:solidFill>
            <a:schemeClr val="tx1"/>
          </a:solidFill>
          <a:ln w="9525" algn="ctr">
            <a:solidFill>
              <a:schemeClr val="tx1"/>
            </a:solidFill>
            <a:miter lim="800000"/>
            <a:headEnd/>
            <a:tailEnd/>
          </a:ln>
          <a:effectLst/>
        </p:spPr>
        <p:txBody>
          <a:bodyPr/>
          <a:lstStyle>
            <a:defPPr>
              <a:defRPr lang="en-US"/>
            </a:defPPr>
            <a:lvl1pPr marL="457200" indent="-457200">
              <a:spcBef>
                <a:spcPts val="0"/>
              </a:spcBef>
              <a:buClr>
                <a:srgbClr val="000000"/>
              </a:buClr>
              <a:buSzTx/>
              <a:buFont typeface="Wingdings" panose="05000000000000000000" pitchFamily="2" charset="2"/>
              <a:buNone/>
              <a:defRPr sz="2000">
                <a:solidFill>
                  <a:srgbClr val="FFFFFF"/>
                </a:solidFill>
                <a:latin typeface="Arial" panose="020B0604020202020204" pitchFamily="34" charset="0"/>
                <a:ea typeface="ＭＳ Ｐゴシック" panose="020B0600070205080204" pitchFamily="34" charset="-128"/>
              </a:defRPr>
            </a:lvl1pPr>
            <a:lvl2pPr marL="742950" lvl="1" indent="-285750">
              <a:spcBef>
                <a:spcPts val="0"/>
              </a:spcBef>
              <a:buFont typeface="Wingdings" panose="05000000000000000000" pitchFamily="2" charset="2"/>
              <a:buChar char="Ø"/>
              <a:defRPr sz="2000">
                <a:solidFill>
                  <a:srgbClr val="FFFFFF"/>
                </a:solidFill>
                <a:latin typeface="Arial" panose="020B0604020202020204" pitchFamily="34" charset="0"/>
                <a:ea typeface="ＭＳ Ｐゴシック" panose="020B0600070205080204" pitchFamily="34" charset="-128"/>
              </a:defRPr>
            </a:lvl2pPr>
            <a:lvl3pPr marL="1143000" indent="-228600">
              <a:spcBef>
                <a:spcPct val="20000"/>
              </a:spcBef>
              <a:buChar char="•"/>
              <a:defRPr sz="2400">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tabLst/>
              <a:defRPr/>
            </a:pP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Sub-standard </a:t>
            </a: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work </a:t>
            </a: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practice</a:t>
            </a:r>
            <a:endPar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endParaRPr>
          </a:p>
        </p:txBody>
      </p:sp>
      <p:sp>
        <p:nvSpPr>
          <p:cNvPr id="81" name="TextBox 80"/>
          <p:cNvSpPr txBox="1"/>
          <p:nvPr/>
        </p:nvSpPr>
        <p:spPr>
          <a:xfrm>
            <a:off x="98985" y="215160"/>
            <a:ext cx="11880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Incident </a:t>
            </a:r>
            <a:r>
              <a:rPr lang="en-CA" sz="1400" b="0" dirty="0" smtClean="0">
                <a:solidFill>
                  <a:srgbClr val="FF0000"/>
                </a:solidFill>
                <a:latin typeface="Arial" panose="020B0604020202020204" pitchFamily="34" charset="0"/>
                <a:cs typeface="Arial" panose="020B0604020202020204" pitchFamily="34" charset="0"/>
              </a:rPr>
              <a:t>Description</a:t>
            </a:r>
            <a:endPar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endParaRPr>
          </a:p>
        </p:txBody>
      </p:sp>
      <p:sp>
        <p:nvSpPr>
          <p:cNvPr id="48" name="TextBox 47">
            <a:extLst>
              <a:ext uri="{FF2B5EF4-FFF2-40B4-BE49-F238E27FC236}">
                <a16:creationId xmlns:a16="http://schemas.microsoft.com/office/drawing/2014/main" id="{FBED4873-AA48-4F0A-ADAA-65FC9815F027}"/>
              </a:ext>
            </a:extLst>
          </p:cNvPr>
          <p:cNvSpPr txBox="1"/>
          <p:nvPr/>
        </p:nvSpPr>
        <p:spPr>
          <a:xfrm>
            <a:off x="6465955" y="5400000"/>
            <a:ext cx="1980000" cy="756000"/>
          </a:xfrm>
          <a:prstGeom prst="wedgeRoundRectCallout">
            <a:avLst>
              <a:gd name="adj1" fmla="val -16456"/>
              <a:gd name="adj2" fmla="val -494010"/>
              <a:gd name="adj3" fmla="val 16667"/>
            </a:avLst>
          </a:prstGeom>
          <a:solidFill>
            <a:schemeClr val="tx1"/>
          </a:solidFill>
          <a:ln w="9525" algn="ctr">
            <a:solidFill>
              <a:schemeClr val="tx1"/>
            </a:solidFill>
            <a:miter lim="800000"/>
            <a:headEnd/>
            <a:tailEnd/>
          </a:ln>
          <a:effectLst/>
        </p:spPr>
        <p:txBody>
          <a:bodyPr/>
          <a:lstStyle>
            <a:defPPr>
              <a:defRPr lang="en-US"/>
            </a:defPPr>
            <a:lvl1pPr marL="457200" indent="-457200">
              <a:spcBef>
                <a:spcPts val="0"/>
              </a:spcBef>
              <a:buClr>
                <a:srgbClr val="000000"/>
              </a:buClr>
              <a:buSzTx/>
              <a:buFont typeface="Wingdings" panose="05000000000000000000" pitchFamily="2" charset="2"/>
              <a:buNone/>
              <a:defRPr sz="2000">
                <a:solidFill>
                  <a:srgbClr val="FFFFFF"/>
                </a:solidFill>
                <a:latin typeface="Arial" panose="020B0604020202020204" pitchFamily="34" charset="0"/>
                <a:ea typeface="ＭＳ Ｐゴシック" panose="020B0600070205080204" pitchFamily="34" charset="-128"/>
              </a:defRPr>
            </a:lvl1pPr>
            <a:lvl2pPr marL="742950" lvl="1" indent="-285750">
              <a:spcBef>
                <a:spcPts val="0"/>
              </a:spcBef>
              <a:buFont typeface="Wingdings" panose="05000000000000000000" pitchFamily="2" charset="2"/>
              <a:buChar char="Ø"/>
              <a:defRPr sz="2000">
                <a:solidFill>
                  <a:srgbClr val="FFFFFF"/>
                </a:solidFill>
                <a:latin typeface="Arial" panose="020B0604020202020204" pitchFamily="34" charset="0"/>
                <a:ea typeface="ＭＳ Ｐゴシック" panose="020B0600070205080204" pitchFamily="34" charset="-128"/>
              </a:defRPr>
            </a:lvl2pPr>
            <a:lvl3pPr marL="1143000" indent="-228600">
              <a:spcBef>
                <a:spcPct val="20000"/>
              </a:spcBef>
              <a:buChar char="•"/>
              <a:defRPr sz="2400">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tabLst/>
              <a:defRPr/>
            </a:pP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Sub-standard </a:t>
            </a: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work </a:t>
            </a: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practice</a:t>
            </a:r>
            <a:endPar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endParaRPr>
          </a:p>
        </p:txBody>
      </p:sp>
    </p:spTree>
    <p:extLst>
      <p:ext uri="{BB962C8B-B14F-4D97-AF65-F5344CB8AC3E}">
        <p14:creationId xmlns:p14="http://schemas.microsoft.com/office/powerpoint/2010/main" val="205856524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Right Arrow 45">
            <a:extLst>
              <a:ext uri="{FF2B5EF4-FFF2-40B4-BE49-F238E27FC236}">
                <a16:creationId xmlns:a16="http://schemas.microsoft.com/office/drawing/2014/main" id="{D51CC670-33B2-48D1-9477-2961E896065F}"/>
              </a:ext>
            </a:extLst>
          </p:cNvPr>
          <p:cNvSpPr/>
          <p:nvPr/>
        </p:nvSpPr>
        <p:spPr>
          <a:xfrm>
            <a:off x="1709107" y="1246720"/>
            <a:ext cx="3298819" cy="396010"/>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75" name="Elbow Connector 74"/>
          <p:cNvCxnSpPr>
            <a:stCxn id="29" idx="2"/>
            <a:endCxn id="61" idx="0"/>
          </p:cNvCxnSpPr>
          <p:nvPr/>
        </p:nvCxnSpPr>
        <p:spPr>
          <a:xfrm rot="5400000">
            <a:off x="7085055" y="2837606"/>
            <a:ext cx="554810" cy="78748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Elbow Connector 73"/>
          <p:cNvCxnSpPr>
            <a:stCxn id="29" idx="2"/>
            <a:endCxn id="57" idx="0"/>
          </p:cNvCxnSpPr>
          <p:nvPr/>
        </p:nvCxnSpPr>
        <p:spPr>
          <a:xfrm rot="16200000" flipH="1">
            <a:off x="7764737" y="2945406"/>
            <a:ext cx="553727" cy="57079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1981199" y="304800"/>
            <a:ext cx="6400799"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 on equipment, injuring one worker &amp; damaging equipment</a:t>
            </a:r>
          </a:p>
        </p:txBody>
      </p:sp>
      <p:sp>
        <p:nvSpPr>
          <p:cNvPr id="25" name="TextBox 24"/>
          <p:cNvSpPr txBox="1"/>
          <p:nvPr/>
        </p:nvSpPr>
        <p:spPr>
          <a:xfrm>
            <a:off x="2064781" y="1445329"/>
            <a:ext cx="1497426"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a:t>
            </a:r>
          </a:p>
        </p:txBody>
      </p:sp>
      <p:sp>
        <p:nvSpPr>
          <p:cNvPr id="26" name="TextBox 25"/>
          <p:cNvSpPr txBox="1"/>
          <p:nvPr/>
        </p:nvSpPr>
        <p:spPr>
          <a:xfrm>
            <a:off x="5041992" y="1433198"/>
            <a:ext cx="2847927"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Equipment &amp; Operator Were In Exclusion Zone</a:t>
            </a:r>
          </a:p>
        </p:txBody>
      </p:sp>
      <p:sp>
        <p:nvSpPr>
          <p:cNvPr id="28" name="TextBox 27"/>
          <p:cNvSpPr txBox="1"/>
          <p:nvPr/>
        </p:nvSpPr>
        <p:spPr>
          <a:xfrm>
            <a:off x="1387799" y="2411244"/>
            <a:ext cx="1295149"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Unstable slope</a:t>
            </a:r>
          </a:p>
        </p:txBody>
      </p:sp>
      <p:sp>
        <p:nvSpPr>
          <p:cNvPr id="29" name="TextBox 28"/>
          <p:cNvSpPr txBox="1"/>
          <p:nvPr/>
        </p:nvSpPr>
        <p:spPr>
          <a:xfrm>
            <a:off x="6582082" y="2646165"/>
            <a:ext cx="2348238"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warning</a:t>
            </a:r>
          </a:p>
        </p:txBody>
      </p:sp>
      <p:sp>
        <p:nvSpPr>
          <p:cNvPr id="30" name="TextBox 29"/>
          <p:cNvSpPr txBox="1"/>
          <p:nvPr/>
        </p:nvSpPr>
        <p:spPr>
          <a:xfrm>
            <a:off x="3722068" y="2662052"/>
            <a:ext cx="277981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Didn’t follow exclusion zone procedures</a:t>
            </a:r>
          </a:p>
        </p:txBody>
      </p:sp>
      <p:sp>
        <p:nvSpPr>
          <p:cNvPr id="35" name="TextBox 34"/>
          <p:cNvSpPr txBox="1"/>
          <p:nvPr/>
        </p:nvSpPr>
        <p:spPr>
          <a:xfrm>
            <a:off x="712123" y="3555393"/>
            <a:ext cx="1223102"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construction</a:t>
            </a:r>
            <a:endPar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39" name="Right Arrow 38"/>
          <p:cNvSpPr/>
          <p:nvPr/>
        </p:nvSpPr>
        <p:spPr>
          <a:xfrm>
            <a:off x="1303293" y="352915"/>
            <a:ext cx="457200" cy="247710"/>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46" name="Right Arrow 45"/>
          <p:cNvSpPr/>
          <p:nvPr/>
        </p:nvSpPr>
        <p:spPr>
          <a:xfrm rot="2742197">
            <a:off x="1244103" y="1799338"/>
            <a:ext cx="537837" cy="311184"/>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47" name="Right Arrow 46"/>
          <p:cNvSpPr/>
          <p:nvPr/>
        </p:nvSpPr>
        <p:spPr>
          <a:xfrm>
            <a:off x="205022" y="3704003"/>
            <a:ext cx="457200" cy="254833"/>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srgbClr val="FF0000"/>
              </a:solidFill>
              <a:effectLst/>
              <a:uLnTx/>
              <a:uFillTx/>
              <a:latin typeface="Arial" panose="020B0604020202020204" pitchFamily="34" charset="0"/>
              <a:ea typeface="+mn-ea"/>
              <a:cs typeface="Arial" panose="020B0604020202020204" pitchFamily="34" charset="0"/>
            </a:endParaRPr>
          </a:p>
        </p:txBody>
      </p:sp>
      <p:sp>
        <p:nvSpPr>
          <p:cNvPr id="50" name="TextBox 49"/>
          <p:cNvSpPr txBox="1"/>
          <p:nvPr/>
        </p:nvSpPr>
        <p:spPr>
          <a:xfrm>
            <a:off x="489907" y="1147393"/>
            <a:ext cx="12192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Immediate Causes</a:t>
            </a:r>
          </a:p>
        </p:txBody>
      </p:sp>
      <p:sp>
        <p:nvSpPr>
          <p:cNvPr id="52" name="TextBox 51"/>
          <p:cNvSpPr txBox="1"/>
          <p:nvPr/>
        </p:nvSpPr>
        <p:spPr>
          <a:xfrm>
            <a:off x="61661" y="3086655"/>
            <a:ext cx="796762"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Basic Causes</a:t>
            </a:r>
          </a:p>
        </p:txBody>
      </p:sp>
      <p:sp>
        <p:nvSpPr>
          <p:cNvPr id="57" name="TextBox 56"/>
          <p:cNvSpPr txBox="1"/>
          <p:nvPr/>
        </p:nvSpPr>
        <p:spPr>
          <a:xfrm>
            <a:off x="7636358" y="3507669"/>
            <a:ext cx="138128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communication</a:t>
            </a:r>
          </a:p>
        </p:txBody>
      </p:sp>
      <p:cxnSp>
        <p:nvCxnSpPr>
          <p:cNvPr id="58" name="Straight Connector 57"/>
          <p:cNvCxnSpPr/>
          <p:nvPr/>
        </p:nvCxnSpPr>
        <p:spPr>
          <a:xfrm>
            <a:off x="6201340" y="4323278"/>
            <a:ext cx="0"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p:cNvSpPr txBox="1"/>
          <p:nvPr/>
        </p:nvSpPr>
        <p:spPr>
          <a:xfrm>
            <a:off x="6366395" y="3508752"/>
            <a:ext cx="1204648"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Monitoring data not evaluated</a:t>
            </a:r>
          </a:p>
        </p:txBody>
      </p:sp>
      <p:sp>
        <p:nvSpPr>
          <p:cNvPr id="62" name="TextBox 61"/>
          <p:cNvSpPr txBox="1"/>
          <p:nvPr/>
        </p:nvSpPr>
        <p:spPr>
          <a:xfrm>
            <a:off x="2909392" y="3815446"/>
            <a:ext cx="1656830" cy="738664"/>
          </a:xfrm>
          <a:prstGeom prst="rect">
            <a:avLst/>
          </a:prstGeom>
          <a:solidFill>
            <a:srgbClr val="FFFFFF"/>
          </a:solidFill>
          <a:ln>
            <a:solidFill>
              <a:schemeClr val="tx1"/>
            </a:solidFill>
          </a:ln>
        </p:spPr>
        <p:txBody>
          <a:bodyPr wrap="square" lIns="36000" tIns="36000" rIns="36000" bIns="3600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Operator not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trained on </a:t>
            </a: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exclusion zone procedures</a:t>
            </a:r>
          </a:p>
        </p:txBody>
      </p:sp>
      <p:sp>
        <p:nvSpPr>
          <p:cNvPr id="64" name="TextBox 63"/>
          <p:cNvSpPr txBox="1"/>
          <p:nvPr/>
        </p:nvSpPr>
        <p:spPr>
          <a:xfrm>
            <a:off x="4582551" y="3815446"/>
            <a:ext cx="1652427"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Supervisor told Op to </a:t>
            </a:r>
            <a:r>
              <a:rPr kumimoji="0" lang="en-US"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be inside </a:t>
            </a: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the exclusion zone</a:t>
            </a:r>
          </a:p>
        </p:txBody>
      </p:sp>
      <p:sp>
        <p:nvSpPr>
          <p:cNvPr id="51" name="TextBox 50">
            <a:extLst>
              <a:ext uri="{FF2B5EF4-FFF2-40B4-BE49-F238E27FC236}">
                <a16:creationId xmlns:a16="http://schemas.microsoft.com/office/drawing/2014/main" id="{C362153A-205B-4322-A65D-C1B7DE95D74A}"/>
              </a:ext>
            </a:extLst>
          </p:cNvPr>
          <p:cNvSpPr txBox="1"/>
          <p:nvPr/>
        </p:nvSpPr>
        <p:spPr>
          <a:xfrm>
            <a:off x="2841058" y="2424808"/>
            <a:ext cx="722900"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Rain</a:t>
            </a:r>
          </a:p>
        </p:txBody>
      </p:sp>
      <p:sp>
        <p:nvSpPr>
          <p:cNvPr id="67" name="TextBox 66">
            <a:extLst>
              <a:ext uri="{FF2B5EF4-FFF2-40B4-BE49-F238E27FC236}">
                <a16:creationId xmlns:a16="http://schemas.microsoft.com/office/drawing/2014/main" id="{880627F3-4C48-4BE7-88C6-ED37A2917A84}"/>
              </a:ext>
            </a:extLst>
          </p:cNvPr>
          <p:cNvSpPr txBox="1"/>
          <p:nvPr/>
        </p:nvSpPr>
        <p:spPr>
          <a:xfrm>
            <a:off x="1968091" y="3551772"/>
            <a:ext cx="872966"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design</a:t>
            </a:r>
          </a:p>
        </p:txBody>
      </p:sp>
      <p:sp>
        <p:nvSpPr>
          <p:cNvPr id="70" name="Flowchart: Punched Tape 69">
            <a:extLst>
              <a:ext uri="{FF2B5EF4-FFF2-40B4-BE49-F238E27FC236}">
                <a16:creationId xmlns:a16="http://schemas.microsoft.com/office/drawing/2014/main" id="{A8D8A9BD-33D5-420E-97D4-ED3FE6FA6D7D}"/>
              </a:ext>
            </a:extLst>
          </p:cNvPr>
          <p:cNvSpPr/>
          <p:nvPr/>
        </p:nvSpPr>
        <p:spPr bwMode="auto">
          <a:xfrm>
            <a:off x="7620101" y="3060747"/>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56" name="TextBox 55">
            <a:extLst>
              <a:ext uri="{FF2B5EF4-FFF2-40B4-BE49-F238E27FC236}">
                <a16:creationId xmlns:a16="http://schemas.microsoft.com/office/drawing/2014/main" id="{2981DCC2-7565-4BF5-B1BD-5D61B59CFDBC}"/>
              </a:ext>
            </a:extLst>
          </p:cNvPr>
          <p:cNvSpPr txBox="1"/>
          <p:nvPr/>
        </p:nvSpPr>
        <p:spPr>
          <a:xfrm>
            <a:off x="16969" y="2397826"/>
            <a:ext cx="1266553" cy="528452"/>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Intermediate Causes</a:t>
            </a:r>
          </a:p>
        </p:txBody>
      </p:sp>
      <p:sp>
        <p:nvSpPr>
          <p:cNvPr id="63" name="Right Arrow 45">
            <a:extLst>
              <a:ext uri="{FF2B5EF4-FFF2-40B4-BE49-F238E27FC236}">
                <a16:creationId xmlns:a16="http://schemas.microsoft.com/office/drawing/2014/main" id="{D51CC670-33B2-48D1-9477-2961E896065F}"/>
              </a:ext>
            </a:extLst>
          </p:cNvPr>
          <p:cNvSpPr/>
          <p:nvPr/>
        </p:nvSpPr>
        <p:spPr>
          <a:xfrm rot="1022632">
            <a:off x="1619781" y="1936363"/>
            <a:ext cx="2199097" cy="361338"/>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 name="Elbow Connector 4"/>
          <p:cNvCxnSpPr>
            <a:stCxn id="25" idx="2"/>
            <a:endCxn id="51" idx="0"/>
          </p:cNvCxnSpPr>
          <p:nvPr/>
        </p:nvCxnSpPr>
        <p:spPr>
          <a:xfrm rot="16200000" flipH="1">
            <a:off x="2672150" y="1894450"/>
            <a:ext cx="671702" cy="389014"/>
          </a:xfrm>
          <a:prstGeom prst="bentConnector3">
            <a:avLst>
              <a:gd name="adj1" fmla="val 8093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p:cNvCxnSpPr>
            <a:stCxn id="25" idx="2"/>
            <a:endCxn id="28" idx="0"/>
          </p:cNvCxnSpPr>
          <p:nvPr/>
        </p:nvCxnSpPr>
        <p:spPr>
          <a:xfrm rot="5400000">
            <a:off x="2095365" y="1693115"/>
            <a:ext cx="658138" cy="778120"/>
          </a:xfrm>
          <a:prstGeom prst="bentConnector3">
            <a:avLst>
              <a:gd name="adj1" fmla="val 8157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Flowchart: Delay 65">
            <a:extLst>
              <a:ext uri="{FF2B5EF4-FFF2-40B4-BE49-F238E27FC236}">
                <a16:creationId xmlns:a16="http://schemas.microsoft.com/office/drawing/2014/main" id="{48F56B4C-4C1D-4914-95FC-4759B4B992D0}"/>
              </a:ext>
            </a:extLst>
          </p:cNvPr>
          <p:cNvSpPr/>
          <p:nvPr/>
        </p:nvSpPr>
        <p:spPr>
          <a:xfrm rot="16200000">
            <a:off x="2679029" y="1911417"/>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18" name="Elbow Connector 17"/>
          <p:cNvCxnSpPr>
            <a:stCxn id="4" idx="2"/>
            <a:endCxn id="25" idx="0"/>
          </p:cNvCxnSpPr>
          <p:nvPr/>
        </p:nvCxnSpPr>
        <p:spPr>
          <a:xfrm rot="5400000">
            <a:off x="3581171" y="-155099"/>
            <a:ext cx="832752" cy="2368105"/>
          </a:xfrm>
          <a:prstGeom prst="bentConnector3">
            <a:avLst>
              <a:gd name="adj1" fmla="val 633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p:cNvCxnSpPr>
            <a:stCxn id="4" idx="2"/>
            <a:endCxn id="26" idx="0"/>
          </p:cNvCxnSpPr>
          <p:nvPr/>
        </p:nvCxnSpPr>
        <p:spPr>
          <a:xfrm rot="16200000" flipH="1">
            <a:off x="5413467" y="380708"/>
            <a:ext cx="820621" cy="1284357"/>
          </a:xfrm>
          <a:prstGeom prst="bentConnector3">
            <a:avLst>
              <a:gd name="adj1" fmla="val 6350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Flowchart: Delay 7"/>
          <p:cNvSpPr/>
          <p:nvPr/>
        </p:nvSpPr>
        <p:spPr>
          <a:xfrm rot="16200000">
            <a:off x="5047282" y="763888"/>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5" name="Elbow Connector 54"/>
          <p:cNvCxnSpPr>
            <a:stCxn id="26" idx="2"/>
            <a:endCxn id="29" idx="0"/>
          </p:cNvCxnSpPr>
          <p:nvPr/>
        </p:nvCxnSpPr>
        <p:spPr>
          <a:xfrm rot="16200000" flipH="1">
            <a:off x="6766205" y="1656168"/>
            <a:ext cx="689747" cy="1290245"/>
          </a:xfrm>
          <a:prstGeom prst="bentConnector3">
            <a:avLst>
              <a:gd name="adj1" fmla="val 720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Elbow Connector 58"/>
          <p:cNvCxnSpPr>
            <a:stCxn id="26" idx="2"/>
            <a:endCxn id="30" idx="0"/>
          </p:cNvCxnSpPr>
          <p:nvPr/>
        </p:nvCxnSpPr>
        <p:spPr>
          <a:xfrm rot="5400000">
            <a:off x="5436148" y="1632244"/>
            <a:ext cx="705634" cy="1353982"/>
          </a:xfrm>
          <a:prstGeom prst="bentConnector3">
            <a:avLst>
              <a:gd name="adj1" fmla="val 7159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Flowchart: Punched Tape 1">
            <a:extLst>
              <a:ext uri="{FF2B5EF4-FFF2-40B4-BE49-F238E27FC236}">
                <a16:creationId xmlns:a16="http://schemas.microsoft.com/office/drawing/2014/main" id="{CDBB2755-2E57-4292-ACF3-8ABB475BBFAE}"/>
              </a:ext>
            </a:extLst>
          </p:cNvPr>
          <p:cNvSpPr/>
          <p:nvPr/>
        </p:nvSpPr>
        <p:spPr bwMode="auto">
          <a:xfrm flipH="1">
            <a:off x="6316623" y="2099508"/>
            <a:ext cx="336011" cy="271586"/>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65" name="Elbow Connector 64"/>
          <p:cNvCxnSpPr>
            <a:stCxn id="28" idx="2"/>
            <a:endCxn id="67" idx="0"/>
          </p:cNvCxnSpPr>
          <p:nvPr/>
        </p:nvCxnSpPr>
        <p:spPr>
          <a:xfrm rot="16200000" flipH="1">
            <a:off x="1911320" y="3058518"/>
            <a:ext cx="617308" cy="3692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Elbow Connector 70"/>
          <p:cNvCxnSpPr>
            <a:stCxn id="28" idx="2"/>
            <a:endCxn id="35" idx="0"/>
          </p:cNvCxnSpPr>
          <p:nvPr/>
        </p:nvCxnSpPr>
        <p:spPr>
          <a:xfrm rot="5400000">
            <a:off x="1369060" y="2889078"/>
            <a:ext cx="620929" cy="7117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Flowchart: Punched Tape 67">
            <a:extLst>
              <a:ext uri="{FF2B5EF4-FFF2-40B4-BE49-F238E27FC236}">
                <a16:creationId xmlns:a16="http://schemas.microsoft.com/office/drawing/2014/main" id="{878F44D0-47E5-4B2E-9EF9-5E912B38548B}"/>
              </a:ext>
            </a:extLst>
          </p:cNvPr>
          <p:cNvSpPr/>
          <p:nvPr/>
        </p:nvSpPr>
        <p:spPr bwMode="auto">
          <a:xfrm>
            <a:off x="1897543" y="3052998"/>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72" name="Elbow Connector 71"/>
          <p:cNvCxnSpPr>
            <a:stCxn id="30" idx="2"/>
            <a:endCxn id="64" idx="0"/>
          </p:cNvCxnSpPr>
          <p:nvPr/>
        </p:nvCxnSpPr>
        <p:spPr>
          <a:xfrm rot="16200000" flipH="1">
            <a:off x="4945282" y="3351963"/>
            <a:ext cx="630174" cy="29679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Elbow Connector 72"/>
          <p:cNvCxnSpPr>
            <a:stCxn id="30" idx="2"/>
            <a:endCxn id="62" idx="0"/>
          </p:cNvCxnSpPr>
          <p:nvPr/>
        </p:nvCxnSpPr>
        <p:spPr>
          <a:xfrm rot="5400000">
            <a:off x="4109804" y="2813276"/>
            <a:ext cx="630174" cy="1374167"/>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Flowchart: Punched Tape 68">
            <a:extLst>
              <a:ext uri="{FF2B5EF4-FFF2-40B4-BE49-F238E27FC236}">
                <a16:creationId xmlns:a16="http://schemas.microsoft.com/office/drawing/2014/main" id="{0CBF65F1-61F1-43C7-A26B-B97AA653A457}"/>
              </a:ext>
            </a:extLst>
          </p:cNvPr>
          <p:cNvSpPr/>
          <p:nvPr/>
        </p:nvSpPr>
        <p:spPr bwMode="auto">
          <a:xfrm>
            <a:off x="4885340" y="3292226"/>
            <a:ext cx="423956" cy="300712"/>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78" name="Rounded Rectangle 77"/>
          <p:cNvSpPr/>
          <p:nvPr/>
        </p:nvSpPr>
        <p:spPr>
          <a:xfrm>
            <a:off x="4953000" y="1284055"/>
            <a:ext cx="3165764"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0"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30</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6"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53" name="Rounded Rectangle 52"/>
          <p:cNvSpPr/>
          <p:nvPr/>
        </p:nvSpPr>
        <p:spPr>
          <a:xfrm>
            <a:off x="1334557" y="2259442"/>
            <a:ext cx="1441090"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54" name="Rounded Rectangle 53"/>
          <p:cNvSpPr/>
          <p:nvPr/>
        </p:nvSpPr>
        <p:spPr>
          <a:xfrm>
            <a:off x="3627330" y="2529445"/>
            <a:ext cx="2978826" cy="782965"/>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7" name="TextBox 76">
            <a:extLst>
              <a:ext uri="{FF2B5EF4-FFF2-40B4-BE49-F238E27FC236}">
                <a16:creationId xmlns:a16="http://schemas.microsoft.com/office/drawing/2014/main" id="{FBED4873-AA48-4F0A-ADAA-65FC9815F027}"/>
              </a:ext>
            </a:extLst>
          </p:cNvPr>
          <p:cNvSpPr txBox="1"/>
          <p:nvPr/>
        </p:nvSpPr>
        <p:spPr>
          <a:xfrm>
            <a:off x="720000" y="5400000"/>
            <a:ext cx="1980000" cy="756000"/>
          </a:xfrm>
          <a:prstGeom prst="wedgeRoundRectCallout">
            <a:avLst>
              <a:gd name="adj1" fmla="val 6150"/>
              <a:gd name="adj2" fmla="val -368109"/>
              <a:gd name="adj3" fmla="val 16667"/>
            </a:avLst>
          </a:prstGeom>
          <a:solidFill>
            <a:schemeClr val="tx1"/>
          </a:solidFill>
          <a:ln w="9525" algn="ctr">
            <a:solidFill>
              <a:schemeClr val="tx1"/>
            </a:solidFill>
            <a:miter lim="800000"/>
            <a:headEnd/>
            <a:tailEnd/>
          </a:ln>
          <a:effectLst/>
        </p:spPr>
        <p:txBody>
          <a:bodyPr/>
          <a:lstStyle>
            <a:defPPr>
              <a:defRPr lang="en-US"/>
            </a:defPPr>
            <a:lvl1pPr marL="457200" indent="-457200">
              <a:spcBef>
                <a:spcPts val="0"/>
              </a:spcBef>
              <a:buClr>
                <a:srgbClr val="000000"/>
              </a:buClr>
              <a:buSzTx/>
              <a:buFont typeface="Wingdings" panose="05000000000000000000" pitchFamily="2" charset="2"/>
              <a:buNone/>
              <a:defRPr sz="2000">
                <a:solidFill>
                  <a:srgbClr val="FFFFFF"/>
                </a:solidFill>
                <a:latin typeface="Arial" panose="020B0604020202020204" pitchFamily="34" charset="0"/>
                <a:ea typeface="ＭＳ Ｐゴシック" panose="020B0600070205080204" pitchFamily="34" charset="-128"/>
              </a:defRPr>
            </a:lvl1pPr>
            <a:lvl2pPr marL="742950" lvl="1" indent="-285750">
              <a:spcBef>
                <a:spcPts val="0"/>
              </a:spcBef>
              <a:buFont typeface="Wingdings" panose="05000000000000000000" pitchFamily="2" charset="2"/>
              <a:buChar char="Ø"/>
              <a:defRPr sz="2000">
                <a:solidFill>
                  <a:srgbClr val="FFFFFF"/>
                </a:solidFill>
                <a:latin typeface="Arial" panose="020B0604020202020204" pitchFamily="34" charset="0"/>
                <a:ea typeface="ＭＳ Ｐゴシック" panose="020B0600070205080204" pitchFamily="34" charset="-128"/>
              </a:defRPr>
            </a:lvl2pPr>
            <a:lvl3pPr marL="1143000" indent="-228600">
              <a:spcBef>
                <a:spcPct val="20000"/>
              </a:spcBef>
              <a:buChar char="•"/>
              <a:defRPr sz="2400">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tabLst/>
              <a:defRPr/>
            </a:pP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Sub-standard condition</a:t>
            </a:r>
            <a:endPar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endParaRPr>
          </a:p>
        </p:txBody>
      </p:sp>
      <p:sp>
        <p:nvSpPr>
          <p:cNvPr id="79" name="TextBox 78">
            <a:extLst>
              <a:ext uri="{FF2B5EF4-FFF2-40B4-BE49-F238E27FC236}">
                <a16:creationId xmlns:a16="http://schemas.microsoft.com/office/drawing/2014/main" id="{FBED4873-AA48-4F0A-ADAA-65FC9815F027}"/>
              </a:ext>
            </a:extLst>
          </p:cNvPr>
          <p:cNvSpPr txBox="1"/>
          <p:nvPr/>
        </p:nvSpPr>
        <p:spPr>
          <a:xfrm>
            <a:off x="6465955" y="5400000"/>
            <a:ext cx="1980000" cy="756000"/>
          </a:xfrm>
          <a:prstGeom prst="wedgeRoundRectCallout">
            <a:avLst>
              <a:gd name="adj1" fmla="val -16456"/>
              <a:gd name="adj2" fmla="val -494010"/>
              <a:gd name="adj3" fmla="val 16667"/>
            </a:avLst>
          </a:prstGeom>
          <a:solidFill>
            <a:schemeClr val="tx1"/>
          </a:solidFill>
          <a:ln w="9525" algn="ctr">
            <a:solidFill>
              <a:schemeClr val="tx1"/>
            </a:solidFill>
            <a:miter lim="800000"/>
            <a:headEnd/>
            <a:tailEnd/>
          </a:ln>
          <a:effectLst/>
        </p:spPr>
        <p:txBody>
          <a:bodyPr/>
          <a:lstStyle>
            <a:defPPr>
              <a:defRPr lang="en-US"/>
            </a:defPPr>
            <a:lvl1pPr marL="457200" indent="-457200">
              <a:spcBef>
                <a:spcPts val="0"/>
              </a:spcBef>
              <a:buClr>
                <a:srgbClr val="000000"/>
              </a:buClr>
              <a:buSzTx/>
              <a:buFont typeface="Wingdings" panose="05000000000000000000" pitchFamily="2" charset="2"/>
              <a:buNone/>
              <a:defRPr sz="2000">
                <a:solidFill>
                  <a:srgbClr val="FFFFFF"/>
                </a:solidFill>
                <a:latin typeface="Arial" panose="020B0604020202020204" pitchFamily="34" charset="0"/>
                <a:ea typeface="ＭＳ Ｐゴシック" panose="020B0600070205080204" pitchFamily="34" charset="-128"/>
              </a:defRPr>
            </a:lvl1pPr>
            <a:lvl2pPr marL="742950" lvl="1" indent="-285750">
              <a:spcBef>
                <a:spcPts val="0"/>
              </a:spcBef>
              <a:buFont typeface="Wingdings" panose="05000000000000000000" pitchFamily="2" charset="2"/>
              <a:buChar char="Ø"/>
              <a:defRPr sz="2000">
                <a:solidFill>
                  <a:srgbClr val="FFFFFF"/>
                </a:solidFill>
                <a:latin typeface="Arial" panose="020B0604020202020204" pitchFamily="34" charset="0"/>
                <a:ea typeface="ＭＳ Ｐゴシック" panose="020B0600070205080204" pitchFamily="34" charset="-128"/>
              </a:defRPr>
            </a:lvl2pPr>
            <a:lvl3pPr marL="1143000" indent="-228600">
              <a:spcBef>
                <a:spcPct val="20000"/>
              </a:spcBef>
              <a:buChar char="•"/>
              <a:defRPr sz="2400">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tabLst/>
              <a:defRPr/>
            </a:pP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Sub-standard </a:t>
            </a: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work </a:t>
            </a: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practice</a:t>
            </a:r>
            <a:endPar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endParaRPr>
          </a:p>
        </p:txBody>
      </p:sp>
      <p:sp>
        <p:nvSpPr>
          <p:cNvPr id="80" name="TextBox 79">
            <a:extLst>
              <a:ext uri="{FF2B5EF4-FFF2-40B4-BE49-F238E27FC236}">
                <a16:creationId xmlns:a16="http://schemas.microsoft.com/office/drawing/2014/main" id="{FBED4873-AA48-4F0A-ADAA-65FC9815F027}"/>
              </a:ext>
            </a:extLst>
          </p:cNvPr>
          <p:cNvSpPr txBox="1"/>
          <p:nvPr/>
        </p:nvSpPr>
        <p:spPr>
          <a:xfrm>
            <a:off x="3445879" y="5400000"/>
            <a:ext cx="1980000" cy="756000"/>
          </a:xfrm>
          <a:prstGeom prst="wedgeRoundRectCallout">
            <a:avLst>
              <a:gd name="adj1" fmla="val 2603"/>
              <a:gd name="adj2" fmla="val -327147"/>
              <a:gd name="adj3" fmla="val 16667"/>
            </a:avLst>
          </a:prstGeom>
          <a:solidFill>
            <a:schemeClr val="tx1"/>
          </a:solidFill>
          <a:ln w="9525" algn="ctr">
            <a:solidFill>
              <a:schemeClr val="tx1"/>
            </a:solidFill>
            <a:miter lim="800000"/>
            <a:headEnd/>
            <a:tailEnd/>
          </a:ln>
          <a:effectLst/>
        </p:spPr>
        <p:txBody>
          <a:bodyPr/>
          <a:lstStyle>
            <a:defPPr>
              <a:defRPr lang="en-US"/>
            </a:defPPr>
            <a:lvl1pPr marL="457200" indent="-457200">
              <a:spcBef>
                <a:spcPts val="0"/>
              </a:spcBef>
              <a:buClr>
                <a:srgbClr val="000000"/>
              </a:buClr>
              <a:buSzTx/>
              <a:buFont typeface="Wingdings" panose="05000000000000000000" pitchFamily="2" charset="2"/>
              <a:buNone/>
              <a:defRPr sz="2000">
                <a:solidFill>
                  <a:srgbClr val="FFFFFF"/>
                </a:solidFill>
                <a:latin typeface="Arial" panose="020B0604020202020204" pitchFamily="34" charset="0"/>
                <a:ea typeface="ＭＳ Ｐゴシック" panose="020B0600070205080204" pitchFamily="34" charset="-128"/>
              </a:defRPr>
            </a:lvl1pPr>
            <a:lvl2pPr marL="742950" lvl="1" indent="-285750">
              <a:spcBef>
                <a:spcPts val="0"/>
              </a:spcBef>
              <a:buFont typeface="Wingdings" panose="05000000000000000000" pitchFamily="2" charset="2"/>
              <a:buChar char="Ø"/>
              <a:defRPr sz="2000">
                <a:solidFill>
                  <a:srgbClr val="FFFFFF"/>
                </a:solidFill>
                <a:latin typeface="Arial" panose="020B0604020202020204" pitchFamily="34" charset="0"/>
                <a:ea typeface="ＭＳ Ｐゴシック" panose="020B0600070205080204" pitchFamily="34" charset="-128"/>
              </a:defRPr>
            </a:lvl2pPr>
            <a:lvl3pPr marL="1143000" indent="-228600">
              <a:spcBef>
                <a:spcPct val="20000"/>
              </a:spcBef>
              <a:buChar char="•"/>
              <a:defRPr sz="2400">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latin typeface="Times New Roman" panose="02020603050405020304" pitchFamily="18" charset="0"/>
                <a:ea typeface="ＭＳ Ｐゴシック" panose="020B0600070205080204" pitchFamily="34" charset="-128"/>
              </a:defRPr>
            </a:lvl9pPr>
          </a:lstStyle>
          <a:p>
            <a:pPr marL="0" marR="0" lvl="0" indent="0" algn="ctr" defTabSz="914400" rtl="0" eaLnBrk="1" fontAlgn="auto" latinLnBrk="0" hangingPunct="1">
              <a:lnSpc>
                <a:spcPct val="100000"/>
              </a:lnSpc>
              <a:spcBef>
                <a:spcPts val="0"/>
              </a:spcBef>
              <a:spcAft>
                <a:spcPts val="0"/>
              </a:spcAft>
              <a:buClrTx/>
              <a:buSzTx/>
              <a:tabLst/>
              <a:defRPr/>
            </a:pP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Sub-standard </a:t>
            </a:r>
            <a:r>
              <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rPr>
              <a:t>work </a:t>
            </a:r>
            <a:r>
              <a:rPr kumimoji="0" lang="en-CA" sz="2000" b="0" i="1" u="none" strike="noStrike" kern="120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mn-cs"/>
              </a:rPr>
              <a:t>practice</a:t>
            </a:r>
            <a:endParaRPr kumimoji="0" lang="en-CA" sz="2000" b="0" i="1" u="none" strike="noStrike" kern="120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mn-cs"/>
            </a:endParaRPr>
          </a:p>
        </p:txBody>
      </p:sp>
      <p:sp>
        <p:nvSpPr>
          <p:cNvPr id="81" name="TextBox 80"/>
          <p:cNvSpPr txBox="1"/>
          <p:nvPr/>
        </p:nvSpPr>
        <p:spPr>
          <a:xfrm>
            <a:off x="668153" y="4680000"/>
            <a:ext cx="2124000" cy="523220"/>
          </a:xfrm>
          <a:prstGeom prst="rect">
            <a:avLst/>
          </a:prstGeom>
          <a:solidFill>
            <a:srgbClr val="FFFF00"/>
          </a:solidFill>
          <a:ln>
            <a:solidFill>
              <a:schemeClr val="tx1"/>
            </a:solidFill>
          </a:ln>
        </p:spPr>
        <p:txBody>
          <a:bodyPr wrap="square" rtlCol="0">
            <a:spAutoFit/>
          </a:bodyPr>
          <a:lstStyle/>
          <a:p>
            <a:pPr algn="ctr"/>
            <a:r>
              <a:rPr lang="en-US" sz="1400" dirty="0" smtClean="0"/>
              <a:t>“1</a:t>
            </a:r>
            <a:r>
              <a:rPr lang="en-US" sz="1400" baseline="30000" dirty="0" smtClean="0"/>
              <a:t>st</a:t>
            </a:r>
            <a:r>
              <a:rPr lang="en-US" sz="1400" dirty="0" smtClean="0"/>
              <a:t> immediate cause” in the root pathway</a:t>
            </a:r>
            <a:endParaRPr lang="en-US" sz="1400" dirty="0"/>
          </a:p>
        </p:txBody>
      </p:sp>
      <p:sp>
        <p:nvSpPr>
          <p:cNvPr id="82" name="TextBox 81"/>
          <p:cNvSpPr txBox="1"/>
          <p:nvPr/>
        </p:nvSpPr>
        <p:spPr>
          <a:xfrm>
            <a:off x="6466270" y="4680000"/>
            <a:ext cx="2124000" cy="523220"/>
          </a:xfrm>
          <a:prstGeom prst="rect">
            <a:avLst/>
          </a:prstGeom>
          <a:solidFill>
            <a:srgbClr val="FFFF00"/>
          </a:solidFill>
          <a:ln>
            <a:solidFill>
              <a:schemeClr val="tx1"/>
            </a:solidFill>
          </a:ln>
        </p:spPr>
        <p:txBody>
          <a:bodyPr wrap="square" rtlCol="0">
            <a:spAutoFit/>
          </a:bodyPr>
          <a:lstStyle/>
          <a:p>
            <a:pPr algn="ctr"/>
            <a:r>
              <a:rPr lang="en-US" sz="1400" dirty="0" smtClean="0"/>
              <a:t>“1</a:t>
            </a:r>
            <a:r>
              <a:rPr lang="en-US" sz="1400" baseline="30000" dirty="0" smtClean="0"/>
              <a:t>st</a:t>
            </a:r>
            <a:r>
              <a:rPr lang="en-US" sz="1400" dirty="0" smtClean="0"/>
              <a:t> immediate cause” in the root pathway</a:t>
            </a:r>
            <a:endParaRPr lang="en-US" sz="1400" dirty="0"/>
          </a:p>
        </p:txBody>
      </p:sp>
      <p:sp>
        <p:nvSpPr>
          <p:cNvPr id="83" name="TextBox 82"/>
          <p:cNvSpPr txBox="1"/>
          <p:nvPr/>
        </p:nvSpPr>
        <p:spPr>
          <a:xfrm>
            <a:off x="3445879" y="4698110"/>
            <a:ext cx="2124000" cy="523220"/>
          </a:xfrm>
          <a:prstGeom prst="rect">
            <a:avLst/>
          </a:prstGeom>
          <a:solidFill>
            <a:srgbClr val="FFFF00"/>
          </a:solidFill>
          <a:ln>
            <a:solidFill>
              <a:schemeClr val="tx1"/>
            </a:solidFill>
          </a:ln>
        </p:spPr>
        <p:txBody>
          <a:bodyPr wrap="square" rtlCol="0">
            <a:spAutoFit/>
          </a:bodyPr>
          <a:lstStyle/>
          <a:p>
            <a:pPr algn="ctr"/>
            <a:r>
              <a:rPr lang="en-US" sz="1400" dirty="0" smtClean="0"/>
              <a:t>“2</a:t>
            </a:r>
            <a:r>
              <a:rPr lang="en-US" sz="1400" baseline="30000" dirty="0" smtClean="0"/>
              <a:t>nd</a:t>
            </a:r>
            <a:r>
              <a:rPr lang="en-US" sz="1400" dirty="0" smtClean="0"/>
              <a:t> immediate cause” in the root pathway</a:t>
            </a:r>
            <a:endParaRPr lang="en-US" sz="1400" dirty="0"/>
          </a:p>
        </p:txBody>
      </p:sp>
      <p:sp>
        <p:nvSpPr>
          <p:cNvPr id="85" name="TextBox 84"/>
          <p:cNvSpPr txBox="1"/>
          <p:nvPr/>
        </p:nvSpPr>
        <p:spPr>
          <a:xfrm>
            <a:off x="2862711" y="649912"/>
            <a:ext cx="2124000" cy="578882"/>
          </a:xfrm>
          <a:prstGeom prst="wedgeRoundRectCallout">
            <a:avLst>
              <a:gd name="adj1" fmla="val -41928"/>
              <a:gd name="adj2" fmla="val 97251"/>
              <a:gd name="adj3" fmla="val 16667"/>
            </a:avLst>
          </a:prstGeom>
          <a:solidFill>
            <a:srgbClr val="FFFF00"/>
          </a:solidFill>
          <a:ln>
            <a:solidFill>
              <a:schemeClr val="tx1"/>
            </a:solidFill>
          </a:ln>
        </p:spPr>
        <p:txBody>
          <a:bodyPr wrap="square" rtlCol="0">
            <a:spAutoFit/>
          </a:bodyPr>
          <a:lstStyle/>
          <a:p>
            <a:pPr algn="ctr"/>
            <a:r>
              <a:rPr lang="en-US" sz="1400" i="1" dirty="0" smtClean="0"/>
              <a:t>This is an “event” in the incident.</a:t>
            </a:r>
            <a:endParaRPr lang="en-US" sz="1400" i="1" dirty="0"/>
          </a:p>
        </p:txBody>
      </p:sp>
      <p:sp>
        <p:nvSpPr>
          <p:cNvPr id="86" name="TextBox 85"/>
          <p:cNvSpPr txBox="1"/>
          <p:nvPr/>
        </p:nvSpPr>
        <p:spPr>
          <a:xfrm>
            <a:off x="98985" y="215160"/>
            <a:ext cx="11880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Incident </a:t>
            </a:r>
            <a:r>
              <a:rPr lang="en-CA" sz="1400" b="0" dirty="0" smtClean="0">
                <a:solidFill>
                  <a:srgbClr val="FF0000"/>
                </a:solidFill>
                <a:latin typeface="Arial" panose="020B0604020202020204" pitchFamily="34" charset="0"/>
                <a:cs typeface="Arial" panose="020B0604020202020204" pitchFamily="34" charset="0"/>
              </a:rPr>
              <a:t>Description</a:t>
            </a:r>
            <a:endPar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406682874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rgbClr val="0000CC"/>
          </a:solidFill>
          <a:ln>
            <a:solidFill>
              <a:srgbClr val="0000CC"/>
            </a:solidFill>
          </a:ln>
          <a:extLst/>
        </p:spPr>
        <p:txBody>
          <a:bodyPr wrap="square" anchor="ctr" anchorCtr="0">
            <a:noAutofit/>
          </a:bodyPr>
          <a:lstStyle/>
          <a:p>
            <a:pPr lvl="0">
              <a:spcBef>
                <a:spcPts val="0"/>
              </a:spcBef>
              <a:spcAft>
                <a:spcPts val="0"/>
              </a:spcAft>
              <a:defRPr/>
            </a:pP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ALE </a:t>
            </a: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#3: </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Immediate Causes - Categories and Sub-categories</a:t>
            </a:r>
            <a:endParaRPr kumimoji="0" lang="en-US" altLang="en-US" sz="2400" b="0" i="0" u="none" strike="noStrike" kern="1200" cap="none" spc="0" normalizeH="0" baseline="0" noProof="0" dirty="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 name="Rectangle 1"/>
          <p:cNvSpPr/>
          <p:nvPr/>
        </p:nvSpPr>
        <p:spPr>
          <a:xfrm>
            <a:off x="180000" y="828000"/>
            <a:ext cx="8640000" cy="5328000"/>
          </a:xfrm>
          <a:prstGeom prst="rect">
            <a:avLst/>
          </a:prstGeom>
          <a:solidFill>
            <a:srgbClr val="0000CC"/>
          </a:solidFill>
          <a:ln>
            <a:solidFill>
              <a:srgbClr val="0000CC"/>
            </a:solidFill>
          </a:ln>
        </p:spPr>
        <p:txBody>
          <a:bodyPr wrap="square">
            <a:noAutofit/>
          </a:bodyPr>
          <a:lstStyle/>
          <a:p>
            <a:pPr lvl="0">
              <a:spcBef>
                <a:spcPts val="0"/>
              </a:spcBef>
              <a:spcAft>
                <a:spcPts val="0"/>
              </a:spcAft>
              <a:defRPr/>
            </a:pP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Please confer (pen-to-paper, response on MM not intended): </a:t>
            </a:r>
          </a:p>
          <a:p>
            <a:pPr marL="360000" indent="-360000" eaLnBrk="0" hangingPunct="0">
              <a:spcBef>
                <a:spcPts val="0"/>
              </a:spcBef>
              <a:buSzPct val="100000"/>
              <a:buFont typeface="Wingdings" panose="05000000000000000000" pitchFamily="2" charset="2"/>
              <a:buChar char="Ø"/>
              <a:defRPr/>
            </a:pP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From </a:t>
            </a: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our Mining LI, identify the category and sub-category for </a:t>
            </a: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each of these three Immediate </a:t>
            </a: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Causes:</a:t>
            </a:r>
          </a:p>
          <a:p>
            <a:pPr marL="817200" indent="-457200" eaLnBrk="0" hangingPunct="0">
              <a:spcBef>
                <a:spcPts val="0"/>
              </a:spcBef>
              <a:buSzPct val="100000"/>
              <a:buFont typeface="+mj-lt"/>
              <a:buAutoNum type="alphaLcParenR"/>
              <a:defRPr/>
            </a:pP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Unstable </a:t>
            </a: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slope</a:t>
            </a:r>
          </a:p>
          <a:p>
            <a:pPr marL="817200" indent="-457200" eaLnBrk="0" hangingPunct="0">
              <a:spcBef>
                <a:spcPts val="0"/>
              </a:spcBef>
              <a:buSzPct val="100000"/>
              <a:buFont typeface="+mj-lt"/>
              <a:buAutoNum type="alphaLcParenR"/>
              <a:defRPr/>
            </a:pP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Equipment &amp; operator in exclusion zone</a:t>
            </a:r>
          </a:p>
          <a:p>
            <a:pPr marL="817200" indent="-457200" eaLnBrk="0" hangingPunct="0">
              <a:spcBef>
                <a:spcPts val="0"/>
              </a:spcBef>
              <a:buSzPct val="100000"/>
              <a:buFont typeface="+mj-lt"/>
              <a:buAutoNum type="alphaLcParenR"/>
              <a:defRPr/>
            </a:pP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Operator didn’t follow exclusion zone </a:t>
            </a: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procedures</a:t>
            </a:r>
            <a:endPar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p:txBody>
      </p:sp>
      <p:graphicFrame>
        <p:nvGraphicFramePr>
          <p:cNvPr id="6" name="Group 62"/>
          <p:cNvGraphicFramePr>
            <a:graphicFrameLocks noGrp="1"/>
          </p:cNvGraphicFramePr>
          <p:nvPr>
            <p:extLst>
              <p:ext uri="{D42A27DB-BD31-4B8C-83A1-F6EECF244321}">
                <p14:modId xmlns:p14="http://schemas.microsoft.com/office/powerpoint/2010/main" val="4214399160"/>
              </p:ext>
            </p:extLst>
          </p:nvPr>
        </p:nvGraphicFramePr>
        <p:xfrm>
          <a:off x="684213" y="3063224"/>
          <a:ext cx="7772400" cy="3020216"/>
        </p:xfrm>
        <a:graphic>
          <a:graphicData uri="http://schemas.openxmlformats.org/drawingml/2006/table">
            <a:tbl>
              <a:tblPr/>
              <a:tblGrid>
                <a:gridCol w="3735387">
                  <a:extLst>
                    <a:ext uri="{9D8B030D-6E8A-4147-A177-3AD203B41FA5}">
                      <a16:colId xmlns:a16="http://schemas.microsoft.com/office/drawing/2014/main" val="20000"/>
                    </a:ext>
                  </a:extLst>
                </a:gridCol>
                <a:gridCol w="4037013">
                  <a:extLst>
                    <a:ext uri="{9D8B030D-6E8A-4147-A177-3AD203B41FA5}">
                      <a16:colId xmlns:a16="http://schemas.microsoft.com/office/drawing/2014/main" val="20001"/>
                    </a:ext>
                  </a:extLst>
                </a:gridCol>
              </a:tblGrid>
              <a:tr h="316737">
                <a:tc>
                  <a:txBody>
                    <a:bodyPr/>
                    <a:lstStyle>
                      <a:lvl1pPr>
                        <a:spcBef>
                          <a:spcPct val="20000"/>
                        </a:spcBef>
                        <a:buClr>
                          <a:schemeClr val="tx2"/>
                        </a:buClr>
                        <a:buSzPct val="65000"/>
                        <a:buFont typeface="Wingdings" pitchFamily="2" charset="2"/>
                        <a:defRPr sz="2800">
                          <a:solidFill>
                            <a:schemeClr val="tx1"/>
                          </a:solidFill>
                          <a:latin typeface="Times New Roman" pitchFamily="18" charset="0"/>
                          <a:ea typeface="ＭＳ Ｐゴシック" pitchFamily="34" charset="-128"/>
                        </a:defRPr>
                      </a:lvl1pPr>
                      <a:lvl2pPr marL="742950" indent="-285750">
                        <a:spcBef>
                          <a:spcPct val="20000"/>
                        </a:spcBef>
                        <a:defRPr sz="2400">
                          <a:solidFill>
                            <a:schemeClr val="tx1"/>
                          </a:solidFill>
                          <a:latin typeface="Times New Roman" pitchFamily="18" charset="0"/>
                          <a:ea typeface="ＭＳ Ｐゴシック" pitchFamily="34" charset="-128"/>
                        </a:defRPr>
                      </a:lvl2pPr>
                      <a:lvl3pPr marL="1143000" indent="-228600">
                        <a:spcBef>
                          <a:spcPct val="20000"/>
                        </a:spcBef>
                        <a:defRPr sz="2000">
                          <a:solidFill>
                            <a:schemeClr val="tx1"/>
                          </a:solidFill>
                          <a:latin typeface="Times New Roman" pitchFamily="18" charset="0"/>
                          <a:ea typeface="ＭＳ Ｐゴシック" pitchFamily="34" charset="-128"/>
                        </a:defRPr>
                      </a:lvl3pPr>
                      <a:lvl4pPr marL="1600200" indent="-228600">
                        <a:spcBef>
                          <a:spcPct val="20000"/>
                        </a:spcBef>
                        <a:defRPr>
                          <a:solidFill>
                            <a:schemeClr val="tx1"/>
                          </a:solidFill>
                          <a:latin typeface="Times New Roman" pitchFamily="18" charset="0"/>
                          <a:ea typeface="ＭＳ Ｐゴシック" pitchFamily="34" charset="-128"/>
                        </a:defRPr>
                      </a:lvl4pPr>
                      <a:lvl5pPr marL="2057400" indent="-228600">
                        <a:spcBef>
                          <a:spcPct val="20000"/>
                        </a:spcBef>
                        <a:buSzPct val="65000"/>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Substandard Practices (examples)</a:t>
                      </a:r>
                    </a:p>
                  </a:txBody>
                  <a:tcPr marT="45724" marB="45724"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a:spcBef>
                          <a:spcPct val="20000"/>
                        </a:spcBef>
                        <a:buClr>
                          <a:schemeClr val="tx2"/>
                        </a:buClr>
                        <a:buSzPct val="65000"/>
                        <a:buFont typeface="Wingdings" pitchFamily="2" charset="2"/>
                        <a:defRPr sz="2800">
                          <a:solidFill>
                            <a:schemeClr val="tx1"/>
                          </a:solidFill>
                          <a:latin typeface="Times New Roman" pitchFamily="18" charset="0"/>
                          <a:ea typeface="ＭＳ Ｐゴシック" pitchFamily="34" charset="-128"/>
                        </a:defRPr>
                      </a:lvl1pPr>
                      <a:lvl2pPr marL="742950" indent="-285750">
                        <a:spcBef>
                          <a:spcPct val="20000"/>
                        </a:spcBef>
                        <a:defRPr sz="2400">
                          <a:solidFill>
                            <a:schemeClr val="tx1"/>
                          </a:solidFill>
                          <a:latin typeface="Times New Roman" pitchFamily="18" charset="0"/>
                          <a:ea typeface="ＭＳ Ｐゴシック" pitchFamily="34" charset="-128"/>
                        </a:defRPr>
                      </a:lvl2pPr>
                      <a:lvl3pPr marL="1143000" indent="-228600">
                        <a:spcBef>
                          <a:spcPct val="20000"/>
                        </a:spcBef>
                        <a:defRPr sz="2000">
                          <a:solidFill>
                            <a:schemeClr val="tx1"/>
                          </a:solidFill>
                          <a:latin typeface="Times New Roman" pitchFamily="18" charset="0"/>
                          <a:ea typeface="ＭＳ Ｐゴシック" pitchFamily="34" charset="-128"/>
                        </a:defRPr>
                      </a:lvl3pPr>
                      <a:lvl4pPr marL="1600200" indent="-228600">
                        <a:spcBef>
                          <a:spcPct val="20000"/>
                        </a:spcBef>
                        <a:defRPr>
                          <a:solidFill>
                            <a:schemeClr val="tx1"/>
                          </a:solidFill>
                          <a:latin typeface="Times New Roman" pitchFamily="18" charset="0"/>
                          <a:ea typeface="ＭＳ Ｐゴシック" pitchFamily="34" charset="-128"/>
                        </a:defRPr>
                      </a:lvl4pPr>
                      <a:lvl5pPr marL="2057400" indent="-228600">
                        <a:spcBef>
                          <a:spcPct val="20000"/>
                        </a:spcBef>
                        <a:buSzPct val="65000"/>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Substandard Conditions (examples)</a:t>
                      </a:r>
                    </a:p>
                  </a:txBody>
                  <a:tcPr marT="45724" marB="45724"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2684928">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Operating equipment without authority</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Failure to follow established procedures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Making safety devices inoperable</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Failing to use personal protective equipment</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Servicing equipment in operation</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Horseplay</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Under influence of alcohol, drugs</a:t>
                      </a:r>
                    </a:p>
                  </a:txBody>
                  <a:tcPr marT="45724" marB="45724"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or improper protective equipment</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Defective tools, equipment or materials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warning systems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Fire and explosion hazards (hidden)</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Poor housekeeping; disorderly workplace</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Hazardous environmental conditions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Noise exposures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a:t>
                      </a:r>
                      <a:r>
                        <a:rPr kumimoji="0" lang="en-US" altLang="en-US" sz="1600" b="0" i="0" u="none" strike="noStrike" cap="none" normalizeH="0" baseline="0" dirty="0" smtClean="0">
                          <a:ln>
                            <a:noFill/>
                          </a:ln>
                          <a:solidFill>
                            <a:schemeClr val="tx1">
                              <a:lumMod val="85000"/>
                              <a:lumOff val="15000"/>
                            </a:schemeClr>
                          </a:solidFill>
                          <a:effectLst/>
                          <a:latin typeface="Arial" pitchFamily="34" charset="0"/>
                          <a:ea typeface="Times New Roman" pitchFamily="18" charset="0"/>
                          <a:cs typeface="Arial" pitchFamily="34" charset="0"/>
                        </a:rPr>
                        <a:t>ventilation</a:t>
                      </a:r>
                      <a:endPar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endParaRPr>
                    </a:p>
                  </a:txBody>
                  <a:tcPr marT="45724" marB="45724"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31</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0"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1469911340"/>
      </p:ext>
    </p:extLst>
  </p:cSld>
  <p:clrMapOvr>
    <a:masterClrMapping/>
  </p:clrMapOvr>
  <p:transition>
    <p:fade/>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80000" y="828000"/>
            <a:ext cx="8640000" cy="5328000"/>
          </a:xfrm>
          <a:prstGeom prst="rect">
            <a:avLst/>
          </a:prstGeom>
          <a:solidFill>
            <a:schemeClr val="tx1"/>
          </a:solidFill>
          <a:ln>
            <a:solidFill>
              <a:schemeClr val="tx1"/>
            </a:solidFill>
          </a:ln>
        </p:spPr>
        <p:txBody>
          <a:bodyPr wrap="square">
            <a:noAutofit/>
          </a:bodyPr>
          <a:lstStyle/>
          <a:p>
            <a:pPr eaLnBrk="0" hangingPunct="0">
              <a:spcBef>
                <a:spcPts val="0"/>
              </a:spcBef>
              <a:buSzPct val="100000"/>
              <a:defRPr/>
            </a:pP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T</a:t>
            </a: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he </a:t>
            </a: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category and sub-category for </a:t>
            </a: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each of these three Immediate </a:t>
            </a: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Causes:</a:t>
            </a:r>
          </a:p>
          <a:p>
            <a:pPr marL="817200" indent="-457200" eaLnBrk="0" hangingPunct="0">
              <a:spcBef>
                <a:spcPts val="0"/>
              </a:spcBef>
              <a:buSzPct val="100000"/>
              <a:buFont typeface="+mj-lt"/>
              <a:buAutoNum type="alphaLcParenR"/>
              <a:defRPr/>
            </a:pP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Unstable </a:t>
            </a: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slope</a:t>
            </a:r>
          </a:p>
          <a:p>
            <a:pPr marL="817200" indent="-457200" eaLnBrk="0" hangingPunct="0">
              <a:spcBef>
                <a:spcPts val="0"/>
              </a:spcBef>
              <a:buSzPct val="100000"/>
              <a:buFont typeface="+mj-lt"/>
              <a:buAutoNum type="alphaLcParenR"/>
              <a:defRPr/>
            </a:pP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Equipment &amp; operator in exclusion zone</a:t>
            </a:r>
          </a:p>
          <a:p>
            <a:pPr marL="817200" indent="-457200" eaLnBrk="0" hangingPunct="0">
              <a:spcBef>
                <a:spcPts val="0"/>
              </a:spcBef>
              <a:buSzPct val="100000"/>
              <a:buFont typeface="+mj-lt"/>
              <a:buAutoNum type="alphaLcParenR"/>
              <a:defRPr/>
            </a:pP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Operator didn’t follow exclusion zone </a:t>
            </a: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procedures</a:t>
            </a:r>
            <a:endPar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a:p>
            <a:pPr eaLnBrk="0" hangingPunct="0">
              <a:spcBef>
                <a:spcPts val="0"/>
              </a:spcBef>
              <a:buSzPct val="100000"/>
              <a:defRPr/>
            </a:pPr>
            <a:r>
              <a:rPr 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a:t>
            </a: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See NOTES below.)</a:t>
            </a:r>
          </a:p>
        </p:txBody>
      </p:sp>
      <p:graphicFrame>
        <p:nvGraphicFramePr>
          <p:cNvPr id="12" name="Group 62"/>
          <p:cNvGraphicFramePr>
            <a:graphicFrameLocks noGrp="1"/>
          </p:cNvGraphicFramePr>
          <p:nvPr>
            <p:extLst>
              <p:ext uri="{D42A27DB-BD31-4B8C-83A1-F6EECF244321}">
                <p14:modId xmlns:p14="http://schemas.microsoft.com/office/powerpoint/2010/main" val="546725745"/>
              </p:ext>
            </p:extLst>
          </p:nvPr>
        </p:nvGraphicFramePr>
        <p:xfrm>
          <a:off x="684213" y="3063224"/>
          <a:ext cx="7772400" cy="3020216"/>
        </p:xfrm>
        <a:graphic>
          <a:graphicData uri="http://schemas.openxmlformats.org/drawingml/2006/table">
            <a:tbl>
              <a:tblPr/>
              <a:tblGrid>
                <a:gridCol w="3735387">
                  <a:extLst>
                    <a:ext uri="{9D8B030D-6E8A-4147-A177-3AD203B41FA5}">
                      <a16:colId xmlns:a16="http://schemas.microsoft.com/office/drawing/2014/main" val="20000"/>
                    </a:ext>
                  </a:extLst>
                </a:gridCol>
                <a:gridCol w="4037013">
                  <a:extLst>
                    <a:ext uri="{9D8B030D-6E8A-4147-A177-3AD203B41FA5}">
                      <a16:colId xmlns:a16="http://schemas.microsoft.com/office/drawing/2014/main" val="20001"/>
                    </a:ext>
                  </a:extLst>
                </a:gridCol>
              </a:tblGrid>
              <a:tr h="316737">
                <a:tc>
                  <a:txBody>
                    <a:bodyPr/>
                    <a:lstStyle>
                      <a:lvl1pPr>
                        <a:spcBef>
                          <a:spcPct val="20000"/>
                        </a:spcBef>
                        <a:buClr>
                          <a:schemeClr val="tx2"/>
                        </a:buClr>
                        <a:buSzPct val="65000"/>
                        <a:buFont typeface="Wingdings" pitchFamily="2" charset="2"/>
                        <a:defRPr sz="2800">
                          <a:solidFill>
                            <a:schemeClr val="tx1"/>
                          </a:solidFill>
                          <a:latin typeface="Times New Roman" pitchFamily="18" charset="0"/>
                          <a:ea typeface="ＭＳ Ｐゴシック" pitchFamily="34" charset="-128"/>
                        </a:defRPr>
                      </a:lvl1pPr>
                      <a:lvl2pPr marL="742950" indent="-285750">
                        <a:spcBef>
                          <a:spcPct val="20000"/>
                        </a:spcBef>
                        <a:defRPr sz="2400">
                          <a:solidFill>
                            <a:schemeClr val="tx1"/>
                          </a:solidFill>
                          <a:latin typeface="Times New Roman" pitchFamily="18" charset="0"/>
                          <a:ea typeface="ＭＳ Ｐゴシック" pitchFamily="34" charset="-128"/>
                        </a:defRPr>
                      </a:lvl2pPr>
                      <a:lvl3pPr marL="1143000" indent="-228600">
                        <a:spcBef>
                          <a:spcPct val="20000"/>
                        </a:spcBef>
                        <a:defRPr sz="2000">
                          <a:solidFill>
                            <a:schemeClr val="tx1"/>
                          </a:solidFill>
                          <a:latin typeface="Times New Roman" pitchFamily="18" charset="0"/>
                          <a:ea typeface="ＭＳ Ｐゴシック" pitchFamily="34" charset="-128"/>
                        </a:defRPr>
                      </a:lvl3pPr>
                      <a:lvl4pPr marL="1600200" indent="-228600">
                        <a:spcBef>
                          <a:spcPct val="20000"/>
                        </a:spcBef>
                        <a:defRPr>
                          <a:solidFill>
                            <a:schemeClr val="tx1"/>
                          </a:solidFill>
                          <a:latin typeface="Times New Roman" pitchFamily="18" charset="0"/>
                          <a:ea typeface="ＭＳ Ｐゴシック" pitchFamily="34" charset="-128"/>
                        </a:defRPr>
                      </a:lvl4pPr>
                      <a:lvl5pPr marL="2057400" indent="-228600">
                        <a:spcBef>
                          <a:spcPct val="20000"/>
                        </a:spcBef>
                        <a:buSzPct val="65000"/>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Substandard Practices (examples)</a:t>
                      </a:r>
                    </a:p>
                  </a:txBody>
                  <a:tcPr marT="45724" marB="45724"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a:spcBef>
                          <a:spcPct val="20000"/>
                        </a:spcBef>
                        <a:buClr>
                          <a:schemeClr val="tx2"/>
                        </a:buClr>
                        <a:buSzPct val="65000"/>
                        <a:buFont typeface="Wingdings" pitchFamily="2" charset="2"/>
                        <a:defRPr sz="2800">
                          <a:solidFill>
                            <a:schemeClr val="tx1"/>
                          </a:solidFill>
                          <a:latin typeface="Times New Roman" pitchFamily="18" charset="0"/>
                          <a:ea typeface="ＭＳ Ｐゴシック" pitchFamily="34" charset="-128"/>
                        </a:defRPr>
                      </a:lvl1pPr>
                      <a:lvl2pPr marL="742950" indent="-285750">
                        <a:spcBef>
                          <a:spcPct val="20000"/>
                        </a:spcBef>
                        <a:defRPr sz="2400">
                          <a:solidFill>
                            <a:schemeClr val="tx1"/>
                          </a:solidFill>
                          <a:latin typeface="Times New Roman" pitchFamily="18" charset="0"/>
                          <a:ea typeface="ＭＳ Ｐゴシック" pitchFamily="34" charset="-128"/>
                        </a:defRPr>
                      </a:lvl2pPr>
                      <a:lvl3pPr marL="1143000" indent="-228600">
                        <a:spcBef>
                          <a:spcPct val="20000"/>
                        </a:spcBef>
                        <a:defRPr sz="2000">
                          <a:solidFill>
                            <a:schemeClr val="tx1"/>
                          </a:solidFill>
                          <a:latin typeface="Times New Roman" pitchFamily="18" charset="0"/>
                          <a:ea typeface="ＭＳ Ｐゴシック" pitchFamily="34" charset="-128"/>
                        </a:defRPr>
                      </a:lvl3pPr>
                      <a:lvl4pPr marL="1600200" indent="-228600">
                        <a:spcBef>
                          <a:spcPct val="20000"/>
                        </a:spcBef>
                        <a:defRPr>
                          <a:solidFill>
                            <a:schemeClr val="tx1"/>
                          </a:solidFill>
                          <a:latin typeface="Times New Roman" pitchFamily="18" charset="0"/>
                          <a:ea typeface="ＭＳ Ｐゴシック" pitchFamily="34" charset="-128"/>
                        </a:defRPr>
                      </a:lvl4pPr>
                      <a:lvl5pPr marL="2057400" indent="-228600">
                        <a:spcBef>
                          <a:spcPct val="20000"/>
                        </a:spcBef>
                        <a:buSzPct val="65000"/>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Substandard Conditions (examples)</a:t>
                      </a:r>
                    </a:p>
                  </a:txBody>
                  <a:tcPr marT="45724" marB="45724"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2684928">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Operating equipment without authority</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Failure to follow established procedures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Making safety devices inoperable</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Failing to use personal protective equipment</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Servicing equipment in operation</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Horseplay</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Under influence of alcohol, drugs</a:t>
                      </a:r>
                    </a:p>
                  </a:txBody>
                  <a:tcPr marT="45724" marB="45724"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chemeClr val="bg1"/>
                    </a:solidFill>
                  </a:tcPr>
                </a:tc>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or improper protective equipment</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Defective tools, equipment or materials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warning systems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Fire and explosion hazards (hidden)</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Poor housekeeping; disorderly workplace</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Hazardous environmental conditions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Noise exposures</a:t>
                      </a:r>
                    </a:p>
                    <a:p>
                      <a:pPr marL="0" marR="0" lvl="0" indent="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rPr>
                        <a:t>Inadequate </a:t>
                      </a:r>
                      <a:r>
                        <a:rPr kumimoji="0" lang="en-US" altLang="en-US" sz="1600" b="0" i="0" u="none" strike="noStrike" cap="none" normalizeH="0" baseline="0" dirty="0" smtClean="0">
                          <a:ln>
                            <a:noFill/>
                          </a:ln>
                          <a:solidFill>
                            <a:schemeClr val="tx1">
                              <a:lumMod val="85000"/>
                              <a:lumOff val="15000"/>
                            </a:schemeClr>
                          </a:solidFill>
                          <a:effectLst/>
                          <a:latin typeface="Arial" pitchFamily="34" charset="0"/>
                          <a:ea typeface="Times New Roman" pitchFamily="18" charset="0"/>
                          <a:cs typeface="Arial" pitchFamily="34" charset="0"/>
                        </a:rPr>
                        <a:t>ventilation</a:t>
                      </a:r>
                      <a:endParaRPr kumimoji="0" lang="en-US" altLang="en-US" sz="1600" b="0" i="0" u="none" strike="noStrike" cap="none" normalizeH="0" baseline="0" dirty="0">
                        <a:ln>
                          <a:noFill/>
                        </a:ln>
                        <a:solidFill>
                          <a:schemeClr val="tx1">
                            <a:lumMod val="85000"/>
                            <a:lumOff val="15000"/>
                          </a:schemeClr>
                        </a:solidFill>
                        <a:effectLst/>
                        <a:latin typeface="Arial" pitchFamily="34" charset="0"/>
                        <a:ea typeface="Times New Roman" pitchFamily="18" charset="0"/>
                        <a:cs typeface="Arial" pitchFamily="34" charset="0"/>
                      </a:endParaRPr>
                    </a:p>
                  </a:txBody>
                  <a:tcPr marT="45724" marB="45724"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1685" name="Rectangle 2"/>
          <p:cNvSpPr>
            <a:spLocks noChangeArrowheads="1"/>
          </p:cNvSpPr>
          <p:nvPr/>
        </p:nvSpPr>
        <p:spPr bwMode="auto">
          <a:xfrm>
            <a:off x="180000" y="180000"/>
            <a:ext cx="8640000" cy="504000"/>
          </a:xfrm>
          <a:prstGeom prst="rect">
            <a:avLst/>
          </a:prstGeom>
          <a:solidFill>
            <a:schemeClr val="tx1"/>
          </a:solidFill>
          <a:ln>
            <a:solidFill>
              <a:schemeClr val="tx1"/>
            </a:solidFill>
          </a:ln>
          <a:extLst/>
        </p:spPr>
        <p:txBody>
          <a:bodyPr wrap="square" anchor="ctr" anchorCtr="0">
            <a:noAutofit/>
          </a:bodyPr>
          <a:lstStyle/>
          <a:p>
            <a:pPr lvl="0">
              <a:spcBef>
                <a:spcPts val="0"/>
              </a:spcBef>
              <a:spcAft>
                <a:spcPts val="0"/>
              </a:spcAft>
              <a:defRPr/>
            </a:pP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Example: </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Immediate Causes - Categories and Sub-categories</a:t>
            </a:r>
            <a:endParaRPr kumimoji="0" lang="en-US" altLang="en-US" sz="2400" b="0" i="0" u="none" strike="noStrike" kern="1200" cap="none" spc="0" normalizeH="0" baseline="0" noProof="0" dirty="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32</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0"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
        <p:nvSpPr>
          <p:cNvPr id="9" name="Rectangle 8"/>
          <p:cNvSpPr/>
          <p:nvPr/>
        </p:nvSpPr>
        <p:spPr>
          <a:xfrm>
            <a:off x="4419600" y="4876195"/>
            <a:ext cx="3883180" cy="345600"/>
          </a:xfrm>
          <a:prstGeom prst="rect">
            <a:avLst/>
          </a:prstGeom>
          <a:solidFill>
            <a:schemeClr val="bg1"/>
          </a:solid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0000"/>
                </a:solidFill>
                <a:effectLst/>
                <a:uLnTx/>
                <a:uFillTx/>
                <a:latin typeface="Calibri" panose="020F0502020204030204"/>
                <a:ea typeface="+mn-ea"/>
                <a:cs typeface="+mn-cs"/>
              </a:rPr>
              <a:t>a) </a:t>
            </a:r>
            <a:r>
              <a:rPr kumimoji="0" lang="en-US" sz="1600" b="0" i="0" u="none" strike="noStrike" kern="1200" cap="none" spc="0" normalizeH="0" baseline="0" noProof="0" dirty="0" smtClean="0">
                <a:ln>
                  <a:noFill/>
                </a:ln>
                <a:solidFill>
                  <a:srgbClr val="FF0000"/>
                </a:solidFill>
                <a:effectLst/>
                <a:uLnTx/>
                <a:uFillTx/>
                <a:latin typeface="Calibri" panose="020F0502020204030204"/>
                <a:ea typeface="+mn-ea"/>
                <a:cs typeface="+mn-cs"/>
              </a:rPr>
              <a:t>Hazardous environmental conditions</a:t>
            </a:r>
            <a:endParaRPr kumimoji="0" lang="en-US" sz="16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
        <p:nvSpPr>
          <p:cNvPr id="11" name="Rectangle 10"/>
          <p:cNvSpPr/>
          <p:nvPr/>
        </p:nvSpPr>
        <p:spPr>
          <a:xfrm>
            <a:off x="687233" y="3682425"/>
            <a:ext cx="3883180" cy="584775"/>
          </a:xfrm>
          <a:prstGeom prst="rect">
            <a:avLst/>
          </a:prstGeom>
          <a:solidFill>
            <a:schemeClr val="bg1"/>
          </a:solid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srgbClr val="FF0000"/>
                </a:solidFill>
                <a:effectLst/>
                <a:uLnTx/>
                <a:uFillTx/>
                <a:latin typeface="Calibri" panose="020F0502020204030204"/>
                <a:ea typeface="+mn-ea"/>
                <a:cs typeface="+mn-cs"/>
              </a:rPr>
              <a:t>b) c) Failure </a:t>
            </a:r>
            <a:r>
              <a:rPr kumimoji="0" lang="en-US" sz="1600" b="0" i="0" u="none" strike="noStrike" kern="1200" cap="none" spc="0" normalizeH="0" baseline="0" noProof="0" dirty="0">
                <a:ln>
                  <a:noFill/>
                </a:ln>
                <a:solidFill>
                  <a:srgbClr val="FF0000"/>
                </a:solidFill>
                <a:effectLst/>
                <a:uLnTx/>
                <a:uFillTx/>
                <a:latin typeface="Calibri" panose="020F0502020204030204"/>
                <a:ea typeface="+mn-ea"/>
                <a:cs typeface="+mn-cs"/>
              </a:rPr>
              <a:t>to follow </a:t>
            </a:r>
            <a:r>
              <a:rPr kumimoji="0" lang="en-US" sz="1600" b="0" i="0" u="none" strike="noStrike" kern="1200" cap="none" spc="0" normalizeH="0" baseline="0" noProof="0" dirty="0" smtClean="0">
                <a:ln>
                  <a:noFill/>
                </a:ln>
                <a:solidFill>
                  <a:srgbClr val="FF0000"/>
                </a:solidFill>
                <a:effectLst/>
                <a:uLnTx/>
                <a:uFillTx/>
                <a:latin typeface="Calibri" panose="020F0502020204030204"/>
                <a:ea typeface="+mn-ea"/>
                <a:cs typeface="+mn-cs"/>
              </a:rPr>
              <a:t>established procedures (Admin. Controls: safety rules, policies, etc.)</a:t>
            </a:r>
            <a:endParaRPr kumimoji="0" lang="en-US" sz="1600" b="0" i="0" u="none" strike="noStrike" kern="1200" cap="none" spc="0" normalizeH="0" baseline="0" noProof="0" dirty="0">
              <a:ln>
                <a:noFill/>
              </a:ln>
              <a:solidFill>
                <a:srgbClr val="FF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09535591"/>
      </p:ext>
    </p:extLst>
  </p:cSld>
  <p:clrMapOvr>
    <a:masterClrMapping/>
  </p:clrMapOvr>
  <p:transition>
    <p:fade/>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defRPr/>
            </a:pPr>
            <a:r>
              <a:rPr lang="en-US" altLang="en-US" sz="2400" b="0" dirty="0">
                <a:solidFill>
                  <a:srgbClr val="333399"/>
                </a:solidFill>
                <a:latin typeface="Arial" panose="020B0604020202020204" pitchFamily="34" charset="0"/>
                <a:cs typeface="Arial" panose="020B0604020202020204" pitchFamily="34" charset="0"/>
              </a:rPr>
              <a:t>Basic Causes and Categories: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33</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graphicFrame>
        <p:nvGraphicFramePr>
          <p:cNvPr id="6" name="Group 86"/>
          <p:cNvGraphicFramePr>
            <a:graphicFrameLocks noGrp="1"/>
          </p:cNvGraphicFramePr>
          <p:nvPr>
            <p:extLst>
              <p:ext uri="{D42A27DB-BD31-4B8C-83A1-F6EECF244321}">
                <p14:modId xmlns:p14="http://schemas.microsoft.com/office/powerpoint/2010/main" val="1415028268"/>
              </p:ext>
            </p:extLst>
          </p:nvPr>
        </p:nvGraphicFramePr>
        <p:xfrm>
          <a:off x="180000" y="914400"/>
          <a:ext cx="8640000" cy="5287895"/>
        </p:xfrm>
        <a:graphic>
          <a:graphicData uri="http://schemas.openxmlformats.org/drawingml/2006/table">
            <a:tbl>
              <a:tblPr/>
              <a:tblGrid>
                <a:gridCol w="3426360">
                  <a:extLst>
                    <a:ext uri="{9D8B030D-6E8A-4147-A177-3AD203B41FA5}">
                      <a16:colId xmlns:a16="http://schemas.microsoft.com/office/drawing/2014/main" val="20000"/>
                    </a:ext>
                  </a:extLst>
                </a:gridCol>
                <a:gridCol w="2246595">
                  <a:extLst>
                    <a:ext uri="{9D8B030D-6E8A-4147-A177-3AD203B41FA5}">
                      <a16:colId xmlns:a16="http://schemas.microsoft.com/office/drawing/2014/main" val="20001"/>
                    </a:ext>
                  </a:extLst>
                </a:gridCol>
                <a:gridCol w="2967045">
                  <a:extLst>
                    <a:ext uri="{9D8B030D-6E8A-4147-A177-3AD203B41FA5}">
                      <a16:colId xmlns:a16="http://schemas.microsoft.com/office/drawing/2014/main" val="20002"/>
                    </a:ext>
                  </a:extLst>
                </a:gridCol>
              </a:tblGrid>
              <a:tr h="999359">
                <a:tc>
                  <a:txBody>
                    <a:bodyPr/>
                    <a:lstStyle>
                      <a:lvl1pPr>
                        <a:spcBef>
                          <a:spcPct val="20000"/>
                        </a:spcBef>
                        <a:buClr>
                          <a:schemeClr val="tx2"/>
                        </a:buClr>
                        <a:buSzPct val="65000"/>
                        <a:buFont typeface="Wingdings" pitchFamily="2" charset="2"/>
                        <a:tabLst>
                          <a:tab pos="457200" algn="r"/>
                          <a:tab pos="2743200" algn="ctr"/>
                          <a:tab pos="5486400" algn="r"/>
                        </a:tabLst>
                        <a:defRPr sz="2800">
                          <a:solidFill>
                            <a:schemeClr val="tx1"/>
                          </a:solidFill>
                          <a:latin typeface="Times New Roman" pitchFamily="18" charset="0"/>
                          <a:ea typeface="ＭＳ Ｐゴシック" pitchFamily="34" charset="-128"/>
                        </a:defRPr>
                      </a:lvl1pPr>
                      <a:lvl2pPr marL="742950" indent="-285750">
                        <a:spcBef>
                          <a:spcPct val="20000"/>
                        </a:spcBef>
                        <a:tabLst>
                          <a:tab pos="457200" algn="r"/>
                          <a:tab pos="2743200" algn="ctr"/>
                          <a:tab pos="5486400" algn="r"/>
                        </a:tabLst>
                        <a:defRPr sz="2400">
                          <a:solidFill>
                            <a:schemeClr val="tx1"/>
                          </a:solidFill>
                          <a:latin typeface="Times New Roman" pitchFamily="18" charset="0"/>
                          <a:ea typeface="ＭＳ Ｐゴシック" pitchFamily="34" charset="-128"/>
                        </a:defRPr>
                      </a:lvl2pPr>
                      <a:lvl3pPr marL="1143000" indent="-228600">
                        <a:spcBef>
                          <a:spcPct val="20000"/>
                        </a:spcBef>
                        <a:tabLst>
                          <a:tab pos="457200" algn="r"/>
                          <a:tab pos="2743200" algn="ctr"/>
                          <a:tab pos="5486400" algn="r"/>
                        </a:tabLst>
                        <a:defRPr sz="2000">
                          <a:solidFill>
                            <a:schemeClr val="tx1"/>
                          </a:solidFill>
                          <a:latin typeface="Times New Roman" pitchFamily="18" charset="0"/>
                          <a:ea typeface="ＭＳ Ｐゴシック" pitchFamily="34" charset="-128"/>
                        </a:defRPr>
                      </a:lvl3pPr>
                      <a:lvl4pPr marL="1600200" indent="-228600">
                        <a:spcBef>
                          <a:spcPct val="20000"/>
                        </a:spcBef>
                        <a:tabLst>
                          <a:tab pos="457200" algn="r"/>
                          <a:tab pos="2743200" algn="ctr"/>
                          <a:tab pos="5486400" algn="r"/>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457200" algn="r"/>
                          <a:tab pos="2743200" algn="ctr"/>
                          <a:tab pos="5486400" algn="r"/>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tab pos="457200" algn="r"/>
                          <a:tab pos="2743200" algn="ctr"/>
                          <a:tab pos="5486400" algn="r"/>
                        </a:tabLst>
                      </a:pPr>
                      <a:r>
                        <a:rPr kumimoji="0" lang="en-US" altLang="en-US" sz="1600" b="1" i="0" u="none" strike="noStrike" cap="none" normalizeH="0" baseline="0" dirty="0">
                          <a:ln>
                            <a:noFill/>
                          </a:ln>
                          <a:solidFill>
                            <a:schemeClr val="tx1"/>
                          </a:solidFill>
                          <a:effectLst/>
                          <a:latin typeface="Arial" pitchFamily="34" charset="0"/>
                          <a:ea typeface="Times New Roman" pitchFamily="18" charset="0"/>
                          <a:cs typeface="Arial" pitchFamily="34" charset="0"/>
                        </a:rPr>
                        <a:t>Engineering &amp; Design Factors: </a:t>
                      </a:r>
                      <a:br>
                        <a:rPr kumimoji="0" lang="en-US" altLang="en-US" sz="1600" b="1" i="0" u="none" strike="noStrike" cap="none" normalizeH="0" baseline="0" dirty="0">
                          <a:ln>
                            <a:noFill/>
                          </a:ln>
                          <a:solidFill>
                            <a:schemeClr val="tx1"/>
                          </a:solidFill>
                          <a:effectLst/>
                          <a:latin typeface="Arial" pitchFamily="34" charset="0"/>
                          <a:ea typeface="Times New Roman" pitchFamily="18" charset="0"/>
                          <a:cs typeface="Arial" pitchFamily="34" charset="0"/>
                        </a:rPr>
                      </a:br>
                      <a:r>
                        <a:rPr kumimoji="0" lang="en-US" altLang="en-US" sz="1600" b="0" i="1" u="none" strike="noStrike" cap="none" normalizeH="0" baseline="0" dirty="0">
                          <a:ln>
                            <a:noFill/>
                          </a:ln>
                          <a:solidFill>
                            <a:schemeClr val="tx1"/>
                          </a:solidFill>
                          <a:effectLst/>
                          <a:latin typeface="Arial" pitchFamily="34" charset="0"/>
                          <a:ea typeface="Times New Roman" pitchFamily="18" charset="0"/>
                          <a:cs typeface="Arial" pitchFamily="34" charset="0"/>
                        </a:rPr>
                        <a:t>(can apply to structures, equipment, tools, </a:t>
                      </a:r>
                      <a:r>
                        <a:rPr kumimoji="0" lang="en-US" altLang="en-US" sz="1600" b="0" i="1" u="none" strike="noStrike" cap="none" normalizeH="0" baseline="0" dirty="0" smtClean="0">
                          <a:ln>
                            <a:noFill/>
                          </a:ln>
                          <a:solidFill>
                            <a:schemeClr val="tx1"/>
                          </a:solidFill>
                          <a:effectLst/>
                          <a:latin typeface="Arial" pitchFamily="34" charset="0"/>
                          <a:ea typeface="Times New Roman" pitchFamily="18" charset="0"/>
                          <a:cs typeface="Arial" pitchFamily="34" charset="0"/>
                        </a:rPr>
                        <a:t>products, raw materials, i.e</a:t>
                      </a:r>
                      <a:r>
                        <a:rPr kumimoji="0" lang="en-US" altLang="en-US" sz="1600" b="0" i="1" u="none" strike="noStrike" cap="none" normalizeH="0" baseline="0" dirty="0">
                          <a:ln>
                            <a:noFill/>
                          </a:ln>
                          <a:solidFill>
                            <a:schemeClr val="tx1"/>
                          </a:solidFill>
                          <a:effectLst/>
                          <a:latin typeface="Arial" pitchFamily="34" charset="0"/>
                          <a:ea typeface="Times New Roman" pitchFamily="18" charset="0"/>
                          <a:cs typeface="Arial" pitchFamily="34" charset="0"/>
                        </a:rPr>
                        <a:t>. any engineered system)</a:t>
                      </a:r>
                      <a:endParaRPr kumimoji="0" lang="en-US" altLang="en-US" sz="1800" b="0" i="0" u="none" strike="noStrike" cap="none" normalizeH="0" baseline="0" dirty="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a:spcBef>
                          <a:spcPct val="20000"/>
                        </a:spcBef>
                        <a:buClr>
                          <a:schemeClr val="tx2"/>
                        </a:buClr>
                        <a:buSzPct val="65000"/>
                        <a:buFont typeface="Wingdings" pitchFamily="2" charset="2"/>
                        <a:tabLst>
                          <a:tab pos="457200" algn="r"/>
                          <a:tab pos="2743200" algn="ctr"/>
                          <a:tab pos="5486400" algn="r"/>
                        </a:tabLst>
                        <a:defRPr sz="2800">
                          <a:solidFill>
                            <a:schemeClr val="tx1"/>
                          </a:solidFill>
                          <a:latin typeface="Times New Roman" pitchFamily="18" charset="0"/>
                          <a:ea typeface="ＭＳ Ｐゴシック" pitchFamily="34" charset="-128"/>
                        </a:defRPr>
                      </a:lvl1pPr>
                      <a:lvl2pPr marL="742950" indent="-285750">
                        <a:spcBef>
                          <a:spcPct val="20000"/>
                        </a:spcBef>
                        <a:tabLst>
                          <a:tab pos="457200" algn="r"/>
                          <a:tab pos="2743200" algn="ctr"/>
                          <a:tab pos="5486400" algn="r"/>
                        </a:tabLst>
                        <a:defRPr sz="2400">
                          <a:solidFill>
                            <a:schemeClr val="tx1"/>
                          </a:solidFill>
                          <a:latin typeface="Times New Roman" pitchFamily="18" charset="0"/>
                          <a:ea typeface="ＭＳ Ｐゴシック" pitchFamily="34" charset="-128"/>
                        </a:defRPr>
                      </a:lvl2pPr>
                      <a:lvl3pPr marL="1143000" indent="-228600">
                        <a:spcBef>
                          <a:spcPct val="20000"/>
                        </a:spcBef>
                        <a:tabLst>
                          <a:tab pos="457200" algn="r"/>
                          <a:tab pos="2743200" algn="ctr"/>
                          <a:tab pos="5486400" algn="r"/>
                        </a:tabLst>
                        <a:defRPr sz="2000">
                          <a:solidFill>
                            <a:schemeClr val="tx1"/>
                          </a:solidFill>
                          <a:latin typeface="Times New Roman" pitchFamily="18" charset="0"/>
                          <a:ea typeface="ＭＳ Ｐゴシック" pitchFamily="34" charset="-128"/>
                        </a:defRPr>
                      </a:lvl3pPr>
                      <a:lvl4pPr marL="1600200" indent="-228600">
                        <a:spcBef>
                          <a:spcPct val="20000"/>
                        </a:spcBef>
                        <a:tabLst>
                          <a:tab pos="457200" algn="r"/>
                          <a:tab pos="2743200" algn="ctr"/>
                          <a:tab pos="5486400" algn="r"/>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457200" algn="r"/>
                          <a:tab pos="2743200" algn="ctr"/>
                          <a:tab pos="5486400" algn="r"/>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tab pos="457200" algn="r"/>
                          <a:tab pos="2743200" algn="ctr"/>
                          <a:tab pos="5486400" algn="r"/>
                        </a:tabLst>
                      </a:pPr>
                      <a:r>
                        <a:rPr kumimoji="0" lang="en-US" altLang="en-US" sz="1800" b="1" i="0" u="none" strike="noStrike" cap="none" normalizeH="0" baseline="0" dirty="0">
                          <a:ln>
                            <a:noFill/>
                          </a:ln>
                          <a:solidFill>
                            <a:schemeClr val="tx1"/>
                          </a:solidFill>
                          <a:effectLst/>
                          <a:latin typeface="Arial" pitchFamily="34" charset="0"/>
                          <a:ea typeface="Times New Roman" pitchFamily="18" charset="0"/>
                          <a:cs typeface="Arial" pitchFamily="34" charset="0"/>
                        </a:rPr>
                        <a:t>Job Factors:</a:t>
                      </a:r>
                      <a:endParaRPr kumimoji="0" lang="en-US" altLang="en-US" sz="1800" b="0" i="0" u="none" strike="noStrike" cap="none" normalizeH="0" baseline="0" dirty="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a:spcBef>
                          <a:spcPct val="20000"/>
                        </a:spcBef>
                        <a:buClr>
                          <a:schemeClr val="tx2"/>
                        </a:buClr>
                        <a:buSzPct val="65000"/>
                        <a:buFont typeface="Wingdings" pitchFamily="2" charset="2"/>
                        <a:tabLst>
                          <a:tab pos="457200" algn="r"/>
                          <a:tab pos="2743200" algn="ctr"/>
                          <a:tab pos="5486400" algn="r"/>
                        </a:tabLst>
                        <a:defRPr sz="2800">
                          <a:solidFill>
                            <a:schemeClr val="tx1"/>
                          </a:solidFill>
                          <a:latin typeface="Times New Roman" pitchFamily="18" charset="0"/>
                          <a:ea typeface="ＭＳ Ｐゴシック" pitchFamily="34" charset="-128"/>
                        </a:defRPr>
                      </a:lvl1pPr>
                      <a:lvl2pPr marL="742950" indent="-285750">
                        <a:spcBef>
                          <a:spcPct val="20000"/>
                        </a:spcBef>
                        <a:tabLst>
                          <a:tab pos="457200" algn="r"/>
                          <a:tab pos="2743200" algn="ctr"/>
                          <a:tab pos="5486400" algn="r"/>
                        </a:tabLst>
                        <a:defRPr sz="2400">
                          <a:solidFill>
                            <a:schemeClr val="tx1"/>
                          </a:solidFill>
                          <a:latin typeface="Times New Roman" pitchFamily="18" charset="0"/>
                          <a:ea typeface="ＭＳ Ｐゴシック" pitchFamily="34" charset="-128"/>
                        </a:defRPr>
                      </a:lvl2pPr>
                      <a:lvl3pPr marL="1143000" indent="-228600">
                        <a:spcBef>
                          <a:spcPct val="20000"/>
                        </a:spcBef>
                        <a:tabLst>
                          <a:tab pos="457200" algn="r"/>
                          <a:tab pos="2743200" algn="ctr"/>
                          <a:tab pos="5486400" algn="r"/>
                        </a:tabLst>
                        <a:defRPr sz="2000">
                          <a:solidFill>
                            <a:schemeClr val="tx1"/>
                          </a:solidFill>
                          <a:latin typeface="Times New Roman" pitchFamily="18" charset="0"/>
                          <a:ea typeface="ＭＳ Ｐゴシック" pitchFamily="34" charset="-128"/>
                        </a:defRPr>
                      </a:lvl3pPr>
                      <a:lvl4pPr marL="1600200" indent="-228600">
                        <a:spcBef>
                          <a:spcPct val="20000"/>
                        </a:spcBef>
                        <a:tabLst>
                          <a:tab pos="457200" algn="r"/>
                          <a:tab pos="2743200" algn="ctr"/>
                          <a:tab pos="5486400" algn="r"/>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457200" algn="r"/>
                          <a:tab pos="2743200" algn="ctr"/>
                          <a:tab pos="5486400" algn="r"/>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457200" algn="r"/>
                          <a:tab pos="2743200" algn="ctr"/>
                          <a:tab pos="5486400" algn="r"/>
                        </a:tabLst>
                        <a:defRPr>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90000"/>
                        </a:lnSpc>
                        <a:spcBef>
                          <a:spcPct val="0"/>
                        </a:spcBef>
                        <a:spcAft>
                          <a:spcPct val="0"/>
                        </a:spcAft>
                        <a:buClrTx/>
                        <a:buSzTx/>
                        <a:buFontTx/>
                        <a:buNone/>
                        <a:tabLst>
                          <a:tab pos="457200" algn="r"/>
                          <a:tab pos="2743200" algn="ctr"/>
                          <a:tab pos="5486400" algn="r"/>
                        </a:tabLst>
                      </a:pPr>
                      <a:r>
                        <a:rPr kumimoji="0" lang="en-US" altLang="en-US" sz="1800" b="1" i="0" u="none" strike="noStrike" cap="none" normalizeH="0" baseline="0">
                          <a:ln>
                            <a:noFill/>
                          </a:ln>
                          <a:solidFill>
                            <a:schemeClr val="tx1"/>
                          </a:solidFill>
                          <a:effectLst/>
                          <a:latin typeface="Arial" pitchFamily="34" charset="0"/>
                          <a:ea typeface="Times New Roman" pitchFamily="18" charset="0"/>
                          <a:cs typeface="Arial" pitchFamily="34" charset="0"/>
                        </a:rPr>
                        <a:t>Personal Factors:</a:t>
                      </a:r>
                      <a:endParaRPr kumimoji="0" lang="en-US" altLang="en-US" sz="1800" b="0" i="0" u="none" strike="noStrike" cap="none" normalizeH="0" baseline="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0"/>
                  </a:ext>
                </a:extLst>
              </a:tr>
              <a:tr h="3968881">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technical design</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ergonomic design</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assessment of loss exposures</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standards, specifications and/or design criteria</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monitoring of construction</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assessment of operational readiness</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monitoring of initial operation</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evaluation and/or documentation of change</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inherently safe design</a:t>
                      </a:r>
                    </a:p>
                  </a:txBody>
                  <a:tcPr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maintenance </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job procedures</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Error-inducing conditions</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Organizational factors</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Incompatible goals</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training</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communication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a:spcBef>
                          <a:spcPct val="20000"/>
                        </a:spcBef>
                        <a:buClr>
                          <a:schemeClr val="tx2"/>
                        </a:buClr>
                        <a:buSzPct val="65000"/>
                        <a:buFont typeface="Wingdings" pitchFamily="2" charset="2"/>
                        <a:tabLst>
                          <a:tab pos="228600" algn="l"/>
                        </a:tabLst>
                        <a:defRPr sz="2800">
                          <a:solidFill>
                            <a:schemeClr val="tx1"/>
                          </a:solidFill>
                          <a:latin typeface="Times New Roman" pitchFamily="18" charset="0"/>
                          <a:ea typeface="ＭＳ Ｐゴシック" pitchFamily="34" charset="-128"/>
                        </a:defRPr>
                      </a:lvl1pPr>
                      <a:lvl2pPr marL="742950" indent="-285750">
                        <a:spcBef>
                          <a:spcPct val="20000"/>
                        </a:spcBef>
                        <a:tabLst>
                          <a:tab pos="228600" algn="l"/>
                        </a:tabLst>
                        <a:defRPr sz="2400">
                          <a:solidFill>
                            <a:schemeClr val="tx1"/>
                          </a:solidFill>
                          <a:latin typeface="Times New Roman" pitchFamily="18" charset="0"/>
                          <a:ea typeface="ＭＳ Ｐゴシック" pitchFamily="34" charset="-128"/>
                        </a:defRPr>
                      </a:lvl2pPr>
                      <a:lvl3pPr marL="1143000" indent="-228600">
                        <a:spcBef>
                          <a:spcPct val="20000"/>
                        </a:spcBef>
                        <a:tabLst>
                          <a:tab pos="228600" algn="l"/>
                        </a:tabLst>
                        <a:defRPr sz="2000">
                          <a:solidFill>
                            <a:schemeClr val="tx1"/>
                          </a:solidFill>
                          <a:latin typeface="Times New Roman" pitchFamily="18" charset="0"/>
                          <a:ea typeface="ＭＳ Ｐゴシック" pitchFamily="34" charset="-128"/>
                        </a:defRPr>
                      </a:lvl3pPr>
                      <a:lvl4pPr marL="1600200" indent="-228600">
                        <a:spcBef>
                          <a:spcPct val="20000"/>
                        </a:spcBef>
                        <a:tabLst>
                          <a:tab pos="228600" algn="l"/>
                        </a:tabLst>
                        <a:defRPr>
                          <a:solidFill>
                            <a:schemeClr val="tx1"/>
                          </a:solidFill>
                          <a:latin typeface="Times New Roman" pitchFamily="18" charset="0"/>
                          <a:ea typeface="ＭＳ Ｐゴシック" pitchFamily="34" charset="-128"/>
                        </a:defRPr>
                      </a:lvl4pPr>
                      <a:lvl5pPr marL="2057400" indent="-228600">
                        <a:spcBef>
                          <a:spcPct val="20000"/>
                        </a:spcBef>
                        <a:buSzPct val="65000"/>
                        <a:tabLst>
                          <a:tab pos="228600" algn="l"/>
                        </a:tabLst>
                        <a:defRPr>
                          <a:solidFill>
                            <a:schemeClr val="tx1"/>
                          </a:solidFill>
                          <a:latin typeface="Times New Roman" pitchFamily="18" charset="0"/>
                          <a:ea typeface="ＭＳ Ｐゴシック" pitchFamily="34" charset="-128"/>
                        </a:defRPr>
                      </a:lvl5pPr>
                      <a:lvl6pPr marL="25146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6pPr>
                      <a:lvl7pPr marL="29718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7pPr>
                      <a:lvl8pPr marL="34290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8pPr>
                      <a:lvl9pPr marL="3886200" indent="-228600" eaLnBrk="0" fontAlgn="base" hangingPunct="0">
                        <a:spcBef>
                          <a:spcPct val="20000"/>
                        </a:spcBef>
                        <a:spcAft>
                          <a:spcPct val="0"/>
                        </a:spcAft>
                        <a:buSzPct val="65000"/>
                        <a:tabLst>
                          <a:tab pos="228600" algn="l"/>
                        </a:tabLst>
                        <a:defRPr>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physical / physiological state / capability to do the work.</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Perceived inadequate mental / psychological state / capability to do the work.</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Physical or physiological stress.</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Perceived mental or psychological stress.</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Improper risk taking / improper motivation</a:t>
                      </a:r>
                    </a:p>
                    <a:p>
                      <a:pPr marL="98425" marR="0" lvl="0" indent="-88900" algn="l" defTabSz="914400" rtl="0" eaLnBrk="0" fontAlgn="base" latinLnBrk="0" hangingPunct="0">
                        <a:lnSpc>
                          <a:spcPct val="90000"/>
                        </a:lnSpc>
                        <a:spcBef>
                          <a:spcPct val="0"/>
                        </a:spcBef>
                        <a:spcAft>
                          <a:spcPct val="0"/>
                        </a:spcAft>
                        <a:buClrTx/>
                        <a:buSzTx/>
                        <a:buFont typeface="Symbol" pitchFamily="18" charset="2"/>
                        <a:buChar char=""/>
                        <a:tabLst>
                          <a:tab pos="228600" algn="l"/>
                        </a:tabLst>
                      </a:pPr>
                      <a:r>
                        <a:rPr kumimoji="0" lang="en-US" altLang="en-US" sz="1800" b="0" i="0" u="none" strike="noStrike" cap="none" normalizeH="0" baseline="0" dirty="0">
                          <a:ln>
                            <a:noFill/>
                          </a:ln>
                          <a:solidFill>
                            <a:schemeClr val="tx1"/>
                          </a:solidFill>
                          <a:effectLst/>
                          <a:latin typeface="Arial" pitchFamily="34" charset="0"/>
                          <a:ea typeface="Times New Roman" pitchFamily="18" charset="0"/>
                          <a:cs typeface="Arial" pitchFamily="34" charset="0"/>
                        </a:rPr>
                        <a:t>Lack of knowledge / lack of skill.</a:t>
                      </a:r>
                    </a:p>
                  </a:txBody>
                  <a:tcPr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009830121"/>
      </p:ext>
    </p:extLst>
  </p:cSld>
  <p:clrMapOvr>
    <a:masterClrMapping/>
  </p:clrMapOvr>
  <p:transition>
    <p:fade/>
  </p:transition>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marR="0" lvl="0" indent="0" algn="l" defTabSz="914400" rtl="0" eaLnBrk="0" fontAlgn="base" latinLnBrk="0" hangingPunct="0">
              <a:lnSpc>
                <a:spcPct val="100000"/>
              </a:lnSpc>
              <a:spcBef>
                <a:spcPts val="0"/>
              </a:spcBef>
              <a:spcAft>
                <a:spcPct val="0"/>
              </a:spcAft>
              <a:buClrTx/>
              <a:buSzPct val="100000"/>
              <a:buNone/>
              <a:tabLst/>
              <a:defRPr/>
            </a:pPr>
            <a:r>
              <a:rPr kumimoji="0" lang="en-US" altLang="en-US" sz="200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How do you identify basic</a:t>
            </a:r>
            <a:r>
              <a:rPr kumimoji="0" lang="en-US" altLang="en-US" sz="2000" i="0" u="none" strike="noStrike" kern="1200" cap="none" spc="0" normalizeH="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t> causes?</a:t>
            </a:r>
            <a:endParaRPr kumimoji="0" lang="en-US" altLang="en-US" sz="200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432000" marR="0" lvl="0" indent="-432000" algn="l" defTabSz="914400" rtl="0" eaLnBrk="0" fontAlgn="base" latinLnBrk="0" hangingPunct="0">
              <a:lnSpc>
                <a:spcPct val="100000"/>
              </a:lnSpc>
              <a:spcBef>
                <a:spcPts val="0"/>
              </a:spcBef>
              <a:spcAft>
                <a:spcPct val="0"/>
              </a:spcAft>
              <a:buClrTx/>
              <a:buSzPct val="100000"/>
              <a:buFont typeface="Wingdings" panose="05000000000000000000" pitchFamily="2" charset="2"/>
              <a:buChar char="Ø"/>
              <a:tabLst/>
              <a:defRPr/>
            </a:pPr>
            <a:endParaRPr kumimoji="0" lang="en-US" altLang="en-US" sz="2000" b="0" i="0" u="none" strike="noStrike" kern="1200" cap="none" spc="0" normalizeH="0" baseline="0" noProof="0" dirty="0" smtClean="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Difficult to identify; often not evident until after an incident has been investigated and analyzed.</a:t>
            </a:r>
          </a:p>
          <a:p>
            <a:pPr marL="360000" indent="-360000" eaLnBrk="0" hangingPunct="0">
              <a:lnSpc>
                <a:spcPct val="100000"/>
              </a:lnSpc>
              <a:spcBef>
                <a:spcPts val="0"/>
              </a:spcBef>
              <a:buClrTx/>
              <a:buSzPct val="100000"/>
              <a:buFont typeface="Wingdings" panose="05000000000000000000" pitchFamily="2" charset="2"/>
              <a:buChar char="Ø"/>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hangingPunct="0">
              <a:lnSpc>
                <a:spcPct val="100000"/>
              </a:lnSpc>
              <a:spcBef>
                <a:spcPts val="0"/>
              </a:spcBef>
              <a:buClrTx/>
              <a:buSzPct val="100000"/>
              <a:buFont typeface="Wingdings" panose="05000000000000000000" pitchFamily="2" charset="2"/>
              <a:buChar char="Ø"/>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Two Questions to ask to get the Basic Causes:</a:t>
            </a:r>
          </a:p>
          <a:p>
            <a:pPr marL="720000" lvl="0" indent="-360000" eaLnBrk="0" hangingPunct="0">
              <a:lnSpc>
                <a:spcPct val="100000"/>
              </a:lnSpc>
              <a:spcBef>
                <a:spcPts val="0"/>
              </a:spcBef>
              <a:buClrTx/>
              <a:buSzPct val="100000"/>
              <a:buFont typeface="+mj-lt"/>
              <a:buAutoNum type="arabicParenR"/>
              <a:defRPr/>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Why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did that </a:t>
            </a:r>
            <a:r>
              <a:rPr lang="en-US" altLang="en-US" b="0" u="sng"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substandard condition</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exist</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a:p>
            <a:pPr marL="720000" lvl="0" indent="-360000" eaLnBrk="0" hangingPunct="0">
              <a:lnSpc>
                <a:spcPct val="100000"/>
              </a:lnSpc>
              <a:spcBef>
                <a:spcPts val="0"/>
              </a:spcBef>
              <a:buClrTx/>
              <a:buSzPct val="100000"/>
              <a:buFont typeface="+mj-lt"/>
              <a:buAutoNum type="arabicParenR"/>
              <a:defRPr/>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Why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did that </a:t>
            </a:r>
            <a:r>
              <a:rPr lang="en-US" altLang="en-US" b="0" u="sng"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substandard practice</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occur</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a:p>
            <a:pPr marL="720000" lvl="0" indent="-360000" eaLnBrk="0" hangingPunct="0">
              <a:lnSpc>
                <a:spcPct val="100000"/>
              </a:lnSpc>
              <a:spcBef>
                <a:spcPts val="0"/>
              </a:spcBef>
              <a:buClrTx/>
              <a:buSzPct val="100000"/>
              <a:buFont typeface="+mj-lt"/>
              <a:buAutoNum type="arabicParenR"/>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lvl="0" indent="0" eaLnBrk="0" hangingPunct="0">
              <a:lnSpc>
                <a:spcPct val="100000"/>
              </a:lnSpc>
              <a:spcBef>
                <a:spcPts val="0"/>
              </a:spcBef>
              <a:buClrTx/>
              <a:buSzPct val="100000"/>
              <a:buNone/>
              <a:defRP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Note: There may be “intermediate causes” or more immediate causes between the “first immediate cause” and the </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“first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basic </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cause” </a:t>
            </a: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in a root.</a:t>
            </a:r>
          </a:p>
          <a:p>
            <a:pPr marL="360000" lvl="0" indent="-360000" eaLnBrk="0" hangingPunct="0">
              <a:lnSpc>
                <a:spcPct val="100000"/>
              </a:lnSpc>
              <a:spcBef>
                <a:spcPts val="0"/>
              </a:spcBef>
              <a:buClrTx/>
              <a:buSzPct val="100000"/>
              <a:buFont typeface="Wingdings" panose="05000000000000000000" pitchFamily="2" charset="2"/>
              <a:buChar char="Ø"/>
              <a:defRPr/>
            </a:pP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lvl="0">
              <a:lnSpc>
                <a:spcPct val="100000"/>
              </a:lnSpc>
              <a:spcBef>
                <a:spcPct val="0"/>
              </a:spcBef>
              <a:buClrTx/>
              <a:buNone/>
              <a:defRPr/>
            </a:pPr>
            <a:r>
              <a:rPr lang="en-US" altLang="en-US" sz="2400" b="0" dirty="0">
                <a:solidFill>
                  <a:srgbClr val="333399"/>
                </a:solidFill>
                <a:latin typeface="Arial" panose="020B0604020202020204" pitchFamily="34" charset="0"/>
                <a:cs typeface="Arial" panose="020B0604020202020204" pitchFamily="34" charset="0"/>
              </a:rPr>
              <a:t>Basic Causes (Engineering / Job / Personal Factors):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34</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286562334"/>
      </p:ext>
    </p:extLst>
  </p:cSld>
  <p:clrMapOvr>
    <a:masterClrMapping/>
  </p:clrMapOvr>
  <p:transition>
    <p:fade/>
  </p:transition>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5" name="Elbow Connector 74"/>
          <p:cNvCxnSpPr>
            <a:stCxn id="29" idx="2"/>
            <a:endCxn id="61" idx="0"/>
          </p:cNvCxnSpPr>
          <p:nvPr/>
        </p:nvCxnSpPr>
        <p:spPr>
          <a:xfrm rot="5400000">
            <a:off x="7085055" y="2837606"/>
            <a:ext cx="554810" cy="78748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Elbow Connector 73"/>
          <p:cNvCxnSpPr>
            <a:stCxn id="29" idx="2"/>
            <a:endCxn id="57" idx="0"/>
          </p:cNvCxnSpPr>
          <p:nvPr/>
        </p:nvCxnSpPr>
        <p:spPr>
          <a:xfrm rot="16200000" flipH="1">
            <a:off x="7764737" y="2945406"/>
            <a:ext cx="553727" cy="57079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1981199" y="304800"/>
            <a:ext cx="6400799"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 on equipment, injuring one worker &amp; damaging equipment</a:t>
            </a:r>
          </a:p>
        </p:txBody>
      </p:sp>
      <p:sp>
        <p:nvSpPr>
          <p:cNvPr id="25" name="TextBox 24"/>
          <p:cNvSpPr txBox="1"/>
          <p:nvPr/>
        </p:nvSpPr>
        <p:spPr>
          <a:xfrm>
            <a:off x="2064781" y="1445329"/>
            <a:ext cx="1497426"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Debris Fell</a:t>
            </a:r>
          </a:p>
        </p:txBody>
      </p:sp>
      <p:sp>
        <p:nvSpPr>
          <p:cNvPr id="26" name="TextBox 25"/>
          <p:cNvSpPr txBox="1"/>
          <p:nvPr/>
        </p:nvSpPr>
        <p:spPr>
          <a:xfrm>
            <a:off x="5041992" y="1433198"/>
            <a:ext cx="2847927"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Equipment &amp; Operator Were In Exclusion Zone</a:t>
            </a:r>
          </a:p>
        </p:txBody>
      </p:sp>
      <p:sp>
        <p:nvSpPr>
          <p:cNvPr id="28" name="TextBox 27"/>
          <p:cNvSpPr txBox="1"/>
          <p:nvPr/>
        </p:nvSpPr>
        <p:spPr>
          <a:xfrm>
            <a:off x="1387799" y="2411244"/>
            <a:ext cx="1295149"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Unstable slope</a:t>
            </a:r>
          </a:p>
        </p:txBody>
      </p:sp>
      <p:sp>
        <p:nvSpPr>
          <p:cNvPr id="29" name="TextBox 28"/>
          <p:cNvSpPr txBox="1"/>
          <p:nvPr/>
        </p:nvSpPr>
        <p:spPr>
          <a:xfrm>
            <a:off x="6582082" y="2646165"/>
            <a:ext cx="2348238"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warning</a:t>
            </a:r>
          </a:p>
        </p:txBody>
      </p:sp>
      <p:sp>
        <p:nvSpPr>
          <p:cNvPr id="30" name="TextBox 29"/>
          <p:cNvSpPr txBox="1"/>
          <p:nvPr/>
        </p:nvSpPr>
        <p:spPr>
          <a:xfrm>
            <a:off x="3722068" y="2662052"/>
            <a:ext cx="277981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Didn’t follow exclusion zone procedures</a:t>
            </a:r>
          </a:p>
        </p:txBody>
      </p:sp>
      <p:sp>
        <p:nvSpPr>
          <p:cNvPr id="35" name="TextBox 34"/>
          <p:cNvSpPr txBox="1"/>
          <p:nvPr/>
        </p:nvSpPr>
        <p:spPr>
          <a:xfrm>
            <a:off x="712123" y="3555393"/>
            <a:ext cx="1223102"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construction</a:t>
            </a:r>
            <a:endPar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39" name="Right Arrow 38"/>
          <p:cNvSpPr/>
          <p:nvPr/>
        </p:nvSpPr>
        <p:spPr>
          <a:xfrm>
            <a:off x="1303293" y="352915"/>
            <a:ext cx="457200" cy="247710"/>
          </a:xfrm>
          <a:prstGeom prst="rightArrow">
            <a:avLst/>
          </a:prstGeom>
          <a:solidFill>
            <a:srgbClr val="FFFFFF"/>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45" name="TextBox 44"/>
          <p:cNvSpPr txBox="1"/>
          <p:nvPr/>
        </p:nvSpPr>
        <p:spPr>
          <a:xfrm>
            <a:off x="98985" y="215160"/>
            <a:ext cx="1188000" cy="52322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Incident </a:t>
            </a:r>
            <a:r>
              <a:rPr lang="en-CA" sz="1400" b="0" dirty="0" smtClean="0">
                <a:solidFill>
                  <a:srgbClr val="FF0000"/>
                </a:solidFill>
                <a:latin typeface="Arial" panose="020B0604020202020204" pitchFamily="34" charset="0"/>
                <a:cs typeface="Arial" panose="020B0604020202020204" pitchFamily="34" charset="0"/>
              </a:rPr>
              <a:t>Description</a:t>
            </a:r>
            <a:endPar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endParaRPr>
          </a:p>
        </p:txBody>
      </p:sp>
      <p:sp>
        <p:nvSpPr>
          <p:cNvPr id="50" name="TextBox 49"/>
          <p:cNvSpPr txBox="1"/>
          <p:nvPr/>
        </p:nvSpPr>
        <p:spPr>
          <a:xfrm>
            <a:off x="97927" y="1154929"/>
            <a:ext cx="1188000" cy="46800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Immediate Causes</a:t>
            </a:r>
          </a:p>
        </p:txBody>
      </p:sp>
      <p:sp>
        <p:nvSpPr>
          <p:cNvPr id="52" name="TextBox 51"/>
          <p:cNvSpPr txBox="1"/>
          <p:nvPr/>
        </p:nvSpPr>
        <p:spPr>
          <a:xfrm>
            <a:off x="133171" y="2961000"/>
            <a:ext cx="1188000" cy="46800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Basic Causes</a:t>
            </a:r>
          </a:p>
        </p:txBody>
      </p:sp>
      <p:sp>
        <p:nvSpPr>
          <p:cNvPr id="57" name="TextBox 56"/>
          <p:cNvSpPr txBox="1"/>
          <p:nvPr/>
        </p:nvSpPr>
        <p:spPr>
          <a:xfrm>
            <a:off x="7636358" y="3507669"/>
            <a:ext cx="1381281" cy="523220"/>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No effective communication</a:t>
            </a:r>
          </a:p>
        </p:txBody>
      </p:sp>
      <p:cxnSp>
        <p:nvCxnSpPr>
          <p:cNvPr id="58" name="Straight Connector 57"/>
          <p:cNvCxnSpPr/>
          <p:nvPr/>
        </p:nvCxnSpPr>
        <p:spPr>
          <a:xfrm>
            <a:off x="6201340" y="4323278"/>
            <a:ext cx="0" cy="2286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p:cNvSpPr txBox="1"/>
          <p:nvPr/>
        </p:nvSpPr>
        <p:spPr>
          <a:xfrm>
            <a:off x="6366395" y="3508752"/>
            <a:ext cx="1204648"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Monitoring data not evaluated</a:t>
            </a:r>
          </a:p>
        </p:txBody>
      </p:sp>
      <p:sp>
        <p:nvSpPr>
          <p:cNvPr id="62" name="TextBox 61"/>
          <p:cNvSpPr txBox="1"/>
          <p:nvPr/>
        </p:nvSpPr>
        <p:spPr>
          <a:xfrm>
            <a:off x="2902375" y="3757136"/>
            <a:ext cx="1669625" cy="738664"/>
          </a:xfrm>
          <a:prstGeom prst="rect">
            <a:avLst/>
          </a:prstGeom>
          <a:solidFill>
            <a:srgbClr val="FFFFFF"/>
          </a:solidFill>
          <a:ln>
            <a:solidFill>
              <a:schemeClr val="tx1"/>
            </a:solidFill>
          </a:ln>
        </p:spPr>
        <p:txBody>
          <a:bodyPr wrap="square" lIns="36000" tIns="36000" rIns="36000" bIns="3600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Operator not </a:t>
            </a:r>
            <a:r>
              <a:rPr kumimoji="0" lang="en-CA"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trained on </a:t>
            </a: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exclusion zone procedures</a:t>
            </a:r>
          </a:p>
        </p:txBody>
      </p:sp>
      <p:sp>
        <p:nvSpPr>
          <p:cNvPr id="64" name="TextBox 63"/>
          <p:cNvSpPr txBox="1"/>
          <p:nvPr/>
        </p:nvSpPr>
        <p:spPr>
          <a:xfrm>
            <a:off x="4633318" y="3815446"/>
            <a:ext cx="1601660" cy="738664"/>
          </a:xfrm>
          <a:prstGeom prst="rect">
            <a:avLst/>
          </a:prstGeom>
          <a:solidFill>
            <a:srgbClr val="FFFFFF"/>
          </a:solidFill>
          <a:ln>
            <a:solidFill>
              <a:schemeClr val="tx1"/>
            </a:solidFill>
          </a:ln>
        </p:spPr>
        <p:txBody>
          <a:bodyPr wrap="square" lIns="36000" rIns="3600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Supervisor told Op to </a:t>
            </a:r>
            <a:r>
              <a:rPr kumimoji="0" lang="en-US" sz="1400" b="0" i="0" u="none" strike="noStrike" kern="1200" cap="none" spc="0" normalizeH="0" baseline="0" noProof="0" dirty="0" smtClean="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be inside </a:t>
            </a:r>
            <a:r>
              <a:rPr kumimoji="0" lang="en-US"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the exclusion zone</a:t>
            </a:r>
          </a:p>
        </p:txBody>
      </p:sp>
      <p:sp>
        <p:nvSpPr>
          <p:cNvPr id="51" name="TextBox 50">
            <a:extLst>
              <a:ext uri="{FF2B5EF4-FFF2-40B4-BE49-F238E27FC236}">
                <a16:creationId xmlns:a16="http://schemas.microsoft.com/office/drawing/2014/main" id="{C362153A-205B-4322-A65D-C1B7DE95D74A}"/>
              </a:ext>
            </a:extLst>
          </p:cNvPr>
          <p:cNvSpPr txBox="1"/>
          <p:nvPr/>
        </p:nvSpPr>
        <p:spPr>
          <a:xfrm>
            <a:off x="2841058" y="2424808"/>
            <a:ext cx="722900" cy="307777"/>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Rain</a:t>
            </a:r>
          </a:p>
        </p:txBody>
      </p:sp>
      <p:sp>
        <p:nvSpPr>
          <p:cNvPr id="67" name="TextBox 66">
            <a:extLst>
              <a:ext uri="{FF2B5EF4-FFF2-40B4-BE49-F238E27FC236}">
                <a16:creationId xmlns:a16="http://schemas.microsoft.com/office/drawing/2014/main" id="{880627F3-4C48-4BE7-88C6-ED37A2917A84}"/>
              </a:ext>
            </a:extLst>
          </p:cNvPr>
          <p:cNvSpPr txBox="1"/>
          <p:nvPr/>
        </p:nvSpPr>
        <p:spPr>
          <a:xfrm>
            <a:off x="1968091" y="3551772"/>
            <a:ext cx="872966" cy="738664"/>
          </a:xfrm>
          <a:prstGeom prst="rect">
            <a:avLst/>
          </a:prstGeom>
          <a:solidFill>
            <a:srgbClr val="FFFFFF"/>
          </a:solidFill>
          <a:ln>
            <a:solidFill>
              <a:schemeClr val="tx1"/>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rPr>
              <a:t>Poor slope design</a:t>
            </a:r>
          </a:p>
        </p:txBody>
      </p:sp>
      <p:sp>
        <p:nvSpPr>
          <p:cNvPr id="70" name="Flowchart: Punched Tape 69">
            <a:extLst>
              <a:ext uri="{FF2B5EF4-FFF2-40B4-BE49-F238E27FC236}">
                <a16:creationId xmlns:a16="http://schemas.microsoft.com/office/drawing/2014/main" id="{A8D8A9BD-33D5-420E-97D4-ED3FE6FA6D7D}"/>
              </a:ext>
            </a:extLst>
          </p:cNvPr>
          <p:cNvSpPr/>
          <p:nvPr/>
        </p:nvSpPr>
        <p:spPr bwMode="auto">
          <a:xfrm>
            <a:off x="7620101" y="3060747"/>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56" name="TextBox 55">
            <a:extLst>
              <a:ext uri="{FF2B5EF4-FFF2-40B4-BE49-F238E27FC236}">
                <a16:creationId xmlns:a16="http://schemas.microsoft.com/office/drawing/2014/main" id="{2981DCC2-7565-4BF5-B1BD-5D61B59CFDBC}"/>
              </a:ext>
            </a:extLst>
          </p:cNvPr>
          <p:cNvSpPr txBox="1"/>
          <p:nvPr/>
        </p:nvSpPr>
        <p:spPr>
          <a:xfrm>
            <a:off x="138374" y="1913788"/>
            <a:ext cx="1188000" cy="468000"/>
          </a:xfrm>
          <a:prstGeom prst="rect">
            <a:avLst/>
          </a:prstGeom>
          <a:solidFill>
            <a:srgbClr val="FFFFFF"/>
          </a:solidFill>
          <a:ln>
            <a:solidFill>
              <a:srgbClr val="FF0000"/>
            </a:solidFill>
          </a:ln>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CA" sz="1400" b="0" i="0" u="none" strike="noStrike" kern="1200" cap="none" spc="0" normalizeH="0" baseline="0" noProof="0" dirty="0">
                <a:ln>
                  <a:noFill/>
                </a:ln>
                <a:solidFill>
                  <a:srgbClr val="FF0000"/>
                </a:solidFill>
                <a:effectLst/>
                <a:uLnTx/>
                <a:uFillTx/>
                <a:latin typeface="Arial" panose="020B0604020202020204" pitchFamily="34" charset="0"/>
                <a:ea typeface="+mn-ea"/>
                <a:cs typeface="Arial" panose="020B0604020202020204" pitchFamily="34" charset="0"/>
              </a:rPr>
              <a:t>Intermediate Causes</a:t>
            </a:r>
          </a:p>
        </p:txBody>
      </p:sp>
      <p:cxnSp>
        <p:nvCxnSpPr>
          <p:cNvPr id="5" name="Elbow Connector 4"/>
          <p:cNvCxnSpPr>
            <a:stCxn id="25" idx="2"/>
            <a:endCxn id="51" idx="0"/>
          </p:cNvCxnSpPr>
          <p:nvPr/>
        </p:nvCxnSpPr>
        <p:spPr>
          <a:xfrm rot="16200000" flipH="1">
            <a:off x="2672150" y="1894450"/>
            <a:ext cx="671702" cy="389014"/>
          </a:xfrm>
          <a:prstGeom prst="bentConnector3">
            <a:avLst>
              <a:gd name="adj1" fmla="val 80939"/>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p:cNvCxnSpPr>
            <a:stCxn id="25" idx="2"/>
            <a:endCxn id="28" idx="0"/>
          </p:cNvCxnSpPr>
          <p:nvPr/>
        </p:nvCxnSpPr>
        <p:spPr>
          <a:xfrm rot="5400000">
            <a:off x="2095365" y="1693115"/>
            <a:ext cx="658138" cy="778120"/>
          </a:xfrm>
          <a:prstGeom prst="bentConnector3">
            <a:avLst>
              <a:gd name="adj1" fmla="val 8157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6" name="Flowchart: Delay 65">
            <a:extLst>
              <a:ext uri="{FF2B5EF4-FFF2-40B4-BE49-F238E27FC236}">
                <a16:creationId xmlns:a16="http://schemas.microsoft.com/office/drawing/2014/main" id="{48F56B4C-4C1D-4914-95FC-4759B4B992D0}"/>
              </a:ext>
            </a:extLst>
          </p:cNvPr>
          <p:cNvSpPr/>
          <p:nvPr/>
        </p:nvSpPr>
        <p:spPr>
          <a:xfrm rot="16200000">
            <a:off x="2679029" y="1911417"/>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18" name="Elbow Connector 17"/>
          <p:cNvCxnSpPr>
            <a:stCxn id="4" idx="2"/>
            <a:endCxn id="25" idx="0"/>
          </p:cNvCxnSpPr>
          <p:nvPr/>
        </p:nvCxnSpPr>
        <p:spPr>
          <a:xfrm rot="5400000">
            <a:off x="3581171" y="-155099"/>
            <a:ext cx="832752" cy="2368105"/>
          </a:xfrm>
          <a:prstGeom prst="bentConnector3">
            <a:avLst>
              <a:gd name="adj1" fmla="val 633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p:cNvCxnSpPr>
            <a:stCxn id="4" idx="2"/>
            <a:endCxn id="26" idx="0"/>
          </p:cNvCxnSpPr>
          <p:nvPr/>
        </p:nvCxnSpPr>
        <p:spPr>
          <a:xfrm rot="16200000" flipH="1">
            <a:off x="5413467" y="380708"/>
            <a:ext cx="820621" cy="1284357"/>
          </a:xfrm>
          <a:prstGeom prst="bentConnector3">
            <a:avLst>
              <a:gd name="adj1" fmla="val 6350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Flowchart: Delay 7"/>
          <p:cNvSpPr/>
          <p:nvPr/>
        </p:nvSpPr>
        <p:spPr>
          <a:xfrm rot="16200000">
            <a:off x="5047282" y="763888"/>
            <a:ext cx="268638" cy="240630"/>
          </a:xfrm>
          <a:prstGeom prst="flowChartDelay">
            <a:avLst/>
          </a:prstGeom>
          <a:solidFill>
            <a:srgbClr val="FFFF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55" name="Elbow Connector 54"/>
          <p:cNvCxnSpPr>
            <a:stCxn id="26" idx="2"/>
            <a:endCxn id="29" idx="0"/>
          </p:cNvCxnSpPr>
          <p:nvPr/>
        </p:nvCxnSpPr>
        <p:spPr>
          <a:xfrm rot="16200000" flipH="1">
            <a:off x="6766205" y="1656168"/>
            <a:ext cx="689747" cy="1290245"/>
          </a:xfrm>
          <a:prstGeom prst="bentConnector3">
            <a:avLst>
              <a:gd name="adj1" fmla="val 72095"/>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Elbow Connector 58"/>
          <p:cNvCxnSpPr>
            <a:stCxn id="26" idx="2"/>
            <a:endCxn id="30" idx="0"/>
          </p:cNvCxnSpPr>
          <p:nvPr/>
        </p:nvCxnSpPr>
        <p:spPr>
          <a:xfrm rot="5400000">
            <a:off x="5436148" y="1632244"/>
            <a:ext cx="705634" cy="1353982"/>
          </a:xfrm>
          <a:prstGeom prst="bentConnector3">
            <a:avLst>
              <a:gd name="adj1" fmla="val 71598"/>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Flowchart: Punched Tape 1">
            <a:extLst>
              <a:ext uri="{FF2B5EF4-FFF2-40B4-BE49-F238E27FC236}">
                <a16:creationId xmlns:a16="http://schemas.microsoft.com/office/drawing/2014/main" id="{CDBB2755-2E57-4292-ACF3-8ABB475BBFAE}"/>
              </a:ext>
            </a:extLst>
          </p:cNvPr>
          <p:cNvSpPr/>
          <p:nvPr/>
        </p:nvSpPr>
        <p:spPr bwMode="auto">
          <a:xfrm flipH="1">
            <a:off x="6316623" y="2099508"/>
            <a:ext cx="336011" cy="271586"/>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65" name="Elbow Connector 64"/>
          <p:cNvCxnSpPr>
            <a:stCxn id="28" idx="2"/>
            <a:endCxn id="67" idx="0"/>
          </p:cNvCxnSpPr>
          <p:nvPr/>
        </p:nvCxnSpPr>
        <p:spPr>
          <a:xfrm rot="16200000" flipH="1">
            <a:off x="1911320" y="3058518"/>
            <a:ext cx="617308" cy="3692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Elbow Connector 70"/>
          <p:cNvCxnSpPr>
            <a:stCxn id="28" idx="2"/>
            <a:endCxn id="35" idx="0"/>
          </p:cNvCxnSpPr>
          <p:nvPr/>
        </p:nvCxnSpPr>
        <p:spPr>
          <a:xfrm rot="5400000">
            <a:off x="1369060" y="2889078"/>
            <a:ext cx="620929" cy="71170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Flowchart: Punched Tape 67">
            <a:extLst>
              <a:ext uri="{FF2B5EF4-FFF2-40B4-BE49-F238E27FC236}">
                <a16:creationId xmlns:a16="http://schemas.microsoft.com/office/drawing/2014/main" id="{878F44D0-47E5-4B2E-9EF9-5E912B38548B}"/>
              </a:ext>
            </a:extLst>
          </p:cNvPr>
          <p:cNvSpPr/>
          <p:nvPr/>
        </p:nvSpPr>
        <p:spPr bwMode="auto">
          <a:xfrm>
            <a:off x="1897543" y="3052998"/>
            <a:ext cx="266437" cy="228600"/>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cxnSp>
        <p:nvCxnSpPr>
          <p:cNvPr id="72" name="Elbow Connector 71"/>
          <p:cNvCxnSpPr>
            <a:stCxn id="30" idx="2"/>
            <a:endCxn id="64" idx="0"/>
          </p:cNvCxnSpPr>
          <p:nvPr/>
        </p:nvCxnSpPr>
        <p:spPr>
          <a:xfrm rot="16200000" flipH="1">
            <a:off x="4957974" y="3339272"/>
            <a:ext cx="630174" cy="322174"/>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Elbow Connector 72"/>
          <p:cNvCxnSpPr>
            <a:stCxn id="30" idx="2"/>
            <a:endCxn id="62" idx="0"/>
          </p:cNvCxnSpPr>
          <p:nvPr/>
        </p:nvCxnSpPr>
        <p:spPr>
          <a:xfrm rot="5400000">
            <a:off x="4138649" y="2783811"/>
            <a:ext cx="571864" cy="13747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Flowchart: Punched Tape 68">
            <a:extLst>
              <a:ext uri="{FF2B5EF4-FFF2-40B4-BE49-F238E27FC236}">
                <a16:creationId xmlns:a16="http://schemas.microsoft.com/office/drawing/2014/main" id="{0CBF65F1-61F1-43C7-A26B-B97AA653A457}"/>
              </a:ext>
            </a:extLst>
          </p:cNvPr>
          <p:cNvSpPr/>
          <p:nvPr/>
        </p:nvSpPr>
        <p:spPr bwMode="auto">
          <a:xfrm>
            <a:off x="4885340" y="3292226"/>
            <a:ext cx="423956" cy="300712"/>
          </a:xfrm>
          <a:prstGeom prst="flowChartPunchedTape">
            <a:avLst/>
          </a:prstGeom>
          <a:solidFill>
            <a:srgbClr val="FFFFFF"/>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lvl="0" indent="0" algn="ctr" defTabSz="914400" rtl="0" eaLnBrk="1" fontAlgn="base" latinLnBrk="0" hangingPunct="1">
              <a:lnSpc>
                <a:spcPct val="100000"/>
              </a:lnSpc>
              <a:spcBef>
                <a:spcPct val="0"/>
              </a:spcBef>
              <a:spcAft>
                <a:spcPct val="0"/>
              </a:spcAft>
              <a:buClrTx/>
              <a:buSzTx/>
              <a:buFontTx/>
              <a:buNone/>
              <a:tabLst/>
              <a:defRPr/>
            </a:pPr>
            <a:endParaRPr kumimoji="0" lang="en-CA" sz="1400" b="0" i="0" u="none" strike="noStrike" kern="1200" cap="none" spc="0" normalizeH="0" baseline="0" noProof="0">
              <a:ln>
                <a:noFill/>
              </a:ln>
              <a:solidFill>
                <a:prstClr val="black">
                  <a:lumMod val="85000"/>
                  <a:lumOff val="15000"/>
                </a:prstClr>
              </a:solidFill>
              <a:effectLst/>
              <a:uLnTx/>
              <a:uFillTx/>
              <a:latin typeface="Arial" panose="020B0604020202020204" pitchFamily="34" charset="0"/>
              <a:ea typeface="+mn-ea"/>
              <a:cs typeface="Arial" panose="020B0604020202020204" pitchFamily="34" charset="0"/>
            </a:endParaRPr>
          </a:p>
        </p:txBody>
      </p:sp>
      <p:sp>
        <p:nvSpPr>
          <p:cNvPr id="76" name="TextBox 75">
            <a:extLst>
              <a:ext uri="{FF2B5EF4-FFF2-40B4-BE49-F238E27FC236}">
                <a16:creationId xmlns:a16="http://schemas.microsoft.com/office/drawing/2014/main" id="{FBED4873-AA48-4F0A-ADAA-65FC9815F027}"/>
              </a:ext>
            </a:extLst>
          </p:cNvPr>
          <p:cNvSpPr txBox="1"/>
          <p:nvPr/>
        </p:nvSpPr>
        <p:spPr>
          <a:xfrm>
            <a:off x="489907" y="4744665"/>
            <a:ext cx="8273093" cy="707886"/>
          </a:xfrm>
          <a:prstGeom prst="rect">
            <a:avLst/>
          </a:prstGeom>
          <a:solidFill>
            <a:schemeClr val="tx1"/>
          </a:solidFill>
          <a:ln>
            <a:solidFill>
              <a:schemeClr val="tx1"/>
            </a:solidFill>
          </a:ln>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CA" sz="2000" b="0"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How could our </a:t>
            </a:r>
            <a:r>
              <a:rPr kumimoji="0" lang="en-CA" sz="2000" b="1"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basic causes</a:t>
            </a:r>
            <a:r>
              <a:rPr kumimoji="0" lang="en-CA" sz="2000" b="0"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 be categorized? </a:t>
            </a:r>
          </a:p>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Ø"/>
              <a:tabLst/>
              <a:defRPr/>
            </a:pPr>
            <a:r>
              <a:rPr kumimoji="0" lang="en-CA" sz="2000" b="0"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Job factors, </a:t>
            </a:r>
            <a:r>
              <a:rPr kumimoji="0" lang="en-CA" sz="2000" b="0" i="0" u="none" strike="noStrike" kern="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Personal Factors</a:t>
            </a:r>
            <a:r>
              <a:rPr kumimoji="0" lang="en-CA" sz="2000" b="0"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 </a:t>
            </a:r>
            <a:r>
              <a:rPr kumimoji="0" lang="en-CA" sz="2000" b="0" i="0" u="none" strike="noStrike" kern="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Engineering </a:t>
            </a:r>
            <a:r>
              <a:rPr kumimoji="0" lang="en-CA" sz="2000" b="0"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&amp; </a:t>
            </a:r>
            <a:r>
              <a:rPr kumimoji="0" lang="en-CA" sz="2000" b="0" i="0" u="none" strike="noStrike" kern="0" cap="none" spc="0" normalizeH="0" baseline="0" noProof="0" dirty="0" smtClean="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rPr>
              <a:t>Design Factors?</a:t>
            </a:r>
            <a:endParaRPr kumimoji="0" lang="en-CA" sz="2000" b="0" i="0" u="none" strike="noStrike" kern="0" cap="none" spc="0" normalizeH="0" baseline="0" noProof="0" dirty="0">
              <a:ln>
                <a:noFill/>
              </a:ln>
              <a:solidFill>
                <a:srgbClr val="FFFFFF"/>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77" name="Rounded Rectangle 76"/>
          <p:cNvSpPr/>
          <p:nvPr/>
        </p:nvSpPr>
        <p:spPr>
          <a:xfrm>
            <a:off x="1981199" y="3472153"/>
            <a:ext cx="4335424" cy="1201979"/>
          </a:xfrm>
          <a:prstGeom prst="roundRect">
            <a:avLst/>
          </a:prstGeom>
          <a:noFill/>
          <a:ln w="57150">
            <a:solidFill>
              <a:srgbClr val="0000FF"/>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35</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60"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600"/>
              <a:buFontTx/>
              <a:buNone/>
              <a:tabLst/>
              <a:defRPr/>
            </a:pPr>
            <a:r>
              <a:rPr kumimoji="0" lang="en-US" sz="1200" b="1" i="1" u="none" strike="noStrike" kern="0" cap="none" spc="0" normalizeH="0" baseline="0" noProof="0" dirty="0" smtClean="0">
                <a:ln>
                  <a:noFill/>
                </a:ln>
                <a:solidFill>
                  <a:srgbClr val="000000"/>
                </a:solidFill>
                <a:effectLst/>
                <a:uLnTx/>
                <a:uFillTx/>
                <a:latin typeface="Arial" charset="0"/>
                <a:ea typeface="Times New Roman"/>
                <a:cs typeface="Arial" panose="020B0604020202020204" pitchFamily="34" charset="0"/>
                <a:sym typeface="Times New Roman"/>
              </a:rPr>
              <a:t>Chapter 4.2: C&amp;E Model &amp; Chapter 4.3: RCA of an Incident</a:t>
            </a:r>
            <a:endParaRPr kumimoji="0" lang="en-US" sz="1200" b="1" i="1" u="none" strike="noStrike" kern="0" cap="none" spc="0" normalizeH="0" baseline="0" noProof="0" dirty="0">
              <a:ln>
                <a:noFill/>
              </a:ln>
              <a:solidFill>
                <a:srgbClr val="000000"/>
              </a:solidFill>
              <a:effectLst/>
              <a:uLnTx/>
              <a:uFillTx/>
              <a:latin typeface="Arial" charset="0"/>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2290378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rgbClr val="0000CC"/>
          </a:solidFill>
          <a:ln>
            <a:solidFill>
              <a:srgbClr val="0000CC"/>
            </a:solidFill>
          </a:ln>
          <a:extLst/>
        </p:spPr>
        <p:txBody>
          <a:bodyPr wrap="square" anchor="ctr" anchorCtr="0">
            <a:noAutofit/>
          </a:bodyPr>
          <a:lstStyle/>
          <a:p>
            <a:pPr lvl="0">
              <a:spcBef>
                <a:spcPts val="0"/>
              </a:spcBef>
              <a:spcAft>
                <a:spcPts val="0"/>
              </a:spcAft>
              <a:defRPr/>
            </a:pP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ALE </a:t>
            </a: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#4: </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Basic Causes and </a:t>
            </a:r>
            <a:r>
              <a:rPr lang="en-US" altLang="en-US" sz="24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Categories</a:t>
            </a:r>
            <a:endParaRPr kumimoji="0" lang="en-US" altLang="en-US" sz="2400" b="0" i="0" u="none" strike="noStrike" kern="1200" cap="none" spc="0" normalizeH="0" baseline="0" noProof="0" dirty="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 name="Rectangle 1"/>
          <p:cNvSpPr/>
          <p:nvPr/>
        </p:nvSpPr>
        <p:spPr>
          <a:xfrm>
            <a:off x="180000" y="828000"/>
            <a:ext cx="8640000" cy="5328000"/>
          </a:xfrm>
          <a:prstGeom prst="rect">
            <a:avLst/>
          </a:prstGeom>
          <a:solidFill>
            <a:srgbClr val="0000CC"/>
          </a:solidFill>
          <a:ln>
            <a:solidFill>
              <a:srgbClr val="0000CC"/>
            </a:solidFill>
          </a:ln>
        </p:spPr>
        <p:txBody>
          <a:bodyPr wrap="square">
            <a:noAutofit/>
          </a:bodyPr>
          <a:lstStyle/>
          <a:p>
            <a:pPr lvl="0">
              <a:spcBef>
                <a:spcPts val="0"/>
              </a:spcBef>
              <a:spcAft>
                <a:spcPts val="0"/>
              </a:spcAft>
              <a:defRPr/>
            </a:pP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Please confer (pen-to-paper, response on MM not intended): </a:t>
            </a:r>
          </a:p>
          <a:p>
            <a:pPr marL="360000" lvl="0" indent="-360000" eaLnBrk="0" hangingPunct="0">
              <a:spcBef>
                <a:spcPts val="0"/>
              </a:spcBef>
              <a:buSzPct val="100000"/>
              <a:buFont typeface="Wingdings" panose="05000000000000000000" pitchFamily="2" charset="2"/>
              <a:buChar char="Ø"/>
              <a:defRPr/>
            </a:pPr>
            <a:r>
              <a:rPr 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What are the basic cause categories for the following?</a:t>
            </a:r>
          </a:p>
          <a:p>
            <a:pPr marL="457200" lvl="0" indent="-457200" eaLnBrk="0" hangingPunct="0">
              <a:spcBef>
                <a:spcPts val="0"/>
              </a:spcBef>
              <a:buSzPct val="100000"/>
              <a:buFont typeface="+mj-lt"/>
              <a:buAutoNum type="alphaLcParenR"/>
              <a:defRPr/>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Poor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slope design</a:t>
            </a:r>
          </a:p>
          <a:p>
            <a:pPr marL="457200" lvl="0" indent="-457200" eaLnBrk="0" hangingPunct="0">
              <a:spcBef>
                <a:spcPts val="0"/>
              </a:spcBef>
              <a:buSzPct val="100000"/>
              <a:buFont typeface="+mj-lt"/>
              <a:buAutoNum type="alphaLcParenR"/>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Operator not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trained on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exclusion zone procedures</a:t>
            </a:r>
          </a:p>
          <a:p>
            <a:pPr marL="457200" lvl="0" indent="-457200" eaLnBrk="0" hangingPunct="0">
              <a:spcBef>
                <a:spcPts val="0"/>
              </a:spcBef>
              <a:buSzPct val="100000"/>
              <a:buFont typeface="+mj-lt"/>
              <a:buAutoNum type="alphaLcParenR"/>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Supervisor told Operator to be in exclusion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zone</a:t>
            </a:r>
            <a:endPar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p:txBody>
      </p:sp>
      <p:graphicFrame>
        <p:nvGraphicFramePr>
          <p:cNvPr id="11" name="Group 86"/>
          <p:cNvGraphicFramePr>
            <a:graphicFrameLocks noGrp="1"/>
          </p:cNvGraphicFramePr>
          <p:nvPr>
            <p:extLst>
              <p:ext uri="{D42A27DB-BD31-4B8C-83A1-F6EECF244321}">
                <p14:modId xmlns:p14="http://schemas.microsoft.com/office/powerpoint/2010/main" val="3024953904"/>
              </p:ext>
            </p:extLst>
          </p:nvPr>
        </p:nvGraphicFramePr>
        <p:xfrm>
          <a:off x="432001" y="2957280"/>
          <a:ext cx="8279999" cy="3059734"/>
        </p:xfrm>
        <a:graphic>
          <a:graphicData uri="http://schemas.openxmlformats.org/drawingml/2006/table">
            <a:tbl>
              <a:tblPr/>
              <a:tblGrid>
                <a:gridCol w="3283595">
                  <a:extLst>
                    <a:ext uri="{9D8B030D-6E8A-4147-A177-3AD203B41FA5}">
                      <a16:colId xmlns:a16="http://schemas.microsoft.com/office/drawing/2014/main" val="20000"/>
                    </a:ext>
                  </a:extLst>
                </a:gridCol>
                <a:gridCol w="2152987">
                  <a:extLst>
                    <a:ext uri="{9D8B030D-6E8A-4147-A177-3AD203B41FA5}">
                      <a16:colId xmlns:a16="http://schemas.microsoft.com/office/drawing/2014/main" val="20001"/>
                    </a:ext>
                  </a:extLst>
                </a:gridCol>
                <a:gridCol w="2843417">
                  <a:extLst>
                    <a:ext uri="{9D8B030D-6E8A-4147-A177-3AD203B41FA5}">
                      <a16:colId xmlns:a16="http://schemas.microsoft.com/office/drawing/2014/main" val="20002"/>
                    </a:ext>
                  </a:extLst>
                </a:gridCol>
              </a:tblGrid>
              <a:tr h="669317">
                <a:tc>
                  <a:txBody>
                    <a:bodyPr/>
                    <a:lstStyle>
                      <a:lvl1pPr marL="0" algn="l" defTabSz="914400" rtl="0" eaLnBrk="1" latinLnBrk="0" hangingPunct="1">
                        <a:spcBef>
                          <a:spcPct val="20000"/>
                        </a:spcBef>
                        <a:buClr>
                          <a:schemeClr val="tx2"/>
                        </a:buClr>
                        <a:buSzPct val="65000"/>
                        <a:buFont typeface="Wingdings" pitchFamily="2" charset="2"/>
                        <a:tabLst>
                          <a:tab pos="457200" algn="r"/>
                          <a:tab pos="2743200" algn="ctr"/>
                          <a:tab pos="5486400" algn="r"/>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457200" algn="r"/>
                          <a:tab pos="2743200" algn="ctr"/>
                          <a:tab pos="5486400" algn="r"/>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457200" algn="r"/>
                          <a:tab pos="2743200" algn="ctr"/>
                          <a:tab pos="5486400" algn="r"/>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457200" algn="r"/>
                          <a:tab pos="2743200" algn="ctr"/>
                          <a:tab pos="5486400" algn="r"/>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tab pos="457200" algn="r"/>
                          <a:tab pos="2743200" algn="ctr"/>
                          <a:tab pos="5486400" algn="r"/>
                        </a:tabLst>
                      </a:pPr>
                      <a:r>
                        <a:rPr kumimoji="0" lang="en-US" altLang="en-US" sz="1200" b="1" i="0" u="none" strike="noStrike" cap="none" normalizeH="0" baseline="0" dirty="0">
                          <a:ln>
                            <a:noFill/>
                          </a:ln>
                          <a:solidFill>
                            <a:schemeClr val="tx1"/>
                          </a:solidFill>
                          <a:effectLst/>
                          <a:latin typeface="Arial" pitchFamily="34" charset="0"/>
                          <a:ea typeface="Times New Roman" pitchFamily="18" charset="0"/>
                          <a:cs typeface="Arial" pitchFamily="34" charset="0"/>
                        </a:rPr>
                        <a:t>Engineering &amp; Design Factors: </a:t>
                      </a:r>
                      <a:br>
                        <a:rPr kumimoji="0" lang="en-US" altLang="en-US" sz="1200" b="1" i="0" u="none" strike="noStrike" cap="none" normalizeH="0" baseline="0" dirty="0">
                          <a:ln>
                            <a:noFill/>
                          </a:ln>
                          <a:solidFill>
                            <a:schemeClr val="tx1"/>
                          </a:solidFill>
                          <a:effectLst/>
                          <a:latin typeface="Arial" pitchFamily="34" charset="0"/>
                          <a:ea typeface="Times New Roman" pitchFamily="18" charset="0"/>
                          <a:cs typeface="Arial" pitchFamily="34" charset="0"/>
                        </a:rPr>
                      </a:br>
                      <a:r>
                        <a:rPr kumimoji="0" lang="en-US" altLang="en-US" sz="1200" b="0" i="1" u="none" strike="noStrike" cap="none" normalizeH="0" baseline="0" dirty="0">
                          <a:ln>
                            <a:noFill/>
                          </a:ln>
                          <a:solidFill>
                            <a:schemeClr val="tx1"/>
                          </a:solidFill>
                          <a:effectLst/>
                          <a:latin typeface="Arial" pitchFamily="34" charset="0"/>
                          <a:ea typeface="Times New Roman" pitchFamily="18" charset="0"/>
                          <a:cs typeface="Arial" pitchFamily="34" charset="0"/>
                        </a:rPr>
                        <a:t>(can apply to structures, equipment, tools, i.e. any engineered system)</a:t>
                      </a:r>
                      <a:endParaRPr kumimoji="0" lang="en-US" altLang="en-US" sz="1200" b="0" i="0" u="none" strike="noStrike" cap="none" normalizeH="0" baseline="0" dirty="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0" hangingPunct="1">
                        <a:spcBef>
                          <a:spcPct val="20000"/>
                        </a:spcBef>
                        <a:buClr>
                          <a:schemeClr val="tx2"/>
                        </a:buClr>
                        <a:buSzPct val="65000"/>
                        <a:buFont typeface="Wingdings" pitchFamily="2" charset="2"/>
                        <a:tabLst>
                          <a:tab pos="457200" algn="r"/>
                          <a:tab pos="2743200" algn="ctr"/>
                          <a:tab pos="5486400" algn="r"/>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457200" algn="r"/>
                          <a:tab pos="2743200" algn="ctr"/>
                          <a:tab pos="5486400" algn="r"/>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457200" algn="r"/>
                          <a:tab pos="2743200" algn="ctr"/>
                          <a:tab pos="5486400" algn="r"/>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457200" algn="r"/>
                          <a:tab pos="2743200" algn="ctr"/>
                          <a:tab pos="5486400" algn="r"/>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tab pos="457200" algn="r"/>
                          <a:tab pos="2743200" algn="ctr"/>
                          <a:tab pos="5486400" algn="r"/>
                        </a:tabLst>
                      </a:pPr>
                      <a:r>
                        <a:rPr kumimoji="0" lang="en-US" altLang="en-US" sz="1200" b="1" i="0" u="none" strike="noStrike" cap="none" normalizeH="0" baseline="0">
                          <a:ln>
                            <a:noFill/>
                          </a:ln>
                          <a:solidFill>
                            <a:schemeClr val="tx1"/>
                          </a:solidFill>
                          <a:effectLst/>
                          <a:latin typeface="Arial" pitchFamily="34" charset="0"/>
                          <a:ea typeface="Times New Roman" pitchFamily="18" charset="0"/>
                          <a:cs typeface="Arial" pitchFamily="34" charset="0"/>
                        </a:rPr>
                        <a:t>Job Factors:</a:t>
                      </a:r>
                      <a:endParaRPr kumimoji="0" lang="en-US" altLang="en-US" sz="1200" b="0" i="0" u="none" strike="noStrike" cap="none" normalizeH="0" baseline="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0" hangingPunct="1">
                        <a:spcBef>
                          <a:spcPct val="20000"/>
                        </a:spcBef>
                        <a:buClr>
                          <a:schemeClr val="tx2"/>
                        </a:buClr>
                        <a:buSzPct val="65000"/>
                        <a:buFont typeface="Wingdings" pitchFamily="2" charset="2"/>
                        <a:tabLst>
                          <a:tab pos="457200" algn="r"/>
                          <a:tab pos="2743200" algn="ctr"/>
                          <a:tab pos="5486400" algn="r"/>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457200" algn="r"/>
                          <a:tab pos="2743200" algn="ctr"/>
                          <a:tab pos="5486400" algn="r"/>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457200" algn="r"/>
                          <a:tab pos="2743200" algn="ctr"/>
                          <a:tab pos="5486400" algn="r"/>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457200" algn="r"/>
                          <a:tab pos="2743200" algn="ctr"/>
                          <a:tab pos="5486400" algn="r"/>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tab pos="457200" algn="r"/>
                          <a:tab pos="2743200" algn="ctr"/>
                          <a:tab pos="5486400" algn="r"/>
                        </a:tabLst>
                      </a:pPr>
                      <a:r>
                        <a:rPr kumimoji="0" lang="en-US" altLang="en-US" sz="1200" b="1" i="0" u="none" strike="noStrike" cap="none" normalizeH="0" baseline="0">
                          <a:ln>
                            <a:noFill/>
                          </a:ln>
                          <a:solidFill>
                            <a:schemeClr val="tx1"/>
                          </a:solidFill>
                          <a:effectLst/>
                          <a:latin typeface="Arial" pitchFamily="34" charset="0"/>
                          <a:ea typeface="Times New Roman" pitchFamily="18" charset="0"/>
                          <a:cs typeface="Arial" pitchFamily="34" charset="0"/>
                        </a:rPr>
                        <a:t>Personal Factors:</a:t>
                      </a:r>
                      <a:endParaRPr kumimoji="0" lang="en-US" altLang="en-US" sz="1200" b="0" i="0" u="none" strike="noStrike" cap="none" normalizeH="0" baseline="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0"/>
                  </a:ext>
                </a:extLst>
              </a:tr>
              <a:tr h="2390417">
                <a:tc>
                  <a:txBody>
                    <a:bodyPr/>
                    <a:lstStyle>
                      <a:lvl1pPr marL="0" algn="l" defTabSz="914400" rtl="0" eaLnBrk="1" latinLnBrk="0" hangingPunct="1">
                        <a:spcBef>
                          <a:spcPct val="20000"/>
                        </a:spcBef>
                        <a:buClr>
                          <a:schemeClr val="tx2"/>
                        </a:buClr>
                        <a:buSzPct val="65000"/>
                        <a:buFont typeface="Wingdings" pitchFamily="2" charset="2"/>
                        <a:tabLst>
                          <a:tab pos="228600" algn="l"/>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228600" algn="l"/>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228600" algn="l"/>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228600" algn="l"/>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228600" algn="l"/>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technical design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ergonomic design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assessment of loss exposures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standards, specifications and/or design criteria</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monitoring of construction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assessment of operational readiness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monitoring of initial operation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evaluation and/or documentation of change</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inherently safe design</a:t>
                      </a:r>
                    </a:p>
                  </a:txBody>
                  <a:tcPr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0" hangingPunct="1">
                        <a:spcBef>
                          <a:spcPct val="20000"/>
                        </a:spcBef>
                        <a:buClr>
                          <a:schemeClr val="tx2"/>
                        </a:buClr>
                        <a:buSzPct val="65000"/>
                        <a:buFont typeface="Wingdings" pitchFamily="2" charset="2"/>
                        <a:tabLst>
                          <a:tab pos="228600" algn="l"/>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228600" algn="l"/>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228600" algn="l"/>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228600" algn="l"/>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228600" algn="l"/>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maintenance </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job procedures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Error-inducing conditions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Organizational factors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Incompatible goals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training</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communication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0" hangingPunct="1">
                        <a:spcBef>
                          <a:spcPct val="20000"/>
                        </a:spcBef>
                        <a:buClr>
                          <a:schemeClr val="tx2"/>
                        </a:buClr>
                        <a:buSzPct val="65000"/>
                        <a:buFont typeface="Wingdings" pitchFamily="2" charset="2"/>
                        <a:tabLst>
                          <a:tab pos="228600" algn="l"/>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228600" algn="l"/>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228600" algn="l"/>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228600" algn="l"/>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228600" algn="l"/>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physical / physiological state / capability to do the work.</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Perceived inadequate mental / psychological state / capability to do the work.</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Physical or physiological stress.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Perceived mental or psychological stress.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Improper risk taking / improper motivation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Lack of knowledge / lack of skill.</a:t>
                      </a:r>
                    </a:p>
                  </a:txBody>
                  <a:tcPr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bl>
          </a:graphicData>
        </a:graphic>
      </p:graphicFrame>
      <p:sp>
        <p:nvSpPr>
          <p:cNvPr id="12"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
        <p:nvSpPr>
          <p:cNvPr id="13"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36</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Tree>
    <p:extLst>
      <p:ext uri="{BB962C8B-B14F-4D97-AF65-F5344CB8AC3E}">
        <p14:creationId xmlns:p14="http://schemas.microsoft.com/office/powerpoint/2010/main" val="4255439709"/>
      </p:ext>
    </p:extLst>
  </p:cSld>
  <p:clrMapOvr>
    <a:masterClrMapping/>
  </p:clrMapOvr>
  <p:transition>
    <p:fade/>
  </p:transition>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2"/>
          <p:cNvSpPr>
            <a:spLocks noChangeArrowheads="1"/>
          </p:cNvSpPr>
          <p:nvPr/>
        </p:nvSpPr>
        <p:spPr bwMode="auto">
          <a:xfrm>
            <a:off x="180000" y="180000"/>
            <a:ext cx="8640000" cy="504000"/>
          </a:xfrm>
          <a:prstGeom prst="rect">
            <a:avLst/>
          </a:prstGeom>
          <a:solidFill>
            <a:schemeClr val="tx1"/>
          </a:solidFill>
          <a:ln>
            <a:solidFill>
              <a:schemeClr val="tx1"/>
            </a:solidFill>
          </a:ln>
          <a:extLst/>
        </p:spPr>
        <p:txBody>
          <a:bodyPr wrap="square" anchor="ctr" anchorCtr="0">
            <a:noAutofit/>
          </a:bodyPr>
          <a:lstStyle/>
          <a:p>
            <a:pPr lvl="0">
              <a:spcBef>
                <a:spcPts val="0"/>
              </a:spcBef>
              <a:spcAft>
                <a:spcPts val="0"/>
              </a:spcAft>
              <a:defRPr/>
            </a:pPr>
            <a:r>
              <a:rPr lang="en-US" altLang="en-US" sz="24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Example</a:t>
            </a:r>
            <a:r>
              <a:rPr kumimoji="0" lang="en-US" altLang="en-US" sz="2400" b="0" i="0" u="none" strike="noStrike" kern="1200" cap="none" spc="0" normalizeH="0" baseline="0" noProof="0" dirty="0" smtClean="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rPr>
              <a:t>: </a:t>
            </a:r>
            <a:r>
              <a:rPr lang="en-US" altLang="en-US" sz="2400" b="0"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Basic Causes and </a:t>
            </a:r>
            <a:r>
              <a:rPr lang="en-US" altLang="en-US" sz="2400" b="0"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Categories</a:t>
            </a:r>
            <a:endParaRPr kumimoji="0" lang="en-US" altLang="en-US" sz="2400" b="0" i="0" u="none" strike="noStrike" kern="1200" cap="none" spc="0" normalizeH="0" baseline="0" noProof="0" dirty="0">
              <a:ln>
                <a:noFill/>
              </a:ln>
              <a:solidFill>
                <a:srgbClr val="F8F8F8"/>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sp>
        <p:nvSpPr>
          <p:cNvPr id="2" name="Rectangle 1"/>
          <p:cNvSpPr/>
          <p:nvPr/>
        </p:nvSpPr>
        <p:spPr>
          <a:xfrm>
            <a:off x="180000" y="828000"/>
            <a:ext cx="8640000" cy="5328000"/>
          </a:xfrm>
          <a:prstGeom prst="rect">
            <a:avLst/>
          </a:prstGeom>
          <a:solidFill>
            <a:schemeClr val="tx1"/>
          </a:solidFill>
          <a:ln>
            <a:solidFill>
              <a:schemeClr val="tx1"/>
            </a:solidFill>
          </a:ln>
        </p:spPr>
        <p:txBody>
          <a:bodyPr wrap="square">
            <a:noAutofit/>
          </a:bodyPr>
          <a:lstStyle/>
          <a:p>
            <a:pPr lvl="0">
              <a:spcBef>
                <a:spcPts val="0"/>
              </a:spcBef>
              <a:spcAft>
                <a:spcPts val="0"/>
              </a:spcAft>
              <a:defRPr/>
            </a:pPr>
            <a:endParaRPr lang="en-US" sz="2000" b="0" i="1" dirty="0" smtClean="0">
              <a:solidFill>
                <a:srgbClr val="F8F8F8"/>
              </a:solidFill>
              <a:latin typeface="Arial" panose="020B0604020202020204" pitchFamily="34" charset="0"/>
              <a:ea typeface="Times New Roman" panose="02020603050405020304" pitchFamily="18" charset="0"/>
              <a:cs typeface="Arial" panose="020B0604020202020204" pitchFamily="34" charset="0"/>
            </a:endParaRPr>
          </a:p>
          <a:p>
            <a:pPr lvl="0">
              <a:spcBef>
                <a:spcPts val="0"/>
              </a:spcBef>
              <a:spcAft>
                <a:spcPts val="0"/>
              </a:spcAft>
              <a:defRPr/>
            </a:pPr>
            <a:r>
              <a:rPr lang="en-US" sz="2000" b="0" i="1" dirty="0" smtClean="0">
                <a:solidFill>
                  <a:srgbClr val="F8F8F8"/>
                </a:solidFill>
                <a:latin typeface="Arial" panose="020B0604020202020204" pitchFamily="34" charset="0"/>
                <a:ea typeface="Times New Roman" panose="02020603050405020304" pitchFamily="18" charset="0"/>
                <a:cs typeface="Arial" panose="020B0604020202020204" pitchFamily="34" charset="0"/>
              </a:rPr>
              <a:t>The </a:t>
            </a:r>
            <a:r>
              <a:rPr lang="en-US" sz="2000" b="0" i="1" dirty="0">
                <a:solidFill>
                  <a:srgbClr val="F8F8F8"/>
                </a:solidFill>
                <a:latin typeface="Arial" panose="020B0604020202020204" pitchFamily="34" charset="0"/>
                <a:ea typeface="Times New Roman" panose="02020603050405020304" pitchFamily="18" charset="0"/>
                <a:cs typeface="Arial" panose="020B0604020202020204" pitchFamily="34" charset="0"/>
              </a:rPr>
              <a:t>basic cause categories for the </a:t>
            </a:r>
            <a:r>
              <a:rPr lang="en-US" sz="2000" b="0" i="1" dirty="0" smtClean="0">
                <a:solidFill>
                  <a:srgbClr val="F8F8F8"/>
                </a:solidFill>
                <a:latin typeface="Arial" panose="020B0604020202020204" pitchFamily="34" charset="0"/>
                <a:ea typeface="Times New Roman" panose="02020603050405020304" pitchFamily="18" charset="0"/>
                <a:cs typeface="Arial" panose="020B0604020202020204" pitchFamily="34" charset="0"/>
              </a:rPr>
              <a:t>following:</a:t>
            </a:r>
            <a:endParaRPr lang="en-US" sz="2000" b="0" i="1" dirty="0">
              <a:solidFill>
                <a:srgbClr val="F8F8F8"/>
              </a:solidFill>
              <a:latin typeface="Arial" panose="020B0604020202020204" pitchFamily="34" charset="0"/>
              <a:ea typeface="Times New Roman" panose="02020603050405020304" pitchFamily="18" charset="0"/>
              <a:cs typeface="Arial" panose="020B0604020202020204" pitchFamily="34" charset="0"/>
            </a:endParaRPr>
          </a:p>
          <a:p>
            <a:pPr marL="457200" lvl="0" indent="-457200" eaLnBrk="0" hangingPunct="0">
              <a:spcBef>
                <a:spcPts val="0"/>
              </a:spcBef>
              <a:buSzPct val="100000"/>
              <a:buFont typeface="+mj-lt"/>
              <a:buAutoNum type="alphaLcParenR"/>
              <a:defRPr/>
            </a:pP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Poor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slope design</a:t>
            </a:r>
          </a:p>
          <a:p>
            <a:pPr marL="457200" lvl="0" indent="-457200" eaLnBrk="0" hangingPunct="0">
              <a:spcBef>
                <a:spcPts val="0"/>
              </a:spcBef>
              <a:buSzPct val="100000"/>
              <a:buFont typeface="+mj-lt"/>
              <a:buAutoNum type="alphaLcParenR"/>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Operator not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trained on </a:t>
            </a: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exclusion zone procedures</a:t>
            </a:r>
          </a:p>
          <a:p>
            <a:pPr marL="457200" lvl="0" indent="-457200" eaLnBrk="0" hangingPunct="0">
              <a:spcBef>
                <a:spcPts val="0"/>
              </a:spcBef>
              <a:buSzPct val="100000"/>
              <a:buFont typeface="+mj-lt"/>
              <a:buAutoNum type="alphaLcParenR"/>
              <a:defRPr/>
            </a:pPr>
            <a:r>
              <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Supervisor told Operator to be in exclusion </a:t>
            </a:r>
            <a:r>
              <a:rPr lang="en-US" altLang="en-US" sz="20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zone</a:t>
            </a:r>
            <a:endParaRPr lang="en-US" altLang="en-US" sz="20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8"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marL="0" marR="0" lvl="0" indent="0" algn="r" defTabSz="914400" rtl="0" eaLnBrk="1" fontAlgn="base" latinLnBrk="0" hangingPunct="1">
              <a:lnSpc>
                <a:spcPct val="100000"/>
              </a:lnSpc>
              <a:spcBef>
                <a:spcPct val="0"/>
              </a:spcBef>
              <a:spcAft>
                <a:spcPct val="0"/>
              </a:spcAft>
              <a:buClrTx/>
              <a:buSzTx/>
              <a:buFontTx/>
              <a:buNone/>
              <a:tabLst/>
              <a:defRPr/>
            </a:pPr>
            <a:fld id="{B9AAC074-F6B9-4EA4-AE59-9F9DB0D8944F}" type="slidenum">
              <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37</a:t>
            </a:fld>
            <a:endParaRPr kumimoji="0" lang="en-US" altLang="en-US" sz="1200" b="1" i="1" u="none" strike="noStrike" kern="1200" cap="none" spc="0" normalizeH="0" baseline="0" noProof="0">
              <a:ln>
                <a:noFill/>
              </a:ln>
              <a:solidFill>
                <a:srgbClr val="000000"/>
              </a:solidFill>
              <a:effectLst/>
              <a:uLnTx/>
              <a:uFillTx/>
              <a:latin typeface="Arial" panose="020B0604020202020204" pitchFamily="34" charset="0"/>
              <a:ea typeface="ＭＳ Ｐゴシック" panose="020B0600070205080204" pitchFamily="34" charset="-128"/>
              <a:cs typeface="Arial" panose="020B0604020202020204" pitchFamily="34" charset="0"/>
            </a:endParaRPr>
          </a:p>
        </p:txBody>
      </p:sp>
      <p:graphicFrame>
        <p:nvGraphicFramePr>
          <p:cNvPr id="11" name="Group 86"/>
          <p:cNvGraphicFramePr>
            <a:graphicFrameLocks noGrp="1"/>
          </p:cNvGraphicFramePr>
          <p:nvPr>
            <p:extLst>
              <p:ext uri="{D42A27DB-BD31-4B8C-83A1-F6EECF244321}">
                <p14:modId xmlns:p14="http://schemas.microsoft.com/office/powerpoint/2010/main" val="3024953904"/>
              </p:ext>
            </p:extLst>
          </p:nvPr>
        </p:nvGraphicFramePr>
        <p:xfrm>
          <a:off x="432001" y="2957280"/>
          <a:ext cx="8279999" cy="3059734"/>
        </p:xfrm>
        <a:graphic>
          <a:graphicData uri="http://schemas.openxmlformats.org/drawingml/2006/table">
            <a:tbl>
              <a:tblPr/>
              <a:tblGrid>
                <a:gridCol w="3283595">
                  <a:extLst>
                    <a:ext uri="{9D8B030D-6E8A-4147-A177-3AD203B41FA5}">
                      <a16:colId xmlns:a16="http://schemas.microsoft.com/office/drawing/2014/main" val="20000"/>
                    </a:ext>
                  </a:extLst>
                </a:gridCol>
                <a:gridCol w="2152987">
                  <a:extLst>
                    <a:ext uri="{9D8B030D-6E8A-4147-A177-3AD203B41FA5}">
                      <a16:colId xmlns:a16="http://schemas.microsoft.com/office/drawing/2014/main" val="20001"/>
                    </a:ext>
                  </a:extLst>
                </a:gridCol>
                <a:gridCol w="2843417">
                  <a:extLst>
                    <a:ext uri="{9D8B030D-6E8A-4147-A177-3AD203B41FA5}">
                      <a16:colId xmlns:a16="http://schemas.microsoft.com/office/drawing/2014/main" val="20002"/>
                    </a:ext>
                  </a:extLst>
                </a:gridCol>
              </a:tblGrid>
              <a:tr h="669317">
                <a:tc>
                  <a:txBody>
                    <a:bodyPr/>
                    <a:lstStyle>
                      <a:lvl1pPr marL="0" algn="l" defTabSz="914400" rtl="0" eaLnBrk="1" latinLnBrk="0" hangingPunct="1">
                        <a:spcBef>
                          <a:spcPct val="20000"/>
                        </a:spcBef>
                        <a:buClr>
                          <a:schemeClr val="tx2"/>
                        </a:buClr>
                        <a:buSzPct val="65000"/>
                        <a:buFont typeface="Wingdings" pitchFamily="2" charset="2"/>
                        <a:tabLst>
                          <a:tab pos="457200" algn="r"/>
                          <a:tab pos="2743200" algn="ctr"/>
                          <a:tab pos="5486400" algn="r"/>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457200" algn="r"/>
                          <a:tab pos="2743200" algn="ctr"/>
                          <a:tab pos="5486400" algn="r"/>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457200" algn="r"/>
                          <a:tab pos="2743200" algn="ctr"/>
                          <a:tab pos="5486400" algn="r"/>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457200" algn="r"/>
                          <a:tab pos="2743200" algn="ctr"/>
                          <a:tab pos="5486400" algn="r"/>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tab pos="457200" algn="r"/>
                          <a:tab pos="2743200" algn="ctr"/>
                          <a:tab pos="5486400" algn="r"/>
                        </a:tabLst>
                      </a:pPr>
                      <a:r>
                        <a:rPr kumimoji="0" lang="en-US" altLang="en-US" sz="1200" b="1" i="0" u="none" strike="noStrike" cap="none" normalizeH="0" baseline="0" dirty="0">
                          <a:ln>
                            <a:noFill/>
                          </a:ln>
                          <a:solidFill>
                            <a:schemeClr val="tx1"/>
                          </a:solidFill>
                          <a:effectLst/>
                          <a:latin typeface="Arial" pitchFamily="34" charset="0"/>
                          <a:ea typeface="Times New Roman" pitchFamily="18" charset="0"/>
                          <a:cs typeface="Arial" pitchFamily="34" charset="0"/>
                        </a:rPr>
                        <a:t>Engineering &amp; Design Factors: </a:t>
                      </a:r>
                      <a:br>
                        <a:rPr kumimoji="0" lang="en-US" altLang="en-US" sz="1200" b="1" i="0" u="none" strike="noStrike" cap="none" normalizeH="0" baseline="0" dirty="0">
                          <a:ln>
                            <a:noFill/>
                          </a:ln>
                          <a:solidFill>
                            <a:schemeClr val="tx1"/>
                          </a:solidFill>
                          <a:effectLst/>
                          <a:latin typeface="Arial" pitchFamily="34" charset="0"/>
                          <a:ea typeface="Times New Roman" pitchFamily="18" charset="0"/>
                          <a:cs typeface="Arial" pitchFamily="34" charset="0"/>
                        </a:rPr>
                      </a:br>
                      <a:r>
                        <a:rPr kumimoji="0" lang="en-US" altLang="en-US" sz="1200" b="0" i="1" u="none" strike="noStrike" cap="none" normalizeH="0" baseline="0" dirty="0">
                          <a:ln>
                            <a:noFill/>
                          </a:ln>
                          <a:solidFill>
                            <a:schemeClr val="tx1"/>
                          </a:solidFill>
                          <a:effectLst/>
                          <a:latin typeface="Arial" pitchFamily="34" charset="0"/>
                          <a:ea typeface="Times New Roman" pitchFamily="18" charset="0"/>
                          <a:cs typeface="Arial" pitchFamily="34" charset="0"/>
                        </a:rPr>
                        <a:t>(can apply to structures, equipment, tools, i.e. any engineered system)</a:t>
                      </a:r>
                      <a:endParaRPr kumimoji="0" lang="en-US" altLang="en-US" sz="1200" b="0" i="0" u="none" strike="noStrike" cap="none" normalizeH="0" baseline="0" dirty="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0" hangingPunct="1">
                        <a:spcBef>
                          <a:spcPct val="20000"/>
                        </a:spcBef>
                        <a:buClr>
                          <a:schemeClr val="tx2"/>
                        </a:buClr>
                        <a:buSzPct val="65000"/>
                        <a:buFont typeface="Wingdings" pitchFamily="2" charset="2"/>
                        <a:tabLst>
                          <a:tab pos="457200" algn="r"/>
                          <a:tab pos="2743200" algn="ctr"/>
                          <a:tab pos="5486400" algn="r"/>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457200" algn="r"/>
                          <a:tab pos="2743200" algn="ctr"/>
                          <a:tab pos="5486400" algn="r"/>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457200" algn="r"/>
                          <a:tab pos="2743200" algn="ctr"/>
                          <a:tab pos="5486400" algn="r"/>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457200" algn="r"/>
                          <a:tab pos="2743200" algn="ctr"/>
                          <a:tab pos="5486400" algn="r"/>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tab pos="457200" algn="r"/>
                          <a:tab pos="2743200" algn="ctr"/>
                          <a:tab pos="5486400" algn="r"/>
                        </a:tabLst>
                      </a:pPr>
                      <a:r>
                        <a:rPr kumimoji="0" lang="en-US" altLang="en-US" sz="1200" b="1" i="0" u="none" strike="noStrike" cap="none" normalizeH="0" baseline="0">
                          <a:ln>
                            <a:noFill/>
                          </a:ln>
                          <a:solidFill>
                            <a:schemeClr val="tx1"/>
                          </a:solidFill>
                          <a:effectLst/>
                          <a:latin typeface="Arial" pitchFamily="34" charset="0"/>
                          <a:ea typeface="Times New Roman" pitchFamily="18" charset="0"/>
                          <a:cs typeface="Arial" pitchFamily="34" charset="0"/>
                        </a:rPr>
                        <a:t>Job Factors:</a:t>
                      </a:r>
                      <a:endParaRPr kumimoji="0" lang="en-US" altLang="en-US" sz="1200" b="0" i="0" u="none" strike="noStrike" cap="none" normalizeH="0" baseline="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0" hangingPunct="1">
                        <a:spcBef>
                          <a:spcPct val="20000"/>
                        </a:spcBef>
                        <a:buClr>
                          <a:schemeClr val="tx2"/>
                        </a:buClr>
                        <a:buSzPct val="65000"/>
                        <a:buFont typeface="Wingdings" pitchFamily="2" charset="2"/>
                        <a:tabLst>
                          <a:tab pos="457200" algn="r"/>
                          <a:tab pos="2743200" algn="ctr"/>
                          <a:tab pos="5486400" algn="r"/>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457200" algn="r"/>
                          <a:tab pos="2743200" algn="ctr"/>
                          <a:tab pos="5486400" algn="r"/>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457200" algn="r"/>
                          <a:tab pos="2743200" algn="ctr"/>
                          <a:tab pos="5486400" algn="r"/>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457200" algn="r"/>
                          <a:tab pos="2743200" algn="ctr"/>
                          <a:tab pos="5486400" algn="r"/>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457200" algn="r"/>
                          <a:tab pos="2743200" algn="ctr"/>
                          <a:tab pos="5486400" algn="r"/>
                        </a:tabLst>
                        <a:defRPr sz="1800" kern="1200">
                          <a:solidFill>
                            <a:schemeClr val="tx1"/>
                          </a:solidFill>
                          <a:latin typeface="Times New Roman" pitchFamily="18" charset="0"/>
                          <a:ea typeface="ＭＳ Ｐゴシック" pitchFamily="34" charset="-128"/>
                        </a:defRPr>
                      </a:lvl9pPr>
                    </a:lstStyle>
                    <a:p>
                      <a:pPr marL="0" marR="0" lvl="0" indent="0" algn="l" defTabSz="914400" rtl="0" eaLnBrk="0" fontAlgn="base" latinLnBrk="0" hangingPunct="0">
                        <a:lnSpc>
                          <a:spcPct val="100000"/>
                        </a:lnSpc>
                        <a:spcBef>
                          <a:spcPct val="0"/>
                        </a:spcBef>
                        <a:spcAft>
                          <a:spcPct val="0"/>
                        </a:spcAft>
                        <a:buClrTx/>
                        <a:buSzTx/>
                        <a:buFontTx/>
                        <a:buNone/>
                        <a:tabLst>
                          <a:tab pos="457200" algn="r"/>
                          <a:tab pos="2743200" algn="ctr"/>
                          <a:tab pos="5486400" algn="r"/>
                        </a:tabLst>
                      </a:pPr>
                      <a:r>
                        <a:rPr kumimoji="0" lang="en-US" altLang="en-US" sz="1200" b="1" i="0" u="none" strike="noStrike" cap="none" normalizeH="0" baseline="0">
                          <a:ln>
                            <a:noFill/>
                          </a:ln>
                          <a:solidFill>
                            <a:schemeClr val="tx1"/>
                          </a:solidFill>
                          <a:effectLst/>
                          <a:latin typeface="Arial" pitchFamily="34" charset="0"/>
                          <a:ea typeface="Times New Roman" pitchFamily="18" charset="0"/>
                          <a:cs typeface="Arial" pitchFamily="34" charset="0"/>
                        </a:rPr>
                        <a:t>Personal Factors:</a:t>
                      </a:r>
                      <a:endParaRPr kumimoji="0" lang="en-US" altLang="en-US" sz="1200" b="0" i="0" u="none" strike="noStrike" cap="none" normalizeH="0" baseline="0">
                        <a:ln>
                          <a:noFill/>
                        </a:ln>
                        <a:solidFill>
                          <a:schemeClr val="tx1"/>
                        </a:solidFill>
                        <a:effectLst/>
                        <a:latin typeface="Arial" panose="020B0604020202020204" pitchFamily="34" charset="0"/>
                        <a:ea typeface="Times New Roman" pitchFamily="18" charset="0"/>
                        <a:cs typeface="Arial" panose="020B0604020202020204" pitchFamily="34" charset="0"/>
                      </a:endParaRPr>
                    </a:p>
                  </a:txBody>
                  <a:tcPr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254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0"/>
                  </a:ext>
                </a:extLst>
              </a:tr>
              <a:tr h="2390417">
                <a:tc>
                  <a:txBody>
                    <a:bodyPr/>
                    <a:lstStyle>
                      <a:lvl1pPr marL="0" algn="l" defTabSz="914400" rtl="0" eaLnBrk="1" latinLnBrk="0" hangingPunct="1">
                        <a:spcBef>
                          <a:spcPct val="20000"/>
                        </a:spcBef>
                        <a:buClr>
                          <a:schemeClr val="tx2"/>
                        </a:buClr>
                        <a:buSzPct val="65000"/>
                        <a:buFont typeface="Wingdings" pitchFamily="2" charset="2"/>
                        <a:tabLst>
                          <a:tab pos="228600" algn="l"/>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228600" algn="l"/>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228600" algn="l"/>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228600" algn="l"/>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228600" algn="l"/>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technical design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ergonomic design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assessment of loss exposures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standards, specifications and/or design criteria</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monitoring of construction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assessment of operational readiness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monitoring of initial operation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evaluation and/or documentation of change</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inherently safe design</a:t>
                      </a:r>
                    </a:p>
                  </a:txBody>
                  <a:tcPr horzOverflow="overflow">
                    <a:lnL w="254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0" hangingPunct="1">
                        <a:spcBef>
                          <a:spcPct val="20000"/>
                        </a:spcBef>
                        <a:buClr>
                          <a:schemeClr val="tx2"/>
                        </a:buClr>
                        <a:buSzPct val="65000"/>
                        <a:buFont typeface="Wingdings" pitchFamily="2" charset="2"/>
                        <a:tabLst>
                          <a:tab pos="228600" algn="l"/>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228600" algn="l"/>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228600" algn="l"/>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228600" algn="l"/>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228600" algn="l"/>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maintenance </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job procedures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Error-inducing conditions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Organizational factors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Incompatible goals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training</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communication</a:t>
                      </a:r>
                    </a:p>
                  </a:txBody>
                  <a:tcPr horzOverflow="overflow">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tc>
                  <a:txBody>
                    <a:bodyPr/>
                    <a:lstStyle>
                      <a:lvl1pPr marL="0" algn="l" defTabSz="914400" rtl="0" eaLnBrk="1" latinLnBrk="0" hangingPunct="1">
                        <a:spcBef>
                          <a:spcPct val="20000"/>
                        </a:spcBef>
                        <a:buClr>
                          <a:schemeClr val="tx2"/>
                        </a:buClr>
                        <a:buSzPct val="65000"/>
                        <a:buFont typeface="Wingdings" pitchFamily="2" charset="2"/>
                        <a:tabLst>
                          <a:tab pos="228600" algn="l"/>
                        </a:tabLst>
                        <a:defRPr sz="2800" kern="1200">
                          <a:solidFill>
                            <a:schemeClr val="tx1"/>
                          </a:solidFill>
                          <a:latin typeface="Times New Roman" pitchFamily="18" charset="0"/>
                          <a:ea typeface="ＭＳ Ｐゴシック" pitchFamily="34" charset="-128"/>
                        </a:defRPr>
                      </a:lvl1pPr>
                      <a:lvl2pPr marL="742950" indent="-285750" algn="l" defTabSz="914400" rtl="0" eaLnBrk="1" latinLnBrk="0" hangingPunct="1">
                        <a:spcBef>
                          <a:spcPct val="20000"/>
                        </a:spcBef>
                        <a:tabLst>
                          <a:tab pos="228600" algn="l"/>
                        </a:tabLst>
                        <a:defRPr sz="2400" kern="1200">
                          <a:solidFill>
                            <a:schemeClr val="tx1"/>
                          </a:solidFill>
                          <a:latin typeface="Times New Roman" pitchFamily="18" charset="0"/>
                          <a:ea typeface="ＭＳ Ｐゴシック" pitchFamily="34" charset="-128"/>
                        </a:defRPr>
                      </a:lvl2pPr>
                      <a:lvl3pPr marL="1143000" indent="-228600" algn="l" defTabSz="914400" rtl="0" eaLnBrk="1" latinLnBrk="0" hangingPunct="1">
                        <a:spcBef>
                          <a:spcPct val="20000"/>
                        </a:spcBef>
                        <a:tabLst>
                          <a:tab pos="228600" algn="l"/>
                        </a:tabLst>
                        <a:defRPr sz="2000" kern="1200">
                          <a:solidFill>
                            <a:schemeClr val="tx1"/>
                          </a:solidFill>
                          <a:latin typeface="Times New Roman" pitchFamily="18" charset="0"/>
                          <a:ea typeface="ＭＳ Ｐゴシック" pitchFamily="34" charset="-128"/>
                        </a:defRPr>
                      </a:lvl3pPr>
                      <a:lvl4pPr marL="1600200" indent="-228600" algn="l" defTabSz="914400" rtl="0" eaLnBrk="1" latinLnBrk="0" hangingPunct="1">
                        <a:spcBef>
                          <a:spcPct val="20000"/>
                        </a:spcBef>
                        <a:tabLst>
                          <a:tab pos="228600" algn="l"/>
                        </a:tabLst>
                        <a:defRPr sz="1800" kern="1200">
                          <a:solidFill>
                            <a:schemeClr val="tx1"/>
                          </a:solidFill>
                          <a:latin typeface="Times New Roman" pitchFamily="18" charset="0"/>
                          <a:ea typeface="ＭＳ Ｐゴシック" pitchFamily="34" charset="-128"/>
                        </a:defRPr>
                      </a:lvl4pPr>
                      <a:lvl5pPr marL="2057400" indent="-228600" algn="l" defTabSz="914400" rtl="0" eaLnBrk="1" latinLnBrk="0" hangingPunct="1">
                        <a:spcBef>
                          <a:spcPct val="20000"/>
                        </a:spcBef>
                        <a:buSzPct val="65000"/>
                        <a:tabLst>
                          <a:tab pos="228600" algn="l"/>
                        </a:tabLst>
                        <a:defRPr sz="1800" kern="1200">
                          <a:solidFill>
                            <a:schemeClr val="tx1"/>
                          </a:solidFill>
                          <a:latin typeface="Times New Roman" pitchFamily="18" charset="0"/>
                          <a:ea typeface="ＭＳ Ｐゴシック" pitchFamily="34" charset="-128"/>
                        </a:defRPr>
                      </a:lvl5pPr>
                      <a:lvl6pPr marL="25146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6pPr>
                      <a:lvl7pPr marL="29718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7pPr>
                      <a:lvl8pPr marL="34290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8pPr>
                      <a:lvl9pPr marL="3886200" indent="-228600" algn="l" defTabSz="914400" rtl="0" eaLnBrk="0" fontAlgn="base" latinLnBrk="0" hangingPunct="0">
                        <a:spcBef>
                          <a:spcPct val="20000"/>
                        </a:spcBef>
                        <a:spcAft>
                          <a:spcPct val="0"/>
                        </a:spcAft>
                        <a:buSzPct val="65000"/>
                        <a:tabLst>
                          <a:tab pos="228600" algn="l"/>
                        </a:tabLst>
                        <a:defRPr sz="1800" kern="1200">
                          <a:solidFill>
                            <a:schemeClr val="tx1"/>
                          </a:solidFill>
                          <a:latin typeface="Times New Roman" pitchFamily="18" charset="0"/>
                          <a:ea typeface="ＭＳ Ｐゴシック" pitchFamily="34" charset="-128"/>
                        </a:defRPr>
                      </a:lvl9pPr>
                    </a:lstStyle>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Inadequate physical / physiological state / capability to do the work.</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Perceived inadequate mental / psychological state / capability to do the work.</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Physical or physiological stress.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Perceived mental or psychological stress.</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Improper risk taking / improper motivation</a:t>
                      </a:r>
                    </a:p>
                    <a:p>
                      <a:pPr marL="98425" marR="0" lvl="0" indent="-88900" algn="l" defTabSz="914400" rtl="0" eaLnBrk="0" fontAlgn="base" latinLnBrk="0" hangingPunct="0">
                        <a:lnSpc>
                          <a:spcPct val="100000"/>
                        </a:lnSpc>
                        <a:spcBef>
                          <a:spcPct val="0"/>
                        </a:spcBef>
                        <a:spcAft>
                          <a:spcPct val="0"/>
                        </a:spcAft>
                        <a:buClrTx/>
                        <a:buSzTx/>
                        <a:buFont typeface="Symbol" pitchFamily="18" charset="2"/>
                        <a:buChar char=""/>
                        <a:tabLst>
                          <a:tab pos="228600" algn="l"/>
                        </a:tabLst>
                      </a:pPr>
                      <a:r>
                        <a:rPr kumimoji="0" lang="en-US" altLang="en-US" sz="1200" b="0" i="0" u="none" strike="noStrike" cap="none" normalizeH="0" baseline="0" dirty="0">
                          <a:ln>
                            <a:noFill/>
                          </a:ln>
                          <a:solidFill>
                            <a:schemeClr val="tx1"/>
                          </a:solidFill>
                          <a:effectLst/>
                          <a:latin typeface="Arial" pitchFamily="34" charset="0"/>
                          <a:ea typeface="Times New Roman" pitchFamily="18" charset="0"/>
                          <a:cs typeface="Arial" pitchFamily="34" charset="0"/>
                        </a:rPr>
                        <a:t>Lack of knowledge / lack of skill.</a:t>
                      </a:r>
                    </a:p>
                  </a:txBody>
                  <a:tcPr horzOverflow="overflow">
                    <a:lnL w="12700" cap="flat" cmpd="sng" algn="ctr">
                      <a:solidFill>
                        <a:srgbClr val="000000"/>
                      </a:solidFill>
                      <a:prstDash val="solid"/>
                      <a:round/>
                      <a:headEnd type="none" w="med" len="med"/>
                      <a:tailEnd type="none" w="med" len="med"/>
                    </a:lnL>
                    <a:lnR w="254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25400" cap="flat" cmpd="sng" algn="ctr">
                      <a:solidFill>
                        <a:srgbClr val="000000"/>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bl>
          </a:graphicData>
        </a:graphic>
      </p:graphicFrame>
      <p:sp>
        <p:nvSpPr>
          <p:cNvPr id="10" name="Rectangle 9"/>
          <p:cNvSpPr/>
          <p:nvPr/>
        </p:nvSpPr>
        <p:spPr>
          <a:xfrm>
            <a:off x="454026" y="3665786"/>
            <a:ext cx="2817387" cy="338554"/>
          </a:xfrm>
          <a:prstGeom prst="rect">
            <a:avLst/>
          </a:prstGeom>
          <a:solidFill>
            <a:sysClr val="window" lastClr="FFFFFF"/>
          </a:solidFill>
          <a:ln w="57150" cap="flat" cmpd="sng" algn="ctr">
            <a:solidFill>
              <a:srgbClr val="FF0000"/>
            </a:solidFill>
            <a:prstDash val="solid"/>
            <a:miter lim="800000"/>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a:ln>
                  <a:noFill/>
                </a:ln>
                <a:solidFill>
                  <a:srgbClr val="FF0000"/>
                </a:solidFill>
                <a:effectLst/>
                <a:uLnTx/>
                <a:uFillTx/>
                <a:latin typeface="Calibri" panose="020F0502020204030204"/>
                <a:ea typeface="+mn-ea"/>
                <a:cs typeface="+mn-cs"/>
              </a:rPr>
              <a:t>a) Inadequate technical design</a:t>
            </a:r>
          </a:p>
        </p:txBody>
      </p:sp>
      <p:sp>
        <p:nvSpPr>
          <p:cNvPr id="12" name="Rectangle 11"/>
          <p:cNvSpPr/>
          <p:nvPr/>
        </p:nvSpPr>
        <p:spPr>
          <a:xfrm>
            <a:off x="3624945" y="4489932"/>
            <a:ext cx="2253341" cy="338554"/>
          </a:xfrm>
          <a:prstGeom prst="rect">
            <a:avLst/>
          </a:prstGeom>
          <a:solidFill>
            <a:sysClr val="window" lastClr="FFFFFF"/>
          </a:solidFill>
          <a:ln w="57150" cap="flat" cmpd="sng" algn="ctr">
            <a:solidFill>
              <a:srgbClr val="FF0000"/>
            </a:solidFill>
            <a:prstDash val="solid"/>
            <a:miter lim="800000"/>
          </a:ln>
          <a:effectLst/>
        </p:spPr>
        <p:txBody>
          <a:bodyPr rtlCol="0"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smtClean="0">
                <a:ln>
                  <a:noFill/>
                </a:ln>
                <a:solidFill>
                  <a:srgbClr val="FF0000"/>
                </a:solidFill>
                <a:effectLst/>
                <a:uLnTx/>
                <a:uFillTx/>
                <a:latin typeface="Calibri" panose="020F0502020204030204"/>
                <a:ea typeface="+mn-ea"/>
                <a:cs typeface="+mn-cs"/>
              </a:rPr>
              <a:t>b) Inadequate training</a:t>
            </a:r>
            <a:endParaRPr kumimoji="0" lang="en-US" sz="1600" b="0" i="0" u="none" strike="noStrike" kern="0" cap="none" spc="0" normalizeH="0" baseline="0" noProof="0" dirty="0">
              <a:ln>
                <a:noFill/>
              </a:ln>
              <a:solidFill>
                <a:srgbClr val="FF0000"/>
              </a:solidFill>
              <a:effectLst/>
              <a:uLnTx/>
              <a:uFillTx/>
              <a:latin typeface="Calibri" panose="020F0502020204030204"/>
              <a:ea typeface="+mn-ea"/>
              <a:cs typeface="+mn-cs"/>
            </a:endParaRPr>
          </a:p>
        </p:txBody>
      </p:sp>
      <p:sp>
        <p:nvSpPr>
          <p:cNvPr id="13" name="Rectangle 12"/>
          <p:cNvSpPr/>
          <p:nvPr/>
        </p:nvSpPr>
        <p:spPr>
          <a:xfrm>
            <a:off x="5952969" y="5008984"/>
            <a:ext cx="2253341" cy="584775"/>
          </a:xfrm>
          <a:prstGeom prst="rect">
            <a:avLst/>
          </a:prstGeom>
          <a:solidFill>
            <a:sysClr val="window" lastClr="FFFFFF"/>
          </a:solidFill>
          <a:ln w="57150" cap="flat" cmpd="sng" algn="ctr">
            <a:solidFill>
              <a:srgbClr val="FF0000"/>
            </a:solidFill>
            <a:prstDash val="solid"/>
            <a:miter lim="800000"/>
          </a:ln>
          <a:effectLst/>
        </p:spPr>
        <p:txBody>
          <a:bodyPr rtlCol="0"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0" i="0" u="none" strike="noStrike" kern="0" cap="none" spc="0" normalizeH="0" baseline="0" noProof="0" dirty="0" smtClean="0">
                <a:ln>
                  <a:noFill/>
                </a:ln>
                <a:solidFill>
                  <a:srgbClr val="FF0000"/>
                </a:solidFill>
                <a:effectLst/>
                <a:uLnTx/>
                <a:uFillTx/>
                <a:latin typeface="Calibri" panose="020F0502020204030204"/>
                <a:ea typeface="+mn-ea"/>
                <a:cs typeface="+mn-cs"/>
              </a:rPr>
              <a:t>c) Improper motivation / improper risk taking</a:t>
            </a:r>
            <a:endParaRPr kumimoji="0" lang="en-US" sz="1600" b="0" i="0" u="none" strike="noStrike" kern="0" cap="none" spc="0" normalizeH="0" baseline="0" noProof="0" dirty="0">
              <a:ln>
                <a:noFill/>
              </a:ln>
              <a:solidFill>
                <a:srgbClr val="FF0000"/>
              </a:solidFill>
              <a:effectLst/>
              <a:uLnTx/>
              <a:uFillTx/>
              <a:latin typeface="Calibri" panose="020F0502020204030204"/>
              <a:ea typeface="+mn-ea"/>
              <a:cs typeface="+mn-cs"/>
            </a:endParaRPr>
          </a:p>
        </p:txBody>
      </p:sp>
      <p:sp>
        <p:nvSpPr>
          <p:cNvPr id="14"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996241117"/>
      </p:ext>
    </p:extLst>
  </p:cSld>
  <p:clrMapOvr>
    <a:masterClrMapping/>
  </p:clrMapOvr>
  <p:transition>
    <p:fade/>
  </p:transition>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100000"/>
              </a:lnSpc>
              <a:spcBef>
                <a:spcPts val="0"/>
              </a:spcBef>
              <a:buClrTx/>
              <a:buSzPct val="100000"/>
              <a:buNone/>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a:t>
            </a: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Intent </a:t>
            </a: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of The Tables of Detailed Lists:</a:t>
            </a:r>
          </a:p>
          <a:p>
            <a:pPr marL="36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36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Tables </a:t>
            </a:r>
            <a:r>
              <a:rPr lang="en-US" altLang="en-US" b="0" dirty="0">
                <a:solidFill>
                  <a:prstClr val="black"/>
                </a:solidFill>
                <a:latin typeface="Arial" panose="020B0604020202020204" pitchFamily="34" charset="0"/>
                <a:ea typeface="ＭＳ Ｐゴシック" panose="020B0600070205080204" pitchFamily="34" charset="-128"/>
              </a:rPr>
              <a:t>help guide the user in categorizing the incident details including the immediate and basic causes. </a:t>
            </a:r>
          </a:p>
          <a:p>
            <a:pPr marL="72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FYI: These tables are not exhaustive and all-inclusive; there may be other sub-sub-categories that can be created.</a:t>
            </a:r>
          </a:p>
          <a:p>
            <a:pPr marL="36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0" indent="0" eaLnBrk="0" hangingPunct="0">
              <a:lnSpc>
                <a:spcPct val="100000"/>
              </a:lnSpc>
              <a:spcBef>
                <a:spcPts val="0"/>
              </a:spcBef>
              <a:buClrTx/>
              <a:buSzPct val="100000"/>
              <a:buNone/>
              <a:defRPr/>
            </a:pP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Categorization of Causes:</a:t>
            </a:r>
            <a:endPar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36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When </a:t>
            </a:r>
            <a:r>
              <a:rPr lang="en-US" altLang="en-US" b="0" dirty="0">
                <a:solidFill>
                  <a:prstClr val="black"/>
                </a:solidFill>
                <a:latin typeface="Arial" panose="020B0604020202020204" pitchFamily="34" charset="0"/>
                <a:ea typeface="ＭＳ Ｐゴシック" panose="020B0600070205080204" pitchFamily="34" charset="-128"/>
              </a:rPr>
              <a:t>reporting the categories of a cause, it is important to recognize the major </a:t>
            </a:r>
            <a:r>
              <a:rPr lang="en-US" altLang="en-US" b="0" u="sng" dirty="0">
                <a:solidFill>
                  <a:prstClr val="black"/>
                </a:solidFill>
                <a:latin typeface="Arial" panose="020B0604020202020204" pitchFamily="34" charset="0"/>
                <a:ea typeface="ＭＳ Ｐゴシック" panose="020B0600070205080204" pitchFamily="34" charset="-128"/>
              </a:rPr>
              <a:t>category</a:t>
            </a:r>
            <a:r>
              <a:rPr lang="en-US" altLang="en-US" b="0" dirty="0">
                <a:solidFill>
                  <a:prstClr val="black"/>
                </a:solidFill>
                <a:latin typeface="Arial" panose="020B0604020202020204" pitchFamily="34" charset="0"/>
                <a:ea typeface="ＭＳ Ｐゴシック" panose="020B0600070205080204" pitchFamily="34" charset="-128"/>
              </a:rPr>
              <a:t>, the </a:t>
            </a:r>
            <a:r>
              <a:rPr lang="en-US" altLang="en-US" b="0" u="sng" dirty="0">
                <a:solidFill>
                  <a:prstClr val="black"/>
                </a:solidFill>
                <a:latin typeface="Arial" panose="020B0604020202020204" pitchFamily="34" charset="0"/>
                <a:ea typeface="ＭＳ Ｐゴシック" panose="020B0600070205080204" pitchFamily="34" charset="-128"/>
              </a:rPr>
              <a:t>sub-category</a:t>
            </a:r>
            <a:r>
              <a:rPr lang="en-US" altLang="en-US" b="0" dirty="0">
                <a:solidFill>
                  <a:prstClr val="black"/>
                </a:solidFill>
                <a:latin typeface="Arial" panose="020B0604020202020204" pitchFamily="34" charset="0"/>
                <a:ea typeface="ＭＳ Ｐゴシック" panose="020B0600070205080204" pitchFamily="34" charset="-128"/>
              </a:rPr>
              <a:t>, and the </a:t>
            </a:r>
            <a:r>
              <a:rPr lang="en-US" altLang="en-US" b="0" u="sng" dirty="0">
                <a:solidFill>
                  <a:prstClr val="black"/>
                </a:solidFill>
                <a:latin typeface="Arial" panose="020B0604020202020204" pitchFamily="34" charset="0"/>
                <a:ea typeface="ＭＳ Ｐゴシック" panose="020B0600070205080204" pitchFamily="34" charset="-128"/>
              </a:rPr>
              <a:t>sub-sub-category</a:t>
            </a:r>
            <a:r>
              <a:rPr lang="en-US" altLang="en-US" b="0" dirty="0">
                <a:solidFill>
                  <a:prstClr val="black"/>
                </a:solidFill>
                <a:latin typeface="Arial" panose="020B0604020202020204" pitchFamily="34" charset="0"/>
                <a:ea typeface="ＭＳ Ｐゴシック" panose="020B0600070205080204" pitchFamily="34" charset="-128"/>
              </a:rPr>
              <a:t> </a:t>
            </a: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72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e.g. basic cause, job factor, inadequate training. </a:t>
            </a: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36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360000" indent="-360000" eaLnBrk="0" fontAlgn="auto" hangingPunct="0">
              <a:lnSpc>
                <a:spcPct val="10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Latent causes will </a:t>
            </a:r>
            <a:r>
              <a:rPr lang="en-US" altLang="en-US" b="0" dirty="0">
                <a:solidFill>
                  <a:prstClr val="black"/>
                </a:solidFill>
                <a:latin typeface="Arial" panose="020B0604020202020204" pitchFamily="34" charset="0"/>
                <a:ea typeface="ＭＳ Ｐゴシック" panose="020B0600070205080204" pitchFamily="34" charset="-128"/>
              </a:rPr>
              <a:t>be discussed in </a:t>
            </a:r>
            <a:r>
              <a:rPr lang="en-US" altLang="en-US" b="0" dirty="0" smtClean="0">
                <a:solidFill>
                  <a:prstClr val="black"/>
                </a:solidFill>
                <a:latin typeface="Arial" panose="020B0604020202020204" pitchFamily="34" charset="0"/>
                <a:ea typeface="ＭＳ Ｐゴシック" panose="020B0600070205080204" pitchFamily="34" charset="-128"/>
              </a:rPr>
              <a:t>detail in the </a:t>
            </a:r>
            <a:r>
              <a:rPr lang="en-US" altLang="en-US" b="0" dirty="0">
                <a:solidFill>
                  <a:prstClr val="black"/>
                </a:solidFill>
                <a:latin typeface="Arial" panose="020B0604020202020204" pitchFamily="34" charset="0"/>
                <a:ea typeface="ＭＳ Ｐゴシック" panose="020B0600070205080204" pitchFamily="34" charset="-128"/>
              </a:rPr>
              <a:t>next </a:t>
            </a:r>
            <a:r>
              <a:rPr lang="en-US" altLang="en-US" b="0" dirty="0" smtClean="0">
                <a:solidFill>
                  <a:prstClr val="black"/>
                </a:solidFill>
                <a:latin typeface="Arial" panose="020B0604020202020204" pitchFamily="34" charset="0"/>
                <a:ea typeface="ＭＳ Ｐゴシック" panose="020B0600070205080204" pitchFamily="34" charset="-128"/>
              </a:rPr>
              <a:t>topic.</a:t>
            </a:r>
            <a:endParaRPr lang="en-US" altLang="en-US" b="0" dirty="0">
              <a:solidFill>
                <a:prstClr val="black"/>
              </a:solidFill>
              <a:latin typeface="Arial" panose="020B0604020202020204" pitchFamily="34" charset="0"/>
              <a:ea typeface="ＭＳ Ｐゴシック" panose="020B0600070205080204" pitchFamily="34" charset="-128"/>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Key Points: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38</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918813405"/>
      </p:ext>
    </p:extLst>
  </p:cSld>
  <p:clrMapOvr>
    <a:masterClrMapping/>
  </p:clrMapOvr>
  <p:transition>
    <p:fade/>
  </p:transition>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2601000"/>
          </a:xfrm>
          <a:prstGeom prst="rect">
            <a:avLst/>
          </a:prstGeom>
          <a:solidFill>
            <a:schemeClr val="tx1"/>
          </a:solidFill>
          <a:ln w="9525">
            <a:solidFill>
              <a:schemeClr val="tx1"/>
            </a:solid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90000"/>
              </a:lnSpc>
              <a:spcBef>
                <a:spcPts val="0"/>
              </a:spcBef>
              <a:buClr>
                <a:srgbClr val="000000"/>
              </a:buClr>
              <a:buSzPct val="100000"/>
              <a:buNone/>
            </a:pPr>
            <a:r>
              <a:rPr lang="en-US" altLang="en-US" sz="1800" b="0" dirty="0">
                <a:solidFill>
                  <a:schemeClr val="bg1"/>
                </a:solidFill>
                <a:latin typeface="Arial" panose="020B0604020202020204" pitchFamily="34" charset="0"/>
                <a:ea typeface="ＭＳ Ｐゴシック" panose="020B0600070205080204" pitchFamily="34" charset="-128"/>
                <a:cs typeface="Arial" panose="020B0604020202020204" pitchFamily="34" charset="0"/>
              </a:rPr>
              <a:t>Incident Description: “The slope of an open quarry slid down, debris fell on equipment adjacent to slope causing injury, equipment loss, and production loss.”</a:t>
            </a:r>
          </a:p>
          <a:p>
            <a:pPr marL="0" indent="0" eaLnBrk="0" hangingPunct="0">
              <a:lnSpc>
                <a:spcPct val="90000"/>
              </a:lnSpc>
              <a:spcBef>
                <a:spcPts val="0"/>
              </a:spcBef>
              <a:buClr>
                <a:srgbClr val="000000"/>
              </a:buClr>
              <a:buSzPct val="100000"/>
              <a:buNone/>
            </a:pPr>
            <a:endPar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a:p>
            <a:pPr marL="0" indent="0" eaLnBrk="0" hangingPunct="0">
              <a:lnSpc>
                <a:spcPct val="90000"/>
              </a:lnSpc>
              <a:spcBef>
                <a:spcPts val="0"/>
              </a:spcBef>
              <a:buClr>
                <a:srgbClr val="000000"/>
              </a:buClr>
              <a:buSzPct val="100000"/>
              <a:buNone/>
            </a:pPr>
            <a: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Sometimes, it is difficult to get started on an RCA. </a:t>
            </a:r>
          </a:p>
          <a:p>
            <a:pPr marL="360000" indent="-360000" eaLnBrk="0" hangingPunct="0">
              <a:lnSpc>
                <a:spcPct val="90000"/>
              </a:lnSpc>
              <a:spcBef>
                <a:spcPts val="0"/>
              </a:spcBef>
              <a:buClrTx/>
              <a:buSzPct val="100000"/>
              <a:buFont typeface="Wingdings" panose="05000000000000000000" pitchFamily="2" charset="2"/>
              <a:buChar char="Ø"/>
              <a:defRPr/>
            </a:pPr>
            <a:r>
              <a:rPr lang="en-US" altLang="en-US" sz="18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What tools can you use to start your RCA after you have </a:t>
            </a:r>
            <a:r>
              <a:rPr lang="en-US" altLang="en-US" sz="18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learned about the incident and summarized </a:t>
            </a:r>
            <a:r>
              <a:rPr lang="en-US" altLang="en-US" sz="1800" b="0" i="1" dirty="0">
                <a:solidFill>
                  <a:srgbClr val="F8F8F8"/>
                </a:solidFill>
                <a:latin typeface="Arial" panose="020B0604020202020204" pitchFamily="34" charset="0"/>
                <a:ea typeface="ＭＳ Ｐゴシック" panose="020B0600070205080204" pitchFamily="34" charset="-128"/>
                <a:cs typeface="Arial" panose="020B0604020202020204" pitchFamily="34" charset="0"/>
              </a:rPr>
              <a:t>your incident description</a:t>
            </a:r>
            <a:r>
              <a:rPr lang="en-US" altLang="en-US" sz="1800" b="0" i="1" dirty="0" smtClean="0">
                <a:solidFill>
                  <a:srgbClr val="F8F8F8"/>
                </a:solidFill>
                <a:latin typeface="Arial" panose="020B0604020202020204" pitchFamily="34" charset="0"/>
                <a:ea typeface="ＭＳ Ｐゴシック" panose="020B0600070205080204" pitchFamily="34" charset="-128"/>
                <a:cs typeface="Arial" panose="020B0604020202020204" pitchFamily="34" charset="0"/>
              </a:rPr>
              <a:t>?</a:t>
            </a:r>
            <a:endPar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a:p>
            <a:pPr marL="0" indent="0" eaLnBrk="0" hangingPunct="0">
              <a:lnSpc>
                <a:spcPct val="90000"/>
              </a:lnSpc>
              <a:spcBef>
                <a:spcPts val="0"/>
              </a:spcBef>
              <a:buClrTx/>
              <a:buSzPct val="100000"/>
              <a:buNone/>
            </a:pPr>
            <a:endPar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a:p>
            <a:pPr marL="0" indent="0" eaLnBrk="0" hangingPunct="0">
              <a:lnSpc>
                <a:spcPct val="90000"/>
              </a:lnSpc>
              <a:spcBef>
                <a:spcPts val="0"/>
              </a:spcBef>
              <a:buClrTx/>
              <a:buSzPct val="100000"/>
              <a:buNone/>
            </a:pPr>
            <a: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a</a:t>
            </a:r>
            <a: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 Simply ask “why?”      b</a:t>
            </a:r>
            <a:r>
              <a:rPr lang="en-US" altLang="en-US" sz="1800" b="0" i="1" dirty="0">
                <a:solidFill>
                  <a:schemeClr val="bg1"/>
                </a:solidFill>
                <a:latin typeface="Arial" panose="020B0604020202020204" pitchFamily="34" charset="0"/>
                <a:ea typeface="ＭＳ Ｐゴシック" panose="020B0600070205080204" pitchFamily="34" charset="-128"/>
                <a:cs typeface="Arial" panose="020B0604020202020204" pitchFamily="34" charset="0"/>
              </a:rPr>
              <a:t>) RM </a:t>
            </a:r>
            <a: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Program?     c) </a:t>
            </a:r>
            <a:r>
              <a:rPr lang="en-US" altLang="en-US" sz="1800" b="0" i="1" dirty="0">
                <a:solidFill>
                  <a:schemeClr val="bg1"/>
                </a:solidFill>
                <a:latin typeface="Arial" panose="020B0604020202020204" pitchFamily="34" charset="0"/>
                <a:ea typeface="ＭＳ Ｐゴシック" panose="020B0600070205080204" pitchFamily="34" charset="-128"/>
                <a:cs typeface="Arial" panose="020B0604020202020204" pitchFamily="34" charset="0"/>
              </a:rPr>
              <a:t>The Discovery Approach? </a:t>
            </a:r>
            <a:endPar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a:p>
            <a:pPr marL="0" indent="0" eaLnBrk="0" hangingPunct="0">
              <a:lnSpc>
                <a:spcPct val="90000"/>
              </a:lnSpc>
              <a:spcBef>
                <a:spcPts val="0"/>
              </a:spcBef>
              <a:buClrTx/>
              <a:buSzPct val="100000"/>
              <a:buNone/>
            </a:pPr>
            <a: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d) RM Work Process?    e</a:t>
            </a:r>
            <a:r>
              <a:rPr lang="en-US" altLang="en-US" sz="1800" b="0" i="1" dirty="0">
                <a:solidFill>
                  <a:schemeClr val="bg1"/>
                </a:solidFill>
                <a:latin typeface="Arial" panose="020B0604020202020204" pitchFamily="34" charset="0"/>
                <a:ea typeface="ＭＳ Ｐゴシック" panose="020B0600070205080204" pitchFamily="34" charset="-128"/>
                <a:cs typeface="Arial" panose="020B0604020202020204" pitchFamily="34" charset="0"/>
              </a:rPr>
              <a:t>) Semi-Quantitative Risk Assessment? </a:t>
            </a:r>
            <a:r>
              <a:rPr lang="en-US" altLang="en-US" sz="1800" b="0" i="1" dirty="0">
                <a:solidFill>
                  <a:schemeClr val="bg1"/>
                </a:solidFill>
                <a:latin typeface="Arial" panose="020B0604020202020204" pitchFamily="34" charset="0"/>
                <a:ea typeface="ＭＳ Ｐゴシック" panose="020B0600070205080204" pitchFamily="34" charset="-128"/>
                <a:cs typeface="Arial" panose="020B0604020202020204" pitchFamily="34" charset="0"/>
              </a:rPr>
              <a:t> </a:t>
            </a:r>
            <a:endParaRPr lang="en-US" altLang="en-US" sz="1800" b="0" i="1" dirty="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solidFill>
            <a:schemeClr val="tx1"/>
          </a:solidFill>
          <a:ln w="9525">
            <a:solidFill>
              <a:schemeClr val="tx1"/>
            </a:solidFill>
            <a:miter lim="800000"/>
            <a:headEnd/>
            <a:tailEnd/>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bg1"/>
                </a:solidFill>
                <a:latin typeface="Arial" panose="020B0604020202020204" pitchFamily="34" charset="0"/>
                <a:ea typeface="+mj-ea"/>
                <a:cs typeface="Arial" panose="020B0604020202020204" pitchFamily="34" charset="0"/>
              </a:rPr>
              <a:t>Example</a:t>
            </a:r>
            <a:r>
              <a:rPr lang="en-US" altLang="en-US" sz="2400" b="0" dirty="0" smtClean="0">
                <a:solidFill>
                  <a:schemeClr val="bg1"/>
                </a:solidFill>
                <a:latin typeface="Arial" panose="020B0604020202020204" pitchFamily="34" charset="0"/>
                <a:ea typeface="+mj-ea"/>
                <a:cs typeface="Arial" panose="020B0604020202020204" pitchFamily="34" charset="0"/>
              </a:rPr>
              <a:t>: </a:t>
            </a:r>
            <a:r>
              <a:rPr lang="en-US" altLang="en-US" sz="2400" b="0" dirty="0" smtClean="0">
                <a:solidFill>
                  <a:schemeClr val="bg1"/>
                </a:solidFill>
                <a:latin typeface="Arial" panose="020B0604020202020204" pitchFamily="34" charset="0"/>
                <a:ea typeface="+mj-ea"/>
                <a:cs typeface="Arial" panose="020B0604020202020204" pitchFamily="34" charset="0"/>
              </a:rPr>
              <a:t>Tools to Start the RCA</a:t>
            </a:r>
            <a:r>
              <a:rPr lang="en-US" altLang="en-US" sz="2400" b="0" dirty="0">
                <a:solidFill>
                  <a:schemeClr val="bg1"/>
                </a:solidFill>
                <a:latin typeface="Arial" panose="020B0604020202020204" pitchFamily="34" charset="0"/>
                <a:ea typeface="+mj-ea"/>
                <a:cs typeface="Arial" panose="020B0604020202020204" pitchFamily="34" charset="0"/>
              </a:rPr>
              <a:t>:</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39</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
        <p:nvSpPr>
          <p:cNvPr id="2" name="TextBox 1"/>
          <p:cNvSpPr txBox="1"/>
          <p:nvPr/>
        </p:nvSpPr>
        <p:spPr>
          <a:xfrm>
            <a:off x="2057400" y="3505198"/>
            <a:ext cx="4599444" cy="646333"/>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The slope slid, debris </a:t>
            </a:r>
            <a:r>
              <a:rPr lang="en-US" sz="1600" dirty="0">
                <a:latin typeface="Arial" panose="020B0604020202020204" pitchFamily="34" charset="0"/>
                <a:cs typeface="Arial" panose="020B0604020202020204" pitchFamily="34" charset="0"/>
              </a:rPr>
              <a:t>fell on equipment, injuring one worker &amp; damaging equipment</a:t>
            </a:r>
          </a:p>
        </p:txBody>
      </p:sp>
      <p:sp>
        <p:nvSpPr>
          <p:cNvPr id="10" name="TextBox 9"/>
          <p:cNvSpPr txBox="1"/>
          <p:nvPr/>
        </p:nvSpPr>
        <p:spPr>
          <a:xfrm>
            <a:off x="180000" y="5449668"/>
            <a:ext cx="1725000" cy="646331"/>
          </a:xfrm>
          <a:prstGeom prst="rect">
            <a:avLst/>
          </a:prstGeom>
          <a:noFill/>
          <a:ln>
            <a:solidFill>
              <a:schemeClr val="tx1"/>
            </a:solidFill>
          </a:ln>
        </p:spPr>
        <p:txBody>
          <a:bodyPr wrap="square" lIns="36000" tIns="36000" rIns="36000" bIns="36000" rtlCol="0" anchor="ctr">
            <a:noAutofit/>
          </a:bodyPr>
          <a:lstStyle/>
          <a:p>
            <a:pPr algn="ctr"/>
            <a:r>
              <a:rPr lang="en-US" sz="1600" dirty="0">
                <a:latin typeface="Arial" panose="020B0604020202020204" pitchFamily="34" charset="0"/>
                <a:cs typeface="Arial" panose="020B0604020202020204" pitchFamily="34" charset="0"/>
              </a:rPr>
              <a:t>?</a:t>
            </a:r>
          </a:p>
        </p:txBody>
      </p:sp>
      <p:sp>
        <p:nvSpPr>
          <p:cNvPr id="14" name="TextBox 13"/>
          <p:cNvSpPr txBox="1"/>
          <p:nvPr/>
        </p:nvSpPr>
        <p:spPr>
          <a:xfrm>
            <a:off x="3276600" y="5449668"/>
            <a:ext cx="2134848" cy="646331"/>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3" name="Flowchart: Delay 2"/>
          <p:cNvSpPr/>
          <p:nvPr/>
        </p:nvSpPr>
        <p:spPr>
          <a:xfrm rot="16200000">
            <a:off x="4158000" y="4401600"/>
            <a:ext cx="396000" cy="432000"/>
          </a:xfrm>
          <a:prstGeom prst="flowChartDelay">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cxnSp>
        <p:nvCxnSpPr>
          <p:cNvPr id="5" name="Elbow Connector 4"/>
          <p:cNvCxnSpPr>
            <a:stCxn id="2" idx="2"/>
            <a:endCxn id="3" idx="3"/>
          </p:cNvCxnSpPr>
          <p:nvPr/>
        </p:nvCxnSpPr>
        <p:spPr>
          <a:xfrm rot="5400000">
            <a:off x="4222527" y="4285004"/>
            <a:ext cx="268069" cy="1122"/>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p:cNvCxnSpPr>
            <a:stCxn id="3" idx="1"/>
            <a:endCxn id="14" idx="0"/>
          </p:cNvCxnSpPr>
          <p:nvPr/>
        </p:nvCxnSpPr>
        <p:spPr>
          <a:xfrm rot="5400000">
            <a:off x="4032978" y="5126646"/>
            <a:ext cx="634068" cy="11976"/>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p:cNvCxnSpPr>
            <a:stCxn id="3" idx="1"/>
            <a:endCxn id="10" idx="0"/>
          </p:cNvCxnSpPr>
          <p:nvPr/>
        </p:nvCxnSpPr>
        <p:spPr>
          <a:xfrm rot="5400000">
            <a:off x="2382216" y="3475884"/>
            <a:ext cx="634068" cy="3313500"/>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TextBox 35"/>
          <p:cNvSpPr txBox="1"/>
          <p:nvPr/>
        </p:nvSpPr>
        <p:spPr>
          <a:xfrm>
            <a:off x="6766848" y="5446620"/>
            <a:ext cx="2231748" cy="646331"/>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cxnSp>
        <p:nvCxnSpPr>
          <p:cNvPr id="38" name="Elbow Connector 37"/>
          <p:cNvCxnSpPr>
            <a:stCxn id="3" idx="1"/>
            <a:endCxn id="36" idx="0"/>
          </p:cNvCxnSpPr>
          <p:nvPr/>
        </p:nvCxnSpPr>
        <p:spPr>
          <a:xfrm rot="16200000" flipH="1">
            <a:off x="5803851" y="3367749"/>
            <a:ext cx="631020" cy="3526722"/>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9609477"/>
      </p:ext>
    </p:extLst>
  </p:cSld>
  <p:clrMapOvr>
    <a:masterClrMapping/>
  </p:clrMapOvr>
  <p:transition>
    <p:fade/>
  </p:transition>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90000"/>
              </a:lnSpc>
              <a:spcBef>
                <a:spcPts val="0"/>
              </a:spcBef>
              <a:buClr>
                <a:srgbClr val="000000"/>
              </a:buClr>
              <a:buSzPct val="100000"/>
              <a:buNone/>
            </a:pPr>
            <a:r>
              <a:rPr lang="en-US" altLang="en-US" sz="180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After </a:t>
            </a: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 </a:t>
            </a:r>
            <a:r>
              <a:rPr lang="en-US" altLang="en-US" sz="180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detailed incident </a:t>
            </a: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description is written, </a:t>
            </a:r>
            <a:r>
              <a:rPr lang="en-US" altLang="en-US" sz="1800" dirty="0" err="1"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summarise</a:t>
            </a: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it, then:</a:t>
            </a:r>
          </a:p>
          <a:p>
            <a:pPr marL="360000" indent="-360000" eaLnBrk="0" hangingPunct="0">
              <a:lnSpc>
                <a:spcPct val="90000"/>
              </a:lnSpc>
              <a:spcBef>
                <a:spcPts val="0"/>
              </a:spcBef>
              <a:buClr>
                <a:srgbClr val="000000"/>
              </a:buClr>
              <a:buSzPct val="100000"/>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r>
              <a:rPr lang="en-US" altLang="en-US" sz="1800" b="0" u="sng"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Ask Why?</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as demonstrated in the previous slides, and the </a:t>
            </a:r>
            <a:b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br>
            <a:r>
              <a:rPr lang="en-US" altLang="en-US" sz="1800" b="0" u="sng"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Discovery Approach</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are suitable.</a:t>
            </a:r>
          </a:p>
          <a:p>
            <a:pPr marL="720000" indent="-360000" eaLnBrk="0" hangingPunct="0">
              <a:lnSpc>
                <a:spcPct val="90000"/>
              </a:lnSpc>
              <a:spcBef>
                <a:spcPts val="0"/>
              </a:spcBef>
              <a:buClr>
                <a:srgbClr val="000000"/>
              </a:buClr>
              <a:buSzPct val="100000"/>
              <a:buFont typeface="Wingdings" panose="05000000000000000000" pitchFamily="2" charset="2"/>
              <a:buChar char="Ø"/>
            </a:pP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See topic </a:t>
            </a: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#11 </a:t>
            </a:r>
            <a:r>
              <a:rPr lang="en-US" altLang="en-US" sz="180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Chapter 2.3: Hazards </a:t>
            </a: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and Hazard Identification</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 to review </a:t>
            </a:r>
            <a:r>
              <a:rPr lang="en-US" altLang="en-US" sz="1800" b="0" u="sng"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Discovery Approach</a:t>
            </a:r>
            <a:endParaRPr lang="en-US" altLang="en-US" sz="1800" b="0" u="sng"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i="1"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r>
              <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The Discovery Approach is much more methodical</a:t>
            </a:r>
            <a:r>
              <a:rPr lang="en-US" altLang="en-US" sz="1800"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endParaRPr lang="en-US" altLang="en-US" sz="1800"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i="1"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i="1"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i="1"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i="1"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indent="0" eaLnBrk="0" hangingPunct="0">
              <a:lnSpc>
                <a:spcPct val="90000"/>
              </a:lnSpc>
              <a:spcBef>
                <a:spcPts val="0"/>
              </a:spcBef>
              <a:buClr>
                <a:srgbClr val="000000"/>
              </a:buClr>
              <a:buSzPct val="100000"/>
              <a:buNone/>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solidFill>
            <a:srgbClr val="FFFFFF">
              <a:alpha val="69803"/>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accent2"/>
                </a:solidFill>
                <a:latin typeface="Arial" panose="020B0604020202020204" pitchFamily="34" charset="0"/>
                <a:ea typeface="+mj-ea"/>
                <a:cs typeface="Arial" panose="020B0604020202020204" pitchFamily="34" charset="0"/>
              </a:rPr>
              <a:t>“Ask Why?” and The Discovery Approach</a:t>
            </a:r>
            <a:endParaRPr lang="en-US" altLang="en-US" sz="2400" b="0" dirty="0">
              <a:solidFill>
                <a:schemeClr val="accent2"/>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40</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pic>
        <p:nvPicPr>
          <p:cNvPr id="2" name="Picture 1"/>
          <p:cNvPicPr>
            <a:picLocks noChangeAspect="1"/>
          </p:cNvPicPr>
          <p:nvPr/>
        </p:nvPicPr>
        <p:blipFill>
          <a:blip r:embed="rId3"/>
          <a:stretch>
            <a:fillRect/>
          </a:stretch>
        </p:blipFill>
        <p:spPr>
          <a:xfrm>
            <a:off x="5220002" y="2664000"/>
            <a:ext cx="3579977" cy="3492000"/>
          </a:xfrm>
          <a:prstGeom prst="rect">
            <a:avLst/>
          </a:prstGeom>
        </p:spPr>
      </p:pic>
      <p:pic>
        <p:nvPicPr>
          <p:cNvPr id="3" name="Picture 2"/>
          <p:cNvPicPr>
            <a:picLocks noChangeAspect="1"/>
          </p:cNvPicPr>
          <p:nvPr/>
        </p:nvPicPr>
        <p:blipFill>
          <a:blip r:embed="rId4"/>
          <a:stretch>
            <a:fillRect/>
          </a:stretch>
        </p:blipFill>
        <p:spPr>
          <a:xfrm>
            <a:off x="360000" y="2664000"/>
            <a:ext cx="4655999" cy="3492000"/>
          </a:xfrm>
          <a:prstGeom prst="rect">
            <a:avLst/>
          </a:prstGeom>
          <a:ln>
            <a:solidFill>
              <a:schemeClr val="tx1"/>
            </a:solidFill>
          </a:ln>
        </p:spPr>
      </p:pic>
    </p:spTree>
    <p:extLst>
      <p:ext uri="{BB962C8B-B14F-4D97-AF65-F5344CB8AC3E}">
        <p14:creationId xmlns:p14="http://schemas.microsoft.com/office/powerpoint/2010/main" val="4064280450"/>
      </p:ext>
    </p:extLst>
  </p:cSld>
  <p:clrMapOvr>
    <a:masterClrMapping/>
  </p:clrMapOvr>
  <p:transition>
    <p:fade/>
  </p:transition>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3"/>
          <p:cNvSpPr>
            <a:spLocks noChangeArrowheads="1"/>
          </p:cNvSpPr>
          <p:nvPr/>
        </p:nvSpPr>
        <p:spPr bwMode="auto">
          <a:xfrm>
            <a:off x="180000" y="828000"/>
            <a:ext cx="8640000" cy="2347574"/>
          </a:xfrm>
          <a:prstGeom prst="rect">
            <a:avLst/>
          </a:prstGeom>
          <a:solidFill>
            <a:srgbClr val="0000FF"/>
          </a:solidFill>
          <a:ln w="9525">
            <a:solidFill>
              <a:schemeClr val="tx1"/>
            </a:solid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90000"/>
              </a:lnSpc>
              <a:spcBef>
                <a:spcPts val="0"/>
              </a:spcBef>
              <a:buClr>
                <a:srgbClr val="000000"/>
              </a:buClr>
              <a:buSzPct val="100000"/>
              <a:buNone/>
            </a:pPr>
            <a: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Please confer and respond on Zoom Chat:</a:t>
            </a:r>
          </a:p>
          <a:p>
            <a:pPr marL="360000" lvl="0" indent="-360000" eaLnBrk="0" hangingPunct="0">
              <a:lnSpc>
                <a:spcPct val="90000"/>
              </a:lnSpc>
              <a:spcBef>
                <a:spcPts val="0"/>
              </a:spcBef>
              <a:buClrTx/>
              <a:buSzPct val="100000"/>
              <a:buFont typeface="Wingdings" panose="05000000000000000000" pitchFamily="2" charset="2"/>
              <a:buChar char="Ø"/>
            </a:pPr>
            <a: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What are the responses to the questions when applying </a:t>
            </a:r>
            <a:b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br>
            <a:r>
              <a:rPr lang="en-US" altLang="en-US" sz="1800" b="0" i="1"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“The Discovery Approach”?</a:t>
            </a:r>
          </a:p>
          <a:p>
            <a:pPr eaLnBrk="0" hangingPunct="0">
              <a:lnSpc>
                <a:spcPct val="90000"/>
              </a:lnSpc>
              <a:spcBef>
                <a:spcPts val="0"/>
              </a:spcBef>
              <a:buClr>
                <a:srgbClr val="000000"/>
              </a:buClr>
              <a:buSzPct val="100000"/>
              <a:buFont typeface="Wingdings" panose="05000000000000000000" pitchFamily="2" charset="2"/>
              <a:buChar char="Ø"/>
            </a:pPr>
            <a:endParaRPr lang="en-US" altLang="en-US" sz="1800" b="0" dirty="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dirty="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41" name="Rectangle 3"/>
          <p:cNvSpPr>
            <a:spLocks noChangeArrowheads="1"/>
          </p:cNvSpPr>
          <p:nvPr/>
        </p:nvSpPr>
        <p:spPr bwMode="auto">
          <a:xfrm>
            <a:off x="636300" y="1696669"/>
            <a:ext cx="7898100" cy="1427531"/>
          </a:xfrm>
          <a:prstGeom prst="rect">
            <a:avLst/>
          </a:prstGeom>
          <a:solidFill>
            <a:srgbClr val="66FFFF"/>
          </a:solidFill>
          <a:ln w="9525">
            <a:solidFill>
              <a:schemeClr val="tx1"/>
            </a:solid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90000"/>
              </a:lnSpc>
              <a:spcBef>
                <a:spcPts val="0"/>
              </a:spcBef>
              <a:buClr>
                <a:srgbClr val="000000"/>
              </a:buClr>
              <a:buSzPct val="100000"/>
              <a:buNone/>
            </a:pPr>
            <a:r>
              <a:rPr lang="en-US" altLang="en-US" sz="180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Discovery Approach:</a:t>
            </a:r>
            <a:endParaRPr lang="en-US" altLang="en-US" sz="180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360000" lvl="1" indent="-360000" eaLnBrk="0" hangingPunct="0">
              <a:lnSpc>
                <a:spcPct val="90000"/>
              </a:lnSpc>
              <a:spcBef>
                <a:spcPts val="0"/>
              </a:spcBef>
              <a:buClr>
                <a:srgbClr val="000000"/>
              </a:buClr>
              <a:buSzPct val="100000"/>
              <a:buFont typeface="+mj-lt"/>
              <a:buAutoNum type="arabicParenR"/>
            </a:pPr>
            <a:r>
              <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Energy Source?</a:t>
            </a:r>
          </a:p>
          <a:p>
            <a:pPr marL="360000" lvl="1" indent="-360000" eaLnBrk="0" hangingPunct="0">
              <a:lnSpc>
                <a:spcPct val="90000"/>
              </a:lnSpc>
              <a:spcBef>
                <a:spcPts val="0"/>
              </a:spcBef>
              <a:buClr>
                <a:srgbClr val="000000"/>
              </a:buClr>
              <a:buSzPct val="100000"/>
              <a:buFont typeface="+mj-lt"/>
              <a:buAutoNum type="arabicParenR"/>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Line-of-Fire</a:t>
            </a: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a:t>
            </a:r>
          </a:p>
          <a:p>
            <a:pPr marL="360000" lvl="1" indent="-360000" eaLnBrk="0" hangingPunct="0">
              <a:lnSpc>
                <a:spcPct val="90000"/>
              </a:lnSpc>
              <a:spcBef>
                <a:spcPts val="0"/>
              </a:spcBef>
              <a:buClr>
                <a:srgbClr val="000000"/>
              </a:buClr>
              <a:buSzPct val="100000"/>
              <a:buFont typeface="+mj-lt"/>
              <a:buAutoNum type="arabicParenR"/>
            </a:pPr>
            <a:r>
              <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Lack of or No Safeguard?</a:t>
            </a:r>
            <a:endParaRPr lang="en-US" altLang="en-US"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0" indent="0" eaLnBrk="0" hangingPunct="0">
              <a:lnSpc>
                <a:spcPct val="90000"/>
              </a:lnSpc>
              <a:spcBef>
                <a:spcPts val="0"/>
              </a:spcBef>
              <a:buClr>
                <a:srgbClr val="000000"/>
              </a:buClr>
              <a:buSzPct val="100000"/>
              <a:buNone/>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dirty="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solidFill>
            <a:srgbClr val="0000FF"/>
          </a:solidFill>
          <a:ln w="9525">
            <a:solidFill>
              <a:srgbClr val="000000"/>
            </a:solidFill>
            <a:miter lim="800000"/>
            <a:headEnd/>
            <a:tailEnd/>
          </a:ln>
          <a:extLst/>
        </p:spPr>
        <p:txBody>
          <a:bodyPr anchor="ctr"/>
          <a:lstStyle/>
          <a:p>
            <a:pPr>
              <a:buFont typeface="Arial" panose="020B0604020202020204" pitchFamily="34" charset="0"/>
              <a:buNone/>
            </a:pPr>
            <a:r>
              <a:rPr lang="en-US" altLang="en-US" sz="2400" b="0" dirty="0">
                <a:solidFill>
                  <a:schemeClr val="bg1"/>
                </a:solidFill>
                <a:latin typeface="Arial" panose="020B0604020202020204" pitchFamily="34" charset="0"/>
                <a:ea typeface="+mj-ea"/>
                <a:cs typeface="Arial" panose="020B0604020202020204" pitchFamily="34" charset="0"/>
              </a:rPr>
              <a:t>ALE </a:t>
            </a:r>
            <a:r>
              <a:rPr lang="en-US" altLang="en-US" sz="2400" b="0" dirty="0" smtClean="0">
                <a:solidFill>
                  <a:schemeClr val="bg1"/>
                </a:solidFill>
                <a:latin typeface="Arial" panose="020B0604020202020204" pitchFamily="34" charset="0"/>
                <a:ea typeface="+mj-ea"/>
                <a:cs typeface="Arial" panose="020B0604020202020204" pitchFamily="34" charset="0"/>
              </a:rPr>
              <a:t>#5: </a:t>
            </a:r>
            <a:r>
              <a:rPr lang="en-US" altLang="en-US" sz="2400" b="0" dirty="0">
                <a:solidFill>
                  <a:schemeClr val="bg1"/>
                </a:solidFill>
                <a:latin typeface="Arial" panose="020B0604020202020204" pitchFamily="34" charset="0"/>
                <a:ea typeface="+mj-ea"/>
                <a:cs typeface="Arial" panose="020B0604020202020204" pitchFamily="34" charset="0"/>
              </a:rPr>
              <a:t>Apply the Discovery Approach in an RCA:</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41</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
        <p:nvSpPr>
          <p:cNvPr id="29" name="TextBox 28"/>
          <p:cNvSpPr txBox="1"/>
          <p:nvPr/>
        </p:nvSpPr>
        <p:spPr>
          <a:xfrm>
            <a:off x="180000" y="5587425"/>
            <a:ext cx="1725000" cy="584775"/>
          </a:xfrm>
          <a:prstGeom prst="rect">
            <a:avLst/>
          </a:prstGeom>
          <a:solidFill>
            <a:srgbClr val="FFFF00"/>
          </a:solidFill>
          <a:ln>
            <a:solidFill>
              <a:schemeClr val="tx1"/>
            </a:solidFill>
          </a:ln>
        </p:spPr>
        <p:txBody>
          <a:bodyPr wrap="square" rtlCol="0">
            <a:spAutoFit/>
          </a:bodyPr>
          <a:lstStyle/>
          <a:p>
            <a:pPr algn="ctr"/>
            <a:r>
              <a:rPr lang="en-US" sz="1600" i="1" dirty="0" smtClean="0">
                <a:latin typeface="Arial" panose="020B0604020202020204" pitchFamily="34" charset="0"/>
                <a:cs typeface="Arial" panose="020B0604020202020204" pitchFamily="34" charset="0"/>
              </a:rPr>
              <a:t>Energy Source: </a:t>
            </a:r>
            <a:br>
              <a:rPr lang="en-US" sz="1600" i="1" dirty="0" smtClean="0">
                <a:latin typeface="Arial" panose="020B0604020202020204" pitchFamily="34" charset="0"/>
                <a:cs typeface="Arial" panose="020B0604020202020204" pitchFamily="34" charset="0"/>
              </a:rPr>
            </a:br>
            <a:r>
              <a:rPr lang="en-US" sz="1600" i="1" dirty="0" smtClean="0">
                <a:latin typeface="Arial" panose="020B0604020202020204" pitchFamily="34" charset="0"/>
                <a:cs typeface="Arial" panose="020B0604020202020204" pitchFamily="34" charset="0"/>
              </a:rPr>
              <a:t>?</a:t>
            </a:r>
            <a:endParaRPr lang="en-US" sz="1600" i="1" dirty="0">
              <a:latin typeface="Arial" panose="020B0604020202020204" pitchFamily="34" charset="0"/>
              <a:cs typeface="Arial" panose="020B0604020202020204" pitchFamily="34" charset="0"/>
            </a:endParaRPr>
          </a:p>
        </p:txBody>
      </p:sp>
      <p:sp>
        <p:nvSpPr>
          <p:cNvPr id="31" name="TextBox 30"/>
          <p:cNvSpPr txBox="1"/>
          <p:nvPr/>
        </p:nvSpPr>
        <p:spPr>
          <a:xfrm>
            <a:off x="3276600" y="5587424"/>
            <a:ext cx="2134848" cy="584775"/>
          </a:xfrm>
          <a:prstGeom prst="rect">
            <a:avLst/>
          </a:prstGeom>
          <a:solidFill>
            <a:srgbClr val="FFFF00"/>
          </a:solidFill>
          <a:ln>
            <a:solidFill>
              <a:schemeClr val="tx1"/>
            </a:solidFill>
          </a:ln>
        </p:spPr>
        <p:txBody>
          <a:bodyPr wrap="square" rtlCol="0">
            <a:spAutoFit/>
          </a:bodyPr>
          <a:lstStyle/>
          <a:p>
            <a:pPr algn="ctr"/>
            <a:r>
              <a:rPr lang="en-US" sz="1600" i="1" dirty="0" smtClean="0">
                <a:latin typeface="Arial" panose="020B0604020202020204" pitchFamily="34" charset="0"/>
                <a:cs typeface="Arial" panose="020B0604020202020204" pitchFamily="34" charset="0"/>
              </a:rPr>
              <a:t>Line-of-Fire:</a:t>
            </a:r>
          </a:p>
          <a:p>
            <a:pPr algn="ctr"/>
            <a:r>
              <a:rPr lang="en-US" sz="1600" i="1" dirty="0" smtClean="0">
                <a:latin typeface="Arial" panose="020B0604020202020204" pitchFamily="34" charset="0"/>
                <a:cs typeface="Arial" panose="020B0604020202020204" pitchFamily="34" charset="0"/>
              </a:rPr>
              <a:t>?</a:t>
            </a:r>
            <a:endParaRPr lang="en-US" sz="1600" i="1" dirty="0">
              <a:latin typeface="Arial" panose="020B0604020202020204" pitchFamily="34" charset="0"/>
              <a:cs typeface="Arial" panose="020B0604020202020204" pitchFamily="34" charset="0"/>
            </a:endParaRPr>
          </a:p>
        </p:txBody>
      </p:sp>
      <p:sp>
        <p:nvSpPr>
          <p:cNvPr id="37" name="TextBox 36"/>
          <p:cNvSpPr txBox="1"/>
          <p:nvPr/>
        </p:nvSpPr>
        <p:spPr>
          <a:xfrm>
            <a:off x="6740652" y="5584376"/>
            <a:ext cx="2231748" cy="584775"/>
          </a:xfrm>
          <a:prstGeom prst="rect">
            <a:avLst/>
          </a:prstGeom>
          <a:solidFill>
            <a:srgbClr val="FFFF00"/>
          </a:solidFill>
          <a:ln>
            <a:solidFill>
              <a:schemeClr val="tx1"/>
            </a:solidFill>
          </a:ln>
        </p:spPr>
        <p:txBody>
          <a:bodyPr wrap="square" rtlCol="0">
            <a:spAutoFit/>
          </a:bodyPr>
          <a:lstStyle/>
          <a:p>
            <a:pPr algn="ctr"/>
            <a:r>
              <a:rPr lang="en-US" sz="1600" i="1" dirty="0" smtClean="0">
                <a:latin typeface="Arial" panose="020B0604020202020204" pitchFamily="34" charset="0"/>
                <a:cs typeface="Arial" panose="020B0604020202020204" pitchFamily="34" charset="0"/>
              </a:rPr>
              <a:t>Loss of Control:</a:t>
            </a:r>
            <a:endParaRPr lang="en-US" sz="1600" i="1" dirty="0" smtClean="0">
              <a:latin typeface="Arial" panose="020B0604020202020204" pitchFamily="34" charset="0"/>
              <a:cs typeface="Arial" panose="020B0604020202020204" pitchFamily="34" charset="0"/>
            </a:endParaRPr>
          </a:p>
          <a:p>
            <a:pPr algn="ctr"/>
            <a:r>
              <a:rPr lang="en-US" sz="1600" i="1" dirty="0" smtClean="0">
                <a:latin typeface="Arial" panose="020B0604020202020204" pitchFamily="34" charset="0"/>
                <a:cs typeface="Arial" panose="020B0604020202020204" pitchFamily="34" charset="0"/>
              </a:rPr>
              <a:t>?</a:t>
            </a:r>
            <a:endParaRPr lang="en-US" sz="1600" i="1" dirty="0">
              <a:latin typeface="Arial" panose="020B0604020202020204" pitchFamily="34" charset="0"/>
              <a:cs typeface="Arial" panose="020B0604020202020204" pitchFamily="34" charset="0"/>
            </a:endParaRPr>
          </a:p>
        </p:txBody>
      </p:sp>
      <p:sp>
        <p:nvSpPr>
          <p:cNvPr id="25" name="TextBox 24"/>
          <p:cNvSpPr txBox="1"/>
          <p:nvPr/>
        </p:nvSpPr>
        <p:spPr>
          <a:xfrm>
            <a:off x="2057400" y="3200400"/>
            <a:ext cx="4599444" cy="646333"/>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The slope slid, debris </a:t>
            </a:r>
            <a:r>
              <a:rPr lang="en-US" sz="1600" dirty="0">
                <a:latin typeface="Arial" panose="020B0604020202020204" pitchFamily="34" charset="0"/>
                <a:cs typeface="Arial" panose="020B0604020202020204" pitchFamily="34" charset="0"/>
              </a:rPr>
              <a:t>fell on equipment, injuring one worker &amp; damaging equipment</a:t>
            </a:r>
          </a:p>
        </p:txBody>
      </p:sp>
      <p:sp>
        <p:nvSpPr>
          <p:cNvPr id="26" name="TextBox 25"/>
          <p:cNvSpPr txBox="1"/>
          <p:nvPr/>
        </p:nvSpPr>
        <p:spPr>
          <a:xfrm>
            <a:off x="180000" y="4916268"/>
            <a:ext cx="1725000" cy="646331"/>
          </a:xfrm>
          <a:prstGeom prst="rect">
            <a:avLst/>
          </a:prstGeom>
          <a:noFill/>
          <a:ln>
            <a:solidFill>
              <a:schemeClr val="tx1"/>
            </a:solidFill>
          </a:ln>
        </p:spPr>
        <p:txBody>
          <a:bodyPr wrap="square" lIns="36000" tIns="36000" rIns="36000" bIns="36000" rtlCol="0" anchor="ctr">
            <a:noAutofit/>
          </a:bodyPr>
          <a:lstStyle/>
          <a:p>
            <a:pPr algn="ctr"/>
            <a:r>
              <a:rPr lang="en-US" sz="1600" dirty="0">
                <a:latin typeface="Arial" panose="020B0604020202020204" pitchFamily="34" charset="0"/>
                <a:cs typeface="Arial" panose="020B0604020202020204" pitchFamily="34" charset="0"/>
              </a:rPr>
              <a:t>?</a:t>
            </a:r>
          </a:p>
        </p:txBody>
      </p:sp>
      <p:sp>
        <p:nvSpPr>
          <p:cNvPr id="28" name="TextBox 27"/>
          <p:cNvSpPr txBox="1"/>
          <p:nvPr/>
        </p:nvSpPr>
        <p:spPr>
          <a:xfrm>
            <a:off x="3302796" y="4916268"/>
            <a:ext cx="2134848" cy="646331"/>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sp>
        <p:nvSpPr>
          <p:cNvPr id="32" name="Flowchart: Delay 31"/>
          <p:cNvSpPr/>
          <p:nvPr/>
        </p:nvSpPr>
        <p:spPr>
          <a:xfrm rot="16200000">
            <a:off x="4158000" y="4081800"/>
            <a:ext cx="396000" cy="432000"/>
          </a:xfrm>
          <a:prstGeom prst="flowChartDelay">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cxnSp>
        <p:nvCxnSpPr>
          <p:cNvPr id="33" name="Elbow Connector 32"/>
          <p:cNvCxnSpPr>
            <a:stCxn id="25" idx="2"/>
            <a:endCxn id="32" idx="3"/>
          </p:cNvCxnSpPr>
          <p:nvPr/>
        </p:nvCxnSpPr>
        <p:spPr>
          <a:xfrm rot="5400000">
            <a:off x="4230028" y="3972705"/>
            <a:ext cx="253067" cy="1122"/>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Elbow Connector 33"/>
          <p:cNvCxnSpPr>
            <a:stCxn id="32" idx="1"/>
            <a:endCxn id="28" idx="0"/>
          </p:cNvCxnSpPr>
          <p:nvPr/>
        </p:nvCxnSpPr>
        <p:spPr>
          <a:xfrm rot="16200000" flipH="1">
            <a:off x="4152876" y="4698924"/>
            <a:ext cx="420468" cy="14220"/>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Elbow Connector 38"/>
          <p:cNvCxnSpPr>
            <a:stCxn id="32" idx="1"/>
            <a:endCxn id="26" idx="0"/>
          </p:cNvCxnSpPr>
          <p:nvPr/>
        </p:nvCxnSpPr>
        <p:spPr>
          <a:xfrm rot="5400000">
            <a:off x="2489016" y="3049284"/>
            <a:ext cx="420468" cy="3313500"/>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6766848" y="4913220"/>
            <a:ext cx="2231748" cy="646331"/>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a:t>
            </a:r>
            <a:endParaRPr lang="en-US" sz="1600" dirty="0">
              <a:latin typeface="Arial" panose="020B0604020202020204" pitchFamily="34" charset="0"/>
              <a:cs typeface="Arial" panose="020B0604020202020204" pitchFamily="34" charset="0"/>
            </a:endParaRPr>
          </a:p>
        </p:txBody>
      </p:sp>
      <p:cxnSp>
        <p:nvCxnSpPr>
          <p:cNvPr id="42" name="Elbow Connector 41"/>
          <p:cNvCxnSpPr>
            <a:stCxn id="32" idx="1"/>
            <a:endCxn id="40" idx="0"/>
          </p:cNvCxnSpPr>
          <p:nvPr/>
        </p:nvCxnSpPr>
        <p:spPr>
          <a:xfrm rot="16200000" flipH="1">
            <a:off x="5910651" y="2941149"/>
            <a:ext cx="417420" cy="3526722"/>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p:nvPicPr>
        <p:blipFill>
          <a:blip r:embed="rId3"/>
          <a:stretch>
            <a:fillRect/>
          </a:stretch>
        </p:blipFill>
        <p:spPr>
          <a:xfrm>
            <a:off x="4704705" y="1751007"/>
            <a:ext cx="1391296" cy="1358011"/>
          </a:xfrm>
          <a:prstGeom prst="rect">
            <a:avLst/>
          </a:prstGeom>
        </p:spPr>
      </p:pic>
    </p:spTree>
    <p:extLst>
      <p:ext uri="{BB962C8B-B14F-4D97-AF65-F5344CB8AC3E}">
        <p14:creationId xmlns:p14="http://schemas.microsoft.com/office/powerpoint/2010/main" val="2489667212"/>
      </p:ext>
    </p:extLst>
  </p:cSld>
  <p:clrMapOvr>
    <a:masterClrMapping/>
  </p:clrMapOvr>
  <p:transition>
    <p:fade/>
  </p:transition>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3"/>
          <p:cNvSpPr>
            <a:spLocks noChangeArrowheads="1"/>
          </p:cNvSpPr>
          <p:nvPr/>
        </p:nvSpPr>
        <p:spPr bwMode="auto">
          <a:xfrm>
            <a:off x="180000" y="828000"/>
            <a:ext cx="8640000" cy="1469593"/>
          </a:xfrm>
          <a:prstGeom prst="rect">
            <a:avLst/>
          </a:prstGeom>
          <a:solidFill>
            <a:schemeClr val="tx1"/>
          </a:solidFill>
          <a:ln w="9525">
            <a:solidFill>
              <a:schemeClr val="tx1"/>
            </a:solid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lvl="0" indent="0" eaLnBrk="0" hangingPunct="0">
              <a:lnSpc>
                <a:spcPct val="90000"/>
              </a:lnSpc>
              <a:spcBef>
                <a:spcPts val="0"/>
              </a:spcBef>
              <a:buClr>
                <a:srgbClr val="000000"/>
              </a:buClr>
              <a:buSzPct val="100000"/>
              <a:buNone/>
            </a:pPr>
            <a:r>
              <a:rPr lang="en-US" altLang="en-US" sz="1800" b="0" dirty="0" smtClean="0">
                <a:solidFill>
                  <a:schemeClr val="bg1"/>
                </a:solidFill>
                <a:latin typeface="Arial" panose="020B0604020202020204" pitchFamily="34" charset="0"/>
                <a:ea typeface="ＭＳ Ｐゴシック" panose="020B0600070205080204" pitchFamily="34" charset="-128"/>
                <a:cs typeface="Arial" panose="020B0604020202020204" pitchFamily="34" charset="0"/>
              </a:rPr>
              <a:t>The example shown here is but one of many ways to start constructing the RCA chart based on the summarized incident description. As you progress through the RCA chart by “asking why”, the logical order of these causes may be changed in order to make each of the developing roots in the chart flow logically and smoothly.</a:t>
            </a:r>
          </a:p>
          <a:p>
            <a:pPr eaLnBrk="0" hangingPunct="0">
              <a:lnSpc>
                <a:spcPct val="90000"/>
              </a:lnSpc>
              <a:spcBef>
                <a:spcPts val="0"/>
              </a:spcBef>
              <a:buClr>
                <a:srgbClr val="000000"/>
              </a:buClr>
              <a:buSzPct val="100000"/>
              <a:buFont typeface="Wingdings" panose="05000000000000000000" pitchFamily="2" charset="2"/>
              <a:buChar char="Ø"/>
            </a:pPr>
            <a:endParaRPr lang="en-US" altLang="en-US" sz="1800" b="0" dirty="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a:p>
            <a:pPr marL="432000" indent="-432000" eaLnBrk="0" hangingPunct="0">
              <a:lnSpc>
                <a:spcPct val="90000"/>
              </a:lnSpc>
              <a:spcBef>
                <a:spcPts val="0"/>
              </a:spcBef>
              <a:buClr>
                <a:srgbClr val="000000"/>
              </a:buClr>
              <a:buSzPct val="100000"/>
              <a:buFont typeface="Wingdings" panose="05000000000000000000" pitchFamily="2" charset="2"/>
              <a:buChar char="Ø"/>
            </a:pPr>
            <a:endParaRPr lang="en-US" altLang="en-US" sz="1800" b="0" dirty="0">
              <a:solidFill>
                <a:schemeClr val="bg1"/>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solidFill>
            <a:schemeClr val="tx1"/>
          </a:solidFill>
          <a:ln w="9525">
            <a:solidFill>
              <a:srgbClr val="000000"/>
            </a:solidFill>
            <a:miter lim="800000"/>
            <a:headEnd/>
            <a:tailEnd/>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bg1"/>
                </a:solidFill>
                <a:latin typeface="Arial" panose="020B0604020202020204" pitchFamily="34" charset="0"/>
                <a:ea typeface="+mj-ea"/>
                <a:cs typeface="Arial" panose="020B0604020202020204" pitchFamily="34" charset="0"/>
              </a:rPr>
              <a:t>Example: Apply the Discovery Approach in an RCA:</a:t>
            </a:r>
            <a:endParaRPr lang="en-US" altLang="en-US" sz="2400" b="0" dirty="0">
              <a:solidFill>
                <a:schemeClr val="bg1"/>
              </a:solidFill>
              <a:latin typeface="Arial" panose="020B0604020202020204" pitchFamily="34" charset="0"/>
              <a:ea typeface="+mj-ea"/>
              <a:cs typeface="Arial" panose="020B0604020202020204" pitchFamily="34" charset="0"/>
            </a:endParaRP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42</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
        <p:nvSpPr>
          <p:cNvPr id="29" name="TextBox 28"/>
          <p:cNvSpPr txBox="1"/>
          <p:nvPr/>
        </p:nvSpPr>
        <p:spPr>
          <a:xfrm>
            <a:off x="180000" y="5587425"/>
            <a:ext cx="1725000" cy="584775"/>
          </a:xfrm>
          <a:prstGeom prst="rect">
            <a:avLst/>
          </a:prstGeom>
          <a:solidFill>
            <a:srgbClr val="FFFF00"/>
          </a:solidFill>
          <a:ln>
            <a:solidFill>
              <a:schemeClr val="tx1"/>
            </a:solidFill>
          </a:ln>
        </p:spPr>
        <p:txBody>
          <a:bodyPr wrap="square" rtlCol="0">
            <a:spAutoFit/>
          </a:bodyPr>
          <a:lstStyle/>
          <a:p>
            <a:pPr algn="ctr"/>
            <a:r>
              <a:rPr lang="en-US" sz="1600" i="1" dirty="0" smtClean="0">
                <a:latin typeface="Arial" panose="020B0604020202020204" pitchFamily="34" charset="0"/>
                <a:cs typeface="Arial" panose="020B0604020202020204" pitchFamily="34" charset="0"/>
              </a:rPr>
              <a:t>Energy Source: </a:t>
            </a:r>
            <a:br>
              <a:rPr lang="en-US" sz="1600" i="1" dirty="0" smtClean="0">
                <a:latin typeface="Arial" panose="020B0604020202020204" pitchFamily="34" charset="0"/>
                <a:cs typeface="Arial" panose="020B0604020202020204" pitchFamily="34" charset="0"/>
              </a:rPr>
            </a:br>
            <a:r>
              <a:rPr lang="en-US" sz="1600" i="1" dirty="0" smtClean="0">
                <a:latin typeface="Arial" panose="020B0604020202020204" pitchFamily="34" charset="0"/>
                <a:cs typeface="Arial" panose="020B0604020202020204" pitchFamily="34" charset="0"/>
              </a:rPr>
              <a:t>gravity</a:t>
            </a:r>
            <a:endParaRPr lang="en-US" sz="1600" i="1" dirty="0">
              <a:latin typeface="Arial" panose="020B0604020202020204" pitchFamily="34" charset="0"/>
              <a:cs typeface="Arial" panose="020B0604020202020204" pitchFamily="34" charset="0"/>
            </a:endParaRPr>
          </a:p>
        </p:txBody>
      </p:sp>
      <p:sp>
        <p:nvSpPr>
          <p:cNvPr id="30" name="TextBox 29"/>
          <p:cNvSpPr txBox="1"/>
          <p:nvPr/>
        </p:nvSpPr>
        <p:spPr>
          <a:xfrm>
            <a:off x="2057400" y="5587425"/>
            <a:ext cx="2302200" cy="584775"/>
          </a:xfrm>
          <a:prstGeom prst="rect">
            <a:avLst/>
          </a:prstGeom>
          <a:solidFill>
            <a:srgbClr val="FFFF00"/>
          </a:solidFill>
          <a:ln>
            <a:solidFill>
              <a:schemeClr val="tx1"/>
            </a:solidFill>
          </a:ln>
        </p:spPr>
        <p:txBody>
          <a:bodyPr wrap="square" rtlCol="0">
            <a:spAutoFit/>
          </a:bodyPr>
          <a:lstStyle/>
          <a:p>
            <a:pPr algn="ctr"/>
            <a:r>
              <a:rPr lang="en-US" sz="1600" i="1" dirty="0" smtClean="0">
                <a:latin typeface="Arial" panose="020B0604020202020204" pitchFamily="34" charset="0"/>
                <a:cs typeface="Arial" panose="020B0604020202020204" pitchFamily="34" charset="0"/>
              </a:rPr>
              <a:t>Energy Source: </a:t>
            </a:r>
            <a:r>
              <a:rPr lang="en-US" sz="1600" i="1" dirty="0">
                <a:latin typeface="Arial" panose="020B0604020202020204" pitchFamily="34" charset="0"/>
                <a:cs typeface="Arial" panose="020B0604020202020204" pitchFamily="34" charset="0"/>
              </a:rPr>
              <a:t/>
            </a:r>
            <a:br>
              <a:rPr lang="en-US" sz="1600" i="1" dirty="0">
                <a:latin typeface="Arial" panose="020B0604020202020204" pitchFamily="34" charset="0"/>
                <a:cs typeface="Arial" panose="020B0604020202020204" pitchFamily="34" charset="0"/>
              </a:rPr>
            </a:br>
            <a:r>
              <a:rPr lang="en-US" sz="1600" i="1" dirty="0" smtClean="0">
                <a:latin typeface="Arial" panose="020B0604020202020204" pitchFamily="34" charset="0"/>
                <a:cs typeface="Arial" panose="020B0604020202020204" pitchFamily="34" charset="0"/>
              </a:rPr>
              <a:t>instability</a:t>
            </a:r>
          </a:p>
        </p:txBody>
      </p:sp>
      <p:sp>
        <p:nvSpPr>
          <p:cNvPr id="31" name="TextBox 30"/>
          <p:cNvSpPr txBox="1"/>
          <p:nvPr/>
        </p:nvSpPr>
        <p:spPr>
          <a:xfrm>
            <a:off x="4495800" y="5587424"/>
            <a:ext cx="2134848" cy="584775"/>
          </a:xfrm>
          <a:prstGeom prst="rect">
            <a:avLst/>
          </a:prstGeom>
          <a:solidFill>
            <a:srgbClr val="FFFF00"/>
          </a:solidFill>
          <a:ln>
            <a:solidFill>
              <a:schemeClr val="tx1"/>
            </a:solidFill>
          </a:ln>
        </p:spPr>
        <p:txBody>
          <a:bodyPr wrap="square" rtlCol="0">
            <a:spAutoFit/>
          </a:bodyPr>
          <a:lstStyle/>
          <a:p>
            <a:pPr algn="ctr"/>
            <a:r>
              <a:rPr lang="en-US" sz="1600" i="1" dirty="0" smtClean="0">
                <a:latin typeface="Arial" panose="020B0604020202020204" pitchFamily="34" charset="0"/>
                <a:cs typeface="Arial" panose="020B0604020202020204" pitchFamily="34" charset="0"/>
              </a:rPr>
              <a:t>Line-of-Fire:</a:t>
            </a:r>
          </a:p>
          <a:p>
            <a:pPr algn="ctr"/>
            <a:r>
              <a:rPr lang="en-US" sz="1600" i="1" dirty="0">
                <a:latin typeface="Arial" panose="020B0604020202020204" pitchFamily="34" charset="0"/>
                <a:cs typeface="Arial" panose="020B0604020202020204" pitchFamily="34" charset="0"/>
              </a:rPr>
              <a:t>p</a:t>
            </a:r>
            <a:r>
              <a:rPr lang="en-US" sz="1600" i="1" dirty="0" smtClean="0">
                <a:latin typeface="Arial" panose="020B0604020202020204" pitchFamily="34" charset="0"/>
                <a:cs typeface="Arial" panose="020B0604020202020204" pitchFamily="34" charset="0"/>
              </a:rPr>
              <a:t>eople &amp; equipment</a:t>
            </a:r>
            <a:endParaRPr lang="en-US" sz="1600" i="1" dirty="0">
              <a:latin typeface="Arial" panose="020B0604020202020204" pitchFamily="34" charset="0"/>
              <a:cs typeface="Arial" panose="020B0604020202020204" pitchFamily="34" charset="0"/>
            </a:endParaRPr>
          </a:p>
        </p:txBody>
      </p:sp>
      <p:sp>
        <p:nvSpPr>
          <p:cNvPr id="37" name="TextBox 36"/>
          <p:cNvSpPr txBox="1"/>
          <p:nvPr/>
        </p:nvSpPr>
        <p:spPr>
          <a:xfrm>
            <a:off x="6740652" y="5584376"/>
            <a:ext cx="2231748" cy="584775"/>
          </a:xfrm>
          <a:prstGeom prst="rect">
            <a:avLst/>
          </a:prstGeom>
          <a:solidFill>
            <a:srgbClr val="FFFF00"/>
          </a:solidFill>
          <a:ln>
            <a:solidFill>
              <a:schemeClr val="tx1"/>
            </a:solidFill>
          </a:ln>
        </p:spPr>
        <p:txBody>
          <a:bodyPr wrap="square" rtlCol="0">
            <a:spAutoFit/>
          </a:bodyPr>
          <a:lstStyle/>
          <a:p>
            <a:pPr algn="ctr"/>
            <a:r>
              <a:rPr lang="en-US" sz="1600" i="1" dirty="0" smtClean="0">
                <a:latin typeface="Arial" panose="020B0604020202020204" pitchFamily="34" charset="0"/>
                <a:cs typeface="Arial" panose="020B0604020202020204" pitchFamily="34" charset="0"/>
              </a:rPr>
              <a:t>Loss of Control:</a:t>
            </a:r>
            <a:endParaRPr lang="en-US" sz="1600" i="1" dirty="0" smtClean="0">
              <a:latin typeface="Arial" panose="020B0604020202020204" pitchFamily="34" charset="0"/>
              <a:cs typeface="Arial" panose="020B0604020202020204" pitchFamily="34" charset="0"/>
            </a:endParaRPr>
          </a:p>
          <a:p>
            <a:pPr algn="ctr"/>
            <a:r>
              <a:rPr lang="en-US" sz="1600" i="1" dirty="0" smtClean="0">
                <a:latin typeface="Arial" panose="020B0604020202020204" pitchFamily="34" charset="0"/>
                <a:cs typeface="Arial" panose="020B0604020202020204" pitchFamily="34" charset="0"/>
              </a:rPr>
              <a:t>No physical barrier</a:t>
            </a:r>
            <a:endParaRPr lang="en-US" sz="1600" i="1" dirty="0">
              <a:latin typeface="Arial" panose="020B0604020202020204" pitchFamily="34" charset="0"/>
              <a:cs typeface="Arial" panose="020B0604020202020204" pitchFamily="34" charset="0"/>
            </a:endParaRPr>
          </a:p>
        </p:txBody>
      </p:sp>
      <p:sp>
        <p:nvSpPr>
          <p:cNvPr id="25" name="TextBox 24"/>
          <p:cNvSpPr txBox="1"/>
          <p:nvPr/>
        </p:nvSpPr>
        <p:spPr>
          <a:xfrm>
            <a:off x="2057400" y="2971798"/>
            <a:ext cx="4599444" cy="646333"/>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The slope slid, debris </a:t>
            </a:r>
            <a:r>
              <a:rPr lang="en-US" sz="1600" dirty="0">
                <a:latin typeface="Arial" panose="020B0604020202020204" pitchFamily="34" charset="0"/>
                <a:cs typeface="Arial" panose="020B0604020202020204" pitchFamily="34" charset="0"/>
              </a:rPr>
              <a:t>fell on equipment, injuring one worker &amp; damaging equipment</a:t>
            </a:r>
          </a:p>
        </p:txBody>
      </p:sp>
      <p:sp>
        <p:nvSpPr>
          <p:cNvPr id="26" name="TextBox 25"/>
          <p:cNvSpPr txBox="1"/>
          <p:nvPr/>
        </p:nvSpPr>
        <p:spPr>
          <a:xfrm>
            <a:off x="180000" y="4916268"/>
            <a:ext cx="1725000" cy="646331"/>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Debris fell</a:t>
            </a:r>
            <a:endParaRPr lang="en-US" sz="1600" dirty="0">
              <a:latin typeface="Arial" panose="020B0604020202020204" pitchFamily="34" charset="0"/>
              <a:cs typeface="Arial" panose="020B0604020202020204" pitchFamily="34" charset="0"/>
            </a:endParaRPr>
          </a:p>
        </p:txBody>
      </p:sp>
      <p:sp>
        <p:nvSpPr>
          <p:cNvPr id="27" name="TextBox 26"/>
          <p:cNvSpPr txBox="1"/>
          <p:nvPr/>
        </p:nvSpPr>
        <p:spPr>
          <a:xfrm>
            <a:off x="2057400" y="4916269"/>
            <a:ext cx="2302200" cy="646331"/>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Slope was unstable</a:t>
            </a:r>
            <a:endParaRPr lang="en-US" sz="1600" dirty="0">
              <a:latin typeface="Arial" panose="020B0604020202020204" pitchFamily="34" charset="0"/>
              <a:cs typeface="Arial" panose="020B0604020202020204" pitchFamily="34" charset="0"/>
            </a:endParaRPr>
          </a:p>
        </p:txBody>
      </p:sp>
      <p:sp>
        <p:nvSpPr>
          <p:cNvPr id="28" name="TextBox 27"/>
          <p:cNvSpPr txBox="1"/>
          <p:nvPr/>
        </p:nvSpPr>
        <p:spPr>
          <a:xfrm>
            <a:off x="4495800" y="4916268"/>
            <a:ext cx="2134848" cy="646331"/>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Equipment and People in the area</a:t>
            </a:r>
            <a:endParaRPr lang="en-US" sz="1600" dirty="0">
              <a:latin typeface="Arial" panose="020B0604020202020204" pitchFamily="34" charset="0"/>
              <a:cs typeface="Arial" panose="020B0604020202020204" pitchFamily="34" charset="0"/>
            </a:endParaRPr>
          </a:p>
        </p:txBody>
      </p:sp>
      <p:sp>
        <p:nvSpPr>
          <p:cNvPr id="32" name="Flowchart: Delay 31"/>
          <p:cNvSpPr/>
          <p:nvPr/>
        </p:nvSpPr>
        <p:spPr>
          <a:xfrm rot="16200000">
            <a:off x="4158000" y="3868200"/>
            <a:ext cx="396000" cy="432000"/>
          </a:xfrm>
          <a:prstGeom prst="flowChartDelay">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latin typeface="Arial" panose="020B0604020202020204" pitchFamily="34" charset="0"/>
              <a:cs typeface="Arial" panose="020B0604020202020204" pitchFamily="34" charset="0"/>
            </a:endParaRPr>
          </a:p>
        </p:txBody>
      </p:sp>
      <p:cxnSp>
        <p:nvCxnSpPr>
          <p:cNvPr id="33" name="Elbow Connector 32"/>
          <p:cNvCxnSpPr>
            <a:stCxn id="25" idx="2"/>
            <a:endCxn id="32" idx="3"/>
          </p:cNvCxnSpPr>
          <p:nvPr/>
        </p:nvCxnSpPr>
        <p:spPr>
          <a:xfrm rot="16200000" flipH="1">
            <a:off x="4221666" y="3751865"/>
            <a:ext cx="268069" cy="600"/>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Elbow Connector 33"/>
          <p:cNvCxnSpPr>
            <a:stCxn id="32" idx="1"/>
            <a:endCxn id="28" idx="0"/>
          </p:cNvCxnSpPr>
          <p:nvPr/>
        </p:nvCxnSpPr>
        <p:spPr>
          <a:xfrm rot="16200000" flipH="1">
            <a:off x="4655676" y="3982524"/>
            <a:ext cx="634068" cy="1233420"/>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Elbow Connector 34"/>
          <p:cNvCxnSpPr>
            <a:stCxn id="32" idx="1"/>
            <a:endCxn id="27" idx="0"/>
          </p:cNvCxnSpPr>
          <p:nvPr/>
        </p:nvCxnSpPr>
        <p:spPr>
          <a:xfrm rot="5400000">
            <a:off x="3465216" y="4025484"/>
            <a:ext cx="634069" cy="1147500"/>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Elbow Connector 38"/>
          <p:cNvCxnSpPr>
            <a:stCxn id="32" idx="1"/>
            <a:endCxn id="26" idx="0"/>
          </p:cNvCxnSpPr>
          <p:nvPr/>
        </p:nvCxnSpPr>
        <p:spPr>
          <a:xfrm rot="5400000">
            <a:off x="2382216" y="2942484"/>
            <a:ext cx="634068" cy="3313500"/>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6740652" y="4913220"/>
            <a:ext cx="2231748" cy="646331"/>
          </a:xfrm>
          <a:prstGeom prst="rect">
            <a:avLst/>
          </a:prstGeom>
          <a:noFill/>
          <a:ln>
            <a:solidFill>
              <a:schemeClr val="tx1"/>
            </a:solidFill>
          </a:ln>
        </p:spPr>
        <p:txBody>
          <a:bodyPr wrap="square" lIns="36000" tIns="36000" rIns="36000" bIns="36000" rtlCol="0" anchor="ctr">
            <a:noAutofit/>
          </a:bodyPr>
          <a:lstStyle/>
          <a:p>
            <a:pPr algn="ctr"/>
            <a:r>
              <a:rPr lang="en-US" sz="1600" dirty="0" smtClean="0">
                <a:latin typeface="Arial" panose="020B0604020202020204" pitchFamily="34" charset="0"/>
                <a:cs typeface="Arial" panose="020B0604020202020204" pitchFamily="34" charset="0"/>
              </a:rPr>
              <a:t>Exclusion zone not marked</a:t>
            </a:r>
            <a:endParaRPr lang="en-US" sz="1600" dirty="0">
              <a:latin typeface="Arial" panose="020B0604020202020204" pitchFamily="34" charset="0"/>
              <a:cs typeface="Arial" panose="020B0604020202020204" pitchFamily="34" charset="0"/>
            </a:endParaRPr>
          </a:p>
        </p:txBody>
      </p:sp>
      <p:cxnSp>
        <p:nvCxnSpPr>
          <p:cNvPr id="42" name="Elbow Connector 41"/>
          <p:cNvCxnSpPr>
            <a:stCxn id="32" idx="1"/>
            <a:endCxn id="40" idx="0"/>
          </p:cNvCxnSpPr>
          <p:nvPr/>
        </p:nvCxnSpPr>
        <p:spPr>
          <a:xfrm rot="16200000" flipH="1">
            <a:off x="5803851" y="2834349"/>
            <a:ext cx="631020" cy="3526722"/>
          </a:xfrm>
          <a:prstGeom prst="bentConnector3">
            <a:avLst>
              <a:gd name="adj1" fmla="val 50000"/>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2154414"/>
      </p:ext>
    </p:extLst>
  </p:cSld>
  <p:clrMapOvr>
    <a:masterClrMapping/>
  </p:clrMapOvr>
  <p:transition>
    <p:fade/>
  </p:transition>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3"/>
          <p:cNvSpPr>
            <a:spLocks noChangeArrowheads="1"/>
          </p:cNvSpPr>
          <p:nvPr/>
        </p:nvSpPr>
        <p:spPr bwMode="auto">
          <a:xfrm>
            <a:off x="180000" y="828000"/>
            <a:ext cx="8640000" cy="5328000"/>
          </a:xfrm>
          <a:prstGeom prst="rect">
            <a:avLst/>
          </a:prstGeom>
          <a:noFill/>
          <a:ln w="9525">
            <a:noFill/>
            <a:miter lim="800000"/>
            <a:headEnd/>
            <a:tailEnd/>
          </a:ln>
        </p:spPr>
        <p:txBody>
          <a:bodyPr/>
          <a:lstStyle>
            <a:lvl1pPr marL="609600" indent="-609600">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marL="0" indent="0" eaLnBrk="0" hangingPunct="0">
              <a:lnSpc>
                <a:spcPct val="90000"/>
              </a:lnSpc>
              <a:spcBef>
                <a:spcPts val="0"/>
              </a:spcBef>
              <a:spcAft>
                <a:spcPts val="0"/>
              </a:spcAft>
              <a:buClrTx/>
              <a:buSzPct val="100000"/>
              <a:buNone/>
            </a:pPr>
            <a:r>
              <a:rPr lang="en-US" altLang="en-US"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rPr>
              <a:t>Summary:</a:t>
            </a:r>
          </a:p>
          <a:p>
            <a:pPr marL="36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This </a:t>
            </a:r>
            <a:r>
              <a:rPr lang="en-US" altLang="en-US" b="0" dirty="0">
                <a:solidFill>
                  <a:prstClr val="black"/>
                </a:solidFill>
                <a:latin typeface="Arial" panose="020B0604020202020204" pitchFamily="34" charset="0"/>
                <a:ea typeface="ＭＳ Ｐゴシック" panose="020B0600070205080204" pitchFamily="34" charset="-128"/>
              </a:rPr>
              <a:t>topic explains the purpose and application of the Cause &amp; Effect Model, and the fundamental constructs of a Root Cause Analysis</a:t>
            </a:r>
            <a:r>
              <a:rPr lang="en-US" altLang="en-US" b="0" dirty="0" smtClean="0">
                <a:solidFill>
                  <a:prstClr val="black"/>
                </a:solidFill>
                <a:latin typeface="Arial" panose="020B0604020202020204" pitchFamily="34" charset="0"/>
                <a:ea typeface="ＭＳ Ｐゴシック" panose="020B0600070205080204" pitchFamily="34" charset="-128"/>
              </a:rPr>
              <a:t>.</a:t>
            </a:r>
          </a:p>
          <a:p>
            <a:pPr marL="36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The Detailed Cause &amp; Effect Model is introduced as </a:t>
            </a:r>
            <a:r>
              <a:rPr lang="en-US" altLang="en-US" b="0" dirty="0" smtClean="0">
                <a:solidFill>
                  <a:prstClr val="black"/>
                </a:solidFill>
                <a:latin typeface="Arial" panose="020B0604020202020204" pitchFamily="34" charset="0"/>
                <a:ea typeface="ＭＳ Ｐゴシック" panose="020B0600070205080204" pitchFamily="34" charset="-128"/>
              </a:rPr>
              <a:t>a means to understand and explain the various different categories of causes.</a:t>
            </a:r>
          </a:p>
          <a:p>
            <a:pPr marL="36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The RCA Work Process is introduced as a means to logically discover and arrange all of the causes leading to an incident.</a:t>
            </a:r>
          </a:p>
          <a:p>
            <a:pPr marL="720000" lvl="1"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sz="2000" b="0" dirty="0">
                <a:solidFill>
                  <a:prstClr val="black"/>
                </a:solidFill>
                <a:latin typeface="Arial" panose="020B0604020202020204" pitchFamily="34" charset="0"/>
                <a:ea typeface="ＭＳ Ｐゴシック" panose="020B0600070205080204" pitchFamily="34" charset="-128"/>
              </a:rPr>
              <a:t>The RCA WP starts with the Incident Description, and proceeds through immediate causes, basic causes, and latent causes. </a:t>
            </a:r>
            <a:endParaRPr lang="en-US" altLang="en-US" sz="2000" b="0" dirty="0" smtClean="0">
              <a:solidFill>
                <a:prstClr val="black"/>
              </a:solidFill>
              <a:latin typeface="Arial" panose="020B0604020202020204" pitchFamily="34" charset="0"/>
              <a:ea typeface="ＭＳ Ｐゴシック" panose="020B0600070205080204" pitchFamily="34" charset="-128"/>
            </a:endParaRPr>
          </a:p>
          <a:p>
            <a:pPr marL="720000" lvl="1"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sz="2000" b="0" dirty="0" smtClean="0">
                <a:solidFill>
                  <a:prstClr val="black"/>
                </a:solidFill>
                <a:latin typeface="Arial" panose="020B0604020202020204" pitchFamily="34" charset="0"/>
                <a:ea typeface="ＭＳ Ｐゴシック" panose="020B0600070205080204" pitchFamily="34" charset="-128"/>
              </a:rPr>
              <a:t>“Ask why?” can be applied throughout the RCA</a:t>
            </a:r>
          </a:p>
          <a:p>
            <a:pPr marL="36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0" indent="0" eaLnBrk="0" hangingPunct="0">
              <a:lnSpc>
                <a:spcPct val="90000"/>
              </a:lnSpc>
              <a:spcBef>
                <a:spcPts val="0"/>
              </a:spcBef>
              <a:spcAft>
                <a:spcPts val="0"/>
              </a:spcAft>
              <a:buClrTx/>
              <a:buSzPct val="100000"/>
              <a:buNone/>
              <a:defRPr/>
            </a:pPr>
            <a:r>
              <a:rPr lang="en-US" altLang="en-US" dirty="0">
                <a:solidFill>
                  <a:srgbClr val="000000"/>
                </a:solidFill>
                <a:latin typeface="Arial" panose="020B0604020202020204" pitchFamily="34" charset="0"/>
                <a:ea typeface="ＭＳ Ｐゴシック" panose="020B0600070205080204" pitchFamily="34" charset="-128"/>
                <a:cs typeface="Arial" panose="020B0604020202020204" pitchFamily="34" charset="0"/>
              </a:rPr>
              <a:t>Key Lessons:</a:t>
            </a:r>
          </a:p>
          <a:p>
            <a:pPr marL="36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The RCA work process is used to create an RCA Chart. </a:t>
            </a:r>
            <a:endParaRPr lang="en-US" altLang="en-US" b="0" dirty="0" smtClean="0">
              <a:solidFill>
                <a:prstClr val="black"/>
              </a:solidFill>
              <a:latin typeface="Arial" panose="020B0604020202020204" pitchFamily="34" charset="0"/>
              <a:ea typeface="ＭＳ Ｐゴシック" panose="020B0600070205080204" pitchFamily="34" charset="-128"/>
            </a:endParaRPr>
          </a:p>
          <a:p>
            <a:pPr marL="36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a:solidFill>
                  <a:prstClr val="black"/>
                </a:solidFill>
                <a:latin typeface="Arial" panose="020B0604020202020204" pitchFamily="34" charset="0"/>
                <a:ea typeface="ＭＳ Ｐゴシック" panose="020B0600070205080204" pitchFamily="34" charset="-128"/>
              </a:rPr>
              <a:t>The Discovery Approach can be applied to start the RCA. </a:t>
            </a:r>
          </a:p>
          <a:p>
            <a:pPr marL="36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After </a:t>
            </a:r>
            <a:r>
              <a:rPr lang="en-US" altLang="en-US" b="0" dirty="0">
                <a:solidFill>
                  <a:prstClr val="black"/>
                </a:solidFill>
                <a:latin typeface="Arial" panose="020B0604020202020204" pitchFamily="34" charset="0"/>
                <a:ea typeface="ＭＳ Ｐゴシック" panose="020B0600070205080204" pitchFamily="34" charset="-128"/>
              </a:rPr>
              <a:t>the chart has been </a:t>
            </a:r>
            <a:r>
              <a:rPr lang="en-US" altLang="en-US" b="0" dirty="0" smtClean="0">
                <a:solidFill>
                  <a:prstClr val="black"/>
                </a:solidFill>
                <a:latin typeface="Arial" panose="020B0604020202020204" pitchFamily="34" charset="0"/>
                <a:ea typeface="ＭＳ Ｐゴシック" panose="020B0600070205080204" pitchFamily="34" charset="-128"/>
              </a:rPr>
              <a:t>created, the Cause &amp; Effect Model is used to:</a:t>
            </a:r>
          </a:p>
          <a:p>
            <a:pPr marL="72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Categorize the causes in an RCA Chart, </a:t>
            </a:r>
          </a:p>
          <a:p>
            <a:pPr marL="72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Check the thoroughness and quality of an RCA Chart, and</a:t>
            </a:r>
            <a:endParaRPr lang="en-US" altLang="en-US" b="0" dirty="0">
              <a:solidFill>
                <a:prstClr val="black"/>
              </a:solidFill>
              <a:latin typeface="Arial" panose="020B0604020202020204" pitchFamily="34" charset="0"/>
              <a:ea typeface="ＭＳ Ｐゴシック" panose="020B0600070205080204" pitchFamily="34" charset="-128"/>
            </a:endParaRPr>
          </a:p>
          <a:p>
            <a:pPr marL="720000" indent="-360000" eaLnBrk="0" fontAlgn="auto" hangingPunct="0">
              <a:lnSpc>
                <a:spcPct val="90000"/>
              </a:lnSpc>
              <a:spcBef>
                <a:spcPts val="0"/>
              </a:spcBef>
              <a:spcAft>
                <a:spcPts val="0"/>
              </a:spcAft>
              <a:buClr>
                <a:srgbClr val="000000"/>
              </a:buClr>
              <a:buSzPct val="100000"/>
              <a:buFont typeface="Wingdings" panose="05000000000000000000" pitchFamily="2" charset="2"/>
              <a:buChar char="Ø"/>
              <a:defRPr/>
            </a:pPr>
            <a:r>
              <a:rPr lang="en-US" altLang="en-US" b="0" dirty="0" smtClean="0">
                <a:solidFill>
                  <a:prstClr val="black"/>
                </a:solidFill>
                <a:latin typeface="Arial" panose="020B0604020202020204" pitchFamily="34" charset="0"/>
                <a:ea typeface="ＭＳ Ｐゴシック" panose="020B0600070205080204" pitchFamily="34" charset="-128"/>
              </a:rPr>
              <a:t>Revise the RCA Chart to make improvements on it. </a:t>
            </a:r>
            <a:endParaRPr lang="en-US" altLang="en-US" b="0" dirty="0">
              <a:solidFill>
                <a:prstClr val="black"/>
              </a:solidFill>
              <a:latin typeface="Arial" panose="020B0604020202020204" pitchFamily="34" charset="0"/>
              <a:ea typeface="ＭＳ Ｐゴシック" panose="020B0600070205080204" pitchFamily="34" charset="-128"/>
            </a:endParaRPr>
          </a:p>
          <a:p>
            <a:pPr marL="0" indent="0" eaLnBrk="0" hangingPunct="0">
              <a:lnSpc>
                <a:spcPct val="90000"/>
              </a:lnSpc>
              <a:spcBef>
                <a:spcPts val="0"/>
              </a:spcBef>
              <a:spcAft>
                <a:spcPts val="0"/>
              </a:spcAft>
              <a:buClrTx/>
              <a:buSzPct val="100000"/>
              <a:buNone/>
            </a:pPr>
            <a:endParaRPr lang="en-US" altLang="en-US" b="0" dirty="0" smtClean="0">
              <a:solidFill>
                <a:srgbClr val="000000"/>
              </a:solidFill>
              <a:latin typeface="Arial" panose="020B0604020202020204" pitchFamily="34" charset="0"/>
              <a:ea typeface="ＭＳ Ｐゴシック" panose="020B0600070205080204" pitchFamily="34" charset="-128"/>
              <a:cs typeface="Arial" panose="020B0604020202020204" pitchFamily="34" charset="0"/>
            </a:endParaRPr>
          </a:p>
        </p:txBody>
      </p:sp>
      <p:sp>
        <p:nvSpPr>
          <p:cNvPr id="9" name="Rectangle 2"/>
          <p:cNvSpPr>
            <a:spLocks noChangeArrowheads="1"/>
          </p:cNvSpPr>
          <p:nvPr/>
        </p:nvSpPr>
        <p:spPr bwMode="auto">
          <a:xfrm>
            <a:off x="180000" y="216000"/>
            <a:ext cx="8640000" cy="504000"/>
          </a:xfrm>
          <a:prstGeom prst="rect">
            <a:avLst/>
          </a:prstGeom>
          <a:noFill/>
          <a:ln>
            <a:no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a:solidFill>
                  <a:schemeClr val="accent2"/>
                </a:solidFill>
                <a:latin typeface="Arial" panose="020B0604020202020204" pitchFamily="34" charset="0"/>
                <a:ea typeface="+mj-ea"/>
                <a:cs typeface="Arial" panose="020B0604020202020204" pitchFamily="34" charset="0"/>
              </a:rPr>
              <a:t>Summary and Key Lessons:</a:t>
            </a:r>
          </a:p>
        </p:txBody>
      </p:sp>
      <p:sp>
        <p:nvSpPr>
          <p:cNvPr id="12" name="Slide Number Placeholder 1"/>
          <p:cNvSpPr txBox="1">
            <a:spLocks noGrp="1"/>
          </p:cNvSpPr>
          <p:nvPr/>
        </p:nvSpPr>
        <p:spPr bwMode="auto">
          <a:xfrm>
            <a:off x="8280000" y="6300000"/>
            <a:ext cx="533400" cy="28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tx2"/>
              </a:buClr>
              <a:buSzPct val="65000"/>
              <a:buFont typeface="Wingdings" panose="05000000000000000000" pitchFamily="2" charset="2"/>
              <a:buChar char="v"/>
              <a:defRPr sz="3200">
                <a:solidFill>
                  <a:schemeClr val="tx1"/>
                </a:solidFill>
                <a:latin typeface="Times New Roman" panose="02020603050405020304" pitchFamily="18" charset="0"/>
                <a:ea typeface="ＭＳ Ｐゴシック" panose="020B0600070205080204" pitchFamily="34" charset="-128"/>
              </a:defRPr>
            </a:lvl1pPr>
            <a:lvl2pPr marL="742950" indent="-285750">
              <a:spcBef>
                <a:spcPct val="20000"/>
              </a:spcBef>
              <a:buChar char="–"/>
              <a:defRPr sz="28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2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20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SzPct val="65000"/>
              <a:buChar char="•"/>
              <a:defRPr sz="2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SzPct val="65000"/>
              <a:buChar char="•"/>
              <a:defRPr sz="2000">
                <a:solidFill>
                  <a:schemeClr val="tx1"/>
                </a:solidFill>
                <a:latin typeface="Times New Roman" panose="02020603050405020304" pitchFamily="18" charset="0"/>
                <a:ea typeface="ＭＳ Ｐゴシック" panose="020B0600070205080204" pitchFamily="34" charset="-128"/>
              </a:defRPr>
            </a:lvl9pPr>
          </a:lstStyle>
          <a:p>
            <a:pPr algn="r" eaLnBrk="1" hangingPunct="1">
              <a:spcBef>
                <a:spcPct val="0"/>
              </a:spcBef>
              <a:buClrTx/>
              <a:buSzTx/>
              <a:buFontTx/>
              <a:buNone/>
            </a:pPr>
            <a:fld id="{B9AAC074-F6B9-4EA4-AE59-9F9DB0D8944F}" type="slidenum">
              <a:rPr lang="en-US" altLang="en-US" sz="1200" b="1" i="1">
                <a:solidFill>
                  <a:srgbClr val="000000"/>
                </a:solidFill>
                <a:latin typeface="Arial" panose="020B0604020202020204" pitchFamily="34" charset="0"/>
                <a:cs typeface="Arial" panose="020B0604020202020204" pitchFamily="34" charset="0"/>
              </a:rPr>
              <a:pPr algn="r" eaLnBrk="1" hangingPunct="1">
                <a:spcBef>
                  <a:spcPct val="0"/>
                </a:spcBef>
                <a:buClrTx/>
                <a:buSzTx/>
                <a:buFontTx/>
                <a:buNone/>
              </a:pPr>
              <a:t>43</a:t>
            </a:fld>
            <a:endParaRPr lang="en-US" altLang="en-US" sz="1200" b="1" i="1">
              <a:solidFill>
                <a:srgbClr val="000000"/>
              </a:solidFill>
              <a:latin typeface="Arial" panose="020B0604020202020204" pitchFamily="34" charset="0"/>
              <a:cs typeface="Arial" panose="020B0604020202020204" pitchFamily="34" charset="0"/>
            </a:endParaRPr>
          </a:p>
        </p:txBody>
      </p:sp>
      <p:sp>
        <p:nvSpPr>
          <p:cNvPr id="13" name="Google Shape;125;p2"/>
          <p:cNvSpPr/>
          <p:nvPr/>
        </p:nvSpPr>
        <p:spPr>
          <a:xfrm>
            <a:off x="2700000" y="6300000"/>
            <a:ext cx="5400000" cy="288000"/>
          </a:xfrm>
          <a:prstGeom prst="rect">
            <a:avLst/>
          </a:prstGeom>
          <a:noFill/>
          <a:ln>
            <a:noFill/>
          </a:ln>
        </p:spPr>
        <p:txBody>
          <a:bodyPr spcFirstLastPara="1" wrap="square" lIns="91425" tIns="45700" rIns="91425" bIns="45700" anchor="ctr" anchorCtr="0">
            <a:noAutofit/>
          </a:bodyPr>
          <a:lstStyle/>
          <a:p>
            <a:pPr lvl="0" algn="ctr" eaLnBrk="1" fontAlgn="auto" hangingPunct="1">
              <a:spcBef>
                <a:spcPts val="0"/>
              </a:spcBef>
              <a:spcAft>
                <a:spcPts val="0"/>
              </a:spcAft>
              <a:buClr>
                <a:srgbClr val="000000"/>
              </a:buClr>
              <a:buSzPts val="1600"/>
            </a:pPr>
            <a:r>
              <a:rPr lang="en-US" sz="1200" i="1" kern="0" dirty="0" smtClean="0">
                <a:solidFill>
                  <a:srgbClr val="000000"/>
                </a:solidFill>
                <a:ea typeface="Times New Roman"/>
                <a:cs typeface="Arial" panose="020B0604020202020204" pitchFamily="34" charset="0"/>
                <a:sym typeface="Times New Roman"/>
              </a:rPr>
              <a:t>Chapter 4.2: C&amp;E Model &amp; Chapter 4.3: RCA of an Incident</a:t>
            </a:r>
            <a:endParaRPr lang="en-US" sz="1200" i="1" kern="0" dirty="0">
              <a:solidFill>
                <a:srgbClr val="000000"/>
              </a:solidFill>
              <a:ea typeface="Times New Roman"/>
              <a:cs typeface="Arial" panose="020B0604020202020204" pitchFamily="34" charset="0"/>
              <a:sym typeface="Times New Roman"/>
            </a:endParaRPr>
          </a:p>
        </p:txBody>
      </p:sp>
    </p:spTree>
    <p:extLst>
      <p:ext uri="{BB962C8B-B14F-4D97-AF65-F5344CB8AC3E}">
        <p14:creationId xmlns:p14="http://schemas.microsoft.com/office/powerpoint/2010/main" val="2737439666"/>
      </p:ext>
    </p:extLst>
  </p:cSld>
  <p:clrMapOvr>
    <a:masterClrMapping/>
  </p:clrMapOvr>
  <p:transition>
    <p:fade/>
  </p:transition>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180000" y="180000"/>
            <a:ext cx="8640000" cy="504000"/>
          </a:xfrm>
          <a:prstGeom prst="rect">
            <a:avLst/>
          </a:prstGeom>
          <a:solidFill>
            <a:srgbClr val="0000FF"/>
          </a:solidFill>
          <a:ln>
            <a:solidFill>
              <a:srgbClr val="0000FF"/>
            </a:solidFill>
          </a:ln>
          <a:extLst/>
        </p:spPr>
        <p:txBody>
          <a:bodyPr anchor="ctr"/>
          <a:lstStyle>
            <a:lvl1pPr>
              <a:lnSpc>
                <a:spcPct val="120000"/>
              </a:lnSpc>
              <a:spcBef>
                <a:spcPts val="1000"/>
              </a:spcBef>
              <a:buClr>
                <a:schemeClr val="tx1"/>
              </a:buClr>
              <a:buFont typeface="Arial" panose="020B0604020202020204" pitchFamily="34" charset="0"/>
              <a:buChar char="•"/>
              <a:defRPr sz="2000">
                <a:solidFill>
                  <a:schemeClr val="tx1"/>
                </a:solidFill>
                <a:latin typeface="Tw Cen MT" panose="020B0602020104020603" pitchFamily="34" charset="0"/>
              </a:defRPr>
            </a:lvl1pPr>
            <a:lvl2pPr marL="742950" indent="-285750">
              <a:lnSpc>
                <a:spcPct val="120000"/>
              </a:lnSpc>
              <a:spcBef>
                <a:spcPts val="500"/>
              </a:spcBef>
              <a:buClr>
                <a:schemeClr val="tx1"/>
              </a:buClr>
              <a:buFont typeface="Arial" panose="020B0604020202020204" pitchFamily="34" charset="0"/>
              <a:buChar char="•"/>
              <a:defRPr>
                <a:solidFill>
                  <a:schemeClr val="tx1"/>
                </a:solidFill>
                <a:latin typeface="Tw Cen MT" panose="020B0602020104020603" pitchFamily="34" charset="0"/>
              </a:defRPr>
            </a:lvl2pPr>
            <a:lvl3pPr marL="1143000" indent="-228600">
              <a:lnSpc>
                <a:spcPct val="120000"/>
              </a:lnSpc>
              <a:spcBef>
                <a:spcPts val="500"/>
              </a:spcBef>
              <a:buClr>
                <a:schemeClr val="tx1"/>
              </a:buClr>
              <a:buFont typeface="Arial" panose="020B0604020202020204" pitchFamily="34" charset="0"/>
              <a:buChar char="•"/>
              <a:defRPr sz="1600">
                <a:solidFill>
                  <a:schemeClr val="tx1"/>
                </a:solidFill>
                <a:latin typeface="Tw Cen MT" panose="020B0602020104020603" pitchFamily="34" charset="0"/>
              </a:defRPr>
            </a:lvl3pPr>
            <a:lvl4pPr marL="16002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4pPr>
            <a:lvl5pPr marL="2057400" indent="-228600">
              <a:lnSpc>
                <a:spcPct val="120000"/>
              </a:lnSpc>
              <a:spcBef>
                <a:spcPts val="500"/>
              </a:spcBef>
              <a:buClr>
                <a:schemeClr val="tx1"/>
              </a:buClr>
              <a:buFont typeface="Arial" panose="020B0604020202020204" pitchFamily="34" charset="0"/>
              <a:buChar char="•"/>
              <a:defRPr sz="1400">
                <a:solidFill>
                  <a:schemeClr val="tx1"/>
                </a:solidFill>
                <a:latin typeface="Tw Cen MT" panose="020B0602020104020603" pitchFamily="34" charset="0"/>
              </a:defRPr>
            </a:lvl5pPr>
            <a:lvl6pPr marL="25146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6pPr>
            <a:lvl7pPr marL="29718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7pPr>
            <a:lvl8pPr marL="34290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8pPr>
            <a:lvl9pPr marL="3886200" indent="-228600" eaLnBrk="0" fontAlgn="base" hangingPunct="0">
              <a:lnSpc>
                <a:spcPct val="120000"/>
              </a:lnSpc>
              <a:spcBef>
                <a:spcPts val="500"/>
              </a:spcBef>
              <a:spcAft>
                <a:spcPct val="0"/>
              </a:spcAft>
              <a:buClr>
                <a:schemeClr val="tx1"/>
              </a:buClr>
              <a:buFont typeface="Arial" panose="020B0604020202020204" pitchFamily="34" charset="0"/>
              <a:buChar char="•"/>
              <a:defRPr sz="1400">
                <a:solidFill>
                  <a:schemeClr val="tx1"/>
                </a:solidFill>
                <a:latin typeface="Tw Cen MT" panose="020B0602020104020603" pitchFamily="34" charset="0"/>
              </a:defRPr>
            </a:lvl9pPr>
          </a:lstStyle>
          <a:p>
            <a:pPr eaLnBrk="1" hangingPunct="1">
              <a:lnSpc>
                <a:spcPct val="100000"/>
              </a:lnSpc>
              <a:spcBef>
                <a:spcPct val="0"/>
              </a:spcBef>
              <a:buClrTx/>
              <a:buNone/>
            </a:pPr>
            <a:r>
              <a:rPr lang="en-US" altLang="en-US" sz="2400" b="0" dirty="0" smtClean="0">
                <a:solidFill>
                  <a:schemeClr val="bg1"/>
                </a:solidFill>
                <a:latin typeface="Arial" panose="020B0604020202020204" pitchFamily="34" charset="0"/>
                <a:ea typeface="+mj-ea"/>
                <a:cs typeface="Arial" panose="020B0604020202020204" pitchFamily="34" charset="0"/>
              </a:rPr>
              <a:t>Any questions?</a:t>
            </a:r>
            <a:endParaRPr lang="en-US" altLang="en-US" sz="2400" b="0" dirty="0">
              <a:solidFill>
                <a:schemeClr val="bg1"/>
              </a:solidFill>
              <a:latin typeface="Arial" panose="020B0604020202020204" pitchFamily="34" charset="0"/>
              <a:ea typeface="+mj-ea"/>
              <a:cs typeface="Arial" panose="020B0604020202020204" pitchFamily="34" charset="0"/>
            </a:endParaRPr>
          </a:p>
        </p:txBody>
      </p:sp>
    </p:spTree>
    <p:extLst>
      <p:ext uri="{BB962C8B-B14F-4D97-AF65-F5344CB8AC3E}">
        <p14:creationId xmlns:p14="http://schemas.microsoft.com/office/powerpoint/2010/main" val="4077953517"/>
      </p:ext>
    </p:extLst>
  </p:cSld>
  <p:clrMapOvr>
    <a:masterClrMapping/>
  </p:clrMapOvr>
  <p:transition>
    <p:fade/>
  </p:transition>
  <p:timing>
    <p:tnLst>
      <p:par>
        <p:cTn id="1" dur="indefinite" restart="never" nodeType="tmRoot"/>
      </p:par>
    </p:tnLst>
  </p:timing>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bg2"/>
        </a:solidFill>
        <a:ln w="9525" algn="ctr">
          <a:solidFill>
            <a:srgbClr val="000000"/>
          </a:solidFill>
          <a:miter lim="800000"/>
          <a:headEnd/>
          <a:tailEnd/>
        </a:ln>
        <a:effectLst/>
        <a:extLst/>
      </a:spPr>
      <a:bodyPr/>
      <a:lstStyle>
        <a:defPPr marL="0" indent="0" eaLnBrk="1" hangingPunct="1">
          <a:spcBef>
            <a:spcPts val="0"/>
          </a:spcBef>
          <a:buClr>
            <a:srgbClr val="000000"/>
          </a:buClr>
          <a:buSzTx/>
          <a:buNone/>
          <a:defRPr sz="1800" dirty="0" smtClean="0">
            <a:solidFill>
              <a:schemeClr val="tx1">
                <a:lumMod val="85000"/>
                <a:lumOff val="15000"/>
              </a:schemeClr>
            </a:solidFill>
            <a:latin typeface="Arial" panose="020B0604020202020204" pitchFamily="34" charset="0"/>
          </a:defRPr>
        </a:defPPr>
      </a:lst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70065</TotalTime>
  <Words>4341</Words>
  <Application>Microsoft Office PowerPoint</Application>
  <PresentationFormat>On-screen Show (4:3)</PresentationFormat>
  <Paragraphs>788</Paragraphs>
  <Slides>44</Slides>
  <Notes>37</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44</vt:i4>
      </vt:variant>
    </vt:vector>
  </HeadingPairs>
  <TitlesOfParts>
    <vt:vector size="54" baseType="lpstr">
      <vt:lpstr>ＭＳ Ｐゴシック</vt:lpstr>
      <vt:lpstr>Arial</vt:lpstr>
      <vt:lpstr>Calibri</vt:lpstr>
      <vt:lpstr>Calibri Light</vt:lpstr>
      <vt:lpstr>Symbol</vt:lpstr>
      <vt:lpstr>Times New Roman</vt:lpstr>
      <vt:lpstr>Wingdings</vt:lpstr>
      <vt:lpstr>Default Design</vt:lpstr>
      <vt:lpstr>Office Theme</vt:lpstr>
      <vt:lpstr>Document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The University of Texas at Austin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MSB</dc:creator>
  <cp:lastModifiedBy>John Cocchio</cp:lastModifiedBy>
  <cp:revision>2002</cp:revision>
  <cp:lastPrinted>2018-12-17T22:21:47Z</cp:lastPrinted>
  <dcterms:created xsi:type="dcterms:W3CDTF">2007-03-28T16:18:47Z</dcterms:created>
  <dcterms:modified xsi:type="dcterms:W3CDTF">2022-05-10T23:36:47Z</dcterms:modified>
</cp:coreProperties>
</file>