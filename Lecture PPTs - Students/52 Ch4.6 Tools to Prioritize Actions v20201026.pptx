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3"/>
  </p:notesMasterIdLst>
  <p:handoutMasterIdLst>
    <p:handoutMasterId r:id="rId24"/>
  </p:handoutMasterIdLst>
  <p:sldIdLst>
    <p:sldId id="1000" r:id="rId3"/>
    <p:sldId id="975" r:id="rId4"/>
    <p:sldId id="976" r:id="rId5"/>
    <p:sldId id="977" r:id="rId6"/>
    <p:sldId id="978" r:id="rId7"/>
    <p:sldId id="979" r:id="rId8"/>
    <p:sldId id="980" r:id="rId9"/>
    <p:sldId id="981" r:id="rId10"/>
    <p:sldId id="982" r:id="rId11"/>
    <p:sldId id="983" r:id="rId12"/>
    <p:sldId id="984" r:id="rId13"/>
    <p:sldId id="985" r:id="rId14"/>
    <p:sldId id="1001" r:id="rId15"/>
    <p:sldId id="986" r:id="rId16"/>
    <p:sldId id="999" r:id="rId17"/>
    <p:sldId id="988" r:id="rId18"/>
    <p:sldId id="998" r:id="rId19"/>
    <p:sldId id="989" r:id="rId20"/>
    <p:sldId id="997" r:id="rId21"/>
    <p:sldId id="991" r:id="rId22"/>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1000"/>
            <p14:sldId id="975"/>
            <p14:sldId id="976"/>
            <p14:sldId id="977"/>
            <p14:sldId id="978"/>
            <p14:sldId id="979"/>
            <p14:sldId id="980"/>
            <p14:sldId id="981"/>
            <p14:sldId id="982"/>
            <p14:sldId id="983"/>
            <p14:sldId id="984"/>
            <p14:sldId id="985"/>
            <p14:sldId id="1001"/>
            <p14:sldId id="986"/>
            <p14:sldId id="999"/>
            <p14:sldId id="988"/>
            <p14:sldId id="998"/>
            <p14:sldId id="989"/>
            <p14:sldId id="997"/>
            <p14:sldId id="991"/>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0000"/>
    <a:srgbClr val="CC66FF"/>
    <a:srgbClr val="000000"/>
    <a:srgbClr val="F8F8F8"/>
    <a:srgbClr val="F5D7F1"/>
    <a:srgbClr val="5F5F5F"/>
    <a:srgbClr val="DDDDDD"/>
    <a:srgbClr val="FBA3E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85" autoAdjust="0"/>
    <p:restoredTop sz="92767" autoAdjust="0"/>
  </p:normalViewPr>
  <p:slideViewPr>
    <p:cSldViewPr>
      <p:cViewPr varScale="1">
        <p:scale>
          <a:sx n="70" d="100"/>
          <a:sy n="70" d="100"/>
        </p:scale>
        <p:origin x="1312"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3544"/>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6E64F9-8FD5-4D8C-AB97-9BE65DD74816}" type="doc">
      <dgm:prSet loTypeId="urn:microsoft.com/office/officeart/2005/8/layout/matrix3" loCatId="matrix" qsTypeId="urn:microsoft.com/office/officeart/2005/8/quickstyle/simple3" qsCatId="simple" csTypeId="urn:microsoft.com/office/officeart/2005/8/colors/accent1_2" csCatId="accent1" phldr="1"/>
      <dgm:spPr/>
      <dgm:t>
        <a:bodyPr/>
        <a:lstStyle/>
        <a:p>
          <a:endParaRPr lang="en-CA"/>
        </a:p>
      </dgm:t>
    </dgm:pt>
    <dgm:pt modelId="{E3643D55-5C63-4501-B906-48C668EE60C8}">
      <dgm:prSet phldrT="[Text]"/>
      <dgm:spPr>
        <a:xfrm>
          <a:off x="613986"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dirty="0">
              <a:solidFill>
                <a:srgbClr val="000000"/>
              </a:solidFill>
              <a:latin typeface="Arial"/>
              <a:ea typeface="+mn-ea"/>
              <a:cs typeface="+mn-cs"/>
            </a:rPr>
            <a:t>Easiest to Implement</a:t>
          </a:r>
        </a:p>
      </dgm:t>
    </dgm:pt>
    <dgm:pt modelId="{9B2ABACC-C283-4813-B870-5A2244406CE0}" type="parTrans" cxnId="{55A8F835-E9B8-4607-826E-26DA7165EEA0}">
      <dgm:prSet/>
      <dgm:spPr/>
      <dgm:t>
        <a:bodyPr/>
        <a:lstStyle/>
        <a:p>
          <a:endParaRPr lang="en-CA"/>
        </a:p>
      </dgm:t>
    </dgm:pt>
    <dgm:pt modelId="{A33F006F-CFF3-4613-92AE-961B140FBCA0}" type="sibTrans" cxnId="{55A8F835-E9B8-4607-826E-26DA7165EEA0}">
      <dgm:prSet/>
      <dgm:spPr/>
      <dgm:t>
        <a:bodyPr/>
        <a:lstStyle/>
        <a:p>
          <a:endParaRPr lang="en-CA"/>
        </a:p>
      </dgm:t>
    </dgm:pt>
    <dgm:pt modelId="{9612C57D-E990-411E-9056-3ED39707051D}">
      <dgm:prSet phldrT="[Text]"/>
      <dgm:spPr>
        <a:xfrm>
          <a:off x="2664838"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dirty="0">
              <a:solidFill>
                <a:srgbClr val="000000"/>
              </a:solidFill>
              <a:latin typeface="Arial"/>
              <a:ea typeface="+mn-ea"/>
              <a:cs typeface="+mn-cs"/>
            </a:rPr>
            <a:t>Lowest Cost to Implement</a:t>
          </a:r>
        </a:p>
      </dgm:t>
    </dgm:pt>
    <dgm:pt modelId="{B9C9BB21-7553-4A99-B938-2DF1F91D4046}" type="parTrans" cxnId="{C9FC4727-56C5-41AF-8A76-45820A421BD6}">
      <dgm:prSet/>
      <dgm:spPr/>
      <dgm:t>
        <a:bodyPr/>
        <a:lstStyle/>
        <a:p>
          <a:endParaRPr lang="en-CA"/>
        </a:p>
      </dgm:t>
    </dgm:pt>
    <dgm:pt modelId="{8C7FC226-2521-44EC-8523-CA3B8A1F4620}" type="sibTrans" cxnId="{C9FC4727-56C5-41AF-8A76-45820A421BD6}">
      <dgm:prSet/>
      <dgm:spPr/>
      <dgm:t>
        <a:bodyPr/>
        <a:lstStyle/>
        <a:p>
          <a:endParaRPr lang="en-CA"/>
        </a:p>
      </dgm:t>
    </dgm:pt>
    <dgm:pt modelId="{BA571CA0-71AF-4018-9D8B-58A376E74E26}">
      <dgm:prSet phldrT="[Text]"/>
      <dgm:spPr>
        <a:xfrm>
          <a:off x="613986"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a:solidFill>
                <a:srgbClr val="000000"/>
              </a:solidFill>
              <a:latin typeface="Arial"/>
              <a:ea typeface="+mn-ea"/>
              <a:cs typeface="+mn-cs"/>
            </a:rPr>
            <a:t>Quickest to Implement</a:t>
          </a:r>
          <a:endParaRPr lang="en-CA" b="1" dirty="0">
            <a:solidFill>
              <a:srgbClr val="000000"/>
            </a:solidFill>
            <a:latin typeface="Arial"/>
            <a:ea typeface="+mn-ea"/>
            <a:cs typeface="+mn-cs"/>
          </a:endParaRPr>
        </a:p>
      </dgm:t>
    </dgm:pt>
    <dgm:pt modelId="{453A72EB-4BC8-4D21-94BF-7E4FFDA1278A}" type="parTrans" cxnId="{52489A15-5CC0-4691-81CA-BB0EB297A713}">
      <dgm:prSet/>
      <dgm:spPr/>
      <dgm:t>
        <a:bodyPr/>
        <a:lstStyle/>
        <a:p>
          <a:endParaRPr lang="en-CA"/>
        </a:p>
      </dgm:t>
    </dgm:pt>
    <dgm:pt modelId="{36613668-3008-4FEC-A6B2-C966BD4637DC}" type="sibTrans" cxnId="{52489A15-5CC0-4691-81CA-BB0EB297A713}">
      <dgm:prSet/>
      <dgm:spPr/>
      <dgm:t>
        <a:bodyPr/>
        <a:lstStyle/>
        <a:p>
          <a:endParaRPr lang="en-CA"/>
        </a:p>
      </dgm:t>
    </dgm:pt>
    <dgm:pt modelId="{E50DA6C0-ED84-4EC5-8F39-1034EACAFEC8}">
      <dgm:prSet phldrT="[Text]"/>
      <dgm:spPr>
        <a:xfrm>
          <a:off x="2664838"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CA" b="1" dirty="0">
              <a:solidFill>
                <a:srgbClr val="000000"/>
              </a:solidFill>
              <a:latin typeface="Arial"/>
              <a:ea typeface="+mn-ea"/>
              <a:cs typeface="+mn-cs"/>
            </a:rPr>
            <a:t>Addresses Latent Causes</a:t>
          </a:r>
        </a:p>
      </dgm:t>
    </dgm:pt>
    <dgm:pt modelId="{84DF9287-687E-4EE2-A4FB-F98648C56F6F}" type="parTrans" cxnId="{D280D071-8C21-4BE3-A1E0-80D1BE9CA275}">
      <dgm:prSet/>
      <dgm:spPr/>
      <dgm:t>
        <a:bodyPr/>
        <a:lstStyle/>
        <a:p>
          <a:endParaRPr lang="en-CA"/>
        </a:p>
      </dgm:t>
    </dgm:pt>
    <dgm:pt modelId="{97B6DFED-A828-41BD-BFD5-694B9F5F48AD}" type="sibTrans" cxnId="{D280D071-8C21-4BE3-A1E0-80D1BE9CA275}">
      <dgm:prSet/>
      <dgm:spPr/>
      <dgm:t>
        <a:bodyPr/>
        <a:lstStyle/>
        <a:p>
          <a:endParaRPr lang="en-CA"/>
        </a:p>
      </dgm:t>
    </dgm:pt>
    <dgm:pt modelId="{A7664406-4B1D-47A9-A8F5-F10095B691CA}" type="pres">
      <dgm:prSet presAssocID="{566E64F9-8FD5-4D8C-AB97-9BE65DD74816}" presName="matrix" presStyleCnt="0">
        <dgm:presLayoutVars>
          <dgm:chMax val="1"/>
          <dgm:dir/>
          <dgm:resizeHandles val="exact"/>
        </dgm:presLayoutVars>
      </dgm:prSet>
      <dgm:spPr/>
      <dgm:t>
        <a:bodyPr/>
        <a:lstStyle/>
        <a:p>
          <a:endParaRPr lang="en-US"/>
        </a:p>
      </dgm:t>
    </dgm:pt>
    <dgm:pt modelId="{822DC948-370C-4EF4-B351-902A4F6EB8AC}" type="pres">
      <dgm:prSet presAssocID="{566E64F9-8FD5-4D8C-AB97-9BE65DD74816}" presName="diamond" presStyleLbl="bgShp" presStyleIdx="0" presStyleCnt="1" custLinFactNeighborX="-512" custLinFactNeighborY="1815"/>
      <dgm:spPr>
        <a:xfrm>
          <a:off x="125102" y="0"/>
          <a:ext cx="4882979" cy="4882979"/>
        </a:xfrm>
        <a:prstGeom prst="diamond">
          <a:avLst/>
        </a:prstGeom>
        <a:solidFill>
          <a:srgbClr val="9999FF">
            <a:tint val="40000"/>
            <a:hueOff val="0"/>
            <a:satOff val="0"/>
            <a:lumOff val="0"/>
            <a:alphaOff val="0"/>
          </a:srgbClr>
        </a:solidFill>
        <a:ln>
          <a:noFill/>
        </a:ln>
        <a:effectLst>
          <a:outerShdw blurRad="40000" dist="20000" dir="5400000" rotWithShape="0">
            <a:srgbClr val="000000">
              <a:alpha val="38000"/>
            </a:srgbClr>
          </a:outerShdw>
        </a:effectLst>
      </dgm:spPr>
    </dgm:pt>
    <dgm:pt modelId="{9EC62A49-F030-4C26-AE9F-65D976742B82}" type="pres">
      <dgm:prSet presAssocID="{566E64F9-8FD5-4D8C-AB97-9BE65DD74816}" presName="quad1" presStyleLbl="node1" presStyleIdx="0" presStyleCnt="4">
        <dgm:presLayoutVars>
          <dgm:chMax val="0"/>
          <dgm:chPref val="0"/>
          <dgm:bulletEnabled val="1"/>
        </dgm:presLayoutVars>
      </dgm:prSet>
      <dgm:spPr/>
      <dgm:t>
        <a:bodyPr/>
        <a:lstStyle/>
        <a:p>
          <a:endParaRPr lang="en-US"/>
        </a:p>
      </dgm:t>
    </dgm:pt>
    <dgm:pt modelId="{CC622F11-B787-410C-9B73-B476FD0B6D8F}" type="pres">
      <dgm:prSet presAssocID="{566E64F9-8FD5-4D8C-AB97-9BE65DD74816}" presName="quad2" presStyleLbl="node1" presStyleIdx="1" presStyleCnt="4">
        <dgm:presLayoutVars>
          <dgm:chMax val="0"/>
          <dgm:chPref val="0"/>
          <dgm:bulletEnabled val="1"/>
        </dgm:presLayoutVars>
      </dgm:prSet>
      <dgm:spPr/>
      <dgm:t>
        <a:bodyPr/>
        <a:lstStyle/>
        <a:p>
          <a:endParaRPr lang="en-US"/>
        </a:p>
      </dgm:t>
    </dgm:pt>
    <dgm:pt modelId="{B29829A4-DBFD-4777-87EC-62AEF5BDDDF0}" type="pres">
      <dgm:prSet presAssocID="{566E64F9-8FD5-4D8C-AB97-9BE65DD74816}" presName="quad3" presStyleLbl="node1" presStyleIdx="2" presStyleCnt="4">
        <dgm:presLayoutVars>
          <dgm:chMax val="0"/>
          <dgm:chPref val="0"/>
          <dgm:bulletEnabled val="1"/>
        </dgm:presLayoutVars>
      </dgm:prSet>
      <dgm:spPr/>
      <dgm:t>
        <a:bodyPr/>
        <a:lstStyle/>
        <a:p>
          <a:endParaRPr lang="en-US"/>
        </a:p>
      </dgm:t>
    </dgm:pt>
    <dgm:pt modelId="{DEED7A57-0982-44F0-84E9-052BA45D3578}" type="pres">
      <dgm:prSet presAssocID="{566E64F9-8FD5-4D8C-AB97-9BE65DD74816}" presName="quad4" presStyleLbl="node1" presStyleIdx="3" presStyleCnt="4">
        <dgm:presLayoutVars>
          <dgm:chMax val="0"/>
          <dgm:chPref val="0"/>
          <dgm:bulletEnabled val="1"/>
        </dgm:presLayoutVars>
      </dgm:prSet>
      <dgm:spPr/>
      <dgm:t>
        <a:bodyPr/>
        <a:lstStyle/>
        <a:p>
          <a:endParaRPr lang="en-US"/>
        </a:p>
      </dgm:t>
    </dgm:pt>
  </dgm:ptLst>
  <dgm:cxnLst>
    <dgm:cxn modelId="{D280D071-8C21-4BE3-A1E0-80D1BE9CA275}" srcId="{566E64F9-8FD5-4D8C-AB97-9BE65DD74816}" destId="{E50DA6C0-ED84-4EC5-8F39-1034EACAFEC8}" srcOrd="3" destOrd="0" parTransId="{84DF9287-687E-4EE2-A4FB-F98648C56F6F}" sibTransId="{97B6DFED-A828-41BD-BFD5-694B9F5F48AD}"/>
    <dgm:cxn modelId="{33C44BB6-7204-4D24-AE15-BCD9544088C5}" type="presOf" srcId="{E50DA6C0-ED84-4EC5-8F39-1034EACAFEC8}" destId="{DEED7A57-0982-44F0-84E9-052BA45D3578}" srcOrd="0" destOrd="0" presId="urn:microsoft.com/office/officeart/2005/8/layout/matrix3"/>
    <dgm:cxn modelId="{55A8F835-E9B8-4607-826E-26DA7165EEA0}" srcId="{566E64F9-8FD5-4D8C-AB97-9BE65DD74816}" destId="{E3643D55-5C63-4501-B906-48C668EE60C8}" srcOrd="0" destOrd="0" parTransId="{9B2ABACC-C283-4813-B870-5A2244406CE0}" sibTransId="{A33F006F-CFF3-4613-92AE-961B140FBCA0}"/>
    <dgm:cxn modelId="{2F66E700-0C82-4269-BDBE-179DB0532CE3}" type="presOf" srcId="{E3643D55-5C63-4501-B906-48C668EE60C8}" destId="{9EC62A49-F030-4C26-AE9F-65D976742B82}" srcOrd="0" destOrd="0" presId="urn:microsoft.com/office/officeart/2005/8/layout/matrix3"/>
    <dgm:cxn modelId="{A6378F0F-3280-494F-BF0A-3130FE446C50}" type="presOf" srcId="{9612C57D-E990-411E-9056-3ED39707051D}" destId="{CC622F11-B787-410C-9B73-B476FD0B6D8F}" srcOrd="0" destOrd="0" presId="urn:microsoft.com/office/officeart/2005/8/layout/matrix3"/>
    <dgm:cxn modelId="{4057CB2F-896C-4E4C-A99F-FA5092C85F12}" type="presOf" srcId="{566E64F9-8FD5-4D8C-AB97-9BE65DD74816}" destId="{A7664406-4B1D-47A9-A8F5-F10095B691CA}" srcOrd="0" destOrd="0" presId="urn:microsoft.com/office/officeart/2005/8/layout/matrix3"/>
    <dgm:cxn modelId="{52489A15-5CC0-4691-81CA-BB0EB297A713}" srcId="{566E64F9-8FD5-4D8C-AB97-9BE65DD74816}" destId="{BA571CA0-71AF-4018-9D8B-58A376E74E26}" srcOrd="2" destOrd="0" parTransId="{453A72EB-4BC8-4D21-94BF-7E4FFDA1278A}" sibTransId="{36613668-3008-4FEC-A6B2-C966BD4637DC}"/>
    <dgm:cxn modelId="{B94E3784-97A7-4586-A22B-E4074496FA7D}" type="presOf" srcId="{BA571CA0-71AF-4018-9D8B-58A376E74E26}" destId="{B29829A4-DBFD-4777-87EC-62AEF5BDDDF0}" srcOrd="0" destOrd="0" presId="urn:microsoft.com/office/officeart/2005/8/layout/matrix3"/>
    <dgm:cxn modelId="{C9FC4727-56C5-41AF-8A76-45820A421BD6}" srcId="{566E64F9-8FD5-4D8C-AB97-9BE65DD74816}" destId="{9612C57D-E990-411E-9056-3ED39707051D}" srcOrd="1" destOrd="0" parTransId="{B9C9BB21-7553-4A99-B938-2DF1F91D4046}" sibTransId="{8C7FC226-2521-44EC-8523-CA3B8A1F4620}"/>
    <dgm:cxn modelId="{4CA0346B-C683-4445-A702-CDBA4EB8500C}" type="presParOf" srcId="{A7664406-4B1D-47A9-A8F5-F10095B691CA}" destId="{822DC948-370C-4EF4-B351-902A4F6EB8AC}" srcOrd="0" destOrd="0" presId="urn:microsoft.com/office/officeart/2005/8/layout/matrix3"/>
    <dgm:cxn modelId="{28F7F9B9-5575-49CA-9478-3248BAA9A637}" type="presParOf" srcId="{A7664406-4B1D-47A9-A8F5-F10095B691CA}" destId="{9EC62A49-F030-4C26-AE9F-65D976742B82}" srcOrd="1" destOrd="0" presId="urn:microsoft.com/office/officeart/2005/8/layout/matrix3"/>
    <dgm:cxn modelId="{38032D71-1D8B-4FC0-94DF-3B1FF32A915D}" type="presParOf" srcId="{A7664406-4B1D-47A9-A8F5-F10095B691CA}" destId="{CC622F11-B787-410C-9B73-B476FD0B6D8F}" srcOrd="2" destOrd="0" presId="urn:microsoft.com/office/officeart/2005/8/layout/matrix3"/>
    <dgm:cxn modelId="{E76F23C8-944E-48B6-B7DA-0A41854AE47E}" type="presParOf" srcId="{A7664406-4B1D-47A9-A8F5-F10095B691CA}" destId="{B29829A4-DBFD-4777-87EC-62AEF5BDDDF0}" srcOrd="3" destOrd="0" presId="urn:microsoft.com/office/officeart/2005/8/layout/matrix3"/>
    <dgm:cxn modelId="{25B5F1EE-A256-4A10-896F-4D38FF9E6E8B}" type="presParOf" srcId="{A7664406-4B1D-47A9-A8F5-F10095B691CA}" destId="{DEED7A57-0982-44F0-84E9-052BA45D3578}"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2DC948-370C-4EF4-B351-902A4F6EB8AC}">
      <dsp:nvSpPr>
        <dsp:cNvPr id="0" name=""/>
        <dsp:cNvSpPr/>
      </dsp:nvSpPr>
      <dsp:spPr>
        <a:xfrm>
          <a:off x="125102" y="0"/>
          <a:ext cx="4882979" cy="4882979"/>
        </a:xfrm>
        <a:prstGeom prst="diamond">
          <a:avLst/>
        </a:prstGeom>
        <a:solidFill>
          <a:srgbClr val="9999FF">
            <a:tint val="40000"/>
            <a:hueOff val="0"/>
            <a:satOff val="0"/>
            <a:lumOff val="0"/>
            <a:alphaOff val="0"/>
          </a:srgb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9EC62A49-F030-4C26-AE9F-65D976742B82}">
      <dsp:nvSpPr>
        <dsp:cNvPr id="0" name=""/>
        <dsp:cNvSpPr/>
      </dsp:nvSpPr>
      <dsp:spPr>
        <a:xfrm>
          <a:off x="613986"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dirty="0">
              <a:solidFill>
                <a:srgbClr val="000000"/>
              </a:solidFill>
              <a:latin typeface="Arial"/>
              <a:ea typeface="+mn-ea"/>
              <a:cs typeface="+mn-cs"/>
            </a:rPr>
            <a:t>Easiest to Implement</a:t>
          </a:r>
        </a:p>
      </dsp:txBody>
      <dsp:txXfrm>
        <a:off x="706949" y="556846"/>
        <a:ext cx="1718436" cy="1718436"/>
      </dsp:txXfrm>
    </dsp:sp>
    <dsp:sp modelId="{CC622F11-B787-410C-9B73-B476FD0B6D8F}">
      <dsp:nvSpPr>
        <dsp:cNvPr id="0" name=""/>
        <dsp:cNvSpPr/>
      </dsp:nvSpPr>
      <dsp:spPr>
        <a:xfrm>
          <a:off x="2664838" y="463883"/>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dirty="0">
              <a:solidFill>
                <a:srgbClr val="000000"/>
              </a:solidFill>
              <a:latin typeface="Arial"/>
              <a:ea typeface="+mn-ea"/>
              <a:cs typeface="+mn-cs"/>
            </a:rPr>
            <a:t>Lowest Cost to Implement</a:t>
          </a:r>
        </a:p>
      </dsp:txBody>
      <dsp:txXfrm>
        <a:off x="2757801" y="556846"/>
        <a:ext cx="1718436" cy="1718436"/>
      </dsp:txXfrm>
    </dsp:sp>
    <dsp:sp modelId="{B29829A4-DBFD-4777-87EC-62AEF5BDDDF0}">
      <dsp:nvSpPr>
        <dsp:cNvPr id="0" name=""/>
        <dsp:cNvSpPr/>
      </dsp:nvSpPr>
      <dsp:spPr>
        <a:xfrm>
          <a:off x="613986"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a:solidFill>
                <a:srgbClr val="000000"/>
              </a:solidFill>
              <a:latin typeface="Arial"/>
              <a:ea typeface="+mn-ea"/>
              <a:cs typeface="+mn-cs"/>
            </a:rPr>
            <a:t>Quickest to Implement</a:t>
          </a:r>
          <a:endParaRPr lang="en-CA" sz="2300" b="1" kern="1200" dirty="0">
            <a:solidFill>
              <a:srgbClr val="000000"/>
            </a:solidFill>
            <a:latin typeface="Arial"/>
            <a:ea typeface="+mn-ea"/>
            <a:cs typeface="+mn-cs"/>
          </a:endParaRPr>
        </a:p>
      </dsp:txBody>
      <dsp:txXfrm>
        <a:off x="706949" y="2607697"/>
        <a:ext cx="1718436" cy="1718436"/>
      </dsp:txXfrm>
    </dsp:sp>
    <dsp:sp modelId="{DEED7A57-0982-44F0-84E9-052BA45D3578}">
      <dsp:nvSpPr>
        <dsp:cNvPr id="0" name=""/>
        <dsp:cNvSpPr/>
      </dsp:nvSpPr>
      <dsp:spPr>
        <a:xfrm>
          <a:off x="2664838" y="2514734"/>
          <a:ext cx="1904362" cy="1904362"/>
        </a:xfrm>
        <a:prstGeom prst="roundRect">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buNone/>
          </a:pPr>
          <a:r>
            <a:rPr lang="en-CA" sz="2300" b="1" kern="1200" dirty="0">
              <a:solidFill>
                <a:srgbClr val="000000"/>
              </a:solidFill>
              <a:latin typeface="Arial"/>
              <a:ea typeface="+mn-ea"/>
              <a:cs typeface="+mn-cs"/>
            </a:rPr>
            <a:t>Addresses Latent Causes</a:t>
          </a:r>
        </a:p>
      </dsp:txBody>
      <dsp:txXfrm>
        <a:off x="2757801" y="2607697"/>
        <a:ext cx="1718436" cy="1718436"/>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10/31/2021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10/31/2021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158545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1321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So what is the work process for creating recommendations? How do you get it done?</a:t>
            </a:r>
          </a:p>
          <a:p>
            <a:r>
              <a:rPr lang="en-US" altLang="en-US" dirty="0"/>
              <a:t>Prioritize using a simple or complex effort vs gain evaluation</a:t>
            </a:r>
          </a:p>
          <a:p>
            <a:r>
              <a:rPr lang="en-US" altLang="en-US" dirty="0"/>
              <a:t>Reality check: Is this do-able?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8214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defTabSz="909645">
              <a:defRPr/>
            </a:pPr>
            <a:r>
              <a:rPr lang="en-US" altLang="en-US" dirty="0"/>
              <a:t>Challenge is finding the sweet spot!</a:t>
            </a:r>
          </a:p>
          <a:p>
            <a:pPr defTabSz="909645">
              <a:defRPr/>
            </a:pPr>
            <a:r>
              <a:rPr lang="en-US" altLang="en-US" dirty="0"/>
              <a:t>Risk reduction solutions generated 30 to 40 from your team projects!</a:t>
            </a:r>
          </a:p>
          <a:p>
            <a:r>
              <a:rPr lang="en-US" altLang="en-US" dirty="0"/>
              <a:t>Practicable – useful and feasible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6824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What is the value of prioritizing recommendations?</a:t>
            </a:r>
          </a:p>
          <a:p>
            <a:r>
              <a:rPr lang="en-US" altLang="en-US" dirty="0"/>
              <a:t>Need to work on all of the recommendations made from a RCA, but you have to prioritize how and when you implement them</a:t>
            </a:r>
          </a:p>
          <a:p>
            <a:r>
              <a:rPr lang="en-US" altLang="en-US" dirty="0"/>
              <a:t>MUST be practicable and reduce the risk!</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9495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How much effort is required to implement and what will you gain? </a:t>
            </a:r>
          </a:p>
          <a:p>
            <a:r>
              <a:rPr lang="en-US" altLang="en-US" dirty="0"/>
              <a:t>Gain: Will it address latent causes or only the basic and immediate causes?</a:t>
            </a:r>
          </a:p>
          <a:p>
            <a:r>
              <a:rPr lang="en-US" altLang="en-US" dirty="0"/>
              <a:t>If the cost is high, the priority goes down</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0431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Gain: Will it address latent causes or only the basic and immediate causes?</a:t>
            </a:r>
          </a:p>
          <a:p>
            <a:endParaRPr lang="en-US" altLang="en-US" dirty="0"/>
          </a:p>
          <a:p>
            <a:r>
              <a:rPr lang="en-US" altLang="en-US" dirty="0"/>
              <a:t>Gain refers to:</a:t>
            </a:r>
          </a:p>
          <a:p>
            <a:r>
              <a:rPr lang="en-US" altLang="en-US" dirty="0"/>
              <a:t>The effectiveness of the solutions in addressing the causes (reducing the risk).  The solution that addresses latent causes is more effective than a solution that addresses basic causes or immediate causes. </a:t>
            </a:r>
          </a:p>
          <a:p>
            <a:endParaRPr lang="en-US" altLang="en-US" dirty="0"/>
          </a:p>
          <a:p>
            <a:r>
              <a:rPr lang="en-US" altLang="en-US" dirty="0"/>
              <a:t>Use of Experts: Typically, the persons with expertise and knowledge of the incident, the technology, the causes, and the scope and nature of the fix can make the best judgment on the effectiveness of the risk reduction solutions.</a:t>
            </a:r>
          </a:p>
          <a:p>
            <a:endParaRPr lang="en-US" altLang="en-US" dirty="0"/>
          </a:p>
          <a:p>
            <a:endParaRPr lang="en-US" altLang="en-US" dirty="0"/>
          </a:p>
          <a:p>
            <a:r>
              <a:rPr lang="en-US" altLang="en-US" dirty="0"/>
              <a:t>What is a better risk reduction strategy to avoid a vehicle collision? Drive more carefully or get snow tires. Get snow tires is the better solution.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8538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What is the value of prioritizing recommendations?</a:t>
            </a:r>
          </a:p>
          <a:p>
            <a:r>
              <a:rPr lang="en-US" altLang="en-US" dirty="0"/>
              <a:t>Need to work on all of the recommendations made from a RCA, but you have to prioritize how and when you implement them</a:t>
            </a:r>
          </a:p>
          <a:p>
            <a:r>
              <a:rPr lang="en-US" altLang="en-US" dirty="0"/>
              <a:t>MUST be practicable and reduce the risk!</a:t>
            </a:r>
          </a:p>
          <a:p>
            <a:endParaRPr lang="en-US" altLang="en-US" dirty="0"/>
          </a:p>
          <a:p>
            <a:r>
              <a:rPr lang="en-US" altLang="en-US" dirty="0"/>
              <a:t>Challenge is finding the sweet spot!</a:t>
            </a:r>
          </a:p>
          <a:p>
            <a:r>
              <a:rPr lang="en-US" altLang="en-US" dirty="0"/>
              <a:t>Risk reduction solutions generated 30 to 40 from your team projects!</a:t>
            </a:r>
          </a:p>
          <a:p>
            <a:r>
              <a:rPr lang="en-US" altLang="en-US" dirty="0"/>
              <a:t>Practicable – useful and feasible</a:t>
            </a:r>
          </a:p>
          <a:p>
            <a:endParaRPr lang="en-US" altLang="en-US" dirty="0"/>
          </a:p>
          <a:p>
            <a:r>
              <a:rPr lang="en-US" altLang="en-US" dirty="0"/>
              <a:t>How much effort is required to implement and what will you gain? </a:t>
            </a:r>
          </a:p>
          <a:p>
            <a:r>
              <a:rPr lang="en-US" altLang="en-US" dirty="0"/>
              <a:t>Gain: Will it address latent causes or only the basic and immediate causes?</a:t>
            </a:r>
          </a:p>
          <a:p>
            <a:r>
              <a:rPr lang="en-US" altLang="en-US" dirty="0"/>
              <a:t>If the cost is high, the priority goes down</a:t>
            </a:r>
          </a:p>
          <a:p>
            <a:endParaRPr lang="en-US" altLang="en-US" dirty="0"/>
          </a:p>
          <a:p>
            <a:r>
              <a:rPr lang="en-US" altLang="en-US" dirty="0"/>
              <a:t>Simple model. What is this graph saying?</a:t>
            </a:r>
          </a:p>
          <a:p>
            <a:r>
              <a:rPr lang="en-US" altLang="en-US" dirty="0"/>
              <a:t>Does everyone understand what the concept of low hanging fruit is? Great gain for minimal effort</a:t>
            </a:r>
          </a:p>
          <a:p>
            <a:r>
              <a:rPr lang="en-US" altLang="en-US" dirty="0"/>
              <a:t>Spend 10 </a:t>
            </a:r>
            <a:r>
              <a:rPr lang="en-US" altLang="en-US" dirty="0" err="1"/>
              <a:t>hrs</a:t>
            </a:r>
            <a:r>
              <a:rPr lang="en-US" altLang="en-US" dirty="0"/>
              <a:t> working on an assignment that’s worth 0.5%? Wasted resources – lots of effort for little gain</a:t>
            </a:r>
          </a:p>
          <a:p>
            <a:r>
              <a:rPr lang="en-US" altLang="en-US" dirty="0"/>
              <a:t>Just because you need to put a lot of effort into something, it doesn’t mean that it’s not worth it (can have major gain, but needs to be analyzed carefully)</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3685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The Complex “Effort</a:t>
            </a:r>
            <a:r>
              <a:rPr lang="en-US" altLang="en-US" baseline="0" dirty="0"/>
              <a:t> v Gain” Tool:</a:t>
            </a:r>
          </a:p>
          <a:p>
            <a:r>
              <a:rPr lang="en-US" altLang="en-US" dirty="0"/>
              <a:t>More quantitative approach</a:t>
            </a:r>
          </a:p>
          <a:p>
            <a:r>
              <a:rPr lang="en-US" altLang="en-US" dirty="0"/>
              <a:t>Gain at the top, effort at the bottom</a:t>
            </a:r>
          </a:p>
          <a:p>
            <a:r>
              <a:rPr lang="en-US" altLang="en-US" dirty="0"/>
              <a:t>Add up the points, get a score.</a:t>
            </a:r>
          </a:p>
          <a:p>
            <a:endParaRPr lang="en-US" altLang="en-US" dirty="0"/>
          </a:p>
          <a:p>
            <a:r>
              <a:rPr lang="en-US" altLang="en-US" dirty="0"/>
              <a:t>Gain Index: Higher score for addressing latent causes, versus basic and immediate</a:t>
            </a:r>
          </a:p>
          <a:p>
            <a:endParaRPr lang="en-US" altLang="en-US" dirty="0"/>
          </a:p>
          <a:p>
            <a:r>
              <a:rPr lang="en-US" altLang="en-US" dirty="0"/>
              <a:t>Effort Index: Similar sort of rating for effort with more categories to consider. Higher score for lower effort</a:t>
            </a:r>
          </a:p>
          <a:p>
            <a:endParaRPr lang="en-US" altLang="en-US" dirty="0"/>
          </a:p>
          <a:p>
            <a:endParaRPr lang="en-US" altLang="en-US"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9655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Gain Index</a:t>
            </a:r>
          </a:p>
          <a:p>
            <a:r>
              <a:rPr lang="en-US" altLang="en-US" dirty="0"/>
              <a:t>Higher score for addressing latent causes, versus basic and immediate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3317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Gain Index</a:t>
            </a:r>
          </a:p>
          <a:p>
            <a:r>
              <a:rPr lang="en-US" altLang="en-US" dirty="0"/>
              <a:t>Higher score for addressing latent causes, versus basic and immediate</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4279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Similar sort of rating for effort</a:t>
            </a:r>
          </a:p>
          <a:p>
            <a:r>
              <a:rPr lang="en-US" altLang="en-US" dirty="0"/>
              <a:t>Higher score for lower effort</a:t>
            </a:r>
          </a:p>
          <a:p>
            <a:r>
              <a:rPr lang="en-US" altLang="en-US" dirty="0"/>
              <a:t>Categories - listed</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5698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140986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Example of the complex tool (quantitative)</a:t>
            </a:r>
          </a:p>
          <a:p>
            <a:r>
              <a:rPr lang="en-US" altLang="en-US" dirty="0"/>
              <a:t>4 is from the gain index (4 x 72)</a:t>
            </a:r>
          </a:p>
          <a:p>
            <a:r>
              <a:rPr lang="en-US" altLang="en-US" dirty="0"/>
              <a:t>Spend a bit of time on explaining this…</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153247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Example of the complex tool (quantitative)</a:t>
            </a:r>
          </a:p>
          <a:p>
            <a:r>
              <a:rPr lang="en-US" altLang="en-US" dirty="0"/>
              <a:t>4 is from the gain index (4 x 72)</a:t>
            </a:r>
          </a:p>
          <a:p>
            <a:r>
              <a:rPr lang="en-US" altLang="en-US" dirty="0"/>
              <a:t>Spend a bit of time on explaining this…</a:t>
            </a:r>
          </a:p>
          <a:p>
            <a:endParaRPr lang="en-US" altLang="en-US" dirty="0"/>
          </a:p>
          <a:p>
            <a:r>
              <a:rPr lang="en-CA" dirty="0"/>
              <a:t>72 is in the low hanging fruit section</a:t>
            </a:r>
          </a:p>
          <a:p>
            <a:r>
              <a:rPr lang="en-CA" dirty="0"/>
              <a:t>Go ahead and implement it.</a:t>
            </a:r>
          </a:p>
          <a:p>
            <a:endParaRPr lang="en-CA" dirty="0"/>
          </a:p>
          <a:p>
            <a:r>
              <a:rPr lang="en-CA" dirty="0"/>
              <a:t>The higher the score, the better.</a:t>
            </a:r>
          </a:p>
          <a:p>
            <a:endParaRPr lang="en-CA" dirty="0"/>
          </a:p>
          <a:p>
            <a:r>
              <a:rPr lang="en-CA" dirty="0"/>
              <a:t>The</a:t>
            </a:r>
            <a:r>
              <a:rPr lang="en-CA" baseline="0" dirty="0"/>
              <a:t> quantitative brackets can be adjusted by your team to meet your needs. Consider the expenditures at the Bakery or on a world-scale mining operation. </a:t>
            </a:r>
            <a:endParaRPr lang="en-CA" dirty="0"/>
          </a:p>
          <a:p>
            <a:endParaRPr lang="en-US" altLang="en-US" dirty="0"/>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92949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altLang="en-US" dirty="0"/>
              <a:t>Too much effort spent trying to get more detail.</a:t>
            </a:r>
          </a:p>
          <a:p>
            <a:r>
              <a:rPr lang="en-US" altLang="en-US" dirty="0"/>
              <a:t>But what happens if your scoring from the complex doesn’t rank the recommendation how you think it should be?</a:t>
            </a:r>
          </a:p>
          <a:p>
            <a:r>
              <a:rPr lang="en-US" altLang="en-US" dirty="0"/>
              <a:t>Provide a rationale for why you are giving it a higher ranking/priority?</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7477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latin typeface="Arial"/>
                <a:ea typeface="Arial"/>
                <a:cs typeface="Arial"/>
                <a:sym typeface="Arial"/>
              </a:rPr>
              <a:t>I.e. PPE – you prioritize it because it’s easy and cheap, but it is not the most effective risk reduction solution!</a:t>
            </a:r>
            <a:endParaRPr lang="en-CA"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446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5587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4201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546767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10/31/2021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04179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906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75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3118CC2-884A-4430-8B4F-9976F3C29C24}" type="datetimeFigureOut">
              <a:rPr kumimoji="0" lang="en-US" sz="1800" b="0" i="0" u="none" strike="noStrike" kern="1200" cap="none" spc="0" normalizeH="0" baseline="0" noProof="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10/31/2021</a:t>
            </a:fld>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1823322-A425-42F9-B4E6-DE1BA6748FF3}" type="slidenum">
              <a:rPr kumimoji="0" lang="en-US" altLang="en-US" sz="1800" b="0" i="0" u="none" strike="noStrike" kern="1200" cap="none" spc="0" normalizeH="0" baseline="0" noProof="0">
                <a:ln>
                  <a:noFill/>
                </a:ln>
                <a:solidFill>
                  <a:srgbClr val="000000"/>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alt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4031461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568471"/>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Leader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in Risk Management</a:t>
            </a:r>
            <a:endParaRPr lang="en-US" altLang="en-US" i="1" kern="0" dirty="0">
              <a:solidFill>
                <a:srgbClr val="000099"/>
              </a:solidFill>
              <a:ea typeface="ＭＳ Ｐゴシック" panose="020B0600070205080204" pitchFamily="34" charset="-128"/>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no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t>RM in Industry</a:t>
            </a:r>
          </a:p>
        </p:txBody>
      </p:sp>
      <p:sp>
        <p:nvSpPr>
          <p:cNvPr id="24" name="Rectangle 3"/>
          <p:cNvSpPr>
            <a:spLocks noGrp="1" noChangeArrowheads="1"/>
          </p:cNvSpPr>
          <p:nvPr>
            <p:ph type="subTitle" idx="4294967295"/>
          </p:nvPr>
        </p:nvSpPr>
        <p:spPr>
          <a:xfrm>
            <a:off x="273050" y="2439988"/>
            <a:ext cx="8610600" cy="3581400"/>
          </a:xfrm>
        </p:spPr>
        <p:txBody>
          <a:bodyPr/>
          <a:lstStyle/>
          <a:p>
            <a:pPr marL="0" indent="0" algn="ctr" eaLnBrk="1" fontAlgn="auto" hangingPunct="1">
              <a:lnSpc>
                <a:spcPct val="100000"/>
              </a:lnSpc>
              <a:spcBef>
                <a:spcPts val="0"/>
              </a:spcBef>
              <a:spcAft>
                <a:spcPts val="0"/>
              </a:spcAft>
              <a:buFont typeface="Wingdings" panose="05000000000000000000" pitchFamily="2" charset="2"/>
              <a:buNone/>
              <a:defRPr/>
            </a:pPr>
            <a:r>
              <a:rPr lang="en-US" altLang="en-US" sz="3000" b="1" dirty="0">
                <a:solidFill>
                  <a:schemeClr val="tx1"/>
                </a:solidFill>
                <a:latin typeface="Arial" panose="020B0604020202020204" pitchFamily="34" charset="0"/>
              </a:rPr>
              <a:t>ENGG404 </a:t>
            </a:r>
            <a:r>
              <a:rPr lang="en-US" altLang="en-US" sz="3000" b="1" dirty="0" smtClean="0">
                <a:solidFill>
                  <a:schemeClr val="tx1"/>
                </a:solidFill>
                <a:latin typeface="Arial" panose="020B0604020202020204" pitchFamily="34" charset="0"/>
              </a:rPr>
              <a:t>– Seminar </a:t>
            </a:r>
            <a:r>
              <a:rPr lang="en-US" altLang="en-US" sz="3000" b="1" cap="none" dirty="0" smtClean="0">
                <a:solidFill>
                  <a:schemeClr val="tx1"/>
                </a:solidFill>
                <a:latin typeface="Arial" panose="020B0604020202020204" pitchFamily="34" charset="0"/>
              </a:rPr>
              <a:t>#4</a:t>
            </a:r>
            <a:endParaRPr lang="en-US" altLang="en-US" sz="3000" b="1" cap="none" dirty="0">
              <a:solidFill>
                <a:schemeClr val="tx1"/>
              </a:solidFill>
              <a:latin typeface="Arial" panose="020B0604020202020204" pitchFamily="34" charset="0"/>
            </a:endParaRPr>
          </a:p>
          <a:p>
            <a:pPr marL="0" indent="0" algn="ctr" eaLnBrk="1" fontAlgn="auto" hangingPunct="1">
              <a:spcBef>
                <a:spcPts val="0"/>
              </a:spcBef>
              <a:spcAft>
                <a:spcPts val="0"/>
              </a:spcAft>
              <a:buNone/>
              <a:defRPr/>
            </a:pPr>
            <a:r>
              <a:rPr lang="en-US" altLang="en-US" sz="3000" dirty="0">
                <a:solidFill>
                  <a:schemeClr val="tx1"/>
                </a:solidFill>
                <a:latin typeface="Arial" panose="020B0604020202020204" pitchFamily="34" charset="0"/>
              </a:rPr>
              <a:t>Chapter 4.6: Tools to Develop and Prioritize Recommendations</a:t>
            </a: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a:p>
            <a:pPr marL="0" indent="0" algn="ctr" eaLnBrk="1" fontAlgn="auto" hangingPunct="1">
              <a:lnSpc>
                <a:spcPct val="100000"/>
              </a:lnSpc>
              <a:spcBef>
                <a:spcPts val="0"/>
              </a:spcBef>
              <a:spcAft>
                <a:spcPts val="0"/>
              </a:spcAft>
              <a:buFont typeface="Wingdings" panose="05000000000000000000" pitchFamily="2" charset="2"/>
              <a:buNone/>
              <a:defRPr/>
            </a:pPr>
            <a:endParaRPr lang="en-US" altLang="en-US" sz="1300" cap="none" dirty="0">
              <a:solidFill>
                <a:schemeClr val="tx1"/>
              </a:solidFill>
              <a:latin typeface="Arial" panose="020B0604020202020204" pitchFamily="34" charset="0"/>
            </a:endParaRPr>
          </a:p>
        </p:txBody>
      </p:sp>
      <p:pic>
        <p:nvPicPr>
          <p:cNvPr id="2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553" y="3886200"/>
            <a:ext cx="201930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
          <p:cNvPicPr>
            <a:picLocks noChangeAspect="1"/>
          </p:cNvPicPr>
          <p:nvPr/>
        </p:nvPicPr>
        <p:blipFill>
          <a:blip r:embed="rId4">
            <a:extLst>
              <a:ext uri="{28A0092B-C50C-407E-A947-70E740481C1C}">
                <a14:useLocalDpi xmlns:a14="http://schemas.microsoft.com/office/drawing/2010/main" val="0"/>
              </a:ext>
            </a:extLst>
          </a:blip>
          <a:srcRect b="5457"/>
          <a:stretch>
            <a:fillRect/>
          </a:stretch>
        </p:blipFill>
        <p:spPr bwMode="auto">
          <a:xfrm>
            <a:off x="6112393" y="3999706"/>
            <a:ext cx="2667000"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a:t>
            </a:fld>
            <a:endParaRPr lang="en-US" altLang="en-US" sz="1200" b="1" i="1">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537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recommendations address/eliminate latent causes.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Generate and prioritize recommendations for action.</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4.6: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Tools to Develop </a:t>
            </a: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&amp; </a:t>
            </a:r>
            <a:r>
              <a:rPr kumimoji="0" lang="en-CA"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917303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Any incident investigation / root cause analysis (your team project) will generate many possible risk reduction solutions.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(you) must carefully evaluate these ideas in order to determine which ones are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practicable</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can be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effectively implemented</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be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when implemented</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Your recommendations should be SMART: </a:t>
            </a: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specific, measurable, actionable, realistic, and timely.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process consists of these major steps: </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 the Preliminary Recommendations.</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Characterize and Prioritize the Recommendations.</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 a “Reality Check”. </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Document the Recommendations.</a:t>
            </a:r>
          </a:p>
          <a:p>
            <a:pPr marL="457200" marR="0" lvl="1" indent="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Summarize the Recommendations. </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prioritize?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Developing Key Recommendations: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AutoShape 8">
            <a:extLst>
              <a:ext uri="{FF2B5EF4-FFF2-40B4-BE49-F238E27FC236}">
                <a16:creationId xmlns:a16="http://schemas.microsoft.com/office/drawing/2014/main" id="{B71E2367-1716-43B6-8E37-E836054B2134}"/>
              </a:ext>
            </a:extLst>
          </p:cNvPr>
          <p:cNvSpPr>
            <a:spLocks/>
          </p:cNvSpPr>
          <p:nvPr/>
        </p:nvSpPr>
        <p:spPr bwMode="auto">
          <a:xfrm>
            <a:off x="6189044" y="4043067"/>
            <a:ext cx="381000" cy="835321"/>
          </a:xfrm>
          <a:prstGeom prst="rightBrace">
            <a:avLst>
              <a:gd name="adj1" fmla="val 26667"/>
              <a:gd name="adj2" fmla="val 50000"/>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SzPct val="65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CA" altLang="en-US" sz="20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Text Box 9">
            <a:extLst>
              <a:ext uri="{FF2B5EF4-FFF2-40B4-BE49-F238E27FC236}">
                <a16:creationId xmlns:a16="http://schemas.microsoft.com/office/drawing/2014/main" id="{271E6B01-A29A-4E0B-887F-2715821BB141}"/>
              </a:ext>
            </a:extLst>
          </p:cNvPr>
          <p:cNvSpPr txBox="1">
            <a:spLocks noChangeArrowheads="1"/>
          </p:cNvSpPr>
          <p:nvPr/>
        </p:nvSpPr>
        <p:spPr bwMode="auto">
          <a:xfrm>
            <a:off x="6553200" y="3962400"/>
            <a:ext cx="1201764" cy="915988"/>
          </a:xfrm>
          <a:prstGeom prst="rect">
            <a:avLst/>
          </a:prstGeom>
          <a:noFill/>
          <a:ln>
            <a:noFill/>
          </a:ln>
          <a:effectLst>
            <a:prstShdw prst="shdw18" dist="17961" dir="13500000">
              <a:srgbClr val="9999FF">
                <a:gamma/>
                <a:shade val="60000"/>
                <a:invGamma/>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CA" altLang="en-US" sz="1800" b="0" i="1" u="none" strike="noStrike" kern="0" cap="none" spc="0" normalizeH="0" baseline="0" noProof="0" dirty="0">
                <a:ln>
                  <a:noFill/>
                </a:ln>
                <a:solidFill>
                  <a:srgbClr val="000000"/>
                </a:solidFill>
                <a:effectLst/>
                <a:uLnTx/>
                <a:uFillTx/>
                <a:latin typeface="Arial" panose="020B0604020202020204" pitchFamily="34" charset="0"/>
                <a:ea typeface="+mn-ea"/>
                <a:cs typeface="+mn-cs"/>
              </a:rPr>
              <a:t>1)-3) are a “work in progress”</a:t>
            </a:r>
          </a:p>
        </p:txBody>
      </p:sp>
    </p:spTree>
    <p:extLst>
      <p:ext uri="{BB962C8B-B14F-4D97-AF65-F5344CB8AC3E}">
        <p14:creationId xmlns:p14="http://schemas.microsoft.com/office/powerpoint/2010/main" val="50675761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Which recommendations will you implement?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Which order will you implement them?</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glossary for a </a:t>
            </a:r>
            <a:b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discussion on “practicable”.)</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Prioritizing: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Freeform 2"/>
          <p:cNvSpPr/>
          <p:nvPr/>
        </p:nvSpPr>
        <p:spPr>
          <a:xfrm>
            <a:off x="4940699" y="1559351"/>
            <a:ext cx="2843999" cy="2807992"/>
          </a:xfrm>
          <a:custGeom>
            <a:avLst/>
            <a:gdLst>
              <a:gd name="connsiteX0" fmla="*/ 0 w 2843999"/>
              <a:gd name="connsiteY0" fmla="*/ 1403996 h 2807992"/>
              <a:gd name="connsiteX1" fmla="*/ 1422000 w 2843999"/>
              <a:gd name="connsiteY1" fmla="*/ 0 h 2807992"/>
              <a:gd name="connsiteX2" fmla="*/ 2844000 w 2843999"/>
              <a:gd name="connsiteY2" fmla="*/ 1403996 h 2807992"/>
              <a:gd name="connsiteX3" fmla="*/ 1422000 w 2843999"/>
              <a:gd name="connsiteY3" fmla="*/ 2807992 h 2807992"/>
              <a:gd name="connsiteX4" fmla="*/ 0 w 2843999"/>
              <a:gd name="connsiteY4" fmla="*/ 1403996 h 280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99" h="2807992">
                <a:moveTo>
                  <a:pt x="0" y="1403996"/>
                </a:moveTo>
                <a:cubicBezTo>
                  <a:pt x="0" y="628590"/>
                  <a:pt x="636651" y="0"/>
                  <a:pt x="1422000" y="0"/>
                </a:cubicBezTo>
                <a:cubicBezTo>
                  <a:pt x="2207349" y="0"/>
                  <a:pt x="2844000" y="628590"/>
                  <a:pt x="2844000" y="1403996"/>
                </a:cubicBezTo>
                <a:cubicBezTo>
                  <a:pt x="2844000" y="2179402"/>
                  <a:pt x="2207349" y="2807992"/>
                  <a:pt x="1422000" y="2807992"/>
                </a:cubicBezTo>
                <a:cubicBezTo>
                  <a:pt x="636651" y="2807992"/>
                  <a:pt x="0" y="2179402"/>
                  <a:pt x="0" y="1403996"/>
                </a:cubicBezTo>
                <a:close/>
              </a:path>
            </a:pathLst>
          </a:custGeom>
          <a:solidFill>
            <a:srgbClr val="9999FF">
              <a:alpha val="5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360000" tIns="360000" rIns="360000" bIns="36000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2000" b="1" i="0" u="none" strike="noStrike" kern="1200" cap="none" spc="0" normalizeH="0" baseline="0" noProof="0" dirty="0">
                <a:ln>
                  <a:noFill/>
                </a:ln>
                <a:solidFill>
                  <a:srgbClr val="000000">
                    <a:hueOff val="0"/>
                    <a:satOff val="0"/>
                    <a:lumOff val="0"/>
                    <a:alphaOff val="0"/>
                  </a:srgbClr>
                </a:solidFill>
                <a:effectLst/>
                <a:uLnTx/>
                <a:uFillTx/>
                <a:latin typeface="Arial"/>
                <a:ea typeface="+mn-ea"/>
                <a:cs typeface="+mn-cs"/>
              </a:rPr>
              <a:t>Practicable</a:t>
            </a:r>
          </a:p>
        </p:txBody>
      </p:sp>
      <p:sp>
        <p:nvSpPr>
          <p:cNvPr id="4" name="Freeform 3"/>
          <p:cNvSpPr/>
          <p:nvPr/>
        </p:nvSpPr>
        <p:spPr>
          <a:xfrm>
            <a:off x="5955744" y="3317511"/>
            <a:ext cx="2843999" cy="2807992"/>
          </a:xfrm>
          <a:custGeom>
            <a:avLst/>
            <a:gdLst>
              <a:gd name="connsiteX0" fmla="*/ 0 w 2843999"/>
              <a:gd name="connsiteY0" fmla="*/ 1403996 h 2807992"/>
              <a:gd name="connsiteX1" fmla="*/ 1422000 w 2843999"/>
              <a:gd name="connsiteY1" fmla="*/ 0 h 2807992"/>
              <a:gd name="connsiteX2" fmla="*/ 2844000 w 2843999"/>
              <a:gd name="connsiteY2" fmla="*/ 1403996 h 2807992"/>
              <a:gd name="connsiteX3" fmla="*/ 1422000 w 2843999"/>
              <a:gd name="connsiteY3" fmla="*/ 2807992 h 2807992"/>
              <a:gd name="connsiteX4" fmla="*/ 0 w 2843999"/>
              <a:gd name="connsiteY4" fmla="*/ 1403996 h 280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99" h="2807992">
                <a:moveTo>
                  <a:pt x="0" y="1403996"/>
                </a:moveTo>
                <a:cubicBezTo>
                  <a:pt x="0" y="628590"/>
                  <a:pt x="636651" y="0"/>
                  <a:pt x="1422000" y="0"/>
                </a:cubicBezTo>
                <a:cubicBezTo>
                  <a:pt x="2207349" y="0"/>
                  <a:pt x="2844000" y="628590"/>
                  <a:pt x="2844000" y="1403996"/>
                </a:cubicBezTo>
                <a:cubicBezTo>
                  <a:pt x="2844000" y="2179402"/>
                  <a:pt x="2207349" y="2807992"/>
                  <a:pt x="1422000" y="2807992"/>
                </a:cubicBezTo>
                <a:cubicBezTo>
                  <a:pt x="636651" y="2807992"/>
                  <a:pt x="0" y="2179402"/>
                  <a:pt x="0" y="1403996"/>
                </a:cubicBezTo>
                <a:close/>
              </a:path>
            </a:pathLst>
          </a:custGeom>
          <a:solidFill>
            <a:srgbClr val="9999FF">
              <a:alpha val="5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900000" tIns="360000" rIns="360000" bIns="36000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2000" b="1" i="0" u="none" strike="noStrike" kern="1200" cap="none" spc="0" normalizeH="0" baseline="0" noProof="0" dirty="0">
                <a:ln>
                  <a:noFill/>
                </a:ln>
                <a:solidFill>
                  <a:srgbClr val="000000">
                    <a:hueOff val="0"/>
                    <a:satOff val="0"/>
                    <a:lumOff val="0"/>
                    <a:alphaOff val="0"/>
                  </a:srgbClr>
                </a:solidFill>
                <a:effectLst/>
                <a:uLnTx/>
                <a:uFillTx/>
                <a:latin typeface="Arial"/>
                <a:ea typeface="+mn-ea"/>
                <a:cs typeface="+mn-cs"/>
              </a:rPr>
              <a:t>Can be Successfully Implemented</a:t>
            </a:r>
          </a:p>
        </p:txBody>
      </p:sp>
      <p:sp>
        <p:nvSpPr>
          <p:cNvPr id="5" name="Freeform 4"/>
          <p:cNvSpPr/>
          <p:nvPr/>
        </p:nvSpPr>
        <p:spPr>
          <a:xfrm>
            <a:off x="3925655" y="3317511"/>
            <a:ext cx="2843999" cy="2807992"/>
          </a:xfrm>
          <a:custGeom>
            <a:avLst/>
            <a:gdLst>
              <a:gd name="connsiteX0" fmla="*/ 0 w 2843999"/>
              <a:gd name="connsiteY0" fmla="*/ 1403996 h 2807992"/>
              <a:gd name="connsiteX1" fmla="*/ 1422000 w 2843999"/>
              <a:gd name="connsiteY1" fmla="*/ 0 h 2807992"/>
              <a:gd name="connsiteX2" fmla="*/ 2844000 w 2843999"/>
              <a:gd name="connsiteY2" fmla="*/ 1403996 h 2807992"/>
              <a:gd name="connsiteX3" fmla="*/ 1422000 w 2843999"/>
              <a:gd name="connsiteY3" fmla="*/ 2807992 h 2807992"/>
              <a:gd name="connsiteX4" fmla="*/ 0 w 2843999"/>
              <a:gd name="connsiteY4" fmla="*/ 1403996 h 280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99" h="2807992">
                <a:moveTo>
                  <a:pt x="0" y="1403996"/>
                </a:moveTo>
                <a:cubicBezTo>
                  <a:pt x="0" y="628590"/>
                  <a:pt x="636651" y="0"/>
                  <a:pt x="1422000" y="0"/>
                </a:cubicBezTo>
                <a:cubicBezTo>
                  <a:pt x="2207349" y="0"/>
                  <a:pt x="2844000" y="628590"/>
                  <a:pt x="2844000" y="1403996"/>
                </a:cubicBezTo>
                <a:cubicBezTo>
                  <a:pt x="2844000" y="2179402"/>
                  <a:pt x="2207349" y="2807992"/>
                  <a:pt x="1422000" y="2807992"/>
                </a:cubicBezTo>
                <a:cubicBezTo>
                  <a:pt x="636651" y="2807992"/>
                  <a:pt x="0" y="2179402"/>
                  <a:pt x="0" y="1403996"/>
                </a:cubicBezTo>
                <a:close/>
              </a:path>
            </a:pathLst>
          </a:custGeom>
          <a:solidFill>
            <a:srgbClr val="9999FF">
              <a:alpha val="50000"/>
              <a:hueOff val="0"/>
              <a:satOff val="0"/>
              <a:lumOff val="0"/>
              <a:alphaOff val="0"/>
            </a:srgbClr>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tx1"/>
          </a:fontRef>
        </p:style>
        <p:txBody>
          <a:bodyPr spcFirstLastPara="0" vert="horz" wrap="square" lIns="360000" tIns="360000" rIns="900000" bIns="36000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2000" b="1" i="0" u="none" strike="noStrike" kern="1200" cap="none" spc="0" normalizeH="0" baseline="0" noProof="0" dirty="0">
                <a:ln>
                  <a:noFill/>
                </a:ln>
                <a:solidFill>
                  <a:srgbClr val="000000">
                    <a:hueOff val="0"/>
                    <a:satOff val="0"/>
                    <a:lumOff val="0"/>
                    <a:alphaOff val="0"/>
                  </a:srgbClr>
                </a:solidFill>
                <a:effectLst/>
                <a:uLnTx/>
                <a:uFillTx/>
                <a:latin typeface="Arial"/>
                <a:ea typeface="+mn-ea"/>
                <a:cs typeface="+mn-cs"/>
              </a:rPr>
              <a:t>Effective Once Implemented</a:t>
            </a:r>
          </a:p>
        </p:txBody>
      </p:sp>
      <p:sp>
        <p:nvSpPr>
          <p:cNvPr id="7" name="Arrow: Left 6">
            <a:extLst>
              <a:ext uri="{FF2B5EF4-FFF2-40B4-BE49-F238E27FC236}">
                <a16:creationId xmlns:a16="http://schemas.microsoft.com/office/drawing/2014/main" id="{62437C49-6C84-4906-B199-11EDB00E6B6D}"/>
              </a:ext>
            </a:extLst>
          </p:cNvPr>
          <p:cNvSpPr/>
          <p:nvPr/>
        </p:nvSpPr>
        <p:spPr bwMode="auto">
          <a:xfrm rot="18399130">
            <a:off x="6806449" y="1391268"/>
            <a:ext cx="865405" cy="762000"/>
          </a:xfrm>
          <a:prstGeom prst="leftArrow">
            <a:avLst/>
          </a:prstGeom>
          <a:solidFill>
            <a:srgbClr val="9999FF"/>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2400" b="0" i="0" u="none" strike="noStrike" kern="0" cap="none" spc="0" normalizeH="0" baseline="0" noProof="0">
              <a:ln>
                <a:noFill/>
              </a:ln>
              <a:solidFill>
                <a:srgbClr val="000000"/>
              </a:solidFill>
              <a:effectLst/>
              <a:uLnTx/>
              <a:uFillTx/>
              <a:latin typeface="Times New Roman" pitchFamily="18" charset="0"/>
              <a:ea typeface="+mn-ea"/>
              <a:cs typeface="+mn-cs"/>
            </a:endParaRPr>
          </a:p>
        </p:txBody>
      </p:sp>
      <p:sp>
        <p:nvSpPr>
          <p:cNvPr id="10" name="TextBox 9">
            <a:extLst>
              <a:ext uri="{FF2B5EF4-FFF2-40B4-BE49-F238E27FC236}">
                <a16:creationId xmlns:a16="http://schemas.microsoft.com/office/drawing/2014/main" id="{820F1997-E230-4ACB-A66E-D44C3AF976DE}"/>
              </a:ext>
            </a:extLst>
          </p:cNvPr>
          <p:cNvSpPr txBox="1"/>
          <p:nvPr/>
        </p:nvSpPr>
        <p:spPr>
          <a:xfrm>
            <a:off x="7593682" y="1259390"/>
            <a:ext cx="177972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1" u="none" strike="noStrike" kern="0" cap="none" spc="0" normalizeH="0" baseline="0" noProof="0" dirty="0">
                <a:ln>
                  <a:noFill/>
                </a:ln>
                <a:solidFill>
                  <a:srgbClr val="000000"/>
                </a:solidFill>
                <a:effectLst/>
                <a:uLnTx/>
                <a:uFillTx/>
                <a:latin typeface="Arial" panose="020B0604020202020204" pitchFamily="34" charset="0"/>
                <a:ea typeface="+mn-ea"/>
                <a:cs typeface="+mn-cs"/>
              </a:rPr>
              <a:t>Useful &amp; Feasible</a:t>
            </a:r>
          </a:p>
        </p:txBody>
      </p:sp>
    </p:spTree>
    <p:extLst>
      <p:ext uri="{BB962C8B-B14F-4D97-AF65-F5344CB8AC3E}">
        <p14:creationId xmlns:p14="http://schemas.microsoft.com/office/powerpoint/2010/main" val="197480554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Best Risk Reduction Solutions Are Those That Are:</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Diagram 5">
            <a:extLst>
              <a:ext uri="{FF2B5EF4-FFF2-40B4-BE49-F238E27FC236}">
                <a16:creationId xmlns:a16="http://schemas.microsoft.com/office/drawing/2014/main" id="{BF56263B-44D2-4939-B068-4DB7729704E4}"/>
              </a:ext>
            </a:extLst>
          </p:cNvPr>
          <p:cNvGraphicFramePr/>
          <p:nvPr>
            <p:extLst/>
          </p:nvPr>
        </p:nvGraphicFramePr>
        <p:xfrm>
          <a:off x="455613" y="914400"/>
          <a:ext cx="5183187" cy="48829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BF15BF95-4C2C-4E8D-BB57-EDC870DEFB7A}"/>
              </a:ext>
            </a:extLst>
          </p:cNvPr>
          <p:cNvSpPr txBox="1"/>
          <p:nvPr/>
        </p:nvSpPr>
        <p:spPr>
          <a:xfrm>
            <a:off x="4858544" y="2971654"/>
            <a:ext cx="3954856" cy="2753737"/>
          </a:xfrm>
          <a:prstGeom prst="leftArrow">
            <a:avLst>
              <a:gd name="adj1" fmla="val 62796"/>
              <a:gd name="adj2" fmla="val 50000"/>
            </a:avLst>
          </a:prstGeom>
          <a:gradFill flip="none" rotWithShape="1">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w="9525" cap="flat" cmpd="sng" algn="ctr">
            <a:solidFill>
              <a:srgbClr val="000000"/>
            </a:solidFill>
            <a:prstDash val="solid"/>
            <a:round/>
            <a:headEnd type="none" w="med" len="med"/>
            <a:tailEnd type="none" w="med" len="med"/>
          </a:ln>
          <a:effectLst/>
        </p:spPr>
        <p:txBody>
          <a:bodyPr vert="horz" wrap="square" lIns="36000" tIns="36000" rIns="36000" bIns="36000" numCol="1" rtlCol="0" anchor="ctr" anchorCtr="0" compatLnSpc="1">
            <a:prstTxWarp prst="textNoShape">
              <a:avLst/>
            </a:prstTxWarp>
          </a:bodyPr>
          <a:lstStyle>
            <a:defPPr>
              <a:defRPr lang="en-US"/>
            </a:defPPr>
            <a:lvl1pPr marL="0" marR="0" indent="0" defTabSz="914400" eaLnBrk="1" latinLnBrk="0" hangingPunct="1">
              <a:lnSpc>
                <a:spcPct val="100000"/>
              </a:lnSpc>
              <a:buClrTx/>
              <a:buSzTx/>
              <a:buFontTx/>
              <a:buNone/>
              <a:tabLst/>
              <a:defRPr kumimoji="0" sz="2400" b="0" i="0" u="none" strike="noStrike" cap="none" normalizeH="0" baseline="0">
                <a:ln>
                  <a:noFill/>
                </a:ln>
                <a:effectLst/>
                <a:latin typeface="Times New Roman"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recommendations to address latent causes must be most useful, </a:t>
            </a:r>
            <a:r>
              <a:rPr kumimoji="0" lang="en-CA" sz="20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feasible, and </a:t>
            </a:r>
            <a:r>
              <a:rPr kumimoji="0" lang="en-CA"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effective.</a:t>
            </a:r>
          </a:p>
        </p:txBody>
      </p:sp>
    </p:spTree>
    <p:extLst>
      <p:ext uri="{BB962C8B-B14F-4D97-AF65-F5344CB8AC3E}">
        <p14:creationId xmlns:p14="http://schemas.microsoft.com/office/powerpoint/2010/main" val="7114023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EFFORT Factor:</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Generally, want solutions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the lowest effort:</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#1: The Effort v Gain Tool for Quickly Prioritizing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Rectangle 2"/>
          <p:cNvSpPr/>
          <p:nvPr/>
        </p:nvSpPr>
        <p:spPr>
          <a:xfrm>
            <a:off x="2771893" y="1203000"/>
            <a:ext cx="5256213" cy="4953000"/>
          </a:xfrm>
          <a:prstGeom prst="rect">
            <a:avLst/>
          </a:prstGeom>
          <a:noFill/>
        </p:spPr>
      </p:sp>
      <p:sp>
        <p:nvSpPr>
          <p:cNvPr id="4" name="Block Arc 3"/>
          <p:cNvSpPr/>
          <p:nvPr/>
        </p:nvSpPr>
        <p:spPr>
          <a:xfrm>
            <a:off x="3555913" y="1773590"/>
            <a:ext cx="3811818" cy="3811818"/>
          </a:xfrm>
          <a:prstGeom prst="blockArc">
            <a:avLst>
              <a:gd name="adj1" fmla="val 10800000"/>
              <a:gd name="adj2" fmla="val 16200000"/>
              <a:gd name="adj3" fmla="val 4642"/>
            </a:avLst>
          </a:prstGeom>
          <a:solidFill>
            <a:srgbClr val="CCCCFF"/>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5" name="Block Arc 4"/>
          <p:cNvSpPr/>
          <p:nvPr/>
        </p:nvSpPr>
        <p:spPr>
          <a:xfrm>
            <a:off x="3555913" y="1773590"/>
            <a:ext cx="3811818" cy="3811818"/>
          </a:xfrm>
          <a:prstGeom prst="blockArc">
            <a:avLst>
              <a:gd name="adj1" fmla="val 5400000"/>
              <a:gd name="adj2" fmla="val 10800000"/>
              <a:gd name="adj3" fmla="val 4642"/>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7" name="Block Arc 6"/>
          <p:cNvSpPr/>
          <p:nvPr/>
        </p:nvSpPr>
        <p:spPr>
          <a:xfrm>
            <a:off x="3555913" y="1773590"/>
            <a:ext cx="3811818" cy="3811818"/>
          </a:xfrm>
          <a:prstGeom prst="blockArc">
            <a:avLst>
              <a:gd name="adj1" fmla="val 0"/>
              <a:gd name="adj2" fmla="val 5400000"/>
              <a:gd name="adj3" fmla="val 4642"/>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10" name="Block Arc 9"/>
          <p:cNvSpPr/>
          <p:nvPr/>
        </p:nvSpPr>
        <p:spPr>
          <a:xfrm>
            <a:off x="3555913" y="1773590"/>
            <a:ext cx="3811818" cy="3811818"/>
          </a:xfrm>
          <a:prstGeom prst="blockArc">
            <a:avLst>
              <a:gd name="adj1" fmla="val 16200000"/>
              <a:gd name="adj2" fmla="val 0"/>
              <a:gd name="adj3" fmla="val 4642"/>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11" name="Freeform 10"/>
          <p:cNvSpPr/>
          <p:nvPr/>
        </p:nvSpPr>
        <p:spPr>
          <a:xfrm>
            <a:off x="4584076" y="2801753"/>
            <a:ext cx="1755493" cy="1755493"/>
          </a:xfrm>
          <a:custGeom>
            <a:avLst/>
            <a:gdLst>
              <a:gd name="connsiteX0" fmla="*/ 0 w 1755493"/>
              <a:gd name="connsiteY0" fmla="*/ 877747 h 1755493"/>
              <a:gd name="connsiteX1" fmla="*/ 877747 w 1755493"/>
              <a:gd name="connsiteY1" fmla="*/ 0 h 1755493"/>
              <a:gd name="connsiteX2" fmla="*/ 1755494 w 1755493"/>
              <a:gd name="connsiteY2" fmla="*/ 877747 h 1755493"/>
              <a:gd name="connsiteX3" fmla="*/ 877747 w 1755493"/>
              <a:gd name="connsiteY3" fmla="*/ 1755494 h 1755493"/>
              <a:gd name="connsiteX4" fmla="*/ 0 w 1755493"/>
              <a:gd name="connsiteY4" fmla="*/ 877747 h 1755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493" h="1755493">
                <a:moveTo>
                  <a:pt x="0" y="877747"/>
                </a:moveTo>
                <a:cubicBezTo>
                  <a:pt x="0" y="392981"/>
                  <a:pt x="392981" y="0"/>
                  <a:pt x="877747" y="0"/>
                </a:cubicBezTo>
                <a:cubicBezTo>
                  <a:pt x="1362513" y="0"/>
                  <a:pt x="1755494" y="392981"/>
                  <a:pt x="1755494" y="877747"/>
                </a:cubicBezTo>
                <a:cubicBezTo>
                  <a:pt x="1755494" y="1362513"/>
                  <a:pt x="1362513" y="1755494"/>
                  <a:pt x="877747" y="1755494"/>
                </a:cubicBezTo>
                <a:cubicBezTo>
                  <a:pt x="392981" y="1755494"/>
                  <a:pt x="0" y="1362513"/>
                  <a:pt x="0" y="877747"/>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92646" tIns="292646" rIns="292646" bIns="292646" numCol="1" spcCol="1270" anchor="ctr" anchorCtr="0">
            <a:noAutofit/>
          </a:bodyP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1" i="0" u="none" strike="noStrike" kern="1200" cap="none" spc="0" normalizeH="0" baseline="0" noProof="0" dirty="0">
                <a:ln>
                  <a:noFill/>
                </a:ln>
                <a:solidFill>
                  <a:srgbClr val="00007D"/>
                </a:solidFill>
                <a:effectLst/>
                <a:uLnTx/>
                <a:uFillTx/>
                <a:latin typeface="Arial"/>
                <a:ea typeface="+mn-ea"/>
                <a:cs typeface="+mn-cs"/>
              </a:rPr>
              <a:t>Low Effort</a:t>
            </a:r>
          </a:p>
        </p:txBody>
      </p:sp>
      <p:sp>
        <p:nvSpPr>
          <p:cNvPr id="14" name="Freeform 13"/>
          <p:cNvSpPr/>
          <p:nvPr/>
        </p:nvSpPr>
        <p:spPr>
          <a:xfrm>
            <a:off x="4475563" y="1203406"/>
            <a:ext cx="1972517" cy="1228845"/>
          </a:xfrm>
          <a:custGeom>
            <a:avLst/>
            <a:gdLst>
              <a:gd name="connsiteX0" fmla="*/ 0 w 1972517"/>
              <a:gd name="connsiteY0" fmla="*/ 614423 h 1228845"/>
              <a:gd name="connsiteX1" fmla="*/ 986259 w 1972517"/>
              <a:gd name="connsiteY1" fmla="*/ 0 h 1228845"/>
              <a:gd name="connsiteX2" fmla="*/ 1972518 w 1972517"/>
              <a:gd name="connsiteY2" fmla="*/ 614423 h 1228845"/>
              <a:gd name="connsiteX3" fmla="*/ 986259 w 1972517"/>
              <a:gd name="connsiteY3" fmla="*/ 1228846 h 1228845"/>
              <a:gd name="connsiteX4" fmla="*/ 0 w 1972517"/>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517" h="1228845">
                <a:moveTo>
                  <a:pt x="0" y="614423"/>
                </a:moveTo>
                <a:cubicBezTo>
                  <a:pt x="0" y="275087"/>
                  <a:pt x="441563" y="0"/>
                  <a:pt x="986259" y="0"/>
                </a:cubicBezTo>
                <a:cubicBezTo>
                  <a:pt x="1530955" y="0"/>
                  <a:pt x="1972518" y="275087"/>
                  <a:pt x="1972518" y="614423"/>
                </a:cubicBezTo>
                <a:cubicBezTo>
                  <a:pt x="1972518" y="953759"/>
                  <a:pt x="1530955" y="1228846"/>
                  <a:pt x="986259" y="1228846"/>
                </a:cubicBezTo>
                <a:cubicBezTo>
                  <a:pt x="441563"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88" tIns="200280" rIns="309188"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Simple or Known Technology</a:t>
            </a:r>
          </a:p>
        </p:txBody>
      </p:sp>
      <p:sp>
        <p:nvSpPr>
          <p:cNvPr id="15" name="Freeform 14"/>
          <p:cNvSpPr/>
          <p:nvPr/>
        </p:nvSpPr>
        <p:spPr>
          <a:xfrm>
            <a:off x="6709071" y="3065077"/>
            <a:ext cx="1228845" cy="1228845"/>
          </a:xfrm>
          <a:custGeom>
            <a:avLst/>
            <a:gdLst>
              <a:gd name="connsiteX0" fmla="*/ 0 w 1228845"/>
              <a:gd name="connsiteY0" fmla="*/ 614423 h 1228845"/>
              <a:gd name="connsiteX1" fmla="*/ 614423 w 1228845"/>
              <a:gd name="connsiteY1" fmla="*/ 0 h 1228845"/>
              <a:gd name="connsiteX2" fmla="*/ 1228846 w 1228845"/>
              <a:gd name="connsiteY2" fmla="*/ 614423 h 1228845"/>
              <a:gd name="connsiteX3" fmla="*/ 614423 w 1228845"/>
              <a:gd name="connsiteY3" fmla="*/ 1228846 h 1228845"/>
              <a:gd name="connsiteX4" fmla="*/ 0 w 1228845"/>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845" h="1228845">
                <a:moveTo>
                  <a:pt x="0" y="614423"/>
                </a:moveTo>
                <a:cubicBezTo>
                  <a:pt x="0" y="275087"/>
                  <a:pt x="275087" y="0"/>
                  <a:pt x="614423" y="0"/>
                </a:cubicBezTo>
                <a:cubicBezTo>
                  <a:pt x="953759" y="0"/>
                  <a:pt x="1228846" y="275087"/>
                  <a:pt x="1228846" y="614423"/>
                </a:cubicBezTo>
                <a:cubicBezTo>
                  <a:pt x="1228846" y="953759"/>
                  <a:pt x="953759" y="1228846"/>
                  <a:pt x="614423" y="1228846"/>
                </a:cubicBezTo>
                <a:cubicBezTo>
                  <a:pt x="275087"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00280" tIns="200280" rIns="200280"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a:ln>
                  <a:noFill/>
                </a:ln>
                <a:solidFill>
                  <a:srgbClr val="00007D"/>
                </a:solidFill>
                <a:effectLst/>
                <a:uLnTx/>
                <a:uFillTx/>
                <a:latin typeface="Arial"/>
                <a:ea typeface="+mn-ea"/>
                <a:cs typeface="+mn-cs"/>
              </a:rPr>
              <a:t>Low Cost</a:t>
            </a:r>
            <a:endParaRPr kumimoji="0" lang="en-CA" sz="1800" b="1" i="0" u="none" strike="noStrike" kern="1200" cap="none" spc="0" normalizeH="0" baseline="0" noProof="0" dirty="0">
              <a:ln>
                <a:noFill/>
              </a:ln>
              <a:solidFill>
                <a:srgbClr val="00007D"/>
              </a:solidFill>
              <a:effectLst/>
              <a:uLnTx/>
              <a:uFillTx/>
              <a:latin typeface="Arial"/>
              <a:ea typeface="+mn-ea"/>
              <a:cs typeface="+mn-cs"/>
            </a:endParaRPr>
          </a:p>
        </p:txBody>
      </p:sp>
      <p:sp>
        <p:nvSpPr>
          <p:cNvPr id="16" name="Freeform 15"/>
          <p:cNvSpPr/>
          <p:nvPr/>
        </p:nvSpPr>
        <p:spPr>
          <a:xfrm>
            <a:off x="4475563" y="4926748"/>
            <a:ext cx="1972517" cy="1228845"/>
          </a:xfrm>
          <a:custGeom>
            <a:avLst/>
            <a:gdLst>
              <a:gd name="connsiteX0" fmla="*/ 0 w 1972517"/>
              <a:gd name="connsiteY0" fmla="*/ 614423 h 1228845"/>
              <a:gd name="connsiteX1" fmla="*/ 986259 w 1972517"/>
              <a:gd name="connsiteY1" fmla="*/ 0 h 1228845"/>
              <a:gd name="connsiteX2" fmla="*/ 1972518 w 1972517"/>
              <a:gd name="connsiteY2" fmla="*/ 614423 h 1228845"/>
              <a:gd name="connsiteX3" fmla="*/ 986259 w 1972517"/>
              <a:gd name="connsiteY3" fmla="*/ 1228846 h 1228845"/>
              <a:gd name="connsiteX4" fmla="*/ 0 w 1972517"/>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517" h="1228845">
                <a:moveTo>
                  <a:pt x="0" y="614423"/>
                </a:moveTo>
                <a:cubicBezTo>
                  <a:pt x="0" y="275087"/>
                  <a:pt x="441563" y="0"/>
                  <a:pt x="986259" y="0"/>
                </a:cubicBezTo>
                <a:cubicBezTo>
                  <a:pt x="1530955" y="0"/>
                  <a:pt x="1972518" y="275087"/>
                  <a:pt x="1972518" y="614423"/>
                </a:cubicBezTo>
                <a:cubicBezTo>
                  <a:pt x="1972518" y="953759"/>
                  <a:pt x="1530955" y="1228846"/>
                  <a:pt x="986259" y="1228846"/>
                </a:cubicBezTo>
                <a:cubicBezTo>
                  <a:pt x="441563"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88" tIns="200280" rIns="309188"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Quick to Implement</a:t>
            </a:r>
          </a:p>
        </p:txBody>
      </p:sp>
      <p:sp>
        <p:nvSpPr>
          <p:cNvPr id="17" name="Freeform 16"/>
          <p:cNvSpPr/>
          <p:nvPr/>
        </p:nvSpPr>
        <p:spPr>
          <a:xfrm>
            <a:off x="2862082" y="3065077"/>
            <a:ext cx="1476137" cy="1228845"/>
          </a:xfrm>
          <a:custGeom>
            <a:avLst/>
            <a:gdLst>
              <a:gd name="connsiteX0" fmla="*/ 0 w 1476137"/>
              <a:gd name="connsiteY0" fmla="*/ 614423 h 1228845"/>
              <a:gd name="connsiteX1" fmla="*/ 738069 w 1476137"/>
              <a:gd name="connsiteY1" fmla="*/ 0 h 1228845"/>
              <a:gd name="connsiteX2" fmla="*/ 1476138 w 1476137"/>
              <a:gd name="connsiteY2" fmla="*/ 614423 h 1228845"/>
              <a:gd name="connsiteX3" fmla="*/ 738069 w 1476137"/>
              <a:gd name="connsiteY3" fmla="*/ 1228846 h 1228845"/>
              <a:gd name="connsiteX4" fmla="*/ 0 w 1476137"/>
              <a:gd name="connsiteY4" fmla="*/ 614423 h 1228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137" h="1228845">
                <a:moveTo>
                  <a:pt x="0" y="614423"/>
                </a:moveTo>
                <a:cubicBezTo>
                  <a:pt x="0" y="275087"/>
                  <a:pt x="330445" y="0"/>
                  <a:pt x="738069" y="0"/>
                </a:cubicBezTo>
                <a:cubicBezTo>
                  <a:pt x="1145693" y="0"/>
                  <a:pt x="1476138" y="275087"/>
                  <a:pt x="1476138" y="614423"/>
                </a:cubicBezTo>
                <a:cubicBezTo>
                  <a:pt x="1476138" y="953759"/>
                  <a:pt x="1145693" y="1228846"/>
                  <a:pt x="738069" y="1228846"/>
                </a:cubicBezTo>
                <a:cubicBezTo>
                  <a:pt x="330445" y="1228846"/>
                  <a:pt x="0" y="953759"/>
                  <a:pt x="0" y="61442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36495" tIns="200280" rIns="236495" bIns="200280"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Short Duration</a:t>
            </a:r>
          </a:p>
        </p:txBody>
      </p:sp>
    </p:spTree>
    <p:extLst>
      <p:ext uri="{BB962C8B-B14F-4D97-AF65-F5344CB8AC3E}">
        <p14:creationId xmlns:p14="http://schemas.microsoft.com/office/powerpoint/2010/main" val="840041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GAIN Factor:</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Generally want solutions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reduce risks,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but most importantly,</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solutions that address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Solutions are needed that</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and do address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immediate and basic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causes, but the MOST</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effective address latent causes.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#1: The Effort v Gain Tool for Quickly Prioritizing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3" name="Rectangle 2"/>
          <p:cNvSpPr/>
          <p:nvPr/>
        </p:nvSpPr>
        <p:spPr>
          <a:xfrm>
            <a:off x="3733800" y="1015500"/>
            <a:ext cx="4951412" cy="4953000"/>
          </a:xfrm>
          <a:prstGeom prst="rect">
            <a:avLst/>
          </a:prstGeom>
          <a:noFill/>
        </p:spPr>
      </p:sp>
      <p:sp>
        <p:nvSpPr>
          <p:cNvPr id="4" name="Block Arc 3"/>
          <p:cNvSpPr/>
          <p:nvPr/>
        </p:nvSpPr>
        <p:spPr>
          <a:xfrm>
            <a:off x="4303254" y="1585748"/>
            <a:ext cx="3812502" cy="3812502"/>
          </a:xfrm>
          <a:prstGeom prst="blockArc">
            <a:avLst>
              <a:gd name="adj1" fmla="val 5400000"/>
              <a:gd name="adj2" fmla="val 16200000"/>
              <a:gd name="adj3" fmla="val 4641"/>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5" name="Block Arc 4"/>
          <p:cNvSpPr/>
          <p:nvPr/>
        </p:nvSpPr>
        <p:spPr>
          <a:xfrm>
            <a:off x="4303254" y="1585748"/>
            <a:ext cx="3812502" cy="3812502"/>
          </a:xfrm>
          <a:prstGeom prst="blockArc">
            <a:avLst>
              <a:gd name="adj1" fmla="val 16200000"/>
              <a:gd name="adj2" fmla="val 5400000"/>
              <a:gd name="adj3" fmla="val 4641"/>
            </a:avLst>
          </a:prstGeom>
          <a:gradFill rotWithShape="0">
            <a:gsLst>
              <a:gs pos="0">
                <a:srgbClr val="9999FF">
                  <a:tint val="60000"/>
                  <a:hueOff val="0"/>
                  <a:satOff val="0"/>
                  <a:lumOff val="0"/>
                  <a:alphaOff val="0"/>
                  <a:shade val="51000"/>
                  <a:satMod val="130000"/>
                </a:srgbClr>
              </a:gs>
              <a:gs pos="80000">
                <a:srgbClr val="9999FF">
                  <a:tint val="60000"/>
                  <a:hueOff val="0"/>
                  <a:satOff val="0"/>
                  <a:lumOff val="0"/>
                  <a:alphaOff val="0"/>
                  <a:shade val="93000"/>
                  <a:satMod val="130000"/>
                </a:srgbClr>
              </a:gs>
              <a:gs pos="100000">
                <a:srgbClr val="9999FF">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sp>
      <p:sp>
        <p:nvSpPr>
          <p:cNvPr id="7" name="Freeform 6"/>
          <p:cNvSpPr/>
          <p:nvPr/>
        </p:nvSpPr>
        <p:spPr>
          <a:xfrm>
            <a:off x="5331887" y="2614381"/>
            <a:ext cx="1755236" cy="1755236"/>
          </a:xfrm>
          <a:custGeom>
            <a:avLst/>
            <a:gdLst>
              <a:gd name="connsiteX0" fmla="*/ 0 w 1755236"/>
              <a:gd name="connsiteY0" fmla="*/ 877618 h 1755236"/>
              <a:gd name="connsiteX1" fmla="*/ 877618 w 1755236"/>
              <a:gd name="connsiteY1" fmla="*/ 0 h 1755236"/>
              <a:gd name="connsiteX2" fmla="*/ 1755236 w 1755236"/>
              <a:gd name="connsiteY2" fmla="*/ 877618 h 1755236"/>
              <a:gd name="connsiteX3" fmla="*/ 877618 w 1755236"/>
              <a:gd name="connsiteY3" fmla="*/ 1755236 h 1755236"/>
              <a:gd name="connsiteX4" fmla="*/ 0 w 1755236"/>
              <a:gd name="connsiteY4" fmla="*/ 877618 h 1755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236" h="1755236">
                <a:moveTo>
                  <a:pt x="0" y="877618"/>
                </a:moveTo>
                <a:cubicBezTo>
                  <a:pt x="0" y="392923"/>
                  <a:pt x="392923" y="0"/>
                  <a:pt x="877618" y="0"/>
                </a:cubicBezTo>
                <a:cubicBezTo>
                  <a:pt x="1362313" y="0"/>
                  <a:pt x="1755236" y="392923"/>
                  <a:pt x="1755236" y="877618"/>
                </a:cubicBezTo>
                <a:cubicBezTo>
                  <a:pt x="1755236" y="1362313"/>
                  <a:pt x="1362313" y="1755236"/>
                  <a:pt x="877618" y="1755236"/>
                </a:cubicBezTo>
                <a:cubicBezTo>
                  <a:pt x="392923" y="1755236"/>
                  <a:pt x="0" y="1362313"/>
                  <a:pt x="0" y="877618"/>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292608" tIns="292608" rIns="292608" bIns="292608" numCol="1" spcCol="1270" anchor="ctr" anchorCtr="0">
            <a:noAutofit/>
          </a:bodyPr>
          <a:lstStyle/>
          <a:p>
            <a:pPr marL="0" marR="0" lvl="0" indent="0" algn="ctr" defTabSz="1244600" rtl="0" eaLnBrk="0" fontAlgn="base" latinLnBrk="0" hangingPunct="0">
              <a:lnSpc>
                <a:spcPct val="90000"/>
              </a:lnSpc>
              <a:spcBef>
                <a:spcPct val="0"/>
              </a:spcBef>
              <a:spcAft>
                <a:spcPct val="35000"/>
              </a:spcAft>
              <a:buClrTx/>
              <a:buSzTx/>
              <a:buFontTx/>
              <a:buNone/>
              <a:tabLst/>
              <a:defRPr/>
            </a:pPr>
            <a:r>
              <a:rPr kumimoji="0" lang="en-CA" sz="2800" b="1" i="0" u="none" strike="noStrike" kern="1200" cap="none" spc="0" normalizeH="0" baseline="0" noProof="0" dirty="0">
                <a:ln>
                  <a:noFill/>
                </a:ln>
                <a:solidFill>
                  <a:srgbClr val="00007D"/>
                </a:solidFill>
                <a:effectLst/>
                <a:uLnTx/>
                <a:uFillTx/>
                <a:latin typeface="Arial"/>
                <a:ea typeface="+mn-ea"/>
                <a:cs typeface="+mn-cs"/>
              </a:rPr>
              <a:t>Most Gain</a:t>
            </a:r>
          </a:p>
        </p:txBody>
      </p:sp>
      <p:sp>
        <p:nvSpPr>
          <p:cNvPr id="10" name="Freeform 9"/>
          <p:cNvSpPr/>
          <p:nvPr/>
        </p:nvSpPr>
        <p:spPr>
          <a:xfrm>
            <a:off x="5223391" y="1015648"/>
            <a:ext cx="1972229" cy="1228665"/>
          </a:xfrm>
          <a:custGeom>
            <a:avLst/>
            <a:gdLst>
              <a:gd name="connsiteX0" fmla="*/ 0 w 1972229"/>
              <a:gd name="connsiteY0" fmla="*/ 614333 h 1228665"/>
              <a:gd name="connsiteX1" fmla="*/ 986115 w 1972229"/>
              <a:gd name="connsiteY1" fmla="*/ 0 h 1228665"/>
              <a:gd name="connsiteX2" fmla="*/ 1972230 w 1972229"/>
              <a:gd name="connsiteY2" fmla="*/ 614333 h 1228665"/>
              <a:gd name="connsiteX3" fmla="*/ 986115 w 1972229"/>
              <a:gd name="connsiteY3" fmla="*/ 1228666 h 1228665"/>
              <a:gd name="connsiteX4" fmla="*/ 0 w 1972229"/>
              <a:gd name="connsiteY4" fmla="*/ 614333 h 122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229" h="1228665">
                <a:moveTo>
                  <a:pt x="0" y="614333"/>
                </a:moveTo>
                <a:cubicBezTo>
                  <a:pt x="0" y="275046"/>
                  <a:pt x="441499" y="0"/>
                  <a:pt x="986115" y="0"/>
                </a:cubicBezTo>
                <a:cubicBezTo>
                  <a:pt x="1530731" y="0"/>
                  <a:pt x="1972230" y="275046"/>
                  <a:pt x="1972230" y="614333"/>
                </a:cubicBezTo>
                <a:cubicBezTo>
                  <a:pt x="1972230" y="953620"/>
                  <a:pt x="1530731" y="1228666"/>
                  <a:pt x="986115" y="1228666"/>
                </a:cubicBezTo>
                <a:cubicBezTo>
                  <a:pt x="441499" y="1228666"/>
                  <a:pt x="0" y="953620"/>
                  <a:pt x="0" y="61433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46" tIns="200254" rIns="309146" bIns="200254"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Address Latent Causes</a:t>
            </a:r>
          </a:p>
        </p:txBody>
      </p:sp>
      <p:sp>
        <p:nvSpPr>
          <p:cNvPr id="11" name="Freeform 10"/>
          <p:cNvSpPr/>
          <p:nvPr/>
        </p:nvSpPr>
        <p:spPr>
          <a:xfrm>
            <a:off x="5223391" y="4739686"/>
            <a:ext cx="1972229" cy="1228665"/>
          </a:xfrm>
          <a:custGeom>
            <a:avLst/>
            <a:gdLst>
              <a:gd name="connsiteX0" fmla="*/ 0 w 1972229"/>
              <a:gd name="connsiteY0" fmla="*/ 614333 h 1228665"/>
              <a:gd name="connsiteX1" fmla="*/ 986115 w 1972229"/>
              <a:gd name="connsiteY1" fmla="*/ 0 h 1228665"/>
              <a:gd name="connsiteX2" fmla="*/ 1972230 w 1972229"/>
              <a:gd name="connsiteY2" fmla="*/ 614333 h 1228665"/>
              <a:gd name="connsiteX3" fmla="*/ 986115 w 1972229"/>
              <a:gd name="connsiteY3" fmla="*/ 1228666 h 1228665"/>
              <a:gd name="connsiteX4" fmla="*/ 0 w 1972229"/>
              <a:gd name="connsiteY4" fmla="*/ 614333 h 1228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2229" h="1228665">
                <a:moveTo>
                  <a:pt x="0" y="614333"/>
                </a:moveTo>
                <a:cubicBezTo>
                  <a:pt x="0" y="275046"/>
                  <a:pt x="441499" y="0"/>
                  <a:pt x="986115" y="0"/>
                </a:cubicBezTo>
                <a:cubicBezTo>
                  <a:pt x="1530731" y="0"/>
                  <a:pt x="1972230" y="275046"/>
                  <a:pt x="1972230" y="614333"/>
                </a:cubicBezTo>
                <a:cubicBezTo>
                  <a:pt x="1972230" y="953620"/>
                  <a:pt x="1530731" y="1228666"/>
                  <a:pt x="986115" y="1228666"/>
                </a:cubicBezTo>
                <a:cubicBezTo>
                  <a:pt x="441499" y="1228666"/>
                  <a:pt x="0" y="953620"/>
                  <a:pt x="0" y="614333"/>
                </a:cubicBezTo>
                <a:close/>
              </a:path>
            </a:pathLst>
          </a:custGeom>
          <a:gradFill flip="none" rotWithShape="0">
            <a:gsLst>
              <a:gs pos="0">
                <a:srgbClr val="9999CC">
                  <a:lumMod val="0"/>
                  <a:lumOff val="100000"/>
                </a:srgbClr>
              </a:gs>
              <a:gs pos="35000">
                <a:srgbClr val="9999CC">
                  <a:lumMod val="0"/>
                  <a:lumOff val="100000"/>
                </a:srgbClr>
              </a:gs>
              <a:gs pos="100000">
                <a:srgbClr val="9999CC">
                  <a:lumMod val="100000"/>
                </a:srgbClr>
              </a:gs>
            </a:gsLst>
            <a:path path="circle">
              <a:fillToRect l="50000" t="-80000" r="50000" b="180000"/>
            </a:path>
            <a:tileRect/>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style>
          <a:lnRef idx="0">
            <a:scrgbClr r="0" g="0" b="0"/>
          </a:lnRef>
          <a:fillRef idx="3">
            <a:scrgbClr r="0" g="0" b="0"/>
          </a:fillRef>
          <a:effectRef idx="3">
            <a:scrgbClr r="0" g="0" b="0"/>
          </a:effectRef>
          <a:fontRef idx="minor">
            <a:schemeClr val="lt1"/>
          </a:fontRef>
        </p:style>
        <p:txBody>
          <a:bodyPr spcFirstLastPara="0" vert="horz" wrap="square" lIns="309146" tIns="200254" rIns="309146" bIns="200254" numCol="1" spcCol="1270" anchor="ctr" anchorCtr="0">
            <a:noAutofit/>
          </a:bodyPr>
          <a:lstStyle/>
          <a:p>
            <a:pPr marL="0" marR="0" lvl="0" indent="0" algn="ctr" defTabSz="711200" rtl="0" eaLnBrk="0" fontAlgn="base" latinLnBrk="0" hangingPunct="0">
              <a:lnSpc>
                <a:spcPct val="90000"/>
              </a:lnSpc>
              <a:spcBef>
                <a:spcPct val="0"/>
              </a:spcBef>
              <a:spcAft>
                <a:spcPct val="35000"/>
              </a:spcAft>
              <a:buClrTx/>
              <a:buSzTx/>
              <a:buFontTx/>
              <a:buNone/>
              <a:tabLst/>
              <a:defRPr/>
            </a:pPr>
            <a:r>
              <a:rPr kumimoji="0" lang="en-CA" sz="1800" b="1" i="0" u="none" strike="noStrike" kern="1200" cap="none" spc="0" normalizeH="0" baseline="0" noProof="0" dirty="0">
                <a:ln>
                  <a:noFill/>
                </a:ln>
                <a:solidFill>
                  <a:srgbClr val="00007D"/>
                </a:solidFill>
                <a:effectLst/>
                <a:uLnTx/>
                <a:uFillTx/>
                <a:latin typeface="Arial"/>
                <a:ea typeface="+mn-ea"/>
                <a:cs typeface="+mn-cs"/>
              </a:rPr>
              <a:t>Reduce Risks</a:t>
            </a:r>
          </a:p>
        </p:txBody>
      </p:sp>
    </p:spTree>
    <p:extLst>
      <p:ext uri="{BB962C8B-B14F-4D97-AF65-F5344CB8AC3E}">
        <p14:creationId xmlns:p14="http://schemas.microsoft.com/office/powerpoint/2010/main" val="1996187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intuitively do this now … would you spend 10 hours on an assignment that’s worth 0.5% of your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mark?</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#1: the Simple Effort v Gain Illustrated: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7">
            <a:extLst>
              <a:ext uri="{FF2B5EF4-FFF2-40B4-BE49-F238E27FC236}">
                <a16:creationId xmlns:a16="http://schemas.microsoft.com/office/drawing/2014/main" id="{39504DE5-F716-4DC3-83AE-CEF902152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000" y="1823497"/>
            <a:ext cx="6096000" cy="4348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115729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Method #2: The Complex Effort v Gain Tool: “Quantitative”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6" name="Picture 5">
            <a:extLst>
              <a:ext uri="{FF2B5EF4-FFF2-40B4-BE49-F238E27FC236}">
                <a16:creationId xmlns:a16="http://schemas.microsoft.com/office/drawing/2014/main" id="{6C65B134-82E3-4ADF-A013-5197C1741D57}"/>
              </a:ext>
            </a:extLst>
          </p:cNvPr>
          <p:cNvPicPr>
            <a:picLocks noChangeAspect="1"/>
          </p:cNvPicPr>
          <p:nvPr/>
        </p:nvPicPr>
        <p:blipFill>
          <a:blip r:embed="rId3"/>
          <a:stretch>
            <a:fillRect/>
          </a:stretch>
        </p:blipFill>
        <p:spPr>
          <a:xfrm>
            <a:off x="914400" y="1107067"/>
            <a:ext cx="6737380" cy="4643866"/>
          </a:xfrm>
          <a:prstGeom prst="rect">
            <a:avLst/>
          </a:prstGeom>
        </p:spPr>
      </p:pic>
    </p:spTree>
    <p:extLst>
      <p:ext uri="{BB962C8B-B14F-4D97-AF65-F5344CB8AC3E}">
        <p14:creationId xmlns:p14="http://schemas.microsoft.com/office/powerpoint/2010/main" val="5424699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Gain Index of The Complex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70">
            <a:extLst>
              <a:ext uri="{FF2B5EF4-FFF2-40B4-BE49-F238E27FC236}">
                <a16:creationId xmlns:a16="http://schemas.microsoft.com/office/drawing/2014/main" id="{A4472481-9923-45D6-9E3F-ED1B04B513F3}"/>
              </a:ext>
            </a:extLst>
          </p:cNvPr>
          <p:cNvGraphicFramePr>
            <a:graphicFrameLocks noGrp="1"/>
          </p:cNvGraphicFramePr>
          <p:nvPr>
            <p:extLst/>
          </p:nvPr>
        </p:nvGraphicFramePr>
        <p:xfrm>
          <a:off x="419100" y="893497"/>
          <a:ext cx="8305800" cy="4846350"/>
        </p:xfrm>
        <a:graphic>
          <a:graphicData uri="http://schemas.openxmlformats.org/drawingml/2006/table">
            <a:tbl>
              <a:tblPr/>
              <a:tblGrid>
                <a:gridCol w="1438275">
                  <a:extLst>
                    <a:ext uri="{9D8B030D-6E8A-4147-A177-3AD203B41FA5}">
                      <a16:colId xmlns:a16="http://schemas.microsoft.com/office/drawing/2014/main" val="20000"/>
                    </a:ext>
                  </a:extLst>
                </a:gridCol>
                <a:gridCol w="6867525">
                  <a:extLst>
                    <a:ext uri="{9D8B030D-6E8A-4147-A177-3AD203B41FA5}">
                      <a16:colId xmlns:a16="http://schemas.microsoft.com/office/drawing/2014/main" val="20001"/>
                    </a:ext>
                  </a:extLst>
                </a:gridCol>
              </a:tblGrid>
              <a:tr h="36117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 Criteria (any one of or combination of):</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902924">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latent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Eliminates hazards or has the greatest reduction in risk levels. </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 initiating events.</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basic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“4”.</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Prevent incident by eliminating subsequent condition splits.</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Eliminates impact in overall PEAP despite having an event.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immediate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“3”.</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Minimizes impact significantly in overall PEAP i.e. mitigates the consequence of an incident.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125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Minimizes impact slightly in overall PEAP i.e. mitigates the consequence of an incident.</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Does not address any cause. </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Reduces risk levels to a lesser extent than “2”, or not at all. </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450774968"/>
                  </a:ext>
                </a:extLst>
              </a:tr>
            </a:tbl>
          </a:graphicData>
        </a:graphic>
      </p:graphicFrame>
    </p:spTree>
    <p:extLst>
      <p:ext uri="{BB962C8B-B14F-4D97-AF65-F5344CB8AC3E}">
        <p14:creationId xmlns:p14="http://schemas.microsoft.com/office/powerpoint/2010/main" val="36202187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Gain Index of The Complex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70">
            <a:extLst>
              <a:ext uri="{FF2B5EF4-FFF2-40B4-BE49-F238E27FC236}">
                <a16:creationId xmlns:a16="http://schemas.microsoft.com/office/drawing/2014/main" id="{358C4C8A-B947-49B9-AC1B-8255F770B438}"/>
              </a:ext>
            </a:extLst>
          </p:cNvPr>
          <p:cNvGraphicFramePr>
            <a:graphicFrameLocks noGrp="1"/>
          </p:cNvGraphicFramePr>
          <p:nvPr>
            <p:extLst/>
          </p:nvPr>
        </p:nvGraphicFramePr>
        <p:xfrm>
          <a:off x="419100" y="882125"/>
          <a:ext cx="8305800" cy="5273875"/>
        </p:xfrm>
        <a:graphic>
          <a:graphicData uri="http://schemas.openxmlformats.org/drawingml/2006/table">
            <a:tbl>
              <a:tblPr/>
              <a:tblGrid>
                <a:gridCol w="1438275">
                  <a:extLst>
                    <a:ext uri="{9D8B030D-6E8A-4147-A177-3AD203B41FA5}">
                      <a16:colId xmlns:a16="http://schemas.microsoft.com/office/drawing/2014/main" val="20000"/>
                    </a:ext>
                  </a:extLst>
                </a:gridCol>
                <a:gridCol w="6867525">
                  <a:extLst>
                    <a:ext uri="{9D8B030D-6E8A-4147-A177-3AD203B41FA5}">
                      <a16:colId xmlns:a16="http://schemas.microsoft.com/office/drawing/2014/main" val="20001"/>
                    </a:ext>
                  </a:extLst>
                </a:gridCol>
              </a:tblGrid>
              <a:tr h="36117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Gain Index Criteria (any one of or combination of):</a:t>
                      </a:r>
                      <a:endPar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65605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Addresses latent causes relating to RM Elements </a:t>
                      </a: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a:r>
                      <a:b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1 MLCA, and/or #6 PECI</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1"/>
                  </a:ext>
                </a:extLst>
              </a:tr>
              <a:tr h="902924">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latent causes. </a:t>
                      </a:r>
                      <a:endParaRPr kumimoji="0" lang="en-CA"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Eliminates hazards or has the greatest reduction in risk levels. </a:t>
                      </a:r>
                      <a:endParaRPr kumimoji="0" lang="en-CA"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 initiating events.</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basic causes. </a:t>
                      </a:r>
                      <a:endParaRPr kumimoji="0" lang="en-CA"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“4”.</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Prevent incident by eliminating subsequent condition splits.</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Eliminates impact in overall PEAP despite having an event.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11255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tabLst>
                          <a:tab pos="228600" algn="l"/>
                        </a:tabLst>
                        <a:defRPr sz="2800" kern="1200">
                          <a:solidFill>
                            <a:schemeClr val="tx1"/>
                          </a:solidFill>
                          <a:latin typeface="Times New Roman" panose="02020603050405020304" pitchFamily="18" charset="0"/>
                        </a:defRPr>
                      </a:lvl1pPr>
                      <a:lvl2pPr marL="457200" algn="l" defTabSz="914400" rtl="0" eaLnBrk="1" latinLnBrk="0" hangingPunct="1">
                        <a:spcBef>
                          <a:spcPct val="20000"/>
                        </a:spcBef>
                        <a:tabLst>
                          <a:tab pos="228600" algn="l"/>
                        </a:tabLst>
                        <a:defRPr sz="2400" kern="1200">
                          <a:solidFill>
                            <a:schemeClr val="tx1"/>
                          </a:solidFill>
                          <a:latin typeface="Times New Roman" panose="02020603050405020304" pitchFamily="18" charset="0"/>
                        </a:defRPr>
                      </a:lvl2pPr>
                      <a:lvl3pPr marL="914400" algn="l" defTabSz="914400" rtl="0" eaLnBrk="1" latinLnBrk="0" hangingPunct="1">
                        <a:spcBef>
                          <a:spcPct val="20000"/>
                        </a:spcBef>
                        <a:tabLst>
                          <a:tab pos="228600" algn="l"/>
                        </a:tabLst>
                        <a:defRPr sz="2000" kern="1200">
                          <a:solidFill>
                            <a:schemeClr val="tx1"/>
                          </a:solidFill>
                          <a:latin typeface="Times New Roman" panose="02020603050405020304" pitchFamily="18" charset="0"/>
                        </a:defRPr>
                      </a:lvl3pPr>
                      <a:lvl4pPr marL="1371600" algn="l" defTabSz="914400" rtl="0" eaLnBrk="1" latinLnBrk="0" hangingPunct="1">
                        <a:spcBef>
                          <a:spcPct val="20000"/>
                        </a:spcBef>
                        <a:tabLst>
                          <a:tab pos="228600" algn="l"/>
                        </a:tabLst>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tabLst>
                          <a:tab pos="228600" algn="l"/>
                        </a:tabLst>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tabLst>
                          <a:tab pos="228600" algn="l"/>
                        </a:tabLst>
                        <a:defRPr sz="1800" kern="1200">
                          <a:solidFill>
                            <a:schemeClr val="tx1"/>
                          </a:solidFill>
                          <a:latin typeface="Times New Roman" panose="02020603050405020304" pitchFamily="18" charset="0"/>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Addresses immediate causes. </a:t>
                      </a:r>
                      <a:endParaRPr kumimoji="0" lang="en-CA"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risk levels to a lesser extent than “3”.</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Minimizes impact significantly in overall PEAP i.e. mitigates the consequence of an incident.</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125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Minimizes impact slightly in overall PEAP i.e. mitigates the consequence of an incident.</a:t>
                      </a:r>
                      <a:endParaRPr kumimoji="0" lang="en-CA"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Does not address any cause. </a:t>
                      </a:r>
                      <a:endParaRPr kumimoji="0" lang="en-CA"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180000" marR="0" lvl="0" indent="-1800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228600" algn="l"/>
                        </a:tabLst>
                      </a:pP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Reduces risk levels to a lesser extent than “2”, or not at all. </a:t>
                      </a: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450774968"/>
                  </a:ext>
                </a:extLst>
              </a:tr>
            </a:tbl>
          </a:graphicData>
        </a:graphic>
      </p:graphicFrame>
      <p:sp>
        <p:nvSpPr>
          <p:cNvPr id="7" name="Rounded Rectangular Callout 1">
            <a:extLst>
              <a:ext uri="{FF2B5EF4-FFF2-40B4-BE49-F238E27FC236}">
                <a16:creationId xmlns:a16="http://schemas.microsoft.com/office/drawing/2014/main" id="{E6400D48-34DB-411F-9BD7-61C95AA77BA4}"/>
              </a:ext>
            </a:extLst>
          </p:cNvPr>
          <p:cNvSpPr/>
          <p:nvPr/>
        </p:nvSpPr>
        <p:spPr bwMode="auto">
          <a:xfrm>
            <a:off x="2753226" y="4845146"/>
            <a:ext cx="3657600" cy="1160807"/>
          </a:xfrm>
          <a:prstGeom prst="wedgeRoundRectCallout">
            <a:avLst>
              <a:gd name="adj1" fmla="val -52787"/>
              <a:gd name="adj2" fmla="val -301339"/>
              <a:gd name="adj3" fmla="val 16667"/>
            </a:avLst>
          </a:prstGeom>
          <a:gradFill flip="none" rotWithShape="1">
            <a:gsLst>
              <a:gs pos="0">
                <a:srgbClr val="99CCFF">
                  <a:shade val="30000"/>
                  <a:satMod val="115000"/>
                </a:srgbClr>
              </a:gs>
              <a:gs pos="50000">
                <a:srgbClr val="99CCFF">
                  <a:shade val="67500"/>
                  <a:satMod val="115000"/>
                </a:srgbClr>
              </a:gs>
              <a:gs pos="100000">
                <a:srgbClr val="99CCFF">
                  <a:shade val="100000"/>
                  <a:satMod val="115000"/>
                </a:srgbClr>
              </a:gs>
            </a:gsLst>
            <a:lin ang="5400000" scaled="1"/>
            <a:tileRect/>
          </a:gra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You may wish to consider this additional </a:t>
            </a:r>
            <a:r>
              <a:rPr kumimoji="0" lang="en-US" sz="2000" b="1" i="0" u="none" strike="noStrike" kern="0" cap="none" spc="0" normalizeH="0" baseline="0" noProof="0" dirty="0">
                <a:ln>
                  <a:noFill/>
                </a:ln>
                <a:solidFill>
                  <a:srgbClr val="000000"/>
                </a:solidFill>
                <a:effectLst/>
                <a:uLnTx/>
                <a:uFillTx/>
                <a:latin typeface="Arial" panose="020B0604020202020204" pitchFamily="34" charset="0"/>
                <a:ea typeface="+mn-ea"/>
                <a:cs typeface="+mn-cs"/>
              </a:rPr>
              <a:t>Gain Index</a:t>
            </a:r>
            <a:r>
              <a:rPr kumimoji="0" 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 criteria in your Team Project!</a:t>
            </a:r>
          </a:p>
        </p:txBody>
      </p:sp>
    </p:spTree>
    <p:extLst>
      <p:ext uri="{BB962C8B-B14F-4D97-AF65-F5344CB8AC3E}">
        <p14:creationId xmlns:p14="http://schemas.microsoft.com/office/powerpoint/2010/main" val="233197724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Effort Index of The Complex Tool:</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aphicFrame>
        <p:nvGraphicFramePr>
          <p:cNvPr id="6" name="Group 248">
            <a:extLst>
              <a:ext uri="{FF2B5EF4-FFF2-40B4-BE49-F238E27FC236}">
                <a16:creationId xmlns:a16="http://schemas.microsoft.com/office/drawing/2014/main" id="{0A2273C8-EF44-43E8-9F8E-E545497F3EAC}"/>
              </a:ext>
            </a:extLst>
          </p:cNvPr>
          <p:cNvGraphicFramePr>
            <a:graphicFrameLocks noGrp="1"/>
          </p:cNvGraphicFramePr>
          <p:nvPr>
            <p:extLst/>
          </p:nvPr>
        </p:nvGraphicFramePr>
        <p:xfrm>
          <a:off x="228600" y="990600"/>
          <a:ext cx="8305800" cy="4770211"/>
        </p:xfrm>
        <a:graphic>
          <a:graphicData uri="http://schemas.openxmlformats.org/drawingml/2006/table">
            <a:tbl>
              <a:tblPr/>
              <a:tblGrid>
                <a:gridCol w="1916113">
                  <a:extLst>
                    <a:ext uri="{9D8B030D-6E8A-4147-A177-3AD203B41FA5}">
                      <a16:colId xmlns:a16="http://schemas.microsoft.com/office/drawing/2014/main" val="20000"/>
                    </a:ext>
                  </a:extLst>
                </a:gridCol>
                <a:gridCol w="1598612">
                  <a:extLst>
                    <a:ext uri="{9D8B030D-6E8A-4147-A177-3AD203B41FA5}">
                      <a16:colId xmlns:a16="http://schemas.microsoft.com/office/drawing/2014/main" val="20001"/>
                    </a:ext>
                  </a:extLst>
                </a:gridCol>
                <a:gridCol w="1597025">
                  <a:extLst>
                    <a:ext uri="{9D8B030D-6E8A-4147-A177-3AD203B41FA5}">
                      <a16:colId xmlns:a16="http://schemas.microsoft.com/office/drawing/2014/main" val="20002"/>
                    </a:ext>
                  </a:extLst>
                </a:gridCol>
                <a:gridCol w="1595438">
                  <a:extLst>
                    <a:ext uri="{9D8B030D-6E8A-4147-A177-3AD203B41FA5}">
                      <a16:colId xmlns:a16="http://schemas.microsoft.com/office/drawing/2014/main" val="20003"/>
                    </a:ext>
                  </a:extLst>
                </a:gridCol>
                <a:gridCol w="1598612">
                  <a:extLst>
                    <a:ext uri="{9D8B030D-6E8A-4147-A177-3AD203B41FA5}">
                      <a16:colId xmlns:a16="http://schemas.microsoft.com/office/drawing/2014/main" val="20004"/>
                    </a:ext>
                  </a:extLst>
                </a:gridCol>
              </a:tblGrid>
              <a:tr h="30483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65000"/>
                        <a:buFont typeface="Wingdings" panose="05000000000000000000" pitchFamily="2" charset="2"/>
                        <a:buNone/>
                        <a:tabLst/>
                      </a:pPr>
                      <a:r>
                        <a:rPr kumimoji="0" lang="en-CA" altLang="en-US" sz="1400" b="1" i="0" u="none" strike="noStrike" cap="none" normalizeH="0" baseline="0" dirty="0">
                          <a:ln>
                            <a:noFill/>
                          </a:ln>
                          <a:solidFill>
                            <a:srgbClr val="000000"/>
                          </a:solidFill>
                          <a:effectLst/>
                          <a:latin typeface="Arial" panose="020B0604020202020204" pitchFamily="34" charset="0"/>
                        </a:rPr>
                        <a:t>EFFORT INDEX</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 (high effort)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 (low effort)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944997">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Practicability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(how easily the solution can be implemented)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difficult / challenging / develop new technology </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complex technology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simple technology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solution is not technology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0483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Initial Cost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$2M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$1M - $2M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$0.1M - $1M</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&lt;$100,000</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18224">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On-going Costs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100,000 per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$100K &gt; cost per year &gt; $10K</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 per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additional on-going cost</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73161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Timeline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time before the action can be implemented)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implemented more than one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1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3 months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immediately</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02081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Duration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time it takes before the latent cause is addressed)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more than 3 months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3 months</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month</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week</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73161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(how often does the action need to be repeated)</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month or more often</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quarter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year</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one-time</a:t>
                      </a: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787943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MM-Poll):</a:t>
            </a:r>
          </a:p>
          <a:p>
            <a:pPr marL="360000" indent="-360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You saw how the criteria for the Gain Index can be changed. </a:t>
            </a:r>
          </a:p>
          <a:p>
            <a:pPr marL="360000" indent="-360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Can you change criteria on the Effort Index? If so, how might you change those parameters? </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Changing Criteria on the Complex Tool</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304800" y="2209800"/>
            <a:ext cx="3860799" cy="2895600"/>
          </a:xfrm>
          <a:prstGeom prst="rect">
            <a:avLst/>
          </a:prstGeom>
          <a:ln>
            <a:solidFill>
              <a:schemeClr val="tx1"/>
            </a:solidFill>
          </a:ln>
        </p:spPr>
      </p:pic>
      <p:pic>
        <p:nvPicPr>
          <p:cNvPr id="5" name="Picture 4"/>
          <p:cNvPicPr>
            <a:picLocks noChangeAspect="1"/>
          </p:cNvPicPr>
          <p:nvPr/>
        </p:nvPicPr>
        <p:blipFill>
          <a:blip r:embed="rId4"/>
          <a:stretch>
            <a:fillRect/>
          </a:stretch>
        </p:blipFill>
        <p:spPr>
          <a:xfrm>
            <a:off x="4318000" y="2743200"/>
            <a:ext cx="4419919" cy="3314940"/>
          </a:xfrm>
          <a:prstGeom prst="rect">
            <a:avLst/>
          </a:prstGeom>
          <a:ln>
            <a:solidFill>
              <a:schemeClr val="tx1"/>
            </a:solidFill>
          </a:ln>
        </p:spPr>
      </p:pic>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8105804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Employee Training Program</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rgbClr val="0000CC"/>
          </a:solidFill>
          <a:ln w="9525" algn="ctr">
            <a:solidFill>
              <a:schemeClr val="tx1"/>
            </a:solidFill>
            <a:miter lim="800000"/>
            <a:headEnd/>
            <a:tailEnd/>
          </a:ln>
          <a:effectLst/>
        </p:spPr>
        <p:txBody>
          <a:bodyPr/>
          <a:lstStyle/>
          <a:p>
            <a:pPr marR="0" lvl="0" algn="l" defTabSz="914400" rtl="0" eaLnBrk="0" fontAlgn="base" latinLnBrk="0" hangingPunct="0">
              <a:lnSpc>
                <a:spcPct val="100000"/>
              </a:lnSpc>
              <a:spcBef>
                <a:spcPts val="0"/>
              </a:spcBef>
              <a:spcAft>
                <a:spcPct val="0"/>
              </a:spcAft>
              <a:buClrTx/>
              <a:buSzPct val="100000"/>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and</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respond on MM-Poll:</a:t>
            </a: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risk reduction solution.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Gain:  … the action addresses a latent cause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Effort:  … the effort is characterized by the bold items below</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is the total score?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16" name="Group 68">
            <a:extLst>
              <a:ext uri="{FF2B5EF4-FFF2-40B4-BE49-F238E27FC236}">
                <a16:creationId xmlns:a16="http://schemas.microsoft.com/office/drawing/2014/main" id="{1CCD825E-7600-4619-8ACC-713EE7D3315D}"/>
              </a:ext>
            </a:extLst>
          </p:cNvPr>
          <p:cNvGraphicFramePr>
            <a:graphicFrameLocks noGrp="1"/>
          </p:cNvGraphicFramePr>
          <p:nvPr>
            <p:extLst/>
          </p:nvPr>
        </p:nvGraphicFramePr>
        <p:xfrm>
          <a:off x="324000" y="2809162"/>
          <a:ext cx="8224888" cy="3230670"/>
        </p:xfrm>
        <a:graphic>
          <a:graphicData uri="http://schemas.openxmlformats.org/drawingml/2006/table">
            <a:tbl>
              <a:tblPr/>
              <a:tblGrid>
                <a:gridCol w="1897447">
                  <a:extLst>
                    <a:ext uri="{9D8B030D-6E8A-4147-A177-3AD203B41FA5}">
                      <a16:colId xmlns:a16="http://schemas.microsoft.com/office/drawing/2014/main" val="20000"/>
                    </a:ext>
                  </a:extLst>
                </a:gridCol>
                <a:gridCol w="1583039">
                  <a:extLst>
                    <a:ext uri="{9D8B030D-6E8A-4147-A177-3AD203B41FA5}">
                      <a16:colId xmlns:a16="http://schemas.microsoft.com/office/drawing/2014/main" val="20001"/>
                    </a:ext>
                  </a:extLst>
                </a:gridCol>
                <a:gridCol w="1424264">
                  <a:extLst>
                    <a:ext uri="{9D8B030D-6E8A-4147-A177-3AD203B41FA5}">
                      <a16:colId xmlns:a16="http://schemas.microsoft.com/office/drawing/2014/main" val="20002"/>
                    </a:ext>
                  </a:extLst>
                </a:gridCol>
                <a:gridCol w="1660069">
                  <a:extLst>
                    <a:ext uri="{9D8B030D-6E8A-4147-A177-3AD203B41FA5}">
                      <a16:colId xmlns:a16="http://schemas.microsoft.com/office/drawing/2014/main" val="20003"/>
                    </a:ext>
                  </a:extLst>
                </a:gridCol>
                <a:gridCol w="1660069">
                  <a:extLst>
                    <a:ext uri="{9D8B030D-6E8A-4147-A177-3AD203B41FA5}">
                      <a16:colId xmlns:a16="http://schemas.microsoft.com/office/drawing/2014/main" val="20004"/>
                    </a:ext>
                  </a:extLst>
                </a:gridCol>
              </a:tblGrid>
              <a:tr h="23806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65000"/>
                        <a:buFont typeface="Wingdings" panose="05000000000000000000" pitchFamily="2" charset="2"/>
                        <a:buNone/>
                        <a:tabLst/>
                      </a:pPr>
                      <a:r>
                        <a:rPr kumimoji="0" lang="en-CA" altLang="en-US" sz="1000" b="1" i="0" u="none" strike="noStrike" cap="none" normalizeH="0" baseline="0" dirty="0">
                          <a:ln>
                            <a:noFill/>
                          </a:ln>
                          <a:solidFill>
                            <a:srgbClr val="000000"/>
                          </a:solidFill>
                          <a:effectLst/>
                          <a:latin typeface="Arial" panose="020B0604020202020204" pitchFamily="34" charset="0"/>
                        </a:rPr>
                        <a:t>EFFORT INDEX</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 (high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 (low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0"/>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Practicability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difficult / challenging / develop new technology </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complex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simple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solution is not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6782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Initial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$1M -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$0.1M - $1M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&lt;$100,000</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86866">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On-going Costs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100,000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$100K &gt; cost per year &gt; $10K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additional on-going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Timeline (the time before the action can be implemented)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implemented more than one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1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immediately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83328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Duration (the time it takes to put the action into place e.g. MOC, engineering project, planning, communication, training)</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more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month</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week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3567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(how often does the action need to be repeated)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month or more often</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quarter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one-time</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17" name="Rounded Rectangle 25">
            <a:extLst>
              <a:ext uri="{FF2B5EF4-FFF2-40B4-BE49-F238E27FC236}">
                <a16:creationId xmlns:a16="http://schemas.microsoft.com/office/drawing/2014/main" id="{BD7DD5F6-7603-4B74-9BAE-AF27D8D3F91F}"/>
              </a:ext>
            </a:extLst>
          </p:cNvPr>
          <p:cNvSpPr/>
          <p:nvPr/>
        </p:nvSpPr>
        <p:spPr bwMode="auto">
          <a:xfrm>
            <a:off x="6872488" y="3037762"/>
            <a:ext cx="1676400" cy="457199"/>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8" name="Rounded Rectangle 26">
            <a:extLst>
              <a:ext uri="{FF2B5EF4-FFF2-40B4-BE49-F238E27FC236}">
                <a16:creationId xmlns:a16="http://schemas.microsoft.com/office/drawing/2014/main" id="{38DCF051-BBBA-416B-B90C-CA4F27669659}"/>
              </a:ext>
            </a:extLst>
          </p:cNvPr>
          <p:cNvSpPr/>
          <p:nvPr/>
        </p:nvSpPr>
        <p:spPr bwMode="auto">
          <a:xfrm>
            <a:off x="6867775" y="4180762"/>
            <a:ext cx="1676400" cy="4572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9" name="Rounded Rectangle 27">
            <a:extLst>
              <a:ext uri="{FF2B5EF4-FFF2-40B4-BE49-F238E27FC236}">
                <a16:creationId xmlns:a16="http://schemas.microsoft.com/office/drawing/2014/main" id="{C69F1731-54AB-4A81-9F09-ACB715E4E446}"/>
              </a:ext>
            </a:extLst>
          </p:cNvPr>
          <p:cNvSpPr/>
          <p:nvPr/>
        </p:nvSpPr>
        <p:spPr bwMode="auto">
          <a:xfrm>
            <a:off x="5191375" y="3494961"/>
            <a:ext cx="1676400" cy="277411"/>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0" name="Rounded Rectangle 28">
            <a:extLst>
              <a:ext uri="{FF2B5EF4-FFF2-40B4-BE49-F238E27FC236}">
                <a16:creationId xmlns:a16="http://schemas.microsoft.com/office/drawing/2014/main" id="{4A4D1101-6EF3-4F4E-BD54-295796C81969}"/>
              </a:ext>
            </a:extLst>
          </p:cNvPr>
          <p:cNvSpPr/>
          <p:nvPr/>
        </p:nvSpPr>
        <p:spPr bwMode="auto">
          <a:xfrm>
            <a:off x="5196088" y="3783159"/>
            <a:ext cx="1676400" cy="397603"/>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1" name="Rounded Rectangle 29">
            <a:extLst>
              <a:ext uri="{FF2B5EF4-FFF2-40B4-BE49-F238E27FC236}">
                <a16:creationId xmlns:a16="http://schemas.microsoft.com/office/drawing/2014/main" id="{DAFA4DC0-3760-4743-AF10-0818695A6FEA}"/>
              </a:ext>
            </a:extLst>
          </p:cNvPr>
          <p:cNvSpPr/>
          <p:nvPr/>
        </p:nvSpPr>
        <p:spPr bwMode="auto">
          <a:xfrm>
            <a:off x="2229001" y="4637962"/>
            <a:ext cx="15240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22" name="Rounded Rectangle 30">
            <a:extLst>
              <a:ext uri="{FF2B5EF4-FFF2-40B4-BE49-F238E27FC236}">
                <a16:creationId xmlns:a16="http://schemas.microsoft.com/office/drawing/2014/main" id="{FEF75268-454C-4FC0-932D-D614D3DE8F40}"/>
              </a:ext>
            </a:extLst>
          </p:cNvPr>
          <p:cNvSpPr/>
          <p:nvPr/>
        </p:nvSpPr>
        <p:spPr bwMode="auto">
          <a:xfrm>
            <a:off x="5196088" y="5463445"/>
            <a:ext cx="16764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3605396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Employee Training Program</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Consider the risk reduction solution.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Gain:  “4: Addresses latent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causes” or “5” per</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modified Gain Index</a:t>
            </a: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Effort:  score of 18 (4+3+3+4+1+3)</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total score: 72 = 4 x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18</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1"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OR</a:t>
            </a:r>
            <a:r>
              <a:rPr kumimoji="0" lang="en-CA" altLang="en-US" sz="20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5 x 18 = 90</a:t>
            </a: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400" b="1"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higher the score, the better!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7" name="Group 68">
            <a:extLst>
              <a:ext uri="{FF2B5EF4-FFF2-40B4-BE49-F238E27FC236}">
                <a16:creationId xmlns:a16="http://schemas.microsoft.com/office/drawing/2014/main" id="{1CCD825E-7600-4619-8ACC-713EE7D3315D}"/>
              </a:ext>
            </a:extLst>
          </p:cNvPr>
          <p:cNvGraphicFramePr>
            <a:graphicFrameLocks noGrp="1"/>
          </p:cNvGraphicFramePr>
          <p:nvPr>
            <p:extLst/>
          </p:nvPr>
        </p:nvGraphicFramePr>
        <p:xfrm>
          <a:off x="324000" y="2809162"/>
          <a:ext cx="8224888" cy="3230670"/>
        </p:xfrm>
        <a:graphic>
          <a:graphicData uri="http://schemas.openxmlformats.org/drawingml/2006/table">
            <a:tbl>
              <a:tblPr/>
              <a:tblGrid>
                <a:gridCol w="1897447">
                  <a:extLst>
                    <a:ext uri="{9D8B030D-6E8A-4147-A177-3AD203B41FA5}">
                      <a16:colId xmlns:a16="http://schemas.microsoft.com/office/drawing/2014/main" val="20000"/>
                    </a:ext>
                  </a:extLst>
                </a:gridCol>
                <a:gridCol w="1583039">
                  <a:extLst>
                    <a:ext uri="{9D8B030D-6E8A-4147-A177-3AD203B41FA5}">
                      <a16:colId xmlns:a16="http://schemas.microsoft.com/office/drawing/2014/main" val="20001"/>
                    </a:ext>
                  </a:extLst>
                </a:gridCol>
                <a:gridCol w="1424264">
                  <a:extLst>
                    <a:ext uri="{9D8B030D-6E8A-4147-A177-3AD203B41FA5}">
                      <a16:colId xmlns:a16="http://schemas.microsoft.com/office/drawing/2014/main" val="20002"/>
                    </a:ext>
                  </a:extLst>
                </a:gridCol>
                <a:gridCol w="1660069">
                  <a:extLst>
                    <a:ext uri="{9D8B030D-6E8A-4147-A177-3AD203B41FA5}">
                      <a16:colId xmlns:a16="http://schemas.microsoft.com/office/drawing/2014/main" val="20003"/>
                    </a:ext>
                  </a:extLst>
                </a:gridCol>
                <a:gridCol w="1660069">
                  <a:extLst>
                    <a:ext uri="{9D8B030D-6E8A-4147-A177-3AD203B41FA5}">
                      <a16:colId xmlns:a16="http://schemas.microsoft.com/office/drawing/2014/main" val="20004"/>
                    </a:ext>
                  </a:extLst>
                </a:gridCol>
              </a:tblGrid>
              <a:tr h="238060">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tx2"/>
                        </a:buClr>
                        <a:buSzPct val="65000"/>
                        <a:buFont typeface="Wingdings" panose="05000000000000000000" pitchFamily="2" charset="2"/>
                        <a:buNone/>
                        <a:tabLst/>
                      </a:pPr>
                      <a:r>
                        <a:rPr kumimoji="0" lang="en-CA" altLang="en-US" sz="1000" b="1" i="0" u="none" strike="noStrike" cap="none" normalizeH="0" baseline="0" dirty="0">
                          <a:ln>
                            <a:noFill/>
                          </a:ln>
                          <a:solidFill>
                            <a:srgbClr val="000000"/>
                          </a:solidFill>
                          <a:effectLst/>
                          <a:latin typeface="Arial" panose="020B0604020202020204" pitchFamily="34" charset="0"/>
                        </a:rPr>
                        <a:t>EFFORT INDEX</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 (high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4 (low effort)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0"/>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Practicability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difficult / challenging / develop new technology </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complex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apply simple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solution is not technology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6782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Initial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$1M - $2M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$0.1M - $1M</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&lt;$100,000</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86866">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On-going Costs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&gt; 100,000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$100K &gt; cost per year &gt; $10K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&lt;$10,000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additional on-going cost</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6388">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Timeline (the time before the action can be implemented)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implemented more than one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1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within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implemented immediately</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833283">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Duration (the time it takes to put the action into place e.g. MOC, engineering project, planning, communication, training)</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more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3 months</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month</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requires less than one week</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535671">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(how often does the action need to be repeated)</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month or more often</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quarter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once per year</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spcBef>
                          <a:spcPct val="20000"/>
                        </a:spcBef>
                        <a:buClr>
                          <a:schemeClr val="tx2"/>
                        </a:buClr>
                        <a:buSzPct val="65000"/>
                        <a:buFont typeface="Wingdings" panose="05000000000000000000" pitchFamily="2" charset="2"/>
                        <a:defRPr sz="2800" kern="1200">
                          <a:solidFill>
                            <a:schemeClr val="tx1"/>
                          </a:solidFill>
                          <a:latin typeface="Times New Roman" panose="02020603050405020304" pitchFamily="18" charset="0"/>
                        </a:defRPr>
                      </a:lvl1pPr>
                      <a:lvl2pPr marL="457200" algn="l" defTabSz="914400" rtl="0" eaLnBrk="1" latinLnBrk="0" hangingPunct="1">
                        <a:spcBef>
                          <a:spcPct val="20000"/>
                        </a:spcBef>
                        <a:defRPr sz="2400" kern="1200">
                          <a:solidFill>
                            <a:schemeClr val="tx1"/>
                          </a:solidFill>
                          <a:latin typeface="Times New Roman" panose="02020603050405020304" pitchFamily="18" charset="0"/>
                        </a:defRPr>
                      </a:lvl2pPr>
                      <a:lvl3pPr marL="914400" algn="l" defTabSz="914400" rtl="0" eaLnBrk="1" latinLnBrk="0" hangingPunct="1">
                        <a:spcBef>
                          <a:spcPct val="20000"/>
                        </a:spcBef>
                        <a:defRPr sz="2000" kern="1200">
                          <a:solidFill>
                            <a:schemeClr val="tx1"/>
                          </a:solidFill>
                          <a:latin typeface="Times New Roman" panose="02020603050405020304" pitchFamily="18" charset="0"/>
                        </a:defRPr>
                      </a:lvl3pPr>
                      <a:lvl4pPr marL="1371600" algn="l" defTabSz="914400" rtl="0" eaLnBrk="1" latinLnBrk="0" hangingPunct="1">
                        <a:spcBef>
                          <a:spcPct val="20000"/>
                        </a:spcBef>
                        <a:defRPr sz="1800" kern="1200">
                          <a:solidFill>
                            <a:schemeClr val="tx1"/>
                          </a:solidFill>
                          <a:latin typeface="Times New Roman" panose="02020603050405020304" pitchFamily="18" charset="0"/>
                        </a:defRPr>
                      </a:lvl4pPr>
                      <a:lvl5pPr marL="1828800" algn="l" defTabSz="914400" rtl="0" eaLnBrk="1" latinLnBrk="0" hangingPunct="1">
                        <a:spcBef>
                          <a:spcPct val="20000"/>
                        </a:spcBef>
                        <a:buSzPct val="65000"/>
                        <a:defRPr sz="1800" kern="1200">
                          <a:solidFill>
                            <a:schemeClr val="tx1"/>
                          </a:solidFill>
                          <a:latin typeface="Times New Roman" panose="02020603050405020304" pitchFamily="18" charset="0"/>
                        </a:defRPr>
                      </a:lvl5pPr>
                      <a:lvl6pPr marL="22860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6pPr>
                      <a:lvl7pPr marL="27432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7pPr>
                      <a:lvl8pPr marL="32004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8pPr>
                      <a:lvl9pPr marL="3657600" algn="l" defTabSz="914400" rtl="0" eaLnBrk="0" fontAlgn="base" latinLnBrk="0" hangingPunct="0">
                        <a:spcBef>
                          <a:spcPct val="20000"/>
                        </a:spcBef>
                        <a:spcAft>
                          <a:spcPct val="0"/>
                        </a:spcAft>
                        <a:buSzPct val="65000"/>
                        <a:defRPr sz="1800" kern="1200">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one-time</a:t>
                      </a:r>
                    </a:p>
                  </a:txBody>
                  <a:tcPr marT="45705" marB="457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10" name="Rounded Rectangle 25">
            <a:extLst>
              <a:ext uri="{FF2B5EF4-FFF2-40B4-BE49-F238E27FC236}">
                <a16:creationId xmlns:a16="http://schemas.microsoft.com/office/drawing/2014/main" id="{BD7DD5F6-7603-4B74-9BAE-AF27D8D3F91F}"/>
              </a:ext>
            </a:extLst>
          </p:cNvPr>
          <p:cNvSpPr/>
          <p:nvPr/>
        </p:nvSpPr>
        <p:spPr bwMode="auto">
          <a:xfrm>
            <a:off x="6872488" y="3037762"/>
            <a:ext cx="1676400" cy="457199"/>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1" name="Rounded Rectangle 26">
            <a:extLst>
              <a:ext uri="{FF2B5EF4-FFF2-40B4-BE49-F238E27FC236}">
                <a16:creationId xmlns:a16="http://schemas.microsoft.com/office/drawing/2014/main" id="{38DCF051-BBBA-416B-B90C-CA4F27669659}"/>
              </a:ext>
            </a:extLst>
          </p:cNvPr>
          <p:cNvSpPr/>
          <p:nvPr/>
        </p:nvSpPr>
        <p:spPr bwMode="auto">
          <a:xfrm>
            <a:off x="6867775" y="4180762"/>
            <a:ext cx="1676400" cy="4572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2" name="Rounded Rectangle 27">
            <a:extLst>
              <a:ext uri="{FF2B5EF4-FFF2-40B4-BE49-F238E27FC236}">
                <a16:creationId xmlns:a16="http://schemas.microsoft.com/office/drawing/2014/main" id="{C69F1731-54AB-4A81-9F09-ACB715E4E446}"/>
              </a:ext>
            </a:extLst>
          </p:cNvPr>
          <p:cNvSpPr/>
          <p:nvPr/>
        </p:nvSpPr>
        <p:spPr bwMode="auto">
          <a:xfrm>
            <a:off x="5191375" y="3494961"/>
            <a:ext cx="1676400" cy="277411"/>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3" name="Rounded Rectangle 28">
            <a:extLst>
              <a:ext uri="{FF2B5EF4-FFF2-40B4-BE49-F238E27FC236}">
                <a16:creationId xmlns:a16="http://schemas.microsoft.com/office/drawing/2014/main" id="{4A4D1101-6EF3-4F4E-BD54-295796C81969}"/>
              </a:ext>
            </a:extLst>
          </p:cNvPr>
          <p:cNvSpPr/>
          <p:nvPr/>
        </p:nvSpPr>
        <p:spPr bwMode="auto">
          <a:xfrm>
            <a:off x="5196088" y="3783159"/>
            <a:ext cx="1676400" cy="397603"/>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4" name="Rounded Rectangle 29">
            <a:extLst>
              <a:ext uri="{FF2B5EF4-FFF2-40B4-BE49-F238E27FC236}">
                <a16:creationId xmlns:a16="http://schemas.microsoft.com/office/drawing/2014/main" id="{DAFA4DC0-3760-4743-AF10-0818695A6FEA}"/>
              </a:ext>
            </a:extLst>
          </p:cNvPr>
          <p:cNvSpPr/>
          <p:nvPr/>
        </p:nvSpPr>
        <p:spPr bwMode="auto">
          <a:xfrm>
            <a:off x="2229001" y="4637962"/>
            <a:ext cx="15240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5" name="Rounded Rectangle 30">
            <a:extLst>
              <a:ext uri="{FF2B5EF4-FFF2-40B4-BE49-F238E27FC236}">
                <a16:creationId xmlns:a16="http://schemas.microsoft.com/office/drawing/2014/main" id="{FEF75268-454C-4FC0-932D-D614D3DE8F40}"/>
              </a:ext>
            </a:extLst>
          </p:cNvPr>
          <p:cNvSpPr/>
          <p:nvPr/>
        </p:nvSpPr>
        <p:spPr bwMode="auto">
          <a:xfrm>
            <a:off x="5196088" y="5463445"/>
            <a:ext cx="1676400" cy="533400"/>
          </a:xfrm>
          <a:prstGeom prst="round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1994563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Excessive time can be spent trying to accurately and precisely determine the likelihood and consequences.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can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detract from efforts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move forward with solutions.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balance the amount of time you spend accurately and precisely determining the index factors or likelihood and consequences of risk?</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Rationally apply a Ranking Tool, and be judicious about the time spent on applying the Ranking Tool.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course, the more expensive the solution, the more time and expertise needed to evaluate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“Value Engineering” and “Cost – Benefit Analysis”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These two Methods demonstrate the fundamental approach of many different methods used in industry and governments.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Paralysis by Analysis: A Pitfall of Complex Ranking Tools: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2064519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Key Difference Between </a:t>
            </a:r>
            <a:r>
              <a:rPr kumimoji="0" lang="en-CA" altLang="en-US" sz="20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Hierarchy </a:t>
            </a:r>
            <a:r>
              <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of Effectiveness &amp; Order of </a:t>
            </a:r>
            <a:r>
              <a:rPr kumimoji="0" lang="en-CA" altLang="en-US" sz="20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Priority:</a:t>
            </a:r>
            <a:endParaRPr kumimoji="0" lang="en-CA" alt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0F313290-5204-44EB-B152-17E86E668815}"/>
              </a:ext>
            </a:extLst>
          </p:cNvPr>
          <p:cNvPicPr>
            <a:picLocks noChangeAspect="1"/>
          </p:cNvPicPr>
          <p:nvPr/>
        </p:nvPicPr>
        <p:blipFill>
          <a:blip r:embed="rId3"/>
          <a:stretch>
            <a:fillRect/>
          </a:stretch>
        </p:blipFill>
        <p:spPr>
          <a:xfrm>
            <a:off x="324000" y="954464"/>
            <a:ext cx="4296875" cy="2414297"/>
          </a:xfrm>
          <a:prstGeom prst="rect">
            <a:avLst/>
          </a:prstGeom>
        </p:spPr>
      </p:pic>
      <p:pic>
        <p:nvPicPr>
          <p:cNvPr id="7" name="Google Shape;1111;p20">
            <a:extLst>
              <a:ext uri="{FF2B5EF4-FFF2-40B4-BE49-F238E27FC236}">
                <a16:creationId xmlns:a16="http://schemas.microsoft.com/office/drawing/2014/main" id="{BEDD46B0-C543-4330-B9DA-3A3986FB1075}"/>
              </a:ext>
            </a:extLst>
          </p:cNvPr>
          <p:cNvPicPr preferRelativeResize="0"/>
          <p:nvPr/>
        </p:nvPicPr>
        <p:blipFill rotWithShape="1">
          <a:blip r:embed="rId4">
            <a:alphaModFix/>
          </a:blip>
          <a:srcRect/>
          <a:stretch/>
        </p:blipFill>
        <p:spPr>
          <a:xfrm>
            <a:off x="4761894" y="3620394"/>
            <a:ext cx="4105403" cy="2547562"/>
          </a:xfrm>
          <a:prstGeom prst="rect">
            <a:avLst/>
          </a:prstGeom>
          <a:noFill/>
          <a:ln>
            <a:noFill/>
          </a:ln>
        </p:spPr>
      </p:pic>
      <p:sp>
        <p:nvSpPr>
          <p:cNvPr id="10" name="Google Shape;1112;p20">
            <a:extLst>
              <a:ext uri="{FF2B5EF4-FFF2-40B4-BE49-F238E27FC236}">
                <a16:creationId xmlns:a16="http://schemas.microsoft.com/office/drawing/2014/main" id="{885952AB-927E-4A1E-9299-6BCE07C7C388}"/>
              </a:ext>
            </a:extLst>
          </p:cNvPr>
          <p:cNvSpPr/>
          <p:nvPr/>
        </p:nvSpPr>
        <p:spPr>
          <a:xfrm>
            <a:off x="4038600" y="1447799"/>
            <a:ext cx="4774800" cy="1676401"/>
          </a:xfrm>
          <a:prstGeom prst="leftArrow">
            <a:avLst>
              <a:gd name="adj1" fmla="val 100000"/>
              <a:gd name="adj2" fmla="val 31256"/>
            </a:avLst>
          </a:prstGeom>
          <a:solidFill>
            <a:srgbClr val="000000"/>
          </a:solidFill>
          <a:ln w="9525" cap="flat" cmpd="sng">
            <a:solidFill>
              <a:srgbClr val="000000"/>
            </a:solidFill>
            <a:prstDash val="solid"/>
            <a:round/>
            <a:headEnd type="none" w="sm" len="sm"/>
            <a:tailEnd type="none" w="sm" len="sm"/>
          </a:ln>
        </p:spPr>
        <p:txBody>
          <a:bodyPr spcFirstLastPara="1" wrap="square" lIns="36000" tIns="36000" rIns="36000" bIns="36000" anchor="ctr" anchorCtr="0">
            <a:noAutofit/>
          </a:bodyPr>
          <a:lstStyle/>
          <a:p>
            <a:pPr lvl="0" fontAlgn="auto">
              <a:spcBef>
                <a:spcPts val="0"/>
              </a:spcBef>
              <a:spcAft>
                <a:spcPts val="0"/>
              </a:spcAft>
              <a:buClr>
                <a:srgbClr val="FFFFFF"/>
              </a:buClr>
              <a:buSzPts val="1800"/>
              <a:defRPr/>
            </a:pPr>
            <a:r>
              <a:rPr kumimoji="0" lang="en-US" b="0" i="1" u="none" strike="noStrike" kern="0" cap="none" spc="0" normalizeH="0" baseline="0" noProof="0" dirty="0" smtClean="0">
                <a:ln>
                  <a:noFill/>
                </a:ln>
                <a:solidFill>
                  <a:srgbClr val="FFFFFF"/>
                </a:solidFill>
                <a:effectLst/>
                <a:uLnTx/>
                <a:uFillTx/>
                <a:latin typeface="Arial"/>
                <a:ea typeface="Arial"/>
                <a:cs typeface="Arial"/>
                <a:sym typeface="Arial"/>
              </a:rPr>
              <a:t>Recall: This </a:t>
            </a:r>
            <a:r>
              <a:rPr kumimoji="0" lang="en-US" b="0" i="1" u="none" strike="noStrike" kern="0" cap="none" spc="0" normalizeH="0" baseline="0" noProof="0" dirty="0">
                <a:ln>
                  <a:noFill/>
                </a:ln>
                <a:solidFill>
                  <a:srgbClr val="FFFFFF"/>
                </a:solidFill>
                <a:effectLst/>
                <a:uLnTx/>
                <a:uFillTx/>
                <a:latin typeface="Arial"/>
                <a:ea typeface="Arial"/>
                <a:cs typeface="Arial"/>
                <a:sym typeface="Arial"/>
              </a:rPr>
              <a:t>tool </a:t>
            </a:r>
            <a:r>
              <a:rPr kumimoji="0" lang="en-US" b="0" i="1" u="none" strike="noStrike" kern="0" cap="none" spc="0" normalizeH="0" baseline="0" noProof="0" dirty="0" smtClean="0">
                <a:ln>
                  <a:noFill/>
                </a:ln>
                <a:solidFill>
                  <a:srgbClr val="FFFFFF"/>
                </a:solidFill>
                <a:effectLst/>
                <a:uLnTx/>
                <a:uFillTx/>
                <a:latin typeface="Arial"/>
                <a:ea typeface="Arial"/>
                <a:cs typeface="Arial"/>
                <a:sym typeface="Arial"/>
              </a:rPr>
              <a:t>is a hierarchy of effectiveness and yields an order of effectiveness, NOT an order of priority</a:t>
            </a:r>
            <a:r>
              <a:rPr lang="en-US" b="0" i="1" kern="0" dirty="0">
                <a:solidFill>
                  <a:srgbClr val="FFFFFF"/>
                </a:solidFill>
                <a:latin typeface="Arial"/>
                <a:ea typeface="Arial"/>
                <a:cs typeface="Arial"/>
                <a:sym typeface="Arial"/>
              </a:rPr>
              <a:t>. </a:t>
            </a:r>
            <a:r>
              <a:rPr lang="en-US" b="0" i="1" kern="0" dirty="0" smtClean="0">
                <a:solidFill>
                  <a:srgbClr val="FFFFFF"/>
                </a:solidFill>
                <a:latin typeface="Arial"/>
                <a:ea typeface="Arial"/>
                <a:cs typeface="Arial"/>
                <a:sym typeface="Arial"/>
              </a:rPr>
              <a:t/>
            </a:r>
            <a:br>
              <a:rPr lang="en-US" b="0" i="1" kern="0" dirty="0" smtClean="0">
                <a:solidFill>
                  <a:srgbClr val="FFFFFF"/>
                </a:solidFill>
                <a:latin typeface="Arial"/>
                <a:ea typeface="Arial"/>
                <a:cs typeface="Arial"/>
                <a:sym typeface="Arial"/>
              </a:rPr>
            </a:br>
            <a:r>
              <a:rPr lang="en-US" b="0" i="1" kern="0" dirty="0" smtClean="0">
                <a:solidFill>
                  <a:srgbClr val="FFFFFF"/>
                </a:solidFill>
                <a:latin typeface="Arial"/>
                <a:ea typeface="Arial"/>
                <a:cs typeface="Arial"/>
                <a:sym typeface="Arial"/>
              </a:rPr>
              <a:t>Chapter 5.2: The </a:t>
            </a:r>
            <a:r>
              <a:rPr lang="en-US" b="0" i="1" kern="0" dirty="0">
                <a:solidFill>
                  <a:srgbClr val="FFFFFF"/>
                </a:solidFill>
                <a:latin typeface="Arial"/>
                <a:ea typeface="Arial"/>
                <a:cs typeface="Arial"/>
                <a:sym typeface="Arial"/>
              </a:rPr>
              <a:t>Fundamental Approach </a:t>
            </a:r>
            <a:r>
              <a:rPr lang="en-US" b="0" i="1" kern="0" dirty="0" smtClean="0">
                <a:solidFill>
                  <a:srgbClr val="FFFFFF"/>
                </a:solidFill>
                <a:latin typeface="Arial"/>
                <a:ea typeface="Arial"/>
                <a:cs typeface="Arial"/>
                <a:sym typeface="Arial"/>
              </a:rPr>
              <a:t>to Control </a:t>
            </a:r>
            <a:r>
              <a:rPr lang="en-US" b="0" i="1" kern="0" dirty="0">
                <a:solidFill>
                  <a:srgbClr val="FFFFFF"/>
                </a:solidFill>
                <a:latin typeface="Arial"/>
                <a:ea typeface="Arial"/>
                <a:cs typeface="Arial"/>
                <a:sym typeface="Arial"/>
              </a:rPr>
              <a:t>All Risks </a:t>
            </a:r>
            <a:endParaRPr kumimoji="0" b="0" i="1"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1" name="Google Shape;1108;p20">
            <a:extLst>
              <a:ext uri="{FF2B5EF4-FFF2-40B4-BE49-F238E27FC236}">
                <a16:creationId xmlns:a16="http://schemas.microsoft.com/office/drawing/2014/main" id="{FA8FF6AB-2902-43F4-B1AD-4F42D4609746}"/>
              </a:ext>
            </a:extLst>
          </p:cNvPr>
          <p:cNvSpPr/>
          <p:nvPr/>
        </p:nvSpPr>
        <p:spPr>
          <a:xfrm>
            <a:off x="481053" y="4000783"/>
            <a:ext cx="4437893" cy="1980395"/>
          </a:xfrm>
          <a:prstGeom prst="rightArrow">
            <a:avLst>
              <a:gd name="adj1" fmla="val 100000"/>
              <a:gd name="adj2" fmla="val 29079"/>
            </a:avLst>
          </a:prstGeom>
          <a:solidFill>
            <a:srgbClr val="000000"/>
          </a:solidFill>
          <a:ln w="9525" cap="flat" cmpd="sng">
            <a:solidFill>
              <a:srgbClr val="000000"/>
            </a:solidFill>
            <a:prstDash val="solid"/>
            <a:round/>
            <a:headEnd type="none" w="sm" len="sm"/>
            <a:tailEnd type="none" w="sm" len="sm"/>
          </a:ln>
        </p:spPr>
        <p:txBody>
          <a:bodyPr spcFirstLastPara="1" wrap="square"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Tx/>
              <a:buNone/>
              <a:tabLst/>
              <a:defRPr/>
            </a:pPr>
            <a:r>
              <a:rPr kumimoji="0" lang="en-US" sz="1800" b="0" i="1" u="none" strike="noStrike" kern="0" cap="none" spc="0" normalizeH="0" baseline="0" noProof="0" dirty="0" smtClean="0">
                <a:ln>
                  <a:noFill/>
                </a:ln>
                <a:solidFill>
                  <a:srgbClr val="FFFFFF"/>
                </a:solidFill>
                <a:effectLst/>
                <a:uLnTx/>
                <a:uFillTx/>
                <a:latin typeface="Arial"/>
                <a:ea typeface="Arial"/>
                <a:cs typeface="Arial"/>
                <a:sym typeface="Arial"/>
              </a:rPr>
              <a:t>The </a:t>
            </a:r>
            <a:r>
              <a:rPr kumimoji="0" lang="en-US" sz="1800" b="1" i="1" u="none" strike="noStrike" kern="0" cap="none" spc="0" normalizeH="0" baseline="0" noProof="0" dirty="0">
                <a:ln>
                  <a:noFill/>
                </a:ln>
                <a:solidFill>
                  <a:srgbClr val="FFFFFF"/>
                </a:solidFill>
                <a:effectLst/>
                <a:uLnTx/>
                <a:uFillTx/>
                <a:latin typeface="Arial"/>
                <a:ea typeface="Arial"/>
                <a:cs typeface="Arial"/>
                <a:sym typeface="Arial"/>
              </a:rPr>
              <a:t>Complex Effort </a:t>
            </a:r>
            <a:r>
              <a:rPr kumimoji="0" lang="en-US" sz="1800" b="1" i="1" u="none" strike="noStrike" kern="0" cap="none" spc="0" normalizeH="0" baseline="0" noProof="0" dirty="0" smtClean="0">
                <a:ln>
                  <a:noFill/>
                </a:ln>
                <a:solidFill>
                  <a:srgbClr val="FFFFFF"/>
                </a:solidFill>
                <a:effectLst/>
                <a:uLnTx/>
                <a:uFillTx/>
                <a:latin typeface="Arial"/>
                <a:ea typeface="Arial"/>
                <a:cs typeface="Arial"/>
                <a:sym typeface="Arial"/>
              </a:rPr>
              <a:t>vs </a:t>
            </a:r>
            <a:r>
              <a:rPr kumimoji="0" lang="en-US" sz="1800" b="1" i="1" u="none" strike="noStrike" kern="0" cap="none" spc="0" normalizeH="0" baseline="0" noProof="0" dirty="0">
                <a:ln>
                  <a:noFill/>
                </a:ln>
                <a:solidFill>
                  <a:srgbClr val="FFFFFF"/>
                </a:solidFill>
                <a:effectLst/>
                <a:uLnTx/>
                <a:uFillTx/>
                <a:latin typeface="Arial"/>
                <a:ea typeface="Arial"/>
                <a:cs typeface="Arial"/>
                <a:sym typeface="Arial"/>
              </a:rPr>
              <a:t>Gain Tool</a:t>
            </a:r>
            <a:r>
              <a:rPr kumimoji="0" lang="en-US" sz="1800" b="0" i="1" u="none" strike="noStrike" kern="0" cap="none" spc="0" normalizeH="0" baseline="0" noProof="0" dirty="0">
                <a:ln>
                  <a:noFill/>
                </a:ln>
                <a:solidFill>
                  <a:srgbClr val="FFFFFF"/>
                </a:solidFill>
                <a:effectLst/>
                <a:uLnTx/>
                <a:uFillTx/>
                <a:latin typeface="Arial"/>
                <a:ea typeface="Arial"/>
                <a:cs typeface="Arial"/>
                <a:sym typeface="Arial"/>
              </a:rPr>
              <a:t> </a:t>
            </a:r>
            <a:r>
              <a:rPr kumimoji="0" lang="en-US" sz="1800" b="0" i="1" u="none" strike="noStrike" kern="0" cap="none" spc="0" normalizeH="0" baseline="0" noProof="0" dirty="0" smtClean="0">
                <a:ln>
                  <a:noFill/>
                </a:ln>
                <a:solidFill>
                  <a:srgbClr val="FFFFFF"/>
                </a:solidFill>
                <a:effectLst/>
                <a:uLnTx/>
                <a:uFillTx/>
                <a:latin typeface="Arial"/>
                <a:ea typeface="Arial"/>
                <a:cs typeface="Arial"/>
                <a:sym typeface="Arial"/>
              </a:rPr>
              <a:t>helps </a:t>
            </a:r>
            <a:r>
              <a:rPr kumimoji="0" lang="en-US" sz="1800" b="0" i="1" u="none" strike="noStrike" kern="0" cap="none" spc="0" normalizeH="0" baseline="0" noProof="0" dirty="0">
                <a:ln>
                  <a:noFill/>
                </a:ln>
                <a:solidFill>
                  <a:srgbClr val="FFFFFF"/>
                </a:solidFill>
                <a:effectLst/>
                <a:uLnTx/>
                <a:uFillTx/>
                <a:latin typeface="Arial"/>
                <a:ea typeface="Arial"/>
                <a:cs typeface="Arial"/>
                <a:sym typeface="Arial"/>
              </a:rPr>
              <a:t>us to </a:t>
            </a:r>
            <a:r>
              <a:rPr kumimoji="0" lang="en-US" sz="1800" b="0" i="1" u="sng" strike="noStrike" kern="0" cap="none" spc="0" normalizeH="0" baseline="0" noProof="0" dirty="0" smtClean="0">
                <a:ln>
                  <a:noFill/>
                </a:ln>
                <a:solidFill>
                  <a:srgbClr val="FFFFFF"/>
                </a:solidFill>
                <a:effectLst/>
                <a:uLnTx/>
                <a:uFillTx/>
                <a:latin typeface="Arial"/>
                <a:ea typeface="Arial"/>
                <a:cs typeface="Arial"/>
                <a:sym typeface="Arial"/>
              </a:rPr>
              <a:t>prioritize the implementation </a:t>
            </a:r>
            <a:r>
              <a:rPr kumimoji="0" lang="en-US" sz="1800" b="0" i="1" u="none" strike="noStrike" kern="0" cap="none" spc="0" normalizeH="0" baseline="0" noProof="0" dirty="0" smtClean="0">
                <a:ln>
                  <a:noFill/>
                </a:ln>
                <a:solidFill>
                  <a:srgbClr val="FFFFFF"/>
                </a:solidFill>
                <a:effectLst/>
                <a:uLnTx/>
                <a:uFillTx/>
                <a:latin typeface="Arial"/>
                <a:ea typeface="Arial"/>
                <a:cs typeface="Arial"/>
                <a:sym typeface="Arial"/>
              </a:rPr>
              <a:t>of recommendations i.e. in what order to we do them. </a:t>
            </a:r>
            <a:endParaRPr kumimoji="0" lang="en-US" sz="1800" b="0" i="1"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4"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222337656"/>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Recommendations are derived from your findings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the RCA  and should address the latent causes!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Recommendations should be: SMART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work process consists of these major steps: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 the Preliminary Recommendations.</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Prioritize and Characterize Each of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Recommendations.</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Here is where you use the </a:t>
            </a:r>
            <a:b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CA" altLang="en-US" sz="20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Complex Effort vs Gain Tool.</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 a “Reality Check”. </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Document the Recommendations.</a:t>
            </a:r>
          </a:p>
          <a:p>
            <a:pPr marL="742950" marR="0" lvl="1" indent="-285750" algn="l" defTabSz="914400" rtl="0" eaLnBrk="0" fontAlgn="base" latinLnBrk="0" hangingPunct="0">
              <a:lnSpc>
                <a:spcPct val="100000"/>
              </a:lnSpc>
              <a:spcBef>
                <a:spcPct val="0"/>
              </a:spcBef>
              <a:spcAft>
                <a:spcPct val="0"/>
              </a:spcAft>
              <a:buClr>
                <a:srgbClr val="000000"/>
              </a:buClr>
              <a:buSzTx/>
              <a:buFont typeface="Wingdings" panose="05000000000000000000" pitchFamily="2" charset="2"/>
              <a:buAutoNum type="arabicParenR"/>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Summarize the Recommendations. </a:t>
            </a: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on Key Recommendations: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AutoShape 8">
            <a:extLst>
              <a:ext uri="{FF2B5EF4-FFF2-40B4-BE49-F238E27FC236}">
                <a16:creationId xmlns:a16="http://schemas.microsoft.com/office/drawing/2014/main" id="{B9D21047-D0A0-410F-9F27-668CC90A8ED0}"/>
              </a:ext>
            </a:extLst>
          </p:cNvPr>
          <p:cNvSpPr>
            <a:spLocks/>
          </p:cNvSpPr>
          <p:nvPr/>
        </p:nvSpPr>
        <p:spPr bwMode="auto">
          <a:xfrm rot="10800000">
            <a:off x="294968" y="3057900"/>
            <a:ext cx="381000" cy="1650591"/>
          </a:xfrm>
          <a:prstGeom prst="rightBrace">
            <a:avLst>
              <a:gd name="adj1" fmla="val 26667"/>
              <a:gd name="adj2" fmla="val 50000"/>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SzPct val="65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CA" altLang="en-US" sz="20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7" name="Text Box 9">
            <a:extLst>
              <a:ext uri="{FF2B5EF4-FFF2-40B4-BE49-F238E27FC236}">
                <a16:creationId xmlns:a16="http://schemas.microsoft.com/office/drawing/2014/main" id="{C872EB0F-7459-431C-9747-0022358E82BD}"/>
              </a:ext>
            </a:extLst>
          </p:cNvPr>
          <p:cNvSpPr txBox="1">
            <a:spLocks noChangeArrowheads="1"/>
          </p:cNvSpPr>
          <p:nvPr/>
        </p:nvSpPr>
        <p:spPr bwMode="auto">
          <a:xfrm>
            <a:off x="651160" y="5727585"/>
            <a:ext cx="3911008" cy="369332"/>
          </a:xfrm>
          <a:prstGeom prst="rect">
            <a:avLst/>
          </a:prstGeom>
          <a:noFill/>
          <a:ln>
            <a:noFill/>
          </a:ln>
          <a:effectLst>
            <a:prstShdw prst="shdw18" dist="17961" dir="13500000">
              <a:srgbClr val="9999FF">
                <a:gamma/>
                <a:shade val="60000"/>
                <a:invGamma/>
              </a:srgb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CA" altLang="en-US" sz="1800" b="1" i="1" u="none" strike="noStrike" kern="0" cap="none" spc="0" normalizeH="0" baseline="0" noProof="0" dirty="0">
                <a:ln>
                  <a:noFill/>
                </a:ln>
                <a:solidFill>
                  <a:srgbClr val="000000"/>
                </a:solidFill>
                <a:effectLst/>
                <a:uLnTx/>
                <a:uFillTx/>
                <a:latin typeface="Arial" panose="020B0604020202020204" pitchFamily="34" charset="0"/>
                <a:ea typeface="+mn-ea"/>
                <a:cs typeface="+mn-cs"/>
              </a:rPr>
              <a:t>1)-3) are “work in progress”</a:t>
            </a:r>
          </a:p>
        </p:txBody>
      </p:sp>
      <p:sp>
        <p:nvSpPr>
          <p:cNvPr id="10" name="Freeform 4">
            <a:extLst>
              <a:ext uri="{FF2B5EF4-FFF2-40B4-BE49-F238E27FC236}">
                <a16:creationId xmlns:a16="http://schemas.microsoft.com/office/drawing/2014/main" id="{137A19FF-F21A-42EA-B667-7BECC4705E82}"/>
              </a:ext>
            </a:extLst>
          </p:cNvPr>
          <p:cNvSpPr/>
          <p:nvPr/>
        </p:nvSpPr>
        <p:spPr bwMode="auto">
          <a:xfrm>
            <a:off x="180000" y="3869975"/>
            <a:ext cx="478551" cy="2007326"/>
          </a:xfrm>
          <a:custGeom>
            <a:avLst/>
            <a:gdLst>
              <a:gd name="connsiteX0" fmla="*/ 360887 w 778899"/>
              <a:gd name="connsiteY0" fmla="*/ 0 h 1454332"/>
              <a:gd name="connsiteX1" fmla="*/ 38670 w 778899"/>
              <a:gd name="connsiteY1" fmla="*/ 513806 h 1454332"/>
              <a:gd name="connsiteX2" fmla="*/ 12545 w 778899"/>
              <a:gd name="connsiteY2" fmla="*/ 966652 h 1454332"/>
              <a:gd name="connsiteX3" fmla="*/ 99630 w 778899"/>
              <a:gd name="connsiteY3" fmla="*/ 1306286 h 1454332"/>
              <a:gd name="connsiteX4" fmla="*/ 387013 w 778899"/>
              <a:gd name="connsiteY4" fmla="*/ 1428206 h 1454332"/>
              <a:gd name="connsiteX5" fmla="*/ 778899 w 778899"/>
              <a:gd name="connsiteY5" fmla="*/ 1454332 h 145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899" h="1454332">
                <a:moveTo>
                  <a:pt x="360887" y="0"/>
                </a:moveTo>
                <a:cubicBezTo>
                  <a:pt x="228807" y="176348"/>
                  <a:pt x="96727" y="352697"/>
                  <a:pt x="38670" y="513806"/>
                </a:cubicBezTo>
                <a:cubicBezTo>
                  <a:pt x="-19387" y="674915"/>
                  <a:pt x="2385" y="834572"/>
                  <a:pt x="12545" y="966652"/>
                </a:cubicBezTo>
                <a:cubicBezTo>
                  <a:pt x="22705" y="1098732"/>
                  <a:pt x="37219" y="1229360"/>
                  <a:pt x="99630" y="1306286"/>
                </a:cubicBezTo>
                <a:cubicBezTo>
                  <a:pt x="162041" y="1383212"/>
                  <a:pt x="273802" y="1403532"/>
                  <a:pt x="387013" y="1428206"/>
                </a:cubicBezTo>
                <a:cubicBezTo>
                  <a:pt x="500224" y="1452880"/>
                  <a:pt x="728099" y="1449978"/>
                  <a:pt x="778899" y="1454332"/>
                </a:cubicBezTo>
              </a:path>
            </a:pathLst>
          </a:custGeom>
          <a:noFill/>
          <a:ln w="28575" cap="flat" cmpd="sng" algn="ctr">
            <a:solidFill>
              <a:srgbClr val="000000"/>
            </a:solidFill>
            <a:prstDash val="solid"/>
            <a:round/>
            <a:headEnd type="triangle" w="lg" len="lg"/>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ea typeface="+mn-ea"/>
              <a:cs typeface="+mn-cs"/>
            </a:endParaRPr>
          </a:p>
        </p:txBody>
      </p:sp>
      <p:cxnSp>
        <p:nvCxnSpPr>
          <p:cNvPr id="11" name="Straight Arrow Connector 10">
            <a:extLst>
              <a:ext uri="{FF2B5EF4-FFF2-40B4-BE49-F238E27FC236}">
                <a16:creationId xmlns:a16="http://schemas.microsoft.com/office/drawing/2014/main" id="{22716279-51CA-4F2A-9201-AF0614A277EE}"/>
              </a:ext>
            </a:extLst>
          </p:cNvPr>
          <p:cNvCxnSpPr>
            <a:stCxn id="18" idx="2"/>
            <a:endCxn id="19" idx="0"/>
          </p:cNvCxnSpPr>
          <p:nvPr/>
        </p:nvCxnSpPr>
        <p:spPr bwMode="auto">
          <a:xfrm>
            <a:off x="7564998" y="1973997"/>
            <a:ext cx="1" cy="403749"/>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56854895-4704-4919-9A1A-1A449E731754}"/>
              </a:ext>
            </a:extLst>
          </p:cNvPr>
          <p:cNvCxnSpPr/>
          <p:nvPr/>
        </p:nvCxnSpPr>
        <p:spPr bwMode="auto">
          <a:xfrm>
            <a:off x="7620000" y="2678140"/>
            <a:ext cx="0" cy="292924"/>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DDD7181F-03DA-449B-B67C-6841B521ABA3}"/>
              </a:ext>
            </a:extLst>
          </p:cNvPr>
          <p:cNvCxnSpPr>
            <a:endCxn id="21" idx="0"/>
          </p:cNvCxnSpPr>
          <p:nvPr/>
        </p:nvCxnSpPr>
        <p:spPr bwMode="auto">
          <a:xfrm flipH="1">
            <a:off x="7564998" y="3244228"/>
            <a:ext cx="2221" cy="655190"/>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91061096-441D-4B72-8975-897975BC81F7}"/>
              </a:ext>
            </a:extLst>
          </p:cNvPr>
          <p:cNvCxnSpPr>
            <a:stCxn id="21" idx="2"/>
            <a:endCxn id="22" idx="0"/>
          </p:cNvCxnSpPr>
          <p:nvPr/>
        </p:nvCxnSpPr>
        <p:spPr bwMode="auto">
          <a:xfrm>
            <a:off x="7564998" y="4484193"/>
            <a:ext cx="4176" cy="197664"/>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591A513D-FBD5-4C6D-B9F8-E6F574DC7F80}"/>
              </a:ext>
            </a:extLst>
          </p:cNvPr>
          <p:cNvCxnSpPr>
            <a:stCxn id="22" idx="2"/>
          </p:cNvCxnSpPr>
          <p:nvPr/>
        </p:nvCxnSpPr>
        <p:spPr bwMode="auto">
          <a:xfrm>
            <a:off x="7569174" y="5266632"/>
            <a:ext cx="0" cy="324375"/>
          </a:xfrm>
          <a:prstGeom prst="straightConnector1">
            <a:avLst/>
          </a:prstGeom>
          <a:solidFill>
            <a:srgbClr val="9999FF"/>
          </a:solidFill>
          <a:ln w="25400" cap="flat" cmpd="sng" algn="ctr">
            <a:solidFill>
              <a:srgbClr val="00007D"/>
            </a:solidFill>
            <a:prstDash val="solid"/>
            <a:round/>
            <a:headEnd type="none" w="med" len="med"/>
            <a:tailEnd type="triangle"/>
          </a:ln>
          <a:effectLst/>
        </p:spPr>
      </p:cxnSp>
      <p:sp>
        <p:nvSpPr>
          <p:cNvPr id="18" name="TextBox 17">
            <a:extLst>
              <a:ext uri="{FF2B5EF4-FFF2-40B4-BE49-F238E27FC236}">
                <a16:creationId xmlns:a16="http://schemas.microsoft.com/office/drawing/2014/main" id="{92754615-1CFE-44C5-BB9E-9E862196AF27}"/>
              </a:ext>
            </a:extLst>
          </p:cNvPr>
          <p:cNvSpPr txBox="1"/>
          <p:nvPr/>
        </p:nvSpPr>
        <p:spPr>
          <a:xfrm>
            <a:off x="6542829" y="1143000"/>
            <a:ext cx="2044337" cy="830997"/>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Generate the Preliminary Recommendations.</a:t>
            </a:r>
          </a:p>
        </p:txBody>
      </p:sp>
      <p:sp>
        <p:nvSpPr>
          <p:cNvPr id="19" name="TextBox 18">
            <a:extLst>
              <a:ext uri="{FF2B5EF4-FFF2-40B4-BE49-F238E27FC236}">
                <a16:creationId xmlns:a16="http://schemas.microsoft.com/office/drawing/2014/main" id="{0F86EC40-A004-436D-878D-8671B1F18ABD}"/>
              </a:ext>
            </a:extLst>
          </p:cNvPr>
          <p:cNvSpPr txBox="1"/>
          <p:nvPr/>
        </p:nvSpPr>
        <p:spPr>
          <a:xfrm>
            <a:off x="6542830" y="2377746"/>
            <a:ext cx="2044337" cy="830997"/>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Prioritize and Characterize the Recommendations.</a:t>
            </a:r>
          </a:p>
        </p:txBody>
      </p:sp>
      <p:sp>
        <p:nvSpPr>
          <p:cNvPr id="20" name="TextBox 19">
            <a:extLst>
              <a:ext uri="{FF2B5EF4-FFF2-40B4-BE49-F238E27FC236}">
                <a16:creationId xmlns:a16="http://schemas.microsoft.com/office/drawing/2014/main" id="{B4E4DDAE-AED3-4CA3-9144-1A1BAA27127D}"/>
              </a:ext>
            </a:extLst>
          </p:cNvPr>
          <p:cNvSpPr txBox="1"/>
          <p:nvPr/>
        </p:nvSpPr>
        <p:spPr>
          <a:xfrm>
            <a:off x="6542830" y="5559020"/>
            <a:ext cx="2044337" cy="584775"/>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Summarize the Recommendations</a:t>
            </a:r>
          </a:p>
        </p:txBody>
      </p:sp>
      <p:sp>
        <p:nvSpPr>
          <p:cNvPr id="21" name="TextBox 20">
            <a:extLst>
              <a:ext uri="{FF2B5EF4-FFF2-40B4-BE49-F238E27FC236}">
                <a16:creationId xmlns:a16="http://schemas.microsoft.com/office/drawing/2014/main" id="{93B530D5-D061-4584-9121-3EE6FC200AF5}"/>
              </a:ext>
            </a:extLst>
          </p:cNvPr>
          <p:cNvSpPr txBox="1"/>
          <p:nvPr/>
        </p:nvSpPr>
        <p:spPr>
          <a:xfrm>
            <a:off x="6542829" y="3899418"/>
            <a:ext cx="2044337" cy="584775"/>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 a </a:t>
            </a:r>
            <a:b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“Reality Check”</a:t>
            </a:r>
          </a:p>
        </p:txBody>
      </p:sp>
      <p:sp>
        <p:nvSpPr>
          <p:cNvPr id="22" name="TextBox 21">
            <a:extLst>
              <a:ext uri="{FF2B5EF4-FFF2-40B4-BE49-F238E27FC236}">
                <a16:creationId xmlns:a16="http://schemas.microsoft.com/office/drawing/2014/main" id="{E81F0F8F-EE1A-486F-B586-69AAC0E3D02E}"/>
              </a:ext>
            </a:extLst>
          </p:cNvPr>
          <p:cNvSpPr txBox="1"/>
          <p:nvPr/>
        </p:nvSpPr>
        <p:spPr>
          <a:xfrm>
            <a:off x="6547005" y="4681857"/>
            <a:ext cx="2044337" cy="584775"/>
          </a:xfrm>
          <a:prstGeom prst="rect">
            <a:avLst/>
          </a:prstGeom>
          <a:solidFill>
            <a:srgbClr val="00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Document the Recommendations</a:t>
            </a:r>
          </a:p>
        </p:txBody>
      </p:sp>
    </p:spTree>
    <p:extLst>
      <p:ext uri="{BB962C8B-B14F-4D97-AF65-F5344CB8AC3E}">
        <p14:creationId xmlns:p14="http://schemas.microsoft.com/office/powerpoint/2010/main" val="75361498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Tx/>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a difference between “Hierarchy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Effectiveness” and</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“Order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Priority”.</a:t>
            </a:r>
          </a:p>
          <a:p>
            <a:pPr marL="432000" lvl="0" indent="-432000" eaLnBrk="0" hangingPunct="0">
              <a:lnSpc>
                <a:spcPct val="100000"/>
              </a:lnSpc>
              <a:spcBef>
                <a:spcPts val="0"/>
              </a:spcBef>
              <a:buClrTx/>
              <a:buSzPct val="100000"/>
              <a:buFont typeface="Wingdings" panose="05000000000000000000" pitchFamily="2" charset="2"/>
              <a:buChar char="Ø"/>
              <a:defRPr/>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Tx/>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most effective recommendations for actions address or eliminate latent causes, rather than basic or immediate.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Prioritize recommendations for action using the </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Complex Gain Versus Effort Tool</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4.6: Tools to Develop &amp; Prioritize Recommendations</a:t>
            </a:r>
            <a:endPar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97186999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3086848496"/>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69662</TotalTime>
  <Words>2530</Words>
  <Application>Microsoft Office PowerPoint</Application>
  <PresentationFormat>On-screen Show (4:3)</PresentationFormat>
  <Paragraphs>428</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1982</cp:revision>
  <cp:lastPrinted>2018-12-17T22:21:47Z</cp:lastPrinted>
  <dcterms:created xsi:type="dcterms:W3CDTF">2007-03-28T16:18:47Z</dcterms:created>
  <dcterms:modified xsi:type="dcterms:W3CDTF">2021-10-31T16:47:43Z</dcterms:modified>
</cp:coreProperties>
</file>