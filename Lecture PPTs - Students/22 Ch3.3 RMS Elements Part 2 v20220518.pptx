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0" r:id="rId1"/>
    <p:sldMasterId id="2147483665" r:id="rId2"/>
    <p:sldMasterId id="2147483670" r:id="rId3"/>
    <p:sldMasterId id="2147483674" r:id="rId4"/>
  </p:sldMasterIdLst>
  <p:notesMasterIdLst>
    <p:notesMasterId r:id="rId27"/>
  </p:notesMasterIdLst>
  <p:sldIdLst>
    <p:sldId id="895" r:id="rId5"/>
    <p:sldId id="880" r:id="rId6"/>
    <p:sldId id="928" r:id="rId7"/>
    <p:sldId id="929" r:id="rId8"/>
    <p:sldId id="969" r:id="rId9"/>
    <p:sldId id="930" r:id="rId10"/>
    <p:sldId id="951" r:id="rId11"/>
    <p:sldId id="952" r:id="rId12"/>
    <p:sldId id="953" r:id="rId13"/>
    <p:sldId id="934" r:id="rId14"/>
    <p:sldId id="988" r:id="rId15"/>
    <p:sldId id="993" r:id="rId16"/>
    <p:sldId id="956" r:id="rId17"/>
    <p:sldId id="957" r:id="rId18"/>
    <p:sldId id="958" r:id="rId19"/>
    <p:sldId id="959" r:id="rId20"/>
    <p:sldId id="960" r:id="rId21"/>
    <p:sldId id="941" r:id="rId22"/>
    <p:sldId id="945" r:id="rId23"/>
    <p:sldId id="943" r:id="rId24"/>
    <p:sldId id="923" r:id="rId25"/>
    <p:sldId id="946" r:id="rId26"/>
  </p:sldIdLst>
  <p:sldSz cx="9144000" cy="6858000" type="screen4x3"/>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12">
          <p15:clr>
            <a:srgbClr val="A4A3A4"/>
          </p15:clr>
        </p15:guide>
        <p15:guide id="2" pos="2880">
          <p15:clr>
            <a:srgbClr val="A4A3A4"/>
          </p15:clr>
        </p15:guide>
      </p15:sldGuideLst>
    </p:ext>
    <p:ext uri="{2D200454-40CA-4A62-9FC3-DE9A4176ACB9}">
      <p15:notesGuideLst xmlns:p15="http://schemas.microsoft.com/office/powerpoint/2012/main">
        <p15:guide id="1" orient="horz" pos="2929">
          <p15:clr>
            <a:srgbClr val="A4A3A4"/>
          </p15:clr>
        </p15:guide>
        <p15:guide id="2" pos="2209">
          <p15:clr>
            <a:srgbClr val="A4A3A4"/>
          </p15:clr>
        </p15:guide>
      </p15:notesGuideLst>
    </p:ext>
    <p:ext uri="http://customooxmlschemas.google.com/">
      <go:slidesCustomData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iH1ZREl8vlzjRP0qNa1Z1Aij+AJ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CCCC"/>
    <a:srgbClr val="FFFFFF"/>
    <a:srgbClr val="CCFFFF"/>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023" autoAdjust="0"/>
  </p:normalViewPr>
  <p:slideViewPr>
    <p:cSldViewPr snapToGrid="0">
      <p:cViewPr varScale="1">
        <p:scale>
          <a:sx n="76" d="100"/>
          <a:sy n="76" d="100"/>
        </p:scale>
        <p:origin x="1000" y="44"/>
      </p:cViewPr>
      <p:guideLst>
        <p:guide orient="horz" pos="2112"/>
        <p:guide pos="2880"/>
      </p:guideLst>
    </p:cSldViewPr>
  </p:slideViewPr>
  <p:notesTextViewPr>
    <p:cViewPr>
      <p:scale>
        <a:sx n="1" d="1"/>
        <a:sy n="1" d="1"/>
      </p:scale>
      <p:origin x="0" y="0"/>
    </p:cViewPr>
  </p:notesTextViewPr>
  <p:sorterViewPr>
    <p:cViewPr>
      <p:scale>
        <a:sx n="110" d="100"/>
        <a:sy n="110" d="100"/>
      </p:scale>
      <p:origin x="0" y="-7516"/>
    </p:cViewPr>
  </p:sorterViewPr>
  <p:notesViewPr>
    <p:cSldViewPr snapToGrid="0">
      <p:cViewPr varScale="1">
        <p:scale>
          <a:sx n="100" d="100"/>
          <a:sy n="100" d="100"/>
        </p:scale>
        <p:origin x="0" y="0"/>
      </p:cViewPr>
      <p:guideLst>
        <p:guide orient="horz" pos="2929"/>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51"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7.xml"/><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4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1"/>
            <a:ext cx="3039210" cy="464267"/>
          </a:xfrm>
          <a:prstGeom prst="rect">
            <a:avLst/>
          </a:prstGeom>
          <a:noFill/>
          <a:ln>
            <a:noFill/>
          </a:ln>
        </p:spPr>
        <p:txBody>
          <a:bodyPr spcFirstLastPara="1" wrap="square" lIns="92900" tIns="46450" rIns="92900" bIns="46450" anchor="t"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971191" y="1"/>
            <a:ext cx="3039210" cy="464267"/>
          </a:xfrm>
          <a:prstGeom prst="rect">
            <a:avLst/>
          </a:prstGeom>
          <a:noFill/>
          <a:ln>
            <a:noFill/>
          </a:ln>
        </p:spPr>
        <p:txBody>
          <a:bodyPr spcFirstLastPara="1" wrap="square" lIns="92900" tIns="46450" rIns="92900" bIns="46450" anchor="t" anchorCtr="0">
            <a:noAutofit/>
          </a:bodyPr>
          <a:lstStyle>
            <a:lvl1pPr marR="0" lvl="0" algn="r"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1181100" y="695325"/>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35142" y="4418435"/>
            <a:ext cx="5140117" cy="4183143"/>
          </a:xfrm>
          <a:prstGeom prst="rect">
            <a:avLst/>
          </a:prstGeom>
          <a:noFill/>
          <a:ln>
            <a:noFill/>
          </a:ln>
        </p:spPr>
        <p:txBody>
          <a:bodyPr spcFirstLastPara="1" wrap="square" lIns="92900" tIns="46450" rIns="92900" bIns="4645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32134"/>
            <a:ext cx="3039210" cy="464267"/>
          </a:xfrm>
          <a:prstGeom prst="rect">
            <a:avLst/>
          </a:prstGeom>
          <a:noFill/>
          <a:ln>
            <a:noFill/>
          </a:ln>
        </p:spPr>
        <p:txBody>
          <a:bodyPr spcFirstLastPara="1" wrap="square" lIns="92900" tIns="46450" rIns="92900" bIns="46450" anchor="b"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971191" y="8832134"/>
            <a:ext cx="3039210" cy="464267"/>
          </a:xfrm>
          <a:prstGeom prst="rect">
            <a:avLst/>
          </a:prstGeom>
          <a:noFill/>
          <a:ln>
            <a:noFill/>
          </a:ln>
        </p:spPr>
        <p:txBody>
          <a:bodyPr spcFirstLastPara="1" wrap="square" lIns="92900" tIns="46450" rIns="92900" bIns="4645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a:t>
            </a:fld>
            <a:endParaRPr sz="1200" b="0" i="0" u="none" strike="noStrike" cap="none">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7896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427951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lvl="0" indent="0" algn="l" rtl="0">
              <a:spcBef>
                <a:spcPts val="0"/>
              </a:spcBef>
              <a:spcAft>
                <a:spcPts val="0"/>
              </a:spcAft>
              <a:buNone/>
            </a:pPr>
            <a:r>
              <a:rPr lang="en-CA" dirty="0"/>
              <a:t>Most important one!!!</a:t>
            </a:r>
          </a:p>
          <a:p>
            <a:pPr marL="0" lvl="0" indent="0" algn="l" rtl="0">
              <a:spcBef>
                <a:spcPts val="360"/>
              </a:spcBef>
              <a:spcAft>
                <a:spcPts val="0"/>
              </a:spcAft>
              <a:buNone/>
            </a:pPr>
            <a:r>
              <a:rPr lang="en-CA" dirty="0"/>
              <a:t>Focus on this in chapter 9</a:t>
            </a:r>
          </a:p>
          <a:p>
            <a:pPr marL="0" lvl="0" indent="0" algn="l" rtl="0">
              <a:spcBef>
                <a:spcPts val="360"/>
              </a:spcBef>
              <a:spcAft>
                <a:spcPts val="0"/>
              </a:spcAft>
              <a:buNone/>
            </a:pPr>
            <a:r>
              <a:rPr lang="en-CA" dirty="0"/>
              <a:t>What gets measured gets managed</a:t>
            </a:r>
          </a:p>
        </p:txBody>
      </p:sp>
    </p:spTree>
    <p:extLst>
      <p:ext uri="{BB962C8B-B14F-4D97-AF65-F5344CB8AC3E}">
        <p14:creationId xmlns:p14="http://schemas.microsoft.com/office/powerpoint/2010/main" val="3632976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9324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73394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16092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592107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208697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25878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13012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47164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797098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517052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077288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66663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19</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568384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20</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633796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91411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7253266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12776566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40807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2427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5/18/2022</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65567758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106891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82535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89718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3118CC2-884A-4430-8B4F-9976F3C29C24}" type="datetimeFigureOut">
              <a:rPr kumimoji="0" lang="en-US" sz="1800" b="1" i="0" u="none" strike="noStrike" kern="1200" cap="none" spc="0" normalizeH="0" baseline="0" noProof="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5/18/2022</a:t>
            </a:fld>
            <a:endParaRPr kumimoji="0" lang="en-US" sz="1800" b="1" i="0" u="none" strike="noStrike" kern="1200" cap="none" spc="0" normalizeH="0" baseline="0" noProof="0">
              <a:ln>
                <a:noFill/>
              </a:ln>
              <a:solidFill>
                <a:srgbClr val="000000"/>
              </a:solidFill>
              <a:effectLst/>
              <a:uLnTx/>
              <a:uFillTx/>
              <a:latin typeface="Arial" charset="0"/>
              <a:ea typeface="+mn-ea"/>
              <a:cs typeface="+mn-cs"/>
            </a:endParaRPr>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1" i="0" u="none" strike="noStrike" kern="1200" cap="none" spc="0" normalizeH="0" baseline="0" noProof="0">
              <a:ln>
                <a:noFill/>
              </a:ln>
              <a:solidFill>
                <a:srgbClr val="000000"/>
              </a:solidFill>
              <a:effectLst/>
              <a:uLnTx/>
              <a:uFillTx/>
              <a:latin typeface="Arial" charset="0"/>
              <a:ea typeface="+mn-ea"/>
              <a:cs typeface="+mn-cs"/>
            </a:endParaRPr>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1823322-A425-42F9-B4E6-DE1BA6748FF3}" type="slidenum">
              <a:rPr kumimoji="0" lang="en-US" altLang="en-US" sz="1800" b="1" i="0" u="none" strike="noStrike" kern="1200" cap="none" spc="0" normalizeH="0" baseline="0" noProof="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en-US" sz="1800" b="1"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894871555"/>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18003649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19124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13975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3614056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473813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576360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1.jpe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5" Type="http://schemas.openxmlformats.org/officeDocument/2006/relationships/image" Target="../media/image1.jpe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image" Target="../media/image1.jpeg"/><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2116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261800"/>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3893160"/>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711279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662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On Becoming a </a:t>
            </a:r>
            <a:b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b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Leader in Risk Management</a:t>
            </a:r>
          </a:p>
          <a:p>
            <a:pPr marL="0" marR="0" lvl="0" indent="0" algn="ctr" defTabSz="914400" rtl="0" eaLnBrk="1" fontAlgn="base" latinLnBrk="0" hangingPunct="1">
              <a:lnSpc>
                <a:spcPct val="100000"/>
              </a:lnSpc>
              <a:spcBef>
                <a:spcPct val="0"/>
              </a:spcBef>
              <a:spcAft>
                <a:spcPct val="0"/>
              </a:spcAft>
              <a:buClr>
                <a:srgbClr val="AA9C8F"/>
              </a:buClr>
              <a:buSzTx/>
              <a:buFontTx/>
              <a:buNone/>
              <a:tabLst/>
              <a:defRPr/>
            </a:pPr>
            <a:r>
              <a:rPr kumimoji="0" lang="en-US" altLang="en-US" sz="32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ENGG404 - Lecture</a:t>
            </a:r>
            <a:endParaRPr kumimoji="0" lang="en-US"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endParaRPr>
          </a:p>
        </p:txBody>
      </p:sp>
      <p:sp>
        <p:nvSpPr>
          <p:cNvPr id="8" name="Rectangle 3"/>
          <p:cNvSpPr>
            <a:spLocks noGrp="1" noChangeArrowheads="1"/>
          </p:cNvSpPr>
          <p:nvPr>
            <p:ph type="subTitle" idx="4294967295"/>
          </p:nvPr>
        </p:nvSpPr>
        <p:spPr>
          <a:xfrm>
            <a:off x="838200" y="2500342"/>
            <a:ext cx="7315201" cy="2574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ctr" eaLnBrk="1" hangingPunct="1">
              <a:spcBef>
                <a:spcPct val="0"/>
              </a:spcBef>
              <a:buNone/>
            </a:pPr>
            <a: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3.3:</a:t>
            </a:r>
            <a:b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The Risk Management System </a:t>
            </a:r>
            <a:b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and Elements </a:t>
            </a:r>
          </a:p>
          <a:p>
            <a:pPr marL="0" indent="0" algn="ctr" eaLnBrk="1" hangingPunct="1">
              <a:spcBef>
                <a:spcPct val="0"/>
              </a:spcBef>
              <a:buNone/>
            </a:pPr>
            <a: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a:r>
            <a:b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Part 2</a:t>
            </a: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405529"/>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405342"/>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the risk management system elements in more detail including relevant, real-world examples as points of references, and typical latent cause statements</a:t>
            </a:r>
            <a:r>
              <a:rPr lang="en-US" altLang="en-US"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Although all 11 elements are listed in this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presentation,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only these three are discussed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 detail in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lecture: </a:t>
            </a:r>
          </a:p>
          <a:p>
            <a:pPr marL="0" marR="0" lvl="0" indent="0" algn="l" defTabSz="914400" rtl="0" eaLnBrk="0" fontAlgn="base" latinLnBrk="0" hangingPunct="0">
              <a:lnSpc>
                <a:spcPct val="100000"/>
              </a:lnSpc>
              <a:spcBef>
                <a:spcPts val="0"/>
              </a:spcBef>
              <a:spcAft>
                <a:spcPct val="0"/>
              </a:spcAft>
              <a:buClrTx/>
              <a:buSzPct val="100000"/>
              <a:buNone/>
              <a:tabLst/>
              <a:defRPr/>
            </a:pPr>
            <a:endParaRPr lang="en-CA" altLang="en-US"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1) Management Leadership, Commitment, and Accountability</a:t>
            </a: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5) Incident Reporting, Investigation, Analysis and Actions:</a:t>
            </a: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6) Program Evaluation and Continuous Improvement</a:t>
            </a:r>
            <a:r>
              <a:rPr kumimoji="0" lang="en-CA"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2734127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Google Shape;309;p17">
            <a:extLst>
              <a:ext uri="{FF2B5EF4-FFF2-40B4-BE49-F238E27FC236}">
                <a16:creationId xmlns:a16="http://schemas.microsoft.com/office/drawing/2014/main" id="{77325C46-9719-4387-96F7-FBD82A89FFE8}"/>
              </a:ext>
            </a:extLst>
          </p:cNvPr>
          <p:cNvSpPr/>
          <p:nvPr/>
        </p:nvSpPr>
        <p:spPr>
          <a:xfrm>
            <a:off x="594360" y="1077192"/>
            <a:ext cx="7978140" cy="4349102"/>
          </a:xfrm>
          <a:prstGeom prst="rect">
            <a:avLst/>
          </a:prstGeom>
          <a:solidFill>
            <a:srgbClr val="FFFFFF"/>
          </a:solidFill>
          <a:ln w="76200" cap="flat" cmpd="sng">
            <a:solidFill>
              <a:srgbClr val="3366CC"/>
            </a:solidFill>
            <a:prstDash val="solid"/>
            <a:miter lim="800000"/>
            <a:headEnd type="none" w="sm" len="sm"/>
            <a:tailEnd type="none" w="sm" len="sm"/>
          </a:ln>
        </p:spPr>
        <p:txBody>
          <a:bodyPr spcFirstLastPara="1" wrap="square" lIns="91425" tIns="45700" rIns="91425" bIns="45700" anchor="t" anchorCtr="0">
            <a:noAutofit/>
          </a:bodyPr>
          <a:lstStyle/>
          <a:p>
            <a:pPr marL="457200" marR="0" lvl="0" indent="-457200" defTabSz="914400" eaLnBrk="1" fontAlgn="auto" latinLnBrk="0" hangingPunct="1">
              <a:lnSpc>
                <a:spcPct val="110000"/>
              </a:lnSpc>
              <a:spcBef>
                <a:spcPts val="0"/>
              </a:spcBef>
              <a:spcAft>
                <a:spcPts val="0"/>
              </a:spcAft>
              <a:buClrTx/>
              <a:buSzPts val="1400"/>
              <a:buFont typeface="Noto Sans Symbols"/>
              <a:buNone/>
              <a:tabLst/>
              <a:defRPr/>
            </a:pPr>
            <a:r>
              <a:rPr kumimoji="0" lang="en-US" sz="2000" b="1" i="0" u="none" strike="noStrike" kern="0" cap="none" spc="0" normalizeH="0" baseline="0" noProof="0" dirty="0">
                <a:ln>
                  <a:noFill/>
                </a:ln>
                <a:solidFill>
                  <a:sysClr val="windowText" lastClr="000000"/>
                </a:solidFill>
                <a:effectLst/>
                <a:uLnTx/>
                <a:uFillTx/>
              </a:rPr>
              <a:t>Risk Management System (APEGA Model):</a:t>
            </a:r>
            <a:endParaRPr kumimoji="0" sz="20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Management Leadership, Commitment and Accountability (MLCA)</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Risk Assessment and Management of Risks (RAMR)</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Community Awareness and Emergency Preparedness (CAEP)</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Management of Change (MOC)</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Incident Reporting, Investigation, Analysis and Actions (IRIAA)</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Program Evaluation and Continuous Improvement (PECI)</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Design, Construction and Start-up (DCSU)</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Operations and Maintenance (OM)</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Employee Competency and Training (ECT)</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Contractor Competency and Integration (CCI)</a:t>
            </a:r>
            <a:endParaRPr kumimoji="0" sz="18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20000"/>
              </a:lnSpc>
              <a:spcBef>
                <a:spcPts val="0"/>
              </a:spcBef>
              <a:spcAft>
                <a:spcPts val="0"/>
              </a:spcAft>
              <a:buClrTx/>
              <a:buSzPct val="100000"/>
              <a:buFont typeface="Times New Roman"/>
              <a:buAutoNum type="arabicParenR"/>
              <a:tabLst/>
              <a:defRPr/>
            </a:pPr>
            <a:r>
              <a:rPr kumimoji="0" lang="en-US" sz="1800" b="0" i="0" u="none" strike="noStrike" kern="0" cap="none" spc="0" normalizeH="0" baseline="0" noProof="0" dirty="0">
                <a:ln>
                  <a:noFill/>
                </a:ln>
                <a:solidFill>
                  <a:sysClr val="windowText" lastClr="000000"/>
                </a:solidFill>
                <a:effectLst/>
                <a:uLnTx/>
                <a:uFillTx/>
              </a:rPr>
              <a:t>Operations and Facilities Information and Documentation (OFID)</a:t>
            </a:r>
            <a:endParaRPr kumimoji="0" sz="1800" b="0" i="0" u="none" strike="noStrike" kern="0" cap="none" spc="0" normalizeH="0" baseline="0" noProof="0" dirty="0">
              <a:ln>
                <a:noFill/>
              </a:ln>
              <a:solidFill>
                <a:sysClr val="windowText" lastClr="000000"/>
              </a:solidFill>
              <a:effectLst/>
              <a:uLnTx/>
              <a:uFillTx/>
            </a:endParaRPr>
          </a:p>
        </p:txBody>
      </p:sp>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A Model of the Risk Management System:</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
        <p:nvSpPr>
          <p:cNvPr id="7" name="Google Shape;137;p3">
            <a:extLst>
              <a:ext uri="{FF2B5EF4-FFF2-40B4-BE49-F238E27FC236}">
                <a16:creationId xmlns:a16="http://schemas.microsoft.com/office/drawing/2014/main" id="{0AF6FC50-9909-4F13-9771-ECA6A4B73EAE}"/>
              </a:ext>
            </a:extLst>
          </p:cNvPr>
          <p:cNvSpPr txBox="1"/>
          <p:nvPr/>
        </p:nvSpPr>
        <p:spPr>
          <a:xfrm>
            <a:off x="594360" y="5464696"/>
            <a:ext cx="8001000" cy="461665"/>
          </a:xfrm>
          <a:prstGeom prst="rect">
            <a:avLst/>
          </a:prstGeom>
          <a:solidFill>
            <a:srgbClr val="000000"/>
          </a:solidFill>
          <a:ln w="9525" cap="flat" cmpd="sng">
            <a:solidFill>
              <a:srgbClr val="000000"/>
            </a:solidFill>
            <a:prstDash val="solid"/>
            <a:round/>
            <a:headEnd type="none" w="sm" len="sm"/>
            <a:tailEnd type="none" w="sm" len="sm"/>
          </a:ln>
        </p:spPr>
        <p:txBody>
          <a:bodyPr spcFirstLastPara="1" wrap="square" lIns="91425" tIns="45700" rIns="91425" bIns="45700" anchor="t"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1" u="none" strike="noStrike" kern="0" cap="none" spc="0" normalizeH="0" baseline="0" noProof="0">
                <a:ln>
                  <a:noFill/>
                </a:ln>
                <a:solidFill>
                  <a:srgbClr val="FFFFFF"/>
                </a:solidFill>
                <a:effectLst/>
                <a:uLnTx/>
                <a:uFillTx/>
              </a:rPr>
              <a:t>Be able to </a:t>
            </a:r>
            <a:r>
              <a:rPr kumimoji="0" lang="en-US" sz="2400" b="0" i="1" u="sng" strike="noStrike" kern="0" cap="none" spc="0" normalizeH="0" baseline="0" noProof="0">
                <a:ln>
                  <a:noFill/>
                </a:ln>
                <a:solidFill>
                  <a:srgbClr val="FFFFFF"/>
                </a:solidFill>
                <a:effectLst/>
                <a:uLnTx/>
                <a:uFillTx/>
              </a:rPr>
              <a:t>explain and apply</a:t>
            </a:r>
            <a:r>
              <a:rPr kumimoji="0" lang="en-US" sz="2400" b="0" i="1" u="none" strike="noStrike" kern="0" cap="none" spc="0" normalizeH="0" baseline="0" noProof="0">
                <a:ln>
                  <a:noFill/>
                </a:ln>
                <a:solidFill>
                  <a:srgbClr val="FFFFFF"/>
                </a:solidFill>
                <a:effectLst/>
                <a:uLnTx/>
                <a:uFillTx/>
              </a:rPr>
              <a:t> each of these elements!</a:t>
            </a:r>
            <a:endParaRPr kumimoji="0" sz="24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1285170058"/>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100000"/>
              </a:lnSpc>
              <a:spcBef>
                <a:spcPts val="0"/>
              </a:spcBef>
              <a:spcAft>
                <a:spcPct val="0"/>
              </a:spcAft>
              <a:buClrTx/>
              <a:buSzPct val="100000"/>
              <a:buNone/>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All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11 of the RMS elements relate to the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Engineer’s Survival Guide</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t>
            </a: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endParaRPr kumimoji="0" lang="en-US" sz="2000" b="0" i="0" u="none" strike="noStrike" kern="0" cap="none" spc="0" normalizeH="0" baseline="0" noProof="0" dirty="0" smtClean="0">
              <a:ln>
                <a:noFill/>
              </a:ln>
              <a:solidFill>
                <a:srgbClr val="000000"/>
              </a:solidFill>
              <a:effectLst/>
              <a:uLnTx/>
              <a:uFillTx/>
              <a:latin typeface="Arial"/>
              <a:cs typeface="Arial"/>
              <a:sym typeface="Arial"/>
            </a:endParaRP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r>
              <a:rPr kumimoji="0" lang="en-US" sz="2000" b="0" i="0" u="none" strike="noStrike" kern="0" cap="none" spc="0" normalizeH="0" baseline="0" noProof="0" dirty="0" smtClean="0">
                <a:ln>
                  <a:noFill/>
                </a:ln>
                <a:solidFill>
                  <a:srgbClr val="000000"/>
                </a:solidFill>
                <a:effectLst/>
                <a:uLnTx/>
                <a:uFillTx/>
                <a:latin typeface="Arial"/>
                <a:cs typeface="Arial"/>
                <a:sym typeface="Arial"/>
              </a:rPr>
              <a:t>#</a:t>
            </a:r>
            <a:r>
              <a:rPr kumimoji="0" lang="en-US" sz="2000" b="0" i="0" u="none" strike="noStrike" kern="0" cap="none" spc="0" normalizeH="0" baseline="0" noProof="0" dirty="0">
                <a:ln>
                  <a:noFill/>
                </a:ln>
                <a:solidFill>
                  <a:srgbClr val="000000"/>
                </a:solidFill>
                <a:effectLst/>
                <a:uLnTx/>
                <a:uFillTx/>
                <a:latin typeface="Arial"/>
                <a:cs typeface="Arial"/>
                <a:sym typeface="Arial"/>
              </a:rPr>
              <a:t>1: Understand company values.</a:t>
            </a: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endParaRPr kumimoji="0" lang="en-US" sz="2000" b="0" i="0" u="none" strike="noStrike" kern="0" cap="none" spc="0" normalizeH="0" baseline="0" noProof="0" dirty="0" smtClean="0">
              <a:ln>
                <a:noFill/>
              </a:ln>
              <a:solidFill>
                <a:srgbClr val="000000"/>
              </a:solidFill>
              <a:effectLst/>
              <a:uLnTx/>
              <a:uFillTx/>
              <a:latin typeface="Arial"/>
              <a:cs typeface="Arial"/>
              <a:sym typeface="Arial"/>
            </a:endParaRP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r>
              <a:rPr kumimoji="0" lang="en-US" sz="2000" b="0" i="0" u="none" strike="noStrike" kern="0" cap="none" spc="0" normalizeH="0" baseline="0" noProof="0" dirty="0" smtClean="0">
                <a:ln>
                  <a:noFill/>
                </a:ln>
                <a:solidFill>
                  <a:srgbClr val="000000"/>
                </a:solidFill>
                <a:effectLst/>
                <a:uLnTx/>
                <a:uFillTx/>
                <a:latin typeface="Arial"/>
                <a:cs typeface="Arial"/>
                <a:sym typeface="Arial"/>
              </a:rPr>
              <a:t>#</a:t>
            </a:r>
            <a:r>
              <a:rPr kumimoji="0" lang="en-US" sz="2000" b="0" i="0" u="none" strike="noStrike" kern="0" cap="none" spc="0" normalizeH="0" baseline="0" noProof="0" dirty="0">
                <a:ln>
                  <a:noFill/>
                </a:ln>
                <a:solidFill>
                  <a:srgbClr val="000000"/>
                </a:solidFill>
                <a:effectLst/>
                <a:uLnTx/>
                <a:uFillTx/>
                <a:latin typeface="Arial"/>
                <a:cs typeface="Arial"/>
                <a:sym typeface="Arial"/>
              </a:rPr>
              <a:t>2: Understand your program.</a:t>
            </a: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endParaRPr kumimoji="0" lang="en-US" sz="2000" b="0" i="0" u="none" strike="noStrike" kern="0" cap="none" spc="0" normalizeH="0" baseline="0" noProof="0" dirty="0" smtClean="0">
              <a:ln>
                <a:noFill/>
              </a:ln>
              <a:solidFill>
                <a:srgbClr val="000000"/>
              </a:solidFill>
              <a:effectLst/>
              <a:uLnTx/>
              <a:uFillTx/>
              <a:latin typeface="Arial"/>
              <a:cs typeface="Arial"/>
              <a:sym typeface="Arial"/>
            </a:endParaRP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r>
              <a:rPr kumimoji="0" lang="en-US" sz="2000" b="0" i="0" u="none" strike="noStrike" kern="0" cap="none" spc="0" normalizeH="0" baseline="0" noProof="0" dirty="0" smtClean="0">
                <a:ln>
                  <a:noFill/>
                </a:ln>
                <a:solidFill>
                  <a:srgbClr val="000000"/>
                </a:solidFill>
                <a:effectLst/>
                <a:uLnTx/>
                <a:uFillTx/>
                <a:latin typeface="Arial"/>
                <a:cs typeface="Arial"/>
                <a:sym typeface="Arial"/>
              </a:rPr>
              <a:t>#</a:t>
            </a:r>
            <a:r>
              <a:rPr kumimoji="0" lang="en-US" sz="2000" b="0" i="0" u="none" strike="noStrike" kern="0" cap="none" spc="0" normalizeH="0" baseline="0" noProof="0" dirty="0">
                <a:ln>
                  <a:noFill/>
                </a:ln>
                <a:solidFill>
                  <a:srgbClr val="000000"/>
                </a:solidFill>
                <a:effectLst/>
                <a:uLnTx/>
                <a:uFillTx/>
                <a:latin typeface="Arial"/>
                <a:cs typeface="Arial"/>
                <a:sym typeface="Arial"/>
              </a:rPr>
              <a:t>3: When you make decisions, put safety ahead of any other objective! </a:t>
            </a: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endParaRPr kumimoji="0" lang="en-US" sz="2000" b="0" i="0" u="none" strike="noStrike" kern="0" cap="none" spc="0" normalizeH="0" baseline="0" noProof="0" dirty="0" smtClean="0">
              <a:ln>
                <a:noFill/>
              </a:ln>
              <a:solidFill>
                <a:srgbClr val="000000"/>
              </a:solidFill>
              <a:effectLst/>
              <a:uLnTx/>
              <a:uFillTx/>
              <a:latin typeface="Arial"/>
              <a:cs typeface="Arial"/>
              <a:sym typeface="Arial"/>
            </a:endParaRPr>
          </a:p>
          <a:p>
            <a:pPr marL="457200" marR="0" lvl="4" indent="-457200" algn="l" defTabSz="9144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ü"/>
              <a:tabLst/>
              <a:defRPr/>
            </a:pPr>
            <a:r>
              <a:rPr kumimoji="0" lang="en-US" sz="2000" b="0" i="0" u="none" strike="noStrike" kern="0" cap="none" spc="0" normalizeH="0" baseline="0" noProof="0" dirty="0" smtClean="0">
                <a:ln>
                  <a:noFill/>
                </a:ln>
                <a:solidFill>
                  <a:srgbClr val="000000"/>
                </a:solidFill>
                <a:effectLst/>
                <a:uLnTx/>
                <a:uFillTx/>
                <a:latin typeface="Arial"/>
                <a:cs typeface="Arial"/>
                <a:sym typeface="Arial"/>
              </a:rPr>
              <a:t>#</a:t>
            </a:r>
            <a:r>
              <a:rPr kumimoji="0" lang="en-US" sz="2000" b="0" i="0" u="none" strike="noStrike" kern="0" cap="none" spc="0" normalizeH="0" baseline="0" noProof="0" dirty="0">
                <a:ln>
                  <a:noFill/>
                </a:ln>
                <a:solidFill>
                  <a:srgbClr val="000000"/>
                </a:solidFill>
                <a:effectLst/>
                <a:uLnTx/>
                <a:uFillTx/>
                <a:latin typeface="Arial"/>
                <a:cs typeface="Arial"/>
                <a:sym typeface="Arial"/>
              </a:rPr>
              <a:t>4: Pay attention to failures in safety systems and take action</a:t>
            </a:r>
            <a:r>
              <a:rPr kumimoji="0" lang="en-US" sz="2000" b="0" i="0" u="none" strike="noStrike" kern="0" cap="none" spc="0" normalizeH="0" baseline="0" noProof="0" dirty="0" smtClean="0">
                <a:ln>
                  <a:noFill/>
                </a:ln>
                <a:solidFill>
                  <a:srgbClr val="000000"/>
                </a:solidFill>
                <a:effectLst/>
                <a:uLnTx/>
                <a:uFillTx/>
                <a:latin typeface="Arial"/>
                <a:cs typeface="Arial"/>
                <a:sym typeface="Arial"/>
              </a:rPr>
              <a:t>.</a:t>
            </a:r>
          </a:p>
          <a:p>
            <a:pPr marL="457200" lvl="5" indent="0" eaLnBrk="1" fontAlgn="auto" hangingPunct="1">
              <a:lnSpc>
                <a:spcPct val="100000"/>
              </a:lnSpc>
              <a:spcBef>
                <a:spcPts val="0"/>
              </a:spcBef>
              <a:spcAft>
                <a:spcPts val="0"/>
              </a:spcAft>
              <a:buClr>
                <a:srgbClr val="000000"/>
              </a:buClr>
              <a:buSzPts val="2000"/>
              <a:buNone/>
              <a:defRPr/>
            </a:pPr>
            <a:endParaRPr lang="en-US" sz="2000" i="1" dirty="0" smtClean="0">
              <a:solidFill>
                <a:srgbClr val="000000"/>
              </a:solidFill>
              <a:latin typeface="Arial"/>
            </a:endParaRPr>
          </a:p>
          <a:p>
            <a:pPr marL="457200" lvl="5" indent="0" eaLnBrk="1" fontAlgn="auto" hangingPunct="1">
              <a:lnSpc>
                <a:spcPct val="100000"/>
              </a:lnSpc>
              <a:spcBef>
                <a:spcPts val="0"/>
              </a:spcBef>
              <a:spcAft>
                <a:spcPts val="0"/>
              </a:spcAft>
              <a:buClr>
                <a:srgbClr val="000000"/>
              </a:buClr>
              <a:buSzPts val="2000"/>
              <a:buNone/>
              <a:defRPr/>
            </a:pPr>
            <a:r>
              <a:rPr lang="en-US" sz="2000" i="1" dirty="0" smtClean="0">
                <a:solidFill>
                  <a:srgbClr val="000000"/>
                </a:solidFill>
                <a:latin typeface="Arial"/>
              </a:rPr>
              <a:t>Thinking back to the previous topic, The Swiss Cheese Model and the case of the “loading operation with the defective level switch”, what “safety systems” can you identify?</a:t>
            </a:r>
            <a:endParaRPr kumimoji="0" lang="en-US" sz="2000" b="0" i="1"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Introduction:</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2644837669"/>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3019646"/>
            <a:ext cx="8640000" cy="3136353"/>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fontAlgn="base" hangingPunct="0">
              <a:lnSpc>
                <a:spcPct val="90000"/>
              </a:lnSpc>
              <a:spcBef>
                <a:spcPts val="0"/>
              </a:spcBef>
              <a:spcAft>
                <a:spcPct val="0"/>
              </a:spcAft>
              <a:buClrTx/>
              <a:buSzPct val="100000"/>
              <a:buNone/>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As you will learn in the application of the fourth key point of The Engineer’s Survival Guide, “failures in safety systems” can include:</a:t>
            </a: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Administrative Controls: </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this case, a procedure for prioritizing did not escalate the priority and allocation of resources to repair the defective limit switch, which obviously is a device necessary to prevent overfilling the rail-car.</a:t>
            </a: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Engineering Controls:</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 this case, the level switch and its “high level alarm / flow shut-off” feature are not working; this hardware safety system </a:t>
            </a:r>
            <a:r>
              <a:rPr lang="en-US" altLang="en-US" sz="1800" kern="120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deosn</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not detect a high level condition, does not annunciate a “high level” alarm, and does not shut-off the flow of the combustible fluid to the rail-car</a:t>
            </a: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RM Programs:</a:t>
            </a: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this case, the maintenance program to maintain and repair instrumentation did not include a standard to classify “priority” repairs on critical level instrumentation. </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Introduction:</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pic>
        <p:nvPicPr>
          <p:cNvPr id="3" name="Picture 2"/>
          <p:cNvPicPr>
            <a:picLocks noChangeAspect="1"/>
          </p:cNvPicPr>
          <p:nvPr/>
        </p:nvPicPr>
        <p:blipFill>
          <a:blip r:embed="rId3"/>
          <a:stretch>
            <a:fillRect/>
          </a:stretch>
        </p:blipFill>
        <p:spPr>
          <a:xfrm>
            <a:off x="5620855" y="827999"/>
            <a:ext cx="3285383" cy="2047645"/>
          </a:xfrm>
          <a:prstGeom prst="rect">
            <a:avLst/>
          </a:prstGeom>
        </p:spPr>
      </p:pic>
      <p:sp>
        <p:nvSpPr>
          <p:cNvPr id="10" name="Rectangle 3"/>
          <p:cNvSpPr>
            <a:spLocks noChangeArrowheads="1"/>
          </p:cNvSpPr>
          <p:nvPr/>
        </p:nvSpPr>
        <p:spPr bwMode="auto">
          <a:xfrm>
            <a:off x="180000" y="828000"/>
            <a:ext cx="5348930" cy="2047644"/>
          </a:xfrm>
          <a:prstGeom prst="rect">
            <a:avLst/>
          </a:prstGeom>
          <a:solidFill>
            <a:schemeClr val="tx1"/>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4" indent="0" algn="l" defTabSz="914400" rtl="0" eaLnBrk="1" fontAlgn="auto" latinLnBrk="0" hangingPunct="1">
              <a:lnSpc>
                <a:spcPct val="100000"/>
              </a:lnSpc>
              <a:spcBef>
                <a:spcPts val="0"/>
              </a:spcBef>
              <a:spcAft>
                <a:spcPts val="0"/>
              </a:spcAft>
              <a:buClr>
                <a:srgbClr val="000000"/>
              </a:buClr>
              <a:buSzPts val="2000"/>
              <a:buNone/>
              <a:tabLst/>
              <a:defRPr/>
            </a:pPr>
            <a:r>
              <a:rPr lang="en-US" sz="1800" kern="12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The Engineer’s Survival Guide:</a:t>
            </a:r>
            <a:endParaRPr kumimoji="0" lang="en-US" sz="1800" b="0" i="0" u="none" strike="noStrike" kern="0" cap="none" spc="0" normalizeH="0" baseline="0" noProof="0" dirty="0" smtClean="0">
              <a:ln>
                <a:noFill/>
              </a:ln>
              <a:solidFill>
                <a:schemeClr val="bg1"/>
              </a:solidFill>
              <a:effectLst/>
              <a:uLnTx/>
              <a:uFillTx/>
              <a:latin typeface="Arial"/>
              <a:sym typeface="Arial"/>
            </a:endParaRPr>
          </a:p>
          <a:p>
            <a:pPr marL="457200" marR="0" lvl="4" indent="-457200" algn="l" defTabSz="914400" rtl="0" eaLnBrk="1" fontAlgn="auto" latinLnBrk="0" hangingPunct="1">
              <a:lnSpc>
                <a:spcPct val="100000"/>
              </a:lnSpc>
              <a:spcBef>
                <a:spcPts val="0"/>
              </a:spcBef>
              <a:spcAft>
                <a:spcPts val="0"/>
              </a:spcAft>
              <a:buClrTx/>
              <a:buSzPts val="2000"/>
              <a:buFont typeface="Wingdings" panose="05000000000000000000" pitchFamily="2" charset="2"/>
              <a:buChar char="ü"/>
              <a:tabLst/>
              <a:defRPr/>
            </a:pPr>
            <a:r>
              <a:rPr kumimoji="0" lang="en-US" sz="1800" b="0" i="0" u="none" strike="noStrike" kern="0" cap="none" spc="0" normalizeH="0" baseline="0" noProof="0" dirty="0" smtClean="0">
                <a:ln>
                  <a:noFill/>
                </a:ln>
                <a:solidFill>
                  <a:schemeClr val="bg1"/>
                </a:solidFill>
                <a:effectLst/>
                <a:uLnTx/>
                <a:uFillTx/>
                <a:latin typeface="Arial"/>
                <a:sym typeface="Arial"/>
              </a:rPr>
              <a:t>#</a:t>
            </a:r>
            <a:r>
              <a:rPr kumimoji="0" lang="en-US" sz="1800" b="0" i="0" u="none" strike="noStrike" kern="0" cap="none" spc="0" normalizeH="0" baseline="0" noProof="0" dirty="0">
                <a:ln>
                  <a:noFill/>
                </a:ln>
                <a:solidFill>
                  <a:schemeClr val="bg1"/>
                </a:solidFill>
                <a:effectLst/>
                <a:uLnTx/>
                <a:uFillTx/>
                <a:latin typeface="Arial"/>
                <a:sym typeface="Arial"/>
              </a:rPr>
              <a:t>4: Pay attention to failures in safety systems and take action</a:t>
            </a:r>
            <a:r>
              <a:rPr kumimoji="0" lang="en-US" sz="1800" b="0" i="0" u="none" strike="noStrike" kern="0" cap="none" spc="0" normalizeH="0" baseline="0" noProof="0" dirty="0" smtClean="0">
                <a:ln>
                  <a:noFill/>
                </a:ln>
                <a:solidFill>
                  <a:schemeClr val="bg1"/>
                </a:solidFill>
                <a:effectLst/>
                <a:uLnTx/>
                <a:uFillTx/>
                <a:latin typeface="Arial"/>
                <a:sym typeface="Arial"/>
              </a:rPr>
              <a:t>.</a:t>
            </a:r>
          </a:p>
          <a:p>
            <a:pPr marL="457200" lvl="5" indent="0" eaLnBrk="1" fontAlgn="auto" hangingPunct="1">
              <a:lnSpc>
                <a:spcPct val="100000"/>
              </a:lnSpc>
              <a:spcBef>
                <a:spcPts val="0"/>
              </a:spcBef>
              <a:spcAft>
                <a:spcPts val="0"/>
              </a:spcAft>
              <a:buClr>
                <a:srgbClr val="000000"/>
              </a:buClr>
              <a:buSzPts val="2000"/>
              <a:buNone/>
              <a:defRPr/>
            </a:pPr>
            <a:r>
              <a:rPr lang="en-US" sz="1800" i="1" dirty="0" smtClean="0">
                <a:solidFill>
                  <a:schemeClr val="bg1"/>
                </a:solidFill>
                <a:latin typeface="Arial"/>
              </a:rPr>
              <a:t>Thinking back to the previous topic, The Swiss Cheese Model and the case of the “loading operation with the defective level switch”, what “safety systems” can you identify?</a:t>
            </a:r>
            <a:endParaRPr kumimoji="0" lang="en-US" sz="1800" b="0" i="1" u="none" strike="noStrike" kern="0" cap="none" spc="0" normalizeH="0" baseline="0" noProof="0" dirty="0">
              <a:ln>
                <a:noFill/>
              </a:ln>
              <a:solidFill>
                <a:schemeClr val="bg1"/>
              </a:solidFill>
              <a:effectLst/>
              <a:uLnTx/>
              <a:uFillTx/>
              <a:latin typeface="Arial"/>
              <a:sym typeface="Arial"/>
            </a:endParaRP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18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Tree>
    <p:extLst>
      <p:ext uri="{BB962C8B-B14F-4D97-AF65-F5344CB8AC3E}">
        <p14:creationId xmlns:p14="http://schemas.microsoft.com/office/powerpoint/2010/main" val="20376304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CCCC">
              <a:alpha val="50196"/>
            </a:srgbClr>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180000" marR="0" lvl="0" indent="-18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If weaknesses here, the system will fail or mediocre results at </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best.</a:t>
            </a:r>
            <a:endPar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180000" marR="0" lvl="0" indent="-18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Management sets the culture and tone of the organization</a:t>
            </a:r>
          </a:p>
          <a:p>
            <a:pPr marL="360000" marR="0" lvl="0" indent="-18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Long term and pro-active commitment</a:t>
            </a:r>
          </a:p>
          <a:p>
            <a:pPr marL="360000" marR="0" lvl="0" indent="-18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Management actions must be consistent between their words and actions - </a:t>
            </a:r>
            <a:r>
              <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walk the </a:t>
            </a:r>
            <a:r>
              <a:rPr kumimoji="0" lang="en-CA" altLang="en-US" sz="16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talk!</a:t>
            </a:r>
            <a:endPar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18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Applies their fundamental process of </a:t>
            </a:r>
            <a:r>
              <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P</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lan–</a:t>
            </a:r>
            <a:r>
              <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D</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o–</a:t>
            </a:r>
            <a:r>
              <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heck–</a:t>
            </a:r>
            <a:r>
              <a:rPr kumimoji="0" lang="en-CA"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ct</a:t>
            </a:r>
          </a:p>
          <a:p>
            <a:pPr marL="360000" marR="0" lvl="0" indent="-18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Is the driver of PDCA</a:t>
            </a:r>
          </a:p>
          <a:p>
            <a:pPr marL="0" marR="0" lvl="0" indent="0" algn="l" defTabSz="914400" rtl="0" eaLnBrk="0" fontAlgn="base" latinLnBrk="0" hangingPunct="0">
              <a:lnSpc>
                <a:spcPct val="90000"/>
              </a:lnSpc>
              <a:spcBef>
                <a:spcPts val="0"/>
              </a:spcBef>
              <a:buClrTx/>
              <a:buSzPct val="100000"/>
              <a:buNone/>
              <a:tabLst/>
              <a:defRPr/>
            </a:pPr>
            <a:endPar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eaLnBrk="0" fontAlgn="base" hangingPunct="0">
              <a:lnSpc>
                <a:spcPct val="90000"/>
              </a:lnSpc>
              <a:spcBef>
                <a:spcPts val="0"/>
              </a:spcBef>
              <a:buClrTx/>
              <a:buSzPct val="100000"/>
              <a:buNone/>
              <a:defRPr/>
            </a:pPr>
            <a:r>
              <a:rPr lang="en-US" altLang="en-US" sz="16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Example: </a:t>
            </a:r>
            <a:r>
              <a:rPr lang="en-US" altLang="en-US" sz="16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a:t>
            </a:r>
            <a:r>
              <a:rPr lang="en-US" altLang="en-US" sz="16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 did not follow the ‘back in’ parking procedure at a job site because </a:t>
            </a:r>
            <a:r>
              <a:rPr lang="en-US" altLang="en-US" sz="16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his supervisor </a:t>
            </a:r>
            <a:r>
              <a:rPr lang="en-US" altLang="en-US" sz="16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never communicated the importance of following the company’s </a:t>
            </a:r>
            <a:r>
              <a:rPr lang="en-US" altLang="en-US" sz="16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 procedures.</a:t>
            </a:r>
            <a:endParaRPr lang="en-US" altLang="en-US" sz="16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90000"/>
              </a:lnSpc>
              <a:spcBef>
                <a:spcPts val="0"/>
              </a:spcBef>
              <a:buClrTx/>
              <a:buSzPct val="100000"/>
              <a:buNone/>
              <a:tabLst/>
              <a:defRPr/>
            </a:pPr>
            <a:endPar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eaLnBrk="0" fontAlgn="base" hangingPunct="0">
              <a:lnSpc>
                <a:spcPct val="90000"/>
              </a:lnSpc>
              <a:spcBef>
                <a:spcPts val="0"/>
              </a:spcBef>
              <a:buClrTx/>
              <a:buSzPct val="100000"/>
              <a:buNone/>
              <a:defRPr/>
            </a:pPr>
            <a:r>
              <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Example</a:t>
            </a:r>
            <a:r>
              <a:rPr kumimoji="0" lang="en-CA"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t>
            </a:r>
            <a:r>
              <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 </a:t>
            </a:r>
            <a:r>
              <a:rPr lang="en-CA" altLang="en-US" sz="16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 </a:t>
            </a:r>
            <a:r>
              <a:rPr kumimoji="0" lang="en-CA"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did not follow the ‘back in’ parking procedure at a job site </a:t>
            </a:r>
            <a:r>
              <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even though his </a:t>
            </a:r>
            <a:r>
              <a:rPr kumimoji="0" lang="en-CA"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supervisor </a:t>
            </a:r>
            <a:r>
              <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communicated </a:t>
            </a:r>
            <a:r>
              <a:rPr kumimoji="0" lang="en-CA"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the importance of following the company’s </a:t>
            </a:r>
            <a:r>
              <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safety  procedures. The supervisor sees</a:t>
            </a:r>
            <a:r>
              <a:rPr kumimoji="0" lang="en-CA" altLang="en-US" sz="1600" b="0" i="1"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what the employee has done, and she discusses the issue with the worker. </a:t>
            </a:r>
            <a:endParaRPr kumimoji="0" lang="en-CA"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90000"/>
              </a:lnSpc>
              <a:spcBef>
                <a:spcPts val="0"/>
              </a:spcBef>
              <a:buClrTx/>
              <a:buSzPct val="100000"/>
              <a:buNone/>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90000"/>
              </a:lnSpc>
              <a:spcBef>
                <a:spcPts val="0"/>
              </a:spcBef>
              <a:buClr>
                <a:srgbClr val="000000"/>
              </a:buClr>
              <a:buSzTx/>
              <a:buFont typeface="Arial"/>
              <a:buNone/>
              <a:tabLst/>
              <a:defRPr/>
            </a:pPr>
            <a:r>
              <a:rPr kumimoji="0" lang="en-CA" sz="1600" b="1" i="1" u="none" strike="noStrike" kern="0" cap="none" spc="0" normalizeH="0" baseline="0" noProof="0" dirty="0">
                <a:ln>
                  <a:noFill/>
                </a:ln>
                <a:solidFill>
                  <a:srgbClr val="000099"/>
                </a:solidFill>
                <a:effectLst/>
                <a:uLnTx/>
                <a:uFillTx/>
                <a:latin typeface="Arial"/>
                <a:sym typeface="Arial"/>
              </a:rPr>
              <a:t>It’s what this course is all about! For your team project:</a:t>
            </a:r>
          </a:p>
          <a:p>
            <a:pPr marL="180000" marR="0" lvl="0" indent="-180000" algn="l" defTabSz="914400" rtl="0" eaLnBrk="1" fontAlgn="auto" latinLnBrk="0" hangingPunct="1">
              <a:lnSpc>
                <a:spcPct val="90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Did the engineer or management prioritize profit or production over safety when making decisions?</a:t>
            </a:r>
            <a:endParaRPr kumimoji="0" lang="en-CA" sz="1600" b="0" i="0" u="none" strike="noStrike" kern="0" cap="none" spc="0" normalizeH="0" baseline="0" noProof="0" dirty="0">
              <a:ln>
                <a:noFill/>
              </a:ln>
              <a:solidFill>
                <a:srgbClr val="000000"/>
              </a:solidFill>
              <a:effectLst/>
              <a:uLnTx/>
              <a:uFillTx/>
              <a:latin typeface="Arial"/>
              <a:sym typeface="Arial"/>
            </a:endParaRPr>
          </a:p>
          <a:p>
            <a:pPr marL="180000" indent="-180000">
              <a:lnSpc>
                <a:spcPct val="90000"/>
              </a:lnSpc>
              <a:spcBef>
                <a:spcPts val="0"/>
              </a:spcBef>
              <a:buClrTx/>
              <a:buSzPct val="100000"/>
              <a:buFont typeface="Noto Sans Symbols"/>
              <a:buChar char="⮚"/>
              <a:defRPr/>
            </a:pPr>
            <a:r>
              <a:rPr kumimoji="0" lang="en-CA" sz="1600" b="1" i="1" u="none" strike="noStrike" kern="0" cap="none" spc="0" normalizeH="0" baseline="0" noProof="0" dirty="0">
                <a:ln>
                  <a:noFill/>
                </a:ln>
                <a:solidFill>
                  <a:srgbClr val="000099"/>
                </a:solidFill>
                <a:effectLst/>
                <a:uLnTx/>
                <a:uFillTx/>
                <a:latin typeface="Arial"/>
                <a:sym typeface="Arial"/>
              </a:rPr>
              <a:t>Latent causes are </a:t>
            </a:r>
            <a:r>
              <a:rPr kumimoji="0" lang="en-CA" sz="1600" b="1" i="1" u="sng" strike="noStrike" kern="0" cap="none" spc="0" normalizeH="0" baseline="0" noProof="0" dirty="0">
                <a:ln>
                  <a:noFill/>
                </a:ln>
                <a:solidFill>
                  <a:srgbClr val="000099"/>
                </a:solidFill>
                <a:effectLst/>
                <a:uLnTx/>
                <a:uFillTx/>
                <a:latin typeface="Arial"/>
                <a:sym typeface="Arial"/>
              </a:rPr>
              <a:t>generally</a:t>
            </a:r>
            <a:r>
              <a:rPr kumimoji="0" lang="en-CA" sz="1600" b="1" i="1" u="none" strike="noStrike" kern="0" cap="none" spc="0" normalizeH="0" baseline="0" noProof="0" dirty="0">
                <a:ln>
                  <a:noFill/>
                </a:ln>
                <a:solidFill>
                  <a:srgbClr val="000099"/>
                </a:solidFill>
                <a:effectLst/>
                <a:uLnTx/>
                <a:uFillTx/>
                <a:latin typeface="Arial"/>
                <a:sym typeface="Arial"/>
              </a:rPr>
              <a:t> expressed as a weakness in (LCs GW:) </a:t>
            </a:r>
            <a:br>
              <a:rPr kumimoji="0" lang="en-CA" sz="1600" b="1" i="1" u="none" strike="noStrike" kern="0" cap="none" spc="0" normalizeH="0" baseline="0" noProof="0" dirty="0">
                <a:ln>
                  <a:noFill/>
                </a:ln>
                <a:solidFill>
                  <a:srgbClr val="000099"/>
                </a:solidFill>
                <a:effectLst/>
                <a:uLnTx/>
                <a:uFillTx/>
                <a:latin typeface="Arial"/>
                <a:sym typeface="Arial"/>
              </a:rPr>
            </a:br>
            <a:r>
              <a:rPr kumimoji="0" lang="en-CA" sz="1600" b="1" i="1" u="none" strike="noStrike" kern="0" cap="none" spc="0" normalizeH="0" baseline="0" noProof="0" dirty="0">
                <a:ln>
                  <a:noFill/>
                </a:ln>
                <a:solidFill>
                  <a:srgbClr val="000099"/>
                </a:solidFill>
                <a:effectLst/>
                <a:uLnTx/>
                <a:uFillTx/>
                <a:latin typeface="Arial"/>
                <a:sym typeface="Arial"/>
              </a:rPr>
              <a:t>corporate safety values program, leadership program, or specific components (indoctrinating commitment and accountability in leaders) of same</a:t>
            </a:r>
            <a:r>
              <a:rPr kumimoji="0" lang="en-CA" sz="1600" b="1" i="1" u="none" strike="noStrike" kern="0" cap="none" spc="0" normalizeH="0" baseline="0" noProof="0" dirty="0" smtClean="0">
                <a:ln>
                  <a:noFill/>
                </a:ln>
                <a:solidFill>
                  <a:srgbClr val="000099"/>
                </a:solidFill>
                <a:effectLst/>
                <a:uLnTx/>
                <a:uFillTx/>
                <a:latin typeface="Arial"/>
                <a:sym typeface="Arial"/>
              </a:rPr>
              <a:t>.</a:t>
            </a:r>
            <a:endParaRPr lang="en-CA" sz="1600" b="1" i="1" dirty="0">
              <a:solidFill>
                <a:srgbClr val="000099"/>
              </a:solidFill>
              <a:latin typeface="Arial"/>
            </a:endParaRPr>
          </a:p>
          <a:p>
            <a:pPr marL="285750" indent="-285750">
              <a:lnSpc>
                <a:spcPct val="90000"/>
              </a:lnSpc>
              <a:spcBef>
                <a:spcPts val="0"/>
              </a:spcBef>
              <a:buClrTx/>
              <a:buSzPct val="100000"/>
              <a:buFont typeface="Noto Sans Symbols"/>
              <a:buChar char="⮚"/>
              <a:defRPr/>
            </a:pPr>
            <a:endParaRPr lang="en-US" sz="1600" b="1" i="1" dirty="0" smtClean="0">
              <a:solidFill>
                <a:srgbClr val="FF0000"/>
              </a:solidFill>
              <a:latin typeface="Arial"/>
            </a:endParaRPr>
          </a:p>
          <a:p>
            <a:pPr marL="180000" indent="-180000">
              <a:lnSpc>
                <a:spcPct val="90000"/>
              </a:lnSpc>
              <a:spcBef>
                <a:spcPts val="0"/>
              </a:spcBef>
              <a:buClrTx/>
              <a:buSzPct val="100000"/>
              <a:buFont typeface="Noto Sans Symbols"/>
              <a:buChar char="⮚"/>
              <a:defRPr/>
            </a:pPr>
            <a:r>
              <a:rPr lang="en-US" sz="1600" b="1" i="1" dirty="0" smtClean="0">
                <a:solidFill>
                  <a:srgbClr val="FF0000"/>
                </a:solidFill>
                <a:latin typeface="Arial"/>
              </a:rPr>
              <a:t>Example LC-S: </a:t>
            </a:r>
            <a:r>
              <a:rPr lang="en-US" sz="1600" b="1" i="1" dirty="0">
                <a:solidFill>
                  <a:srgbClr val="FF0000"/>
                </a:solidFill>
                <a:latin typeface="Arial"/>
              </a:rPr>
              <a:t>The leadership </a:t>
            </a:r>
            <a:r>
              <a:rPr lang="en-US" sz="1600" b="1" i="1" dirty="0" smtClean="0">
                <a:solidFill>
                  <a:srgbClr val="FF0000"/>
                </a:solidFill>
                <a:latin typeface="Arial"/>
              </a:rPr>
              <a:t>program did not include a strategy or plan to establish “safety” </a:t>
            </a:r>
            <a:r>
              <a:rPr lang="en-US" sz="1600" b="1" i="1" dirty="0">
                <a:solidFill>
                  <a:srgbClr val="FF0000"/>
                </a:solidFill>
                <a:latin typeface="Arial"/>
              </a:rPr>
              <a:t>as </a:t>
            </a:r>
            <a:r>
              <a:rPr lang="en-US" sz="1600" b="1" i="1" dirty="0" smtClean="0">
                <a:solidFill>
                  <a:srgbClr val="FF0000"/>
                </a:solidFill>
                <a:latin typeface="Arial"/>
              </a:rPr>
              <a:t>a </a:t>
            </a:r>
            <a:r>
              <a:rPr lang="en-US" sz="1600" b="1" i="1" dirty="0">
                <a:solidFill>
                  <a:srgbClr val="FF0000"/>
                </a:solidFill>
                <a:latin typeface="Arial"/>
              </a:rPr>
              <a:t>core value and communicate </a:t>
            </a:r>
            <a:r>
              <a:rPr lang="en-US" sz="1600" b="1" i="1" dirty="0" smtClean="0">
                <a:solidFill>
                  <a:srgbClr val="FF0000"/>
                </a:solidFill>
                <a:latin typeface="Arial"/>
              </a:rPr>
              <a:t>this value to employees.</a:t>
            </a:r>
            <a:endParaRPr lang="en-US" sz="1600" b="1" i="1" dirty="0">
              <a:solidFill>
                <a:srgbClr val="FF0000"/>
              </a:solidFill>
              <a:latin typeface="Arial"/>
            </a:endParaRPr>
          </a:p>
          <a:p>
            <a:pPr marL="285750" marR="0" lvl="0" indent="-285750" algn="l" defTabSz="914400" rtl="0" eaLnBrk="1" fontAlgn="auto" latinLnBrk="0" hangingPunct="1">
              <a:lnSpc>
                <a:spcPct val="90000"/>
              </a:lnSpc>
              <a:spcBef>
                <a:spcPts val="0"/>
              </a:spcBef>
              <a:buClr>
                <a:srgbClr val="000099"/>
              </a:buClr>
              <a:buSzPts val="1800"/>
              <a:buFont typeface="Noto Sans Symbols"/>
              <a:buChar char="⮚"/>
              <a:tabLst/>
              <a:defRPr/>
            </a:pPr>
            <a:endParaRPr kumimoji="0" lang="en-CA" sz="1600" b="0" i="0"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0" fontAlgn="base" latinLnBrk="0" hangingPunct="0">
              <a:lnSpc>
                <a:spcPct val="90000"/>
              </a:lnSpc>
              <a:spcBef>
                <a:spcPts val="0"/>
              </a:spcBef>
              <a:buClrTx/>
              <a:buSzPct val="100000"/>
              <a:buNone/>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#1) Management Leadership, Commitment &amp; Accountability</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357233578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lvl="0" indent="-360000" eaLnBrk="0" fontAlgn="base" hangingPunct="0">
              <a:lnSpc>
                <a:spcPct val="90000"/>
              </a:lnSpc>
              <a:spcBef>
                <a:spcPts val="0"/>
              </a:spcBef>
              <a:buClrTx/>
              <a:buSzPct val="100000"/>
              <a:buFont typeface="Wingdings" panose="05000000000000000000" pitchFamily="2" charset="2"/>
              <a:buChar char="Ø"/>
              <a:defRPr/>
            </a:pPr>
            <a:r>
              <a:rPr kumimoji="0" lang="en-CA" altLang="en-US" sz="1400" b="0" i="1" u="none" strike="noStrike" kern="1200" cap="none" spc="0" normalizeH="0" baseline="0" noProof="0" dirty="0" smtClean="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From the textbook:</a:t>
            </a:r>
            <a:r>
              <a:rPr kumimoji="0" lang="en-CA" altLang="en-US" sz="1400" b="0" i="1" u="none" strike="noStrike" kern="1200" cap="none" spc="0" normalizeH="0" noProof="0" dirty="0" smtClean="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t>
            </a:r>
            <a:r>
              <a:rPr lang="en-US" altLang="en-US" sz="1400" i="1" kern="1200"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A more appropriate name for this element would be </a:t>
            </a:r>
            <a:r>
              <a:rPr lang="en-US" altLang="en-US" sz="1400" i="1" kern="1200"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400" i="1" kern="1200"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400" b="1" i="1" kern="1200"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rPr>
              <a:t>Element </a:t>
            </a:r>
            <a:r>
              <a:rPr lang="en-US" altLang="en-US" sz="1400" b="1" i="1" kern="1200"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2: Risk Assessment and Control of </a:t>
            </a:r>
            <a:r>
              <a:rPr lang="en-US" altLang="en-US" sz="1400" b="1" i="1" kern="1200"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rPr>
              <a:t>Risks</a:t>
            </a:r>
            <a:endParaRPr kumimoji="0" lang="en-CA" altLang="en-US" sz="1400" b="0" i="1" u="none" strike="noStrike" kern="1200" cap="none" spc="0" normalizeH="0" baseline="0" noProof="0" dirty="0" smtClean="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4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Hazard </a:t>
            </a: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Identification, FLRA, SQRA, JSA, Checklists, Reporting &amp; Correcting Substandard Conditions &amp; Practices, Planned Inspections,  </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4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Eliminate </a:t>
            </a: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risks, or reduce and control to an acceptable level. </a:t>
            </a:r>
          </a:p>
          <a:p>
            <a:pPr marL="457200" marR="0" lvl="0" indent="-457200" algn="l" defTabSz="914400" rtl="0" eaLnBrk="1" fontAlgn="auto" latinLnBrk="0" hangingPunct="1">
              <a:lnSpc>
                <a:spcPct val="90000"/>
              </a:lnSpc>
              <a:spcBef>
                <a:spcPts val="0"/>
              </a:spcBef>
              <a:buClr>
                <a:srgbClr val="000000"/>
              </a:buClr>
              <a:buSzTx/>
              <a:buFont typeface="Arial"/>
              <a:buNone/>
              <a:tabLst/>
              <a:defRPr/>
            </a:pPr>
            <a:endParaRPr kumimoji="0" lang="en-CA" sz="1400" b="0" i="1" u="none" strike="noStrike" kern="0" cap="none" spc="0" normalizeH="0" baseline="0" noProof="0" dirty="0">
              <a:ln>
                <a:noFill/>
              </a:ln>
              <a:solidFill>
                <a:srgbClr val="000000"/>
              </a:solidFill>
              <a:effectLst/>
              <a:uLnTx/>
              <a:uFillTx/>
              <a:latin typeface="Arial"/>
              <a:sym typeface="Arial"/>
            </a:endParaRPr>
          </a:p>
          <a:p>
            <a:pPr marL="0" lvl="0" indent="0">
              <a:lnSpc>
                <a:spcPct val="90000"/>
              </a:lnSpc>
              <a:spcBef>
                <a:spcPts val="0"/>
              </a:spcBef>
              <a:buClr>
                <a:srgbClr val="000000"/>
              </a:buClr>
              <a:buNone/>
              <a:defRPr/>
            </a:pPr>
            <a:r>
              <a:rPr kumimoji="0" lang="en-CA" sz="1400" b="0" i="1" u="none" strike="noStrike" kern="0" cap="none" spc="0" normalizeH="0" baseline="0" noProof="0" dirty="0">
                <a:ln>
                  <a:noFill/>
                </a:ln>
                <a:solidFill>
                  <a:srgbClr val="000000"/>
                </a:solidFill>
                <a:effectLst/>
                <a:uLnTx/>
                <a:uFillTx/>
                <a:latin typeface="Arial"/>
                <a:sym typeface="Arial"/>
              </a:rPr>
              <a:t>Example: A </a:t>
            </a:r>
            <a:r>
              <a:rPr kumimoji="0" lang="en-CA" sz="1400" b="0" i="1" u="none" strike="noStrike" kern="0" cap="none" spc="0" normalizeH="0" baseline="0" noProof="0" dirty="0" smtClean="0">
                <a:ln>
                  <a:noFill/>
                </a:ln>
                <a:solidFill>
                  <a:srgbClr val="000000"/>
                </a:solidFill>
                <a:effectLst/>
                <a:uLnTx/>
                <a:uFillTx/>
                <a:latin typeface="Arial"/>
                <a:sym typeface="Arial"/>
              </a:rPr>
              <a:t>worker loaded a </a:t>
            </a:r>
            <a:r>
              <a:rPr lang="en-CA" sz="1400" i="1" dirty="0">
                <a:solidFill>
                  <a:srgbClr val="000000"/>
                </a:solidFill>
                <a:latin typeface="Arial"/>
              </a:rPr>
              <a:t>standard wheel-barrow cart containing </a:t>
            </a:r>
            <a:r>
              <a:rPr lang="en-CA" sz="1400" i="1" dirty="0" smtClean="0">
                <a:solidFill>
                  <a:srgbClr val="000000"/>
                </a:solidFill>
                <a:latin typeface="Arial"/>
              </a:rPr>
              <a:t>with a </a:t>
            </a:r>
            <a:r>
              <a:rPr lang="en-CA" sz="1400" i="1" dirty="0">
                <a:solidFill>
                  <a:srgbClr val="000000"/>
                </a:solidFill>
                <a:latin typeface="Arial"/>
              </a:rPr>
              <a:t>heavy load </a:t>
            </a:r>
            <a:r>
              <a:rPr lang="en-CA" sz="1400" i="1" dirty="0" smtClean="0">
                <a:solidFill>
                  <a:srgbClr val="000000"/>
                </a:solidFill>
                <a:latin typeface="Arial"/>
              </a:rPr>
              <a:t>of metal. The worker injured </a:t>
            </a:r>
            <a:r>
              <a:rPr kumimoji="0" lang="en-CA" sz="1400" b="0" i="1" u="none" strike="noStrike" kern="0" cap="none" spc="0" normalizeH="0" baseline="0" noProof="0" dirty="0" smtClean="0">
                <a:ln>
                  <a:noFill/>
                </a:ln>
                <a:solidFill>
                  <a:srgbClr val="000000"/>
                </a:solidFill>
                <a:effectLst/>
                <a:uLnTx/>
                <a:uFillTx/>
                <a:latin typeface="Arial"/>
                <a:sym typeface="Arial"/>
              </a:rPr>
              <a:t>their back while attempting to lift </a:t>
            </a:r>
            <a:r>
              <a:rPr lang="en-CA" sz="1400" i="1" dirty="0" smtClean="0">
                <a:solidFill>
                  <a:srgbClr val="000000"/>
                </a:solidFill>
                <a:latin typeface="Arial"/>
              </a:rPr>
              <a:t>and move the cart. The worker did not apply their FLRA or refer to the JSA at the start of the job; otherwise, the worker would have used the four-wheeled cart for moving heavy loads. </a:t>
            </a:r>
            <a:endParaRPr kumimoji="0" lang="en-CA" sz="1400" b="0" i="1"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90000"/>
              </a:lnSpc>
              <a:spcBef>
                <a:spcPts val="0"/>
              </a:spcBef>
              <a:buClr>
                <a:srgbClr val="000000"/>
              </a:buClr>
              <a:buSzTx/>
              <a:buFont typeface="Arial"/>
              <a:buNone/>
              <a:tabLst/>
              <a:defRPr/>
            </a:pPr>
            <a:endParaRPr lang="en-CA" sz="1400" i="1" dirty="0">
              <a:solidFill>
                <a:srgbClr val="000000"/>
              </a:solidFill>
              <a:latin typeface="Arial"/>
            </a:endParaRPr>
          </a:p>
          <a:p>
            <a:pPr marL="457200" marR="0" lvl="0" indent="-457200" algn="l" defTabSz="914400" rtl="0" eaLnBrk="1" fontAlgn="auto" latinLnBrk="0" hangingPunct="1">
              <a:lnSpc>
                <a:spcPct val="90000"/>
              </a:lnSpc>
              <a:spcBef>
                <a:spcPts val="0"/>
              </a:spcBef>
              <a:buClr>
                <a:srgbClr val="000000"/>
              </a:buClr>
              <a:buSzTx/>
              <a:buFont typeface="Arial"/>
              <a:buNone/>
              <a:tabLst/>
              <a:defRPr/>
            </a:pPr>
            <a:r>
              <a:rPr kumimoji="0" lang="en-CA" sz="1400" b="1" i="1" u="none" strike="noStrike" kern="0" cap="none" spc="0" normalizeH="0" baseline="0" noProof="0" dirty="0">
                <a:ln>
                  <a:noFill/>
                </a:ln>
                <a:solidFill>
                  <a:srgbClr val="000099"/>
                </a:solidFill>
                <a:effectLst/>
                <a:uLnTx/>
                <a:uFillTx/>
                <a:latin typeface="Arial"/>
                <a:sym typeface="Arial"/>
              </a:rPr>
              <a:t>So What Does This Mean for your team project??</a:t>
            </a:r>
          </a:p>
          <a:p>
            <a:pPr marL="457200" marR="0" lvl="0" indent="-457200" algn="l" defTabSz="914400" rtl="0" eaLnBrk="1" fontAlgn="auto" latinLnBrk="0" hangingPunct="1">
              <a:lnSpc>
                <a:spcPct val="90000"/>
              </a:lnSpc>
              <a:spcBef>
                <a:spcPts val="0"/>
              </a:spcBef>
              <a:buClrTx/>
              <a:buSzPct val="100000"/>
              <a:buFont typeface="Noto Sans Symbols"/>
              <a:buChar char="⮚"/>
              <a:tabLst/>
              <a:defRPr/>
            </a:pPr>
            <a:r>
              <a:rPr kumimoji="0" lang="en-CA" sz="1400" b="1" i="1" u="none" strike="noStrike" kern="0" cap="none" spc="0" normalizeH="0" baseline="0" noProof="0" dirty="0">
                <a:ln>
                  <a:noFill/>
                </a:ln>
                <a:solidFill>
                  <a:srgbClr val="000099"/>
                </a:solidFill>
                <a:effectLst/>
                <a:uLnTx/>
                <a:uFillTx/>
                <a:latin typeface="Arial"/>
                <a:sym typeface="Arial"/>
              </a:rPr>
              <a:t>Did an engineer / management make a decision or complete a task without recognizing the risk or assessing the risks first? </a:t>
            </a:r>
            <a:endParaRPr kumimoji="0" lang="en-CA" sz="1400" b="0" i="0"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90000"/>
              </a:lnSpc>
              <a:spcBef>
                <a:spcPts val="0"/>
              </a:spcBef>
              <a:buClrTx/>
              <a:buSzPct val="100000"/>
              <a:buFont typeface="Noto Sans Symbols"/>
              <a:buChar char="⮚"/>
              <a:tabLst/>
              <a:defRPr/>
            </a:pPr>
            <a:r>
              <a:rPr kumimoji="0" lang="en-CA" sz="1400" b="1" i="1" u="none" strike="noStrike" kern="0" cap="none" spc="0" normalizeH="0" baseline="0" noProof="0" dirty="0">
                <a:ln>
                  <a:noFill/>
                </a:ln>
                <a:solidFill>
                  <a:srgbClr val="000099"/>
                </a:solidFill>
                <a:effectLst/>
                <a:uLnTx/>
                <a:uFillTx/>
                <a:latin typeface="Arial"/>
                <a:sym typeface="Arial"/>
              </a:rPr>
              <a:t>Did they recognize the risk from the activity or task before completing it? If not, why not?</a:t>
            </a:r>
          </a:p>
          <a:p>
            <a:pPr marL="457200" indent="-457200">
              <a:lnSpc>
                <a:spcPct val="90000"/>
              </a:lnSpc>
              <a:spcBef>
                <a:spcPts val="0"/>
              </a:spcBef>
              <a:buClrTx/>
              <a:buSzPct val="100000"/>
              <a:buFont typeface="Noto Sans Symbols"/>
              <a:buChar char="⮚"/>
              <a:defRPr/>
            </a:pPr>
            <a:r>
              <a:rPr kumimoji="0" lang="en-CA" sz="1400" b="1" i="1" u="none" strike="noStrike" kern="0" cap="none" spc="0" normalizeH="0" baseline="0" noProof="0" dirty="0" smtClean="0">
                <a:ln>
                  <a:noFill/>
                </a:ln>
                <a:solidFill>
                  <a:srgbClr val="FF0000"/>
                </a:solidFill>
                <a:effectLst/>
                <a:uLnTx/>
                <a:uFillTx/>
                <a:latin typeface="Arial"/>
                <a:sym typeface="Arial"/>
              </a:rPr>
              <a:t>LCs GW: a risk </a:t>
            </a:r>
            <a:r>
              <a:rPr lang="en-CA" sz="1400" b="1" i="1" dirty="0">
                <a:solidFill>
                  <a:srgbClr val="FF0000"/>
                </a:solidFill>
                <a:latin typeface="Arial"/>
              </a:rPr>
              <a:t>management</a:t>
            </a:r>
            <a:r>
              <a:rPr kumimoji="0" lang="en-CA" sz="1400" b="1" i="1" u="none" strike="noStrike" kern="0" cap="none" spc="0" normalizeH="0" baseline="0" noProof="0" dirty="0" smtClean="0">
                <a:ln>
                  <a:noFill/>
                </a:ln>
                <a:solidFill>
                  <a:srgbClr val="FF0000"/>
                </a:solidFill>
                <a:effectLst/>
                <a:uLnTx/>
                <a:uFillTx/>
                <a:latin typeface="Arial"/>
                <a:sym typeface="Arial"/>
              </a:rPr>
              <a:t> program to assess risks and / or a program to actively manage risks to an acceptable level.</a:t>
            </a:r>
            <a:endParaRPr lang="en-CA" sz="1400" b="1" i="1" dirty="0">
              <a:solidFill>
                <a:srgbClr val="FF0000"/>
              </a:solidFill>
              <a:latin typeface="Arial"/>
            </a:endParaRPr>
          </a:p>
          <a:p>
            <a:pPr marL="457200" indent="-457200">
              <a:lnSpc>
                <a:spcPct val="90000"/>
              </a:lnSpc>
              <a:spcBef>
                <a:spcPts val="0"/>
              </a:spcBef>
              <a:buClrTx/>
              <a:buSzPct val="100000"/>
              <a:buFont typeface="Noto Sans Symbols"/>
              <a:buChar char="⮚"/>
              <a:defRPr/>
            </a:pPr>
            <a:endParaRPr lang="en-US" sz="1400" b="1" i="1" dirty="0" smtClean="0">
              <a:solidFill>
                <a:srgbClr val="FF0000"/>
              </a:solidFill>
              <a:latin typeface="Arial"/>
            </a:endParaRPr>
          </a:p>
          <a:p>
            <a:pPr marL="457200" indent="-457200">
              <a:lnSpc>
                <a:spcPct val="90000"/>
              </a:lnSpc>
              <a:spcBef>
                <a:spcPts val="0"/>
              </a:spcBef>
              <a:buClrTx/>
              <a:buSzPct val="100000"/>
              <a:buFont typeface="Noto Sans Symbols"/>
              <a:buChar char="⮚"/>
              <a:defRPr/>
            </a:pPr>
            <a:r>
              <a:rPr lang="en-US" sz="1400" b="1" i="1" dirty="0" smtClean="0">
                <a:solidFill>
                  <a:srgbClr val="FF0000"/>
                </a:solidFill>
                <a:latin typeface="Arial"/>
              </a:rPr>
              <a:t>Example LC-C: The worker did not comply with the FLRA and JSA (standards) as documented in the risk assessment program.</a:t>
            </a:r>
          </a:p>
          <a:p>
            <a:pPr marL="457200" indent="-457200">
              <a:lnSpc>
                <a:spcPct val="90000"/>
              </a:lnSpc>
              <a:spcBef>
                <a:spcPts val="0"/>
              </a:spcBef>
              <a:buClrTx/>
              <a:buSzPct val="100000"/>
              <a:buFont typeface="Noto Sans Symbols"/>
              <a:buChar char="⮚"/>
              <a:defRPr/>
            </a:pPr>
            <a:r>
              <a:rPr lang="en-US" sz="1400" b="1" i="1" dirty="0" smtClean="0">
                <a:latin typeface="Arial"/>
              </a:rPr>
              <a:t>An improvement on the previous example: </a:t>
            </a:r>
            <a:r>
              <a:rPr lang="en-US" sz="1400" b="1" i="1" dirty="0" smtClean="0">
                <a:solidFill>
                  <a:srgbClr val="FF0000"/>
                </a:solidFill>
                <a:latin typeface="Arial"/>
              </a:rPr>
              <a:t>LC-C: The requirements of </a:t>
            </a:r>
            <a:r>
              <a:rPr lang="en-US" sz="1400" b="1" i="1" dirty="0">
                <a:solidFill>
                  <a:srgbClr val="FF0000"/>
                </a:solidFill>
                <a:latin typeface="Arial"/>
              </a:rPr>
              <a:t>the </a:t>
            </a:r>
            <a:r>
              <a:rPr lang="en-US" sz="1400" b="1" i="1" dirty="0" smtClean="0">
                <a:solidFill>
                  <a:srgbClr val="FF0000"/>
                </a:solidFill>
                <a:latin typeface="Arial"/>
              </a:rPr>
              <a:t>FLRA </a:t>
            </a:r>
            <a:r>
              <a:rPr lang="en-US" sz="1400" b="1" i="1" dirty="0">
                <a:solidFill>
                  <a:srgbClr val="FF0000"/>
                </a:solidFill>
                <a:latin typeface="Arial"/>
              </a:rPr>
              <a:t>and JSA (standards) as documented in the risk assessment </a:t>
            </a:r>
            <a:r>
              <a:rPr lang="en-US" sz="1400" b="1" i="1" dirty="0" smtClean="0">
                <a:solidFill>
                  <a:srgbClr val="FF0000"/>
                </a:solidFill>
                <a:latin typeface="Arial"/>
              </a:rPr>
              <a:t>program were not met.</a:t>
            </a:r>
          </a:p>
          <a:p>
            <a:pPr marL="457200" indent="-457200">
              <a:lnSpc>
                <a:spcPct val="90000"/>
              </a:lnSpc>
              <a:spcBef>
                <a:spcPts val="0"/>
              </a:spcBef>
              <a:buClrTx/>
              <a:buSzPct val="100000"/>
              <a:buFont typeface="Noto Sans Symbols"/>
              <a:buChar char="⮚"/>
              <a:defRPr/>
            </a:pPr>
            <a:endParaRPr lang="en-US" sz="1400" b="1" i="1" noProof="0" dirty="0" smtClean="0">
              <a:solidFill>
                <a:srgbClr val="FF0000"/>
              </a:solidFill>
              <a:latin typeface="Arial"/>
            </a:endParaRPr>
          </a:p>
          <a:p>
            <a:pPr marL="457200" indent="-457200">
              <a:lnSpc>
                <a:spcPct val="90000"/>
              </a:lnSpc>
              <a:spcBef>
                <a:spcPts val="0"/>
              </a:spcBef>
              <a:buClrTx/>
              <a:buSzPct val="100000"/>
              <a:buFont typeface="Noto Sans Symbols"/>
              <a:buChar char="⮚"/>
              <a:defRPr/>
            </a:pPr>
            <a:r>
              <a:rPr lang="en-US" sz="1400" b="1" i="1" noProof="0" dirty="0" smtClean="0">
                <a:solidFill>
                  <a:srgbClr val="FF0000"/>
                </a:solidFill>
                <a:latin typeface="Arial"/>
              </a:rPr>
              <a:t>Example LC-S: The risk assessment program did not include a standard to assign the roles and responsibilities for foreperson / supervisor oversight on the use of FLRA, JSA’s, and other safe operating / maintenance procedures (SOP’s/SMP’s).  </a:t>
            </a:r>
            <a:endParaRPr kumimoji="0" lang="en-CA" sz="1400" b="0" i="0" u="none" strike="noStrike" kern="0" cap="none" spc="0" normalizeH="0" baseline="0" noProof="0" dirty="0" smtClean="0">
              <a:ln>
                <a:noFill/>
              </a:ln>
              <a:solidFill>
                <a:srgbClr val="000000"/>
              </a:solidFill>
              <a:effectLst/>
              <a:uLnTx/>
              <a:uFillTx/>
              <a:latin typeface="Arial"/>
              <a:sym typeface="Arial"/>
            </a:endParaRPr>
          </a:p>
          <a:p>
            <a:pPr marL="457200" marR="0" lvl="0" indent="-457200" algn="l" defTabSz="914400" rtl="0" eaLnBrk="1" fontAlgn="auto" latinLnBrk="0" hangingPunct="1">
              <a:lnSpc>
                <a:spcPct val="90000"/>
              </a:lnSpc>
              <a:spcBef>
                <a:spcPts val="0"/>
              </a:spcBef>
              <a:buClr>
                <a:srgbClr val="000000"/>
              </a:buClr>
              <a:buSzTx/>
              <a:buFont typeface="Arial"/>
              <a:buNone/>
              <a:tabLst/>
              <a:defRPr/>
            </a:pPr>
            <a:endParaRPr kumimoji="0" lang="en-CA" sz="1400" b="0" i="1"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0" fontAlgn="base" latinLnBrk="0" hangingPunct="0">
              <a:lnSpc>
                <a:spcPct val="90000"/>
              </a:lnSpc>
              <a:spcBef>
                <a:spcPts val="0"/>
              </a:spcBef>
              <a:buClrTx/>
              <a:buSzPct val="100000"/>
              <a:buNone/>
              <a:tabLst/>
              <a:defRPr/>
            </a:pPr>
            <a:endPar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#2) Risk Assessment and Management of Risks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191373987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Community Awareness</a:t>
            </a:r>
          </a:p>
          <a:p>
            <a:pPr marL="72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Inform stakeholders of hazards, risks, and risk control measures</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Emergency Preparedness</a:t>
            </a:r>
          </a:p>
          <a:p>
            <a:pPr marL="72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Develop potential loss scenarios and plans to mitigate the loss scenarios and practice emergency drills!</a:t>
            </a:r>
          </a:p>
          <a:p>
            <a:pPr marL="72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Provide and maintain resources (people, equipment, agency coordination)</a:t>
            </a:r>
          </a:p>
          <a:p>
            <a:pPr marL="457200" marR="0" lvl="0" indent="-457200" algn="l" defTabSz="914400" rtl="0" eaLnBrk="1" fontAlgn="auto" latinLnBrk="0" hangingPunct="1">
              <a:lnSpc>
                <a:spcPct val="90000"/>
              </a:lnSpc>
              <a:spcBef>
                <a:spcPts val="0"/>
              </a:spcBef>
              <a:buClr>
                <a:srgbClr val="000000"/>
              </a:buClr>
              <a:buSzTx/>
              <a:buFont typeface="Arial"/>
              <a:buNone/>
              <a:tabLst/>
              <a:defRPr/>
            </a:pPr>
            <a:endParaRPr kumimoji="0" lang="en-CA" sz="1600" b="0" i="1"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1" fontAlgn="auto" latinLnBrk="0" hangingPunct="1">
              <a:lnSpc>
                <a:spcPct val="90000"/>
              </a:lnSpc>
              <a:spcBef>
                <a:spcPts val="0"/>
              </a:spcBef>
              <a:buClr>
                <a:srgbClr val="000000"/>
              </a:buClr>
              <a:buSzTx/>
              <a:buFont typeface="Arial"/>
              <a:buNone/>
              <a:tabLst/>
              <a:defRPr/>
            </a:pPr>
            <a:r>
              <a:rPr kumimoji="0" lang="en-CA" sz="1600" b="0" i="1" u="none" strike="noStrike" kern="0" cap="none" spc="0" normalizeH="0" baseline="0" noProof="0" dirty="0">
                <a:ln>
                  <a:noFill/>
                </a:ln>
                <a:solidFill>
                  <a:srgbClr val="000000"/>
                </a:solidFill>
                <a:effectLst/>
                <a:uLnTx/>
                <a:uFillTx/>
                <a:latin typeface="Arial"/>
                <a:sym typeface="Arial"/>
              </a:rPr>
              <a:t>Example: The fire exit doors at a manufacturing facility were blocked with boxes of product because of a delay in pick up by the shipping company. </a:t>
            </a:r>
          </a:p>
          <a:p>
            <a:pPr marL="0" marR="0" lvl="0" indent="0" algn="l" defTabSz="914400" rtl="0" eaLnBrk="1" fontAlgn="auto" latinLnBrk="0" hangingPunct="1">
              <a:lnSpc>
                <a:spcPct val="90000"/>
              </a:lnSpc>
              <a:spcBef>
                <a:spcPts val="0"/>
              </a:spcBef>
              <a:buClr>
                <a:srgbClr val="000000"/>
              </a:buClr>
              <a:buSzTx/>
              <a:buFont typeface="Arial"/>
              <a:buNone/>
              <a:tabLst/>
              <a:defRPr/>
            </a:pPr>
            <a:r>
              <a:rPr kumimoji="0" lang="en-CA" sz="1600" b="0" i="1" u="none" strike="noStrike" kern="0" cap="none" spc="0" normalizeH="0" baseline="0" noProof="0" dirty="0" smtClean="0">
                <a:ln>
                  <a:noFill/>
                </a:ln>
                <a:solidFill>
                  <a:srgbClr val="000000"/>
                </a:solidFill>
                <a:effectLst/>
                <a:uLnTx/>
                <a:uFillTx/>
                <a:latin typeface="Arial"/>
                <a:sym typeface="Arial"/>
              </a:rPr>
              <a:t>Example</a:t>
            </a:r>
            <a:r>
              <a:rPr kumimoji="0" lang="en-CA" sz="1600" b="0" i="1" u="none" strike="noStrike" kern="0" cap="none" spc="0" normalizeH="0" baseline="0" noProof="0" dirty="0">
                <a:ln>
                  <a:noFill/>
                </a:ln>
                <a:solidFill>
                  <a:srgbClr val="000000"/>
                </a:solidFill>
                <a:effectLst/>
                <a:uLnTx/>
                <a:uFillTx/>
                <a:latin typeface="Arial"/>
                <a:sym typeface="Arial"/>
              </a:rPr>
              <a:t>: Residents living near a refinery don’t know what to do when they hear a siren going off at the refinery. </a:t>
            </a:r>
          </a:p>
          <a:p>
            <a:pPr marL="457200" marR="0" lvl="0" indent="-457200" algn="l" defTabSz="914400" rtl="0" eaLnBrk="1" fontAlgn="auto" latinLnBrk="0" hangingPunct="1">
              <a:lnSpc>
                <a:spcPct val="90000"/>
              </a:lnSpc>
              <a:spcBef>
                <a:spcPts val="0"/>
              </a:spcBef>
              <a:buClr>
                <a:srgbClr val="000000"/>
              </a:buClr>
              <a:buSzTx/>
              <a:buFont typeface="Arial"/>
              <a:buNone/>
              <a:tabLst/>
              <a:defRPr/>
            </a:pPr>
            <a:endParaRPr lang="en-CA" sz="1600" i="1" dirty="0">
              <a:solidFill>
                <a:srgbClr val="000000"/>
              </a:solidFill>
              <a:latin typeface="Arial"/>
            </a:endParaRPr>
          </a:p>
          <a:p>
            <a:pPr marL="457200" marR="0" lvl="0" indent="-457200" algn="l" defTabSz="914400" rtl="0" eaLnBrk="1" fontAlgn="auto" latinLnBrk="0" hangingPunct="1">
              <a:lnSpc>
                <a:spcPct val="90000"/>
              </a:lnSpc>
              <a:spcBef>
                <a:spcPts val="0"/>
              </a:spcBef>
              <a:buClr>
                <a:srgbClr val="000000"/>
              </a:buClr>
              <a:buSzTx/>
              <a:buFont typeface="Arial"/>
              <a:buNone/>
              <a:tabLst/>
              <a:defRPr/>
            </a:pPr>
            <a:r>
              <a:rPr kumimoji="0" lang="en-CA" sz="1600" b="1" i="1" u="none" strike="noStrike" kern="0" cap="none" spc="0" normalizeH="0" baseline="0" noProof="0" dirty="0">
                <a:ln>
                  <a:noFill/>
                </a:ln>
                <a:solidFill>
                  <a:srgbClr val="000099"/>
                </a:solidFill>
                <a:effectLst/>
                <a:uLnTx/>
                <a:uFillTx/>
                <a:latin typeface="Arial"/>
                <a:sym typeface="Arial"/>
              </a:rPr>
              <a:t>So What Does This Mean for your team project??</a:t>
            </a:r>
          </a:p>
          <a:p>
            <a:pPr marL="457200" marR="0" lvl="0" indent="-457200" algn="l" defTabSz="914400" rtl="0" eaLnBrk="1" fontAlgn="auto" latinLnBrk="0" hangingPunct="1">
              <a:lnSpc>
                <a:spcPct val="90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there a community in close proximity to the operation </a:t>
            </a:r>
            <a:br>
              <a:rPr kumimoji="0" lang="en-CA" sz="1600" b="1" i="1" u="none" strike="noStrike" kern="0" cap="none" spc="0" normalizeH="0" baseline="0" noProof="0" dirty="0">
                <a:ln>
                  <a:noFill/>
                </a:ln>
                <a:solidFill>
                  <a:srgbClr val="000099"/>
                </a:solidFill>
                <a:effectLst/>
                <a:uLnTx/>
                <a:uFillTx/>
                <a:latin typeface="Arial"/>
                <a:sym typeface="Arial"/>
              </a:rPr>
            </a:br>
            <a:r>
              <a:rPr kumimoji="0" lang="en-CA" sz="1600" b="1" i="1" u="none" strike="noStrike" kern="0" cap="none" spc="0" normalizeH="0" baseline="0" noProof="0" dirty="0">
                <a:ln>
                  <a:noFill/>
                </a:ln>
                <a:solidFill>
                  <a:srgbClr val="000099"/>
                </a:solidFill>
                <a:effectLst/>
                <a:uLnTx/>
                <a:uFillTx/>
                <a:latin typeface="Arial"/>
                <a:sym typeface="Arial"/>
              </a:rPr>
              <a:t>i.e. were they aware of the risks? </a:t>
            </a:r>
            <a:endParaRPr kumimoji="0" lang="en-CA" sz="1600" b="0" i="0"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90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management prepared for an emergency at the facility</a:t>
            </a:r>
            <a:br>
              <a:rPr kumimoji="0" lang="en-CA" sz="1600" b="1" i="1" u="none" strike="noStrike" kern="0" cap="none" spc="0" normalizeH="0" baseline="0" noProof="0" dirty="0">
                <a:ln>
                  <a:noFill/>
                </a:ln>
                <a:solidFill>
                  <a:srgbClr val="000099"/>
                </a:solidFill>
                <a:effectLst/>
                <a:uLnTx/>
                <a:uFillTx/>
                <a:latin typeface="Arial"/>
                <a:sym typeface="Arial"/>
              </a:rPr>
            </a:br>
            <a:r>
              <a:rPr kumimoji="0" lang="en-CA" sz="1600" b="1" i="1" u="none" strike="noStrike" kern="0" cap="none" spc="0" normalizeH="0" baseline="0" noProof="0" dirty="0">
                <a:ln>
                  <a:noFill/>
                </a:ln>
                <a:solidFill>
                  <a:srgbClr val="000099"/>
                </a:solidFill>
                <a:effectLst/>
                <a:uLnTx/>
                <a:uFillTx/>
                <a:latin typeface="Arial"/>
                <a:sym typeface="Arial"/>
              </a:rPr>
              <a:t>i.e. was there an emergency plan in place?</a:t>
            </a:r>
          </a:p>
          <a:p>
            <a:pPr marL="457200" indent="-457200">
              <a:lnSpc>
                <a:spcPct val="90000"/>
              </a:lnSpc>
              <a:spcBef>
                <a:spcPts val="0"/>
              </a:spcBef>
              <a:buClrTx/>
              <a:buSzPct val="100000"/>
              <a:buFont typeface="Noto Sans Symbols"/>
              <a:buChar char="⮚"/>
              <a:defRPr/>
            </a:pPr>
            <a:r>
              <a:rPr kumimoji="0" lang="en-CA" sz="1600" b="1" i="1" u="none" strike="noStrike" kern="0" cap="none" spc="0" normalizeH="0" baseline="0" noProof="0" dirty="0">
                <a:ln>
                  <a:noFill/>
                </a:ln>
                <a:solidFill>
                  <a:srgbClr val="000099"/>
                </a:solidFill>
                <a:effectLst/>
                <a:uLnTx/>
                <a:uFillTx/>
                <a:latin typeface="Arial"/>
                <a:sym typeface="Arial"/>
              </a:rPr>
              <a:t>LCs GW: a community awareness program and/or an emergency preparedness program. </a:t>
            </a:r>
            <a:endParaRPr lang="en-CA" sz="1600" b="1" i="1" dirty="0">
              <a:solidFill>
                <a:srgbClr val="FF0000"/>
              </a:solidFill>
              <a:latin typeface="Arial"/>
            </a:endParaRPr>
          </a:p>
          <a:p>
            <a:pPr marL="457200" indent="-457200">
              <a:lnSpc>
                <a:spcPct val="90000"/>
              </a:lnSpc>
              <a:spcBef>
                <a:spcPts val="0"/>
              </a:spcBef>
              <a:buClrTx/>
              <a:buSzPct val="100000"/>
              <a:buFont typeface="Noto Sans Symbols"/>
              <a:buChar char="⮚"/>
              <a:defRPr/>
            </a:pPr>
            <a:r>
              <a:rPr lang="en-US" sz="1600" b="1" i="1" dirty="0">
                <a:solidFill>
                  <a:srgbClr val="FF0000"/>
                </a:solidFill>
                <a:latin typeface="Arial"/>
              </a:rPr>
              <a:t>Example </a:t>
            </a:r>
            <a:r>
              <a:rPr lang="en-US" sz="1600" b="1" i="1" dirty="0" smtClean="0">
                <a:solidFill>
                  <a:srgbClr val="FF0000"/>
                </a:solidFill>
                <a:latin typeface="Arial"/>
              </a:rPr>
              <a:t>LC-S: </a:t>
            </a:r>
            <a:r>
              <a:rPr lang="en-US" sz="1600" b="1" i="1" dirty="0">
                <a:solidFill>
                  <a:srgbClr val="FF0000"/>
                </a:solidFill>
                <a:latin typeface="Arial"/>
              </a:rPr>
              <a:t>The emergency preparedness program did not include </a:t>
            </a:r>
            <a:r>
              <a:rPr lang="en-US" sz="1600" b="1" i="1" dirty="0" smtClean="0">
                <a:solidFill>
                  <a:srgbClr val="FF0000"/>
                </a:solidFill>
                <a:latin typeface="Arial"/>
              </a:rPr>
              <a:t>a standard for regular </a:t>
            </a:r>
            <a:r>
              <a:rPr lang="en-US" sz="1600" b="1" i="1" dirty="0">
                <a:solidFill>
                  <a:srgbClr val="FF0000"/>
                </a:solidFill>
                <a:latin typeface="Arial"/>
              </a:rPr>
              <a:t>inspections of fire exit </a:t>
            </a:r>
            <a:r>
              <a:rPr lang="en-US" sz="1600" b="1" i="1" dirty="0" smtClean="0">
                <a:solidFill>
                  <a:srgbClr val="FF0000"/>
                </a:solidFill>
                <a:latin typeface="Arial"/>
              </a:rPr>
              <a:t>doors</a:t>
            </a:r>
          </a:p>
          <a:p>
            <a:pPr marL="457200" indent="-457200">
              <a:lnSpc>
                <a:spcPct val="90000"/>
              </a:lnSpc>
              <a:spcBef>
                <a:spcPts val="0"/>
              </a:spcBef>
              <a:buClrTx/>
              <a:buSzPct val="100000"/>
              <a:buFont typeface="Noto Sans Symbols"/>
              <a:buChar char="⮚"/>
              <a:defRPr/>
            </a:pPr>
            <a:r>
              <a:rPr lang="en-US" sz="1600" b="1" i="1" dirty="0" smtClean="0">
                <a:solidFill>
                  <a:srgbClr val="FF0000"/>
                </a:solidFill>
                <a:latin typeface="Arial"/>
              </a:rPr>
              <a:t>Example LC-P: The company did not have a community awareness program to communicate facility hazards, siren signals, and what to do when the siren is sounded.</a:t>
            </a:r>
            <a:endParaRPr lang="en-US" sz="1600" b="1" i="1" dirty="0">
              <a:solidFill>
                <a:srgbClr val="FF0000"/>
              </a:solidFill>
              <a:latin typeface="Arial"/>
            </a:endParaRPr>
          </a:p>
          <a:p>
            <a:pPr marL="457200" indent="-457200">
              <a:lnSpc>
                <a:spcPct val="90000"/>
              </a:lnSpc>
              <a:spcBef>
                <a:spcPts val="0"/>
              </a:spcBef>
              <a:buClr>
                <a:srgbClr val="000099"/>
              </a:buClr>
              <a:buSzPts val="1800"/>
              <a:buFont typeface="Noto Sans Symbols"/>
              <a:buChar char="⮚"/>
              <a:defRPr/>
            </a:pPr>
            <a:endParaRPr lang="en-CA" sz="1600" b="1" i="1" dirty="0">
              <a:solidFill>
                <a:srgbClr val="FF0000"/>
              </a:solidFill>
              <a:latin typeface="Arial"/>
            </a:endParaRPr>
          </a:p>
          <a:p>
            <a:pPr marL="457200" indent="-457200">
              <a:lnSpc>
                <a:spcPct val="90000"/>
              </a:lnSpc>
              <a:spcBef>
                <a:spcPts val="0"/>
              </a:spcBef>
              <a:buClr>
                <a:srgbClr val="000099"/>
              </a:buClr>
              <a:buSzPts val="1800"/>
              <a:buFont typeface="Noto Sans Symbols"/>
              <a:buChar char="⮚"/>
              <a:defRPr/>
            </a:pPr>
            <a:endParaRPr lang="en-CA" sz="1600" b="1" i="1" dirty="0">
              <a:solidFill>
                <a:srgbClr val="FF0000"/>
              </a:solidFill>
              <a:latin typeface="Arial"/>
            </a:endParaRPr>
          </a:p>
          <a:p>
            <a:pPr marL="0" marR="0" lvl="0" indent="0" algn="l" defTabSz="914400" rtl="0" eaLnBrk="0" fontAlgn="base" latinLnBrk="0" hangingPunct="0">
              <a:lnSpc>
                <a:spcPct val="90000"/>
              </a:lnSpc>
              <a:spcBef>
                <a:spcPts val="0"/>
              </a:spcBef>
              <a:buClrTx/>
              <a:buSzPct val="100000"/>
              <a:buNone/>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#3) Community Awareness and Emergency Preparedness: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160116922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 change from what has usually or normally been done or used e.g. procedure, or a change in the organization (people and processes)</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“Change” introduces or causes a change in: a) risk level, or</a:t>
            </a:r>
            <a:b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b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b) the effectiveness in risk control measures, or c) new risks!</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4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Management </a:t>
            </a:r>
            <a:r>
              <a:rPr kumimoji="0" lang="en-CA" altLang="en-US" sz="1400" b="0" i="1"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must clearly communicate </a:t>
            </a:r>
            <a:r>
              <a:rPr kumimoji="0" lang="en-CA" altLang="en-US" sz="14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the definition of change, and </a:t>
            </a:r>
            <a:r>
              <a:rPr kumimoji="0" lang="en-CA" altLang="en-US" sz="1400" b="0" i="1"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reinforce the processes</a:t>
            </a:r>
            <a:r>
              <a:rPr kumimoji="0" lang="en-CA" altLang="en-US" sz="14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for managing change.</a:t>
            </a:r>
          </a:p>
          <a:p>
            <a:pPr marL="432000" marR="0" lvl="0" indent="-432000" algn="l" defTabSz="914400" rtl="0" eaLnBrk="0" fontAlgn="base" latinLnBrk="0" hangingPunct="0">
              <a:lnSpc>
                <a:spcPct val="90000"/>
              </a:lnSpc>
              <a:spcBef>
                <a:spcPts val="0"/>
              </a:spcBef>
              <a:buClrTx/>
              <a:buSzPct val="100000"/>
              <a:buFont typeface="Wingdings" panose="05000000000000000000" pitchFamily="2" charset="2"/>
              <a:buChar char="Ø"/>
              <a:tabLst/>
              <a:defRPr/>
            </a:pPr>
            <a:endPar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90000"/>
              </a:lnSpc>
              <a:spcBef>
                <a:spcPts val="0"/>
              </a:spcBef>
              <a:buClr>
                <a:srgbClr val="000000"/>
              </a:buClr>
              <a:buSzTx/>
              <a:buFont typeface="Arial"/>
              <a:buNone/>
              <a:tabLst/>
              <a:defRPr/>
            </a:pPr>
            <a:r>
              <a:rPr kumimoji="0" lang="en-CA" sz="1400" b="0" i="1" u="none" strike="noStrike" kern="0" cap="none" spc="0" normalizeH="0" baseline="0" noProof="0" dirty="0">
                <a:ln>
                  <a:noFill/>
                </a:ln>
                <a:solidFill>
                  <a:srgbClr val="000000"/>
                </a:solidFill>
                <a:effectLst/>
                <a:uLnTx/>
                <a:uFillTx/>
                <a:latin typeface="Arial"/>
                <a:sym typeface="Arial"/>
              </a:rPr>
              <a:t>Example: An engineer wants to switch out a tank used to store diesel to now store gasoline. The engineer has never done this before. The engineer can’t decide if he should complete a full risk assessment for this change because there are no procedures available to the engineer that detail how this change is to be undertaken. </a:t>
            </a:r>
          </a:p>
          <a:p>
            <a:pPr marL="0" marR="0" lvl="0" indent="0" algn="l" defTabSz="914400" rtl="0" eaLnBrk="0" fontAlgn="base" latinLnBrk="0" hangingPunct="0">
              <a:lnSpc>
                <a:spcPct val="90000"/>
              </a:lnSpc>
              <a:spcBef>
                <a:spcPts val="0"/>
              </a:spcBef>
              <a:buClrTx/>
              <a:buSzPct val="100000"/>
              <a:buNone/>
              <a:tabLst/>
              <a:defRPr/>
            </a:pPr>
            <a:endPar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90000"/>
              </a:lnSpc>
              <a:spcBef>
                <a:spcPts val="0"/>
              </a:spcBef>
              <a:buClr>
                <a:srgbClr val="000000"/>
              </a:buClr>
              <a:buSzTx/>
              <a:buFont typeface="Arial"/>
              <a:buNone/>
              <a:tabLst/>
              <a:defRPr/>
            </a:pPr>
            <a:r>
              <a:rPr kumimoji="0" lang="en-CA" sz="1400" b="1" i="1" u="none" strike="noStrike" kern="0" cap="none" spc="0" normalizeH="0" baseline="0" noProof="0" dirty="0">
                <a:ln>
                  <a:noFill/>
                </a:ln>
                <a:solidFill>
                  <a:srgbClr val="000099"/>
                </a:solidFill>
                <a:effectLst/>
                <a:uLnTx/>
                <a:uFillTx/>
                <a:latin typeface="Arial"/>
                <a:sym typeface="Arial"/>
              </a:rPr>
              <a:t>What does this mean for your team project??</a:t>
            </a:r>
          </a:p>
          <a:p>
            <a:pPr marL="342900" marR="0" lvl="0" indent="-342900" algn="l" defTabSz="914400" rtl="0" eaLnBrk="1" fontAlgn="auto" latinLnBrk="0" hangingPunct="1">
              <a:lnSpc>
                <a:spcPct val="90000"/>
              </a:lnSpc>
              <a:spcBef>
                <a:spcPts val="0"/>
              </a:spcBef>
              <a:buClrTx/>
              <a:buSzPct val="100000"/>
              <a:buFont typeface="Noto Sans Symbols"/>
              <a:buChar char="⮚"/>
              <a:tabLst/>
              <a:defRPr/>
            </a:pPr>
            <a:r>
              <a:rPr kumimoji="0" lang="en-CA" sz="1400" b="1" i="1" u="none" strike="noStrike" kern="0" cap="none" spc="0" normalizeH="0" baseline="0" noProof="0" dirty="0">
                <a:ln>
                  <a:noFill/>
                </a:ln>
                <a:solidFill>
                  <a:srgbClr val="000099"/>
                </a:solidFill>
                <a:effectLst/>
                <a:uLnTx/>
                <a:uFillTx/>
                <a:latin typeface="Arial"/>
                <a:sym typeface="Arial"/>
              </a:rPr>
              <a:t>Did an employee make a change to a standard operating procedure? </a:t>
            </a:r>
          </a:p>
          <a:p>
            <a:pPr marL="342900" marR="0" lvl="0" indent="-342900" algn="l" defTabSz="914400" rtl="0" eaLnBrk="1" fontAlgn="auto" latinLnBrk="0" hangingPunct="1">
              <a:lnSpc>
                <a:spcPct val="90000"/>
              </a:lnSpc>
              <a:spcBef>
                <a:spcPts val="0"/>
              </a:spcBef>
              <a:buClrTx/>
              <a:buSzPct val="100000"/>
              <a:buFont typeface="Noto Sans Symbols"/>
              <a:buChar char="⮚"/>
              <a:tabLst/>
              <a:defRPr/>
            </a:pPr>
            <a:r>
              <a:rPr kumimoji="0" lang="en-CA" sz="1400" b="1" i="1" u="none" strike="noStrike" kern="0" cap="none" spc="0" normalizeH="0" baseline="0" noProof="0" dirty="0">
                <a:ln>
                  <a:noFill/>
                </a:ln>
                <a:solidFill>
                  <a:srgbClr val="000099"/>
                </a:solidFill>
                <a:effectLst/>
                <a:uLnTx/>
                <a:uFillTx/>
                <a:latin typeface="Arial"/>
                <a:sym typeface="Arial"/>
              </a:rPr>
              <a:t>Did an engineer or contractor make a change to an engineered system (during design, construction, operation, or maintenance) without assessing the risk from the change first? If not, why?</a:t>
            </a:r>
          </a:p>
          <a:p>
            <a:pPr marL="342900" indent="-342900">
              <a:lnSpc>
                <a:spcPct val="90000"/>
              </a:lnSpc>
              <a:spcBef>
                <a:spcPts val="0"/>
              </a:spcBef>
              <a:buClrTx/>
              <a:buSzPct val="100000"/>
              <a:buFont typeface="Noto Sans Symbols"/>
              <a:buChar char="⮚"/>
              <a:defRPr/>
            </a:pPr>
            <a:r>
              <a:rPr kumimoji="0" lang="en-CA" sz="1400" b="1" i="1" u="none" strike="noStrike" kern="0" cap="none" spc="0" normalizeH="0" baseline="0" noProof="0" dirty="0">
                <a:ln>
                  <a:noFill/>
                </a:ln>
                <a:solidFill>
                  <a:srgbClr val="FF0000"/>
                </a:solidFill>
                <a:effectLst/>
                <a:uLnTx/>
                <a:uFillTx/>
                <a:latin typeface="Arial"/>
                <a:sym typeface="Arial"/>
              </a:rPr>
              <a:t>LCs GW: a Management of Change program</a:t>
            </a:r>
            <a:r>
              <a:rPr kumimoji="0" lang="en-CA" sz="1400" b="1" i="1" u="none" strike="noStrike" kern="0" cap="none" spc="0" normalizeH="0" baseline="0" noProof="0" dirty="0" smtClean="0">
                <a:ln>
                  <a:noFill/>
                </a:ln>
                <a:solidFill>
                  <a:srgbClr val="FF0000"/>
                </a:solidFill>
                <a:effectLst/>
                <a:uLnTx/>
                <a:uFillTx/>
                <a:latin typeface="Arial"/>
                <a:sym typeface="Arial"/>
              </a:rPr>
              <a:t>.</a:t>
            </a:r>
            <a:endParaRPr lang="en-CA" sz="1400" b="1" i="1" dirty="0">
              <a:solidFill>
                <a:srgbClr val="FF0000"/>
              </a:solidFill>
              <a:latin typeface="Arial"/>
            </a:endParaRPr>
          </a:p>
          <a:p>
            <a:pPr marL="342900" indent="-342900">
              <a:lnSpc>
                <a:spcPct val="90000"/>
              </a:lnSpc>
              <a:spcBef>
                <a:spcPts val="0"/>
              </a:spcBef>
              <a:buClrTx/>
              <a:buSzPct val="100000"/>
              <a:buFont typeface="Noto Sans Symbols"/>
              <a:buChar char="⮚"/>
              <a:defRPr/>
            </a:pPr>
            <a:endParaRPr lang="en-US" sz="1400" b="1" i="1" dirty="0" smtClean="0">
              <a:solidFill>
                <a:srgbClr val="FF0000"/>
              </a:solidFill>
              <a:latin typeface="Arial"/>
            </a:endParaRPr>
          </a:p>
          <a:p>
            <a:pPr marL="342900" indent="-342900">
              <a:lnSpc>
                <a:spcPct val="90000"/>
              </a:lnSpc>
              <a:spcBef>
                <a:spcPts val="0"/>
              </a:spcBef>
              <a:buClrTx/>
              <a:buSzPct val="100000"/>
              <a:buFont typeface="Noto Sans Symbols"/>
              <a:buChar char="⮚"/>
              <a:defRPr/>
            </a:pPr>
            <a:r>
              <a:rPr lang="en-US" sz="1400" b="1" i="1" dirty="0" smtClean="0">
                <a:solidFill>
                  <a:srgbClr val="FF0000"/>
                </a:solidFill>
                <a:latin typeface="Arial"/>
              </a:rPr>
              <a:t>Example LC-S: The management of </a:t>
            </a:r>
            <a:r>
              <a:rPr lang="en-US" sz="1400" b="1" i="1" dirty="0">
                <a:solidFill>
                  <a:srgbClr val="FF0000"/>
                </a:solidFill>
                <a:latin typeface="Arial"/>
              </a:rPr>
              <a:t>change program did not </a:t>
            </a:r>
            <a:r>
              <a:rPr lang="en-US" sz="1400" b="1" i="1" dirty="0" smtClean="0">
                <a:solidFill>
                  <a:srgbClr val="FF0000"/>
                </a:solidFill>
                <a:latin typeface="Arial"/>
              </a:rPr>
              <a:t>include a procedure or review steps for changes to </a:t>
            </a:r>
            <a:r>
              <a:rPr lang="en-US" sz="1400" b="1" i="1" dirty="0">
                <a:solidFill>
                  <a:srgbClr val="FF0000"/>
                </a:solidFill>
                <a:latin typeface="Arial"/>
              </a:rPr>
              <a:t>product storage </a:t>
            </a:r>
            <a:r>
              <a:rPr lang="en-US" sz="1400" b="1" i="1" dirty="0" smtClean="0">
                <a:solidFill>
                  <a:srgbClr val="FF0000"/>
                </a:solidFill>
                <a:latin typeface="Arial"/>
              </a:rPr>
              <a:t>tank.</a:t>
            </a:r>
            <a:endParaRPr lang="en-US" sz="1400" b="1" i="1" dirty="0">
              <a:solidFill>
                <a:srgbClr val="FF0000"/>
              </a:solidFill>
              <a:latin typeface="Arial"/>
            </a:endParaRPr>
          </a:p>
          <a:p>
            <a:pPr marL="342900" marR="0" lvl="0" indent="-342900" algn="l" defTabSz="914400" rtl="0" eaLnBrk="1" fontAlgn="auto" latinLnBrk="0" hangingPunct="1">
              <a:lnSpc>
                <a:spcPct val="90000"/>
              </a:lnSpc>
              <a:spcBef>
                <a:spcPts val="0"/>
              </a:spcBef>
              <a:buClr>
                <a:srgbClr val="000099"/>
              </a:buClr>
              <a:buSzPts val="1800"/>
              <a:buFont typeface="Noto Sans Symbols"/>
              <a:buChar char="⮚"/>
              <a:tabLst/>
              <a:defRPr/>
            </a:pPr>
            <a:endParaRPr kumimoji="0" lang="en-CA" sz="1400" b="1" i="0" u="none" strike="noStrike" kern="0" cap="none" spc="0" normalizeH="0" baseline="0" noProof="0" dirty="0">
              <a:ln>
                <a:noFill/>
              </a:ln>
              <a:solidFill>
                <a:srgbClr val="000099"/>
              </a:solidFill>
              <a:effectLst/>
              <a:uLnTx/>
              <a:uFillTx/>
              <a:latin typeface="Arial"/>
              <a:sym typeface="Arial"/>
            </a:endParaRPr>
          </a:p>
          <a:p>
            <a:pPr marL="0" marR="0" lvl="0" indent="0" algn="l" defTabSz="914400" rtl="0" eaLnBrk="0" fontAlgn="base" latinLnBrk="0" hangingPunct="0">
              <a:lnSpc>
                <a:spcPct val="90000"/>
              </a:lnSpc>
              <a:spcBef>
                <a:spcPts val="0"/>
              </a:spcBef>
              <a:buClrTx/>
              <a:buSzPct val="100000"/>
              <a:buNone/>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#4) Management of Change: Chapter 3.4</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33229466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CCCC">
              <a:alpha val="69804"/>
            </a:srgbClr>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85000"/>
              </a:lnSpc>
              <a:spcBef>
                <a:spcPts val="0"/>
              </a:spcBef>
              <a:buClrTx/>
              <a:buSzPct val="100000"/>
              <a:buFont typeface="Wingdings" panose="05000000000000000000" pitchFamily="2" charset="2"/>
              <a:buChar char="Ø"/>
              <a:tabLst/>
              <a:defRPr/>
            </a:pPr>
            <a:r>
              <a:rPr kumimoji="0" lang="en-CA" alt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Proactive </a:t>
            </a:r>
            <a:r>
              <a:rPr kumimoji="0" lang="en-CA" altLang="en-US" sz="16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and reactive</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management action can contribute significantly to improvements in the management system. </a:t>
            </a:r>
            <a:endPar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85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Reporting</a:t>
            </a: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mechanisms are in place for recording and tracking: </a:t>
            </a:r>
          </a:p>
          <a:p>
            <a:pPr marL="540000" lvl="1" indent="-360000" eaLnBrk="0" fontAlgn="base" hangingPunct="0">
              <a:lnSpc>
                <a:spcPct val="85000"/>
              </a:lnSpc>
              <a:spcBef>
                <a:spcPts val="0"/>
              </a:spcBef>
              <a:buClrTx/>
              <a:buSzPct val="100000"/>
              <a:buFont typeface="Wingdings" panose="05000000000000000000" pitchFamily="2" charset="2"/>
              <a:buChar char="Ø"/>
              <a:defRPr/>
            </a:pPr>
            <a:r>
              <a:rPr lang="en-CA" altLang="en-US" sz="1600" u="sng"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Proactive</a:t>
            </a:r>
            <a:r>
              <a:rPr lang="en-CA" alt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incidents </a:t>
            </a:r>
            <a:r>
              <a:rPr lang="en-CA" altLang="en-US" sz="1600" u="sng"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without</a:t>
            </a: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consequences (near miss events) as well as sub-standard conditions and sub-standard practices.</a:t>
            </a:r>
          </a:p>
          <a:p>
            <a:pPr marL="540000" lvl="1" indent="-360000" eaLnBrk="0" fontAlgn="base" hangingPunct="0">
              <a:lnSpc>
                <a:spcPct val="85000"/>
              </a:lnSpc>
              <a:spcBef>
                <a:spcPts val="0"/>
              </a:spcBef>
              <a:buClrTx/>
              <a:buSzPct val="100000"/>
              <a:buFont typeface="Wingdings" panose="05000000000000000000" pitchFamily="2" charset="2"/>
              <a:buChar char="Ø"/>
              <a:defRPr/>
            </a:pPr>
            <a:r>
              <a:rPr kumimoji="0" lang="en-CA" altLang="en-US" sz="16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Reactive</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t>
            </a:r>
            <a:r>
              <a:rPr kumimoji="0" lang="en-CA" altLang="en-US" sz="16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t>
            </a: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incidents </a:t>
            </a:r>
            <a:r>
              <a:rPr kumimoji="0" lang="en-CA" altLang="en-US" sz="1600" b="0" i="0" u="sng"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with</a:t>
            </a:r>
            <a:r>
              <a:rPr kumimoji="0" lang="en-CA" altLang="en-US" sz="16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consequences.</a:t>
            </a:r>
          </a:p>
          <a:p>
            <a:pPr marL="360000" lvl="0" indent="-360000" eaLnBrk="0" fontAlgn="base" hangingPunct="0">
              <a:lnSpc>
                <a:spcPct val="85000"/>
              </a:lnSpc>
              <a:spcBef>
                <a:spcPts val="0"/>
              </a:spcBef>
              <a:buClrTx/>
              <a:buSzPct val="100000"/>
              <a:buFont typeface="Wingdings" panose="05000000000000000000" pitchFamily="2" charset="2"/>
              <a:buChar char="Ø"/>
              <a:defRPr/>
            </a:pP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Incidents are investigated, analysed, and corrective actions determined to prevent re-occurrence. </a:t>
            </a: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85000"/>
              </a:lnSpc>
              <a:spcBef>
                <a:spcPts val="0"/>
              </a:spcBef>
              <a:buClr>
                <a:srgbClr val="000000"/>
              </a:buClr>
              <a:buSzTx/>
              <a:buFont typeface="Arial"/>
              <a:buNone/>
              <a:tabLst/>
              <a:defRPr/>
            </a:pPr>
            <a:endParaRPr kumimoji="0" lang="en-CA" sz="1600" b="0" i="1" u="none" strike="noStrike" kern="0" cap="none" spc="0" normalizeH="0" baseline="0" noProof="0" dirty="0" smtClean="0">
              <a:ln>
                <a:noFill/>
              </a:ln>
              <a:solidFill>
                <a:srgbClr val="000000"/>
              </a:solidFill>
              <a:effectLst/>
              <a:uLnTx/>
              <a:uFillTx/>
              <a:latin typeface="Arial"/>
              <a:sym typeface="Arial"/>
            </a:endParaRPr>
          </a:p>
          <a:p>
            <a:pPr marL="0" marR="0" lvl="0" indent="0" algn="l" defTabSz="914400" rtl="0" eaLnBrk="1" fontAlgn="auto" latinLnBrk="0" hangingPunct="1">
              <a:lnSpc>
                <a:spcPct val="85000"/>
              </a:lnSpc>
              <a:spcBef>
                <a:spcPts val="0"/>
              </a:spcBef>
              <a:buClr>
                <a:srgbClr val="000000"/>
              </a:buClr>
              <a:buSzTx/>
              <a:buFont typeface="Arial"/>
              <a:buNone/>
              <a:tabLst/>
              <a:defRPr/>
            </a:pPr>
            <a:r>
              <a:rPr kumimoji="0" lang="en-CA" sz="1600" b="0" i="1" u="none" strike="noStrike" kern="0" cap="none" spc="0" normalizeH="0" baseline="0" noProof="0" dirty="0" smtClean="0">
                <a:ln>
                  <a:noFill/>
                </a:ln>
                <a:solidFill>
                  <a:srgbClr val="000000"/>
                </a:solidFill>
                <a:effectLst/>
                <a:uLnTx/>
                <a:uFillTx/>
                <a:latin typeface="Arial"/>
                <a:sym typeface="Arial"/>
              </a:rPr>
              <a:t>Example</a:t>
            </a:r>
            <a:r>
              <a:rPr kumimoji="0" lang="en-CA" sz="1600" b="0" i="1" u="none" strike="noStrike" kern="0" cap="none" spc="0" normalizeH="0" baseline="0" noProof="0" dirty="0">
                <a:ln>
                  <a:noFill/>
                </a:ln>
                <a:solidFill>
                  <a:srgbClr val="000000"/>
                </a:solidFill>
                <a:effectLst/>
                <a:uLnTx/>
                <a:uFillTx/>
                <a:latin typeface="Arial"/>
                <a:sym typeface="Arial"/>
              </a:rPr>
              <a:t>: An employee sustains a </a:t>
            </a:r>
            <a:r>
              <a:rPr kumimoji="0" lang="en-CA" sz="1600" b="0" i="1" u="none" strike="noStrike" kern="0" cap="none" spc="0" normalizeH="0" baseline="0" noProof="0" dirty="0" smtClean="0">
                <a:ln>
                  <a:noFill/>
                </a:ln>
                <a:solidFill>
                  <a:srgbClr val="000000"/>
                </a:solidFill>
                <a:effectLst/>
                <a:uLnTx/>
                <a:uFillTx/>
                <a:latin typeface="Arial"/>
                <a:sym typeface="Arial"/>
              </a:rPr>
              <a:t>minor </a:t>
            </a:r>
            <a:r>
              <a:rPr kumimoji="0" lang="en-CA" sz="1600" b="0" i="1" u="none" strike="noStrike" kern="0" cap="none" spc="0" normalizeH="0" baseline="0" noProof="0" dirty="0">
                <a:ln>
                  <a:noFill/>
                </a:ln>
                <a:solidFill>
                  <a:srgbClr val="000000"/>
                </a:solidFill>
                <a:effectLst/>
                <a:uLnTx/>
                <a:uFillTx/>
                <a:latin typeface="Arial"/>
                <a:sym typeface="Arial"/>
              </a:rPr>
              <a:t>injury while using a defective tool. The worker reports to the First Aid station as per company policy. The </a:t>
            </a:r>
            <a:r>
              <a:rPr kumimoji="0" lang="en-CA" sz="1600" b="0" i="1" u="none" strike="noStrike" kern="0" cap="none" spc="0" normalizeH="0" baseline="0" noProof="0" dirty="0" smtClean="0">
                <a:ln>
                  <a:noFill/>
                </a:ln>
                <a:solidFill>
                  <a:srgbClr val="000000"/>
                </a:solidFill>
                <a:effectLst/>
                <a:uLnTx/>
                <a:uFillTx/>
                <a:latin typeface="Arial"/>
                <a:sym typeface="Arial"/>
              </a:rPr>
              <a:t>supervisor could investigate </a:t>
            </a:r>
            <a:r>
              <a:rPr kumimoji="0" lang="en-CA" sz="1600" b="0" i="1" u="none" strike="noStrike" kern="0" cap="none" spc="0" normalizeH="0" baseline="0" noProof="0" dirty="0">
                <a:ln>
                  <a:noFill/>
                </a:ln>
                <a:solidFill>
                  <a:srgbClr val="000000"/>
                </a:solidFill>
                <a:effectLst/>
                <a:uLnTx/>
                <a:uFillTx/>
                <a:latin typeface="Arial"/>
                <a:sym typeface="Arial"/>
              </a:rPr>
              <a:t>the incident, </a:t>
            </a:r>
            <a:r>
              <a:rPr kumimoji="0" lang="en-CA" sz="1600" b="0" i="1" u="none" strike="noStrike" kern="0" cap="none" spc="0" normalizeH="0" baseline="0" noProof="0" dirty="0" smtClean="0">
                <a:ln>
                  <a:noFill/>
                </a:ln>
                <a:solidFill>
                  <a:srgbClr val="000000"/>
                </a:solidFill>
                <a:effectLst/>
                <a:uLnTx/>
                <a:uFillTx/>
                <a:latin typeface="Arial"/>
                <a:sym typeface="Arial"/>
              </a:rPr>
              <a:t>file </a:t>
            </a:r>
            <a:r>
              <a:rPr kumimoji="0" lang="en-CA" sz="1600" b="0" i="1" u="none" strike="noStrike" kern="0" cap="none" spc="0" normalizeH="0" baseline="0" noProof="0" dirty="0">
                <a:ln>
                  <a:noFill/>
                </a:ln>
                <a:solidFill>
                  <a:srgbClr val="000000"/>
                </a:solidFill>
                <a:effectLst/>
                <a:uLnTx/>
                <a:uFillTx/>
                <a:latin typeface="Arial"/>
                <a:sym typeface="Arial"/>
              </a:rPr>
              <a:t>a report, and </a:t>
            </a:r>
            <a:r>
              <a:rPr kumimoji="0" lang="en-CA" sz="1600" b="0" i="1" u="none" strike="noStrike" kern="0" cap="none" spc="0" normalizeH="0" baseline="0" noProof="0" dirty="0" smtClean="0">
                <a:ln>
                  <a:noFill/>
                </a:ln>
                <a:solidFill>
                  <a:srgbClr val="000000"/>
                </a:solidFill>
                <a:effectLst/>
                <a:uLnTx/>
                <a:uFillTx/>
                <a:latin typeface="Arial"/>
                <a:sym typeface="Arial"/>
              </a:rPr>
              <a:t>discuss </a:t>
            </a:r>
            <a:r>
              <a:rPr kumimoji="0" lang="en-CA" sz="1600" b="0" i="1" u="none" strike="noStrike" kern="0" cap="none" spc="0" normalizeH="0" baseline="0" noProof="0" dirty="0">
                <a:ln>
                  <a:noFill/>
                </a:ln>
                <a:solidFill>
                  <a:srgbClr val="000000"/>
                </a:solidFill>
                <a:effectLst/>
                <a:uLnTx/>
                <a:uFillTx/>
                <a:latin typeface="Arial"/>
                <a:sym typeface="Arial"/>
              </a:rPr>
              <a:t>the incident at the next safety meeting regarding inspection of tools prior to </a:t>
            </a:r>
            <a:r>
              <a:rPr kumimoji="0" lang="en-CA" sz="1600" b="0" i="1" u="none" strike="noStrike" kern="0" cap="none" spc="0" normalizeH="0" baseline="0" noProof="0" dirty="0" smtClean="0">
                <a:ln>
                  <a:noFill/>
                </a:ln>
                <a:solidFill>
                  <a:srgbClr val="000000"/>
                </a:solidFill>
                <a:effectLst/>
                <a:uLnTx/>
                <a:uFillTx/>
                <a:latin typeface="Arial"/>
                <a:sym typeface="Arial"/>
              </a:rPr>
              <a:t>use, but there were no criteria to state what</a:t>
            </a:r>
            <a:r>
              <a:rPr kumimoji="0" lang="en-CA" sz="1600" b="0" i="1" u="none" strike="noStrike" kern="0" cap="none" spc="0" normalizeH="0" noProof="0" dirty="0" smtClean="0">
                <a:ln>
                  <a:noFill/>
                </a:ln>
                <a:solidFill>
                  <a:srgbClr val="000000"/>
                </a:solidFill>
                <a:effectLst/>
                <a:uLnTx/>
                <a:uFillTx/>
                <a:latin typeface="Arial"/>
                <a:sym typeface="Arial"/>
              </a:rPr>
              <a:t> should be investigated i.e. </a:t>
            </a:r>
            <a:r>
              <a:rPr kumimoji="0" lang="en-CA" sz="1600" b="0" i="1" u="none" strike="noStrike" kern="0" cap="none" spc="0" normalizeH="0" baseline="0" noProof="0" dirty="0" smtClean="0">
                <a:ln>
                  <a:noFill/>
                </a:ln>
                <a:solidFill>
                  <a:srgbClr val="000000"/>
                </a:solidFill>
                <a:effectLst/>
                <a:uLnTx/>
                <a:uFillTx/>
                <a:latin typeface="Arial"/>
                <a:sym typeface="Arial"/>
              </a:rPr>
              <a:t>that</a:t>
            </a:r>
            <a:r>
              <a:rPr kumimoji="0" lang="en-CA" sz="1600" b="0" i="1" u="none" strike="noStrike" kern="0" cap="none" spc="0" normalizeH="0" noProof="0" dirty="0" smtClean="0">
                <a:ln>
                  <a:noFill/>
                </a:ln>
                <a:solidFill>
                  <a:srgbClr val="000000"/>
                </a:solidFill>
                <a:effectLst/>
                <a:uLnTx/>
                <a:uFillTx/>
                <a:latin typeface="Arial"/>
                <a:sym typeface="Arial"/>
              </a:rPr>
              <a:t> a minor injury should be investigated</a:t>
            </a:r>
            <a:r>
              <a:rPr kumimoji="0" lang="en-CA" sz="1600" b="0" i="1" u="none" strike="noStrike" kern="0" cap="none" spc="0" normalizeH="0" baseline="0" noProof="0" dirty="0" smtClean="0">
                <a:ln>
                  <a:noFill/>
                </a:ln>
                <a:solidFill>
                  <a:srgbClr val="000000"/>
                </a:solidFill>
                <a:effectLst/>
                <a:uLnTx/>
                <a:uFillTx/>
                <a:latin typeface="Arial"/>
                <a:sym typeface="Arial"/>
              </a:rPr>
              <a:t>. </a:t>
            </a:r>
            <a:endParaRPr kumimoji="0" lang="en-CA" sz="1600" b="0" i="1"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85000"/>
              </a:lnSpc>
              <a:spcBef>
                <a:spcPts val="0"/>
              </a:spcBef>
              <a:buClr>
                <a:srgbClr val="000000"/>
              </a:buClr>
              <a:buSzTx/>
              <a:buFont typeface="Arial"/>
              <a:buNone/>
              <a:tabLst/>
              <a:defRPr/>
            </a:pPr>
            <a:endParaRPr lang="en-CA" sz="1600" i="1" dirty="0">
              <a:solidFill>
                <a:srgbClr val="000000"/>
              </a:solidFill>
              <a:latin typeface="Arial"/>
            </a:endParaRPr>
          </a:p>
          <a:p>
            <a:pPr marL="0" marR="0" lvl="0" indent="0" algn="l" defTabSz="914400" rtl="0" eaLnBrk="1" fontAlgn="auto" latinLnBrk="0" hangingPunct="1">
              <a:lnSpc>
                <a:spcPct val="85000"/>
              </a:lnSpc>
              <a:spcBef>
                <a:spcPts val="0"/>
              </a:spcBef>
              <a:buClr>
                <a:srgbClr val="000000"/>
              </a:buClr>
              <a:buSzTx/>
              <a:buFont typeface="Arial"/>
              <a:buNone/>
              <a:tabLst/>
              <a:defRPr/>
            </a:pPr>
            <a:r>
              <a:rPr kumimoji="0" lang="en-CA" sz="1600" b="1" i="1" u="none" strike="noStrike" kern="0" cap="none" spc="0" normalizeH="0" baseline="0" noProof="0" dirty="0">
                <a:ln>
                  <a:noFill/>
                </a:ln>
                <a:solidFill>
                  <a:srgbClr val="000099"/>
                </a:solidFill>
                <a:effectLst/>
                <a:uLnTx/>
                <a:uFillTx/>
                <a:latin typeface="Arial"/>
                <a:sym typeface="Arial"/>
              </a:rPr>
              <a:t>What does this mean for your team project</a:t>
            </a:r>
            <a:r>
              <a:rPr kumimoji="0" lang="en-CA" sz="1600" b="1" i="1" u="none" strike="noStrike" kern="0" cap="none" spc="0" normalizeH="0" baseline="0" noProof="0" dirty="0" smtClean="0">
                <a:ln>
                  <a:noFill/>
                </a:ln>
                <a:solidFill>
                  <a:srgbClr val="000099"/>
                </a:solidFill>
                <a:effectLst/>
                <a:uLnTx/>
                <a:uFillTx/>
                <a:latin typeface="Arial"/>
                <a:sym typeface="Arial"/>
              </a:rPr>
              <a:t>?</a:t>
            </a:r>
            <a:endParaRPr kumimoji="0" lang="en-CA" sz="1600" b="1" i="1" u="none" strike="noStrike" kern="0" cap="none" spc="0" normalizeH="0" baseline="0" noProof="0" dirty="0">
              <a:ln>
                <a:noFill/>
              </a:ln>
              <a:solidFill>
                <a:srgbClr val="000099"/>
              </a:solidFill>
              <a:effectLst/>
              <a:uLnTx/>
              <a:uFillTx/>
              <a:latin typeface="Arial"/>
              <a:sym typeface="Arial"/>
            </a:endParaRPr>
          </a:p>
          <a:p>
            <a:pPr marL="342900" marR="0" lvl="0" indent="-342900" algn="l" defTabSz="914400" rtl="0" eaLnBrk="1" fontAlgn="auto" latinLnBrk="0" hangingPunct="1">
              <a:lnSpc>
                <a:spcPct val="85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Were incidents and near misses reported? </a:t>
            </a:r>
          </a:p>
          <a:p>
            <a:pPr marL="342900" marR="0" lvl="0" indent="-342900" algn="l" defTabSz="914400" rtl="0" eaLnBrk="1" fontAlgn="auto" latinLnBrk="0" hangingPunct="1">
              <a:lnSpc>
                <a:spcPct val="85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Did management know about past incidents at the facility? </a:t>
            </a:r>
          </a:p>
          <a:p>
            <a:pPr marL="342900" marR="0" lvl="0" indent="-342900" algn="l" defTabSz="914400" rtl="0" eaLnBrk="1" fontAlgn="auto" latinLnBrk="0" hangingPunct="1">
              <a:lnSpc>
                <a:spcPct val="85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there a plan for responding to reported incidents? </a:t>
            </a:r>
            <a:endParaRPr kumimoji="0" lang="en-CA" sz="1600" b="1" i="1" u="none" strike="noStrike" kern="0" cap="none" spc="0" normalizeH="0" baseline="0" noProof="0" dirty="0" smtClean="0">
              <a:ln>
                <a:noFill/>
              </a:ln>
              <a:solidFill>
                <a:srgbClr val="000099"/>
              </a:solidFill>
              <a:effectLst/>
              <a:uLnTx/>
              <a:uFillTx/>
              <a:latin typeface="Arial"/>
              <a:sym typeface="Arial"/>
            </a:endParaRPr>
          </a:p>
          <a:p>
            <a:pPr marL="342900" marR="0" lvl="0" indent="-342900" algn="l" defTabSz="914400" rtl="0" eaLnBrk="1" fontAlgn="auto" latinLnBrk="0" hangingPunct="1">
              <a:lnSpc>
                <a:spcPct val="85000"/>
              </a:lnSpc>
              <a:spcBef>
                <a:spcPts val="0"/>
              </a:spcBef>
              <a:buClrTx/>
              <a:buSzPct val="100000"/>
              <a:buFont typeface="Noto Sans Symbols"/>
              <a:buChar char="⮚"/>
              <a:tabLst/>
              <a:defRPr/>
            </a:pPr>
            <a:r>
              <a:rPr kumimoji="0" lang="en-CA" sz="1600" b="1" i="1" u="none" strike="noStrike" kern="0" cap="none" spc="0" normalizeH="0" baseline="0" noProof="0" dirty="0" smtClean="0">
                <a:ln>
                  <a:noFill/>
                </a:ln>
                <a:solidFill>
                  <a:srgbClr val="000099"/>
                </a:solidFill>
                <a:effectLst/>
                <a:uLnTx/>
                <a:uFillTx/>
                <a:latin typeface="Arial"/>
                <a:sym typeface="Arial"/>
              </a:rPr>
              <a:t>Were </a:t>
            </a:r>
            <a:r>
              <a:rPr kumimoji="0" lang="en-CA" sz="1600" b="1" i="1" u="none" strike="noStrike" kern="0" cap="none" spc="0" normalizeH="0" baseline="0" noProof="0" dirty="0">
                <a:ln>
                  <a:noFill/>
                </a:ln>
                <a:solidFill>
                  <a:srgbClr val="000099"/>
                </a:solidFill>
                <a:effectLst/>
                <a:uLnTx/>
                <a:uFillTx/>
                <a:latin typeface="Arial"/>
                <a:sym typeface="Arial"/>
              </a:rPr>
              <a:t>corrective actions developed and followed up on?</a:t>
            </a:r>
          </a:p>
          <a:p>
            <a:pPr marL="342900" indent="-342900">
              <a:lnSpc>
                <a:spcPct val="85000"/>
              </a:lnSpc>
              <a:spcBef>
                <a:spcPts val="0"/>
              </a:spcBef>
              <a:buClrTx/>
              <a:buSzPct val="100000"/>
              <a:buFont typeface="Noto Sans Symbols"/>
              <a:buChar char="⮚"/>
              <a:defRPr/>
            </a:pPr>
            <a:r>
              <a:rPr kumimoji="0" lang="en-CA" sz="1600" b="1" i="1" u="none" strike="noStrike" kern="0" cap="none" spc="0" normalizeH="0" baseline="0" noProof="0" dirty="0">
                <a:ln>
                  <a:noFill/>
                </a:ln>
                <a:solidFill>
                  <a:srgbClr val="000099"/>
                </a:solidFill>
                <a:effectLst/>
                <a:uLnTx/>
                <a:uFillTx/>
                <a:latin typeface="Arial"/>
                <a:sym typeface="Arial"/>
              </a:rPr>
              <a:t>LCs GW: one or more of the programs / processes of this element; recall our Incident Investigation - Root Cause Analysis - Manage Actions work processes</a:t>
            </a:r>
            <a:r>
              <a:rPr kumimoji="0" lang="en-CA" sz="1600" b="1" i="1" u="none" strike="noStrike" kern="0" cap="none" spc="0" normalizeH="0" baseline="0" noProof="0" dirty="0" smtClean="0">
                <a:ln>
                  <a:noFill/>
                </a:ln>
                <a:solidFill>
                  <a:srgbClr val="000099"/>
                </a:solidFill>
                <a:effectLst/>
                <a:uLnTx/>
                <a:uFillTx/>
                <a:latin typeface="Arial"/>
                <a:sym typeface="Arial"/>
              </a:rPr>
              <a:t>!</a:t>
            </a:r>
            <a:endParaRPr lang="en-CA" sz="1600" b="1" i="1" dirty="0">
              <a:solidFill>
                <a:srgbClr val="000099"/>
              </a:solidFill>
              <a:latin typeface="Arial"/>
            </a:endParaRPr>
          </a:p>
          <a:p>
            <a:pPr marL="342900" indent="-342900">
              <a:lnSpc>
                <a:spcPct val="85000"/>
              </a:lnSpc>
              <a:spcBef>
                <a:spcPts val="0"/>
              </a:spcBef>
              <a:buClrTx/>
              <a:buSzPct val="100000"/>
              <a:buFont typeface="Noto Sans Symbols"/>
              <a:buChar char="⮚"/>
              <a:defRPr/>
            </a:pPr>
            <a:r>
              <a:rPr lang="en-US" sz="1600" b="1" i="1" dirty="0">
                <a:solidFill>
                  <a:srgbClr val="FF0000"/>
                </a:solidFill>
                <a:latin typeface="Arial"/>
              </a:rPr>
              <a:t>Example </a:t>
            </a:r>
            <a:r>
              <a:rPr lang="en-US" sz="1600" b="1" i="1" dirty="0" smtClean="0">
                <a:solidFill>
                  <a:srgbClr val="FF0000"/>
                </a:solidFill>
                <a:latin typeface="Arial"/>
              </a:rPr>
              <a:t>LC-S: </a:t>
            </a:r>
            <a:r>
              <a:rPr lang="en-US" sz="1600" b="1" i="1" dirty="0">
                <a:solidFill>
                  <a:srgbClr val="FF0000"/>
                </a:solidFill>
                <a:latin typeface="Arial"/>
              </a:rPr>
              <a:t>The incident i</a:t>
            </a:r>
            <a:r>
              <a:rPr lang="en-US" sz="1600" b="1" i="1" dirty="0" smtClean="0">
                <a:solidFill>
                  <a:srgbClr val="FF0000"/>
                </a:solidFill>
                <a:latin typeface="Arial"/>
              </a:rPr>
              <a:t>nvestigation </a:t>
            </a:r>
            <a:r>
              <a:rPr lang="en-US" sz="1600" b="1" i="1" dirty="0">
                <a:solidFill>
                  <a:srgbClr val="FF0000"/>
                </a:solidFill>
                <a:latin typeface="Arial"/>
              </a:rPr>
              <a:t>program did not </a:t>
            </a:r>
            <a:r>
              <a:rPr lang="en-US" sz="1600" b="1" i="1" dirty="0" smtClean="0">
                <a:solidFill>
                  <a:srgbClr val="FF0000"/>
                </a:solidFill>
                <a:latin typeface="Arial"/>
              </a:rPr>
              <a:t>include a standard to describe </a:t>
            </a:r>
            <a:r>
              <a:rPr lang="en-US" sz="1600" b="1" i="1" dirty="0">
                <a:solidFill>
                  <a:srgbClr val="FF0000"/>
                </a:solidFill>
                <a:latin typeface="Arial"/>
              </a:rPr>
              <a:t>the threshold criteria for what should be </a:t>
            </a:r>
            <a:r>
              <a:rPr lang="en-US" sz="1600" b="1" i="1" dirty="0" smtClean="0">
                <a:solidFill>
                  <a:srgbClr val="FF0000"/>
                </a:solidFill>
                <a:latin typeface="Arial"/>
              </a:rPr>
              <a:t>investigated with follow-up action. </a:t>
            </a:r>
            <a:endParaRPr lang="en-CA" altLang="en-US" sz="1600" b="1" i="1" dirty="0">
              <a:solidFill>
                <a:srgbClr val="000099"/>
              </a:solidFill>
              <a:latin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#5) Incident Reporting, Investigation, Analysis and Actions: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242750391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CCCC">
              <a:alpha val="69804"/>
            </a:srgbClr>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85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Continuous improvement </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(proactive) is </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essential to ensure your program and organization are managing the residual </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risks!</a:t>
            </a:r>
          </a:p>
          <a:p>
            <a:pPr marL="720000" indent="-360000" eaLnBrk="0" fontAlgn="base" hangingPunct="0">
              <a:lnSpc>
                <a:spcPct val="85000"/>
              </a:lnSpc>
              <a:spcBef>
                <a:spcPts val="0"/>
              </a:spcBef>
              <a:buClrTx/>
              <a:buSzPct val="100000"/>
              <a:buFont typeface="Wingdings" panose="05000000000000000000" pitchFamily="2" charset="2"/>
              <a:buChar char="Ø"/>
              <a:defRPr/>
            </a:pPr>
            <a:r>
              <a:rPr lang="en-US" alt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Continually checking each of the program elements, their standards (administrative controls), and the implementation of those standards </a:t>
            </a:r>
          </a:p>
          <a:p>
            <a:pPr marL="360000" marR="0" lvl="0" indent="-360000" algn="l" defTabSz="914400" rtl="0" eaLnBrk="0" fontAlgn="base" latinLnBrk="0" hangingPunct="0">
              <a:lnSpc>
                <a:spcPct val="85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Program </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evaluation works on all parts of the RMS Program:</a:t>
            </a:r>
          </a:p>
          <a:p>
            <a:pPr marL="720000" marR="0" lvl="0" indent="-360000" algn="l" defTabSz="914400" rtl="0" eaLnBrk="0" fontAlgn="base" latinLnBrk="0" hangingPunct="0">
              <a:lnSpc>
                <a:spcPct val="85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Audits (internal, external) test implementation of the program at organization level to ensure it is effectively implemented</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t>
            </a:r>
            <a:endPar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85000"/>
              </a:lnSpc>
              <a:spcBef>
                <a:spcPts val="0"/>
              </a:spcBef>
              <a:buClr>
                <a:srgbClr val="000000"/>
              </a:buClr>
              <a:buSzPts val="1800"/>
              <a:buFont typeface="Arial"/>
              <a:buNone/>
              <a:tabLst/>
              <a:defRPr/>
            </a:pPr>
            <a:r>
              <a:rPr kumimoji="0" lang="en-CA" sz="1600" b="0" i="1" u="none" strike="noStrike" kern="0" cap="none" spc="0" normalizeH="0" baseline="0" noProof="0" dirty="0">
                <a:ln>
                  <a:noFill/>
                </a:ln>
                <a:solidFill>
                  <a:srgbClr val="000000"/>
                </a:solidFill>
                <a:effectLst/>
                <a:uLnTx/>
                <a:uFillTx/>
                <a:latin typeface="Arial"/>
                <a:sym typeface="Arial"/>
              </a:rPr>
              <a:t>Example: A third party firm is hired to do an audit on the safe shut down of a plant. The auditors reviewed the procedures and observed work practices during the shut down. After the audit is completed, the managers at the company discussed the deficiencies found</a:t>
            </a:r>
            <a:r>
              <a:rPr kumimoji="0" lang="en-CA" sz="1600" b="0" i="1" u="none" strike="noStrike" kern="0" cap="none" spc="0" normalizeH="0" baseline="0" noProof="0" dirty="0" smtClean="0">
                <a:ln>
                  <a:noFill/>
                </a:ln>
                <a:solidFill>
                  <a:srgbClr val="000000"/>
                </a:solidFill>
                <a:effectLst/>
                <a:uLnTx/>
                <a:uFillTx/>
                <a:latin typeface="Arial"/>
                <a:sym typeface="Arial"/>
              </a:rPr>
              <a:t>, but did not develop </a:t>
            </a:r>
            <a:r>
              <a:rPr kumimoji="0" lang="en-CA" sz="1600" b="0" i="1" u="none" strike="noStrike" kern="0" cap="none" spc="0" normalizeH="0" baseline="0" noProof="0" dirty="0">
                <a:ln>
                  <a:noFill/>
                </a:ln>
                <a:solidFill>
                  <a:srgbClr val="000000"/>
                </a:solidFill>
                <a:effectLst/>
                <a:uLnTx/>
                <a:uFillTx/>
                <a:latin typeface="Arial"/>
                <a:sym typeface="Arial"/>
              </a:rPr>
              <a:t>corrective actions, and </a:t>
            </a:r>
            <a:r>
              <a:rPr lang="en-CA" sz="1600" i="1" dirty="0" smtClean="0">
                <a:solidFill>
                  <a:srgbClr val="000000"/>
                </a:solidFill>
                <a:latin typeface="Arial"/>
              </a:rPr>
              <a:t>did not </a:t>
            </a:r>
            <a:r>
              <a:rPr kumimoji="0" lang="en-CA" sz="1600" b="0" i="1" u="none" strike="noStrike" kern="0" cap="none" spc="0" normalizeH="0" baseline="0" noProof="0" dirty="0" smtClean="0">
                <a:ln>
                  <a:noFill/>
                </a:ln>
                <a:solidFill>
                  <a:srgbClr val="000000"/>
                </a:solidFill>
                <a:effectLst/>
                <a:uLnTx/>
                <a:uFillTx/>
                <a:latin typeface="Arial"/>
                <a:sym typeface="Arial"/>
              </a:rPr>
              <a:t>implement any actions to correct the deficiencies.</a:t>
            </a:r>
            <a:endParaRPr kumimoji="0" lang="en-CA" sz="1600" b="0" i="1"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85000"/>
              </a:lnSpc>
              <a:spcBef>
                <a:spcPts val="0"/>
              </a:spcBef>
              <a:buClr>
                <a:srgbClr val="000000"/>
              </a:buClr>
              <a:buSzPts val="1800"/>
              <a:buFont typeface="Arial"/>
              <a:buNone/>
              <a:tabLst/>
              <a:defRPr/>
            </a:pPr>
            <a:endParaRPr kumimoji="0" lang="en-CA" sz="1600" b="0" i="1"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85000"/>
              </a:lnSpc>
              <a:spcBef>
                <a:spcPts val="0"/>
              </a:spcBef>
              <a:buClr>
                <a:srgbClr val="000000"/>
              </a:buClr>
              <a:buSzPts val="1800"/>
              <a:buFont typeface="Noto Sans Symbols"/>
              <a:buNone/>
              <a:tabLst/>
              <a:defRPr/>
            </a:pPr>
            <a:r>
              <a:rPr kumimoji="0" lang="en-CA" sz="1600" b="1" i="1" u="none" strike="noStrike" kern="0" cap="none" spc="0" normalizeH="0" baseline="0" noProof="0" dirty="0">
                <a:ln>
                  <a:noFill/>
                </a:ln>
                <a:solidFill>
                  <a:srgbClr val="000099"/>
                </a:solidFill>
                <a:effectLst/>
                <a:uLnTx/>
                <a:uFillTx/>
                <a:latin typeface="Arial"/>
                <a:sym typeface="Arial"/>
              </a:rPr>
              <a:t>So What Does This Mean for your team project??</a:t>
            </a:r>
          </a:p>
          <a:p>
            <a:pPr marL="457200" marR="0" lvl="0" indent="-457200" algn="l" defTabSz="914400" rtl="0" eaLnBrk="1" fontAlgn="auto" latinLnBrk="0" hangingPunct="1">
              <a:lnSpc>
                <a:spcPct val="85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Did management conduct audits to determine the effectiveness of their risk management program, such as comparing administrative controls with actual work practices?</a:t>
            </a:r>
          </a:p>
          <a:p>
            <a:pPr marL="457200" marR="0" lvl="0" indent="-457200" algn="l" defTabSz="914400" rtl="0" eaLnBrk="1" fontAlgn="auto" latinLnBrk="0" hangingPunct="1">
              <a:lnSpc>
                <a:spcPct val="85000"/>
              </a:lnSpc>
              <a:spcBef>
                <a:spcPts val="0"/>
              </a:spcBef>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management supporting the audit follow-up i.e. take action to correct deficiencies?</a:t>
            </a:r>
          </a:p>
          <a:p>
            <a:pPr marL="457200" indent="-457200">
              <a:lnSpc>
                <a:spcPct val="85000"/>
              </a:lnSpc>
              <a:spcBef>
                <a:spcPts val="0"/>
              </a:spcBef>
              <a:buClrTx/>
              <a:buSzPct val="100000"/>
              <a:buFont typeface="Noto Sans Symbols"/>
              <a:buChar char="⮚"/>
              <a:defRPr/>
            </a:pPr>
            <a:r>
              <a:rPr kumimoji="0" lang="en-CA" sz="1600" b="1" i="1" u="none" strike="noStrike" kern="0" cap="none" spc="0" normalizeH="0" baseline="0" noProof="0" dirty="0">
                <a:ln>
                  <a:noFill/>
                </a:ln>
                <a:solidFill>
                  <a:srgbClr val="000099"/>
                </a:solidFill>
                <a:effectLst/>
                <a:uLnTx/>
                <a:uFillTx/>
                <a:latin typeface="Arial"/>
                <a:sym typeface="Arial"/>
              </a:rPr>
              <a:t>LCs GW: an auditing program and its components e.g. schedule, details on what to audit, assignment and commitment to </a:t>
            </a:r>
            <a:r>
              <a:rPr kumimoji="0" lang="en-CA" sz="1600" b="1" i="1" u="none" strike="noStrike" kern="0" cap="none" spc="0" normalizeH="0" baseline="0" noProof="0" dirty="0" smtClean="0">
                <a:ln>
                  <a:noFill/>
                </a:ln>
                <a:solidFill>
                  <a:srgbClr val="000099"/>
                </a:solidFill>
                <a:effectLst/>
                <a:uLnTx/>
                <a:uFillTx/>
                <a:latin typeface="Arial"/>
                <a:sym typeface="Arial"/>
              </a:rPr>
              <a:t>audit.</a:t>
            </a:r>
            <a:endParaRPr lang="en-CA" sz="1600" b="1" i="1" dirty="0">
              <a:solidFill>
                <a:srgbClr val="FF0000"/>
              </a:solidFill>
              <a:latin typeface="Arial"/>
            </a:endParaRPr>
          </a:p>
          <a:p>
            <a:pPr marL="457200" indent="-457200">
              <a:lnSpc>
                <a:spcPct val="85000"/>
              </a:lnSpc>
              <a:spcBef>
                <a:spcPts val="0"/>
              </a:spcBef>
              <a:buClrTx/>
              <a:buSzPct val="100000"/>
              <a:buFont typeface="Noto Sans Symbols"/>
              <a:buChar char="⮚"/>
              <a:defRPr/>
            </a:pPr>
            <a:endParaRPr lang="en-US" sz="1600" b="1" i="1" dirty="0" smtClean="0">
              <a:solidFill>
                <a:srgbClr val="FF0000"/>
              </a:solidFill>
              <a:latin typeface="Arial"/>
            </a:endParaRPr>
          </a:p>
          <a:p>
            <a:pPr marL="457200" indent="-457200">
              <a:lnSpc>
                <a:spcPct val="85000"/>
              </a:lnSpc>
              <a:spcBef>
                <a:spcPts val="0"/>
              </a:spcBef>
              <a:buClrTx/>
              <a:buSzPct val="100000"/>
              <a:buFont typeface="Noto Sans Symbols"/>
              <a:buChar char="⮚"/>
              <a:defRPr/>
            </a:pPr>
            <a:r>
              <a:rPr lang="en-US" sz="1600" b="1" i="1" dirty="0" smtClean="0">
                <a:solidFill>
                  <a:srgbClr val="FF0000"/>
                </a:solidFill>
                <a:latin typeface="Arial"/>
              </a:rPr>
              <a:t>Example LC-S: </a:t>
            </a:r>
            <a:r>
              <a:rPr lang="en-US" sz="1600" b="1" i="1" dirty="0">
                <a:solidFill>
                  <a:srgbClr val="FF0000"/>
                </a:solidFill>
                <a:latin typeface="Arial"/>
              </a:rPr>
              <a:t>The </a:t>
            </a:r>
            <a:r>
              <a:rPr lang="en-US" sz="1600" b="1" i="1" dirty="0" smtClean="0">
                <a:solidFill>
                  <a:srgbClr val="FF0000"/>
                </a:solidFill>
                <a:latin typeface="Arial"/>
              </a:rPr>
              <a:t>Evaluation Program did not include an audit process (a standard) to check the tracking and implementation of </a:t>
            </a:r>
            <a:r>
              <a:rPr lang="en-US" sz="1600" b="1" i="1" dirty="0">
                <a:solidFill>
                  <a:srgbClr val="FF0000"/>
                </a:solidFill>
                <a:latin typeface="Arial"/>
              </a:rPr>
              <a:t>corrective </a:t>
            </a:r>
            <a:r>
              <a:rPr lang="en-US" sz="1600" b="1" i="1" dirty="0" smtClean="0">
                <a:solidFill>
                  <a:srgbClr val="FF0000"/>
                </a:solidFill>
                <a:latin typeface="Arial"/>
              </a:rPr>
              <a:t>actions as discovered in third-party audits</a:t>
            </a:r>
            <a:r>
              <a:rPr lang="en-CA" sz="1600" b="1" i="1" dirty="0" smtClean="0">
                <a:solidFill>
                  <a:srgbClr val="FF0000"/>
                </a:solidFill>
                <a:latin typeface="Arial"/>
              </a:rPr>
              <a:t>.</a:t>
            </a:r>
            <a:endParaRPr lang="en-CA" sz="1600" b="1" i="1" dirty="0">
              <a:solidFill>
                <a:srgbClr val="FF0000"/>
              </a:solidFill>
              <a:latin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#6) Program Evaluation and Continuous Improvement: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366608697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CCCC">
              <a:alpha val="69804"/>
            </a:srgbClr>
          </a:solidFill>
          <a:ln w="9525">
            <a:solidFill>
              <a:schemeClr val="tx1"/>
            </a:solidFill>
            <a:miter lim="800000"/>
            <a:headEnd/>
            <a:tailEnd/>
          </a:ln>
        </p:spPr>
        <p:txBody>
          <a:bodyPr/>
          <a:lstStyle/>
          <a:p>
            <a:pPr eaLnBrk="0" fontAlgn="base" hangingPunct="0">
              <a:lnSpc>
                <a:spcPct val="85000"/>
              </a:lnSpc>
              <a:buClrTx/>
              <a:buSzPct val="100000"/>
            </a:pPr>
            <a:r>
              <a:rPr lang="en-US" altLang="en-US" sz="1600" b="1" kern="1200" dirty="0">
                <a:latin typeface="Arial" panose="020B0604020202020204" pitchFamily="34" charset="0"/>
                <a:ea typeface="ＭＳ Ｐゴシック" panose="020B0600070205080204" pitchFamily="34" charset="-128"/>
                <a:cs typeface="Arial" panose="020B0604020202020204" pitchFamily="34" charset="0"/>
              </a:rPr>
              <a:t>Auditing can be easily confused with </a:t>
            </a:r>
            <a:r>
              <a:rPr lang="en-US" altLang="en-US" sz="1600" b="1" u="sng" kern="1200" dirty="0">
                <a:latin typeface="Arial" panose="020B0604020202020204" pitchFamily="34" charset="0"/>
                <a:ea typeface="ＭＳ Ｐゴシック" panose="020B0600070205080204" pitchFamily="34" charset="-128"/>
                <a:cs typeface="Arial" panose="020B0604020202020204" pitchFamily="34" charset="0"/>
              </a:rPr>
              <a:t>monitoring</a:t>
            </a:r>
            <a:r>
              <a:rPr lang="en-US" altLang="en-US" sz="1600" b="1" kern="1200" dirty="0">
                <a:latin typeface="Arial" panose="020B0604020202020204" pitchFamily="34" charset="0"/>
                <a:ea typeface="ＭＳ Ｐゴシック" panose="020B0600070205080204" pitchFamily="34" charset="-128"/>
                <a:cs typeface="Arial" panose="020B0604020202020204" pitchFamily="34" charset="0"/>
              </a:rPr>
              <a:t>, </a:t>
            </a:r>
            <a:r>
              <a:rPr lang="en-US" altLang="en-US" sz="1600" b="1" u="sng" kern="1200" dirty="0">
                <a:latin typeface="Arial" panose="020B0604020202020204" pitchFamily="34" charset="0"/>
                <a:ea typeface="ＭＳ Ｐゴシック" panose="020B0600070205080204" pitchFamily="34" charset="-128"/>
                <a:cs typeface="Arial" panose="020B0604020202020204" pitchFamily="34" charset="0"/>
              </a:rPr>
              <a:t>investigating</a:t>
            </a:r>
            <a:r>
              <a:rPr lang="en-US" altLang="en-US" sz="1600" b="1" kern="1200" dirty="0">
                <a:latin typeface="Arial" panose="020B0604020202020204" pitchFamily="34" charset="0"/>
                <a:ea typeface="ＭＳ Ｐゴシック" panose="020B0600070205080204" pitchFamily="34" charset="-128"/>
                <a:cs typeface="Arial" panose="020B0604020202020204" pitchFamily="34" charset="0"/>
              </a:rPr>
              <a:t>, and </a:t>
            </a:r>
            <a:r>
              <a:rPr lang="en-US" altLang="en-US" sz="1600" b="1" u="sng" kern="1200" dirty="0">
                <a:latin typeface="Arial" panose="020B0604020202020204" pitchFamily="34" charset="0"/>
                <a:ea typeface="ＭＳ Ｐゴシック" panose="020B0600070205080204" pitchFamily="34" charset="-128"/>
                <a:cs typeface="Arial" panose="020B0604020202020204" pitchFamily="34" charset="0"/>
              </a:rPr>
              <a:t>inspecting</a:t>
            </a:r>
            <a:r>
              <a:rPr lang="en-US" altLang="en-US" sz="1600" b="1" kern="1200" dirty="0">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fontAlgn="base" hangingPunct="0">
              <a:lnSpc>
                <a:spcPct val="85000"/>
              </a:lnSpc>
              <a:buClrTx/>
              <a:buSzPct val="100000"/>
              <a:buFont typeface="Wingdings" panose="05000000000000000000" pitchFamily="2" charset="2"/>
              <a:buChar char="Ø"/>
            </a:pPr>
            <a:endParaRPr lang="en-US" altLang="en-US" sz="1600" kern="1200" dirty="0">
              <a:latin typeface="Arial" panose="020B0604020202020204" pitchFamily="34" charset="0"/>
              <a:ea typeface="ＭＳ Ｐゴシック" panose="020B0600070205080204" pitchFamily="34" charset="-128"/>
              <a:cs typeface="Arial" panose="020B0604020202020204" pitchFamily="34" charset="0"/>
            </a:endParaRPr>
          </a:p>
          <a:p>
            <a:pPr eaLnBrk="0" fontAlgn="base" hangingPunct="0">
              <a:lnSpc>
                <a:spcPct val="85000"/>
              </a:lnSpc>
              <a:buClrTx/>
              <a:buSzPct val="100000"/>
            </a:pPr>
            <a:r>
              <a:rPr lang="en-US" altLang="en-US" sz="1600" b="1" kern="1200" dirty="0" smtClean="0">
                <a:latin typeface="Arial" panose="020B0604020202020204" pitchFamily="34" charset="0"/>
                <a:ea typeface="ＭＳ Ｐゴシック" panose="020B0600070205080204" pitchFamily="34" charset="-128"/>
                <a:cs typeface="Arial" panose="020B0604020202020204" pitchFamily="34" charset="0"/>
              </a:rPr>
              <a:t>RME </a:t>
            </a:r>
            <a:r>
              <a:rPr lang="en-US" altLang="en-US" sz="1600" b="1" kern="1200" dirty="0">
                <a:latin typeface="Arial" panose="020B0604020202020204" pitchFamily="34" charset="0"/>
                <a:ea typeface="ＭＳ Ｐゴシック" panose="020B0600070205080204" pitchFamily="34" charset="-128"/>
                <a:cs typeface="Arial" panose="020B0604020202020204" pitchFamily="34" charset="0"/>
              </a:rPr>
              <a:t>#6 </a:t>
            </a:r>
            <a:r>
              <a:rPr lang="en-US" altLang="en-US" sz="1600" b="1" kern="1200" dirty="0" smtClean="0">
                <a:latin typeface="Arial" panose="020B0604020202020204" pitchFamily="34" charset="0"/>
                <a:ea typeface="ＭＳ Ｐゴシック" panose="020B0600070205080204" pitchFamily="34" charset="-128"/>
                <a:cs typeface="Arial" panose="020B0604020202020204" pitchFamily="34" charset="0"/>
              </a:rPr>
              <a:t>PECI IS about auditing to see how effective your:</a:t>
            </a:r>
            <a:endParaRPr lang="en-CA" altLang="en-US" sz="1600" b="1"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85000"/>
              </a:lnSpc>
              <a:buClrTx/>
              <a:buSzPct val="100000"/>
              <a:buFont typeface="Wingdings" panose="05000000000000000000" pitchFamily="2" charset="2"/>
              <a:buChar char="Ø"/>
            </a:pPr>
            <a:r>
              <a:rPr lang="en-US" sz="1600" b="1" u="sng" kern="1200" dirty="0" smtClean="0">
                <a:latin typeface="Arial" panose="020B0604020202020204" pitchFamily="34" charset="0"/>
                <a:ea typeface="ＭＳ Ｐゴシック" panose="020B0600070205080204" pitchFamily="34" charset="-128"/>
                <a:cs typeface="Arial" panose="020B0604020202020204" pitchFamily="34" charset="0"/>
              </a:rPr>
              <a:t>Safety Program</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is actually doing what is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intended; in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other words,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a:t>
            </a:r>
            <a:r>
              <a:rPr lang="en-US" sz="1600" kern="1200" dirty="0">
                <a:latin typeface="Arial" panose="020B0604020202020204" pitchFamily="34" charset="0"/>
                <a:ea typeface="ＭＳ Ｐゴシック" panose="020B0600070205080204" pitchFamily="34" charset="-128"/>
                <a:cs typeface="Arial" panose="020B0604020202020204" pitchFamily="34" charset="0"/>
              </a:rPr>
              <a:t>A</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re you (Management) actually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measuring and tracking the leading indicators,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reviewing on a routine and scheduled basis, and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taking appropriate actions in response to those leading indicators</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fontAlgn="base" hangingPunct="0">
              <a:lnSpc>
                <a:spcPct val="85000"/>
              </a:lnSpc>
              <a:buClrTx/>
              <a:buSzPct val="100000"/>
              <a:buFont typeface="Wingdings" panose="05000000000000000000" pitchFamily="2" charset="2"/>
              <a:buChar char="Ø"/>
            </a:pPr>
            <a:r>
              <a:rPr lang="en-US" sz="1600" b="1" u="sng" kern="1200" dirty="0" smtClean="0">
                <a:latin typeface="Arial" panose="020B0604020202020204" pitchFamily="34" charset="0"/>
                <a:ea typeface="ＭＳ Ｐゴシック" panose="020B0600070205080204" pitchFamily="34" charset="-128"/>
                <a:cs typeface="Arial" panose="020B0604020202020204" pitchFamily="34" charset="0"/>
              </a:rPr>
              <a:t>Investigations And The Management Of Actions Program</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 is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actually doing what is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intended; in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other words,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“Are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your investigations being done correctly and thoroughly, and have any actions been effectively implemented?”</a:t>
            </a:r>
          </a:p>
          <a:p>
            <a:pPr marL="360000" indent="-360000" eaLnBrk="0" fontAlgn="base" hangingPunct="0">
              <a:lnSpc>
                <a:spcPct val="85000"/>
              </a:lnSpc>
              <a:buClrTx/>
              <a:buSzPct val="100000"/>
              <a:buFont typeface="Wingdings" panose="05000000000000000000" pitchFamily="2" charset="2"/>
              <a:buChar char="Ø"/>
            </a:pPr>
            <a:r>
              <a:rPr lang="en-US" sz="1600" b="1" u="sng" kern="1200" dirty="0" smtClean="0">
                <a:latin typeface="Arial" panose="020B0604020202020204" pitchFamily="34" charset="0"/>
                <a:ea typeface="ＭＳ Ｐゴシック" panose="020B0600070205080204" pitchFamily="34" charset="-128"/>
                <a:cs typeface="Arial" panose="020B0604020202020204" pitchFamily="34" charset="0"/>
              </a:rPr>
              <a:t>Construction Program</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 is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actually doing what is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intended; in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other words,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“Are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your inspections being done correctly and thoroughly, and have any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installation deviations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from design been corrected</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fontAlgn="base" hangingPunct="0">
              <a:lnSpc>
                <a:spcPct val="85000"/>
              </a:lnSpc>
              <a:buClrTx/>
              <a:buSzPct val="100000"/>
              <a:buFont typeface="Wingdings" panose="05000000000000000000" pitchFamily="2" charset="2"/>
              <a:buChar char="Ø"/>
            </a:pPr>
            <a:r>
              <a:rPr lang="en-US" sz="1600" b="1" u="sng" kern="1200" dirty="0" smtClean="0">
                <a:latin typeface="Arial" panose="020B0604020202020204" pitchFamily="34" charset="0"/>
                <a:ea typeface="ＭＳ Ｐゴシック" panose="020B0600070205080204" pitchFamily="34" charset="-128"/>
                <a:cs typeface="Arial" panose="020B0604020202020204" pitchFamily="34" charset="0"/>
              </a:rPr>
              <a:t>Maintenance Program</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 is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actually doing what is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intended; in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other words,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“Are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your inspections being done correctly and thoroughly, and have any repair/maintenance deviations from manufacturer's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specifications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been corrected?”</a:t>
            </a:r>
          </a:p>
          <a:p>
            <a:pPr marL="360000" indent="-360000" eaLnBrk="0" fontAlgn="base" hangingPunct="0">
              <a:lnSpc>
                <a:spcPct val="85000"/>
              </a:lnSpc>
              <a:buClrTx/>
              <a:buSzPct val="100000"/>
              <a:buFont typeface="Wingdings" panose="05000000000000000000" pitchFamily="2" charset="2"/>
              <a:buChar char="Ø"/>
            </a:pPr>
            <a:endParaRPr lang="en-US" sz="1600"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85000"/>
              </a:lnSpc>
              <a:buClrTx/>
              <a:buSzPct val="100000"/>
              <a:buFont typeface="Wingdings" panose="05000000000000000000" pitchFamily="2" charset="2"/>
              <a:buChar char="Ø"/>
            </a:pP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Such questions are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part of the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Evaluation Program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with intent for continuous improvement of the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Technical Safety Program,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the Investigations and the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Management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of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Actions program</a:t>
            </a:r>
            <a:r>
              <a:rPr lang="en-US" sz="1600" kern="1200" dirty="0">
                <a:latin typeface="Arial" panose="020B0604020202020204" pitchFamily="34" charset="0"/>
                <a:ea typeface="ＭＳ Ｐゴシック" panose="020B0600070205080204" pitchFamily="34" charset="-128"/>
                <a:cs typeface="Arial" panose="020B0604020202020204" pitchFamily="34" charset="0"/>
              </a:rPr>
              <a:t>,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the Construction program, and </a:t>
            </a:r>
            <a:r>
              <a:rPr lang="en-US" sz="1600" kern="1200" dirty="0">
                <a:latin typeface="Arial" panose="020B0604020202020204" pitchFamily="34" charset="0"/>
                <a:ea typeface="ＭＳ Ｐゴシック" panose="020B0600070205080204" pitchFamily="34" charset="-128"/>
                <a:cs typeface="Arial" panose="020B0604020202020204" pitchFamily="34" charset="0"/>
              </a:rPr>
              <a:t>the Maintenance </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program, respectively. </a:t>
            </a:r>
          </a:p>
          <a:p>
            <a:pPr marL="360000" indent="-360000" eaLnBrk="0" fontAlgn="base" hangingPunct="0">
              <a:lnSpc>
                <a:spcPct val="85000"/>
              </a:lnSpc>
              <a:buClrTx/>
              <a:buSzPct val="100000"/>
              <a:buFont typeface="Wingdings" panose="05000000000000000000" pitchFamily="2" charset="2"/>
              <a:buChar char="Ø"/>
            </a:pPr>
            <a:endParaRPr lang="en-US" sz="1600" kern="120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85000"/>
              </a:lnSpc>
              <a:buClrTx/>
              <a:buSzPct val="100000"/>
              <a:buFont typeface="Wingdings" panose="05000000000000000000" pitchFamily="2" charset="2"/>
              <a:buChar char="Ø"/>
            </a:pP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These are but some of the examples to signify the purpose of </a:t>
            </a:r>
            <a:r>
              <a:rPr lang="en-US" sz="1600" b="1" kern="1200" dirty="0" smtClean="0">
                <a:latin typeface="Arial" panose="020B0604020202020204" pitchFamily="34" charset="0"/>
                <a:ea typeface="ＭＳ Ｐゴシック" panose="020B0600070205080204" pitchFamily="34" charset="-128"/>
                <a:cs typeface="Arial" panose="020B0604020202020204" pitchFamily="34" charset="0"/>
              </a:rPr>
              <a:t>RME#6 PECI</a:t>
            </a:r>
            <a:r>
              <a:rPr lang="en-US" sz="1600" kern="1200" dirty="0" smtClean="0">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fontAlgn="base" hangingPunct="0">
              <a:lnSpc>
                <a:spcPct val="85000"/>
              </a:lnSpc>
              <a:buClrTx/>
              <a:buSzPct val="100000"/>
              <a:buFont typeface="Wingdings" panose="05000000000000000000" pitchFamily="2" charset="2"/>
              <a:buChar char="Ø"/>
            </a:pPr>
            <a:endParaRPr lang="en-US" sz="1600" kern="1200" dirty="0">
              <a:latin typeface="Arial" panose="020B0604020202020204" pitchFamily="34" charset="0"/>
              <a:ea typeface="ＭＳ Ｐゴシック" panose="020B0600070205080204" pitchFamily="34" charset="-128"/>
              <a:cs typeface="Arial" panose="020B0604020202020204" pitchFamily="34" charset="0"/>
            </a:endParaRPr>
          </a:p>
          <a:p>
            <a:pPr eaLnBrk="0" fontAlgn="base" hangingPunct="0">
              <a:lnSpc>
                <a:spcPct val="85000"/>
              </a:lnSpc>
              <a:buClrTx/>
              <a:buSzPct val="100000"/>
            </a:pPr>
            <a:r>
              <a:rPr lang="en-US" sz="1600" i="1" kern="1200" dirty="0" smtClean="0">
                <a:latin typeface="Arial" panose="020B0604020202020204" pitchFamily="34" charset="0"/>
                <a:ea typeface="ＭＳ Ｐゴシック" panose="020B0600070205080204" pitchFamily="34" charset="-128"/>
                <a:cs typeface="Arial" panose="020B0604020202020204" pitchFamily="34" charset="0"/>
              </a:rPr>
              <a:t>More content will be presented about RME #6 PECI in a later topic. </a:t>
            </a:r>
            <a:endParaRPr lang="en-CA" sz="1600" i="1" kern="1200"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#6) Program Evaluation and Continuous Improvement: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400747559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Links project planning, project management, and project execution (from the conceptual stage to the hand over and start-up stage) with appropriate risk assessment reviews (RME #2)</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Is risk management </a:t>
            </a:r>
            <a:r>
              <a:rPr kumimoji="0" lang="en-CA" altLang="en-US" sz="14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designed</a:t>
            </a: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into the engineered system? </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Is risk management </a:t>
            </a:r>
            <a:r>
              <a:rPr kumimoji="0" lang="en-CA" altLang="en-US" sz="14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built</a:t>
            </a: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into the engineered system? Are the control measures </a:t>
            </a:r>
            <a:r>
              <a:rPr kumimoji="0" lang="en-CA" altLang="en-US" sz="14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confirmed</a:t>
            </a:r>
            <a:r>
              <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effective during commissioning and start-up?</a:t>
            </a:r>
          </a:p>
          <a:p>
            <a:pPr marL="0" marR="0" lvl="0" indent="0" algn="l" defTabSz="914400" rtl="0" eaLnBrk="0" fontAlgn="base" latinLnBrk="0" hangingPunct="0">
              <a:lnSpc>
                <a:spcPct val="90000"/>
              </a:lnSpc>
              <a:spcBef>
                <a:spcPts val="0"/>
              </a:spcBef>
              <a:buClrTx/>
              <a:buSzPct val="100000"/>
              <a:buNone/>
              <a:tabLst/>
              <a:defRPr/>
            </a:pPr>
            <a:endPar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90000"/>
              </a:lnSpc>
              <a:spcBef>
                <a:spcPts val="0"/>
              </a:spcBef>
              <a:buClr>
                <a:srgbClr val="000000"/>
              </a:buClr>
              <a:buSzPts val="1800"/>
              <a:buFont typeface="Arial"/>
              <a:buNone/>
              <a:tabLst/>
              <a:defRPr/>
            </a:pPr>
            <a:r>
              <a:rPr kumimoji="0" lang="en-CA" sz="1400" b="0" i="1" u="none" strike="noStrike" kern="0" cap="none" spc="0" normalizeH="0" baseline="0" noProof="0" dirty="0">
                <a:ln>
                  <a:noFill/>
                </a:ln>
                <a:solidFill>
                  <a:srgbClr val="000000"/>
                </a:solidFill>
                <a:effectLst/>
                <a:uLnTx/>
                <a:uFillTx/>
                <a:latin typeface="Arial"/>
                <a:sym typeface="Arial"/>
              </a:rPr>
              <a:t>Example: A wheeled cart containing heavy equipment tipped over and injured a worker. The cart tipped over because the caster wheels on the cart were too small. The engineer who designed the cart chose inappropriately sized casters for the height and weight of the cart because she didn’t use the available design standard when choosing the casters for heavy loads.</a:t>
            </a:r>
          </a:p>
          <a:p>
            <a:pPr marL="457200" marR="0" lvl="0" indent="-457200" algn="l" defTabSz="914400" rtl="0" eaLnBrk="1" fontAlgn="auto" latinLnBrk="0" hangingPunct="1">
              <a:lnSpc>
                <a:spcPct val="90000"/>
              </a:lnSpc>
              <a:spcBef>
                <a:spcPts val="0"/>
              </a:spcBef>
              <a:buClr>
                <a:srgbClr val="000000"/>
              </a:buClr>
              <a:buSzPts val="1800"/>
              <a:buFont typeface="Noto Sans Symbols"/>
              <a:buNone/>
              <a:tabLst/>
              <a:defRPr/>
            </a:pPr>
            <a:endParaRPr kumimoji="0" lang="en-CA" sz="1400" b="1" i="1" u="none" strike="noStrike" kern="0" cap="none" spc="0" normalizeH="0" baseline="0" noProof="0" dirty="0">
              <a:ln>
                <a:noFill/>
              </a:ln>
              <a:solidFill>
                <a:srgbClr val="000099"/>
              </a:solidFill>
              <a:effectLst/>
              <a:uLnTx/>
              <a:uFillTx/>
              <a:latin typeface="Arial"/>
              <a:sym typeface="Arial"/>
            </a:endParaRPr>
          </a:p>
          <a:p>
            <a:pPr marL="457200" marR="0" lvl="0" indent="-457200" algn="l" defTabSz="914400" rtl="0" eaLnBrk="1" fontAlgn="auto" latinLnBrk="0" hangingPunct="1">
              <a:lnSpc>
                <a:spcPct val="90000"/>
              </a:lnSpc>
              <a:spcBef>
                <a:spcPts val="0"/>
              </a:spcBef>
              <a:buClr>
                <a:srgbClr val="000000"/>
              </a:buClr>
              <a:buSzPts val="1800"/>
              <a:buFont typeface="Noto Sans Symbols"/>
              <a:buNone/>
              <a:tabLst/>
              <a:defRPr/>
            </a:pPr>
            <a:r>
              <a:rPr kumimoji="0" lang="en-CA" sz="1400" b="1" i="1" u="none" strike="noStrike" kern="0" cap="none" spc="0" normalizeH="0" baseline="0" noProof="0" dirty="0">
                <a:ln>
                  <a:noFill/>
                </a:ln>
                <a:solidFill>
                  <a:srgbClr val="000099"/>
                </a:solidFill>
                <a:effectLst/>
                <a:uLnTx/>
                <a:uFillTx/>
                <a:latin typeface="Arial"/>
                <a:sym typeface="Arial"/>
              </a:rPr>
              <a:t>So What Does This Mean for your team project??</a:t>
            </a:r>
          </a:p>
          <a:p>
            <a:pPr marL="457200" marR="0" lvl="0" indent="-457200" algn="l" defTabSz="914400" rtl="0" eaLnBrk="1" fontAlgn="auto" latinLnBrk="0" hangingPunct="1">
              <a:lnSpc>
                <a:spcPct val="90000"/>
              </a:lnSpc>
              <a:spcBef>
                <a:spcPts val="0"/>
              </a:spcBef>
              <a:buClrTx/>
              <a:buSzPct val="100000"/>
              <a:buFont typeface="Noto Sans Symbols"/>
              <a:buChar char="⮚"/>
              <a:tabLst/>
              <a:defRPr/>
            </a:pPr>
            <a:r>
              <a:rPr kumimoji="0" lang="en-CA" sz="1400" b="1" i="1" u="none" strike="noStrike" kern="0" cap="none" spc="0" normalizeH="0" baseline="0" noProof="0" dirty="0">
                <a:ln>
                  <a:noFill/>
                </a:ln>
                <a:solidFill>
                  <a:srgbClr val="000099"/>
                </a:solidFill>
                <a:effectLst/>
                <a:uLnTx/>
                <a:uFillTx/>
                <a:latin typeface="Arial"/>
                <a:sym typeface="Arial"/>
              </a:rPr>
              <a:t>Were there design components that needed a risk assessment? </a:t>
            </a:r>
            <a:endParaRPr kumimoji="0" lang="en-CA" sz="1400" b="0" i="0"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90000"/>
              </a:lnSpc>
              <a:spcBef>
                <a:spcPts val="0"/>
              </a:spcBef>
              <a:buClrTx/>
              <a:buSzPct val="100000"/>
              <a:buFont typeface="Noto Sans Symbols"/>
              <a:buChar char="⮚"/>
              <a:tabLst/>
              <a:defRPr/>
            </a:pPr>
            <a:r>
              <a:rPr kumimoji="0" lang="en-CA" sz="1400" b="1" i="1" u="none" strike="noStrike" kern="0" cap="none" spc="0" normalizeH="0" baseline="0" noProof="0" dirty="0">
                <a:ln>
                  <a:noFill/>
                </a:ln>
                <a:solidFill>
                  <a:srgbClr val="000099"/>
                </a:solidFill>
                <a:effectLst/>
                <a:uLnTx/>
                <a:uFillTx/>
                <a:latin typeface="Arial"/>
                <a:sym typeface="Arial"/>
              </a:rPr>
              <a:t>Did the engineer recognize that certain aspects of the design needed a risk assessment or needed a more in-depth RA? </a:t>
            </a:r>
          </a:p>
          <a:p>
            <a:pPr marL="457200" indent="-457200">
              <a:lnSpc>
                <a:spcPct val="90000"/>
              </a:lnSpc>
              <a:spcBef>
                <a:spcPts val="0"/>
              </a:spcBef>
              <a:buClrTx/>
              <a:buSzPct val="100000"/>
              <a:buFont typeface="Noto Sans Symbols"/>
              <a:buChar char="⮚"/>
              <a:defRPr/>
            </a:pPr>
            <a:r>
              <a:rPr kumimoji="0" lang="en-CA" sz="1400" b="1" i="1" u="none" strike="noStrike" kern="0" cap="none" spc="0" normalizeH="0" baseline="0" noProof="0" dirty="0">
                <a:ln>
                  <a:noFill/>
                </a:ln>
                <a:solidFill>
                  <a:srgbClr val="000099"/>
                </a:solidFill>
                <a:effectLst/>
                <a:uLnTx/>
                <a:uFillTx/>
                <a:latin typeface="Arial"/>
                <a:sym typeface="Arial"/>
              </a:rPr>
              <a:t>LCs GW: a design program, a construction program, or a start-up program</a:t>
            </a:r>
            <a:r>
              <a:rPr kumimoji="0" lang="en-CA" sz="1400" b="1" i="1" u="none" strike="noStrike" kern="0" cap="none" spc="0" normalizeH="0" baseline="0" noProof="0" dirty="0" smtClean="0">
                <a:ln>
                  <a:noFill/>
                </a:ln>
                <a:solidFill>
                  <a:srgbClr val="000099"/>
                </a:solidFill>
                <a:effectLst/>
                <a:uLnTx/>
                <a:uFillTx/>
                <a:latin typeface="Arial"/>
                <a:sym typeface="Arial"/>
              </a:rPr>
              <a:t>.</a:t>
            </a:r>
            <a:endParaRPr lang="en-CA" sz="1400" b="1" i="1" dirty="0">
              <a:solidFill>
                <a:srgbClr val="000099"/>
              </a:solidFill>
              <a:latin typeface="Arial"/>
            </a:endParaRPr>
          </a:p>
          <a:p>
            <a:pPr marL="457200" indent="-457200">
              <a:lnSpc>
                <a:spcPct val="90000"/>
              </a:lnSpc>
              <a:spcBef>
                <a:spcPts val="0"/>
              </a:spcBef>
              <a:buClrTx/>
              <a:buSzPct val="100000"/>
              <a:buFont typeface="Noto Sans Symbols"/>
              <a:buChar char="⮚"/>
              <a:defRPr/>
            </a:pPr>
            <a:endParaRPr lang="en-US" sz="1400" b="1" i="1" dirty="0" smtClean="0">
              <a:solidFill>
                <a:srgbClr val="FF0000"/>
              </a:solidFill>
              <a:latin typeface="Arial"/>
            </a:endParaRPr>
          </a:p>
          <a:p>
            <a:pPr marL="457200" indent="-457200">
              <a:lnSpc>
                <a:spcPct val="90000"/>
              </a:lnSpc>
              <a:spcBef>
                <a:spcPts val="0"/>
              </a:spcBef>
              <a:buClrTx/>
              <a:buSzPct val="100000"/>
              <a:buFont typeface="Noto Sans Symbols"/>
              <a:buChar char="⮚"/>
              <a:defRPr/>
            </a:pPr>
            <a:r>
              <a:rPr lang="en-US" sz="1400" b="1" i="1" dirty="0">
                <a:solidFill>
                  <a:srgbClr val="FF0000"/>
                </a:solidFill>
                <a:latin typeface="Arial"/>
              </a:rPr>
              <a:t>Example LC-C: The designer did not comply with the design standards for sizing and selecting caster wheels as documented in the equipment design program.</a:t>
            </a:r>
          </a:p>
          <a:p>
            <a:pPr marL="457200" lvl="0" indent="-457200">
              <a:lnSpc>
                <a:spcPct val="90000"/>
              </a:lnSpc>
              <a:spcBef>
                <a:spcPts val="0"/>
              </a:spcBef>
              <a:buClrTx/>
              <a:buSzPct val="100000"/>
              <a:buFont typeface="Noto Sans Symbols"/>
              <a:buChar char="⮚"/>
              <a:defRPr/>
            </a:pPr>
            <a:r>
              <a:rPr lang="en-US" sz="1400" b="1" i="1" dirty="0">
                <a:solidFill>
                  <a:srgbClr val="000000"/>
                </a:solidFill>
                <a:latin typeface="Arial"/>
              </a:rPr>
              <a:t>An improvement on the previous example: </a:t>
            </a:r>
            <a:r>
              <a:rPr lang="en-US" sz="1400" b="1" i="1" dirty="0" smtClean="0">
                <a:solidFill>
                  <a:srgbClr val="FF0000"/>
                </a:solidFill>
                <a:latin typeface="Arial"/>
              </a:rPr>
              <a:t>LC-C: </a:t>
            </a:r>
            <a:r>
              <a:rPr lang="en-US" sz="1400" b="1" i="1" dirty="0">
                <a:solidFill>
                  <a:srgbClr val="FF0000"/>
                </a:solidFill>
                <a:latin typeface="Arial"/>
              </a:rPr>
              <a:t>The requirements of the design standards for sizing and selecting caster wheels as documented in the equipment design program were not met.</a:t>
            </a:r>
          </a:p>
          <a:p>
            <a:pPr marL="457200" indent="-457200">
              <a:lnSpc>
                <a:spcPct val="90000"/>
              </a:lnSpc>
              <a:spcBef>
                <a:spcPts val="0"/>
              </a:spcBef>
              <a:buClrTx/>
              <a:buSzPct val="100000"/>
              <a:buFont typeface="Noto Sans Symbols"/>
              <a:buChar char="⮚"/>
              <a:defRPr/>
            </a:pPr>
            <a:endParaRPr lang="en-US" sz="1400" b="1" i="1" dirty="0" smtClean="0">
              <a:solidFill>
                <a:srgbClr val="FF0000"/>
              </a:solidFill>
              <a:latin typeface="Arial"/>
            </a:endParaRPr>
          </a:p>
          <a:p>
            <a:pPr marL="457200" indent="-457200">
              <a:lnSpc>
                <a:spcPct val="90000"/>
              </a:lnSpc>
              <a:spcBef>
                <a:spcPts val="0"/>
              </a:spcBef>
              <a:buClrTx/>
              <a:buSzPct val="100000"/>
              <a:buFont typeface="Noto Sans Symbols"/>
              <a:buChar char="⮚"/>
              <a:defRPr/>
            </a:pPr>
            <a:r>
              <a:rPr lang="en-US" sz="1400" b="1" i="1" dirty="0" smtClean="0">
                <a:solidFill>
                  <a:srgbClr val="FF0000"/>
                </a:solidFill>
                <a:latin typeface="Arial"/>
              </a:rPr>
              <a:t>Example LC-S: </a:t>
            </a:r>
            <a:r>
              <a:rPr lang="en-US" sz="1400" b="1" i="1" dirty="0">
                <a:solidFill>
                  <a:srgbClr val="FF0000"/>
                </a:solidFill>
                <a:latin typeface="Arial"/>
              </a:rPr>
              <a:t>The design program </a:t>
            </a:r>
            <a:r>
              <a:rPr lang="en-US" sz="1400" b="1" i="1" dirty="0" smtClean="0">
                <a:solidFill>
                  <a:srgbClr val="FF0000"/>
                </a:solidFill>
                <a:latin typeface="Arial"/>
              </a:rPr>
              <a:t>did not include a standard to assign roles and responsibilities for senior </a:t>
            </a:r>
            <a:r>
              <a:rPr lang="en-US" sz="1400" b="1" i="1" dirty="0">
                <a:solidFill>
                  <a:srgbClr val="FF0000"/>
                </a:solidFill>
                <a:latin typeface="Arial"/>
              </a:rPr>
              <a:t>oversight of a junior’s use of standards for cart </a:t>
            </a:r>
            <a:r>
              <a:rPr lang="en-US" sz="1400" b="1" i="1" dirty="0" smtClean="0">
                <a:solidFill>
                  <a:srgbClr val="FF0000"/>
                </a:solidFill>
                <a:latin typeface="Arial"/>
              </a:rPr>
              <a:t>design.</a:t>
            </a:r>
          </a:p>
          <a:p>
            <a:pPr marL="457200" indent="-457200">
              <a:lnSpc>
                <a:spcPct val="90000"/>
              </a:lnSpc>
              <a:spcBef>
                <a:spcPts val="0"/>
              </a:spcBef>
              <a:buClr>
                <a:srgbClr val="000000"/>
              </a:buClr>
              <a:buSzPts val="1800"/>
              <a:buFont typeface="Noto Sans Symbols"/>
              <a:buChar char="⮚"/>
              <a:defRPr/>
            </a:pPr>
            <a:endParaRPr lang="en-US" sz="1400" b="1" i="1" dirty="0">
              <a:solidFill>
                <a:srgbClr val="FF0000"/>
              </a:solidFill>
              <a:latin typeface="Arial"/>
            </a:endParaRPr>
          </a:p>
          <a:p>
            <a:pPr marL="457200" indent="-457200">
              <a:lnSpc>
                <a:spcPct val="90000"/>
              </a:lnSpc>
              <a:spcBef>
                <a:spcPts val="0"/>
              </a:spcBef>
              <a:buClr>
                <a:srgbClr val="000000"/>
              </a:buClr>
              <a:buSzPts val="1800"/>
              <a:buFont typeface="Noto Sans Symbols"/>
              <a:buChar char="⮚"/>
              <a:defRPr/>
            </a:pPr>
            <a:endParaRPr lang="en-CA" sz="1400" b="1" i="1" dirty="0">
              <a:solidFill>
                <a:srgbClr val="000099"/>
              </a:solidFill>
              <a:latin typeface="Arial"/>
            </a:endParaRPr>
          </a:p>
          <a:p>
            <a:pPr marL="0" marR="0" lvl="0" indent="0" algn="l" defTabSz="914400" rtl="0" eaLnBrk="0" fontAlgn="base" latinLnBrk="0" hangingPunct="0">
              <a:lnSpc>
                <a:spcPct val="90000"/>
              </a:lnSpc>
              <a:spcBef>
                <a:spcPts val="0"/>
              </a:spcBef>
              <a:buClrTx/>
              <a:buSzPct val="100000"/>
              <a:buNone/>
              <a:tabLst/>
              <a:defRPr/>
            </a:pPr>
            <a:endParaRPr kumimoji="0" lang="en-CA"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#7) Design, Construction, and Start-up:</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130275029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Encompasses </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the establishment of criteria for operating and maintaining the facility, and all related activities.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Facilities must be operated and maintained within established criteria i.e. “The Maintenance Manual”, “The Operating Manual”</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The monitoring, recording, and the analysis of records will reveal deteriorating or deviating conditions that need to be addressed; thus proactively preventing an incident. </a:t>
            </a:r>
          </a:p>
          <a:p>
            <a:pPr marL="457200" marR="0" lvl="0" indent="-457200" algn="l" defTabSz="914400" rtl="0" eaLnBrk="1" fontAlgn="auto" latinLnBrk="0" hangingPunct="1">
              <a:lnSpc>
                <a:spcPct val="90000"/>
              </a:lnSpc>
              <a:spcBef>
                <a:spcPts val="0"/>
              </a:spcBef>
              <a:spcAft>
                <a:spcPts val="0"/>
              </a:spcAft>
              <a:buClr>
                <a:srgbClr val="000000"/>
              </a:buClr>
              <a:buSzTx/>
              <a:buFont typeface="Arial"/>
              <a:buNone/>
              <a:tabLst/>
              <a:defRPr/>
            </a:pPr>
            <a:endParaRPr kumimoji="0" lang="en-CA" sz="1600" b="0" i="1"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CA" sz="1600" b="0" i="1" u="none" strike="noStrike" kern="0" cap="none" spc="0" normalizeH="0" baseline="0" noProof="0" dirty="0">
                <a:ln>
                  <a:noFill/>
                </a:ln>
                <a:solidFill>
                  <a:srgbClr val="000000"/>
                </a:solidFill>
                <a:effectLst/>
                <a:uLnTx/>
                <a:uFillTx/>
                <a:latin typeface="Arial"/>
                <a:sym typeface="Arial"/>
              </a:rPr>
              <a:t>Example: An employee wants to lock out and tag a broken piece of equipment </a:t>
            </a:r>
            <a:r>
              <a:rPr kumimoji="0" lang="en-CA" sz="1600" b="0" i="1" u="none" strike="noStrike" kern="0" cap="none" spc="0" normalizeH="0" baseline="0" noProof="0" dirty="0" smtClean="0">
                <a:ln>
                  <a:noFill/>
                </a:ln>
                <a:solidFill>
                  <a:srgbClr val="000000"/>
                </a:solidFill>
                <a:effectLst/>
                <a:uLnTx/>
                <a:uFillTx/>
                <a:latin typeface="Arial"/>
                <a:sym typeface="Arial"/>
              </a:rPr>
              <a:t>on the robotic packaging line for </a:t>
            </a:r>
            <a:r>
              <a:rPr kumimoji="0" lang="en-CA" sz="1600" b="0" i="1" u="none" strike="noStrike" kern="0" cap="none" spc="0" normalizeH="0" baseline="0" noProof="0" dirty="0">
                <a:ln>
                  <a:noFill/>
                </a:ln>
                <a:solidFill>
                  <a:srgbClr val="000000"/>
                </a:solidFill>
                <a:effectLst/>
                <a:uLnTx/>
                <a:uFillTx/>
                <a:latin typeface="Arial"/>
                <a:sym typeface="Arial"/>
              </a:rPr>
              <a:t>repair, but the operating procedure in the manual lacks detail on what </a:t>
            </a:r>
            <a:r>
              <a:rPr kumimoji="0" lang="en-CA" sz="1600" b="0" i="1" u="none" strike="noStrike" kern="0" cap="none" spc="0" normalizeH="0" baseline="0" noProof="0" dirty="0" smtClean="0">
                <a:ln>
                  <a:noFill/>
                </a:ln>
                <a:solidFill>
                  <a:srgbClr val="000000"/>
                </a:solidFill>
                <a:effectLst/>
                <a:uLnTx/>
                <a:uFillTx/>
                <a:latin typeface="Arial"/>
                <a:sym typeface="Arial"/>
              </a:rPr>
              <a:t>valves, electrical</a:t>
            </a:r>
            <a:r>
              <a:rPr kumimoji="0" lang="en-CA" sz="1600" b="0" i="1" u="none" strike="noStrike" kern="0" cap="none" spc="0" normalizeH="0" noProof="0" dirty="0" smtClean="0">
                <a:ln>
                  <a:noFill/>
                </a:ln>
                <a:solidFill>
                  <a:srgbClr val="000000"/>
                </a:solidFill>
                <a:effectLst/>
                <a:uLnTx/>
                <a:uFillTx/>
                <a:latin typeface="Arial"/>
                <a:sym typeface="Arial"/>
              </a:rPr>
              <a:t> switches, and mechanical interlocks</a:t>
            </a:r>
            <a:r>
              <a:rPr kumimoji="0" lang="en-CA" sz="1600" b="0" i="1" u="none" strike="noStrike" kern="0" cap="none" spc="0" normalizeH="0" baseline="0" noProof="0" dirty="0" smtClean="0">
                <a:ln>
                  <a:noFill/>
                </a:ln>
                <a:solidFill>
                  <a:srgbClr val="000000"/>
                </a:solidFill>
                <a:effectLst/>
                <a:uLnTx/>
                <a:uFillTx/>
                <a:latin typeface="Arial"/>
                <a:sym typeface="Arial"/>
              </a:rPr>
              <a:t> </a:t>
            </a:r>
            <a:r>
              <a:rPr kumimoji="0" lang="en-CA" sz="1600" b="0" i="1" u="none" strike="noStrike" kern="0" cap="none" spc="0" normalizeH="0" baseline="0" noProof="0" dirty="0">
                <a:ln>
                  <a:noFill/>
                </a:ln>
                <a:solidFill>
                  <a:srgbClr val="000000"/>
                </a:solidFill>
                <a:effectLst/>
                <a:uLnTx/>
                <a:uFillTx/>
                <a:latin typeface="Arial"/>
                <a:sym typeface="Arial"/>
              </a:rPr>
              <a:t>to lock out. </a:t>
            </a: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endParaRPr kumimoji="0" lang="en-CA" sz="1600" b="0" i="0"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CA" sz="1600" b="1" i="1" u="none" strike="noStrike" kern="0" cap="none" spc="0" normalizeH="0" baseline="0" noProof="0" dirty="0">
                <a:ln>
                  <a:noFill/>
                </a:ln>
                <a:solidFill>
                  <a:srgbClr val="000099"/>
                </a:solidFill>
                <a:effectLst/>
                <a:uLnTx/>
                <a:uFillTx/>
                <a:latin typeface="Arial"/>
                <a:sym typeface="Arial"/>
              </a:rPr>
              <a:t>What does this mean for your team project??</a:t>
            </a:r>
          </a:p>
          <a:p>
            <a:pPr marL="342900" marR="0" lvl="0" indent="-342900" algn="l" defTabSz="914400" rtl="0" eaLnBrk="1" fontAlgn="auto" latinLnBrk="0" hangingPunct="1">
              <a:lnSpc>
                <a:spcPct val="90000"/>
              </a:lnSpc>
              <a:spcBef>
                <a:spcPts val="0"/>
              </a:spcBef>
              <a:spcAft>
                <a:spcPts val="0"/>
              </a:spcAft>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Did the organization have established requirements for O&amp;M that were adequate for the level of activity risk? </a:t>
            </a:r>
            <a:endParaRPr kumimoji="0" lang="en-CA" sz="1600" b="0" i="0" u="none" strike="noStrike" kern="0" cap="none" spc="0" normalizeH="0" baseline="0" noProof="0" dirty="0">
              <a:ln>
                <a:noFill/>
              </a:ln>
              <a:solidFill>
                <a:srgbClr val="000000"/>
              </a:solidFill>
              <a:effectLst/>
              <a:uLnTx/>
              <a:uFillTx/>
              <a:latin typeface="Arial"/>
              <a:sym typeface="Arial"/>
            </a:endParaRPr>
          </a:p>
          <a:p>
            <a:pPr marL="342900" marR="0" lvl="0" indent="-342900" algn="l" defTabSz="914400" rtl="0" eaLnBrk="1" fontAlgn="auto" latinLnBrk="0" hangingPunct="1">
              <a:lnSpc>
                <a:spcPct val="90000"/>
              </a:lnSpc>
              <a:spcBef>
                <a:spcPts val="0"/>
              </a:spcBef>
              <a:spcAft>
                <a:spcPts val="0"/>
              </a:spcAft>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the organization proactive in monitoring &amp; addressing “signals” for weaknesses in O&amp;M – such as lack of maintenance, or lack of following administrative controls (procedures, etc</a:t>
            </a:r>
            <a:r>
              <a:rPr kumimoji="0" lang="en-CA" sz="1600" b="1" i="1" u="none" strike="noStrike" kern="0" cap="none" spc="0" normalizeH="0" baseline="0" noProof="0" dirty="0" smtClean="0">
                <a:ln>
                  <a:noFill/>
                </a:ln>
                <a:solidFill>
                  <a:srgbClr val="000099"/>
                </a:solidFill>
                <a:effectLst/>
                <a:uLnTx/>
                <a:uFillTx/>
                <a:latin typeface="Arial"/>
                <a:sym typeface="Arial"/>
              </a:rPr>
              <a:t>.)?</a:t>
            </a:r>
          </a:p>
          <a:p>
            <a:pPr marL="342900" lvl="0" indent="-342900">
              <a:lnSpc>
                <a:spcPct val="90000"/>
              </a:lnSpc>
              <a:spcBef>
                <a:spcPts val="0"/>
              </a:spcBef>
              <a:buClrTx/>
              <a:buSzPct val="100000"/>
              <a:buFont typeface="Noto Sans Symbols"/>
              <a:buChar char="⮚"/>
              <a:defRPr/>
            </a:pPr>
            <a:endParaRPr lang="en-US" sz="1600" b="1" i="1" dirty="0" smtClean="0">
              <a:solidFill>
                <a:srgbClr val="FF0000"/>
              </a:solidFill>
              <a:latin typeface="Arial"/>
            </a:endParaRPr>
          </a:p>
          <a:p>
            <a:pPr marL="342900" lvl="0" indent="-342900">
              <a:lnSpc>
                <a:spcPct val="90000"/>
              </a:lnSpc>
              <a:spcBef>
                <a:spcPts val="0"/>
              </a:spcBef>
              <a:buClrTx/>
              <a:buSzPct val="100000"/>
              <a:buFont typeface="Noto Sans Symbols"/>
              <a:buChar char="⮚"/>
              <a:defRPr/>
            </a:pPr>
            <a:r>
              <a:rPr lang="en-US" sz="1600" b="1" i="1" dirty="0" smtClean="0">
                <a:solidFill>
                  <a:srgbClr val="FF0000"/>
                </a:solidFill>
                <a:latin typeface="Arial"/>
              </a:rPr>
              <a:t>Example LC-S: </a:t>
            </a:r>
            <a:r>
              <a:rPr lang="en-US" sz="1600" b="1" i="1" dirty="0">
                <a:solidFill>
                  <a:srgbClr val="FF0000"/>
                </a:solidFill>
                <a:latin typeface="Arial"/>
              </a:rPr>
              <a:t>The </a:t>
            </a:r>
            <a:r>
              <a:rPr lang="en-US" sz="1600" b="1" i="1" dirty="0" smtClean="0">
                <a:solidFill>
                  <a:srgbClr val="FF0000"/>
                </a:solidFill>
                <a:latin typeface="Arial"/>
              </a:rPr>
              <a:t>shut-down and lock-out standard in the operations </a:t>
            </a:r>
            <a:r>
              <a:rPr lang="en-US" sz="1600" b="1" i="1" dirty="0">
                <a:solidFill>
                  <a:srgbClr val="FF0000"/>
                </a:solidFill>
                <a:latin typeface="Arial"/>
              </a:rPr>
              <a:t>program </a:t>
            </a:r>
            <a:r>
              <a:rPr lang="en-US" sz="1600" b="1" i="1" dirty="0" smtClean="0">
                <a:solidFill>
                  <a:srgbClr val="FF0000"/>
                </a:solidFill>
                <a:latin typeface="Arial"/>
              </a:rPr>
              <a:t>did not list which valves, switches, and interlocks to lock-out / tag-out </a:t>
            </a:r>
            <a:r>
              <a:rPr lang="en-US" sz="1600" b="1" i="1" dirty="0">
                <a:solidFill>
                  <a:srgbClr val="FF0000"/>
                </a:solidFill>
                <a:latin typeface="Arial"/>
              </a:rPr>
              <a:t>for the robotic packaging line</a:t>
            </a:r>
            <a:r>
              <a:rPr lang="en-US" sz="1600" b="1" i="1" dirty="0" smtClean="0">
                <a:solidFill>
                  <a:srgbClr val="FF0000"/>
                </a:solidFill>
                <a:latin typeface="Arial"/>
              </a:rPr>
              <a:t>.</a:t>
            </a: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#8) Operations and Maintenance:</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325183416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Encompasses “core employees”.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Training is an effective method for setting expectations.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Managers are responsible for ensuring their employees are properly trained and certified / qualified. </a:t>
            </a:r>
            <a:endParaRPr kumimoji="0" lang="en-CA"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100000"/>
              </a:lnSpc>
              <a:spcBef>
                <a:spcPts val="0"/>
              </a:spcBef>
              <a:spcAft>
                <a:spcPct val="0"/>
              </a:spcAft>
              <a:buClrTx/>
              <a:buSzPct val="100000"/>
              <a:buNone/>
              <a:tabLst/>
              <a:defRPr/>
            </a:pPr>
            <a:r>
              <a:rPr kumimoji="0" lang="en-CA" altLang="en-US" sz="16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So </a:t>
            </a:r>
            <a:r>
              <a:rPr kumimoji="0" lang="en-CA"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What Does This Mean to the Organization?</a:t>
            </a:r>
            <a:endParaRPr kumimoji="0" lang="en-US"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6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Training is a form of due diligence. </a:t>
            </a: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90000"/>
              </a:lnSpc>
              <a:spcBef>
                <a:spcPts val="0"/>
              </a:spcBef>
              <a:spcAft>
                <a:spcPts val="0"/>
              </a:spcAft>
              <a:buClr>
                <a:srgbClr val="000000"/>
              </a:buClr>
              <a:buSzPts val="2000"/>
              <a:buFont typeface="Arial"/>
              <a:buNone/>
              <a:tabLst/>
              <a:defRPr/>
            </a:pPr>
            <a:r>
              <a:rPr kumimoji="0" lang="en-CA" sz="1600" b="0" i="1" u="none" strike="noStrike" kern="0" cap="none" spc="0" normalizeH="0" baseline="0" noProof="0" dirty="0">
                <a:ln>
                  <a:noFill/>
                </a:ln>
                <a:solidFill>
                  <a:srgbClr val="000000"/>
                </a:solidFill>
                <a:effectLst/>
                <a:uLnTx/>
                <a:uFillTx/>
                <a:latin typeface="Arial"/>
                <a:sym typeface="Arial"/>
              </a:rPr>
              <a:t>Example: A wheeled cart containing heavy equipment tipped over because the load was unbalanced. The worker who was using the cart was not trained in how to properly load material into the cart. </a:t>
            </a:r>
          </a:p>
          <a:p>
            <a:pPr marL="457200" marR="0" lvl="0" indent="-330200" algn="l" defTabSz="914400" rtl="0" eaLnBrk="1" fontAlgn="auto" latinLnBrk="0" hangingPunct="1">
              <a:lnSpc>
                <a:spcPct val="90000"/>
              </a:lnSpc>
              <a:spcBef>
                <a:spcPts val="0"/>
              </a:spcBef>
              <a:spcAft>
                <a:spcPts val="0"/>
              </a:spcAft>
              <a:buClr>
                <a:srgbClr val="000000"/>
              </a:buClr>
              <a:buSzPts val="2000"/>
              <a:buFont typeface="Noto Sans Symbols"/>
              <a:buNone/>
              <a:tabLst/>
              <a:defRPr/>
            </a:pPr>
            <a:endParaRPr kumimoji="0" lang="en-CA" sz="1600" b="0" i="1"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1" fontAlgn="auto" latinLnBrk="0" hangingPunct="1">
              <a:lnSpc>
                <a:spcPct val="90000"/>
              </a:lnSpc>
              <a:spcBef>
                <a:spcPts val="0"/>
              </a:spcBef>
              <a:spcAft>
                <a:spcPts val="0"/>
              </a:spcAft>
              <a:buClr>
                <a:srgbClr val="000000"/>
              </a:buClr>
              <a:buSzTx/>
              <a:buFont typeface="Arial"/>
              <a:buNone/>
              <a:tabLst/>
              <a:defRPr/>
            </a:pPr>
            <a:r>
              <a:rPr kumimoji="0" lang="en-CA" sz="1600" b="1" i="1" u="none" strike="noStrike" kern="0" cap="none" spc="0" normalizeH="0" baseline="0" noProof="0" dirty="0">
                <a:ln>
                  <a:noFill/>
                </a:ln>
                <a:solidFill>
                  <a:srgbClr val="000099"/>
                </a:solidFill>
                <a:effectLst/>
                <a:uLnTx/>
                <a:uFillTx/>
                <a:latin typeface="Arial"/>
                <a:sym typeface="Arial"/>
              </a:rPr>
              <a:t>What does this mean for your team project??</a:t>
            </a:r>
          </a:p>
          <a:p>
            <a:pPr marL="342900" marR="0" lvl="0" indent="-342900" algn="l" defTabSz="914400" rtl="0" eaLnBrk="1" fontAlgn="auto" latinLnBrk="0" hangingPunct="1">
              <a:lnSpc>
                <a:spcPct val="90000"/>
              </a:lnSpc>
              <a:spcBef>
                <a:spcPts val="0"/>
              </a:spcBef>
              <a:spcAft>
                <a:spcPts val="0"/>
              </a:spcAft>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Were employees adequately trained for the tasks they were performing? Did they need additional training? </a:t>
            </a:r>
            <a:endParaRPr kumimoji="0" lang="en-CA" sz="1600" b="0" i="0" u="none" strike="noStrike" kern="0" cap="none" spc="0" normalizeH="0" baseline="0" noProof="0" dirty="0">
              <a:ln>
                <a:noFill/>
              </a:ln>
              <a:solidFill>
                <a:srgbClr val="000000"/>
              </a:solidFill>
              <a:effectLst/>
              <a:uLnTx/>
              <a:uFillTx/>
              <a:latin typeface="Arial"/>
              <a:sym typeface="Arial"/>
            </a:endParaRPr>
          </a:p>
          <a:p>
            <a:pPr marL="342900" marR="0" lvl="0" indent="-342900" algn="l" defTabSz="914400" rtl="0" eaLnBrk="1" fontAlgn="auto" latinLnBrk="0" hangingPunct="1">
              <a:lnSpc>
                <a:spcPct val="90000"/>
              </a:lnSpc>
              <a:spcBef>
                <a:spcPts val="0"/>
              </a:spcBef>
              <a:spcAft>
                <a:spcPts val="0"/>
              </a:spcAft>
              <a:buClrTx/>
              <a:buSzPct val="1000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there an effective training program in place? </a:t>
            </a:r>
          </a:p>
          <a:p>
            <a:pPr marL="342900" indent="-342900">
              <a:lnSpc>
                <a:spcPct val="90000"/>
              </a:lnSpc>
              <a:spcBef>
                <a:spcPts val="0"/>
              </a:spcBef>
              <a:buClrTx/>
              <a:buSzPct val="100000"/>
              <a:buFont typeface="Noto Sans Symbols"/>
              <a:buChar char="⮚"/>
              <a:defRPr/>
            </a:pPr>
            <a:r>
              <a:rPr kumimoji="0" lang="en-CA" sz="1600" b="1" i="1" u="none" strike="noStrike" kern="0" cap="none" spc="0" normalizeH="0" baseline="0" noProof="0" dirty="0">
                <a:ln>
                  <a:noFill/>
                </a:ln>
                <a:solidFill>
                  <a:srgbClr val="000099"/>
                </a:solidFill>
                <a:effectLst/>
                <a:uLnTx/>
                <a:uFillTx/>
                <a:latin typeface="Arial"/>
                <a:sym typeface="Arial"/>
              </a:rPr>
              <a:t>LCs GW: a training program, that trains and/or certifies / and/or qualifies and/or recruits employees</a:t>
            </a:r>
            <a:r>
              <a:rPr kumimoji="0" lang="en-CA" sz="1600" b="1" i="1" u="none" strike="noStrike" kern="0" cap="none" spc="0" normalizeH="0" baseline="0" noProof="0" dirty="0" smtClean="0">
                <a:ln>
                  <a:noFill/>
                </a:ln>
                <a:solidFill>
                  <a:srgbClr val="000099"/>
                </a:solidFill>
                <a:effectLst/>
                <a:uLnTx/>
                <a:uFillTx/>
                <a:latin typeface="Arial"/>
                <a:sym typeface="Arial"/>
              </a:rPr>
              <a:t>.</a:t>
            </a:r>
            <a:endParaRPr lang="en-CA" sz="1600" b="1" i="1" dirty="0">
              <a:solidFill>
                <a:srgbClr val="000099"/>
              </a:solidFill>
              <a:latin typeface="Arial"/>
            </a:endParaRPr>
          </a:p>
          <a:p>
            <a:pPr marL="342900" indent="-342900">
              <a:lnSpc>
                <a:spcPct val="90000"/>
              </a:lnSpc>
              <a:spcBef>
                <a:spcPts val="0"/>
              </a:spcBef>
              <a:buClrTx/>
              <a:buSzPct val="100000"/>
              <a:buFont typeface="Noto Sans Symbols"/>
              <a:buChar char="⮚"/>
              <a:defRPr/>
            </a:pPr>
            <a:endParaRPr lang="en-US" sz="1600" b="1" i="1" dirty="0" smtClean="0">
              <a:solidFill>
                <a:srgbClr val="FF0000"/>
              </a:solidFill>
              <a:latin typeface="Arial"/>
            </a:endParaRPr>
          </a:p>
          <a:p>
            <a:pPr marL="342900" indent="-342900">
              <a:lnSpc>
                <a:spcPct val="90000"/>
              </a:lnSpc>
              <a:spcBef>
                <a:spcPts val="0"/>
              </a:spcBef>
              <a:buClrTx/>
              <a:buSzPct val="100000"/>
              <a:buFont typeface="Noto Sans Symbols"/>
              <a:buChar char="⮚"/>
              <a:defRPr/>
            </a:pPr>
            <a:r>
              <a:rPr lang="en-US" sz="1600" b="1" i="1" dirty="0" smtClean="0">
                <a:solidFill>
                  <a:srgbClr val="FF0000"/>
                </a:solidFill>
                <a:latin typeface="Arial"/>
              </a:rPr>
              <a:t>Example LC-S: </a:t>
            </a:r>
            <a:r>
              <a:rPr lang="en-US" sz="1600" b="1" i="1" dirty="0">
                <a:solidFill>
                  <a:srgbClr val="FF0000"/>
                </a:solidFill>
                <a:latin typeface="Arial"/>
              </a:rPr>
              <a:t>The employee training program did not </a:t>
            </a:r>
            <a:r>
              <a:rPr lang="en-US" sz="1600" b="1" i="1" dirty="0" smtClean="0">
                <a:solidFill>
                  <a:srgbClr val="FF0000"/>
                </a:solidFill>
                <a:latin typeface="Arial"/>
              </a:rPr>
              <a:t>include a standard for the </a:t>
            </a:r>
            <a:r>
              <a:rPr lang="en-US" sz="1600" b="1" i="1" dirty="0">
                <a:solidFill>
                  <a:srgbClr val="FF0000"/>
                </a:solidFill>
                <a:latin typeface="Arial"/>
              </a:rPr>
              <a:t>cart loading </a:t>
            </a:r>
            <a:r>
              <a:rPr lang="en-US" sz="1600" b="1" i="1" dirty="0" smtClean="0">
                <a:solidFill>
                  <a:srgbClr val="FF0000"/>
                </a:solidFill>
                <a:latin typeface="Arial"/>
              </a:rPr>
              <a:t>procedures. </a:t>
            </a:r>
            <a:endParaRPr lang="en-US" sz="1600" b="1" i="1" dirty="0">
              <a:solidFill>
                <a:srgbClr val="FF0000"/>
              </a:solidFill>
              <a:latin typeface="Arial"/>
            </a:endParaRPr>
          </a:p>
          <a:p>
            <a:pPr marL="342900" marR="0" lvl="0" indent="-342900" algn="l" defTabSz="914400" rtl="0" eaLnBrk="1" fontAlgn="auto" latinLnBrk="0" hangingPunct="1">
              <a:lnSpc>
                <a:spcPct val="90000"/>
              </a:lnSpc>
              <a:spcBef>
                <a:spcPts val="0"/>
              </a:spcBef>
              <a:spcAft>
                <a:spcPts val="0"/>
              </a:spcAft>
              <a:buClr>
                <a:srgbClr val="000099"/>
              </a:buClr>
              <a:buSzPts val="2000"/>
              <a:buFont typeface="Noto Sans Symbols"/>
              <a:buChar char="⮚"/>
              <a:tabLst/>
              <a:defRPr/>
            </a:pPr>
            <a:endParaRPr kumimoji="0" lang="en-CA" sz="1600" b="0" i="1"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#9) Employee Competency and Training:</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121299033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Encompasses contract workers whose employer is providing services to the main organization</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Managers of the main organization must ensure: </a:t>
            </a:r>
            <a:r>
              <a:rPr kumimoji="0" lang="en-CA" altLang="en-US" sz="16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the contractor companies have properly trained / certified / qualified their employees, and ii) contract workers are appropriately trained &amp; integrated. </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Expectations for the main organization’s employees and contract workers should and must be the same. No “double-standard”.</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endPar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90000"/>
              </a:lnSpc>
              <a:spcBef>
                <a:spcPts val="0"/>
              </a:spcBef>
              <a:buClr>
                <a:srgbClr val="000000"/>
              </a:buClr>
              <a:buSzTx/>
              <a:buFont typeface="Arial"/>
              <a:buNone/>
              <a:tabLst/>
              <a:defRPr/>
            </a:pPr>
            <a:r>
              <a:rPr kumimoji="0" lang="en-CA" sz="1600" b="0" i="1" u="none" strike="noStrike" kern="0" cap="none" spc="0" normalizeH="0" baseline="0" noProof="0" dirty="0">
                <a:ln>
                  <a:noFill/>
                </a:ln>
                <a:solidFill>
                  <a:srgbClr val="000000"/>
                </a:solidFill>
                <a:effectLst/>
                <a:uLnTx/>
                <a:uFillTx/>
                <a:latin typeface="Arial"/>
                <a:sym typeface="Arial"/>
              </a:rPr>
              <a:t>Example: A bridge construction company hired a contractor to oversee the testing of concrete used for a bridge construction project. The construction company did not require the contractor to complete the site safety orientation.</a:t>
            </a:r>
          </a:p>
          <a:p>
            <a:pPr marL="0" marR="0" lvl="0" indent="0" algn="l" defTabSz="914400" rtl="0" eaLnBrk="1" fontAlgn="auto" latinLnBrk="0" hangingPunct="1">
              <a:lnSpc>
                <a:spcPct val="90000"/>
              </a:lnSpc>
              <a:spcBef>
                <a:spcPts val="0"/>
              </a:spcBef>
              <a:buClr>
                <a:srgbClr val="000000"/>
              </a:buClr>
              <a:buSzTx/>
              <a:buFont typeface="Arial"/>
              <a:buNone/>
              <a:tabLst/>
              <a:defRPr/>
            </a:pPr>
            <a:endParaRPr kumimoji="0" lang="en-CA" sz="1600" b="0" i="1"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1" fontAlgn="auto" latinLnBrk="0" hangingPunct="1">
              <a:lnSpc>
                <a:spcPct val="90000"/>
              </a:lnSpc>
              <a:spcBef>
                <a:spcPts val="0"/>
              </a:spcBef>
              <a:buClr>
                <a:srgbClr val="000000"/>
              </a:buClr>
              <a:buSzTx/>
              <a:buFont typeface="Arial"/>
              <a:buNone/>
              <a:tabLst/>
              <a:defRPr/>
            </a:pPr>
            <a:r>
              <a:rPr kumimoji="0" lang="en-CA" sz="1600" b="1" i="1" u="none" strike="noStrike" kern="0" cap="none" spc="0" normalizeH="0" baseline="0" noProof="0" dirty="0">
                <a:ln>
                  <a:noFill/>
                </a:ln>
                <a:solidFill>
                  <a:srgbClr val="000099"/>
                </a:solidFill>
                <a:effectLst/>
                <a:uLnTx/>
                <a:uFillTx/>
                <a:latin typeface="Arial"/>
                <a:sym typeface="Arial"/>
              </a:rPr>
              <a:t>What does this mean for your team project??</a:t>
            </a:r>
          </a:p>
          <a:p>
            <a:pPr marL="457200" marR="0" lvl="0" indent="-457200" algn="l" defTabSz="914400" rtl="0" eaLnBrk="1" fontAlgn="auto" latinLnBrk="0" hangingPunct="1">
              <a:lnSpc>
                <a:spcPct val="90000"/>
              </a:lnSpc>
              <a:spcBef>
                <a:spcPts val="0"/>
              </a:spcBef>
              <a:buClrTx/>
              <a:buSzPts val="18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there an effective training program in place for </a:t>
            </a:r>
            <a:r>
              <a:rPr kumimoji="0" lang="en-CA" sz="1600" b="1" i="1" u="none" strike="noStrike" kern="0" cap="none" spc="0" normalizeH="0" baseline="0" noProof="0" dirty="0" smtClean="0">
                <a:ln>
                  <a:noFill/>
                </a:ln>
                <a:solidFill>
                  <a:srgbClr val="000099"/>
                </a:solidFill>
                <a:effectLst/>
                <a:uLnTx/>
                <a:uFillTx/>
                <a:latin typeface="Arial"/>
                <a:sym typeface="Arial"/>
              </a:rPr>
              <a:t>contractors?</a:t>
            </a:r>
            <a:endParaRPr kumimoji="0" lang="en-CA" sz="1600" b="0" i="0" u="none" strike="noStrike" kern="0" cap="none" spc="0" normalizeH="0" baseline="0" noProof="0" dirty="0">
              <a:ln>
                <a:noFill/>
              </a:ln>
              <a:solidFill>
                <a:srgbClr val="000000"/>
              </a:solidFill>
              <a:effectLst/>
              <a:uLnTx/>
              <a:uFillTx/>
              <a:latin typeface="Arial"/>
              <a:sym typeface="Arial"/>
            </a:endParaRPr>
          </a:p>
          <a:p>
            <a:pPr marL="457200" marR="0" lvl="0" indent="-457200" algn="l" defTabSz="914400" rtl="0" eaLnBrk="1" fontAlgn="auto" latinLnBrk="0" hangingPunct="1">
              <a:lnSpc>
                <a:spcPct val="90000"/>
              </a:lnSpc>
              <a:spcBef>
                <a:spcPts val="0"/>
              </a:spcBef>
              <a:buClrTx/>
              <a:buSzPts val="18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Were contractor organizations screened for safety performance? Were contractors involved in job planning, including risk assessments? </a:t>
            </a:r>
          </a:p>
          <a:p>
            <a:pPr marL="457200" marR="0" lvl="0" indent="-457200" algn="l" defTabSz="914400" rtl="0" eaLnBrk="1" fontAlgn="auto" latinLnBrk="0" hangingPunct="1">
              <a:lnSpc>
                <a:spcPct val="90000"/>
              </a:lnSpc>
              <a:spcBef>
                <a:spcPts val="0"/>
              </a:spcBef>
              <a:buClrTx/>
              <a:buSzPts val="18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After hiring, did management assess contractor performance?</a:t>
            </a:r>
          </a:p>
          <a:p>
            <a:pPr marL="457200" indent="-457200">
              <a:lnSpc>
                <a:spcPct val="90000"/>
              </a:lnSpc>
              <a:spcBef>
                <a:spcPts val="0"/>
              </a:spcBef>
              <a:buClrTx/>
              <a:buSzPts val="1800"/>
              <a:buFont typeface="Noto Sans Symbols"/>
              <a:buChar char="⮚"/>
              <a:defRPr/>
            </a:pPr>
            <a:r>
              <a:rPr kumimoji="0" lang="en-CA" sz="1600" b="1" i="1" u="none" strike="noStrike" kern="0" cap="none" spc="0" normalizeH="0" baseline="0" noProof="0" dirty="0">
                <a:ln>
                  <a:noFill/>
                </a:ln>
                <a:solidFill>
                  <a:srgbClr val="000099"/>
                </a:solidFill>
                <a:effectLst/>
                <a:uLnTx/>
                <a:uFillTx/>
                <a:latin typeface="Arial"/>
                <a:sym typeface="Arial"/>
              </a:rPr>
              <a:t>LCs GW: a program to select / hire contractor companies, and to integrate or indoctrinate those contractor employees into the safety culture and risk management program of the core organization. </a:t>
            </a:r>
            <a:endParaRPr lang="en-CA" sz="1600" b="1" i="1" dirty="0">
              <a:solidFill>
                <a:srgbClr val="000099"/>
              </a:solidFill>
              <a:latin typeface="Arial"/>
            </a:endParaRPr>
          </a:p>
          <a:p>
            <a:pPr marL="457200" indent="-457200">
              <a:lnSpc>
                <a:spcPct val="90000"/>
              </a:lnSpc>
              <a:spcBef>
                <a:spcPts val="0"/>
              </a:spcBef>
              <a:buClrTx/>
              <a:buSzPts val="1800"/>
              <a:buFont typeface="Noto Sans Symbols"/>
              <a:buChar char="⮚"/>
              <a:defRPr/>
            </a:pPr>
            <a:endParaRPr lang="en-US" sz="1600" b="1" i="1" dirty="0" smtClean="0">
              <a:solidFill>
                <a:srgbClr val="FF0000"/>
              </a:solidFill>
              <a:latin typeface="Arial"/>
            </a:endParaRPr>
          </a:p>
          <a:p>
            <a:pPr marL="457200" indent="-457200">
              <a:lnSpc>
                <a:spcPct val="90000"/>
              </a:lnSpc>
              <a:spcBef>
                <a:spcPts val="0"/>
              </a:spcBef>
              <a:buClrTx/>
              <a:buSzPts val="1800"/>
              <a:buFont typeface="Noto Sans Symbols"/>
              <a:buChar char="⮚"/>
              <a:defRPr/>
            </a:pPr>
            <a:r>
              <a:rPr lang="en-US" sz="1600" b="1" i="1" dirty="0" smtClean="0">
                <a:solidFill>
                  <a:srgbClr val="FF0000"/>
                </a:solidFill>
                <a:latin typeface="Arial"/>
              </a:rPr>
              <a:t>Example LC-S: </a:t>
            </a:r>
            <a:r>
              <a:rPr lang="en-US" sz="1600" b="1" i="1" dirty="0">
                <a:solidFill>
                  <a:srgbClr val="FF0000"/>
                </a:solidFill>
                <a:latin typeface="Arial"/>
              </a:rPr>
              <a:t>The contractor integration program did not </a:t>
            </a:r>
            <a:r>
              <a:rPr lang="en-US" sz="1600" b="1" i="1" dirty="0" smtClean="0">
                <a:solidFill>
                  <a:srgbClr val="FF0000"/>
                </a:solidFill>
                <a:latin typeface="Arial"/>
              </a:rPr>
              <a:t>include a standard to require </a:t>
            </a:r>
            <a:r>
              <a:rPr lang="en-US" sz="1600" b="1" i="1" dirty="0">
                <a:solidFill>
                  <a:srgbClr val="FF0000"/>
                </a:solidFill>
                <a:latin typeface="Arial"/>
              </a:rPr>
              <a:t>site safety orientation training for contractors working on </a:t>
            </a:r>
            <a:r>
              <a:rPr lang="en-US" sz="1600" b="1" i="1" dirty="0" smtClean="0">
                <a:solidFill>
                  <a:srgbClr val="FF0000"/>
                </a:solidFill>
                <a:latin typeface="Arial"/>
              </a:rPr>
              <a:t>projects.</a:t>
            </a:r>
            <a:endParaRPr lang="en-US" altLang="en-US" sz="1600" b="1" i="1" dirty="0">
              <a:solidFill>
                <a:srgbClr val="000099"/>
              </a:solidFill>
              <a:latin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#10) Contractor Competency and Integration:</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2399485908"/>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Establishes how information and documentation – the administrative controls and any records generated – are managed </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(catalogued,</a:t>
            </a:r>
            <a:r>
              <a:rPr kumimoji="0" lang="en-CA" altLang="en-US" sz="16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archived, filed, accessed, retrieved, etc.) </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within </a:t>
            </a: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 risk management program. </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Good information and documentation with ready access is essential for tracking trends and managing administrative controls</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r>
              <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Managers must implement appropriate policies and procedures where workers are making decisions based on the information. </a:t>
            </a:r>
          </a:p>
          <a:p>
            <a:pPr marL="360000" marR="0" lvl="0" indent="-360000" algn="l" defTabSz="914400" rtl="0" eaLnBrk="0" fontAlgn="base" latinLnBrk="0" hangingPunct="0">
              <a:lnSpc>
                <a:spcPct val="90000"/>
              </a:lnSpc>
              <a:spcBef>
                <a:spcPts val="0"/>
              </a:spcBef>
              <a:buClrTx/>
              <a:buSzPct val="100000"/>
              <a:buFont typeface="Wingdings" panose="05000000000000000000" pitchFamily="2" charset="2"/>
              <a:buChar char="Ø"/>
              <a:tabLst/>
              <a:defRPr/>
            </a:pPr>
            <a:endPar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1" fontAlgn="auto" latinLnBrk="0" hangingPunct="1">
              <a:lnSpc>
                <a:spcPct val="90000"/>
              </a:lnSpc>
              <a:spcBef>
                <a:spcPts val="0"/>
              </a:spcBef>
              <a:buClr>
                <a:srgbClr val="000000"/>
              </a:buClr>
              <a:buSzPts val="1800"/>
              <a:buFont typeface="Arial"/>
              <a:buNone/>
              <a:tabLst/>
              <a:defRPr/>
            </a:pPr>
            <a:r>
              <a:rPr kumimoji="0" lang="en-CA" sz="1600" b="0" i="1" u="none" strike="noStrike" kern="0" cap="none" spc="0" normalizeH="0" baseline="0" noProof="0" dirty="0">
                <a:ln>
                  <a:noFill/>
                </a:ln>
                <a:solidFill>
                  <a:srgbClr val="000000"/>
                </a:solidFill>
                <a:effectLst/>
                <a:uLnTx/>
                <a:uFillTx/>
                <a:latin typeface="Arial"/>
                <a:sym typeface="Arial"/>
              </a:rPr>
              <a:t>Example: An employee is working on a broken piece of equipment, but the drawings and </a:t>
            </a:r>
            <a:r>
              <a:rPr kumimoji="0" lang="en-CA" sz="1600" b="0" i="1" u="none" strike="noStrike" kern="0" cap="none" spc="0" normalizeH="0" baseline="0" noProof="0" dirty="0" smtClean="0">
                <a:ln>
                  <a:noFill/>
                </a:ln>
                <a:solidFill>
                  <a:srgbClr val="000000"/>
                </a:solidFill>
                <a:effectLst/>
                <a:uLnTx/>
                <a:uFillTx/>
                <a:latin typeface="Arial"/>
                <a:sym typeface="Arial"/>
              </a:rPr>
              <a:t>operations / maintenance </a:t>
            </a:r>
            <a:r>
              <a:rPr kumimoji="0" lang="en-CA" sz="1600" b="0" i="1" u="none" strike="noStrike" kern="0" cap="none" spc="0" normalizeH="0" baseline="0" noProof="0" dirty="0">
                <a:ln>
                  <a:noFill/>
                </a:ln>
                <a:solidFill>
                  <a:srgbClr val="000000"/>
                </a:solidFill>
                <a:effectLst/>
                <a:uLnTx/>
                <a:uFillTx/>
                <a:latin typeface="Arial"/>
                <a:sym typeface="Arial"/>
              </a:rPr>
              <a:t>manual are not readily available</a:t>
            </a:r>
            <a:r>
              <a:rPr kumimoji="0" lang="en-CA" sz="1600" b="0" i="1" u="none" strike="noStrike" kern="0" cap="none" spc="0" normalizeH="0" baseline="0" noProof="0" dirty="0" smtClean="0">
                <a:ln>
                  <a:noFill/>
                </a:ln>
                <a:solidFill>
                  <a:srgbClr val="000000"/>
                </a:solidFill>
                <a:effectLst/>
                <a:uLnTx/>
                <a:uFillTx/>
                <a:latin typeface="Arial"/>
                <a:sym typeface="Arial"/>
              </a:rPr>
              <a:t>.</a:t>
            </a:r>
            <a:endParaRPr kumimoji="0" lang="en-CA" sz="1600" b="0" i="1" u="none" strike="noStrike" kern="0" cap="none" spc="0" normalizeH="0" baseline="0" noProof="0" dirty="0">
              <a:ln>
                <a:noFill/>
              </a:ln>
              <a:solidFill>
                <a:srgbClr val="000000"/>
              </a:solidFill>
              <a:effectLst/>
              <a:uLnTx/>
              <a:uFillTx/>
              <a:latin typeface="Arial"/>
              <a:sym typeface="Arial"/>
            </a:endParaRPr>
          </a:p>
          <a:p>
            <a:pPr marL="0" marR="0" lvl="0" indent="0" algn="l" defTabSz="914400" rtl="0" eaLnBrk="1" fontAlgn="auto" latinLnBrk="0" hangingPunct="1">
              <a:lnSpc>
                <a:spcPct val="90000"/>
              </a:lnSpc>
              <a:spcBef>
                <a:spcPts val="0"/>
              </a:spcBef>
              <a:buClr>
                <a:srgbClr val="000000"/>
              </a:buClr>
              <a:buSzTx/>
              <a:buFont typeface="Arial"/>
              <a:buNone/>
              <a:tabLst/>
              <a:defRPr/>
            </a:pPr>
            <a:r>
              <a:rPr kumimoji="0" lang="en-CA" sz="1600" b="1" i="1" u="none" strike="noStrike" kern="0" cap="none" spc="0" normalizeH="0" baseline="0" noProof="0" dirty="0">
                <a:ln>
                  <a:noFill/>
                </a:ln>
                <a:solidFill>
                  <a:srgbClr val="000099"/>
                </a:solidFill>
                <a:effectLst/>
                <a:uLnTx/>
                <a:uFillTx/>
                <a:latin typeface="Arial"/>
                <a:sym typeface="Arial"/>
              </a:rPr>
              <a:t>What does this mean for your team project?</a:t>
            </a:r>
          </a:p>
          <a:p>
            <a:pPr marL="342900" marR="0" lvl="0" indent="-342900" algn="l" defTabSz="914400" rtl="0" eaLnBrk="1" fontAlgn="auto" latinLnBrk="0" hangingPunct="1">
              <a:lnSpc>
                <a:spcPct val="90000"/>
              </a:lnSpc>
              <a:spcBef>
                <a:spcPts val="0"/>
              </a:spcBef>
              <a:buClrTx/>
              <a:buSzPts val="18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the necessary information (such as safety rules and requirements, administrative controls, design drawings, specifications, inspection reports, etc.) kept current?</a:t>
            </a:r>
            <a:endParaRPr kumimoji="0" lang="en-CA" sz="1600" b="0" i="0" u="none" strike="noStrike" kern="0" cap="none" spc="0" normalizeH="0" baseline="0" noProof="0" dirty="0">
              <a:ln>
                <a:noFill/>
              </a:ln>
              <a:solidFill>
                <a:srgbClr val="000000"/>
              </a:solidFill>
              <a:effectLst/>
              <a:uLnTx/>
              <a:uFillTx/>
              <a:latin typeface="Arial"/>
              <a:sym typeface="Arial"/>
            </a:endParaRPr>
          </a:p>
          <a:p>
            <a:pPr marL="342900" marR="0" lvl="0" indent="-342900" algn="l" defTabSz="914400" rtl="0" eaLnBrk="1" fontAlgn="auto" latinLnBrk="0" hangingPunct="1">
              <a:lnSpc>
                <a:spcPct val="90000"/>
              </a:lnSpc>
              <a:spcBef>
                <a:spcPts val="0"/>
              </a:spcBef>
              <a:buClrTx/>
              <a:buSzPts val="18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Was the necessary information readily available for workers?</a:t>
            </a:r>
            <a:endParaRPr kumimoji="0" lang="en-CA" sz="1600" b="0" i="0" u="none" strike="noStrike" kern="0" cap="none" spc="0" normalizeH="0" baseline="0" noProof="0" dirty="0">
              <a:ln>
                <a:noFill/>
              </a:ln>
              <a:solidFill>
                <a:srgbClr val="000000"/>
              </a:solidFill>
              <a:effectLst/>
              <a:uLnTx/>
              <a:uFillTx/>
              <a:latin typeface="Arial"/>
              <a:sym typeface="Arial"/>
            </a:endParaRPr>
          </a:p>
          <a:p>
            <a:pPr marL="342900" marR="0" lvl="0" indent="-342900" algn="l" defTabSz="914400" rtl="0" eaLnBrk="1" fontAlgn="auto" latinLnBrk="0" hangingPunct="1">
              <a:lnSpc>
                <a:spcPct val="90000"/>
              </a:lnSpc>
              <a:spcBef>
                <a:spcPts val="0"/>
              </a:spcBef>
              <a:buClrTx/>
              <a:buSzPts val="18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Were records created from the execution of these administrative controls properly filed / catalogued for future reference? </a:t>
            </a:r>
          </a:p>
          <a:p>
            <a:pPr marL="342900" marR="0" lvl="0" indent="-342900" algn="l" defTabSz="914400" rtl="0" eaLnBrk="1" fontAlgn="auto" latinLnBrk="0" hangingPunct="1">
              <a:lnSpc>
                <a:spcPct val="90000"/>
              </a:lnSpc>
              <a:spcBef>
                <a:spcPts val="0"/>
              </a:spcBef>
              <a:buClrTx/>
              <a:buSzPts val="1800"/>
              <a:buFont typeface="Noto Sans Symbols"/>
              <a:buChar char="⮚"/>
              <a:tabLst/>
              <a:defRPr/>
            </a:pPr>
            <a:r>
              <a:rPr kumimoji="0" lang="en-CA" sz="1600" b="1" i="1" u="none" strike="noStrike" kern="0" cap="none" spc="0" normalizeH="0" baseline="0" noProof="0" dirty="0">
                <a:ln>
                  <a:noFill/>
                </a:ln>
                <a:solidFill>
                  <a:srgbClr val="000099"/>
                </a:solidFill>
                <a:effectLst/>
                <a:uLnTx/>
                <a:uFillTx/>
                <a:latin typeface="Arial"/>
                <a:sym typeface="Arial"/>
              </a:rPr>
              <a:t>LCs GW: a program for managing the documentation of information, including the risk management program, of any aspect of the operations / facilities</a:t>
            </a:r>
            <a:r>
              <a:rPr kumimoji="0" lang="en-CA" sz="1600" b="1" i="1" u="none" strike="noStrike" kern="0" cap="none" spc="0" normalizeH="0" baseline="0" noProof="0" dirty="0" smtClean="0">
                <a:ln>
                  <a:noFill/>
                </a:ln>
                <a:solidFill>
                  <a:srgbClr val="000099"/>
                </a:solidFill>
                <a:effectLst/>
                <a:uLnTx/>
                <a:uFillTx/>
                <a:latin typeface="Arial"/>
                <a:sym typeface="Arial"/>
              </a:rPr>
              <a:t>.</a:t>
            </a:r>
          </a:p>
          <a:p>
            <a:pPr marL="342900" lvl="0" indent="-342900">
              <a:lnSpc>
                <a:spcPct val="90000"/>
              </a:lnSpc>
              <a:spcBef>
                <a:spcPts val="0"/>
              </a:spcBef>
              <a:buClrTx/>
              <a:buSzPts val="1800"/>
              <a:buFont typeface="Noto Sans Symbols"/>
              <a:buChar char="⮚"/>
              <a:defRPr/>
            </a:pPr>
            <a:endParaRPr lang="en-US" sz="1600" b="1" i="1" dirty="0" smtClean="0">
              <a:solidFill>
                <a:srgbClr val="FF0000"/>
              </a:solidFill>
              <a:latin typeface="Arial"/>
            </a:endParaRPr>
          </a:p>
          <a:p>
            <a:pPr marL="342900" lvl="0" indent="-342900">
              <a:lnSpc>
                <a:spcPct val="90000"/>
              </a:lnSpc>
              <a:spcBef>
                <a:spcPts val="0"/>
              </a:spcBef>
              <a:buClrTx/>
              <a:buSzPts val="1800"/>
              <a:buFont typeface="Noto Sans Symbols"/>
              <a:buChar char="⮚"/>
              <a:defRPr/>
            </a:pPr>
            <a:r>
              <a:rPr lang="en-US" sz="1600" b="1" i="1" dirty="0" smtClean="0">
                <a:solidFill>
                  <a:srgbClr val="FF0000"/>
                </a:solidFill>
                <a:latin typeface="Arial"/>
              </a:rPr>
              <a:t>Example LC-S: </a:t>
            </a:r>
            <a:r>
              <a:rPr lang="en-US" sz="1600" b="1" i="1" dirty="0">
                <a:solidFill>
                  <a:srgbClr val="FF0000"/>
                </a:solidFill>
                <a:latin typeface="Arial"/>
              </a:rPr>
              <a:t>The documentation program </a:t>
            </a:r>
            <a:r>
              <a:rPr lang="en-US" sz="1600" b="1" i="1" dirty="0" smtClean="0">
                <a:solidFill>
                  <a:srgbClr val="FF0000"/>
                </a:solidFill>
                <a:latin typeface="Arial"/>
              </a:rPr>
              <a:t>did not include a standard that describes how to inventory and catalogue the manufacturer’s drawings and operations / maintenance manual, nor provide ready-reference filing numbers for employees to access these documents. </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fr-FR" altLang="en-US"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Explore RME #11) Operations &amp; Facilities Information &amp; Documentation:</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Tree>
    <p:extLst>
      <p:ext uri="{BB962C8B-B14F-4D97-AF65-F5344CB8AC3E}">
        <p14:creationId xmlns:p14="http://schemas.microsoft.com/office/powerpoint/2010/main" val="169694198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Although the manager of the facility </a:t>
            </a: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within </a:t>
            </a:r>
            <a:r>
              <a:rPr lang="en-CA" alt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 organization </a:t>
            </a: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 ultimately </a:t>
            </a:r>
            <a:r>
              <a:rPr lang="en-CA" altLang="en-US" sz="16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responsible for effective implementation and </a:t>
            </a:r>
            <a:r>
              <a:rPr lang="en-CA" altLang="en-US" sz="16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execution, </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various levels of management,</a:t>
            </a:r>
            <a:r>
              <a:rPr kumimoji="0" lang="en-CA" altLang="en-US" sz="16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various departments, and various “expertise centres” own (effectively manage the implementation of) specific risk management system elements. </a:t>
            </a:r>
            <a:endPar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RM Element Owners: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graphicFrame>
        <p:nvGraphicFramePr>
          <p:cNvPr id="3" name="Table 2"/>
          <p:cNvGraphicFramePr>
            <a:graphicFrameLocks noGrp="1"/>
          </p:cNvGraphicFramePr>
          <p:nvPr>
            <p:extLst>
              <p:ext uri="{D42A27DB-BD31-4B8C-83A1-F6EECF244321}">
                <p14:modId xmlns:p14="http://schemas.microsoft.com/office/powerpoint/2010/main" val="2822847846"/>
              </p:ext>
            </p:extLst>
          </p:nvPr>
        </p:nvGraphicFramePr>
        <p:xfrm>
          <a:off x="180000" y="1883149"/>
          <a:ext cx="8772750" cy="4376502"/>
        </p:xfrm>
        <a:graphic>
          <a:graphicData uri="http://schemas.openxmlformats.org/drawingml/2006/table">
            <a:tbl>
              <a:tblPr firstRow="1" bandRow="1">
                <a:tableStyleId>{10A1B5D5-9B99-4C35-A422-299274C87663}</a:tableStyleId>
              </a:tblPr>
              <a:tblGrid>
                <a:gridCol w="1211920">
                  <a:extLst>
                    <a:ext uri="{9D8B030D-6E8A-4147-A177-3AD203B41FA5}">
                      <a16:colId xmlns:a16="http://schemas.microsoft.com/office/drawing/2014/main" val="3419579472"/>
                    </a:ext>
                  </a:extLst>
                </a:gridCol>
                <a:gridCol w="7560830">
                  <a:extLst>
                    <a:ext uri="{9D8B030D-6E8A-4147-A177-3AD203B41FA5}">
                      <a16:colId xmlns:a16="http://schemas.microsoft.com/office/drawing/2014/main" val="3252069404"/>
                    </a:ext>
                  </a:extLst>
                </a:gridCol>
              </a:tblGrid>
              <a:tr h="349650">
                <a:tc>
                  <a:txBody>
                    <a:bodyPr/>
                    <a:lstStyle/>
                    <a:p>
                      <a:pPr>
                        <a:lnSpc>
                          <a:spcPct val="90000"/>
                        </a:lnSpc>
                      </a:pPr>
                      <a:r>
                        <a:rPr lang="en-US" sz="1600" dirty="0" smtClean="0"/>
                        <a:t>Element #</a:t>
                      </a:r>
                      <a:endParaRPr lang="en-US" sz="1600" dirty="0"/>
                    </a:p>
                  </a:txBody>
                  <a:tcPr/>
                </a:tc>
                <a:tc>
                  <a:txBody>
                    <a:bodyPr/>
                    <a:lstStyle/>
                    <a:p>
                      <a:pPr>
                        <a:lnSpc>
                          <a:spcPct val="90000"/>
                        </a:lnSpc>
                      </a:pPr>
                      <a:r>
                        <a:rPr lang="en-US" sz="1600" dirty="0" smtClean="0"/>
                        <a:t>“Owner”</a:t>
                      </a:r>
                      <a:endParaRPr lang="en-US" sz="1600" dirty="0"/>
                    </a:p>
                  </a:txBody>
                  <a:tcPr/>
                </a:tc>
                <a:extLst>
                  <a:ext uri="{0D108BD9-81ED-4DB2-BD59-A6C34878D82A}">
                    <a16:rowId xmlns:a16="http://schemas.microsoft.com/office/drawing/2014/main" val="4274840609"/>
                  </a:ext>
                </a:extLst>
              </a:tr>
              <a:tr h="349650">
                <a:tc>
                  <a:txBody>
                    <a:bodyPr/>
                    <a:lstStyle/>
                    <a:p>
                      <a:pPr>
                        <a:lnSpc>
                          <a:spcPct val="90000"/>
                        </a:lnSpc>
                      </a:pPr>
                      <a:r>
                        <a:rPr lang="en-US" sz="1600" dirty="0" smtClean="0"/>
                        <a:t>#1 MLC&amp;A</a:t>
                      </a:r>
                      <a:endParaRPr lang="en-US" sz="1600" dirty="0"/>
                    </a:p>
                  </a:txBody>
                  <a:tcPr/>
                </a:tc>
                <a:tc>
                  <a:txBody>
                    <a:bodyPr/>
                    <a:lstStyle/>
                    <a:p>
                      <a:pPr>
                        <a:lnSpc>
                          <a:spcPct val="90000"/>
                        </a:lnSpc>
                      </a:pPr>
                      <a:r>
                        <a:rPr lang="en-US" sz="1600" dirty="0" smtClean="0"/>
                        <a:t>The most senior management for a company, a division, a department, or a facility. </a:t>
                      </a:r>
                      <a:endParaRPr lang="en-US" sz="1600" dirty="0"/>
                    </a:p>
                  </a:txBody>
                  <a:tcPr/>
                </a:tc>
                <a:extLst>
                  <a:ext uri="{0D108BD9-81ED-4DB2-BD59-A6C34878D82A}">
                    <a16:rowId xmlns:a16="http://schemas.microsoft.com/office/drawing/2014/main" val="3569744417"/>
                  </a:ext>
                </a:extLst>
              </a:tr>
              <a:tr h="349650">
                <a:tc>
                  <a:txBody>
                    <a:bodyPr/>
                    <a:lstStyle/>
                    <a:p>
                      <a:pPr>
                        <a:lnSpc>
                          <a:spcPct val="90000"/>
                        </a:lnSpc>
                      </a:pPr>
                      <a:r>
                        <a:rPr lang="en-US" sz="1600" dirty="0" smtClean="0"/>
                        <a:t>#2</a:t>
                      </a:r>
                      <a:r>
                        <a:rPr lang="en-US" sz="1600" baseline="0" dirty="0" smtClean="0"/>
                        <a:t> RA&amp;MR</a:t>
                      </a:r>
                      <a:endParaRPr lang="en-US" sz="1600" dirty="0"/>
                    </a:p>
                  </a:txBody>
                  <a:tcPr/>
                </a:tc>
                <a:tc>
                  <a:txBody>
                    <a:bodyPr/>
                    <a:lstStyle/>
                    <a:p>
                      <a:pPr>
                        <a:lnSpc>
                          <a:spcPct val="90000"/>
                        </a:lnSpc>
                      </a:pPr>
                      <a:r>
                        <a:rPr lang="en-US" sz="1600" dirty="0" smtClean="0"/>
                        <a:t>Safety / Risk Engineering, Occupational Health,</a:t>
                      </a:r>
                      <a:r>
                        <a:rPr lang="en-US" sz="1600" baseline="0" dirty="0" smtClean="0"/>
                        <a:t> Job Safety Experts</a:t>
                      </a:r>
                      <a:endParaRPr lang="en-US" sz="1600" dirty="0"/>
                    </a:p>
                  </a:txBody>
                  <a:tcPr/>
                </a:tc>
                <a:extLst>
                  <a:ext uri="{0D108BD9-81ED-4DB2-BD59-A6C34878D82A}">
                    <a16:rowId xmlns:a16="http://schemas.microsoft.com/office/drawing/2014/main" val="560492388"/>
                  </a:ext>
                </a:extLst>
              </a:tr>
              <a:tr h="349650">
                <a:tc>
                  <a:txBody>
                    <a:bodyPr/>
                    <a:lstStyle/>
                    <a:p>
                      <a:pPr>
                        <a:lnSpc>
                          <a:spcPct val="90000"/>
                        </a:lnSpc>
                      </a:pPr>
                      <a:r>
                        <a:rPr lang="en-US" sz="1600" dirty="0" smtClean="0"/>
                        <a:t>#3 CA&amp;EP</a:t>
                      </a:r>
                      <a:endParaRPr lang="en-US" sz="1600" dirty="0"/>
                    </a:p>
                  </a:txBody>
                  <a:tcPr/>
                </a:tc>
                <a:tc>
                  <a:txBody>
                    <a:bodyPr/>
                    <a:lstStyle/>
                    <a:p>
                      <a:pPr>
                        <a:lnSpc>
                          <a:spcPct val="90000"/>
                        </a:lnSpc>
                      </a:pPr>
                      <a:r>
                        <a:rPr lang="en-US" sz="1600" dirty="0" smtClean="0"/>
                        <a:t>CA: Public Relations and Communications; EP: Company Emergency</a:t>
                      </a:r>
                      <a:r>
                        <a:rPr lang="en-US" sz="1600" baseline="0" dirty="0" smtClean="0"/>
                        <a:t> Services</a:t>
                      </a:r>
                      <a:endParaRPr lang="en-US" sz="1600" dirty="0"/>
                    </a:p>
                  </a:txBody>
                  <a:tcPr/>
                </a:tc>
                <a:extLst>
                  <a:ext uri="{0D108BD9-81ED-4DB2-BD59-A6C34878D82A}">
                    <a16:rowId xmlns:a16="http://schemas.microsoft.com/office/drawing/2014/main" val="3314611478"/>
                  </a:ext>
                </a:extLst>
              </a:tr>
              <a:tr h="349650">
                <a:tc>
                  <a:txBody>
                    <a:bodyPr/>
                    <a:lstStyle/>
                    <a:p>
                      <a:pPr>
                        <a:lnSpc>
                          <a:spcPct val="90000"/>
                        </a:lnSpc>
                      </a:pPr>
                      <a:r>
                        <a:rPr lang="en-US" sz="1600" dirty="0" smtClean="0"/>
                        <a:t>#4 MOC</a:t>
                      </a:r>
                      <a:endParaRPr lang="en-US" sz="1600" dirty="0"/>
                    </a:p>
                  </a:txBody>
                  <a:tcPr/>
                </a:tc>
                <a:tc>
                  <a:txBody>
                    <a:bodyPr/>
                    <a:lstStyle/>
                    <a:p>
                      <a:pPr>
                        <a:lnSpc>
                          <a:spcPct val="90000"/>
                        </a:lnSpc>
                      </a:pPr>
                      <a:r>
                        <a:rPr lang="en-US" sz="1600" dirty="0" smtClean="0"/>
                        <a:t>Safety Expertise (safety department)</a:t>
                      </a:r>
                      <a:endParaRPr lang="en-US" sz="1600" dirty="0"/>
                    </a:p>
                  </a:txBody>
                  <a:tcPr/>
                </a:tc>
                <a:extLst>
                  <a:ext uri="{0D108BD9-81ED-4DB2-BD59-A6C34878D82A}">
                    <a16:rowId xmlns:a16="http://schemas.microsoft.com/office/drawing/2014/main" val="3097108283"/>
                  </a:ext>
                </a:extLst>
              </a:tr>
              <a:tr h="349650">
                <a:tc>
                  <a:txBody>
                    <a:bodyPr/>
                    <a:lstStyle/>
                    <a:p>
                      <a:pPr>
                        <a:lnSpc>
                          <a:spcPct val="90000"/>
                        </a:lnSpc>
                      </a:pPr>
                      <a:r>
                        <a:rPr lang="en-US" sz="1600" dirty="0" smtClean="0"/>
                        <a:t>#5 IRIAA</a:t>
                      </a:r>
                      <a:endParaRPr lang="en-US" sz="1600" dirty="0"/>
                    </a:p>
                  </a:txBody>
                  <a:tcPr/>
                </a:tc>
                <a:tc>
                  <a:txBody>
                    <a:bodyPr/>
                    <a:lstStyle/>
                    <a:p>
                      <a:pPr marL="0" marR="0" indent="0" algn="l" defTabSz="914400" rtl="0" eaLnBrk="1" fontAlgn="auto" latinLnBrk="0" hangingPunct="1">
                        <a:lnSpc>
                          <a:spcPct val="90000"/>
                        </a:lnSpc>
                        <a:spcBef>
                          <a:spcPts val="0"/>
                        </a:spcBef>
                        <a:spcAft>
                          <a:spcPts val="0"/>
                        </a:spcAft>
                        <a:buClrTx/>
                        <a:buSzTx/>
                        <a:buFontTx/>
                        <a:buNone/>
                        <a:tabLst/>
                        <a:defRPr/>
                      </a:pPr>
                      <a:r>
                        <a:rPr lang="en-US" sz="1600" dirty="0" smtClean="0"/>
                        <a:t>Safety Expertise (safety department) in Technical Safety or Occupational Safety</a:t>
                      </a:r>
                      <a:endParaRPr lang="en-US" sz="1600" dirty="0"/>
                    </a:p>
                  </a:txBody>
                  <a:tcPr/>
                </a:tc>
                <a:extLst>
                  <a:ext uri="{0D108BD9-81ED-4DB2-BD59-A6C34878D82A}">
                    <a16:rowId xmlns:a16="http://schemas.microsoft.com/office/drawing/2014/main" val="3564849388"/>
                  </a:ext>
                </a:extLst>
              </a:tr>
              <a:tr h="349650">
                <a:tc>
                  <a:txBody>
                    <a:bodyPr/>
                    <a:lstStyle/>
                    <a:p>
                      <a:pPr>
                        <a:lnSpc>
                          <a:spcPct val="90000"/>
                        </a:lnSpc>
                      </a:pPr>
                      <a:r>
                        <a:rPr lang="en-US" sz="1600" dirty="0" smtClean="0"/>
                        <a:t>#6 PE&amp;CI</a:t>
                      </a:r>
                      <a:endParaRPr lang="en-US" sz="1600" dirty="0"/>
                    </a:p>
                  </a:txBody>
                  <a:tcPr/>
                </a:tc>
                <a:tc>
                  <a:txBody>
                    <a:bodyPr/>
                    <a:lstStyle/>
                    <a:p>
                      <a:pPr>
                        <a:lnSpc>
                          <a:spcPct val="90000"/>
                        </a:lnSpc>
                      </a:pPr>
                      <a:r>
                        <a:rPr lang="en-US" sz="1600" dirty="0" smtClean="0"/>
                        <a:t>Audit Expertise Centre</a:t>
                      </a:r>
                      <a:endParaRPr lang="en-US" sz="1600" dirty="0"/>
                    </a:p>
                  </a:txBody>
                  <a:tcPr/>
                </a:tc>
                <a:extLst>
                  <a:ext uri="{0D108BD9-81ED-4DB2-BD59-A6C34878D82A}">
                    <a16:rowId xmlns:a16="http://schemas.microsoft.com/office/drawing/2014/main" val="670408249"/>
                  </a:ext>
                </a:extLst>
              </a:tr>
              <a:tr h="349650">
                <a:tc>
                  <a:txBody>
                    <a:bodyPr/>
                    <a:lstStyle/>
                    <a:p>
                      <a:pPr>
                        <a:lnSpc>
                          <a:spcPct val="90000"/>
                        </a:lnSpc>
                      </a:pPr>
                      <a:r>
                        <a:rPr lang="en-US" sz="1600" dirty="0" smtClean="0"/>
                        <a:t>#7 DC&amp;SU</a:t>
                      </a:r>
                      <a:endParaRPr lang="en-US" sz="1600" dirty="0"/>
                    </a:p>
                  </a:txBody>
                  <a:tcPr/>
                </a:tc>
                <a:tc>
                  <a:txBody>
                    <a:bodyPr/>
                    <a:lstStyle/>
                    <a:p>
                      <a:pPr>
                        <a:lnSpc>
                          <a:spcPct val="90000"/>
                        </a:lnSpc>
                      </a:pPr>
                      <a:r>
                        <a:rPr lang="en-US" sz="1600" dirty="0" smtClean="0"/>
                        <a:t>Engineering,</a:t>
                      </a:r>
                      <a:r>
                        <a:rPr lang="en-US" sz="1600" baseline="0" dirty="0" smtClean="0"/>
                        <a:t> Project Management, Construction Department</a:t>
                      </a:r>
                      <a:endParaRPr lang="en-US" sz="1600" dirty="0"/>
                    </a:p>
                  </a:txBody>
                  <a:tcPr/>
                </a:tc>
                <a:extLst>
                  <a:ext uri="{0D108BD9-81ED-4DB2-BD59-A6C34878D82A}">
                    <a16:rowId xmlns:a16="http://schemas.microsoft.com/office/drawing/2014/main" val="4208581056"/>
                  </a:ext>
                </a:extLst>
              </a:tr>
              <a:tr h="349650">
                <a:tc>
                  <a:txBody>
                    <a:bodyPr/>
                    <a:lstStyle/>
                    <a:p>
                      <a:pPr>
                        <a:lnSpc>
                          <a:spcPct val="90000"/>
                        </a:lnSpc>
                      </a:pPr>
                      <a:r>
                        <a:rPr lang="en-US" sz="1600" dirty="0" smtClean="0"/>
                        <a:t>#8 O&amp;M</a:t>
                      </a:r>
                      <a:endParaRPr lang="en-US" sz="1600" dirty="0"/>
                    </a:p>
                  </a:txBody>
                  <a:tcPr/>
                </a:tc>
                <a:tc>
                  <a:txBody>
                    <a:bodyPr/>
                    <a:lstStyle/>
                    <a:p>
                      <a:pPr>
                        <a:lnSpc>
                          <a:spcPct val="90000"/>
                        </a:lnSpc>
                      </a:pPr>
                      <a:r>
                        <a:rPr lang="en-US" sz="1600" dirty="0" smtClean="0"/>
                        <a:t>Operating</a:t>
                      </a:r>
                      <a:r>
                        <a:rPr lang="en-US" sz="1600" baseline="0" dirty="0" smtClean="0"/>
                        <a:t> Facilities (Plants); Maintenance Departments</a:t>
                      </a:r>
                      <a:endParaRPr lang="en-US" sz="1600" dirty="0"/>
                    </a:p>
                  </a:txBody>
                  <a:tcPr/>
                </a:tc>
                <a:extLst>
                  <a:ext uri="{0D108BD9-81ED-4DB2-BD59-A6C34878D82A}">
                    <a16:rowId xmlns:a16="http://schemas.microsoft.com/office/drawing/2014/main" val="779414941"/>
                  </a:ext>
                </a:extLst>
              </a:tr>
              <a:tr h="349650">
                <a:tc>
                  <a:txBody>
                    <a:bodyPr/>
                    <a:lstStyle/>
                    <a:p>
                      <a:pPr>
                        <a:lnSpc>
                          <a:spcPct val="90000"/>
                        </a:lnSpc>
                      </a:pPr>
                      <a:r>
                        <a:rPr lang="en-US" sz="1600" dirty="0" smtClean="0"/>
                        <a:t>#9 EC&amp;T</a:t>
                      </a:r>
                      <a:endParaRPr lang="en-US" sz="1600" dirty="0"/>
                    </a:p>
                  </a:txBody>
                  <a:tcPr/>
                </a:tc>
                <a:tc>
                  <a:txBody>
                    <a:bodyPr/>
                    <a:lstStyle/>
                    <a:p>
                      <a:pPr>
                        <a:lnSpc>
                          <a:spcPct val="90000"/>
                        </a:lnSpc>
                      </a:pPr>
                      <a:r>
                        <a:rPr lang="en-US" sz="1600" dirty="0" smtClean="0"/>
                        <a:t>Training Department</a:t>
                      </a:r>
                      <a:endParaRPr lang="en-US" sz="1600" dirty="0"/>
                    </a:p>
                  </a:txBody>
                  <a:tcPr/>
                </a:tc>
                <a:extLst>
                  <a:ext uri="{0D108BD9-81ED-4DB2-BD59-A6C34878D82A}">
                    <a16:rowId xmlns:a16="http://schemas.microsoft.com/office/drawing/2014/main" val="1194582970"/>
                  </a:ext>
                </a:extLst>
              </a:tr>
              <a:tr h="349650">
                <a:tc>
                  <a:txBody>
                    <a:bodyPr/>
                    <a:lstStyle/>
                    <a:p>
                      <a:pPr>
                        <a:lnSpc>
                          <a:spcPct val="90000"/>
                        </a:lnSpc>
                      </a:pPr>
                      <a:r>
                        <a:rPr lang="en-US" sz="1600" dirty="0" smtClean="0"/>
                        <a:t>#10 CC&amp;I</a:t>
                      </a:r>
                      <a:endParaRPr lang="en-US" sz="1600" dirty="0"/>
                    </a:p>
                  </a:txBody>
                  <a:tcPr/>
                </a:tc>
                <a:tc>
                  <a:txBody>
                    <a:bodyPr/>
                    <a:lstStyle/>
                    <a:p>
                      <a:pPr>
                        <a:lnSpc>
                          <a:spcPct val="90000"/>
                        </a:lnSpc>
                      </a:pPr>
                      <a:r>
                        <a:rPr lang="en-US" sz="1600" dirty="0" smtClean="0"/>
                        <a:t>Contractor Management Department</a:t>
                      </a:r>
                      <a:endParaRPr lang="en-US" sz="1600" dirty="0"/>
                    </a:p>
                  </a:txBody>
                  <a:tcPr/>
                </a:tc>
                <a:extLst>
                  <a:ext uri="{0D108BD9-81ED-4DB2-BD59-A6C34878D82A}">
                    <a16:rowId xmlns:a16="http://schemas.microsoft.com/office/drawing/2014/main" val="473149270"/>
                  </a:ext>
                </a:extLst>
              </a:tr>
              <a:tr h="349650">
                <a:tc>
                  <a:txBody>
                    <a:bodyPr/>
                    <a:lstStyle/>
                    <a:p>
                      <a:pPr>
                        <a:lnSpc>
                          <a:spcPct val="90000"/>
                        </a:lnSpc>
                      </a:pPr>
                      <a:r>
                        <a:rPr lang="en-US" sz="1600" dirty="0" smtClean="0"/>
                        <a:t>#11</a:t>
                      </a:r>
                      <a:r>
                        <a:rPr lang="en-US" sz="1600" baseline="0" dirty="0" smtClean="0"/>
                        <a:t> OFID</a:t>
                      </a:r>
                      <a:endParaRPr lang="en-US" sz="1600" dirty="0"/>
                    </a:p>
                  </a:txBody>
                  <a:tcPr/>
                </a:tc>
                <a:tc>
                  <a:txBody>
                    <a:bodyPr/>
                    <a:lstStyle/>
                    <a:p>
                      <a:pPr>
                        <a:lnSpc>
                          <a:spcPct val="90000"/>
                        </a:lnSpc>
                      </a:pPr>
                      <a:r>
                        <a:rPr lang="en-US" sz="1600" dirty="0" smtClean="0"/>
                        <a:t>Document</a:t>
                      </a:r>
                      <a:r>
                        <a:rPr lang="en-US" sz="1600" baseline="0" dirty="0" smtClean="0"/>
                        <a:t> Control (Engineering Files and Records) Department</a:t>
                      </a:r>
                      <a:endParaRPr lang="en-US" sz="1600" dirty="0"/>
                    </a:p>
                  </a:txBody>
                  <a:tcPr/>
                </a:tc>
                <a:extLst>
                  <a:ext uri="{0D108BD9-81ED-4DB2-BD59-A6C34878D82A}">
                    <a16:rowId xmlns:a16="http://schemas.microsoft.com/office/drawing/2014/main" val="3236498129"/>
                  </a:ext>
                </a:extLst>
              </a:tr>
            </a:tbl>
          </a:graphicData>
        </a:graphic>
      </p:graphicFrame>
    </p:spTree>
    <p:extLst>
      <p:ext uri="{BB962C8B-B14F-4D97-AF65-F5344CB8AC3E}">
        <p14:creationId xmlns:p14="http://schemas.microsoft.com/office/powerpoint/2010/main" val="370176173"/>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0000FF"/>
          </a:solidFill>
          <a:ln w="9525">
            <a:solidFill>
              <a:srgbClr val="000000"/>
            </a:solidFill>
            <a:miter lim="800000"/>
            <a:headEnd/>
            <a:tailEnd/>
          </a:ln>
        </p:spPr>
        <p:txBody>
          <a:bodyPr anchor="t"/>
          <a:lstStyle/>
          <a:p>
            <a:pPr>
              <a:spcBef>
                <a:spcPct val="0"/>
              </a:spcBef>
              <a:buClrTx/>
            </a:pPr>
            <a:r>
              <a:rPr lang="en-US" altLang="en-US" sz="1800" i="1" dirty="0">
                <a:solidFill>
                  <a:schemeClr val="bg1"/>
                </a:solidFill>
                <a:latin typeface="Arial" panose="020B0604020202020204" pitchFamily="34" charset="0"/>
                <a:ea typeface="+mj-ea"/>
                <a:cs typeface="Arial" panose="020B0604020202020204" pitchFamily="34" charset="0"/>
              </a:rPr>
              <a:t>Please confer on </a:t>
            </a:r>
            <a:r>
              <a:rPr lang="en-US" altLang="en-US" sz="1800" i="1" dirty="0" smtClean="0">
                <a:solidFill>
                  <a:schemeClr val="bg1"/>
                </a:solidFill>
                <a:latin typeface="Arial" panose="020B0604020202020204" pitchFamily="34" charset="0"/>
                <a:ea typeface="+mj-ea"/>
                <a:cs typeface="Arial" panose="020B0604020202020204" pitchFamily="34" charset="0"/>
              </a:rPr>
              <a:t>these questions: How </a:t>
            </a:r>
            <a:r>
              <a:rPr lang="en-US" altLang="en-US" sz="1800" i="1" dirty="0">
                <a:solidFill>
                  <a:schemeClr val="bg1"/>
                </a:solidFill>
                <a:latin typeface="Arial" panose="020B0604020202020204" pitchFamily="34" charset="0"/>
                <a:ea typeface="+mj-ea"/>
                <a:cs typeface="Arial" panose="020B0604020202020204" pitchFamily="34" charset="0"/>
              </a:rPr>
              <a:t>are RME #1 MLCA &amp; #6 PECI integrated with the “know-how / how-to” (operations) of risk </a:t>
            </a:r>
            <a:r>
              <a:rPr lang="en-US" altLang="en-US" sz="1800" i="1" dirty="0" smtClean="0">
                <a:solidFill>
                  <a:schemeClr val="bg1"/>
                </a:solidFill>
                <a:latin typeface="Arial" panose="020B0604020202020204" pitchFamily="34" charset="0"/>
                <a:ea typeface="+mj-ea"/>
                <a:cs typeface="Arial" panose="020B0604020202020204" pitchFamily="34" charset="0"/>
              </a:rPr>
              <a:t>management?</a:t>
            </a:r>
          </a:p>
          <a:p>
            <a:pPr>
              <a:spcBef>
                <a:spcPct val="0"/>
              </a:spcBef>
              <a:buClrTx/>
            </a:pPr>
            <a:endParaRPr lang="en-US" altLang="en-US" sz="1800" i="1" dirty="0" smtClean="0">
              <a:solidFill>
                <a:schemeClr val="bg1"/>
              </a:solidFill>
              <a:latin typeface="Arial" panose="020B0604020202020204" pitchFamily="34" charset="0"/>
              <a:ea typeface="+mj-ea"/>
              <a:cs typeface="Arial" panose="020B0604020202020204" pitchFamily="34" charset="0"/>
            </a:endParaRPr>
          </a:p>
          <a:p>
            <a:pPr>
              <a:spcBef>
                <a:spcPct val="0"/>
              </a:spcBef>
              <a:buClrTx/>
            </a:pPr>
            <a:r>
              <a:rPr lang="en-US" altLang="en-US" sz="1800" b="1" i="1" dirty="0">
                <a:solidFill>
                  <a:schemeClr val="bg1"/>
                </a:solidFill>
                <a:latin typeface="Arial" panose="020B0604020202020204" pitchFamily="34" charset="0"/>
                <a:ea typeface="+mj-ea"/>
                <a:cs typeface="Arial" panose="020B0604020202020204" pitchFamily="34" charset="0"/>
              </a:rPr>
              <a:t>What does #1 MLCA do?                                                What does #6 PECI do? </a:t>
            </a:r>
            <a:br>
              <a:rPr lang="en-US" altLang="en-US" sz="1800" b="1" i="1" dirty="0">
                <a:solidFill>
                  <a:schemeClr val="bg1"/>
                </a:solidFill>
                <a:latin typeface="Arial" panose="020B0604020202020204" pitchFamily="34" charset="0"/>
                <a:ea typeface="+mj-ea"/>
                <a:cs typeface="Arial" panose="020B0604020202020204" pitchFamily="34" charset="0"/>
              </a:rPr>
            </a:br>
            <a:r>
              <a:rPr lang="en-US" altLang="en-US" sz="1800" b="1" i="1" dirty="0">
                <a:solidFill>
                  <a:schemeClr val="bg1"/>
                </a:solidFill>
                <a:latin typeface="Arial" panose="020B0604020202020204" pitchFamily="34" charset="0"/>
                <a:cs typeface="Arial" panose="020B0604020202020204" pitchFamily="34" charset="0"/>
              </a:rPr>
              <a:t> (MM-Poll</a:t>
            </a:r>
            <a:r>
              <a:rPr lang="en-US" altLang="en-US" sz="1800" b="1" i="1" dirty="0" smtClean="0">
                <a:solidFill>
                  <a:schemeClr val="bg1"/>
                </a:solidFill>
                <a:latin typeface="Arial" panose="020B0604020202020204" pitchFamily="34" charset="0"/>
                <a:cs typeface="Arial" panose="020B0604020202020204" pitchFamily="34" charset="0"/>
              </a:rPr>
              <a:t>)                                                                                       (</a:t>
            </a:r>
            <a:r>
              <a:rPr lang="en-US" altLang="en-US" sz="1800" b="1" i="1" dirty="0">
                <a:solidFill>
                  <a:schemeClr val="bg1"/>
                </a:solidFill>
                <a:latin typeface="Arial" panose="020B0604020202020204" pitchFamily="34" charset="0"/>
                <a:cs typeface="Arial" panose="020B0604020202020204" pitchFamily="34" charset="0"/>
              </a:rPr>
              <a:t>MM-Poll</a:t>
            </a:r>
            <a:r>
              <a:rPr lang="en-US" altLang="en-US" sz="1800" b="1" i="1" dirty="0" smtClean="0">
                <a:solidFill>
                  <a:schemeClr val="bg1"/>
                </a:solidFill>
                <a:latin typeface="Arial" panose="020B0604020202020204" pitchFamily="34" charset="0"/>
                <a:cs typeface="Arial" panose="020B0604020202020204" pitchFamily="34" charset="0"/>
              </a:rPr>
              <a:t>)</a:t>
            </a:r>
            <a:br>
              <a:rPr lang="en-US" altLang="en-US" sz="1800" b="1" i="1" dirty="0" smtClean="0">
                <a:solidFill>
                  <a:schemeClr val="bg1"/>
                </a:solidFill>
                <a:latin typeface="Arial" panose="020B0604020202020204" pitchFamily="34" charset="0"/>
                <a:cs typeface="Arial" panose="020B0604020202020204" pitchFamily="34" charset="0"/>
              </a:rPr>
            </a:br>
            <a:endParaRPr lang="en-US" altLang="en-US" sz="1800" b="1" i="1" dirty="0" smtClean="0">
              <a:solidFill>
                <a:schemeClr val="bg1"/>
              </a:solidFill>
              <a:latin typeface="Arial" panose="020B0604020202020204" pitchFamily="34" charset="0"/>
              <a:ea typeface="+mj-ea"/>
              <a:cs typeface="Arial" panose="020B0604020202020204" pitchFamily="34" charset="0"/>
            </a:endParaRPr>
          </a:p>
          <a:p>
            <a:pPr>
              <a:spcBef>
                <a:spcPct val="0"/>
              </a:spcBef>
              <a:buClrTx/>
            </a:pPr>
            <a:r>
              <a:rPr lang="en-US" altLang="en-US" sz="1800" b="1" i="1" dirty="0" smtClean="0">
                <a:solidFill>
                  <a:schemeClr val="bg1"/>
                </a:solidFill>
                <a:latin typeface="Arial" panose="020B0604020202020204" pitchFamily="34" charset="0"/>
                <a:ea typeface="+mj-ea"/>
                <a:cs typeface="Arial" panose="020B0604020202020204" pitchFamily="34" charset="0"/>
              </a:rPr>
              <a:t>How </a:t>
            </a:r>
            <a:r>
              <a:rPr lang="en-US" altLang="en-US" sz="1800" b="1" i="1" dirty="0" smtClean="0">
                <a:solidFill>
                  <a:schemeClr val="bg1"/>
                </a:solidFill>
                <a:latin typeface="Arial" panose="020B0604020202020204" pitchFamily="34" charset="0"/>
                <a:ea typeface="+mj-ea"/>
                <a:cs typeface="Arial" panose="020B0604020202020204" pitchFamily="34" charset="0"/>
              </a:rPr>
              <a:t>are RMEs #1 and #6 integrated in risk management</a:t>
            </a:r>
            <a:r>
              <a:rPr lang="en-US" altLang="en-US" sz="1800" b="1" i="1" dirty="0" smtClean="0">
                <a:solidFill>
                  <a:schemeClr val="bg1"/>
                </a:solidFill>
                <a:latin typeface="Arial" panose="020B0604020202020204" pitchFamily="34" charset="0"/>
                <a:ea typeface="+mj-ea"/>
                <a:cs typeface="Arial" panose="020B0604020202020204" pitchFamily="34" charset="0"/>
              </a:rPr>
              <a:t>?</a:t>
            </a:r>
            <a:r>
              <a:rPr lang="en-US" altLang="en-US" sz="1800" b="1" i="1" dirty="0" smtClean="0">
                <a:solidFill>
                  <a:schemeClr val="bg1"/>
                </a:solidFill>
                <a:latin typeface="Arial" panose="020B0604020202020204" pitchFamily="34" charset="0"/>
                <a:cs typeface="Arial" panose="020B0604020202020204" pitchFamily="34" charset="0"/>
              </a:rPr>
              <a:t> </a:t>
            </a:r>
            <a:r>
              <a:rPr lang="en-US" altLang="en-US" sz="1800" b="1" i="1" dirty="0">
                <a:solidFill>
                  <a:schemeClr val="bg1"/>
                </a:solidFill>
                <a:latin typeface="Arial" panose="020B0604020202020204" pitchFamily="34" charset="0"/>
                <a:cs typeface="Arial" panose="020B0604020202020204" pitchFamily="34" charset="0"/>
              </a:rPr>
              <a:t>(open discussion</a:t>
            </a:r>
            <a:r>
              <a:rPr lang="en-US" altLang="en-US" sz="1800" b="1" i="1" dirty="0">
                <a:solidFill>
                  <a:schemeClr val="bg1"/>
                </a:solidFill>
                <a:latin typeface="Arial" panose="020B0604020202020204" pitchFamily="34" charset="0"/>
                <a:cs typeface="Arial" panose="020B0604020202020204" pitchFamily="34" charset="0"/>
              </a:rPr>
              <a:t>)</a:t>
            </a:r>
          </a:p>
          <a:p>
            <a:pPr>
              <a:spcBef>
                <a:spcPct val="0"/>
              </a:spcBef>
              <a:buClrTx/>
              <a:buFont typeface="Arial" panose="020B0604020202020204" pitchFamily="34" charset="0"/>
              <a:buNone/>
            </a:pPr>
            <a:endParaRPr lang="en-US" altLang="en-US" sz="1800" b="1" i="1" dirty="0">
              <a:solidFill>
                <a:schemeClr val="bg1"/>
              </a:solidFill>
              <a:latin typeface="Arial" panose="020B0604020202020204" pitchFamily="34" charset="0"/>
              <a:ea typeface="+mj-ea"/>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0000FF"/>
          </a:solidFill>
          <a:ln w="9525">
            <a:solidFill>
              <a:srgbClr val="000000"/>
            </a:solidFill>
            <a:miter lim="800000"/>
            <a:headEnd/>
            <a:tailEnd/>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bg1"/>
                </a:solidFill>
                <a:latin typeface="Arial" panose="020B0604020202020204" pitchFamily="34" charset="0"/>
                <a:ea typeface="+mj-ea"/>
                <a:cs typeface="Arial" panose="020B0604020202020204" pitchFamily="34" charset="0"/>
              </a:rPr>
              <a:t>ALE: The APEGA Model – Driver, Evaluation, and Operations:</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
        <p:nvSpPr>
          <p:cNvPr id="3" name="Rectangle 2"/>
          <p:cNvSpPr/>
          <p:nvPr/>
        </p:nvSpPr>
        <p:spPr>
          <a:xfrm>
            <a:off x="251999" y="3228320"/>
            <a:ext cx="1821350" cy="2520000"/>
          </a:xfrm>
          <a:prstGeom prst="rect">
            <a:avLst/>
          </a:prstGeom>
          <a:solidFill>
            <a:srgbClr val="FFFF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sz="3200" b="1" dirty="0" smtClean="0">
                <a:solidFill>
                  <a:schemeClr val="tx1"/>
                </a:solidFill>
              </a:rPr>
              <a:t>#1 </a:t>
            </a:r>
            <a:br>
              <a:rPr lang="en-US" sz="3200" b="1" dirty="0" smtClean="0">
                <a:solidFill>
                  <a:schemeClr val="tx1"/>
                </a:solidFill>
              </a:rPr>
            </a:br>
            <a:r>
              <a:rPr lang="en-US" sz="3200" b="1" dirty="0" smtClean="0">
                <a:solidFill>
                  <a:schemeClr val="tx1"/>
                </a:solidFill>
              </a:rPr>
              <a:t>MLCA</a:t>
            </a:r>
            <a:endParaRPr lang="en-US" sz="3200" b="1" dirty="0">
              <a:solidFill>
                <a:schemeClr val="tx1"/>
              </a:solidFill>
            </a:endParaRPr>
          </a:p>
        </p:txBody>
      </p:sp>
      <p:sp>
        <p:nvSpPr>
          <p:cNvPr id="10" name="Rectangle 9"/>
          <p:cNvSpPr/>
          <p:nvPr/>
        </p:nvSpPr>
        <p:spPr>
          <a:xfrm>
            <a:off x="6868632" y="3228560"/>
            <a:ext cx="1915367" cy="2520000"/>
          </a:xfrm>
          <a:prstGeom prst="rect">
            <a:avLst/>
          </a:prstGeom>
          <a:solidFill>
            <a:srgbClr val="FFFF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tx1"/>
                </a:solidFill>
              </a:rPr>
              <a:t>#6 PECI</a:t>
            </a:r>
            <a:endParaRPr lang="en-US" sz="3200" b="1" dirty="0">
              <a:solidFill>
                <a:schemeClr val="tx1"/>
              </a:solidFill>
            </a:endParaRPr>
          </a:p>
        </p:txBody>
      </p:sp>
      <p:sp>
        <p:nvSpPr>
          <p:cNvPr id="2" name="Flowchart: Alternate Process 1"/>
          <p:cNvSpPr/>
          <p:nvPr/>
        </p:nvSpPr>
        <p:spPr>
          <a:xfrm>
            <a:off x="1926320" y="3139440"/>
            <a:ext cx="5114560" cy="2824480"/>
          </a:xfrm>
          <a:prstGeom prst="flowChartAlternateProcess">
            <a:avLst/>
          </a:prstGeom>
          <a:solidFill>
            <a:srgbClr val="00206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1"/>
          <a:lstStyle/>
          <a:p>
            <a:pPr lvl="0" algn="ctr"/>
            <a:r>
              <a:rPr lang="en-US" sz="1800" b="1" dirty="0">
                <a:solidFill>
                  <a:srgbClr val="FFFFFF"/>
                </a:solidFill>
                <a:cs typeface="Arial"/>
              </a:rPr>
              <a:t>“</a:t>
            </a:r>
            <a:r>
              <a:rPr lang="en-US" sz="1800" b="1" u="sng" dirty="0">
                <a:solidFill>
                  <a:srgbClr val="FFFFFF"/>
                </a:solidFill>
                <a:cs typeface="Arial"/>
              </a:rPr>
              <a:t>OPERATIONS</a:t>
            </a:r>
            <a:r>
              <a:rPr lang="en-US" sz="1800" b="1" dirty="0">
                <a:solidFill>
                  <a:srgbClr val="FFFFFF"/>
                </a:solidFill>
                <a:cs typeface="Arial"/>
              </a:rPr>
              <a:t>”</a:t>
            </a:r>
          </a:p>
          <a:p>
            <a:pPr algn="ctr"/>
            <a:r>
              <a:rPr lang="en-US" b="1" dirty="0" smtClean="0">
                <a:latin typeface="Arial" panose="020B0604020202020204" pitchFamily="34" charset="0"/>
                <a:cs typeface="Arial" panose="020B0604020202020204" pitchFamily="34" charset="0"/>
              </a:rPr>
              <a:t>#2 </a:t>
            </a:r>
            <a:r>
              <a:rPr lang="en-US" dirty="0" smtClean="0">
                <a:latin typeface="Arial" panose="020B0604020202020204" pitchFamily="34" charset="0"/>
                <a:cs typeface="Arial" panose="020B0604020202020204" pitchFamily="34" charset="0"/>
              </a:rPr>
              <a:t>Risk </a:t>
            </a:r>
            <a:r>
              <a:rPr lang="en-US" dirty="0">
                <a:latin typeface="Arial" panose="020B0604020202020204" pitchFamily="34" charset="0"/>
                <a:cs typeface="Arial" panose="020B0604020202020204" pitchFamily="34" charset="0"/>
              </a:rPr>
              <a:t>Assessment and </a:t>
            </a:r>
            <a:r>
              <a:rPr lang="en-US" dirty="0" smtClean="0">
                <a:latin typeface="Arial" panose="020B0604020202020204" pitchFamily="34" charset="0"/>
                <a:cs typeface="Arial" panose="020B0604020202020204" pitchFamily="34" charset="0"/>
              </a:rPr>
              <a:t>Management </a:t>
            </a:r>
            <a:r>
              <a:rPr lang="en-US" dirty="0">
                <a:latin typeface="Arial" panose="020B0604020202020204" pitchFamily="34" charset="0"/>
                <a:cs typeface="Arial" panose="020B0604020202020204" pitchFamily="34" charset="0"/>
              </a:rPr>
              <a:t>of </a:t>
            </a:r>
            <a:r>
              <a:rPr lang="en-US" dirty="0" smtClean="0">
                <a:latin typeface="Arial" panose="020B0604020202020204" pitchFamily="34" charset="0"/>
                <a:cs typeface="Arial" panose="020B0604020202020204" pitchFamily="34" charset="0"/>
              </a:rPr>
              <a:t>Risks</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#3</a:t>
            </a:r>
            <a:r>
              <a:rPr lang="en-US" dirty="0" smtClean="0">
                <a:latin typeface="Arial" panose="020B0604020202020204" pitchFamily="34" charset="0"/>
                <a:cs typeface="Arial" panose="020B0604020202020204" pitchFamily="34" charset="0"/>
              </a:rPr>
              <a:t> Community </a:t>
            </a:r>
            <a:r>
              <a:rPr lang="en-US" dirty="0">
                <a:latin typeface="Arial" panose="020B0604020202020204" pitchFamily="34" charset="0"/>
                <a:cs typeface="Arial" panose="020B0604020202020204" pitchFamily="34" charset="0"/>
              </a:rPr>
              <a:t>Awareness and Emergency </a:t>
            </a:r>
            <a:r>
              <a:rPr lang="en-US" dirty="0" smtClean="0">
                <a:latin typeface="Arial" panose="020B0604020202020204" pitchFamily="34" charset="0"/>
                <a:cs typeface="Arial" panose="020B0604020202020204" pitchFamily="34" charset="0"/>
              </a:rPr>
              <a:t>Preparedness</a:t>
            </a:r>
            <a:endParaRPr lang="en-US" dirty="0">
              <a:latin typeface="Arial" panose="020B0604020202020204" pitchFamily="34" charset="0"/>
              <a:cs typeface="Arial" panose="020B0604020202020204" pitchFamily="34" charset="0"/>
            </a:endParaRPr>
          </a:p>
          <a:p>
            <a:pPr algn="ctr"/>
            <a:r>
              <a:rPr lang="en-US" dirty="0" smtClean="0">
                <a:latin typeface="Arial" panose="020B0604020202020204" pitchFamily="34" charset="0"/>
                <a:cs typeface="Arial" panose="020B0604020202020204" pitchFamily="34" charset="0"/>
              </a:rPr>
              <a:t>#4 Management </a:t>
            </a:r>
            <a:r>
              <a:rPr lang="en-US" dirty="0">
                <a:latin typeface="Arial" panose="020B0604020202020204" pitchFamily="34" charset="0"/>
                <a:cs typeface="Arial" panose="020B0604020202020204" pitchFamily="34" charset="0"/>
              </a:rPr>
              <a:t>of </a:t>
            </a:r>
            <a:r>
              <a:rPr lang="en-US" dirty="0" smtClean="0">
                <a:latin typeface="Arial" panose="020B0604020202020204" pitchFamily="34" charset="0"/>
                <a:cs typeface="Arial" panose="020B0604020202020204" pitchFamily="34" charset="0"/>
              </a:rPr>
              <a:t>Change</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#5</a:t>
            </a:r>
            <a:r>
              <a:rPr lang="en-US" dirty="0" smtClean="0">
                <a:latin typeface="Arial" panose="020B0604020202020204" pitchFamily="34" charset="0"/>
                <a:cs typeface="Arial" panose="020B0604020202020204" pitchFamily="34" charset="0"/>
              </a:rPr>
              <a:t> Incident </a:t>
            </a:r>
            <a:r>
              <a:rPr lang="en-US" dirty="0">
                <a:latin typeface="Arial" panose="020B0604020202020204" pitchFamily="34" charset="0"/>
                <a:cs typeface="Arial" panose="020B0604020202020204" pitchFamily="34" charset="0"/>
              </a:rPr>
              <a:t>Reporting, Investigation, Analysis and </a:t>
            </a:r>
            <a:r>
              <a:rPr lang="en-US" dirty="0" smtClean="0">
                <a:latin typeface="Arial" panose="020B0604020202020204" pitchFamily="34" charset="0"/>
                <a:cs typeface="Arial" panose="020B0604020202020204" pitchFamily="34" charset="0"/>
              </a:rPr>
              <a:t>Actions</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#7</a:t>
            </a:r>
            <a:r>
              <a:rPr lang="en-US" dirty="0" smtClean="0">
                <a:latin typeface="Arial" panose="020B0604020202020204" pitchFamily="34" charset="0"/>
                <a:cs typeface="Arial" panose="020B0604020202020204" pitchFamily="34" charset="0"/>
              </a:rPr>
              <a:t> Design</a:t>
            </a:r>
            <a:r>
              <a:rPr lang="en-US" dirty="0">
                <a:latin typeface="Arial" panose="020B0604020202020204" pitchFamily="34" charset="0"/>
                <a:cs typeface="Arial" panose="020B0604020202020204" pitchFamily="34" charset="0"/>
              </a:rPr>
              <a:t>, Construction and </a:t>
            </a:r>
            <a:r>
              <a:rPr lang="en-US" dirty="0" smtClean="0">
                <a:latin typeface="Arial" panose="020B0604020202020204" pitchFamily="34" charset="0"/>
                <a:cs typeface="Arial" panose="020B0604020202020204" pitchFamily="34" charset="0"/>
              </a:rPr>
              <a:t>Start-up</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#8</a:t>
            </a:r>
            <a:r>
              <a:rPr lang="en-US" dirty="0" smtClean="0">
                <a:latin typeface="Arial" panose="020B0604020202020204" pitchFamily="34" charset="0"/>
                <a:cs typeface="Arial" panose="020B0604020202020204" pitchFamily="34" charset="0"/>
              </a:rPr>
              <a:t> Operations </a:t>
            </a:r>
            <a:r>
              <a:rPr lang="en-US" dirty="0">
                <a:latin typeface="Arial" panose="020B0604020202020204" pitchFamily="34" charset="0"/>
                <a:cs typeface="Arial" panose="020B0604020202020204" pitchFamily="34" charset="0"/>
              </a:rPr>
              <a:t>and </a:t>
            </a:r>
            <a:r>
              <a:rPr lang="en-US" dirty="0" smtClean="0">
                <a:latin typeface="Arial" panose="020B0604020202020204" pitchFamily="34" charset="0"/>
                <a:cs typeface="Arial" panose="020B0604020202020204" pitchFamily="34" charset="0"/>
              </a:rPr>
              <a:t>Maintenance</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#9</a:t>
            </a:r>
            <a:r>
              <a:rPr lang="en-US" dirty="0" smtClean="0">
                <a:latin typeface="Arial" panose="020B0604020202020204" pitchFamily="34" charset="0"/>
                <a:cs typeface="Arial" panose="020B0604020202020204" pitchFamily="34" charset="0"/>
              </a:rPr>
              <a:t> Employee </a:t>
            </a:r>
            <a:r>
              <a:rPr lang="en-US" dirty="0">
                <a:latin typeface="Arial" panose="020B0604020202020204" pitchFamily="34" charset="0"/>
                <a:cs typeface="Arial" panose="020B0604020202020204" pitchFamily="34" charset="0"/>
              </a:rPr>
              <a:t>Competency and </a:t>
            </a:r>
            <a:r>
              <a:rPr lang="en-US" dirty="0" smtClean="0">
                <a:latin typeface="Arial" panose="020B0604020202020204" pitchFamily="34" charset="0"/>
                <a:cs typeface="Arial" panose="020B0604020202020204" pitchFamily="34" charset="0"/>
              </a:rPr>
              <a:t>Training</a:t>
            </a:r>
          </a:p>
          <a:p>
            <a:pPr algn="ctr"/>
            <a:r>
              <a:rPr lang="en-US" b="1" dirty="0" smtClean="0">
                <a:latin typeface="Arial" panose="020B0604020202020204" pitchFamily="34" charset="0"/>
                <a:cs typeface="Arial" panose="020B0604020202020204" pitchFamily="34" charset="0"/>
              </a:rPr>
              <a:t>#10 </a:t>
            </a:r>
            <a:r>
              <a:rPr lang="en-US" dirty="0" smtClean="0">
                <a:latin typeface="Arial" panose="020B0604020202020204" pitchFamily="34" charset="0"/>
                <a:cs typeface="Arial" panose="020B0604020202020204" pitchFamily="34" charset="0"/>
              </a:rPr>
              <a:t>Contractor </a:t>
            </a:r>
            <a:r>
              <a:rPr lang="en-US" dirty="0">
                <a:latin typeface="Arial" panose="020B0604020202020204" pitchFamily="34" charset="0"/>
                <a:cs typeface="Arial" panose="020B0604020202020204" pitchFamily="34" charset="0"/>
              </a:rPr>
              <a:t>Competency and </a:t>
            </a:r>
            <a:r>
              <a:rPr lang="en-US" dirty="0" smtClean="0">
                <a:latin typeface="Arial" panose="020B0604020202020204" pitchFamily="34" charset="0"/>
                <a:cs typeface="Arial" panose="020B0604020202020204" pitchFamily="34" charset="0"/>
              </a:rPr>
              <a:t>Integration</a:t>
            </a:r>
          </a:p>
          <a:p>
            <a:pPr algn="ctr"/>
            <a:r>
              <a:rPr lang="en-US" b="1" dirty="0" smtClean="0">
                <a:latin typeface="Arial" panose="020B0604020202020204" pitchFamily="34" charset="0"/>
                <a:cs typeface="Arial" panose="020B0604020202020204" pitchFamily="34" charset="0"/>
              </a:rPr>
              <a:t>#11 </a:t>
            </a:r>
            <a:r>
              <a:rPr lang="en-US" dirty="0" smtClean="0">
                <a:latin typeface="Arial" panose="020B0604020202020204" pitchFamily="34" charset="0"/>
                <a:cs typeface="Arial" panose="020B0604020202020204" pitchFamily="34" charset="0"/>
              </a:rPr>
              <a:t>Operations &amp; </a:t>
            </a:r>
            <a:r>
              <a:rPr lang="en-US" dirty="0">
                <a:latin typeface="Arial" panose="020B0604020202020204" pitchFamily="34" charset="0"/>
                <a:cs typeface="Arial" panose="020B0604020202020204" pitchFamily="34" charset="0"/>
              </a:rPr>
              <a:t>Facilities Information </a:t>
            </a:r>
            <a:r>
              <a:rPr lang="en-US" dirty="0" smtClean="0">
                <a:latin typeface="Arial" panose="020B0604020202020204" pitchFamily="34" charset="0"/>
                <a:cs typeface="Arial" panose="020B0604020202020204" pitchFamily="34" charset="0"/>
              </a:rPr>
              <a:t>&amp; Documentation</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0504926"/>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fontAlgn="base" hangingPunct="0">
              <a:lnSpc>
                <a:spcPct val="100000"/>
              </a:lnSpc>
              <a:spcBef>
                <a:spcPts val="0"/>
              </a:spcBef>
              <a:spcAft>
                <a:spcPct val="0"/>
              </a:spcAft>
              <a:buClrTx/>
              <a:buSzPct val="100000"/>
              <a:buNone/>
              <a:defRPr/>
            </a:pPr>
            <a:r>
              <a:rPr lang="en-US" altLang="en-US" sz="16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How #1 MLCA &amp; #6 PECI integrate with the “know-how / how-to” (operations) of risk management:</a:t>
            </a: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The APEGA Model – Driver, Evaluation, and Operations: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
        <p:nvSpPr>
          <p:cNvPr id="3" name="Rectangle 2"/>
          <p:cNvSpPr/>
          <p:nvPr/>
        </p:nvSpPr>
        <p:spPr>
          <a:xfrm>
            <a:off x="251999" y="2497040"/>
            <a:ext cx="2304000" cy="25200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b="1" dirty="0" smtClean="0">
                <a:solidFill>
                  <a:schemeClr val="tx1"/>
                </a:solidFill>
              </a:rPr>
              <a:t>#1 Management </a:t>
            </a:r>
            <a:br>
              <a:rPr lang="en-US" b="1" dirty="0" smtClean="0">
                <a:solidFill>
                  <a:schemeClr val="tx1"/>
                </a:solidFill>
              </a:rPr>
            </a:br>
            <a:r>
              <a:rPr lang="en-US" b="1" dirty="0" smtClean="0">
                <a:solidFill>
                  <a:schemeClr val="tx1"/>
                </a:solidFill>
              </a:rPr>
              <a:t>Leadership</a:t>
            </a:r>
            <a:r>
              <a:rPr lang="en-US" b="1" dirty="0">
                <a:solidFill>
                  <a:schemeClr val="tx1"/>
                </a:solidFill>
              </a:rPr>
              <a:t>, </a:t>
            </a:r>
            <a:r>
              <a:rPr lang="en-US" b="1" dirty="0" smtClean="0">
                <a:solidFill>
                  <a:schemeClr val="tx1"/>
                </a:solidFill>
              </a:rPr>
              <a:t/>
            </a:r>
            <a:br>
              <a:rPr lang="en-US" b="1" dirty="0" smtClean="0">
                <a:solidFill>
                  <a:schemeClr val="tx1"/>
                </a:solidFill>
              </a:rPr>
            </a:br>
            <a:r>
              <a:rPr lang="en-US" b="1" dirty="0" smtClean="0">
                <a:solidFill>
                  <a:schemeClr val="tx1"/>
                </a:solidFill>
              </a:rPr>
              <a:t>Commitment,</a:t>
            </a:r>
            <a:br>
              <a:rPr lang="en-US" b="1" dirty="0" smtClean="0">
                <a:solidFill>
                  <a:schemeClr val="tx1"/>
                </a:solidFill>
              </a:rPr>
            </a:br>
            <a:r>
              <a:rPr lang="en-US" b="1" dirty="0" smtClean="0">
                <a:solidFill>
                  <a:schemeClr val="tx1"/>
                </a:solidFill>
              </a:rPr>
              <a:t>and Accountability</a:t>
            </a:r>
            <a:endParaRPr lang="en-US" b="1" dirty="0">
              <a:solidFill>
                <a:schemeClr val="tx1"/>
              </a:solidFill>
            </a:endParaRPr>
          </a:p>
        </p:txBody>
      </p:sp>
      <p:sp>
        <p:nvSpPr>
          <p:cNvPr id="10" name="Rectangle 9"/>
          <p:cNvSpPr/>
          <p:nvPr/>
        </p:nvSpPr>
        <p:spPr>
          <a:xfrm>
            <a:off x="6480000" y="2497040"/>
            <a:ext cx="2304000" cy="25200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#6 Program </a:t>
            </a:r>
            <a:br>
              <a:rPr lang="en-US" b="1" dirty="0" smtClean="0">
                <a:solidFill>
                  <a:schemeClr val="tx1"/>
                </a:solidFill>
              </a:rPr>
            </a:br>
            <a:r>
              <a:rPr lang="en-US" b="1" dirty="0" smtClean="0">
                <a:solidFill>
                  <a:schemeClr val="tx1"/>
                </a:solidFill>
              </a:rPr>
              <a:t>Evaluation </a:t>
            </a:r>
            <a:br>
              <a:rPr lang="en-US" b="1" dirty="0" smtClean="0">
                <a:solidFill>
                  <a:schemeClr val="tx1"/>
                </a:solidFill>
              </a:rPr>
            </a:br>
            <a:r>
              <a:rPr lang="en-US" b="1" dirty="0" smtClean="0">
                <a:solidFill>
                  <a:schemeClr val="tx1"/>
                </a:solidFill>
              </a:rPr>
              <a:t>and </a:t>
            </a:r>
            <a:r>
              <a:rPr lang="en-US" b="1" dirty="0">
                <a:solidFill>
                  <a:schemeClr val="tx1"/>
                </a:solidFill>
              </a:rPr>
              <a:t>Continuous </a:t>
            </a:r>
            <a:r>
              <a:rPr lang="en-US" b="1" dirty="0" smtClean="0">
                <a:solidFill>
                  <a:schemeClr val="tx1"/>
                </a:solidFill>
              </a:rPr>
              <a:t>Improvement</a:t>
            </a:r>
            <a:endParaRPr lang="en-US" b="1" dirty="0">
              <a:solidFill>
                <a:schemeClr val="tx1"/>
              </a:solidFill>
            </a:endParaRPr>
          </a:p>
        </p:txBody>
      </p:sp>
      <p:sp>
        <p:nvSpPr>
          <p:cNvPr id="2" name="Oval 1"/>
          <p:cNvSpPr/>
          <p:nvPr/>
        </p:nvSpPr>
        <p:spPr>
          <a:xfrm>
            <a:off x="2160000" y="1403960"/>
            <a:ext cx="4680000" cy="4680000"/>
          </a:xfrm>
          <a:prstGeom prst="ellipse">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nchorCtr="0"/>
          <a:lstStyle/>
          <a:p>
            <a:pPr algn="ctr"/>
            <a:r>
              <a:rPr lang="en-US" b="1" dirty="0" smtClean="0">
                <a:latin typeface="Arial" panose="020B0604020202020204" pitchFamily="34" charset="0"/>
                <a:cs typeface="Arial" panose="020B0604020202020204" pitchFamily="34" charset="0"/>
              </a:rPr>
              <a:t>#2 </a:t>
            </a:r>
            <a:r>
              <a:rPr lang="en-US" dirty="0" smtClean="0">
                <a:latin typeface="Arial" panose="020B0604020202020204" pitchFamily="34" charset="0"/>
                <a:cs typeface="Arial" panose="020B0604020202020204" pitchFamily="34" charset="0"/>
              </a:rPr>
              <a:t>Risk </a:t>
            </a:r>
            <a:r>
              <a:rPr lang="en-US" dirty="0">
                <a:latin typeface="Arial" panose="020B0604020202020204" pitchFamily="34" charset="0"/>
                <a:cs typeface="Arial" panose="020B0604020202020204" pitchFamily="34" charset="0"/>
              </a:rPr>
              <a:t>Assessment and </a:t>
            </a:r>
            <a:r>
              <a:rPr lang="en-US" dirty="0" smtClean="0">
                <a:latin typeface="Arial" panose="020B0604020202020204" pitchFamily="34" charset="0"/>
                <a:cs typeface="Arial" panose="020B0604020202020204" pitchFamily="34" charset="0"/>
              </a:rPr>
              <a:t/>
            </a:r>
            <a:br>
              <a:rPr lang="en-US" dirty="0" smtClean="0">
                <a:latin typeface="Arial" panose="020B0604020202020204" pitchFamily="34" charset="0"/>
                <a:cs typeface="Arial" panose="020B0604020202020204" pitchFamily="34" charset="0"/>
              </a:rPr>
            </a:br>
            <a:r>
              <a:rPr lang="en-US" dirty="0" smtClean="0">
                <a:latin typeface="Arial" panose="020B0604020202020204" pitchFamily="34" charset="0"/>
                <a:cs typeface="Arial" panose="020B0604020202020204" pitchFamily="34" charset="0"/>
              </a:rPr>
              <a:t>Management </a:t>
            </a:r>
            <a:r>
              <a:rPr lang="en-US" dirty="0">
                <a:latin typeface="Arial" panose="020B0604020202020204" pitchFamily="34" charset="0"/>
                <a:cs typeface="Arial" panose="020B0604020202020204" pitchFamily="34" charset="0"/>
              </a:rPr>
              <a:t>of </a:t>
            </a:r>
            <a:r>
              <a:rPr lang="en-US" dirty="0" smtClean="0">
                <a:latin typeface="Arial" panose="020B0604020202020204" pitchFamily="34" charset="0"/>
                <a:cs typeface="Arial" panose="020B0604020202020204" pitchFamily="34" charset="0"/>
              </a:rPr>
              <a:t>Risks</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#3</a:t>
            </a:r>
            <a:r>
              <a:rPr lang="en-US" dirty="0" smtClean="0">
                <a:latin typeface="Arial" panose="020B0604020202020204" pitchFamily="34" charset="0"/>
                <a:cs typeface="Arial" panose="020B0604020202020204" pitchFamily="34" charset="0"/>
              </a:rPr>
              <a:t> Community </a:t>
            </a:r>
            <a:r>
              <a:rPr lang="en-US" dirty="0">
                <a:latin typeface="Arial" panose="020B0604020202020204" pitchFamily="34" charset="0"/>
                <a:cs typeface="Arial" panose="020B0604020202020204" pitchFamily="34" charset="0"/>
              </a:rPr>
              <a:t>Awareness and Emergency </a:t>
            </a:r>
            <a:r>
              <a:rPr lang="en-US" dirty="0" smtClean="0">
                <a:latin typeface="Arial" panose="020B0604020202020204" pitchFamily="34" charset="0"/>
                <a:cs typeface="Arial" panose="020B0604020202020204" pitchFamily="34" charset="0"/>
              </a:rPr>
              <a:t>Preparedness</a:t>
            </a:r>
            <a:endParaRPr lang="en-US" dirty="0">
              <a:latin typeface="Arial" panose="020B0604020202020204" pitchFamily="34" charset="0"/>
              <a:cs typeface="Arial" panose="020B0604020202020204" pitchFamily="34" charset="0"/>
            </a:endParaRPr>
          </a:p>
          <a:p>
            <a:pPr algn="ctr"/>
            <a:r>
              <a:rPr lang="en-US" dirty="0" smtClean="0">
                <a:latin typeface="Arial" panose="020B0604020202020204" pitchFamily="34" charset="0"/>
                <a:cs typeface="Arial" panose="020B0604020202020204" pitchFamily="34" charset="0"/>
              </a:rPr>
              <a:t>#4 Management </a:t>
            </a:r>
            <a:r>
              <a:rPr lang="en-US" dirty="0">
                <a:latin typeface="Arial" panose="020B0604020202020204" pitchFamily="34" charset="0"/>
                <a:cs typeface="Arial" panose="020B0604020202020204" pitchFamily="34" charset="0"/>
              </a:rPr>
              <a:t>of </a:t>
            </a:r>
            <a:r>
              <a:rPr lang="en-US" dirty="0" smtClean="0">
                <a:latin typeface="Arial" panose="020B0604020202020204" pitchFamily="34" charset="0"/>
                <a:cs typeface="Arial" panose="020B0604020202020204" pitchFamily="34" charset="0"/>
              </a:rPr>
              <a:t>Change</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#5</a:t>
            </a:r>
            <a:r>
              <a:rPr lang="en-US" dirty="0" smtClean="0">
                <a:latin typeface="Arial" panose="020B0604020202020204" pitchFamily="34" charset="0"/>
                <a:cs typeface="Arial" panose="020B0604020202020204" pitchFamily="34" charset="0"/>
              </a:rPr>
              <a:t> Incident </a:t>
            </a:r>
            <a:r>
              <a:rPr lang="en-US" dirty="0">
                <a:latin typeface="Arial" panose="020B0604020202020204" pitchFamily="34" charset="0"/>
                <a:cs typeface="Arial" panose="020B0604020202020204" pitchFamily="34" charset="0"/>
              </a:rPr>
              <a:t>Reporting, Investigation, Analysis and </a:t>
            </a:r>
            <a:r>
              <a:rPr lang="en-US" dirty="0" smtClean="0">
                <a:latin typeface="Arial" panose="020B0604020202020204" pitchFamily="34" charset="0"/>
                <a:cs typeface="Arial" panose="020B0604020202020204" pitchFamily="34" charset="0"/>
              </a:rPr>
              <a:t>Actions</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#7</a:t>
            </a:r>
            <a:r>
              <a:rPr lang="en-US" dirty="0" smtClean="0">
                <a:latin typeface="Arial" panose="020B0604020202020204" pitchFamily="34" charset="0"/>
                <a:cs typeface="Arial" panose="020B0604020202020204" pitchFamily="34" charset="0"/>
              </a:rPr>
              <a:t> Design</a:t>
            </a:r>
            <a:r>
              <a:rPr lang="en-US" dirty="0">
                <a:latin typeface="Arial" panose="020B0604020202020204" pitchFamily="34" charset="0"/>
                <a:cs typeface="Arial" panose="020B0604020202020204" pitchFamily="34" charset="0"/>
              </a:rPr>
              <a:t>, Construction and </a:t>
            </a:r>
            <a:r>
              <a:rPr lang="en-US" dirty="0" smtClean="0">
                <a:latin typeface="Arial" panose="020B0604020202020204" pitchFamily="34" charset="0"/>
                <a:cs typeface="Arial" panose="020B0604020202020204" pitchFamily="34" charset="0"/>
              </a:rPr>
              <a:t>Start-up</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#8</a:t>
            </a:r>
            <a:r>
              <a:rPr lang="en-US" dirty="0" smtClean="0">
                <a:latin typeface="Arial" panose="020B0604020202020204" pitchFamily="34" charset="0"/>
                <a:cs typeface="Arial" panose="020B0604020202020204" pitchFamily="34" charset="0"/>
              </a:rPr>
              <a:t> Operations </a:t>
            </a:r>
            <a:r>
              <a:rPr lang="en-US" dirty="0">
                <a:latin typeface="Arial" panose="020B0604020202020204" pitchFamily="34" charset="0"/>
                <a:cs typeface="Arial" panose="020B0604020202020204" pitchFamily="34" charset="0"/>
              </a:rPr>
              <a:t>and </a:t>
            </a:r>
            <a:r>
              <a:rPr lang="en-US" dirty="0" smtClean="0">
                <a:latin typeface="Arial" panose="020B0604020202020204" pitchFamily="34" charset="0"/>
                <a:cs typeface="Arial" panose="020B0604020202020204" pitchFamily="34" charset="0"/>
              </a:rPr>
              <a:t>Maintenance</a:t>
            </a:r>
            <a:endParaRPr lang="en-US" dirty="0">
              <a:latin typeface="Arial" panose="020B0604020202020204" pitchFamily="34" charset="0"/>
              <a:cs typeface="Arial" panose="020B0604020202020204" pitchFamily="34" charset="0"/>
            </a:endParaRPr>
          </a:p>
          <a:p>
            <a:pPr algn="ctr"/>
            <a:r>
              <a:rPr lang="en-US" b="1" dirty="0" smtClean="0">
                <a:latin typeface="Arial" panose="020B0604020202020204" pitchFamily="34" charset="0"/>
                <a:cs typeface="Arial" panose="020B0604020202020204" pitchFamily="34" charset="0"/>
              </a:rPr>
              <a:t>#9</a:t>
            </a:r>
            <a:r>
              <a:rPr lang="en-US" dirty="0" smtClean="0">
                <a:latin typeface="Arial" panose="020B0604020202020204" pitchFamily="34" charset="0"/>
                <a:cs typeface="Arial" panose="020B0604020202020204" pitchFamily="34" charset="0"/>
              </a:rPr>
              <a:t> Employee </a:t>
            </a:r>
            <a:r>
              <a:rPr lang="en-US" dirty="0">
                <a:latin typeface="Arial" panose="020B0604020202020204" pitchFamily="34" charset="0"/>
                <a:cs typeface="Arial" panose="020B0604020202020204" pitchFamily="34" charset="0"/>
              </a:rPr>
              <a:t>Competency and </a:t>
            </a:r>
            <a:r>
              <a:rPr lang="en-US" dirty="0" smtClean="0">
                <a:latin typeface="Arial" panose="020B0604020202020204" pitchFamily="34" charset="0"/>
                <a:cs typeface="Arial" panose="020B0604020202020204" pitchFamily="34" charset="0"/>
              </a:rPr>
              <a:t>Training</a:t>
            </a:r>
          </a:p>
          <a:p>
            <a:pPr algn="ctr"/>
            <a:r>
              <a:rPr lang="en-US" b="1" dirty="0" smtClean="0">
                <a:latin typeface="Arial" panose="020B0604020202020204" pitchFamily="34" charset="0"/>
                <a:cs typeface="Arial" panose="020B0604020202020204" pitchFamily="34" charset="0"/>
              </a:rPr>
              <a:t>#10 </a:t>
            </a:r>
            <a:r>
              <a:rPr lang="en-US" dirty="0" smtClean="0">
                <a:latin typeface="Arial" panose="020B0604020202020204" pitchFamily="34" charset="0"/>
                <a:cs typeface="Arial" panose="020B0604020202020204" pitchFamily="34" charset="0"/>
              </a:rPr>
              <a:t>Contractor </a:t>
            </a:r>
            <a:r>
              <a:rPr lang="en-US" dirty="0">
                <a:latin typeface="Arial" panose="020B0604020202020204" pitchFamily="34" charset="0"/>
                <a:cs typeface="Arial" panose="020B0604020202020204" pitchFamily="34" charset="0"/>
              </a:rPr>
              <a:t>Competency and </a:t>
            </a:r>
            <a:r>
              <a:rPr lang="en-US" dirty="0" smtClean="0">
                <a:latin typeface="Arial" panose="020B0604020202020204" pitchFamily="34" charset="0"/>
                <a:cs typeface="Arial" panose="020B0604020202020204" pitchFamily="34" charset="0"/>
              </a:rPr>
              <a:t>Integration</a:t>
            </a:r>
          </a:p>
          <a:p>
            <a:pPr algn="ctr"/>
            <a:r>
              <a:rPr lang="en-US" b="1" dirty="0" smtClean="0">
                <a:latin typeface="Arial" panose="020B0604020202020204" pitchFamily="34" charset="0"/>
                <a:cs typeface="Arial" panose="020B0604020202020204" pitchFamily="34" charset="0"/>
              </a:rPr>
              <a:t>#11 </a:t>
            </a:r>
            <a:r>
              <a:rPr lang="en-US" dirty="0" smtClean="0">
                <a:latin typeface="Arial" panose="020B0604020202020204" pitchFamily="34" charset="0"/>
                <a:cs typeface="Arial" panose="020B0604020202020204" pitchFamily="34" charset="0"/>
              </a:rPr>
              <a:t>Operations </a:t>
            </a:r>
            <a:r>
              <a:rPr lang="en-US" dirty="0">
                <a:latin typeface="Arial" panose="020B0604020202020204" pitchFamily="34" charset="0"/>
                <a:cs typeface="Arial" panose="020B0604020202020204" pitchFamily="34" charset="0"/>
              </a:rPr>
              <a:t>and Facilities Information and </a:t>
            </a:r>
            <a:r>
              <a:rPr lang="en-US" dirty="0" smtClean="0">
                <a:latin typeface="Arial" panose="020B0604020202020204" pitchFamily="34" charset="0"/>
                <a:cs typeface="Arial" panose="020B0604020202020204" pitchFamily="34" charset="0"/>
              </a:rPr>
              <a:t>Documentation</a:t>
            </a:r>
            <a:endParaRPr lang="en-US" dirty="0">
              <a:latin typeface="Arial" panose="020B0604020202020204" pitchFamily="34" charset="0"/>
              <a:cs typeface="Arial" panose="020B0604020202020204" pitchFamily="34" charset="0"/>
            </a:endParaRPr>
          </a:p>
        </p:txBody>
      </p:sp>
      <p:cxnSp>
        <p:nvCxnSpPr>
          <p:cNvPr id="5" name="Elbow Connector 4"/>
          <p:cNvCxnSpPr/>
          <p:nvPr/>
        </p:nvCxnSpPr>
        <p:spPr>
          <a:xfrm rot="10800000" flipV="1">
            <a:off x="4389121" y="4336900"/>
            <a:ext cx="3257680" cy="1464459"/>
          </a:xfrm>
          <a:prstGeom prst="bentConnector3">
            <a:avLst>
              <a:gd name="adj1" fmla="val -1148"/>
            </a:avLst>
          </a:prstGeom>
          <a:ln w="76200">
            <a:solidFill>
              <a:schemeClr val="accent5">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5" name="Elbow Connector 14"/>
          <p:cNvCxnSpPr>
            <a:endCxn id="3" idx="2"/>
          </p:cNvCxnSpPr>
          <p:nvPr/>
        </p:nvCxnSpPr>
        <p:spPr>
          <a:xfrm rot="10800000">
            <a:off x="1404000" y="5017040"/>
            <a:ext cx="3096001" cy="784320"/>
          </a:xfrm>
          <a:prstGeom prst="bentConnector2">
            <a:avLst/>
          </a:prstGeom>
          <a:ln w="76200">
            <a:solidFill>
              <a:schemeClr val="accent5">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22"/>
          <p:cNvCxnSpPr/>
          <p:nvPr/>
        </p:nvCxnSpPr>
        <p:spPr>
          <a:xfrm flipV="1">
            <a:off x="1350721" y="2728903"/>
            <a:ext cx="1505960" cy="422160"/>
          </a:xfrm>
          <a:prstGeom prst="bentConnector3">
            <a:avLst>
              <a:gd name="adj1" fmla="val 1425"/>
            </a:avLst>
          </a:prstGeom>
          <a:ln w="76200">
            <a:solidFill>
              <a:schemeClr val="accent5">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a:off x="6393200" y="2728902"/>
            <a:ext cx="1256079" cy="441018"/>
          </a:xfrm>
          <a:prstGeom prst="bentConnector3">
            <a:avLst>
              <a:gd name="adj1" fmla="val 100150"/>
            </a:avLst>
          </a:prstGeom>
          <a:ln w="76200">
            <a:solidFill>
              <a:schemeClr val="accent5">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0" name="Elbow Connector 59"/>
          <p:cNvCxnSpPr/>
          <p:nvPr/>
        </p:nvCxnSpPr>
        <p:spPr>
          <a:xfrm rot="10800000">
            <a:off x="6336001" y="4551681"/>
            <a:ext cx="1346807" cy="9"/>
          </a:xfrm>
          <a:prstGeom prst="bentConnector3">
            <a:avLst>
              <a:gd name="adj1" fmla="val 50000"/>
            </a:avLst>
          </a:prstGeom>
          <a:ln w="76200">
            <a:solidFill>
              <a:schemeClr val="accent5">
                <a:lumMod val="7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251999" y="2055668"/>
            <a:ext cx="2304000" cy="369332"/>
          </a:xfrm>
          <a:prstGeom prst="rect">
            <a:avLst/>
          </a:prstGeom>
          <a:noFill/>
        </p:spPr>
        <p:txBody>
          <a:bodyPr wrap="square" rtlCol="0">
            <a:spAutoFit/>
          </a:bodyPr>
          <a:lstStyle/>
          <a:p>
            <a:pPr algn="ctr"/>
            <a:r>
              <a:rPr lang="en-US" sz="1800" b="1" dirty="0" smtClean="0"/>
              <a:t>“</a:t>
            </a:r>
            <a:r>
              <a:rPr lang="en-US" sz="1800" b="1" u="sng" dirty="0" smtClean="0"/>
              <a:t>DRIVER</a:t>
            </a:r>
            <a:r>
              <a:rPr lang="en-US" sz="1800" b="1" dirty="0" smtClean="0"/>
              <a:t>”</a:t>
            </a:r>
            <a:endParaRPr lang="en-US" sz="1800" b="1" dirty="0"/>
          </a:p>
        </p:txBody>
      </p:sp>
      <p:sp>
        <p:nvSpPr>
          <p:cNvPr id="71" name="TextBox 70"/>
          <p:cNvSpPr txBox="1"/>
          <p:nvPr/>
        </p:nvSpPr>
        <p:spPr>
          <a:xfrm>
            <a:off x="6336000" y="2044942"/>
            <a:ext cx="2304000" cy="369332"/>
          </a:xfrm>
          <a:prstGeom prst="rect">
            <a:avLst/>
          </a:prstGeom>
          <a:noFill/>
        </p:spPr>
        <p:txBody>
          <a:bodyPr wrap="square" rtlCol="0">
            <a:spAutoFit/>
          </a:bodyPr>
          <a:lstStyle/>
          <a:p>
            <a:pPr algn="ctr"/>
            <a:r>
              <a:rPr lang="en-US" sz="1800" b="1" dirty="0" smtClean="0"/>
              <a:t>“</a:t>
            </a:r>
            <a:r>
              <a:rPr lang="en-US" sz="1800" b="1" u="sng" dirty="0" smtClean="0"/>
              <a:t>EVALUATION</a:t>
            </a:r>
            <a:r>
              <a:rPr lang="en-US" sz="1800" b="1" dirty="0" smtClean="0"/>
              <a:t>”</a:t>
            </a:r>
            <a:endParaRPr lang="en-US" sz="1800" b="1" dirty="0"/>
          </a:p>
        </p:txBody>
      </p:sp>
      <p:sp>
        <p:nvSpPr>
          <p:cNvPr id="72" name="TextBox 71"/>
          <p:cNvSpPr txBox="1"/>
          <p:nvPr/>
        </p:nvSpPr>
        <p:spPr>
          <a:xfrm>
            <a:off x="2926080" y="1976362"/>
            <a:ext cx="3199439" cy="369332"/>
          </a:xfrm>
          <a:prstGeom prst="rect">
            <a:avLst/>
          </a:prstGeom>
          <a:noFill/>
        </p:spPr>
        <p:txBody>
          <a:bodyPr wrap="square" rtlCol="0">
            <a:spAutoFit/>
          </a:bodyPr>
          <a:lstStyle/>
          <a:p>
            <a:pPr algn="ctr"/>
            <a:r>
              <a:rPr lang="en-US" sz="1800" b="1" dirty="0" smtClean="0">
                <a:solidFill>
                  <a:schemeClr val="bg1"/>
                </a:solidFill>
              </a:rPr>
              <a:t>“</a:t>
            </a:r>
            <a:r>
              <a:rPr lang="en-US" sz="1800" b="1" u="sng" dirty="0" smtClean="0">
                <a:solidFill>
                  <a:schemeClr val="bg1"/>
                </a:solidFill>
              </a:rPr>
              <a:t>OPERATIONS</a:t>
            </a:r>
            <a:r>
              <a:rPr lang="en-US" sz="1800" b="1" dirty="0" smtClean="0">
                <a:solidFill>
                  <a:schemeClr val="bg1"/>
                </a:solidFill>
              </a:rPr>
              <a:t>”</a:t>
            </a:r>
            <a:endParaRPr lang="en-US" sz="1800" b="1" dirty="0">
              <a:solidFill>
                <a:schemeClr val="bg1"/>
              </a:solidFill>
            </a:endParaRPr>
          </a:p>
        </p:txBody>
      </p:sp>
    </p:spTree>
    <p:extLst>
      <p:ext uri="{BB962C8B-B14F-4D97-AF65-F5344CB8AC3E}">
        <p14:creationId xmlns:p14="http://schemas.microsoft.com/office/powerpoint/2010/main" val="3067042014"/>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As you will discover in your team project RCAs, weaknesses in a risk management system element degrade or disable the organization’s means to manage the residual risks within the scope of control of that element.</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Latent cause statements are specific, unique, and directly relate to one RME.</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APEGA Model is a foundational model, but is one of innumerable risk management systems – learn YOUR employer’s </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system/program</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(ESG KP#2)</a:t>
            </a: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Summary and Key Lessons: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3.3: The Risk Management System &amp; its Elements</a:t>
            </a:r>
          </a:p>
        </p:txBody>
      </p:sp>
      <p:sp>
        <p:nvSpPr>
          <p:cNvPr id="6" name="Google Shape;309;p17">
            <a:extLst>
              <a:ext uri="{FF2B5EF4-FFF2-40B4-BE49-F238E27FC236}">
                <a16:creationId xmlns:a16="http://schemas.microsoft.com/office/drawing/2014/main" id="{77325C46-9719-4387-96F7-FBD82A89FFE8}"/>
              </a:ext>
            </a:extLst>
          </p:cNvPr>
          <p:cNvSpPr/>
          <p:nvPr/>
        </p:nvSpPr>
        <p:spPr>
          <a:xfrm>
            <a:off x="914400" y="2786149"/>
            <a:ext cx="7315200" cy="3344493"/>
          </a:xfrm>
          <a:prstGeom prst="rect">
            <a:avLst/>
          </a:prstGeom>
          <a:solidFill>
            <a:srgbClr val="FFFFFF"/>
          </a:solidFill>
          <a:ln w="76200" cap="flat" cmpd="sng">
            <a:solidFill>
              <a:srgbClr val="3366CC"/>
            </a:solidFill>
            <a:prstDash val="solid"/>
            <a:miter lim="800000"/>
            <a:headEnd type="none" w="sm" len="sm"/>
            <a:tailEnd type="none" w="sm" len="sm"/>
          </a:ln>
        </p:spPr>
        <p:txBody>
          <a:bodyPr spcFirstLastPara="1" wrap="square" lIns="91425" tIns="45700" rIns="91425" bIns="45700" anchor="t" anchorCtr="0">
            <a:noAutofit/>
          </a:bodyPr>
          <a:lstStyle/>
          <a:p>
            <a:pPr marL="457200" marR="0" lvl="0" indent="-457200" defTabSz="914400" eaLnBrk="1" fontAlgn="auto" latinLnBrk="0" hangingPunct="1">
              <a:lnSpc>
                <a:spcPct val="110000"/>
              </a:lnSpc>
              <a:spcBef>
                <a:spcPts val="0"/>
              </a:spcBef>
              <a:spcAft>
                <a:spcPts val="0"/>
              </a:spcAft>
              <a:buClrTx/>
              <a:buSzPts val="1400"/>
              <a:buFont typeface="Noto Sans Symbols"/>
              <a:buNone/>
              <a:tabLst/>
              <a:defRPr/>
            </a:pPr>
            <a:r>
              <a:rPr kumimoji="0" lang="en-US" sz="1600" b="1" i="0" u="none" strike="noStrike" kern="0" cap="none" spc="0" normalizeH="0" baseline="0" noProof="0" dirty="0">
                <a:ln>
                  <a:noFill/>
                </a:ln>
                <a:solidFill>
                  <a:sysClr val="windowText" lastClr="000000"/>
                </a:solidFill>
                <a:effectLst/>
                <a:uLnTx/>
                <a:uFillTx/>
              </a:rPr>
              <a:t>Risk Management System (APEGA Model):</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Management Leadership, Commitment and Accountability (MLCA)</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Risk Assessment and Management of Risks (RAMR)</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Community Awareness and Emergency Preparedness (CAEP)</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Management of Change (MOC)</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Incident Reporting, Investigation, Analysis and Actions (IRIAA)</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Program Evaluation and Continuous Improvement (PECI)</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Design, Construction and Start-up (DCSU)</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Operations and Maintenance (OM)</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Employee Competency and Training (ECT)</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Contractor Competency and Integration (CCI)</a:t>
            </a:r>
            <a:endParaRPr kumimoji="0" sz="1600" b="0" i="0" u="none" strike="noStrike" kern="0" cap="none" spc="0" normalizeH="0" baseline="0" noProof="0" dirty="0">
              <a:ln>
                <a:noFill/>
              </a:ln>
              <a:solidFill>
                <a:sysClr val="windowText" lastClr="000000"/>
              </a:solidFill>
              <a:effectLst/>
              <a:uLnTx/>
              <a:uFillTx/>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rPr>
              <a:t>Operations and Facilities Information and Documentation (OFID)</a:t>
            </a:r>
            <a:endParaRPr kumimoji="0" sz="16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418750564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Any questions?</a:t>
            </a:r>
            <a:endParaRPr kumimoji="0" lang="en-US" altLang="en-US"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521078033"/>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2588</TotalTime>
  <Words>3597</Words>
  <Application>Microsoft Office PowerPoint</Application>
  <PresentationFormat>On-screen Show (4:3)</PresentationFormat>
  <Paragraphs>379</Paragraphs>
  <Slides>22</Slides>
  <Notes>22</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22</vt:i4>
      </vt:variant>
    </vt:vector>
  </HeadingPairs>
  <TitlesOfParts>
    <vt:vector size="32" baseType="lpstr">
      <vt:lpstr>ＭＳ Ｐゴシック</vt:lpstr>
      <vt:lpstr>Arial</vt:lpstr>
      <vt:lpstr>Calibri</vt:lpstr>
      <vt:lpstr>Noto Sans Symbols</vt:lpstr>
      <vt:lpstr>Times New Roman</vt:lpstr>
      <vt:lpstr>Wingdings</vt:lpstr>
      <vt:lpstr>Default Design</vt:lpstr>
      <vt:lpstr>1_Default Design</vt:lpstr>
      <vt:lpstr>2_Default Design</vt:lpstr>
      <vt:lpstr>3_Default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JR Cocchio</dc:creator>
  <cp:lastModifiedBy>John Cocchio</cp:lastModifiedBy>
  <cp:revision>131</cp:revision>
  <dcterms:created xsi:type="dcterms:W3CDTF">2011-09-07T03:22:54Z</dcterms:created>
  <dcterms:modified xsi:type="dcterms:W3CDTF">2022-05-18T18:28:32Z</dcterms:modified>
</cp:coreProperties>
</file>