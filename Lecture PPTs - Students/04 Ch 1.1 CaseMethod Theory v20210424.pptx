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14"/>
  </p:notesMasterIdLst>
  <p:handoutMasterIdLst>
    <p:handoutMasterId r:id="rId15"/>
  </p:handoutMasterIdLst>
  <p:sldIdLst>
    <p:sldId id="895" r:id="rId2"/>
    <p:sldId id="928" r:id="rId3"/>
    <p:sldId id="929" r:id="rId4"/>
    <p:sldId id="933" r:id="rId5"/>
    <p:sldId id="934" r:id="rId6"/>
    <p:sldId id="936" r:id="rId7"/>
    <p:sldId id="935" r:id="rId8"/>
    <p:sldId id="926" r:id="rId9"/>
    <p:sldId id="937" r:id="rId10"/>
    <p:sldId id="931" r:id="rId11"/>
    <p:sldId id="930" r:id="rId12"/>
    <p:sldId id="900" r:id="rId13"/>
  </p:sldIdLst>
  <p:sldSz cx="9144000" cy="6858000" type="screen4x3"/>
  <p:notesSz cx="6954838" cy="93091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33">
          <p15:clr>
            <a:srgbClr val="A4A3A4"/>
          </p15:clr>
        </p15:guide>
        <p15:guide id="2" pos="219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00"/>
    <a:srgbClr val="FFFFFF"/>
    <a:srgbClr val="3366CC"/>
    <a:srgbClr val="4F76F1"/>
    <a:srgbClr val="48945C"/>
    <a:srgbClr val="82C29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15" autoAdjust="0"/>
  </p:normalViewPr>
  <p:slideViewPr>
    <p:cSldViewPr>
      <p:cViewPr varScale="1">
        <p:scale>
          <a:sx n="66" d="100"/>
          <a:sy n="66" d="100"/>
        </p:scale>
        <p:origin x="1276" y="40"/>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p:cViewPr varScale="1">
        <p:scale>
          <a:sx n="51" d="100"/>
          <a:sy n="51" d="100"/>
        </p:scale>
        <p:origin x="2680" y="56"/>
      </p:cViewPr>
      <p:guideLst>
        <p:guide orient="horz" pos="2933"/>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0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t" anchorCtr="0" compatLnSpc="1">
            <a:prstTxWarp prst="textNoShape">
              <a:avLst/>
            </a:prstTxWarp>
          </a:bodyPr>
          <a:lstStyle>
            <a:lvl1pPr defTabSz="911994">
              <a:defRPr sz="1200"/>
            </a:lvl1pPr>
          </a:lstStyle>
          <a:p>
            <a:pPr>
              <a:defRPr/>
            </a:pPr>
            <a:r>
              <a:rPr lang="en-US" altLang="en-US" dirty="0"/>
              <a:t>2017-2018</a:t>
            </a:r>
          </a:p>
        </p:txBody>
      </p:sp>
      <p:sp>
        <p:nvSpPr>
          <p:cNvPr id="13316" name="Rectangle 4"/>
          <p:cNvSpPr>
            <a:spLocks noGrp="1" noChangeArrowheads="1"/>
          </p:cNvSpPr>
          <p:nvPr>
            <p:ph type="ftr" sz="quarter" idx="2"/>
          </p:nvPr>
        </p:nvSpPr>
        <p:spPr bwMode="auto">
          <a:xfrm>
            <a:off x="0" y="8875713"/>
            <a:ext cx="303053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defTabSz="911994">
              <a:defRPr sz="1200"/>
            </a:lvl1pPr>
          </a:lstStyle>
          <a:p>
            <a:pPr>
              <a:defRPr/>
            </a:pPr>
            <a:endParaRPr lang="en-CA" altLang="en-US" dirty="0"/>
          </a:p>
        </p:txBody>
      </p:sp>
      <p:sp>
        <p:nvSpPr>
          <p:cNvPr id="13317" name="Rectangle 5"/>
          <p:cNvSpPr>
            <a:spLocks noGrp="1" noChangeArrowheads="1"/>
          </p:cNvSpPr>
          <p:nvPr>
            <p:ph type="sldNum" sz="quarter" idx="3"/>
          </p:nvPr>
        </p:nvSpPr>
        <p:spPr bwMode="auto">
          <a:xfrm>
            <a:off x="3937000" y="8875713"/>
            <a:ext cx="303053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algn="r" defTabSz="911994">
              <a:defRPr sz="1200"/>
            </a:lvl1pPr>
          </a:lstStyle>
          <a:p>
            <a:pPr>
              <a:defRPr/>
            </a:pPr>
            <a:fld id="{C3344F1F-3D96-406C-BE67-ADFFEE4296D8}" type="slidenum">
              <a:rPr lang="en-US" altLang="en-US"/>
              <a:pPr>
                <a:defRPr/>
              </a:pPr>
              <a:t>‹#›</a:t>
            </a:fld>
            <a:endParaRPr lang="en-US" altLang="en-US" dirty="0"/>
          </a:p>
        </p:txBody>
      </p:sp>
    </p:spTree>
    <p:extLst>
      <p:ext uri="{BB962C8B-B14F-4D97-AF65-F5344CB8AC3E}">
        <p14:creationId xmlns:p14="http://schemas.microsoft.com/office/powerpoint/2010/main" val="3404304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defTabSz="929319">
              <a:defRPr sz="1200"/>
            </a:lvl1pPr>
          </a:lstStyle>
          <a:p>
            <a:pPr>
              <a:defRPr/>
            </a:pPr>
            <a:r>
              <a:rPr lang="en-US" altLang="en-US" dirty="0"/>
              <a:t>2015-2016ENGG406 Lecture 00 - Day 1</a:t>
            </a:r>
          </a:p>
        </p:txBody>
      </p:sp>
      <p:sp>
        <p:nvSpPr>
          <p:cNvPr id="3075" name="Rectangle 3"/>
          <p:cNvSpPr>
            <a:spLocks noGrp="1" noChangeArrowheads="1"/>
          </p:cNvSpPr>
          <p:nvPr>
            <p:ph type="dt" idx="1"/>
          </p:nvPr>
        </p:nvSpPr>
        <p:spPr bwMode="auto">
          <a:xfrm>
            <a:off x="3940175" y="0"/>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algn="r" defTabSz="929319">
              <a:defRPr sz="1200"/>
            </a:lvl1pPr>
          </a:lstStyle>
          <a:p>
            <a:pPr>
              <a:defRPr/>
            </a:pPr>
            <a:fld id="{04B90C15-4A4F-42F9-AC2E-18CD8FE5CA65}" type="datetimeFigureOut">
              <a:rPr lang="en-US" altLang="en-US"/>
              <a:pPr>
                <a:defRPr/>
              </a:pPr>
              <a:t>5/2/2022</a:t>
            </a:fld>
            <a:endParaRPr lang="en-US" altLang="en-US" dirty="0"/>
          </a:p>
        </p:txBody>
      </p:sp>
      <p:sp>
        <p:nvSpPr>
          <p:cNvPr id="2052" name="Rectangle 4"/>
          <p:cNvSpPr>
            <a:spLocks noGrp="1" noRot="1" noChangeAspect="1" noChangeArrowheads="1" noTextEdit="1"/>
          </p:cNvSpPr>
          <p:nvPr>
            <p:ph type="sldImg" idx="2"/>
          </p:nvPr>
        </p:nvSpPr>
        <p:spPr bwMode="auto">
          <a:xfrm>
            <a:off x="1150938" y="696913"/>
            <a:ext cx="4652962" cy="34909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27100" y="4421188"/>
            <a:ext cx="5100638"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42375"/>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defTabSz="929319">
              <a:defRPr sz="1200"/>
            </a:lvl1pPr>
          </a:lstStyle>
          <a:p>
            <a:pPr>
              <a:defRPr/>
            </a:pPr>
            <a:r>
              <a:rPr lang="en-US" altLang="en-US" dirty="0"/>
              <a:t>2012 Fall</a:t>
            </a:r>
          </a:p>
        </p:txBody>
      </p:sp>
      <p:sp>
        <p:nvSpPr>
          <p:cNvPr id="3079" name="Rectangle 7"/>
          <p:cNvSpPr>
            <a:spLocks noGrp="1" noChangeArrowheads="1"/>
          </p:cNvSpPr>
          <p:nvPr>
            <p:ph type="sldNum" sz="quarter" idx="5"/>
          </p:nvPr>
        </p:nvSpPr>
        <p:spPr bwMode="auto">
          <a:xfrm>
            <a:off x="3940175" y="8842375"/>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algn="r" defTabSz="929319">
              <a:defRPr sz="1200"/>
            </a:lvl1pPr>
          </a:lstStyle>
          <a:p>
            <a:pPr>
              <a:defRPr/>
            </a:pPr>
            <a:fld id="{2093628F-959A-4BAA-97B3-10C002A1D490}" type="slidenum">
              <a:rPr lang="en-US" altLang="en-US"/>
              <a:pPr>
                <a:defRPr/>
              </a:pPr>
              <a:t>‹#›</a:t>
            </a:fld>
            <a:endParaRPr lang="en-US" altLang="en-US" dirty="0"/>
          </a:p>
        </p:txBody>
      </p:sp>
    </p:spTree>
    <p:extLst>
      <p:ext uri="{BB962C8B-B14F-4D97-AF65-F5344CB8AC3E}">
        <p14:creationId xmlns:p14="http://schemas.microsoft.com/office/powerpoint/2010/main" val="1080722224"/>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6560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9054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049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5301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5046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07429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9022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559388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8236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087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5/2/2022</a:t>
            </a:fld>
            <a:endParaRPr lang="en-US" dirty="0"/>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dirty="0"/>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dirty="0"/>
          </a:p>
        </p:txBody>
      </p:sp>
    </p:spTree>
    <p:extLst>
      <p:ext uri="{BB962C8B-B14F-4D97-AF65-F5344CB8AC3E}">
        <p14:creationId xmlns:p14="http://schemas.microsoft.com/office/powerpoint/2010/main" val="24982418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7706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1.1</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Study Methodology –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Theory &amp; Practice</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Learning Outcomes: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learning.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Why do we use </a:t>
            </a: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Recounts an actual incident …</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Proven teaching method.</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Broadly applied. </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Presents situations where: </a:t>
            </a:r>
          </a:p>
          <a:p>
            <a:pPr lvl="1" eaLnBrk="1" hangingPunct="1">
              <a:lnSpc>
                <a:spcPct val="10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Management </a:t>
            </a:r>
            <a:r>
              <a:rPr lang="en-US" altLang="en-US" sz="2000" u="sng" dirty="0">
                <a:solidFill>
                  <a:srgbClr val="000000"/>
                </a:solidFill>
                <a:latin typeface="Arial" panose="020B0604020202020204" pitchFamily="34" charset="0"/>
              </a:rPr>
              <a:t>decisions are examined after the fact</a:t>
            </a:r>
            <a:r>
              <a:rPr lang="en-US" altLang="en-US" sz="2000" dirty="0">
                <a:solidFill>
                  <a:srgbClr val="000000"/>
                </a:solidFill>
                <a:latin typeface="Arial" panose="020B0604020202020204" pitchFamily="34" charset="0"/>
              </a:rPr>
              <a:t>, or </a:t>
            </a:r>
          </a:p>
          <a:p>
            <a:pPr lvl="1" eaLnBrk="1" hangingPunct="1">
              <a:lnSpc>
                <a:spcPct val="100000"/>
              </a:lnSpc>
              <a:buClr>
                <a:srgbClr val="000000"/>
              </a:buClr>
              <a:buFont typeface="Wingdings" panose="05000000000000000000" pitchFamily="2" charset="2"/>
              <a:buChar char="Ø"/>
            </a:pPr>
            <a:r>
              <a:rPr lang="en-US" altLang="en-US" sz="2000" u="sng" dirty="0">
                <a:solidFill>
                  <a:srgbClr val="000000"/>
                </a:solidFill>
                <a:latin typeface="Arial" panose="020B0604020202020204" pitchFamily="34" charset="0"/>
              </a:rPr>
              <a:t>Management needs to make decisions</a:t>
            </a:r>
            <a:r>
              <a:rPr lang="en-US" altLang="en-US" sz="2000" dirty="0">
                <a:solidFill>
                  <a:srgbClr val="000000"/>
                </a:solidFill>
                <a:latin typeface="Arial" panose="020B0604020202020204" pitchFamily="34" charset="0"/>
              </a:rPr>
              <a:t> with incomplete information, plausible yet uncertain decision outcomes …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under stressful and hurried conditions. </a:t>
            </a:r>
          </a:p>
          <a:p>
            <a:pPr lvl="1" eaLnBrk="1" hangingPunct="1">
              <a:lnSpc>
                <a:spcPct val="100000"/>
              </a:lnSpc>
              <a:buClr>
                <a:srgbClr val="000000"/>
              </a:buClr>
              <a:buFont typeface="Wingdings" panose="05000000000000000000" pitchFamily="2" charset="2"/>
              <a:buChar char="Ø"/>
            </a:pPr>
            <a:r>
              <a:rPr lang="en-US" altLang="en-US" sz="2000" i="1" dirty="0">
                <a:solidFill>
                  <a:srgbClr val="000000"/>
                </a:solidFill>
                <a:latin typeface="Arial" panose="020B0604020202020204" pitchFamily="34" charset="0"/>
              </a:rPr>
              <a:t>The latter will be your real-world experience!</a:t>
            </a:r>
            <a:endParaRPr lang="en-US" altLang="en-US" sz="2000" dirty="0">
              <a:solidFill>
                <a:srgbClr val="000000"/>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 and Why We Use Case Studies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Allows you …</a:t>
            </a:r>
          </a:p>
          <a:p>
            <a:pPr lvl="1" eaLnBrk="1" hangingPunct="1">
              <a:lnSpc>
                <a:spcPct val="11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to practice the methodologies, and </a:t>
            </a:r>
          </a:p>
          <a:p>
            <a:pPr lvl="1" eaLnBrk="1" hangingPunct="1">
              <a:lnSpc>
                <a:spcPct val="11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to achieve the higher learning objectives of:</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Evaluating</a:t>
            </a:r>
            <a:r>
              <a:rPr lang="en-US" altLang="en-US" sz="2000" dirty="0">
                <a:solidFill>
                  <a:srgbClr val="000000"/>
                </a:solidFill>
                <a:latin typeface="Arial" panose="020B0604020202020204" pitchFamily="34" charset="0"/>
              </a:rPr>
              <a:t> and </a:t>
            </a:r>
            <a:r>
              <a:rPr lang="en-US" altLang="en-US" sz="2000" b="1" dirty="0">
                <a:solidFill>
                  <a:srgbClr val="000000"/>
                </a:solidFill>
                <a:latin typeface="Arial" panose="020B0604020202020204" pitchFamily="34" charset="0"/>
              </a:rPr>
              <a:t>assessing</a:t>
            </a:r>
            <a:r>
              <a:rPr lang="en-US" altLang="en-US" sz="2000" dirty="0">
                <a:solidFill>
                  <a:srgbClr val="000000"/>
                </a:solidFill>
                <a:latin typeface="Arial" panose="020B0604020202020204" pitchFamily="34" charset="0"/>
              </a:rPr>
              <a:t> information and drawing conclusions, </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Critical thinking</a:t>
            </a:r>
            <a:r>
              <a:rPr lang="en-US" altLang="en-US" sz="2000" dirty="0">
                <a:solidFill>
                  <a:srgbClr val="000000"/>
                </a:solidFill>
                <a:latin typeface="Arial" panose="020B0604020202020204" pitchFamily="34" charset="0"/>
              </a:rPr>
              <a:t> about “what if”, or “what else”, or “the unintended consequences”, and </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Creative thinking</a:t>
            </a:r>
            <a:r>
              <a:rPr lang="en-US" altLang="en-US" sz="2000" dirty="0">
                <a:solidFill>
                  <a:srgbClr val="000000"/>
                </a:solidFill>
                <a:latin typeface="Arial" panose="020B0604020202020204" pitchFamily="34" charset="0"/>
              </a:rPr>
              <a:t> towards formulating strategies for advancement of the organization under study.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5071142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(MM not intended):</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Formula:  </a:t>
            </a:r>
            <a:r>
              <a:rPr lang="en-US" altLang="en-US" i="1" noProof="0" dirty="0" smtClean="0">
                <a:solidFill>
                  <a:schemeClr val="bg1"/>
                </a:solidFill>
                <a:latin typeface="Arial" panose="020B0604020202020204" pitchFamily="34" charset="0"/>
                <a:cs typeface="Arial" panose="020B0604020202020204" pitchFamily="34" charset="0"/>
              </a:rPr>
              <a:t>Y = a + bX + cX2 + dX3</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indent="0">
              <a:lnSpc>
                <a:spcPct val="100000"/>
              </a:lnSpc>
              <a:spcBef>
                <a:spcPts val="0"/>
              </a:spcBef>
              <a:buClr>
                <a:srgbClr val="000000"/>
              </a:buClr>
              <a:buSzPct val="100000"/>
              <a:buNone/>
              <a:defRPr/>
            </a:pPr>
            <a:r>
              <a:rPr lang="en-US" altLang="en-US" i="1" dirty="0" smtClean="0">
                <a:solidFill>
                  <a:schemeClr val="bg1"/>
                </a:solidFill>
                <a:latin typeface="Arial" panose="020B0604020202020204" pitchFamily="34" charset="0"/>
                <a:cs typeface="Arial" panose="020B0604020202020204" pitchFamily="34" charset="0"/>
              </a:rPr>
              <a:t>Problem: Solve for Y given the </a:t>
            </a:r>
            <a:r>
              <a:rPr lang="en-US" altLang="en-US" i="1" dirty="0">
                <a:solidFill>
                  <a:schemeClr val="bg1"/>
                </a:solidFill>
                <a:latin typeface="Arial" panose="020B0604020202020204" pitchFamily="34" charset="0"/>
                <a:cs typeface="Arial" panose="020B0604020202020204" pitchFamily="34" charset="0"/>
              </a:rPr>
              <a:t>values for a, b, c, d, and </a:t>
            </a:r>
            <a:r>
              <a:rPr lang="en-US" altLang="en-US" i="1" dirty="0" smtClean="0">
                <a:solidFill>
                  <a:schemeClr val="bg1"/>
                </a:solidFill>
                <a:latin typeface="Arial" panose="020B0604020202020204" pitchFamily="34" charset="0"/>
                <a:cs typeface="Arial" panose="020B0604020202020204" pitchFamily="34" charset="0"/>
              </a:rPr>
              <a:t>X.</a:t>
            </a:r>
            <a:endParaRPr lang="en-US" altLang="en-US" i="1"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Q: Is this a case study analysis?</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YES</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 </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NOT SURE</a:t>
            </a: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#1:</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Is this a Case Study?</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39920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(MM not intended):</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b="1" i="1" dirty="0" smtClean="0">
                <a:solidFill>
                  <a:schemeClr val="bg1"/>
                </a:solidFill>
                <a:latin typeface="Arial" panose="020B0604020202020204" pitchFamily="34" charset="0"/>
                <a:cs typeface="Arial" panose="020B0604020202020204" pitchFamily="34" charset="0"/>
              </a:rPr>
              <a:t>Situation: </a:t>
            </a:r>
            <a:r>
              <a:rPr lang="en-US" altLang="en-US" i="1" dirty="0" smtClean="0">
                <a:solidFill>
                  <a:schemeClr val="bg1"/>
                </a:solidFill>
                <a:latin typeface="Arial" panose="020B0604020202020204" pitchFamily="34" charset="0"/>
                <a:cs typeface="Arial" panose="020B0604020202020204" pitchFamily="34" charset="0"/>
              </a:rPr>
              <a:t>You are walking in your neighbourhood one day when a dog approaches you that seems friendly. </a:t>
            </a:r>
            <a:endParaRPr lang="en-US" altLang="en-US" i="1"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b="1" i="1" dirty="0" smtClean="0">
                <a:solidFill>
                  <a:schemeClr val="bg1"/>
                </a:solidFill>
                <a:latin typeface="Arial" panose="020B0604020202020204" pitchFamily="34" charset="0"/>
                <a:cs typeface="Arial" panose="020B0604020202020204" pitchFamily="34" charset="0"/>
              </a:rPr>
              <a:t>Issue: </a:t>
            </a:r>
            <a:r>
              <a:rPr lang="en-US" altLang="en-US" i="1" dirty="0" smtClean="0">
                <a:solidFill>
                  <a:schemeClr val="bg1"/>
                </a:solidFill>
                <a:latin typeface="Arial" panose="020B0604020202020204" pitchFamily="34" charset="0"/>
                <a:cs typeface="Arial" panose="020B0604020202020204" pitchFamily="34" charset="0"/>
              </a:rPr>
              <a:t>You </a:t>
            </a:r>
            <a:r>
              <a:rPr lang="en-US" altLang="en-US" i="1" dirty="0" smtClean="0">
                <a:solidFill>
                  <a:schemeClr val="bg1"/>
                </a:solidFill>
                <a:latin typeface="Arial" panose="020B0604020202020204" pitchFamily="34" charset="0"/>
                <a:cs typeface="Arial" panose="020B0604020202020204" pitchFamily="34" charset="0"/>
              </a:rPr>
              <a:t>observe that it is wearing a leash and collar, and on the collar is a dog tag with a number that looks like a phone number but you do not recognize it as an area code in your region.</a:t>
            </a:r>
            <a:endParaRPr lang="en-US" altLang="en-US" i="1" noProof="0"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Problem: </a:t>
            </a:r>
            <a:r>
              <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What do you do?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Q: Is this a case study analysis?</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YES</a:t>
            </a:r>
            <a:endParaRPr lang="en-US" altLang="en-US" i="1" dirty="0" smtClean="0">
              <a:solidFill>
                <a:schemeClr val="bg1"/>
              </a:solidFill>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 </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NOT SURE</a:t>
            </a: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#2:</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Lost Dog - Is this a Case Study?</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8096092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Your model of learning so far:</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are an engineering student …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you are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very accustomed</a:t>
            </a:r>
            <a:r>
              <a:rPr lang="en-CA" altLang="en-US" dirty="0" smtClean="0">
                <a:solidFill>
                  <a:srgbClr val="000000"/>
                </a:solidFill>
                <a:latin typeface="Arial" panose="020B0604020202020204" pitchFamily="34" charset="0"/>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seeking the right answer …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has been your education!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1" indent="-457200" eaLnBrk="1" hangingPunct="1">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Now something new …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problem with no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absolute right or wrong answers!</a:t>
            </a:r>
          </a:p>
          <a:p>
            <a:pPr marL="457200" lvl="1" indent="-457200" eaLnBrk="1" hangingPunct="1">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No Absolute Right or Wrong Answers!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1488684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(MM-Poll):</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b="1" i="1" dirty="0">
                <a:solidFill>
                  <a:schemeClr val="bg1"/>
                </a:solidFill>
                <a:latin typeface="Arial" panose="020B0604020202020204" pitchFamily="34" charset="0"/>
                <a:cs typeface="Arial" panose="020B0604020202020204" pitchFamily="34" charset="0"/>
              </a:rPr>
              <a:t>Situation: </a:t>
            </a:r>
            <a:r>
              <a:rPr lang="en-US" altLang="en-US" i="1" dirty="0">
                <a:solidFill>
                  <a:schemeClr val="bg1"/>
                </a:solidFill>
                <a:latin typeface="Arial" panose="020B0604020202020204" pitchFamily="34" charset="0"/>
                <a:cs typeface="Arial" panose="020B0604020202020204" pitchFamily="34" charset="0"/>
              </a:rPr>
              <a:t>You are walking in your </a:t>
            </a:r>
            <a:r>
              <a:rPr lang="en-US" altLang="en-US" i="1" dirty="0" err="1">
                <a:solidFill>
                  <a:schemeClr val="bg1"/>
                </a:solidFill>
                <a:latin typeface="Arial" panose="020B0604020202020204" pitchFamily="34" charset="0"/>
                <a:cs typeface="Arial" panose="020B0604020202020204" pitchFamily="34" charset="0"/>
              </a:rPr>
              <a:t>neighbourhood</a:t>
            </a:r>
            <a:r>
              <a:rPr lang="en-US" altLang="en-US" i="1" dirty="0">
                <a:solidFill>
                  <a:schemeClr val="bg1"/>
                </a:solidFill>
                <a:latin typeface="Arial" panose="020B0604020202020204" pitchFamily="34" charset="0"/>
                <a:cs typeface="Arial" panose="020B0604020202020204" pitchFamily="34" charset="0"/>
              </a:rPr>
              <a:t> one day when a dog approaches you that seems friendly. </a:t>
            </a:r>
          </a:p>
          <a:p>
            <a:pPr marL="0" lvl="0" indent="0">
              <a:lnSpc>
                <a:spcPct val="100000"/>
              </a:lnSpc>
              <a:spcBef>
                <a:spcPts val="0"/>
              </a:spcBef>
              <a:buClr>
                <a:srgbClr val="000000"/>
              </a:buClr>
              <a:buSzPct val="100000"/>
              <a:buNone/>
              <a:defRPr/>
            </a:pPr>
            <a:endParaRPr lang="en-US" altLang="en-US"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b="1" i="1" dirty="0">
                <a:solidFill>
                  <a:schemeClr val="bg1"/>
                </a:solidFill>
                <a:latin typeface="Arial" panose="020B0604020202020204" pitchFamily="34" charset="0"/>
                <a:cs typeface="Arial" panose="020B0604020202020204" pitchFamily="34" charset="0"/>
              </a:rPr>
              <a:t>Issue: </a:t>
            </a:r>
            <a:r>
              <a:rPr lang="en-US" altLang="en-US" i="1" dirty="0">
                <a:solidFill>
                  <a:schemeClr val="bg1"/>
                </a:solidFill>
                <a:latin typeface="Arial" panose="020B0604020202020204" pitchFamily="34" charset="0"/>
                <a:cs typeface="Arial" panose="020B0604020202020204" pitchFamily="34" charset="0"/>
              </a:rPr>
              <a:t>You observe that it is wearing a leash and collar, and on the collar is a dog tag with a number that looks like a phone number but you do not recognize it as an area code in your region.</a:t>
            </a:r>
          </a:p>
          <a:p>
            <a:pPr marL="0" lvl="0" indent="0">
              <a:lnSpc>
                <a:spcPct val="100000"/>
              </a:lnSpc>
              <a:spcBef>
                <a:spcPts val="0"/>
              </a:spcBef>
              <a:buClr>
                <a:srgbClr val="000000"/>
              </a:buClr>
              <a:buSzPct val="100000"/>
              <a:buNone/>
              <a:defRPr/>
            </a:pPr>
            <a:endParaRPr lang="en-US" altLang="en-US" sz="1800"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sz="1800" b="1" i="1" dirty="0">
                <a:solidFill>
                  <a:schemeClr val="bg1"/>
                </a:solidFill>
                <a:latin typeface="Arial" panose="020B0604020202020204" pitchFamily="34" charset="0"/>
                <a:cs typeface="Arial" panose="020B0604020202020204" pitchFamily="34" charset="0"/>
              </a:rPr>
              <a:t>Problem: </a:t>
            </a:r>
            <a:r>
              <a:rPr lang="en-US" altLang="en-US" sz="1800" i="1" dirty="0">
                <a:solidFill>
                  <a:schemeClr val="bg1"/>
                </a:solidFill>
                <a:latin typeface="Arial" panose="020B0604020202020204" pitchFamily="34" charset="0"/>
                <a:cs typeface="Arial" panose="020B0604020202020204" pitchFamily="34" charset="0"/>
              </a:rPr>
              <a:t>What do you do?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Before</a:t>
            </a:r>
            <a:r>
              <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 answering “What do you do?”, ask yourself what information you would use or </a:t>
            </a:r>
            <a:r>
              <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you would need and what </a:t>
            </a:r>
            <a:r>
              <a:rPr kumimoji="0" lang="en-US" altLang="en-US" sz="2000" b="0" i="1" u="none" strike="noStrike" kern="1200" cap="none" spc="0" normalizeH="0" dirty="0" err="1" smtClean="0">
                <a:ln>
                  <a:noFill/>
                </a:ln>
                <a:solidFill>
                  <a:schemeClr val="bg1"/>
                </a:solidFill>
                <a:effectLst/>
                <a:uLnTx/>
                <a:uFillTx/>
                <a:latin typeface="Arial" panose="020B0604020202020204" pitchFamily="34" charset="0"/>
                <a:cs typeface="Arial" panose="020B0604020202020204" pitchFamily="34" charset="0"/>
              </a:rPr>
              <a:t>assupmtions</a:t>
            </a:r>
            <a:r>
              <a:rPr lang="en-US" altLang="en-US" i="1" dirty="0">
                <a:solidFill>
                  <a:schemeClr val="bg1"/>
                </a:solidFill>
                <a:latin typeface="Arial" panose="020B0604020202020204" pitchFamily="34" charset="0"/>
                <a:cs typeface="Arial" panose="020B0604020202020204" pitchFamily="34" charset="0"/>
              </a:rPr>
              <a:t> you make </a:t>
            </a:r>
            <a:r>
              <a:rPr lang="en-US" altLang="en-US" i="1" dirty="0" smtClean="0">
                <a:solidFill>
                  <a:schemeClr val="bg1"/>
                </a:solidFill>
                <a:latin typeface="Arial" panose="020B0604020202020204" pitchFamily="34" charset="0"/>
                <a:cs typeface="Arial" panose="020B0604020202020204" pitchFamily="34" charset="0"/>
              </a:rPr>
              <a:t>in order to </a:t>
            </a:r>
            <a:r>
              <a:rPr lang="en-US" altLang="en-US" i="1" dirty="0">
                <a:solidFill>
                  <a:schemeClr val="bg1"/>
                </a:solidFill>
                <a:latin typeface="Arial" panose="020B0604020202020204" pitchFamily="34" charset="0"/>
                <a:cs typeface="Arial" panose="020B0604020202020204" pitchFamily="34" charset="0"/>
              </a:rPr>
              <a:t>come to a </a:t>
            </a:r>
            <a:r>
              <a:rPr lang="en-US" altLang="en-US" i="1" dirty="0" smtClean="0">
                <a:solidFill>
                  <a:schemeClr val="bg1"/>
                </a:solidFill>
                <a:latin typeface="Arial" panose="020B0604020202020204" pitchFamily="34" charset="0"/>
                <a:cs typeface="Arial" panose="020B0604020202020204" pitchFamily="34" charset="0"/>
              </a:rPr>
              <a:t>decision?</a:t>
            </a:r>
            <a:endPar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baseline="0"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Please respond to “What information would you use or </a:t>
            </a:r>
            <a:r>
              <a:rPr lang="en-US" altLang="en-US" b="1" i="1" dirty="0" smtClean="0">
                <a:solidFill>
                  <a:schemeClr val="bg1"/>
                </a:solidFill>
                <a:latin typeface="Arial" panose="020B0604020202020204" pitchFamily="34" charset="0"/>
                <a:cs typeface="Arial" panose="020B0604020202020204" pitchFamily="34" charset="0"/>
              </a:rPr>
              <a:t>need </a:t>
            </a:r>
            <a:r>
              <a:rPr kumimoji="0" lang="en-US" altLang="en-US" sz="2000" b="1"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to make a decision as to what to do about the lost dog?” on MM-Poll</a:t>
            </a:r>
            <a:r>
              <a:rPr kumimoji="0" lang="en-US" altLang="en-US" sz="2000" b="1"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a:t>
            </a:r>
            <a:endParaRPr lang="en-US" altLang="en-US" b="1" i="1" baseline="0" dirty="0">
              <a:solidFill>
                <a:schemeClr val="bg1"/>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#3:</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Lost Dog</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0451585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is there no absolute (right or wrong) answer?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lvl="0" indent="-360000">
              <a:spcBef>
                <a:spcPts val="0"/>
              </a:spcBef>
              <a:buSzPct val="100000"/>
              <a:buFont typeface="Wingdings" panose="05000000000000000000" pitchFamily="2" charset="2"/>
              <a:buChar char="Ø"/>
              <a:defRPr/>
            </a:pPr>
            <a:r>
              <a:rPr lang="en-US" altLang="en-US" sz="2000" dirty="0" smtClean="0">
                <a:solidFill>
                  <a:srgbClr val="F8F8F8"/>
                </a:solidFill>
                <a:latin typeface="Arial" panose="020B0604020202020204" pitchFamily="34" charset="0"/>
                <a:cs typeface="Arial" panose="020B0604020202020204" pitchFamily="34" charset="0"/>
              </a:rPr>
              <a:t>Is </a:t>
            </a:r>
            <a:r>
              <a:rPr lang="en-US" altLang="en-US" sz="2000" dirty="0">
                <a:solidFill>
                  <a:srgbClr val="F8F8F8"/>
                </a:solidFill>
                <a:latin typeface="Arial" panose="020B0604020202020204" pitchFamily="34" charset="0"/>
                <a:cs typeface="Arial" panose="020B0604020202020204" pitchFamily="34" charset="0"/>
              </a:rPr>
              <a:t>there one right and correct absolute answer as to what to do about the lost dog</a:t>
            </a:r>
            <a:r>
              <a:rPr lang="en-US" altLang="en-US" sz="2000" dirty="0" smtClean="0">
                <a:solidFill>
                  <a:srgbClr val="F8F8F8"/>
                </a:solidFill>
                <a:latin typeface="Arial" panose="020B0604020202020204" pitchFamily="34" charset="0"/>
                <a:cs typeface="Arial" panose="020B0604020202020204" pitchFamily="34" charset="0"/>
              </a:rPr>
              <a:t>?</a:t>
            </a:r>
            <a:endParaRPr lang="en-US"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So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respond with an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answer?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lang="en-CA"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make decisions based on:</a:t>
            </a:r>
          </a:p>
          <a:p>
            <a:pPr marL="72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The information you have and the assumptions you make;</a:t>
            </a:r>
          </a:p>
          <a:p>
            <a:pPr marL="72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Your </a:t>
            </a:r>
            <a:r>
              <a:rPr lang="en-CA" altLang="en-US" sz="2000" dirty="0">
                <a:solidFill>
                  <a:srgbClr val="F8F8F8"/>
                </a:solidFill>
                <a:latin typeface="Arial" panose="020B0604020202020204" pitchFamily="34" charset="0"/>
                <a:cs typeface="Arial" panose="020B0604020202020204" pitchFamily="34" charset="0"/>
              </a:rPr>
              <a:t>personal experience and education i.e. what you have learned about what to do in the same or similar experiences;</a:t>
            </a:r>
          </a:p>
          <a:p>
            <a:pPr marL="72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 adapt your cultural processes to guide you in making a decision i.e. what is an </a:t>
            </a:r>
            <a:r>
              <a:rPr lang="en-CA" altLang="en-US" sz="2000" dirty="0" smtClean="0">
                <a:solidFill>
                  <a:srgbClr val="F8F8F8"/>
                </a:solidFill>
                <a:latin typeface="Arial" panose="020B0604020202020204" pitchFamily="34" charset="0"/>
                <a:cs typeface="Arial" panose="020B0604020202020204" pitchFamily="34" charset="0"/>
              </a:rPr>
              <a:t>acceptable and appropriate </a:t>
            </a:r>
            <a:r>
              <a:rPr lang="en-CA" altLang="en-US" sz="2000" dirty="0">
                <a:solidFill>
                  <a:srgbClr val="F8F8F8"/>
                </a:solidFill>
                <a:latin typeface="Arial" panose="020B0604020202020204" pitchFamily="34" charset="0"/>
                <a:cs typeface="Arial" panose="020B0604020202020204" pitchFamily="34" charset="0"/>
              </a:rPr>
              <a:t>thing to do?</a:t>
            </a:r>
          </a:p>
          <a:p>
            <a:pPr marL="72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 comply with your cultural rules in making a decision i.e. what does my culture say I should or must do?</a:t>
            </a:r>
          </a:p>
          <a:p>
            <a:pPr marL="360000" indent="-360000">
              <a:spcBef>
                <a:spcPts val="0"/>
              </a:spcBef>
              <a:buSzPct val="100000"/>
              <a:buFont typeface="Wingdings" panose="05000000000000000000" pitchFamily="2" charset="2"/>
              <a:buChar char="Ø"/>
              <a:defRPr/>
            </a:pPr>
            <a:endParaRPr lang="en-CA" altLang="en-US" sz="2000" dirty="0" smtClean="0">
              <a:solidFill>
                <a:srgbClr val="F8F8F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75049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Same applies</a:t>
            </a:r>
            <a:r>
              <a:rPr kumimoji="0" lang="en-CA" altLang="en-US" sz="24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in Risk Management Case Studies</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No </a:t>
            </a:r>
            <a:r>
              <a:rPr lang="en-CA" altLang="en-US" sz="2000" dirty="0">
                <a:solidFill>
                  <a:srgbClr val="F8F8F8"/>
                </a:solidFill>
                <a:latin typeface="Arial" panose="020B0604020202020204" pitchFamily="34" charset="0"/>
                <a:cs typeface="Arial" panose="020B0604020202020204" pitchFamily="34" charset="0"/>
              </a:rPr>
              <a:t>engineering formulae in </a:t>
            </a:r>
            <a:r>
              <a:rPr lang="en-US" altLang="en-US" sz="2000" dirty="0">
                <a:solidFill>
                  <a:srgbClr val="F8F8F8"/>
                </a:solidFill>
                <a:latin typeface="Arial" panose="020B0604020202020204" pitchFamily="34" charset="0"/>
                <a:cs typeface="Arial" panose="020B0604020202020204" pitchFamily="34" charset="0"/>
              </a:rPr>
              <a:t>Chapter 1.1 Case Study Methodology</a:t>
            </a:r>
            <a:endParaRPr lang="en-CA" altLang="en-US" sz="2000" dirty="0">
              <a:solidFill>
                <a:srgbClr val="F8F8F8"/>
              </a:solidFill>
              <a:latin typeface="Arial" panose="020B0604020202020204" pitchFamily="34" charset="0"/>
              <a:cs typeface="Arial" panose="020B0604020202020204" pitchFamily="34" charset="0"/>
            </a:endParaRPr>
          </a:p>
          <a:p>
            <a:pPr marL="360000" lvl="0" indent="-360000">
              <a:spcBef>
                <a:spcPts val="0"/>
              </a:spcBef>
              <a:buSzPct val="100000"/>
              <a:buFont typeface="Wingdings" panose="05000000000000000000" pitchFamily="2" charset="2"/>
              <a:buChar char="Ø"/>
              <a:defRPr/>
            </a:pPr>
            <a:endParaRPr lang="en-US" altLang="en-US" sz="2000" dirty="0" smtClean="0">
              <a:solidFill>
                <a:srgbClr val="F8F8F8"/>
              </a:solidFill>
              <a:latin typeface="Arial" panose="020B0604020202020204" pitchFamily="34" charset="0"/>
              <a:cs typeface="Arial" panose="020B0604020202020204" pitchFamily="34" charset="0"/>
            </a:endParaRPr>
          </a:p>
          <a:p>
            <a:pPr marL="360000" lvl="0" indent="-360000">
              <a:spcBef>
                <a:spcPts val="0"/>
              </a:spcBef>
              <a:buSzPct val="100000"/>
              <a:buFont typeface="Wingdings" panose="05000000000000000000" pitchFamily="2" charset="2"/>
              <a:buChar char="Ø"/>
              <a:defRPr/>
            </a:pPr>
            <a:r>
              <a:rPr lang="en-US" altLang="en-US" sz="2000" dirty="0" smtClean="0">
                <a:solidFill>
                  <a:srgbClr val="F8F8F8"/>
                </a:solidFill>
                <a:latin typeface="Arial" panose="020B0604020202020204" pitchFamily="34" charset="0"/>
                <a:cs typeface="Arial" panose="020B0604020202020204" pitchFamily="34" charset="0"/>
              </a:rPr>
              <a:t>No one </a:t>
            </a:r>
            <a:r>
              <a:rPr lang="en-US" altLang="en-US" sz="2000" dirty="0">
                <a:solidFill>
                  <a:srgbClr val="F8F8F8"/>
                </a:solidFill>
                <a:latin typeface="Arial" panose="020B0604020202020204" pitchFamily="34" charset="0"/>
                <a:cs typeface="Arial" panose="020B0604020202020204" pitchFamily="34" charset="0"/>
              </a:rPr>
              <a:t>right and correct absolute answer as to what to do about </a:t>
            </a:r>
            <a:r>
              <a:rPr lang="en-US" altLang="en-US" sz="2000" dirty="0" smtClean="0">
                <a:solidFill>
                  <a:srgbClr val="F8F8F8"/>
                </a:solidFill>
                <a:latin typeface="Arial" panose="020B0604020202020204" pitchFamily="34" charset="0"/>
                <a:cs typeface="Arial" panose="020B0604020202020204" pitchFamily="34" charset="0"/>
              </a:rPr>
              <a:t>any particular situation … because, just like the lost dog …</a:t>
            </a:r>
            <a:endParaRPr lang="en-US"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situation: Incomplete, inconsistent, conflicting information, different perspectives, knowledge expertise, and base priorities.</a:t>
            </a:r>
          </a:p>
          <a:p>
            <a:pPr marL="72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Real situations in the workplace!</a:t>
            </a:r>
          </a:p>
          <a:p>
            <a:pPr marL="432000" marR="0" lvl="0" indent="-432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So how do you respond with an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answer?</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lang="en-CA" altLang="en-US" sz="2000" dirty="0">
              <a:solidFill>
                <a:srgbClr val="F8F8F8"/>
              </a:solidFill>
              <a:latin typeface="Arial" panose="020B0604020202020204" pitchFamily="34" charset="0"/>
              <a:cs typeface="Arial" panose="020B0604020202020204" pitchFamily="34" charset="0"/>
            </a:endParaRPr>
          </a:p>
          <a:p>
            <a:pPr marL="36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Your answer must be supported with sound application of methodologies, and sound rationale consistent with good risk </a:t>
            </a:r>
            <a:r>
              <a:rPr lang="en-CA" altLang="en-US" sz="2000" dirty="0" smtClean="0">
                <a:solidFill>
                  <a:srgbClr val="F8F8F8"/>
                </a:solidFill>
                <a:latin typeface="Arial" panose="020B0604020202020204" pitchFamily="34" charset="0"/>
                <a:cs typeface="Arial" panose="020B0604020202020204" pitchFamily="34" charset="0"/>
              </a:rPr>
              <a:t>management</a:t>
            </a:r>
            <a:r>
              <a:rPr lang="en-CA" altLang="en-US" sz="2000" dirty="0">
                <a:solidFill>
                  <a:srgbClr val="F8F8F8"/>
                </a:solidFill>
                <a:latin typeface="Arial" panose="020B0604020202020204" pitchFamily="34" charset="0"/>
                <a:cs typeface="Arial" panose="020B0604020202020204" pitchFamily="34" charset="0"/>
              </a:rPr>
              <a:t> </a:t>
            </a:r>
            <a:r>
              <a:rPr lang="en-CA" altLang="en-US" sz="2000" dirty="0" smtClean="0">
                <a:solidFill>
                  <a:srgbClr val="F8F8F8"/>
                </a:solidFill>
                <a:latin typeface="Arial" panose="020B0604020202020204" pitchFamily="34" charset="0"/>
                <a:cs typeface="Arial" panose="020B0604020202020204" pitchFamily="34" charset="0"/>
              </a:rPr>
              <a:t>i.e. your experiences, your education and training, and the rules and processes of risk management culture!</a:t>
            </a:r>
            <a:endParaRPr lang="en-CA" altLang="en-US" sz="2000" dirty="0">
              <a:solidFill>
                <a:srgbClr val="F8F8F8"/>
              </a:solidFill>
              <a:latin typeface="Arial" panose="020B0604020202020204" pitchFamily="34" charset="0"/>
              <a:cs typeface="Arial" panose="020B0604020202020204" pitchFamily="34" charset="0"/>
            </a:endParaRPr>
          </a:p>
          <a:p>
            <a:pPr marL="0" marR="0" lvl="0" indent="0" algn="l" defTabSz="914400" rtl="0" eaLnBrk="0" fontAlgn="base" latinLnBrk="0" hangingPunct="0">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0332164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Expect to Apply </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spcBef>
                <a:spcPts val="0"/>
              </a:spcBef>
              <a:spcAft>
                <a:spcPct val="0"/>
              </a:spcAft>
              <a:buClr>
                <a:srgbClr val="000000"/>
              </a:buClr>
              <a:buSzPct val="100000"/>
              <a:buFontTx/>
              <a:buNone/>
              <a:tabLst/>
              <a:defRPr/>
            </a:pPr>
            <a:r>
              <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this course:</a:t>
            </a:r>
          </a:p>
          <a:p>
            <a:pPr marL="0" marR="0" lvl="0" indent="0" algn="l" defTabSz="914400" rtl="0" eaLnBrk="0" fontAlgn="base" latinLnBrk="0" hangingPunct="0">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Recall any the recent incident in the news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Put yourselves in the role as the decision maker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Before the loss incident happened, would you have scaled back on …?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(training, maintenance, upgrades, emergency planning,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else could you have done in that situation?</a:t>
            </a:r>
          </a:p>
        </p:txBody>
      </p:sp>
    </p:spTree>
    <p:extLst>
      <p:ext uri="{BB962C8B-B14F-4D97-AF65-F5344CB8AC3E}">
        <p14:creationId xmlns:p14="http://schemas.microsoft.com/office/powerpoint/2010/main" val="33764904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this course:</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goal is to analyze the situation, learn from it, and determine the best course of action for the future.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approaches will be learned and applied:</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Team Project.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set of guiding questions for a Case Study “Loss Incident” Analysis: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1" indent="-457200" eaLnBrk="1" hangingPunct="1">
              <a:lnSpc>
                <a:spcPct val="100000"/>
              </a:lnSpc>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a:p>
            <a:pPr marL="457200" lvl="1" indent="-457200" eaLnBrk="1" hangingPunct="1">
              <a:lnSpc>
                <a:spcPct val="100000"/>
              </a:lnSpc>
              <a:spcBef>
                <a:spcPts val="0"/>
              </a:spcBef>
              <a:buClr>
                <a:srgbClr val="000000"/>
              </a:buClr>
              <a:buFont typeface="Wingdings" panose="05000000000000000000" pitchFamily="2" charset="2"/>
              <a:buChar char="Ø"/>
            </a:pPr>
            <a:r>
              <a:rPr lang="en-US" altLang="en-US" sz="2000" dirty="0" smtClean="0">
                <a:solidFill>
                  <a:srgbClr val="000000"/>
                </a:solidFill>
                <a:latin typeface="Arial" panose="020B0604020202020204" pitchFamily="34" charset="0"/>
              </a:rPr>
              <a:t>Chapter 1.1 Case Study Methodology </a:t>
            </a:r>
            <a:r>
              <a:rPr lang="en-US" altLang="en-US" sz="2000" dirty="0">
                <a:solidFill>
                  <a:srgbClr val="000000"/>
                </a:solidFill>
                <a:latin typeface="Arial" panose="020B0604020202020204" pitchFamily="34" charset="0"/>
              </a:rPr>
              <a:t>…</a:t>
            </a:r>
          </a:p>
          <a:p>
            <a:pPr lvl="1" eaLnBrk="1" hangingPunct="1">
              <a:lnSpc>
                <a:spcPct val="100000"/>
              </a:lnSpc>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is NOT about knowing the details about a loss incident!</a:t>
            </a:r>
          </a:p>
          <a:p>
            <a:pPr lvl="1" eaLnBrk="1" hangingPunct="1">
              <a:lnSpc>
                <a:spcPct val="100000"/>
              </a:lnSpc>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IS knowing the lessons learned and being able to apply the relevant principles and practices of RM to the case study in order to develop and transfer those competencies to other loss incidents under study or experienced in your career.</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Expect to Apply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325573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18037</TotalTime>
  <Words>1017</Words>
  <Application>Microsoft Office PowerPoint</Application>
  <PresentationFormat>On-screen Show (4:3)</PresentationFormat>
  <Paragraphs>167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Alberta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ESRM</dc:title>
  <dc:creator>JR Cocchio</dc:creator>
  <cp:lastModifiedBy>John Cocchio</cp:lastModifiedBy>
  <cp:revision>297</cp:revision>
  <cp:lastPrinted>2017-09-05T15:42:31Z</cp:lastPrinted>
  <dcterms:created xsi:type="dcterms:W3CDTF">2011-09-07T03:22:54Z</dcterms:created>
  <dcterms:modified xsi:type="dcterms:W3CDTF">2022-05-02T17:31:56Z</dcterms:modified>
</cp:coreProperties>
</file>