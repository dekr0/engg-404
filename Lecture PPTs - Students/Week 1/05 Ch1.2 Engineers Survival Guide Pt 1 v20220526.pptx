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11" r:id="rId1"/>
  </p:sldMasterIdLst>
  <p:notesMasterIdLst>
    <p:notesMasterId r:id="rId16"/>
  </p:notesMasterIdLst>
  <p:handoutMasterIdLst>
    <p:handoutMasterId r:id="rId17"/>
  </p:handoutMasterIdLst>
  <p:sldIdLst>
    <p:sldId id="895" r:id="rId2"/>
    <p:sldId id="880" r:id="rId3"/>
    <p:sldId id="928" r:id="rId4"/>
    <p:sldId id="938" r:id="rId5"/>
    <p:sldId id="953" r:id="rId6"/>
    <p:sldId id="929" r:id="rId7"/>
    <p:sldId id="956" r:id="rId8"/>
    <p:sldId id="957" r:id="rId9"/>
    <p:sldId id="958" r:id="rId10"/>
    <p:sldId id="959" r:id="rId11"/>
    <p:sldId id="930" r:id="rId12"/>
    <p:sldId id="935" r:id="rId13"/>
    <p:sldId id="936" r:id="rId14"/>
    <p:sldId id="900" r:id="rId15"/>
  </p:sldIdLst>
  <p:sldSz cx="9144000" cy="6858000" type="screen4x3"/>
  <p:notesSz cx="7045325" cy="9345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4">
          <p15:clr>
            <a:srgbClr val="A4A3A4"/>
          </p15:clr>
        </p15:guide>
        <p15:guide id="2" pos="221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enato Macciotta" initials="RM" lastIdx="2" clrIdx="0">
    <p:extLst>
      <p:ext uri="{19B8F6BF-5375-455C-9EA6-DF929625EA0E}">
        <p15:presenceInfo xmlns:p15="http://schemas.microsoft.com/office/powerpoint/2012/main" userId="f1fc2b90-d807-49e3-856f-0640b045ce4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FF"/>
    <a:srgbClr val="F9DBD3"/>
    <a:srgbClr val="000099"/>
    <a:srgbClr val="3366CC"/>
    <a:srgbClr val="000000"/>
    <a:srgbClr val="4F76F1"/>
    <a:srgbClr val="48945C"/>
    <a:srgbClr val="82C293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54" autoAdjust="0"/>
    <p:restoredTop sz="91251" autoAdjust="0"/>
  </p:normalViewPr>
  <p:slideViewPr>
    <p:cSldViewPr>
      <p:cViewPr varScale="1">
        <p:scale>
          <a:sx n="64" d="100"/>
          <a:sy n="64" d="100"/>
        </p:scale>
        <p:origin x="1400" y="40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-28"/>
    </p:cViewPr>
  </p:sorterViewPr>
  <p:notesViewPr>
    <p:cSldViewPr>
      <p:cViewPr varScale="1">
        <p:scale>
          <a:sx n="51" d="100"/>
          <a:sy n="51" d="100"/>
        </p:scale>
        <p:origin x="2664" y="44"/>
      </p:cViewPr>
      <p:guideLst>
        <p:guide orient="horz" pos="2944"/>
        <p:guide pos="22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112" tIns="46056" rIns="92112" bIns="46056" numCol="1" anchor="t" anchorCtr="0" compatLnSpc="1">
            <a:prstTxWarp prst="textNoShape">
              <a:avLst/>
            </a:prstTxWarp>
          </a:bodyPr>
          <a:lstStyle>
            <a:lvl1pPr defTabSz="919163">
              <a:defRPr sz="1200"/>
            </a:lvl1pPr>
          </a:lstStyle>
          <a:p>
            <a:pPr>
              <a:defRPr/>
            </a:pPr>
            <a:r>
              <a:rPr lang="en-US" altLang="en-US" dirty="0"/>
              <a:t>2017-18</a:t>
            </a: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0638"/>
            <a:ext cx="30702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112" tIns="46056" rIns="92112" bIns="46056" numCol="1" anchor="b" anchorCtr="0" compatLnSpc="1">
            <a:prstTxWarp prst="textNoShape">
              <a:avLst/>
            </a:prstTxWarp>
          </a:bodyPr>
          <a:lstStyle>
            <a:lvl1pPr defTabSz="919163">
              <a:defRPr sz="1200"/>
            </a:lvl1pPr>
          </a:lstStyle>
          <a:p>
            <a:pPr>
              <a:defRPr/>
            </a:pPr>
            <a:endParaRPr lang="en-CA" altLang="en-US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87800" y="8910638"/>
            <a:ext cx="30702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112" tIns="46056" rIns="92112" bIns="46056" numCol="1" anchor="b" anchorCtr="0" compatLnSpc="1">
            <a:prstTxWarp prst="textNoShape">
              <a:avLst/>
            </a:prstTxWarp>
          </a:bodyPr>
          <a:lstStyle>
            <a:lvl1pPr algn="r" defTabSz="919163">
              <a:defRPr sz="1200"/>
            </a:lvl1pPr>
          </a:lstStyle>
          <a:p>
            <a:pPr>
              <a:defRPr/>
            </a:pPr>
            <a:fld id="{8534BCCC-6D23-4E61-B462-D18510A6D56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086213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5435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641" tIns="46821" rIns="93641" bIns="46821" numCol="1" anchor="t" anchorCtr="0" compatLnSpc="1">
            <a:prstTxWarp prst="textNoShape">
              <a:avLst/>
            </a:prstTxWarp>
          </a:bodyPr>
          <a:lstStyle>
            <a:lvl1pPr defTabSz="936625">
              <a:defRPr sz="1200"/>
            </a:lvl1pPr>
          </a:lstStyle>
          <a:p>
            <a:pPr>
              <a:defRPr/>
            </a:pPr>
            <a:r>
              <a:rPr lang="en-US" altLang="en-US"/>
              <a:t>2015-2016ENGG404/406 Lecture 00 - Day 1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90975" y="0"/>
            <a:ext cx="305435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641" tIns="46821" rIns="93641" bIns="46821" numCol="1" anchor="t" anchorCtr="0" compatLnSpc="1">
            <a:prstTxWarp prst="textNoShape">
              <a:avLst/>
            </a:prstTxWarp>
          </a:bodyPr>
          <a:lstStyle>
            <a:lvl1pPr algn="r" defTabSz="936625">
              <a:defRPr sz="1200"/>
            </a:lvl1pPr>
          </a:lstStyle>
          <a:p>
            <a:pPr>
              <a:defRPr/>
            </a:pPr>
            <a:fld id="{BFE603A0-85CA-43FD-A043-F1243D0E53A2}" type="datetimeFigureOut">
              <a:rPr lang="en-US" altLang="en-US"/>
              <a:pPr>
                <a:defRPr/>
              </a:pPr>
              <a:t>5/26/2022</a:t>
            </a:fld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5863" y="700088"/>
            <a:ext cx="4673600" cy="3505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9800" y="4440238"/>
            <a:ext cx="5165725" cy="420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641" tIns="46821" rIns="93641" bIns="4682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77300"/>
            <a:ext cx="305435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641" tIns="46821" rIns="93641" bIns="46821" numCol="1" anchor="b" anchorCtr="0" compatLnSpc="1">
            <a:prstTxWarp prst="textNoShape">
              <a:avLst/>
            </a:prstTxWarp>
          </a:bodyPr>
          <a:lstStyle>
            <a:lvl1pPr defTabSz="936625">
              <a:defRPr sz="1200"/>
            </a:lvl1pPr>
          </a:lstStyle>
          <a:p>
            <a:pPr>
              <a:defRPr/>
            </a:pPr>
            <a:r>
              <a:rPr lang="en-US" altLang="en-US"/>
              <a:t>2012 Fall</a:t>
            </a: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90975" y="8877300"/>
            <a:ext cx="305435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3641" tIns="46821" rIns="93641" bIns="46821" numCol="1" anchor="b" anchorCtr="0" compatLnSpc="1">
            <a:prstTxWarp prst="textNoShape">
              <a:avLst/>
            </a:prstTxWarp>
          </a:bodyPr>
          <a:lstStyle>
            <a:lvl1pPr algn="r" defTabSz="936625">
              <a:defRPr sz="1200"/>
            </a:lvl1pPr>
          </a:lstStyle>
          <a:p>
            <a:pPr>
              <a:defRPr/>
            </a:pPr>
            <a:fld id="{A8978F05-17BA-412D-BDD1-B4C0C0428F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901394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151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compressor story "The Compressor Noise and The 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organization’s 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Responsible Care Code of Ethics" is one of my own experiences that I use to demonstrate KP "#3 When you make decisions, put safety ahead of any other objective!" </a:t>
            </a:r>
          </a:p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You could use your own experience - I think Renato and Lisa have done that in the past. But certainly, you are welcome to tell my story - from the mid 1980's, very early in my career. I'll try to </a:t>
            </a:r>
            <a:r>
              <a:rPr lang="en-US" alt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summarise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it here along with the slide prompts:</a:t>
            </a:r>
          </a:p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Slide 4 prompt:</a:t>
            </a: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Professor relates the situation and issue about their real workplace experience:</a:t>
            </a: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Compressor Noise and The 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organization’s 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Responsible Care Code of Ethics</a:t>
            </a:r>
          </a:p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"During a labour disruption, the managers and engineering staff were assigned to run the plants in the 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organization. 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My job was in a plastics manufacturing plant. While operating a large HP reciprocating compressor on a rotating 12-hour shift, I detected an unusual noise in it. Of course, mechanical engineers know that unusual noises in machinery is not a good sign. I asked another person on my crew if they heard the noise, but they indicated that there was nothing unusual. At the turn-over at the end of my shift, I asked the incoming operator and crew to check for unusual noise and monitor it. When my night shift resumed, they indicated at the shift turn-over that there was no noise. 'We should not shut-down. We need to keep the plant running.  You are just hearing things!'</a:t>
            </a:r>
          </a:p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Nevertheless, I was persistent in checking and I could hear the unusual noise - it was a knocking sound at roughly half the RPM speed of the compressor. I asked my night crew colleagues but they indicated no noise. Same thing on the day shift - they did not hear a noise. On my third night shift, I could hear the noise and it was getting louder - again not a good sign for machinery. The issue was conflicting - others did not hear the unusual noise and the plant manager had relayed through the day shift that we needed to keep running to meet the production goals.  I was 'stuck' in trying to determine what to do." </a:t>
            </a:r>
          </a:p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Slide 4 prompt:</a:t>
            </a: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Please confer on this question and respond on MM: What would you have done in this situation about keeping the plant running?</a:t>
            </a: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(Give the students a bit of time to respond. You will likely have some time to use </a:t>
            </a:r>
            <a:r>
              <a:rPr lang="en-US" alt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Mentimeter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.)</a:t>
            </a:r>
          </a:p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Slide 5 prompt:</a:t>
            </a: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Professor resumes with how the situation and issue were managed, and demonstrates the value of having the ESG!</a:t>
            </a:r>
          </a:p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"Well, some weeks before this event, the 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organization 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had communicated widely to its employees and to the public that it had committed to the "Responsible Care Code of Ethics" and had been recognized as "A Responsible Care 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organization", 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 very significant step in the right direction. I knew that if a mechanical component failed, the reciprocating compressor would fail catastrophically. I should state the compressor was 10,000 HP and operated at 40,000 psi (260 MPa) discharge pressure.  Such a failure would definitely result in a fire, possible an explosion, possible injuries (as the compressor operator, the compressor was my work-space), and definitely would have an adverse impact on the environment. </a:t>
            </a:r>
          </a:p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So, recalling the  "Responsible Care Code of Ethics" which effectively stated that "Our 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organization 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shall operate its facilities in a manner to protect the environment." So, feeling empowered, I stated to my shift supervisor that the unusual noise was really concerning me, and I believed that the compressor would fail, thus resulting in harm to the environment. It was my duty to live by the "Responsible Care Code of Ethics". The shut-</a:t>
            </a:r>
            <a:r>
              <a:rPr lang="en-US" alt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doiwn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was initiated in order to inspect the mechanical components of the compressor. The plant manager was 'not happy' with my decision. About 6 hours later, the industrial mechanics reported that they found one of the 'drive rods' (basically, a connecting rod bearing the full load on a compression stroke) had cracked and was in a state of imminent failure. </a:t>
            </a:r>
          </a:p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At the time, mid-1980's, I had not known about the Engineer's Survival Guide, but I had based my decision to protect the environment and prevent injuries to others. This practical real situation  clearly aligns with 'Key Point #3 When you make decisions, put safety ahead of any other objective.' I could have used an Engineer's Survival Guide at that early point in my career. </a:t>
            </a:r>
          </a:p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Engineer's Survival Guide is a compass to help you make decisions in your careers. Let's explore them."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1514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compressor story "The Compressor Noise and The 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organization’s 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Responsible Care Code of Ethics" is one of my own experiences that I use to demonstrate KP "#3 When you make decisions, put safety ahead of any other objective!" </a:t>
            </a:r>
          </a:p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You could use your own experience - I think Renato and Lisa have done that in the past. But certainly, you are welcome to tell my story - from the mid 1980's, very early in my career. I'll try to </a:t>
            </a:r>
            <a:r>
              <a:rPr lang="en-US" alt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summarise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it here along with the slide prompts:</a:t>
            </a:r>
          </a:p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Slide 4 prompt:</a:t>
            </a: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Professor relates the situation and issue about their real workplace experience:</a:t>
            </a: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Compressor Noise and The 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organization’s 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Responsible Care Code of Ethics</a:t>
            </a:r>
          </a:p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"During a labour disruption, the managers and engineering staff were assigned to run the plants in the 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organization. 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My job was in a plastics manufacturing plant. While operating a large HP reciprocating compressor on a rotating 12-hour shift, I detected an unusual noise in it. Of course, mechanical engineers know that unusual noises in machinery is not a good sign. I asked another person on my crew if they heard the noise, but they indicated that there was nothing unusual. At the turn-over at the end of my shift, I asked the incoming operator and crew to check for unusual noise and monitor it. When my night shift resumed, they indicated at the shift turn-over that there was no noise. 'We should not shut-down. We need to keep the plant running.  You are just hearing things!'</a:t>
            </a:r>
          </a:p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Nevertheless, I was persistent in checking and I could hear the unusual noise - it was a knocking sound at roughly half the RPM speed of the compressor. I asked my night crew colleagues but they indicated no noise. Same thing on the day shift - they did not hear a noise. On my third night shift, I could hear the noise and it was getting louder - again not a good sign for machinery. The issue was conflicting - others did not hear the unusual noise and the plant manager had relayed through the day shift that we needed to keep running to meet the production goals.  I was 'stuck' in trying to determine what to do." </a:t>
            </a:r>
          </a:p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Slide 4 prompt:</a:t>
            </a: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Please confer on this question and respond on MM: What would you have done in this situation about keeping the plant running?</a:t>
            </a: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(Give the students a bit of time to respond. You will likely have some time to use </a:t>
            </a:r>
            <a:r>
              <a:rPr lang="en-US" alt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Mentimeter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.)</a:t>
            </a:r>
          </a:p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Slide 5 prompt:</a:t>
            </a: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Professor resumes with how the situation and issue were managed, and demonstrates the value of having the ESG!</a:t>
            </a:r>
          </a:p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"Well, some weeks before this event, the 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organization 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had communicated widely to its employees and to the public that it had committed to the "Responsible Care Code of Ethics" and had been recognized as "A Responsible Care 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organization", 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 very significant step in the right direction. I knew that if a mechanical component failed, the reciprocating compressor would fail catastrophically. I should state the compressor was 10,000 HP and operated at 40,000 psi (260 MPa) discharge pressure.  Such a failure would definitely result in a fire, possible an explosion, possible injuries (as the compressor operator, the compressor was my work-space), and definitely would have an adverse impact on the environment. </a:t>
            </a:r>
          </a:p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So, recalling the  "Responsible Care Code of Ethics" which effectively stated that "Our 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organization 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shall operate its facilities in a manner to protect the environment." So, feeling empowered, I stated to my shift supervisor that the unusual noise was really concerning me, and I believed that the compressor would fail, thus resulting in harm to the environment. It was my duty to live by the "Responsible Care Code of Ethics". The shut-</a:t>
            </a:r>
            <a:r>
              <a:rPr lang="en-US" altLang="en-US" dirty="0" err="1" smtClean="0">
                <a:latin typeface="Arial" panose="020B0604020202020204" pitchFamily="34" charset="0"/>
                <a:cs typeface="Arial" panose="020B0604020202020204" pitchFamily="34" charset="0"/>
              </a:rPr>
              <a:t>doiwn</a:t>
            </a:r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was initiated in order to inspect the mechanical components of the compressor. The plant manager was 'not happy' with my decision. About 6 hours later, the industrial mechanics reported that they found one of the 'drive rods' (basically, a connecting rod bearing the full load on a compression stroke) had cracked and was in a state of imminent failure. </a:t>
            </a:r>
          </a:p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At the time, mid-1980's, I had not known about the Engineer's Survival Guide, but I had based my decision to protect the environment and prevent injuries to others. This practical real situation  clearly aligns with 'Key Point #3 When you make decisions, put safety ahead of any other objective.' I could have used an Engineer's Survival Guide at that early point in my career. </a:t>
            </a:r>
          </a:p>
          <a:p>
            <a:pPr eaLnBrk="1" hangingPunct="1"/>
            <a:endParaRPr lang="en-US" alt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en-US" alt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Engineer's Survival Guide is a compass to help you make decisions in your careers. Let's explore them."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744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4921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4674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9902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0602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220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1818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4890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8195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235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180406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87085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7231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5/26/2022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785719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436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On Becoming a </a:t>
            </a:r>
            <a:b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</a:b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Leader in Risk Management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A9C8F"/>
              </a:buClr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Lecture</a:t>
            </a:r>
            <a:endParaRPr kumimoji="0" lang="en-US" altLang="en-US" sz="3600" b="1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500342"/>
            <a:ext cx="7315201" cy="222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1.2:</a:t>
            </a: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Engineer’s Survival Guide</a:t>
            </a:r>
            <a:b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(Part 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State the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Four Key Points of the Engineer's Survival Guide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Examine and connect the lessons learned in the case studies to the key principles of the Engineer’s Survival Guide.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Judge a situation where issues/concerns are evident or perceived, in order to make a decision or recommendation. 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Make decisions in an enabled and empowered manner, when faced with incomplete information, guidance, direction, or messaging, and often under significant time constraints.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1200" b="1" i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1.2: </a:t>
            </a:r>
            <a:r>
              <a:rPr lang="en-CA" altLang="en-US" sz="1200" b="1" i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Engineer’s Survival Guide</a:t>
            </a: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based on the experiences of a highly successful engineer.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Endorsed … by many who have learned the hard way …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Experienced-hardened wisdom … 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class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keep The Engineer’s Survival Guide in mind when reviewing case studies.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your careers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help you avoid making a poor decision …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Survival Guide will be introduced with an example: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Survival Guide: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1200" b="1" i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1.2: </a:t>
            </a:r>
            <a:r>
              <a:rPr lang="en-CA" altLang="en-US" sz="1200" b="1" i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Engineer’s Survival Guide</a:t>
            </a:r>
          </a:p>
        </p:txBody>
      </p:sp>
    </p:spTree>
    <p:extLst>
      <p:ext uri="{BB962C8B-B14F-4D97-AF65-F5344CB8AC3E}">
        <p14:creationId xmlns:p14="http://schemas.microsoft.com/office/powerpoint/2010/main" val="128517005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Engineer’s Survival Guide: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1.2: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The Engineer’s Survival Guide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A808AC-4232-4F67-BB10-EB888DA40ECD}"/>
              </a:ext>
            </a:extLst>
          </p:cNvPr>
          <p:cNvSpPr txBox="1"/>
          <p:nvPr/>
        </p:nvSpPr>
        <p:spPr>
          <a:xfrm>
            <a:off x="455610" y="1286728"/>
            <a:ext cx="8226425" cy="193899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Professor relates the </a:t>
            </a:r>
            <a:r>
              <a:rPr kumimoji="0" lang="en-CA" b="0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situation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kumimoji="0" lang="en-CA" b="0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issue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about their real workplace </a:t>
            </a:r>
            <a:r>
              <a:rPr kumimoji="0" lang="en-CA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experience</a:t>
            </a:r>
            <a:r>
              <a:rPr lang="en-CA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kumimoji="0" lang="en-CA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 Compressor Noise and </a:t>
            </a:r>
            <a:b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kumimoji="0" lang="en-CA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organization’s 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Responsible Care Code of </a:t>
            </a:r>
            <a:r>
              <a:rPr kumimoji="0" lang="en-CA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Ethics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CA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(review “Notes”)</a:t>
            </a:r>
            <a:endParaRPr kumimoji="0" lang="en-CA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1B37FB-EA97-48F5-890C-A0926254612B}"/>
              </a:ext>
            </a:extLst>
          </p:cNvPr>
          <p:cNvSpPr txBox="1"/>
          <p:nvPr/>
        </p:nvSpPr>
        <p:spPr>
          <a:xfrm>
            <a:off x="455608" y="3530940"/>
            <a:ext cx="8226425" cy="1200329"/>
          </a:xfrm>
          <a:prstGeom prst="rect">
            <a:avLst/>
          </a:prstGeom>
          <a:solidFill>
            <a:srgbClr val="0000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Please confer on this question and respond on MM: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What would you have done in this situation about keeping the plant running?</a:t>
            </a:r>
          </a:p>
        </p:txBody>
      </p:sp>
    </p:spTree>
    <p:extLst>
      <p:ext uri="{BB962C8B-B14F-4D97-AF65-F5344CB8AC3E}">
        <p14:creationId xmlns:p14="http://schemas.microsoft.com/office/powerpoint/2010/main" val="51948257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The Engineer’s Survival Guide: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CA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1.2: </a:t>
            </a:r>
            <a:r>
              <a:rPr kumimoji="0" lang="en-CA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The Engineer’s Survival Guide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A808AC-4232-4F67-BB10-EB888DA40ECD}"/>
              </a:ext>
            </a:extLst>
          </p:cNvPr>
          <p:cNvSpPr txBox="1"/>
          <p:nvPr/>
        </p:nvSpPr>
        <p:spPr>
          <a:xfrm>
            <a:off x="455610" y="1286728"/>
            <a:ext cx="8226425" cy="1938992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Professor relates the </a:t>
            </a:r>
            <a:r>
              <a:rPr kumimoji="0" lang="en-CA" b="0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situation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kumimoji="0" lang="en-CA" b="0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issue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about their real workplace </a:t>
            </a:r>
            <a:r>
              <a:rPr kumimoji="0" lang="en-CA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experience</a:t>
            </a:r>
            <a:r>
              <a:rPr lang="en-CA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kumimoji="0" lang="en-CA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 Compressor Noise and </a:t>
            </a:r>
            <a:b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kumimoji="0" lang="en-CA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organization’s </a:t>
            </a: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Responsible Care Code of </a:t>
            </a:r>
            <a:r>
              <a:rPr kumimoji="0" lang="en-CA" b="0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Ethics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CA" kern="0" dirty="0" smtClean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(review “Notes”)</a:t>
            </a:r>
            <a:endParaRPr kumimoji="0" lang="en-CA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1B37FB-EA97-48F5-890C-A0926254612B}"/>
              </a:ext>
            </a:extLst>
          </p:cNvPr>
          <p:cNvSpPr txBox="1"/>
          <p:nvPr/>
        </p:nvSpPr>
        <p:spPr>
          <a:xfrm>
            <a:off x="455608" y="3530940"/>
            <a:ext cx="8226425" cy="1200329"/>
          </a:xfrm>
          <a:prstGeom prst="rect">
            <a:avLst/>
          </a:prstGeom>
          <a:solidFill>
            <a:srgbClr val="0000FF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Please confer on this question and respond on MM:</a:t>
            </a: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What would you have done in this situation about keeping the plant running?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A36E9B-D709-4C5D-8656-40719E7D0179}"/>
              </a:ext>
            </a:extLst>
          </p:cNvPr>
          <p:cNvSpPr txBox="1"/>
          <p:nvPr/>
        </p:nvSpPr>
        <p:spPr>
          <a:xfrm>
            <a:off x="461962" y="5036403"/>
            <a:ext cx="8226425" cy="830997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Professor resumes with how the situation and issue were managed, and demonstrates the value of having the ESG!</a:t>
            </a:r>
          </a:p>
        </p:txBody>
      </p:sp>
    </p:spTree>
    <p:extLst>
      <p:ext uri="{BB962C8B-B14F-4D97-AF65-F5344CB8AC3E}">
        <p14:creationId xmlns:p14="http://schemas.microsoft.com/office/powerpoint/2010/main" val="29995733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arenR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Understand </a:t>
            </a:r>
            <a:r>
              <a:rPr lang="en-US" altLang="en-US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organization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values! </a:t>
            </a:r>
          </a:p>
          <a:p>
            <a:pPr eaLnBrk="1" hangingPunct="1">
              <a:lnSpc>
                <a:spcPct val="11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arenR"/>
            </a:pPr>
            <a:endParaRPr lang="en-US" altLang="en-US" sz="1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arenR"/>
            </a:pPr>
            <a:r>
              <a:rPr lang="en-US" altLang="en-US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Know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your program! </a:t>
            </a:r>
          </a:p>
          <a:p>
            <a:pPr eaLnBrk="1" hangingPunct="1">
              <a:lnSpc>
                <a:spcPct val="11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arenR"/>
            </a:pPr>
            <a:endParaRPr lang="en-US" altLang="en-US" sz="1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arenR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When you make decisions, put safety ahead of any other objective! </a:t>
            </a:r>
          </a:p>
          <a:p>
            <a:pPr eaLnBrk="1" hangingPunct="1">
              <a:lnSpc>
                <a:spcPct val="11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arenR"/>
            </a:pPr>
            <a:endParaRPr lang="en-US" altLang="en-US" sz="1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AutoNum type="arabicParenR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Pay attention to failures in safety systems and take action!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Engineer’s Survival Guide: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1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1.2: </a:t>
            </a:r>
            <a:r>
              <a:rPr kumimoji="0" lang="en-CA" alt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Engineer’s Survival Guide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9DFC7752-53CB-4F9E-900F-854733A34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000" y="4419600"/>
            <a:ext cx="8496000" cy="173640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square" anchor="ctr" anchorCtr="1"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r>
              <a:rPr kumimoji="0" lang="en-US" alt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Memorize these Four Key Points!</a:t>
            </a:r>
          </a:p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r>
              <a:rPr kumimoji="0" lang="en-US" alt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Explain what they mean.</a:t>
            </a:r>
          </a:p>
          <a:p>
            <a:pPr marL="0" marR="0" lvl="0" indent="0" algn="ctr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r>
              <a:rPr kumimoji="0" lang="en-US" altLang="en-US" sz="20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Apply these to real-world situations</a:t>
            </a:r>
            <a:r>
              <a:rPr kumimoji="0" lang="en-US" altLang="en-US" sz="2000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</a:rPr>
              <a:t>.</a:t>
            </a:r>
            <a:endParaRPr lang="en-US" altLang="en-US" sz="2000" b="1" i="1" kern="0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783395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  <a:defRPr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Review </a:t>
            </a:r>
            <a:r>
              <a:rPr lang="en-US" altLang="en-US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organization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policy (core values and corporate ethics) and determine if safety is a value.</a:t>
            </a:r>
            <a:b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/>
            </a:r>
            <a:b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When safety is a 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</a:rPr>
              <a:t>value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– NOT a priority – it supports sustainable ESRM. Values are the </a:t>
            </a: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</a:rPr>
              <a:t>compass that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set the culture in an organization.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/>
            </a:r>
            <a:b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/>
            </a:r>
            <a:b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Check if the </a:t>
            </a:r>
            <a:r>
              <a:rPr lang="en-US" altLang="en-US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organization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has a </a:t>
            </a:r>
            <a:r>
              <a:rPr lang="en-US" altLang="en-US" sz="2000" u="sng" dirty="0">
                <a:solidFill>
                  <a:srgbClr val="000000"/>
                </a:solidFill>
                <a:latin typeface="Arial" panose="020B0604020202020204" pitchFamily="34" charset="0"/>
              </a:rPr>
              <a:t>safety culture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where: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considerations come ahead of any action to complete a task;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safety considerations are the basis for decision making when considering a course of action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1) Understand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organization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values! 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1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1.2: </a:t>
            </a:r>
            <a:r>
              <a:rPr kumimoji="0" lang="en-CA" alt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Engineer’s Survival Guide</a:t>
            </a:r>
          </a:p>
        </p:txBody>
      </p:sp>
    </p:spTree>
    <p:extLst>
      <p:ext uri="{BB962C8B-B14F-4D97-AF65-F5344CB8AC3E}">
        <p14:creationId xmlns:p14="http://schemas.microsoft.com/office/powerpoint/2010/main" val="68228290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Determine if the </a:t>
            </a:r>
            <a:r>
              <a:rPr lang="en-US" altLang="en-US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organization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has a safety and risk management program.</a:t>
            </a:r>
            <a:b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/>
            </a:r>
            <a:b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altLang="en-US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Know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your personal responsibilities to meet program requirements.</a:t>
            </a:r>
            <a:b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/>
            </a:r>
            <a:b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Undertake those responsibilities diligently. </a:t>
            </a:r>
            <a:b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/>
            </a:r>
            <a:b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</a:br>
            <a:r>
              <a:rPr lang="en-US" altLang="en-US" sz="2000" i="1" dirty="0">
                <a:solidFill>
                  <a:srgbClr val="000000"/>
                </a:solidFill>
                <a:latin typeface="Arial" panose="020B0604020202020204" pitchFamily="34" charset="0"/>
              </a:rPr>
              <a:t>People’s lives and your </a:t>
            </a:r>
            <a:r>
              <a:rPr lang="en-US" altLang="en-US" sz="2000" i="1" dirty="0" smtClean="0">
                <a:solidFill>
                  <a:srgbClr val="000000"/>
                </a:solidFill>
                <a:latin typeface="Arial" panose="020B0604020202020204" pitchFamily="34" charset="0"/>
              </a:rPr>
              <a:t>organization’s </a:t>
            </a:r>
            <a:r>
              <a:rPr lang="en-US" altLang="en-US" sz="2000" i="1" dirty="0">
                <a:solidFill>
                  <a:srgbClr val="000000"/>
                </a:solidFill>
                <a:latin typeface="Arial" panose="020B0604020202020204" pitchFamily="34" charset="0"/>
              </a:rPr>
              <a:t>business may depend on it.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2) 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Know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your program! 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1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1.2: </a:t>
            </a:r>
            <a:r>
              <a:rPr kumimoji="0" lang="en-CA" alt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Engineer’s Survival Guide</a:t>
            </a:r>
          </a:p>
        </p:txBody>
      </p:sp>
    </p:spTree>
    <p:extLst>
      <p:ext uri="{BB962C8B-B14F-4D97-AF65-F5344CB8AC3E}">
        <p14:creationId xmlns:p14="http://schemas.microsoft.com/office/powerpoint/2010/main" val="2066992310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Even under stressful circumstances or time constraints, safety takes precedence over: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Production, </a:t>
            </a:r>
          </a:p>
          <a:p>
            <a:pPr marL="360000" marR="0" lvl="0" indent="-3600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Cost, </a:t>
            </a:r>
          </a:p>
          <a:p>
            <a:pPr marL="360000" marR="0" lvl="0" indent="-3600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Schedule,</a:t>
            </a:r>
          </a:p>
          <a:p>
            <a:pPr marL="360000" marR="0" lvl="0" indent="-36000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any other competing objective. 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When we only prioritize safety – “when it takes a backseat” – we expose people, the environment, and the </a:t>
            </a:r>
            <a:r>
              <a:rPr lang="en-US" altLang="en-US" sz="2000" dirty="0" smtClean="0">
                <a:solidFill>
                  <a:srgbClr val="000000"/>
                </a:solidFill>
                <a:latin typeface="Arial" panose="020B0604020202020204" pitchFamily="34" charset="0"/>
              </a:rPr>
              <a:t>organization 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to increased risk.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3) When you make decisions, put safety ahead of any other objective! 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1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1.2: </a:t>
            </a:r>
            <a:r>
              <a:rPr kumimoji="0" lang="en-CA" alt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Engineer’s Survival Guide</a:t>
            </a:r>
          </a:p>
        </p:txBody>
      </p:sp>
    </p:spTree>
    <p:extLst>
      <p:ext uri="{BB962C8B-B14F-4D97-AF65-F5344CB8AC3E}">
        <p14:creationId xmlns:p14="http://schemas.microsoft.com/office/powerpoint/2010/main" val="3435173660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endParaRPr kumimoji="0" lang="en-US" altLang="en-US" sz="2000" b="0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kumimoji="0" lang="en-US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You must intervene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when there are deviations and variances in the intended engineering controls and/or the administrative controls</a:t>
            </a:r>
            <a:b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</a:b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i.e. bypassed, deactivated, circumvented, etc. </a:t>
            </a:r>
            <a:b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</a:b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/>
            </a:r>
            <a:b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</a:br>
            <a:r>
              <a:rPr kumimoji="0" lang="en-US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You must work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to correct these deviations and variances / sub-standard conditions and sub-standard work practice. </a:t>
            </a:r>
            <a:b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</a:b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/>
            </a:r>
            <a:b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</a:b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Accepting these variances means you will be part of the inevitable spiral to </a:t>
            </a: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disaster.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4) Pay attention to failures in safety systems and take action! 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1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1.2: </a:t>
            </a:r>
            <a:r>
              <a:rPr kumimoji="0" lang="en-CA" alt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Engineer’s Survival Guide</a:t>
            </a:r>
          </a:p>
        </p:txBody>
      </p:sp>
    </p:spTree>
    <p:extLst>
      <p:ext uri="{BB962C8B-B14F-4D97-AF65-F5344CB8AC3E}">
        <p14:creationId xmlns:p14="http://schemas.microsoft.com/office/powerpoint/2010/main" val="1513016092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eaLnBrk="1" hangingPunct="1">
              <a:lnSpc>
                <a:spcPct val="110000"/>
              </a:lnSpc>
              <a:buClr>
                <a:srgbClr val="000000"/>
              </a:buClr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Unfortunately, disasters have happened. </a:t>
            </a:r>
          </a:p>
          <a:p>
            <a:pPr eaLnBrk="1" hangingPunct="1">
              <a:lnSpc>
                <a:spcPct val="110000"/>
              </a:lnSpc>
              <a:buClr>
                <a:srgbClr val="000000"/>
              </a:buClr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Decisions made with the with the best of intentions …</a:t>
            </a:r>
            <a:b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… ended in disaster far beyond envisioned. </a:t>
            </a:r>
          </a:p>
          <a:p>
            <a:pPr eaLnBrk="1" hangingPunct="1">
              <a:lnSpc>
                <a:spcPct val="110000"/>
              </a:lnSpc>
              <a:buClr>
                <a:srgbClr val="000000"/>
              </a:buClr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None set out to cause harm.</a:t>
            </a:r>
          </a:p>
          <a:p>
            <a:pPr eaLnBrk="1" hangingPunct="1">
              <a:lnSpc>
                <a:spcPct val="110000"/>
              </a:lnSpc>
              <a:buClr>
                <a:srgbClr val="000000"/>
              </a:buClr>
              <a:buSzTx/>
              <a:buFont typeface="Wingdings" panose="05000000000000000000" pitchFamily="2" charset="2"/>
              <a:buChar char="Ø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These people tragically understood the impact of their decisions after the fact. 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US" altLang="en-US" sz="2000" i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It is our express intent that </a:t>
            </a:r>
            <a:r>
              <a:rPr lang="en-US" altLang="en-US" sz="2000" i="1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you apply sound risk management principles</a:t>
            </a:r>
            <a:r>
              <a:rPr lang="en-US" altLang="en-US" sz="2000" i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that none of you becomes central to a tragic incident, and that </a:t>
            </a:r>
            <a:r>
              <a:rPr lang="en-US" altLang="en-US" sz="2000" i="1" u="sng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none of you becomes the author of a future case study</a:t>
            </a:r>
            <a:r>
              <a:rPr lang="en-US" altLang="en-US" sz="2000" i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in engineering safety and risk management.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is the Value in The Guide?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1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1.2: </a:t>
            </a:r>
            <a:r>
              <a:rPr kumimoji="0" lang="en-CA" alt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Engineer’s Survival Guide</a:t>
            </a:r>
          </a:p>
        </p:txBody>
      </p:sp>
    </p:spTree>
    <p:extLst>
      <p:ext uri="{BB962C8B-B14F-4D97-AF65-F5344CB8AC3E}">
        <p14:creationId xmlns:p14="http://schemas.microsoft.com/office/powerpoint/2010/main" val="251332176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Key Points can be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applied in any situation for any decision-making process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e.g. a case study or a dilemma in the workplace.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purpose is to </a:t>
            </a: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make a decision or recommendation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consistent with the Engineer’s Survival Guide, </a:t>
            </a:r>
          </a:p>
          <a:p>
            <a:pPr marL="72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Given the available data, information, and resources In order to maximize or optimize the realization of a desired outcome or acceptable condition.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To Apply the Key Points: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1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1.2: </a:t>
            </a:r>
            <a:r>
              <a:rPr kumimoji="0" lang="en-CA" alt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Engineer’s Survival Guide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736" y="3330852"/>
            <a:ext cx="3766864" cy="28251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ight Arrow 5">
            <a:extLst>
              <a:ext uri="{FF2B5EF4-FFF2-40B4-BE49-F238E27FC236}">
                <a16:creationId xmlns:a16="http://schemas.microsoft.com/office/drawing/2014/main" id="{E9C9661D-6424-4BF4-B1D8-3DF38F344CD0}"/>
              </a:ext>
            </a:extLst>
          </p:cNvPr>
          <p:cNvSpPr/>
          <p:nvPr/>
        </p:nvSpPr>
        <p:spPr bwMode="auto">
          <a:xfrm>
            <a:off x="1668995" y="5040692"/>
            <a:ext cx="2831005" cy="1187308"/>
          </a:xfrm>
          <a:prstGeom prst="rightArrow">
            <a:avLst/>
          </a:prstGeom>
          <a:solidFill>
            <a:srgbClr val="FFFF00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Calibri" panose="020F0502020204030204" pitchFamily="34" charset="0"/>
              </a:rPr>
              <a:t>Final Exam Question!</a:t>
            </a:r>
          </a:p>
        </p:txBody>
      </p:sp>
    </p:spTree>
    <p:extLst>
      <p:ext uri="{BB962C8B-B14F-4D97-AF65-F5344CB8AC3E}">
        <p14:creationId xmlns:p14="http://schemas.microsoft.com/office/powerpoint/2010/main" val="1309451614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 a “structure” to</a:t>
            </a:r>
            <a:r>
              <a:rPr kumimoji="0" lang="en-CA" altLang="en-US" sz="2000" b="1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formulate your application: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Consider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these points and answer in terms relative to a Key Point: </a:t>
            </a:r>
          </a:p>
          <a:p>
            <a:pPr lvl="1" eaLnBrk="1" hangingPunct="1"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AutoNum type="alphaLcParenR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What is the Loss Incident?</a:t>
            </a:r>
          </a:p>
          <a:p>
            <a:pPr lvl="1" eaLnBrk="1" hangingPunct="1"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AutoNum type="alphaLcParenR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What Key Point is being applied?</a:t>
            </a:r>
          </a:p>
          <a:p>
            <a:pPr lvl="1" eaLnBrk="1" hangingPunct="1"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AutoNum type="alphaLcParenR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What is the situation?</a:t>
            </a:r>
          </a:p>
          <a:p>
            <a:pPr lvl="1" eaLnBrk="1" hangingPunct="1"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AutoNum type="alphaLcParenR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What is the issue with that situation?</a:t>
            </a:r>
          </a:p>
          <a:p>
            <a:pPr lvl="1" eaLnBrk="1" hangingPunct="1"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AutoNum type="alphaLcParenR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What would you have done or what should have been done?</a:t>
            </a:r>
          </a:p>
          <a:p>
            <a:pPr lvl="1" eaLnBrk="1" hangingPunct="1">
              <a:spcBef>
                <a:spcPct val="0"/>
              </a:spcBef>
              <a:buClr>
                <a:srgbClr val="000000"/>
              </a:buClr>
              <a:buFont typeface="Wingdings" panose="05000000000000000000" pitchFamily="2" charset="2"/>
              <a:buAutoNum type="alphaLcParenR"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What would have been the probable outcome had it been done?</a:t>
            </a:r>
          </a:p>
          <a:p>
            <a:pPr marL="36000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 will revisit the application later in the term. 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How To Apply the Key Points: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1200" b="1" i="1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1.2: </a:t>
            </a:r>
            <a:r>
              <a:rPr kumimoji="0" lang="en-CA" altLang="en-US" sz="12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Engineer’s Survival Guide</a:t>
            </a:r>
          </a:p>
        </p:txBody>
      </p:sp>
    </p:spTree>
    <p:extLst>
      <p:ext uri="{BB962C8B-B14F-4D97-AF65-F5344CB8AC3E}">
        <p14:creationId xmlns:p14="http://schemas.microsoft.com/office/powerpoint/2010/main" val="82072223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07795351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18799</TotalTime>
  <Words>2490</Words>
  <Application>Microsoft Office PowerPoint</Application>
  <PresentationFormat>On-screen Show (4:3)</PresentationFormat>
  <Paragraphs>194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ＭＳ Ｐゴシック</vt:lpstr>
      <vt:lpstr>Arial</vt:lpstr>
      <vt:lpstr>Calibri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Alberta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ESRM</dc:title>
  <dc:creator>JR Cocchio</dc:creator>
  <cp:lastModifiedBy>John Cocchio</cp:lastModifiedBy>
  <cp:revision>340</cp:revision>
  <cp:lastPrinted>2013-09-06T14:05:34Z</cp:lastPrinted>
  <dcterms:created xsi:type="dcterms:W3CDTF">2011-09-07T03:22:54Z</dcterms:created>
  <dcterms:modified xsi:type="dcterms:W3CDTF">2022-05-26T16:44:39Z</dcterms:modified>
</cp:coreProperties>
</file>