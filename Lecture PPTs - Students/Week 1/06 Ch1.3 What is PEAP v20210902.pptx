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18"/>
  </p:notesMasterIdLst>
  <p:sldIdLst>
    <p:sldId id="895" r:id="rId2"/>
    <p:sldId id="880" r:id="rId3"/>
    <p:sldId id="927" r:id="rId4"/>
    <p:sldId id="928" r:id="rId5"/>
    <p:sldId id="929" r:id="rId6"/>
    <p:sldId id="930" r:id="rId7"/>
    <p:sldId id="931" r:id="rId8"/>
    <p:sldId id="934" r:id="rId9"/>
    <p:sldId id="932" r:id="rId10"/>
    <p:sldId id="933" r:id="rId11"/>
    <p:sldId id="937" r:id="rId12"/>
    <p:sldId id="938" r:id="rId13"/>
    <p:sldId id="936" r:id="rId14"/>
    <p:sldId id="935" r:id="rId15"/>
    <p:sldId id="923" r:id="rId16"/>
    <p:sldId id="900" r:id="rId17"/>
  </p:sldIdLst>
  <p:sldSz cx="9144000" cy="6858000" type="screen4x3"/>
  <p:notesSz cx="6954838" cy="9309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3">
          <p15:clr>
            <a:srgbClr val="A4A3A4"/>
          </p15:clr>
        </p15:guide>
        <p15:guide id="2" pos="2191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20" roundtripDataSignature="AMtx7miPqnsw18QqVyY1TZ/KYtAVZrXG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69ED61-26C3-4320-844D-6622CC98F455}">
  <a:tblStyle styleId="{C769ED61-26C3-4320-844D-6622CC98F4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187" autoAdjust="0"/>
  </p:normalViewPr>
  <p:slideViewPr>
    <p:cSldViewPr snapToGrid="0">
      <p:cViewPr varScale="1">
        <p:scale>
          <a:sx n="63" d="100"/>
          <a:sy n="63" d="100"/>
        </p:scale>
        <p:origin x="1380" y="44"/>
      </p:cViewPr>
      <p:guideLst>
        <p:guide orient="horz" pos="211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164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33"/>
        <p:guide pos="219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14870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39968" y="1"/>
            <a:ext cx="3014870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50938" y="696913"/>
            <a:ext cx="4652962" cy="34909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27470" y="4424000"/>
            <a:ext cx="5099898" cy="419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43751"/>
            <a:ext cx="3014870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39968" y="8843751"/>
            <a:ext cx="3014870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7603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227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268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778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7603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31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817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5734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722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377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$0.90 to produce a loaf, sell for $1. Make $0.10 on each loaf profit. You make 10 loaves per day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Drop one loaf (no 5 second rule!) and </a:t>
            </a:r>
            <a:r>
              <a:rPr lang="en-CA" b="1" dirty="0"/>
              <a:t>have to sell 10 more to make up the loss from that dropped loaf</a:t>
            </a:r>
            <a:r>
              <a:rPr lang="en-CA" dirty="0"/>
              <a:t>.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How can the baker get the profit back? Make a few more loaves per day if your equipment will handle the increase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Can the baker double production? Market might not bear the increase – need to find an increased market share.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Significant effort is required to increase production – increased time, equipment, </a:t>
            </a:r>
            <a:r>
              <a:rPr lang="en-CA" dirty="0" err="1"/>
              <a:t>etc</a:t>
            </a:r>
            <a:endParaRPr lang="en-CA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Could drop the price to gain market share, but then you have to sell even more loaves to make a profit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b="1" dirty="0"/>
              <a:t>If you can prevent the loss in the first place, you’re in a much better financial position</a:t>
            </a:r>
            <a:endParaRPr lang="en-CA" dirty="0"/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76033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141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3624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91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7801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5/2/2022</a:t>
            </a:fld>
            <a:endParaRPr lang="en-US" dirty="0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8158592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159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1.3:</a:t>
            </a:r>
            <a:endParaRPr lang="en-CA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is PEAP? </a:t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Why is PEAP Important?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By the end of this lecture, you will be able to: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what PEAP is.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Analyze a loss incident and conclude the impacts on PEAP.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Correlate the importance of PEAP to managing risks in order to prevent losses.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1.3: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What is PEAP? Why PEAP?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is PEAP?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confer on this question: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is PEAP?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kern="120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indent="-457200">
              <a:buClrTx/>
              <a:buFont typeface="+mj-lt"/>
              <a:buAutoNum type="alphaLcParenR"/>
            </a:pPr>
            <a:r>
              <a:rPr lang="en-CA" sz="20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People, Education, Activity, Professionalism</a:t>
            </a:r>
          </a:p>
          <a:p>
            <a:pPr marL="457200" indent="-457200">
              <a:buClrTx/>
              <a:buFont typeface="+mj-lt"/>
              <a:buAutoNum type="alphaLcParenR"/>
            </a:pPr>
            <a:r>
              <a:rPr lang="en-CA" sz="20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People, Environment, Assets, Productivity</a:t>
            </a:r>
          </a:p>
          <a:p>
            <a:pPr marL="457200" indent="-457200">
              <a:buClrTx/>
              <a:buFont typeface="+mj-lt"/>
              <a:buAutoNum type="alphaLcParenR"/>
            </a:pPr>
            <a:r>
              <a:rPr lang="en-CA" sz="20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Property, Education, Assets, Professionalism</a:t>
            </a:r>
          </a:p>
          <a:p>
            <a:pPr marL="457200" indent="-457200">
              <a:buClrTx/>
              <a:buFont typeface="+mj-lt"/>
              <a:buAutoNum type="alphaLcParenR"/>
            </a:pPr>
            <a:r>
              <a:rPr lang="en-CA" sz="20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Property, Environment, Activity, Production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1.3: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What is PEAP? Why PEAP?</a:t>
            </a:r>
          </a:p>
        </p:txBody>
      </p:sp>
    </p:spTree>
    <p:extLst>
      <p:ext uri="{BB962C8B-B14F-4D97-AF65-F5344CB8AC3E}">
        <p14:creationId xmlns:p14="http://schemas.microsoft.com/office/powerpoint/2010/main" val="297498807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PEAP is …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1.3: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What is PEAP? Why PEAP?</a:t>
            </a:r>
          </a:p>
        </p:txBody>
      </p:sp>
      <p:sp>
        <p:nvSpPr>
          <p:cNvPr id="10" name="Google Shape;137;p4">
            <a:extLst>
              <a:ext uri="{FF2B5EF4-FFF2-40B4-BE49-F238E27FC236}">
                <a16:creationId xmlns:a16="http://schemas.microsoft.com/office/drawing/2014/main" id="{688CDF37-87B2-4EE9-ACB8-C759BFE163F3}"/>
              </a:ext>
            </a:extLst>
          </p:cNvPr>
          <p:cNvSpPr txBox="1">
            <a:spLocks/>
          </p:cNvSpPr>
          <p:nvPr/>
        </p:nvSpPr>
        <p:spPr>
          <a:xfrm>
            <a:off x="457200" y="1005839"/>
            <a:ext cx="4114800" cy="4846319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00000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417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People</a:t>
            </a:r>
            <a:endParaRPr kumimoji="0" lang="en-CA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Worker or public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Physical or psychological injury; fatality;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Occupational illness (acute or chronic) due to exposure to toxic / noxious substances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Times New Roman"/>
              <a:sym typeface="Times New Roman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endParaRPr kumimoji="0" lang="en-CA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Assets</a:t>
            </a:r>
            <a:endParaRPr kumimoji="0" lang="en-CA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Infrastructure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Equipment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Produced goods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Reputation &amp; Social License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Times New Roman"/>
              <a:sym typeface="Times New Roman"/>
            </a:endParaRPr>
          </a:p>
          <a:p>
            <a:pPr marL="742950" marR="0" lvl="1" indent="-158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2000"/>
              <a:buFont typeface="Times New Roman"/>
              <a:buNone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158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2000"/>
              <a:buFont typeface="Times New Roman"/>
              <a:buNone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38;p4">
            <a:extLst>
              <a:ext uri="{FF2B5EF4-FFF2-40B4-BE49-F238E27FC236}">
                <a16:creationId xmlns:a16="http://schemas.microsoft.com/office/drawing/2014/main" id="{ABE61DAB-F2AD-4F23-92C5-371EBEC52A55}"/>
              </a:ext>
            </a:extLst>
          </p:cNvPr>
          <p:cNvSpPr txBox="1">
            <a:spLocks/>
          </p:cNvSpPr>
          <p:nvPr/>
        </p:nvSpPr>
        <p:spPr>
          <a:xfrm>
            <a:off x="4572000" y="1005840"/>
            <a:ext cx="4114800" cy="4846320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00000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417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Environment</a:t>
            </a:r>
            <a:endParaRPr kumimoji="0" lang="en-CA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Impacts or emissions to air, water, land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On site, off site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Spills: </a:t>
            </a:r>
            <a:r>
              <a:rPr kumimoji="0" lang="en-CA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bbls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oil spilled per million </a:t>
            </a:r>
            <a:r>
              <a:rPr kumimoji="0" lang="en-CA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bbls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shipped (via railcar, pipeline, shipping)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Times New Roman"/>
              <a:sym typeface="Times New Roman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endParaRPr kumimoji="0" lang="en-CA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Productivity</a:t>
            </a:r>
            <a:endParaRPr kumimoji="0" lang="en-CA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Barrels of oil produced per day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Rail cars loaded and shipped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Can be intermittent or ongoing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Times New Roman"/>
              <a:sym typeface="Times New Roman"/>
            </a:endParaRPr>
          </a:p>
          <a:p>
            <a:pPr marL="742950" marR="0" lvl="1" indent="-158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2000"/>
              <a:buFont typeface="Times New Roman"/>
              <a:buNone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517005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Example of PEAP Losses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1.3: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What is PEAP? Why PEAP?</a:t>
            </a:r>
          </a:p>
        </p:txBody>
      </p:sp>
      <p:sp>
        <p:nvSpPr>
          <p:cNvPr id="6" name="Google Shape;148;p5">
            <a:extLst>
              <a:ext uri="{FF2B5EF4-FFF2-40B4-BE49-F238E27FC236}">
                <a16:creationId xmlns:a16="http://schemas.microsoft.com/office/drawing/2014/main" id="{CCE52EAE-02DC-47A6-BCC1-E2B0BEADA110}"/>
              </a:ext>
            </a:extLst>
          </p:cNvPr>
          <p:cNvSpPr txBox="1">
            <a:spLocks/>
          </p:cNvSpPr>
          <p:nvPr/>
        </p:nvSpPr>
        <p:spPr>
          <a:xfrm>
            <a:off x="4114800" y="1405980"/>
            <a:ext cx="4800600" cy="491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417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Great Boston Molasses Flood of 1919</a:t>
            </a:r>
            <a:endParaRPr kumimoji="0" lang="en-CA" sz="28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People: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21 people drowned. 150 injured</a:t>
            </a:r>
            <a:endParaRPr kumimoji="0" lang="en-CA" sz="24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Environment: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Contamination of land &amp; water</a:t>
            </a:r>
            <a:endParaRPr kumimoji="0" lang="en-CA" sz="24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Assets: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2.3 million US gallon tank destroyed and molasses lost</a:t>
            </a:r>
            <a:endParaRPr kumimoji="0" lang="en-CA" sz="24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tabLst/>
              <a:defRPr/>
            </a:pPr>
            <a:r>
              <a:rPr kumimoji="0" lang="en-CA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Production: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Ongoing loss of future rum production</a:t>
            </a:r>
            <a:endParaRPr kumimoji="0" lang="en-CA" sz="24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7" name="Google Shape;147;p5">
            <a:extLst>
              <a:ext uri="{FF2B5EF4-FFF2-40B4-BE49-F238E27FC236}">
                <a16:creationId xmlns:a16="http://schemas.microsoft.com/office/drawing/2014/main" id="{5BCF7F67-1494-4426-9DC3-13E382FF9C5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211885"/>
            <a:ext cx="4162678" cy="32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49;p5">
            <a:extLst>
              <a:ext uri="{FF2B5EF4-FFF2-40B4-BE49-F238E27FC236}">
                <a16:creationId xmlns:a16="http://schemas.microsoft.com/office/drawing/2014/main" id="{A9D45865-3607-4FFD-A87C-EDE95E2088F7}"/>
              </a:ext>
            </a:extLst>
          </p:cNvPr>
          <p:cNvSpPr txBox="1"/>
          <p:nvPr/>
        </p:nvSpPr>
        <p:spPr>
          <a:xfrm>
            <a:off x="180000" y="5452020"/>
            <a:ext cx="723900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Image from: https://en.wikipedia.org/wiki/Great_Molasses_Flood#/media/File:BostonMolassesDisaster.jpg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6534147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Emerging Concerns: PEAP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1.3: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What is PEAP? Why PEAP?</a:t>
            </a:r>
          </a:p>
        </p:txBody>
      </p:sp>
      <p:sp>
        <p:nvSpPr>
          <p:cNvPr id="7" name="Google Shape;158;p6">
            <a:extLst>
              <a:ext uri="{FF2B5EF4-FFF2-40B4-BE49-F238E27FC236}">
                <a16:creationId xmlns:a16="http://schemas.microsoft.com/office/drawing/2014/main" id="{C8503A0F-FC71-4697-9363-BB0249CEF0A2}"/>
              </a:ext>
            </a:extLst>
          </p:cNvPr>
          <p:cNvSpPr/>
          <p:nvPr/>
        </p:nvSpPr>
        <p:spPr>
          <a:xfrm>
            <a:off x="180000" y="1005497"/>
            <a:ext cx="8229600" cy="502450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10" name="Google Shape;162;p6">
            <a:extLst>
              <a:ext uri="{FF2B5EF4-FFF2-40B4-BE49-F238E27FC236}">
                <a16:creationId xmlns:a16="http://schemas.microsoft.com/office/drawing/2014/main" id="{291CBDC2-4E95-470A-B655-C1C6D5C191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7132642"/>
              </p:ext>
            </p:extLst>
          </p:nvPr>
        </p:nvGraphicFramePr>
        <p:xfrm>
          <a:off x="195874" y="1537310"/>
          <a:ext cx="4098926" cy="41847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0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7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47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 and Vulnerability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-1270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Char char="⮚"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Terrorism and </a:t>
                      </a:r>
                      <a:b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violent attacks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-1270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Char char="⮚"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Theft, fraud, and embezzlement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-1270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Char char="⮚"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Unauthorized </a:t>
                      </a:r>
                      <a:b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access to computer systems including network sabotage and espionage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Google Shape;163;p6">
            <a:extLst>
              <a:ext uri="{FF2B5EF4-FFF2-40B4-BE49-F238E27FC236}">
                <a16:creationId xmlns:a16="http://schemas.microsoft.com/office/drawing/2014/main" id="{B7020EDF-5AE0-4B1C-A16A-9B5433C876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6549" y="1156310"/>
            <a:ext cx="3946525" cy="456578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8D8F6B-928D-47E5-95B7-D5C86CEF2006}"/>
              </a:ext>
            </a:extLst>
          </p:cNvPr>
          <p:cNvSpPr txBox="1"/>
          <p:nvPr/>
        </p:nvSpPr>
        <p:spPr>
          <a:xfrm>
            <a:off x="4294800" y="5720586"/>
            <a:ext cx="5418883" cy="310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http://www.bbc.co.uk/news/technology-30575104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64666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Emerging Concerns: PEAP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1.3: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What is PEAP? Why PEAP?</a:t>
            </a:r>
          </a:p>
        </p:txBody>
      </p:sp>
      <p:sp>
        <p:nvSpPr>
          <p:cNvPr id="6" name="Google Shape;171;p7">
            <a:extLst>
              <a:ext uri="{FF2B5EF4-FFF2-40B4-BE49-F238E27FC236}">
                <a16:creationId xmlns:a16="http://schemas.microsoft.com/office/drawing/2014/main" id="{AE0BB20B-8CD7-4D24-AE78-D29A860085DA}"/>
              </a:ext>
            </a:extLst>
          </p:cNvPr>
          <p:cNvSpPr/>
          <p:nvPr/>
        </p:nvSpPr>
        <p:spPr>
          <a:xfrm>
            <a:off x="180000" y="878958"/>
            <a:ext cx="8229600" cy="510008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ts val="2000"/>
              <a:buFont typeface="Noto Sans Symbols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ClrTx/>
              <a:buSzPts val="1400"/>
              <a:buFont typeface="Noto Sans Symbols"/>
              <a:buNone/>
              <a:tabLst/>
              <a:defRPr/>
            </a:pPr>
            <a:r>
              <a:rPr kumimoji="0" lang="en-US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http://www.cbc.ca/news/canada/edmonton/macewan-university-phishing-scam-edmonton-1.4270689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7" name="Google Shape;175;p7">
            <a:extLst>
              <a:ext uri="{FF2B5EF4-FFF2-40B4-BE49-F238E27FC236}">
                <a16:creationId xmlns:a16="http://schemas.microsoft.com/office/drawing/2014/main" id="{0B0DC33D-F557-4297-946F-519980EBEF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5911931"/>
              </p:ext>
            </p:extLst>
          </p:nvPr>
        </p:nvGraphicFramePr>
        <p:xfrm>
          <a:off x="181587" y="1176372"/>
          <a:ext cx="4267200" cy="43467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7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67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 and Vulnerability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-1270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Char char="⮚"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Phishing and scamming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" name="Google Shape;176;p7">
            <a:extLst>
              <a:ext uri="{FF2B5EF4-FFF2-40B4-BE49-F238E27FC236}">
                <a16:creationId xmlns:a16="http://schemas.microsoft.com/office/drawing/2014/main" id="{3551B372-E0F2-4237-B811-FDB7F79E8D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8787" y="1176373"/>
            <a:ext cx="3847330" cy="43467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791819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Importance of PEAP: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confer on this question – MM: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Why is the concept and quantification of PEAP important?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1.3: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What is PEAP? Why PEAP?</a:t>
            </a:r>
          </a:p>
        </p:txBody>
      </p:sp>
    </p:spTree>
    <p:extLst>
      <p:ext uri="{BB962C8B-B14F-4D97-AF65-F5344CB8AC3E}">
        <p14:creationId xmlns:p14="http://schemas.microsoft.com/office/powerpoint/2010/main" val="252543985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lvl="0" indent="-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80"/>
              <a:buFont typeface="Noto Sans Symbols"/>
              <a:buChar char="⮚"/>
            </a:pPr>
            <a:r>
              <a:rPr lang="en-CA" sz="1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It </a:t>
            </a:r>
            <a:r>
              <a:rPr lang="en-CA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quantifies the extent of a loss incident</a:t>
            </a:r>
          </a:p>
          <a:p>
            <a:pPr marL="360000" lvl="0" indent="-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80"/>
              <a:buFont typeface="Noto Sans Symbols"/>
              <a:buChar char="⮚"/>
            </a:pPr>
            <a:endParaRPr lang="en-CA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80"/>
              <a:buFont typeface="Noto Sans Symbols"/>
              <a:buChar char="⮚"/>
            </a:pPr>
            <a:r>
              <a:rPr lang="en-CA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Provides the scope of interests for a risk management system</a:t>
            </a:r>
            <a:endParaRPr lang="en-CA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 lvl="1" indent="-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 typeface="Noto Sans Symbols"/>
              <a:buChar char="⮚"/>
            </a:pPr>
            <a:r>
              <a:rPr lang="en-CA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PEAP losses are reduced with the application of a sound risk management system!</a:t>
            </a:r>
          </a:p>
          <a:p>
            <a:pPr marL="360000" lvl="1" indent="-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 typeface="Noto Sans Symbols"/>
              <a:buChar char="⮚"/>
            </a:pPr>
            <a:endParaRPr lang="en-CA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80"/>
              <a:buFont typeface="Noto Sans Symbols"/>
              <a:buChar char="⮚"/>
            </a:pPr>
            <a:r>
              <a:rPr lang="en-CA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Illustrates </a:t>
            </a:r>
            <a:r>
              <a:rPr lang="en-CA" sz="1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the impacts on P(People</a:t>
            </a:r>
            <a:r>
              <a:rPr lang="en-CA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) </a:t>
            </a:r>
            <a:r>
              <a:rPr lang="en-CA" sz="1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E, A, and P (Productivity):</a:t>
            </a:r>
            <a:endParaRPr lang="en-CA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 lvl="0" indent="-360000">
              <a:lnSpc>
                <a:spcPct val="100000"/>
              </a:lnSpc>
              <a:spcBef>
                <a:spcPts val="0"/>
              </a:spcBef>
              <a:buClrTx/>
              <a:buSzPts val="2080"/>
              <a:buFont typeface="Noto Sans Symbols"/>
              <a:buChar char="⮚"/>
            </a:pPr>
            <a:r>
              <a:rPr lang="en-US" sz="1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 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</a:t>
            </a:r>
            <a:r>
              <a:rPr lang="en-US" sz="1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to improve in 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Alberta’s workplaces. </a:t>
            </a:r>
            <a:endParaRPr lang="en-US" sz="180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 lvl="0" indent="-360000">
              <a:lnSpc>
                <a:spcPct val="100000"/>
              </a:lnSpc>
              <a:spcBef>
                <a:spcPts val="0"/>
              </a:spcBef>
              <a:buClrTx/>
              <a:buSzPts val="2080"/>
              <a:buFont typeface="Noto Sans Symbols"/>
              <a:buChar char="⮚"/>
            </a:pPr>
            <a:r>
              <a:rPr lang="en-US" sz="1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Workplace 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incidents have a significant financial burden on the economy</a:t>
            </a:r>
            <a:r>
              <a:rPr lang="en-US" sz="1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20000" lvl="0" indent="-360000">
              <a:lnSpc>
                <a:spcPct val="100000"/>
              </a:lnSpc>
              <a:spcBef>
                <a:spcPts val="0"/>
              </a:spcBef>
              <a:buClrTx/>
              <a:buSzPts val="2080"/>
              <a:buFont typeface="Noto Sans Symbols"/>
              <a:buChar char="⮚"/>
            </a:pPr>
            <a:r>
              <a:rPr lang="en-US" sz="1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costs 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include the costs for healing and </a:t>
            </a:r>
            <a:r>
              <a:rPr lang="en-US" sz="1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rehabilitation</a:t>
            </a:r>
          </a:p>
          <a:p>
            <a:pPr marL="720000" lvl="0" indent="-360000">
              <a:lnSpc>
                <a:spcPct val="100000"/>
              </a:lnSpc>
              <a:spcBef>
                <a:spcPts val="0"/>
              </a:spcBef>
              <a:buClrTx/>
              <a:buSzPts val="2080"/>
              <a:buFont typeface="Noto Sans Symbols"/>
              <a:buChar char="⮚"/>
            </a:pPr>
            <a:r>
              <a:rPr lang="en-US" sz="1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include </a:t>
            </a:r>
            <a:r>
              <a:rPr lang="en-US" sz="1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losses </a:t>
            </a: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assets, productivity, and so </a:t>
            </a:r>
            <a:r>
              <a:rPr lang="en-US" sz="1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</a:p>
          <a:p>
            <a:pPr marL="720000" lvl="0" indent="-360000">
              <a:lnSpc>
                <a:spcPct val="100000"/>
              </a:lnSpc>
              <a:spcBef>
                <a:spcPts val="0"/>
              </a:spcBef>
              <a:buClrTx/>
              <a:buSzPts val="2080"/>
              <a:buFont typeface="Noto Sans Symbols"/>
              <a:buChar char="⮚"/>
            </a:pPr>
            <a:endParaRPr lang="en-US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lnSpc>
                <a:spcPct val="100000"/>
              </a:lnSpc>
              <a:spcBef>
                <a:spcPts val="0"/>
              </a:spcBef>
              <a:buClrTx/>
              <a:buSzPts val="2080"/>
              <a:buFont typeface="Noto Sans Symbols"/>
              <a:buChar char="⮚"/>
            </a:pPr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should not forget the pain, suffering, and emotional distress that the afflicted workers and their families endure. </a:t>
            </a:r>
            <a:endParaRPr lang="en-US" sz="180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lnSpc>
                <a:spcPct val="100000"/>
              </a:lnSpc>
              <a:spcBef>
                <a:spcPts val="0"/>
              </a:spcBef>
              <a:buClrTx/>
              <a:buSzPts val="2080"/>
              <a:buFont typeface="Noto Sans Symbols"/>
              <a:buChar char="⮚"/>
            </a:pPr>
            <a:endParaRPr lang="en-US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lnSpc>
                <a:spcPct val="100000"/>
              </a:lnSpc>
              <a:spcBef>
                <a:spcPts val="0"/>
              </a:spcBef>
              <a:buClrTx/>
              <a:buSzPts val="2080"/>
              <a:buFont typeface="Noto Sans Symbols"/>
              <a:buChar char="⮚"/>
            </a:pPr>
            <a:r>
              <a:rPr lang="en-US" sz="1800" b="1" i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are the data that should</a:t>
            </a:r>
            <a:r>
              <a:rPr lang="en-CA" sz="1800" b="1" i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motivate </a:t>
            </a:r>
            <a:r>
              <a:rPr lang="en-CA" sz="1800" b="1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 to avoid and minimize loss!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Importance of PEAP – Concept and Quantification: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1.3: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What is PEAP? Why PEAP?</a:t>
            </a:r>
          </a:p>
        </p:txBody>
      </p:sp>
    </p:spTree>
    <p:extLst>
      <p:ext uri="{BB962C8B-B14F-4D97-AF65-F5344CB8AC3E}">
        <p14:creationId xmlns:p14="http://schemas.microsoft.com/office/powerpoint/2010/main" val="366529246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1542362"/>
            <a:ext cx="8586651" cy="45212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About 130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-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140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workers are seriously injured every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day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Closer to Home: Alberta Workplace Injury Statistics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1.3: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What is PEAP? Why PEAP?</a:t>
            </a:r>
          </a:p>
        </p:txBody>
      </p:sp>
      <p:sp>
        <p:nvSpPr>
          <p:cNvPr id="14" name="Google Shape;205;p10">
            <a:extLst>
              <a:ext uri="{FF2B5EF4-FFF2-40B4-BE49-F238E27FC236}">
                <a16:creationId xmlns:a16="http://schemas.microsoft.com/office/drawing/2014/main" id="{F9AF0273-2A5E-42DF-B261-121FBEF5EAEF}"/>
              </a:ext>
            </a:extLst>
          </p:cNvPr>
          <p:cNvSpPr/>
          <p:nvPr/>
        </p:nvSpPr>
        <p:spPr>
          <a:xfrm>
            <a:off x="1788944" y="4891490"/>
            <a:ext cx="3752540" cy="374573"/>
          </a:xfrm>
          <a:prstGeom prst="roundRect">
            <a:avLst/>
          </a:prstGeom>
          <a:noFill/>
          <a:ln w="44450" cap="flat" cmpd="sng">
            <a:solidFill>
              <a:srgbClr val="FF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463634"/>
              </a:buClr>
              <a:buSzPts val="2400"/>
              <a:buFont typeface="Noto Sans Symbols"/>
              <a:buNone/>
            </a:pPr>
            <a:endParaRPr sz="2400">
              <a:solidFill>
                <a:srgbClr val="4636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4925393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 trends are not improving!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Closer to Home: Alberta Workplace Injury Statistics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1.3: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What is PEAP? Why PEAP?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0" y="2916000"/>
            <a:ext cx="4500000" cy="32184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00" y="1332000"/>
            <a:ext cx="4500000" cy="26179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9725803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 trends are not improving!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Closer to Home: Alberta Workplace Injury Statistics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1.3: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What is PEAP? Why PEAP?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99" y="1296000"/>
            <a:ext cx="4500000" cy="27592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2160000"/>
            <a:ext cx="4500000" cy="39832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078399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2304000"/>
            <a:ext cx="8640000" cy="3444946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 economic losses are significant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Direct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transaction claim costs 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~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$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300 million per year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!</a:t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(most recent data available from WCB)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Certainly another driver to </a:t>
            </a:r>
            <a:r>
              <a:rPr lang="en-CA" altLang="en-US" u="sng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minimises losses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!</a:t>
            </a: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Closer to Home: Alberta Workplace Injury Statistics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1.3: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What is PEAP? Why PEAP?</a:t>
            </a:r>
          </a:p>
        </p:txBody>
      </p:sp>
      <p:sp>
        <p:nvSpPr>
          <p:cNvPr id="10" name="Google Shape;205;p10">
            <a:extLst>
              <a:ext uri="{FF2B5EF4-FFF2-40B4-BE49-F238E27FC236}">
                <a16:creationId xmlns:a16="http://schemas.microsoft.com/office/drawing/2014/main" id="{F9AF0273-2A5E-42DF-B261-121FBEF5EAEF}"/>
              </a:ext>
            </a:extLst>
          </p:cNvPr>
          <p:cNvSpPr/>
          <p:nvPr/>
        </p:nvSpPr>
        <p:spPr>
          <a:xfrm>
            <a:off x="1388125" y="3272010"/>
            <a:ext cx="2511846" cy="3027990"/>
          </a:xfrm>
          <a:prstGeom prst="irregularSeal2">
            <a:avLst/>
          </a:prstGeom>
          <a:noFill/>
          <a:ln w="44450" cap="flat" cmpd="sng">
            <a:solidFill>
              <a:srgbClr val="FF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463634"/>
              </a:buClr>
              <a:buSzPts val="2400"/>
              <a:buFont typeface="Noto Sans Symbols"/>
              <a:buNone/>
            </a:pPr>
            <a:endParaRPr sz="2400">
              <a:solidFill>
                <a:srgbClr val="4636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962777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Loaf of Bread Model: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Let’s talk about minimizing loss …The Loaf of Bread Model: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lang="en-US" sz="2000" i="1" kern="1200" dirty="0">
              <a:solidFill>
                <a:srgbClr val="F8F8F8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lang="en-US" sz="2000" i="1" kern="1200" dirty="0">
              <a:solidFill>
                <a:srgbClr val="F8F8F8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lang="en-US" sz="2000" i="1" kern="1200" dirty="0">
              <a:solidFill>
                <a:srgbClr val="F8F8F8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CA" sz="2000" dirty="0">
                <a:solidFill>
                  <a:srgbClr val="FFFFFF"/>
                </a:solidFill>
                <a:sym typeface="Arial"/>
              </a:rPr>
              <a:t>Case study: Ten (10) loaves of bread are made each day. Cost is 90 cents each. Selling price is $1.00. One day, the baker’s helper dropped a loaf.</a:t>
            </a:r>
            <a:endParaRPr lang="en-CA" sz="2000" dirty="0"/>
          </a:p>
          <a:p>
            <a:pPr>
              <a:buSzPts val="2000"/>
            </a:pPr>
            <a:r>
              <a:rPr lang="en-CA" sz="2000" dirty="0">
                <a:solidFill>
                  <a:srgbClr val="FFFFFF"/>
                </a:solidFill>
              </a:rPr>
              <a:t>Please confer on these questions about this case! (MM)</a:t>
            </a:r>
            <a:endParaRPr lang="en-CA" sz="2000"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Tx/>
              <a:buSzPts val="2000"/>
              <a:buFont typeface="Wingdings" panose="05000000000000000000" pitchFamily="2" charset="2"/>
              <a:buChar char="Ø"/>
            </a:pPr>
            <a:r>
              <a:rPr lang="en-CA" sz="2000" dirty="0">
                <a:solidFill>
                  <a:srgbClr val="FFFFFF"/>
                </a:solidFill>
                <a:sym typeface="Arial"/>
              </a:rPr>
              <a:t>What is the profit margin on each loaf of bread?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Tx/>
              <a:buSzPts val="2000"/>
              <a:buFont typeface="Wingdings" panose="05000000000000000000" pitchFamily="2" charset="2"/>
              <a:buChar char="Ø"/>
            </a:pPr>
            <a:r>
              <a:rPr lang="en-CA" sz="2000" dirty="0">
                <a:solidFill>
                  <a:srgbClr val="FFFFFF"/>
                </a:solidFill>
              </a:rPr>
              <a:t>When does the baker make a profit?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Tx/>
              <a:buSzPts val="2000"/>
              <a:buFont typeface="Wingdings" panose="05000000000000000000" pitchFamily="2" charset="2"/>
              <a:buChar char="Ø"/>
            </a:pPr>
            <a:r>
              <a:rPr lang="en-CA" sz="2000" dirty="0">
                <a:solidFill>
                  <a:srgbClr val="FFFFFF"/>
                </a:solidFill>
                <a:sym typeface="Arial"/>
              </a:rPr>
              <a:t>Why work at minimizing, preferably avoiding, loss?</a:t>
            </a:r>
            <a:endParaRPr lang="en-CA" sz="2000" dirty="0"/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1.3: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What is PEAP? Why PEAP?</a:t>
            </a:r>
          </a:p>
        </p:txBody>
      </p:sp>
      <p:pic>
        <p:nvPicPr>
          <p:cNvPr id="6" name="Google Shape;218;p11" descr="fresh baked loaves of artisan bread">
            <a:extLst>
              <a:ext uri="{FF2B5EF4-FFF2-40B4-BE49-F238E27FC236}">
                <a16:creationId xmlns:a16="http://schemas.microsoft.com/office/drawing/2014/main" id="{2A0026C7-7A7A-45FA-90A0-CC3378C67A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4575" y="1298957"/>
            <a:ext cx="4206541" cy="2226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833558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have we learned?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Every third day in Alberta, a worker doesn’t come home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Implementing a sound and thorough risk management program helps to avoid PEAP losses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an engineer, you will likely be managing risks with employees, and contractors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areas such as design, budget, schedule, operations, and maintenance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Consider the potential PEAP losses in each area before making any decision!</a:t>
            </a:r>
            <a:endParaRPr kumimoji="0" lang="en-US" altLang="en-US" sz="20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Lesson: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Avoidance of loss or minimizing loss is the same as …</a:t>
            </a:r>
            <a:b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maximizing profit.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and Key Lessons: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1.3: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What is PEAP? Why PEAP?</a:t>
            </a:r>
          </a:p>
        </p:txBody>
      </p:sp>
    </p:spTree>
    <p:extLst>
      <p:ext uri="{BB962C8B-B14F-4D97-AF65-F5344CB8AC3E}">
        <p14:creationId xmlns:p14="http://schemas.microsoft.com/office/powerpoint/2010/main" val="418750564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5846</TotalTime>
  <Words>1036</Words>
  <Application>Microsoft Office PowerPoint</Application>
  <PresentationFormat>On-screen Show (4:3)</PresentationFormat>
  <Paragraphs>213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ＭＳ Ｐゴシック</vt:lpstr>
      <vt:lpstr>Arial</vt:lpstr>
      <vt:lpstr>Calibri</vt:lpstr>
      <vt:lpstr>Noto Sans Symbols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JR Cocchio</dc:creator>
  <cp:lastModifiedBy>John Cocchio</cp:lastModifiedBy>
  <cp:revision>48</cp:revision>
  <dcterms:created xsi:type="dcterms:W3CDTF">2011-09-07T03:22:54Z</dcterms:created>
  <dcterms:modified xsi:type="dcterms:W3CDTF">2022-05-02T17:37:54Z</dcterms:modified>
</cp:coreProperties>
</file>