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3" r:id="rId1"/>
  </p:sldMasterIdLst>
  <p:notesMasterIdLst>
    <p:notesMasterId r:id="rId17"/>
  </p:notesMasterIdLst>
  <p:handoutMasterIdLst>
    <p:handoutMasterId r:id="rId18"/>
  </p:handoutMasterIdLst>
  <p:sldIdLst>
    <p:sldId id="895" r:id="rId2"/>
    <p:sldId id="928" r:id="rId3"/>
    <p:sldId id="929" r:id="rId4"/>
    <p:sldId id="933" r:id="rId5"/>
    <p:sldId id="934" r:id="rId6"/>
    <p:sldId id="936" r:id="rId7"/>
    <p:sldId id="935" r:id="rId8"/>
    <p:sldId id="926" r:id="rId9"/>
    <p:sldId id="937" r:id="rId10"/>
    <p:sldId id="931" r:id="rId11"/>
    <p:sldId id="940" r:id="rId12"/>
    <p:sldId id="941" r:id="rId13"/>
    <p:sldId id="939" r:id="rId14"/>
    <p:sldId id="930" r:id="rId15"/>
    <p:sldId id="938" r:id="rId16"/>
  </p:sldIdLst>
  <p:sldSz cx="9144000" cy="6858000" type="screen4x3"/>
  <p:notesSz cx="6954838" cy="93091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 uri="{2D200454-40CA-4A62-9FC3-DE9A4176ACB9}">
      <p15:notesGuideLst xmlns:p15="http://schemas.microsoft.com/office/powerpoint/2012/main">
        <p15:guide id="1" orient="horz" pos="2933">
          <p15:clr>
            <a:srgbClr val="A4A3A4"/>
          </p15:clr>
        </p15:guide>
        <p15:guide id="2" pos="219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99"/>
    <a:srgbClr val="000000"/>
    <a:srgbClr val="FFFFFF"/>
    <a:srgbClr val="3366CC"/>
    <a:srgbClr val="4F76F1"/>
    <a:srgbClr val="48945C"/>
    <a:srgbClr val="82C293"/>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94615" autoAdjust="0"/>
  </p:normalViewPr>
  <p:slideViewPr>
    <p:cSldViewPr>
      <p:cViewPr varScale="1">
        <p:scale>
          <a:sx n="106" d="100"/>
          <a:sy n="106" d="100"/>
        </p:scale>
        <p:origin x="1152" y="108"/>
      </p:cViewPr>
      <p:guideLst>
        <p:guide orient="horz" pos="2112"/>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10" d="100"/>
        <a:sy n="110" d="100"/>
      </p:scale>
      <p:origin x="0" y="0"/>
    </p:cViewPr>
  </p:sorterViewPr>
  <p:notesViewPr>
    <p:cSldViewPr>
      <p:cViewPr varScale="1">
        <p:scale>
          <a:sx n="51" d="100"/>
          <a:sy n="51" d="100"/>
        </p:scale>
        <p:origin x="2680" y="56"/>
      </p:cViewPr>
      <p:guideLst>
        <p:guide orient="horz" pos="2933"/>
        <p:guide pos="219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30305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4" tIns="45697" rIns="91394" bIns="45697" numCol="1" anchor="t" anchorCtr="0" compatLnSpc="1">
            <a:prstTxWarp prst="textNoShape">
              <a:avLst/>
            </a:prstTxWarp>
          </a:bodyPr>
          <a:lstStyle>
            <a:lvl1pPr defTabSz="911994">
              <a:defRPr sz="1200"/>
            </a:lvl1pPr>
          </a:lstStyle>
          <a:p>
            <a:pPr>
              <a:defRPr/>
            </a:pPr>
            <a:r>
              <a:rPr lang="en-US" altLang="en-US" dirty="0"/>
              <a:t>2017-2018</a:t>
            </a:r>
          </a:p>
        </p:txBody>
      </p:sp>
      <p:sp>
        <p:nvSpPr>
          <p:cNvPr id="13316" name="Rectangle 4"/>
          <p:cNvSpPr>
            <a:spLocks noGrp="1" noChangeArrowheads="1"/>
          </p:cNvSpPr>
          <p:nvPr>
            <p:ph type="ftr" sz="quarter" idx="2"/>
          </p:nvPr>
        </p:nvSpPr>
        <p:spPr bwMode="auto">
          <a:xfrm>
            <a:off x="0" y="8875713"/>
            <a:ext cx="3030538"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4" tIns="45697" rIns="91394" bIns="45697" numCol="1" anchor="b" anchorCtr="0" compatLnSpc="1">
            <a:prstTxWarp prst="textNoShape">
              <a:avLst/>
            </a:prstTxWarp>
          </a:bodyPr>
          <a:lstStyle>
            <a:lvl1pPr defTabSz="911994">
              <a:defRPr sz="1200"/>
            </a:lvl1pPr>
          </a:lstStyle>
          <a:p>
            <a:pPr>
              <a:defRPr/>
            </a:pPr>
            <a:endParaRPr lang="en-CA" altLang="en-US" dirty="0"/>
          </a:p>
        </p:txBody>
      </p:sp>
      <p:sp>
        <p:nvSpPr>
          <p:cNvPr id="13317" name="Rectangle 5"/>
          <p:cNvSpPr>
            <a:spLocks noGrp="1" noChangeArrowheads="1"/>
          </p:cNvSpPr>
          <p:nvPr>
            <p:ph type="sldNum" sz="quarter" idx="3"/>
          </p:nvPr>
        </p:nvSpPr>
        <p:spPr bwMode="auto">
          <a:xfrm>
            <a:off x="3937000" y="8875713"/>
            <a:ext cx="3030538"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4" tIns="45697" rIns="91394" bIns="45697" numCol="1" anchor="b" anchorCtr="0" compatLnSpc="1">
            <a:prstTxWarp prst="textNoShape">
              <a:avLst/>
            </a:prstTxWarp>
          </a:bodyPr>
          <a:lstStyle>
            <a:lvl1pPr algn="r" defTabSz="911994">
              <a:defRPr sz="1200"/>
            </a:lvl1pPr>
          </a:lstStyle>
          <a:p>
            <a:pPr>
              <a:defRPr/>
            </a:pPr>
            <a:fld id="{C3344F1F-3D96-406C-BE67-ADFFEE4296D8}" type="slidenum">
              <a:rPr lang="en-US" altLang="en-US"/>
              <a:pPr>
                <a:defRPr/>
              </a:pPr>
              <a:t>‹#›</a:t>
            </a:fld>
            <a:endParaRPr lang="en-US" altLang="en-US" dirty="0"/>
          </a:p>
        </p:txBody>
      </p:sp>
    </p:spTree>
    <p:extLst>
      <p:ext uri="{BB962C8B-B14F-4D97-AF65-F5344CB8AC3E}">
        <p14:creationId xmlns:p14="http://schemas.microsoft.com/office/powerpoint/2010/main" val="34043045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146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t" anchorCtr="0" compatLnSpc="1">
            <a:prstTxWarp prst="textNoShape">
              <a:avLst/>
            </a:prstTxWarp>
          </a:bodyPr>
          <a:lstStyle>
            <a:lvl1pPr defTabSz="929319">
              <a:defRPr sz="1200"/>
            </a:lvl1pPr>
          </a:lstStyle>
          <a:p>
            <a:pPr>
              <a:defRPr/>
            </a:pPr>
            <a:r>
              <a:rPr lang="en-US" altLang="en-US" dirty="0"/>
              <a:t>2015-2016ENGG406 Lecture 00 - Day 1</a:t>
            </a:r>
          </a:p>
        </p:txBody>
      </p:sp>
      <p:sp>
        <p:nvSpPr>
          <p:cNvPr id="3075" name="Rectangle 3"/>
          <p:cNvSpPr>
            <a:spLocks noGrp="1" noChangeArrowheads="1"/>
          </p:cNvSpPr>
          <p:nvPr>
            <p:ph type="dt" idx="1"/>
          </p:nvPr>
        </p:nvSpPr>
        <p:spPr bwMode="auto">
          <a:xfrm>
            <a:off x="3940175" y="0"/>
            <a:ext cx="30146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t" anchorCtr="0" compatLnSpc="1">
            <a:prstTxWarp prst="textNoShape">
              <a:avLst/>
            </a:prstTxWarp>
          </a:bodyPr>
          <a:lstStyle>
            <a:lvl1pPr algn="r" defTabSz="929319">
              <a:defRPr sz="1200"/>
            </a:lvl1pPr>
          </a:lstStyle>
          <a:p>
            <a:pPr>
              <a:defRPr/>
            </a:pPr>
            <a:fld id="{04B90C15-4A4F-42F9-AC2E-18CD8FE5CA65}" type="datetimeFigureOut">
              <a:rPr lang="en-US" altLang="en-US"/>
              <a:pPr>
                <a:defRPr/>
              </a:pPr>
              <a:t>5/9/2022</a:t>
            </a:fld>
            <a:endParaRPr lang="en-US" altLang="en-US" dirty="0"/>
          </a:p>
        </p:txBody>
      </p:sp>
      <p:sp>
        <p:nvSpPr>
          <p:cNvPr id="2052" name="Rectangle 4"/>
          <p:cNvSpPr>
            <a:spLocks noGrp="1" noRot="1" noChangeAspect="1" noChangeArrowheads="1" noTextEdit="1"/>
          </p:cNvSpPr>
          <p:nvPr>
            <p:ph type="sldImg" idx="2"/>
          </p:nvPr>
        </p:nvSpPr>
        <p:spPr bwMode="auto">
          <a:xfrm>
            <a:off x="1150938" y="696913"/>
            <a:ext cx="4652962" cy="34909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27100" y="4421188"/>
            <a:ext cx="5100638"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842375"/>
            <a:ext cx="30146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b" anchorCtr="0" compatLnSpc="1">
            <a:prstTxWarp prst="textNoShape">
              <a:avLst/>
            </a:prstTxWarp>
          </a:bodyPr>
          <a:lstStyle>
            <a:lvl1pPr defTabSz="929319">
              <a:defRPr sz="1200"/>
            </a:lvl1pPr>
          </a:lstStyle>
          <a:p>
            <a:pPr>
              <a:defRPr/>
            </a:pPr>
            <a:r>
              <a:rPr lang="en-US" altLang="en-US" dirty="0"/>
              <a:t>2012 Fall</a:t>
            </a:r>
          </a:p>
        </p:txBody>
      </p:sp>
      <p:sp>
        <p:nvSpPr>
          <p:cNvPr id="3079" name="Rectangle 7"/>
          <p:cNvSpPr>
            <a:spLocks noGrp="1" noChangeArrowheads="1"/>
          </p:cNvSpPr>
          <p:nvPr>
            <p:ph type="sldNum" sz="quarter" idx="5"/>
          </p:nvPr>
        </p:nvSpPr>
        <p:spPr bwMode="auto">
          <a:xfrm>
            <a:off x="3940175" y="8842375"/>
            <a:ext cx="30146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911" tIns="46456" rIns="92911" bIns="46456" numCol="1" anchor="b" anchorCtr="0" compatLnSpc="1">
            <a:prstTxWarp prst="textNoShape">
              <a:avLst/>
            </a:prstTxWarp>
          </a:bodyPr>
          <a:lstStyle>
            <a:lvl1pPr algn="r" defTabSz="929319">
              <a:defRPr sz="1200"/>
            </a:lvl1pPr>
          </a:lstStyle>
          <a:p>
            <a:pPr>
              <a:defRPr/>
            </a:pPr>
            <a:fld id="{2093628F-959A-4BAA-97B3-10C002A1D490}" type="slidenum">
              <a:rPr lang="en-US" altLang="en-US"/>
              <a:pPr>
                <a:defRPr/>
              </a:pPr>
              <a:t>‹#›</a:t>
            </a:fld>
            <a:endParaRPr lang="en-US" altLang="en-US" dirty="0"/>
          </a:p>
        </p:txBody>
      </p:sp>
    </p:spTree>
    <p:extLst>
      <p:ext uri="{BB962C8B-B14F-4D97-AF65-F5344CB8AC3E}">
        <p14:creationId xmlns:p14="http://schemas.microsoft.com/office/powerpoint/2010/main" val="1080722224"/>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6560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9054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0496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5301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5046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78852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207429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78852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427444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4175055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681536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90224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66326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559388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58236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1087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5/9/2022</a:t>
            </a:fld>
            <a:endParaRPr lang="en-US" dirty="0"/>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dirty="0"/>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dirty="0"/>
          </a:p>
        </p:txBody>
      </p:sp>
    </p:spTree>
    <p:extLst>
      <p:ext uri="{BB962C8B-B14F-4D97-AF65-F5344CB8AC3E}">
        <p14:creationId xmlns:p14="http://schemas.microsoft.com/office/powerpoint/2010/main" val="249824183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677069"/>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838200" y="2500342"/>
            <a:ext cx="7315201"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1.1</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Case Study Methodology – </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Theory &amp; Practice</a:t>
            </a:r>
            <a:endPar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xmlns=""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xmlns=""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xmlns=""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xmlns=""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xmlns=""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xmlns=""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xmlns=""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xmlns=""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xmlns=""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xmlns=""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xmlns=""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xmlns=""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xmlns=""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xmlns=""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xmlns=""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Learning Outcomes:</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the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1.1 Case Study Methodology</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for learning.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000000"/>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Why do we use </a:t>
            </a:r>
            <a:r>
              <a:rPr kumimoji="0" lang="en-US"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1.1 Case Study Methodology</a:t>
            </a: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eaLnBrk="1" hangingPunct="1">
              <a:lnSpc>
                <a:spcPct val="100000"/>
              </a:lnSpc>
              <a:buClr>
                <a:srgbClr val="000000"/>
              </a:buClr>
              <a:buSzTx/>
              <a:buFont typeface="Wingdings" panose="05000000000000000000" pitchFamily="2" charset="2"/>
              <a:buChar char="Ø"/>
            </a:pPr>
            <a:r>
              <a:rPr lang="en-US" altLang="en-US" sz="2000" dirty="0">
                <a:solidFill>
                  <a:srgbClr val="000000"/>
                </a:solidFill>
                <a:latin typeface="Arial" panose="020B0604020202020204" pitchFamily="34" charset="0"/>
              </a:rPr>
              <a:t>Recounts an actual incident …</a:t>
            </a:r>
          </a:p>
          <a:p>
            <a:pPr eaLnBrk="1" hangingPunct="1">
              <a:lnSpc>
                <a:spcPct val="100000"/>
              </a:lnSpc>
              <a:buClr>
                <a:srgbClr val="000000"/>
              </a:buClr>
              <a:buSzTx/>
              <a:buFont typeface="Wingdings" panose="05000000000000000000" pitchFamily="2" charset="2"/>
              <a:buChar char="Ø"/>
            </a:pPr>
            <a:r>
              <a:rPr lang="en-US" altLang="en-US" sz="2000" dirty="0">
                <a:solidFill>
                  <a:srgbClr val="000000"/>
                </a:solidFill>
                <a:latin typeface="Arial" panose="020B0604020202020204" pitchFamily="34" charset="0"/>
              </a:rPr>
              <a:t>Proven teaching method.</a:t>
            </a:r>
          </a:p>
          <a:p>
            <a:pPr eaLnBrk="1" hangingPunct="1">
              <a:lnSpc>
                <a:spcPct val="100000"/>
              </a:lnSpc>
              <a:buClr>
                <a:srgbClr val="000000"/>
              </a:buClr>
              <a:buSzTx/>
              <a:buFont typeface="Wingdings" panose="05000000000000000000" pitchFamily="2" charset="2"/>
              <a:buChar char="Ø"/>
            </a:pPr>
            <a:r>
              <a:rPr lang="en-US" altLang="en-US" sz="2000" dirty="0">
                <a:solidFill>
                  <a:srgbClr val="000000"/>
                </a:solidFill>
                <a:latin typeface="Arial" panose="020B0604020202020204" pitchFamily="34" charset="0"/>
              </a:rPr>
              <a:t>Broadly applied. </a:t>
            </a:r>
          </a:p>
          <a:p>
            <a:pPr eaLnBrk="1" hangingPunct="1">
              <a:lnSpc>
                <a:spcPct val="100000"/>
              </a:lnSpc>
              <a:buClr>
                <a:srgbClr val="000000"/>
              </a:buClr>
              <a:buSzTx/>
              <a:buFont typeface="Wingdings" panose="05000000000000000000" pitchFamily="2" charset="2"/>
              <a:buChar char="Ø"/>
            </a:pPr>
            <a:r>
              <a:rPr lang="en-US" altLang="en-US" sz="2000" dirty="0">
                <a:solidFill>
                  <a:srgbClr val="000000"/>
                </a:solidFill>
                <a:latin typeface="Arial" panose="020B0604020202020204" pitchFamily="34" charset="0"/>
              </a:rPr>
              <a:t>Presents situations where: </a:t>
            </a:r>
          </a:p>
          <a:p>
            <a:pPr lvl="1" eaLnBrk="1" hangingPunct="1">
              <a:lnSpc>
                <a:spcPct val="100000"/>
              </a:lnSpc>
              <a:buClr>
                <a:srgbClr val="000000"/>
              </a:buClr>
              <a:buFont typeface="Wingdings" panose="05000000000000000000" pitchFamily="2" charset="2"/>
              <a:buChar char="Ø"/>
            </a:pPr>
            <a:r>
              <a:rPr lang="en-US" altLang="en-US" sz="2000" dirty="0">
                <a:solidFill>
                  <a:srgbClr val="000000"/>
                </a:solidFill>
                <a:latin typeface="Arial" panose="020B0604020202020204" pitchFamily="34" charset="0"/>
              </a:rPr>
              <a:t>Management </a:t>
            </a:r>
            <a:r>
              <a:rPr lang="en-US" altLang="en-US" sz="2000" u="sng" dirty="0">
                <a:solidFill>
                  <a:srgbClr val="000000"/>
                </a:solidFill>
                <a:latin typeface="Arial" panose="020B0604020202020204" pitchFamily="34" charset="0"/>
              </a:rPr>
              <a:t>decisions are examined after the fact</a:t>
            </a:r>
            <a:r>
              <a:rPr lang="en-US" altLang="en-US" sz="2000" dirty="0">
                <a:solidFill>
                  <a:srgbClr val="000000"/>
                </a:solidFill>
                <a:latin typeface="Arial" panose="020B0604020202020204" pitchFamily="34" charset="0"/>
              </a:rPr>
              <a:t>, or </a:t>
            </a:r>
          </a:p>
          <a:p>
            <a:pPr lvl="1" eaLnBrk="1" hangingPunct="1">
              <a:lnSpc>
                <a:spcPct val="100000"/>
              </a:lnSpc>
              <a:buClr>
                <a:srgbClr val="000000"/>
              </a:buClr>
              <a:buFont typeface="Wingdings" panose="05000000000000000000" pitchFamily="2" charset="2"/>
              <a:buChar char="Ø"/>
            </a:pPr>
            <a:r>
              <a:rPr lang="en-US" altLang="en-US" sz="2000" u="sng" dirty="0">
                <a:solidFill>
                  <a:srgbClr val="000000"/>
                </a:solidFill>
                <a:latin typeface="Arial" panose="020B0604020202020204" pitchFamily="34" charset="0"/>
              </a:rPr>
              <a:t>Management needs to make decisions</a:t>
            </a:r>
            <a:r>
              <a:rPr lang="en-US" altLang="en-US" sz="2000" dirty="0">
                <a:solidFill>
                  <a:srgbClr val="000000"/>
                </a:solidFill>
                <a:latin typeface="Arial" panose="020B0604020202020204" pitchFamily="34" charset="0"/>
              </a:rPr>
              <a:t> with incomplete information, plausible yet uncertain decision outcomes … </a:t>
            </a:r>
            <a:br>
              <a:rPr lang="en-US" altLang="en-US" sz="2000" dirty="0">
                <a:solidFill>
                  <a:srgbClr val="000000"/>
                </a:solidFill>
                <a:latin typeface="Arial" panose="020B0604020202020204" pitchFamily="34" charset="0"/>
              </a:rPr>
            </a:br>
            <a:r>
              <a:rPr lang="en-US" altLang="en-US" sz="2000" dirty="0">
                <a:solidFill>
                  <a:srgbClr val="000000"/>
                </a:solidFill>
                <a:latin typeface="Arial" panose="020B0604020202020204" pitchFamily="34" charset="0"/>
              </a:rPr>
              <a:t>under stressful and hurried conditions. </a:t>
            </a:r>
          </a:p>
          <a:p>
            <a:pPr lvl="1" eaLnBrk="1" hangingPunct="1">
              <a:lnSpc>
                <a:spcPct val="100000"/>
              </a:lnSpc>
              <a:buClr>
                <a:srgbClr val="000000"/>
              </a:buClr>
              <a:buFont typeface="Wingdings" panose="05000000000000000000" pitchFamily="2" charset="2"/>
              <a:buChar char="Ø"/>
            </a:pPr>
            <a:r>
              <a:rPr lang="en-US" altLang="en-US" sz="2000" i="1" dirty="0">
                <a:solidFill>
                  <a:srgbClr val="000000"/>
                </a:solidFill>
                <a:latin typeface="Arial" panose="020B0604020202020204" pitchFamily="34" charset="0"/>
              </a:rPr>
              <a:t>The latter will be your real-world experience!</a:t>
            </a:r>
            <a:endParaRPr lang="en-US" altLang="en-US" sz="2000" dirty="0">
              <a:solidFill>
                <a:srgbClr val="000000"/>
              </a:solidFill>
              <a:latin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 and Why We Use Case Studies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28517005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Allows you …</a:t>
            </a:r>
          </a:p>
          <a:p>
            <a:pPr lvl="1" eaLnBrk="1" hangingPunct="1">
              <a:lnSpc>
                <a:spcPct val="110000"/>
              </a:lnSpc>
              <a:buClr>
                <a:srgbClr val="000000"/>
              </a:buClr>
              <a:buFont typeface="Wingdings" panose="05000000000000000000" pitchFamily="2" charset="2"/>
              <a:buChar char="Ø"/>
            </a:pPr>
            <a:r>
              <a:rPr lang="en-US" altLang="en-US" sz="2000" dirty="0">
                <a:solidFill>
                  <a:srgbClr val="000000"/>
                </a:solidFill>
                <a:latin typeface="Arial" panose="020B0604020202020204" pitchFamily="34" charset="0"/>
              </a:rPr>
              <a:t>to practice the methodologies, and </a:t>
            </a:r>
          </a:p>
          <a:p>
            <a:pPr lvl="1" eaLnBrk="1" hangingPunct="1">
              <a:lnSpc>
                <a:spcPct val="110000"/>
              </a:lnSpc>
              <a:buClr>
                <a:srgbClr val="000000"/>
              </a:buClr>
              <a:buFont typeface="Wingdings" panose="05000000000000000000" pitchFamily="2" charset="2"/>
              <a:buChar char="Ø"/>
            </a:pPr>
            <a:r>
              <a:rPr lang="en-US" altLang="en-US" sz="2000" dirty="0">
                <a:solidFill>
                  <a:srgbClr val="000000"/>
                </a:solidFill>
                <a:latin typeface="Arial" panose="020B0604020202020204" pitchFamily="34" charset="0"/>
              </a:rPr>
              <a:t>to achieve the higher learning objectives of:</a:t>
            </a:r>
          </a:p>
          <a:p>
            <a:pPr lvl="2" eaLnBrk="1" hangingPunct="1">
              <a:lnSpc>
                <a:spcPct val="110000"/>
              </a:lnSpc>
              <a:buClr>
                <a:srgbClr val="000000"/>
              </a:buClr>
              <a:buFont typeface="Wingdings" panose="05000000000000000000" pitchFamily="2" charset="2"/>
              <a:buChar char="Ø"/>
            </a:pPr>
            <a:r>
              <a:rPr lang="en-US" altLang="en-US" sz="2000" b="1" dirty="0">
                <a:solidFill>
                  <a:srgbClr val="000000"/>
                </a:solidFill>
                <a:latin typeface="Arial" panose="020B0604020202020204" pitchFamily="34" charset="0"/>
              </a:rPr>
              <a:t>Evaluating</a:t>
            </a:r>
            <a:r>
              <a:rPr lang="en-US" altLang="en-US" sz="2000" dirty="0">
                <a:solidFill>
                  <a:srgbClr val="000000"/>
                </a:solidFill>
                <a:latin typeface="Arial" panose="020B0604020202020204" pitchFamily="34" charset="0"/>
              </a:rPr>
              <a:t> and </a:t>
            </a:r>
            <a:r>
              <a:rPr lang="en-US" altLang="en-US" sz="2000" b="1" dirty="0">
                <a:solidFill>
                  <a:srgbClr val="000000"/>
                </a:solidFill>
                <a:latin typeface="Arial" panose="020B0604020202020204" pitchFamily="34" charset="0"/>
              </a:rPr>
              <a:t>assessing</a:t>
            </a:r>
            <a:r>
              <a:rPr lang="en-US" altLang="en-US" sz="2000" dirty="0">
                <a:solidFill>
                  <a:srgbClr val="000000"/>
                </a:solidFill>
                <a:latin typeface="Arial" panose="020B0604020202020204" pitchFamily="34" charset="0"/>
              </a:rPr>
              <a:t> information and drawing conclusions, </a:t>
            </a:r>
          </a:p>
          <a:p>
            <a:pPr lvl="2" eaLnBrk="1" hangingPunct="1">
              <a:lnSpc>
                <a:spcPct val="110000"/>
              </a:lnSpc>
              <a:buClr>
                <a:srgbClr val="000000"/>
              </a:buClr>
              <a:buFont typeface="Wingdings" panose="05000000000000000000" pitchFamily="2" charset="2"/>
              <a:buChar char="Ø"/>
            </a:pPr>
            <a:r>
              <a:rPr lang="en-US" altLang="en-US" sz="2000" b="1" dirty="0">
                <a:solidFill>
                  <a:srgbClr val="000000"/>
                </a:solidFill>
                <a:latin typeface="Arial" panose="020B0604020202020204" pitchFamily="34" charset="0"/>
              </a:rPr>
              <a:t>Critical thinking</a:t>
            </a:r>
            <a:r>
              <a:rPr lang="en-US" altLang="en-US" sz="2000" dirty="0">
                <a:solidFill>
                  <a:srgbClr val="000000"/>
                </a:solidFill>
                <a:latin typeface="Arial" panose="020B0604020202020204" pitchFamily="34" charset="0"/>
              </a:rPr>
              <a:t> about “what if”, or “what else”, or “the unintended consequences”, and </a:t>
            </a:r>
          </a:p>
          <a:p>
            <a:pPr lvl="2" eaLnBrk="1" hangingPunct="1">
              <a:lnSpc>
                <a:spcPct val="110000"/>
              </a:lnSpc>
              <a:buClr>
                <a:srgbClr val="000000"/>
              </a:buClr>
              <a:buFont typeface="Wingdings" panose="05000000000000000000" pitchFamily="2" charset="2"/>
              <a:buChar char="Ø"/>
            </a:pPr>
            <a:r>
              <a:rPr lang="en-US" altLang="en-US" sz="2000" b="1" dirty="0">
                <a:solidFill>
                  <a:srgbClr val="000000"/>
                </a:solidFill>
                <a:latin typeface="Arial" panose="020B0604020202020204" pitchFamily="34" charset="0"/>
              </a:rPr>
              <a:t>Creative thinking</a:t>
            </a:r>
            <a:r>
              <a:rPr lang="en-US" altLang="en-US" sz="2000" dirty="0">
                <a:solidFill>
                  <a:srgbClr val="000000"/>
                </a:solidFill>
                <a:latin typeface="Arial" panose="020B0604020202020204" pitchFamily="34" charset="0"/>
              </a:rPr>
              <a:t> towards formulating strategies for advancement of the organization under study.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1.1 Case Study Methodology</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35071142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000099"/>
          </a:solidFill>
          <a:ln w="9525">
            <a:solidFill>
              <a:srgbClr val="000099"/>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a:lnSpc>
                <a:spcPct val="100000"/>
              </a:lnSpc>
              <a:spcBef>
                <a:spcPts val="0"/>
              </a:spcBef>
              <a:buClr>
                <a:srgbClr val="000000"/>
              </a:buClr>
              <a:buSzPct val="100000"/>
              <a:buNone/>
              <a:defRPr/>
            </a:pPr>
            <a:r>
              <a:rPr lang="en-US" altLang="en-US" i="1" dirty="0" smtClean="0">
                <a:solidFill>
                  <a:schemeClr val="bg1"/>
                </a:solidFill>
                <a:latin typeface="Arial" panose="020B0604020202020204" pitchFamily="34" charset="0"/>
                <a:cs typeface="Arial" panose="020B0604020202020204" pitchFamily="34" charset="0"/>
              </a:rPr>
              <a:t>Please confer to solve the following: </a:t>
            </a:r>
            <a:r>
              <a:rPr lang="en-US" altLang="en-US" i="1" dirty="0">
                <a:solidFill>
                  <a:schemeClr val="bg1"/>
                </a:solidFill>
                <a:latin typeface="Arial" panose="020B0604020202020204" pitchFamily="34" charset="0"/>
                <a:cs typeface="Arial" panose="020B0604020202020204" pitchFamily="34" charset="0"/>
              </a:rPr>
              <a:t>(MM not intended - show of hands):</a:t>
            </a:r>
            <a:endParaRPr lang="en-US" altLang="en-US" i="1" dirty="0" smtClean="0">
              <a:solidFill>
                <a:schemeClr val="bg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i="1" dirty="0" smtClean="0">
                <a:solidFill>
                  <a:schemeClr val="bg1"/>
                </a:solidFill>
                <a:latin typeface="Arial" panose="020B0604020202020204" pitchFamily="34" charset="0"/>
                <a:cs typeface="Arial" panose="020B0604020202020204" pitchFamily="34" charset="0"/>
              </a:rPr>
              <a:t>Formula:  </a:t>
            </a:r>
            <a:r>
              <a:rPr lang="en-US" altLang="en-US" i="1" noProof="0" dirty="0" smtClean="0">
                <a:solidFill>
                  <a:schemeClr val="bg1"/>
                </a:solidFill>
                <a:latin typeface="Arial" panose="020B0604020202020204" pitchFamily="34" charset="0"/>
                <a:cs typeface="Arial" panose="020B0604020202020204" pitchFamily="34" charset="0"/>
              </a:rPr>
              <a:t>Y = a + bX + cX2 + dX3</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dirty="0" smtClean="0">
              <a:ln>
                <a:noFill/>
              </a:ln>
              <a:solidFill>
                <a:schemeClr val="bg1"/>
              </a:solidFill>
              <a:effectLst/>
              <a:uLnTx/>
              <a:uFillTx/>
              <a:latin typeface="Arial" panose="020B0604020202020204" pitchFamily="34" charset="0"/>
              <a:cs typeface="Arial" panose="020B0604020202020204" pitchFamily="34" charset="0"/>
            </a:endParaRPr>
          </a:p>
          <a:p>
            <a:pPr marL="0" indent="0">
              <a:lnSpc>
                <a:spcPct val="100000"/>
              </a:lnSpc>
              <a:spcBef>
                <a:spcPts val="0"/>
              </a:spcBef>
              <a:buClr>
                <a:srgbClr val="000000"/>
              </a:buClr>
              <a:buSzPct val="100000"/>
              <a:buNone/>
              <a:defRPr/>
            </a:pPr>
            <a:r>
              <a:rPr lang="en-US" altLang="en-US" i="1" dirty="0" smtClean="0">
                <a:solidFill>
                  <a:schemeClr val="bg1"/>
                </a:solidFill>
                <a:latin typeface="Arial" panose="020B0604020202020204" pitchFamily="34" charset="0"/>
                <a:cs typeface="Arial" panose="020B0604020202020204" pitchFamily="34" charset="0"/>
              </a:rPr>
              <a:t>Problem: Solve for Y given the </a:t>
            </a:r>
            <a:r>
              <a:rPr lang="en-US" altLang="en-US" i="1" dirty="0">
                <a:solidFill>
                  <a:schemeClr val="bg1"/>
                </a:solidFill>
                <a:latin typeface="Arial" panose="020B0604020202020204" pitchFamily="34" charset="0"/>
                <a:cs typeface="Arial" panose="020B0604020202020204" pitchFamily="34" charset="0"/>
              </a:rPr>
              <a:t>values for a, b, c, d, and </a:t>
            </a:r>
            <a:r>
              <a:rPr lang="en-US" altLang="en-US" i="1" dirty="0" smtClean="0">
                <a:solidFill>
                  <a:schemeClr val="bg1"/>
                </a:solidFill>
                <a:latin typeface="Arial" panose="020B0604020202020204" pitchFamily="34" charset="0"/>
                <a:cs typeface="Arial" panose="020B0604020202020204" pitchFamily="34" charset="0"/>
              </a:rPr>
              <a:t>X.</a:t>
            </a:r>
            <a:endParaRPr lang="en-US" altLang="en-US" i="1" dirty="0">
              <a:solidFill>
                <a:schemeClr val="bg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dirty="0" smtClean="0">
              <a:ln>
                <a:noFill/>
              </a:ln>
              <a:solidFill>
                <a:schemeClr val="bg1"/>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i="1" dirty="0" smtClean="0">
                <a:solidFill>
                  <a:schemeClr val="bg1"/>
                </a:solidFill>
                <a:latin typeface="Arial" panose="020B0604020202020204" pitchFamily="34" charset="0"/>
                <a:cs typeface="Arial" panose="020B0604020202020204" pitchFamily="34" charset="0"/>
              </a:rPr>
              <a:t>Q: Is this a case study analysis?</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dirty="0">
              <a:ln>
                <a:noFill/>
              </a:ln>
              <a:solidFill>
                <a:schemeClr val="bg1"/>
              </a:solidFill>
              <a:effectLst/>
              <a:uLnTx/>
              <a:uFillTx/>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r>
              <a:rPr lang="en-US" altLang="en-US" i="1" dirty="0" smtClean="0">
                <a:solidFill>
                  <a:schemeClr val="bg1"/>
                </a:solidFill>
                <a:latin typeface="Arial" panose="020B0604020202020204" pitchFamily="34" charset="0"/>
                <a:cs typeface="Arial" panose="020B0604020202020204" pitchFamily="34" charset="0"/>
              </a:rPr>
              <a:t>YES</a:t>
            </a: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endParaRPr kumimoji="0" lang="en-US" altLang="en-US" sz="2000" b="0" i="1" u="none" strike="noStrike" kern="1200" cap="none" spc="0" normalizeH="0" baseline="0" dirty="0">
              <a:ln>
                <a:noFill/>
              </a:ln>
              <a:solidFill>
                <a:schemeClr val="bg1"/>
              </a:solidFill>
              <a:effectLst/>
              <a:uLnTx/>
              <a:uFillTx/>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r>
              <a:rPr lang="en-US" altLang="en-US" i="1" dirty="0" smtClean="0">
                <a:solidFill>
                  <a:schemeClr val="bg1"/>
                </a:solidFill>
                <a:latin typeface="Arial" panose="020B0604020202020204" pitchFamily="34" charset="0"/>
                <a:cs typeface="Arial" panose="020B0604020202020204" pitchFamily="34" charset="0"/>
              </a:rPr>
              <a:t>NO </a:t>
            </a: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endParaRPr kumimoji="0" lang="en-US" altLang="en-US" sz="2000" b="0" i="1" u="none" strike="noStrike" kern="1200" cap="none" spc="0" normalizeH="0" baseline="0" dirty="0">
              <a:ln>
                <a:noFill/>
              </a:ln>
              <a:solidFill>
                <a:schemeClr val="bg1"/>
              </a:solidFill>
              <a:effectLst/>
              <a:uLnTx/>
              <a:uFillTx/>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r>
              <a:rPr lang="en-US" altLang="en-US" i="1" dirty="0" smtClean="0">
                <a:solidFill>
                  <a:schemeClr val="bg1"/>
                </a:solidFill>
                <a:latin typeface="Arial" panose="020B0604020202020204" pitchFamily="34" charset="0"/>
                <a:cs typeface="Arial" panose="020B0604020202020204" pitchFamily="34" charset="0"/>
              </a:rPr>
              <a:t>NOT SURE</a:t>
            </a:r>
            <a:endParaRPr kumimoji="0" lang="en-US" altLang="en-US" sz="2000" b="0" i="1" u="none" strike="noStrike" kern="1200" cap="none" spc="0" normalizeH="0" baseline="0" dirty="0">
              <a:ln>
                <a:noFill/>
              </a:ln>
              <a:solidFill>
                <a:schemeClr val="bg1"/>
              </a:solidFill>
              <a:effectLst/>
              <a:uLnTx/>
              <a:uFillTx/>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99"/>
          </a:solidFill>
          <a:ln>
            <a:solidFill>
              <a:srgbClr val="000099"/>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ALE #1:</a:t>
            </a:r>
            <a:r>
              <a:rPr kumimoji="0" lang="en-US" altLang="en-US" sz="24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Is this a Case Study?</a:t>
            </a:r>
            <a:endParaRPr kumimoji="0" lang="en-US" altLang="en-US" sz="24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5399205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000099"/>
          </a:solidFill>
          <a:ln w="9525">
            <a:solidFill>
              <a:srgbClr val="000099"/>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a:lnSpc>
                <a:spcPct val="100000"/>
              </a:lnSpc>
              <a:spcBef>
                <a:spcPts val="0"/>
              </a:spcBef>
              <a:buClr>
                <a:srgbClr val="000000"/>
              </a:buClr>
              <a:buSzPct val="100000"/>
              <a:buNone/>
              <a:defRPr/>
            </a:pPr>
            <a:r>
              <a:rPr lang="en-US" altLang="en-US" i="1" dirty="0" smtClean="0">
                <a:solidFill>
                  <a:schemeClr val="bg1"/>
                </a:solidFill>
                <a:latin typeface="Arial" panose="020B0604020202020204" pitchFamily="34" charset="0"/>
                <a:cs typeface="Arial" panose="020B0604020202020204" pitchFamily="34" charset="0"/>
              </a:rPr>
              <a:t>Please confer to solve the following: (MM not </a:t>
            </a:r>
            <a:r>
              <a:rPr lang="en-US" altLang="en-US" i="1" dirty="0">
                <a:solidFill>
                  <a:schemeClr val="bg1"/>
                </a:solidFill>
                <a:latin typeface="Arial" panose="020B0604020202020204" pitchFamily="34" charset="0"/>
                <a:cs typeface="Arial" panose="020B0604020202020204" pitchFamily="34" charset="0"/>
              </a:rPr>
              <a:t>intended - show of hands):</a:t>
            </a:r>
            <a:endParaRPr lang="en-US" altLang="en-US" i="1" dirty="0" smtClean="0">
              <a:solidFill>
                <a:schemeClr val="bg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b="1" i="1" dirty="0" smtClean="0">
                <a:solidFill>
                  <a:schemeClr val="bg1"/>
                </a:solidFill>
                <a:latin typeface="Arial" panose="020B0604020202020204" pitchFamily="34" charset="0"/>
                <a:cs typeface="Arial" panose="020B0604020202020204" pitchFamily="34" charset="0"/>
              </a:rPr>
              <a:t>Situation: </a:t>
            </a:r>
            <a:r>
              <a:rPr lang="en-US" altLang="en-US" i="1" dirty="0" smtClean="0">
                <a:solidFill>
                  <a:schemeClr val="bg1"/>
                </a:solidFill>
                <a:latin typeface="Arial" panose="020B0604020202020204" pitchFamily="34" charset="0"/>
                <a:cs typeface="Arial" panose="020B0604020202020204" pitchFamily="34" charset="0"/>
              </a:rPr>
              <a:t>You are walking in your neighbourhood one day when a dog approaches you that seems friendly. </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i="1" dirty="0">
              <a:solidFill>
                <a:schemeClr val="bg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b="1" i="1" dirty="0" smtClean="0">
                <a:solidFill>
                  <a:schemeClr val="bg1"/>
                </a:solidFill>
                <a:latin typeface="Arial" panose="020B0604020202020204" pitchFamily="34" charset="0"/>
                <a:cs typeface="Arial" panose="020B0604020202020204" pitchFamily="34" charset="0"/>
              </a:rPr>
              <a:t>Issue: </a:t>
            </a:r>
            <a:r>
              <a:rPr lang="en-US" altLang="en-US" i="1" dirty="0" smtClean="0">
                <a:solidFill>
                  <a:schemeClr val="bg1"/>
                </a:solidFill>
                <a:latin typeface="Arial" panose="020B0604020202020204" pitchFamily="34" charset="0"/>
                <a:cs typeface="Arial" panose="020B0604020202020204" pitchFamily="34" charset="0"/>
              </a:rPr>
              <a:t>You observe that it is wearing a leash and collar, and on the collar is a dog tag with a number that looks like a phone number but you do not recognize it as an area code in your region.</a:t>
            </a:r>
            <a:endParaRPr lang="en-US" altLang="en-US" i="1" noProof="0" dirty="0" smtClean="0">
              <a:solidFill>
                <a:schemeClr val="bg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dirty="0" smtClean="0">
              <a:ln>
                <a:noFill/>
              </a:ln>
              <a:solidFill>
                <a:schemeClr val="bg1"/>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1" u="none" strike="noStrike" kern="1200" cap="none" spc="0" normalizeH="0" baseline="0" dirty="0" smtClean="0">
                <a:ln>
                  <a:noFill/>
                </a:ln>
                <a:solidFill>
                  <a:schemeClr val="bg1"/>
                </a:solidFill>
                <a:effectLst/>
                <a:uLnTx/>
                <a:uFillTx/>
                <a:latin typeface="Arial" panose="020B0604020202020204" pitchFamily="34" charset="0"/>
                <a:cs typeface="Arial" panose="020B0604020202020204" pitchFamily="34" charset="0"/>
              </a:rPr>
              <a:t>Problem: </a:t>
            </a:r>
            <a:r>
              <a:rPr kumimoji="0" lang="en-US" altLang="en-US" sz="2000" b="0" i="1" u="none" strike="noStrike" kern="1200" cap="none" spc="0" normalizeH="0" baseline="0" dirty="0" smtClean="0">
                <a:ln>
                  <a:noFill/>
                </a:ln>
                <a:solidFill>
                  <a:schemeClr val="bg1"/>
                </a:solidFill>
                <a:effectLst/>
                <a:uLnTx/>
                <a:uFillTx/>
                <a:latin typeface="Arial" panose="020B0604020202020204" pitchFamily="34" charset="0"/>
                <a:cs typeface="Arial" panose="020B0604020202020204" pitchFamily="34" charset="0"/>
              </a:rPr>
              <a:t>What do you do? </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dirty="0" smtClean="0">
              <a:ln>
                <a:noFill/>
              </a:ln>
              <a:solidFill>
                <a:schemeClr val="bg1"/>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i="1" dirty="0" smtClean="0">
                <a:solidFill>
                  <a:schemeClr val="bg1"/>
                </a:solidFill>
                <a:latin typeface="Arial" panose="020B0604020202020204" pitchFamily="34" charset="0"/>
                <a:cs typeface="Arial" panose="020B0604020202020204" pitchFamily="34" charset="0"/>
              </a:rPr>
              <a:t>Q: Is this a case study analysis?</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dirty="0">
              <a:ln>
                <a:noFill/>
              </a:ln>
              <a:solidFill>
                <a:schemeClr val="bg1"/>
              </a:solidFill>
              <a:effectLst/>
              <a:uLnTx/>
              <a:uFillTx/>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r>
              <a:rPr lang="en-US" altLang="en-US" i="1" dirty="0" smtClean="0">
                <a:solidFill>
                  <a:schemeClr val="bg1"/>
                </a:solidFill>
                <a:latin typeface="Arial" panose="020B0604020202020204" pitchFamily="34" charset="0"/>
                <a:cs typeface="Arial" panose="020B0604020202020204" pitchFamily="34" charset="0"/>
              </a:rPr>
              <a:t>YES</a:t>
            </a: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r>
              <a:rPr lang="en-US" altLang="en-US" i="1" dirty="0" smtClean="0">
                <a:solidFill>
                  <a:schemeClr val="bg1"/>
                </a:solidFill>
                <a:latin typeface="Arial" panose="020B0604020202020204" pitchFamily="34" charset="0"/>
                <a:cs typeface="Arial" panose="020B0604020202020204" pitchFamily="34" charset="0"/>
              </a:rPr>
              <a:t>NO </a:t>
            </a:r>
          </a:p>
          <a:p>
            <a:pPr marR="0" lvl="0" algn="l" defTabSz="914400" rtl="0" eaLnBrk="0" fontAlgn="base" latinLnBrk="0" hangingPunct="0">
              <a:lnSpc>
                <a:spcPct val="100000"/>
              </a:lnSpc>
              <a:spcBef>
                <a:spcPts val="0"/>
              </a:spcBef>
              <a:spcAft>
                <a:spcPct val="0"/>
              </a:spcAft>
              <a:buClrTx/>
              <a:buSzPct val="110000"/>
              <a:buFont typeface="Wingdings" panose="05000000000000000000" pitchFamily="2" charset="2"/>
              <a:buChar char="q"/>
              <a:tabLst/>
              <a:defRPr/>
            </a:pPr>
            <a:r>
              <a:rPr lang="en-US" altLang="en-US" i="1" dirty="0" smtClean="0">
                <a:solidFill>
                  <a:schemeClr val="bg1"/>
                </a:solidFill>
                <a:latin typeface="Arial" panose="020B0604020202020204" pitchFamily="34" charset="0"/>
                <a:cs typeface="Arial" panose="020B0604020202020204" pitchFamily="34" charset="0"/>
              </a:rPr>
              <a:t>NOT SURE</a:t>
            </a:r>
            <a:endParaRPr kumimoji="0" lang="en-US" altLang="en-US" sz="2000" b="0" i="1" u="none" strike="noStrike" kern="1200" cap="none" spc="0" normalizeH="0" baseline="0" dirty="0">
              <a:ln>
                <a:noFill/>
              </a:ln>
              <a:solidFill>
                <a:schemeClr val="bg1"/>
              </a:solidFill>
              <a:effectLst/>
              <a:uLnTx/>
              <a:uFillTx/>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99"/>
          </a:solidFill>
          <a:ln>
            <a:solidFill>
              <a:srgbClr val="000099"/>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ALE #2:</a:t>
            </a:r>
            <a:r>
              <a:rPr kumimoji="0" lang="en-US" altLang="en-US" sz="24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The Lost Dog - Is this a Case Study?</a:t>
            </a:r>
            <a:endParaRPr kumimoji="0" lang="en-US" altLang="en-US" sz="24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8096092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Your model of learning so far:</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 are an engineering student …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you are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very accustomed</a:t>
            </a:r>
            <a:r>
              <a:rPr lang="en-CA" altLang="en-US" dirty="0" smtClean="0">
                <a:solidFill>
                  <a:srgbClr val="000000"/>
                </a:solidFill>
                <a:latin typeface="Arial" panose="020B0604020202020204" pitchFamily="34" charset="0"/>
                <a:cs typeface="Arial" panose="020B0604020202020204" pitchFamily="34" charset="0"/>
              </a:rPr>
              <a:t>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seeking the right answer …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has been your education!</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lvl="1" indent="-457200" eaLnBrk="1" hangingPunct="1">
              <a:spcBef>
                <a:spcPts val="0"/>
              </a:spcBef>
              <a:buClr>
                <a:srgbClr val="000000"/>
              </a:buClr>
              <a:buFont typeface="Wingdings" panose="05000000000000000000" pitchFamily="2" charset="2"/>
              <a:buChar char="Ø"/>
            </a:pPr>
            <a:r>
              <a:rPr lang="en-US" altLang="en-US" sz="2000" dirty="0">
                <a:solidFill>
                  <a:srgbClr val="000000"/>
                </a:solidFill>
                <a:latin typeface="Arial" panose="020B0604020202020204" pitchFamily="34" charset="0"/>
              </a:rPr>
              <a:t>Now something new … </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problem with no </a:t>
            </a: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absolute right or wrong answers!</a:t>
            </a:r>
          </a:p>
          <a:p>
            <a:pPr marL="457200" lvl="1" indent="-457200" eaLnBrk="1" hangingPunct="1">
              <a:spcBef>
                <a:spcPts val="0"/>
              </a:spcBef>
              <a:buClr>
                <a:srgbClr val="000000"/>
              </a:buClr>
              <a:buFont typeface="Wingdings" panose="05000000000000000000" pitchFamily="2" charset="2"/>
              <a:buChar char="Ø"/>
            </a:pPr>
            <a:endParaRPr lang="en-US" altLang="en-US" sz="2000" dirty="0">
              <a:solidFill>
                <a:srgbClr val="000000"/>
              </a:solidFill>
              <a:latin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No Absolute Right or Wrong Answers!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41488684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000099"/>
          </a:solidFill>
          <a:ln w="9525">
            <a:solidFill>
              <a:srgbClr val="000099"/>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lang="en-US" altLang="en-US" i="1" dirty="0" smtClean="0">
                <a:solidFill>
                  <a:schemeClr val="bg1"/>
                </a:solidFill>
                <a:latin typeface="Arial" panose="020B0604020202020204" pitchFamily="34" charset="0"/>
                <a:cs typeface="Arial" panose="020B0604020202020204" pitchFamily="34" charset="0"/>
              </a:rPr>
              <a:t>Please confer to solve the following </a:t>
            </a:r>
            <a:r>
              <a:rPr lang="en-US" altLang="en-US" i="1" dirty="0" smtClean="0">
                <a:solidFill>
                  <a:schemeClr val="bg1"/>
                </a:solidFill>
                <a:latin typeface="Arial" panose="020B0604020202020204" pitchFamily="34" charset="0"/>
                <a:cs typeface="Arial" panose="020B0604020202020204" pitchFamily="34" charset="0"/>
              </a:rPr>
              <a:t>(Open discussion):</a:t>
            </a:r>
            <a:endParaRPr lang="en-US" altLang="en-US" i="1" dirty="0" smtClean="0">
              <a:solidFill>
                <a:schemeClr val="bg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1" u="none" strike="noStrike" kern="120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a:p>
            <a:pPr marL="0" lvl="0" indent="0">
              <a:lnSpc>
                <a:spcPct val="100000"/>
              </a:lnSpc>
              <a:spcBef>
                <a:spcPts val="0"/>
              </a:spcBef>
              <a:buClr>
                <a:srgbClr val="000000"/>
              </a:buClr>
              <a:buSzPct val="100000"/>
              <a:buNone/>
              <a:defRPr/>
            </a:pPr>
            <a:r>
              <a:rPr lang="en-US" altLang="en-US" b="1" i="1" dirty="0">
                <a:solidFill>
                  <a:schemeClr val="bg1"/>
                </a:solidFill>
                <a:latin typeface="Arial" panose="020B0604020202020204" pitchFamily="34" charset="0"/>
                <a:cs typeface="Arial" panose="020B0604020202020204" pitchFamily="34" charset="0"/>
              </a:rPr>
              <a:t>Situation: </a:t>
            </a:r>
            <a:r>
              <a:rPr lang="en-US" altLang="en-US" i="1" dirty="0">
                <a:solidFill>
                  <a:schemeClr val="bg1"/>
                </a:solidFill>
                <a:latin typeface="Arial" panose="020B0604020202020204" pitchFamily="34" charset="0"/>
                <a:cs typeface="Arial" panose="020B0604020202020204" pitchFamily="34" charset="0"/>
              </a:rPr>
              <a:t>You are walking in your neighbourhood one day when a dog approaches you that seems friendly. </a:t>
            </a:r>
          </a:p>
          <a:p>
            <a:pPr marL="0" lvl="0" indent="0">
              <a:lnSpc>
                <a:spcPct val="100000"/>
              </a:lnSpc>
              <a:spcBef>
                <a:spcPts val="0"/>
              </a:spcBef>
              <a:buClr>
                <a:srgbClr val="000000"/>
              </a:buClr>
              <a:buSzPct val="100000"/>
              <a:buNone/>
              <a:defRPr/>
            </a:pPr>
            <a:endParaRPr lang="en-US" altLang="en-US" i="1" dirty="0">
              <a:solidFill>
                <a:schemeClr val="bg1"/>
              </a:solidFill>
              <a:latin typeface="Arial" panose="020B0604020202020204" pitchFamily="34" charset="0"/>
              <a:cs typeface="Arial" panose="020B0604020202020204" pitchFamily="34" charset="0"/>
            </a:endParaRPr>
          </a:p>
          <a:p>
            <a:pPr marL="0" lvl="0" indent="0">
              <a:lnSpc>
                <a:spcPct val="100000"/>
              </a:lnSpc>
              <a:spcBef>
                <a:spcPts val="0"/>
              </a:spcBef>
              <a:buClr>
                <a:srgbClr val="000000"/>
              </a:buClr>
              <a:buSzPct val="100000"/>
              <a:buNone/>
              <a:defRPr/>
            </a:pPr>
            <a:r>
              <a:rPr lang="en-US" altLang="en-US" b="1" i="1" dirty="0">
                <a:solidFill>
                  <a:schemeClr val="bg1"/>
                </a:solidFill>
                <a:latin typeface="Arial" panose="020B0604020202020204" pitchFamily="34" charset="0"/>
                <a:cs typeface="Arial" panose="020B0604020202020204" pitchFamily="34" charset="0"/>
              </a:rPr>
              <a:t>Issue: </a:t>
            </a:r>
            <a:r>
              <a:rPr lang="en-US" altLang="en-US" i="1" dirty="0">
                <a:solidFill>
                  <a:schemeClr val="bg1"/>
                </a:solidFill>
                <a:latin typeface="Arial" panose="020B0604020202020204" pitchFamily="34" charset="0"/>
                <a:cs typeface="Arial" panose="020B0604020202020204" pitchFamily="34" charset="0"/>
              </a:rPr>
              <a:t>You observe that it is wearing a leash and collar, and on the collar is a dog tag with a number that looks like a phone number but you do not recognize it as an area code in your region.</a:t>
            </a:r>
          </a:p>
          <a:p>
            <a:pPr marL="0" lvl="0" indent="0">
              <a:lnSpc>
                <a:spcPct val="100000"/>
              </a:lnSpc>
              <a:spcBef>
                <a:spcPts val="0"/>
              </a:spcBef>
              <a:buClr>
                <a:srgbClr val="000000"/>
              </a:buClr>
              <a:buSzPct val="100000"/>
              <a:buNone/>
              <a:defRPr/>
            </a:pPr>
            <a:endParaRPr lang="en-US" altLang="en-US" sz="1800" i="1" dirty="0">
              <a:solidFill>
                <a:schemeClr val="bg1"/>
              </a:solidFill>
              <a:latin typeface="Arial" panose="020B0604020202020204" pitchFamily="34" charset="0"/>
              <a:cs typeface="Arial" panose="020B0604020202020204" pitchFamily="34" charset="0"/>
            </a:endParaRPr>
          </a:p>
          <a:p>
            <a:pPr marL="0" lvl="0" indent="0">
              <a:lnSpc>
                <a:spcPct val="100000"/>
              </a:lnSpc>
              <a:spcBef>
                <a:spcPts val="0"/>
              </a:spcBef>
              <a:buClr>
                <a:srgbClr val="000000"/>
              </a:buClr>
              <a:buSzPct val="100000"/>
              <a:buNone/>
              <a:defRPr/>
            </a:pPr>
            <a:r>
              <a:rPr lang="en-US" altLang="en-US" sz="1800" b="1" i="1" dirty="0">
                <a:solidFill>
                  <a:schemeClr val="bg1"/>
                </a:solidFill>
                <a:latin typeface="Arial" panose="020B0604020202020204" pitchFamily="34" charset="0"/>
                <a:cs typeface="Arial" panose="020B0604020202020204" pitchFamily="34" charset="0"/>
              </a:rPr>
              <a:t>Problem: </a:t>
            </a:r>
            <a:r>
              <a:rPr lang="en-US" altLang="en-US" sz="1800" i="1" dirty="0">
                <a:solidFill>
                  <a:schemeClr val="bg1"/>
                </a:solidFill>
                <a:latin typeface="Arial" panose="020B0604020202020204" pitchFamily="34" charset="0"/>
                <a:cs typeface="Arial" panose="020B0604020202020204" pitchFamily="34" charset="0"/>
              </a:rPr>
              <a:t>What do you do? </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i="1" dirty="0">
              <a:solidFill>
                <a:schemeClr val="bg1"/>
              </a:solidFill>
              <a:latin typeface="Arial" panose="020B0604020202020204" pitchFamily="34" charset="0"/>
              <a:cs typeface="Arial" panose="020B0604020202020204" pitchFamily="34" charset="0"/>
            </a:endParaRPr>
          </a:p>
          <a:p>
            <a:pPr marL="0" lvl="0" indent="0">
              <a:lnSpc>
                <a:spcPct val="100000"/>
              </a:lnSpc>
              <a:spcBef>
                <a:spcPts val="0"/>
              </a:spcBef>
              <a:buClr>
                <a:srgbClr val="000000"/>
              </a:buClr>
              <a:buSzPct val="100000"/>
              <a:buNone/>
              <a:defRPr/>
            </a:pPr>
            <a:r>
              <a:rPr kumimoji="0" lang="en-US" altLang="en-US" sz="2000" b="0" i="1" u="none" strike="noStrike" kern="1200" cap="none" spc="0" normalizeH="0" baseline="0" dirty="0" smtClean="0">
                <a:ln>
                  <a:noFill/>
                </a:ln>
                <a:solidFill>
                  <a:schemeClr val="bg1"/>
                </a:solidFill>
                <a:effectLst/>
                <a:uLnTx/>
                <a:uFillTx/>
                <a:latin typeface="Arial" panose="020B0604020202020204" pitchFamily="34" charset="0"/>
                <a:cs typeface="Arial" panose="020B0604020202020204" pitchFamily="34" charset="0"/>
              </a:rPr>
              <a:t>Before</a:t>
            </a:r>
            <a:r>
              <a:rPr kumimoji="0" lang="en-US" altLang="en-US" sz="2000" b="0" i="1" u="none" strike="noStrike" kern="1200" cap="none" spc="0" normalizeH="0" dirty="0" smtClean="0">
                <a:ln>
                  <a:noFill/>
                </a:ln>
                <a:solidFill>
                  <a:schemeClr val="bg1"/>
                </a:solidFill>
                <a:effectLst/>
                <a:uLnTx/>
                <a:uFillTx/>
                <a:latin typeface="Arial" panose="020B0604020202020204" pitchFamily="34" charset="0"/>
                <a:cs typeface="Arial" panose="020B0604020202020204" pitchFamily="34" charset="0"/>
              </a:rPr>
              <a:t> answering “What do you do?”, ask yourself what information you would use or you would need and what </a:t>
            </a:r>
            <a:r>
              <a:rPr kumimoji="0" lang="en-US" altLang="en-US" sz="2000" b="0" i="1" u="none" strike="noStrike" kern="1200" cap="none" spc="0" normalizeH="0" dirty="0" smtClean="0">
                <a:ln>
                  <a:noFill/>
                </a:ln>
                <a:solidFill>
                  <a:schemeClr val="bg1"/>
                </a:solidFill>
                <a:effectLst/>
                <a:uLnTx/>
                <a:uFillTx/>
                <a:latin typeface="Arial" panose="020B0604020202020204" pitchFamily="34" charset="0"/>
                <a:cs typeface="Arial" panose="020B0604020202020204" pitchFamily="34" charset="0"/>
              </a:rPr>
              <a:t>assumptions</a:t>
            </a:r>
            <a:r>
              <a:rPr lang="en-US" altLang="en-US" i="1" dirty="0" smtClean="0">
                <a:solidFill>
                  <a:schemeClr val="bg1"/>
                </a:solidFill>
                <a:latin typeface="Arial" panose="020B0604020202020204" pitchFamily="34" charset="0"/>
                <a:cs typeface="Arial" panose="020B0604020202020204" pitchFamily="34" charset="0"/>
              </a:rPr>
              <a:t> </a:t>
            </a:r>
            <a:r>
              <a:rPr lang="en-US" altLang="en-US" i="1" dirty="0">
                <a:solidFill>
                  <a:schemeClr val="bg1"/>
                </a:solidFill>
                <a:latin typeface="Arial" panose="020B0604020202020204" pitchFamily="34" charset="0"/>
                <a:cs typeface="Arial" panose="020B0604020202020204" pitchFamily="34" charset="0"/>
              </a:rPr>
              <a:t>you make </a:t>
            </a:r>
            <a:r>
              <a:rPr lang="en-US" altLang="en-US" i="1" dirty="0" smtClean="0">
                <a:solidFill>
                  <a:schemeClr val="bg1"/>
                </a:solidFill>
                <a:latin typeface="Arial" panose="020B0604020202020204" pitchFamily="34" charset="0"/>
                <a:cs typeface="Arial" panose="020B0604020202020204" pitchFamily="34" charset="0"/>
              </a:rPr>
              <a:t>in order to </a:t>
            </a:r>
            <a:r>
              <a:rPr lang="en-US" altLang="en-US" i="1" dirty="0">
                <a:solidFill>
                  <a:schemeClr val="bg1"/>
                </a:solidFill>
                <a:latin typeface="Arial" panose="020B0604020202020204" pitchFamily="34" charset="0"/>
                <a:cs typeface="Arial" panose="020B0604020202020204" pitchFamily="34" charset="0"/>
              </a:rPr>
              <a:t>come to a </a:t>
            </a:r>
            <a:r>
              <a:rPr lang="en-US" altLang="en-US" i="1" dirty="0" smtClean="0">
                <a:solidFill>
                  <a:schemeClr val="bg1"/>
                </a:solidFill>
                <a:latin typeface="Arial" panose="020B0604020202020204" pitchFamily="34" charset="0"/>
                <a:cs typeface="Arial" panose="020B0604020202020204" pitchFamily="34" charset="0"/>
              </a:rPr>
              <a:t>decision?</a:t>
            </a:r>
            <a:endParaRPr kumimoji="0" lang="en-US" altLang="en-US" sz="2000" b="0" i="1" u="none" strike="noStrike" kern="1200" cap="none" spc="0" normalizeH="0" dirty="0" smtClean="0">
              <a:ln>
                <a:noFill/>
              </a:ln>
              <a:solidFill>
                <a:schemeClr val="bg1"/>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i="1" baseline="0" dirty="0">
              <a:solidFill>
                <a:schemeClr val="bg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1" u="none" strike="noStrike" kern="1200" cap="none" spc="0" normalizeH="0" dirty="0" smtClean="0">
                <a:ln>
                  <a:noFill/>
                </a:ln>
                <a:solidFill>
                  <a:schemeClr val="bg1"/>
                </a:solidFill>
                <a:effectLst/>
                <a:uLnTx/>
                <a:uFillTx/>
                <a:latin typeface="Arial" panose="020B0604020202020204" pitchFamily="34" charset="0"/>
                <a:cs typeface="Arial" panose="020B0604020202020204" pitchFamily="34" charset="0"/>
              </a:rPr>
              <a:t>Please respond to “What information would you use or </a:t>
            </a:r>
            <a:r>
              <a:rPr lang="en-US" altLang="en-US" b="1" i="1" dirty="0" smtClean="0">
                <a:solidFill>
                  <a:schemeClr val="bg1"/>
                </a:solidFill>
                <a:latin typeface="Arial" panose="020B0604020202020204" pitchFamily="34" charset="0"/>
                <a:cs typeface="Arial" panose="020B0604020202020204" pitchFamily="34" charset="0"/>
              </a:rPr>
              <a:t>need </a:t>
            </a:r>
            <a:r>
              <a:rPr kumimoji="0" lang="en-US" altLang="en-US" sz="2000" b="1" i="1" u="none" strike="noStrike" kern="1200" cap="none" spc="0" normalizeH="0" dirty="0" smtClean="0">
                <a:ln>
                  <a:noFill/>
                </a:ln>
                <a:solidFill>
                  <a:schemeClr val="bg1"/>
                </a:solidFill>
                <a:effectLst/>
                <a:uLnTx/>
                <a:uFillTx/>
                <a:latin typeface="Arial" panose="020B0604020202020204" pitchFamily="34" charset="0"/>
                <a:cs typeface="Arial" panose="020B0604020202020204" pitchFamily="34" charset="0"/>
              </a:rPr>
              <a:t>to make a decision as to what to do about the lost dog?” on MM-Poll.</a:t>
            </a:r>
            <a:endParaRPr lang="en-US" altLang="en-US" b="1" i="1" baseline="0" dirty="0">
              <a:solidFill>
                <a:schemeClr val="bg1"/>
              </a:solidFill>
              <a:latin typeface="Arial" panose="020B0604020202020204" pitchFamily="34" charset="0"/>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99"/>
          </a:solidFill>
          <a:ln>
            <a:solidFill>
              <a:srgbClr val="000099"/>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ALE #3:</a:t>
            </a:r>
            <a:r>
              <a:rPr kumimoji="0" lang="en-US" altLang="en-US" sz="24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The Lost Dog</a:t>
            </a:r>
            <a:endParaRPr kumimoji="0" lang="en-US" altLang="en-US" sz="24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40451585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Why is there no absolute (right or wrong) answer? </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360000" lvl="0" indent="-360000">
              <a:spcBef>
                <a:spcPts val="0"/>
              </a:spcBef>
              <a:buSzPct val="100000"/>
              <a:buFont typeface="Wingdings" panose="05000000000000000000" pitchFamily="2" charset="2"/>
              <a:buChar char="Ø"/>
              <a:defRPr/>
            </a:pPr>
            <a:r>
              <a:rPr lang="en-US" altLang="en-US" sz="2000" dirty="0" smtClean="0">
                <a:solidFill>
                  <a:srgbClr val="F8F8F8"/>
                </a:solidFill>
                <a:latin typeface="Arial" panose="020B0604020202020204" pitchFamily="34" charset="0"/>
                <a:cs typeface="Arial" panose="020B0604020202020204" pitchFamily="34" charset="0"/>
              </a:rPr>
              <a:t>Is </a:t>
            </a:r>
            <a:r>
              <a:rPr lang="en-US" altLang="en-US" sz="2000" dirty="0">
                <a:solidFill>
                  <a:srgbClr val="F8F8F8"/>
                </a:solidFill>
                <a:latin typeface="Arial" panose="020B0604020202020204" pitchFamily="34" charset="0"/>
                <a:cs typeface="Arial" panose="020B0604020202020204" pitchFamily="34" charset="0"/>
              </a:rPr>
              <a:t>there one right and correct absolute answer as to what to do about the lost dog</a:t>
            </a:r>
            <a:r>
              <a:rPr lang="en-US" altLang="en-US" sz="2000" dirty="0" smtClean="0">
                <a:solidFill>
                  <a:srgbClr val="F8F8F8"/>
                </a:solidFill>
                <a:latin typeface="Arial" panose="020B0604020202020204" pitchFamily="34" charset="0"/>
                <a:cs typeface="Arial" panose="020B0604020202020204" pitchFamily="34" charset="0"/>
              </a:rPr>
              <a:t>?</a:t>
            </a:r>
            <a:endParaRPr lang="en-US" altLang="en-US" sz="2000" dirty="0">
              <a:solidFill>
                <a:srgbClr val="F8F8F8"/>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So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how do you respond with an </a:t>
            </a: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answer? </a:t>
            </a: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endParaRPr lang="en-CA" altLang="en-US" sz="2000" dirty="0">
              <a:solidFill>
                <a:srgbClr val="F8F8F8"/>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You make decisions based on:</a:t>
            </a:r>
          </a:p>
          <a:p>
            <a:pPr marL="720000" indent="-360000">
              <a:spcBef>
                <a:spcPts val="0"/>
              </a:spcBef>
              <a:buSzPct val="100000"/>
              <a:buFont typeface="Wingdings" panose="05000000000000000000" pitchFamily="2" charset="2"/>
              <a:buChar char="Ø"/>
              <a:defRPr/>
            </a:pPr>
            <a:r>
              <a:rPr lang="en-CA" altLang="en-US" sz="2000" dirty="0" smtClean="0">
                <a:solidFill>
                  <a:srgbClr val="F8F8F8"/>
                </a:solidFill>
                <a:latin typeface="Arial" panose="020B0604020202020204" pitchFamily="34" charset="0"/>
                <a:cs typeface="Arial" panose="020B0604020202020204" pitchFamily="34" charset="0"/>
              </a:rPr>
              <a:t>The information you have and the assumptions you make;</a:t>
            </a:r>
          </a:p>
          <a:p>
            <a:pPr marL="720000" indent="-360000">
              <a:spcBef>
                <a:spcPts val="0"/>
              </a:spcBef>
              <a:buSzPct val="100000"/>
              <a:buFont typeface="Wingdings" panose="05000000000000000000" pitchFamily="2" charset="2"/>
              <a:buChar char="Ø"/>
              <a:defRPr/>
            </a:pPr>
            <a:r>
              <a:rPr lang="en-CA" altLang="en-US" sz="2000" dirty="0" smtClean="0">
                <a:solidFill>
                  <a:srgbClr val="F8F8F8"/>
                </a:solidFill>
                <a:latin typeface="Arial" panose="020B0604020202020204" pitchFamily="34" charset="0"/>
                <a:cs typeface="Arial" panose="020B0604020202020204" pitchFamily="34" charset="0"/>
              </a:rPr>
              <a:t>Your </a:t>
            </a:r>
            <a:r>
              <a:rPr lang="en-CA" altLang="en-US" sz="2000" dirty="0">
                <a:solidFill>
                  <a:srgbClr val="F8F8F8"/>
                </a:solidFill>
                <a:latin typeface="Arial" panose="020B0604020202020204" pitchFamily="34" charset="0"/>
                <a:cs typeface="Arial" panose="020B0604020202020204" pitchFamily="34" charset="0"/>
              </a:rPr>
              <a:t>personal experience and education i.e. what you have learned about what to do in the same or similar experiences;</a:t>
            </a:r>
          </a:p>
          <a:p>
            <a:pPr marL="720000" indent="-360000">
              <a:spcBef>
                <a:spcPts val="0"/>
              </a:spcBef>
              <a:buSzPct val="100000"/>
              <a:buFont typeface="Wingdings" panose="05000000000000000000" pitchFamily="2" charset="2"/>
              <a:buChar char="Ø"/>
              <a:defRPr/>
            </a:pPr>
            <a:r>
              <a:rPr lang="en-CA" altLang="en-US" sz="2000" dirty="0">
                <a:solidFill>
                  <a:srgbClr val="F8F8F8"/>
                </a:solidFill>
                <a:latin typeface="Arial" panose="020B0604020202020204" pitchFamily="34" charset="0"/>
                <a:cs typeface="Arial" panose="020B0604020202020204" pitchFamily="34" charset="0"/>
              </a:rPr>
              <a:t>You adapt your cultural processes to guide you in making a decision i.e. what is an </a:t>
            </a:r>
            <a:r>
              <a:rPr lang="en-CA" altLang="en-US" sz="2000" dirty="0" smtClean="0">
                <a:solidFill>
                  <a:srgbClr val="F8F8F8"/>
                </a:solidFill>
                <a:latin typeface="Arial" panose="020B0604020202020204" pitchFamily="34" charset="0"/>
                <a:cs typeface="Arial" panose="020B0604020202020204" pitchFamily="34" charset="0"/>
              </a:rPr>
              <a:t>acceptable and appropriate </a:t>
            </a:r>
            <a:r>
              <a:rPr lang="en-CA" altLang="en-US" sz="2000" dirty="0">
                <a:solidFill>
                  <a:srgbClr val="F8F8F8"/>
                </a:solidFill>
                <a:latin typeface="Arial" panose="020B0604020202020204" pitchFamily="34" charset="0"/>
                <a:cs typeface="Arial" panose="020B0604020202020204" pitchFamily="34" charset="0"/>
              </a:rPr>
              <a:t>thing to do?</a:t>
            </a:r>
          </a:p>
          <a:p>
            <a:pPr marL="720000" indent="-360000">
              <a:spcBef>
                <a:spcPts val="0"/>
              </a:spcBef>
              <a:buSzPct val="100000"/>
              <a:buFont typeface="Wingdings" panose="05000000000000000000" pitchFamily="2" charset="2"/>
              <a:buChar char="Ø"/>
              <a:defRPr/>
            </a:pPr>
            <a:r>
              <a:rPr lang="en-CA" altLang="en-US" sz="2000" dirty="0">
                <a:solidFill>
                  <a:srgbClr val="F8F8F8"/>
                </a:solidFill>
                <a:latin typeface="Arial" panose="020B0604020202020204" pitchFamily="34" charset="0"/>
                <a:cs typeface="Arial" panose="020B0604020202020204" pitchFamily="34" charset="0"/>
              </a:rPr>
              <a:t>You comply with your cultural rules in making a decision i.e. what does my culture say I should or must do?</a:t>
            </a:r>
          </a:p>
          <a:p>
            <a:pPr marL="360000" indent="-360000">
              <a:spcBef>
                <a:spcPts val="0"/>
              </a:spcBef>
              <a:buSzPct val="100000"/>
              <a:buFont typeface="Wingdings" panose="05000000000000000000" pitchFamily="2" charset="2"/>
              <a:buChar char="Ø"/>
              <a:defRPr/>
            </a:pPr>
            <a:endParaRPr lang="en-CA" altLang="en-US" sz="2000" dirty="0" smtClean="0">
              <a:solidFill>
                <a:srgbClr val="F8F8F8"/>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750497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Same Applies</a:t>
            </a:r>
            <a:r>
              <a:rPr kumimoji="0" lang="en-CA" altLang="en-US" sz="2400" b="0" i="0" u="none" strike="noStrike" kern="1200" cap="none" spc="0" normalizeH="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in Risk Management Case Studies</a:t>
            </a:r>
            <a:endPar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360000" indent="-360000">
              <a:spcBef>
                <a:spcPts val="0"/>
              </a:spcBef>
              <a:buSzPct val="100000"/>
              <a:buFont typeface="Wingdings" panose="05000000000000000000" pitchFamily="2" charset="2"/>
              <a:buChar char="Ø"/>
              <a:defRPr/>
            </a:pPr>
            <a:r>
              <a:rPr lang="en-CA" altLang="en-US" sz="2000" dirty="0" smtClean="0">
                <a:solidFill>
                  <a:srgbClr val="F8F8F8"/>
                </a:solidFill>
                <a:latin typeface="Arial" panose="020B0604020202020204" pitchFamily="34" charset="0"/>
                <a:cs typeface="Arial" panose="020B0604020202020204" pitchFamily="34" charset="0"/>
              </a:rPr>
              <a:t>No </a:t>
            </a:r>
            <a:r>
              <a:rPr lang="en-CA" altLang="en-US" sz="2000" dirty="0">
                <a:solidFill>
                  <a:srgbClr val="F8F8F8"/>
                </a:solidFill>
                <a:latin typeface="Arial" panose="020B0604020202020204" pitchFamily="34" charset="0"/>
                <a:cs typeface="Arial" panose="020B0604020202020204" pitchFamily="34" charset="0"/>
              </a:rPr>
              <a:t>engineering formulae in </a:t>
            </a:r>
            <a:r>
              <a:rPr lang="en-US" altLang="en-US" sz="2000" dirty="0">
                <a:solidFill>
                  <a:srgbClr val="F8F8F8"/>
                </a:solidFill>
                <a:latin typeface="Arial" panose="020B0604020202020204" pitchFamily="34" charset="0"/>
                <a:cs typeface="Arial" panose="020B0604020202020204" pitchFamily="34" charset="0"/>
              </a:rPr>
              <a:t>Chapter 1.1 Case Study Methodology</a:t>
            </a:r>
            <a:endParaRPr lang="en-CA" altLang="en-US" sz="2000" dirty="0">
              <a:solidFill>
                <a:srgbClr val="F8F8F8"/>
              </a:solidFill>
              <a:latin typeface="Arial" panose="020B0604020202020204" pitchFamily="34" charset="0"/>
              <a:cs typeface="Arial" panose="020B0604020202020204" pitchFamily="34" charset="0"/>
            </a:endParaRPr>
          </a:p>
          <a:p>
            <a:pPr marL="360000" lvl="0" indent="-360000">
              <a:spcBef>
                <a:spcPts val="0"/>
              </a:spcBef>
              <a:buSzPct val="100000"/>
              <a:buFont typeface="Wingdings" panose="05000000000000000000" pitchFamily="2" charset="2"/>
              <a:buChar char="Ø"/>
              <a:defRPr/>
            </a:pPr>
            <a:endParaRPr lang="en-US" altLang="en-US" sz="2000" dirty="0" smtClean="0">
              <a:solidFill>
                <a:srgbClr val="F8F8F8"/>
              </a:solidFill>
              <a:latin typeface="Arial" panose="020B0604020202020204" pitchFamily="34" charset="0"/>
              <a:cs typeface="Arial" panose="020B0604020202020204" pitchFamily="34" charset="0"/>
            </a:endParaRPr>
          </a:p>
          <a:p>
            <a:pPr marL="360000" lvl="0" indent="-360000">
              <a:spcBef>
                <a:spcPts val="0"/>
              </a:spcBef>
              <a:buSzPct val="100000"/>
              <a:buFont typeface="Wingdings" panose="05000000000000000000" pitchFamily="2" charset="2"/>
              <a:buChar char="Ø"/>
              <a:defRPr/>
            </a:pPr>
            <a:r>
              <a:rPr lang="en-US" altLang="en-US" sz="2000" dirty="0" smtClean="0">
                <a:solidFill>
                  <a:srgbClr val="F8F8F8"/>
                </a:solidFill>
                <a:latin typeface="Arial" panose="020B0604020202020204" pitchFamily="34" charset="0"/>
                <a:cs typeface="Arial" panose="020B0604020202020204" pitchFamily="34" charset="0"/>
              </a:rPr>
              <a:t>No one </a:t>
            </a:r>
            <a:r>
              <a:rPr lang="en-US" altLang="en-US" sz="2000" dirty="0">
                <a:solidFill>
                  <a:srgbClr val="F8F8F8"/>
                </a:solidFill>
                <a:latin typeface="Arial" panose="020B0604020202020204" pitchFamily="34" charset="0"/>
                <a:cs typeface="Arial" panose="020B0604020202020204" pitchFamily="34" charset="0"/>
              </a:rPr>
              <a:t>right and correct absolute answer as to what to do about </a:t>
            </a:r>
            <a:r>
              <a:rPr lang="en-US" altLang="en-US" sz="2000" dirty="0" smtClean="0">
                <a:solidFill>
                  <a:srgbClr val="F8F8F8"/>
                </a:solidFill>
                <a:latin typeface="Arial" panose="020B0604020202020204" pitchFamily="34" charset="0"/>
                <a:cs typeface="Arial" panose="020B0604020202020204" pitchFamily="34" charset="0"/>
              </a:rPr>
              <a:t>any particular situation … because, just like the lost dog …</a:t>
            </a:r>
            <a:endParaRPr lang="en-US" altLang="en-US" sz="2000" dirty="0">
              <a:solidFill>
                <a:srgbClr val="F8F8F8"/>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Your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situation: Incomplete, inconsistent, conflicting information, different perspectives, knowledge expertise, and base priorities.</a:t>
            </a:r>
          </a:p>
          <a:p>
            <a:pPr marL="72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Real situations in the workplace!</a:t>
            </a:r>
          </a:p>
          <a:p>
            <a:pPr marL="432000" marR="0" lvl="0" indent="-432000" algn="l" defTabSz="914400" rtl="0" eaLnBrk="0" fontAlgn="base" latinLnBrk="0" hangingPunct="0">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So how do you respond with an </a:t>
            </a: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answer?</a:t>
            </a: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endParaRPr lang="en-CA" altLang="en-US" sz="2000" dirty="0">
              <a:solidFill>
                <a:srgbClr val="F8F8F8"/>
              </a:solidFill>
              <a:latin typeface="Arial" panose="020B0604020202020204" pitchFamily="34" charset="0"/>
              <a:cs typeface="Arial" panose="020B0604020202020204" pitchFamily="34" charset="0"/>
            </a:endParaRPr>
          </a:p>
          <a:p>
            <a:pPr marL="360000" indent="-360000">
              <a:spcBef>
                <a:spcPts val="0"/>
              </a:spcBef>
              <a:buSzPct val="100000"/>
              <a:buFont typeface="Wingdings" panose="05000000000000000000" pitchFamily="2" charset="2"/>
              <a:buChar char="Ø"/>
              <a:defRPr/>
            </a:pPr>
            <a:r>
              <a:rPr lang="en-CA" altLang="en-US" sz="2000" dirty="0">
                <a:solidFill>
                  <a:srgbClr val="F8F8F8"/>
                </a:solidFill>
                <a:latin typeface="Arial" panose="020B0604020202020204" pitchFamily="34" charset="0"/>
                <a:cs typeface="Arial" panose="020B0604020202020204" pitchFamily="34" charset="0"/>
              </a:rPr>
              <a:t>Your answer must be supported with sound application of methodologies, and sound rationale consistent with good risk </a:t>
            </a:r>
            <a:r>
              <a:rPr lang="en-CA" altLang="en-US" sz="2000" dirty="0" smtClean="0">
                <a:solidFill>
                  <a:srgbClr val="F8F8F8"/>
                </a:solidFill>
                <a:latin typeface="Arial" panose="020B0604020202020204" pitchFamily="34" charset="0"/>
                <a:cs typeface="Arial" panose="020B0604020202020204" pitchFamily="34" charset="0"/>
              </a:rPr>
              <a:t>management</a:t>
            </a:r>
            <a:r>
              <a:rPr lang="en-CA" altLang="en-US" sz="2000" dirty="0">
                <a:solidFill>
                  <a:srgbClr val="F8F8F8"/>
                </a:solidFill>
                <a:latin typeface="Arial" panose="020B0604020202020204" pitchFamily="34" charset="0"/>
                <a:cs typeface="Arial" panose="020B0604020202020204" pitchFamily="34" charset="0"/>
              </a:rPr>
              <a:t> </a:t>
            </a:r>
            <a:r>
              <a:rPr lang="en-CA" altLang="en-US" sz="2000" dirty="0" smtClean="0">
                <a:solidFill>
                  <a:srgbClr val="F8F8F8"/>
                </a:solidFill>
                <a:latin typeface="Arial" panose="020B0604020202020204" pitchFamily="34" charset="0"/>
                <a:cs typeface="Arial" panose="020B0604020202020204" pitchFamily="34" charset="0"/>
              </a:rPr>
              <a:t>i.e. your experiences, your education and training, and the rules and processes of risk management culture!</a:t>
            </a:r>
            <a:endParaRPr lang="en-CA" altLang="en-US" sz="2000" dirty="0">
              <a:solidFill>
                <a:srgbClr val="F8F8F8"/>
              </a:solidFill>
              <a:latin typeface="Arial" panose="020B0604020202020204" pitchFamily="34" charset="0"/>
              <a:cs typeface="Arial" panose="020B0604020202020204" pitchFamily="34" charset="0"/>
            </a:endParaRPr>
          </a:p>
          <a:p>
            <a:pPr marL="0" marR="0" lvl="0" indent="0" algn="l" defTabSz="914400" rtl="0" eaLnBrk="0" fontAlgn="base" latinLnBrk="0" hangingPunct="0">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0332164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Expect to Apply </a:t>
            </a: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1.1 Case Study Methodology</a:t>
            </a:r>
            <a:endPar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0" marR="0" lvl="0" indent="0" algn="l" defTabSz="914400" rtl="0" eaLnBrk="0" fontAlgn="base" latinLnBrk="0" hangingPunct="0">
              <a:spcBef>
                <a:spcPts val="0"/>
              </a:spcBef>
              <a:spcAft>
                <a:spcPct val="0"/>
              </a:spcAft>
              <a:buClr>
                <a:srgbClr val="000000"/>
              </a:buClr>
              <a:buSzPct val="100000"/>
              <a:buFontTx/>
              <a:buNone/>
              <a:tabLst/>
              <a:defRPr/>
            </a:pPr>
            <a:r>
              <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In this course:</a:t>
            </a:r>
          </a:p>
          <a:p>
            <a:pPr marL="0" marR="0" lvl="0" indent="0" algn="l" defTabSz="914400" rtl="0" eaLnBrk="0" fontAlgn="base" latinLnBrk="0" hangingPunct="0">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Recall any the recent incident in the news …</a:t>
            </a: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Put yourselves in the role as the decision maker …</a:t>
            </a:r>
            <a:b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b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Before the loss incident happened, would you have scaled back on …? </a:t>
            </a:r>
            <a:b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(training, maintenance, upgrades, emergency planning, ??)</a:t>
            </a: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What else could you have done in that situation?</a:t>
            </a:r>
          </a:p>
        </p:txBody>
      </p:sp>
    </p:spTree>
    <p:extLst>
      <p:ext uri="{BB962C8B-B14F-4D97-AF65-F5344CB8AC3E}">
        <p14:creationId xmlns:p14="http://schemas.microsoft.com/office/powerpoint/2010/main" val="337649042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ALE #4: So, What </a:t>
            </a:r>
            <a:r>
              <a:rPr lang="en-US" altLang="en-US" sz="2400" dirty="0" smtClean="0">
                <a:solidFill>
                  <a:srgbClr val="FFFFFF"/>
                </a:solidFill>
                <a:latin typeface="Arial" panose="020B0604020202020204" pitchFamily="34" charset="0"/>
                <a:ea typeface="+mn-ea"/>
                <a:cs typeface="Arial" panose="020B0604020202020204" pitchFamily="34" charset="0"/>
              </a:rPr>
              <a:t>Is A “Case Study”?</a:t>
            </a:r>
            <a:endPar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ctr" defTabSz="914400" rtl="0" eaLnBrk="0" fontAlgn="base" latinLnBrk="0" hangingPunct="0">
              <a:lnSpc>
                <a:spcPct val="100000"/>
              </a:lnSpc>
              <a:spcBef>
                <a:spcPts val="0"/>
              </a:spcBef>
              <a:spcAft>
                <a:spcPct val="0"/>
              </a:spcAft>
              <a:buClr>
                <a:srgbClr val="000000"/>
              </a:buClr>
              <a:buSzPct val="100000"/>
              <a:buNone/>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2" name="TextBox 1"/>
          <p:cNvSpPr txBox="1"/>
          <p:nvPr/>
        </p:nvSpPr>
        <p:spPr>
          <a:xfrm>
            <a:off x="180000" y="828000"/>
            <a:ext cx="8640000" cy="5328000"/>
          </a:xfrm>
          <a:prstGeom prst="rect">
            <a:avLst/>
          </a:prstGeom>
          <a:solidFill>
            <a:srgbClr val="0000FF"/>
          </a:solidFill>
          <a:ln>
            <a:solidFill>
              <a:srgbClr val="0000FF"/>
            </a:solidFill>
          </a:ln>
        </p:spPr>
        <p:txBody>
          <a:bodyPr wrap="square" rtlCol="0">
            <a:noAutofit/>
          </a:bodyPr>
          <a:lstStyle/>
          <a:p>
            <a:r>
              <a:rPr lang="en-US" sz="2000" i="1" dirty="0" smtClean="0">
                <a:solidFill>
                  <a:schemeClr val="bg1"/>
                </a:solidFill>
                <a:latin typeface="Arial" panose="020B0604020202020204" pitchFamily="34" charset="0"/>
                <a:cs typeface="Arial" panose="020B0604020202020204" pitchFamily="34" charset="0"/>
              </a:rPr>
              <a:t>Please confer and respond on MM-Scales (as </a:t>
            </a:r>
            <a:r>
              <a:rPr lang="en-US" sz="2000" i="1" dirty="0">
                <a:solidFill>
                  <a:schemeClr val="bg1"/>
                </a:solidFill>
                <a:latin typeface="Arial" panose="020B0604020202020204" pitchFamily="34" charset="0"/>
                <a:cs typeface="Arial" panose="020B0604020202020204" pitchFamily="34" charset="0"/>
              </a:rPr>
              <a:t>“… </a:t>
            </a:r>
            <a:r>
              <a:rPr lang="en-US" sz="2000" i="1" dirty="0" smtClean="0">
                <a:solidFill>
                  <a:schemeClr val="bg1"/>
                </a:solidFill>
                <a:latin typeface="Arial" panose="020B0604020202020204" pitchFamily="34" charset="0"/>
                <a:cs typeface="Arial" panose="020B0604020202020204" pitchFamily="34" charset="0"/>
              </a:rPr>
              <a:t>IS” </a:t>
            </a:r>
            <a:r>
              <a:rPr lang="en-US" sz="2000" i="1" dirty="0">
                <a:solidFill>
                  <a:schemeClr val="bg1"/>
                </a:solidFill>
                <a:latin typeface="Arial" panose="020B0604020202020204" pitchFamily="34" charset="0"/>
                <a:cs typeface="Arial" panose="020B0604020202020204" pitchFamily="34" charset="0"/>
              </a:rPr>
              <a:t>or “… IS </a:t>
            </a:r>
            <a:r>
              <a:rPr lang="en-US" sz="2000" i="1" dirty="0" smtClean="0">
                <a:solidFill>
                  <a:schemeClr val="bg1"/>
                </a:solidFill>
                <a:latin typeface="Arial" panose="020B0604020202020204" pitchFamily="34" charset="0"/>
                <a:cs typeface="Arial" panose="020B0604020202020204" pitchFamily="34" charset="0"/>
              </a:rPr>
              <a:t>NOT”:</a:t>
            </a:r>
            <a:endParaRPr lang="en-US" sz="2000" i="1" dirty="0">
              <a:solidFill>
                <a:schemeClr val="bg1"/>
              </a:solidFill>
              <a:latin typeface="Arial" panose="020B0604020202020204" pitchFamily="34" charset="0"/>
              <a:cs typeface="Arial" panose="020B0604020202020204" pitchFamily="34" charset="0"/>
            </a:endParaRPr>
          </a:p>
          <a:p>
            <a:pPr marL="342900" indent="-342900">
              <a:buSzPct val="120000"/>
              <a:buFont typeface="Wingdings" panose="05000000000000000000" pitchFamily="2" charset="2"/>
              <a:buChar char="q"/>
            </a:pPr>
            <a:r>
              <a:rPr lang="en-US" sz="2000" i="1" dirty="0">
                <a:solidFill>
                  <a:schemeClr val="bg1"/>
                </a:solidFill>
                <a:latin typeface="Arial" panose="020B0604020202020204" pitchFamily="34" charset="0"/>
                <a:cs typeface="Arial" panose="020B0604020202020204" pitchFamily="34" charset="0"/>
              </a:rPr>
              <a:t>… incomplete; it has some but not all of the information necessary to make a decision.</a:t>
            </a:r>
          </a:p>
          <a:p>
            <a:pPr marL="342900" indent="-342900">
              <a:buSzPct val="120000"/>
              <a:buFont typeface="Wingdings" panose="05000000000000000000" pitchFamily="2" charset="2"/>
              <a:buChar char="q"/>
            </a:pPr>
            <a:r>
              <a:rPr lang="en-US" sz="2000" i="1" dirty="0">
                <a:solidFill>
                  <a:schemeClr val="bg1"/>
                </a:solidFill>
                <a:latin typeface="Arial" panose="020B0604020202020204" pitchFamily="34" charset="0"/>
                <a:cs typeface="Arial" panose="020B0604020202020204" pitchFamily="34" charset="0"/>
              </a:rPr>
              <a:t>… written such that no preparation is required to accommodate a heavy engineering school schedule. </a:t>
            </a:r>
          </a:p>
          <a:p>
            <a:pPr marL="342900" indent="-342900">
              <a:buSzPct val="120000"/>
              <a:buFont typeface="Wingdings" panose="05000000000000000000" pitchFamily="2" charset="2"/>
              <a:buChar char="q"/>
            </a:pPr>
            <a:r>
              <a:rPr lang="en-US" sz="2000" i="1" dirty="0">
                <a:solidFill>
                  <a:schemeClr val="bg1"/>
                </a:solidFill>
                <a:latin typeface="Arial" panose="020B0604020202020204" pitchFamily="34" charset="0"/>
                <a:cs typeface="Arial" panose="020B0604020202020204" pitchFamily="34" charset="0"/>
              </a:rPr>
              <a:t>… designed such that you will be asked to make a decision.</a:t>
            </a:r>
          </a:p>
          <a:p>
            <a:pPr marL="342900" indent="-342900">
              <a:buSzPct val="120000"/>
              <a:buFont typeface="Wingdings" panose="05000000000000000000" pitchFamily="2" charset="2"/>
              <a:buChar char="q"/>
            </a:pPr>
            <a:r>
              <a:rPr lang="en-US" sz="2000" i="1" dirty="0">
                <a:solidFill>
                  <a:schemeClr val="bg1"/>
                </a:solidFill>
                <a:latin typeface="Arial" panose="020B0604020202020204" pitchFamily="34" charset="0"/>
                <a:cs typeface="Arial" panose="020B0604020202020204" pitchFamily="34" charset="0"/>
              </a:rPr>
              <a:t>… missing </a:t>
            </a:r>
            <a:r>
              <a:rPr lang="en-US" sz="2000" i="1" dirty="0" smtClean="0">
                <a:solidFill>
                  <a:schemeClr val="bg1"/>
                </a:solidFill>
                <a:latin typeface="Arial" panose="020B0604020202020204" pitchFamily="34" charset="0"/>
                <a:cs typeface="Arial" panose="020B0604020202020204" pitchFamily="34" charset="0"/>
              </a:rPr>
              <a:t>leadership </a:t>
            </a:r>
            <a:r>
              <a:rPr lang="en-US" sz="2000" i="1" dirty="0">
                <a:solidFill>
                  <a:schemeClr val="bg1"/>
                </a:solidFill>
                <a:latin typeface="Arial" panose="020B0604020202020204" pitchFamily="34" charset="0"/>
                <a:cs typeface="Arial" panose="020B0604020202020204" pitchFamily="34" charset="0"/>
              </a:rPr>
              <a:t>and/or engineering concepts. </a:t>
            </a:r>
          </a:p>
          <a:p>
            <a:pPr marL="342900" indent="-342900">
              <a:buSzPct val="120000"/>
              <a:buFont typeface="Wingdings" panose="05000000000000000000" pitchFamily="2" charset="2"/>
              <a:buChar char="q"/>
            </a:pPr>
            <a:r>
              <a:rPr lang="en-US" sz="2000" i="1" dirty="0">
                <a:solidFill>
                  <a:schemeClr val="bg1"/>
                </a:solidFill>
                <a:latin typeface="Arial" panose="020B0604020202020204" pitchFamily="34" charset="0"/>
                <a:cs typeface="Arial" panose="020B0604020202020204" pitchFamily="34" charset="0"/>
              </a:rPr>
              <a:t>.. a story, a narrative of some event, some situation with issues and concerns.</a:t>
            </a:r>
          </a:p>
          <a:p>
            <a:pPr marL="342900" indent="-342900">
              <a:buSzPct val="120000"/>
              <a:buFont typeface="Wingdings" panose="05000000000000000000" pitchFamily="2" charset="2"/>
              <a:buChar char="q"/>
            </a:pPr>
            <a:r>
              <a:rPr lang="en-US" sz="2000" i="1" dirty="0">
                <a:solidFill>
                  <a:schemeClr val="bg1"/>
                </a:solidFill>
                <a:latin typeface="Arial" panose="020B0604020202020204" pitchFamily="34" charset="0"/>
                <a:cs typeface="Arial" panose="020B0604020202020204" pitchFamily="34" charset="0"/>
              </a:rPr>
              <a:t>… an example or model of the best way to solve a leadership problem.</a:t>
            </a:r>
          </a:p>
          <a:p>
            <a:pPr marL="342900" indent="-342900">
              <a:buSzPct val="120000"/>
              <a:buFont typeface="Wingdings" panose="05000000000000000000" pitchFamily="2" charset="2"/>
              <a:buChar char="q"/>
            </a:pPr>
            <a:r>
              <a:rPr lang="en-US" sz="2000" i="1" dirty="0">
                <a:solidFill>
                  <a:schemeClr val="bg1"/>
                </a:solidFill>
                <a:latin typeface="Arial" panose="020B0604020202020204" pitchFamily="34" charset="0"/>
                <a:cs typeface="Arial" panose="020B0604020202020204" pitchFamily="34" charset="0"/>
              </a:rPr>
              <a:t>… based on real experience, although specifics may be changed to “fit” the lesson and/or protect confidentiality.</a:t>
            </a:r>
          </a:p>
          <a:p>
            <a:pPr marL="342900" indent="-342900">
              <a:buSzPct val="120000"/>
              <a:buFont typeface="Wingdings" panose="05000000000000000000" pitchFamily="2" charset="2"/>
              <a:buChar char="q"/>
            </a:pPr>
            <a:r>
              <a:rPr lang="en-US" sz="2000" i="1" dirty="0">
                <a:solidFill>
                  <a:schemeClr val="bg1"/>
                </a:solidFill>
                <a:latin typeface="Arial" panose="020B0604020202020204" pitchFamily="34" charset="0"/>
                <a:cs typeface="Arial" panose="020B0604020202020204" pitchFamily="34" charset="0"/>
              </a:rPr>
              <a:t>… written such that it can lead to one and only one “right” solution or decision.</a:t>
            </a:r>
          </a:p>
          <a:p>
            <a:pPr marL="342900" indent="-342900">
              <a:buSzPct val="120000"/>
              <a:buFont typeface="Wingdings" panose="05000000000000000000" pitchFamily="2" charset="2"/>
              <a:buChar char="q"/>
            </a:pPr>
            <a:r>
              <a:rPr lang="en-US" sz="2000" i="1" dirty="0">
                <a:solidFill>
                  <a:schemeClr val="bg1"/>
                </a:solidFill>
                <a:latin typeface="Arial" panose="020B0604020202020204" pitchFamily="34" charset="0"/>
                <a:cs typeface="Arial" panose="020B0604020202020204" pitchFamily="34" charset="0"/>
              </a:rPr>
              <a:t>… intended for the student to learn a concept, a methodology, or a competency.</a:t>
            </a:r>
          </a:p>
          <a:p>
            <a:pPr marL="342900" indent="-342900">
              <a:buSzPct val="120000"/>
              <a:buFont typeface="Wingdings" panose="05000000000000000000" pitchFamily="2" charset="2"/>
              <a:buChar char="q"/>
            </a:pPr>
            <a:r>
              <a:rPr lang="en-US" sz="2000" i="1" dirty="0">
                <a:solidFill>
                  <a:schemeClr val="bg1"/>
                </a:solidFill>
                <a:latin typeface="Arial" panose="020B0604020202020204" pitchFamily="34" charset="0"/>
                <a:cs typeface="Arial" panose="020B0604020202020204" pitchFamily="34" charset="0"/>
              </a:rPr>
              <a:t>… entirely made up. </a:t>
            </a:r>
            <a:endParaRPr lang="en-US" sz="1600"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920540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chemeClr val="tx1"/>
          </a:solidFill>
          <a:ln>
            <a:solidFill>
              <a:schemeClr val="tx1"/>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en-US" sz="2400" dirty="0" smtClean="0">
                <a:solidFill>
                  <a:srgbClr val="FFFFFF"/>
                </a:solidFill>
                <a:latin typeface="Arial" panose="020B0604020202020204" pitchFamily="34" charset="0"/>
                <a:ea typeface="+mn-ea"/>
                <a:cs typeface="Arial" panose="020B0604020202020204" pitchFamily="34" charset="0"/>
              </a:rPr>
              <a:t>A “Case Study” is / is not:</a:t>
            </a:r>
            <a:endPar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ctr" defTabSz="914400" rtl="0" eaLnBrk="0" fontAlgn="base" latinLnBrk="0" hangingPunct="0">
              <a:lnSpc>
                <a:spcPct val="100000"/>
              </a:lnSpc>
              <a:spcBef>
                <a:spcPts val="0"/>
              </a:spcBef>
              <a:spcAft>
                <a:spcPct val="0"/>
              </a:spcAft>
              <a:buClr>
                <a:srgbClr val="000000"/>
              </a:buClr>
              <a:buSzPct val="100000"/>
              <a:buNone/>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68997694"/>
              </p:ext>
            </p:extLst>
          </p:nvPr>
        </p:nvGraphicFramePr>
        <p:xfrm>
          <a:off x="180000" y="914400"/>
          <a:ext cx="8640000" cy="4668520"/>
        </p:xfrm>
        <a:graphic>
          <a:graphicData uri="http://schemas.openxmlformats.org/drawingml/2006/table">
            <a:tbl>
              <a:tblPr firstRow="1" bandRow="1">
                <a:tableStyleId>{5C22544A-7EE6-4342-B048-85BDC9FD1C3A}</a:tableStyleId>
              </a:tblPr>
              <a:tblGrid>
                <a:gridCol w="4320000">
                  <a:extLst>
                    <a:ext uri="{9D8B030D-6E8A-4147-A177-3AD203B41FA5}">
                      <a16:colId xmlns:a16="http://schemas.microsoft.com/office/drawing/2014/main" xmlns="" val="1322677423"/>
                    </a:ext>
                  </a:extLst>
                </a:gridCol>
                <a:gridCol w="4320000">
                  <a:extLst>
                    <a:ext uri="{9D8B030D-6E8A-4147-A177-3AD203B41FA5}">
                      <a16:colId xmlns:a16="http://schemas.microsoft.com/office/drawing/2014/main" xmlns="" val="1083000296"/>
                    </a:ext>
                  </a:extLst>
                </a:gridCol>
              </a:tblGrid>
              <a:tr h="370840">
                <a:tc>
                  <a:txBody>
                    <a:bodyPr/>
                    <a:lstStyle/>
                    <a:p>
                      <a:r>
                        <a:rPr lang="en-US" dirty="0" smtClean="0">
                          <a:solidFill>
                            <a:schemeClr val="bg1"/>
                          </a:solidFill>
                        </a:rPr>
                        <a:t>A leadership</a:t>
                      </a:r>
                      <a:r>
                        <a:rPr lang="en-US" baseline="0" dirty="0" smtClean="0">
                          <a:solidFill>
                            <a:schemeClr val="bg1"/>
                          </a:solidFill>
                        </a:rPr>
                        <a:t> case IS …</a:t>
                      </a:r>
                      <a:endParaRPr lang="en-US" dirty="0">
                        <a:solidFill>
                          <a:schemeClr val="bg1"/>
                        </a:solidFill>
                      </a:endParaRPr>
                    </a:p>
                  </a:txBody>
                  <a:tcPr>
                    <a:solidFill>
                      <a:schemeClr val="tx1"/>
                    </a:solidFill>
                  </a:tcPr>
                </a:tc>
                <a:tc>
                  <a:txBody>
                    <a:bodyPr/>
                    <a:lstStyle/>
                    <a:p>
                      <a:r>
                        <a:rPr lang="en-US" dirty="0" smtClean="0">
                          <a:solidFill>
                            <a:schemeClr val="bg1"/>
                          </a:solidFill>
                        </a:rPr>
                        <a:t>A leadership case is NOT …</a:t>
                      </a:r>
                      <a:endParaRPr lang="en-US" dirty="0">
                        <a:solidFill>
                          <a:schemeClr val="bg1"/>
                        </a:solidFill>
                      </a:endParaRPr>
                    </a:p>
                  </a:txBody>
                  <a:tcPr>
                    <a:solidFill>
                      <a:schemeClr val="tx1"/>
                    </a:solidFill>
                  </a:tcPr>
                </a:tc>
                <a:extLst>
                  <a:ext uri="{0D108BD9-81ED-4DB2-BD59-A6C34878D82A}">
                    <a16:rowId xmlns:a16="http://schemas.microsoft.com/office/drawing/2014/main" xmlns="" val="1765195809"/>
                  </a:ext>
                </a:extLst>
              </a:tr>
              <a:tr h="370840">
                <a:tc>
                  <a:txBody>
                    <a:bodyPr/>
                    <a:lstStyle/>
                    <a:p>
                      <a:r>
                        <a:rPr lang="en-US" dirty="0" smtClean="0">
                          <a:solidFill>
                            <a:schemeClr val="bg1"/>
                          </a:solidFill>
                        </a:rPr>
                        <a:t>… incomplete; it has some but not all of the information necessary to make a decision.</a:t>
                      </a:r>
                      <a:endParaRPr lang="en-US" dirty="0">
                        <a:solidFill>
                          <a:schemeClr val="bg1"/>
                        </a:solidFill>
                      </a:endParaRPr>
                    </a:p>
                  </a:txBody>
                  <a:tcPr>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bg1"/>
                          </a:solidFill>
                        </a:rPr>
                        <a:t>… written such that no preparation</a:t>
                      </a:r>
                      <a:r>
                        <a:rPr lang="en-US" baseline="0" dirty="0" smtClean="0">
                          <a:solidFill>
                            <a:schemeClr val="bg1"/>
                          </a:solidFill>
                        </a:rPr>
                        <a:t> is required to accommodate a heavy engineering school schedule. </a:t>
                      </a:r>
                      <a:endParaRPr lang="en-US" dirty="0" smtClean="0">
                        <a:solidFill>
                          <a:schemeClr val="bg1"/>
                        </a:solidFill>
                      </a:endParaRPr>
                    </a:p>
                  </a:txBody>
                  <a:tcPr>
                    <a:solidFill>
                      <a:schemeClr val="tx1"/>
                    </a:solidFill>
                  </a:tcPr>
                </a:tc>
                <a:extLst>
                  <a:ext uri="{0D108BD9-81ED-4DB2-BD59-A6C34878D82A}">
                    <a16:rowId xmlns:a16="http://schemas.microsoft.com/office/drawing/2014/main" xmlns="" val="1927988106"/>
                  </a:ext>
                </a:extLst>
              </a:tr>
              <a:tr h="370840">
                <a:tc>
                  <a:txBody>
                    <a:bodyPr/>
                    <a:lstStyle/>
                    <a:p>
                      <a:r>
                        <a:rPr lang="en-US" dirty="0" smtClean="0">
                          <a:solidFill>
                            <a:schemeClr val="bg1"/>
                          </a:solidFill>
                        </a:rPr>
                        <a:t>… designed such that you will be asked to make a decision.</a:t>
                      </a:r>
                      <a:endParaRPr lang="en-US" dirty="0">
                        <a:solidFill>
                          <a:schemeClr val="bg1"/>
                        </a:solidFill>
                      </a:endParaRPr>
                    </a:p>
                  </a:txBody>
                  <a:tcPr>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bg1"/>
                          </a:solidFill>
                        </a:rPr>
                        <a:t>… missing of</a:t>
                      </a:r>
                      <a:r>
                        <a:rPr lang="en-US" baseline="0" dirty="0" smtClean="0">
                          <a:solidFill>
                            <a:schemeClr val="bg1"/>
                          </a:solidFill>
                        </a:rPr>
                        <a:t> leadership and/or  engineering concepts. </a:t>
                      </a:r>
                      <a:endParaRPr lang="en-US" dirty="0">
                        <a:solidFill>
                          <a:schemeClr val="bg1"/>
                        </a:solidFill>
                      </a:endParaRPr>
                    </a:p>
                  </a:txBody>
                  <a:tcPr>
                    <a:solidFill>
                      <a:schemeClr val="tx1"/>
                    </a:solidFill>
                  </a:tcPr>
                </a:tc>
                <a:extLst>
                  <a:ext uri="{0D108BD9-81ED-4DB2-BD59-A6C34878D82A}">
                    <a16:rowId xmlns:a16="http://schemas.microsoft.com/office/drawing/2014/main" xmlns="" val="2270881746"/>
                  </a:ext>
                </a:extLst>
              </a:tr>
              <a:tr h="370840">
                <a:tc>
                  <a:txBody>
                    <a:bodyPr/>
                    <a:lstStyle/>
                    <a:p>
                      <a:r>
                        <a:rPr lang="en-US" dirty="0" smtClean="0">
                          <a:solidFill>
                            <a:schemeClr val="bg1"/>
                          </a:solidFill>
                        </a:rPr>
                        <a:t>.. a story, a narrative of some event,</a:t>
                      </a:r>
                      <a:r>
                        <a:rPr lang="en-US" baseline="0" dirty="0" smtClean="0">
                          <a:solidFill>
                            <a:schemeClr val="bg1"/>
                          </a:solidFill>
                        </a:rPr>
                        <a:t> some situation with issues and concerns.</a:t>
                      </a:r>
                      <a:endParaRPr lang="en-US" dirty="0">
                        <a:solidFill>
                          <a:schemeClr val="bg1"/>
                        </a:solidFill>
                      </a:endParaRPr>
                    </a:p>
                  </a:txBody>
                  <a:tcPr>
                    <a:solidFill>
                      <a:schemeClr val="tx1"/>
                    </a:solidFill>
                  </a:tcPr>
                </a:tc>
                <a:tc>
                  <a:txBody>
                    <a:bodyPr/>
                    <a:lstStyle/>
                    <a:p>
                      <a:r>
                        <a:rPr lang="en-US" dirty="0" smtClean="0">
                          <a:solidFill>
                            <a:schemeClr val="bg1"/>
                          </a:solidFill>
                        </a:rPr>
                        <a:t>… an example</a:t>
                      </a:r>
                      <a:r>
                        <a:rPr lang="en-US" baseline="0" dirty="0" smtClean="0">
                          <a:solidFill>
                            <a:schemeClr val="bg1"/>
                          </a:solidFill>
                        </a:rPr>
                        <a:t> or model of the best way to solve a leadership problem.</a:t>
                      </a:r>
                      <a:endParaRPr lang="en-US" dirty="0">
                        <a:solidFill>
                          <a:schemeClr val="bg1"/>
                        </a:solidFill>
                      </a:endParaRPr>
                    </a:p>
                  </a:txBody>
                  <a:tcPr>
                    <a:solidFill>
                      <a:schemeClr val="tx1"/>
                    </a:solidFill>
                  </a:tcPr>
                </a:tc>
                <a:extLst>
                  <a:ext uri="{0D108BD9-81ED-4DB2-BD59-A6C34878D82A}">
                    <a16:rowId xmlns:a16="http://schemas.microsoft.com/office/drawing/2014/main" xmlns="" val="255247561"/>
                  </a:ext>
                </a:extLst>
              </a:tr>
              <a:tr h="370840">
                <a:tc>
                  <a:txBody>
                    <a:bodyPr/>
                    <a:lstStyle/>
                    <a:p>
                      <a:r>
                        <a:rPr lang="en-US" dirty="0" smtClean="0">
                          <a:solidFill>
                            <a:schemeClr val="bg1"/>
                          </a:solidFill>
                        </a:rPr>
                        <a:t>… based on real experience,</a:t>
                      </a:r>
                      <a:r>
                        <a:rPr lang="en-US" baseline="0" dirty="0" smtClean="0">
                          <a:solidFill>
                            <a:schemeClr val="bg1"/>
                          </a:solidFill>
                        </a:rPr>
                        <a:t> although specifics may be changed to “fit” the lesson and/or protect confidentiality.</a:t>
                      </a:r>
                      <a:endParaRPr lang="en-US" dirty="0">
                        <a:solidFill>
                          <a:schemeClr val="bg1"/>
                        </a:solidFill>
                      </a:endParaRPr>
                    </a:p>
                  </a:txBody>
                  <a:tcPr>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bg1"/>
                          </a:solidFill>
                        </a:rPr>
                        <a:t>… entirely made up</a:t>
                      </a:r>
                      <a:r>
                        <a:rPr lang="en-US" baseline="0" dirty="0" smtClean="0">
                          <a:solidFill>
                            <a:schemeClr val="bg1"/>
                          </a:solidFill>
                        </a:rPr>
                        <a:t>. </a:t>
                      </a:r>
                      <a:endParaRPr lang="en-US" dirty="0">
                        <a:solidFill>
                          <a:schemeClr val="bg1"/>
                        </a:solidFill>
                      </a:endParaRPr>
                    </a:p>
                  </a:txBody>
                  <a:tcPr>
                    <a:solidFill>
                      <a:schemeClr val="tx1"/>
                    </a:solidFill>
                  </a:tcPr>
                </a:tc>
                <a:extLst>
                  <a:ext uri="{0D108BD9-81ED-4DB2-BD59-A6C34878D82A}">
                    <a16:rowId xmlns:a16="http://schemas.microsoft.com/office/drawing/2014/main" xmlns="" val="3796384291"/>
                  </a:ext>
                </a:extLst>
              </a:tr>
              <a:tr h="370840">
                <a:tc>
                  <a:txBody>
                    <a:bodyPr/>
                    <a:lstStyle/>
                    <a:p>
                      <a:r>
                        <a:rPr lang="en-US" dirty="0" smtClean="0">
                          <a:solidFill>
                            <a:schemeClr val="bg1"/>
                          </a:solidFill>
                        </a:rPr>
                        <a:t>… intended for the student to</a:t>
                      </a:r>
                      <a:r>
                        <a:rPr lang="en-US" baseline="0" dirty="0" smtClean="0">
                          <a:solidFill>
                            <a:schemeClr val="bg1"/>
                          </a:solidFill>
                        </a:rPr>
                        <a:t> learn a concept, a methodology, or a competency.</a:t>
                      </a:r>
                      <a:endParaRPr lang="en-US" dirty="0">
                        <a:solidFill>
                          <a:schemeClr val="bg1"/>
                        </a:solidFill>
                      </a:endParaRPr>
                    </a:p>
                  </a:txBody>
                  <a:tcPr>
                    <a:solidFill>
                      <a:schemeClr val="tx1"/>
                    </a:solidFill>
                  </a:tcPr>
                </a:tc>
                <a:tc>
                  <a:txBody>
                    <a:bodyPr/>
                    <a:lstStyle/>
                    <a:p>
                      <a:r>
                        <a:rPr lang="en-US" dirty="0" smtClean="0">
                          <a:solidFill>
                            <a:schemeClr val="bg1"/>
                          </a:solidFill>
                        </a:rPr>
                        <a:t>… written such that</a:t>
                      </a:r>
                      <a:r>
                        <a:rPr lang="en-US" baseline="0" dirty="0" smtClean="0">
                          <a:solidFill>
                            <a:schemeClr val="bg1"/>
                          </a:solidFill>
                        </a:rPr>
                        <a:t> it can lead to one and only one “right” solution or decision.</a:t>
                      </a:r>
                      <a:endParaRPr lang="en-US" dirty="0">
                        <a:solidFill>
                          <a:schemeClr val="bg1"/>
                        </a:solidFill>
                      </a:endParaRPr>
                    </a:p>
                  </a:txBody>
                  <a:tcPr>
                    <a:solidFill>
                      <a:schemeClr val="tx1"/>
                    </a:solidFill>
                  </a:tcPr>
                </a:tc>
                <a:extLst>
                  <a:ext uri="{0D108BD9-81ED-4DB2-BD59-A6C34878D82A}">
                    <a16:rowId xmlns:a16="http://schemas.microsoft.com/office/drawing/2014/main" xmlns="" val="3037071131"/>
                  </a:ext>
                </a:extLst>
              </a:tr>
            </a:tbl>
          </a:graphicData>
        </a:graphic>
      </p:graphicFrame>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85262443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Case study analysis helps students:</a:t>
            </a:r>
          </a:p>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Learn to interpret imperfect, incomplete, inconsistent, </a:t>
            </a:r>
            <a:r>
              <a:rPr lang="en-CA" altLang="en-US" dirty="0" smtClean="0">
                <a:solidFill>
                  <a:srgbClr val="000000"/>
                </a:solidFill>
                <a:latin typeface="Arial" panose="020B0604020202020204" pitchFamily="34" charset="0"/>
                <a:cs typeface="Arial" panose="020B0604020202020204" pitchFamily="34" charset="0"/>
              </a:rPr>
              <a:t>or contradictory </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data, a fundamental skill in engineering. </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Develop team-work, time management, and problem-solving skills.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baseline="0" dirty="0">
              <a:solidFill>
                <a:srgbClr val="000000"/>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Practice and develop skills in the principles and concepts of leadership in risk management i.e. develop</a:t>
            </a:r>
            <a:r>
              <a:rPr lang="en-US" altLang="en-US" dirty="0" smtClean="0">
                <a:solidFill>
                  <a:srgbClr val="000000"/>
                </a:solidFill>
                <a:latin typeface="Arial" panose="020B0604020202020204" pitchFamily="34" charset="0"/>
                <a:cs typeface="Arial" panose="020B0604020202020204" pitchFamily="34" charset="0"/>
              </a:rPr>
              <a:t> </a:t>
            </a:r>
            <a:r>
              <a:rPr lang="en-US" altLang="en-US" dirty="0">
                <a:solidFill>
                  <a:srgbClr val="000000"/>
                </a:solidFill>
                <a:latin typeface="Arial" panose="020B0604020202020204" pitchFamily="34" charset="0"/>
                <a:cs typeface="Arial" panose="020B0604020202020204" pitchFamily="34" charset="0"/>
              </a:rPr>
              <a:t>wisdom through </a:t>
            </a:r>
            <a:r>
              <a:rPr lang="en-US" altLang="en-US" dirty="0" smtClean="0">
                <a:solidFill>
                  <a:srgbClr val="000000"/>
                </a:solidFill>
                <a:latin typeface="Arial" panose="020B0604020202020204" pitchFamily="34" charset="0"/>
                <a:cs typeface="Arial" panose="020B0604020202020204" pitchFamily="34" charset="0"/>
              </a:rPr>
              <a:t>practice and experience</a:t>
            </a:r>
            <a:r>
              <a:rPr lang="en-US" altLang="en-US" dirty="0">
                <a:solidFill>
                  <a:srgbClr val="000000"/>
                </a:solidFill>
                <a:latin typeface="Arial" panose="020B0604020202020204" pitchFamily="34" charset="0"/>
                <a:cs typeface="Arial" panose="020B0604020202020204" pitchFamily="34" charset="0"/>
              </a:rPr>
              <a:t>.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baseline="0" dirty="0">
              <a:solidFill>
                <a:srgbClr val="000000"/>
              </a:solidFill>
              <a:latin typeface="Arial" panose="020B0604020202020204" pitchFamily="34"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Embrace the opportunity to develop their judgment.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dirty="0">
              <a:solidFill>
                <a:srgbClr val="000000"/>
              </a:solidFill>
              <a:latin typeface="Arial" panose="020B0604020202020204" pitchFamily="34" charset="0"/>
              <a:cs typeface="Arial" panose="020B0604020202020204" pitchFamily="34" charset="0"/>
            </a:endParaRPr>
          </a:p>
        </p:txBody>
      </p:sp>
      <p:sp>
        <p:nvSpPr>
          <p:cNvPr id="4" name="Rectangle 2"/>
          <p:cNvSpPr>
            <a:spLocks noChangeArrowheads="1"/>
          </p:cNvSpPr>
          <p:nvPr/>
        </p:nvSpPr>
        <p:spPr bwMode="auto">
          <a:xfrm>
            <a:off x="180000" y="180000"/>
            <a:ext cx="8640000" cy="504000"/>
          </a:xfrm>
          <a:prstGeom prst="rect">
            <a:avLst/>
          </a:prstGeom>
          <a:noFill/>
          <a:ln>
            <a:noFill/>
          </a:ln>
        </p:spPr>
        <p:txBody>
          <a:bodyPr anchor="ctr"/>
          <a:lstStyle/>
          <a:p>
            <a:pPr eaLnBrk="1" hangingPunct="1">
              <a:buFont typeface="Arial" panose="020B0604020202020204" pitchFamily="34" charset="0"/>
              <a:buNone/>
            </a:pPr>
            <a:r>
              <a:rPr lang="en-US" altLang="en-US" dirty="0">
                <a:solidFill>
                  <a:srgbClr val="333399"/>
                </a:solidFill>
                <a:latin typeface="Arial" panose="020B0604020202020204" pitchFamily="34" charset="0"/>
                <a:cs typeface="Arial" panose="020B0604020202020204" pitchFamily="34" charset="0"/>
              </a:rPr>
              <a:t>Why Do We Use Cases and the Case Study Methodology?</a:t>
            </a: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3584026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this course:</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goal is to analyze the situation,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identify the issue,</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apply appropriate concepts and tools to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learn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from it, and determine the best course of action for the future.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Planned approaches will be learned and applied:</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Team Project.</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set of guiding questions for a Case Study “Loss Incident” Analysis:</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57200" lvl="1" indent="-457200" eaLnBrk="1" hangingPunct="1">
              <a:lnSpc>
                <a:spcPct val="100000"/>
              </a:lnSpc>
              <a:spcBef>
                <a:spcPts val="0"/>
              </a:spcBef>
              <a:buClr>
                <a:srgbClr val="000000"/>
              </a:buClr>
              <a:buFont typeface="Wingdings" panose="05000000000000000000" pitchFamily="2" charset="2"/>
              <a:buChar char="Ø"/>
            </a:pPr>
            <a:endParaRPr lang="en-US" altLang="en-US" sz="2000" dirty="0">
              <a:solidFill>
                <a:srgbClr val="000000"/>
              </a:solidFill>
              <a:latin typeface="Arial" panose="020B0604020202020204" pitchFamily="34" charset="0"/>
            </a:endParaRPr>
          </a:p>
          <a:p>
            <a:pPr marL="457200" lvl="1" indent="-457200" eaLnBrk="1" hangingPunct="1">
              <a:lnSpc>
                <a:spcPct val="100000"/>
              </a:lnSpc>
              <a:spcBef>
                <a:spcPts val="0"/>
              </a:spcBef>
              <a:buClr>
                <a:srgbClr val="000000"/>
              </a:buClr>
              <a:buFont typeface="Wingdings" panose="05000000000000000000" pitchFamily="2" charset="2"/>
              <a:buChar char="Ø"/>
            </a:pPr>
            <a:r>
              <a:rPr lang="en-US" altLang="en-US" sz="2000" dirty="0" smtClean="0">
                <a:solidFill>
                  <a:srgbClr val="000000"/>
                </a:solidFill>
                <a:latin typeface="Arial" panose="020B0604020202020204" pitchFamily="34" charset="0"/>
              </a:rPr>
              <a:t>Chapter 1.1 Case Study Methodology </a:t>
            </a:r>
            <a:r>
              <a:rPr lang="en-US" altLang="en-US" sz="2000" dirty="0">
                <a:solidFill>
                  <a:srgbClr val="000000"/>
                </a:solidFill>
                <a:latin typeface="Arial" panose="020B0604020202020204" pitchFamily="34" charset="0"/>
              </a:rPr>
              <a:t>…</a:t>
            </a:r>
          </a:p>
          <a:p>
            <a:pPr lvl="1" eaLnBrk="1" hangingPunct="1">
              <a:lnSpc>
                <a:spcPct val="100000"/>
              </a:lnSpc>
              <a:spcBef>
                <a:spcPts val="0"/>
              </a:spcBef>
              <a:buClr>
                <a:srgbClr val="000000"/>
              </a:buClr>
              <a:buFont typeface="Wingdings" panose="05000000000000000000" pitchFamily="2" charset="2"/>
              <a:buChar char="Ø"/>
            </a:pPr>
            <a:r>
              <a:rPr lang="en-US" altLang="en-US" sz="2000" dirty="0">
                <a:solidFill>
                  <a:srgbClr val="000000"/>
                </a:solidFill>
                <a:latin typeface="Arial" panose="020B0604020202020204" pitchFamily="34" charset="0"/>
              </a:rPr>
              <a:t>is NOT about knowing the details about a loss incident!</a:t>
            </a:r>
          </a:p>
          <a:p>
            <a:pPr lvl="1" eaLnBrk="1" hangingPunct="1">
              <a:lnSpc>
                <a:spcPct val="100000"/>
              </a:lnSpc>
              <a:spcBef>
                <a:spcPts val="0"/>
              </a:spcBef>
              <a:buClr>
                <a:srgbClr val="000000"/>
              </a:buClr>
              <a:buFont typeface="Wingdings" panose="05000000000000000000" pitchFamily="2" charset="2"/>
              <a:buChar char="Ø"/>
            </a:pPr>
            <a:r>
              <a:rPr lang="en-US" altLang="en-US" sz="2000" dirty="0">
                <a:solidFill>
                  <a:srgbClr val="000000"/>
                </a:solidFill>
                <a:latin typeface="Arial" panose="020B0604020202020204" pitchFamily="34" charset="0"/>
              </a:rPr>
              <a:t>IS knowing the lessons learned and being able to apply the relevant principles and practices of RM to the case study in order to develop and transfer those competencies to other loss incidents under study or experienced in your career.</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Expect to Apply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rPr>
              <a:t>Chapter 1.1 Case Study Methodology</a:t>
            </a:r>
            <a:endPar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1.1 Case Study Methodology</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3255733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Any questions?</a:t>
            </a:r>
          </a:p>
        </p:txBody>
      </p:sp>
    </p:spTree>
    <p:extLst>
      <p:ext uri="{BB962C8B-B14F-4D97-AF65-F5344CB8AC3E}">
        <p14:creationId xmlns:p14="http://schemas.microsoft.com/office/powerpoint/2010/main" val="3201778448"/>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18325</TotalTime>
  <Words>1490</Words>
  <Application>Microsoft Office PowerPoint</Application>
  <PresentationFormat>On-screen Show (4:3)</PresentationFormat>
  <Paragraphs>217</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ＭＳ Ｐゴシック</vt: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Alberta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ESRM</dc:title>
  <dc:creator>JR Cocchio</dc:creator>
  <cp:lastModifiedBy>cocchio</cp:lastModifiedBy>
  <cp:revision>306</cp:revision>
  <cp:lastPrinted>2017-09-05T15:42:31Z</cp:lastPrinted>
  <dcterms:created xsi:type="dcterms:W3CDTF">2011-09-07T03:22:54Z</dcterms:created>
  <dcterms:modified xsi:type="dcterms:W3CDTF">2022-05-09T18:55:39Z</dcterms:modified>
</cp:coreProperties>
</file>