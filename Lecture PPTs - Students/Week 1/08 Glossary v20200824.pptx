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61" r:id="rId1"/>
  </p:sldMasterIdLst>
  <p:notesMasterIdLst>
    <p:notesMasterId r:id="rId9"/>
  </p:notesMasterIdLst>
  <p:sldIdLst>
    <p:sldId id="895" r:id="rId2"/>
    <p:sldId id="880" r:id="rId3"/>
    <p:sldId id="901" r:id="rId4"/>
    <p:sldId id="902" r:id="rId5"/>
    <p:sldId id="927" r:id="rId6"/>
    <p:sldId id="926" r:id="rId7"/>
    <p:sldId id="900" r:id="rId8"/>
  </p:sldIdLst>
  <p:sldSz cx="9144000" cy="6858000" type="screen4x3"/>
  <p:notesSz cx="6954838" cy="93091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12">
          <p15:clr>
            <a:srgbClr val="A4A3A4"/>
          </p15:clr>
        </p15:guide>
        <p15:guide id="2" pos="2880">
          <p15:clr>
            <a:srgbClr val="A4A3A4"/>
          </p15:clr>
        </p15:guide>
      </p15:sldGuideLst>
    </p:ext>
    <p:ext uri="{2D200454-40CA-4A62-9FC3-DE9A4176ACB9}">
      <p15:notesGuideLst xmlns:p15="http://schemas.microsoft.com/office/powerpoint/2012/main">
        <p15:guide id="1" orient="horz" pos="2933">
          <p15:clr>
            <a:srgbClr val="A4A3A4"/>
          </p15:clr>
        </p15:guide>
        <p15:guide id="2" pos="2191">
          <p15:clr>
            <a:srgbClr val="A4A3A4"/>
          </p15:clr>
        </p15:guide>
      </p15:notesGuideLst>
    </p:ext>
    <p:ext uri="http://customooxmlschemas.google.com/">
      <go:slidesCustomData xmlns:go="http://customooxmlschemas.google.com/"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9" roundtripDataSignature="AMtx7miPqnsw18QqVyY1TZ/KYtAVZrXGq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769ED61-26C3-4320-844D-6622CC98F455}">
  <a:tblStyle styleId="{C769ED61-26C3-4320-844D-6622CC98F455}"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1017" autoAdjust="0"/>
  </p:normalViewPr>
  <p:slideViewPr>
    <p:cSldViewPr snapToGrid="0">
      <p:cViewPr varScale="1">
        <p:scale>
          <a:sx n="90" d="100"/>
          <a:sy n="90" d="100"/>
        </p:scale>
        <p:origin x="90" y="378"/>
      </p:cViewPr>
      <p:guideLst>
        <p:guide orient="horz" pos="2112"/>
        <p:guide pos="2880"/>
      </p:guideLst>
    </p:cSldViewPr>
  </p:slideViewPr>
  <p:notesTextViewPr>
    <p:cViewPr>
      <p:scale>
        <a:sx n="1" d="1"/>
        <a:sy n="1" d="1"/>
      </p:scale>
      <p:origin x="0" y="0"/>
    </p:cViewPr>
  </p:notesTextViewPr>
  <p:sorterViewPr>
    <p:cViewPr>
      <p:scale>
        <a:sx n="100" d="100"/>
        <a:sy n="100" d="100"/>
      </p:scale>
      <p:origin x="0" y="-4536"/>
    </p:cViewPr>
  </p:sorterViewPr>
  <p:notesViewPr>
    <p:cSldViewPr snapToGrid="0">
      <p:cViewPr varScale="1">
        <p:scale>
          <a:sx n="100" d="100"/>
          <a:sy n="100" d="100"/>
        </p:scale>
        <p:origin x="0" y="0"/>
      </p:cViewPr>
      <p:guideLst>
        <p:guide orient="horz" pos="2933"/>
        <p:guide pos="2191"/>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23" Type="http://schemas.openxmlformats.org/officeDocument/2006/relationships/tableStyles" Target="tableStyles.xml"/><Relationship Id="rId19" Type="http://customschemas.google.com/relationships/presentationmetadata" Target="metadata"/><Relationship Id="rId4" Type="http://schemas.openxmlformats.org/officeDocument/2006/relationships/slide" Target="slides/slide3.xml"/><Relationship Id="rId9" Type="http://schemas.openxmlformats.org/officeDocument/2006/relationships/notesMaster" Target="notesMasters/notesMaster1.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1"/>
            <a:ext cx="3014870" cy="465349"/>
          </a:xfrm>
          <a:prstGeom prst="rect">
            <a:avLst/>
          </a:prstGeom>
          <a:noFill/>
          <a:ln>
            <a:noFill/>
          </a:ln>
        </p:spPr>
        <p:txBody>
          <a:bodyPr spcFirstLastPara="1" wrap="square" lIns="92900" tIns="46450" rIns="92900" bIns="46450" anchor="t" anchorCtr="0">
            <a:noAutofit/>
          </a:bodyPr>
          <a:lstStyle>
            <a:lvl1pPr marR="0" lvl="0" algn="l" rtl="0">
              <a:spcBef>
                <a:spcPts val="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1pPr>
            <a:lvl2pPr marR="0" lvl="1"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2pPr>
            <a:lvl3pPr marR="0" lvl="2"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3pPr>
            <a:lvl4pPr marR="0" lvl="3"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4pPr>
            <a:lvl5pPr marR="0" lvl="4"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5pPr>
            <a:lvl6pPr marR="0" lvl="5"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6pPr>
            <a:lvl7pPr marR="0" lvl="6"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7pPr>
            <a:lvl8pPr marR="0" lvl="7"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8pPr>
            <a:lvl9pPr marR="0" lvl="8"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9pPr>
          </a:lstStyle>
          <a:p>
            <a:endParaRPr/>
          </a:p>
        </p:txBody>
      </p:sp>
      <p:sp>
        <p:nvSpPr>
          <p:cNvPr id="4" name="Google Shape;4;n"/>
          <p:cNvSpPr txBox="1">
            <a:spLocks noGrp="1"/>
          </p:cNvSpPr>
          <p:nvPr>
            <p:ph type="dt" idx="10"/>
          </p:nvPr>
        </p:nvSpPr>
        <p:spPr>
          <a:xfrm>
            <a:off x="3939968" y="1"/>
            <a:ext cx="3014870" cy="465349"/>
          </a:xfrm>
          <a:prstGeom prst="rect">
            <a:avLst/>
          </a:prstGeom>
          <a:noFill/>
          <a:ln>
            <a:noFill/>
          </a:ln>
        </p:spPr>
        <p:txBody>
          <a:bodyPr spcFirstLastPara="1" wrap="square" lIns="92900" tIns="46450" rIns="92900" bIns="46450" anchor="t" anchorCtr="0">
            <a:noAutofit/>
          </a:bodyPr>
          <a:lstStyle>
            <a:lvl1pPr marR="0" lvl="0" algn="r" rtl="0">
              <a:spcBef>
                <a:spcPts val="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1pPr>
            <a:lvl2pPr marR="0" lvl="1"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2pPr>
            <a:lvl3pPr marR="0" lvl="2"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3pPr>
            <a:lvl4pPr marR="0" lvl="3"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4pPr>
            <a:lvl5pPr marR="0" lvl="4"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5pPr>
            <a:lvl6pPr marR="0" lvl="5"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6pPr>
            <a:lvl7pPr marR="0" lvl="6"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7pPr>
            <a:lvl8pPr marR="0" lvl="7"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8pPr>
            <a:lvl9pPr marR="0" lvl="8"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9pPr>
          </a:lstStyle>
          <a:p>
            <a:endParaRPr/>
          </a:p>
        </p:txBody>
      </p:sp>
      <p:sp>
        <p:nvSpPr>
          <p:cNvPr id="5" name="Google Shape;5;n"/>
          <p:cNvSpPr>
            <a:spLocks noGrp="1" noRot="1" noChangeAspect="1"/>
          </p:cNvSpPr>
          <p:nvPr>
            <p:ph type="sldImg" idx="3"/>
          </p:nvPr>
        </p:nvSpPr>
        <p:spPr>
          <a:xfrm>
            <a:off x="1150938" y="696913"/>
            <a:ext cx="4652962" cy="34909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927470" y="4424000"/>
            <a:ext cx="5099898" cy="4190263"/>
          </a:xfrm>
          <a:prstGeom prst="rect">
            <a:avLst/>
          </a:prstGeom>
          <a:noFill/>
          <a:ln>
            <a:noFill/>
          </a:ln>
        </p:spPr>
        <p:txBody>
          <a:bodyPr spcFirstLastPara="1" wrap="square" lIns="92900" tIns="46450" rIns="92900" bIns="46450" anchor="t" anchorCtr="0">
            <a:noAutofit/>
          </a:bodyPr>
          <a:lstStyle>
            <a:lvl1pPr marL="457200" marR="0" lvl="0"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1pPr>
            <a:lvl2pPr marL="914400" marR="0" lvl="1"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2pPr>
            <a:lvl3pPr marL="1371600" marR="0" lvl="2"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3pPr>
            <a:lvl4pPr marL="1828800" marR="0" lvl="3"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4pPr>
            <a:lvl5pPr marL="2286000" marR="0" lvl="4"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843751"/>
            <a:ext cx="3014870" cy="465349"/>
          </a:xfrm>
          <a:prstGeom prst="rect">
            <a:avLst/>
          </a:prstGeom>
          <a:noFill/>
          <a:ln>
            <a:noFill/>
          </a:ln>
        </p:spPr>
        <p:txBody>
          <a:bodyPr spcFirstLastPara="1" wrap="square" lIns="92900" tIns="46450" rIns="92900" bIns="46450" anchor="b" anchorCtr="0">
            <a:noAutofit/>
          </a:bodyPr>
          <a:lstStyle>
            <a:lvl1pPr marR="0" lvl="0" algn="l" rtl="0">
              <a:spcBef>
                <a:spcPts val="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1pPr>
            <a:lvl2pPr marR="0" lvl="1"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2pPr>
            <a:lvl3pPr marR="0" lvl="2"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3pPr>
            <a:lvl4pPr marR="0" lvl="3"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4pPr>
            <a:lvl5pPr marR="0" lvl="4"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5pPr>
            <a:lvl6pPr marR="0" lvl="5"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6pPr>
            <a:lvl7pPr marR="0" lvl="6"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7pPr>
            <a:lvl8pPr marR="0" lvl="7"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8pPr>
            <a:lvl9pPr marR="0" lvl="8"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9pPr>
          </a:lstStyle>
          <a:p>
            <a:endParaRPr/>
          </a:p>
        </p:txBody>
      </p:sp>
      <p:sp>
        <p:nvSpPr>
          <p:cNvPr id="8" name="Google Shape;8;n"/>
          <p:cNvSpPr txBox="1">
            <a:spLocks noGrp="1"/>
          </p:cNvSpPr>
          <p:nvPr>
            <p:ph type="sldNum" idx="12"/>
          </p:nvPr>
        </p:nvSpPr>
        <p:spPr>
          <a:xfrm>
            <a:off x="3939968" y="8843751"/>
            <a:ext cx="3014870" cy="465349"/>
          </a:xfrm>
          <a:prstGeom prst="rect">
            <a:avLst/>
          </a:prstGeom>
          <a:noFill/>
          <a:ln>
            <a:noFill/>
          </a:ln>
        </p:spPr>
        <p:txBody>
          <a:bodyPr spcFirstLastPara="1" wrap="square" lIns="92900" tIns="46450" rIns="92900" bIns="4645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t>‹#›</a:t>
            </a:fld>
            <a:endParaRPr sz="1200" b="0" i="0" u="none" strike="noStrike" cap="none">
              <a:solidFill>
                <a:schemeClr val="dk1"/>
              </a:solidFill>
              <a:latin typeface="Times New Roman"/>
              <a:ea typeface="Times New Roman"/>
              <a:cs typeface="Times New Roman"/>
              <a:sym typeface="Times New Roman"/>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1"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baseline="0" dirty="0"/>
          </a:p>
        </p:txBody>
      </p:sp>
    </p:spTree>
    <p:extLst>
      <p:ext uri="{BB962C8B-B14F-4D97-AF65-F5344CB8AC3E}">
        <p14:creationId xmlns:p14="http://schemas.microsoft.com/office/powerpoint/2010/main" val="18007670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63931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marL="0" lvl="0" indent="0" algn="l" rtl="0">
              <a:spcBef>
                <a:spcPts val="0"/>
              </a:spcBef>
              <a:spcAft>
                <a:spcPts val="0"/>
              </a:spcAft>
              <a:buNone/>
            </a:pPr>
            <a:r>
              <a:rPr lang="en-CA" dirty="0"/>
              <a:t>The system by which we manage risk to people, the environment, and business</a:t>
            </a:r>
          </a:p>
          <a:p>
            <a:pPr marL="0" lvl="0" indent="0" algn="l" rtl="0">
              <a:spcBef>
                <a:spcPts val="360"/>
              </a:spcBef>
              <a:spcAft>
                <a:spcPts val="0"/>
              </a:spcAft>
              <a:buNone/>
            </a:pPr>
            <a:r>
              <a:rPr lang="en-CA" dirty="0"/>
              <a:t>Aka industrial safety and risk management, process safety and risk </a:t>
            </a:r>
            <a:r>
              <a:rPr lang="en-CA" dirty="0" err="1"/>
              <a:t>mgmt</a:t>
            </a:r>
            <a:endParaRPr lang="en-CA" dirty="0"/>
          </a:p>
          <a:p>
            <a:pPr eaLnBrk="1" hangingPunct="1"/>
            <a:endParaRPr lang="en-US"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754530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marL="0" lvl="0" indent="0" algn="l" rtl="0">
              <a:spcBef>
                <a:spcPts val="0"/>
              </a:spcBef>
              <a:spcAft>
                <a:spcPts val="0"/>
              </a:spcAft>
              <a:buNone/>
            </a:pPr>
            <a:r>
              <a:rPr lang="en-CA" dirty="0"/>
              <a:t>Important distinction!</a:t>
            </a:r>
          </a:p>
          <a:p>
            <a:pPr marL="0" lvl="0" indent="0" algn="l" rtl="0">
              <a:spcBef>
                <a:spcPts val="360"/>
              </a:spcBef>
              <a:spcAft>
                <a:spcPts val="0"/>
              </a:spcAft>
              <a:buNone/>
            </a:pPr>
            <a:r>
              <a:rPr lang="en-CA" dirty="0"/>
              <a:t>Accident infers that it was not preventable – wrong!!!</a:t>
            </a:r>
          </a:p>
          <a:p>
            <a:pPr marL="0" lvl="0" indent="0" algn="l" rtl="0">
              <a:spcBef>
                <a:spcPts val="360"/>
              </a:spcBef>
              <a:spcAft>
                <a:spcPts val="0"/>
              </a:spcAft>
              <a:buNone/>
            </a:pPr>
            <a:r>
              <a:rPr lang="en-CA" dirty="0"/>
              <a:t>Think about driving down the road and getting into an ‘accident’</a:t>
            </a:r>
          </a:p>
          <a:p>
            <a:pPr eaLnBrk="1" hangingPunct="1"/>
            <a:endParaRPr lang="en-US"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957394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27152" rtl="0" eaLnBrk="1" fontAlgn="base" latinLnBrk="0" hangingPunct="1">
              <a:lnSpc>
                <a:spcPct val="100000"/>
              </a:lnSpc>
              <a:spcBef>
                <a:spcPct val="0"/>
              </a:spcBef>
              <a:spcAft>
                <a:spcPct val="0"/>
              </a:spcAft>
              <a:buClrTx/>
              <a:buSzTx/>
              <a:buFontTx/>
              <a:buNone/>
              <a:tabLst/>
              <a:defRPr/>
            </a:pPr>
            <a:fld id="{E2E0E8D8-AE63-4BAB-AE10-86197CF9CB04}" type="slidenum">
              <a:rPr kumimoji="0" lang="en-US"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27152" rtl="0" eaLnBrk="1" fontAlgn="base" latinLnBrk="0" hangingPunct="1">
                <a:lnSpc>
                  <a:spcPct val="100000"/>
                </a:lnSpc>
                <a:spcBef>
                  <a:spcPct val="0"/>
                </a:spcBef>
                <a:spcAft>
                  <a:spcPct val="0"/>
                </a:spcAft>
                <a:buClrTx/>
                <a:buSzTx/>
                <a:buFontTx/>
                <a:buNone/>
                <a:tabLst/>
                <a:defRPr/>
              </a:pPr>
              <a:t>5</a:t>
            </a:fld>
            <a:endPar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B6B2B90-B612-42CC-80D2-4870E63A5117}" type="slidenum">
              <a:rPr kumimoji="0" lang="en-US" altLang="en-US" sz="1200" b="1"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en-US" altLang="en-US" sz="1200" b="1"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22576033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27152" rtl="0" eaLnBrk="1" fontAlgn="base" latinLnBrk="0" hangingPunct="1">
              <a:lnSpc>
                <a:spcPct val="100000"/>
              </a:lnSpc>
              <a:spcBef>
                <a:spcPct val="0"/>
              </a:spcBef>
              <a:spcAft>
                <a:spcPct val="0"/>
              </a:spcAft>
              <a:buClrTx/>
              <a:buSzTx/>
              <a:buFontTx/>
              <a:buNone/>
              <a:tabLst/>
              <a:defRPr/>
            </a:pPr>
            <a:fld id="{E2E0E8D8-AE63-4BAB-AE10-86197CF9CB04}" type="slidenum">
              <a:rPr kumimoji="0" lang="en-US"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27152" rtl="0" eaLnBrk="1" fontAlgn="base" latinLnBrk="0" hangingPunct="1">
                <a:lnSpc>
                  <a:spcPct val="100000"/>
                </a:lnSpc>
                <a:spcBef>
                  <a:spcPct val="0"/>
                </a:spcBef>
                <a:spcAft>
                  <a:spcPct val="0"/>
                </a:spcAft>
                <a:buClrTx/>
                <a:buSzTx/>
                <a:buFontTx/>
                <a:buNone/>
                <a:tabLst/>
                <a:defRPr/>
              </a:pPr>
              <a:t>6</a:t>
            </a:fld>
            <a:endPar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B6B2B90-B612-42CC-80D2-4870E63A5117}" type="slidenum">
              <a:rPr kumimoji="0" lang="en-US" altLang="en-US" sz="1200" b="1"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6</a:t>
            </a:fld>
            <a:endParaRPr kumimoji="0" lang="en-US" altLang="en-US" sz="1200" b="1"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lvl="0" indent="0" algn="l" rtl="0">
              <a:spcBef>
                <a:spcPts val="0"/>
              </a:spcBef>
              <a:spcAft>
                <a:spcPts val="0"/>
              </a:spcAft>
              <a:buNone/>
            </a:pPr>
            <a:r>
              <a:rPr lang="en-CA" dirty="0"/>
              <a:t>Check to see if the furnace is working</a:t>
            </a:r>
          </a:p>
          <a:p>
            <a:pPr marL="0" lvl="0" indent="0" algn="l" rtl="0">
              <a:spcBef>
                <a:spcPts val="360"/>
              </a:spcBef>
              <a:spcAft>
                <a:spcPts val="0"/>
              </a:spcAft>
              <a:buNone/>
            </a:pPr>
            <a:r>
              <a:rPr lang="en-CA" dirty="0"/>
              <a:t>Check to see if a window has a leak</a:t>
            </a:r>
          </a:p>
          <a:p>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25788524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27152" rtl="0" eaLnBrk="1" fontAlgn="base" latinLnBrk="0" hangingPunct="1">
              <a:lnSpc>
                <a:spcPct val="100000"/>
              </a:lnSpc>
              <a:spcBef>
                <a:spcPct val="0"/>
              </a:spcBef>
              <a:spcAft>
                <a:spcPct val="0"/>
              </a:spcAft>
              <a:buClrTx/>
              <a:buSzTx/>
              <a:buFontTx/>
              <a:buNone/>
              <a:tabLst/>
              <a:defRPr/>
            </a:pPr>
            <a:fld id="{E2E0E8D8-AE63-4BAB-AE10-86197CF9CB04}" type="slidenum">
              <a:rPr kumimoji="0" lang="en-US"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27152" rtl="0" eaLnBrk="1" fontAlgn="base" latinLnBrk="0" hangingPunct="1">
                <a:lnSpc>
                  <a:spcPct val="100000"/>
                </a:lnSpc>
                <a:spcBef>
                  <a:spcPct val="0"/>
                </a:spcBef>
                <a:spcAft>
                  <a:spcPct val="0"/>
                </a:spcAft>
                <a:buClrTx/>
                <a:buSzTx/>
                <a:buFontTx/>
                <a:buNone/>
                <a:tabLst/>
                <a:defRPr/>
              </a:pPr>
              <a:t>7</a:t>
            </a:fld>
            <a:endPar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B6B2B90-B612-42CC-80D2-4870E63A5117}" type="slidenum">
              <a:rPr kumimoji="0" lang="en-US" altLang="en-US" sz="1200" b="1"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7</a:t>
            </a:fld>
            <a:endParaRPr kumimoji="0" lang="en-US" altLang="en-US" sz="1200" b="1"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16302351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6066" name="Rectangle 2"/>
          <p:cNvSpPr>
            <a:spLocks noGrp="1" noChangeArrowheads="1"/>
          </p:cNvSpPr>
          <p:nvPr>
            <p:ph type="ctrTitle"/>
          </p:nvPr>
        </p:nvSpPr>
        <p:spPr>
          <a:xfrm>
            <a:off x="685800" y="1905000"/>
            <a:ext cx="7772400" cy="1470025"/>
          </a:xfrm>
        </p:spPr>
        <p:txBody>
          <a:bodyPr/>
          <a:lstStyle>
            <a:lvl1pPr>
              <a:spcBef>
                <a:spcPct val="20000"/>
              </a:spcBef>
              <a:defRPr sz="3600" smtClean="0"/>
            </a:lvl1pPr>
          </a:lstStyle>
          <a:p>
            <a:r>
              <a:rPr lang="en-US" dirty="0"/>
              <a:t>Click to edit Master title style</a:t>
            </a:r>
          </a:p>
        </p:txBody>
      </p:sp>
      <p:sp>
        <p:nvSpPr>
          <p:cNvPr id="216067" name="Rectangle 3"/>
          <p:cNvSpPr>
            <a:spLocks noGrp="1" noChangeArrowheads="1"/>
          </p:cNvSpPr>
          <p:nvPr>
            <p:ph type="subTitle" idx="1"/>
          </p:nvPr>
        </p:nvSpPr>
        <p:spPr>
          <a:xfrm>
            <a:off x="1371600" y="4114800"/>
            <a:ext cx="6400800" cy="1752600"/>
          </a:xfrm>
          <a:prstGeom prst="rect">
            <a:avLst/>
          </a:prstGeom>
        </p:spPr>
        <p:txBody>
          <a:bodyPr/>
          <a:lstStyle>
            <a:lvl1pPr marL="0" indent="0" algn="ctr">
              <a:buFont typeface="Wingdings" pitchFamily="2" charset="2"/>
              <a:buNone/>
              <a:defRPr smtClean="0"/>
            </a:lvl1pPr>
          </a:lstStyle>
          <a:p>
            <a:r>
              <a:rPr lang="en-US"/>
              <a:t>Click to edit Master subtitle style</a:t>
            </a:r>
          </a:p>
        </p:txBody>
      </p:sp>
    </p:spTree>
    <p:extLst>
      <p:ext uri="{BB962C8B-B14F-4D97-AF65-F5344CB8AC3E}">
        <p14:creationId xmlns:p14="http://schemas.microsoft.com/office/powerpoint/2010/main" val="32098588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200"/>
            </a:lvl1pPr>
          </a:lstStyle>
          <a:p>
            <a:r>
              <a:rPr lang="en-US" dirty="0"/>
              <a:t>Click to edit Master title style</a:t>
            </a:r>
          </a:p>
        </p:txBody>
      </p:sp>
      <p:sp>
        <p:nvSpPr>
          <p:cNvPr id="3" name="Content Placeholder 2"/>
          <p:cNvSpPr>
            <a:spLocks noGrp="1"/>
          </p:cNvSpPr>
          <p:nvPr>
            <p:ph idx="1"/>
          </p:nvPr>
        </p:nvSpPr>
        <p:spPr>
          <a:xfrm>
            <a:off x="663389" y="1120588"/>
            <a:ext cx="8153400" cy="5105400"/>
          </a:xfrm>
          <a:prstGeom prst="rect">
            <a:avLst/>
          </a:prstGeom>
        </p:spPr>
        <p:txBody>
          <a:bodyPr/>
          <a:lstStyle>
            <a:lvl1pPr marL="342900" indent="-342900">
              <a:buClrTx/>
              <a:buFont typeface="Wingdings" charset="2"/>
              <a:buChar char="§"/>
              <a:defRPr sz="2400">
                <a:solidFill>
                  <a:schemeClr val="tx1"/>
                </a:solidFill>
              </a:defRPr>
            </a:lvl1pPr>
            <a:lvl2pPr marL="742950" indent="-285750">
              <a:buClrTx/>
              <a:buFont typeface="Arial"/>
              <a:buChar char="•"/>
              <a:defRPr sz="2200">
                <a:solidFill>
                  <a:schemeClr val="tx1"/>
                </a:solidFill>
              </a:defRPr>
            </a:lvl2pPr>
            <a:lvl3pPr marL="1143000" indent="-228600">
              <a:buClrTx/>
              <a:buFont typeface="Arial"/>
              <a:buChar char="•"/>
              <a:defRPr sz="2000">
                <a:solidFill>
                  <a:schemeClr val="tx1"/>
                </a:solidFill>
              </a:defRPr>
            </a:lvl3pPr>
            <a:lvl4pPr marL="1600200" indent="-228600">
              <a:buClrTx/>
              <a:buFont typeface="Arial"/>
              <a:buChar char="•"/>
              <a:defRPr>
                <a:solidFill>
                  <a:schemeClr val="tx1"/>
                </a:solidFill>
              </a:defRPr>
            </a:lvl4pPr>
            <a:lvl5pPr marL="2057400" indent="-228600">
              <a:buClrTx/>
              <a:buFont typeface="Arial"/>
              <a:buChar cha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7808191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77850" y="168275"/>
            <a:ext cx="8229600" cy="563563"/>
          </a:xfrm>
        </p:spPr>
        <p:txBody>
          <a:bodyPr/>
          <a:lstStyle/>
          <a:p>
            <a:r>
              <a:rPr lang="en-US"/>
              <a:t>Click to edit Master title style</a:t>
            </a:r>
          </a:p>
        </p:txBody>
      </p:sp>
      <p:sp>
        <p:nvSpPr>
          <p:cNvPr id="3" name="Text Placeholder 2"/>
          <p:cNvSpPr>
            <a:spLocks noGrp="1"/>
          </p:cNvSpPr>
          <p:nvPr>
            <p:ph type="body" sz="half" idx="1"/>
          </p:nvPr>
        </p:nvSpPr>
        <p:spPr>
          <a:xfrm>
            <a:off x="577850" y="758825"/>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68850" y="758825"/>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539495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Rectangle 1028"/>
          <p:cNvSpPr>
            <a:spLocks noGrp="1" noChangeArrowheads="1"/>
          </p:cNvSpPr>
          <p:nvPr>
            <p:ph type="dt" sz="half" idx="10"/>
          </p:nvPr>
        </p:nvSpPr>
        <p:spPr>
          <a:xfrm>
            <a:off x="685800" y="6248400"/>
            <a:ext cx="1905000" cy="457200"/>
          </a:xfrm>
          <a:prstGeom prst="rect">
            <a:avLst/>
          </a:prstGeom>
          <a:ln/>
        </p:spPr>
        <p:txBody>
          <a:bodyPr/>
          <a:lstStyle>
            <a:lvl1pPr>
              <a:defRPr/>
            </a:lvl1pPr>
          </a:lstStyle>
          <a:p>
            <a:pPr>
              <a:defRPr/>
            </a:pPr>
            <a:fld id="{53118CC2-884A-4430-8B4F-9976F3C29C24}" type="datetimeFigureOut">
              <a:rPr lang="en-US"/>
              <a:pPr>
                <a:defRPr/>
              </a:pPr>
              <a:t>8/20/2020</a:t>
            </a:fld>
            <a:endParaRPr lang="en-US"/>
          </a:p>
        </p:txBody>
      </p:sp>
      <p:sp>
        <p:nvSpPr>
          <p:cNvPr id="3" name="Rectangle 1029"/>
          <p:cNvSpPr>
            <a:spLocks noGrp="1" noChangeArrowheads="1"/>
          </p:cNvSpPr>
          <p:nvPr>
            <p:ph type="ftr" sz="quarter" idx="11"/>
          </p:nvPr>
        </p:nvSpPr>
        <p:spPr>
          <a:xfrm>
            <a:off x="3124200" y="6248400"/>
            <a:ext cx="2895600" cy="457200"/>
          </a:xfrm>
          <a:prstGeom prst="rect">
            <a:avLst/>
          </a:prstGeom>
          <a:ln/>
        </p:spPr>
        <p:txBody>
          <a:bodyPr/>
          <a:lstStyle>
            <a:lvl1pPr>
              <a:defRPr/>
            </a:lvl1pPr>
          </a:lstStyle>
          <a:p>
            <a:pPr>
              <a:defRPr/>
            </a:pPr>
            <a:endParaRPr lang="en-US" altLang="en-US"/>
          </a:p>
        </p:txBody>
      </p:sp>
      <p:sp>
        <p:nvSpPr>
          <p:cNvPr id="4" name="Rectangle 1030"/>
          <p:cNvSpPr>
            <a:spLocks noGrp="1" noChangeArrowheads="1"/>
          </p:cNvSpPr>
          <p:nvPr>
            <p:ph type="sldNum" sz="quarter" idx="12"/>
          </p:nvPr>
        </p:nvSpPr>
        <p:spPr>
          <a:xfrm>
            <a:off x="6553200" y="6248400"/>
            <a:ext cx="1905000" cy="457200"/>
          </a:xfrm>
          <a:prstGeom prst="rect">
            <a:avLst/>
          </a:prstGeom>
          <a:ln/>
        </p:spPr>
        <p:txBody>
          <a:bodyPr/>
          <a:lstStyle>
            <a:lvl1pPr>
              <a:defRPr/>
            </a:lvl1pPr>
          </a:lstStyle>
          <a:p>
            <a:pPr>
              <a:defRPr/>
            </a:pPr>
            <a:fld id="{91823322-A425-42F9-B4E6-DE1BA6748FF3}" type="slidenum">
              <a:rPr lang="en-US" altLang="en-US"/>
              <a:pPr>
                <a:defRPr/>
              </a:pPr>
              <a:t>‹#›</a:t>
            </a:fld>
            <a:endParaRPr lang="en-US" altLang="en-US"/>
          </a:p>
        </p:txBody>
      </p:sp>
    </p:spTree>
    <p:extLst>
      <p:ext uri="{BB962C8B-B14F-4D97-AF65-F5344CB8AC3E}">
        <p14:creationId xmlns:p14="http://schemas.microsoft.com/office/powerpoint/2010/main" val="483469067"/>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jpe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168275"/>
            <a:ext cx="8153400"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dirty="0"/>
              <a:t>Click to enter page Title</a:t>
            </a:r>
          </a:p>
        </p:txBody>
      </p:sp>
      <p:cxnSp>
        <p:nvCxnSpPr>
          <p:cNvPr id="10" name="Straight Connector 9"/>
          <p:cNvCxnSpPr/>
          <p:nvPr/>
        </p:nvCxnSpPr>
        <p:spPr>
          <a:xfrm>
            <a:off x="76200" y="7620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cxnSp>
        <p:nvCxnSpPr>
          <p:cNvPr id="7" name="Straight Connector 4"/>
          <p:cNvCxnSpPr/>
          <p:nvPr/>
        </p:nvCxnSpPr>
        <p:spPr>
          <a:xfrm>
            <a:off x="76200" y="62484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pic>
        <p:nvPicPr>
          <p:cNvPr id="4" name="Picture 2" descr="http://www.nanobridge.ca/Portals/0/Images/eng-logo.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61999" y="6307038"/>
            <a:ext cx="1838325" cy="5524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15003568"/>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Lst>
  <p:hf hdr="0" ftr="0" dt="0"/>
  <p:txStyles>
    <p:titleStyle>
      <a:lvl1pPr algn="ctr" rtl="0" eaLnBrk="0" fontAlgn="base" hangingPunct="0">
        <a:spcBef>
          <a:spcPct val="0"/>
        </a:spcBef>
        <a:spcAft>
          <a:spcPct val="0"/>
        </a:spcAft>
        <a:defRPr sz="3600" b="1">
          <a:solidFill>
            <a:schemeClr val="accent2"/>
          </a:solidFill>
          <a:latin typeface="Calibri" pitchFamily="34" charset="0"/>
          <a:ea typeface="+mj-ea"/>
          <a:cs typeface="+mj-cs"/>
        </a:defRPr>
      </a:lvl1pPr>
      <a:lvl2pPr algn="ctr" rtl="0" eaLnBrk="0" fontAlgn="base" hangingPunct="0">
        <a:spcBef>
          <a:spcPct val="0"/>
        </a:spcBef>
        <a:spcAft>
          <a:spcPct val="0"/>
        </a:spcAft>
        <a:defRPr sz="3600">
          <a:solidFill>
            <a:srgbClr val="002C5F"/>
          </a:solidFill>
          <a:latin typeface="Calibri" pitchFamily="34" charset="0"/>
        </a:defRPr>
      </a:lvl2pPr>
      <a:lvl3pPr algn="ctr" rtl="0" eaLnBrk="0" fontAlgn="base" hangingPunct="0">
        <a:spcBef>
          <a:spcPct val="0"/>
        </a:spcBef>
        <a:spcAft>
          <a:spcPct val="0"/>
        </a:spcAft>
        <a:defRPr sz="3600">
          <a:solidFill>
            <a:srgbClr val="002C5F"/>
          </a:solidFill>
          <a:latin typeface="Calibri" pitchFamily="34" charset="0"/>
        </a:defRPr>
      </a:lvl3pPr>
      <a:lvl4pPr algn="ctr" rtl="0" eaLnBrk="0" fontAlgn="base" hangingPunct="0">
        <a:spcBef>
          <a:spcPct val="0"/>
        </a:spcBef>
        <a:spcAft>
          <a:spcPct val="0"/>
        </a:spcAft>
        <a:defRPr sz="3600">
          <a:solidFill>
            <a:srgbClr val="002C5F"/>
          </a:solidFill>
          <a:latin typeface="Calibri" pitchFamily="34" charset="0"/>
        </a:defRPr>
      </a:lvl4pPr>
      <a:lvl5pPr algn="ctr" rtl="0" eaLnBrk="0" fontAlgn="base" hangingPunct="0">
        <a:spcBef>
          <a:spcPct val="0"/>
        </a:spcBef>
        <a:spcAft>
          <a:spcPct val="0"/>
        </a:spcAft>
        <a:defRPr sz="3600">
          <a:solidFill>
            <a:srgbClr val="002C5F"/>
          </a:solidFill>
          <a:latin typeface="Calibri" pitchFamily="34" charset="0"/>
        </a:defRPr>
      </a:lvl5pPr>
      <a:lvl6pPr marL="457200" algn="ctr" rtl="0" fontAlgn="base">
        <a:spcBef>
          <a:spcPct val="0"/>
        </a:spcBef>
        <a:spcAft>
          <a:spcPct val="0"/>
        </a:spcAft>
        <a:defRPr sz="3600" b="1">
          <a:solidFill>
            <a:srgbClr val="002C5F"/>
          </a:solidFill>
          <a:latin typeface="Arial" charset="0"/>
        </a:defRPr>
      </a:lvl6pPr>
      <a:lvl7pPr marL="914400" algn="ctr" rtl="0" fontAlgn="base">
        <a:spcBef>
          <a:spcPct val="0"/>
        </a:spcBef>
        <a:spcAft>
          <a:spcPct val="0"/>
        </a:spcAft>
        <a:defRPr sz="3600" b="1">
          <a:solidFill>
            <a:srgbClr val="002C5F"/>
          </a:solidFill>
          <a:latin typeface="Arial" charset="0"/>
        </a:defRPr>
      </a:lvl7pPr>
      <a:lvl8pPr marL="1371600" algn="ctr" rtl="0" fontAlgn="base">
        <a:spcBef>
          <a:spcPct val="0"/>
        </a:spcBef>
        <a:spcAft>
          <a:spcPct val="0"/>
        </a:spcAft>
        <a:defRPr sz="3600" b="1">
          <a:solidFill>
            <a:srgbClr val="002C5F"/>
          </a:solidFill>
          <a:latin typeface="Arial" charset="0"/>
        </a:defRPr>
      </a:lvl8pPr>
      <a:lvl9pPr marL="1828800" algn="ctr" rtl="0" fontAlgn="base">
        <a:spcBef>
          <a:spcPct val="0"/>
        </a:spcBef>
        <a:spcAft>
          <a:spcPct val="0"/>
        </a:spcAft>
        <a:defRPr sz="3600" b="1">
          <a:solidFill>
            <a:srgbClr val="002C5F"/>
          </a:solidFill>
          <a:latin typeface="Arial" charset="0"/>
        </a:defRPr>
      </a:lvl9pPr>
    </p:titleStyle>
    <p:bodyStyle>
      <a:lvl1pPr marL="342900" indent="-342900" algn="l" rtl="0" eaLnBrk="0" fontAlgn="base" hangingPunct="0">
        <a:spcBef>
          <a:spcPct val="20000"/>
        </a:spcBef>
        <a:spcAft>
          <a:spcPct val="0"/>
        </a:spcAft>
        <a:buClr>
          <a:srgbClr val="AA9C8F"/>
        </a:buClr>
        <a:buFont typeface="Wingdings" pitchFamily="2" charset="2"/>
        <a:buChar char="§"/>
        <a:defRPr sz="2800">
          <a:solidFill>
            <a:srgbClr val="4D4D4D"/>
          </a:solidFill>
          <a:latin typeface="Calibri" pitchFamily="34" charset="0"/>
          <a:ea typeface="+mn-ea"/>
          <a:cs typeface="+mn-cs"/>
        </a:defRPr>
      </a:lvl1pPr>
      <a:lvl2pPr marL="742950" indent="-285750" algn="l" rtl="0" eaLnBrk="0" fontAlgn="base" hangingPunct="0">
        <a:spcBef>
          <a:spcPct val="20000"/>
        </a:spcBef>
        <a:spcAft>
          <a:spcPct val="0"/>
        </a:spcAft>
        <a:buClr>
          <a:srgbClr val="C75B12"/>
        </a:buClr>
        <a:buFont typeface="Wingdings" pitchFamily="2" charset="2"/>
        <a:buChar char="§"/>
        <a:defRPr sz="2600">
          <a:solidFill>
            <a:schemeClr val="tx1"/>
          </a:solidFill>
          <a:latin typeface="Calibri" pitchFamily="34" charset="0"/>
        </a:defRPr>
      </a:lvl2pPr>
      <a:lvl3pPr marL="1143000" indent="-228600" algn="l" rtl="0" eaLnBrk="0" fontAlgn="base" hangingPunct="0">
        <a:spcBef>
          <a:spcPct val="20000"/>
        </a:spcBef>
        <a:spcAft>
          <a:spcPct val="0"/>
        </a:spcAft>
        <a:buClr>
          <a:srgbClr val="C75B12"/>
        </a:buClr>
        <a:buFont typeface="Wingdings" pitchFamily="2" charset="2"/>
        <a:buChar char="§"/>
        <a:defRPr sz="2400">
          <a:solidFill>
            <a:schemeClr val="tx1"/>
          </a:solidFill>
          <a:latin typeface="Calibri" pitchFamily="34" charset="0"/>
        </a:defRPr>
      </a:lvl3pPr>
      <a:lvl4pPr marL="16002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4pPr>
      <a:lvl5pPr marL="20574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5pPr>
      <a:lvl6pPr marL="25146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6pPr>
      <a:lvl7pPr marL="29718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7pPr>
      <a:lvl8pPr marL="34290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8pPr>
      <a:lvl9pPr marL="38862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txBox="1">
            <a:spLocks noChangeArrowheads="1"/>
          </p:cNvSpPr>
          <p:nvPr/>
        </p:nvSpPr>
        <p:spPr bwMode="auto">
          <a:xfrm>
            <a:off x="228600" y="838200"/>
            <a:ext cx="8610600" cy="1662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ctr" rtl="0" eaLnBrk="0" fontAlgn="base" hangingPunct="0">
              <a:spcBef>
                <a:spcPct val="0"/>
              </a:spcBef>
              <a:spcAft>
                <a:spcPct val="0"/>
              </a:spcAft>
              <a:defRPr sz="3600" b="1">
                <a:solidFill>
                  <a:schemeClr val="accent2"/>
                </a:solidFill>
                <a:latin typeface="Calibri" pitchFamily="34" charset="0"/>
                <a:ea typeface="+mj-ea"/>
                <a:cs typeface="+mj-cs"/>
              </a:defRPr>
            </a:lvl1pPr>
            <a:lvl2pPr algn="ctr" rtl="0" eaLnBrk="0" fontAlgn="base" hangingPunct="0">
              <a:spcBef>
                <a:spcPct val="0"/>
              </a:spcBef>
              <a:spcAft>
                <a:spcPct val="0"/>
              </a:spcAft>
              <a:defRPr sz="3600">
                <a:solidFill>
                  <a:srgbClr val="002C5F"/>
                </a:solidFill>
                <a:latin typeface="Calibri" pitchFamily="34" charset="0"/>
              </a:defRPr>
            </a:lvl2pPr>
            <a:lvl3pPr algn="ctr" rtl="0" eaLnBrk="0" fontAlgn="base" hangingPunct="0">
              <a:spcBef>
                <a:spcPct val="0"/>
              </a:spcBef>
              <a:spcAft>
                <a:spcPct val="0"/>
              </a:spcAft>
              <a:defRPr sz="3600">
                <a:solidFill>
                  <a:srgbClr val="002C5F"/>
                </a:solidFill>
                <a:latin typeface="Calibri" pitchFamily="34" charset="0"/>
              </a:defRPr>
            </a:lvl3pPr>
            <a:lvl4pPr algn="ctr" rtl="0" eaLnBrk="0" fontAlgn="base" hangingPunct="0">
              <a:spcBef>
                <a:spcPct val="0"/>
              </a:spcBef>
              <a:spcAft>
                <a:spcPct val="0"/>
              </a:spcAft>
              <a:defRPr sz="3600">
                <a:solidFill>
                  <a:srgbClr val="002C5F"/>
                </a:solidFill>
                <a:latin typeface="Calibri" pitchFamily="34" charset="0"/>
              </a:defRPr>
            </a:lvl4pPr>
            <a:lvl5pPr algn="ctr" rtl="0" eaLnBrk="0" fontAlgn="base" hangingPunct="0">
              <a:spcBef>
                <a:spcPct val="0"/>
              </a:spcBef>
              <a:spcAft>
                <a:spcPct val="0"/>
              </a:spcAft>
              <a:defRPr sz="3600">
                <a:solidFill>
                  <a:srgbClr val="002C5F"/>
                </a:solidFill>
                <a:latin typeface="Calibri" pitchFamily="34" charset="0"/>
              </a:defRPr>
            </a:lvl5pPr>
            <a:lvl6pPr marL="457200" algn="ctr" rtl="0" fontAlgn="base">
              <a:spcBef>
                <a:spcPct val="0"/>
              </a:spcBef>
              <a:spcAft>
                <a:spcPct val="0"/>
              </a:spcAft>
              <a:defRPr sz="3600" b="1">
                <a:solidFill>
                  <a:srgbClr val="002C5F"/>
                </a:solidFill>
                <a:latin typeface="Arial" charset="0"/>
              </a:defRPr>
            </a:lvl6pPr>
            <a:lvl7pPr marL="914400" algn="ctr" rtl="0" fontAlgn="base">
              <a:spcBef>
                <a:spcPct val="0"/>
              </a:spcBef>
              <a:spcAft>
                <a:spcPct val="0"/>
              </a:spcAft>
              <a:defRPr sz="3600" b="1">
                <a:solidFill>
                  <a:srgbClr val="002C5F"/>
                </a:solidFill>
                <a:latin typeface="Arial" charset="0"/>
              </a:defRPr>
            </a:lvl7pPr>
            <a:lvl8pPr marL="1371600" algn="ctr" rtl="0" fontAlgn="base">
              <a:spcBef>
                <a:spcPct val="0"/>
              </a:spcBef>
              <a:spcAft>
                <a:spcPct val="0"/>
              </a:spcAft>
              <a:defRPr sz="3600" b="1">
                <a:solidFill>
                  <a:srgbClr val="002C5F"/>
                </a:solidFill>
                <a:latin typeface="Arial" charset="0"/>
              </a:defRPr>
            </a:lvl8pPr>
            <a:lvl9pPr marL="1828800" algn="ctr" rtl="0" fontAlgn="base">
              <a:spcBef>
                <a:spcPct val="0"/>
              </a:spcBef>
              <a:spcAft>
                <a:spcPct val="0"/>
              </a:spcAft>
              <a:defRPr sz="3600" b="1">
                <a:solidFill>
                  <a:srgbClr val="002C5F"/>
                </a:solidFill>
                <a:latin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CA" altLang="en-US" sz="3600" b="1" i="1" u="none" strike="noStrike" kern="0" cap="none" spc="0" normalizeH="0" baseline="0" noProof="0" dirty="0">
                <a:ln>
                  <a:noFill/>
                </a:ln>
                <a:solidFill>
                  <a:srgbClr val="000099"/>
                </a:solidFill>
                <a:effectLst/>
                <a:uLnTx/>
                <a:uFillTx/>
                <a:latin typeface="Calibri" pitchFamily="34" charset="0"/>
                <a:ea typeface="ＭＳ Ｐゴシック" panose="020B0600070205080204" pitchFamily="34" charset="-128"/>
                <a:cs typeface="+mj-cs"/>
              </a:rPr>
              <a:t>On Becoming a </a:t>
            </a:r>
            <a:br>
              <a:rPr kumimoji="0" lang="en-CA" altLang="en-US" sz="3600" b="1" i="1" u="none" strike="noStrike" kern="0" cap="none" spc="0" normalizeH="0" baseline="0" noProof="0" dirty="0">
                <a:ln>
                  <a:noFill/>
                </a:ln>
                <a:solidFill>
                  <a:srgbClr val="000099"/>
                </a:solidFill>
                <a:effectLst/>
                <a:uLnTx/>
                <a:uFillTx/>
                <a:latin typeface="Calibri" pitchFamily="34" charset="0"/>
                <a:ea typeface="ＭＳ Ｐゴシック" panose="020B0600070205080204" pitchFamily="34" charset="-128"/>
                <a:cs typeface="+mj-cs"/>
              </a:rPr>
            </a:br>
            <a:r>
              <a:rPr kumimoji="0" lang="en-CA" altLang="en-US" sz="3600" b="1" i="1" u="none" strike="noStrike" kern="0" cap="none" spc="0" normalizeH="0" baseline="0" noProof="0" dirty="0">
                <a:ln>
                  <a:noFill/>
                </a:ln>
                <a:solidFill>
                  <a:srgbClr val="000099"/>
                </a:solidFill>
                <a:effectLst/>
                <a:uLnTx/>
                <a:uFillTx/>
                <a:latin typeface="Calibri" pitchFamily="34" charset="0"/>
                <a:ea typeface="ＭＳ Ｐゴシック" panose="020B0600070205080204" pitchFamily="34" charset="-128"/>
                <a:cs typeface="+mj-cs"/>
              </a:rPr>
              <a:t>Leader in Risk Management</a:t>
            </a:r>
          </a:p>
          <a:p>
            <a:pPr marL="0" marR="0" lvl="0" indent="0" algn="ctr" defTabSz="914400" rtl="0" eaLnBrk="1" fontAlgn="base" latinLnBrk="0" hangingPunct="1">
              <a:lnSpc>
                <a:spcPct val="100000"/>
              </a:lnSpc>
              <a:spcBef>
                <a:spcPct val="0"/>
              </a:spcBef>
              <a:spcAft>
                <a:spcPct val="0"/>
              </a:spcAft>
              <a:buClr>
                <a:srgbClr val="AA9C8F"/>
              </a:buClr>
              <a:buSzTx/>
              <a:buFontTx/>
              <a:buNone/>
              <a:tabLst/>
              <a:defRPr/>
            </a:pPr>
            <a:r>
              <a:rPr kumimoji="0" lang="en-US" altLang="en-US" sz="3200" b="1"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ENGG404 - Lecture</a:t>
            </a:r>
            <a:endParaRPr kumimoji="0" lang="en-US" altLang="en-US" sz="3600" b="1" i="1" u="none" strike="noStrike" kern="0" cap="none" spc="0" normalizeH="0" baseline="0" noProof="0" dirty="0">
              <a:ln>
                <a:noFill/>
              </a:ln>
              <a:solidFill>
                <a:srgbClr val="000099"/>
              </a:solidFill>
              <a:effectLst/>
              <a:uLnTx/>
              <a:uFillTx/>
              <a:latin typeface="Calibri" pitchFamily="34" charset="0"/>
              <a:ea typeface="ＭＳ Ｐゴシック" panose="020B0600070205080204" pitchFamily="34" charset="-128"/>
              <a:cs typeface="+mj-cs"/>
            </a:endParaRPr>
          </a:p>
        </p:txBody>
      </p:sp>
      <p:sp>
        <p:nvSpPr>
          <p:cNvPr id="8" name="Rectangle 3"/>
          <p:cNvSpPr>
            <a:spLocks noGrp="1" noChangeArrowheads="1"/>
          </p:cNvSpPr>
          <p:nvPr>
            <p:ph type="subTitle" idx="4294967295"/>
          </p:nvPr>
        </p:nvSpPr>
        <p:spPr>
          <a:xfrm>
            <a:off x="838200" y="2500342"/>
            <a:ext cx="7315201" cy="22240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indent="0" algn="ctr" eaLnBrk="1" hangingPunct="1">
              <a:spcBef>
                <a:spcPct val="0"/>
              </a:spcBef>
              <a:buNone/>
            </a:pPr>
            <a:r>
              <a:rPr lang="en-US"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Glossary</a:t>
            </a:r>
          </a:p>
        </p:txBody>
      </p:sp>
      <p:sp>
        <p:nvSpPr>
          <p:cNvPr id="9" name="TextBox 8">
            <a:extLst>
              <a:ext uri="{FF2B5EF4-FFF2-40B4-BE49-F238E27FC236}">
                <a16:creationId xmlns:a16="http://schemas.microsoft.com/office/drawing/2014/main" id="{45837290-7F22-4D42-BFDD-D5AD4C09C01F}"/>
              </a:ext>
            </a:extLst>
          </p:cNvPr>
          <p:cNvSpPr txBox="1"/>
          <p:nvPr/>
        </p:nvSpPr>
        <p:spPr>
          <a:xfrm>
            <a:off x="152402" y="176015"/>
            <a:ext cx="1176817" cy="461665"/>
          </a:xfrm>
          <a:prstGeom prst="rect">
            <a:avLst/>
          </a:prstGeom>
          <a:solidFill>
            <a:srgbClr val="FFFF00"/>
          </a:solid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solidFill>
                  <a:srgbClr val="000000"/>
                </a:solidFill>
                <a:effectLst/>
                <a:uLnTx/>
                <a:uFillTx/>
                <a:latin typeface="Calibri" panose="020F0502020204030204"/>
                <a:ea typeface="ＭＳ Ｐゴシック" panose="020B0600070205080204" pitchFamily="34" charset="-128"/>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Fundamentals of RM</a:t>
            </a:r>
          </a:p>
        </p:txBody>
      </p:sp>
      <p:sp>
        <p:nvSpPr>
          <p:cNvPr id="10" name="TextBox 9">
            <a:extLst>
              <a:ext uri="{FF2B5EF4-FFF2-40B4-BE49-F238E27FC236}">
                <a16:creationId xmlns:a16="http://schemas.microsoft.com/office/drawing/2014/main" id="{7618FDCA-D6EA-3540-8AE2-F6CD31336ABE}"/>
              </a:ext>
            </a:extLst>
          </p:cNvPr>
          <p:cNvSpPr txBox="1"/>
          <p:nvPr/>
        </p:nvSpPr>
        <p:spPr>
          <a:xfrm>
            <a:off x="1481037" y="169908"/>
            <a:ext cx="1024999" cy="461665"/>
          </a:xfrm>
          <a:prstGeom prst="rect">
            <a:avLst/>
          </a:prstGeom>
          <a:solidFill>
            <a:sysClr val="window" lastClr="FFFFFF"/>
          </a:solidFill>
          <a:ln w="12700" cap="flat" cmpd="sng" algn="ctr">
            <a:solidFill>
              <a:schemeClr val="tx1"/>
            </a:solidFill>
            <a:prstDash val="solid"/>
            <a:miter lim="800000"/>
          </a:ln>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RM System and Process</a:t>
            </a:r>
          </a:p>
        </p:txBody>
      </p:sp>
      <p:sp>
        <p:nvSpPr>
          <p:cNvPr id="11" name="TextBox 10">
            <a:extLst>
              <a:ext uri="{FF2B5EF4-FFF2-40B4-BE49-F238E27FC236}">
                <a16:creationId xmlns:a16="http://schemas.microsoft.com/office/drawing/2014/main" id="{45BC740A-AE56-7744-84D0-32724BDFA21D}"/>
              </a:ext>
            </a:extLst>
          </p:cNvPr>
          <p:cNvSpPr txBox="1"/>
          <p:nvPr/>
        </p:nvSpPr>
        <p:spPr>
          <a:xfrm>
            <a:off x="7874130" y="169908"/>
            <a:ext cx="1155550" cy="461665"/>
          </a:xfrm>
          <a:prstGeom prst="rect">
            <a:avLst/>
          </a:prstGeom>
          <a:no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Application and Perspectives</a:t>
            </a:r>
          </a:p>
        </p:txBody>
      </p:sp>
      <p:sp>
        <p:nvSpPr>
          <p:cNvPr id="12" name="TextBox 11">
            <a:extLst>
              <a:ext uri="{FF2B5EF4-FFF2-40B4-BE49-F238E27FC236}">
                <a16:creationId xmlns:a16="http://schemas.microsoft.com/office/drawing/2014/main" id="{0A7D91E5-FF6E-C346-BD54-1494F0C62548}"/>
              </a:ext>
            </a:extLst>
          </p:cNvPr>
          <p:cNvSpPr txBox="1"/>
          <p:nvPr/>
        </p:nvSpPr>
        <p:spPr>
          <a:xfrm>
            <a:off x="7051217" y="169908"/>
            <a:ext cx="671096" cy="461665"/>
          </a:xfrm>
          <a:prstGeom prst="rect">
            <a:avLst/>
          </a:prstGeom>
          <a:solidFill>
            <a:sysClr val="window" lastClr="FFFFFF"/>
          </a:solidFill>
          <a:ln w="12700" cap="flat" cmpd="sng" algn="ctr">
            <a:solidFill>
              <a:schemeClr val="tx1"/>
            </a:solidFill>
            <a:prstDash val="solid"/>
            <a:miter lim="800000"/>
          </a:ln>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People &amp; Org.</a:t>
            </a:r>
          </a:p>
        </p:txBody>
      </p:sp>
      <p:sp>
        <p:nvSpPr>
          <p:cNvPr id="13" name="TextBox 12">
            <a:extLst>
              <a:ext uri="{FF2B5EF4-FFF2-40B4-BE49-F238E27FC236}">
                <a16:creationId xmlns:a16="http://schemas.microsoft.com/office/drawing/2014/main" id="{00457A8C-8AD1-BC48-A393-2CA6461462C7}"/>
              </a:ext>
            </a:extLst>
          </p:cNvPr>
          <p:cNvSpPr txBox="1"/>
          <p:nvPr/>
        </p:nvSpPr>
        <p:spPr>
          <a:xfrm>
            <a:off x="3834670" y="169908"/>
            <a:ext cx="1024999" cy="461665"/>
          </a:xfrm>
          <a:prstGeom prst="rect">
            <a:avLst/>
          </a:prstGeom>
          <a:solidFill>
            <a:srgbClr val="FFFFFF"/>
          </a:solidFill>
          <a:ln w="12700" cap="flat" cmpd="sng" algn="ctr">
            <a:solidFill>
              <a:schemeClr val="tx1"/>
            </a:solidFill>
            <a:prstDash val="solid"/>
            <a:miter lim="800000"/>
          </a:ln>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Incident Investigation</a:t>
            </a:r>
          </a:p>
        </p:txBody>
      </p:sp>
      <p:sp>
        <p:nvSpPr>
          <p:cNvPr id="14" name="TextBox 13">
            <a:extLst>
              <a:ext uri="{FF2B5EF4-FFF2-40B4-BE49-F238E27FC236}">
                <a16:creationId xmlns:a16="http://schemas.microsoft.com/office/drawing/2014/main" id="{D7E14612-2C60-CA49-88DC-A40274E52BE8}"/>
              </a:ext>
            </a:extLst>
          </p:cNvPr>
          <p:cNvSpPr txBox="1"/>
          <p:nvPr/>
        </p:nvSpPr>
        <p:spPr>
          <a:xfrm>
            <a:off x="5011486" y="169908"/>
            <a:ext cx="1024999" cy="461665"/>
          </a:xfrm>
          <a:prstGeom prst="rect">
            <a:avLst/>
          </a:prstGeom>
          <a:solidFill>
            <a:srgbClr val="FFFFFF"/>
          </a:solid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RM Tools &amp; Challenges</a:t>
            </a:r>
          </a:p>
        </p:txBody>
      </p:sp>
      <p:sp>
        <p:nvSpPr>
          <p:cNvPr id="15" name="TextBox 14">
            <a:extLst>
              <a:ext uri="{FF2B5EF4-FFF2-40B4-BE49-F238E27FC236}">
                <a16:creationId xmlns:a16="http://schemas.microsoft.com/office/drawing/2014/main" id="{F48AF929-DEC8-B045-BD5C-00378213E2AE}"/>
              </a:ext>
            </a:extLst>
          </p:cNvPr>
          <p:cNvSpPr txBox="1"/>
          <p:nvPr/>
        </p:nvSpPr>
        <p:spPr>
          <a:xfrm>
            <a:off x="2657853" y="170432"/>
            <a:ext cx="1024999" cy="461665"/>
          </a:xfrm>
          <a:prstGeom prst="rect">
            <a:avLst/>
          </a:prstGeom>
          <a:no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Leadership in RM</a:t>
            </a:r>
          </a:p>
        </p:txBody>
      </p:sp>
      <p:cxnSp>
        <p:nvCxnSpPr>
          <p:cNvPr id="16" name="Straight Arrow Connector 15">
            <a:extLst>
              <a:ext uri="{FF2B5EF4-FFF2-40B4-BE49-F238E27FC236}">
                <a16:creationId xmlns:a16="http://schemas.microsoft.com/office/drawing/2014/main" id="{194E84B9-8682-8C4B-A72E-1FFEAF78256B}"/>
              </a:ext>
            </a:extLst>
          </p:cNvPr>
          <p:cNvCxnSpPr>
            <a:cxnSpLocks/>
            <a:stCxn id="9" idx="3"/>
            <a:endCxn id="10" idx="1"/>
          </p:cNvCxnSpPr>
          <p:nvPr/>
        </p:nvCxnSpPr>
        <p:spPr>
          <a:xfrm flipV="1">
            <a:off x="1329217" y="400741"/>
            <a:ext cx="151818" cy="6107"/>
          </a:xfrm>
          <a:prstGeom prst="straightConnector1">
            <a:avLst/>
          </a:prstGeom>
          <a:noFill/>
          <a:ln w="6350" cap="flat" cmpd="sng" algn="ctr">
            <a:solidFill>
              <a:schemeClr val="tx1"/>
            </a:solidFill>
            <a:prstDash val="solid"/>
            <a:miter lim="800000"/>
            <a:tailEnd type="triangle"/>
          </a:ln>
          <a:effectLst/>
        </p:spPr>
      </p:cxnSp>
      <p:cxnSp>
        <p:nvCxnSpPr>
          <p:cNvPr id="17" name="Straight Arrow Connector 16">
            <a:extLst>
              <a:ext uri="{FF2B5EF4-FFF2-40B4-BE49-F238E27FC236}">
                <a16:creationId xmlns:a16="http://schemas.microsoft.com/office/drawing/2014/main" id="{BCED6320-D6B4-374B-AE59-18735BF60E66}"/>
              </a:ext>
            </a:extLst>
          </p:cNvPr>
          <p:cNvCxnSpPr>
            <a:stCxn id="10" idx="3"/>
            <a:endCxn id="15" idx="1"/>
          </p:cNvCxnSpPr>
          <p:nvPr/>
        </p:nvCxnSpPr>
        <p:spPr>
          <a:xfrm>
            <a:off x="2506036" y="400739"/>
            <a:ext cx="151817" cy="524"/>
          </a:xfrm>
          <a:prstGeom prst="straightConnector1">
            <a:avLst/>
          </a:prstGeom>
          <a:noFill/>
          <a:ln w="6350" cap="flat" cmpd="sng" algn="ctr">
            <a:solidFill>
              <a:schemeClr val="tx1"/>
            </a:solidFill>
            <a:prstDash val="solid"/>
            <a:miter lim="800000"/>
            <a:tailEnd type="triangle"/>
          </a:ln>
          <a:effectLst/>
        </p:spPr>
      </p:cxnSp>
      <p:cxnSp>
        <p:nvCxnSpPr>
          <p:cNvPr id="18" name="Straight Arrow Connector 17">
            <a:extLst>
              <a:ext uri="{FF2B5EF4-FFF2-40B4-BE49-F238E27FC236}">
                <a16:creationId xmlns:a16="http://schemas.microsoft.com/office/drawing/2014/main" id="{BA27112B-E9F0-2348-9B20-FB76B2277E3D}"/>
              </a:ext>
            </a:extLst>
          </p:cNvPr>
          <p:cNvCxnSpPr>
            <a:stCxn id="15" idx="3"/>
            <a:endCxn id="13" idx="1"/>
          </p:cNvCxnSpPr>
          <p:nvPr/>
        </p:nvCxnSpPr>
        <p:spPr>
          <a:xfrm flipV="1">
            <a:off x="3682853" y="400739"/>
            <a:ext cx="151817" cy="524"/>
          </a:xfrm>
          <a:prstGeom prst="straightConnector1">
            <a:avLst/>
          </a:prstGeom>
          <a:noFill/>
          <a:ln w="6350" cap="flat" cmpd="sng" algn="ctr">
            <a:solidFill>
              <a:schemeClr val="tx1"/>
            </a:solidFill>
            <a:prstDash val="solid"/>
            <a:miter lim="800000"/>
            <a:tailEnd type="triangle"/>
          </a:ln>
          <a:effectLst/>
        </p:spPr>
      </p:cxnSp>
      <p:cxnSp>
        <p:nvCxnSpPr>
          <p:cNvPr id="19" name="Straight Arrow Connector 18">
            <a:extLst>
              <a:ext uri="{FF2B5EF4-FFF2-40B4-BE49-F238E27FC236}">
                <a16:creationId xmlns:a16="http://schemas.microsoft.com/office/drawing/2014/main" id="{D6FCC88D-6DFA-474E-80EC-662B2D4B909B}"/>
              </a:ext>
            </a:extLst>
          </p:cNvPr>
          <p:cNvCxnSpPr>
            <a:stCxn id="13" idx="3"/>
            <a:endCxn id="14" idx="1"/>
          </p:cNvCxnSpPr>
          <p:nvPr/>
        </p:nvCxnSpPr>
        <p:spPr>
          <a:xfrm>
            <a:off x="4859669" y="400741"/>
            <a:ext cx="151817" cy="0"/>
          </a:xfrm>
          <a:prstGeom prst="straightConnector1">
            <a:avLst/>
          </a:prstGeom>
          <a:noFill/>
          <a:ln w="6350" cap="flat" cmpd="sng" algn="ctr">
            <a:solidFill>
              <a:schemeClr val="tx1"/>
            </a:solidFill>
            <a:prstDash val="solid"/>
            <a:miter lim="800000"/>
            <a:tailEnd type="triangle"/>
          </a:ln>
          <a:effectLst/>
        </p:spPr>
      </p:cxnSp>
      <p:cxnSp>
        <p:nvCxnSpPr>
          <p:cNvPr id="20" name="Straight Arrow Connector 19">
            <a:extLst>
              <a:ext uri="{FF2B5EF4-FFF2-40B4-BE49-F238E27FC236}">
                <a16:creationId xmlns:a16="http://schemas.microsoft.com/office/drawing/2014/main" id="{5CA7384E-C04D-ED41-9740-B0199EA1890A}"/>
              </a:ext>
            </a:extLst>
          </p:cNvPr>
          <p:cNvCxnSpPr>
            <a:cxnSpLocks/>
            <a:stCxn id="14" idx="3"/>
          </p:cNvCxnSpPr>
          <p:nvPr/>
        </p:nvCxnSpPr>
        <p:spPr>
          <a:xfrm flipV="1">
            <a:off x="6036485" y="400740"/>
            <a:ext cx="151816" cy="1"/>
          </a:xfrm>
          <a:prstGeom prst="straightConnector1">
            <a:avLst/>
          </a:prstGeom>
          <a:noFill/>
          <a:ln w="6350" cap="flat" cmpd="sng" algn="ctr">
            <a:solidFill>
              <a:schemeClr val="tx1"/>
            </a:solidFill>
            <a:prstDash val="solid"/>
            <a:miter lim="800000"/>
            <a:tailEnd type="triangle"/>
          </a:ln>
          <a:effectLst/>
        </p:spPr>
      </p:cxnSp>
      <p:cxnSp>
        <p:nvCxnSpPr>
          <p:cNvPr id="21" name="Straight Arrow Connector 20">
            <a:extLst>
              <a:ext uri="{FF2B5EF4-FFF2-40B4-BE49-F238E27FC236}">
                <a16:creationId xmlns:a16="http://schemas.microsoft.com/office/drawing/2014/main" id="{F37C1AD4-35C5-B84F-A011-FC352A9DC134}"/>
              </a:ext>
            </a:extLst>
          </p:cNvPr>
          <p:cNvCxnSpPr>
            <a:cxnSpLocks/>
            <a:endCxn id="12" idx="1"/>
          </p:cNvCxnSpPr>
          <p:nvPr/>
        </p:nvCxnSpPr>
        <p:spPr>
          <a:xfrm flipV="1">
            <a:off x="6899402" y="400741"/>
            <a:ext cx="151817" cy="1"/>
          </a:xfrm>
          <a:prstGeom prst="straightConnector1">
            <a:avLst/>
          </a:prstGeom>
          <a:noFill/>
          <a:ln w="6350" cap="flat" cmpd="sng" algn="ctr">
            <a:solidFill>
              <a:schemeClr val="tx1"/>
            </a:solidFill>
            <a:prstDash val="solid"/>
            <a:miter lim="800000"/>
            <a:tailEnd type="triangle"/>
          </a:ln>
          <a:effectLst/>
        </p:spPr>
      </p:cxnSp>
      <p:cxnSp>
        <p:nvCxnSpPr>
          <p:cNvPr id="22" name="Straight Arrow Connector 21">
            <a:extLst>
              <a:ext uri="{FF2B5EF4-FFF2-40B4-BE49-F238E27FC236}">
                <a16:creationId xmlns:a16="http://schemas.microsoft.com/office/drawing/2014/main" id="{A40B8989-9D9A-DE41-B118-0BB225CC7043}"/>
              </a:ext>
            </a:extLst>
          </p:cNvPr>
          <p:cNvCxnSpPr>
            <a:stCxn id="12" idx="3"/>
            <a:endCxn id="11" idx="1"/>
          </p:cNvCxnSpPr>
          <p:nvPr/>
        </p:nvCxnSpPr>
        <p:spPr>
          <a:xfrm>
            <a:off x="7722315" y="400739"/>
            <a:ext cx="151817" cy="0"/>
          </a:xfrm>
          <a:prstGeom prst="straightConnector1">
            <a:avLst/>
          </a:prstGeom>
          <a:noFill/>
          <a:ln w="6350" cap="flat" cmpd="sng" algn="ctr">
            <a:solidFill>
              <a:schemeClr val="tx1"/>
            </a:solidFill>
            <a:prstDash val="solid"/>
            <a:miter lim="800000"/>
            <a:tailEnd type="triangle"/>
          </a:ln>
          <a:effectLst/>
        </p:spPr>
      </p:cxnSp>
      <p:sp>
        <p:nvSpPr>
          <p:cNvPr id="23" name="TextBox 22">
            <a:extLst>
              <a:ext uri="{FF2B5EF4-FFF2-40B4-BE49-F238E27FC236}">
                <a16:creationId xmlns:a16="http://schemas.microsoft.com/office/drawing/2014/main" id="{E97011C2-9A0B-664B-83CB-DE2410B86B87}"/>
              </a:ext>
            </a:extLst>
          </p:cNvPr>
          <p:cNvSpPr txBox="1"/>
          <p:nvPr/>
        </p:nvSpPr>
        <p:spPr>
          <a:xfrm>
            <a:off x="6188301" y="169907"/>
            <a:ext cx="692362" cy="461665"/>
          </a:xfrm>
          <a:prstGeom prst="rect">
            <a:avLst/>
          </a:prstGeom>
          <a:no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RM in Industry</a:t>
            </a:r>
          </a:p>
        </p:txBody>
      </p:sp>
      <p:pic>
        <p:nvPicPr>
          <p:cNvPr id="24" name="Picture 2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1182" y="4405529"/>
            <a:ext cx="1766671" cy="1766671"/>
          </a:xfrm>
          <a:prstGeom prst="rect">
            <a:avLst/>
          </a:prstGeom>
        </p:spPr>
      </p:pic>
      <p:pic>
        <p:nvPicPr>
          <p:cNvPr id="25" name="Picture 24" descr="Introduction to Sociology - 2013 - The Collaboratory"/>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500" y="4405342"/>
            <a:ext cx="2590300" cy="1766857"/>
          </a:xfrm>
          <a:prstGeom prst="rect">
            <a:avLst/>
          </a:prstGeom>
        </p:spPr>
      </p:pic>
    </p:spTree>
    <p:extLst>
      <p:ext uri="{BB962C8B-B14F-4D97-AF65-F5344CB8AC3E}">
        <p14:creationId xmlns:p14="http://schemas.microsoft.com/office/powerpoint/2010/main" val="33949375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Generalize the terminology widely used in the field of risk management. </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Find the important terms. </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Differentiate between terms. </a:t>
            </a:r>
          </a:p>
          <a:p>
            <a:pPr marL="0" marR="0" lvl="0" indent="0" algn="l" defTabSz="914400" rtl="0" eaLnBrk="0" fontAlgn="base" latinLnBrk="0" hangingPunct="0">
              <a:lnSpc>
                <a:spcPct val="100000"/>
              </a:lnSpc>
              <a:spcBef>
                <a:spcPts val="0"/>
              </a:spcBef>
              <a:spcAft>
                <a:spcPct val="0"/>
              </a:spcAft>
              <a:buClrTx/>
              <a:buSzPct val="100000"/>
              <a:buNone/>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100000"/>
              </a:lnSpc>
              <a:spcBef>
                <a:spcPts val="0"/>
              </a:spcBef>
              <a:spcAft>
                <a:spcPct val="0"/>
              </a:spcAft>
              <a:buClrTx/>
              <a:buSzPct val="100000"/>
              <a:buNone/>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Several key terms will be quickly reviewed:</a:t>
            </a:r>
          </a:p>
          <a:p>
            <a:pPr marL="0" marR="0" lvl="0" indent="0" algn="l" defTabSz="914400" rtl="0" eaLnBrk="0" fontAlgn="base" latinLnBrk="0" hangingPunct="0">
              <a:lnSpc>
                <a:spcPct val="100000"/>
              </a:lnSpc>
              <a:spcBef>
                <a:spcPts val="0"/>
              </a:spcBef>
              <a:spcAft>
                <a:spcPct val="0"/>
              </a:spcAft>
              <a:buClrTx/>
              <a:buSzPct val="100000"/>
              <a:buNone/>
              <a:tabLst/>
              <a:defRPr/>
            </a:pP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Refer to </a:t>
            </a:r>
            <a:r>
              <a:rPr kumimoji="0" lang="en-CA" altLang="en-US" sz="20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Glossary: Definitions of Terms &amp; Phrases</a:t>
            </a: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Learning Outcomes: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Glossary: Definitions of Terms and Phrases</a:t>
            </a:r>
          </a:p>
        </p:txBody>
      </p:sp>
    </p:spTree>
    <p:extLst>
      <p:ext uri="{BB962C8B-B14F-4D97-AF65-F5344CB8AC3E}">
        <p14:creationId xmlns:p14="http://schemas.microsoft.com/office/powerpoint/2010/main" val="27341274"/>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sym typeface="Arial"/>
              </a:rPr>
              <a:t>Learning Outcomes: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Glossary: Definitions of Terms and Phrases</a:t>
            </a:r>
          </a:p>
        </p:txBody>
      </p:sp>
      <p:graphicFrame>
        <p:nvGraphicFramePr>
          <p:cNvPr id="6" name="Google Shape;123;p3">
            <a:extLst>
              <a:ext uri="{FF2B5EF4-FFF2-40B4-BE49-F238E27FC236}">
                <a16:creationId xmlns:a16="http://schemas.microsoft.com/office/drawing/2014/main" id="{88116B2B-0242-426C-A487-244C5CEFA1F9}"/>
              </a:ext>
            </a:extLst>
          </p:cNvPr>
          <p:cNvGraphicFramePr/>
          <p:nvPr>
            <p:extLst>
              <p:ext uri="{D42A27DB-BD31-4B8C-83A1-F6EECF244321}">
                <p14:modId xmlns:p14="http://schemas.microsoft.com/office/powerpoint/2010/main" val="199049130"/>
              </p:ext>
            </p:extLst>
          </p:nvPr>
        </p:nvGraphicFramePr>
        <p:xfrm>
          <a:off x="457200" y="2209800"/>
          <a:ext cx="8229600" cy="2438400"/>
        </p:xfrm>
        <a:graphic>
          <a:graphicData uri="http://schemas.openxmlformats.org/drawingml/2006/table">
            <a:tbl>
              <a:tblPr>
                <a:noFill/>
              </a:tblPr>
              <a:tblGrid>
                <a:gridCol w="1277950">
                  <a:extLst>
                    <a:ext uri="{9D8B030D-6E8A-4147-A177-3AD203B41FA5}">
                      <a16:colId xmlns:a16="http://schemas.microsoft.com/office/drawing/2014/main" val="20000"/>
                    </a:ext>
                  </a:extLst>
                </a:gridCol>
                <a:gridCol w="6951650">
                  <a:extLst>
                    <a:ext uri="{9D8B030D-6E8A-4147-A177-3AD203B41FA5}">
                      <a16:colId xmlns:a16="http://schemas.microsoft.com/office/drawing/2014/main" val="20001"/>
                    </a:ext>
                  </a:extLst>
                </a:gridCol>
              </a:tblGrid>
              <a:tr h="24384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dirty="0">
                          <a:solidFill>
                            <a:srgbClr val="000000"/>
                          </a:solidFill>
                          <a:latin typeface="Arial"/>
                          <a:ea typeface="Arial"/>
                          <a:cs typeface="Arial"/>
                          <a:sym typeface="Arial"/>
                        </a:rPr>
                        <a:t>Engineering Safety and Risk Management</a:t>
                      </a:r>
                      <a:endParaRPr b="1" dirty="0"/>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dirty="0">
                          <a:solidFill>
                            <a:srgbClr val="000000"/>
                          </a:solidFill>
                          <a:latin typeface="Arial"/>
                          <a:ea typeface="Arial"/>
                          <a:cs typeface="Arial"/>
                          <a:sym typeface="Arial"/>
                        </a:rPr>
                        <a:t>ESRM is the integrated system / program for, or the approach to, the management of the continuous reduction of risk to people, environment, assets, and production / productivity. Within the industrial setting, it may be referred to as Industrial Safety and Risk Management, Industrial Safety and Loss Management, or Process Safety Management.  </a:t>
                      </a:r>
                      <a:endParaRPr dirty="0"/>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2273181676"/>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sym typeface="Arial"/>
              </a:rPr>
              <a:t>Learning Outcomes: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Glossary: Definitions of Terms and Phrases</a:t>
            </a:r>
          </a:p>
        </p:txBody>
      </p:sp>
      <p:graphicFrame>
        <p:nvGraphicFramePr>
          <p:cNvPr id="6" name="Google Shape;132;p4">
            <a:extLst>
              <a:ext uri="{FF2B5EF4-FFF2-40B4-BE49-F238E27FC236}">
                <a16:creationId xmlns:a16="http://schemas.microsoft.com/office/drawing/2014/main" id="{883F3A9F-4286-42B5-B935-467F79F76641}"/>
              </a:ext>
            </a:extLst>
          </p:cNvPr>
          <p:cNvGraphicFramePr/>
          <p:nvPr>
            <p:extLst>
              <p:ext uri="{D42A27DB-BD31-4B8C-83A1-F6EECF244321}">
                <p14:modId xmlns:p14="http://schemas.microsoft.com/office/powerpoint/2010/main" val="2484636595"/>
              </p:ext>
            </p:extLst>
          </p:nvPr>
        </p:nvGraphicFramePr>
        <p:xfrm>
          <a:off x="457200" y="1552575"/>
          <a:ext cx="8229600" cy="3752850"/>
        </p:xfrm>
        <a:graphic>
          <a:graphicData uri="http://schemas.openxmlformats.org/drawingml/2006/table">
            <a:tbl>
              <a:tblPr>
                <a:noFill/>
              </a:tblPr>
              <a:tblGrid>
                <a:gridCol w="1447800">
                  <a:extLst>
                    <a:ext uri="{9D8B030D-6E8A-4147-A177-3AD203B41FA5}">
                      <a16:colId xmlns:a16="http://schemas.microsoft.com/office/drawing/2014/main" val="20000"/>
                    </a:ext>
                  </a:extLst>
                </a:gridCol>
                <a:gridCol w="6781800">
                  <a:extLst>
                    <a:ext uri="{9D8B030D-6E8A-4147-A177-3AD203B41FA5}">
                      <a16:colId xmlns:a16="http://schemas.microsoft.com/office/drawing/2014/main" val="20001"/>
                    </a:ext>
                  </a:extLst>
                </a:gridCol>
              </a:tblGrid>
              <a:tr h="264635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Accident</a:t>
                      </a:r>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Many people understand the term accident.  However, the connotative meaning of accident refers to an undesired event that is </a:t>
                      </a:r>
                      <a:r>
                        <a:rPr lang="en-US" sz="1400" b="0" i="1" u="none" strike="noStrike" cap="none">
                          <a:solidFill>
                            <a:srgbClr val="000000"/>
                          </a:solidFill>
                          <a:latin typeface="Arial"/>
                          <a:ea typeface="Arial"/>
                          <a:cs typeface="Arial"/>
                          <a:sym typeface="Arial"/>
                        </a:rPr>
                        <a:t>“believed” </a:t>
                      </a:r>
                      <a:r>
                        <a:rPr lang="en-US" sz="1400" b="0" i="0" u="none" strike="noStrike" cap="none">
                          <a:solidFill>
                            <a:srgbClr val="000000"/>
                          </a:solidFill>
                          <a:latin typeface="Arial"/>
                          <a:ea typeface="Arial"/>
                          <a:cs typeface="Arial"/>
                          <a:sym typeface="Arial"/>
                        </a:rPr>
                        <a:t>to be beyond the control of people; an undesired event that results in harm to people, damage to property, damage to environment or loss to process - or a combination of all. Thus, accidents are then deemed an inevitable consequence of doing business. Contrast this with the position taken by leading companies and loss prevention specialists: </a:t>
                      </a:r>
                      <a:r>
                        <a:rPr lang="en-US" sz="1400" b="0" i="0" u="sng" strike="noStrike" cap="none">
                          <a:solidFill>
                            <a:srgbClr val="000000"/>
                          </a:solidFill>
                          <a:latin typeface="Arial"/>
                          <a:ea typeface="Arial"/>
                          <a:cs typeface="Arial"/>
                          <a:sym typeface="Arial"/>
                        </a:rPr>
                        <a:t>they believe all accidents are preventable</a:t>
                      </a:r>
                      <a:r>
                        <a:rPr lang="en-US" sz="1400" b="0" i="0" u="none" strike="noStrike" cap="none">
                          <a:solidFill>
                            <a:srgbClr val="000000"/>
                          </a:solidFill>
                          <a:latin typeface="Arial"/>
                          <a:ea typeface="Arial"/>
                          <a:cs typeface="Arial"/>
                          <a:sym typeface="Arial"/>
                        </a:rPr>
                        <a:t>. It is arguable that the term accident is not only wrong, but the very use of the term accident is counterproductive to loss management initiatives. </a:t>
                      </a:r>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See Incident or Event. </a:t>
                      </a:r>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0"/>
                  </a:ext>
                </a:extLst>
              </a:tr>
              <a:tr h="11065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Incident or </a:t>
                      </a:r>
                      <a:r>
                        <a:rPr lang="en-US" sz="1400" b="0" i="0" u="none" strike="noStrike" cap="none">
                          <a:solidFill>
                            <a:srgbClr val="000000"/>
                          </a:solidFill>
                          <a:latin typeface="Arial"/>
                          <a:ea typeface="Arial"/>
                          <a:cs typeface="Arial"/>
                          <a:sym typeface="Arial"/>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go="http://customooxmlschemas.google.com/" textRoundtripDataId="0"/>
                            </a:ext>
                          </a:extLst>
                        </a:rPr>
                        <a:t>Event</a:t>
                      </a:r>
                      <a:r>
                        <a:rPr lang="en-US" sz="1400" b="0" i="0" u="none" strike="noStrike" cap="none">
                          <a:solidFill>
                            <a:srgbClr val="000000"/>
                          </a:solidFill>
                          <a:latin typeface="Arial"/>
                          <a:ea typeface="Arial"/>
                          <a:cs typeface="Arial"/>
                          <a:sym typeface="Arial"/>
                        </a:rPr>
                        <a:t>; </a:t>
                      </a:r>
                      <a:br>
                        <a:rPr lang="en-US" sz="1400" b="0" i="0" u="none" strike="noStrike" cap="none">
                          <a:solidFill>
                            <a:srgbClr val="000000"/>
                          </a:solidFill>
                          <a:latin typeface="Arial"/>
                          <a:ea typeface="Arial"/>
                          <a:cs typeface="Arial"/>
                          <a:sym typeface="Arial"/>
                        </a:rPr>
                      </a:br>
                      <a:r>
                        <a:rPr lang="en-US" sz="1400" b="0" i="0" u="none" strike="noStrike" cap="none">
                          <a:solidFill>
                            <a:srgbClr val="000000"/>
                          </a:solidFill>
                          <a:latin typeface="Arial"/>
                          <a:ea typeface="Arial"/>
                          <a:cs typeface="Arial"/>
                          <a:sym typeface="Arial"/>
                        </a:rPr>
                        <a:t>Incident Description</a:t>
                      </a:r>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dirty="0">
                          <a:solidFill>
                            <a:srgbClr val="000000"/>
                          </a:solidFill>
                          <a:latin typeface="Arial"/>
                          <a:ea typeface="Arial"/>
                          <a:cs typeface="Arial"/>
                          <a:sym typeface="Arial"/>
                        </a:rPr>
                        <a:t>An undesired and specific event, or sequence of events that could result in or has resulted in harm to people, harm or damage to the environment, loss or damage to property or assets, loss to a process or loss of production / productivity — or a combination of all. </a:t>
                      </a:r>
                      <a:endParaRPr dirty="0"/>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5892535"/>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5" name="Rectangle 2"/>
          <p:cNvSpPr>
            <a:spLocks noChangeArrowheads="1"/>
          </p:cNvSpPr>
          <p:nvPr/>
        </p:nvSpPr>
        <p:spPr bwMode="auto">
          <a:xfrm>
            <a:off x="180000" y="180000"/>
            <a:ext cx="8640000" cy="504000"/>
          </a:xfrm>
          <a:prstGeom prst="rect">
            <a:avLst/>
          </a:prstGeom>
          <a:solidFill>
            <a:srgbClr val="0000CC"/>
          </a:solidFill>
          <a:ln>
            <a:solidFill>
              <a:srgbClr val="0000CC"/>
            </a:solidFill>
          </a:ln>
        </p:spPr>
        <p:txBody>
          <a:bodyPr wrap="square" anchor="ctr" anchorCtr="0">
            <a:no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altLang="en-US" sz="24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Observation, Conclusion, Recommendation, …</a:t>
            </a:r>
          </a:p>
        </p:txBody>
      </p:sp>
      <p:sp>
        <p:nvSpPr>
          <p:cNvPr id="2" name="Rectangle 1"/>
          <p:cNvSpPr/>
          <p:nvPr/>
        </p:nvSpPr>
        <p:spPr>
          <a:xfrm>
            <a:off x="180000" y="828000"/>
            <a:ext cx="8640000" cy="5328000"/>
          </a:xfrm>
          <a:prstGeom prst="rect">
            <a:avLst/>
          </a:prstGeom>
          <a:solidFill>
            <a:srgbClr val="0000CC"/>
          </a:solidFill>
          <a:ln>
            <a:solidFill>
              <a:srgbClr val="0000CC"/>
            </a:solidFill>
          </a:ln>
        </p:spPr>
        <p:txBody>
          <a:bodyPr wrap="square">
            <a:no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en-CA"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Please confer to draw a conclusion, a recommendation, and an opinion. Note your thoughts to your classmate or yourself.</a:t>
            </a:r>
          </a:p>
          <a:p>
            <a:pPr marL="0" marR="0" lvl="0" indent="0" algn="l" defTabSz="914400" rtl="0" eaLnBrk="1" fontAlgn="base" latinLnBrk="0" hangingPunct="1">
              <a:lnSpc>
                <a:spcPct val="100000"/>
              </a:lnSpc>
              <a:spcBef>
                <a:spcPts val="0"/>
              </a:spcBef>
              <a:spcAft>
                <a:spcPts val="0"/>
              </a:spcAft>
              <a:buClrTx/>
              <a:buSzTx/>
              <a:buFontTx/>
              <a:buNone/>
              <a:tabLst/>
              <a:defRPr/>
            </a:pPr>
            <a:endParaRPr kumimoji="0" lang="en-CA"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1" fontAlgn="base" latinLnBrk="0" hangingPunct="1">
              <a:lnSpc>
                <a:spcPct val="100000"/>
              </a:lnSpc>
              <a:spcBef>
                <a:spcPts val="0"/>
              </a:spcBef>
              <a:spcAft>
                <a:spcPts val="0"/>
              </a:spcAft>
              <a:buClrTx/>
              <a:buSzTx/>
              <a:buFontTx/>
              <a:buNone/>
              <a:tabLst/>
              <a:defRPr/>
            </a:pPr>
            <a:r>
              <a:rPr kumimoji="0" lang="en-CA"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“Observation, Conclusion, Recommendation, and Opinion”:</a:t>
            </a:r>
          </a:p>
          <a:p>
            <a:pPr marL="0" marR="0" lvl="0" indent="0" algn="l" defTabSz="914400" rtl="0" eaLnBrk="1" fontAlgn="base" latinLnBrk="0" hangingPunct="1">
              <a:lnSpc>
                <a:spcPct val="100000"/>
              </a:lnSpc>
              <a:spcBef>
                <a:spcPts val="0"/>
              </a:spcBef>
              <a:spcAft>
                <a:spcPts val="0"/>
              </a:spcAft>
              <a:buClr>
                <a:srgbClr val="000000"/>
              </a:buClr>
              <a:buSzTx/>
              <a:buFont typeface="Wingdings" panose="05000000000000000000" pitchFamily="2" charset="2"/>
              <a:buNone/>
              <a:tabLst/>
              <a:defRPr/>
            </a:pPr>
            <a:endParaRPr kumimoji="0" lang="en-US" sz="2000" b="0" i="1" u="none" strike="noStrike" kern="1200" cap="none" spc="0" normalizeH="0" baseline="0" noProof="0" dirty="0">
              <a:ln>
                <a:noFill/>
              </a:ln>
              <a:solidFill>
                <a:srgbClr val="F8F8F8"/>
              </a:solidFill>
              <a:effectLst/>
              <a:uLnTx/>
              <a:uFillTx/>
              <a:latin typeface="Arial" panose="020B0604020202020204" pitchFamily="34" charset="0"/>
              <a:ea typeface="Times New Roman" panose="02020603050405020304" pitchFamily="18" charset="0"/>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When faced with a problem, and a decision must be made:</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72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Observation:  You read the thermometer outside …  -40⁰C. </a:t>
            </a:r>
            <a:br>
              <a:rPr kumimoji="0" lang="en-CA"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CA"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Your household thermostat indicates it is 6⁰C inside. </a:t>
            </a:r>
          </a:p>
          <a:p>
            <a:pPr marL="72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72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Conclusion: ?</a:t>
            </a:r>
          </a:p>
          <a:p>
            <a:pPr marL="72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72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Recommendation: ?</a:t>
            </a:r>
          </a:p>
          <a:p>
            <a:pPr marL="72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72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Opinions: ?</a:t>
            </a: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8"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Glossary: Definitions of Terms and Phrases</a:t>
            </a:r>
          </a:p>
        </p:txBody>
      </p:sp>
    </p:spTree>
    <p:extLst>
      <p:ext uri="{BB962C8B-B14F-4D97-AF65-F5344CB8AC3E}">
        <p14:creationId xmlns:p14="http://schemas.microsoft.com/office/powerpoint/2010/main" val="2974988079"/>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5" name="Rectangle 2"/>
          <p:cNvSpPr>
            <a:spLocks noChangeArrowheads="1"/>
          </p:cNvSpPr>
          <p:nvPr/>
        </p:nvSpPr>
        <p:spPr bwMode="auto">
          <a:xfrm>
            <a:off x="180000" y="180000"/>
            <a:ext cx="8640000" cy="504000"/>
          </a:xfrm>
          <a:prstGeom prst="rect">
            <a:avLst/>
          </a:prstGeom>
          <a:solidFill>
            <a:srgbClr val="000000"/>
          </a:solidFill>
          <a:ln>
            <a:solidFill>
              <a:srgbClr val="000000"/>
            </a:solidFill>
          </a:ln>
        </p:spPr>
        <p:txBody>
          <a:bodyPr wrap="square" anchor="ctr" anchorCtr="0">
            <a:no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altLang="en-US" sz="24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Observation, Conclusion, Recommendation, …</a:t>
            </a:r>
          </a:p>
        </p:txBody>
      </p:sp>
      <p:sp>
        <p:nvSpPr>
          <p:cNvPr id="8"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6</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a:t>
            </a:r>
            <a:r>
              <a:rPr kumimoji="0" lang="en-US" sz="1200" b="1" i="1" u="none" strike="noStrike" kern="0" cap="none" spc="0" normalizeH="0" baseline="0" noProof="0" dirty="0" err="1">
                <a:ln>
                  <a:noFill/>
                </a:ln>
                <a:solidFill>
                  <a:srgbClr val="000000"/>
                </a:solidFill>
                <a:effectLst/>
                <a:uLnTx/>
                <a:uFillTx/>
                <a:latin typeface="Arial" charset="0"/>
                <a:ea typeface="Times New Roman"/>
                <a:cs typeface="Arial" panose="020B0604020202020204" pitchFamily="34" charset="0"/>
                <a:sym typeface="Times New Roman"/>
              </a:rPr>
              <a:t>x.x</a:t>
            </a:r>
            <a:r>
              <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 title</a:t>
            </a:r>
          </a:p>
        </p:txBody>
      </p:sp>
      <p:sp>
        <p:nvSpPr>
          <p:cNvPr id="6" name="Rectangle 3"/>
          <p:cNvSpPr>
            <a:spLocks noChangeArrowheads="1"/>
          </p:cNvSpPr>
          <p:nvPr/>
        </p:nvSpPr>
        <p:spPr bwMode="auto">
          <a:xfrm>
            <a:off x="180000" y="828000"/>
            <a:ext cx="8640000" cy="5328000"/>
          </a:xfrm>
          <a:prstGeom prst="rect">
            <a:avLst/>
          </a:prstGeom>
          <a:solidFill>
            <a:schemeClr val="tx1"/>
          </a:solidFill>
          <a:ln w="9525" algn="ctr">
            <a:solidFill>
              <a:schemeClr val="tx1"/>
            </a:solidFill>
            <a:miter lim="800000"/>
            <a:headEnd/>
            <a:tailEnd/>
          </a:ln>
          <a:effectLst/>
        </p:spPr>
        <p:txBody>
          <a:bodyPr/>
          <a:lstStyle/>
          <a:p>
            <a:pPr marL="0" marR="0" lvl="0" indent="0" algn="l" defTabSz="914400" rtl="0" eaLnBrk="0" fontAlgn="base" latinLnBrk="0" hangingPunct="0">
              <a:lnSpc>
                <a:spcPct val="100000"/>
              </a:lnSpc>
              <a:spcBef>
                <a:spcPts val="0"/>
              </a:spcBef>
              <a:spcAft>
                <a:spcPct val="0"/>
              </a:spcAft>
              <a:buClr>
                <a:srgbClr val="000000"/>
              </a:buClr>
              <a:buSzPct val="100000"/>
              <a:buFontTx/>
              <a:buNone/>
              <a:tabLst/>
              <a:defRPr/>
            </a:pPr>
            <a:r>
              <a:rPr kumimoji="0" lang="en-US"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“Observation, Conclusion, Recommendation, and Opinion”:</a:t>
            </a:r>
          </a:p>
          <a:p>
            <a:pPr marL="0" marR="0" lvl="0" indent="0" algn="l" defTabSz="914400" rtl="0" eaLnBrk="0" fontAlgn="base" latinLnBrk="0" hangingPunct="0">
              <a:lnSpc>
                <a:spcPct val="100000"/>
              </a:lnSpc>
              <a:spcBef>
                <a:spcPts val="0"/>
              </a:spcBef>
              <a:spcAft>
                <a:spcPct val="0"/>
              </a:spcAft>
              <a:buClr>
                <a:srgbClr val="000000"/>
              </a:buClr>
              <a:buSzPct val="100000"/>
              <a:buFontTx/>
              <a:buNone/>
              <a:tabLst/>
              <a:defRPr/>
            </a:pPr>
            <a:endParaRPr kumimoji="0" lang="en-US"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When faced with a problem, and a decision must be made:</a:t>
            </a:r>
            <a:br>
              <a:rPr kumimoji="0" lang="en-CA"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CA" altLang="en-US" sz="2000" b="1"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Consider a decision about your home heating system. </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Observation:  </a:t>
            </a:r>
            <a:r>
              <a:rPr kumimoji="0" lang="en-CA" altLang="en-US" sz="2000" b="1"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You read the thermometer outside …  -40⁰C. </a:t>
            </a:r>
            <a:br>
              <a:rPr kumimoji="0" lang="en-CA" altLang="en-US" sz="2000" b="1"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CA" altLang="en-US" sz="2000" b="1"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Your household thermostat indicates it is 6⁰C inside. </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Conclusion:  </a:t>
            </a:r>
            <a:r>
              <a:rPr kumimoji="0" lang="en-CA" altLang="en-US" sz="2000" b="1"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What is (are) your conclusion(s)? It is colder outside the house than inside, it less than room temperature in the house.</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Recommendation: </a:t>
            </a:r>
            <a:r>
              <a:rPr kumimoji="0" lang="en-CA" altLang="en-US" sz="2000" b="1"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What is (are) your recommendation(s)? Check to see if the furnace is working. </a:t>
            </a:r>
            <a:br>
              <a:rPr kumimoji="0" lang="en-CA" altLang="en-US" sz="2000" b="1"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CA" altLang="en-US" sz="2000" b="1"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Check to see if a window is open.</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Opinions:</a:t>
            </a:r>
          </a:p>
        </p:txBody>
      </p:sp>
    </p:spTree>
    <p:extLst>
      <p:ext uri="{BB962C8B-B14F-4D97-AF65-F5344CB8AC3E}">
        <p14:creationId xmlns:p14="http://schemas.microsoft.com/office/powerpoint/2010/main" val="2797504979"/>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ChangeArrowheads="1"/>
          </p:cNvSpPr>
          <p:nvPr/>
        </p:nvSpPr>
        <p:spPr bwMode="auto">
          <a:xfrm>
            <a:off x="180000" y="180000"/>
            <a:ext cx="8640000" cy="504000"/>
          </a:xfrm>
          <a:prstGeom prst="rect">
            <a:avLst/>
          </a:prstGeom>
          <a:solidFill>
            <a:srgbClr val="0000FF"/>
          </a:solidFill>
          <a:ln>
            <a:solidFill>
              <a:srgbClr val="0000FF"/>
            </a:solid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Any questions?</a:t>
            </a:r>
          </a:p>
        </p:txBody>
      </p:sp>
    </p:spTree>
    <p:extLst>
      <p:ext uri="{BB962C8B-B14F-4D97-AF65-F5344CB8AC3E}">
        <p14:creationId xmlns:p14="http://schemas.microsoft.com/office/powerpoint/2010/main" val="4077953517"/>
      </p:ext>
    </p:extLst>
  </p:cSld>
  <p:clrMapOvr>
    <a:masterClrMapping/>
  </p:clrMapOvr>
  <p:transition>
    <p:fade/>
  </p:transition>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76</TotalTime>
  <Words>685</Words>
  <Application>Microsoft Office PowerPoint</Application>
  <PresentationFormat>On-screen Show (4:3)</PresentationFormat>
  <Paragraphs>90</Paragraphs>
  <Slides>7</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Calibri</vt:lpstr>
      <vt:lpstr>Times New Roman</vt:lpstr>
      <vt:lpstr>Wingdings</vt:lpstr>
      <vt:lpstr>Default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JR Cocchio</dc:creator>
  <cp:lastModifiedBy>Humza Hashmi</cp:lastModifiedBy>
  <cp:revision>29</cp:revision>
  <dcterms:created xsi:type="dcterms:W3CDTF">2011-09-07T03:22:54Z</dcterms:created>
  <dcterms:modified xsi:type="dcterms:W3CDTF">2020-08-25T22:47:19Z</dcterms:modified>
</cp:coreProperties>
</file>