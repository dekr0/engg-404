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 id="2147483665" r:id="rId2"/>
    <p:sldMasterId id="2147483670" r:id="rId3"/>
    <p:sldMasterId id="2147483674" r:id="rId4"/>
  </p:sldMasterIdLst>
  <p:notesMasterIdLst>
    <p:notesMasterId r:id="rId31"/>
  </p:notesMasterIdLst>
  <p:sldIdLst>
    <p:sldId id="895" r:id="rId5"/>
    <p:sldId id="880" r:id="rId6"/>
    <p:sldId id="928" r:id="rId7"/>
    <p:sldId id="929" r:id="rId8"/>
    <p:sldId id="969" r:id="rId9"/>
    <p:sldId id="930" r:id="rId10"/>
    <p:sldId id="951" r:id="rId11"/>
    <p:sldId id="952" r:id="rId12"/>
    <p:sldId id="953" r:id="rId13"/>
    <p:sldId id="934" r:id="rId14"/>
    <p:sldId id="988" r:id="rId15"/>
    <p:sldId id="989" r:id="rId16"/>
    <p:sldId id="990" r:id="rId17"/>
    <p:sldId id="991" r:id="rId18"/>
    <p:sldId id="992" r:id="rId19"/>
    <p:sldId id="956" r:id="rId20"/>
    <p:sldId id="957" r:id="rId21"/>
    <p:sldId id="958" r:id="rId22"/>
    <p:sldId id="959" r:id="rId23"/>
    <p:sldId id="960" r:id="rId24"/>
    <p:sldId id="941" r:id="rId25"/>
    <p:sldId id="945" r:id="rId26"/>
    <p:sldId id="943" r:id="rId27"/>
    <p:sldId id="944" r:id="rId28"/>
    <p:sldId id="923" r:id="rId29"/>
    <p:sldId id="946" r:id="rId30"/>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47" roundtripDataSignature="AMtx7miH1ZREl8vlzjRP0qNa1Z1Aij+A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CC"/>
    <a:srgbClr val="FFFFFF"/>
    <a:srgbClr val="CCFF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23" autoAdjust="0"/>
  </p:normalViewPr>
  <p:slideViewPr>
    <p:cSldViewPr snapToGrid="0">
      <p:cViewPr varScale="1">
        <p:scale>
          <a:sx n="65" d="100"/>
          <a:sy n="65" d="100"/>
        </p:scale>
        <p:origin x="1320" y="52"/>
      </p:cViewPr>
      <p:guideLst>
        <p:guide orient="horz" pos="2112"/>
        <p:guide pos="2880"/>
      </p:guideLst>
    </p:cSldViewPr>
  </p:slideViewPr>
  <p:notesTextViewPr>
    <p:cViewPr>
      <p:scale>
        <a:sx n="1" d="1"/>
        <a:sy n="1" d="1"/>
      </p:scale>
      <p:origin x="0" y="0"/>
    </p:cViewPr>
  </p:notesTextViewPr>
  <p:sorterViewPr>
    <p:cViewPr>
      <p:scale>
        <a:sx n="110" d="100"/>
        <a:sy n="110" d="100"/>
      </p:scale>
      <p:origin x="0" y="-7516"/>
    </p:cViewPr>
  </p:sorterViewPr>
  <p:notesViewPr>
    <p:cSldViewPr snapToGrid="0">
      <p:cViewPr varScale="1">
        <p:scale>
          <a:sx n="100" d="100"/>
          <a:sy n="100" d="100"/>
        </p:scale>
        <p:origin x="0" y="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39210" cy="464267"/>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1191" y="1"/>
            <a:ext cx="3039210" cy="464267"/>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81100" y="695325"/>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142" y="4418435"/>
            <a:ext cx="5140117" cy="418314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2134"/>
            <a:ext cx="3039210" cy="464267"/>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1191" y="8832134"/>
            <a:ext cx="3039210" cy="464267"/>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89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2795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Most important one!!!</a:t>
            </a:r>
          </a:p>
          <a:p>
            <a:pPr marL="0" lvl="0" indent="0" algn="l" rtl="0">
              <a:spcBef>
                <a:spcPts val="360"/>
              </a:spcBef>
              <a:spcAft>
                <a:spcPts val="0"/>
              </a:spcAft>
              <a:buNone/>
            </a:pPr>
            <a:r>
              <a:rPr lang="en-CA" dirty="0"/>
              <a:t>Focus on this in chapter 9</a:t>
            </a:r>
          </a:p>
          <a:p>
            <a:pPr marL="0" lvl="0" indent="0" algn="l" rtl="0">
              <a:spcBef>
                <a:spcPts val="360"/>
              </a:spcBef>
              <a:spcAft>
                <a:spcPts val="0"/>
              </a:spcAft>
              <a:buNone/>
            </a:pPr>
            <a:r>
              <a:rPr lang="en-CA" dirty="0"/>
              <a:t>What gets measured gets managed</a:t>
            </a:r>
          </a:p>
        </p:txBody>
      </p:sp>
    </p:spTree>
    <p:extLst>
      <p:ext uri="{BB962C8B-B14F-4D97-AF65-F5344CB8AC3E}">
        <p14:creationId xmlns:p14="http://schemas.microsoft.com/office/powerpoint/2010/main" val="36329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9324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339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609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210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0869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452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4067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010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5301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1301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716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9709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705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7728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666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6838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379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7735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725326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27765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0807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42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5/11/2022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65567758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106891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2535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718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5/11/2022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89487155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800364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912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39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361405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738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7636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11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6180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9316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1127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57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3.3:</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Risk Management System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Elements </a:t>
            </a:r>
          </a:p>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Part 2</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risk management system elements in more detail including relevant, real-world examples as points of references, and typical latent cause statements</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Although all 11 elements are listed in this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presentation,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only these three are discussed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detail in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lecture: </a:t>
            </a:r>
          </a:p>
          <a:p>
            <a:pPr marL="0" marR="0" lvl="0" indent="0" algn="l" defTabSz="914400" rtl="0" eaLnBrk="0" fontAlgn="base" latinLnBrk="0" hangingPunct="0">
              <a:lnSpc>
                <a:spcPct val="100000"/>
              </a:lnSpc>
              <a:spcBef>
                <a:spcPts val="0"/>
              </a:spcBef>
              <a:spcAft>
                <a:spcPct val="0"/>
              </a:spcAft>
              <a:buClrTx/>
              <a:buSzPct val="100000"/>
              <a:buNone/>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 Management Leadership, Commitment, and Accountability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309;p17">
            <a:extLst>
              <a:ext uri="{FF2B5EF4-FFF2-40B4-BE49-F238E27FC236}">
                <a16:creationId xmlns:a16="http://schemas.microsoft.com/office/drawing/2014/main" id="{77325C46-9719-4387-96F7-FBD82A89FFE8}"/>
              </a:ext>
            </a:extLst>
          </p:cNvPr>
          <p:cNvSpPr/>
          <p:nvPr/>
        </p:nvSpPr>
        <p:spPr>
          <a:xfrm>
            <a:off x="594360" y="1077192"/>
            <a:ext cx="7978140" cy="4349102"/>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2000" b="1" i="0" u="none" strike="noStrike" kern="0" cap="none" spc="0" normalizeH="0" baseline="0" noProof="0" dirty="0">
                <a:ln>
                  <a:noFill/>
                </a:ln>
                <a:solidFill>
                  <a:sysClr val="windowText" lastClr="000000"/>
                </a:solidFill>
                <a:effectLst/>
                <a:uLnTx/>
                <a:uFillTx/>
              </a:rPr>
              <a:t>Risk Management System (APEGA Model):</a:t>
            </a:r>
            <a:endParaRPr kumimoji="0" sz="20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Risk Assessment and Management of Risks (RAMR)</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Community Awareness and Emergency Preparedness (CAEP)</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of Change (MOC)</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Program Evaluation and Continuous Improvement (PECI)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Design, Construction and Start-up (DCSU)</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Maintenance (OM)</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Employee Competency and Training (ECT)</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Contractor Competency and Integration (CCI)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800" b="0" i="0" u="none" strike="noStrike" kern="0" cap="none" spc="0" normalizeH="0" baseline="0" noProof="0" dirty="0">
              <a:ln>
                <a:noFill/>
              </a:ln>
              <a:solidFill>
                <a:sysClr val="windowText" lastClr="000000"/>
              </a:solidFill>
              <a:effectLst/>
              <a:uLnTx/>
              <a:uFillTx/>
            </a:endParaRP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 Model of 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7" name="Google Shape;137;p3">
            <a:extLst>
              <a:ext uri="{FF2B5EF4-FFF2-40B4-BE49-F238E27FC236}">
                <a16:creationId xmlns:a16="http://schemas.microsoft.com/office/drawing/2014/main" id="{0AF6FC50-9909-4F13-9771-ECA6A4B73EAE}"/>
              </a:ext>
            </a:extLst>
          </p:cNvPr>
          <p:cNvSpPr txBox="1"/>
          <p:nvPr/>
        </p:nvSpPr>
        <p:spPr>
          <a:xfrm>
            <a:off x="594360" y="5464696"/>
            <a:ext cx="8001000" cy="461665"/>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a:ln>
                  <a:noFill/>
                </a:ln>
                <a:solidFill>
                  <a:srgbClr val="FFFFFF"/>
                </a:solidFill>
                <a:effectLst/>
                <a:uLnTx/>
                <a:uFillTx/>
              </a:rPr>
              <a:t>Be able to </a:t>
            </a:r>
            <a:r>
              <a:rPr kumimoji="0" lang="en-US" sz="2400" b="0" i="1" u="sng" strike="noStrike" kern="0" cap="none" spc="0" normalizeH="0" baseline="0" noProof="0">
                <a:ln>
                  <a:noFill/>
                </a:ln>
                <a:solidFill>
                  <a:srgbClr val="FFFFFF"/>
                </a:solidFill>
                <a:effectLst/>
                <a:uLnTx/>
                <a:uFillTx/>
              </a:rPr>
              <a:t>explain and apply</a:t>
            </a:r>
            <a:r>
              <a:rPr kumimoji="0" lang="en-US" sz="2400" b="0" i="1" u="none" strike="noStrike" kern="0" cap="none" spc="0" normalizeH="0" baseline="0" noProof="0">
                <a:ln>
                  <a:noFill/>
                </a:ln>
                <a:solidFill>
                  <a:srgbClr val="FFFFFF"/>
                </a:solidFill>
                <a:effectLst/>
                <a:uLnTx/>
                <a:uFillTx/>
              </a:rPr>
              <a:t> each of these elements!</a:t>
            </a:r>
            <a:endParaRPr kumimoji="0" sz="24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All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11 of the RMS elements relate to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Engineer’s Survival Guide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1: Understand company values.</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2: Understand your program.</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3: When you make decisions, put safety ahead of any other objective!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4: Pay attention to failures in safety systems and take action</a:t>
            </a: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endParaRPr lang="en-US" sz="2000" i="1" dirty="0" smtClean="0">
              <a:solidFill>
                <a:srgbClr val="000000"/>
              </a:solidFill>
              <a:latin typeface="Arial"/>
            </a:endParaRPr>
          </a:p>
          <a:p>
            <a:pPr marL="457200" lvl="5" indent="0" eaLnBrk="1" fontAlgn="auto" hangingPunct="1">
              <a:lnSpc>
                <a:spcPct val="100000"/>
              </a:lnSpc>
              <a:spcBef>
                <a:spcPts val="0"/>
              </a:spcBef>
              <a:spcAft>
                <a:spcPts val="0"/>
              </a:spcAft>
              <a:buClr>
                <a:srgbClr val="000000"/>
              </a:buClr>
              <a:buSzPts val="2000"/>
              <a:buNone/>
              <a:defRPr/>
            </a:pPr>
            <a:r>
              <a:rPr lang="en-US" sz="2000" i="1" dirty="0" smtClean="0">
                <a:solidFill>
                  <a:srgbClr val="000000"/>
                </a:solidFill>
                <a:latin typeface="Arial"/>
              </a:rPr>
              <a:t>Thinking back to the previous topic, The Swiss Cheese Model and the case of the “loading operation with the defective level switch”, what “safety systems” can you identify?</a:t>
            </a:r>
            <a:endParaRPr kumimoji="0" lang="en-US" sz="20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644837669"/>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3019646"/>
            <a:ext cx="8640000" cy="3136353"/>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you will learn in the application of the fourth key point of The Engineer’s Survival Guide, “failures in safety systems” can include:</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Controls: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a procedure for prioritizing did not escalate the priority and allocation of resources to repair the defective limit switch, which obviously is a device necessary to prevent overfilling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Controls:</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this case, the level switch and its “high level alarm / flow shut-off” feature are not working; this hardware safety system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deosn</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not detect a high level condition, does not annunciate a “high level” alarm, and does not shut-off the flow of the combustible fluid to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RM Programs: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the maintenance program to maintain and repair instrumentation did not include a standard to classify “priority” repairs on critical level instrumentation.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pic>
        <p:nvPicPr>
          <p:cNvPr id="3" name="Picture 2"/>
          <p:cNvPicPr>
            <a:picLocks noChangeAspect="1"/>
          </p:cNvPicPr>
          <p:nvPr/>
        </p:nvPicPr>
        <p:blipFill>
          <a:blip r:embed="rId3"/>
          <a:stretch>
            <a:fillRect/>
          </a:stretch>
        </p:blipFill>
        <p:spPr>
          <a:xfrm>
            <a:off x="5620855" y="827999"/>
            <a:ext cx="3285383" cy="2047645"/>
          </a:xfrm>
          <a:prstGeom prst="rect">
            <a:avLst/>
          </a:prstGeom>
        </p:spPr>
      </p:pic>
      <p:sp>
        <p:nvSpPr>
          <p:cNvPr id="10" name="Rectangle 3"/>
          <p:cNvSpPr>
            <a:spLocks noChangeArrowheads="1"/>
          </p:cNvSpPr>
          <p:nvPr/>
        </p:nvSpPr>
        <p:spPr bwMode="auto">
          <a:xfrm>
            <a:off x="180000" y="828000"/>
            <a:ext cx="5348930" cy="2047644"/>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4" indent="0" algn="l" defTabSz="914400" rtl="0" eaLnBrk="1" fontAlgn="auto" latinLnBrk="0" hangingPunct="1">
              <a:lnSpc>
                <a:spcPct val="100000"/>
              </a:lnSpc>
              <a:spcBef>
                <a:spcPts val="0"/>
              </a:spcBef>
              <a:spcAft>
                <a:spcPts val="0"/>
              </a:spcAft>
              <a:buClr>
                <a:srgbClr val="000000"/>
              </a:buClr>
              <a:buSzPts val="2000"/>
              <a:buNone/>
              <a:tabLst/>
              <a:defRPr/>
            </a:pPr>
            <a:r>
              <a:rPr lang="en-US" sz="18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endParaRPr kumimoji="0" lang="en-US" sz="1800" b="0" i="0" u="none" strike="noStrike" kern="0" cap="none" spc="0" normalizeH="0" baseline="0" noProof="0" dirty="0" smtClean="0">
              <a:ln>
                <a:noFill/>
              </a:ln>
              <a:solidFill>
                <a:schemeClr val="bg1"/>
              </a:solidFill>
              <a:effectLst/>
              <a:uLnTx/>
              <a:uFillTx/>
              <a:latin typeface="Arial"/>
              <a:sym typeface="Arial"/>
            </a:endParaRPr>
          </a:p>
          <a:p>
            <a:pPr marL="457200" marR="0" lvl="4" indent="-457200" algn="l" defTabSz="914400" rtl="0" eaLnBrk="1" fontAlgn="auto" latinLnBrk="0" hangingPunct="1">
              <a:lnSpc>
                <a:spcPct val="100000"/>
              </a:lnSpc>
              <a:spcBef>
                <a:spcPts val="0"/>
              </a:spcBef>
              <a:spcAft>
                <a:spcPts val="0"/>
              </a:spcAft>
              <a:buClrTx/>
              <a:buSzPts val="2000"/>
              <a:buFont typeface="Wingdings" panose="05000000000000000000" pitchFamily="2" charset="2"/>
              <a:buChar char="ü"/>
              <a:tabLst/>
              <a:defRPr/>
            </a:pPr>
            <a:r>
              <a:rPr kumimoji="0" lang="en-US" sz="1800" b="0" i="0" u="none" strike="noStrike" kern="0" cap="none" spc="0" normalizeH="0" baseline="0" noProof="0" dirty="0" smtClean="0">
                <a:ln>
                  <a:noFill/>
                </a:ln>
                <a:solidFill>
                  <a:schemeClr val="bg1"/>
                </a:solidFill>
                <a:effectLst/>
                <a:uLnTx/>
                <a:uFillTx/>
                <a:latin typeface="Arial"/>
                <a:sym typeface="Arial"/>
              </a:rPr>
              <a:t>#</a:t>
            </a:r>
            <a:r>
              <a:rPr kumimoji="0" lang="en-US" sz="1800" b="0" i="0" u="none" strike="noStrike" kern="0" cap="none" spc="0" normalizeH="0" baseline="0" noProof="0" dirty="0">
                <a:ln>
                  <a:noFill/>
                </a:ln>
                <a:solidFill>
                  <a:schemeClr val="bg1"/>
                </a:solidFill>
                <a:effectLst/>
                <a:uLnTx/>
                <a:uFillTx/>
                <a:latin typeface="Arial"/>
                <a:sym typeface="Arial"/>
              </a:rPr>
              <a:t>4: Pay attention to failures in safety systems and take action</a:t>
            </a:r>
            <a:r>
              <a:rPr kumimoji="0" lang="en-US" sz="1800" b="0" i="0" u="none" strike="noStrike" kern="0" cap="none" spc="0" normalizeH="0" baseline="0" noProof="0" dirty="0" smtClean="0">
                <a:ln>
                  <a:noFill/>
                </a:ln>
                <a:solidFill>
                  <a:schemeClr val="bg1"/>
                </a:solidFill>
                <a:effectLst/>
                <a:uLnTx/>
                <a:uFillTx/>
                <a:latin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r>
              <a:rPr lang="en-US" sz="1800" i="1" dirty="0" smtClean="0">
                <a:solidFill>
                  <a:schemeClr val="bg1"/>
                </a:solidFill>
                <a:latin typeface="Arial"/>
              </a:rPr>
              <a:t>Thinking back to the previous topic, The Swiss Cheese Model and the case of the “loading operation with the defective level switch”, what “safety systems” can you identify?</a:t>
            </a:r>
            <a:endParaRPr kumimoji="0" lang="en-US" sz="1800" b="0" i="1" u="none" strike="noStrike" kern="0" cap="none" spc="0" normalizeH="0" baseline="0" noProof="0" dirty="0">
              <a:ln>
                <a:noFill/>
              </a:ln>
              <a:solidFill>
                <a:schemeClr val="bg1"/>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8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Tree>
    <p:extLst>
      <p:ext uri="{BB962C8B-B14F-4D97-AF65-F5344CB8AC3E}">
        <p14:creationId xmlns:p14="http://schemas.microsoft.com/office/powerpoint/2010/main" val="2037630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50196"/>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If weaknesses here, the system will fail or mediocre results at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best.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sets the culture and tone of the organization</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Long term and pro-active commitment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actions must be consistent between their words and actions -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walk the </a:t>
            </a:r>
            <a:r>
              <a:rPr kumimoji="0" lang="en-CA"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talk!</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Applies their fundamental process of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lan–</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heck–</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the driver of PDCA</a:t>
            </a: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did not follow the ‘back in’ parking procedure at a job site because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his supervisor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never communicated the importance of following the company’s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procedures.</a:t>
            </a:r>
            <a:endPar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Example</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a:t>
            </a:r>
            <a:r>
              <a:rPr lang="en-CA"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did not follow the ‘back in’ parking procedure at a job site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even though his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supervisor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communicated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importance of following the company’s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safety  procedures. The supervisor sees</a:t>
            </a:r>
            <a:r>
              <a:rPr kumimoji="0" lang="en-CA" altLang="en-US" sz="16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what the employee has done, and she discusses the issue with the worker.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It’s what this course is all about! For your team project:</a:t>
            </a:r>
          </a:p>
          <a:p>
            <a:pPr marL="180000" marR="0" lvl="0" indent="-1800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engineer or management prioritize profit or production over safety when making decisions?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180000" indent="-1800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Latent causes are </a:t>
            </a:r>
            <a:r>
              <a:rPr kumimoji="0" lang="en-CA" sz="1600" b="1" i="1" u="sng" strike="noStrike" kern="0" cap="none" spc="0" normalizeH="0" baseline="0" noProof="0" dirty="0">
                <a:ln>
                  <a:noFill/>
                </a:ln>
                <a:solidFill>
                  <a:srgbClr val="000099"/>
                </a:solidFill>
                <a:effectLst/>
                <a:uLnTx/>
                <a:uFillTx/>
                <a:latin typeface="Arial"/>
                <a:sym typeface="Arial"/>
              </a:rPr>
              <a:t>generally</a:t>
            </a:r>
            <a:r>
              <a:rPr kumimoji="0" lang="en-CA" sz="1600" b="1" i="1" u="none" strike="noStrike" kern="0" cap="none" spc="0" normalizeH="0" baseline="0" noProof="0" dirty="0">
                <a:ln>
                  <a:noFill/>
                </a:ln>
                <a:solidFill>
                  <a:srgbClr val="000099"/>
                </a:solidFill>
                <a:effectLst/>
                <a:uLnTx/>
                <a:uFillTx/>
                <a:latin typeface="Arial"/>
                <a:sym typeface="Arial"/>
              </a:rPr>
              <a:t> expressed as a weakness in (LCs GW:)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corporate safety values program, leadership program, or specific components (indoctrinating commitment and accountability in leaders) of same</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285750" indent="-28575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180000" indent="-1800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leadership </a:t>
            </a:r>
            <a:r>
              <a:rPr lang="en-US" sz="1600" b="1" i="1" dirty="0" smtClean="0">
                <a:solidFill>
                  <a:srgbClr val="FF0000"/>
                </a:solidFill>
                <a:latin typeface="Arial"/>
              </a:rPr>
              <a:t>program did not include a strategy or plan to establish “safety” </a:t>
            </a:r>
            <a:r>
              <a:rPr lang="en-US" sz="1600" b="1" i="1" dirty="0">
                <a:solidFill>
                  <a:srgbClr val="FF0000"/>
                </a:solidFill>
                <a:latin typeface="Arial"/>
              </a:rPr>
              <a:t>as </a:t>
            </a:r>
            <a:r>
              <a:rPr lang="en-US" sz="1600" b="1" i="1" dirty="0" smtClean="0">
                <a:solidFill>
                  <a:srgbClr val="FF0000"/>
                </a:solidFill>
                <a:latin typeface="Arial"/>
              </a:rPr>
              <a:t>a </a:t>
            </a:r>
            <a:r>
              <a:rPr lang="en-US" sz="1600" b="1" i="1" dirty="0">
                <a:solidFill>
                  <a:srgbClr val="FF0000"/>
                </a:solidFill>
                <a:latin typeface="Arial"/>
              </a:rPr>
              <a:t>core value and communicate </a:t>
            </a:r>
            <a:r>
              <a:rPr lang="en-US" sz="1600" b="1" i="1" dirty="0" smtClean="0">
                <a:solidFill>
                  <a:srgbClr val="FF0000"/>
                </a:solidFill>
                <a:latin typeface="Arial"/>
              </a:rPr>
              <a:t>this value to employees.</a:t>
            </a:r>
            <a:endParaRPr lang="en-US" sz="1600" b="1" i="1" dirty="0">
              <a:solidFill>
                <a:srgbClr val="FF0000"/>
              </a:solidFill>
              <a:latin typeface="Arial"/>
            </a:endParaRPr>
          </a:p>
          <a:p>
            <a:pPr marL="285750" marR="0" lvl="0" indent="-28575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 Management Leadership, Commitment &amp;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57233578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fontAlgn="base" hangingPunct="0">
              <a:lnSpc>
                <a:spcPct val="90000"/>
              </a:lnSpc>
              <a:spcBef>
                <a:spcPts val="0"/>
              </a:spcBef>
              <a:buClrTx/>
              <a:buSzPct val="100000"/>
              <a:buFont typeface="Wingdings" panose="05000000000000000000" pitchFamily="2" charset="2"/>
              <a:buChar char="Ø"/>
              <a:defRPr/>
            </a:pPr>
            <a:r>
              <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From the textbook:</a:t>
            </a:r>
            <a:r>
              <a:rPr kumimoji="0" lang="en-CA" altLang="en-US" sz="1400" b="0" i="1" u="none" strike="noStrike" kern="1200" cap="none" spc="0" normalizeH="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400"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 more appropriate name for this element would be </a:t>
            </a:r>
            <a: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Element </a:t>
            </a:r>
            <a:r>
              <a:rPr lang="en-US" altLang="en-US" sz="1400" b="1"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2: Risk Assessment and Control of </a:t>
            </a: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Risks</a:t>
            </a:r>
            <a:endPar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Hazard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Identification, FLRA, SQRA, JSA, Checklists, Reporting &amp; Correcting Substandard Conditions &amp; Practices, Planned Inspections,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Eliminate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 or reduce and control to an acceptable level.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lvl="0" indent="0">
              <a:lnSpc>
                <a:spcPct val="90000"/>
              </a:lnSpc>
              <a:spcBef>
                <a:spcPts val="0"/>
              </a:spcBef>
              <a:buClr>
                <a:srgbClr val="000000"/>
              </a:buClr>
              <a:buNone/>
              <a:defRPr/>
            </a:pPr>
            <a:r>
              <a:rPr kumimoji="0" lang="en-CA" sz="1400" b="0" i="1" u="none" strike="noStrike" kern="0" cap="none" spc="0" normalizeH="0" baseline="0" noProof="0" dirty="0">
                <a:ln>
                  <a:noFill/>
                </a:ln>
                <a:solidFill>
                  <a:srgbClr val="000000"/>
                </a:solidFill>
                <a:effectLst/>
                <a:uLnTx/>
                <a:uFillTx/>
                <a:latin typeface="Arial"/>
                <a:sym typeface="Arial"/>
              </a:rPr>
              <a:t>Example: A </a:t>
            </a:r>
            <a:r>
              <a:rPr kumimoji="0" lang="en-CA" sz="1400" b="0" i="1" u="none" strike="noStrike" kern="0" cap="none" spc="0" normalizeH="0" baseline="0" noProof="0" dirty="0" smtClean="0">
                <a:ln>
                  <a:noFill/>
                </a:ln>
                <a:solidFill>
                  <a:srgbClr val="000000"/>
                </a:solidFill>
                <a:effectLst/>
                <a:uLnTx/>
                <a:uFillTx/>
                <a:latin typeface="Arial"/>
                <a:sym typeface="Arial"/>
              </a:rPr>
              <a:t>worker loaded a </a:t>
            </a:r>
            <a:r>
              <a:rPr lang="en-CA" sz="1400" i="1" dirty="0">
                <a:solidFill>
                  <a:srgbClr val="000000"/>
                </a:solidFill>
                <a:latin typeface="Arial"/>
              </a:rPr>
              <a:t>standard wheel-barrow cart containing </a:t>
            </a:r>
            <a:r>
              <a:rPr lang="en-CA" sz="1400" i="1" dirty="0" smtClean="0">
                <a:solidFill>
                  <a:srgbClr val="000000"/>
                </a:solidFill>
                <a:latin typeface="Arial"/>
              </a:rPr>
              <a:t>with a </a:t>
            </a:r>
            <a:r>
              <a:rPr lang="en-CA" sz="1400" i="1" dirty="0">
                <a:solidFill>
                  <a:srgbClr val="000000"/>
                </a:solidFill>
                <a:latin typeface="Arial"/>
              </a:rPr>
              <a:t>heavy load </a:t>
            </a:r>
            <a:r>
              <a:rPr lang="en-CA" sz="1400" i="1" dirty="0" smtClean="0">
                <a:solidFill>
                  <a:srgbClr val="000000"/>
                </a:solidFill>
                <a:latin typeface="Arial"/>
              </a:rPr>
              <a:t>of metal. The worker injured </a:t>
            </a:r>
            <a:r>
              <a:rPr kumimoji="0" lang="en-CA" sz="1400" b="0" i="1" u="none" strike="noStrike" kern="0" cap="none" spc="0" normalizeH="0" baseline="0" noProof="0" dirty="0" smtClean="0">
                <a:ln>
                  <a:noFill/>
                </a:ln>
                <a:solidFill>
                  <a:srgbClr val="000000"/>
                </a:solidFill>
                <a:effectLst/>
                <a:uLnTx/>
                <a:uFillTx/>
                <a:latin typeface="Arial"/>
                <a:sym typeface="Arial"/>
              </a:rPr>
              <a:t>their back while attempting to lift </a:t>
            </a:r>
            <a:r>
              <a:rPr lang="en-CA" sz="1400" i="1" dirty="0" smtClean="0">
                <a:solidFill>
                  <a:srgbClr val="000000"/>
                </a:solidFill>
                <a:latin typeface="Arial"/>
              </a:rPr>
              <a:t>and move the cart. The worker did not apply their FLRA or refer to the JSA at the start of the job; otherwise, the worker would have used the four-wheeled cart for moving heavy loads. </a:t>
            </a:r>
            <a:endParaRPr kumimoji="0" lang="en-CA" sz="14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4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 management make a decision or complete a task without recognizing the risk or assessing the risks first?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they recognize the risk from the activity or task before completing it? If not, why not?</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smtClean="0">
                <a:ln>
                  <a:noFill/>
                </a:ln>
                <a:solidFill>
                  <a:srgbClr val="FF0000"/>
                </a:solidFill>
                <a:effectLst/>
                <a:uLnTx/>
                <a:uFillTx/>
                <a:latin typeface="Arial"/>
                <a:sym typeface="Arial"/>
              </a:rPr>
              <a:t>LCs GW: a risk </a:t>
            </a:r>
            <a:r>
              <a:rPr lang="en-CA" sz="1400" b="1" i="1" dirty="0">
                <a:solidFill>
                  <a:srgbClr val="FF0000"/>
                </a:solidFill>
                <a:latin typeface="Arial"/>
              </a:rPr>
              <a:t>management</a:t>
            </a:r>
            <a:r>
              <a:rPr kumimoji="0" lang="en-CA" sz="1400" b="1" i="1" u="none" strike="noStrike" kern="0" cap="none" spc="0" normalizeH="0" baseline="0" noProof="0" dirty="0" smtClean="0">
                <a:ln>
                  <a:noFill/>
                </a:ln>
                <a:solidFill>
                  <a:srgbClr val="FF0000"/>
                </a:solidFill>
                <a:effectLst/>
                <a:uLnTx/>
                <a:uFillTx/>
                <a:latin typeface="Arial"/>
                <a:sym typeface="Arial"/>
              </a:rPr>
              <a:t> program to assess risks and / or a program to actively manage risks to an acceptable level.</a:t>
            </a:r>
            <a:endParaRPr lang="en-CA" sz="1400" b="1" i="1" dirty="0">
              <a:solidFill>
                <a:srgbClr val="FF0000"/>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LC-C: The worker did not comply with the FLRA and JSA (standards) as documented in the risk assessment program.</a:t>
            </a:r>
          </a:p>
          <a:p>
            <a:pPr marL="457200" indent="-457200">
              <a:lnSpc>
                <a:spcPct val="90000"/>
              </a:lnSpc>
              <a:spcBef>
                <a:spcPts val="0"/>
              </a:spcBef>
              <a:buClrTx/>
              <a:buSzPct val="100000"/>
              <a:buFont typeface="Noto Sans Symbols"/>
              <a:buChar char="⮚"/>
              <a:defRPr/>
            </a:pPr>
            <a:r>
              <a:rPr lang="en-US" sz="1400" b="1" i="1" dirty="0" smtClean="0">
                <a:latin typeface="Arial"/>
              </a:rPr>
              <a:t>An improvement on the previous example: </a:t>
            </a:r>
            <a:r>
              <a:rPr lang="en-US" sz="1400" b="1" i="1" dirty="0" smtClean="0">
                <a:solidFill>
                  <a:srgbClr val="FF0000"/>
                </a:solidFill>
                <a:latin typeface="Arial"/>
              </a:rPr>
              <a:t>LC-C: The requirements of </a:t>
            </a:r>
            <a:r>
              <a:rPr lang="en-US" sz="1400" b="1" i="1" dirty="0">
                <a:solidFill>
                  <a:srgbClr val="FF0000"/>
                </a:solidFill>
                <a:latin typeface="Arial"/>
              </a:rPr>
              <a:t>the </a:t>
            </a:r>
            <a:r>
              <a:rPr lang="en-US" sz="1400" b="1" i="1" dirty="0" smtClean="0">
                <a:solidFill>
                  <a:srgbClr val="FF0000"/>
                </a:solidFill>
                <a:latin typeface="Arial"/>
              </a:rPr>
              <a:t>FLRA </a:t>
            </a:r>
            <a:r>
              <a:rPr lang="en-US" sz="1400" b="1" i="1" dirty="0">
                <a:solidFill>
                  <a:srgbClr val="FF0000"/>
                </a:solidFill>
                <a:latin typeface="Arial"/>
              </a:rPr>
              <a:t>and JSA (standards) as documented in the risk assessment </a:t>
            </a:r>
            <a:r>
              <a:rPr lang="en-US" sz="1400" b="1" i="1" dirty="0" smtClean="0">
                <a:solidFill>
                  <a:srgbClr val="FF0000"/>
                </a:solidFill>
                <a:latin typeface="Arial"/>
              </a:rPr>
              <a:t>program were not met.</a:t>
            </a:r>
          </a:p>
          <a:p>
            <a:pPr marL="457200" indent="-457200">
              <a:lnSpc>
                <a:spcPct val="90000"/>
              </a:lnSpc>
              <a:spcBef>
                <a:spcPts val="0"/>
              </a:spcBef>
              <a:buClrTx/>
              <a:buSzPct val="100000"/>
              <a:buFont typeface="Noto Sans Symbols"/>
              <a:buChar char="⮚"/>
              <a:defRPr/>
            </a:pPr>
            <a:endParaRPr lang="en-US" sz="1400" b="1" i="1" noProof="0"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noProof="0" dirty="0" smtClean="0">
                <a:solidFill>
                  <a:srgbClr val="FF0000"/>
                </a:solidFill>
                <a:latin typeface="Arial"/>
              </a:rPr>
              <a:t>Example LC-S: The risk assessment program did not include a standard to assign the roles and responsibilities for foreperson / supervisor oversight on the use of FLRA, JSA’s, and other safe operating / maintenance procedures (SOP’s/SMP’s).  </a:t>
            </a:r>
            <a:endParaRPr kumimoji="0" lang="en-CA" sz="1400" b="0" i="0" u="none" strike="noStrike" kern="0" cap="none" spc="0" normalizeH="0" baseline="0" noProof="0" dirty="0" smtClean="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#2) Risk Assessment and Management of Risks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91373987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Community Awareness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Inform stakeholders of hazards, risks, and risk control measures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Emergency Preparedness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Develop potential loss scenarios and plans to mitigate the loss scenarios and practice emergency drills!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Provide and maintain resources (people, equipment, agency coordination)</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The fire exit doors at a manufacturing facility were blocked with boxes of product because of a delay in pick up by the shipping company. </a:t>
            </a: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Residents living near a refinery don’t know what to do when they hear a siren going off at the refinery.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6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community in close proximity to the operation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were they aware of the risks?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prepared for an emergency at the facility</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was there an emergency plan in place?</a:t>
            </a:r>
          </a:p>
          <a:p>
            <a:pPr marL="457200" indent="-4572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community awareness program and/or an emergency preparedness program. </a:t>
            </a:r>
            <a:endParaRPr lang="en-CA" sz="1600" b="1" i="1" dirty="0">
              <a:solidFill>
                <a:srgbClr val="FF0000"/>
              </a:solidFill>
              <a:latin typeface="Arial"/>
            </a:endParaRPr>
          </a:p>
          <a:p>
            <a:pPr marL="457200" indent="-457200">
              <a:lnSpc>
                <a:spcPct val="90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emergency preparedness program did not include </a:t>
            </a:r>
            <a:r>
              <a:rPr lang="en-US" sz="1600" b="1" i="1" dirty="0" smtClean="0">
                <a:solidFill>
                  <a:srgbClr val="FF0000"/>
                </a:solidFill>
                <a:latin typeface="Arial"/>
              </a:rPr>
              <a:t>a standard for regular </a:t>
            </a:r>
            <a:r>
              <a:rPr lang="en-US" sz="1600" b="1" i="1" dirty="0">
                <a:solidFill>
                  <a:srgbClr val="FF0000"/>
                </a:solidFill>
                <a:latin typeface="Arial"/>
              </a:rPr>
              <a:t>inspections of fire exit </a:t>
            </a:r>
            <a:r>
              <a:rPr lang="en-US" sz="1600" b="1" i="1" dirty="0" smtClean="0">
                <a:solidFill>
                  <a:srgbClr val="FF0000"/>
                </a:solidFill>
                <a:latin typeface="Arial"/>
              </a:rPr>
              <a:t>doors</a:t>
            </a:r>
          </a:p>
          <a:p>
            <a:pPr marL="457200" indent="-457200">
              <a:lnSpc>
                <a:spcPct val="90000"/>
              </a:lnSpc>
              <a:spcBef>
                <a:spcPts val="0"/>
              </a:spcBef>
              <a:buClrTx/>
              <a:buSzPct val="100000"/>
              <a:buFont typeface="Noto Sans Symbols"/>
              <a:buChar char="⮚"/>
              <a:defRPr/>
            </a:pPr>
            <a:r>
              <a:rPr lang="en-US" sz="1600" b="1" i="1" dirty="0" smtClean="0">
                <a:solidFill>
                  <a:srgbClr val="FF0000"/>
                </a:solidFill>
                <a:latin typeface="Arial"/>
              </a:rPr>
              <a:t>Example LC-P: The company did not have a community awareness program to communicate facility hazards, siren signals, and what to do when the siren is sounded.</a:t>
            </a:r>
            <a:endParaRPr lang="en-US"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#3) Community Awareness and Emergency Preparedness: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011692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change from what has usually or normally been done or used e.g. procedure, or a change in the organization (people and processes)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“Change” introduces or causes a change in: a) risk level, or</a:t>
            </a:r>
            <a:b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 the effectiveness in risk control measures, or c) new risks!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must clearly communicate </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definition of change, and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reinforce the processes</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for managing change.</a:t>
            </a:r>
          </a:p>
          <a:p>
            <a:pPr marL="432000" marR="0" lvl="0" indent="-432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An engineer wants to switch out a tank used to store diesel to now store gasoline. The engineer has never done this before. The engineer can’t decide if he should complete a full risk assessment for this change because there are no procedures available to the engineer that detail how this change is to be undertaken. </a:t>
            </a: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employee make a change to a standard operating procedure? </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or contractor make a change to an engineered system (during design, construction, operation, or maintenance) without assessing the risk from the change first? If not, why?</a:t>
            </a:r>
          </a:p>
          <a:p>
            <a:pPr marL="342900" indent="-3429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FF0000"/>
                </a:solidFill>
                <a:effectLst/>
                <a:uLnTx/>
                <a:uFillTx/>
                <a:latin typeface="Arial"/>
                <a:sym typeface="Arial"/>
              </a:rPr>
              <a:t>LCs GW: a Management of Change program</a:t>
            </a:r>
            <a:r>
              <a:rPr kumimoji="0" lang="en-CA" sz="1400" b="1" i="1" u="none" strike="noStrike" kern="0" cap="none" spc="0" normalizeH="0" baseline="0" noProof="0" dirty="0" smtClean="0">
                <a:ln>
                  <a:noFill/>
                </a:ln>
                <a:solidFill>
                  <a:srgbClr val="FF0000"/>
                </a:solidFill>
                <a:effectLst/>
                <a:uLnTx/>
                <a:uFillTx/>
                <a:latin typeface="Arial"/>
                <a:sym typeface="Arial"/>
              </a:rPr>
              <a:t>.</a:t>
            </a:r>
            <a:endParaRPr lang="en-CA" sz="1400" b="1" i="1" dirty="0">
              <a:solidFill>
                <a:srgbClr val="FF0000"/>
              </a:solidFill>
              <a:latin typeface="Arial"/>
            </a:endParaRPr>
          </a:p>
          <a:p>
            <a:pPr marL="342900" indent="-3429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400" b="1" i="1" dirty="0" smtClean="0">
                <a:solidFill>
                  <a:srgbClr val="FF0000"/>
                </a:solidFill>
                <a:latin typeface="Arial"/>
              </a:rPr>
              <a:t>Example LC-S: The management of </a:t>
            </a:r>
            <a:r>
              <a:rPr lang="en-US" sz="1400" b="1" i="1" dirty="0">
                <a:solidFill>
                  <a:srgbClr val="FF0000"/>
                </a:solidFill>
                <a:latin typeface="Arial"/>
              </a:rPr>
              <a:t>change program did not </a:t>
            </a:r>
            <a:r>
              <a:rPr lang="en-US" sz="1400" b="1" i="1" dirty="0" smtClean="0">
                <a:solidFill>
                  <a:srgbClr val="FF0000"/>
                </a:solidFill>
                <a:latin typeface="Arial"/>
              </a:rPr>
              <a:t>include a procedure or review steps for changes to </a:t>
            </a:r>
            <a:r>
              <a:rPr lang="en-US" sz="1400" b="1" i="1" dirty="0">
                <a:solidFill>
                  <a:srgbClr val="FF0000"/>
                </a:solidFill>
                <a:latin typeface="Arial"/>
              </a:rPr>
              <a:t>product storage </a:t>
            </a:r>
            <a:r>
              <a:rPr lang="en-US" sz="1400" b="1" i="1" dirty="0" smtClean="0">
                <a:solidFill>
                  <a:srgbClr val="FF0000"/>
                </a:solidFill>
                <a:latin typeface="Arial"/>
              </a:rPr>
              <a:t>tank.</a:t>
            </a:r>
            <a:endParaRPr lang="en-US" sz="1400" b="1" i="1" dirty="0">
              <a:solidFill>
                <a:srgbClr val="FF0000"/>
              </a:solidFill>
              <a:latin typeface="Arial"/>
            </a:endParaRPr>
          </a:p>
          <a:p>
            <a:pPr marL="342900" marR="0" lvl="0" indent="-34290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400" b="1" i="0" u="none" strike="noStrike" kern="0" cap="none" spc="0" normalizeH="0" baseline="0" noProof="0" dirty="0">
              <a:ln>
                <a:noFill/>
              </a:ln>
              <a:solidFill>
                <a:srgbClr val="000099"/>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#4) Management of Change: Chapter 3.4</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322946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a:t>
            </a:r>
            <a:r>
              <a:rPr kumimoji="0" lang="en-CA"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and reactive</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management action can contribute significantly to improvements in the management system. </a:t>
            </a: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Reporting</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mechanisms are in place for recording and tracking: </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consequences (near miss events) as well as sub-standard conditions and sub-standard practices.</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Reactive</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t>
            </a:r>
            <a:r>
              <a:rPr kumimoji="0" lang="en-CA" altLang="en-US" sz="1600" b="0" i="0" u="sng"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consequences.</a:t>
            </a:r>
          </a:p>
          <a:p>
            <a:pPr marL="360000" lvl="0" indent="-360000" eaLnBrk="0" fontAlgn="base" hangingPunct="0">
              <a:lnSpc>
                <a:spcPct val="85000"/>
              </a:lnSpc>
              <a:spcBef>
                <a:spcPts val="0"/>
              </a:spcBef>
              <a:buClrTx/>
              <a:buSzPct val="100000"/>
              <a:buFont typeface="Wingdings" panose="05000000000000000000" pitchFamily="2" charset="2"/>
              <a:buChar char="Ø"/>
              <a:defRPr/>
            </a:pP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are investigated, analysed, and corrective actions determined to prevent re-occurrence. </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endParaRPr kumimoji="0" lang="en-CA" sz="1600" b="0" i="1" u="none" strike="noStrike" kern="0" cap="none" spc="0" normalizeH="0" baseline="0" noProof="0" dirty="0" smtClean="0">
              <a:ln>
                <a:noFill/>
              </a:ln>
              <a:solidFill>
                <a:srgbClr val="000000"/>
              </a:solidFill>
              <a:effectLst/>
              <a:uLnTx/>
              <a:uFillTx/>
              <a:latin typeface="Arial"/>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An employee sustains a </a:t>
            </a:r>
            <a:r>
              <a:rPr kumimoji="0" lang="en-CA" sz="1600" b="0" i="1" u="none" strike="noStrike" kern="0" cap="none" spc="0" normalizeH="0" baseline="0" noProof="0" dirty="0" smtClean="0">
                <a:ln>
                  <a:noFill/>
                </a:ln>
                <a:solidFill>
                  <a:srgbClr val="000000"/>
                </a:solidFill>
                <a:effectLst/>
                <a:uLnTx/>
                <a:uFillTx/>
                <a:latin typeface="Arial"/>
                <a:sym typeface="Arial"/>
              </a:rPr>
              <a:t>minor </a:t>
            </a:r>
            <a:r>
              <a:rPr kumimoji="0" lang="en-CA" sz="1600" b="0" i="1" u="none" strike="noStrike" kern="0" cap="none" spc="0" normalizeH="0" baseline="0" noProof="0" dirty="0">
                <a:ln>
                  <a:noFill/>
                </a:ln>
                <a:solidFill>
                  <a:srgbClr val="000000"/>
                </a:solidFill>
                <a:effectLst/>
                <a:uLnTx/>
                <a:uFillTx/>
                <a:latin typeface="Arial"/>
                <a:sym typeface="Arial"/>
              </a:rPr>
              <a:t>injury while using a defective tool. The worker reports to the First Aid station as per company policy. The </a:t>
            </a:r>
            <a:r>
              <a:rPr kumimoji="0" lang="en-CA" sz="1600" b="0" i="1" u="none" strike="noStrike" kern="0" cap="none" spc="0" normalizeH="0" baseline="0" noProof="0" dirty="0" smtClean="0">
                <a:ln>
                  <a:noFill/>
                </a:ln>
                <a:solidFill>
                  <a:srgbClr val="000000"/>
                </a:solidFill>
                <a:effectLst/>
                <a:uLnTx/>
                <a:uFillTx/>
                <a:latin typeface="Arial"/>
                <a:sym typeface="Arial"/>
              </a:rPr>
              <a:t>supervisor could investigate </a:t>
            </a:r>
            <a:r>
              <a:rPr kumimoji="0" lang="en-CA" sz="1600" b="0" i="1" u="none" strike="noStrike" kern="0" cap="none" spc="0" normalizeH="0" baseline="0" noProof="0" dirty="0">
                <a:ln>
                  <a:noFill/>
                </a:ln>
                <a:solidFill>
                  <a:srgbClr val="000000"/>
                </a:solidFill>
                <a:effectLst/>
                <a:uLnTx/>
                <a:uFillTx/>
                <a:latin typeface="Arial"/>
                <a:sym typeface="Arial"/>
              </a:rPr>
              <a:t>the incident, </a:t>
            </a:r>
            <a:r>
              <a:rPr kumimoji="0" lang="en-CA" sz="1600" b="0" i="1" u="none" strike="noStrike" kern="0" cap="none" spc="0" normalizeH="0" baseline="0" noProof="0" dirty="0" smtClean="0">
                <a:ln>
                  <a:noFill/>
                </a:ln>
                <a:solidFill>
                  <a:srgbClr val="000000"/>
                </a:solidFill>
                <a:effectLst/>
                <a:uLnTx/>
                <a:uFillTx/>
                <a:latin typeface="Arial"/>
                <a:sym typeface="Arial"/>
              </a:rPr>
              <a:t>file </a:t>
            </a:r>
            <a:r>
              <a:rPr kumimoji="0" lang="en-CA" sz="1600" b="0" i="1" u="none" strike="noStrike" kern="0" cap="none" spc="0" normalizeH="0" baseline="0" noProof="0" dirty="0">
                <a:ln>
                  <a:noFill/>
                </a:ln>
                <a:solidFill>
                  <a:srgbClr val="000000"/>
                </a:solidFill>
                <a:effectLst/>
                <a:uLnTx/>
                <a:uFillTx/>
                <a:latin typeface="Arial"/>
                <a:sym typeface="Arial"/>
              </a:rPr>
              <a:t>a report, and </a:t>
            </a:r>
            <a:r>
              <a:rPr kumimoji="0" lang="en-CA" sz="1600" b="0" i="1" u="none" strike="noStrike" kern="0" cap="none" spc="0" normalizeH="0" baseline="0" noProof="0" dirty="0" smtClean="0">
                <a:ln>
                  <a:noFill/>
                </a:ln>
                <a:solidFill>
                  <a:srgbClr val="000000"/>
                </a:solidFill>
                <a:effectLst/>
                <a:uLnTx/>
                <a:uFillTx/>
                <a:latin typeface="Arial"/>
                <a:sym typeface="Arial"/>
              </a:rPr>
              <a:t>discuss </a:t>
            </a:r>
            <a:r>
              <a:rPr kumimoji="0" lang="en-CA" sz="1600" b="0" i="1" u="none" strike="noStrike" kern="0" cap="none" spc="0" normalizeH="0" baseline="0" noProof="0" dirty="0">
                <a:ln>
                  <a:noFill/>
                </a:ln>
                <a:solidFill>
                  <a:srgbClr val="000000"/>
                </a:solidFill>
                <a:effectLst/>
                <a:uLnTx/>
                <a:uFillTx/>
                <a:latin typeface="Arial"/>
                <a:sym typeface="Arial"/>
              </a:rPr>
              <a:t>the incident at the next safety meeting regarding inspection of tools prior to </a:t>
            </a:r>
            <a:r>
              <a:rPr kumimoji="0" lang="en-CA" sz="1600" b="0" i="1" u="none" strike="noStrike" kern="0" cap="none" spc="0" normalizeH="0" baseline="0" noProof="0" dirty="0" smtClean="0">
                <a:ln>
                  <a:noFill/>
                </a:ln>
                <a:solidFill>
                  <a:srgbClr val="000000"/>
                </a:solidFill>
                <a:effectLst/>
                <a:uLnTx/>
                <a:uFillTx/>
                <a:latin typeface="Arial"/>
                <a:sym typeface="Arial"/>
              </a:rPr>
              <a:t>use, but there were no criteria to state what</a:t>
            </a:r>
            <a:r>
              <a:rPr kumimoji="0" lang="en-CA" sz="1600" b="0" i="1" u="none" strike="noStrike" kern="0" cap="none" spc="0" normalizeH="0" noProof="0" dirty="0" smtClean="0">
                <a:ln>
                  <a:noFill/>
                </a:ln>
                <a:solidFill>
                  <a:srgbClr val="000000"/>
                </a:solidFill>
                <a:effectLst/>
                <a:uLnTx/>
                <a:uFillTx/>
                <a:latin typeface="Arial"/>
                <a:sym typeface="Arial"/>
              </a:rPr>
              <a:t> should be investigated i.e. </a:t>
            </a:r>
            <a:r>
              <a:rPr kumimoji="0" lang="en-CA" sz="1600" b="0" i="1" u="none" strike="noStrike" kern="0" cap="none" spc="0" normalizeH="0" baseline="0" noProof="0" dirty="0" smtClean="0">
                <a:ln>
                  <a:noFill/>
                </a:ln>
                <a:solidFill>
                  <a:srgbClr val="000000"/>
                </a:solidFill>
                <a:effectLst/>
                <a:uLnTx/>
                <a:uFillTx/>
                <a:latin typeface="Arial"/>
                <a:sym typeface="Arial"/>
              </a:rPr>
              <a:t>that</a:t>
            </a:r>
            <a:r>
              <a:rPr kumimoji="0" lang="en-CA" sz="1600" b="0" i="1" u="none" strike="noStrike" kern="0" cap="none" spc="0" normalizeH="0" noProof="0" dirty="0" smtClean="0">
                <a:ln>
                  <a:noFill/>
                </a:ln>
                <a:solidFill>
                  <a:srgbClr val="000000"/>
                </a:solidFill>
                <a:effectLst/>
                <a:uLnTx/>
                <a:uFillTx/>
                <a:latin typeface="Arial"/>
                <a:sym typeface="Arial"/>
              </a:rPr>
              <a:t> a minor injury should be investigated</a:t>
            </a:r>
            <a:r>
              <a:rPr kumimoji="0" lang="en-CA" sz="1600" b="0" i="1" u="none" strike="noStrike" kern="0" cap="none" spc="0" normalizeH="0" baseline="0" noProof="0" dirty="0" smtClean="0">
                <a:ln>
                  <a:noFill/>
                </a:ln>
                <a:solidFill>
                  <a:srgbClr val="000000"/>
                </a:solidFill>
                <a:effectLst/>
                <a:uLnTx/>
                <a:uFillTx/>
                <a:latin typeface="Arial"/>
                <a:sym typeface="Arial"/>
              </a:rPr>
              <a:t>. </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Tx/>
              <a:buFont typeface="Arial"/>
              <a:buNone/>
              <a:tabLst/>
              <a:defRPr/>
            </a:pPr>
            <a:endParaRPr lang="en-CA" sz="1600" i="1" dirty="0">
              <a:solidFill>
                <a:srgbClr val="000000"/>
              </a:solidFill>
              <a:latin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kumimoji="0" lang="en-CA" sz="1600" b="1" i="1" u="none" strike="noStrike" kern="0" cap="none" spc="0" normalizeH="0" baseline="0" noProof="0" dirty="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incidents and near misses reported?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know about past incidents at the facility?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plan for responding to reported incidents? </a:t>
            </a:r>
            <a:endParaRPr kumimoji="0" lang="en-CA" sz="1600" b="1" i="1" u="none" strike="noStrike" kern="0" cap="none" spc="0" normalizeH="0" baseline="0" noProof="0" dirty="0" smtClean="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smtClean="0">
                <a:ln>
                  <a:noFill/>
                </a:ln>
                <a:solidFill>
                  <a:srgbClr val="000099"/>
                </a:solidFill>
                <a:effectLst/>
                <a:uLnTx/>
                <a:uFillTx/>
                <a:latin typeface="Arial"/>
                <a:sym typeface="Arial"/>
              </a:rPr>
              <a:t>Were </a:t>
            </a:r>
            <a:r>
              <a:rPr kumimoji="0" lang="en-CA" sz="1600" b="1" i="1" u="none" strike="noStrike" kern="0" cap="none" spc="0" normalizeH="0" baseline="0" noProof="0" dirty="0">
                <a:ln>
                  <a:noFill/>
                </a:ln>
                <a:solidFill>
                  <a:srgbClr val="000099"/>
                </a:solidFill>
                <a:effectLst/>
                <a:uLnTx/>
                <a:uFillTx/>
                <a:latin typeface="Arial"/>
                <a:sym typeface="Arial"/>
              </a:rPr>
              <a:t>corrective actions developed and followed up on?</a:t>
            </a:r>
          </a:p>
          <a:p>
            <a:pPr marL="342900" indent="-3429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one or more of the programs / processes of this element; recall our Incident Investigation - Root Cause Analysis - Manage Actions work processes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85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incident i</a:t>
            </a:r>
            <a:r>
              <a:rPr lang="en-US" sz="1600" b="1" i="1" dirty="0" smtClean="0">
                <a:solidFill>
                  <a:srgbClr val="FF0000"/>
                </a:solidFill>
                <a:latin typeface="Arial"/>
              </a:rPr>
              <a:t>nvestigation </a:t>
            </a:r>
            <a:r>
              <a:rPr lang="en-US" sz="1600" b="1" i="1" dirty="0">
                <a:solidFill>
                  <a:srgbClr val="FF0000"/>
                </a:solidFill>
                <a:latin typeface="Arial"/>
              </a:rPr>
              <a:t>program did not </a:t>
            </a:r>
            <a:r>
              <a:rPr lang="en-US" sz="1600" b="1" i="1" dirty="0" smtClean="0">
                <a:solidFill>
                  <a:srgbClr val="FF0000"/>
                </a:solidFill>
                <a:latin typeface="Arial"/>
              </a:rPr>
              <a:t>include a standard to describe </a:t>
            </a:r>
            <a:r>
              <a:rPr lang="en-US" sz="1600" b="1" i="1" dirty="0">
                <a:solidFill>
                  <a:srgbClr val="FF0000"/>
                </a:solidFill>
                <a:latin typeface="Arial"/>
              </a:rPr>
              <a:t>the threshold criteria for what should be </a:t>
            </a:r>
            <a:r>
              <a:rPr lang="en-US" sz="1600" b="1" i="1" dirty="0" smtClean="0">
                <a:solidFill>
                  <a:srgbClr val="FF0000"/>
                </a:solidFill>
                <a:latin typeface="Arial"/>
              </a:rPr>
              <a:t>investigated with follow-up action. </a:t>
            </a:r>
            <a:endParaRPr lang="en-CA"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#5) Incident Reporting, Investigation, Analysis and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4275039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Continuous improvement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is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essential to ensure your program and organization are managing the residual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a:t>
            </a:r>
          </a:p>
          <a:p>
            <a:pPr marL="720000" indent="-360000" eaLnBrk="0" fontAlgn="base" hangingPunct="0">
              <a:lnSpc>
                <a:spcPct val="85000"/>
              </a:lnSpc>
              <a:spcBef>
                <a:spcPts val="0"/>
              </a:spcBef>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Continually checking each of the program elements, their standards (administrative controls), and the implementation of those standards </a:t>
            </a: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Program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evaluation works on all parts of the RMS Program:</a:t>
            </a:r>
          </a:p>
          <a:p>
            <a:pPr marL="72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Audits (internal, external) test implementation of the program at organization level to ensure it is effectively implemented</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third party firm is hired to do an audit on the safe shut down of a plant. The auditors reviewed the procedures and observed work practices during the shut down. After the audit is completed, the managers at the company discussed the deficiencies found</a:t>
            </a:r>
            <a:r>
              <a:rPr kumimoji="0" lang="en-CA" sz="1600" b="0" i="1" u="none" strike="noStrike" kern="0" cap="none" spc="0" normalizeH="0" baseline="0" noProof="0" dirty="0" smtClean="0">
                <a:ln>
                  <a:noFill/>
                </a:ln>
                <a:solidFill>
                  <a:srgbClr val="000000"/>
                </a:solidFill>
                <a:effectLst/>
                <a:uLnTx/>
                <a:uFillTx/>
                <a:latin typeface="Arial"/>
                <a:sym typeface="Arial"/>
              </a:rPr>
              <a:t>, but did not develop </a:t>
            </a:r>
            <a:r>
              <a:rPr kumimoji="0" lang="en-CA" sz="1600" b="0" i="1" u="none" strike="noStrike" kern="0" cap="none" spc="0" normalizeH="0" baseline="0" noProof="0" dirty="0">
                <a:ln>
                  <a:noFill/>
                </a:ln>
                <a:solidFill>
                  <a:srgbClr val="000000"/>
                </a:solidFill>
                <a:effectLst/>
                <a:uLnTx/>
                <a:uFillTx/>
                <a:latin typeface="Arial"/>
                <a:sym typeface="Arial"/>
              </a:rPr>
              <a:t>corrective actions, and </a:t>
            </a:r>
            <a:r>
              <a:rPr lang="en-CA" sz="1600" i="1" dirty="0" smtClean="0">
                <a:solidFill>
                  <a:srgbClr val="000000"/>
                </a:solidFill>
                <a:latin typeface="Arial"/>
              </a:rPr>
              <a:t>did not </a:t>
            </a:r>
            <a:r>
              <a:rPr kumimoji="0" lang="en-CA" sz="1600" b="0" i="1" u="none" strike="noStrike" kern="0" cap="none" spc="0" normalizeH="0" baseline="0" noProof="0" dirty="0" smtClean="0">
                <a:ln>
                  <a:noFill/>
                </a:ln>
                <a:solidFill>
                  <a:srgbClr val="000000"/>
                </a:solidFill>
                <a:effectLst/>
                <a:uLnTx/>
                <a:uFillTx/>
                <a:latin typeface="Arial"/>
                <a:sym typeface="Arial"/>
              </a:rPr>
              <a:t>implement any actions to correct the deficiencies.</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Noto Sans Symbols"/>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conduct audits to determine the effectiveness of their risk management program, such as comparing administrative controls with actual work practices?</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supporting the audit follow-up i.e. take action to correct deficiencies?</a:t>
            </a:r>
          </a:p>
          <a:p>
            <a:pPr marL="457200" indent="-4572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an auditing program and its components e.g. schedule, details on what to audit, assignment and commitment to </a:t>
            </a:r>
            <a:r>
              <a:rPr kumimoji="0" lang="en-CA" sz="1600" b="1" i="1" u="none" strike="noStrike" kern="0" cap="none" spc="0" normalizeH="0" baseline="0" noProof="0" dirty="0" smtClean="0">
                <a:ln>
                  <a:noFill/>
                </a:ln>
                <a:solidFill>
                  <a:srgbClr val="000099"/>
                </a:solidFill>
                <a:effectLst/>
                <a:uLnTx/>
                <a:uFillTx/>
                <a:latin typeface="Arial"/>
                <a:sym typeface="Arial"/>
              </a:rPr>
              <a:t>audit.</a:t>
            </a:r>
            <a:endParaRPr lang="en-CA" sz="1600" b="1" i="1" dirty="0">
              <a:solidFill>
                <a:srgbClr val="FF0000"/>
              </a:solidFill>
              <a:latin typeface="Arial"/>
            </a:endParaRPr>
          </a:p>
          <a:p>
            <a:pPr marL="457200" indent="-457200">
              <a:lnSpc>
                <a:spcPct val="85000"/>
              </a:lnSpc>
              <a:spcBef>
                <a:spcPts val="0"/>
              </a:spcBef>
              <a:buClrTx/>
              <a:buSzPct val="100000"/>
              <a:buFont typeface="Noto Sans Symbols"/>
              <a:buChar char="⮚"/>
              <a:defRPr/>
            </a:pPr>
            <a:endParaRPr lang="en-US" sz="1600" b="1" i="1" dirty="0" smtClean="0">
              <a:solidFill>
                <a:srgbClr val="FF0000"/>
              </a:solidFill>
              <a:latin typeface="Arial"/>
            </a:endParaRPr>
          </a:p>
          <a:p>
            <a:pPr marL="457200" indent="-457200">
              <a:lnSpc>
                <a:spcPct val="85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Evaluation Program did not include an audit process (a standard) to check the tracking and implementation of </a:t>
            </a:r>
            <a:r>
              <a:rPr lang="en-US" sz="1600" b="1" i="1" dirty="0">
                <a:solidFill>
                  <a:srgbClr val="FF0000"/>
                </a:solidFill>
                <a:latin typeface="Arial"/>
              </a:rPr>
              <a:t>corrective </a:t>
            </a:r>
            <a:r>
              <a:rPr lang="en-US" sz="1600" b="1" i="1" dirty="0" smtClean="0">
                <a:solidFill>
                  <a:srgbClr val="FF0000"/>
                </a:solidFill>
                <a:latin typeface="Arial"/>
              </a:rPr>
              <a:t>actions as discovered in third-party audits</a:t>
            </a:r>
            <a:r>
              <a:rPr lang="en-CA" sz="1600" b="1" i="1" dirty="0" smtClean="0">
                <a:solidFill>
                  <a:srgbClr val="FF0000"/>
                </a:solidFill>
                <a:latin typeface="Arial"/>
              </a:rPr>
              <a:t>.</a:t>
            </a:r>
            <a:endParaRPr lang="en-CA" sz="1600" b="1" i="1" dirty="0">
              <a:solidFill>
                <a:srgbClr val="FF0000"/>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6660869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investigating, and inspecting.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85000"/>
              </a:lnSpc>
              <a:spcBef>
                <a:spcPct val="0"/>
              </a:spcBef>
              <a:spcAft>
                <a:spcPct val="0"/>
              </a:spcAft>
              <a:buClrTx/>
              <a:buSzPct val="100000"/>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a:t>
            </a:r>
            <a:r>
              <a:rPr kumimoji="0" lang="en-CA"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about </a:t>
            </a:r>
            <a:r>
              <a:rPr kumimoji="0" lang="en-CA"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monitoring performance</a:t>
            </a:r>
            <a:r>
              <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t>
            </a:r>
            <a:r>
              <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measured and tracked by a particular program. </a:t>
            </a:r>
            <a:r>
              <a:rPr lang="en-US" altLang="en-US" sz="1600" kern="1200" dirty="0">
                <a:latin typeface="Arial" panose="020B0604020202020204" pitchFamily="34" charset="0"/>
                <a:ea typeface="ＭＳ Ｐゴシック" panose="020B0600070205080204" pitchFamily="34" charset="-128"/>
                <a:cs typeface="Arial" panose="020B0604020202020204" pitchFamily="34" charset="0"/>
              </a:rPr>
              <a:t>In this comparison, consider the following general work flow scenario specific to a management activity, which is a “Management Safety Review</a:t>
            </a:r>
            <a:r>
              <a:rPr lang="en-US" alt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echnical Safety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rogram is about assessing and managing technical safety risks.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facility has implemented a Technical Safety Program to track leading indicators for technical safety performance, such as “the number of technical safety devices that are overdue for inspection or maintenance”, and take action to address deviations.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lvl="0" eaLnBrk="0" fontAlgn="base" hangingPunct="0">
              <a:lnSpc>
                <a:spcPct val="85000"/>
              </a:lnSpc>
              <a:spcBef>
                <a:spcPct val="0"/>
              </a:spcBef>
              <a:spcAft>
                <a:spcPct val="0"/>
              </a:spcAft>
              <a:buClrTx/>
              <a:buSzPct val="100000"/>
              <a:defRPr/>
            </a:pP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RME #1 Management Leadership, Commitment, and Accountability</a:t>
            </a: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(both technical and occupational) performance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and should be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monitored</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by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by measuring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tracking leading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taking appropriate actions in response to those leading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indicators</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t>
            </a:r>
            <a:endPar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Thus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performance review such as "How well is our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doing based on leading indicators?" is a program to review and take actions that should be set up under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#1</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 is after all a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“Management Safety Review”. </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program under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this element is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Safety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actually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measuring</a:t>
            </a:r>
            <a:r>
              <a:rPr lang="en-US" sz="1600" kern="1200" dirty="0">
                <a:latin typeface="Arial" panose="020B0604020202020204" pitchFamily="34" charset="0"/>
                <a:ea typeface="ＭＳ Ｐゴシック" panose="020B0600070205080204" pitchFamily="34" charset="-128"/>
                <a:cs typeface="Arial" panose="020B0604020202020204" pitchFamily="34" charset="0"/>
              </a:rPr>
              <a:t>, tracking, and routinely reviewing the leading indicators</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taking appropriate actions in response to those leading indicators?”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Management</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Safety Program (part of RME #1 MLCA).</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3307617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762000"/>
            <a:ext cx="8640000" cy="5472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inspecting.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investigating loss incidents or near </a:t>
            </a:r>
            <a:r>
              <a:rPr kumimoji="0" lang="en-US"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misses</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investigations are conducted under RME #</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Incident Reporting, Investigation, Analysis and Actions.</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investigations and actions</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loss incident"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"auditing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 reports“.</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loss incident occurs. An investigation is undertaken and completed, including a set of actions derived from the investigation. At some time after the investigation report has been completed and the actions have been implemented, any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manager / leader with some knowledge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IRIAA program checks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investigation was thorough and the actions were effectively completed.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investigations and the follow-up of corrective actions i.e. track the status of actions, from those investigations are part of the IRIAA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IRIAA Program should monitor which incidents are reported and investigated, the status of investigations, and the status of actions from those investigations.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investigations and the management of actions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incidents being reported, and are your investigations being done correctly and thoroughly, and have any actions been effectively implemented?”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IRIAA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75383342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 work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flow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"inspection of an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 item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construction" and "auditing of inspections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construction“.</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electrician installs the electrical system; a second worker, which is usually another electrician, inspects the work of the first electrician to detect any defects in that work and initiate corrections if needed; a third worker, which could be any manager / leader with some knowledge of electrical work, checks that the inspections of the second worker were done correctly.</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#7 Design, Construction, and Start-up:</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Both the installation and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of the installed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are part of the Construction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an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installed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asks “was it installed per design?”</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program</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your inspections of installed items being done correctly and thoroughly, and have any installation deviations from design been corrected?”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Construction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07078386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Auditing can be easily confused with monitoring, investigating, and </a:t>
            </a:r>
            <a:r>
              <a:rPr kumimoji="0" lang="en-US" altLang="en-US" sz="16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a:t>
            </a: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 is NOT about </a:t>
            </a:r>
            <a:r>
              <a:rPr kumimoji="0" lang="en-US"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inspecting work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i.e. a quality check, after the work has been done. Such inspections are part of the element under which the work was originally done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this comparison, consider</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following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flow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scenario specific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a:t>
            </a:r>
            <a:r>
              <a:rPr kumimoji="0" lang="en-US"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difference between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"inspection of a repair after maintenance" and "auditing of inspections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repaired</a:t>
            </a:r>
            <a:r>
              <a:rPr kumimoji="0" 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items</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maintenance“.</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first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repairs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compressor;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second worker, which is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usually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another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inspects the work of the first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millwright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detect any defects in that work and initiate corrections if needed; a third worker, which could be any manager / leader with some knowledge 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mechanical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checks that the inspections of the second worker were done correctly.</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a:t>
            </a:r>
            <a:r>
              <a:rPr kumimoji="0" lang="en-US"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#8 Operations and Maintenance:</a:t>
            </a:r>
            <a:endPar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Both the repair and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of the repaired item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are part of the Maintenance Program.</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repair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after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asks “was it repaired per manufacturer’s specifications?”</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85000"/>
              </a:lnSpc>
              <a:spcBef>
                <a:spcPct val="0"/>
              </a:spcBef>
              <a:spcAft>
                <a:spcPct val="0"/>
              </a:spcAft>
              <a:buClrTx/>
              <a:buSzPct val="100000"/>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RME #6 PECI:</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85000"/>
              </a:lnSpc>
              <a:spcBef>
                <a:spcPct val="0"/>
              </a:spcBef>
              <a:spcAft>
                <a:spcPct val="0"/>
              </a:spcAft>
              <a:buClrTx/>
              <a:buSzPct val="100000"/>
              <a:buFont typeface="Wingdings" panose="05000000000000000000" pitchFamily="2" charset="2"/>
              <a:buChar char="Ø"/>
              <a:defRPr/>
            </a:pPr>
            <a:r>
              <a:rPr lang="en-US" sz="1600" kern="1200" dirty="0">
                <a:latin typeface="Arial" panose="020B0604020202020204" pitchFamily="34" charset="0"/>
                <a:ea typeface="ＭＳ Ｐゴシック" panose="020B0600070205080204" pitchFamily="34" charset="-128"/>
                <a:cs typeface="Arial" panose="020B0604020202020204" pitchFamily="34" charset="0"/>
              </a:rPr>
              <a:t>The program under this element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about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evaluating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see how </a:t>
            </a:r>
            <a:r>
              <a:rPr kumimoji="0" 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your </a:t>
            </a:r>
            <a:r>
              <a:rPr kumimoji="0" 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Program</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actually doing what is intended.</a:t>
            </a: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other words,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your inspections being done correctly and thoroughly, and have any repair/maintenance deviations from manufacturer's specifications been corrected?”</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5000"/>
              </a:lnSpc>
              <a:spcBef>
                <a:spcPct val="0"/>
              </a:spcBef>
              <a:spcAft>
                <a:spcPct val="0"/>
              </a:spcAft>
              <a:buClrTx/>
              <a:buSzPct val="100000"/>
              <a:buFont typeface="Wingdings" panose="05000000000000000000" pitchFamily="2" charset="2"/>
              <a:buChar char="Ø"/>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 question is part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Evaluation Program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kumimoji="0" 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Maintenance Program.</a:t>
            </a:r>
            <a:endParaRPr kumimoji="0" lang="en-CA"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48738340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Links project planning, project management, and project execution (from the conceptual stage to the hand over and start-up stage) with appropriate risk assessment reviews (RME #2)</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designed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built</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Are the control measures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confirmed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effective during commissioning and start-up?</a:t>
            </a: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and injured a worker. The cart tipped over because the caster wheels on the cart were too small. The engineer who designed the cart chose inappropriately sized casters for the height and weight of the cart because she didn’t use the available design standard when choosing the casters for heavy loads.</a:t>
            </a: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endParaRPr kumimoji="0" lang="en-CA" sz="1400" b="1" i="1" u="none" strike="noStrike" kern="0" cap="none" spc="0" normalizeH="0" baseline="0" noProof="0" dirty="0">
              <a:ln>
                <a:noFill/>
              </a:ln>
              <a:solidFill>
                <a:srgbClr val="000099"/>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Were there design components that needed a risk assessment?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 engineer recognize that certain aspects of the design needed a risk assessment or needed a more in-depth RA? </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000099"/>
                </a:solidFill>
                <a:effectLst/>
                <a:uLnTx/>
                <a:uFillTx/>
                <a:latin typeface="Arial"/>
                <a:sym typeface="Arial"/>
              </a:rPr>
              <a:t>LCs GW: a design program, a construction program, or a start-up program</a:t>
            </a:r>
            <a:r>
              <a:rPr kumimoji="0" lang="en-CA" sz="1400" b="1" i="1" u="none" strike="noStrike" kern="0" cap="none" spc="0" normalizeH="0" baseline="0" noProof="0" dirty="0" smtClean="0">
                <a:ln>
                  <a:noFill/>
                </a:ln>
                <a:solidFill>
                  <a:srgbClr val="000099"/>
                </a:solidFill>
                <a:effectLst/>
                <a:uLnTx/>
                <a:uFillTx/>
                <a:latin typeface="Arial"/>
                <a:sym typeface="Arial"/>
              </a:rPr>
              <a:t>.</a:t>
            </a:r>
            <a:endParaRPr lang="en-CA" sz="1400" b="1" i="1" dirty="0">
              <a:solidFill>
                <a:srgbClr val="000099"/>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a:solidFill>
                  <a:srgbClr val="FF0000"/>
                </a:solidFill>
                <a:latin typeface="Arial"/>
              </a:rPr>
              <a:t>Example LC-C: The designer did not comply with the design standards for sizing and selecting caster wheels as documented in the equipment design program.</a:t>
            </a:r>
          </a:p>
          <a:p>
            <a:pPr marL="457200" lvl="0" indent="-457200">
              <a:lnSpc>
                <a:spcPct val="90000"/>
              </a:lnSpc>
              <a:spcBef>
                <a:spcPts val="0"/>
              </a:spcBef>
              <a:buClrTx/>
              <a:buSzPct val="100000"/>
              <a:buFont typeface="Noto Sans Symbols"/>
              <a:buChar char="⮚"/>
              <a:defRPr/>
            </a:pPr>
            <a:r>
              <a:rPr lang="en-US" sz="1400" b="1" i="1" dirty="0">
                <a:solidFill>
                  <a:srgbClr val="000000"/>
                </a:solidFill>
                <a:latin typeface="Arial"/>
              </a:rPr>
              <a:t>An improvement on the previous example: </a:t>
            </a:r>
            <a:r>
              <a:rPr lang="en-US" sz="1400" b="1" i="1" dirty="0" smtClean="0">
                <a:solidFill>
                  <a:srgbClr val="FF0000"/>
                </a:solidFill>
                <a:latin typeface="Arial"/>
              </a:rPr>
              <a:t>LC-C: </a:t>
            </a:r>
            <a:r>
              <a:rPr lang="en-US" sz="1400" b="1" i="1" dirty="0">
                <a:solidFill>
                  <a:srgbClr val="FF0000"/>
                </a:solidFill>
                <a:latin typeface="Arial"/>
              </a:rPr>
              <a:t>The requirements of the design standards for sizing and selecting caster wheels as documented in the equipment design program were not met.</a:t>
            </a: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LC-S: </a:t>
            </a:r>
            <a:r>
              <a:rPr lang="en-US" sz="1400" b="1" i="1" dirty="0">
                <a:solidFill>
                  <a:srgbClr val="FF0000"/>
                </a:solidFill>
                <a:latin typeface="Arial"/>
              </a:rPr>
              <a:t>The design program </a:t>
            </a:r>
            <a:r>
              <a:rPr lang="en-US" sz="1400" b="1" i="1" dirty="0" smtClean="0">
                <a:solidFill>
                  <a:srgbClr val="FF0000"/>
                </a:solidFill>
                <a:latin typeface="Arial"/>
              </a:rPr>
              <a:t>did not include a standard to assign roles and responsibilities for senior </a:t>
            </a:r>
            <a:r>
              <a:rPr lang="en-US" sz="1400" b="1" i="1" dirty="0">
                <a:solidFill>
                  <a:srgbClr val="FF0000"/>
                </a:solidFill>
                <a:latin typeface="Arial"/>
              </a:rPr>
              <a:t>oversight of a junior’s use of standards for cart </a:t>
            </a:r>
            <a:r>
              <a:rPr lang="en-US" sz="1400" b="1" i="1" dirty="0" smtClean="0">
                <a:solidFill>
                  <a:srgbClr val="FF0000"/>
                </a:solidFill>
                <a:latin typeface="Arial"/>
              </a:rPr>
              <a:t>design.</a:t>
            </a:r>
          </a:p>
          <a:p>
            <a:pPr marL="457200" indent="-457200">
              <a:lnSpc>
                <a:spcPct val="90000"/>
              </a:lnSpc>
              <a:spcBef>
                <a:spcPts val="0"/>
              </a:spcBef>
              <a:buClr>
                <a:srgbClr val="000000"/>
              </a:buClr>
              <a:buSzPts val="1800"/>
              <a:buFont typeface="Noto Sans Symbols"/>
              <a:buChar char="⮚"/>
              <a:defRPr/>
            </a:pPr>
            <a:endParaRPr lang="en-US" sz="1400" b="1" i="1" dirty="0">
              <a:solidFill>
                <a:srgbClr val="FF0000"/>
              </a:solidFill>
              <a:latin typeface="Arial"/>
            </a:endParaRPr>
          </a:p>
          <a:p>
            <a:pPr marL="457200" indent="-457200">
              <a:lnSpc>
                <a:spcPct val="90000"/>
              </a:lnSpc>
              <a:spcBef>
                <a:spcPts val="0"/>
              </a:spcBef>
              <a:buClr>
                <a:srgbClr val="000000"/>
              </a:buClr>
              <a:buSzPts val="1800"/>
              <a:buFont typeface="Noto Sans Symbols"/>
              <a:buChar char="⮚"/>
              <a:defRPr/>
            </a:pPr>
            <a:endParaRPr lang="en-CA" sz="1400" b="1" i="1" dirty="0">
              <a:solidFill>
                <a:srgbClr val="000099"/>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#7) Design, Construction, and Start-up: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30275029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establishment of criteria for operating and maintaining the facility, and all related activities.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Facilities must be operated and maintained within established criteria i.e. “The Maintenance Manual”, “The Operating Manual”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monitoring, recording, and the analysis of records will reveal deteriorating or deviating conditions that need to be addressed; thus proactively preventing an incident. </a:t>
            </a:r>
          </a:p>
          <a:p>
            <a:pPr marL="457200" marR="0" lvl="0" indent="-45720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wants to lock out and tag a broken piece of equipment </a:t>
            </a:r>
            <a:r>
              <a:rPr kumimoji="0" lang="en-CA" sz="1600" b="0" i="1" u="none" strike="noStrike" kern="0" cap="none" spc="0" normalizeH="0" baseline="0" noProof="0" dirty="0" smtClean="0">
                <a:ln>
                  <a:noFill/>
                </a:ln>
                <a:solidFill>
                  <a:srgbClr val="000000"/>
                </a:solidFill>
                <a:effectLst/>
                <a:uLnTx/>
                <a:uFillTx/>
                <a:latin typeface="Arial"/>
                <a:sym typeface="Arial"/>
              </a:rPr>
              <a:t>on the robotic packaging line for </a:t>
            </a:r>
            <a:r>
              <a:rPr kumimoji="0" lang="en-CA" sz="1600" b="0" i="1" u="none" strike="noStrike" kern="0" cap="none" spc="0" normalizeH="0" baseline="0" noProof="0" dirty="0">
                <a:ln>
                  <a:noFill/>
                </a:ln>
                <a:solidFill>
                  <a:srgbClr val="000000"/>
                </a:solidFill>
                <a:effectLst/>
                <a:uLnTx/>
                <a:uFillTx/>
                <a:latin typeface="Arial"/>
                <a:sym typeface="Arial"/>
              </a:rPr>
              <a:t>repair, but the operating procedure in the manual lacks detail on what </a:t>
            </a:r>
            <a:r>
              <a:rPr kumimoji="0" lang="en-CA" sz="1600" b="0" i="1" u="none" strike="noStrike" kern="0" cap="none" spc="0" normalizeH="0" baseline="0" noProof="0" dirty="0" smtClean="0">
                <a:ln>
                  <a:noFill/>
                </a:ln>
                <a:solidFill>
                  <a:srgbClr val="000000"/>
                </a:solidFill>
                <a:effectLst/>
                <a:uLnTx/>
                <a:uFillTx/>
                <a:latin typeface="Arial"/>
                <a:sym typeface="Arial"/>
              </a:rPr>
              <a:t>valves, electrical</a:t>
            </a:r>
            <a:r>
              <a:rPr kumimoji="0" lang="en-CA" sz="1600" b="0" i="1" u="none" strike="noStrike" kern="0" cap="none" spc="0" normalizeH="0" noProof="0" dirty="0" smtClean="0">
                <a:ln>
                  <a:noFill/>
                </a:ln>
                <a:solidFill>
                  <a:srgbClr val="000000"/>
                </a:solidFill>
                <a:effectLst/>
                <a:uLnTx/>
                <a:uFillTx/>
                <a:latin typeface="Arial"/>
                <a:sym typeface="Arial"/>
              </a:rPr>
              <a:t> switches, and mechanical interlocks</a:t>
            </a:r>
            <a:r>
              <a:rPr kumimoji="0" lang="en-CA" sz="1600" b="0" i="1" u="none" strike="noStrike" kern="0" cap="none" spc="0" normalizeH="0" baseline="0" noProof="0" dirty="0" smtClean="0">
                <a:ln>
                  <a:noFill/>
                </a:ln>
                <a:solidFill>
                  <a:srgbClr val="000000"/>
                </a:solidFill>
                <a:effectLst/>
                <a:uLnTx/>
                <a:uFillTx/>
                <a:latin typeface="Arial"/>
                <a:sym typeface="Arial"/>
              </a:rPr>
              <a:t> </a:t>
            </a:r>
            <a:r>
              <a:rPr kumimoji="0" lang="en-CA" sz="1600" b="0" i="1" u="none" strike="noStrike" kern="0" cap="none" spc="0" normalizeH="0" baseline="0" noProof="0" dirty="0">
                <a:ln>
                  <a:noFill/>
                </a:ln>
                <a:solidFill>
                  <a:srgbClr val="000000"/>
                </a:solidFill>
                <a:effectLst/>
                <a:uLnTx/>
                <a:uFillTx/>
                <a:latin typeface="Arial"/>
                <a:sym typeface="Arial"/>
              </a:rPr>
              <a:t>to lock out. </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organization have established requirements for O&amp;M that were adequate for the level of activity risk?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organization proactive in monitoring &amp; addressing “signals” for weaknesses in O&amp;M – such as lack of maintenance, or lack of following administrative controls (procedures, etc</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shut-down and lock-out standard in the operations </a:t>
            </a:r>
            <a:r>
              <a:rPr lang="en-US" sz="1600" b="1" i="1" dirty="0">
                <a:solidFill>
                  <a:srgbClr val="FF0000"/>
                </a:solidFill>
                <a:latin typeface="Arial"/>
              </a:rPr>
              <a:t>program </a:t>
            </a:r>
            <a:r>
              <a:rPr lang="en-US" sz="1600" b="1" i="1" dirty="0" smtClean="0">
                <a:solidFill>
                  <a:srgbClr val="FF0000"/>
                </a:solidFill>
                <a:latin typeface="Arial"/>
              </a:rPr>
              <a:t>did not list which valves, switches, and interlocks to lock-out / tag-out </a:t>
            </a:r>
            <a:r>
              <a:rPr lang="en-US" sz="1600" b="1" i="1" dirty="0">
                <a:solidFill>
                  <a:srgbClr val="FF0000"/>
                </a:solidFill>
                <a:latin typeface="Arial"/>
              </a:rPr>
              <a:t>for the robotic packaging line</a:t>
            </a:r>
            <a:r>
              <a:rPr lang="en-US" sz="1600" b="1" i="1" dirty="0" smtClean="0">
                <a:solidFill>
                  <a:srgbClr val="FF0000"/>
                </a:solidFill>
                <a:latin typeface="Arial"/>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#8) Operations and Maintenance: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25183416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“core employees”.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an effective method for setting expectations.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are responsible for ensuring their employees are properly trained and certified / qualified.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So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What Does This Mean to the Organization?</a:t>
            </a:r>
            <a:endPar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 form of due diligence.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spcAft>
                <a:spcPts val="0"/>
              </a:spcAft>
              <a:buClr>
                <a:srgbClr val="000000"/>
              </a:buClr>
              <a:buSzPts val="20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because the load was unbalanced. The worker who was using the cart was not trained in how to properly load material into the cart. </a:t>
            </a:r>
          </a:p>
          <a:p>
            <a:pPr marL="457200" marR="0" lvl="0" indent="-330200" algn="l" defTabSz="914400" rtl="0" eaLnBrk="1" fontAlgn="auto" latinLnBrk="0" hangingPunct="1">
              <a:lnSpc>
                <a:spcPct val="90000"/>
              </a:lnSpc>
              <a:spcBef>
                <a:spcPts val="0"/>
              </a:spcBef>
              <a:spcAft>
                <a:spcPts val="0"/>
              </a:spcAft>
              <a:buClr>
                <a:srgbClr val="000000"/>
              </a:buClr>
              <a:buSzPts val="2000"/>
              <a:buFont typeface="Noto Sans Symbols"/>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employees adequately trained for the tasks they were performing? Did they need additional training?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a:t>
            </a:r>
          </a:p>
          <a:p>
            <a:pPr marL="342900" indent="-3429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training program, that trains and/or certifies / and/or qualifies and/or recruits employees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employee training program did not </a:t>
            </a:r>
            <a:r>
              <a:rPr lang="en-US" sz="1600" b="1" i="1" dirty="0" smtClean="0">
                <a:solidFill>
                  <a:srgbClr val="FF0000"/>
                </a:solidFill>
                <a:latin typeface="Arial"/>
              </a:rPr>
              <a:t>include a standard for the </a:t>
            </a:r>
            <a:r>
              <a:rPr lang="en-US" sz="1600" b="1" i="1" dirty="0">
                <a:solidFill>
                  <a:srgbClr val="FF0000"/>
                </a:solidFill>
                <a:latin typeface="Arial"/>
              </a:rPr>
              <a:t>cart loading </a:t>
            </a:r>
            <a:r>
              <a:rPr lang="en-US" sz="1600" b="1" i="1" dirty="0" smtClean="0">
                <a:solidFill>
                  <a:srgbClr val="FF0000"/>
                </a:solidFill>
                <a:latin typeface="Arial"/>
              </a:rPr>
              <a:t>procedures. </a:t>
            </a:r>
            <a:endParaRPr lang="en-US" sz="1600" b="1" i="1" dirty="0">
              <a:solidFill>
                <a:srgbClr val="FF0000"/>
              </a:solidFill>
              <a:latin typeface="Arial"/>
            </a:endParaRPr>
          </a:p>
          <a:p>
            <a:pPr marL="342900" marR="0" lvl="0" indent="-342900" algn="l" defTabSz="914400" rtl="0" eaLnBrk="1" fontAlgn="auto" latinLnBrk="0" hangingPunct="1">
              <a:lnSpc>
                <a:spcPct val="90000"/>
              </a:lnSpc>
              <a:spcBef>
                <a:spcPts val="0"/>
              </a:spcBef>
              <a:spcAft>
                <a:spcPts val="0"/>
              </a:spcAft>
              <a:buClr>
                <a:srgbClr val="000099"/>
              </a:buClr>
              <a:buSzPts val="2000"/>
              <a:buFont typeface="Noto Sans Symbols"/>
              <a:buChar char="⮚"/>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#9) Employee Competency and Training: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21299033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contract workers whose employer is providing services to the main organization</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of the main organization must ensure: </a:t>
            </a:r>
            <a:r>
              <a:rPr kumimoji="0" lang="en-CA"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contractor companies have properly trained / certified / qualified their employees, and ii) contract workers are appropriately trained &amp; integrated.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Expectations for the main organization’s employees and contract workers should and must be the same. No “double-standard”.</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bridge construction company hired a contractor to oversee the testing of concrete used for a bridge construction project. The construction company did not require the contractor to complete the site safety orientation.</a:t>
            </a:r>
          </a:p>
          <a:p>
            <a:pPr marL="0" marR="0" lvl="0" indent="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for </a:t>
            </a:r>
            <a:r>
              <a:rPr kumimoji="0" lang="en-CA" sz="1600" b="1" i="1" u="none" strike="noStrike" kern="0" cap="none" spc="0" normalizeH="0" baseline="0" noProof="0" dirty="0" smtClean="0">
                <a:ln>
                  <a:noFill/>
                </a:ln>
                <a:solidFill>
                  <a:srgbClr val="000099"/>
                </a:solidFill>
                <a:effectLst/>
                <a:uLnTx/>
                <a:uFillTx/>
                <a:latin typeface="Arial"/>
                <a:sym typeface="Arial"/>
              </a:rPr>
              <a:t>contractors?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contractor organizations screened for safety performance? Were contractors involved in job planning, including risk assessments? </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After hiring, did management assess contractor performance?</a:t>
            </a:r>
          </a:p>
          <a:p>
            <a:pPr marL="457200" indent="-457200">
              <a:lnSpc>
                <a:spcPct val="90000"/>
              </a:lnSpc>
              <a:spcBef>
                <a:spcPts val="0"/>
              </a:spcBef>
              <a:buClrTx/>
              <a:buSzPts val="18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to select / hire contractor companies, and to integrate or indoctrinate those contractor employees into the safety culture and risk management program of the core organization. </a:t>
            </a:r>
            <a:endParaRPr lang="en-CA" sz="1600" b="1" i="1" dirty="0">
              <a:solidFill>
                <a:srgbClr val="000099"/>
              </a:solidFill>
              <a:latin typeface="Arial"/>
            </a:endParaRPr>
          </a:p>
          <a:p>
            <a:pPr marL="457200" indent="-4572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457200" indent="-4572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contractor integration program did not </a:t>
            </a:r>
            <a:r>
              <a:rPr lang="en-US" sz="1600" b="1" i="1" dirty="0" smtClean="0">
                <a:solidFill>
                  <a:srgbClr val="FF0000"/>
                </a:solidFill>
                <a:latin typeface="Arial"/>
              </a:rPr>
              <a:t>include a standard to require </a:t>
            </a:r>
            <a:r>
              <a:rPr lang="en-US" sz="1600" b="1" i="1" dirty="0">
                <a:solidFill>
                  <a:srgbClr val="FF0000"/>
                </a:solidFill>
                <a:latin typeface="Arial"/>
              </a:rPr>
              <a:t>site safety orientation training for contractors working on </a:t>
            </a:r>
            <a:r>
              <a:rPr lang="en-US" sz="1600" b="1" i="1" dirty="0" smtClean="0">
                <a:solidFill>
                  <a:srgbClr val="FF0000"/>
                </a:solidFill>
                <a:latin typeface="Arial"/>
              </a:rPr>
              <a:t>projects.</a:t>
            </a:r>
            <a:endParaRPr lang="en-US"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#10) Contractor Competency and Integration: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3994859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Establishes how information and documentation – the administrative controls and any records generated – are managed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(catalogued,</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archived, filed, accessed, retrieved, etc.)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within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risk management program.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Good information and documentation with ready access is essential for tracking trends and managing administrative controls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must implement appropriate policies and procedures where workers are making decisions based on the information.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is working on a broken piece of equipment, but the drawings and </a:t>
            </a:r>
            <a:r>
              <a:rPr kumimoji="0" lang="en-CA" sz="1600" b="0" i="1" u="none" strike="noStrike" kern="0" cap="none" spc="0" normalizeH="0" baseline="0" noProof="0" dirty="0" smtClean="0">
                <a:ln>
                  <a:noFill/>
                </a:ln>
                <a:solidFill>
                  <a:srgbClr val="000000"/>
                </a:solidFill>
                <a:effectLst/>
                <a:uLnTx/>
                <a:uFillTx/>
                <a:latin typeface="Arial"/>
                <a:sym typeface="Arial"/>
              </a:rPr>
              <a:t>operations / maintenance </a:t>
            </a:r>
            <a:r>
              <a:rPr kumimoji="0" lang="en-CA" sz="1600" b="0" i="1" u="none" strike="noStrike" kern="0" cap="none" spc="0" normalizeH="0" baseline="0" noProof="0" dirty="0">
                <a:ln>
                  <a:noFill/>
                </a:ln>
                <a:solidFill>
                  <a:srgbClr val="000000"/>
                </a:solidFill>
                <a:effectLst/>
                <a:uLnTx/>
                <a:uFillTx/>
                <a:latin typeface="Arial"/>
                <a:sym typeface="Arial"/>
              </a:rPr>
              <a:t>manual are not readily available</a:t>
            </a:r>
            <a:r>
              <a:rPr kumimoji="0" lang="en-CA" sz="1600" b="0" i="1" u="none" strike="noStrike" kern="0" cap="none" spc="0" normalizeH="0" baseline="0" noProof="0" dirty="0" smtClean="0">
                <a:ln>
                  <a:noFill/>
                </a:ln>
                <a:solidFill>
                  <a:srgbClr val="000000"/>
                </a:solidFill>
                <a:effectLst/>
                <a:uLnTx/>
                <a:uFillTx/>
                <a:latin typeface="Arial"/>
                <a:sym typeface="Arial"/>
              </a:rPr>
              <a:t>.</a:t>
            </a: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(such as safety rules and requirements, administrative controls, design drawings, specifications, inspection reports, etc.) kept current?</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readily available for workers?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records created from the execution of these administrative controls properly filed / catalogued for future reference? </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for managing the documentation of information, including the risk management program, of any aspect of the operations / facilities</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documentation program </a:t>
            </a:r>
            <a:r>
              <a:rPr lang="en-US" sz="1600" b="1" i="1" dirty="0" smtClean="0">
                <a:solidFill>
                  <a:srgbClr val="FF0000"/>
                </a:solidFill>
                <a:latin typeface="Arial"/>
              </a:rPr>
              <a:t>did not include a standard that describes how to inventory and catalogue the manufacturer’s drawings and operations / maintenance manual, nor provide ready-reference filing numbers for employees to access these documents.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fr-FR"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#11) Operations &amp; Facilities Information &amp; Documentation: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9694198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the manager of the facility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ultimately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effective implementation and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various levels of management,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various departments, and various “expertise centres” own (effectively manage the implementation of) specific risk management system elements. </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RM Element Owners: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graphicFrame>
        <p:nvGraphicFramePr>
          <p:cNvPr id="3" name="Table 2"/>
          <p:cNvGraphicFramePr>
            <a:graphicFrameLocks noGrp="1"/>
          </p:cNvGraphicFramePr>
          <p:nvPr>
            <p:extLst>
              <p:ext uri="{D42A27DB-BD31-4B8C-83A1-F6EECF244321}">
                <p14:modId xmlns:p14="http://schemas.microsoft.com/office/powerpoint/2010/main" val="2822847846"/>
              </p:ext>
            </p:extLst>
          </p:nvPr>
        </p:nvGraphicFramePr>
        <p:xfrm>
          <a:off x="180000" y="1883149"/>
          <a:ext cx="8772750" cy="4376502"/>
        </p:xfrm>
        <a:graphic>
          <a:graphicData uri="http://schemas.openxmlformats.org/drawingml/2006/table">
            <a:tbl>
              <a:tblPr firstRow="1" bandRow="1">
                <a:tableStyleId>{10A1B5D5-9B99-4C35-A422-299274C87663}</a:tableStyleId>
              </a:tblPr>
              <a:tblGrid>
                <a:gridCol w="1211920">
                  <a:extLst>
                    <a:ext uri="{9D8B030D-6E8A-4147-A177-3AD203B41FA5}">
                      <a16:colId xmlns:a16="http://schemas.microsoft.com/office/drawing/2014/main" val="3419579472"/>
                    </a:ext>
                  </a:extLst>
                </a:gridCol>
                <a:gridCol w="7560830">
                  <a:extLst>
                    <a:ext uri="{9D8B030D-6E8A-4147-A177-3AD203B41FA5}">
                      <a16:colId xmlns:a16="http://schemas.microsoft.com/office/drawing/2014/main" val="3252069404"/>
                    </a:ext>
                  </a:extLst>
                </a:gridCol>
              </a:tblGrid>
              <a:tr h="349650">
                <a:tc>
                  <a:txBody>
                    <a:bodyPr/>
                    <a:lstStyle/>
                    <a:p>
                      <a:pPr>
                        <a:lnSpc>
                          <a:spcPct val="90000"/>
                        </a:lnSpc>
                      </a:pPr>
                      <a:r>
                        <a:rPr lang="en-US" sz="1600" dirty="0" smtClean="0"/>
                        <a:t>Element #</a:t>
                      </a:r>
                      <a:endParaRPr lang="en-US" sz="1600" dirty="0"/>
                    </a:p>
                  </a:txBody>
                  <a:tcPr/>
                </a:tc>
                <a:tc>
                  <a:txBody>
                    <a:bodyPr/>
                    <a:lstStyle/>
                    <a:p>
                      <a:pPr>
                        <a:lnSpc>
                          <a:spcPct val="90000"/>
                        </a:lnSpc>
                      </a:pPr>
                      <a:r>
                        <a:rPr lang="en-US" sz="1600" dirty="0" smtClean="0"/>
                        <a:t>“Owner”</a:t>
                      </a:r>
                      <a:endParaRPr lang="en-US" sz="1600" dirty="0"/>
                    </a:p>
                  </a:txBody>
                  <a:tcPr/>
                </a:tc>
                <a:extLst>
                  <a:ext uri="{0D108BD9-81ED-4DB2-BD59-A6C34878D82A}">
                    <a16:rowId xmlns:a16="http://schemas.microsoft.com/office/drawing/2014/main" val="4274840609"/>
                  </a:ext>
                </a:extLst>
              </a:tr>
              <a:tr h="349650">
                <a:tc>
                  <a:txBody>
                    <a:bodyPr/>
                    <a:lstStyle/>
                    <a:p>
                      <a:pPr>
                        <a:lnSpc>
                          <a:spcPct val="90000"/>
                        </a:lnSpc>
                      </a:pPr>
                      <a:r>
                        <a:rPr lang="en-US" sz="1600" dirty="0" smtClean="0"/>
                        <a:t>#1 MLC&amp;A</a:t>
                      </a:r>
                      <a:endParaRPr lang="en-US" sz="1600" dirty="0"/>
                    </a:p>
                  </a:txBody>
                  <a:tcPr/>
                </a:tc>
                <a:tc>
                  <a:txBody>
                    <a:bodyPr/>
                    <a:lstStyle/>
                    <a:p>
                      <a:pPr>
                        <a:lnSpc>
                          <a:spcPct val="90000"/>
                        </a:lnSpc>
                      </a:pPr>
                      <a:r>
                        <a:rPr lang="en-US" sz="1600" dirty="0" smtClean="0"/>
                        <a:t>The most senior management for a company, a division, a department, or a facility. </a:t>
                      </a:r>
                      <a:endParaRPr lang="en-US" sz="1600" dirty="0"/>
                    </a:p>
                  </a:txBody>
                  <a:tcPr/>
                </a:tc>
                <a:extLst>
                  <a:ext uri="{0D108BD9-81ED-4DB2-BD59-A6C34878D82A}">
                    <a16:rowId xmlns:a16="http://schemas.microsoft.com/office/drawing/2014/main" val="3569744417"/>
                  </a:ext>
                </a:extLst>
              </a:tr>
              <a:tr h="349650">
                <a:tc>
                  <a:txBody>
                    <a:bodyPr/>
                    <a:lstStyle/>
                    <a:p>
                      <a:pPr>
                        <a:lnSpc>
                          <a:spcPct val="90000"/>
                        </a:lnSpc>
                      </a:pPr>
                      <a:r>
                        <a:rPr lang="en-US" sz="1600" dirty="0" smtClean="0"/>
                        <a:t>#2</a:t>
                      </a:r>
                      <a:r>
                        <a:rPr lang="en-US" sz="1600" baseline="0" dirty="0" smtClean="0"/>
                        <a:t> RA&amp;MR</a:t>
                      </a:r>
                      <a:endParaRPr lang="en-US" sz="1600" dirty="0"/>
                    </a:p>
                  </a:txBody>
                  <a:tcPr/>
                </a:tc>
                <a:tc>
                  <a:txBody>
                    <a:bodyPr/>
                    <a:lstStyle/>
                    <a:p>
                      <a:pPr>
                        <a:lnSpc>
                          <a:spcPct val="90000"/>
                        </a:lnSpc>
                      </a:pPr>
                      <a:r>
                        <a:rPr lang="en-US" sz="1600" dirty="0" smtClean="0"/>
                        <a:t>Safety / Risk Engineering, Occupational Health,</a:t>
                      </a:r>
                      <a:r>
                        <a:rPr lang="en-US" sz="1600" baseline="0" dirty="0" smtClean="0"/>
                        <a:t> Job Safety Experts</a:t>
                      </a:r>
                      <a:endParaRPr lang="en-US" sz="1600" dirty="0"/>
                    </a:p>
                  </a:txBody>
                  <a:tcPr/>
                </a:tc>
                <a:extLst>
                  <a:ext uri="{0D108BD9-81ED-4DB2-BD59-A6C34878D82A}">
                    <a16:rowId xmlns:a16="http://schemas.microsoft.com/office/drawing/2014/main" val="560492388"/>
                  </a:ext>
                </a:extLst>
              </a:tr>
              <a:tr h="349650">
                <a:tc>
                  <a:txBody>
                    <a:bodyPr/>
                    <a:lstStyle/>
                    <a:p>
                      <a:pPr>
                        <a:lnSpc>
                          <a:spcPct val="90000"/>
                        </a:lnSpc>
                      </a:pPr>
                      <a:r>
                        <a:rPr lang="en-US" sz="1600" dirty="0" smtClean="0"/>
                        <a:t>#3 CA&amp;EP</a:t>
                      </a:r>
                      <a:endParaRPr lang="en-US" sz="1600" dirty="0"/>
                    </a:p>
                  </a:txBody>
                  <a:tcPr/>
                </a:tc>
                <a:tc>
                  <a:txBody>
                    <a:bodyPr/>
                    <a:lstStyle/>
                    <a:p>
                      <a:pPr>
                        <a:lnSpc>
                          <a:spcPct val="90000"/>
                        </a:lnSpc>
                      </a:pPr>
                      <a:r>
                        <a:rPr lang="en-US" sz="1600" dirty="0" smtClean="0"/>
                        <a:t>CA: Public Relations and Communications; EP: Company Emergency</a:t>
                      </a:r>
                      <a:r>
                        <a:rPr lang="en-US" sz="1600" baseline="0" dirty="0" smtClean="0"/>
                        <a:t> Services</a:t>
                      </a:r>
                      <a:endParaRPr lang="en-US" sz="1600" dirty="0"/>
                    </a:p>
                  </a:txBody>
                  <a:tcPr/>
                </a:tc>
                <a:extLst>
                  <a:ext uri="{0D108BD9-81ED-4DB2-BD59-A6C34878D82A}">
                    <a16:rowId xmlns:a16="http://schemas.microsoft.com/office/drawing/2014/main" val="3314611478"/>
                  </a:ext>
                </a:extLst>
              </a:tr>
              <a:tr h="349650">
                <a:tc>
                  <a:txBody>
                    <a:bodyPr/>
                    <a:lstStyle/>
                    <a:p>
                      <a:pPr>
                        <a:lnSpc>
                          <a:spcPct val="90000"/>
                        </a:lnSpc>
                      </a:pPr>
                      <a:r>
                        <a:rPr lang="en-US" sz="1600" dirty="0" smtClean="0"/>
                        <a:t>#4 MOC</a:t>
                      </a:r>
                      <a:endParaRPr lang="en-US" sz="1600" dirty="0"/>
                    </a:p>
                  </a:txBody>
                  <a:tcPr/>
                </a:tc>
                <a:tc>
                  <a:txBody>
                    <a:bodyPr/>
                    <a:lstStyle/>
                    <a:p>
                      <a:pPr>
                        <a:lnSpc>
                          <a:spcPct val="90000"/>
                        </a:lnSpc>
                      </a:pPr>
                      <a:r>
                        <a:rPr lang="en-US" sz="1600" dirty="0" smtClean="0"/>
                        <a:t>Safety Expertise (safety department)</a:t>
                      </a:r>
                      <a:endParaRPr lang="en-US" sz="1600" dirty="0"/>
                    </a:p>
                  </a:txBody>
                  <a:tcPr/>
                </a:tc>
                <a:extLst>
                  <a:ext uri="{0D108BD9-81ED-4DB2-BD59-A6C34878D82A}">
                    <a16:rowId xmlns:a16="http://schemas.microsoft.com/office/drawing/2014/main" val="3097108283"/>
                  </a:ext>
                </a:extLst>
              </a:tr>
              <a:tr h="349650">
                <a:tc>
                  <a:txBody>
                    <a:bodyPr/>
                    <a:lstStyle/>
                    <a:p>
                      <a:pPr>
                        <a:lnSpc>
                          <a:spcPct val="90000"/>
                        </a:lnSpc>
                      </a:pPr>
                      <a:r>
                        <a:rPr lang="en-US" sz="1600" dirty="0" smtClean="0"/>
                        <a:t>#5 IRIAA</a:t>
                      </a:r>
                      <a:endParaRPr lang="en-US" sz="1600" dirty="0"/>
                    </a:p>
                  </a:txBody>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sz="1600" dirty="0" smtClean="0"/>
                        <a:t>Safety Expertise (safety department) in Technical Safety or Occupational Safety</a:t>
                      </a:r>
                      <a:endParaRPr lang="en-US" sz="1600" dirty="0"/>
                    </a:p>
                  </a:txBody>
                  <a:tcPr/>
                </a:tc>
                <a:extLst>
                  <a:ext uri="{0D108BD9-81ED-4DB2-BD59-A6C34878D82A}">
                    <a16:rowId xmlns:a16="http://schemas.microsoft.com/office/drawing/2014/main" val="3564849388"/>
                  </a:ext>
                </a:extLst>
              </a:tr>
              <a:tr h="349650">
                <a:tc>
                  <a:txBody>
                    <a:bodyPr/>
                    <a:lstStyle/>
                    <a:p>
                      <a:pPr>
                        <a:lnSpc>
                          <a:spcPct val="90000"/>
                        </a:lnSpc>
                      </a:pPr>
                      <a:r>
                        <a:rPr lang="en-US" sz="1600" dirty="0" smtClean="0"/>
                        <a:t>#6 PE&amp;CI</a:t>
                      </a:r>
                      <a:endParaRPr lang="en-US" sz="1600" dirty="0"/>
                    </a:p>
                  </a:txBody>
                  <a:tcPr/>
                </a:tc>
                <a:tc>
                  <a:txBody>
                    <a:bodyPr/>
                    <a:lstStyle/>
                    <a:p>
                      <a:pPr>
                        <a:lnSpc>
                          <a:spcPct val="90000"/>
                        </a:lnSpc>
                      </a:pPr>
                      <a:r>
                        <a:rPr lang="en-US" sz="1600" dirty="0" smtClean="0"/>
                        <a:t>Audit Expertise Centre</a:t>
                      </a:r>
                      <a:endParaRPr lang="en-US" sz="1600" dirty="0"/>
                    </a:p>
                  </a:txBody>
                  <a:tcPr/>
                </a:tc>
                <a:extLst>
                  <a:ext uri="{0D108BD9-81ED-4DB2-BD59-A6C34878D82A}">
                    <a16:rowId xmlns:a16="http://schemas.microsoft.com/office/drawing/2014/main" val="670408249"/>
                  </a:ext>
                </a:extLst>
              </a:tr>
              <a:tr h="349650">
                <a:tc>
                  <a:txBody>
                    <a:bodyPr/>
                    <a:lstStyle/>
                    <a:p>
                      <a:pPr>
                        <a:lnSpc>
                          <a:spcPct val="90000"/>
                        </a:lnSpc>
                      </a:pPr>
                      <a:r>
                        <a:rPr lang="en-US" sz="1600" dirty="0" smtClean="0"/>
                        <a:t>#7 DC&amp;SU</a:t>
                      </a:r>
                      <a:endParaRPr lang="en-US" sz="1600" dirty="0"/>
                    </a:p>
                  </a:txBody>
                  <a:tcPr/>
                </a:tc>
                <a:tc>
                  <a:txBody>
                    <a:bodyPr/>
                    <a:lstStyle/>
                    <a:p>
                      <a:pPr>
                        <a:lnSpc>
                          <a:spcPct val="90000"/>
                        </a:lnSpc>
                      </a:pPr>
                      <a:r>
                        <a:rPr lang="en-US" sz="1600" dirty="0" smtClean="0"/>
                        <a:t>Engineering,</a:t>
                      </a:r>
                      <a:r>
                        <a:rPr lang="en-US" sz="1600" baseline="0" dirty="0" smtClean="0"/>
                        <a:t> Project Management, Construction Department</a:t>
                      </a:r>
                      <a:endParaRPr lang="en-US" sz="1600" dirty="0"/>
                    </a:p>
                  </a:txBody>
                  <a:tcPr/>
                </a:tc>
                <a:extLst>
                  <a:ext uri="{0D108BD9-81ED-4DB2-BD59-A6C34878D82A}">
                    <a16:rowId xmlns:a16="http://schemas.microsoft.com/office/drawing/2014/main" val="4208581056"/>
                  </a:ext>
                </a:extLst>
              </a:tr>
              <a:tr h="349650">
                <a:tc>
                  <a:txBody>
                    <a:bodyPr/>
                    <a:lstStyle/>
                    <a:p>
                      <a:pPr>
                        <a:lnSpc>
                          <a:spcPct val="90000"/>
                        </a:lnSpc>
                      </a:pPr>
                      <a:r>
                        <a:rPr lang="en-US" sz="1600" dirty="0" smtClean="0"/>
                        <a:t>#8 O&amp;M</a:t>
                      </a:r>
                      <a:endParaRPr lang="en-US" sz="1600" dirty="0"/>
                    </a:p>
                  </a:txBody>
                  <a:tcPr/>
                </a:tc>
                <a:tc>
                  <a:txBody>
                    <a:bodyPr/>
                    <a:lstStyle/>
                    <a:p>
                      <a:pPr>
                        <a:lnSpc>
                          <a:spcPct val="90000"/>
                        </a:lnSpc>
                      </a:pPr>
                      <a:r>
                        <a:rPr lang="en-US" sz="1600" dirty="0" smtClean="0"/>
                        <a:t>Operating</a:t>
                      </a:r>
                      <a:r>
                        <a:rPr lang="en-US" sz="1600" baseline="0" dirty="0" smtClean="0"/>
                        <a:t> Facilities (Plants); Maintenance Departments</a:t>
                      </a:r>
                      <a:endParaRPr lang="en-US" sz="1600" dirty="0"/>
                    </a:p>
                  </a:txBody>
                  <a:tcPr/>
                </a:tc>
                <a:extLst>
                  <a:ext uri="{0D108BD9-81ED-4DB2-BD59-A6C34878D82A}">
                    <a16:rowId xmlns:a16="http://schemas.microsoft.com/office/drawing/2014/main" val="779414941"/>
                  </a:ext>
                </a:extLst>
              </a:tr>
              <a:tr h="349650">
                <a:tc>
                  <a:txBody>
                    <a:bodyPr/>
                    <a:lstStyle/>
                    <a:p>
                      <a:pPr>
                        <a:lnSpc>
                          <a:spcPct val="90000"/>
                        </a:lnSpc>
                      </a:pPr>
                      <a:r>
                        <a:rPr lang="en-US" sz="1600" dirty="0" smtClean="0"/>
                        <a:t>#9 EC&amp;T</a:t>
                      </a:r>
                      <a:endParaRPr lang="en-US" sz="1600" dirty="0"/>
                    </a:p>
                  </a:txBody>
                  <a:tcPr/>
                </a:tc>
                <a:tc>
                  <a:txBody>
                    <a:bodyPr/>
                    <a:lstStyle/>
                    <a:p>
                      <a:pPr>
                        <a:lnSpc>
                          <a:spcPct val="90000"/>
                        </a:lnSpc>
                      </a:pPr>
                      <a:r>
                        <a:rPr lang="en-US" sz="1600" dirty="0" smtClean="0"/>
                        <a:t>Training Department</a:t>
                      </a:r>
                      <a:endParaRPr lang="en-US" sz="1600" dirty="0"/>
                    </a:p>
                  </a:txBody>
                  <a:tcPr/>
                </a:tc>
                <a:extLst>
                  <a:ext uri="{0D108BD9-81ED-4DB2-BD59-A6C34878D82A}">
                    <a16:rowId xmlns:a16="http://schemas.microsoft.com/office/drawing/2014/main" val="1194582970"/>
                  </a:ext>
                </a:extLst>
              </a:tr>
              <a:tr h="349650">
                <a:tc>
                  <a:txBody>
                    <a:bodyPr/>
                    <a:lstStyle/>
                    <a:p>
                      <a:pPr>
                        <a:lnSpc>
                          <a:spcPct val="90000"/>
                        </a:lnSpc>
                      </a:pPr>
                      <a:r>
                        <a:rPr lang="en-US" sz="1600" dirty="0" smtClean="0"/>
                        <a:t>#10 CC&amp;I</a:t>
                      </a:r>
                      <a:endParaRPr lang="en-US" sz="1600" dirty="0"/>
                    </a:p>
                  </a:txBody>
                  <a:tcPr/>
                </a:tc>
                <a:tc>
                  <a:txBody>
                    <a:bodyPr/>
                    <a:lstStyle/>
                    <a:p>
                      <a:pPr>
                        <a:lnSpc>
                          <a:spcPct val="90000"/>
                        </a:lnSpc>
                      </a:pPr>
                      <a:r>
                        <a:rPr lang="en-US" sz="1600" dirty="0" smtClean="0"/>
                        <a:t>Contractor Management Department</a:t>
                      </a:r>
                      <a:endParaRPr lang="en-US" sz="1600" dirty="0"/>
                    </a:p>
                  </a:txBody>
                  <a:tcPr/>
                </a:tc>
                <a:extLst>
                  <a:ext uri="{0D108BD9-81ED-4DB2-BD59-A6C34878D82A}">
                    <a16:rowId xmlns:a16="http://schemas.microsoft.com/office/drawing/2014/main" val="473149270"/>
                  </a:ext>
                </a:extLst>
              </a:tr>
              <a:tr h="349650">
                <a:tc>
                  <a:txBody>
                    <a:bodyPr/>
                    <a:lstStyle/>
                    <a:p>
                      <a:pPr>
                        <a:lnSpc>
                          <a:spcPct val="90000"/>
                        </a:lnSpc>
                      </a:pPr>
                      <a:r>
                        <a:rPr lang="en-US" sz="1600" dirty="0" smtClean="0"/>
                        <a:t>#11</a:t>
                      </a:r>
                      <a:r>
                        <a:rPr lang="en-US" sz="1600" baseline="0" dirty="0" smtClean="0"/>
                        <a:t> OFID</a:t>
                      </a:r>
                      <a:endParaRPr lang="en-US" sz="1600" dirty="0"/>
                    </a:p>
                  </a:txBody>
                  <a:tcPr/>
                </a:tc>
                <a:tc>
                  <a:txBody>
                    <a:bodyPr/>
                    <a:lstStyle/>
                    <a:p>
                      <a:pPr>
                        <a:lnSpc>
                          <a:spcPct val="90000"/>
                        </a:lnSpc>
                      </a:pPr>
                      <a:r>
                        <a:rPr lang="en-US" sz="1600" dirty="0" smtClean="0"/>
                        <a:t>Document</a:t>
                      </a:r>
                      <a:r>
                        <a:rPr lang="en-US" sz="1600" baseline="0" dirty="0" smtClean="0"/>
                        <a:t> Control (Engineering Files and Records) Department</a:t>
                      </a:r>
                      <a:endParaRPr lang="en-US" sz="1600" dirty="0"/>
                    </a:p>
                  </a:txBody>
                  <a:tcPr/>
                </a:tc>
                <a:extLst>
                  <a:ext uri="{0D108BD9-81ED-4DB2-BD59-A6C34878D82A}">
                    <a16:rowId xmlns:a16="http://schemas.microsoft.com/office/drawing/2014/main" val="3236498129"/>
                  </a:ext>
                </a:extLst>
              </a:tr>
            </a:tbl>
          </a:graphicData>
        </a:graphic>
      </p:graphicFrame>
    </p:spTree>
    <p:extLst>
      <p:ext uri="{BB962C8B-B14F-4D97-AF65-F5344CB8AC3E}">
        <p14:creationId xmlns:p14="http://schemas.microsoft.com/office/powerpoint/2010/main" val="37017617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FF"/>
          </a:solidFill>
          <a:ln w="9525">
            <a:solidFill>
              <a:srgbClr val="000000"/>
            </a:solidFill>
            <a:miter lim="800000"/>
            <a:headEnd/>
            <a:tailEnd/>
          </a:ln>
        </p:spPr>
        <p:txBody>
          <a:bodyPr anchor="t"/>
          <a:lstStyle/>
          <a:p>
            <a:pPr>
              <a:spcBef>
                <a:spcPct val="0"/>
              </a:spcBef>
              <a:buClrTx/>
            </a:pPr>
            <a:r>
              <a:rPr lang="en-US" altLang="en-US" sz="1800" i="1" dirty="0">
                <a:solidFill>
                  <a:schemeClr val="bg1"/>
                </a:solidFill>
                <a:latin typeface="Arial" panose="020B0604020202020204" pitchFamily="34" charset="0"/>
                <a:ea typeface="+mj-ea"/>
                <a:cs typeface="Arial" panose="020B0604020202020204" pitchFamily="34" charset="0"/>
              </a:rPr>
              <a:t>Please confer on </a:t>
            </a:r>
            <a:r>
              <a:rPr lang="en-US" altLang="en-US" sz="1800" i="1" dirty="0" smtClean="0">
                <a:solidFill>
                  <a:schemeClr val="bg1"/>
                </a:solidFill>
                <a:latin typeface="Arial" panose="020B0604020202020204" pitchFamily="34" charset="0"/>
                <a:ea typeface="+mj-ea"/>
                <a:cs typeface="Arial" panose="020B0604020202020204" pitchFamily="34" charset="0"/>
              </a:rPr>
              <a:t>these questions: How </a:t>
            </a:r>
            <a:r>
              <a:rPr lang="en-US" altLang="en-US" sz="1800" i="1" dirty="0">
                <a:solidFill>
                  <a:schemeClr val="bg1"/>
                </a:solidFill>
                <a:latin typeface="Arial" panose="020B0604020202020204" pitchFamily="34" charset="0"/>
                <a:ea typeface="+mj-ea"/>
                <a:cs typeface="Arial" panose="020B0604020202020204" pitchFamily="34" charset="0"/>
              </a:rPr>
              <a:t>are RME #1 MLCA &amp; #6 PECI integrated with the “know-how / how-to” (operations) of risk </a:t>
            </a:r>
            <a:r>
              <a:rPr lang="en-US" altLang="en-US" sz="1800" i="1" dirty="0" smtClean="0">
                <a:solidFill>
                  <a:schemeClr val="bg1"/>
                </a:solidFill>
                <a:latin typeface="Arial" panose="020B0604020202020204" pitchFamily="34" charset="0"/>
                <a:ea typeface="+mj-ea"/>
                <a:cs typeface="Arial" panose="020B0604020202020204" pitchFamily="34" charset="0"/>
              </a:rPr>
              <a:t>management?</a:t>
            </a:r>
          </a:p>
          <a:p>
            <a:pPr>
              <a:spcBef>
                <a:spcPct val="0"/>
              </a:spcBef>
              <a:buClrTx/>
            </a:pPr>
            <a:endParaRPr lang="en-US" altLang="en-US" sz="1800" i="1" dirty="0" smtClean="0">
              <a:solidFill>
                <a:schemeClr val="bg1"/>
              </a:solidFill>
              <a:latin typeface="Arial" panose="020B0604020202020204" pitchFamily="34" charset="0"/>
              <a:ea typeface="+mj-ea"/>
              <a:cs typeface="Arial" panose="020B0604020202020204" pitchFamily="34" charset="0"/>
            </a:endParaRPr>
          </a:p>
          <a:p>
            <a:pPr>
              <a:spcBef>
                <a:spcPct val="0"/>
              </a:spcBef>
              <a:buClrTx/>
            </a:pPr>
            <a:r>
              <a:rPr lang="en-US" altLang="en-US" sz="1800" b="1" i="1" dirty="0" smtClean="0">
                <a:solidFill>
                  <a:schemeClr val="bg1"/>
                </a:solidFill>
                <a:latin typeface="Arial" panose="020B0604020202020204" pitchFamily="34" charset="0"/>
                <a:ea typeface="+mj-ea"/>
                <a:cs typeface="Arial" panose="020B0604020202020204" pitchFamily="34" charset="0"/>
              </a:rPr>
              <a:t>How are RMEs #1 and #6 integrated in risk management? (MM-Poll)</a:t>
            </a:r>
          </a:p>
          <a:p>
            <a:pPr>
              <a:spcBef>
                <a:spcPct val="0"/>
              </a:spcBef>
              <a:buClrTx/>
            </a:pPr>
            <a:endParaRPr lang="en-US" altLang="en-US" sz="1800" i="1" dirty="0" smtClean="0">
              <a:solidFill>
                <a:schemeClr val="bg1"/>
              </a:solidFill>
              <a:latin typeface="Arial" panose="020B0604020202020204" pitchFamily="34" charset="0"/>
              <a:ea typeface="+mj-ea"/>
              <a:cs typeface="Arial" panose="020B0604020202020204" pitchFamily="34" charset="0"/>
            </a:endParaRPr>
          </a:p>
          <a:p>
            <a:pPr>
              <a:spcBef>
                <a:spcPct val="0"/>
              </a:spcBef>
              <a:buClrTx/>
            </a:pPr>
            <a:r>
              <a:rPr lang="en-US" altLang="en-US" sz="1800" b="1" i="1" dirty="0" smtClean="0">
                <a:solidFill>
                  <a:schemeClr val="bg1"/>
                </a:solidFill>
                <a:latin typeface="Arial" panose="020B0604020202020204" pitchFamily="34" charset="0"/>
                <a:ea typeface="+mj-ea"/>
                <a:cs typeface="Arial" panose="020B0604020202020204" pitchFamily="34" charset="0"/>
              </a:rPr>
              <a:t>What does #1 MLCA do?                                                What does #6 PECI do? </a:t>
            </a:r>
            <a:br>
              <a:rPr lang="en-US" altLang="en-US" sz="1800" b="1" i="1" dirty="0" smtClean="0">
                <a:solidFill>
                  <a:schemeClr val="bg1"/>
                </a:solidFill>
                <a:latin typeface="Arial" panose="020B0604020202020204" pitchFamily="34" charset="0"/>
                <a:ea typeface="+mj-ea"/>
                <a:cs typeface="Arial" panose="020B0604020202020204" pitchFamily="34" charset="0"/>
              </a:rPr>
            </a:br>
            <a:r>
              <a:rPr lang="en-US" altLang="en-US" sz="1800" b="1" i="1" dirty="0" smtClean="0">
                <a:solidFill>
                  <a:schemeClr val="bg1"/>
                </a:solidFill>
                <a:latin typeface="Arial" panose="020B0604020202020204" pitchFamily="34" charset="0"/>
                <a:ea typeface="+mj-ea"/>
                <a:cs typeface="Arial" panose="020B0604020202020204" pitchFamily="34" charset="0"/>
              </a:rPr>
              <a:t>(Chat-Open)                                                                                         </a:t>
            </a:r>
            <a:r>
              <a:rPr lang="en-US" altLang="en-US" sz="1800" b="1" i="1" dirty="0" smtClean="0">
                <a:solidFill>
                  <a:schemeClr val="bg1"/>
                </a:solidFill>
                <a:latin typeface="Arial" panose="020B0604020202020204" pitchFamily="34" charset="0"/>
                <a:cs typeface="Arial" panose="020B0604020202020204" pitchFamily="34" charset="0"/>
              </a:rPr>
              <a:t>(Chat-Open</a:t>
            </a:r>
            <a:r>
              <a:rPr lang="en-US" altLang="en-US" sz="1800" b="1" i="1" dirty="0">
                <a:solidFill>
                  <a:schemeClr val="bg1"/>
                </a:solidFill>
                <a:latin typeface="Arial" panose="020B0604020202020204" pitchFamily="34" charset="0"/>
                <a:cs typeface="Arial" panose="020B0604020202020204" pitchFamily="34" charset="0"/>
              </a:rPr>
              <a:t>)</a:t>
            </a:r>
          </a:p>
          <a:p>
            <a:pPr>
              <a:spcBef>
                <a:spcPct val="0"/>
              </a:spcBef>
              <a:buClrTx/>
              <a:buFont typeface="Arial" panose="020B0604020202020204" pitchFamily="34" charset="0"/>
              <a:buNone/>
            </a:pPr>
            <a:endParaRPr lang="en-US" altLang="en-US" sz="1800" b="1" i="1" dirty="0">
              <a:solidFill>
                <a:schemeClr val="bg1"/>
              </a:solidFill>
              <a:latin typeface="Arial" panose="020B0604020202020204" pitchFamily="34" charset="0"/>
              <a:ea typeface="+mj-ea"/>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00"/>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ALE: The APEGA Model – Driver, Evaluation, and Operations: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3228320"/>
            <a:ext cx="1821350" cy="2520000"/>
          </a:xfrm>
          <a:prstGeom prst="rect">
            <a:avLst/>
          </a:prstGeom>
          <a:solidFill>
            <a:srgbClr val="FFFF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3200" b="1" dirty="0" smtClean="0">
                <a:solidFill>
                  <a:schemeClr val="tx1"/>
                </a:solidFill>
              </a:rPr>
              <a:t>#1 </a:t>
            </a:r>
            <a:br>
              <a:rPr lang="en-US" sz="3200" b="1" dirty="0" smtClean="0">
                <a:solidFill>
                  <a:schemeClr val="tx1"/>
                </a:solidFill>
              </a:rPr>
            </a:br>
            <a:r>
              <a:rPr lang="en-US" sz="3200" b="1" dirty="0" smtClean="0">
                <a:solidFill>
                  <a:schemeClr val="tx1"/>
                </a:solidFill>
              </a:rPr>
              <a:t>MLCA</a:t>
            </a:r>
            <a:endParaRPr lang="en-US" sz="3200" b="1" dirty="0">
              <a:solidFill>
                <a:schemeClr val="tx1"/>
              </a:solidFill>
            </a:endParaRPr>
          </a:p>
        </p:txBody>
      </p:sp>
      <p:sp>
        <p:nvSpPr>
          <p:cNvPr id="10" name="Rectangle 9"/>
          <p:cNvSpPr/>
          <p:nvPr/>
        </p:nvSpPr>
        <p:spPr>
          <a:xfrm>
            <a:off x="6868632" y="3228560"/>
            <a:ext cx="1915367" cy="2520000"/>
          </a:xfrm>
          <a:prstGeom prst="rect">
            <a:avLst/>
          </a:prstGeom>
          <a:solidFill>
            <a:srgbClr val="FFFF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#6 PECI</a:t>
            </a:r>
            <a:endParaRPr lang="en-US" sz="3200" b="1" dirty="0">
              <a:solidFill>
                <a:schemeClr val="tx1"/>
              </a:solidFill>
            </a:endParaRPr>
          </a:p>
        </p:txBody>
      </p:sp>
      <p:sp>
        <p:nvSpPr>
          <p:cNvPr id="2" name="Flowchart: Alternate Process 1"/>
          <p:cNvSpPr/>
          <p:nvPr/>
        </p:nvSpPr>
        <p:spPr>
          <a:xfrm>
            <a:off x="1926320" y="3139440"/>
            <a:ext cx="5114560" cy="2824480"/>
          </a:xfrm>
          <a:prstGeom prst="flowChartAlternateProcess">
            <a:avLst/>
          </a:prstGeom>
          <a:solidFill>
            <a:srgbClr val="00206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p>
            <a:pPr lvl="0" algn="ctr"/>
            <a:r>
              <a:rPr lang="en-US" sz="1800" b="1" dirty="0">
                <a:solidFill>
                  <a:srgbClr val="FFFFFF"/>
                </a:solidFill>
                <a:cs typeface="Arial"/>
              </a:rPr>
              <a:t>“</a:t>
            </a:r>
            <a:r>
              <a:rPr lang="en-US" sz="1800" b="1" u="sng" dirty="0">
                <a:solidFill>
                  <a:srgbClr val="FFFFFF"/>
                </a:solidFill>
                <a:cs typeface="Arial"/>
              </a:rPr>
              <a:t>OPERATIONS</a:t>
            </a:r>
            <a:r>
              <a:rPr lang="en-US" sz="1800" b="1" dirty="0">
                <a:solidFill>
                  <a:srgbClr val="FFFFFF"/>
                </a:solidFill>
                <a:cs typeface="Arial"/>
              </a:rPr>
              <a:t>”</a:t>
            </a:r>
          </a:p>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&amp; </a:t>
            </a:r>
            <a:r>
              <a:rPr lang="en-US" dirty="0">
                <a:latin typeface="Arial" panose="020B0604020202020204" pitchFamily="34" charset="0"/>
                <a:cs typeface="Arial" panose="020B0604020202020204" pitchFamily="34" charset="0"/>
              </a:rPr>
              <a:t>Facilities Information </a:t>
            </a:r>
            <a:r>
              <a:rPr lang="en-US" dirty="0" smtClean="0">
                <a:latin typeface="Arial" panose="020B0604020202020204" pitchFamily="34" charset="0"/>
                <a:cs typeface="Arial" panose="020B0604020202020204" pitchFamily="34" charset="0"/>
              </a:rPr>
              <a:t>&amp; Documentation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0504926"/>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#1 MLCA &amp; #6 PECI integrate with the “know-how / how-to” (operations) of risk management: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APEGA Model – Driver, Evaluation, and Operations: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smtClean="0">
                <a:solidFill>
                  <a:schemeClr val="tx1"/>
                </a:solidFill>
              </a:rPr>
              <a:t>#1 Management </a:t>
            </a:r>
            <a:br>
              <a:rPr lang="en-US" b="1" dirty="0" smtClean="0">
                <a:solidFill>
                  <a:schemeClr val="tx1"/>
                </a:solidFill>
              </a:rPr>
            </a:br>
            <a:r>
              <a:rPr lang="en-US" b="1" dirty="0" smtClean="0">
                <a:solidFill>
                  <a:schemeClr val="tx1"/>
                </a:solidFill>
              </a:rPr>
              <a:t>Leadership</a:t>
            </a:r>
            <a:r>
              <a:rPr lang="en-US" b="1" dirty="0">
                <a:solidFill>
                  <a:schemeClr val="tx1"/>
                </a:solidFill>
              </a:rPr>
              <a:t>, </a:t>
            </a:r>
            <a:r>
              <a:rPr lang="en-US" b="1" dirty="0" smtClean="0">
                <a:solidFill>
                  <a:schemeClr val="tx1"/>
                </a:solidFill>
              </a:rPr>
              <a:t/>
            </a:r>
            <a:br>
              <a:rPr lang="en-US" b="1" dirty="0" smtClean="0">
                <a:solidFill>
                  <a:schemeClr val="tx1"/>
                </a:solidFill>
              </a:rPr>
            </a:br>
            <a:r>
              <a:rPr lang="en-US" b="1" dirty="0" smtClean="0">
                <a:solidFill>
                  <a:schemeClr val="tx1"/>
                </a:solidFill>
              </a:rPr>
              <a:t>Commitment,</a:t>
            </a:r>
            <a:br>
              <a:rPr lang="en-US" b="1" dirty="0" smtClean="0">
                <a:solidFill>
                  <a:schemeClr val="tx1"/>
                </a:solidFill>
              </a:rPr>
            </a:br>
            <a:r>
              <a:rPr lang="en-US" b="1" dirty="0" smtClean="0">
                <a:solidFill>
                  <a:schemeClr val="tx1"/>
                </a:solidFill>
              </a:rPr>
              <a:t>and Accountability</a:t>
            </a:r>
            <a:endParaRPr lang="en-US" b="1" dirty="0">
              <a:solidFill>
                <a:schemeClr val="tx1"/>
              </a:solidFill>
            </a:endParaRPr>
          </a:p>
        </p:txBody>
      </p:sp>
      <p:sp>
        <p:nvSpPr>
          <p:cNvPr id="10" name="Rectangle 9"/>
          <p:cNvSpPr/>
          <p:nvPr/>
        </p:nvSpPr>
        <p:spPr>
          <a:xfrm>
            <a:off x="6480000"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 Program </a:t>
            </a:r>
            <a:br>
              <a:rPr lang="en-US" b="1" dirty="0" smtClean="0">
                <a:solidFill>
                  <a:schemeClr val="tx1"/>
                </a:solidFill>
              </a:rPr>
            </a:br>
            <a:r>
              <a:rPr lang="en-US" b="1" dirty="0" smtClean="0">
                <a:solidFill>
                  <a:schemeClr val="tx1"/>
                </a:solidFill>
              </a:rPr>
              <a:t>Evaluation </a:t>
            </a:r>
            <a:br>
              <a:rPr lang="en-US" b="1" dirty="0" smtClean="0">
                <a:solidFill>
                  <a:schemeClr val="tx1"/>
                </a:solidFill>
              </a:rPr>
            </a:br>
            <a:r>
              <a:rPr lang="en-US" b="1" dirty="0" smtClean="0">
                <a:solidFill>
                  <a:schemeClr val="tx1"/>
                </a:solidFill>
              </a:rPr>
              <a:t>and </a:t>
            </a:r>
            <a:r>
              <a:rPr lang="en-US" b="1" dirty="0">
                <a:solidFill>
                  <a:schemeClr val="tx1"/>
                </a:solidFill>
              </a:rPr>
              <a:t>Continuous </a:t>
            </a:r>
            <a:r>
              <a:rPr lang="en-US" b="1" dirty="0" smtClean="0">
                <a:solidFill>
                  <a:schemeClr val="tx1"/>
                </a:solidFill>
              </a:rPr>
              <a:t>Improvement</a:t>
            </a:r>
            <a:endParaRPr lang="en-US" b="1" dirty="0">
              <a:solidFill>
                <a:schemeClr val="tx1"/>
              </a:solidFill>
            </a:endParaRPr>
          </a:p>
        </p:txBody>
      </p:sp>
      <p:sp>
        <p:nvSpPr>
          <p:cNvPr id="2" name="Oval 1"/>
          <p:cNvSpPr/>
          <p:nvPr/>
        </p:nvSpPr>
        <p:spPr>
          <a:xfrm>
            <a:off x="2160000" y="1403960"/>
            <a:ext cx="4680000" cy="4680000"/>
          </a:xfrm>
          <a:prstGeom prst="ellipse">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nchorCtr="0"/>
          <a:lstStyle/>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t>
            </a:r>
            <a:r>
              <a:rPr lang="en-US" dirty="0">
                <a:latin typeface="Arial" panose="020B0604020202020204" pitchFamily="34" charset="0"/>
                <a:cs typeface="Arial" panose="020B0604020202020204" pitchFamily="34" charset="0"/>
              </a:rPr>
              <a:t>and Facilities Information and </a:t>
            </a:r>
            <a:r>
              <a:rPr lang="en-US" dirty="0" smtClean="0">
                <a:latin typeface="Arial" panose="020B0604020202020204" pitchFamily="34" charset="0"/>
                <a:cs typeface="Arial" panose="020B0604020202020204" pitchFamily="34" charset="0"/>
              </a:rPr>
              <a:t>Documentation</a:t>
            </a:r>
            <a:endParaRPr lang="en-US" dirty="0">
              <a:latin typeface="Arial" panose="020B0604020202020204" pitchFamily="34" charset="0"/>
              <a:cs typeface="Arial" panose="020B0604020202020204" pitchFamily="34" charset="0"/>
            </a:endParaRPr>
          </a:p>
        </p:txBody>
      </p:sp>
      <p:cxnSp>
        <p:nvCxnSpPr>
          <p:cNvPr id="5" name="Elbow Connector 4"/>
          <p:cNvCxnSpPr/>
          <p:nvPr/>
        </p:nvCxnSpPr>
        <p:spPr>
          <a:xfrm rot="10800000" flipV="1">
            <a:off x="4389121" y="4336900"/>
            <a:ext cx="3257680" cy="1464459"/>
          </a:xfrm>
          <a:prstGeom prst="bentConnector3">
            <a:avLst>
              <a:gd name="adj1" fmla="val -1148"/>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3" idx="2"/>
          </p:cNvCxnSpPr>
          <p:nvPr/>
        </p:nvCxnSpPr>
        <p:spPr>
          <a:xfrm rot="10800000">
            <a:off x="1404000" y="5017040"/>
            <a:ext cx="3096001" cy="784320"/>
          </a:xfrm>
          <a:prstGeom prst="bentConnector2">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1350721" y="2728903"/>
            <a:ext cx="1505960" cy="422160"/>
          </a:xfrm>
          <a:prstGeom prst="bentConnector3">
            <a:avLst>
              <a:gd name="adj1" fmla="val 1425"/>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a:off x="6393200" y="2728902"/>
            <a:ext cx="1256079" cy="441018"/>
          </a:xfrm>
          <a:prstGeom prst="bentConnector3">
            <a:avLst>
              <a:gd name="adj1" fmla="val 10015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10800000">
            <a:off x="6336001" y="4551681"/>
            <a:ext cx="1346807" cy="9"/>
          </a:xfrm>
          <a:prstGeom prst="bentConnector3">
            <a:avLst>
              <a:gd name="adj1" fmla="val 5000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1999" y="2055668"/>
            <a:ext cx="2304000" cy="369332"/>
          </a:xfrm>
          <a:prstGeom prst="rect">
            <a:avLst/>
          </a:prstGeom>
          <a:noFill/>
        </p:spPr>
        <p:txBody>
          <a:bodyPr wrap="square" rtlCol="0">
            <a:spAutoFit/>
          </a:bodyPr>
          <a:lstStyle/>
          <a:p>
            <a:pPr algn="ctr"/>
            <a:r>
              <a:rPr lang="en-US" sz="1800" b="1" dirty="0" smtClean="0"/>
              <a:t>“</a:t>
            </a:r>
            <a:r>
              <a:rPr lang="en-US" sz="1800" b="1" u="sng" dirty="0" smtClean="0"/>
              <a:t>DRIVER</a:t>
            </a:r>
            <a:r>
              <a:rPr lang="en-US" sz="1800" b="1" dirty="0" smtClean="0"/>
              <a:t>”</a:t>
            </a:r>
            <a:endParaRPr lang="en-US" sz="1800" b="1" dirty="0"/>
          </a:p>
        </p:txBody>
      </p:sp>
      <p:sp>
        <p:nvSpPr>
          <p:cNvPr id="71" name="TextBox 70"/>
          <p:cNvSpPr txBox="1"/>
          <p:nvPr/>
        </p:nvSpPr>
        <p:spPr>
          <a:xfrm>
            <a:off x="6336000" y="2044942"/>
            <a:ext cx="2304000" cy="369332"/>
          </a:xfrm>
          <a:prstGeom prst="rect">
            <a:avLst/>
          </a:prstGeom>
          <a:noFill/>
        </p:spPr>
        <p:txBody>
          <a:bodyPr wrap="square" rtlCol="0">
            <a:spAutoFit/>
          </a:bodyPr>
          <a:lstStyle/>
          <a:p>
            <a:pPr algn="ctr"/>
            <a:r>
              <a:rPr lang="en-US" sz="1800" b="1" dirty="0" smtClean="0"/>
              <a:t>“</a:t>
            </a:r>
            <a:r>
              <a:rPr lang="en-US" sz="1800" b="1" u="sng" dirty="0" smtClean="0"/>
              <a:t>EVALUATION</a:t>
            </a:r>
            <a:r>
              <a:rPr lang="en-US" sz="1800" b="1" dirty="0" smtClean="0"/>
              <a:t>”</a:t>
            </a:r>
            <a:endParaRPr lang="en-US" sz="1800" b="1" dirty="0"/>
          </a:p>
        </p:txBody>
      </p:sp>
      <p:sp>
        <p:nvSpPr>
          <p:cNvPr id="72" name="TextBox 71"/>
          <p:cNvSpPr txBox="1"/>
          <p:nvPr/>
        </p:nvSpPr>
        <p:spPr>
          <a:xfrm>
            <a:off x="2926080" y="1976362"/>
            <a:ext cx="3199439" cy="369332"/>
          </a:xfrm>
          <a:prstGeom prst="rect">
            <a:avLst/>
          </a:prstGeom>
          <a:noFill/>
        </p:spPr>
        <p:txBody>
          <a:bodyPr wrap="square" rtlCol="0">
            <a:spAutoFit/>
          </a:bodyPr>
          <a:lstStyle/>
          <a:p>
            <a:pPr algn="ctr"/>
            <a:r>
              <a:rPr lang="en-US" sz="1800" b="1" dirty="0" smtClean="0">
                <a:solidFill>
                  <a:schemeClr val="bg1"/>
                </a:solidFill>
              </a:rPr>
              <a:t>“</a:t>
            </a:r>
            <a:r>
              <a:rPr lang="en-US" sz="1800" b="1" u="sng" dirty="0" smtClean="0">
                <a:solidFill>
                  <a:schemeClr val="bg1"/>
                </a:solidFill>
              </a:rPr>
              <a:t>OPERATIONS</a:t>
            </a:r>
            <a:r>
              <a:rPr lang="en-US" sz="1800" b="1" dirty="0" smtClean="0">
                <a:solidFill>
                  <a:schemeClr val="bg1"/>
                </a:solidFill>
              </a:rPr>
              <a:t>”</a:t>
            </a:r>
            <a:endParaRPr lang="en-US" sz="1800" b="1" dirty="0">
              <a:solidFill>
                <a:schemeClr val="bg1"/>
              </a:solidFill>
            </a:endParaRPr>
          </a:p>
        </p:txBody>
      </p:sp>
    </p:spTree>
    <p:extLst>
      <p:ext uri="{BB962C8B-B14F-4D97-AF65-F5344CB8AC3E}">
        <p14:creationId xmlns:p14="http://schemas.microsoft.com/office/powerpoint/2010/main" val="3067042014"/>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37" y="828000"/>
            <a:ext cx="8872582" cy="5328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ExxonMobil OIMS </a:t>
            </a: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(Operations Integrity Management System)</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similarities to the APEGA Model are readily apparent</a:t>
            </a:r>
            <a:r>
              <a:rPr lang="en-US"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Many Different Risk </a:t>
            </a:r>
            <a:r>
              <a:rPr lang="en-US" altLang="en-US" sz="2400" b="0" dirty="0">
                <a:solidFill>
                  <a:schemeClr val="accent2"/>
                </a:solidFill>
                <a:latin typeface="Arial" panose="020B0604020202020204" pitchFamily="34" charset="0"/>
                <a:ea typeface="+mj-ea"/>
                <a:cs typeface="Arial" panose="020B0604020202020204" pitchFamily="34" charset="0"/>
              </a:rPr>
              <a:t>Management </a:t>
            </a:r>
            <a:r>
              <a:rPr lang="en-US" altLang="en-US" sz="2400" b="0" dirty="0" smtClean="0">
                <a:solidFill>
                  <a:schemeClr val="accent2"/>
                </a:solidFill>
                <a:latin typeface="Arial" panose="020B0604020202020204" pitchFamily="34" charset="0"/>
                <a:ea typeface="+mj-ea"/>
                <a:cs typeface="Arial" panose="020B0604020202020204" pitchFamily="34" charset="0"/>
              </a:rPr>
              <a:t>Systems: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154468901"/>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you will discover in your team project RCAs, weaknesses in a risk management system element degrade or disable the organization’s means to manage the residual risks within the scope of control of that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statements are specific, unique, and directly relate to one RME.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APEGA Model is a foundational model, but is one of innumerable risk management systems – learn YOUR employer’s system / program!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6" name="Google Shape;309;p17">
            <a:extLst>
              <a:ext uri="{FF2B5EF4-FFF2-40B4-BE49-F238E27FC236}">
                <a16:creationId xmlns:a16="http://schemas.microsoft.com/office/drawing/2014/main" id="{77325C46-9719-4387-96F7-FBD82A89FFE8}"/>
              </a:ext>
            </a:extLst>
          </p:cNvPr>
          <p:cNvSpPr/>
          <p:nvPr/>
        </p:nvSpPr>
        <p:spPr>
          <a:xfrm>
            <a:off x="914400" y="2786149"/>
            <a:ext cx="7315200" cy="3344493"/>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rPr>
              <a:t>Risk Management System (APEGA Model):</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Risk Assessment and Management of Risks (RAMR)</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of Change (MOC)</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Program Evaluation and Continuous Improvement (PECI)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Design, Construction and Start-up (DCSU)</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Maintenance (OM)</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Employee Competency and Training (ECT)</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Contractor Competency and Integration (CCI)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Any questions?</a:t>
            </a:r>
            <a:endPar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2107803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2581</TotalTime>
  <Words>4584</Words>
  <Application>Microsoft Office PowerPoint</Application>
  <PresentationFormat>On-screen Show (4:3)</PresentationFormat>
  <Paragraphs>441</Paragraphs>
  <Slides>26</Slides>
  <Notes>26</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26</vt:i4>
      </vt:variant>
    </vt:vector>
  </HeadingPairs>
  <TitlesOfParts>
    <vt:vector size="36" baseType="lpstr">
      <vt:lpstr>ＭＳ Ｐゴシック</vt:lpstr>
      <vt:lpstr>Arial</vt:lpstr>
      <vt:lpstr>Calibri</vt:lpstr>
      <vt:lpstr>Noto Sans Symbols</vt:lpstr>
      <vt:lpstr>Times New Roman</vt:lpstr>
      <vt:lpstr>Wingdings</vt:lpstr>
      <vt:lpstr>Default Design</vt:lpstr>
      <vt:lpstr>1_Default Design</vt:lpstr>
      <vt:lpstr>2_Default Design</vt:lpstr>
      <vt:lpstr>3_Default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John Cocchio</cp:lastModifiedBy>
  <cp:revision>127</cp:revision>
  <dcterms:created xsi:type="dcterms:W3CDTF">2011-09-07T03:22:54Z</dcterms:created>
  <dcterms:modified xsi:type="dcterms:W3CDTF">2022-05-11T19:01:33Z</dcterms:modified>
</cp:coreProperties>
</file>