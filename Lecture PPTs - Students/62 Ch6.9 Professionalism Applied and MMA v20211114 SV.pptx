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handoutMasterIdLst>
    <p:handoutMasterId r:id="rId17"/>
  </p:handoutMasterIdLst>
  <p:sldIdLst>
    <p:sldId id="895" r:id="rId2"/>
    <p:sldId id="880" r:id="rId3"/>
    <p:sldId id="929" r:id="rId4"/>
    <p:sldId id="930" r:id="rId5"/>
    <p:sldId id="914" r:id="rId6"/>
    <p:sldId id="922" r:id="rId7"/>
    <p:sldId id="926" r:id="rId8"/>
    <p:sldId id="927" r:id="rId9"/>
    <p:sldId id="931" r:id="rId10"/>
    <p:sldId id="941" r:id="rId11"/>
    <p:sldId id="934" r:id="rId12"/>
    <p:sldId id="935" r:id="rId13"/>
    <p:sldId id="936" r:id="rId14"/>
    <p:sldId id="940" r:id="rId15"/>
  </p:sldIdLst>
  <p:sldSz cx="9144000" cy="6858000" type="screen4x3"/>
  <p:notesSz cx="7010400" cy="9296400"/>
  <p:defaultTextStyle>
    <a:defPPr>
      <a:defRPr lang="en-US"/>
    </a:defPPr>
    <a:lvl1pPr algn="l" rtl="0" fontAlgn="base">
      <a:spcBef>
        <a:spcPct val="0"/>
      </a:spcBef>
      <a:spcAft>
        <a:spcPct val="0"/>
      </a:spcAft>
      <a:defRPr b="1" kern="1200">
        <a:solidFill>
          <a:schemeClr val="tx1"/>
        </a:solidFill>
        <a:latin typeface="Arial" charset="0"/>
        <a:ea typeface="+mn-ea"/>
        <a:cs typeface="+mn-cs"/>
      </a:defRPr>
    </a:lvl1pPr>
    <a:lvl2pPr marL="457200" algn="l" rtl="0" fontAlgn="base">
      <a:spcBef>
        <a:spcPct val="0"/>
      </a:spcBef>
      <a:spcAft>
        <a:spcPct val="0"/>
      </a:spcAft>
      <a:defRPr b="1" kern="1200">
        <a:solidFill>
          <a:schemeClr val="tx1"/>
        </a:solidFill>
        <a:latin typeface="Arial" charset="0"/>
        <a:ea typeface="+mn-ea"/>
        <a:cs typeface="+mn-cs"/>
      </a:defRPr>
    </a:lvl2pPr>
    <a:lvl3pPr marL="914400" algn="l" rtl="0" fontAlgn="base">
      <a:spcBef>
        <a:spcPct val="0"/>
      </a:spcBef>
      <a:spcAft>
        <a:spcPct val="0"/>
      </a:spcAft>
      <a:defRPr b="1" kern="1200">
        <a:solidFill>
          <a:schemeClr val="tx1"/>
        </a:solidFill>
        <a:latin typeface="Arial" charset="0"/>
        <a:ea typeface="+mn-ea"/>
        <a:cs typeface="+mn-cs"/>
      </a:defRPr>
    </a:lvl3pPr>
    <a:lvl4pPr marL="1371600" algn="l" rtl="0" fontAlgn="base">
      <a:spcBef>
        <a:spcPct val="0"/>
      </a:spcBef>
      <a:spcAft>
        <a:spcPct val="0"/>
      </a:spcAft>
      <a:defRPr b="1" kern="1200">
        <a:solidFill>
          <a:schemeClr val="tx1"/>
        </a:solidFill>
        <a:latin typeface="Arial" charset="0"/>
        <a:ea typeface="+mn-ea"/>
        <a:cs typeface="+mn-cs"/>
      </a:defRPr>
    </a:lvl4pPr>
    <a:lvl5pPr marL="1828800" algn="l" rtl="0" fontAlgn="base">
      <a:spcBef>
        <a:spcPct val="0"/>
      </a:spcBef>
      <a:spcAft>
        <a:spcPct val="0"/>
      </a:spcAft>
      <a:defRPr b="1" kern="1200">
        <a:solidFill>
          <a:schemeClr val="tx1"/>
        </a:solidFill>
        <a:latin typeface="Arial" charset="0"/>
        <a:ea typeface="+mn-ea"/>
        <a:cs typeface="+mn-cs"/>
      </a:defRPr>
    </a:lvl5pPr>
    <a:lvl6pPr marL="2286000" algn="l" defTabSz="914400" rtl="0" eaLnBrk="1" latinLnBrk="0" hangingPunct="1">
      <a:defRPr b="1" kern="1200">
        <a:solidFill>
          <a:schemeClr val="tx1"/>
        </a:solidFill>
        <a:latin typeface="Arial" charset="0"/>
        <a:ea typeface="+mn-ea"/>
        <a:cs typeface="+mn-cs"/>
      </a:defRPr>
    </a:lvl6pPr>
    <a:lvl7pPr marL="2743200" algn="l" defTabSz="914400" rtl="0" eaLnBrk="1" latinLnBrk="0" hangingPunct="1">
      <a:defRPr b="1" kern="1200">
        <a:solidFill>
          <a:schemeClr val="tx1"/>
        </a:solidFill>
        <a:latin typeface="Arial" charset="0"/>
        <a:ea typeface="+mn-ea"/>
        <a:cs typeface="+mn-cs"/>
      </a:defRPr>
    </a:lvl7pPr>
    <a:lvl8pPr marL="3200400" algn="l" defTabSz="914400" rtl="0" eaLnBrk="1" latinLnBrk="0" hangingPunct="1">
      <a:defRPr b="1" kern="1200">
        <a:solidFill>
          <a:schemeClr val="tx1"/>
        </a:solidFill>
        <a:latin typeface="Arial" charset="0"/>
        <a:ea typeface="+mn-ea"/>
        <a:cs typeface="+mn-cs"/>
      </a:defRPr>
    </a:lvl8pPr>
    <a:lvl9pPr marL="3657600" algn="l" defTabSz="914400" rtl="0" eaLnBrk="1" latinLnBrk="0" hangingPunct="1">
      <a:defRPr b="1"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Default Section" id="{C9E92DFA-6333-4D24-89B4-B39EC0786CAA}">
          <p14:sldIdLst>
            <p14:sldId id="895"/>
            <p14:sldId id="880"/>
            <p14:sldId id="929"/>
            <p14:sldId id="930"/>
            <p14:sldId id="914"/>
            <p14:sldId id="922"/>
            <p14:sldId id="926"/>
            <p14:sldId id="927"/>
            <p14:sldId id="931"/>
            <p14:sldId id="941"/>
            <p14:sldId id="934"/>
            <p14:sldId id="935"/>
            <p14:sldId id="936"/>
            <p14:sldId id="940"/>
          </p14:sldIdLst>
        </p14:section>
      </p14:sectionLst>
    </p:ext>
    <p:ext uri="{EFAFB233-063F-42B5-8137-9DF3F51BA10A}">
      <p15:sldGuideLst xmlns:p15="http://schemas.microsoft.com/office/powerpoint/2012/main">
        <p15:guide id="1" orient="horz" pos="576">
          <p15:clr>
            <a:srgbClr val="A4A3A4"/>
          </p15:clr>
        </p15:guide>
        <p15:guide id="2" pos="3792">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9"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oel Gehman"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0000CC"/>
    <a:srgbClr val="000000"/>
    <a:srgbClr val="F8F8F8"/>
    <a:srgbClr val="F5D7F1"/>
    <a:srgbClr val="5F5F5F"/>
    <a:srgbClr val="DDDDDD"/>
    <a:srgbClr val="FBA3E8"/>
    <a:srgbClr val="333333"/>
    <a:srgbClr val="BDB1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25" autoAdjust="0"/>
    <p:restoredTop sz="98116" autoAdjust="0"/>
  </p:normalViewPr>
  <p:slideViewPr>
    <p:cSldViewPr>
      <p:cViewPr varScale="1">
        <p:scale>
          <a:sx n="77" d="100"/>
          <a:sy n="77" d="100"/>
        </p:scale>
        <p:origin x="1020" y="64"/>
      </p:cViewPr>
      <p:guideLst>
        <p:guide orient="horz" pos="576"/>
        <p:guide pos="379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50" d="100"/>
        <a:sy n="150" d="100"/>
      </p:scale>
      <p:origin x="0" y="-5904"/>
    </p:cViewPr>
  </p:sorterViewPr>
  <p:notesViewPr>
    <p:cSldViewPr>
      <p:cViewPr>
        <p:scale>
          <a:sx n="66" d="100"/>
          <a:sy n="66" d="100"/>
        </p:scale>
        <p:origin x="-2634" y="222"/>
      </p:cViewPr>
      <p:guideLst>
        <p:guide orient="horz" pos="2928"/>
        <p:guide pos="2209"/>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0162" name="Rectangle 2"/>
          <p:cNvSpPr>
            <a:spLocks noGrp="1" noChangeArrowheads="1"/>
          </p:cNvSpPr>
          <p:nvPr>
            <p:ph type="hdr" sz="quarter"/>
          </p:nvPr>
        </p:nvSpPr>
        <p:spPr bwMode="auto">
          <a:xfrm>
            <a:off x="1" y="1"/>
            <a:ext cx="3037146" cy="464504"/>
          </a:xfrm>
          <a:prstGeom prst="rect">
            <a:avLst/>
          </a:prstGeom>
          <a:noFill/>
          <a:ln w="9525">
            <a:noFill/>
            <a:miter lim="800000"/>
            <a:headEnd/>
            <a:tailEnd/>
          </a:ln>
          <a:effectLst/>
        </p:spPr>
        <p:txBody>
          <a:bodyPr vert="horz" wrap="square" lIns="93136" tIns="46568" rIns="93136" bIns="46568" numCol="1" anchor="t" anchorCtr="0" compatLnSpc="1">
            <a:prstTxWarp prst="textNoShape">
              <a:avLst/>
            </a:prstTxWarp>
          </a:bodyPr>
          <a:lstStyle>
            <a:lvl1pPr eaLnBrk="0" hangingPunct="0">
              <a:defRPr sz="1200" b="0">
                <a:latin typeface="Arial" charset="0"/>
              </a:defRPr>
            </a:lvl1pPr>
          </a:lstStyle>
          <a:p>
            <a:pPr>
              <a:defRPr/>
            </a:pPr>
            <a:endParaRPr lang="en-US"/>
          </a:p>
        </p:txBody>
      </p:sp>
      <p:sp>
        <p:nvSpPr>
          <p:cNvPr id="220163" name="Rectangle 3"/>
          <p:cNvSpPr>
            <a:spLocks noGrp="1" noChangeArrowheads="1"/>
          </p:cNvSpPr>
          <p:nvPr>
            <p:ph type="dt" sz="quarter" idx="1"/>
          </p:nvPr>
        </p:nvSpPr>
        <p:spPr bwMode="auto">
          <a:xfrm>
            <a:off x="3971654" y="1"/>
            <a:ext cx="3037146" cy="464504"/>
          </a:xfrm>
          <a:prstGeom prst="rect">
            <a:avLst/>
          </a:prstGeom>
          <a:noFill/>
          <a:ln w="9525">
            <a:noFill/>
            <a:miter lim="800000"/>
            <a:headEnd/>
            <a:tailEnd/>
          </a:ln>
          <a:effectLst/>
        </p:spPr>
        <p:txBody>
          <a:bodyPr vert="horz" wrap="square" lIns="93136" tIns="46568" rIns="93136" bIns="46568" numCol="1" anchor="t" anchorCtr="0" compatLnSpc="1">
            <a:prstTxWarp prst="textNoShape">
              <a:avLst/>
            </a:prstTxWarp>
          </a:bodyPr>
          <a:lstStyle>
            <a:lvl1pPr algn="r" eaLnBrk="0" hangingPunct="0">
              <a:defRPr sz="1200" b="0">
                <a:latin typeface="Arial" charset="0"/>
              </a:defRPr>
            </a:lvl1pPr>
          </a:lstStyle>
          <a:p>
            <a:pPr>
              <a:defRPr/>
            </a:pPr>
            <a:fld id="{25E55AEC-8BF8-47AA-8A9C-C1CC4D3D3CD7}" type="datetimeFigureOut">
              <a:rPr lang="en-US"/>
              <a:pPr>
                <a:defRPr/>
              </a:pPr>
              <a:t>12/5/2021</a:t>
            </a:fld>
            <a:endParaRPr lang="en-US"/>
          </a:p>
        </p:txBody>
      </p:sp>
      <p:sp>
        <p:nvSpPr>
          <p:cNvPr id="220164" name="Rectangle 4"/>
          <p:cNvSpPr>
            <a:spLocks noGrp="1" noChangeArrowheads="1"/>
          </p:cNvSpPr>
          <p:nvPr>
            <p:ph type="ftr" sz="quarter" idx="2"/>
          </p:nvPr>
        </p:nvSpPr>
        <p:spPr bwMode="auto">
          <a:xfrm>
            <a:off x="1" y="8830312"/>
            <a:ext cx="3037146" cy="464504"/>
          </a:xfrm>
          <a:prstGeom prst="rect">
            <a:avLst/>
          </a:prstGeom>
          <a:noFill/>
          <a:ln w="9525">
            <a:noFill/>
            <a:miter lim="800000"/>
            <a:headEnd/>
            <a:tailEnd/>
          </a:ln>
          <a:effectLst/>
        </p:spPr>
        <p:txBody>
          <a:bodyPr vert="horz" wrap="square" lIns="93136" tIns="46568" rIns="93136" bIns="46568" numCol="1" anchor="b" anchorCtr="0" compatLnSpc="1">
            <a:prstTxWarp prst="textNoShape">
              <a:avLst/>
            </a:prstTxWarp>
          </a:bodyPr>
          <a:lstStyle>
            <a:lvl1pPr eaLnBrk="0" hangingPunct="0">
              <a:defRPr sz="1200" b="0">
                <a:latin typeface="Arial" charset="0"/>
              </a:defRPr>
            </a:lvl1pPr>
          </a:lstStyle>
          <a:p>
            <a:pPr>
              <a:defRPr/>
            </a:pPr>
            <a:endParaRPr lang="en-US"/>
          </a:p>
        </p:txBody>
      </p:sp>
      <p:sp>
        <p:nvSpPr>
          <p:cNvPr id="220165" name="Rectangle 5"/>
          <p:cNvSpPr>
            <a:spLocks noGrp="1" noChangeArrowheads="1"/>
          </p:cNvSpPr>
          <p:nvPr>
            <p:ph type="sldNum" sz="quarter" idx="3"/>
          </p:nvPr>
        </p:nvSpPr>
        <p:spPr bwMode="auto">
          <a:xfrm>
            <a:off x="3971654" y="8830312"/>
            <a:ext cx="3037146" cy="464504"/>
          </a:xfrm>
          <a:prstGeom prst="rect">
            <a:avLst/>
          </a:prstGeom>
          <a:noFill/>
          <a:ln w="9525">
            <a:noFill/>
            <a:miter lim="800000"/>
            <a:headEnd/>
            <a:tailEnd/>
          </a:ln>
          <a:effectLst/>
        </p:spPr>
        <p:txBody>
          <a:bodyPr vert="horz" wrap="square" lIns="93136" tIns="46568" rIns="93136" bIns="46568" numCol="1" anchor="b" anchorCtr="0" compatLnSpc="1">
            <a:prstTxWarp prst="textNoShape">
              <a:avLst/>
            </a:prstTxWarp>
          </a:bodyPr>
          <a:lstStyle>
            <a:lvl1pPr algn="r" eaLnBrk="0" hangingPunct="0">
              <a:defRPr sz="1200" b="0">
                <a:latin typeface="Arial" charset="0"/>
              </a:defRPr>
            </a:lvl1pPr>
          </a:lstStyle>
          <a:p>
            <a:pPr>
              <a:defRPr/>
            </a:pPr>
            <a:fld id="{E75F24CD-7E4C-4840-9EE0-3BA263838CCD}" type="slidenum">
              <a:rPr lang="en-US"/>
              <a:pPr>
                <a:defRPr/>
              </a:pPr>
              <a:t>‹#›</a:t>
            </a:fld>
            <a:endParaRPr lang="en-US"/>
          </a:p>
        </p:txBody>
      </p:sp>
    </p:spTree>
    <p:extLst>
      <p:ext uri="{BB962C8B-B14F-4D97-AF65-F5344CB8AC3E}">
        <p14:creationId xmlns:p14="http://schemas.microsoft.com/office/powerpoint/2010/main" val="28221716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37146" cy="464504"/>
          </a:xfrm>
          <a:prstGeom prst="rect">
            <a:avLst/>
          </a:prstGeom>
        </p:spPr>
        <p:txBody>
          <a:bodyPr vert="horz" wrap="square" lIns="93136" tIns="46568" rIns="93136" bIns="46568" numCol="1" anchor="t" anchorCtr="0" compatLnSpc="1">
            <a:prstTxWarp prst="textNoShape">
              <a:avLst/>
            </a:prstTxWarp>
          </a:bodyPr>
          <a:lstStyle>
            <a:lvl1pPr>
              <a:defRPr sz="1200" b="0">
                <a:latin typeface="Arial" charset="0"/>
              </a:defRPr>
            </a:lvl1pPr>
          </a:lstStyle>
          <a:p>
            <a:pPr>
              <a:defRPr/>
            </a:pPr>
            <a:endParaRPr lang="en-US"/>
          </a:p>
        </p:txBody>
      </p:sp>
      <p:sp>
        <p:nvSpPr>
          <p:cNvPr id="3" name="Date Placeholder 2"/>
          <p:cNvSpPr>
            <a:spLocks noGrp="1"/>
          </p:cNvSpPr>
          <p:nvPr>
            <p:ph type="dt" idx="1"/>
          </p:nvPr>
        </p:nvSpPr>
        <p:spPr>
          <a:xfrm>
            <a:off x="3971654" y="1"/>
            <a:ext cx="3037146" cy="464504"/>
          </a:xfrm>
          <a:prstGeom prst="rect">
            <a:avLst/>
          </a:prstGeom>
        </p:spPr>
        <p:txBody>
          <a:bodyPr vert="horz" wrap="square" lIns="93136" tIns="46568" rIns="93136" bIns="46568" numCol="1" anchor="t" anchorCtr="0" compatLnSpc="1">
            <a:prstTxWarp prst="textNoShape">
              <a:avLst/>
            </a:prstTxWarp>
          </a:bodyPr>
          <a:lstStyle>
            <a:lvl1pPr algn="r">
              <a:defRPr sz="1200" b="0">
                <a:latin typeface="Arial" charset="0"/>
              </a:defRPr>
            </a:lvl1pPr>
          </a:lstStyle>
          <a:p>
            <a:pPr>
              <a:defRPr/>
            </a:pPr>
            <a:fld id="{B38EBD9A-77E5-4352-9685-9DCF1AB5D0AE}" type="datetimeFigureOut">
              <a:rPr lang="en-US"/>
              <a:pPr>
                <a:defRPr/>
              </a:pPr>
              <a:t>12/5/2021</a:t>
            </a:fld>
            <a:endParaRPr lang="en-US"/>
          </a:p>
        </p:txBody>
      </p:sp>
      <p:sp>
        <p:nvSpPr>
          <p:cNvPr id="4" name="Slide Image Placeholder 3"/>
          <p:cNvSpPr>
            <a:spLocks noGrp="1" noRot="1" noChangeAspect="1"/>
          </p:cNvSpPr>
          <p:nvPr>
            <p:ph type="sldImg" idx="2"/>
          </p:nvPr>
        </p:nvSpPr>
        <p:spPr>
          <a:xfrm>
            <a:off x="1181100" y="698500"/>
            <a:ext cx="4648200" cy="3486150"/>
          </a:xfrm>
          <a:prstGeom prst="rect">
            <a:avLst/>
          </a:prstGeom>
          <a:noFill/>
          <a:ln w="12700">
            <a:solidFill>
              <a:prstClr val="black"/>
            </a:solidFill>
          </a:ln>
        </p:spPr>
        <p:txBody>
          <a:bodyPr vert="horz" lIns="93136" tIns="46568" rIns="93136" bIns="46568" rtlCol="0" anchor="ctr"/>
          <a:lstStyle/>
          <a:p>
            <a:pPr lvl="0"/>
            <a:endParaRPr lang="en-US" noProof="0"/>
          </a:p>
        </p:txBody>
      </p:sp>
      <p:sp>
        <p:nvSpPr>
          <p:cNvPr id="5" name="Notes Placeholder 4"/>
          <p:cNvSpPr>
            <a:spLocks noGrp="1"/>
          </p:cNvSpPr>
          <p:nvPr>
            <p:ph type="body" sz="quarter" idx="3"/>
          </p:nvPr>
        </p:nvSpPr>
        <p:spPr>
          <a:xfrm>
            <a:off x="700881" y="4415157"/>
            <a:ext cx="5608640" cy="4183696"/>
          </a:xfrm>
          <a:prstGeom prst="rect">
            <a:avLst/>
          </a:prstGeom>
        </p:spPr>
        <p:txBody>
          <a:bodyPr vert="horz" wrap="square" lIns="93136" tIns="46568" rIns="93136" bIns="46568" numCol="1" anchor="t" anchorCtr="0" compatLnSpc="1">
            <a:prstTxWarp prst="textNoShape">
              <a:avLst/>
            </a:prstTxWarp>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p:cNvSpPr>
            <a:spLocks noGrp="1"/>
          </p:cNvSpPr>
          <p:nvPr>
            <p:ph type="ftr" sz="quarter" idx="4"/>
          </p:nvPr>
        </p:nvSpPr>
        <p:spPr>
          <a:xfrm>
            <a:off x="1" y="8830312"/>
            <a:ext cx="3037146" cy="464504"/>
          </a:xfrm>
          <a:prstGeom prst="rect">
            <a:avLst/>
          </a:prstGeom>
        </p:spPr>
        <p:txBody>
          <a:bodyPr vert="horz" wrap="square" lIns="93136" tIns="46568" rIns="93136" bIns="46568" numCol="1" anchor="b" anchorCtr="0" compatLnSpc="1">
            <a:prstTxWarp prst="textNoShape">
              <a:avLst/>
            </a:prstTxWarp>
          </a:bodyPr>
          <a:lstStyle>
            <a:lvl1pPr>
              <a:defRPr sz="1200" b="0">
                <a:latin typeface="Arial" charset="0"/>
              </a:defRPr>
            </a:lvl1pPr>
          </a:lstStyle>
          <a:p>
            <a:pPr>
              <a:defRPr/>
            </a:pPr>
            <a:endParaRPr lang="en-US"/>
          </a:p>
        </p:txBody>
      </p:sp>
      <p:sp>
        <p:nvSpPr>
          <p:cNvPr id="7" name="Slide Number Placeholder 6"/>
          <p:cNvSpPr>
            <a:spLocks noGrp="1"/>
          </p:cNvSpPr>
          <p:nvPr>
            <p:ph type="sldNum" sz="quarter" idx="5"/>
          </p:nvPr>
        </p:nvSpPr>
        <p:spPr>
          <a:xfrm>
            <a:off x="3971654" y="8830312"/>
            <a:ext cx="3037146" cy="464504"/>
          </a:xfrm>
          <a:prstGeom prst="rect">
            <a:avLst/>
          </a:prstGeom>
        </p:spPr>
        <p:txBody>
          <a:bodyPr vert="horz" wrap="square" lIns="93136" tIns="46568" rIns="93136" bIns="46568" numCol="1" anchor="b" anchorCtr="0" compatLnSpc="1">
            <a:prstTxWarp prst="textNoShape">
              <a:avLst/>
            </a:prstTxWarp>
          </a:bodyPr>
          <a:lstStyle>
            <a:lvl1pPr algn="r">
              <a:defRPr sz="1200" b="0">
                <a:latin typeface="Arial" charset="0"/>
              </a:defRPr>
            </a:lvl1pPr>
          </a:lstStyle>
          <a:p>
            <a:pPr>
              <a:defRPr/>
            </a:pPr>
            <a:fld id="{4A7289C4-4137-4B30-96C9-7C06C8229121}" type="slidenum">
              <a:rPr lang="en-US"/>
              <a:pPr>
                <a:defRPr/>
              </a:pPr>
              <a:t>‹#›</a:t>
            </a:fld>
            <a:endParaRPr lang="en-US"/>
          </a:p>
        </p:txBody>
      </p:sp>
    </p:spTree>
    <p:extLst>
      <p:ext uri="{BB962C8B-B14F-4D97-AF65-F5344CB8AC3E}">
        <p14:creationId xmlns:p14="http://schemas.microsoft.com/office/powerpoint/2010/main" val="333532138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000" kern="1200">
        <a:solidFill>
          <a:schemeClr val="tx1"/>
        </a:solidFill>
        <a:latin typeface="+mn-lt"/>
        <a:ea typeface="+mn-ea"/>
        <a:cs typeface="Arial" charset="0"/>
      </a:defRPr>
    </a:lvl1pPr>
    <a:lvl2pPr marL="457200" algn="l" rtl="0" eaLnBrk="0" fontAlgn="base" hangingPunct="0">
      <a:spcBef>
        <a:spcPct val="30000"/>
      </a:spcBef>
      <a:spcAft>
        <a:spcPct val="0"/>
      </a:spcAft>
      <a:defRPr sz="1000" kern="1200">
        <a:solidFill>
          <a:schemeClr val="tx1"/>
        </a:solidFill>
        <a:latin typeface="+mn-lt"/>
        <a:ea typeface="+mn-ea"/>
        <a:cs typeface="Arial" charset="0"/>
      </a:defRPr>
    </a:lvl2pPr>
    <a:lvl3pPr marL="914400" algn="l" rtl="0" eaLnBrk="0" fontAlgn="base" hangingPunct="0">
      <a:spcBef>
        <a:spcPct val="30000"/>
      </a:spcBef>
      <a:spcAft>
        <a:spcPct val="0"/>
      </a:spcAft>
      <a:defRPr sz="1000" kern="1200">
        <a:solidFill>
          <a:schemeClr val="tx1"/>
        </a:solidFill>
        <a:latin typeface="+mn-lt"/>
        <a:ea typeface="+mn-ea"/>
        <a:cs typeface="Arial" charset="0"/>
      </a:defRPr>
    </a:lvl3pPr>
    <a:lvl4pPr marL="1371600" algn="l" rtl="0" eaLnBrk="0" fontAlgn="base" hangingPunct="0">
      <a:spcBef>
        <a:spcPct val="30000"/>
      </a:spcBef>
      <a:spcAft>
        <a:spcPct val="0"/>
      </a:spcAft>
      <a:defRPr sz="1000" kern="1200">
        <a:solidFill>
          <a:schemeClr val="tx1"/>
        </a:solidFill>
        <a:latin typeface="+mn-lt"/>
        <a:ea typeface="+mn-ea"/>
        <a:cs typeface="Arial" charset="0"/>
      </a:defRPr>
    </a:lvl4pPr>
    <a:lvl5pPr marL="1828800" algn="l" rtl="0" eaLnBrk="0" fontAlgn="base" hangingPunct="0">
      <a:spcBef>
        <a:spcPct val="30000"/>
      </a:spcBef>
      <a:spcAft>
        <a:spcPct val="0"/>
      </a:spcAft>
      <a:defRPr sz="1000" kern="1200">
        <a:solidFill>
          <a:schemeClr val="tx1"/>
        </a:solidFill>
        <a:latin typeface="+mn-lt"/>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aseline="0" dirty="0"/>
          </a:p>
        </p:txBody>
      </p:sp>
    </p:spTree>
    <p:extLst>
      <p:ext uri="{BB962C8B-B14F-4D97-AF65-F5344CB8AC3E}">
        <p14:creationId xmlns:p14="http://schemas.microsoft.com/office/powerpoint/2010/main" val="18007670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63931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011745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4</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729989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5</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048912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6</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6</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40406431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7</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7</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6641294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8</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8</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25697516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9</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9</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14425740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10</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10</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26051329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11</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11</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31316824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12</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12</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34379776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13</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13</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11666907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14</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574259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309349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0803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13579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fld id="{53118CC2-884A-4430-8B4F-9976F3C29C24}" type="datetimeFigureOut">
              <a:rPr lang="en-US"/>
              <a:pPr>
                <a:defRPr/>
              </a:pPr>
              <a:t>12/5/2021</a:t>
            </a:fld>
            <a:endParaRPr lang="en-US"/>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en-US"/>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91823322-A425-42F9-B4E6-DE1BA6748FF3}" type="slidenum">
              <a:rPr lang="en-US" altLang="en-US"/>
              <a:pPr>
                <a:defRPr/>
              </a:pPr>
              <a:t>‹#›</a:t>
            </a:fld>
            <a:endParaRPr lang="en-US" altLang="en-US"/>
          </a:p>
        </p:txBody>
      </p:sp>
    </p:spTree>
    <p:extLst>
      <p:ext uri="{BB962C8B-B14F-4D97-AF65-F5344CB8AC3E}">
        <p14:creationId xmlns:p14="http://schemas.microsoft.com/office/powerpoint/2010/main" val="2368737125"/>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4149" r:id="rId1"/>
    <p:sldLayoutId id="2147484147" r:id="rId2"/>
    <p:sldLayoutId id="2147484148" r:id="rId3"/>
    <p:sldLayoutId id="2147484150" r:id="rId4"/>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228600" y="838200"/>
            <a:ext cx="8610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a:lstStyle>
          <a:p>
            <a:pPr eaLnBrk="1" hangingPunct="1"/>
            <a:r>
              <a:rPr lang="en-CA" altLang="en-US" i="1" kern="0" dirty="0" smtClean="0">
                <a:solidFill>
                  <a:srgbClr val="000099"/>
                </a:solidFill>
                <a:ea typeface="ＭＳ Ｐゴシック" panose="020B0600070205080204" pitchFamily="34" charset="-128"/>
              </a:rPr>
              <a:t>On Becoming a </a:t>
            </a:r>
            <a:br>
              <a:rPr lang="en-CA" altLang="en-US" i="1" kern="0" dirty="0" smtClean="0">
                <a:solidFill>
                  <a:srgbClr val="000099"/>
                </a:solidFill>
                <a:ea typeface="ＭＳ Ｐゴシック" panose="020B0600070205080204" pitchFamily="34" charset="-128"/>
              </a:rPr>
            </a:br>
            <a:r>
              <a:rPr lang="en-CA" altLang="en-US" i="1" kern="0" dirty="0" smtClean="0">
                <a:solidFill>
                  <a:srgbClr val="000099"/>
                </a:solidFill>
                <a:ea typeface="ＭＳ Ｐゴシック" panose="020B0600070205080204" pitchFamily="34" charset="-128"/>
              </a:rPr>
              <a:t>Leader in Risk Management</a:t>
            </a:r>
            <a:endParaRPr lang="en-US" altLang="en-US" i="1" kern="0" dirty="0">
              <a:solidFill>
                <a:srgbClr val="000099"/>
              </a:solidFill>
              <a:ea typeface="ＭＳ Ｐゴシック" panose="020B0600070205080204" pitchFamily="34" charset="-128"/>
            </a:endParaRPr>
          </a:p>
        </p:txBody>
      </p:sp>
      <p:sp>
        <p:nvSpPr>
          <p:cNvPr id="8" name="Rectangle 3"/>
          <p:cNvSpPr>
            <a:spLocks noGrp="1" noChangeArrowheads="1"/>
          </p:cNvSpPr>
          <p:nvPr>
            <p:ph type="subTitle" idx="4294967295"/>
          </p:nvPr>
        </p:nvSpPr>
        <p:spPr>
          <a:xfrm>
            <a:off x="609600" y="1981200"/>
            <a:ext cx="7696200" cy="2695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indent="0" algn="ctr" eaLnBrk="1" hangingPunct="1">
              <a:spcBef>
                <a:spcPct val="0"/>
              </a:spcBef>
              <a:buNone/>
            </a:pP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ENGG404 - </a:t>
            </a: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Lecture</a:t>
            </a:r>
          </a:p>
          <a:p>
            <a:pPr marL="0" indent="0" algn="ctr" eaLnBrk="1" hangingPunct="1">
              <a:spcBef>
                <a:spcPct val="0"/>
              </a:spcBef>
              <a:buNone/>
            </a:pPr>
            <a:r>
              <a:rPr lang="en-US" altLang="en-US" sz="3200" b="1">
                <a:solidFill>
                  <a:schemeClr val="tx2"/>
                </a:solidFill>
                <a:latin typeface="Arial" panose="020B0604020202020204" pitchFamily="34" charset="0"/>
                <a:ea typeface="ＭＳ Ｐゴシック" panose="020B0600070205080204" pitchFamily="34" charset="-128"/>
                <a:cs typeface="Arial" panose="020B0604020202020204" pitchFamily="34" charset="0"/>
              </a:rPr>
              <a:t>Chapter </a:t>
            </a:r>
            <a:r>
              <a:rPr lang="en-US" altLang="en-US" sz="3200" b="1"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6.9: </a:t>
            </a: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Professionalism, and Applications of Incident Investigation and Professional Engineer’s Responsibilities</a:t>
            </a:r>
          </a:p>
        </p:txBody>
      </p:sp>
      <p:sp>
        <p:nvSpPr>
          <p:cNvPr id="9" name="TextBox 8">
            <a:extLst>
              <a:ext uri="{FF2B5EF4-FFF2-40B4-BE49-F238E27FC236}">
                <a16:creationId xmlns:a16="http://schemas.microsoft.com/office/drawing/2014/main" id="{45837290-7F22-4D42-BFDD-D5AD4C09C01F}"/>
              </a:ext>
            </a:extLst>
          </p:cNvPr>
          <p:cNvSpPr txBox="1"/>
          <p:nvPr/>
        </p:nvSpPr>
        <p:spPr>
          <a:xfrm>
            <a:off x="152402" y="176015"/>
            <a:ext cx="1176817"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Fundamentals of RM</a:t>
            </a:r>
          </a:p>
        </p:txBody>
      </p:sp>
      <p:sp>
        <p:nvSpPr>
          <p:cNvPr id="10" name="TextBox 9">
            <a:extLst>
              <a:ext uri="{FF2B5EF4-FFF2-40B4-BE49-F238E27FC236}">
                <a16:creationId xmlns:a16="http://schemas.microsoft.com/office/drawing/2014/main" id="{7618FDCA-D6EA-3540-8AE2-F6CD31336ABE}"/>
              </a:ext>
            </a:extLst>
          </p:cNvPr>
          <p:cNvSpPr txBox="1"/>
          <p:nvPr/>
        </p:nvSpPr>
        <p:spPr>
          <a:xfrm>
            <a:off x="1481037" y="169908"/>
            <a:ext cx="1024999"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Calibri" panose="020F0502020204030204"/>
                <a:ea typeface="ＭＳ Ｐゴシック" panose="020B0600070205080204" pitchFamily="34" charset="-128"/>
                <a:cs typeface="+mn-cs"/>
              </a:rPr>
              <a:t>RM System and Process</a:t>
            </a:r>
          </a:p>
        </p:txBody>
      </p:sp>
      <p:sp>
        <p:nvSpPr>
          <p:cNvPr id="11" name="TextBox 10">
            <a:extLst>
              <a:ext uri="{FF2B5EF4-FFF2-40B4-BE49-F238E27FC236}">
                <a16:creationId xmlns:a16="http://schemas.microsoft.com/office/drawing/2014/main" id="{45BC740A-AE56-7744-84D0-32724BDFA21D}"/>
              </a:ext>
            </a:extLst>
          </p:cNvPr>
          <p:cNvSpPr txBox="1"/>
          <p:nvPr/>
        </p:nvSpPr>
        <p:spPr>
          <a:xfrm>
            <a:off x="7874130" y="169908"/>
            <a:ext cx="1155550"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Application and Perspectives</a:t>
            </a:r>
          </a:p>
        </p:txBody>
      </p:sp>
      <p:sp>
        <p:nvSpPr>
          <p:cNvPr id="12" name="TextBox 11">
            <a:extLst>
              <a:ext uri="{FF2B5EF4-FFF2-40B4-BE49-F238E27FC236}">
                <a16:creationId xmlns:a16="http://schemas.microsoft.com/office/drawing/2014/main" id="{0A7D91E5-FF6E-C346-BD54-1494F0C62548}"/>
              </a:ext>
            </a:extLst>
          </p:cNvPr>
          <p:cNvSpPr txBox="1"/>
          <p:nvPr/>
        </p:nvSpPr>
        <p:spPr>
          <a:xfrm>
            <a:off x="7051217" y="169908"/>
            <a:ext cx="671096"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Calibri" panose="020F0502020204030204"/>
                <a:ea typeface="ＭＳ Ｐゴシック" panose="020B0600070205080204" pitchFamily="34" charset="-128"/>
                <a:cs typeface="+mn-cs"/>
              </a:rPr>
              <a:t>People &amp; Org.</a:t>
            </a:r>
          </a:p>
        </p:txBody>
      </p:sp>
      <p:sp>
        <p:nvSpPr>
          <p:cNvPr id="13" name="TextBox 12">
            <a:extLst>
              <a:ext uri="{FF2B5EF4-FFF2-40B4-BE49-F238E27FC236}">
                <a16:creationId xmlns:a16="http://schemas.microsoft.com/office/drawing/2014/main" id="{00457A8C-8AD1-BC48-A393-2CA6461462C7}"/>
              </a:ext>
            </a:extLst>
          </p:cNvPr>
          <p:cNvSpPr txBox="1"/>
          <p:nvPr/>
        </p:nvSpPr>
        <p:spPr>
          <a:xfrm>
            <a:off x="3834670" y="169908"/>
            <a:ext cx="1024999"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Incident Investigation</a:t>
            </a:r>
          </a:p>
        </p:txBody>
      </p:sp>
      <p:sp>
        <p:nvSpPr>
          <p:cNvPr id="14" name="TextBox 13">
            <a:extLst>
              <a:ext uri="{FF2B5EF4-FFF2-40B4-BE49-F238E27FC236}">
                <a16:creationId xmlns:a16="http://schemas.microsoft.com/office/drawing/2014/main" id="{D7E14612-2C60-CA49-88DC-A40274E52BE8}"/>
              </a:ext>
            </a:extLst>
          </p:cNvPr>
          <p:cNvSpPr txBox="1"/>
          <p:nvPr/>
        </p:nvSpPr>
        <p:spPr>
          <a:xfrm>
            <a:off x="5011486" y="169908"/>
            <a:ext cx="1024999"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Calibri" panose="020F0502020204030204"/>
                <a:ea typeface="ＭＳ Ｐゴシック" panose="020B0600070205080204" pitchFamily="34" charset="-128"/>
                <a:cs typeface="+mn-cs"/>
              </a:rPr>
              <a:t>RM Tools &amp; Challenges</a:t>
            </a:r>
          </a:p>
        </p:txBody>
      </p:sp>
      <p:sp>
        <p:nvSpPr>
          <p:cNvPr id="15" name="TextBox 14">
            <a:extLst>
              <a:ext uri="{FF2B5EF4-FFF2-40B4-BE49-F238E27FC236}">
                <a16:creationId xmlns:a16="http://schemas.microsoft.com/office/drawing/2014/main" id="{F48AF929-DEC8-B045-BD5C-00378213E2AE}"/>
              </a:ext>
            </a:extLst>
          </p:cNvPr>
          <p:cNvSpPr txBox="1"/>
          <p:nvPr/>
        </p:nvSpPr>
        <p:spPr>
          <a:xfrm>
            <a:off x="2657853" y="170432"/>
            <a:ext cx="1024999"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Leadership in RM</a:t>
            </a:r>
          </a:p>
        </p:txBody>
      </p:sp>
      <p:cxnSp>
        <p:nvCxnSpPr>
          <p:cNvPr id="16" name="Straight Arrow Connector 15">
            <a:extLst>
              <a:ext uri="{FF2B5EF4-FFF2-40B4-BE49-F238E27FC236}">
                <a16:creationId xmlns:a16="http://schemas.microsoft.com/office/drawing/2014/main" id="{194E84B9-8682-8C4B-A72E-1FFEAF78256B}"/>
              </a:ext>
            </a:extLst>
          </p:cNvPr>
          <p:cNvCxnSpPr>
            <a:cxnSpLocks/>
            <a:stCxn id="9" idx="3"/>
            <a:endCxn id="10" idx="1"/>
          </p:cNvCxnSpPr>
          <p:nvPr/>
        </p:nvCxnSpPr>
        <p:spPr>
          <a:xfrm flipV="1">
            <a:off x="1329217" y="400741"/>
            <a:ext cx="151818" cy="6107"/>
          </a:xfrm>
          <a:prstGeom prst="straightConnector1">
            <a:avLst/>
          </a:prstGeom>
          <a:noFill/>
          <a:ln w="6350" cap="flat" cmpd="sng" algn="ctr">
            <a:solidFill>
              <a:schemeClr val="tx1"/>
            </a:solidFill>
            <a:prstDash val="solid"/>
            <a:miter lim="800000"/>
            <a:tailEnd type="triangle"/>
          </a:ln>
          <a:effectLst/>
        </p:spPr>
      </p:cxnSp>
      <p:cxnSp>
        <p:nvCxnSpPr>
          <p:cNvPr id="17" name="Straight Arrow Connector 16">
            <a:extLst>
              <a:ext uri="{FF2B5EF4-FFF2-40B4-BE49-F238E27FC236}">
                <a16:creationId xmlns:a16="http://schemas.microsoft.com/office/drawing/2014/main" id="{BCED6320-D6B4-374B-AE59-18735BF60E66}"/>
              </a:ext>
            </a:extLst>
          </p:cNvPr>
          <p:cNvCxnSpPr>
            <a:stCxn id="10" idx="3"/>
            <a:endCxn id="15" idx="1"/>
          </p:cNvCxnSpPr>
          <p:nvPr/>
        </p:nvCxnSpPr>
        <p:spPr>
          <a:xfrm>
            <a:off x="2506036"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8" name="Straight Arrow Connector 17">
            <a:extLst>
              <a:ext uri="{FF2B5EF4-FFF2-40B4-BE49-F238E27FC236}">
                <a16:creationId xmlns:a16="http://schemas.microsoft.com/office/drawing/2014/main" id="{BA27112B-E9F0-2348-9B20-FB76B2277E3D}"/>
              </a:ext>
            </a:extLst>
          </p:cNvPr>
          <p:cNvCxnSpPr>
            <a:stCxn id="15" idx="3"/>
            <a:endCxn id="13" idx="1"/>
          </p:cNvCxnSpPr>
          <p:nvPr/>
        </p:nvCxnSpPr>
        <p:spPr>
          <a:xfrm flipV="1">
            <a:off x="3682853"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9" name="Straight Arrow Connector 18">
            <a:extLst>
              <a:ext uri="{FF2B5EF4-FFF2-40B4-BE49-F238E27FC236}">
                <a16:creationId xmlns:a16="http://schemas.microsoft.com/office/drawing/2014/main" id="{D6FCC88D-6DFA-474E-80EC-662B2D4B909B}"/>
              </a:ext>
            </a:extLst>
          </p:cNvPr>
          <p:cNvCxnSpPr>
            <a:stCxn id="13" idx="3"/>
            <a:endCxn id="14" idx="1"/>
          </p:cNvCxnSpPr>
          <p:nvPr/>
        </p:nvCxnSpPr>
        <p:spPr>
          <a:xfrm>
            <a:off x="4859669" y="400741"/>
            <a:ext cx="151817" cy="0"/>
          </a:xfrm>
          <a:prstGeom prst="straightConnector1">
            <a:avLst/>
          </a:prstGeom>
          <a:noFill/>
          <a:ln w="6350" cap="flat" cmpd="sng" algn="ctr">
            <a:solidFill>
              <a:schemeClr val="tx1"/>
            </a:solidFill>
            <a:prstDash val="solid"/>
            <a:miter lim="800000"/>
            <a:tailEnd type="triangle"/>
          </a:ln>
          <a:effectLst/>
        </p:spPr>
      </p:cxnSp>
      <p:cxnSp>
        <p:nvCxnSpPr>
          <p:cNvPr id="20" name="Straight Arrow Connector 19">
            <a:extLst>
              <a:ext uri="{FF2B5EF4-FFF2-40B4-BE49-F238E27FC236}">
                <a16:creationId xmlns:a16="http://schemas.microsoft.com/office/drawing/2014/main" id="{5CA7384E-C04D-ED41-9740-B0199EA1890A}"/>
              </a:ext>
            </a:extLst>
          </p:cNvPr>
          <p:cNvCxnSpPr>
            <a:cxnSpLocks/>
            <a:stCxn id="14" idx="3"/>
          </p:cNvCxnSpPr>
          <p:nvPr/>
        </p:nvCxnSpPr>
        <p:spPr>
          <a:xfrm flipV="1">
            <a:off x="6036485" y="400740"/>
            <a:ext cx="151816" cy="1"/>
          </a:xfrm>
          <a:prstGeom prst="straightConnector1">
            <a:avLst/>
          </a:prstGeom>
          <a:noFill/>
          <a:ln w="6350" cap="flat" cmpd="sng" algn="ctr">
            <a:solidFill>
              <a:schemeClr val="tx1"/>
            </a:solidFill>
            <a:prstDash val="solid"/>
            <a:miter lim="800000"/>
            <a:tailEnd type="triangle"/>
          </a:ln>
          <a:effectLst/>
        </p:spPr>
      </p:cxnSp>
      <p:cxnSp>
        <p:nvCxnSpPr>
          <p:cNvPr id="21" name="Straight Arrow Connector 20">
            <a:extLst>
              <a:ext uri="{FF2B5EF4-FFF2-40B4-BE49-F238E27FC236}">
                <a16:creationId xmlns:a16="http://schemas.microsoft.com/office/drawing/2014/main" id="{F37C1AD4-35C5-B84F-A011-FC352A9DC134}"/>
              </a:ext>
            </a:extLst>
          </p:cNvPr>
          <p:cNvCxnSpPr>
            <a:cxnSpLocks/>
            <a:endCxn id="12" idx="1"/>
          </p:cNvCxnSpPr>
          <p:nvPr/>
        </p:nvCxnSpPr>
        <p:spPr>
          <a:xfrm flipV="1">
            <a:off x="6899402" y="400741"/>
            <a:ext cx="151817" cy="1"/>
          </a:xfrm>
          <a:prstGeom prst="straightConnector1">
            <a:avLst/>
          </a:prstGeom>
          <a:noFill/>
          <a:ln w="6350" cap="flat" cmpd="sng" algn="ctr">
            <a:solidFill>
              <a:schemeClr val="tx1"/>
            </a:solidFill>
            <a:prstDash val="solid"/>
            <a:miter lim="800000"/>
            <a:tailEnd type="triangle"/>
          </a:ln>
          <a:effectLst/>
        </p:spPr>
      </p:cxnSp>
      <p:cxnSp>
        <p:nvCxnSpPr>
          <p:cNvPr id="22" name="Straight Arrow Connector 21">
            <a:extLst>
              <a:ext uri="{FF2B5EF4-FFF2-40B4-BE49-F238E27FC236}">
                <a16:creationId xmlns:a16="http://schemas.microsoft.com/office/drawing/2014/main" id="{A40B8989-9D9A-DE41-B118-0BB225CC7043}"/>
              </a:ext>
            </a:extLst>
          </p:cNvPr>
          <p:cNvCxnSpPr>
            <a:stCxn id="12" idx="3"/>
            <a:endCxn id="11" idx="1"/>
          </p:cNvCxnSpPr>
          <p:nvPr/>
        </p:nvCxnSpPr>
        <p:spPr>
          <a:xfrm>
            <a:off x="7722315" y="400739"/>
            <a:ext cx="151817" cy="0"/>
          </a:xfrm>
          <a:prstGeom prst="straightConnector1">
            <a:avLst/>
          </a:prstGeom>
          <a:noFill/>
          <a:ln w="6350" cap="flat" cmpd="sng" algn="ctr">
            <a:solidFill>
              <a:schemeClr val="tx1"/>
            </a:solidFill>
            <a:prstDash val="solid"/>
            <a:miter lim="800000"/>
            <a:tailEnd type="triangle"/>
          </a:ln>
          <a:effectLst/>
        </p:spPr>
      </p:cxnSp>
      <p:sp>
        <p:nvSpPr>
          <p:cNvPr id="23" name="TextBox 22">
            <a:extLst>
              <a:ext uri="{FF2B5EF4-FFF2-40B4-BE49-F238E27FC236}">
                <a16:creationId xmlns:a16="http://schemas.microsoft.com/office/drawing/2014/main" id="{E97011C2-9A0B-664B-83CB-DE2410B86B87}"/>
              </a:ext>
            </a:extLst>
          </p:cNvPr>
          <p:cNvSpPr txBox="1"/>
          <p:nvPr/>
        </p:nvSpPr>
        <p:spPr>
          <a:xfrm>
            <a:off x="6188301" y="169907"/>
            <a:ext cx="692362"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RM in Industry</a:t>
            </a:r>
          </a:p>
        </p:txBody>
      </p:sp>
      <p:pic>
        <p:nvPicPr>
          <p:cNvPr id="24" name="Picture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1182" y="4114800"/>
            <a:ext cx="1766671" cy="1766671"/>
          </a:xfrm>
          <a:prstGeom prst="rect">
            <a:avLst/>
          </a:prstGeom>
        </p:spPr>
      </p:pic>
      <p:pic>
        <p:nvPicPr>
          <p:cNvPr id="25" name="Picture 24" descr="Introduction to Sociology - 2013 - The Collaboratory"/>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500" y="4114613"/>
            <a:ext cx="2590300" cy="1766857"/>
          </a:xfrm>
          <a:prstGeom prst="rect">
            <a:avLst/>
          </a:prstGeom>
        </p:spPr>
      </p:pic>
    </p:spTree>
    <p:extLst>
      <p:ext uri="{BB962C8B-B14F-4D97-AF65-F5344CB8AC3E}">
        <p14:creationId xmlns:p14="http://schemas.microsoft.com/office/powerpoint/2010/main" val="339493757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Apply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key concepts, principles, and practices of risk management in analyzing a loss incident, identifying what went wrong, and determining an appropriate course of action. </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This lecture is an opportunity to apply – put into practice – some of the principles, practices, and knowledge that we have been learning the past few lectures. Specifically:</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Case 8 MMA Lac </a:t>
            </a:r>
            <a:r>
              <a:rPr lang="en-US" altLang="en-US" sz="2000" b="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Megantic</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LI, some facts</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Chapter 6.3: OH&amp;S Regulatory Framework, Engineering under Alberta OH&amp;S Code, Part 3 Specifications and Certifications, Section 12 Following specifications</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Chapter 6.9: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Professionalism, Ethics and Equity, Integrity, Conflict of Interest – Your Professional Responsibilities</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Learning Outcomes </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592000" y="6300000"/>
            <a:ext cx="5868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6.9: </a:t>
            </a:r>
            <a:r>
              <a:rPr lang="en-US" sz="1200" i="1" kern="0" dirty="0">
                <a:solidFill>
                  <a:srgbClr val="000000"/>
                </a:solidFill>
                <a:ea typeface="Times New Roman"/>
                <a:cs typeface="Arial" panose="020B0604020202020204" pitchFamily="34" charset="0"/>
                <a:sym typeface="Times New Roman"/>
              </a:rPr>
              <a:t>Professionalism, </a:t>
            </a:r>
            <a:r>
              <a:rPr lang="en-US" sz="1200" i="1" kern="0" dirty="0" smtClean="0">
                <a:solidFill>
                  <a:srgbClr val="000000"/>
                </a:solidFill>
                <a:ea typeface="Times New Roman"/>
                <a:cs typeface="Arial" panose="020B0604020202020204" pitchFamily="34" charset="0"/>
                <a:sym typeface="Times New Roman"/>
              </a:rPr>
              <a:t>Applications, </a:t>
            </a:r>
            <a:r>
              <a:rPr lang="en-US" sz="1200" i="1" kern="0" dirty="0">
                <a:solidFill>
                  <a:srgbClr val="000000"/>
                </a:solidFill>
                <a:ea typeface="Times New Roman"/>
                <a:cs typeface="Arial" panose="020B0604020202020204" pitchFamily="34" charset="0"/>
                <a:sym typeface="Times New Roman"/>
              </a:rPr>
              <a:t>and </a:t>
            </a:r>
            <a:r>
              <a:rPr lang="en-US" sz="1200" i="1" kern="0" dirty="0" smtClean="0">
                <a:solidFill>
                  <a:srgbClr val="000000"/>
                </a:solidFill>
                <a:ea typeface="Times New Roman"/>
                <a:cs typeface="Arial" panose="020B0604020202020204" pitchFamily="34" charset="0"/>
                <a:sym typeface="Times New Roman"/>
              </a:rPr>
              <a:t>Professional Responsibilities</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7341274"/>
      </p:ext>
    </p:extLst>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a:solidFill>
                  <a:srgbClr val="333399"/>
                </a:solidFill>
                <a:latin typeface="Arial" panose="020B0604020202020204" pitchFamily="34" charset="0"/>
                <a:cs typeface="Arial" panose="020B0604020202020204" pitchFamily="34" charset="0"/>
              </a:rPr>
              <a:t>APEGA Code of Ethics </a:t>
            </a:r>
            <a:r>
              <a:rPr lang="en-US" altLang="en-US" sz="2400" b="0" dirty="0" smtClean="0">
                <a:solidFill>
                  <a:srgbClr val="333399"/>
                </a:solidFill>
                <a:latin typeface="Arial" panose="020B0604020202020204" pitchFamily="34" charset="0"/>
                <a:cs typeface="Arial" panose="020B0604020202020204" pitchFamily="34" charset="0"/>
              </a:rPr>
              <a:t>(Rules of Conduct) – </a:t>
            </a:r>
            <a:r>
              <a:rPr lang="en-US" altLang="en-US" sz="2400" b="0" dirty="0">
                <a:solidFill>
                  <a:srgbClr val="333399"/>
                </a:solidFill>
                <a:latin typeface="Arial" panose="020B0604020202020204" pitchFamily="34" charset="0"/>
                <a:cs typeface="Arial" panose="020B0604020202020204" pitchFamily="34" charset="0"/>
              </a:rPr>
              <a:t>An </a:t>
            </a:r>
            <a:r>
              <a:rPr lang="en-US" altLang="en-US" sz="2400" b="0" dirty="0" smtClean="0">
                <a:solidFill>
                  <a:srgbClr val="333399"/>
                </a:solidFill>
                <a:latin typeface="Arial" panose="020B0604020202020204" pitchFamily="34" charset="0"/>
                <a:cs typeface="Arial" panose="020B0604020202020204" pitchFamily="34" charset="0"/>
              </a:rPr>
              <a:t>Excerpt:</a:t>
            </a:r>
            <a:endParaRPr lang="en-US" altLang="en-US" sz="2400" b="0" dirty="0">
              <a:solidFill>
                <a:srgbClr val="333399"/>
              </a:solidFill>
              <a:latin typeface="Arial" panose="020B0604020202020204" pitchFamily="34" charset="0"/>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6.9: Professionalism, Ethics and Equity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pic>
        <p:nvPicPr>
          <p:cNvPr id="6" name="Picture 5" descr="AB_EGP_CodeofEthic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29836" y="914400"/>
            <a:ext cx="6123564" cy="521208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7" name="Right Arrow 6"/>
          <p:cNvSpPr/>
          <p:nvPr/>
        </p:nvSpPr>
        <p:spPr bwMode="auto">
          <a:xfrm>
            <a:off x="490596" y="2956290"/>
            <a:ext cx="1600200" cy="693191"/>
          </a:xfrm>
          <a:prstGeom prst="rightArrow">
            <a:avLst/>
          </a:prstGeom>
          <a:solidFill>
            <a:srgbClr val="0033CC"/>
          </a:solidFill>
          <a:ln w="9525" cap="flat" cmpd="sng" algn="ctr">
            <a:solidFill>
              <a:srgbClr val="0033CC"/>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Times New Roman" pitchFamily="18" charset="0"/>
                <a:ea typeface="+mn-ea"/>
                <a:cs typeface="+mn-cs"/>
              </a:rPr>
              <a:t>Engineering</a:t>
            </a:r>
          </a:p>
        </p:txBody>
      </p:sp>
      <p:sp>
        <p:nvSpPr>
          <p:cNvPr id="10" name="Right Arrow 9"/>
          <p:cNvSpPr/>
          <p:nvPr/>
        </p:nvSpPr>
        <p:spPr bwMode="auto">
          <a:xfrm>
            <a:off x="527903" y="3526022"/>
            <a:ext cx="1600200" cy="693191"/>
          </a:xfrm>
          <a:prstGeom prst="rightArrow">
            <a:avLst/>
          </a:prstGeom>
          <a:solidFill>
            <a:srgbClr val="0033CC"/>
          </a:solidFill>
          <a:ln w="9525" cap="flat" cmpd="sng" algn="ctr">
            <a:solidFill>
              <a:srgbClr val="0033CC"/>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err="1">
                <a:ln>
                  <a:noFill/>
                </a:ln>
                <a:solidFill>
                  <a:srgbClr val="FFFFFF"/>
                </a:solidFill>
                <a:effectLst/>
                <a:uLnTx/>
                <a:uFillTx/>
                <a:latin typeface="Times New Roman" pitchFamily="18" charset="0"/>
                <a:ea typeface="+mn-ea"/>
                <a:cs typeface="+mn-cs"/>
              </a:rPr>
              <a:t>Flixborough</a:t>
            </a:r>
            <a:endParaRPr kumimoji="0" lang="en-US" sz="2000" b="0" i="0" u="none" strike="noStrike" kern="1200" cap="none" spc="0" normalizeH="0" baseline="0" noProof="0" dirty="0">
              <a:ln>
                <a:noFill/>
              </a:ln>
              <a:solidFill>
                <a:srgbClr val="FFFFFF"/>
              </a:solidFill>
              <a:effectLst/>
              <a:uLnTx/>
              <a:uFillTx/>
              <a:latin typeface="Times New Roman" pitchFamily="18" charset="0"/>
              <a:ea typeface="+mn-ea"/>
              <a:cs typeface="+mn-cs"/>
            </a:endParaRPr>
          </a:p>
        </p:txBody>
      </p:sp>
      <p:sp>
        <p:nvSpPr>
          <p:cNvPr id="11" name="Right Arrow 10"/>
          <p:cNvSpPr/>
          <p:nvPr/>
        </p:nvSpPr>
        <p:spPr bwMode="auto">
          <a:xfrm>
            <a:off x="76201" y="4419600"/>
            <a:ext cx="2051902" cy="1334950"/>
          </a:xfrm>
          <a:prstGeom prst="rightArrow">
            <a:avLst/>
          </a:prstGeom>
          <a:solidFill>
            <a:srgbClr val="FF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r"/>
            <a:r>
              <a:rPr lang="en-US" sz="2000" b="0" i="1" dirty="0" smtClean="0">
                <a:solidFill>
                  <a:srgbClr val="FFFFFF"/>
                </a:solidFill>
                <a:latin typeface="Times New Roman" pitchFamily="18" charset="0"/>
              </a:rPr>
              <a:t>Discuss </a:t>
            </a:r>
            <a:br>
              <a:rPr lang="en-US" sz="2000" b="0" i="1" dirty="0" smtClean="0">
                <a:solidFill>
                  <a:srgbClr val="FFFFFF"/>
                </a:solidFill>
                <a:latin typeface="Times New Roman" pitchFamily="18" charset="0"/>
              </a:rPr>
            </a:br>
            <a:r>
              <a:rPr lang="en-US" sz="2000" b="0" i="1" dirty="0" smtClean="0">
                <a:solidFill>
                  <a:srgbClr val="FFFFFF"/>
                </a:solidFill>
                <a:latin typeface="Times New Roman" pitchFamily="18" charset="0"/>
              </a:rPr>
              <a:t>APEGA &amp; OHS</a:t>
            </a:r>
            <a:endParaRPr lang="en-US" sz="2000" b="0" i="1" dirty="0">
              <a:solidFill>
                <a:srgbClr val="FFFFFF"/>
              </a:solidFill>
              <a:latin typeface="Times New Roman" pitchFamily="18" charset="0"/>
            </a:endParaRPr>
          </a:p>
        </p:txBody>
      </p:sp>
      <p:sp>
        <p:nvSpPr>
          <p:cNvPr id="14" name="Rounded Rectangle 13"/>
          <p:cNvSpPr/>
          <p:nvPr/>
        </p:nvSpPr>
        <p:spPr bwMode="auto">
          <a:xfrm>
            <a:off x="2090796" y="4770120"/>
            <a:ext cx="6062604" cy="640080"/>
          </a:xfrm>
          <a:prstGeom prst="roundRect">
            <a:avLst/>
          </a:prstGeom>
          <a:noFill/>
          <a:ln w="57150"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2400" b="0" i="0" u="none" strike="noStrike" kern="1200" cap="none" spc="0" normalizeH="0" baseline="0" noProof="0">
              <a:ln>
                <a:noFill/>
              </a:ln>
              <a:solidFill>
                <a:prstClr val="black"/>
              </a:solidFill>
              <a:effectLst/>
              <a:uLnTx/>
              <a:uFillTx/>
              <a:latin typeface="Times New Roman" pitchFamily="18" charset="0"/>
              <a:ea typeface="+mn-ea"/>
              <a:cs typeface="+mn-cs"/>
            </a:endParaRPr>
          </a:p>
        </p:txBody>
      </p:sp>
      <p:sp>
        <p:nvSpPr>
          <p:cNvPr id="15" name="Right Arrow 14"/>
          <p:cNvSpPr/>
          <p:nvPr/>
        </p:nvSpPr>
        <p:spPr bwMode="auto">
          <a:xfrm>
            <a:off x="500471" y="4148071"/>
            <a:ext cx="1600200" cy="693191"/>
          </a:xfrm>
          <a:prstGeom prst="rightArrow">
            <a:avLst/>
          </a:prstGeom>
          <a:solidFill>
            <a:srgbClr val="0033CC"/>
          </a:solidFill>
          <a:ln w="9525" cap="flat" cmpd="sng" algn="ctr">
            <a:solidFill>
              <a:srgbClr val="0033CC"/>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2000" b="0" dirty="0" smtClean="0">
                <a:solidFill>
                  <a:srgbClr val="FFFFFF"/>
                </a:solidFill>
                <a:latin typeface="Times New Roman" pitchFamily="18" charset="0"/>
              </a:rPr>
              <a:t>Ethics</a:t>
            </a:r>
            <a:endParaRPr kumimoji="0" lang="en-US" sz="2000" b="0" i="0" u="none" strike="noStrike" kern="1200" cap="none" spc="0" normalizeH="0" baseline="0" noProof="0" dirty="0">
              <a:ln>
                <a:noFill/>
              </a:ln>
              <a:solidFill>
                <a:srgbClr val="FFFFFF"/>
              </a:solidFill>
              <a:effectLst/>
              <a:uLnTx/>
              <a:uFillTx/>
              <a:latin typeface="Times New Roman" pitchFamily="18" charset="0"/>
              <a:ea typeface="+mn-ea"/>
              <a:cs typeface="+mn-cs"/>
            </a:endParaRPr>
          </a:p>
        </p:txBody>
      </p:sp>
    </p:spTree>
    <p:extLst>
      <p:ext uri="{BB962C8B-B14F-4D97-AF65-F5344CB8AC3E}">
        <p14:creationId xmlns:p14="http://schemas.microsoft.com/office/powerpoint/2010/main" val="878334260"/>
      </p:ext>
    </p:extLst>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lvl="0" indent="-360000" eaLnBrk="0" hangingPunct="0">
              <a:lnSpc>
                <a:spcPct val="100000"/>
              </a:lnSpc>
              <a:spcBef>
                <a:spcPts val="0"/>
              </a:spcBef>
              <a:buClrTx/>
              <a:buFont typeface="Wingdings" panose="05000000000000000000" pitchFamily="2" charset="2"/>
              <a:buChar char="Ø"/>
            </a:pPr>
            <a:r>
              <a:rPr lang="en-US" b="0" kern="0" dirty="0" smtClean="0">
                <a:solidFill>
                  <a:srgbClr val="000000"/>
                </a:solidFill>
                <a:latin typeface="Arial" panose="020B0604020202020204" pitchFamily="34" charset="0"/>
                <a:cs typeface="Arial" panose="020B0604020202020204" pitchFamily="34" charset="0"/>
              </a:rPr>
              <a:t>In </a:t>
            </a:r>
            <a:r>
              <a:rPr lang="en-US" b="0" kern="0" dirty="0">
                <a:solidFill>
                  <a:srgbClr val="000000"/>
                </a:solidFill>
                <a:latin typeface="Arial" panose="020B0604020202020204" pitchFamily="34" charset="0"/>
                <a:cs typeface="Arial" panose="020B0604020202020204" pitchFamily="34" charset="0"/>
              </a:rPr>
              <a:t>October 2012, eight months before this </a:t>
            </a:r>
            <a:r>
              <a:rPr lang="en-US" b="0" kern="0" dirty="0" smtClean="0">
                <a:solidFill>
                  <a:srgbClr val="000000"/>
                </a:solidFill>
                <a:latin typeface="Arial" panose="020B0604020202020204" pitchFamily="34" charset="0"/>
                <a:cs typeface="Arial" panose="020B0604020202020204" pitchFamily="34" charset="0"/>
              </a:rPr>
              <a:t>incident, </a:t>
            </a:r>
            <a:r>
              <a:rPr lang="en-US" b="0" kern="0" dirty="0">
                <a:solidFill>
                  <a:srgbClr val="000000"/>
                </a:solidFill>
                <a:latin typeface="Arial" panose="020B0604020202020204" pitchFamily="34" charset="0"/>
                <a:cs typeface="Arial" panose="020B0604020202020204" pitchFamily="34" charset="0"/>
              </a:rPr>
              <a:t>the lead locomotive was sent to MMA’s repair shop following an engine failure.</a:t>
            </a:r>
          </a:p>
          <a:p>
            <a:pPr marL="360000" lvl="0" indent="-360000" eaLnBrk="0" hangingPunct="0">
              <a:lnSpc>
                <a:spcPct val="100000"/>
              </a:lnSpc>
              <a:spcBef>
                <a:spcPts val="0"/>
              </a:spcBef>
              <a:buClrTx/>
              <a:buFont typeface="Wingdings" panose="05000000000000000000" pitchFamily="2" charset="2"/>
              <a:buChar char="Ø"/>
            </a:pPr>
            <a:r>
              <a:rPr lang="en-US" b="0" kern="0" dirty="0">
                <a:solidFill>
                  <a:srgbClr val="000000"/>
                </a:solidFill>
                <a:latin typeface="Arial" panose="020B0604020202020204" pitchFamily="34" charset="0"/>
                <a:cs typeface="Arial" panose="020B0604020202020204" pitchFamily="34" charset="0"/>
              </a:rPr>
              <a:t>Given the </a:t>
            </a:r>
            <a:r>
              <a:rPr lang="en-US" b="0" u="sng" kern="0" dirty="0">
                <a:solidFill>
                  <a:srgbClr val="000000"/>
                </a:solidFill>
                <a:latin typeface="Arial" panose="020B0604020202020204" pitchFamily="34" charset="0"/>
                <a:cs typeface="Arial" panose="020B0604020202020204" pitchFamily="34" charset="0"/>
              </a:rPr>
              <a:t>significant time and cost of a standard repair</a:t>
            </a:r>
            <a:r>
              <a:rPr lang="en-US" b="0" kern="0" dirty="0">
                <a:solidFill>
                  <a:srgbClr val="000000"/>
                </a:solidFill>
                <a:latin typeface="Arial" panose="020B0604020202020204" pitchFamily="34" charset="0"/>
                <a:cs typeface="Arial" panose="020B0604020202020204" pitchFamily="34" charset="0"/>
              </a:rPr>
              <a:t>, and the </a:t>
            </a:r>
            <a:r>
              <a:rPr lang="en-US" b="0" u="sng" kern="0" dirty="0">
                <a:solidFill>
                  <a:srgbClr val="000000"/>
                </a:solidFill>
                <a:latin typeface="Arial" panose="020B0604020202020204" pitchFamily="34" charset="0"/>
                <a:cs typeface="Arial" panose="020B0604020202020204" pitchFamily="34" charset="0"/>
              </a:rPr>
              <a:t>pressure to return</a:t>
            </a:r>
            <a:r>
              <a:rPr lang="en-US" b="0" kern="0" dirty="0">
                <a:solidFill>
                  <a:srgbClr val="000000"/>
                </a:solidFill>
                <a:latin typeface="Arial" panose="020B0604020202020204" pitchFamily="34" charset="0"/>
                <a:cs typeface="Arial" panose="020B0604020202020204" pitchFamily="34" charset="0"/>
              </a:rPr>
              <a:t> the locomotive to service (RTS), the </a:t>
            </a:r>
            <a:r>
              <a:rPr lang="en-US" b="0" u="sng" kern="0" dirty="0">
                <a:solidFill>
                  <a:srgbClr val="000000"/>
                </a:solidFill>
                <a:latin typeface="Arial" panose="020B0604020202020204" pitchFamily="34" charset="0"/>
                <a:cs typeface="Arial" panose="020B0604020202020204" pitchFamily="34" charset="0"/>
              </a:rPr>
              <a:t>engine was repaired with an epoxy-metal-like material</a:t>
            </a:r>
            <a:r>
              <a:rPr lang="en-US" b="0" kern="0" dirty="0">
                <a:solidFill>
                  <a:srgbClr val="000000"/>
                </a:solidFill>
                <a:latin typeface="Arial" panose="020B0604020202020204" pitchFamily="34" charset="0"/>
                <a:cs typeface="Arial" panose="020B0604020202020204" pitchFamily="34" charset="0"/>
              </a:rPr>
              <a:t> that</a:t>
            </a:r>
            <a:r>
              <a:rPr lang="en-US" b="0" u="sng" kern="0" dirty="0">
                <a:solidFill>
                  <a:srgbClr val="000000"/>
                </a:solidFill>
                <a:latin typeface="Arial" panose="020B0604020202020204" pitchFamily="34" charset="0"/>
                <a:cs typeface="Arial" panose="020B0604020202020204" pitchFamily="34" charset="0"/>
              </a:rPr>
              <a:t> lacked the required strength and durability</a:t>
            </a:r>
            <a:r>
              <a:rPr lang="en-US" b="0" kern="0" dirty="0">
                <a:solidFill>
                  <a:srgbClr val="000000"/>
                </a:solidFill>
                <a:latin typeface="Arial" panose="020B0604020202020204" pitchFamily="34" charset="0"/>
                <a:cs typeface="Arial" panose="020B0604020202020204" pitchFamily="34" charset="0"/>
              </a:rPr>
              <a:t> i.e. a temporary repair. </a:t>
            </a:r>
          </a:p>
          <a:p>
            <a:pPr marL="360000" lvl="0" indent="-360000" eaLnBrk="0" hangingPunct="0">
              <a:lnSpc>
                <a:spcPct val="100000"/>
              </a:lnSpc>
              <a:spcBef>
                <a:spcPts val="0"/>
              </a:spcBef>
              <a:buClrTx/>
              <a:buFont typeface="Wingdings" panose="05000000000000000000" pitchFamily="2" charset="2"/>
              <a:buChar char="Ø"/>
            </a:pPr>
            <a:r>
              <a:rPr lang="en-US" b="0" kern="0" dirty="0">
                <a:solidFill>
                  <a:srgbClr val="000000"/>
                </a:solidFill>
                <a:latin typeface="Arial" panose="020B0604020202020204" pitchFamily="34" charset="0"/>
                <a:cs typeface="Arial" panose="020B0604020202020204" pitchFamily="34" charset="0"/>
              </a:rPr>
              <a:t>This </a:t>
            </a:r>
            <a:r>
              <a:rPr lang="en-US" b="0" u="sng" kern="0" dirty="0">
                <a:solidFill>
                  <a:srgbClr val="000000"/>
                </a:solidFill>
                <a:latin typeface="Arial" panose="020B0604020202020204" pitchFamily="34" charset="0"/>
                <a:cs typeface="Arial" panose="020B0604020202020204" pitchFamily="34" charset="0"/>
              </a:rPr>
              <a:t>material failed in service, (8 months later)</a:t>
            </a:r>
            <a:r>
              <a:rPr lang="en-US" b="0" kern="0" dirty="0">
                <a:solidFill>
                  <a:srgbClr val="000000"/>
                </a:solidFill>
                <a:latin typeface="Arial" panose="020B0604020202020204" pitchFamily="34" charset="0"/>
                <a:cs typeface="Arial" panose="020B0604020202020204" pitchFamily="34" charset="0"/>
              </a:rPr>
              <a:t> leading to engine surges and excessive black and white smoke.</a:t>
            </a:r>
          </a:p>
          <a:p>
            <a:pPr marL="360000" lvl="0" indent="-360000" eaLnBrk="0" hangingPunct="0">
              <a:lnSpc>
                <a:spcPct val="100000"/>
              </a:lnSpc>
              <a:spcBef>
                <a:spcPts val="0"/>
              </a:spcBef>
              <a:buClrTx/>
              <a:buFont typeface="Wingdings" panose="05000000000000000000" pitchFamily="2" charset="2"/>
              <a:buChar char="Ø"/>
            </a:pPr>
            <a:r>
              <a:rPr lang="en-US" b="0" kern="0" dirty="0">
                <a:solidFill>
                  <a:srgbClr val="000000"/>
                </a:solidFill>
                <a:latin typeface="Arial" panose="020B0604020202020204" pitchFamily="34" charset="0"/>
                <a:cs typeface="Arial" panose="020B0604020202020204" pitchFamily="34" charset="0"/>
              </a:rPr>
              <a:t>Eventually, </a:t>
            </a:r>
            <a:r>
              <a:rPr lang="en-US" b="0" u="sng" kern="0" dirty="0">
                <a:solidFill>
                  <a:srgbClr val="000000"/>
                </a:solidFill>
                <a:latin typeface="Arial" panose="020B0604020202020204" pitchFamily="34" charset="0"/>
                <a:cs typeface="Arial" panose="020B0604020202020204" pitchFamily="34" charset="0"/>
              </a:rPr>
              <a:t>oil began to accumulate</a:t>
            </a:r>
            <a:r>
              <a:rPr lang="en-US" b="0" kern="0" dirty="0">
                <a:solidFill>
                  <a:srgbClr val="000000"/>
                </a:solidFill>
                <a:latin typeface="Arial" panose="020B0604020202020204" pitchFamily="34" charset="0"/>
                <a:cs typeface="Arial" panose="020B0604020202020204" pitchFamily="34" charset="0"/>
              </a:rPr>
              <a:t> in the body of the turbocharger, where it </a:t>
            </a:r>
            <a:r>
              <a:rPr lang="en-US" b="0" u="sng" kern="0" dirty="0">
                <a:solidFill>
                  <a:srgbClr val="000000"/>
                </a:solidFill>
                <a:latin typeface="Arial" panose="020B0604020202020204" pitchFamily="34" charset="0"/>
                <a:cs typeface="Arial" panose="020B0604020202020204" pitchFamily="34" charset="0"/>
              </a:rPr>
              <a:t>overheated and caught  fire</a:t>
            </a:r>
            <a:r>
              <a:rPr lang="en-US" b="0" kern="0" dirty="0">
                <a:solidFill>
                  <a:srgbClr val="000000"/>
                </a:solidFill>
                <a:latin typeface="Arial" panose="020B0604020202020204" pitchFamily="34" charset="0"/>
                <a:cs typeface="Arial" panose="020B0604020202020204" pitchFamily="34" charset="0"/>
              </a:rPr>
              <a:t> on the night of the </a:t>
            </a:r>
            <a:r>
              <a:rPr lang="en-US" b="0" kern="0" dirty="0" smtClean="0">
                <a:solidFill>
                  <a:srgbClr val="000000"/>
                </a:solidFill>
                <a:latin typeface="Arial" panose="020B0604020202020204" pitchFamily="34" charset="0"/>
                <a:cs typeface="Arial" panose="020B0604020202020204" pitchFamily="34" charset="0"/>
              </a:rPr>
              <a:t>incident.</a:t>
            </a:r>
            <a:endParaRPr lang="en-US" b="0" kern="0" dirty="0">
              <a:solidFill>
                <a:srgbClr val="000000"/>
              </a:solidFill>
              <a:latin typeface="Arial" panose="020B0604020202020204" pitchFamily="34" charset="0"/>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Case 8 Lac-</a:t>
            </a:r>
            <a:r>
              <a:rPr lang="en-US" altLang="en-US" sz="2400" b="0" dirty="0" err="1">
                <a:solidFill>
                  <a:schemeClr val="accent2"/>
                </a:solidFill>
                <a:latin typeface="Arial" panose="020B0604020202020204" pitchFamily="34" charset="0"/>
                <a:ea typeface="+mj-ea"/>
                <a:cs typeface="Arial" panose="020B0604020202020204" pitchFamily="34" charset="0"/>
              </a:rPr>
              <a:t>Mégantic</a:t>
            </a:r>
            <a:r>
              <a:rPr lang="en-US" altLang="en-US" sz="2400" b="0" dirty="0">
                <a:solidFill>
                  <a:schemeClr val="accent2"/>
                </a:solidFill>
                <a:latin typeface="Arial" panose="020B0604020202020204" pitchFamily="34" charset="0"/>
                <a:ea typeface="+mj-ea"/>
                <a:cs typeface="Arial" panose="020B0604020202020204" pitchFamily="34" charset="0"/>
              </a:rPr>
              <a:t> / MMA Train </a:t>
            </a:r>
            <a:r>
              <a:rPr lang="en-US" altLang="en-US" sz="2400" b="0" dirty="0" smtClean="0">
                <a:solidFill>
                  <a:schemeClr val="accent2"/>
                </a:solidFill>
                <a:latin typeface="Arial" panose="020B0604020202020204" pitchFamily="34" charset="0"/>
                <a:ea typeface="+mj-ea"/>
                <a:cs typeface="Arial" panose="020B0604020202020204" pitchFamily="34" charset="0"/>
              </a:rPr>
              <a:t>Disaster – Some Facts</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4</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592000" y="6300000"/>
            <a:ext cx="5868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6.9: </a:t>
            </a:r>
            <a:r>
              <a:rPr lang="en-US" sz="1200" i="1" kern="0" dirty="0">
                <a:solidFill>
                  <a:srgbClr val="000000"/>
                </a:solidFill>
                <a:ea typeface="Times New Roman"/>
                <a:cs typeface="Arial" panose="020B0604020202020204" pitchFamily="34" charset="0"/>
                <a:sym typeface="Times New Roman"/>
              </a:rPr>
              <a:t>Professionalism, </a:t>
            </a:r>
            <a:r>
              <a:rPr lang="en-US" sz="1200" i="1" kern="0" dirty="0" smtClean="0">
                <a:solidFill>
                  <a:srgbClr val="000000"/>
                </a:solidFill>
                <a:ea typeface="Times New Roman"/>
                <a:cs typeface="Arial" panose="020B0604020202020204" pitchFamily="34" charset="0"/>
                <a:sym typeface="Times New Roman"/>
              </a:rPr>
              <a:t>Applications, </a:t>
            </a:r>
            <a:r>
              <a:rPr lang="en-US" sz="1200" i="1" kern="0" dirty="0">
                <a:solidFill>
                  <a:srgbClr val="000000"/>
                </a:solidFill>
                <a:ea typeface="Times New Roman"/>
                <a:cs typeface="Arial" panose="020B0604020202020204" pitchFamily="34" charset="0"/>
                <a:sym typeface="Times New Roman"/>
              </a:rPr>
              <a:t>and </a:t>
            </a:r>
            <a:r>
              <a:rPr lang="en-US" sz="1200" i="1" kern="0" dirty="0" smtClean="0">
                <a:solidFill>
                  <a:srgbClr val="000000"/>
                </a:solidFill>
                <a:ea typeface="Times New Roman"/>
                <a:cs typeface="Arial" panose="020B0604020202020204" pitchFamily="34" charset="0"/>
                <a:sym typeface="Times New Roman"/>
              </a:rPr>
              <a:t>Professional Responsibilities</a:t>
            </a:r>
            <a:endParaRPr lang="en-US" sz="1200" i="1" kern="0" dirty="0">
              <a:solidFill>
                <a:srgbClr val="000000"/>
              </a:solidFill>
              <a:ea typeface="Times New Roman"/>
              <a:cs typeface="Arial" panose="020B0604020202020204" pitchFamily="34" charset="0"/>
              <a:sym typeface="Times New Roman"/>
            </a:endParaRPr>
          </a:p>
        </p:txBody>
      </p:sp>
      <p:sp>
        <p:nvSpPr>
          <p:cNvPr id="6" name="Rounded Rectangular Callout 5"/>
          <p:cNvSpPr/>
          <p:nvPr/>
        </p:nvSpPr>
        <p:spPr>
          <a:xfrm>
            <a:off x="304800" y="4572000"/>
            <a:ext cx="2909686" cy="1491685"/>
          </a:xfrm>
          <a:prstGeom prst="wedgeRoundRectCallout">
            <a:avLst>
              <a:gd name="adj1" fmla="val 42605"/>
              <a:gd name="adj2" fmla="val -90671"/>
              <a:gd name="adj3" fmla="val 16667"/>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600" b="0" i="1" dirty="0" smtClean="0"/>
              <a:t>This is the equivalent of  Process </a:t>
            </a:r>
            <a:r>
              <a:rPr lang="en-US" sz="1600" b="0" i="1" dirty="0"/>
              <a:t>S</a:t>
            </a:r>
            <a:r>
              <a:rPr lang="en-US" sz="1600" b="0" i="1" dirty="0" smtClean="0"/>
              <a:t>afety LI in </a:t>
            </a:r>
            <a:r>
              <a:rPr lang="en-US" sz="1600" b="0" i="1" dirty="0" err="1" smtClean="0"/>
              <a:t>MechE</a:t>
            </a:r>
            <a:r>
              <a:rPr lang="en-US" sz="1600" b="0" i="1" dirty="0" smtClean="0"/>
              <a:t>. … the “triggering event”</a:t>
            </a:r>
            <a:endParaRPr lang="en-US" sz="1600" b="0" i="1" dirty="0"/>
          </a:p>
        </p:txBody>
      </p:sp>
      <p:pic>
        <p:nvPicPr>
          <p:cNvPr id="7" name="Google Shape;199;p11"/>
          <p:cNvPicPr preferRelativeResize="0">
            <a:picLocks noChangeAspect="1"/>
          </p:cNvPicPr>
          <p:nvPr/>
        </p:nvPicPr>
        <p:blipFill rotWithShape="1">
          <a:blip r:embed="rId3">
            <a:alphaModFix/>
          </a:blip>
          <a:srcRect/>
          <a:stretch/>
        </p:blipFill>
        <p:spPr>
          <a:xfrm>
            <a:off x="3306850" y="4322526"/>
            <a:ext cx="3874671" cy="1741159"/>
          </a:xfrm>
          <a:prstGeom prst="rect">
            <a:avLst/>
          </a:prstGeom>
          <a:noFill/>
          <a:ln>
            <a:noFill/>
          </a:ln>
        </p:spPr>
      </p:pic>
      <p:pic>
        <p:nvPicPr>
          <p:cNvPr id="2" name="Picture 1"/>
          <p:cNvPicPr>
            <a:picLocks noChangeAspect="1"/>
          </p:cNvPicPr>
          <p:nvPr/>
        </p:nvPicPr>
        <p:blipFill>
          <a:blip r:embed="rId4"/>
          <a:stretch>
            <a:fillRect/>
          </a:stretch>
        </p:blipFill>
        <p:spPr>
          <a:xfrm>
            <a:off x="1438625" y="5498948"/>
            <a:ext cx="609600" cy="564737"/>
          </a:xfrm>
          <a:prstGeom prst="rect">
            <a:avLst/>
          </a:prstGeom>
        </p:spPr>
      </p:pic>
      <p:pic>
        <p:nvPicPr>
          <p:cNvPr id="11" name="Picture 10"/>
          <p:cNvPicPr>
            <a:picLocks noChangeAspect="1"/>
          </p:cNvPicPr>
          <p:nvPr/>
        </p:nvPicPr>
        <p:blipFill>
          <a:blip r:embed="rId5"/>
          <a:stretch>
            <a:fillRect/>
          </a:stretch>
        </p:blipFill>
        <p:spPr>
          <a:xfrm>
            <a:off x="7449671" y="4322525"/>
            <a:ext cx="1103051" cy="1741159"/>
          </a:xfrm>
          <a:prstGeom prst="rect">
            <a:avLst/>
          </a:prstGeom>
        </p:spPr>
      </p:pic>
    </p:spTree>
    <p:extLst>
      <p:ext uri="{BB962C8B-B14F-4D97-AF65-F5344CB8AC3E}">
        <p14:creationId xmlns:p14="http://schemas.microsoft.com/office/powerpoint/2010/main" val="2102589428"/>
      </p:ext>
    </p:extLst>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eaLnBrk="0" hangingPunct="0">
              <a:lnSpc>
                <a:spcPct val="100000"/>
              </a:lnSpc>
              <a:spcBef>
                <a:spcPct val="0"/>
              </a:spcBef>
              <a:buClr>
                <a:srgbClr val="000000"/>
              </a:buClr>
              <a:buSzPct val="100000"/>
              <a:buNone/>
              <a:defRPr/>
            </a:pPr>
            <a:endParaRPr lang="en-US" altLang="en-US" dirty="0" smtClean="0">
              <a:solidFill>
                <a:srgbClr val="000000"/>
              </a:solidFill>
              <a:latin typeface="Arial" panose="020B0604020202020204" pitchFamily="34" charset="0"/>
              <a:cs typeface="Arial" panose="020B0604020202020204" pitchFamily="34" charset="0"/>
            </a:endParaRPr>
          </a:p>
          <a:p>
            <a:pPr marL="0" lvl="0" indent="0" eaLnBrk="0" hangingPunct="0">
              <a:lnSpc>
                <a:spcPct val="100000"/>
              </a:lnSpc>
              <a:spcBef>
                <a:spcPct val="0"/>
              </a:spcBef>
              <a:buClr>
                <a:srgbClr val="000000"/>
              </a:buClr>
              <a:buSzPct val="100000"/>
              <a:buNone/>
              <a:defRPr/>
            </a:pPr>
            <a:r>
              <a:rPr lang="en-US" altLang="en-US" dirty="0" smtClean="0">
                <a:solidFill>
                  <a:srgbClr val="000000"/>
                </a:solidFill>
                <a:latin typeface="Arial" panose="020B0604020202020204" pitchFamily="34" charset="0"/>
                <a:cs typeface="Arial" panose="020B0604020202020204" pitchFamily="34" charset="0"/>
              </a:rPr>
              <a:t>Specific </a:t>
            </a:r>
            <a:r>
              <a:rPr lang="en-US" altLang="en-US" dirty="0">
                <a:solidFill>
                  <a:srgbClr val="000000"/>
                </a:solidFill>
                <a:latin typeface="Arial" panose="020B0604020202020204" pitchFamily="34" charset="0"/>
                <a:cs typeface="Arial" panose="020B0604020202020204" pitchFamily="34" charset="0"/>
              </a:rPr>
              <a:t>responsibilities for professional engineers:</a:t>
            </a:r>
          </a:p>
          <a:p>
            <a:pPr marL="0" lvl="0" indent="0" eaLnBrk="0" hangingPunct="0">
              <a:lnSpc>
                <a:spcPct val="100000"/>
              </a:lnSpc>
              <a:spcBef>
                <a:spcPct val="0"/>
              </a:spcBef>
              <a:buClr>
                <a:srgbClr val="000000"/>
              </a:buClr>
              <a:buSzPct val="100000"/>
              <a:buNone/>
              <a:defRPr/>
            </a:pPr>
            <a:endParaRPr lang="en-US" altLang="en-US" i="1" dirty="0">
              <a:solidFill>
                <a:srgbClr val="000000"/>
              </a:solidFill>
              <a:latin typeface="Arial" panose="020B0604020202020204" pitchFamily="34" charset="0"/>
              <a:cs typeface="Arial" panose="020B0604020202020204" pitchFamily="34" charset="0"/>
            </a:endParaRPr>
          </a:p>
          <a:p>
            <a:pPr marL="0" lvl="0" indent="0" eaLnBrk="0" hangingPunct="0">
              <a:lnSpc>
                <a:spcPct val="100000"/>
              </a:lnSpc>
              <a:spcBef>
                <a:spcPct val="0"/>
              </a:spcBef>
              <a:buClr>
                <a:srgbClr val="000000"/>
              </a:buClr>
              <a:buSzPct val="100000"/>
              <a:buNone/>
              <a:defRPr/>
            </a:pPr>
            <a:r>
              <a:rPr lang="en-US" altLang="en-US" i="1" dirty="0">
                <a:solidFill>
                  <a:srgbClr val="000000"/>
                </a:solidFill>
                <a:latin typeface="Arial" panose="020B0604020202020204" pitchFamily="34" charset="0"/>
                <a:cs typeface="Arial" panose="020B0604020202020204" pitchFamily="34" charset="0"/>
              </a:rPr>
              <a:t>Part 3 Specifications and Certifications</a:t>
            </a:r>
          </a:p>
          <a:p>
            <a:pPr marL="0" lvl="0" indent="0" eaLnBrk="0" hangingPunct="0">
              <a:lnSpc>
                <a:spcPct val="100000"/>
              </a:lnSpc>
              <a:spcBef>
                <a:spcPct val="0"/>
              </a:spcBef>
              <a:buClr>
                <a:srgbClr val="000000"/>
              </a:buClr>
              <a:buSzPct val="100000"/>
              <a:buNone/>
              <a:defRPr/>
            </a:pPr>
            <a:endParaRPr lang="en-US" altLang="en-US" i="1" dirty="0">
              <a:solidFill>
                <a:srgbClr val="000000"/>
              </a:solidFill>
              <a:latin typeface="Arial" panose="020B0604020202020204" pitchFamily="34" charset="0"/>
              <a:cs typeface="Arial" panose="020B0604020202020204" pitchFamily="34" charset="0"/>
            </a:endParaRPr>
          </a:p>
          <a:p>
            <a:pPr marL="0" lvl="0" indent="0" eaLnBrk="0" hangingPunct="0">
              <a:lnSpc>
                <a:spcPct val="100000"/>
              </a:lnSpc>
              <a:spcBef>
                <a:spcPct val="0"/>
              </a:spcBef>
              <a:buClr>
                <a:srgbClr val="000000"/>
              </a:buClr>
              <a:buSzPct val="100000"/>
              <a:buNone/>
              <a:defRPr/>
            </a:pPr>
            <a:r>
              <a:rPr lang="en-US" altLang="en-US" i="1" dirty="0">
                <a:solidFill>
                  <a:srgbClr val="000000"/>
                </a:solidFill>
                <a:latin typeface="Arial" panose="020B0604020202020204" pitchFamily="34" charset="0"/>
                <a:cs typeface="Arial" panose="020B0604020202020204" pitchFamily="34" charset="0"/>
              </a:rPr>
              <a:t>12 Following specifications:</a:t>
            </a:r>
          </a:p>
          <a:p>
            <a:pPr marL="0" lvl="0" indent="0" eaLnBrk="0" hangingPunct="0">
              <a:lnSpc>
                <a:spcPct val="100000"/>
              </a:lnSpc>
              <a:spcBef>
                <a:spcPct val="0"/>
              </a:spcBef>
              <a:buClr>
                <a:srgbClr val="000000"/>
              </a:buClr>
              <a:buSzPct val="100000"/>
              <a:buNone/>
              <a:defRPr/>
            </a:pPr>
            <a:r>
              <a:rPr lang="en-US" altLang="en-US" b="0" i="1" dirty="0">
                <a:solidFill>
                  <a:srgbClr val="000000"/>
                </a:solidFill>
                <a:latin typeface="Arial" panose="020B0604020202020204" pitchFamily="34" charset="0"/>
                <a:cs typeface="Arial" panose="020B0604020202020204" pitchFamily="34" charset="0"/>
              </a:rPr>
              <a:t>An employer must ensure that</a:t>
            </a:r>
          </a:p>
          <a:p>
            <a:pPr marL="0" lvl="0" indent="0" eaLnBrk="0" hangingPunct="0">
              <a:lnSpc>
                <a:spcPct val="100000"/>
              </a:lnSpc>
              <a:spcBef>
                <a:spcPct val="0"/>
              </a:spcBef>
              <a:buClr>
                <a:srgbClr val="000000"/>
              </a:buClr>
              <a:buSzPct val="100000"/>
              <a:buNone/>
              <a:defRPr/>
            </a:pPr>
            <a:r>
              <a:rPr lang="en-US" altLang="en-US" b="0" i="1" dirty="0">
                <a:solidFill>
                  <a:srgbClr val="000000"/>
                </a:solidFill>
                <a:latin typeface="Arial" panose="020B0604020202020204" pitchFamily="34" charset="0"/>
                <a:cs typeface="Arial" panose="020B0604020202020204" pitchFamily="34" charset="0"/>
              </a:rPr>
              <a:t>(a) … (b) … (c) … </a:t>
            </a:r>
            <a:br>
              <a:rPr lang="en-US" altLang="en-US" b="0" i="1" dirty="0">
                <a:solidFill>
                  <a:srgbClr val="000000"/>
                </a:solidFill>
                <a:latin typeface="Arial" panose="020B0604020202020204" pitchFamily="34" charset="0"/>
                <a:cs typeface="Arial" panose="020B0604020202020204" pitchFamily="34" charset="0"/>
              </a:rPr>
            </a:br>
            <a:r>
              <a:rPr lang="en-US" altLang="en-US" b="0" i="1" dirty="0">
                <a:solidFill>
                  <a:srgbClr val="000000"/>
                </a:solidFill>
                <a:latin typeface="Arial" panose="020B0604020202020204" pitchFamily="34" charset="0"/>
                <a:cs typeface="Arial" panose="020B0604020202020204" pitchFamily="34" charset="0"/>
              </a:rPr>
              <a:t>(d) </a:t>
            </a:r>
            <a:r>
              <a:rPr lang="en-US" altLang="en-US" i="1" dirty="0">
                <a:solidFill>
                  <a:srgbClr val="000000"/>
                </a:solidFill>
                <a:latin typeface="Arial" panose="020B0604020202020204" pitchFamily="34" charset="0"/>
                <a:cs typeface="Arial" panose="020B0604020202020204" pitchFamily="34" charset="0"/>
              </a:rPr>
              <a:t>equipment</a:t>
            </a:r>
            <a:r>
              <a:rPr lang="en-US" altLang="en-US" b="0" i="1" dirty="0">
                <a:solidFill>
                  <a:srgbClr val="000000"/>
                </a:solidFill>
                <a:latin typeface="Arial" panose="020B0604020202020204" pitchFamily="34" charset="0"/>
                <a:cs typeface="Arial" panose="020B0604020202020204" pitchFamily="34" charset="0"/>
              </a:rPr>
              <a:t> and supplies are erected, installed, assembled, started, operated, handled, stored, serviced, tested, adjusted, calibrated, maintained, </a:t>
            </a:r>
            <a:r>
              <a:rPr lang="en-US" altLang="en-US" i="1" dirty="0">
                <a:solidFill>
                  <a:srgbClr val="000000"/>
                </a:solidFill>
                <a:latin typeface="Arial" panose="020B0604020202020204" pitchFamily="34" charset="0"/>
                <a:cs typeface="Arial" panose="020B0604020202020204" pitchFamily="34" charset="0"/>
              </a:rPr>
              <a:t>repaired</a:t>
            </a:r>
            <a:r>
              <a:rPr lang="en-US" altLang="en-US" b="0" i="1" dirty="0">
                <a:solidFill>
                  <a:srgbClr val="000000"/>
                </a:solidFill>
                <a:latin typeface="Arial" panose="020B0604020202020204" pitchFamily="34" charset="0"/>
                <a:cs typeface="Arial" panose="020B0604020202020204" pitchFamily="34" charset="0"/>
              </a:rPr>
              <a:t>, and dismantled </a:t>
            </a:r>
            <a:r>
              <a:rPr lang="en-US" altLang="en-US" i="1" u="sng" dirty="0">
                <a:solidFill>
                  <a:srgbClr val="000000"/>
                </a:solidFill>
                <a:latin typeface="Arial" panose="020B0604020202020204" pitchFamily="34" charset="0"/>
                <a:cs typeface="Arial" panose="020B0604020202020204" pitchFamily="34" charset="0"/>
              </a:rPr>
              <a:t>in accordance </a:t>
            </a:r>
            <a:br>
              <a:rPr lang="en-US" altLang="en-US" i="1" u="sng" dirty="0">
                <a:solidFill>
                  <a:srgbClr val="000000"/>
                </a:solidFill>
                <a:latin typeface="Arial" panose="020B0604020202020204" pitchFamily="34" charset="0"/>
                <a:cs typeface="Arial" panose="020B0604020202020204" pitchFamily="34" charset="0"/>
              </a:rPr>
            </a:br>
            <a:r>
              <a:rPr lang="en-US" altLang="en-US" i="1" u="sng" dirty="0">
                <a:solidFill>
                  <a:srgbClr val="000000"/>
                </a:solidFill>
                <a:latin typeface="Arial" panose="020B0604020202020204" pitchFamily="34" charset="0"/>
                <a:cs typeface="Arial" panose="020B0604020202020204" pitchFamily="34" charset="0"/>
              </a:rPr>
              <a:t/>
            </a:r>
            <a:br>
              <a:rPr lang="en-US" altLang="en-US" i="1" u="sng" dirty="0">
                <a:solidFill>
                  <a:srgbClr val="000000"/>
                </a:solidFill>
                <a:latin typeface="Arial" panose="020B0604020202020204" pitchFamily="34" charset="0"/>
                <a:cs typeface="Arial" panose="020B0604020202020204" pitchFamily="34" charset="0"/>
              </a:rPr>
            </a:br>
            <a:r>
              <a:rPr lang="en-US" altLang="en-US" i="1" u="sng" dirty="0">
                <a:solidFill>
                  <a:srgbClr val="000000"/>
                </a:solidFill>
                <a:latin typeface="Arial" panose="020B0604020202020204" pitchFamily="34" charset="0"/>
                <a:cs typeface="Arial" panose="020B0604020202020204" pitchFamily="34" charset="0"/>
              </a:rPr>
              <a:t>with the manufacturer’s specifications</a:t>
            </a:r>
            <a:br>
              <a:rPr lang="en-US" altLang="en-US" i="1" u="sng" dirty="0">
                <a:solidFill>
                  <a:srgbClr val="000000"/>
                </a:solidFill>
                <a:latin typeface="Arial" panose="020B0604020202020204" pitchFamily="34" charset="0"/>
                <a:cs typeface="Arial" panose="020B0604020202020204" pitchFamily="34" charset="0"/>
              </a:rPr>
            </a:br>
            <a:r>
              <a:rPr lang="en-US" altLang="en-US" i="1" u="sng" dirty="0">
                <a:solidFill>
                  <a:srgbClr val="000000"/>
                </a:solidFill>
                <a:latin typeface="Arial" panose="020B0604020202020204" pitchFamily="34" charset="0"/>
                <a:cs typeface="Arial" panose="020B0604020202020204" pitchFamily="34" charset="0"/>
              </a:rPr>
              <a:t/>
            </a:r>
            <a:br>
              <a:rPr lang="en-US" altLang="en-US" i="1" u="sng" dirty="0">
                <a:solidFill>
                  <a:srgbClr val="000000"/>
                </a:solidFill>
                <a:latin typeface="Arial" panose="020B0604020202020204" pitchFamily="34" charset="0"/>
                <a:cs typeface="Arial" panose="020B0604020202020204" pitchFamily="34" charset="0"/>
              </a:rPr>
            </a:br>
            <a:r>
              <a:rPr lang="en-US" altLang="en-US" i="1" u="sng" dirty="0">
                <a:solidFill>
                  <a:srgbClr val="000000"/>
                </a:solidFill>
                <a:latin typeface="Arial" panose="020B0604020202020204" pitchFamily="34" charset="0"/>
                <a:cs typeface="Arial" panose="020B0604020202020204" pitchFamily="34" charset="0"/>
              </a:rPr>
              <a:t>or the specifications certified by a professional engineer</a:t>
            </a:r>
            <a:r>
              <a:rPr lang="en-US" altLang="en-US" b="0" i="1" dirty="0">
                <a:solidFill>
                  <a:srgbClr val="000000"/>
                </a:solidFill>
                <a:latin typeface="Arial" panose="020B0604020202020204" pitchFamily="34" charset="0"/>
                <a:cs typeface="Arial" panose="020B0604020202020204" pitchFamily="34" charset="0"/>
              </a:rPr>
              <a:t>.</a:t>
            </a:r>
          </a:p>
          <a:p>
            <a:pPr marL="0" lvl="0" indent="0" eaLnBrk="0" hangingPunct="0">
              <a:lnSpc>
                <a:spcPct val="100000"/>
              </a:lnSpc>
              <a:spcBef>
                <a:spcPct val="0"/>
              </a:spcBef>
              <a:buClr>
                <a:srgbClr val="000000"/>
              </a:buClr>
              <a:buSzPct val="100000"/>
              <a:buNone/>
              <a:defRPr/>
            </a:pPr>
            <a:endParaRPr lang="en-US" altLang="en-US" b="0" i="1" dirty="0">
              <a:solidFill>
                <a:srgbClr val="000000"/>
              </a:solidFill>
              <a:latin typeface="Arial" panose="020B0604020202020204" pitchFamily="34" charset="0"/>
              <a:cs typeface="Arial" panose="020B0604020202020204" pitchFamily="34" charset="0"/>
            </a:endParaRPr>
          </a:p>
        </p:txBody>
      </p:sp>
      <p:sp>
        <p:nvSpPr>
          <p:cNvPr id="9" name="Rectangle 2"/>
          <p:cNvSpPr>
            <a:spLocks noChangeArrowheads="1"/>
          </p:cNvSpPr>
          <p:nvPr/>
        </p:nvSpPr>
        <p:spPr bwMode="auto">
          <a:xfrm>
            <a:off x="180000" y="152400"/>
            <a:ext cx="8640000" cy="5676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Chapter 6.3: OH&amp;S Regulatory Framework in Canada, Engineering under Alberta OH&amp;S Code:</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5</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592000" y="6300000"/>
            <a:ext cx="5868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6.9: </a:t>
            </a:r>
            <a:r>
              <a:rPr lang="en-US" sz="1200" i="1" kern="0" dirty="0">
                <a:solidFill>
                  <a:srgbClr val="000000"/>
                </a:solidFill>
                <a:ea typeface="Times New Roman"/>
                <a:cs typeface="Arial" panose="020B0604020202020204" pitchFamily="34" charset="0"/>
                <a:sym typeface="Times New Roman"/>
              </a:rPr>
              <a:t>Professionalism, </a:t>
            </a:r>
            <a:r>
              <a:rPr lang="en-US" sz="1200" i="1" kern="0" dirty="0" smtClean="0">
                <a:solidFill>
                  <a:srgbClr val="000000"/>
                </a:solidFill>
                <a:ea typeface="Times New Roman"/>
                <a:cs typeface="Arial" panose="020B0604020202020204" pitchFamily="34" charset="0"/>
                <a:sym typeface="Times New Roman"/>
              </a:rPr>
              <a:t>Applications, </a:t>
            </a:r>
            <a:r>
              <a:rPr lang="en-US" sz="1200" i="1" kern="0" dirty="0">
                <a:solidFill>
                  <a:srgbClr val="000000"/>
                </a:solidFill>
                <a:ea typeface="Times New Roman"/>
                <a:cs typeface="Arial" panose="020B0604020202020204" pitchFamily="34" charset="0"/>
                <a:sym typeface="Times New Roman"/>
              </a:rPr>
              <a:t>and </a:t>
            </a:r>
            <a:r>
              <a:rPr lang="en-US" sz="1200" i="1" kern="0" dirty="0" smtClean="0">
                <a:solidFill>
                  <a:srgbClr val="000000"/>
                </a:solidFill>
                <a:ea typeface="Times New Roman"/>
                <a:cs typeface="Arial" panose="020B0604020202020204" pitchFamily="34" charset="0"/>
                <a:sym typeface="Times New Roman"/>
              </a:rPr>
              <a:t>Professional Responsibilities</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438518125"/>
      </p:ext>
    </p:extLst>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00"/>
          </a:solidFill>
          <a:ln>
            <a:solidFill>
              <a:srgbClr val="000000"/>
            </a:solidFill>
          </a:ln>
          <a:extLst/>
        </p:spPr>
        <p:txBody>
          <a:bodyPr wrap="square" anchor="ctr" anchorCtr="0">
            <a:noAutofit/>
          </a:bodyPr>
          <a:lstStyle/>
          <a:p>
            <a:pPr>
              <a:spcBef>
                <a:spcPts val="0"/>
              </a:spcBef>
              <a:spcAft>
                <a:spcPts val="0"/>
              </a:spcAft>
            </a:pP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Examine - Professionalism and Application:</a:t>
            </a:r>
          </a:p>
        </p:txBody>
      </p:sp>
      <p:sp>
        <p:nvSpPr>
          <p:cNvPr id="2" name="Rectangle 1"/>
          <p:cNvSpPr/>
          <p:nvPr/>
        </p:nvSpPr>
        <p:spPr>
          <a:xfrm>
            <a:off x="180000" y="828000"/>
            <a:ext cx="8640000" cy="5328000"/>
          </a:xfrm>
          <a:prstGeom prst="rect">
            <a:avLst/>
          </a:prstGeom>
          <a:solidFill>
            <a:srgbClr val="000000"/>
          </a:solidFill>
          <a:ln>
            <a:solidFill>
              <a:srgbClr val="000000"/>
            </a:solidFill>
          </a:ln>
        </p:spPr>
        <p:txBody>
          <a:bodyPr wrap="square">
            <a:noAutofit/>
          </a:bodyPr>
          <a:lstStyle/>
          <a:p>
            <a:pPr lvl="0" fontAlgn="auto">
              <a:spcBef>
                <a:spcPts val="0"/>
              </a:spcBef>
              <a:spcAft>
                <a:spcPts val="0"/>
              </a:spcAft>
              <a:buSzPct val="100000"/>
            </a:pPr>
            <a:r>
              <a:rPr lang="en-US" altLang="en-US" sz="2000" b="0" dirty="0" smtClean="0">
                <a:solidFill>
                  <a:schemeClr val="bg1"/>
                </a:solidFill>
                <a:latin typeface="Arial" panose="020B0604020202020204" pitchFamily="34" charset="0"/>
                <a:cs typeface="Arial" panose="020B0604020202020204" pitchFamily="34" charset="0"/>
              </a:rPr>
              <a:t>As </a:t>
            </a:r>
            <a:r>
              <a:rPr lang="en-US" altLang="en-US" sz="2000" b="0" dirty="0">
                <a:solidFill>
                  <a:schemeClr val="bg1"/>
                </a:solidFill>
                <a:latin typeface="Arial" panose="020B0604020202020204" pitchFamily="34" charset="0"/>
                <a:cs typeface="Arial" panose="020B0604020202020204" pitchFamily="34" charset="0"/>
              </a:rPr>
              <a:t>a professional engineer, your responsibilities can be complex.</a:t>
            </a:r>
          </a:p>
          <a:p>
            <a:pPr lvl="0" fontAlgn="auto">
              <a:spcBef>
                <a:spcPts val="0"/>
              </a:spcBef>
              <a:spcAft>
                <a:spcPts val="0"/>
              </a:spcAft>
              <a:buSzPct val="100000"/>
            </a:pPr>
            <a:endParaRPr lang="en-US" altLang="en-US" sz="2000" b="0" dirty="0">
              <a:solidFill>
                <a:schemeClr val="bg1"/>
              </a:solidFill>
              <a:latin typeface="Arial" panose="020B0604020202020204" pitchFamily="34" charset="0"/>
              <a:cs typeface="Arial" panose="020B0604020202020204" pitchFamily="34" charset="0"/>
            </a:endParaRPr>
          </a:p>
          <a:p>
            <a:pPr marL="360000" lvl="0" indent="-360000" fontAlgn="auto">
              <a:spcBef>
                <a:spcPts val="0"/>
              </a:spcBef>
              <a:spcAft>
                <a:spcPts val="0"/>
              </a:spcAft>
              <a:buSzPct val="100000"/>
              <a:buFont typeface="Wingdings" panose="05000000000000000000" pitchFamily="2" charset="2"/>
              <a:buChar char="Ø"/>
            </a:pPr>
            <a:r>
              <a:rPr lang="en-US" altLang="en-US" sz="2000" b="0" dirty="0">
                <a:solidFill>
                  <a:schemeClr val="bg1"/>
                </a:solidFill>
                <a:latin typeface="Arial" panose="020B0604020202020204" pitchFamily="34" charset="0"/>
                <a:cs typeface="Arial" panose="020B0604020202020204" pitchFamily="34" charset="0"/>
              </a:rPr>
              <a:t>Concerning the MMA RR locomotive, </a:t>
            </a:r>
            <a:r>
              <a:rPr lang="en-US" altLang="en-US" sz="2000" b="0" u="sng" dirty="0">
                <a:solidFill>
                  <a:schemeClr val="bg1"/>
                </a:solidFill>
                <a:latin typeface="Arial" panose="020B0604020202020204" pitchFamily="34" charset="0"/>
                <a:cs typeface="Arial" panose="020B0604020202020204" pitchFamily="34" charset="0"/>
              </a:rPr>
              <a:t>was the engine repaired in accordance with manufacturer’s specifications</a:t>
            </a:r>
            <a:r>
              <a:rPr lang="en-US" altLang="en-US" sz="2000" b="0" dirty="0">
                <a:solidFill>
                  <a:schemeClr val="bg1"/>
                </a:solidFill>
                <a:latin typeface="Arial" panose="020B0604020202020204" pitchFamily="34" charset="0"/>
                <a:cs typeface="Arial" panose="020B0604020202020204" pitchFamily="34" charset="0"/>
              </a:rPr>
              <a:t>? i.e. What would the OEM (original equipment manufacturer) recommend?</a:t>
            </a:r>
          </a:p>
          <a:p>
            <a:pPr marL="720000" lvl="1" indent="-360000" fontAlgn="auto">
              <a:spcBef>
                <a:spcPts val="0"/>
              </a:spcBef>
              <a:spcAft>
                <a:spcPts val="0"/>
              </a:spcAft>
              <a:buSzPct val="100000"/>
              <a:buFont typeface="Wingdings" panose="05000000000000000000" pitchFamily="2" charset="2"/>
              <a:buChar char="Ø"/>
            </a:pPr>
            <a:r>
              <a:rPr lang="en-US" altLang="en-US" sz="2000" b="0" dirty="0">
                <a:latin typeface="Arial" panose="020B0604020202020204" pitchFamily="34" charset="0"/>
                <a:cs typeface="Arial" panose="020B0604020202020204" pitchFamily="34" charset="0"/>
              </a:rPr>
              <a:t>An OEM would recommend repair using a new engine part</a:t>
            </a:r>
            <a:r>
              <a:rPr lang="en-US" altLang="en-US" sz="2000" b="0" dirty="0" smtClean="0">
                <a:latin typeface="Arial" panose="020B0604020202020204" pitchFamily="34" charset="0"/>
                <a:cs typeface="Arial" panose="020B0604020202020204" pitchFamily="34" charset="0"/>
              </a:rPr>
              <a:t>.</a:t>
            </a:r>
          </a:p>
          <a:p>
            <a:pPr marL="720000" lvl="1" indent="-360000" fontAlgn="auto">
              <a:spcBef>
                <a:spcPts val="0"/>
              </a:spcBef>
              <a:spcAft>
                <a:spcPts val="0"/>
              </a:spcAft>
              <a:buSzPct val="100000"/>
              <a:buFont typeface="Wingdings" panose="05000000000000000000" pitchFamily="2" charset="2"/>
              <a:buChar char="Ø"/>
            </a:pPr>
            <a:r>
              <a:rPr lang="en-US" altLang="en-US" sz="2000" b="0" dirty="0" smtClean="0">
                <a:latin typeface="Arial" panose="020B0604020202020204" pitchFamily="34" charset="0"/>
                <a:cs typeface="Arial" panose="020B0604020202020204" pitchFamily="34" charset="0"/>
              </a:rPr>
              <a:t>So</a:t>
            </a:r>
            <a:r>
              <a:rPr lang="en-US" altLang="en-US" sz="2000" b="0" dirty="0">
                <a:latin typeface="Arial" panose="020B0604020202020204" pitchFamily="34" charset="0"/>
                <a:cs typeface="Arial" panose="020B0604020202020204" pitchFamily="34" charset="0"/>
              </a:rPr>
              <a:t>, no, the repair was more than likely NOT repaired in accordance with manufacturer’s specifications. </a:t>
            </a:r>
          </a:p>
          <a:p>
            <a:pPr marL="1066800" lvl="1" indent="-609600" fontAlgn="auto">
              <a:spcBef>
                <a:spcPts val="0"/>
              </a:spcBef>
              <a:spcAft>
                <a:spcPts val="0"/>
              </a:spcAft>
              <a:buSzPct val="100000"/>
              <a:buFont typeface="Wingdings" panose="05000000000000000000" pitchFamily="2" charset="2"/>
              <a:buChar char="Ø"/>
            </a:pPr>
            <a:endParaRPr lang="en-US" altLang="en-US" sz="2000" b="0" dirty="0">
              <a:solidFill>
                <a:schemeClr val="bg1"/>
              </a:solidFill>
              <a:latin typeface="Arial" panose="020B0604020202020204" pitchFamily="34" charset="0"/>
              <a:cs typeface="Arial" panose="020B0604020202020204" pitchFamily="34" charset="0"/>
            </a:endParaRPr>
          </a:p>
          <a:p>
            <a:pPr marL="360000" lvl="1" indent="-360000" fontAlgn="auto">
              <a:spcBef>
                <a:spcPts val="0"/>
              </a:spcBef>
              <a:spcAft>
                <a:spcPts val="0"/>
              </a:spcAft>
              <a:buSzPct val="100000"/>
              <a:buFont typeface="Wingdings" panose="05000000000000000000" pitchFamily="2" charset="2"/>
              <a:buChar char="Ø"/>
            </a:pPr>
            <a:r>
              <a:rPr lang="en-US" altLang="en-US" sz="2000" b="0" dirty="0">
                <a:solidFill>
                  <a:schemeClr val="bg1"/>
                </a:solidFill>
                <a:latin typeface="Arial" panose="020B0604020202020204" pitchFamily="34" charset="0"/>
                <a:cs typeface="Arial" panose="020B0604020202020204" pitchFamily="34" charset="0"/>
              </a:rPr>
              <a:t>Suppose you are an Investigator with OH&amp;S: in light of the AB OH&amp;S Code </a:t>
            </a:r>
            <a:r>
              <a:rPr lang="en-US" altLang="en-US" sz="2000" b="0" u="sng" dirty="0">
                <a:solidFill>
                  <a:schemeClr val="bg1"/>
                </a:solidFill>
                <a:latin typeface="Arial" panose="020B0604020202020204" pitchFamily="34" charset="0"/>
                <a:cs typeface="Arial" panose="020B0604020202020204" pitchFamily="34" charset="0"/>
              </a:rPr>
              <a:t>Section 12 Following Specifications</a:t>
            </a:r>
            <a:r>
              <a:rPr lang="en-US" altLang="en-US" sz="2000" b="0" dirty="0">
                <a:solidFill>
                  <a:schemeClr val="bg1"/>
                </a:solidFill>
                <a:latin typeface="Arial" panose="020B0604020202020204" pitchFamily="34" charset="0"/>
                <a:cs typeface="Arial" panose="020B0604020202020204" pitchFamily="34" charset="0"/>
              </a:rPr>
              <a:t>, what question would you ask? </a:t>
            </a:r>
          </a:p>
          <a:p>
            <a:pPr marL="720000" lvl="1" indent="-360000" fontAlgn="auto">
              <a:spcBef>
                <a:spcPts val="0"/>
              </a:spcBef>
              <a:spcAft>
                <a:spcPts val="0"/>
              </a:spcAft>
              <a:buSzPct val="100000"/>
              <a:buFont typeface="Wingdings" panose="05000000000000000000" pitchFamily="2" charset="2"/>
              <a:buChar char="Ø"/>
            </a:pPr>
            <a:r>
              <a:rPr lang="en-US" altLang="en-US" sz="2000" b="0" dirty="0">
                <a:latin typeface="Arial" panose="020B0604020202020204" pitchFamily="34" charset="0"/>
                <a:cs typeface="Arial" panose="020B0604020202020204" pitchFamily="34" charset="0"/>
              </a:rPr>
              <a:t>“Was the engine </a:t>
            </a:r>
            <a:r>
              <a:rPr lang="en-US" altLang="en-US" sz="2000" b="0" dirty="0" smtClean="0">
                <a:latin typeface="Arial" panose="020B0604020202020204" pitchFamily="34" charset="0"/>
                <a:cs typeface="Arial" panose="020B0604020202020204" pitchFamily="34" charset="0"/>
              </a:rPr>
              <a:t>repaired </a:t>
            </a:r>
            <a:r>
              <a:rPr lang="en-US" altLang="en-US" sz="2000" b="0" dirty="0">
                <a:latin typeface="Arial" panose="020B0604020202020204" pitchFamily="34" charset="0"/>
                <a:cs typeface="Arial" panose="020B0604020202020204" pitchFamily="34" charset="0"/>
              </a:rPr>
              <a:t>in accordance with manufacturer’s specifications? Or </a:t>
            </a:r>
            <a:r>
              <a:rPr lang="en-US" altLang="en-US" sz="2000" b="0" dirty="0" err="1">
                <a:latin typeface="Arial" panose="020B0604020202020204" pitchFamily="34" charset="0"/>
                <a:cs typeface="Arial" panose="020B0604020202020204" pitchFamily="34" charset="0"/>
              </a:rPr>
              <a:t>spec’ns</a:t>
            </a:r>
            <a:r>
              <a:rPr lang="en-US" altLang="en-US" sz="2000" b="0" dirty="0">
                <a:latin typeface="Arial" panose="020B0604020202020204" pitchFamily="34" charset="0"/>
                <a:cs typeface="Arial" panose="020B0604020202020204" pitchFamily="34" charset="0"/>
              </a:rPr>
              <a:t> certified by a professional engineer</a:t>
            </a:r>
            <a:r>
              <a:rPr lang="en-US" altLang="en-US" sz="2000" b="0" dirty="0" smtClean="0">
                <a:latin typeface="Arial" panose="020B0604020202020204" pitchFamily="34" charset="0"/>
                <a:cs typeface="Arial" panose="020B0604020202020204" pitchFamily="34" charset="0"/>
              </a:rPr>
              <a:t>?”</a:t>
            </a:r>
          </a:p>
          <a:p>
            <a:pPr marL="720000" lvl="1" indent="-360000" fontAlgn="auto">
              <a:spcBef>
                <a:spcPts val="0"/>
              </a:spcBef>
              <a:spcAft>
                <a:spcPts val="0"/>
              </a:spcAft>
              <a:buSzPct val="100000"/>
              <a:buFont typeface="Wingdings" panose="05000000000000000000" pitchFamily="2" charset="2"/>
              <a:buChar char="Ø"/>
            </a:pPr>
            <a:r>
              <a:rPr lang="en-US" altLang="en-US" sz="2000" b="0" dirty="0">
                <a:latin typeface="Arial" panose="020B0604020202020204" pitchFamily="34" charset="0"/>
                <a:cs typeface="Arial" panose="020B0604020202020204" pitchFamily="34" charset="0"/>
              </a:rPr>
              <a:t>“Or repaired in accordance with specifications certified by a professional engineer</a:t>
            </a:r>
            <a:r>
              <a:rPr lang="en-US" altLang="en-US" sz="2000" b="0" dirty="0" smtClean="0">
                <a:latin typeface="Arial" panose="020B0604020202020204" pitchFamily="34" charset="0"/>
                <a:cs typeface="Arial" panose="020B0604020202020204" pitchFamily="34" charset="0"/>
              </a:rPr>
              <a:t>?”</a:t>
            </a:r>
            <a:endParaRPr lang="en-US" altLang="en-US" sz="2000" b="0" dirty="0">
              <a:latin typeface="Arial" panose="020B0604020202020204" pitchFamily="34" charset="0"/>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6</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6" name="Google Shape;125;p2"/>
          <p:cNvSpPr/>
          <p:nvPr/>
        </p:nvSpPr>
        <p:spPr>
          <a:xfrm>
            <a:off x="2592000" y="6300000"/>
            <a:ext cx="5868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6.9: </a:t>
            </a:r>
            <a:r>
              <a:rPr lang="en-US" sz="1200" i="1" kern="0" dirty="0">
                <a:solidFill>
                  <a:srgbClr val="000000"/>
                </a:solidFill>
                <a:ea typeface="Times New Roman"/>
                <a:cs typeface="Arial" panose="020B0604020202020204" pitchFamily="34" charset="0"/>
                <a:sym typeface="Times New Roman"/>
              </a:rPr>
              <a:t>Professionalism, </a:t>
            </a:r>
            <a:r>
              <a:rPr lang="en-US" sz="1200" i="1" kern="0" dirty="0" smtClean="0">
                <a:solidFill>
                  <a:srgbClr val="000000"/>
                </a:solidFill>
                <a:ea typeface="Times New Roman"/>
                <a:cs typeface="Arial" panose="020B0604020202020204" pitchFamily="34" charset="0"/>
                <a:sym typeface="Times New Roman"/>
              </a:rPr>
              <a:t>Applications, </a:t>
            </a:r>
            <a:r>
              <a:rPr lang="en-US" sz="1200" i="1" kern="0" dirty="0">
                <a:solidFill>
                  <a:srgbClr val="000000"/>
                </a:solidFill>
                <a:ea typeface="Times New Roman"/>
                <a:cs typeface="Arial" panose="020B0604020202020204" pitchFamily="34" charset="0"/>
                <a:sym typeface="Times New Roman"/>
              </a:rPr>
              <a:t>and </a:t>
            </a:r>
            <a:r>
              <a:rPr lang="en-US" sz="1200" i="1" kern="0" dirty="0" smtClean="0">
                <a:solidFill>
                  <a:srgbClr val="000000"/>
                </a:solidFill>
                <a:ea typeface="Times New Roman"/>
                <a:cs typeface="Arial" panose="020B0604020202020204" pitchFamily="34" charset="0"/>
                <a:sym typeface="Times New Roman"/>
              </a:rPr>
              <a:t>Professional Responsibilities</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582170805"/>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00"/>
          </a:solidFill>
          <a:ln>
            <a:solidFill>
              <a:srgbClr val="000000"/>
            </a:solidFill>
          </a:ln>
          <a:extLst/>
        </p:spPr>
        <p:txBody>
          <a:bodyPr wrap="square" anchor="ctr" anchorCtr="0">
            <a:noAutofit/>
          </a:bodyPr>
          <a:lstStyle/>
          <a:p>
            <a:pPr>
              <a:spcBef>
                <a:spcPts val="0"/>
              </a:spcBef>
              <a:spcAft>
                <a:spcPts val="0"/>
              </a:spcAft>
            </a:pP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Examine - Professionalism and Application:</a:t>
            </a:r>
          </a:p>
        </p:txBody>
      </p:sp>
      <p:sp>
        <p:nvSpPr>
          <p:cNvPr id="2" name="Rectangle 1"/>
          <p:cNvSpPr/>
          <p:nvPr/>
        </p:nvSpPr>
        <p:spPr>
          <a:xfrm>
            <a:off x="180000" y="828000"/>
            <a:ext cx="8640000" cy="5328000"/>
          </a:xfrm>
          <a:prstGeom prst="rect">
            <a:avLst/>
          </a:prstGeom>
          <a:solidFill>
            <a:srgbClr val="000000"/>
          </a:solidFill>
          <a:ln>
            <a:solidFill>
              <a:srgbClr val="000000"/>
            </a:solidFill>
          </a:ln>
        </p:spPr>
        <p:txBody>
          <a:bodyPr wrap="square">
            <a:noAutofit/>
          </a:bodyPr>
          <a:lstStyle/>
          <a:p>
            <a:pPr lvl="0" fontAlgn="auto">
              <a:lnSpc>
                <a:spcPct val="90000"/>
              </a:lnSpc>
              <a:spcBef>
                <a:spcPts val="0"/>
              </a:spcBef>
              <a:spcAft>
                <a:spcPts val="0"/>
              </a:spcAft>
              <a:buSzPct val="100000"/>
            </a:pPr>
            <a:r>
              <a:rPr lang="en-US" altLang="en-US" b="0" dirty="0" smtClean="0">
                <a:solidFill>
                  <a:schemeClr val="bg1"/>
                </a:solidFill>
                <a:latin typeface="Arial" panose="020B0604020202020204" pitchFamily="34" charset="0"/>
                <a:cs typeface="Arial" panose="020B0604020202020204" pitchFamily="34" charset="0"/>
              </a:rPr>
              <a:t>As </a:t>
            </a:r>
            <a:r>
              <a:rPr lang="en-US" altLang="en-US" b="0" dirty="0">
                <a:solidFill>
                  <a:schemeClr val="bg1"/>
                </a:solidFill>
                <a:latin typeface="Arial" panose="020B0604020202020204" pitchFamily="34" charset="0"/>
                <a:cs typeface="Arial" panose="020B0604020202020204" pitchFamily="34" charset="0"/>
              </a:rPr>
              <a:t>a professional engineer, your responsibilities can be complex.</a:t>
            </a:r>
          </a:p>
          <a:p>
            <a:pPr lvl="0" fontAlgn="auto">
              <a:lnSpc>
                <a:spcPct val="90000"/>
              </a:lnSpc>
              <a:spcBef>
                <a:spcPts val="0"/>
              </a:spcBef>
              <a:spcAft>
                <a:spcPts val="0"/>
              </a:spcAft>
              <a:buSzPct val="100000"/>
            </a:pPr>
            <a:endParaRPr lang="en-US" altLang="en-US" b="0" dirty="0">
              <a:solidFill>
                <a:schemeClr val="bg1"/>
              </a:solidFill>
              <a:latin typeface="Arial" panose="020B0604020202020204" pitchFamily="34" charset="0"/>
              <a:cs typeface="Arial" panose="020B0604020202020204" pitchFamily="34" charset="0"/>
            </a:endParaRPr>
          </a:p>
          <a:p>
            <a:pPr marL="360000" lvl="0" indent="-360000" fontAlgn="auto">
              <a:lnSpc>
                <a:spcPct val="90000"/>
              </a:lnSpc>
              <a:spcBef>
                <a:spcPts val="0"/>
              </a:spcBef>
              <a:spcAft>
                <a:spcPts val="0"/>
              </a:spcAft>
              <a:buSzPct val="100000"/>
              <a:buFont typeface="Wingdings" panose="05000000000000000000" pitchFamily="2" charset="2"/>
              <a:buChar char="Ø"/>
            </a:pPr>
            <a:r>
              <a:rPr lang="en-US" altLang="en-US" b="0" dirty="0">
                <a:solidFill>
                  <a:schemeClr val="bg1"/>
                </a:solidFill>
                <a:latin typeface="Arial" panose="020B0604020202020204" pitchFamily="34" charset="0"/>
                <a:cs typeface="Arial" panose="020B0604020202020204" pitchFamily="34" charset="0"/>
              </a:rPr>
              <a:t>Concerning the MMA RR locomotive, </a:t>
            </a:r>
            <a:r>
              <a:rPr lang="en-US" altLang="en-US" b="0" u="sng" dirty="0">
                <a:solidFill>
                  <a:schemeClr val="bg1"/>
                </a:solidFill>
                <a:latin typeface="Arial" panose="020B0604020202020204" pitchFamily="34" charset="0"/>
                <a:cs typeface="Arial" panose="020B0604020202020204" pitchFamily="34" charset="0"/>
              </a:rPr>
              <a:t>was the engine repaired in accordance with manufacturer’s specifications</a:t>
            </a:r>
            <a:r>
              <a:rPr lang="en-US" altLang="en-US" b="0" dirty="0">
                <a:solidFill>
                  <a:schemeClr val="bg1"/>
                </a:solidFill>
                <a:latin typeface="Arial" panose="020B0604020202020204" pitchFamily="34" charset="0"/>
                <a:cs typeface="Arial" panose="020B0604020202020204" pitchFamily="34" charset="0"/>
              </a:rPr>
              <a:t>? i.e. What would the OEM (original equipment manufacturer) recommend?</a:t>
            </a:r>
          </a:p>
          <a:p>
            <a:pPr marL="720000" lvl="1" indent="-360000" fontAlgn="auto">
              <a:lnSpc>
                <a:spcPct val="90000"/>
              </a:lnSpc>
              <a:spcBef>
                <a:spcPts val="0"/>
              </a:spcBef>
              <a:spcAft>
                <a:spcPts val="0"/>
              </a:spcAft>
              <a:buSzPct val="100000"/>
              <a:buFont typeface="Wingdings" panose="05000000000000000000" pitchFamily="2" charset="2"/>
              <a:buChar char="Ø"/>
            </a:pPr>
            <a:r>
              <a:rPr lang="en-US" altLang="en-US" b="0" dirty="0">
                <a:solidFill>
                  <a:srgbClr val="FFFF00"/>
                </a:solidFill>
                <a:latin typeface="Arial" panose="020B0604020202020204" pitchFamily="34" charset="0"/>
                <a:cs typeface="Arial" panose="020B0604020202020204" pitchFamily="34" charset="0"/>
              </a:rPr>
              <a:t>An OEM would recommend repair using a new engine part</a:t>
            </a:r>
            <a:r>
              <a:rPr lang="en-US" altLang="en-US" b="0" dirty="0" smtClean="0">
                <a:solidFill>
                  <a:srgbClr val="FFFF00"/>
                </a:solidFill>
                <a:latin typeface="Arial" panose="020B0604020202020204" pitchFamily="34" charset="0"/>
                <a:cs typeface="Arial" panose="020B0604020202020204" pitchFamily="34" charset="0"/>
              </a:rPr>
              <a:t>.</a:t>
            </a:r>
          </a:p>
          <a:p>
            <a:pPr marL="720000" lvl="1" indent="-360000" fontAlgn="auto">
              <a:lnSpc>
                <a:spcPct val="90000"/>
              </a:lnSpc>
              <a:spcBef>
                <a:spcPts val="0"/>
              </a:spcBef>
              <a:spcAft>
                <a:spcPts val="0"/>
              </a:spcAft>
              <a:buSzPct val="100000"/>
              <a:buFont typeface="Wingdings" panose="05000000000000000000" pitchFamily="2" charset="2"/>
              <a:buChar char="Ø"/>
            </a:pPr>
            <a:r>
              <a:rPr lang="en-US" altLang="en-US" b="0" dirty="0" smtClean="0">
                <a:solidFill>
                  <a:srgbClr val="FFFF00"/>
                </a:solidFill>
                <a:latin typeface="Arial" panose="020B0604020202020204" pitchFamily="34" charset="0"/>
                <a:cs typeface="Arial" panose="020B0604020202020204" pitchFamily="34" charset="0"/>
              </a:rPr>
              <a:t>So</a:t>
            </a:r>
            <a:r>
              <a:rPr lang="en-US" altLang="en-US" b="0" dirty="0">
                <a:solidFill>
                  <a:srgbClr val="FFFF00"/>
                </a:solidFill>
                <a:latin typeface="Arial" panose="020B0604020202020204" pitchFamily="34" charset="0"/>
                <a:cs typeface="Arial" panose="020B0604020202020204" pitchFamily="34" charset="0"/>
              </a:rPr>
              <a:t>, no, the repair was more than likely NOT repaired in accordance with manufacturer’s specifications. </a:t>
            </a:r>
          </a:p>
          <a:p>
            <a:pPr marL="1066800" lvl="1" indent="-609600" fontAlgn="auto">
              <a:lnSpc>
                <a:spcPct val="90000"/>
              </a:lnSpc>
              <a:spcBef>
                <a:spcPts val="0"/>
              </a:spcBef>
              <a:spcAft>
                <a:spcPts val="0"/>
              </a:spcAft>
              <a:buSzPct val="100000"/>
              <a:buFont typeface="Wingdings" panose="05000000000000000000" pitchFamily="2" charset="2"/>
              <a:buChar char="Ø"/>
            </a:pPr>
            <a:endParaRPr lang="en-US" altLang="en-US" b="0" dirty="0">
              <a:solidFill>
                <a:schemeClr val="bg1"/>
              </a:solidFill>
              <a:latin typeface="Arial" panose="020B0604020202020204" pitchFamily="34" charset="0"/>
              <a:cs typeface="Arial" panose="020B0604020202020204" pitchFamily="34" charset="0"/>
            </a:endParaRPr>
          </a:p>
          <a:p>
            <a:pPr marL="360000" lvl="1" indent="-360000" fontAlgn="auto">
              <a:lnSpc>
                <a:spcPct val="90000"/>
              </a:lnSpc>
              <a:spcBef>
                <a:spcPts val="0"/>
              </a:spcBef>
              <a:spcAft>
                <a:spcPts val="0"/>
              </a:spcAft>
              <a:buSzPct val="100000"/>
              <a:buFont typeface="Wingdings" panose="05000000000000000000" pitchFamily="2" charset="2"/>
              <a:buChar char="Ø"/>
            </a:pPr>
            <a:r>
              <a:rPr lang="en-US" altLang="en-US" b="0" dirty="0">
                <a:solidFill>
                  <a:schemeClr val="bg1"/>
                </a:solidFill>
                <a:latin typeface="Arial" panose="020B0604020202020204" pitchFamily="34" charset="0"/>
                <a:cs typeface="Arial" panose="020B0604020202020204" pitchFamily="34" charset="0"/>
              </a:rPr>
              <a:t>Suppose you are an Investigator with OH&amp;S: in light of the AB OH&amp;S Code </a:t>
            </a:r>
            <a:r>
              <a:rPr lang="en-US" altLang="en-US" b="0" u="sng" dirty="0">
                <a:solidFill>
                  <a:schemeClr val="bg1"/>
                </a:solidFill>
                <a:latin typeface="Arial" panose="020B0604020202020204" pitchFamily="34" charset="0"/>
                <a:cs typeface="Arial" panose="020B0604020202020204" pitchFamily="34" charset="0"/>
              </a:rPr>
              <a:t>Section 12 Following Specifications</a:t>
            </a:r>
            <a:r>
              <a:rPr lang="en-US" altLang="en-US" b="0" dirty="0">
                <a:solidFill>
                  <a:schemeClr val="bg1"/>
                </a:solidFill>
                <a:latin typeface="Arial" panose="020B0604020202020204" pitchFamily="34" charset="0"/>
                <a:cs typeface="Arial" panose="020B0604020202020204" pitchFamily="34" charset="0"/>
              </a:rPr>
              <a:t>, what question would you ask? </a:t>
            </a:r>
          </a:p>
          <a:p>
            <a:pPr marL="720000" lvl="1" indent="-360000" fontAlgn="auto">
              <a:lnSpc>
                <a:spcPct val="90000"/>
              </a:lnSpc>
              <a:spcBef>
                <a:spcPts val="0"/>
              </a:spcBef>
              <a:spcAft>
                <a:spcPts val="0"/>
              </a:spcAft>
              <a:buSzPct val="100000"/>
              <a:buFont typeface="Wingdings" panose="05000000000000000000" pitchFamily="2" charset="2"/>
              <a:buChar char="Ø"/>
            </a:pPr>
            <a:r>
              <a:rPr lang="en-US" altLang="en-US" b="0" dirty="0">
                <a:solidFill>
                  <a:srgbClr val="FFFF00"/>
                </a:solidFill>
                <a:latin typeface="Arial" panose="020B0604020202020204" pitchFamily="34" charset="0"/>
                <a:cs typeface="Arial" panose="020B0604020202020204" pitchFamily="34" charset="0"/>
              </a:rPr>
              <a:t>“Was the engine </a:t>
            </a:r>
            <a:r>
              <a:rPr lang="en-US" altLang="en-US" b="0" dirty="0" smtClean="0">
                <a:solidFill>
                  <a:srgbClr val="FFFF00"/>
                </a:solidFill>
                <a:latin typeface="Arial" panose="020B0604020202020204" pitchFamily="34" charset="0"/>
                <a:cs typeface="Arial" panose="020B0604020202020204" pitchFamily="34" charset="0"/>
              </a:rPr>
              <a:t>repaired </a:t>
            </a:r>
            <a:r>
              <a:rPr lang="en-US" altLang="en-US" b="0" dirty="0">
                <a:solidFill>
                  <a:srgbClr val="FFFF00"/>
                </a:solidFill>
                <a:latin typeface="Arial" panose="020B0604020202020204" pitchFamily="34" charset="0"/>
                <a:cs typeface="Arial" panose="020B0604020202020204" pitchFamily="34" charset="0"/>
              </a:rPr>
              <a:t>in accordance with manufacturer’s specifications? Or </a:t>
            </a:r>
            <a:r>
              <a:rPr lang="en-US" altLang="en-US" b="0" dirty="0" err="1">
                <a:solidFill>
                  <a:srgbClr val="FFFF00"/>
                </a:solidFill>
                <a:latin typeface="Arial" panose="020B0604020202020204" pitchFamily="34" charset="0"/>
                <a:cs typeface="Arial" panose="020B0604020202020204" pitchFamily="34" charset="0"/>
              </a:rPr>
              <a:t>spec’ns</a:t>
            </a:r>
            <a:r>
              <a:rPr lang="en-US" altLang="en-US" b="0" dirty="0">
                <a:solidFill>
                  <a:srgbClr val="FFFF00"/>
                </a:solidFill>
                <a:latin typeface="Arial" panose="020B0604020202020204" pitchFamily="34" charset="0"/>
                <a:cs typeface="Arial" panose="020B0604020202020204" pitchFamily="34" charset="0"/>
              </a:rPr>
              <a:t> certified by a professional engineer</a:t>
            </a:r>
            <a:r>
              <a:rPr lang="en-US" altLang="en-US" b="0" dirty="0" smtClean="0">
                <a:solidFill>
                  <a:srgbClr val="FFFF00"/>
                </a:solidFill>
                <a:latin typeface="Arial" panose="020B0604020202020204" pitchFamily="34" charset="0"/>
                <a:cs typeface="Arial" panose="020B0604020202020204" pitchFamily="34" charset="0"/>
              </a:rPr>
              <a:t>?”</a:t>
            </a:r>
          </a:p>
          <a:p>
            <a:pPr marL="720000" lvl="1" indent="-360000" fontAlgn="auto">
              <a:lnSpc>
                <a:spcPct val="90000"/>
              </a:lnSpc>
              <a:spcBef>
                <a:spcPts val="0"/>
              </a:spcBef>
              <a:spcAft>
                <a:spcPts val="0"/>
              </a:spcAft>
              <a:buSzPct val="100000"/>
              <a:buFont typeface="Wingdings" panose="05000000000000000000" pitchFamily="2" charset="2"/>
              <a:buChar char="Ø"/>
            </a:pPr>
            <a:r>
              <a:rPr lang="en-US" altLang="en-US" b="0" dirty="0">
                <a:solidFill>
                  <a:srgbClr val="FFFF00"/>
                </a:solidFill>
                <a:latin typeface="Arial" panose="020B0604020202020204" pitchFamily="34" charset="0"/>
                <a:cs typeface="Arial" panose="020B0604020202020204" pitchFamily="34" charset="0"/>
              </a:rPr>
              <a:t>“Or repaired in accordance with specifications certified by a professional engineer</a:t>
            </a:r>
            <a:r>
              <a:rPr lang="en-US" altLang="en-US" b="0" dirty="0" smtClean="0">
                <a:solidFill>
                  <a:srgbClr val="FFFF00"/>
                </a:solidFill>
                <a:latin typeface="Arial" panose="020B0604020202020204" pitchFamily="34" charset="0"/>
                <a:cs typeface="Arial" panose="020B0604020202020204" pitchFamily="34" charset="0"/>
              </a:rPr>
              <a:t>?”</a:t>
            </a:r>
          </a:p>
          <a:p>
            <a:pPr marL="360000" lvl="1" indent="-360000" fontAlgn="auto">
              <a:lnSpc>
                <a:spcPct val="90000"/>
              </a:lnSpc>
              <a:spcBef>
                <a:spcPts val="0"/>
              </a:spcBef>
              <a:spcAft>
                <a:spcPts val="0"/>
              </a:spcAft>
              <a:buSzPct val="100000"/>
              <a:buFont typeface="Wingdings" panose="05000000000000000000" pitchFamily="2" charset="2"/>
              <a:buChar char="Ø"/>
            </a:pPr>
            <a:endParaRPr lang="en-US" altLang="en-US" b="0" dirty="0" smtClean="0">
              <a:solidFill>
                <a:schemeClr val="bg1"/>
              </a:solidFill>
              <a:latin typeface="Arial" panose="020B0604020202020204" pitchFamily="34" charset="0"/>
              <a:cs typeface="Arial" panose="020B0604020202020204" pitchFamily="34" charset="0"/>
            </a:endParaRPr>
          </a:p>
          <a:p>
            <a:pPr marL="360000" lvl="1" indent="-360000" fontAlgn="auto">
              <a:lnSpc>
                <a:spcPct val="90000"/>
              </a:lnSpc>
              <a:spcBef>
                <a:spcPts val="0"/>
              </a:spcBef>
              <a:spcAft>
                <a:spcPts val="0"/>
              </a:spcAft>
              <a:buSzPct val="100000"/>
              <a:buFont typeface="Wingdings" panose="05000000000000000000" pitchFamily="2" charset="2"/>
              <a:buChar char="Ø"/>
            </a:pPr>
            <a:r>
              <a:rPr lang="en-US" altLang="en-US" b="0" dirty="0" smtClean="0">
                <a:solidFill>
                  <a:schemeClr val="bg1"/>
                </a:solidFill>
                <a:latin typeface="Arial" panose="020B0604020202020204" pitchFamily="34" charset="0"/>
                <a:cs typeface="Arial" panose="020B0604020202020204" pitchFamily="34" charset="0"/>
              </a:rPr>
              <a:t>The </a:t>
            </a:r>
            <a:r>
              <a:rPr lang="en-US" altLang="en-US" b="0" u="sng" dirty="0" smtClean="0">
                <a:solidFill>
                  <a:schemeClr val="bg1"/>
                </a:solidFill>
                <a:latin typeface="Arial" panose="020B0604020202020204" pitchFamily="34" charset="0"/>
                <a:cs typeface="Arial" panose="020B0604020202020204" pitchFamily="34" charset="0"/>
              </a:rPr>
              <a:t>scope and role </a:t>
            </a:r>
            <a:r>
              <a:rPr lang="en-US" altLang="en-US" b="0" u="sng" dirty="0">
                <a:solidFill>
                  <a:schemeClr val="bg1"/>
                </a:solidFill>
                <a:latin typeface="Arial" panose="020B0604020202020204" pitchFamily="34" charset="0"/>
                <a:cs typeface="Arial" panose="020B0604020202020204" pitchFamily="34" charset="0"/>
              </a:rPr>
              <a:t>of the regulator</a:t>
            </a:r>
            <a:r>
              <a:rPr lang="en-US" altLang="en-US" b="0" dirty="0">
                <a:solidFill>
                  <a:schemeClr val="bg1"/>
                </a:solidFill>
                <a:latin typeface="Arial" panose="020B0604020202020204" pitchFamily="34" charset="0"/>
                <a:cs typeface="Arial" panose="020B0604020202020204" pitchFamily="34" charset="0"/>
              </a:rPr>
              <a:t> is to investigate to determine if an organization has </a:t>
            </a:r>
            <a:r>
              <a:rPr lang="en-US" altLang="en-US" b="0" dirty="0" smtClean="0">
                <a:solidFill>
                  <a:schemeClr val="bg1"/>
                </a:solidFill>
                <a:latin typeface="Arial" panose="020B0604020202020204" pitchFamily="34" charset="0"/>
                <a:cs typeface="Arial" panose="020B0604020202020204" pitchFamily="34" charset="0"/>
              </a:rPr>
              <a:t>contravened </a:t>
            </a:r>
            <a:r>
              <a:rPr lang="en-US" altLang="en-US" b="0" dirty="0">
                <a:solidFill>
                  <a:schemeClr val="bg1"/>
                </a:solidFill>
                <a:latin typeface="Arial" panose="020B0604020202020204" pitchFamily="34" charset="0"/>
                <a:cs typeface="Arial" panose="020B0604020202020204" pitchFamily="34" charset="0"/>
              </a:rPr>
              <a:t>a </a:t>
            </a:r>
            <a:r>
              <a:rPr lang="en-US" altLang="en-US" b="0" dirty="0" smtClean="0">
                <a:solidFill>
                  <a:schemeClr val="bg1"/>
                </a:solidFill>
                <a:latin typeface="Arial" panose="020B0604020202020204" pitchFamily="34" charset="0"/>
                <a:cs typeface="Arial" panose="020B0604020202020204" pitchFamily="34" charset="0"/>
              </a:rPr>
              <a:t>statutory regulation only, NOT to drill deeper into the latent causes of a loss incident. </a:t>
            </a:r>
          </a:p>
          <a:p>
            <a:pPr marL="360000" lvl="1" indent="-360000" fontAlgn="auto">
              <a:lnSpc>
                <a:spcPct val="90000"/>
              </a:lnSpc>
              <a:spcBef>
                <a:spcPts val="0"/>
              </a:spcBef>
              <a:spcAft>
                <a:spcPts val="0"/>
              </a:spcAft>
              <a:buSzPct val="100000"/>
              <a:buFont typeface="Wingdings" panose="05000000000000000000" pitchFamily="2" charset="2"/>
              <a:buChar char="Ø"/>
            </a:pPr>
            <a:r>
              <a:rPr lang="en-US" altLang="en-US" b="0" dirty="0" smtClean="0">
                <a:solidFill>
                  <a:schemeClr val="bg1"/>
                </a:solidFill>
                <a:latin typeface="Arial" panose="020B0604020202020204" pitchFamily="34" charset="0"/>
                <a:cs typeface="Arial" panose="020B0604020202020204" pitchFamily="34" charset="0"/>
              </a:rPr>
              <a:t>Contrast this with the role of business – as modelled in the Team Project (investigate to latent causes, etc.)</a:t>
            </a:r>
            <a:endParaRPr lang="en-US" altLang="en-US" b="0" dirty="0">
              <a:solidFill>
                <a:schemeClr val="bg1"/>
              </a:solidFill>
              <a:latin typeface="Arial" panose="020B0604020202020204" pitchFamily="34" charset="0"/>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7</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6" name="Google Shape;125;p2"/>
          <p:cNvSpPr/>
          <p:nvPr/>
        </p:nvSpPr>
        <p:spPr>
          <a:xfrm>
            <a:off x="2592000" y="6300000"/>
            <a:ext cx="5868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6.9: </a:t>
            </a:r>
            <a:r>
              <a:rPr lang="en-US" sz="1200" i="1" kern="0" dirty="0">
                <a:solidFill>
                  <a:srgbClr val="000000"/>
                </a:solidFill>
                <a:ea typeface="Times New Roman"/>
                <a:cs typeface="Arial" panose="020B0604020202020204" pitchFamily="34" charset="0"/>
                <a:sym typeface="Times New Roman"/>
              </a:rPr>
              <a:t>Professionalism, </a:t>
            </a:r>
            <a:r>
              <a:rPr lang="en-US" sz="1200" i="1" kern="0" dirty="0" smtClean="0">
                <a:solidFill>
                  <a:srgbClr val="000000"/>
                </a:solidFill>
                <a:ea typeface="Times New Roman"/>
                <a:cs typeface="Arial" panose="020B0604020202020204" pitchFamily="34" charset="0"/>
                <a:sym typeface="Times New Roman"/>
              </a:rPr>
              <a:t>Applications, </a:t>
            </a:r>
            <a:r>
              <a:rPr lang="en-US" sz="1200" i="1" kern="0" dirty="0">
                <a:solidFill>
                  <a:srgbClr val="000000"/>
                </a:solidFill>
                <a:ea typeface="Times New Roman"/>
                <a:cs typeface="Arial" panose="020B0604020202020204" pitchFamily="34" charset="0"/>
                <a:sym typeface="Times New Roman"/>
              </a:rPr>
              <a:t>and </a:t>
            </a:r>
            <a:r>
              <a:rPr lang="en-US" sz="1200" i="1" kern="0" dirty="0" smtClean="0">
                <a:solidFill>
                  <a:srgbClr val="000000"/>
                </a:solidFill>
                <a:ea typeface="Times New Roman"/>
                <a:cs typeface="Arial" panose="020B0604020202020204" pitchFamily="34" charset="0"/>
                <a:sym typeface="Times New Roman"/>
              </a:rPr>
              <a:t>Professional Responsibilities</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661930378"/>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chemeClr val="tx1"/>
          </a:solidFill>
          <a:ln>
            <a:solidFill>
              <a:schemeClr val="tx1"/>
            </a:solidFill>
          </a:ln>
          <a:extLst/>
        </p:spPr>
        <p:txBody>
          <a:bodyPr wrap="square" anchor="ctr" anchorCtr="0">
            <a:noAutofit/>
          </a:bodyPr>
          <a:lstStyle/>
          <a:p>
            <a:pPr>
              <a:spcBef>
                <a:spcPts val="0"/>
              </a:spcBef>
              <a:spcAft>
                <a:spcPts val="0"/>
              </a:spcAft>
            </a:pP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Example: Examine Professionalism </a:t>
            </a: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and Application</a:t>
            </a: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2" name="Rectangle 1"/>
          <p:cNvSpPr/>
          <p:nvPr/>
        </p:nvSpPr>
        <p:spPr>
          <a:xfrm>
            <a:off x="180000" y="828000"/>
            <a:ext cx="8640000" cy="5328000"/>
          </a:xfrm>
          <a:prstGeom prst="rect">
            <a:avLst/>
          </a:prstGeom>
          <a:solidFill>
            <a:schemeClr val="tx1"/>
          </a:solidFill>
          <a:ln>
            <a:solidFill>
              <a:schemeClr val="tx1"/>
            </a:solidFill>
          </a:ln>
        </p:spPr>
        <p:txBody>
          <a:bodyPr wrap="square">
            <a:noAutofit/>
          </a:bodyPr>
          <a:lstStyle/>
          <a:p>
            <a:pPr lvl="0" fontAlgn="auto">
              <a:spcBef>
                <a:spcPts val="0"/>
              </a:spcBef>
              <a:spcAft>
                <a:spcPts val="0"/>
              </a:spcAft>
              <a:buSzPct val="100000"/>
            </a:pPr>
            <a:r>
              <a:rPr lang="en-US" altLang="en-US" b="0" dirty="0" smtClean="0">
                <a:solidFill>
                  <a:prstClr val="white"/>
                </a:solidFill>
                <a:latin typeface="Arial" panose="020B0604020202020204" pitchFamily="34" charset="0"/>
                <a:cs typeface="Arial" panose="020B0604020202020204" pitchFamily="34" charset="0"/>
              </a:rPr>
              <a:t>As </a:t>
            </a:r>
            <a:r>
              <a:rPr lang="en-US" altLang="en-US" b="0" dirty="0">
                <a:solidFill>
                  <a:prstClr val="white"/>
                </a:solidFill>
                <a:latin typeface="Arial" panose="020B0604020202020204" pitchFamily="34" charset="0"/>
                <a:cs typeface="Arial" panose="020B0604020202020204" pitchFamily="34" charset="0"/>
              </a:rPr>
              <a:t>a professional engineer, your responsibilities can be </a:t>
            </a:r>
            <a:r>
              <a:rPr lang="en-US" altLang="en-US" b="0" dirty="0" smtClean="0">
                <a:solidFill>
                  <a:prstClr val="white"/>
                </a:solidFill>
                <a:latin typeface="Arial" panose="020B0604020202020204" pitchFamily="34" charset="0"/>
                <a:cs typeface="Arial" panose="020B0604020202020204" pitchFamily="34" charset="0"/>
              </a:rPr>
              <a:t>complex. Now </a:t>
            </a:r>
            <a:r>
              <a:rPr lang="en-US" altLang="en-US" b="0" dirty="0">
                <a:solidFill>
                  <a:prstClr val="white"/>
                </a:solidFill>
                <a:latin typeface="Arial" panose="020B0604020202020204" pitchFamily="34" charset="0"/>
                <a:cs typeface="Arial" panose="020B0604020202020204" pitchFamily="34" charset="0"/>
              </a:rPr>
              <a:t>suppose </a:t>
            </a:r>
            <a:r>
              <a:rPr lang="en-US" altLang="en-US" b="0" u="sng" dirty="0">
                <a:solidFill>
                  <a:prstClr val="white"/>
                </a:solidFill>
                <a:latin typeface="Arial" panose="020B0604020202020204" pitchFamily="34" charset="0"/>
                <a:cs typeface="Arial" panose="020B0604020202020204" pitchFamily="34" charset="0"/>
              </a:rPr>
              <a:t>you are</a:t>
            </a:r>
            <a:r>
              <a:rPr lang="en-US" altLang="en-US" b="0" dirty="0">
                <a:solidFill>
                  <a:prstClr val="white"/>
                </a:solidFill>
                <a:latin typeface="Arial" panose="020B0604020202020204" pitchFamily="34" charset="0"/>
                <a:cs typeface="Arial" panose="020B0604020202020204" pitchFamily="34" charset="0"/>
              </a:rPr>
              <a:t> the professional engineer </a:t>
            </a:r>
            <a:r>
              <a:rPr lang="en-US" altLang="en-US" b="0" u="sng" dirty="0">
                <a:solidFill>
                  <a:prstClr val="white"/>
                </a:solidFill>
                <a:latin typeface="Arial" panose="020B0604020202020204" pitchFamily="34" charset="0"/>
                <a:cs typeface="Arial" panose="020B0604020202020204" pitchFamily="34" charset="0"/>
              </a:rPr>
              <a:t>responsible for the locomotive maintenance and repair program</a:t>
            </a:r>
            <a:r>
              <a:rPr lang="en-US" altLang="en-US" b="0" dirty="0">
                <a:solidFill>
                  <a:prstClr val="white"/>
                </a:solidFill>
                <a:latin typeface="Arial" panose="020B0604020202020204" pitchFamily="34" charset="0"/>
                <a:cs typeface="Arial" panose="020B0604020202020204" pitchFamily="34" charset="0"/>
              </a:rPr>
              <a:t> (well prior to the MMA LI). </a:t>
            </a:r>
          </a:p>
          <a:p>
            <a:pPr marL="360000" lvl="1" indent="-360000" fontAlgn="auto">
              <a:spcBef>
                <a:spcPts val="0"/>
              </a:spcBef>
              <a:spcAft>
                <a:spcPts val="0"/>
              </a:spcAft>
              <a:buSzPct val="100000"/>
              <a:buFont typeface="Wingdings" panose="05000000000000000000" pitchFamily="2" charset="2"/>
              <a:buChar char="Ø"/>
            </a:pPr>
            <a:endParaRPr lang="en-US" altLang="en-US" b="0" dirty="0" smtClean="0">
              <a:solidFill>
                <a:prstClr val="white"/>
              </a:solidFill>
              <a:latin typeface="Arial" panose="020B0604020202020204" pitchFamily="34" charset="0"/>
              <a:cs typeface="Arial" panose="020B0604020202020204" pitchFamily="34" charset="0"/>
            </a:endParaRPr>
          </a:p>
          <a:p>
            <a:pPr marL="360000" lvl="1" indent="-360000" fontAlgn="auto">
              <a:spcBef>
                <a:spcPts val="0"/>
              </a:spcBef>
              <a:spcAft>
                <a:spcPts val="0"/>
              </a:spcAft>
              <a:buSzPct val="100000"/>
              <a:buFont typeface="Wingdings" panose="05000000000000000000" pitchFamily="2" charset="2"/>
              <a:buChar char="Ø"/>
            </a:pPr>
            <a:r>
              <a:rPr lang="en-US" altLang="en-US" b="0" dirty="0" smtClean="0">
                <a:solidFill>
                  <a:prstClr val="white"/>
                </a:solidFill>
                <a:latin typeface="Arial" panose="020B0604020202020204" pitchFamily="34" charset="0"/>
                <a:cs typeface="Arial" panose="020B0604020202020204" pitchFamily="34" charset="0"/>
              </a:rPr>
              <a:t>What </a:t>
            </a:r>
            <a:r>
              <a:rPr lang="en-US" altLang="en-US" b="0" dirty="0">
                <a:solidFill>
                  <a:prstClr val="white"/>
                </a:solidFill>
                <a:latin typeface="Arial" panose="020B0604020202020204" pitchFamily="34" charset="0"/>
                <a:cs typeface="Arial" panose="020B0604020202020204" pitchFamily="34" charset="0"/>
              </a:rPr>
              <a:t>choices do you have to repair the locomotive? </a:t>
            </a:r>
          </a:p>
          <a:p>
            <a:pPr marL="720000" lvl="1" indent="-360000" fontAlgn="auto">
              <a:spcBef>
                <a:spcPts val="0"/>
              </a:spcBef>
              <a:spcAft>
                <a:spcPts val="0"/>
              </a:spcAft>
              <a:buSzPct val="100000"/>
              <a:buFont typeface="+mj-lt"/>
              <a:buAutoNum type="arabicParenR"/>
            </a:pPr>
            <a:r>
              <a:rPr lang="en-US" altLang="en-US" b="0" dirty="0">
                <a:solidFill>
                  <a:srgbClr val="FFFF00"/>
                </a:solidFill>
                <a:latin typeface="Arial" panose="020B0604020202020204" pitchFamily="34" charset="0"/>
                <a:cs typeface="Arial" panose="020B0604020202020204" pitchFamily="34" charset="0"/>
              </a:rPr>
              <a:t>Delay RTS, wait for the OEM part, and install the OEM part. </a:t>
            </a:r>
            <a:br>
              <a:rPr lang="en-US" altLang="en-US" b="0" dirty="0">
                <a:solidFill>
                  <a:srgbClr val="FFFF00"/>
                </a:solidFill>
                <a:latin typeface="Arial" panose="020B0604020202020204" pitchFamily="34" charset="0"/>
                <a:cs typeface="Arial" panose="020B0604020202020204" pitchFamily="34" charset="0"/>
              </a:rPr>
            </a:br>
            <a:r>
              <a:rPr lang="en-US" altLang="en-US" b="0" dirty="0">
                <a:solidFill>
                  <a:srgbClr val="FFFF00"/>
                </a:solidFill>
                <a:latin typeface="Arial" panose="020B0604020202020204" pitchFamily="34" charset="0"/>
                <a:cs typeface="Arial" panose="020B0604020202020204" pitchFamily="34" charset="0"/>
              </a:rPr>
              <a:t>Rationale: a temporary repair is unacceptable. </a:t>
            </a:r>
          </a:p>
          <a:p>
            <a:pPr marL="720000" lvl="1" indent="-360000" fontAlgn="auto">
              <a:spcBef>
                <a:spcPts val="0"/>
              </a:spcBef>
              <a:spcAft>
                <a:spcPts val="0"/>
              </a:spcAft>
              <a:buSzPct val="100000"/>
              <a:buFont typeface="+mj-lt"/>
              <a:buAutoNum type="arabicParenR"/>
            </a:pPr>
            <a:r>
              <a:rPr lang="en-US" altLang="en-US" b="0" dirty="0">
                <a:solidFill>
                  <a:srgbClr val="FFFF00"/>
                </a:solidFill>
                <a:latin typeface="Arial" panose="020B0604020202020204" pitchFamily="34" charset="0"/>
                <a:cs typeface="Arial" panose="020B0604020202020204" pitchFamily="34" charset="0"/>
              </a:rPr>
              <a:t>Design &amp; certify a </a:t>
            </a:r>
            <a:r>
              <a:rPr lang="en-US" altLang="en-US" b="0" u="sng" dirty="0">
                <a:solidFill>
                  <a:srgbClr val="FFFF00"/>
                </a:solidFill>
                <a:latin typeface="Arial" panose="020B0604020202020204" pitchFamily="34" charset="0"/>
                <a:cs typeface="Arial" panose="020B0604020202020204" pitchFamily="34" charset="0"/>
              </a:rPr>
              <a:t>temporary repair</a:t>
            </a:r>
            <a:r>
              <a:rPr lang="en-US" altLang="en-US" b="0" dirty="0">
                <a:solidFill>
                  <a:srgbClr val="FFFF00"/>
                </a:solidFill>
                <a:latin typeface="Arial" panose="020B0604020202020204" pitchFamily="34" charset="0"/>
                <a:cs typeface="Arial" panose="020B0604020202020204" pitchFamily="34" charset="0"/>
              </a:rPr>
              <a:t> using </a:t>
            </a:r>
            <a:r>
              <a:rPr lang="en-US" altLang="en-US" b="0" dirty="0" smtClean="0">
                <a:solidFill>
                  <a:srgbClr val="FFFF00"/>
                </a:solidFill>
                <a:latin typeface="Arial" panose="020B0604020202020204" pitchFamily="34" charset="0"/>
                <a:cs typeface="Arial" panose="020B0604020202020204" pitchFamily="34" charset="0"/>
              </a:rPr>
              <a:t>two-part metal-epoxy, </a:t>
            </a:r>
            <a:r>
              <a:rPr lang="en-US" altLang="en-US" b="0" dirty="0">
                <a:solidFill>
                  <a:srgbClr val="FFFF00"/>
                </a:solidFill>
                <a:latin typeface="Arial" panose="020B0604020202020204" pitchFamily="34" charset="0"/>
                <a:cs typeface="Arial" panose="020B0604020202020204" pitchFamily="34" charset="0"/>
              </a:rPr>
              <a:t>and specify that the temporary repair has a specific limited life-time of operation. (Is it 1 hour, 100 hours, 1000 hours? What will the subject-matter expert specify?)</a:t>
            </a:r>
          </a:p>
          <a:p>
            <a:pPr marL="720000" lvl="1" indent="-360000" fontAlgn="auto">
              <a:spcBef>
                <a:spcPts val="0"/>
              </a:spcBef>
              <a:spcAft>
                <a:spcPts val="0"/>
              </a:spcAft>
              <a:buSzPct val="100000"/>
              <a:buFont typeface="+mj-lt"/>
              <a:buAutoNum type="arabicParenR"/>
            </a:pPr>
            <a:r>
              <a:rPr lang="en-US" altLang="en-US" b="0" dirty="0">
                <a:solidFill>
                  <a:srgbClr val="FFFF00"/>
                </a:solidFill>
                <a:latin typeface="Arial" panose="020B0604020202020204" pitchFamily="34" charset="0"/>
                <a:cs typeface="Arial" panose="020B0604020202020204" pitchFamily="34" charset="0"/>
              </a:rPr>
              <a:t>Blindly approve “rubber-stamp” the design for a </a:t>
            </a:r>
            <a:r>
              <a:rPr lang="en-US" altLang="en-US" b="0" u="sng" dirty="0">
                <a:solidFill>
                  <a:srgbClr val="FFFF00"/>
                </a:solidFill>
                <a:latin typeface="Arial" panose="020B0604020202020204" pitchFamily="34" charset="0"/>
                <a:cs typeface="Arial" panose="020B0604020202020204" pitchFamily="34" charset="0"/>
              </a:rPr>
              <a:t>temporary repair</a:t>
            </a:r>
            <a:r>
              <a:rPr lang="en-US" altLang="en-US" b="0" dirty="0">
                <a:solidFill>
                  <a:srgbClr val="FFFF00"/>
                </a:solidFill>
                <a:latin typeface="Arial" panose="020B0604020202020204" pitchFamily="34" charset="0"/>
                <a:cs typeface="Arial" panose="020B0604020202020204" pitchFamily="34" charset="0"/>
              </a:rPr>
              <a:t>. </a:t>
            </a:r>
          </a:p>
          <a:p>
            <a:pPr marL="720000" lvl="1" indent="-360000" fontAlgn="auto">
              <a:spcBef>
                <a:spcPts val="0"/>
              </a:spcBef>
              <a:spcAft>
                <a:spcPts val="0"/>
              </a:spcAft>
              <a:buSzPct val="100000"/>
              <a:buFont typeface="+mj-lt"/>
              <a:buAutoNum type="arabicParenR"/>
            </a:pPr>
            <a:r>
              <a:rPr lang="en-US" altLang="en-US" b="0" dirty="0">
                <a:solidFill>
                  <a:srgbClr val="FFFF00"/>
                </a:solidFill>
                <a:latin typeface="Arial" panose="020B0604020202020204" pitchFamily="34" charset="0"/>
                <a:cs typeface="Arial" panose="020B0604020202020204" pitchFamily="34" charset="0"/>
              </a:rPr>
              <a:t>Do nothing – ignore the mechanic’s repair work using </a:t>
            </a:r>
            <a:r>
              <a:rPr lang="en-US" altLang="en-US" b="0" dirty="0" smtClean="0">
                <a:solidFill>
                  <a:srgbClr val="FFFF00"/>
                </a:solidFill>
                <a:latin typeface="Arial" panose="020B0604020202020204" pitchFamily="34" charset="0"/>
                <a:cs typeface="Arial" panose="020B0604020202020204" pitchFamily="34" charset="0"/>
              </a:rPr>
              <a:t>two-part metal-epoxy </a:t>
            </a:r>
            <a:r>
              <a:rPr lang="en-US" altLang="en-US" b="0" dirty="0">
                <a:solidFill>
                  <a:srgbClr val="FFFF00"/>
                </a:solidFill>
                <a:latin typeface="Arial" panose="020B0604020202020204" pitchFamily="34" charset="0"/>
                <a:cs typeface="Arial" panose="020B0604020202020204" pitchFamily="34" charset="0"/>
              </a:rPr>
              <a:t>– and believe that you cannot be held responsible because the work is not under your responsibility / not approved / not authorized / not certified by you / not. </a:t>
            </a:r>
          </a:p>
          <a:p>
            <a:pPr marL="360000" lvl="1" indent="-360000" fontAlgn="auto">
              <a:spcBef>
                <a:spcPts val="0"/>
              </a:spcBef>
              <a:spcAft>
                <a:spcPts val="0"/>
              </a:spcAft>
              <a:buSzPct val="100000"/>
              <a:buFont typeface="Wingdings" panose="05000000000000000000" pitchFamily="2" charset="2"/>
              <a:buChar char="Ø"/>
            </a:pPr>
            <a:endParaRPr lang="en-US" altLang="en-US" b="0" dirty="0" smtClean="0">
              <a:solidFill>
                <a:prstClr val="white"/>
              </a:solidFill>
              <a:latin typeface="Arial" panose="020B0604020202020204" pitchFamily="34" charset="0"/>
              <a:cs typeface="Arial" panose="020B0604020202020204" pitchFamily="34" charset="0"/>
            </a:endParaRPr>
          </a:p>
          <a:p>
            <a:pPr marL="360000" lvl="1" indent="-360000" fontAlgn="auto">
              <a:spcBef>
                <a:spcPts val="0"/>
              </a:spcBef>
              <a:spcAft>
                <a:spcPts val="0"/>
              </a:spcAft>
              <a:buSzPct val="100000"/>
              <a:buFont typeface="Wingdings" panose="05000000000000000000" pitchFamily="2" charset="2"/>
              <a:buChar char="Ø"/>
            </a:pPr>
            <a:r>
              <a:rPr lang="en-US" altLang="en-US" b="0" dirty="0">
                <a:solidFill>
                  <a:prstClr val="white"/>
                </a:solidFill>
                <a:latin typeface="Arial" panose="020B0604020202020204" pitchFamily="34" charset="0"/>
                <a:cs typeface="Arial" panose="020B0604020202020204" pitchFamily="34" charset="0"/>
              </a:rPr>
              <a:t>What is an acceptable path to repair the locomotive</a:t>
            </a:r>
            <a:r>
              <a:rPr lang="en-US" altLang="en-US" b="0" dirty="0" smtClean="0">
                <a:solidFill>
                  <a:prstClr val="white"/>
                </a:solidFill>
                <a:latin typeface="Arial" panose="020B0604020202020204" pitchFamily="34" charset="0"/>
                <a:cs typeface="Arial" panose="020B0604020202020204" pitchFamily="34" charset="0"/>
              </a:rPr>
              <a:t>?</a:t>
            </a:r>
            <a:endParaRPr lang="en-US" altLang="en-US" b="0" dirty="0">
              <a:solidFill>
                <a:prstClr val="white"/>
              </a:solidFill>
              <a:latin typeface="Arial" panose="020B0604020202020204" pitchFamily="34" charset="0"/>
              <a:cs typeface="Arial" panose="020B0604020202020204" pitchFamily="34" charset="0"/>
            </a:endParaRPr>
          </a:p>
          <a:p>
            <a:pPr marL="720000" lvl="1" indent="-360000" fontAlgn="auto">
              <a:spcBef>
                <a:spcPts val="0"/>
              </a:spcBef>
              <a:spcAft>
                <a:spcPts val="0"/>
              </a:spcAft>
              <a:buSzPct val="100000"/>
              <a:buFont typeface="Wingdings" panose="05000000000000000000" pitchFamily="2" charset="2"/>
              <a:buChar char="Ø"/>
            </a:pPr>
            <a:r>
              <a:rPr lang="en-US" altLang="en-US" b="0" dirty="0" smtClean="0">
                <a:solidFill>
                  <a:srgbClr val="FFFF00"/>
                </a:solidFill>
                <a:latin typeface="Arial" panose="020B0604020202020204" pitchFamily="34" charset="0"/>
                <a:cs typeface="Arial" panose="020B0604020202020204" pitchFamily="34" charset="0"/>
              </a:rPr>
              <a:t>Choice </a:t>
            </a:r>
            <a:r>
              <a:rPr lang="en-US" altLang="en-US" b="0" dirty="0">
                <a:solidFill>
                  <a:srgbClr val="FFFF00"/>
                </a:solidFill>
                <a:latin typeface="Arial" panose="020B0604020202020204" pitchFamily="34" charset="0"/>
                <a:cs typeface="Arial" panose="020B0604020202020204" pitchFamily="34" charset="0"/>
              </a:rPr>
              <a:t>1) or 2</a:t>
            </a:r>
            <a:r>
              <a:rPr lang="en-US" altLang="en-US" b="0" dirty="0" smtClean="0">
                <a:solidFill>
                  <a:srgbClr val="FFFF00"/>
                </a:solidFill>
                <a:latin typeface="Arial" panose="020B0604020202020204" pitchFamily="34" charset="0"/>
                <a:cs typeface="Arial" panose="020B0604020202020204" pitchFamily="34" charset="0"/>
              </a:rPr>
              <a:t>) are the only two acceptable choices!</a:t>
            </a:r>
            <a:endParaRPr lang="en-US" altLang="en-US" b="0" dirty="0">
              <a:solidFill>
                <a:prstClr val="white"/>
              </a:solidFill>
              <a:latin typeface="Arial" panose="020B0604020202020204" pitchFamily="34" charset="0"/>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8</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6" name="Google Shape;125;p2"/>
          <p:cNvSpPr/>
          <p:nvPr/>
        </p:nvSpPr>
        <p:spPr>
          <a:xfrm>
            <a:off x="2592000" y="6300000"/>
            <a:ext cx="5868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6.9: </a:t>
            </a:r>
            <a:r>
              <a:rPr lang="en-US" sz="1200" i="1" kern="0" dirty="0">
                <a:solidFill>
                  <a:srgbClr val="000000"/>
                </a:solidFill>
                <a:ea typeface="Times New Roman"/>
                <a:cs typeface="Arial" panose="020B0604020202020204" pitchFamily="34" charset="0"/>
                <a:sym typeface="Times New Roman"/>
              </a:rPr>
              <a:t>Professionalism, </a:t>
            </a:r>
            <a:r>
              <a:rPr lang="en-US" sz="1200" i="1" kern="0" dirty="0" smtClean="0">
                <a:solidFill>
                  <a:srgbClr val="000000"/>
                </a:solidFill>
                <a:ea typeface="Times New Roman"/>
                <a:cs typeface="Arial" panose="020B0604020202020204" pitchFamily="34" charset="0"/>
                <a:sym typeface="Times New Roman"/>
              </a:rPr>
              <a:t>Applications, </a:t>
            </a:r>
            <a:r>
              <a:rPr lang="en-US" sz="1200" i="1" kern="0" dirty="0">
                <a:solidFill>
                  <a:srgbClr val="000000"/>
                </a:solidFill>
                <a:ea typeface="Times New Roman"/>
                <a:cs typeface="Arial" panose="020B0604020202020204" pitchFamily="34" charset="0"/>
                <a:sym typeface="Times New Roman"/>
              </a:rPr>
              <a:t>and </a:t>
            </a:r>
            <a:r>
              <a:rPr lang="en-US" sz="1200" i="1" kern="0" dirty="0" smtClean="0">
                <a:solidFill>
                  <a:srgbClr val="000000"/>
                </a:solidFill>
                <a:ea typeface="Times New Roman"/>
                <a:cs typeface="Arial" panose="020B0604020202020204" pitchFamily="34" charset="0"/>
                <a:sym typeface="Times New Roman"/>
              </a:rPr>
              <a:t>Professional Responsibilities</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614071714"/>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noFill/>
          <a:ln>
            <a:noFill/>
          </a:ln>
          <a:extLst/>
        </p:spPr>
        <p:txBody>
          <a:bodyPr anchor="ctr"/>
          <a:lstStyle/>
          <a:p>
            <a:pPr>
              <a:buFont typeface="Arial" panose="020B0604020202020204" pitchFamily="34" charset="0"/>
              <a:buNone/>
            </a:pPr>
            <a:r>
              <a:rPr lang="en-US" altLang="en-US" sz="2400" b="0" dirty="0" smtClean="0">
                <a:solidFill>
                  <a:schemeClr val="accent2"/>
                </a:solidFill>
                <a:latin typeface="Arial" panose="020B0604020202020204" pitchFamily="34" charset="0"/>
                <a:ea typeface="+mj-ea"/>
                <a:cs typeface="Arial" panose="020B0604020202020204" pitchFamily="34" charset="0"/>
              </a:rPr>
              <a:t>What About When We Are NOT Professional? </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2" name="Rectangle 1"/>
          <p:cNvSpPr/>
          <p:nvPr/>
        </p:nvSpPr>
        <p:spPr>
          <a:xfrm>
            <a:off x="180000" y="828000"/>
            <a:ext cx="8640000" cy="5328000"/>
          </a:xfrm>
          <a:prstGeom prst="rect">
            <a:avLst/>
          </a:prstGeom>
          <a:noFill/>
          <a:ln>
            <a:noFill/>
          </a:ln>
        </p:spPr>
        <p:txBody>
          <a:bodyPr wrap="square">
            <a:noAutofit/>
          </a:bodyPr>
          <a:lstStyle/>
          <a:p>
            <a:pPr marL="0" lvl="1" fontAlgn="auto">
              <a:spcBef>
                <a:spcPts val="0"/>
              </a:spcBef>
              <a:spcAft>
                <a:spcPts val="0"/>
              </a:spcAft>
              <a:buSzPct val="100000"/>
            </a:pPr>
            <a:r>
              <a:rPr lang="en-US" altLang="en-US" sz="2000" b="0" dirty="0" smtClean="0">
                <a:latin typeface="Arial" panose="020B0604020202020204" pitchFamily="34" charset="0"/>
                <a:cs typeface="Arial" panose="020B0604020202020204" pitchFamily="34" charset="0"/>
              </a:rPr>
              <a:t>Engineering </a:t>
            </a:r>
            <a:r>
              <a:rPr lang="en-US" altLang="en-US" sz="2000" b="0" dirty="0">
                <a:latin typeface="Arial" panose="020B0604020202020204" pitchFamily="34" charset="0"/>
                <a:cs typeface="Arial" panose="020B0604020202020204" pitchFamily="34" charset="0"/>
              </a:rPr>
              <a:t>and Geoscience Professions Act, RSA 2000, </a:t>
            </a:r>
            <a:r>
              <a:rPr lang="en-US" altLang="en-US" sz="2000" b="0" dirty="0" smtClean="0">
                <a:latin typeface="Arial" panose="020B0604020202020204" pitchFamily="34" charset="0"/>
                <a:cs typeface="Arial" panose="020B0604020202020204" pitchFamily="34" charset="0"/>
              </a:rPr>
              <a:t>Chapter E-11:</a:t>
            </a:r>
            <a:endParaRPr lang="en-US" altLang="en-US" sz="2000" b="0" dirty="0">
              <a:latin typeface="Arial" panose="020B0604020202020204" pitchFamily="34" charset="0"/>
              <a:cs typeface="Arial" panose="020B0604020202020204" pitchFamily="34" charset="0"/>
            </a:endParaRPr>
          </a:p>
          <a:p>
            <a:pPr marL="0" lvl="1" fontAlgn="auto">
              <a:spcBef>
                <a:spcPts val="0"/>
              </a:spcBef>
              <a:spcAft>
                <a:spcPts val="0"/>
              </a:spcAft>
              <a:buSzPct val="100000"/>
            </a:pPr>
            <a:endParaRPr lang="en-US" altLang="en-US" sz="2000" b="0" dirty="0">
              <a:latin typeface="Arial" panose="020B0604020202020204" pitchFamily="34" charset="0"/>
              <a:cs typeface="Arial" panose="020B0604020202020204" pitchFamily="34" charset="0"/>
            </a:endParaRPr>
          </a:p>
          <a:p>
            <a:pPr marL="0" lvl="1" fontAlgn="auto">
              <a:spcBef>
                <a:spcPts val="0"/>
              </a:spcBef>
              <a:spcAft>
                <a:spcPts val="0"/>
              </a:spcAft>
              <a:buSzPct val="100000"/>
            </a:pPr>
            <a:r>
              <a:rPr lang="en-US" altLang="en-US" sz="2000" b="0" i="1" dirty="0" smtClean="0">
                <a:latin typeface="Arial" panose="020B0604020202020204" pitchFamily="34" charset="0"/>
                <a:cs typeface="Arial" panose="020B0604020202020204" pitchFamily="34" charset="0"/>
              </a:rPr>
              <a:t>Determination </a:t>
            </a:r>
            <a:r>
              <a:rPr lang="en-US" altLang="en-US" sz="2000" b="0" i="1" dirty="0">
                <a:latin typeface="Arial" panose="020B0604020202020204" pitchFamily="34" charset="0"/>
                <a:cs typeface="Arial" panose="020B0604020202020204" pitchFamily="34" charset="0"/>
              </a:rPr>
              <a:t>of </a:t>
            </a:r>
            <a:r>
              <a:rPr lang="en-US" altLang="en-US" sz="2000" b="0" i="1" u="sng" dirty="0">
                <a:latin typeface="Arial" panose="020B0604020202020204" pitchFamily="34" charset="0"/>
                <a:cs typeface="Arial" panose="020B0604020202020204" pitchFamily="34" charset="0"/>
              </a:rPr>
              <a:t>unprofessional conduct</a:t>
            </a:r>
            <a:r>
              <a:rPr lang="en-US" altLang="en-US" sz="2000" b="0" i="1" dirty="0">
                <a:latin typeface="Arial" panose="020B0604020202020204" pitchFamily="34" charset="0"/>
                <a:cs typeface="Arial" panose="020B0604020202020204" pitchFamily="34" charset="0"/>
              </a:rPr>
              <a:t> and </a:t>
            </a:r>
            <a:r>
              <a:rPr lang="en-US" altLang="en-US" sz="2000" b="0" i="1" u="sng" dirty="0">
                <a:latin typeface="Arial" panose="020B0604020202020204" pitchFamily="34" charset="0"/>
                <a:cs typeface="Arial" panose="020B0604020202020204" pitchFamily="34" charset="0"/>
              </a:rPr>
              <a:t>unskilled </a:t>
            </a:r>
            <a:r>
              <a:rPr lang="en-US" altLang="en-US" sz="2000" b="0" i="1" u="sng" dirty="0" smtClean="0">
                <a:latin typeface="Arial" panose="020B0604020202020204" pitchFamily="34" charset="0"/>
                <a:cs typeface="Arial" panose="020B0604020202020204" pitchFamily="34" charset="0"/>
              </a:rPr>
              <a:t>practice</a:t>
            </a:r>
          </a:p>
          <a:p>
            <a:pPr marL="0" lvl="1" fontAlgn="auto">
              <a:spcBef>
                <a:spcPts val="0"/>
              </a:spcBef>
              <a:spcAft>
                <a:spcPts val="0"/>
              </a:spcAft>
              <a:buSzPct val="100000"/>
            </a:pPr>
            <a:r>
              <a:rPr lang="en-US" altLang="en-US" sz="2000" b="0" i="1" dirty="0" smtClean="0">
                <a:latin typeface="Arial" panose="020B0604020202020204" pitchFamily="34" charset="0"/>
                <a:cs typeface="Arial" panose="020B0604020202020204" pitchFamily="34" charset="0"/>
              </a:rPr>
              <a:t>44(1</a:t>
            </a:r>
            <a:r>
              <a:rPr lang="en-US" altLang="en-US" sz="2000" b="0" i="1" dirty="0">
                <a:latin typeface="Arial" panose="020B0604020202020204" pitchFamily="34" charset="0"/>
                <a:cs typeface="Arial" panose="020B0604020202020204" pitchFamily="34" charset="0"/>
              </a:rPr>
              <a:t>) </a:t>
            </a:r>
            <a:r>
              <a:rPr lang="en-US" altLang="en-US" sz="2000" b="0" i="1" u="sng" dirty="0">
                <a:latin typeface="Arial" panose="020B0604020202020204" pitchFamily="34" charset="0"/>
                <a:cs typeface="Arial" panose="020B0604020202020204" pitchFamily="34" charset="0"/>
              </a:rPr>
              <a:t>Any conduct of a professional member</a:t>
            </a:r>
            <a:r>
              <a:rPr lang="en-US" altLang="en-US" sz="2000" b="0" i="1" dirty="0">
                <a:latin typeface="Arial" panose="020B0604020202020204" pitchFamily="34" charset="0"/>
                <a:cs typeface="Arial" panose="020B0604020202020204" pitchFamily="34" charset="0"/>
              </a:rPr>
              <a:t>, licensee, </a:t>
            </a:r>
            <a:r>
              <a:rPr lang="en-US" altLang="en-US" sz="2000" b="0" i="1" dirty="0" smtClean="0">
                <a:latin typeface="Arial" panose="020B0604020202020204" pitchFamily="34" charset="0"/>
                <a:cs typeface="Arial" panose="020B0604020202020204" pitchFamily="34" charset="0"/>
              </a:rPr>
              <a:t>permit holder</a:t>
            </a:r>
            <a:r>
              <a:rPr lang="en-US" altLang="en-US" sz="2000" b="0" i="1" dirty="0">
                <a:latin typeface="Arial" panose="020B0604020202020204" pitchFamily="34" charset="0"/>
                <a:cs typeface="Arial" panose="020B0604020202020204" pitchFamily="34" charset="0"/>
              </a:rPr>
              <a:t>, certificate holder or member-in-training that in the </a:t>
            </a:r>
            <a:r>
              <a:rPr lang="en-US" altLang="en-US" sz="2000" b="0" i="1" dirty="0" smtClean="0">
                <a:latin typeface="Arial" panose="020B0604020202020204" pitchFamily="34" charset="0"/>
                <a:cs typeface="Arial" panose="020B0604020202020204" pitchFamily="34" charset="0"/>
              </a:rPr>
              <a:t>opinion of </a:t>
            </a:r>
            <a:r>
              <a:rPr lang="en-US" altLang="en-US" sz="2000" b="0" i="1" dirty="0">
                <a:latin typeface="Arial" panose="020B0604020202020204" pitchFamily="34" charset="0"/>
                <a:cs typeface="Arial" panose="020B0604020202020204" pitchFamily="34" charset="0"/>
              </a:rPr>
              <a:t>the Discipline Committee or the Appeal Board</a:t>
            </a:r>
          </a:p>
          <a:p>
            <a:pPr marL="360000" lvl="1" indent="-360000" fontAlgn="auto">
              <a:spcBef>
                <a:spcPts val="0"/>
              </a:spcBef>
              <a:spcAft>
                <a:spcPts val="0"/>
              </a:spcAft>
              <a:buSzPct val="100000"/>
            </a:pPr>
            <a:r>
              <a:rPr lang="en-US" altLang="en-US" sz="2000" b="0" i="1" dirty="0">
                <a:latin typeface="Arial" panose="020B0604020202020204" pitchFamily="34" charset="0"/>
                <a:cs typeface="Arial" panose="020B0604020202020204" pitchFamily="34" charset="0"/>
              </a:rPr>
              <a:t>(a) is </a:t>
            </a:r>
            <a:r>
              <a:rPr lang="en-US" altLang="en-US" sz="2000" b="0" i="1" u="sng" dirty="0">
                <a:latin typeface="Arial" panose="020B0604020202020204" pitchFamily="34" charset="0"/>
                <a:cs typeface="Arial" panose="020B0604020202020204" pitchFamily="34" charset="0"/>
              </a:rPr>
              <a:t>detrimental to the best interests</a:t>
            </a:r>
            <a:r>
              <a:rPr lang="en-US" altLang="en-US" sz="2000" b="0" i="1" dirty="0">
                <a:latin typeface="Arial" panose="020B0604020202020204" pitchFamily="34" charset="0"/>
                <a:cs typeface="Arial" panose="020B0604020202020204" pitchFamily="34" charset="0"/>
              </a:rPr>
              <a:t> of the public,</a:t>
            </a:r>
          </a:p>
          <a:p>
            <a:pPr marL="360000" lvl="1" indent="-360000" fontAlgn="auto">
              <a:spcBef>
                <a:spcPts val="0"/>
              </a:spcBef>
              <a:spcAft>
                <a:spcPts val="0"/>
              </a:spcAft>
              <a:buSzPct val="100000"/>
            </a:pPr>
            <a:r>
              <a:rPr lang="en-US" altLang="en-US" sz="2000" b="0" i="1" dirty="0">
                <a:latin typeface="Arial" panose="020B0604020202020204" pitchFamily="34" charset="0"/>
                <a:cs typeface="Arial" panose="020B0604020202020204" pitchFamily="34" charset="0"/>
              </a:rPr>
              <a:t>(b) </a:t>
            </a:r>
            <a:r>
              <a:rPr lang="en-US" altLang="en-US" sz="2000" b="0" i="1" u="sng" dirty="0">
                <a:latin typeface="Arial" panose="020B0604020202020204" pitchFamily="34" charset="0"/>
                <a:cs typeface="Arial" panose="020B0604020202020204" pitchFamily="34" charset="0"/>
              </a:rPr>
              <a:t>contravenes a code of ethics</a:t>
            </a:r>
            <a:r>
              <a:rPr lang="en-US" altLang="en-US" sz="2000" b="0" i="1" dirty="0">
                <a:latin typeface="Arial" panose="020B0604020202020204" pitchFamily="34" charset="0"/>
                <a:cs typeface="Arial" panose="020B0604020202020204" pitchFamily="34" charset="0"/>
              </a:rPr>
              <a:t> of the profession as </a:t>
            </a:r>
            <a:r>
              <a:rPr lang="en-US" altLang="en-US" sz="2000" b="0" i="1" dirty="0" smtClean="0">
                <a:latin typeface="Arial" panose="020B0604020202020204" pitchFamily="34" charset="0"/>
                <a:cs typeface="Arial" panose="020B0604020202020204" pitchFamily="34" charset="0"/>
              </a:rPr>
              <a:t>established under </a:t>
            </a:r>
            <a:r>
              <a:rPr lang="en-US" altLang="en-US" sz="2000" b="0" i="1" dirty="0">
                <a:latin typeface="Arial" panose="020B0604020202020204" pitchFamily="34" charset="0"/>
                <a:cs typeface="Arial" panose="020B0604020202020204" pitchFamily="34" charset="0"/>
              </a:rPr>
              <a:t>the regulations,</a:t>
            </a:r>
          </a:p>
          <a:p>
            <a:pPr marL="360000" lvl="1" indent="-360000" fontAlgn="auto">
              <a:spcBef>
                <a:spcPts val="0"/>
              </a:spcBef>
              <a:spcAft>
                <a:spcPts val="0"/>
              </a:spcAft>
              <a:buSzPct val="100000"/>
            </a:pPr>
            <a:r>
              <a:rPr lang="en-US" altLang="en-US" sz="2000" b="0" i="1" dirty="0">
                <a:latin typeface="Arial" panose="020B0604020202020204" pitchFamily="34" charset="0"/>
                <a:cs typeface="Arial" panose="020B0604020202020204" pitchFamily="34" charset="0"/>
              </a:rPr>
              <a:t>(c) harms or tends to harm the standing of the </a:t>
            </a:r>
            <a:r>
              <a:rPr lang="en-US" altLang="en-US" sz="2000" b="0" i="1" dirty="0" smtClean="0">
                <a:latin typeface="Arial" panose="020B0604020202020204" pitchFamily="34" charset="0"/>
                <a:cs typeface="Arial" panose="020B0604020202020204" pitchFamily="34" charset="0"/>
              </a:rPr>
              <a:t>profession generally</a:t>
            </a:r>
            <a:r>
              <a:rPr lang="en-US" altLang="en-US" sz="2000" b="0" i="1" dirty="0">
                <a:latin typeface="Arial" panose="020B0604020202020204" pitchFamily="34" charset="0"/>
                <a:cs typeface="Arial" panose="020B0604020202020204" pitchFamily="34" charset="0"/>
              </a:rPr>
              <a:t>,</a:t>
            </a:r>
          </a:p>
          <a:p>
            <a:pPr marL="360000" lvl="1" indent="-360000" fontAlgn="auto">
              <a:spcBef>
                <a:spcPts val="0"/>
              </a:spcBef>
              <a:spcAft>
                <a:spcPts val="0"/>
              </a:spcAft>
              <a:buSzPct val="100000"/>
            </a:pPr>
            <a:r>
              <a:rPr lang="en-US" altLang="en-US" sz="2000" b="0" i="1" dirty="0">
                <a:latin typeface="Arial" panose="020B0604020202020204" pitchFamily="34" charset="0"/>
                <a:cs typeface="Arial" panose="020B0604020202020204" pitchFamily="34" charset="0"/>
              </a:rPr>
              <a:t>(d) </a:t>
            </a:r>
            <a:r>
              <a:rPr lang="en-US" altLang="en-US" sz="2000" b="0" i="1" u="sng" dirty="0">
                <a:latin typeface="Arial" panose="020B0604020202020204" pitchFamily="34" charset="0"/>
                <a:cs typeface="Arial" panose="020B0604020202020204" pitchFamily="34" charset="0"/>
              </a:rPr>
              <a:t>displays a lack of knowledge of or lack of skill or </a:t>
            </a:r>
            <a:r>
              <a:rPr lang="en-US" altLang="en-US" sz="2000" b="0" i="1" u="sng" dirty="0" smtClean="0">
                <a:latin typeface="Arial" panose="020B0604020202020204" pitchFamily="34" charset="0"/>
                <a:cs typeface="Arial" panose="020B0604020202020204" pitchFamily="34" charset="0"/>
              </a:rPr>
              <a:t>judgment</a:t>
            </a:r>
            <a:r>
              <a:rPr lang="en-US" altLang="en-US" sz="2000" b="0" i="1" dirty="0" smtClean="0">
                <a:latin typeface="Arial" panose="020B0604020202020204" pitchFamily="34" charset="0"/>
                <a:cs typeface="Arial" panose="020B0604020202020204" pitchFamily="34" charset="0"/>
              </a:rPr>
              <a:t> in </a:t>
            </a:r>
            <a:r>
              <a:rPr lang="en-US" altLang="en-US" sz="2000" b="0" i="1" dirty="0">
                <a:latin typeface="Arial" panose="020B0604020202020204" pitchFamily="34" charset="0"/>
                <a:cs typeface="Arial" panose="020B0604020202020204" pitchFamily="34" charset="0"/>
              </a:rPr>
              <a:t>the practice of the profession, or</a:t>
            </a:r>
          </a:p>
          <a:p>
            <a:pPr marL="360000" lvl="1" indent="-360000" fontAlgn="auto">
              <a:spcBef>
                <a:spcPts val="0"/>
              </a:spcBef>
              <a:spcAft>
                <a:spcPts val="0"/>
              </a:spcAft>
              <a:buSzPct val="100000"/>
            </a:pPr>
            <a:r>
              <a:rPr lang="en-US" altLang="en-US" sz="2000" b="0" i="1" dirty="0">
                <a:latin typeface="Arial" panose="020B0604020202020204" pitchFamily="34" charset="0"/>
                <a:cs typeface="Arial" panose="020B0604020202020204" pitchFamily="34" charset="0"/>
              </a:rPr>
              <a:t>(e) </a:t>
            </a:r>
            <a:r>
              <a:rPr lang="en-US" altLang="en-US" sz="2000" b="0" i="1" u="sng" dirty="0">
                <a:latin typeface="Arial" panose="020B0604020202020204" pitchFamily="34" charset="0"/>
                <a:cs typeface="Arial" panose="020B0604020202020204" pitchFamily="34" charset="0"/>
              </a:rPr>
              <a:t>displays a lack of knowledge of or lack of skill or </a:t>
            </a:r>
            <a:r>
              <a:rPr lang="en-US" altLang="en-US" sz="2000" b="0" i="1" u="sng" dirty="0" smtClean="0">
                <a:latin typeface="Arial" panose="020B0604020202020204" pitchFamily="34" charset="0"/>
                <a:cs typeface="Arial" panose="020B0604020202020204" pitchFamily="34" charset="0"/>
              </a:rPr>
              <a:t>judgment</a:t>
            </a:r>
            <a:r>
              <a:rPr lang="en-US" altLang="en-US" sz="2000" b="0" i="1" dirty="0" smtClean="0">
                <a:latin typeface="Arial" panose="020B0604020202020204" pitchFamily="34" charset="0"/>
                <a:cs typeface="Arial" panose="020B0604020202020204" pitchFamily="34" charset="0"/>
              </a:rPr>
              <a:t> in </a:t>
            </a:r>
            <a:r>
              <a:rPr lang="en-US" altLang="en-US" sz="2000" b="0" i="1" dirty="0">
                <a:latin typeface="Arial" panose="020B0604020202020204" pitchFamily="34" charset="0"/>
                <a:cs typeface="Arial" panose="020B0604020202020204" pitchFamily="34" charset="0"/>
              </a:rPr>
              <a:t>the carrying out of any duty or obligation undertaken </a:t>
            </a:r>
            <a:r>
              <a:rPr lang="en-US" altLang="en-US" sz="2000" b="0" i="1" dirty="0" smtClean="0">
                <a:latin typeface="Arial" panose="020B0604020202020204" pitchFamily="34" charset="0"/>
                <a:cs typeface="Arial" panose="020B0604020202020204" pitchFamily="34" charset="0"/>
              </a:rPr>
              <a:t>in the </a:t>
            </a:r>
            <a:r>
              <a:rPr lang="en-US" altLang="en-US" sz="2000" b="0" i="1" dirty="0">
                <a:latin typeface="Arial" panose="020B0604020202020204" pitchFamily="34" charset="0"/>
                <a:cs typeface="Arial" panose="020B0604020202020204" pitchFamily="34" charset="0"/>
              </a:rPr>
              <a:t>practice of the profession</a:t>
            </a:r>
            <a:r>
              <a:rPr lang="en-US" altLang="en-US" sz="2000" b="0" i="1" dirty="0" smtClean="0">
                <a:latin typeface="Arial" panose="020B0604020202020204" pitchFamily="34" charset="0"/>
                <a:cs typeface="Arial" panose="020B0604020202020204" pitchFamily="34" charset="0"/>
              </a:rPr>
              <a:t>,</a:t>
            </a:r>
          </a:p>
          <a:p>
            <a:pPr marL="0" lvl="1" fontAlgn="auto">
              <a:spcBef>
                <a:spcPts val="0"/>
              </a:spcBef>
              <a:spcAft>
                <a:spcPts val="0"/>
              </a:spcAft>
              <a:buSzPct val="100000"/>
            </a:pPr>
            <a:r>
              <a:rPr lang="en-US" altLang="en-US" sz="2000" b="0" i="1" dirty="0">
                <a:latin typeface="Arial" panose="020B0604020202020204" pitchFamily="34" charset="0"/>
                <a:cs typeface="Arial" panose="020B0604020202020204" pitchFamily="34" charset="0"/>
              </a:rPr>
              <a:t>constitutes either unskilled practice of the profession </a:t>
            </a:r>
            <a:r>
              <a:rPr lang="en-US" altLang="en-US" sz="2000" b="0" i="1" dirty="0" smtClean="0">
                <a:latin typeface="Arial" panose="020B0604020202020204" pitchFamily="34" charset="0"/>
                <a:cs typeface="Arial" panose="020B0604020202020204" pitchFamily="34" charset="0"/>
              </a:rPr>
              <a:t>or unprofessional </a:t>
            </a:r>
            <a:r>
              <a:rPr lang="en-US" altLang="en-US" sz="2000" b="0" i="1" dirty="0">
                <a:latin typeface="Arial" panose="020B0604020202020204" pitchFamily="34" charset="0"/>
                <a:cs typeface="Arial" panose="020B0604020202020204" pitchFamily="34" charset="0"/>
              </a:rPr>
              <a:t>conduct</a:t>
            </a:r>
            <a:r>
              <a:rPr lang="en-US" altLang="en-US" sz="2000" b="0" i="1" dirty="0" smtClean="0">
                <a:latin typeface="Arial" panose="020B0604020202020204" pitchFamily="34" charset="0"/>
                <a:cs typeface="Arial" panose="020B0604020202020204" pitchFamily="34" charset="0"/>
              </a:rPr>
              <a:t>,</a:t>
            </a: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9</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6" name="Google Shape;125;p2"/>
          <p:cNvSpPr/>
          <p:nvPr/>
        </p:nvSpPr>
        <p:spPr>
          <a:xfrm>
            <a:off x="2592000" y="6300000"/>
            <a:ext cx="5868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6.9: </a:t>
            </a:r>
            <a:r>
              <a:rPr lang="en-US" sz="1200" i="1" kern="0" dirty="0">
                <a:solidFill>
                  <a:srgbClr val="000000"/>
                </a:solidFill>
                <a:ea typeface="Times New Roman"/>
                <a:cs typeface="Arial" panose="020B0604020202020204" pitchFamily="34" charset="0"/>
                <a:sym typeface="Times New Roman"/>
              </a:rPr>
              <a:t>Professionalism, </a:t>
            </a:r>
            <a:r>
              <a:rPr lang="en-US" sz="1200" i="1" kern="0" dirty="0" smtClean="0">
                <a:solidFill>
                  <a:srgbClr val="000000"/>
                </a:solidFill>
                <a:ea typeface="Times New Roman"/>
                <a:cs typeface="Arial" panose="020B0604020202020204" pitchFamily="34" charset="0"/>
                <a:sym typeface="Times New Roman"/>
              </a:rPr>
              <a:t>Applications, </a:t>
            </a:r>
            <a:r>
              <a:rPr lang="en-US" sz="1200" i="1" kern="0" dirty="0">
                <a:solidFill>
                  <a:srgbClr val="000000"/>
                </a:solidFill>
                <a:ea typeface="Times New Roman"/>
                <a:cs typeface="Arial" panose="020B0604020202020204" pitchFamily="34" charset="0"/>
                <a:sym typeface="Times New Roman"/>
              </a:rPr>
              <a:t>and </a:t>
            </a:r>
            <a:r>
              <a:rPr lang="en-US" sz="1200" i="1" kern="0" dirty="0" smtClean="0">
                <a:solidFill>
                  <a:srgbClr val="000000"/>
                </a:solidFill>
                <a:ea typeface="Times New Roman"/>
                <a:cs typeface="Arial" panose="020B0604020202020204" pitchFamily="34" charset="0"/>
                <a:sym typeface="Times New Roman"/>
              </a:rPr>
              <a:t>Professional Responsibilities</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87014365"/>
      </p:ext>
    </p:extLst>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000" y="828000"/>
            <a:ext cx="8640000" cy="5328000"/>
          </a:xfrm>
          <a:prstGeom prst="rect">
            <a:avLst/>
          </a:prstGeom>
          <a:noFill/>
          <a:ln>
            <a:noFill/>
          </a:ln>
        </p:spPr>
        <p:txBody>
          <a:bodyPr wrap="square">
            <a:noAutofit/>
          </a:bodyPr>
          <a:lstStyle/>
          <a:p>
            <a:pPr marL="0" lvl="1" fontAlgn="auto">
              <a:lnSpc>
                <a:spcPct val="90000"/>
              </a:lnSpc>
              <a:spcBef>
                <a:spcPts val="0"/>
              </a:spcBef>
              <a:spcAft>
                <a:spcPts val="0"/>
              </a:spcAft>
              <a:buSzPct val="100000"/>
            </a:pPr>
            <a:r>
              <a:rPr lang="en-US" altLang="en-US" dirty="0" smtClean="0">
                <a:latin typeface="Arial" panose="020B0604020202020204" pitchFamily="34" charset="0"/>
                <a:cs typeface="Arial" panose="020B0604020202020204" pitchFamily="34" charset="0"/>
              </a:rPr>
              <a:t>“Unprofessional Conduct” and “Unskilled Practice Of Engineering”</a:t>
            </a:r>
          </a:p>
          <a:p>
            <a:pPr marL="360000" lvl="1" indent="-360000" fontAlgn="auto">
              <a:lnSpc>
                <a:spcPct val="90000"/>
              </a:lnSpc>
              <a:spcBef>
                <a:spcPts val="0"/>
              </a:spcBef>
              <a:spcAft>
                <a:spcPts val="0"/>
              </a:spcAft>
              <a:buSzPct val="100000"/>
              <a:buFont typeface="Wingdings" panose="05000000000000000000" pitchFamily="2" charset="2"/>
              <a:buChar char="Ø"/>
            </a:pPr>
            <a:r>
              <a:rPr lang="en-US" altLang="en-US" b="0" dirty="0" smtClean="0">
                <a:latin typeface="Arial" panose="020B0604020202020204" pitchFamily="34" charset="0"/>
                <a:cs typeface="Arial" panose="020B0604020202020204" pitchFamily="34" charset="0"/>
              </a:rPr>
              <a:t>As </a:t>
            </a:r>
            <a:r>
              <a:rPr lang="en-US" altLang="en-US" b="0" dirty="0">
                <a:latin typeface="Arial" panose="020B0604020202020204" pitchFamily="34" charset="0"/>
                <a:cs typeface="Arial" panose="020B0604020202020204" pitchFamily="34" charset="0"/>
              </a:rPr>
              <a:t>a professional engineer, we strive for professionalism which includes “professional conduct” and “skilled </a:t>
            </a:r>
            <a:r>
              <a:rPr lang="en-US" altLang="en-US" b="0" dirty="0" smtClean="0">
                <a:latin typeface="Arial" panose="020B0604020202020204" pitchFamily="34" charset="0"/>
                <a:cs typeface="Arial" panose="020B0604020202020204" pitchFamily="34" charset="0"/>
              </a:rPr>
              <a:t>practice of engineering”. </a:t>
            </a:r>
            <a:endParaRPr lang="en-US" altLang="en-US" b="0" dirty="0">
              <a:latin typeface="Arial" panose="020B0604020202020204" pitchFamily="34" charset="0"/>
              <a:cs typeface="Arial" panose="020B0604020202020204" pitchFamily="34" charset="0"/>
            </a:endParaRPr>
          </a:p>
          <a:p>
            <a:pPr marL="360000" lvl="1" indent="-360000" fontAlgn="auto">
              <a:lnSpc>
                <a:spcPct val="90000"/>
              </a:lnSpc>
              <a:spcBef>
                <a:spcPts val="0"/>
              </a:spcBef>
              <a:spcAft>
                <a:spcPts val="0"/>
              </a:spcAft>
              <a:buSzPct val="100000"/>
              <a:buFont typeface="Wingdings" panose="05000000000000000000" pitchFamily="2" charset="2"/>
              <a:buChar char="Ø"/>
            </a:pPr>
            <a:endParaRPr lang="en-US" altLang="en-US" b="0" dirty="0" smtClean="0">
              <a:latin typeface="Arial" panose="020B0604020202020204" pitchFamily="34" charset="0"/>
              <a:cs typeface="Arial" panose="020B0604020202020204" pitchFamily="34" charset="0"/>
            </a:endParaRPr>
          </a:p>
          <a:p>
            <a:pPr marL="360000" lvl="1" indent="-360000" fontAlgn="auto">
              <a:lnSpc>
                <a:spcPct val="90000"/>
              </a:lnSpc>
              <a:spcBef>
                <a:spcPts val="0"/>
              </a:spcBef>
              <a:spcAft>
                <a:spcPts val="0"/>
              </a:spcAft>
              <a:buSzPct val="100000"/>
              <a:buFont typeface="Wingdings" panose="05000000000000000000" pitchFamily="2" charset="2"/>
              <a:buChar char="Ø"/>
            </a:pPr>
            <a:r>
              <a:rPr lang="en-US" altLang="en-US" b="0" dirty="0" smtClean="0">
                <a:latin typeface="Arial" panose="020B0604020202020204" pitchFamily="34" charset="0"/>
                <a:cs typeface="Arial" panose="020B0604020202020204" pitchFamily="34" charset="0"/>
              </a:rPr>
              <a:t>We fail as engineers with either or </a:t>
            </a:r>
            <a:r>
              <a:rPr lang="en-US" altLang="en-US" b="0" dirty="0">
                <a:latin typeface="Arial" panose="020B0604020202020204" pitchFamily="34" charset="0"/>
                <a:cs typeface="Arial" panose="020B0604020202020204" pitchFamily="34" charset="0"/>
              </a:rPr>
              <a:t>both </a:t>
            </a:r>
            <a:r>
              <a:rPr lang="en-US" altLang="en-US" b="0" dirty="0" smtClean="0">
                <a:latin typeface="Arial" panose="020B0604020202020204" pitchFamily="34" charset="0"/>
                <a:cs typeface="Arial" panose="020B0604020202020204" pitchFamily="34" charset="0"/>
              </a:rPr>
              <a:t>“unprofessional conduct” and “unskilled practice of engineering”</a:t>
            </a:r>
            <a:endParaRPr lang="en-US" altLang="en-US" b="0" dirty="0">
              <a:latin typeface="Arial" panose="020B0604020202020204" pitchFamily="34" charset="0"/>
              <a:cs typeface="Arial" panose="020B0604020202020204" pitchFamily="34" charset="0"/>
            </a:endParaRPr>
          </a:p>
          <a:p>
            <a:pPr marL="360000" lvl="1" indent="-360000" fontAlgn="auto">
              <a:lnSpc>
                <a:spcPct val="90000"/>
              </a:lnSpc>
              <a:spcBef>
                <a:spcPts val="0"/>
              </a:spcBef>
              <a:spcAft>
                <a:spcPts val="0"/>
              </a:spcAft>
              <a:buSzPct val="100000"/>
              <a:buFont typeface="Wingdings" panose="05000000000000000000" pitchFamily="2" charset="2"/>
              <a:buChar char="Ø"/>
            </a:pPr>
            <a:endParaRPr lang="en-US" altLang="en-US" b="0" dirty="0" smtClean="0">
              <a:latin typeface="Arial" panose="020B0604020202020204" pitchFamily="34" charset="0"/>
              <a:cs typeface="Arial" panose="020B0604020202020204" pitchFamily="34" charset="0"/>
            </a:endParaRPr>
          </a:p>
          <a:p>
            <a:pPr marL="360000" lvl="1" indent="-360000" fontAlgn="auto">
              <a:lnSpc>
                <a:spcPct val="90000"/>
              </a:lnSpc>
              <a:spcBef>
                <a:spcPts val="0"/>
              </a:spcBef>
              <a:spcAft>
                <a:spcPts val="0"/>
              </a:spcAft>
              <a:buSzPct val="100000"/>
              <a:buFont typeface="Wingdings" panose="05000000000000000000" pitchFamily="2" charset="2"/>
              <a:buChar char="Ø"/>
            </a:pPr>
            <a:r>
              <a:rPr lang="en-US" altLang="en-US" b="0" dirty="0" smtClean="0">
                <a:latin typeface="Arial" panose="020B0604020202020204" pitchFamily="34" charset="0"/>
                <a:cs typeface="Arial" panose="020B0604020202020204" pitchFamily="34" charset="0"/>
              </a:rPr>
              <a:t>“Unprofessional </a:t>
            </a:r>
            <a:r>
              <a:rPr lang="en-US" altLang="en-US" b="0" dirty="0">
                <a:latin typeface="Arial" panose="020B0604020202020204" pitchFamily="34" charset="0"/>
                <a:cs typeface="Arial" panose="020B0604020202020204" pitchFamily="34" charset="0"/>
              </a:rPr>
              <a:t>conduct” </a:t>
            </a:r>
            <a:r>
              <a:rPr lang="en-US" altLang="en-US" b="0" dirty="0" smtClean="0">
                <a:latin typeface="Arial" panose="020B0604020202020204" pitchFamily="34" charset="0"/>
                <a:cs typeface="Arial" panose="020B0604020202020204" pitchFamily="34" charset="0"/>
              </a:rPr>
              <a:t>can be very loosely termed as:</a:t>
            </a:r>
          </a:p>
          <a:p>
            <a:pPr marL="720000" lvl="1" indent="-360000" fontAlgn="auto">
              <a:lnSpc>
                <a:spcPct val="90000"/>
              </a:lnSpc>
              <a:spcBef>
                <a:spcPts val="0"/>
              </a:spcBef>
              <a:spcAft>
                <a:spcPts val="0"/>
              </a:spcAft>
              <a:buSzPct val="100000"/>
              <a:buFont typeface="Wingdings" panose="05000000000000000000" pitchFamily="2" charset="2"/>
              <a:buChar char="Ø"/>
            </a:pPr>
            <a:r>
              <a:rPr lang="en-US" altLang="en-US" b="0" dirty="0" smtClean="0">
                <a:latin typeface="Arial" panose="020B0604020202020204" pitchFamily="34" charset="0"/>
                <a:cs typeface="Arial" panose="020B0604020202020204" pitchFamily="34" charset="0"/>
              </a:rPr>
              <a:t>“I am doing something I ought not to do”, or </a:t>
            </a:r>
          </a:p>
          <a:p>
            <a:pPr marL="720000" lvl="1" indent="-360000" fontAlgn="auto">
              <a:lnSpc>
                <a:spcPct val="90000"/>
              </a:lnSpc>
              <a:spcBef>
                <a:spcPts val="0"/>
              </a:spcBef>
              <a:spcAft>
                <a:spcPts val="0"/>
              </a:spcAft>
              <a:buSzPct val="100000"/>
              <a:buFont typeface="Wingdings" panose="05000000000000000000" pitchFamily="2" charset="2"/>
              <a:buChar char="Ø"/>
            </a:pPr>
            <a:r>
              <a:rPr lang="en-US" altLang="en-US" b="0" dirty="0" smtClean="0">
                <a:latin typeface="Arial" panose="020B0604020202020204" pitchFamily="34" charset="0"/>
                <a:cs typeface="Arial" panose="020B0604020202020204" pitchFamily="34" charset="0"/>
              </a:rPr>
              <a:t>“I am not doing something I ought to do</a:t>
            </a:r>
            <a:r>
              <a:rPr lang="en-US" altLang="en-US" b="0" dirty="0" smtClean="0">
                <a:latin typeface="Arial" panose="020B0604020202020204" pitchFamily="34" charset="0"/>
                <a:cs typeface="Arial" panose="020B0604020202020204" pitchFamily="34" charset="0"/>
              </a:rPr>
              <a:t>”.</a:t>
            </a:r>
          </a:p>
          <a:p>
            <a:pPr marL="720000" lvl="1" indent="-360000" fontAlgn="auto">
              <a:lnSpc>
                <a:spcPct val="90000"/>
              </a:lnSpc>
              <a:spcBef>
                <a:spcPts val="0"/>
              </a:spcBef>
              <a:spcAft>
                <a:spcPts val="0"/>
              </a:spcAft>
              <a:buSzPct val="100000"/>
              <a:buFont typeface="Wingdings" panose="05000000000000000000" pitchFamily="2" charset="2"/>
              <a:buChar char="Ø"/>
            </a:pPr>
            <a:r>
              <a:rPr lang="en-US" altLang="en-US" b="0" dirty="0" smtClean="0">
                <a:latin typeface="Arial" panose="020B0604020202020204" pitchFamily="34" charset="0"/>
                <a:cs typeface="Arial" panose="020B0604020202020204" pitchFamily="34" charset="0"/>
              </a:rPr>
              <a:t>For </a:t>
            </a:r>
            <a:r>
              <a:rPr lang="en-US" altLang="en-US" b="0" dirty="0">
                <a:latin typeface="Arial" panose="020B0604020202020204" pitchFamily="34" charset="0"/>
                <a:cs typeface="Arial" panose="020B0604020202020204" pitchFamily="34" charset="0"/>
              </a:rPr>
              <a:t>our </a:t>
            </a:r>
            <a:r>
              <a:rPr lang="en-US" altLang="en-US" b="0" dirty="0" smtClean="0">
                <a:latin typeface="Arial" panose="020B0604020202020204" pitchFamily="34" charset="0"/>
                <a:cs typeface="Arial" panose="020B0604020202020204" pitchFamily="34" charset="0"/>
              </a:rPr>
              <a:t>purposes here, </a:t>
            </a:r>
            <a:r>
              <a:rPr lang="en-US" altLang="en-US" b="0" dirty="0">
                <a:latin typeface="Arial" panose="020B0604020202020204" pitchFamily="34" charset="0"/>
                <a:cs typeface="Arial" panose="020B0604020202020204" pitchFamily="34" charset="0"/>
              </a:rPr>
              <a:t>this predominantly applies to our code of ethics and legal </a:t>
            </a:r>
            <a:r>
              <a:rPr lang="en-US" altLang="en-US" b="0" dirty="0" smtClean="0">
                <a:latin typeface="Arial" panose="020B0604020202020204" pitchFamily="34" charset="0"/>
                <a:cs typeface="Arial" panose="020B0604020202020204" pitchFamily="34" charset="0"/>
              </a:rPr>
              <a:t>requirements.</a:t>
            </a:r>
            <a:endParaRPr lang="en-US" altLang="en-US" b="0" dirty="0" smtClean="0">
              <a:latin typeface="Arial" panose="020B0604020202020204" pitchFamily="34" charset="0"/>
              <a:cs typeface="Arial" panose="020B0604020202020204" pitchFamily="34" charset="0"/>
            </a:endParaRPr>
          </a:p>
          <a:p>
            <a:pPr marL="360000" lvl="1" indent="-360000" fontAlgn="auto">
              <a:lnSpc>
                <a:spcPct val="90000"/>
              </a:lnSpc>
              <a:spcBef>
                <a:spcPts val="0"/>
              </a:spcBef>
              <a:spcAft>
                <a:spcPts val="0"/>
              </a:spcAft>
              <a:buSzPct val="100000"/>
              <a:buFont typeface="Wingdings" panose="05000000000000000000" pitchFamily="2" charset="2"/>
              <a:buChar char="Ø"/>
            </a:pPr>
            <a:endParaRPr lang="en-US" altLang="en-US" b="0" dirty="0" smtClean="0">
              <a:latin typeface="Arial" panose="020B0604020202020204" pitchFamily="34" charset="0"/>
              <a:cs typeface="Arial" panose="020B0604020202020204" pitchFamily="34" charset="0"/>
            </a:endParaRPr>
          </a:p>
          <a:p>
            <a:pPr marL="360000" lvl="1" indent="-360000" fontAlgn="auto">
              <a:lnSpc>
                <a:spcPct val="90000"/>
              </a:lnSpc>
              <a:spcBef>
                <a:spcPts val="0"/>
              </a:spcBef>
              <a:spcAft>
                <a:spcPts val="0"/>
              </a:spcAft>
              <a:buSzPct val="100000"/>
              <a:buFont typeface="Wingdings" panose="05000000000000000000" pitchFamily="2" charset="2"/>
              <a:buChar char="Ø"/>
            </a:pPr>
            <a:r>
              <a:rPr lang="en-US" altLang="en-US" b="0" dirty="0">
                <a:latin typeface="Arial" panose="020B0604020202020204" pitchFamily="34" charset="0"/>
                <a:cs typeface="Arial" panose="020B0604020202020204" pitchFamily="34" charset="0"/>
              </a:rPr>
              <a:t>“Unskilled practice of engineering” can be loosely termed relative to an applied science as:</a:t>
            </a:r>
          </a:p>
          <a:p>
            <a:pPr marL="720000" lvl="1" indent="-360000" fontAlgn="auto">
              <a:lnSpc>
                <a:spcPct val="90000"/>
              </a:lnSpc>
              <a:spcBef>
                <a:spcPts val="0"/>
              </a:spcBef>
              <a:spcAft>
                <a:spcPts val="0"/>
              </a:spcAft>
              <a:buSzPct val="100000"/>
              <a:buFont typeface="Wingdings" panose="05000000000000000000" pitchFamily="2" charset="2"/>
              <a:buChar char="Ø"/>
            </a:pPr>
            <a:r>
              <a:rPr lang="en-US" altLang="en-US" b="0" dirty="0" smtClean="0">
                <a:latin typeface="Arial" panose="020B0604020202020204" pitchFamily="34" charset="0"/>
                <a:cs typeface="Arial" panose="020B0604020202020204" pitchFamily="34" charset="0"/>
              </a:rPr>
              <a:t>“I </a:t>
            </a:r>
            <a:r>
              <a:rPr lang="en-US" altLang="en-US" b="0" dirty="0">
                <a:latin typeface="Arial" panose="020B0604020202020204" pitchFamily="34" charset="0"/>
                <a:cs typeface="Arial" panose="020B0604020202020204" pitchFamily="34" charset="0"/>
              </a:rPr>
              <a:t>don’t know what I am doing</a:t>
            </a:r>
            <a:r>
              <a:rPr lang="en-US" altLang="en-US" b="0" dirty="0" smtClean="0">
                <a:latin typeface="Arial" panose="020B0604020202020204" pitchFamily="34" charset="0"/>
                <a:cs typeface="Arial" panose="020B0604020202020204" pitchFamily="34" charset="0"/>
              </a:rPr>
              <a:t>”, or</a:t>
            </a:r>
          </a:p>
          <a:p>
            <a:pPr marL="720000" lvl="1" indent="-360000" fontAlgn="auto">
              <a:lnSpc>
                <a:spcPct val="90000"/>
              </a:lnSpc>
              <a:spcBef>
                <a:spcPts val="0"/>
              </a:spcBef>
              <a:spcAft>
                <a:spcPts val="0"/>
              </a:spcAft>
              <a:buSzPct val="100000"/>
              <a:buFont typeface="Wingdings" panose="05000000000000000000" pitchFamily="2" charset="2"/>
              <a:buChar char="Ø"/>
            </a:pPr>
            <a:r>
              <a:rPr lang="en-US" altLang="en-US" b="0" dirty="0" smtClean="0">
                <a:latin typeface="Arial" panose="020B0604020202020204" pitchFamily="34" charset="0"/>
                <a:cs typeface="Arial" panose="020B0604020202020204" pitchFamily="34" charset="0"/>
              </a:rPr>
              <a:t>“I ought to have known the requirements”, or</a:t>
            </a:r>
          </a:p>
          <a:p>
            <a:pPr marL="720000" lvl="1" indent="-360000" fontAlgn="auto">
              <a:lnSpc>
                <a:spcPct val="90000"/>
              </a:lnSpc>
              <a:spcBef>
                <a:spcPts val="0"/>
              </a:spcBef>
              <a:spcAft>
                <a:spcPts val="0"/>
              </a:spcAft>
              <a:buSzPct val="100000"/>
              <a:buFont typeface="Wingdings" panose="05000000000000000000" pitchFamily="2" charset="2"/>
              <a:buChar char="Ø"/>
            </a:pPr>
            <a:r>
              <a:rPr lang="en-US" altLang="en-US" b="0" dirty="0" smtClean="0">
                <a:latin typeface="Arial" panose="020B0604020202020204" pitchFamily="34" charset="0"/>
                <a:cs typeface="Arial" panose="020B0604020202020204" pitchFamily="34" charset="0"/>
              </a:rPr>
              <a:t>“I did not do what I ought to have known to do”, or </a:t>
            </a:r>
          </a:p>
          <a:p>
            <a:pPr marL="720000" lvl="1" indent="-360000" fontAlgn="auto">
              <a:lnSpc>
                <a:spcPct val="90000"/>
              </a:lnSpc>
              <a:spcBef>
                <a:spcPts val="0"/>
              </a:spcBef>
              <a:spcAft>
                <a:spcPts val="0"/>
              </a:spcAft>
              <a:buSzPct val="100000"/>
              <a:buFont typeface="Wingdings" panose="05000000000000000000" pitchFamily="2" charset="2"/>
              <a:buChar char="Ø"/>
            </a:pPr>
            <a:r>
              <a:rPr lang="en-US" altLang="en-US" b="0" dirty="0" smtClean="0">
                <a:latin typeface="Arial" panose="020B0604020202020204" pitchFamily="34" charset="0"/>
                <a:cs typeface="Arial" panose="020B0604020202020204" pitchFamily="34" charset="0"/>
              </a:rPr>
              <a:t>“I did what I ought to have known not to do</a:t>
            </a:r>
            <a:r>
              <a:rPr lang="en-US" altLang="en-US" b="0" dirty="0" smtClean="0">
                <a:latin typeface="Arial" panose="020B0604020202020204" pitchFamily="34" charset="0"/>
                <a:cs typeface="Arial" panose="020B0604020202020204" pitchFamily="34" charset="0"/>
              </a:rPr>
              <a:t>”.</a:t>
            </a:r>
          </a:p>
          <a:p>
            <a:pPr marL="720000" lvl="1" indent="-360000" fontAlgn="auto">
              <a:lnSpc>
                <a:spcPct val="90000"/>
              </a:lnSpc>
              <a:spcBef>
                <a:spcPts val="0"/>
              </a:spcBef>
              <a:spcAft>
                <a:spcPts val="0"/>
              </a:spcAft>
              <a:buSzPct val="100000"/>
              <a:buFont typeface="Wingdings" panose="05000000000000000000" pitchFamily="2" charset="2"/>
              <a:buChar char="Ø"/>
            </a:pPr>
            <a:r>
              <a:rPr lang="en-US" altLang="en-US" b="0" dirty="0" smtClean="0">
                <a:latin typeface="Arial" panose="020B0604020202020204" pitchFamily="34" charset="0"/>
                <a:cs typeface="Arial" panose="020B0604020202020204" pitchFamily="34" charset="0"/>
              </a:rPr>
              <a:t>For </a:t>
            </a:r>
            <a:r>
              <a:rPr lang="en-US" altLang="en-US" b="0" dirty="0">
                <a:latin typeface="Arial" panose="020B0604020202020204" pitchFamily="34" charset="0"/>
                <a:cs typeface="Arial" panose="020B0604020202020204" pitchFamily="34" charset="0"/>
              </a:rPr>
              <a:t>our purposes here, this predominantly applies to the application of any science, technology, or engineering</a:t>
            </a:r>
            <a:endParaRPr lang="en-US" altLang="en-US" b="0" dirty="0">
              <a:latin typeface="Arial" panose="020B0604020202020204" pitchFamily="34" charset="0"/>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10</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6" name="Google Shape;125;p2"/>
          <p:cNvSpPr/>
          <p:nvPr/>
        </p:nvSpPr>
        <p:spPr>
          <a:xfrm>
            <a:off x="2592000" y="6300000"/>
            <a:ext cx="5868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6.9: </a:t>
            </a:r>
            <a:r>
              <a:rPr lang="en-US" sz="1200" i="1" kern="0" dirty="0">
                <a:solidFill>
                  <a:srgbClr val="000000"/>
                </a:solidFill>
                <a:ea typeface="Times New Roman"/>
                <a:cs typeface="Arial" panose="020B0604020202020204" pitchFamily="34" charset="0"/>
                <a:sym typeface="Times New Roman"/>
              </a:rPr>
              <a:t>Professionalism, </a:t>
            </a:r>
            <a:r>
              <a:rPr lang="en-US" sz="1200" i="1" kern="0" dirty="0" smtClean="0">
                <a:solidFill>
                  <a:srgbClr val="000000"/>
                </a:solidFill>
                <a:ea typeface="Times New Roman"/>
                <a:cs typeface="Arial" panose="020B0604020202020204" pitchFamily="34" charset="0"/>
                <a:sym typeface="Times New Roman"/>
              </a:rPr>
              <a:t>Applications, </a:t>
            </a:r>
            <a:r>
              <a:rPr lang="en-US" sz="1200" i="1" kern="0" dirty="0">
                <a:solidFill>
                  <a:srgbClr val="000000"/>
                </a:solidFill>
                <a:ea typeface="Times New Roman"/>
                <a:cs typeface="Arial" panose="020B0604020202020204" pitchFamily="34" charset="0"/>
                <a:sym typeface="Times New Roman"/>
              </a:rPr>
              <a:t>and </a:t>
            </a:r>
            <a:r>
              <a:rPr lang="en-US" sz="1200" i="1" kern="0" dirty="0" smtClean="0">
                <a:solidFill>
                  <a:srgbClr val="000000"/>
                </a:solidFill>
                <a:ea typeface="Times New Roman"/>
                <a:cs typeface="Arial" panose="020B0604020202020204" pitchFamily="34" charset="0"/>
                <a:sym typeface="Times New Roman"/>
              </a:rPr>
              <a:t>Professional Responsibilities</a:t>
            </a:r>
            <a:endParaRPr lang="en-US" sz="1200" i="1" kern="0" dirty="0">
              <a:solidFill>
                <a:srgbClr val="000000"/>
              </a:solidFill>
              <a:ea typeface="Times New Roman"/>
              <a:cs typeface="Arial" panose="020B0604020202020204" pitchFamily="34" charset="0"/>
              <a:sym typeface="Times New Roman"/>
            </a:endParaRPr>
          </a:p>
        </p:txBody>
      </p:sp>
      <p:sp>
        <p:nvSpPr>
          <p:cNvPr id="7" name="Rectangle 2"/>
          <p:cNvSpPr>
            <a:spLocks noChangeArrowheads="1"/>
          </p:cNvSpPr>
          <p:nvPr/>
        </p:nvSpPr>
        <p:spPr bwMode="auto">
          <a:xfrm>
            <a:off x="180000" y="180000"/>
            <a:ext cx="8640000" cy="504000"/>
          </a:xfrm>
          <a:prstGeom prst="rect">
            <a:avLst/>
          </a:prstGeom>
          <a:noFill/>
          <a:ln>
            <a:noFill/>
          </a:ln>
          <a:extLst/>
        </p:spPr>
        <p:txBody>
          <a:bodyPr anchor="ctr"/>
          <a:lstStyle/>
          <a:p>
            <a:pPr>
              <a:buFont typeface="Arial" panose="020B0604020202020204" pitchFamily="34" charset="0"/>
              <a:buNone/>
            </a:pPr>
            <a:r>
              <a:rPr lang="en-US" altLang="en-US" sz="2400" b="0" dirty="0" smtClean="0">
                <a:solidFill>
                  <a:schemeClr val="accent2"/>
                </a:solidFill>
                <a:latin typeface="Arial" panose="020B0604020202020204" pitchFamily="34" charset="0"/>
                <a:ea typeface="+mj-ea"/>
                <a:cs typeface="Arial" panose="020B0604020202020204" pitchFamily="34" charset="0"/>
              </a:rPr>
              <a:t>What About When We Are NOT Professional? </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3349952270"/>
      </p:ext>
    </p:extLst>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000" y="828000"/>
            <a:ext cx="8640000" cy="5328000"/>
          </a:xfrm>
          <a:prstGeom prst="rect">
            <a:avLst/>
          </a:prstGeom>
          <a:solidFill>
            <a:schemeClr val="tx1"/>
          </a:solidFill>
          <a:ln>
            <a:solidFill>
              <a:schemeClr val="tx1"/>
            </a:solidFill>
          </a:ln>
        </p:spPr>
        <p:txBody>
          <a:bodyPr wrap="square">
            <a:noAutofit/>
          </a:bodyPr>
          <a:lstStyle/>
          <a:p>
            <a:pPr marL="0" lvl="1" fontAlgn="auto">
              <a:lnSpc>
                <a:spcPct val="90000"/>
              </a:lnSpc>
              <a:spcBef>
                <a:spcPts val="0"/>
              </a:spcBef>
              <a:spcAft>
                <a:spcPts val="0"/>
              </a:spcAft>
              <a:buSzPct val="100000"/>
            </a:pPr>
            <a:r>
              <a:rPr lang="en-US" altLang="en-US" sz="1600" b="0" dirty="0">
                <a:solidFill>
                  <a:schemeClr val="bg1"/>
                </a:solidFill>
                <a:latin typeface="Arial" panose="020B0604020202020204" pitchFamily="34" charset="0"/>
                <a:cs typeface="Arial" panose="020B0604020202020204" pitchFamily="34" charset="0"/>
              </a:rPr>
              <a:t>Certain scenarios and our decisions can reflect either “Unprofessional Conduct” or “Unskilled Practice Of Engineering” or both</a:t>
            </a:r>
            <a:r>
              <a:rPr lang="en-US" altLang="en-US" sz="1600" b="0" dirty="0" smtClean="0">
                <a:solidFill>
                  <a:schemeClr val="bg1"/>
                </a:solidFill>
                <a:latin typeface="Arial" panose="020B0604020202020204" pitchFamily="34" charset="0"/>
                <a:cs typeface="Arial" panose="020B0604020202020204" pitchFamily="34" charset="0"/>
              </a:rPr>
              <a:t>!  So, let’s have a preliminary examination of “Unprofessional Conduct” and “Unskilled Practice Of Engineering” for the five scenarios:</a:t>
            </a:r>
          </a:p>
          <a:p>
            <a:pPr marL="0" lvl="1" fontAlgn="auto">
              <a:lnSpc>
                <a:spcPct val="90000"/>
              </a:lnSpc>
              <a:spcBef>
                <a:spcPts val="0"/>
              </a:spcBef>
              <a:spcAft>
                <a:spcPts val="0"/>
              </a:spcAft>
              <a:buSzPct val="100000"/>
            </a:pPr>
            <a:endParaRPr lang="en-US" altLang="en-US" sz="1600" b="0" dirty="0" smtClean="0">
              <a:solidFill>
                <a:schemeClr val="bg1"/>
              </a:solidFill>
              <a:latin typeface="Arial" panose="020B0604020202020204" pitchFamily="34" charset="0"/>
              <a:cs typeface="Arial" panose="020B0604020202020204" pitchFamily="34" charset="0"/>
            </a:endParaRPr>
          </a:p>
          <a:p>
            <a:pPr marL="360000" lvl="1" indent="-360000" fontAlgn="auto">
              <a:lnSpc>
                <a:spcPct val="90000"/>
              </a:lnSpc>
              <a:spcBef>
                <a:spcPts val="0"/>
              </a:spcBef>
              <a:spcAft>
                <a:spcPts val="0"/>
              </a:spcAft>
              <a:buSzPct val="100000"/>
              <a:buFont typeface="+mj-lt"/>
              <a:buAutoNum type="arabicParenR"/>
            </a:pPr>
            <a:r>
              <a:rPr lang="en-US" altLang="en-US" sz="1600" b="0" dirty="0" smtClean="0">
                <a:solidFill>
                  <a:schemeClr val="bg1"/>
                </a:solidFill>
                <a:latin typeface="Arial" panose="020B0604020202020204" pitchFamily="34" charset="0"/>
                <a:cs typeface="Arial" panose="020B0604020202020204" pitchFamily="34" charset="0"/>
              </a:rPr>
              <a:t>Delay </a:t>
            </a:r>
            <a:r>
              <a:rPr lang="en-US" altLang="en-US" sz="1600" b="0" dirty="0">
                <a:solidFill>
                  <a:schemeClr val="bg1"/>
                </a:solidFill>
                <a:latin typeface="Arial" panose="020B0604020202020204" pitchFamily="34" charset="0"/>
                <a:cs typeface="Arial" panose="020B0604020202020204" pitchFamily="34" charset="0"/>
              </a:rPr>
              <a:t>RTS, wait for the OEM part, and install the OEM part. </a:t>
            </a:r>
            <a:r>
              <a:rPr lang="en-US" altLang="en-US" sz="1600" b="0" dirty="0" smtClean="0">
                <a:solidFill>
                  <a:schemeClr val="bg1"/>
                </a:solidFill>
                <a:latin typeface="Arial" panose="020B0604020202020204" pitchFamily="34" charset="0"/>
                <a:cs typeface="Arial" panose="020B0604020202020204" pitchFamily="34" charset="0"/>
              </a:rPr>
              <a:t>(No incident)</a:t>
            </a:r>
            <a:endParaRPr lang="en-US" altLang="en-US" sz="1600" b="0" dirty="0">
              <a:solidFill>
                <a:schemeClr val="bg1"/>
              </a:solidFill>
              <a:latin typeface="Arial" panose="020B0604020202020204" pitchFamily="34" charset="0"/>
              <a:cs typeface="Arial" panose="020B0604020202020204" pitchFamily="34" charset="0"/>
            </a:endParaRPr>
          </a:p>
          <a:p>
            <a:pPr marL="360000" lvl="1" indent="-360000" fontAlgn="auto">
              <a:lnSpc>
                <a:spcPct val="90000"/>
              </a:lnSpc>
              <a:spcBef>
                <a:spcPts val="0"/>
              </a:spcBef>
              <a:spcAft>
                <a:spcPts val="0"/>
              </a:spcAft>
              <a:buSzPct val="100000"/>
              <a:buFont typeface="Wingdings" panose="05000000000000000000" pitchFamily="2" charset="2"/>
              <a:buChar char="Ø"/>
            </a:pPr>
            <a:r>
              <a:rPr lang="en-US" altLang="en-US" sz="1600" b="0" i="1" dirty="0">
                <a:solidFill>
                  <a:srgbClr val="FFFF00"/>
                </a:solidFill>
                <a:latin typeface="Arial" panose="020B0604020202020204" pitchFamily="34" charset="0"/>
                <a:cs typeface="Arial" panose="020B0604020202020204" pitchFamily="34" charset="0"/>
              </a:rPr>
              <a:t>Both professional conduct </a:t>
            </a:r>
            <a:r>
              <a:rPr lang="en-US" altLang="en-US" sz="1600" b="0" i="1" dirty="0" smtClean="0">
                <a:solidFill>
                  <a:srgbClr val="FFFF00"/>
                </a:solidFill>
                <a:latin typeface="Arial" panose="020B0604020202020204" pitchFamily="34" charset="0"/>
                <a:cs typeface="Arial" panose="020B0604020202020204" pitchFamily="34" charset="0"/>
              </a:rPr>
              <a:t>(complied with the regulations, specifically OH&amp;S Code Section 12) and </a:t>
            </a:r>
            <a:r>
              <a:rPr lang="en-US" altLang="en-US" sz="1600" b="0" i="1" dirty="0">
                <a:solidFill>
                  <a:srgbClr val="FFFF00"/>
                </a:solidFill>
                <a:latin typeface="Arial" panose="020B0604020202020204" pitchFamily="34" charset="0"/>
                <a:cs typeface="Arial" panose="020B0604020202020204" pitchFamily="34" charset="0"/>
              </a:rPr>
              <a:t>skilled </a:t>
            </a:r>
            <a:r>
              <a:rPr lang="en-US" altLang="en-US" sz="1600" b="0" i="1" dirty="0" smtClean="0">
                <a:solidFill>
                  <a:srgbClr val="FFFF00"/>
                </a:solidFill>
                <a:latin typeface="Arial" panose="020B0604020202020204" pitchFamily="34" charset="0"/>
                <a:cs typeface="Arial" panose="020B0604020202020204" pitchFamily="34" charset="0"/>
              </a:rPr>
              <a:t>practice (knew what to do)!</a:t>
            </a:r>
            <a:endParaRPr lang="en-US" altLang="en-US" sz="1600" b="0" i="1" dirty="0">
              <a:solidFill>
                <a:srgbClr val="FFFF00"/>
              </a:solidFill>
              <a:latin typeface="Arial" panose="020B0604020202020204" pitchFamily="34" charset="0"/>
              <a:cs typeface="Arial" panose="020B0604020202020204" pitchFamily="34" charset="0"/>
            </a:endParaRPr>
          </a:p>
          <a:p>
            <a:pPr marL="360000" lvl="1" indent="-360000" fontAlgn="auto">
              <a:lnSpc>
                <a:spcPct val="90000"/>
              </a:lnSpc>
              <a:spcBef>
                <a:spcPts val="0"/>
              </a:spcBef>
              <a:spcAft>
                <a:spcPts val="0"/>
              </a:spcAft>
              <a:buSzPct val="100000"/>
              <a:buFont typeface="Wingdings" panose="05000000000000000000" pitchFamily="2" charset="2"/>
              <a:buChar char="Ø"/>
            </a:pPr>
            <a:endParaRPr lang="en-US" altLang="en-US" sz="1600" b="0" dirty="0">
              <a:solidFill>
                <a:schemeClr val="bg1"/>
              </a:solidFill>
              <a:latin typeface="Arial" panose="020B0604020202020204" pitchFamily="34" charset="0"/>
              <a:cs typeface="Arial" panose="020B0604020202020204" pitchFamily="34" charset="0"/>
            </a:endParaRPr>
          </a:p>
          <a:p>
            <a:pPr marL="360000" lvl="1" indent="-360000" fontAlgn="auto">
              <a:lnSpc>
                <a:spcPct val="90000"/>
              </a:lnSpc>
              <a:spcBef>
                <a:spcPts val="0"/>
              </a:spcBef>
              <a:spcAft>
                <a:spcPts val="0"/>
              </a:spcAft>
              <a:buSzPct val="100000"/>
              <a:buFont typeface="+mj-lt"/>
              <a:buAutoNum type="arabicParenR" startAt="2"/>
            </a:pPr>
            <a:r>
              <a:rPr lang="en-US" altLang="en-US" sz="1600" b="0" dirty="0" smtClean="0">
                <a:solidFill>
                  <a:schemeClr val="bg1"/>
                </a:solidFill>
                <a:latin typeface="Arial" panose="020B0604020202020204" pitchFamily="34" charset="0"/>
                <a:cs typeface="Arial" panose="020B0604020202020204" pitchFamily="34" charset="0"/>
              </a:rPr>
              <a:t>Design </a:t>
            </a:r>
            <a:r>
              <a:rPr lang="en-US" altLang="en-US" sz="1600" b="0" dirty="0">
                <a:solidFill>
                  <a:schemeClr val="bg1"/>
                </a:solidFill>
                <a:latin typeface="Arial" panose="020B0604020202020204" pitchFamily="34" charset="0"/>
                <a:cs typeface="Arial" panose="020B0604020202020204" pitchFamily="34" charset="0"/>
              </a:rPr>
              <a:t>&amp; certify a </a:t>
            </a:r>
            <a:r>
              <a:rPr lang="en-US" altLang="en-US" sz="1600" b="0" u="sng" dirty="0">
                <a:solidFill>
                  <a:schemeClr val="bg1"/>
                </a:solidFill>
                <a:latin typeface="Arial" panose="020B0604020202020204" pitchFamily="34" charset="0"/>
                <a:cs typeface="Arial" panose="020B0604020202020204" pitchFamily="34" charset="0"/>
              </a:rPr>
              <a:t>temporary repair</a:t>
            </a:r>
            <a:r>
              <a:rPr lang="en-US" altLang="en-US" sz="1600" b="0" dirty="0">
                <a:solidFill>
                  <a:schemeClr val="bg1"/>
                </a:solidFill>
                <a:latin typeface="Arial" panose="020B0604020202020204" pitchFamily="34" charset="0"/>
                <a:cs typeface="Arial" panose="020B0604020202020204" pitchFamily="34" charset="0"/>
              </a:rPr>
              <a:t> using </a:t>
            </a:r>
            <a:r>
              <a:rPr lang="en-US" altLang="en-US" sz="1600" b="0" dirty="0" smtClean="0">
                <a:solidFill>
                  <a:schemeClr val="bg1"/>
                </a:solidFill>
                <a:latin typeface="Arial" panose="020B0604020202020204" pitchFamily="34" charset="0"/>
                <a:cs typeface="Arial" panose="020B0604020202020204" pitchFamily="34" charset="0"/>
              </a:rPr>
              <a:t>two-part metal-epoxy, and the repair is successful. (No incident)</a:t>
            </a:r>
          </a:p>
          <a:p>
            <a:pPr marL="360000" lvl="1" indent="-360000" fontAlgn="auto">
              <a:lnSpc>
                <a:spcPct val="90000"/>
              </a:lnSpc>
              <a:spcBef>
                <a:spcPts val="0"/>
              </a:spcBef>
              <a:spcAft>
                <a:spcPts val="0"/>
              </a:spcAft>
              <a:buSzPct val="100000"/>
              <a:buFont typeface="Wingdings" panose="05000000000000000000" pitchFamily="2" charset="2"/>
              <a:buChar char="Ø"/>
            </a:pPr>
            <a:r>
              <a:rPr lang="en-US" altLang="en-US" sz="1600" b="0" i="1" dirty="0" smtClean="0">
                <a:solidFill>
                  <a:srgbClr val="FFFF00"/>
                </a:solidFill>
                <a:latin typeface="Arial" panose="020B0604020202020204" pitchFamily="34" charset="0"/>
                <a:cs typeface="Arial" panose="020B0604020202020204" pitchFamily="34" charset="0"/>
              </a:rPr>
              <a:t>Both </a:t>
            </a:r>
            <a:r>
              <a:rPr lang="en-US" altLang="en-US" sz="1600" b="0" i="1" dirty="0">
                <a:solidFill>
                  <a:srgbClr val="FFFF00"/>
                </a:solidFill>
                <a:latin typeface="Arial" panose="020B0604020202020204" pitchFamily="34" charset="0"/>
                <a:cs typeface="Arial" panose="020B0604020202020204" pitchFamily="34" charset="0"/>
              </a:rPr>
              <a:t>professional conduct (complied with the </a:t>
            </a:r>
            <a:r>
              <a:rPr lang="en-US" altLang="en-US" sz="1600" b="0" i="1" dirty="0" smtClean="0">
                <a:solidFill>
                  <a:srgbClr val="FFFF00"/>
                </a:solidFill>
                <a:latin typeface="Arial" panose="020B0604020202020204" pitchFamily="34" charset="0"/>
                <a:cs typeface="Arial" panose="020B0604020202020204" pitchFamily="34" charset="0"/>
              </a:rPr>
              <a:t>regulations</a:t>
            </a:r>
            <a:r>
              <a:rPr lang="en-US" altLang="en-US" sz="1600" b="0" i="1" dirty="0">
                <a:solidFill>
                  <a:srgbClr val="FFFF00"/>
                </a:solidFill>
                <a:latin typeface="Arial" panose="020B0604020202020204" pitchFamily="34" charset="0"/>
                <a:cs typeface="Arial" panose="020B0604020202020204" pitchFamily="34" charset="0"/>
              </a:rPr>
              <a:t>) and skilled practice (knew what to do</a:t>
            </a:r>
            <a:r>
              <a:rPr lang="en-US" altLang="en-US" sz="1600" b="0" i="1" dirty="0" smtClean="0">
                <a:solidFill>
                  <a:srgbClr val="FFFF00"/>
                </a:solidFill>
                <a:latin typeface="Arial" panose="020B0604020202020204" pitchFamily="34" charset="0"/>
                <a:cs typeface="Arial" panose="020B0604020202020204" pitchFamily="34" charset="0"/>
              </a:rPr>
              <a:t>)!</a:t>
            </a:r>
          </a:p>
          <a:p>
            <a:pPr marL="0" lvl="1" fontAlgn="auto">
              <a:lnSpc>
                <a:spcPct val="90000"/>
              </a:lnSpc>
              <a:spcBef>
                <a:spcPts val="0"/>
              </a:spcBef>
              <a:spcAft>
                <a:spcPts val="0"/>
              </a:spcAft>
              <a:buSzPct val="100000"/>
            </a:pPr>
            <a:endParaRPr lang="en-US" altLang="en-US" sz="1600" b="0" dirty="0">
              <a:solidFill>
                <a:schemeClr val="bg1"/>
              </a:solidFill>
              <a:latin typeface="Arial" panose="020B0604020202020204" pitchFamily="34" charset="0"/>
              <a:cs typeface="Arial" panose="020B0604020202020204" pitchFamily="34" charset="0"/>
            </a:endParaRPr>
          </a:p>
          <a:p>
            <a:pPr marL="360000" lvl="1" indent="-360000" fontAlgn="auto">
              <a:lnSpc>
                <a:spcPct val="90000"/>
              </a:lnSpc>
              <a:spcBef>
                <a:spcPts val="0"/>
              </a:spcBef>
              <a:spcAft>
                <a:spcPts val="0"/>
              </a:spcAft>
              <a:buSzPct val="100000"/>
              <a:buFont typeface="+mj-lt"/>
              <a:buAutoNum type="arabicParenR" startAt="3"/>
            </a:pPr>
            <a:r>
              <a:rPr lang="en-US" altLang="en-US" sz="1600" b="0" dirty="0">
                <a:solidFill>
                  <a:schemeClr val="bg1"/>
                </a:solidFill>
                <a:latin typeface="Arial" panose="020B0604020202020204" pitchFamily="34" charset="0"/>
                <a:cs typeface="Arial" panose="020B0604020202020204" pitchFamily="34" charset="0"/>
              </a:rPr>
              <a:t>Design &amp; certify a temporary repair using two-part metal-epoxy, and the repair fails while in temporary service i.e. incident AND </a:t>
            </a:r>
            <a:r>
              <a:rPr lang="en-US" altLang="en-US" sz="1600" b="0" dirty="0" smtClean="0">
                <a:solidFill>
                  <a:schemeClr val="bg1"/>
                </a:solidFill>
                <a:latin typeface="Arial" panose="020B0604020202020204" pitchFamily="34" charset="0"/>
                <a:cs typeface="Arial" panose="020B0604020202020204" pitchFamily="34" charset="0"/>
              </a:rPr>
              <a:t>the Statutory Board (APEGA members) </a:t>
            </a:r>
            <a:r>
              <a:rPr lang="en-US" altLang="en-US" sz="1600" b="0" dirty="0">
                <a:solidFill>
                  <a:schemeClr val="bg1"/>
                </a:solidFill>
                <a:latin typeface="Arial" panose="020B0604020202020204" pitchFamily="34" charset="0"/>
                <a:cs typeface="Arial" panose="020B0604020202020204" pitchFamily="34" charset="0"/>
              </a:rPr>
              <a:t>investigates.</a:t>
            </a:r>
          </a:p>
          <a:p>
            <a:pPr marL="360000" lvl="1" indent="-360000" fontAlgn="auto">
              <a:lnSpc>
                <a:spcPct val="90000"/>
              </a:lnSpc>
              <a:spcBef>
                <a:spcPts val="0"/>
              </a:spcBef>
              <a:spcAft>
                <a:spcPts val="0"/>
              </a:spcAft>
              <a:buSzPct val="100000"/>
              <a:buFont typeface="Wingdings" panose="05000000000000000000" pitchFamily="2" charset="2"/>
              <a:buChar char="Ø"/>
            </a:pPr>
            <a:r>
              <a:rPr lang="en-US" altLang="en-US" sz="1600" b="0" i="1" dirty="0">
                <a:solidFill>
                  <a:srgbClr val="FFFF00"/>
                </a:solidFill>
                <a:latin typeface="Arial" panose="020B0604020202020204" pitchFamily="34" charset="0"/>
                <a:cs typeface="Arial" panose="020B0604020202020204" pitchFamily="34" charset="0"/>
              </a:rPr>
              <a:t>Professional conduct (complied with the </a:t>
            </a:r>
            <a:r>
              <a:rPr lang="en-US" altLang="en-US" sz="1600" b="0" i="1" dirty="0" err="1">
                <a:solidFill>
                  <a:srgbClr val="FFFF00"/>
                </a:solidFill>
                <a:latin typeface="Arial" panose="020B0604020202020204" pitchFamily="34" charset="0"/>
                <a:cs typeface="Arial" panose="020B0604020202020204" pitchFamily="34" charset="0"/>
              </a:rPr>
              <a:t>reg’s</a:t>
            </a:r>
            <a:r>
              <a:rPr lang="en-US" altLang="en-US" sz="1600" b="0" i="1" dirty="0">
                <a:solidFill>
                  <a:srgbClr val="FFFF00"/>
                </a:solidFill>
                <a:latin typeface="Arial" panose="020B0604020202020204" pitchFamily="34" charset="0"/>
                <a:cs typeface="Arial" panose="020B0604020202020204" pitchFamily="34" charset="0"/>
              </a:rPr>
              <a:t>) but perhaps </a:t>
            </a:r>
            <a:r>
              <a:rPr lang="en-US" altLang="en-US" sz="1600" b="0" i="1" u="sng" dirty="0">
                <a:solidFill>
                  <a:srgbClr val="FFFF00"/>
                </a:solidFill>
                <a:latin typeface="Arial" panose="020B0604020202020204" pitchFamily="34" charset="0"/>
                <a:cs typeface="Arial" panose="020B0604020202020204" pitchFamily="34" charset="0"/>
              </a:rPr>
              <a:t>unskilled practice</a:t>
            </a:r>
            <a:r>
              <a:rPr lang="en-US" altLang="en-US" sz="1600" b="0" i="1" dirty="0">
                <a:solidFill>
                  <a:srgbClr val="FFFF00"/>
                </a:solidFill>
                <a:latin typeface="Arial" panose="020B0604020202020204" pitchFamily="34" charset="0"/>
                <a:cs typeface="Arial" panose="020B0604020202020204" pitchFamily="34" charset="0"/>
              </a:rPr>
              <a:t> </a:t>
            </a:r>
            <a:r>
              <a:rPr lang="en-US" altLang="en-US" sz="1600" b="0" i="1" dirty="0" smtClean="0">
                <a:solidFill>
                  <a:srgbClr val="FFFF00"/>
                </a:solidFill>
                <a:latin typeface="Arial" panose="020B0604020202020204" pitchFamily="34" charset="0"/>
                <a:cs typeface="Arial" panose="020B0604020202020204" pitchFamily="34" charset="0"/>
              </a:rPr>
              <a:t> i.e. maybe </a:t>
            </a:r>
            <a:r>
              <a:rPr lang="en-US" altLang="en-US" sz="1600" b="0" i="1" dirty="0">
                <a:solidFill>
                  <a:srgbClr val="FFFF00"/>
                </a:solidFill>
                <a:latin typeface="Arial" panose="020B0604020202020204" pitchFamily="34" charset="0"/>
                <a:cs typeface="Arial" panose="020B0604020202020204" pitchFamily="34" charset="0"/>
              </a:rPr>
              <a:t>did not know what to do e.g. over-estimated strength of epoxy</a:t>
            </a:r>
            <a:r>
              <a:rPr lang="en-US" altLang="en-US" sz="1600" b="0" i="1" dirty="0" smtClean="0">
                <a:solidFill>
                  <a:srgbClr val="FFFF00"/>
                </a:solidFill>
                <a:latin typeface="Arial" panose="020B0604020202020204" pitchFamily="34" charset="0"/>
                <a:cs typeface="Arial" panose="020B0604020202020204" pitchFamily="34" charset="0"/>
              </a:rPr>
              <a:t>? </a:t>
            </a:r>
          </a:p>
          <a:p>
            <a:pPr marL="360000" lvl="1" indent="-360000" fontAlgn="auto">
              <a:lnSpc>
                <a:spcPct val="90000"/>
              </a:lnSpc>
              <a:spcBef>
                <a:spcPts val="0"/>
              </a:spcBef>
              <a:spcAft>
                <a:spcPts val="0"/>
              </a:spcAft>
              <a:buSzPct val="100000"/>
              <a:buFont typeface="Wingdings" panose="05000000000000000000" pitchFamily="2" charset="2"/>
              <a:buChar char="Ø"/>
            </a:pPr>
            <a:r>
              <a:rPr lang="en-US" altLang="en-US" sz="1600" b="0" i="1" dirty="0" smtClean="0">
                <a:solidFill>
                  <a:srgbClr val="FFFF00"/>
                </a:solidFill>
                <a:latin typeface="Arial" panose="020B0604020202020204" pitchFamily="34" charset="0"/>
                <a:cs typeface="Arial" panose="020B0604020202020204" pitchFamily="34" charset="0"/>
              </a:rPr>
              <a:t>Documentation of risk management activities (e.g. design calculations, etc.) i.e. due diligence, will certainly play a part in the ruling / judgment re: skilled practice or unskilled practice i.e. not enough information.</a:t>
            </a:r>
          </a:p>
          <a:p>
            <a:pPr marL="360000" lvl="1" indent="-360000" fontAlgn="auto">
              <a:lnSpc>
                <a:spcPct val="90000"/>
              </a:lnSpc>
              <a:spcBef>
                <a:spcPts val="0"/>
              </a:spcBef>
              <a:spcAft>
                <a:spcPts val="0"/>
              </a:spcAft>
              <a:buSzPct val="100000"/>
              <a:buFont typeface="Wingdings" panose="05000000000000000000" pitchFamily="2" charset="2"/>
              <a:buChar char="Ø"/>
            </a:pPr>
            <a:endParaRPr lang="en-US" altLang="en-US" sz="1600" b="0" i="1" dirty="0">
              <a:solidFill>
                <a:srgbClr val="FFFF00"/>
              </a:solidFill>
              <a:latin typeface="Arial" panose="020B0604020202020204" pitchFamily="34" charset="0"/>
              <a:cs typeface="Arial" panose="020B0604020202020204" pitchFamily="34" charset="0"/>
            </a:endParaRPr>
          </a:p>
          <a:p>
            <a:pPr marL="0" lvl="1" algn="r" fontAlgn="auto">
              <a:lnSpc>
                <a:spcPct val="90000"/>
              </a:lnSpc>
              <a:spcBef>
                <a:spcPts val="0"/>
              </a:spcBef>
              <a:spcAft>
                <a:spcPts val="0"/>
              </a:spcAft>
              <a:buSzPct val="100000"/>
            </a:pPr>
            <a:r>
              <a:rPr lang="en-US" altLang="en-US" sz="1600" b="0" i="1" dirty="0">
                <a:solidFill>
                  <a:srgbClr val="FFFF00"/>
                </a:solidFill>
                <a:latin typeface="Arial" panose="020B0604020202020204" pitchFamily="34" charset="0"/>
                <a:cs typeface="Arial" panose="020B0604020202020204" pitchFamily="34" charset="0"/>
              </a:rPr>
              <a:t>(</a:t>
            </a:r>
            <a:r>
              <a:rPr lang="en-US" altLang="en-US" sz="1600" b="0" i="1" dirty="0" smtClean="0">
                <a:solidFill>
                  <a:srgbClr val="FFFF00"/>
                </a:solidFill>
                <a:latin typeface="Arial" panose="020B0604020202020204" pitchFamily="34" charset="0"/>
                <a:cs typeface="Arial" panose="020B0604020202020204" pitchFamily="34" charset="0"/>
              </a:rPr>
              <a:t>Continued on next slide) </a:t>
            </a: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11</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6" name="Google Shape;125;p2"/>
          <p:cNvSpPr/>
          <p:nvPr/>
        </p:nvSpPr>
        <p:spPr>
          <a:xfrm>
            <a:off x="2592000" y="6300000"/>
            <a:ext cx="5868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6.9: </a:t>
            </a:r>
            <a:r>
              <a:rPr lang="en-US" sz="1200" i="1" kern="0" dirty="0">
                <a:solidFill>
                  <a:srgbClr val="000000"/>
                </a:solidFill>
                <a:ea typeface="Times New Roman"/>
                <a:cs typeface="Arial" panose="020B0604020202020204" pitchFamily="34" charset="0"/>
                <a:sym typeface="Times New Roman"/>
              </a:rPr>
              <a:t>Professionalism, </a:t>
            </a:r>
            <a:r>
              <a:rPr lang="en-US" sz="1200" i="1" kern="0" dirty="0" smtClean="0">
                <a:solidFill>
                  <a:srgbClr val="000000"/>
                </a:solidFill>
                <a:ea typeface="Times New Roman"/>
                <a:cs typeface="Arial" panose="020B0604020202020204" pitchFamily="34" charset="0"/>
                <a:sym typeface="Times New Roman"/>
              </a:rPr>
              <a:t>Applications, </a:t>
            </a:r>
            <a:r>
              <a:rPr lang="en-US" sz="1200" i="1" kern="0" dirty="0">
                <a:solidFill>
                  <a:srgbClr val="000000"/>
                </a:solidFill>
                <a:ea typeface="Times New Roman"/>
                <a:cs typeface="Arial" panose="020B0604020202020204" pitchFamily="34" charset="0"/>
                <a:sym typeface="Times New Roman"/>
              </a:rPr>
              <a:t>and </a:t>
            </a:r>
            <a:r>
              <a:rPr lang="en-US" sz="1200" i="1" kern="0" dirty="0" smtClean="0">
                <a:solidFill>
                  <a:srgbClr val="000000"/>
                </a:solidFill>
                <a:ea typeface="Times New Roman"/>
                <a:cs typeface="Arial" panose="020B0604020202020204" pitchFamily="34" charset="0"/>
                <a:sym typeface="Times New Roman"/>
              </a:rPr>
              <a:t>Professional Responsibilities</a:t>
            </a:r>
            <a:endParaRPr lang="en-US" sz="1200" i="1" kern="0" dirty="0">
              <a:solidFill>
                <a:srgbClr val="000000"/>
              </a:solidFill>
              <a:ea typeface="Times New Roman"/>
              <a:cs typeface="Arial" panose="020B0604020202020204" pitchFamily="34" charset="0"/>
              <a:sym typeface="Times New Roman"/>
            </a:endParaRPr>
          </a:p>
        </p:txBody>
      </p:sp>
      <p:sp>
        <p:nvSpPr>
          <p:cNvPr id="7" name="Rectangle 2"/>
          <p:cNvSpPr>
            <a:spLocks noChangeArrowheads="1"/>
          </p:cNvSpPr>
          <p:nvPr/>
        </p:nvSpPr>
        <p:spPr bwMode="auto">
          <a:xfrm>
            <a:off x="180000" y="180000"/>
            <a:ext cx="8640000" cy="504000"/>
          </a:xfrm>
          <a:prstGeom prst="rect">
            <a:avLst/>
          </a:prstGeom>
          <a:solidFill>
            <a:schemeClr val="tx1"/>
          </a:solidFill>
          <a:ln>
            <a:solidFill>
              <a:schemeClr val="tx1"/>
            </a:solidFill>
          </a:ln>
          <a:extLst/>
        </p:spPr>
        <p:txBody>
          <a:bodyPr anchor="ctr"/>
          <a:lstStyle/>
          <a:p>
            <a:pPr>
              <a:buFont typeface="Arial" panose="020B0604020202020204" pitchFamily="34" charset="0"/>
              <a:buNone/>
            </a:pPr>
            <a:r>
              <a:rPr lang="en-US" altLang="en-US" sz="2400" b="0" dirty="0" smtClean="0">
                <a:solidFill>
                  <a:schemeClr val="bg1"/>
                </a:solidFill>
                <a:latin typeface="Arial" panose="020B0604020202020204" pitchFamily="34" charset="0"/>
                <a:ea typeface="+mj-ea"/>
                <a:cs typeface="Arial" panose="020B0604020202020204" pitchFamily="34" charset="0"/>
              </a:rPr>
              <a:t>Example: What About When We Are NOT Professional? </a:t>
            </a:r>
            <a:endParaRPr lang="en-US" altLang="en-US" sz="2400" b="0" dirty="0">
              <a:solidFill>
                <a:schemeClr val="bg1"/>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485229210"/>
      </p:ext>
    </p:extLst>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000" y="828000"/>
            <a:ext cx="8640000" cy="5328000"/>
          </a:xfrm>
          <a:prstGeom prst="rect">
            <a:avLst/>
          </a:prstGeom>
          <a:solidFill>
            <a:schemeClr val="tx1"/>
          </a:solidFill>
          <a:ln>
            <a:solidFill>
              <a:schemeClr val="tx1"/>
            </a:solidFill>
          </a:ln>
        </p:spPr>
        <p:txBody>
          <a:bodyPr wrap="square">
            <a:noAutofit/>
          </a:bodyPr>
          <a:lstStyle/>
          <a:p>
            <a:pPr marL="0" lvl="1" fontAlgn="auto">
              <a:lnSpc>
                <a:spcPct val="90000"/>
              </a:lnSpc>
              <a:spcBef>
                <a:spcPts val="0"/>
              </a:spcBef>
              <a:spcAft>
                <a:spcPts val="0"/>
              </a:spcAft>
              <a:buSzPct val="100000"/>
            </a:pPr>
            <a:r>
              <a:rPr lang="en-US" altLang="en-US" sz="1600" b="0" dirty="0">
                <a:solidFill>
                  <a:schemeClr val="bg1"/>
                </a:solidFill>
                <a:latin typeface="Arial" panose="020B0604020202020204" pitchFamily="34" charset="0"/>
                <a:cs typeface="Arial" panose="020B0604020202020204" pitchFamily="34" charset="0"/>
              </a:rPr>
              <a:t>Certain scenarios and our decisions can reflect either “Unprofessional Conduct” or “Unskilled Practice Of Engineering” or both!  So, let’s have a preliminary examination of “Unprofessional Conduct” and “Unskilled Practice Of Engineering” for the five scenarios:</a:t>
            </a:r>
          </a:p>
          <a:p>
            <a:pPr marL="0" lvl="1" fontAlgn="auto">
              <a:lnSpc>
                <a:spcPct val="90000"/>
              </a:lnSpc>
              <a:spcBef>
                <a:spcPts val="0"/>
              </a:spcBef>
              <a:spcAft>
                <a:spcPts val="0"/>
              </a:spcAft>
              <a:buSzPct val="100000"/>
            </a:pPr>
            <a:endParaRPr lang="en-US" altLang="en-US" sz="1600" b="0" dirty="0" smtClean="0">
              <a:solidFill>
                <a:schemeClr val="bg1"/>
              </a:solidFill>
              <a:latin typeface="Arial" panose="020B0604020202020204" pitchFamily="34" charset="0"/>
              <a:cs typeface="Arial" panose="020B0604020202020204" pitchFamily="34" charset="0"/>
            </a:endParaRPr>
          </a:p>
          <a:p>
            <a:pPr marL="360000" lvl="1" indent="-360000" fontAlgn="auto">
              <a:lnSpc>
                <a:spcPct val="90000"/>
              </a:lnSpc>
              <a:spcBef>
                <a:spcPts val="0"/>
              </a:spcBef>
              <a:spcAft>
                <a:spcPts val="0"/>
              </a:spcAft>
              <a:buSzPct val="100000"/>
              <a:buFont typeface="+mj-lt"/>
              <a:buAutoNum type="arabicParenR" startAt="4"/>
            </a:pPr>
            <a:r>
              <a:rPr lang="en-US" altLang="en-US" sz="1600" b="0" dirty="0" smtClean="0">
                <a:solidFill>
                  <a:schemeClr val="bg1"/>
                </a:solidFill>
                <a:latin typeface="Arial" panose="020B0604020202020204" pitchFamily="34" charset="0"/>
                <a:cs typeface="Arial" panose="020B0604020202020204" pitchFamily="34" charset="0"/>
              </a:rPr>
              <a:t>Blindly </a:t>
            </a:r>
            <a:r>
              <a:rPr lang="en-US" altLang="en-US" sz="1600" b="0" dirty="0">
                <a:solidFill>
                  <a:schemeClr val="bg1"/>
                </a:solidFill>
                <a:latin typeface="Arial" panose="020B0604020202020204" pitchFamily="34" charset="0"/>
                <a:cs typeface="Arial" panose="020B0604020202020204" pitchFamily="34" charset="0"/>
              </a:rPr>
              <a:t>approve “rubber-stamp” the design for a </a:t>
            </a:r>
            <a:r>
              <a:rPr lang="en-US" altLang="en-US" sz="1600" b="0" u="sng" dirty="0">
                <a:solidFill>
                  <a:schemeClr val="bg1"/>
                </a:solidFill>
                <a:latin typeface="Arial" panose="020B0604020202020204" pitchFamily="34" charset="0"/>
                <a:cs typeface="Arial" panose="020B0604020202020204" pitchFamily="34" charset="0"/>
              </a:rPr>
              <a:t>temporary repair</a:t>
            </a:r>
            <a:r>
              <a:rPr lang="en-US" altLang="en-US" sz="1600" b="0" dirty="0">
                <a:solidFill>
                  <a:schemeClr val="bg1"/>
                </a:solidFill>
                <a:latin typeface="Arial" panose="020B0604020202020204" pitchFamily="34" charset="0"/>
                <a:cs typeface="Arial" panose="020B0604020202020204" pitchFamily="34" charset="0"/>
              </a:rPr>
              <a:t>. </a:t>
            </a:r>
          </a:p>
          <a:p>
            <a:pPr marL="360000" lvl="1" indent="-360000" fontAlgn="auto">
              <a:lnSpc>
                <a:spcPct val="90000"/>
              </a:lnSpc>
              <a:spcBef>
                <a:spcPts val="0"/>
              </a:spcBef>
              <a:spcAft>
                <a:spcPts val="0"/>
              </a:spcAft>
              <a:buSzPct val="100000"/>
              <a:buFont typeface="Wingdings" panose="05000000000000000000" pitchFamily="2" charset="2"/>
              <a:buChar char="Ø"/>
            </a:pPr>
            <a:r>
              <a:rPr lang="en-US" altLang="en-US" sz="1600" b="0" i="1" dirty="0" smtClean="0">
                <a:solidFill>
                  <a:srgbClr val="FFFF00"/>
                </a:solidFill>
                <a:latin typeface="Arial" panose="020B0604020202020204" pitchFamily="34" charset="0"/>
                <a:cs typeface="Arial" panose="020B0604020202020204" pitchFamily="34" charset="0"/>
              </a:rPr>
              <a:t>Unprofessional conduct: even though the repair was “certified” to meet the “letter” of the law, it did not meet the “intent” of the law; it </a:t>
            </a:r>
            <a:r>
              <a:rPr lang="en-US" altLang="en-US" sz="1600" b="0" i="1" dirty="0" err="1" smtClean="0">
                <a:solidFill>
                  <a:srgbClr val="FFFF00"/>
                </a:solidFill>
                <a:latin typeface="Arial" panose="020B0604020202020204" pitchFamily="34" charset="0"/>
                <a:cs typeface="Arial" panose="020B0604020202020204" pitchFamily="34" charset="0"/>
              </a:rPr>
              <a:t>centres</a:t>
            </a:r>
            <a:r>
              <a:rPr lang="en-US" altLang="en-US" sz="1600" b="0" i="1" dirty="0" smtClean="0">
                <a:solidFill>
                  <a:srgbClr val="FFFF00"/>
                </a:solidFill>
                <a:latin typeface="Arial" panose="020B0604020202020204" pitchFamily="34" charset="0"/>
                <a:cs typeface="Arial" panose="020B0604020202020204" pitchFamily="34" charset="0"/>
              </a:rPr>
              <a:t> back to </a:t>
            </a:r>
            <a:r>
              <a:rPr lang="en-US" altLang="en-US" sz="1600" b="0" i="1" u="sng" dirty="0" smtClean="0">
                <a:solidFill>
                  <a:srgbClr val="FFFF00"/>
                </a:solidFill>
                <a:latin typeface="Arial" panose="020B0604020202020204" pitchFamily="34" charset="0"/>
                <a:cs typeface="Arial" panose="020B0604020202020204" pitchFamily="34" charset="0"/>
              </a:rPr>
              <a:t>Code of Conduct</a:t>
            </a:r>
            <a:r>
              <a:rPr lang="en-US" altLang="en-US" sz="1600" b="0" i="1" dirty="0" smtClean="0">
                <a:solidFill>
                  <a:srgbClr val="FFFF00"/>
                </a:solidFill>
                <a:latin typeface="Arial" panose="020B0604020202020204" pitchFamily="34" charset="0"/>
                <a:cs typeface="Arial" panose="020B0604020202020204" pitchFamily="34" charset="0"/>
              </a:rPr>
              <a:t> “Professional engineers shall comply with the regulations”</a:t>
            </a:r>
          </a:p>
          <a:p>
            <a:pPr marL="360000" lvl="1" indent="-360000" fontAlgn="auto">
              <a:lnSpc>
                <a:spcPct val="90000"/>
              </a:lnSpc>
              <a:spcBef>
                <a:spcPts val="0"/>
              </a:spcBef>
              <a:spcAft>
                <a:spcPts val="0"/>
              </a:spcAft>
              <a:buSzPct val="100000"/>
              <a:buFont typeface="Wingdings" panose="05000000000000000000" pitchFamily="2" charset="2"/>
              <a:buChar char="Ø"/>
            </a:pPr>
            <a:r>
              <a:rPr lang="en-US" altLang="en-US" sz="1600" b="0" i="1" dirty="0" smtClean="0">
                <a:solidFill>
                  <a:srgbClr val="FFFF00"/>
                </a:solidFill>
                <a:latin typeface="Arial" panose="020B0604020202020204" pitchFamily="34" charset="0"/>
                <a:cs typeface="Arial" panose="020B0604020202020204" pitchFamily="34" charset="0"/>
              </a:rPr>
              <a:t>Unskilled practice: the engineer ought to have known that: a) Part 3 Section 12 of the OH&amp;S Code applied, and/or b) a temporary repair of this nature was not sufficiently durable for its application.</a:t>
            </a:r>
            <a:endParaRPr lang="en-US" altLang="en-US" sz="1600" b="0" i="1" dirty="0">
              <a:solidFill>
                <a:srgbClr val="FFFF00"/>
              </a:solidFill>
              <a:latin typeface="Arial" panose="020B0604020202020204" pitchFamily="34" charset="0"/>
              <a:cs typeface="Arial" panose="020B0604020202020204" pitchFamily="34" charset="0"/>
            </a:endParaRPr>
          </a:p>
          <a:p>
            <a:pPr marL="360000" lvl="1" indent="-360000" fontAlgn="auto">
              <a:lnSpc>
                <a:spcPct val="90000"/>
              </a:lnSpc>
              <a:spcBef>
                <a:spcPts val="0"/>
              </a:spcBef>
              <a:spcAft>
                <a:spcPts val="0"/>
              </a:spcAft>
              <a:buSzPct val="100000"/>
              <a:buFont typeface="Wingdings" panose="05000000000000000000" pitchFamily="2" charset="2"/>
              <a:buChar char="Ø"/>
            </a:pPr>
            <a:endParaRPr lang="en-US" altLang="en-US" sz="1600" b="0" i="1" dirty="0">
              <a:solidFill>
                <a:srgbClr val="FFFF00"/>
              </a:solidFill>
              <a:latin typeface="Arial" panose="020B0604020202020204" pitchFamily="34" charset="0"/>
              <a:cs typeface="Arial" panose="020B0604020202020204" pitchFamily="34" charset="0"/>
            </a:endParaRPr>
          </a:p>
          <a:p>
            <a:pPr marL="360000" lvl="1" indent="-360000" fontAlgn="auto">
              <a:lnSpc>
                <a:spcPct val="90000"/>
              </a:lnSpc>
              <a:spcBef>
                <a:spcPts val="0"/>
              </a:spcBef>
              <a:spcAft>
                <a:spcPts val="0"/>
              </a:spcAft>
              <a:buSzPct val="100000"/>
              <a:buFont typeface="+mj-lt"/>
              <a:buAutoNum type="arabicParenR" startAt="5"/>
            </a:pPr>
            <a:r>
              <a:rPr lang="en-US" altLang="en-US" sz="1600" b="0" dirty="0" smtClean="0">
                <a:solidFill>
                  <a:schemeClr val="bg1"/>
                </a:solidFill>
                <a:latin typeface="Arial" panose="020B0604020202020204" pitchFamily="34" charset="0"/>
                <a:cs typeface="Arial" panose="020B0604020202020204" pitchFamily="34" charset="0"/>
              </a:rPr>
              <a:t>Do </a:t>
            </a:r>
            <a:r>
              <a:rPr lang="en-US" altLang="en-US" sz="1600" b="0" dirty="0">
                <a:solidFill>
                  <a:schemeClr val="bg1"/>
                </a:solidFill>
                <a:latin typeface="Arial" panose="020B0604020202020204" pitchFamily="34" charset="0"/>
                <a:cs typeface="Arial" panose="020B0604020202020204" pitchFamily="34" charset="0"/>
              </a:rPr>
              <a:t>nothing – ignore the mechanic’s repair work using </a:t>
            </a:r>
            <a:r>
              <a:rPr lang="en-US" altLang="en-US" sz="1600" b="0" dirty="0" smtClean="0">
                <a:solidFill>
                  <a:schemeClr val="bg1"/>
                </a:solidFill>
                <a:latin typeface="Arial" panose="020B0604020202020204" pitchFamily="34" charset="0"/>
                <a:cs typeface="Arial" panose="020B0604020202020204" pitchFamily="34" charset="0"/>
              </a:rPr>
              <a:t>two-part metal-epoxy </a:t>
            </a:r>
            <a:r>
              <a:rPr lang="en-US" altLang="en-US" sz="1600" b="0" dirty="0">
                <a:solidFill>
                  <a:schemeClr val="bg1"/>
                </a:solidFill>
                <a:latin typeface="Arial" panose="020B0604020202020204" pitchFamily="34" charset="0"/>
                <a:cs typeface="Arial" panose="020B0604020202020204" pitchFamily="34" charset="0"/>
              </a:rPr>
              <a:t>– and believe that you cannot be held responsible because the work is not under your responsibility / not approved / not authorized / not certified by you / not. </a:t>
            </a:r>
          </a:p>
          <a:p>
            <a:pPr marL="360000" lvl="1" indent="-360000" fontAlgn="auto">
              <a:lnSpc>
                <a:spcPct val="90000"/>
              </a:lnSpc>
              <a:spcBef>
                <a:spcPts val="0"/>
              </a:spcBef>
              <a:spcAft>
                <a:spcPts val="0"/>
              </a:spcAft>
              <a:buSzPct val="100000"/>
              <a:buFont typeface="Wingdings" panose="05000000000000000000" pitchFamily="2" charset="2"/>
              <a:buChar char="Ø"/>
            </a:pPr>
            <a:r>
              <a:rPr lang="en-US" altLang="en-US" sz="1600" b="0" i="1" dirty="0">
                <a:solidFill>
                  <a:srgbClr val="FFFF00"/>
                </a:solidFill>
                <a:latin typeface="Arial" panose="020B0604020202020204" pitchFamily="34" charset="0"/>
                <a:cs typeface="Arial" panose="020B0604020202020204" pitchFamily="34" charset="0"/>
              </a:rPr>
              <a:t>Unprofessional </a:t>
            </a:r>
            <a:r>
              <a:rPr lang="en-US" altLang="en-US" sz="1600" b="0" i="1" dirty="0" smtClean="0">
                <a:solidFill>
                  <a:srgbClr val="FFFF00"/>
                </a:solidFill>
                <a:latin typeface="Arial" panose="020B0604020202020204" pitchFamily="34" charset="0"/>
                <a:cs typeface="Arial" panose="020B0604020202020204" pitchFamily="34" charset="0"/>
              </a:rPr>
              <a:t>conduct: the </a:t>
            </a:r>
            <a:r>
              <a:rPr lang="en-US" altLang="en-US" sz="1600" b="0" i="1" dirty="0">
                <a:solidFill>
                  <a:srgbClr val="FFFF00"/>
                </a:solidFill>
                <a:latin typeface="Arial" panose="020B0604020202020204" pitchFamily="34" charset="0"/>
                <a:cs typeface="Arial" panose="020B0604020202020204" pitchFamily="34" charset="0"/>
              </a:rPr>
              <a:t>engineer ought to have known to meet the intent of the </a:t>
            </a:r>
            <a:r>
              <a:rPr lang="en-US" altLang="en-US" sz="1600" b="0" i="1" dirty="0" smtClean="0">
                <a:solidFill>
                  <a:srgbClr val="FFFF00"/>
                </a:solidFill>
                <a:latin typeface="Arial" panose="020B0604020202020204" pitchFamily="34" charset="0"/>
                <a:cs typeface="Arial" panose="020B0604020202020204" pitchFamily="34" charset="0"/>
              </a:rPr>
              <a:t>law, and protect the interests of the public.</a:t>
            </a:r>
          </a:p>
          <a:p>
            <a:pPr marL="360000" lvl="1" indent="-360000" fontAlgn="auto">
              <a:lnSpc>
                <a:spcPct val="90000"/>
              </a:lnSpc>
              <a:spcBef>
                <a:spcPts val="0"/>
              </a:spcBef>
              <a:spcAft>
                <a:spcPts val="0"/>
              </a:spcAft>
              <a:buSzPct val="100000"/>
              <a:buFont typeface="Wingdings" panose="05000000000000000000" pitchFamily="2" charset="2"/>
              <a:buChar char="Ø"/>
            </a:pPr>
            <a:r>
              <a:rPr lang="en-US" altLang="en-US" sz="1600" b="0" i="1" dirty="0">
                <a:solidFill>
                  <a:srgbClr val="FFFF00"/>
                </a:solidFill>
                <a:latin typeface="Arial" panose="020B0604020202020204" pitchFamily="34" charset="0"/>
                <a:cs typeface="Arial" panose="020B0604020202020204" pitchFamily="34" charset="0"/>
              </a:rPr>
              <a:t>Unskilled practice: the engineer ought to have known that: a) Part 3 Section 12 of the OH&amp;S Code applied, and/or b) a temporary repair of this nature was not sufficiently durable for its </a:t>
            </a:r>
            <a:r>
              <a:rPr lang="en-US" altLang="en-US" sz="1600" b="0" i="1" dirty="0" smtClean="0">
                <a:solidFill>
                  <a:srgbClr val="FFFF00"/>
                </a:solidFill>
                <a:latin typeface="Arial" panose="020B0604020202020204" pitchFamily="34" charset="0"/>
                <a:cs typeface="Arial" panose="020B0604020202020204" pitchFamily="34" charset="0"/>
              </a:rPr>
              <a:t>application i.e. equivalent to an OEM-approved replacement part. </a:t>
            </a: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12</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6" name="Google Shape;125;p2"/>
          <p:cNvSpPr/>
          <p:nvPr/>
        </p:nvSpPr>
        <p:spPr>
          <a:xfrm>
            <a:off x="2592000" y="6300000"/>
            <a:ext cx="5868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6.9: </a:t>
            </a:r>
            <a:r>
              <a:rPr lang="en-US" sz="1200" i="1" kern="0" dirty="0">
                <a:solidFill>
                  <a:srgbClr val="000000"/>
                </a:solidFill>
                <a:ea typeface="Times New Roman"/>
                <a:cs typeface="Arial" panose="020B0604020202020204" pitchFamily="34" charset="0"/>
                <a:sym typeface="Times New Roman"/>
              </a:rPr>
              <a:t>Professionalism, </a:t>
            </a:r>
            <a:r>
              <a:rPr lang="en-US" sz="1200" i="1" kern="0" dirty="0" smtClean="0">
                <a:solidFill>
                  <a:srgbClr val="000000"/>
                </a:solidFill>
                <a:ea typeface="Times New Roman"/>
                <a:cs typeface="Arial" panose="020B0604020202020204" pitchFamily="34" charset="0"/>
                <a:sym typeface="Times New Roman"/>
              </a:rPr>
              <a:t>Applications, </a:t>
            </a:r>
            <a:r>
              <a:rPr lang="en-US" sz="1200" i="1" kern="0" dirty="0">
                <a:solidFill>
                  <a:srgbClr val="000000"/>
                </a:solidFill>
                <a:ea typeface="Times New Roman"/>
                <a:cs typeface="Arial" panose="020B0604020202020204" pitchFamily="34" charset="0"/>
                <a:sym typeface="Times New Roman"/>
              </a:rPr>
              <a:t>and </a:t>
            </a:r>
            <a:r>
              <a:rPr lang="en-US" sz="1200" i="1" kern="0" dirty="0" smtClean="0">
                <a:solidFill>
                  <a:srgbClr val="000000"/>
                </a:solidFill>
                <a:ea typeface="Times New Roman"/>
                <a:cs typeface="Arial" panose="020B0604020202020204" pitchFamily="34" charset="0"/>
                <a:sym typeface="Times New Roman"/>
              </a:rPr>
              <a:t>Professional Responsibilities</a:t>
            </a:r>
            <a:endParaRPr lang="en-US" sz="1200" i="1" kern="0" dirty="0">
              <a:solidFill>
                <a:srgbClr val="000000"/>
              </a:solidFill>
              <a:ea typeface="Times New Roman"/>
              <a:cs typeface="Arial" panose="020B0604020202020204" pitchFamily="34" charset="0"/>
              <a:sym typeface="Times New Roman"/>
            </a:endParaRPr>
          </a:p>
        </p:txBody>
      </p:sp>
      <p:sp>
        <p:nvSpPr>
          <p:cNvPr id="7" name="Rectangle 2"/>
          <p:cNvSpPr>
            <a:spLocks noChangeArrowheads="1"/>
          </p:cNvSpPr>
          <p:nvPr/>
        </p:nvSpPr>
        <p:spPr bwMode="auto">
          <a:xfrm>
            <a:off x="180000" y="180000"/>
            <a:ext cx="8640000" cy="504000"/>
          </a:xfrm>
          <a:prstGeom prst="rect">
            <a:avLst/>
          </a:prstGeom>
          <a:solidFill>
            <a:schemeClr val="tx1"/>
          </a:solidFill>
          <a:ln>
            <a:solidFill>
              <a:schemeClr val="tx1"/>
            </a:solidFill>
          </a:ln>
          <a:extLst/>
        </p:spPr>
        <p:txBody>
          <a:bodyPr anchor="ctr"/>
          <a:lstStyle/>
          <a:p>
            <a:pPr>
              <a:buFont typeface="Arial" panose="020B0604020202020204" pitchFamily="34" charset="0"/>
              <a:buNone/>
            </a:pPr>
            <a:r>
              <a:rPr lang="en-US" altLang="en-US" sz="2400" b="0" dirty="0" smtClean="0">
                <a:solidFill>
                  <a:schemeClr val="bg1"/>
                </a:solidFill>
                <a:latin typeface="Arial" panose="020B0604020202020204" pitchFamily="34" charset="0"/>
                <a:ea typeface="+mj-ea"/>
                <a:cs typeface="Arial" panose="020B0604020202020204" pitchFamily="34" charset="0"/>
              </a:rPr>
              <a:t>Example: What About When We Are NOT Professional? </a:t>
            </a:r>
            <a:endParaRPr lang="en-US" altLang="en-US" sz="2400" b="0" dirty="0">
              <a:solidFill>
                <a:schemeClr val="bg1"/>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293160567"/>
      </p:ext>
    </p:extLst>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000" y="828000"/>
            <a:ext cx="8640000" cy="5328000"/>
          </a:xfrm>
          <a:prstGeom prst="rect">
            <a:avLst/>
          </a:prstGeom>
          <a:solidFill>
            <a:schemeClr val="tx1"/>
          </a:solidFill>
          <a:ln>
            <a:solidFill>
              <a:schemeClr val="tx1"/>
            </a:solidFill>
          </a:ln>
        </p:spPr>
        <p:txBody>
          <a:bodyPr wrap="square">
            <a:noAutofit/>
          </a:bodyPr>
          <a:lstStyle/>
          <a:p>
            <a:pPr marL="0" lvl="1" fontAlgn="auto">
              <a:lnSpc>
                <a:spcPct val="90000"/>
              </a:lnSpc>
              <a:spcBef>
                <a:spcPts val="0"/>
              </a:spcBef>
              <a:spcAft>
                <a:spcPts val="0"/>
              </a:spcAft>
              <a:buSzPct val="100000"/>
            </a:pPr>
            <a:r>
              <a:rPr lang="en-US" altLang="en-US" b="0" i="1" dirty="0" smtClean="0">
                <a:solidFill>
                  <a:schemeClr val="bg1"/>
                </a:solidFill>
                <a:latin typeface="Arial" panose="020B0604020202020204" pitchFamily="34" charset="0"/>
                <a:cs typeface="Arial" panose="020B0604020202020204" pitchFamily="34" charset="0"/>
              </a:rPr>
              <a:t>It </a:t>
            </a:r>
            <a:r>
              <a:rPr lang="en-US" altLang="en-US" b="0" i="1" dirty="0">
                <a:solidFill>
                  <a:schemeClr val="bg1"/>
                </a:solidFill>
                <a:latin typeface="Arial" panose="020B0604020202020204" pitchFamily="34" charset="0"/>
                <a:cs typeface="Arial" panose="020B0604020202020204" pitchFamily="34" charset="0"/>
              </a:rPr>
              <a:t>is important to note that this is a simplistic and brief examination of these scenarios. Such scenarios, when investigated by statutory boards of our peers appointed under the EGP Act (Investigative Committee, Discipline Committee) are very complex and require a detailed investigation and examination to reach an equitable decision</a:t>
            </a:r>
            <a:r>
              <a:rPr lang="en-US" altLang="en-US" b="0" i="1" dirty="0" smtClean="0">
                <a:solidFill>
                  <a:schemeClr val="bg1"/>
                </a:solidFill>
                <a:latin typeface="Arial" panose="020B0604020202020204" pitchFamily="34" charset="0"/>
                <a:cs typeface="Arial" panose="020B0604020202020204" pitchFamily="34" charset="0"/>
              </a:rPr>
              <a:t>.</a:t>
            </a:r>
            <a:endParaRPr lang="en-US" altLang="en-US" b="0" i="1" dirty="0">
              <a:solidFill>
                <a:schemeClr val="bg1"/>
              </a:solidFill>
              <a:latin typeface="Arial" panose="020B0604020202020204" pitchFamily="34" charset="0"/>
              <a:cs typeface="Arial" panose="020B0604020202020204" pitchFamily="34" charset="0"/>
            </a:endParaRPr>
          </a:p>
          <a:p>
            <a:pPr marL="360000" lvl="1" indent="-360000" fontAlgn="auto">
              <a:lnSpc>
                <a:spcPct val="90000"/>
              </a:lnSpc>
              <a:spcBef>
                <a:spcPts val="0"/>
              </a:spcBef>
              <a:spcAft>
                <a:spcPts val="0"/>
              </a:spcAft>
              <a:buSzPct val="100000"/>
              <a:buFont typeface="Wingdings" panose="05000000000000000000" pitchFamily="2" charset="2"/>
              <a:buChar char="Ø"/>
            </a:pPr>
            <a:endParaRPr lang="en-US" altLang="en-US" b="0" i="1" dirty="0">
              <a:solidFill>
                <a:srgbClr val="FFFF00"/>
              </a:solidFill>
              <a:latin typeface="Arial" panose="020B0604020202020204" pitchFamily="34" charset="0"/>
              <a:cs typeface="Arial" panose="020B0604020202020204" pitchFamily="34" charset="0"/>
            </a:endParaRPr>
          </a:p>
          <a:p>
            <a:pPr marL="0" lvl="1" fontAlgn="auto">
              <a:lnSpc>
                <a:spcPct val="90000"/>
              </a:lnSpc>
              <a:spcBef>
                <a:spcPts val="0"/>
              </a:spcBef>
              <a:spcAft>
                <a:spcPts val="0"/>
              </a:spcAft>
              <a:buSzPct val="100000"/>
            </a:pPr>
            <a:r>
              <a:rPr lang="en-US" altLang="en-US" b="0" i="1" dirty="0" smtClean="0">
                <a:solidFill>
                  <a:srgbClr val="FFFF00"/>
                </a:solidFill>
                <a:latin typeface="Arial" panose="020B0604020202020204" pitchFamily="34" charset="0"/>
                <a:cs typeface="Arial" panose="020B0604020202020204" pitchFamily="34" charset="0"/>
              </a:rPr>
              <a:t>So, in each of scenarios 3), 4), and 5), where </a:t>
            </a:r>
            <a:r>
              <a:rPr lang="en-US" altLang="en-US" b="0" i="1" dirty="0">
                <a:solidFill>
                  <a:srgbClr val="FFFF00"/>
                </a:solidFill>
                <a:latin typeface="Arial" panose="020B0604020202020204" pitchFamily="34" charset="0"/>
                <a:cs typeface="Arial" panose="020B0604020202020204" pitchFamily="34" charset="0"/>
              </a:rPr>
              <a:t>might </a:t>
            </a:r>
            <a:r>
              <a:rPr lang="en-US" altLang="en-US" b="0" i="1" dirty="0" smtClean="0">
                <a:solidFill>
                  <a:srgbClr val="FFFF00"/>
                </a:solidFill>
                <a:latin typeface="Arial" panose="020B0604020202020204" pitchFamily="34" charset="0"/>
                <a:cs typeface="Arial" panose="020B0604020202020204" pitchFamily="34" charset="0"/>
              </a:rPr>
              <a:t>these investigations </a:t>
            </a:r>
            <a:r>
              <a:rPr lang="en-US" altLang="en-US" b="0" i="1" dirty="0">
                <a:solidFill>
                  <a:srgbClr val="FFFF00"/>
                </a:solidFill>
                <a:latin typeface="Arial" panose="020B0604020202020204" pitchFamily="34" charset="0"/>
                <a:cs typeface="Arial" panose="020B0604020202020204" pitchFamily="34" charset="0"/>
              </a:rPr>
              <a:t>go? </a:t>
            </a:r>
            <a:endParaRPr lang="en-US" altLang="en-US" b="0" i="1" dirty="0" smtClean="0">
              <a:solidFill>
                <a:srgbClr val="FFFF00"/>
              </a:solidFill>
              <a:latin typeface="Arial" panose="020B0604020202020204" pitchFamily="34" charset="0"/>
              <a:cs typeface="Arial" panose="020B0604020202020204" pitchFamily="34" charset="0"/>
            </a:endParaRPr>
          </a:p>
          <a:p>
            <a:pPr marL="0" lvl="1" fontAlgn="auto">
              <a:lnSpc>
                <a:spcPct val="90000"/>
              </a:lnSpc>
              <a:spcBef>
                <a:spcPts val="0"/>
              </a:spcBef>
              <a:spcAft>
                <a:spcPts val="0"/>
              </a:spcAft>
              <a:buSzPct val="100000"/>
            </a:pPr>
            <a:endParaRPr lang="en-US" altLang="en-US" b="0" i="1" dirty="0">
              <a:solidFill>
                <a:srgbClr val="FFFF00"/>
              </a:solidFill>
              <a:latin typeface="Arial" panose="020B0604020202020204" pitchFamily="34" charset="0"/>
              <a:cs typeface="Arial" panose="020B0604020202020204" pitchFamily="34" charset="0"/>
            </a:endParaRPr>
          </a:p>
          <a:p>
            <a:pPr marL="0" lvl="1" fontAlgn="auto">
              <a:lnSpc>
                <a:spcPct val="90000"/>
              </a:lnSpc>
              <a:spcBef>
                <a:spcPts val="0"/>
              </a:spcBef>
              <a:spcAft>
                <a:spcPts val="0"/>
              </a:spcAft>
              <a:buSzPct val="100000"/>
            </a:pPr>
            <a:r>
              <a:rPr lang="en-US" altLang="en-US" b="0" i="1" dirty="0" smtClean="0">
                <a:solidFill>
                  <a:srgbClr val="FFFF00"/>
                </a:solidFill>
                <a:latin typeface="Arial" panose="020B0604020202020204" pitchFamily="34" charset="0"/>
                <a:cs typeface="Arial" panose="020B0604020202020204" pitchFamily="34" charset="0"/>
              </a:rPr>
              <a:t>More </a:t>
            </a:r>
            <a:r>
              <a:rPr lang="en-US" altLang="en-US" b="0" i="1" dirty="0">
                <a:solidFill>
                  <a:srgbClr val="FFFF00"/>
                </a:solidFill>
                <a:latin typeface="Arial" panose="020B0604020202020204" pitchFamily="34" charset="0"/>
                <a:cs typeface="Arial" panose="020B0604020202020204" pitchFamily="34" charset="0"/>
              </a:rPr>
              <a:t>information is </a:t>
            </a:r>
            <a:r>
              <a:rPr lang="en-US" altLang="en-US" b="0" i="1" dirty="0" smtClean="0">
                <a:solidFill>
                  <a:srgbClr val="FFFF00"/>
                </a:solidFill>
                <a:latin typeface="Arial" panose="020B0604020202020204" pitchFamily="34" charset="0"/>
                <a:cs typeface="Arial" panose="020B0604020202020204" pitchFamily="34" charset="0"/>
              </a:rPr>
              <a:t>required certainly for 3) but may also be necessary for 4) &amp; 5) to reach a definitive and equitable finding as to whether </a:t>
            </a:r>
            <a:r>
              <a:rPr lang="en-US" altLang="en-US" b="0" i="1" u="sng" dirty="0" smtClean="0">
                <a:solidFill>
                  <a:srgbClr val="FFFF00"/>
                </a:solidFill>
                <a:latin typeface="Arial" panose="020B0604020202020204" pitchFamily="34" charset="0"/>
                <a:cs typeface="Arial" panose="020B0604020202020204" pitchFamily="34" charset="0"/>
              </a:rPr>
              <a:t>the conduct of the professional engineer</a:t>
            </a:r>
            <a:r>
              <a:rPr lang="en-US" altLang="en-US" b="0" i="1" dirty="0" smtClean="0">
                <a:solidFill>
                  <a:srgbClr val="FFFF00"/>
                </a:solidFill>
                <a:latin typeface="Arial" panose="020B0604020202020204" pitchFamily="34" charset="0"/>
                <a:cs typeface="Arial" panose="020B0604020202020204" pitchFamily="34" charset="0"/>
              </a:rPr>
              <a:t> was:</a:t>
            </a:r>
          </a:p>
          <a:p>
            <a:pPr marL="0" lvl="1" fontAlgn="auto">
              <a:lnSpc>
                <a:spcPct val="90000"/>
              </a:lnSpc>
              <a:spcBef>
                <a:spcPts val="0"/>
              </a:spcBef>
              <a:spcAft>
                <a:spcPts val="0"/>
              </a:spcAft>
              <a:buSzPct val="100000"/>
            </a:pPr>
            <a:r>
              <a:rPr lang="en-US" altLang="en-US" b="0" i="1" dirty="0">
                <a:solidFill>
                  <a:schemeClr val="bg1"/>
                </a:solidFill>
                <a:latin typeface="Arial" panose="020B0604020202020204" pitchFamily="34" charset="0"/>
                <a:cs typeface="Arial" panose="020B0604020202020204" pitchFamily="34" charset="0"/>
              </a:rPr>
              <a:t>(a) </a:t>
            </a:r>
            <a:r>
              <a:rPr lang="en-US" altLang="en-US" b="0" i="1" dirty="0" smtClean="0">
                <a:solidFill>
                  <a:schemeClr val="bg1"/>
                </a:solidFill>
                <a:latin typeface="Arial" panose="020B0604020202020204" pitchFamily="34" charset="0"/>
                <a:cs typeface="Arial" panose="020B0604020202020204" pitchFamily="34" charset="0"/>
              </a:rPr>
              <a:t>detrimental </a:t>
            </a:r>
            <a:r>
              <a:rPr lang="en-US" altLang="en-US" b="0" i="1" dirty="0">
                <a:solidFill>
                  <a:schemeClr val="bg1"/>
                </a:solidFill>
                <a:latin typeface="Arial" panose="020B0604020202020204" pitchFamily="34" charset="0"/>
                <a:cs typeface="Arial" panose="020B0604020202020204" pitchFamily="34" charset="0"/>
              </a:rPr>
              <a:t>to the best interests of the public,</a:t>
            </a:r>
          </a:p>
          <a:p>
            <a:pPr marL="0" lvl="1" fontAlgn="auto">
              <a:lnSpc>
                <a:spcPct val="90000"/>
              </a:lnSpc>
              <a:spcBef>
                <a:spcPts val="0"/>
              </a:spcBef>
              <a:spcAft>
                <a:spcPts val="0"/>
              </a:spcAft>
              <a:buSzPct val="100000"/>
            </a:pPr>
            <a:r>
              <a:rPr lang="en-US" altLang="en-US" b="0" i="1" dirty="0">
                <a:solidFill>
                  <a:schemeClr val="bg1"/>
                </a:solidFill>
                <a:latin typeface="Arial" panose="020B0604020202020204" pitchFamily="34" charset="0"/>
                <a:cs typeface="Arial" panose="020B0604020202020204" pitchFamily="34" charset="0"/>
              </a:rPr>
              <a:t>(b) </a:t>
            </a:r>
            <a:r>
              <a:rPr lang="en-US" altLang="en-US" b="0" i="1" dirty="0" smtClean="0">
                <a:solidFill>
                  <a:schemeClr val="bg1"/>
                </a:solidFill>
                <a:latin typeface="Arial" panose="020B0604020202020204" pitchFamily="34" charset="0"/>
                <a:cs typeface="Arial" panose="020B0604020202020204" pitchFamily="34" charset="0"/>
              </a:rPr>
              <a:t>contravened </a:t>
            </a:r>
            <a:r>
              <a:rPr lang="en-US" altLang="en-US" b="0" i="1" dirty="0">
                <a:solidFill>
                  <a:schemeClr val="bg1"/>
                </a:solidFill>
                <a:latin typeface="Arial" panose="020B0604020202020204" pitchFamily="34" charset="0"/>
                <a:cs typeface="Arial" panose="020B0604020202020204" pitchFamily="34" charset="0"/>
              </a:rPr>
              <a:t>a code of ethics of the profession as established under the regulations,</a:t>
            </a:r>
          </a:p>
          <a:p>
            <a:pPr marL="0" lvl="1" fontAlgn="auto">
              <a:lnSpc>
                <a:spcPct val="90000"/>
              </a:lnSpc>
              <a:spcBef>
                <a:spcPts val="0"/>
              </a:spcBef>
              <a:spcAft>
                <a:spcPts val="0"/>
              </a:spcAft>
              <a:buSzPct val="100000"/>
            </a:pPr>
            <a:r>
              <a:rPr lang="en-US" altLang="en-US" b="0" i="1" dirty="0">
                <a:solidFill>
                  <a:schemeClr val="bg1"/>
                </a:solidFill>
                <a:latin typeface="Arial" panose="020B0604020202020204" pitchFamily="34" charset="0"/>
                <a:cs typeface="Arial" panose="020B0604020202020204" pitchFamily="34" charset="0"/>
              </a:rPr>
              <a:t>(c) </a:t>
            </a:r>
            <a:r>
              <a:rPr lang="en-US" altLang="en-US" b="0" i="1" dirty="0" smtClean="0">
                <a:solidFill>
                  <a:schemeClr val="bg1"/>
                </a:solidFill>
                <a:latin typeface="Arial" panose="020B0604020202020204" pitchFamily="34" charset="0"/>
                <a:cs typeface="Arial" panose="020B0604020202020204" pitchFamily="34" charset="0"/>
              </a:rPr>
              <a:t>harmed </a:t>
            </a:r>
            <a:r>
              <a:rPr lang="en-US" altLang="en-US" b="0" i="1" dirty="0">
                <a:solidFill>
                  <a:schemeClr val="bg1"/>
                </a:solidFill>
                <a:latin typeface="Arial" panose="020B0604020202020204" pitchFamily="34" charset="0"/>
                <a:cs typeface="Arial" panose="020B0604020202020204" pitchFamily="34" charset="0"/>
              </a:rPr>
              <a:t>or </a:t>
            </a:r>
            <a:r>
              <a:rPr lang="en-US" altLang="en-US" b="0" i="1" dirty="0" smtClean="0">
                <a:solidFill>
                  <a:schemeClr val="bg1"/>
                </a:solidFill>
                <a:latin typeface="Arial" panose="020B0604020202020204" pitchFamily="34" charset="0"/>
                <a:cs typeface="Arial" panose="020B0604020202020204" pitchFamily="34" charset="0"/>
              </a:rPr>
              <a:t>tended </a:t>
            </a:r>
            <a:r>
              <a:rPr lang="en-US" altLang="en-US" b="0" i="1" dirty="0">
                <a:solidFill>
                  <a:schemeClr val="bg1"/>
                </a:solidFill>
                <a:latin typeface="Arial" panose="020B0604020202020204" pitchFamily="34" charset="0"/>
                <a:cs typeface="Arial" panose="020B0604020202020204" pitchFamily="34" charset="0"/>
              </a:rPr>
              <a:t>to harm the standing of the profession generally,</a:t>
            </a:r>
          </a:p>
          <a:p>
            <a:pPr marL="0" lvl="1" fontAlgn="auto">
              <a:lnSpc>
                <a:spcPct val="90000"/>
              </a:lnSpc>
              <a:spcBef>
                <a:spcPts val="0"/>
              </a:spcBef>
              <a:spcAft>
                <a:spcPts val="0"/>
              </a:spcAft>
              <a:buSzPct val="100000"/>
            </a:pPr>
            <a:r>
              <a:rPr lang="en-US" altLang="en-US" b="0" i="1" dirty="0">
                <a:solidFill>
                  <a:schemeClr val="bg1"/>
                </a:solidFill>
                <a:latin typeface="Arial" panose="020B0604020202020204" pitchFamily="34" charset="0"/>
                <a:cs typeface="Arial" panose="020B0604020202020204" pitchFamily="34" charset="0"/>
              </a:rPr>
              <a:t>(d) </a:t>
            </a:r>
            <a:r>
              <a:rPr lang="en-US" altLang="en-US" b="0" i="1" dirty="0" smtClean="0">
                <a:solidFill>
                  <a:schemeClr val="bg1"/>
                </a:solidFill>
                <a:latin typeface="Arial" panose="020B0604020202020204" pitchFamily="34" charset="0"/>
                <a:cs typeface="Arial" panose="020B0604020202020204" pitchFamily="34" charset="0"/>
              </a:rPr>
              <a:t>displayed </a:t>
            </a:r>
            <a:r>
              <a:rPr lang="en-US" altLang="en-US" b="0" i="1" dirty="0">
                <a:solidFill>
                  <a:schemeClr val="bg1"/>
                </a:solidFill>
                <a:latin typeface="Arial" panose="020B0604020202020204" pitchFamily="34" charset="0"/>
                <a:cs typeface="Arial" panose="020B0604020202020204" pitchFamily="34" charset="0"/>
              </a:rPr>
              <a:t>a lack of knowledge of or lack of skill or judgment in the practice of the profession, or</a:t>
            </a:r>
          </a:p>
          <a:p>
            <a:pPr marL="0" lvl="1" fontAlgn="auto">
              <a:lnSpc>
                <a:spcPct val="90000"/>
              </a:lnSpc>
              <a:spcBef>
                <a:spcPts val="0"/>
              </a:spcBef>
              <a:spcAft>
                <a:spcPts val="0"/>
              </a:spcAft>
              <a:buSzPct val="100000"/>
            </a:pPr>
            <a:r>
              <a:rPr lang="en-US" altLang="en-US" b="0" i="1" dirty="0">
                <a:solidFill>
                  <a:schemeClr val="bg1"/>
                </a:solidFill>
                <a:latin typeface="Arial" panose="020B0604020202020204" pitchFamily="34" charset="0"/>
                <a:cs typeface="Arial" panose="020B0604020202020204" pitchFamily="34" charset="0"/>
              </a:rPr>
              <a:t>(e) </a:t>
            </a:r>
            <a:r>
              <a:rPr lang="en-US" altLang="en-US" b="0" i="1" dirty="0" smtClean="0">
                <a:solidFill>
                  <a:schemeClr val="bg1"/>
                </a:solidFill>
                <a:latin typeface="Arial" panose="020B0604020202020204" pitchFamily="34" charset="0"/>
                <a:cs typeface="Arial" panose="020B0604020202020204" pitchFamily="34" charset="0"/>
              </a:rPr>
              <a:t>displayed </a:t>
            </a:r>
            <a:r>
              <a:rPr lang="en-US" altLang="en-US" b="0" i="1" dirty="0">
                <a:solidFill>
                  <a:schemeClr val="bg1"/>
                </a:solidFill>
                <a:latin typeface="Arial" panose="020B0604020202020204" pitchFamily="34" charset="0"/>
                <a:cs typeface="Arial" panose="020B0604020202020204" pitchFamily="34" charset="0"/>
              </a:rPr>
              <a:t>a lack of knowledge of or lack of skill or judgment in the carrying out of any duty or obligation undertaken in the practice of the profession,</a:t>
            </a:r>
          </a:p>
          <a:p>
            <a:pPr marL="0" lvl="1" fontAlgn="auto">
              <a:lnSpc>
                <a:spcPct val="90000"/>
              </a:lnSpc>
              <a:spcBef>
                <a:spcPts val="0"/>
              </a:spcBef>
              <a:spcAft>
                <a:spcPts val="0"/>
              </a:spcAft>
              <a:buSzPct val="100000"/>
            </a:pPr>
            <a:endParaRPr lang="en-US" altLang="en-US" b="0" i="1" dirty="0">
              <a:solidFill>
                <a:srgbClr val="FFFF00"/>
              </a:solidFill>
              <a:latin typeface="Arial" panose="020B0604020202020204" pitchFamily="34" charset="0"/>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13</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6" name="Google Shape;125;p2"/>
          <p:cNvSpPr/>
          <p:nvPr/>
        </p:nvSpPr>
        <p:spPr>
          <a:xfrm>
            <a:off x="2592000" y="6300000"/>
            <a:ext cx="5868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6.9: </a:t>
            </a:r>
            <a:r>
              <a:rPr lang="en-US" sz="1200" i="1" kern="0" dirty="0">
                <a:solidFill>
                  <a:srgbClr val="000000"/>
                </a:solidFill>
                <a:ea typeface="Times New Roman"/>
                <a:cs typeface="Arial" panose="020B0604020202020204" pitchFamily="34" charset="0"/>
                <a:sym typeface="Times New Roman"/>
              </a:rPr>
              <a:t>Professionalism, </a:t>
            </a:r>
            <a:r>
              <a:rPr lang="en-US" sz="1200" i="1" kern="0" dirty="0" smtClean="0">
                <a:solidFill>
                  <a:srgbClr val="000000"/>
                </a:solidFill>
                <a:ea typeface="Times New Roman"/>
                <a:cs typeface="Arial" panose="020B0604020202020204" pitchFamily="34" charset="0"/>
                <a:sym typeface="Times New Roman"/>
              </a:rPr>
              <a:t>Applications, </a:t>
            </a:r>
            <a:r>
              <a:rPr lang="en-US" sz="1200" i="1" kern="0" dirty="0">
                <a:solidFill>
                  <a:srgbClr val="000000"/>
                </a:solidFill>
                <a:ea typeface="Times New Roman"/>
                <a:cs typeface="Arial" panose="020B0604020202020204" pitchFamily="34" charset="0"/>
                <a:sym typeface="Times New Roman"/>
              </a:rPr>
              <a:t>and </a:t>
            </a:r>
            <a:r>
              <a:rPr lang="en-US" sz="1200" i="1" kern="0" dirty="0" smtClean="0">
                <a:solidFill>
                  <a:srgbClr val="000000"/>
                </a:solidFill>
                <a:ea typeface="Times New Roman"/>
                <a:cs typeface="Arial" panose="020B0604020202020204" pitchFamily="34" charset="0"/>
                <a:sym typeface="Times New Roman"/>
              </a:rPr>
              <a:t>Professional Responsibilities</a:t>
            </a:r>
            <a:endParaRPr lang="en-US" sz="1200" i="1" kern="0" dirty="0">
              <a:solidFill>
                <a:srgbClr val="000000"/>
              </a:solidFill>
              <a:ea typeface="Times New Roman"/>
              <a:cs typeface="Arial" panose="020B0604020202020204" pitchFamily="34" charset="0"/>
              <a:sym typeface="Times New Roman"/>
            </a:endParaRPr>
          </a:p>
        </p:txBody>
      </p:sp>
      <p:sp>
        <p:nvSpPr>
          <p:cNvPr id="7" name="Rectangle 2"/>
          <p:cNvSpPr>
            <a:spLocks noChangeArrowheads="1"/>
          </p:cNvSpPr>
          <p:nvPr/>
        </p:nvSpPr>
        <p:spPr bwMode="auto">
          <a:xfrm>
            <a:off x="180000" y="180000"/>
            <a:ext cx="8640000" cy="504000"/>
          </a:xfrm>
          <a:prstGeom prst="rect">
            <a:avLst/>
          </a:prstGeom>
          <a:solidFill>
            <a:schemeClr val="tx1"/>
          </a:solidFill>
          <a:ln>
            <a:solidFill>
              <a:schemeClr val="tx1"/>
            </a:solidFill>
          </a:ln>
          <a:extLst/>
        </p:spPr>
        <p:txBody>
          <a:bodyPr anchor="ctr"/>
          <a:lstStyle/>
          <a:p>
            <a:pPr>
              <a:buFont typeface="Arial" panose="020B0604020202020204" pitchFamily="34" charset="0"/>
              <a:buNone/>
            </a:pPr>
            <a:r>
              <a:rPr lang="en-US" altLang="en-US" sz="2400" b="0" dirty="0" smtClean="0">
                <a:solidFill>
                  <a:schemeClr val="bg1"/>
                </a:solidFill>
                <a:latin typeface="Arial" panose="020B0604020202020204" pitchFamily="34" charset="0"/>
                <a:ea typeface="+mj-ea"/>
                <a:cs typeface="Arial" panose="020B0604020202020204" pitchFamily="34" charset="0"/>
              </a:rPr>
              <a:t>Example: What About When We Are NOT Professional? </a:t>
            </a:r>
            <a:endParaRPr lang="en-US" altLang="en-US" sz="2400" b="0" dirty="0">
              <a:solidFill>
                <a:schemeClr val="bg1"/>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1393116037"/>
      </p:ext>
    </p:extLst>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90000"/>
              </a:lnSpc>
              <a:spcBef>
                <a:spcPts val="0"/>
              </a:spcBef>
              <a:buClr>
                <a:srgbClr val="000000"/>
              </a:buClr>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Summary:</a:t>
            </a: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This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topic demonstrates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how to apply – put into practice – some of the risk management principles and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practices that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we have been learning the past few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topics, specifically</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720000" lvl="1" indent="-360000" eaLnBrk="0" hangingPunct="0">
              <a:lnSpc>
                <a:spcPct val="9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Case 8 MMA Lac </a:t>
            </a:r>
            <a:r>
              <a:rPr lang="en-US" altLang="en-US" sz="2000" b="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Megantic</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LI,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Some Facts</a:t>
            </a:r>
            <a:endPar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1" indent="-360000" eaLnBrk="0" hangingPunct="0">
              <a:lnSpc>
                <a:spcPct val="9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Chapter 6.3: OH&amp;S Regulatory Framework, Engineering under Alberta OH&amp;S Code, Part 3 Specifications and Certifications, Section 12 Following specifications</a:t>
            </a:r>
          </a:p>
          <a:p>
            <a:pPr marL="720000" lvl="1" indent="-360000" eaLnBrk="0" hangingPunct="0">
              <a:lnSpc>
                <a:spcPct val="9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Chapter 6.9: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Professionalism, Ethics and Equity, Integrity, Conflict of Interest – Your Professional Responsibilities</a:t>
            </a:r>
          </a:p>
          <a:p>
            <a:pPr marL="432000" indent="-432000" eaLnBrk="0" hangingPunct="0">
              <a:lnSpc>
                <a:spcPct val="90000"/>
              </a:lnSpc>
              <a:spcBef>
                <a:spcPts val="0"/>
              </a:spcBef>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90000"/>
              </a:lnSpc>
              <a:spcBef>
                <a:spcPts val="0"/>
              </a:spcBef>
              <a:buClr>
                <a:srgbClr val="000000"/>
              </a:buClr>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Key Lessons:</a:t>
            </a: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You may have professional engineering responsibilities that may not be readily apparent, so you need to search for them, learn them, and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practice them!</a:t>
            </a:r>
          </a:p>
          <a:p>
            <a:pPr marL="72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Which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ESG</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applies here?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KP#2</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Know your program</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We are judged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on our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professional conduct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our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skilled practice in engineering.</a:t>
            </a: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Summary and Key Lesson: </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14</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592000" y="6300000"/>
            <a:ext cx="5868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6.9: </a:t>
            </a:r>
            <a:r>
              <a:rPr lang="en-US" sz="1200" i="1" kern="0" dirty="0">
                <a:solidFill>
                  <a:srgbClr val="000000"/>
                </a:solidFill>
                <a:ea typeface="Times New Roman"/>
                <a:cs typeface="Arial" panose="020B0604020202020204" pitchFamily="34" charset="0"/>
                <a:sym typeface="Times New Roman"/>
              </a:rPr>
              <a:t>Professionalism, </a:t>
            </a:r>
            <a:r>
              <a:rPr lang="en-US" sz="1200" i="1" kern="0" dirty="0" smtClean="0">
                <a:solidFill>
                  <a:srgbClr val="000000"/>
                </a:solidFill>
                <a:ea typeface="Times New Roman"/>
                <a:cs typeface="Arial" panose="020B0604020202020204" pitchFamily="34" charset="0"/>
                <a:sym typeface="Times New Roman"/>
              </a:rPr>
              <a:t>Applications, </a:t>
            </a:r>
            <a:r>
              <a:rPr lang="en-US" sz="1200" i="1" kern="0" dirty="0">
                <a:solidFill>
                  <a:srgbClr val="000000"/>
                </a:solidFill>
                <a:ea typeface="Times New Roman"/>
                <a:cs typeface="Arial" panose="020B0604020202020204" pitchFamily="34" charset="0"/>
                <a:sym typeface="Times New Roman"/>
              </a:rPr>
              <a:t>and </a:t>
            </a:r>
            <a:r>
              <a:rPr lang="en-US" sz="1200" i="1" kern="0" dirty="0" smtClean="0">
                <a:solidFill>
                  <a:srgbClr val="000000"/>
                </a:solidFill>
                <a:ea typeface="Times New Roman"/>
                <a:cs typeface="Arial" panose="020B0604020202020204" pitchFamily="34" charset="0"/>
                <a:sym typeface="Times New Roman"/>
              </a:rPr>
              <a:t>Professional Responsibilities</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395837020"/>
      </p:ext>
    </p:extLst>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69453</TotalTime>
  <Words>2186</Words>
  <Application>Microsoft Office PowerPoint</Application>
  <PresentationFormat>On-screen Show (4:3)</PresentationFormat>
  <Paragraphs>211</Paragraphs>
  <Slides>14</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ＭＳ Ｐゴシック</vt:lpstr>
      <vt:lpstr>Arial</vt:lpstr>
      <vt:lpstr>Calibri</vt:lpstr>
      <vt:lpstr>Times New Roman</vt:lpstr>
      <vt:lpstr>Wingdings</vt:lpstr>
      <vt:lpstr>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The University of Texas at Austin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MSB</dc:creator>
  <cp:lastModifiedBy>JR Cocchio</cp:lastModifiedBy>
  <cp:revision>1951</cp:revision>
  <cp:lastPrinted>2018-12-17T22:21:47Z</cp:lastPrinted>
  <dcterms:created xsi:type="dcterms:W3CDTF">2007-03-28T16:18:47Z</dcterms:created>
  <dcterms:modified xsi:type="dcterms:W3CDTF">2021-12-05T20:44:59Z</dcterms:modified>
</cp:coreProperties>
</file>