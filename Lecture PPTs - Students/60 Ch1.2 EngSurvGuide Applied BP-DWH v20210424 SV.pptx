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895" r:id="rId2"/>
    <p:sldId id="880" r:id="rId3"/>
    <p:sldId id="916" r:id="rId4"/>
    <p:sldId id="917" r:id="rId5"/>
    <p:sldId id="918" r:id="rId6"/>
    <p:sldId id="919" r:id="rId7"/>
    <p:sldId id="926" r:id="rId8"/>
    <p:sldId id="923" r:id="rId9"/>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895"/>
            <p14:sldId id="880"/>
            <p14:sldId id="916"/>
            <p14:sldId id="917"/>
            <p14:sldId id="918"/>
            <p14:sldId id="919"/>
            <p14:sldId id="926"/>
            <p14:sldId id="923"/>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00"/>
    <a:srgbClr val="0000CC"/>
    <a:srgbClr val="F8F8F8"/>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49" autoAdjust="0"/>
    <p:restoredTop sz="98116" autoAdjust="0"/>
  </p:normalViewPr>
  <p:slideViewPr>
    <p:cSldViewPr>
      <p:cViewPr varScale="1">
        <p:scale>
          <a:sx n="70" d="100"/>
          <a:sy n="70" d="100"/>
        </p:scale>
        <p:origin x="1220" y="56"/>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7/7/2021</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7/7/2021</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9524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0699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3445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2407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7</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7</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578852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9141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7/7/2021</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Leader in Risk Management</a:t>
            </a:r>
            <a:endParaRPr lang="en-US" altLang="en-US" i="1" kern="0" dirty="0">
              <a:solidFill>
                <a:srgbClr val="000099"/>
              </a:solidFill>
              <a:ea typeface="ＭＳ Ｐゴシック" panose="020B0600070205080204" pitchFamily="34" charset="-128"/>
            </a:endParaRPr>
          </a:p>
        </p:txBody>
      </p:sp>
      <p:sp>
        <p:nvSpPr>
          <p:cNvPr id="8" name="Rectangle 3"/>
          <p:cNvSpPr>
            <a:spLocks noGrp="1" noChangeArrowheads="1"/>
          </p:cNvSpPr>
          <p:nvPr>
            <p:ph type="subTitle" idx="4294967295"/>
          </p:nvPr>
        </p:nvSpPr>
        <p:spPr>
          <a:xfrm>
            <a:off x="838200" y="2105520"/>
            <a:ext cx="7315201" cy="216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Lecture</a:t>
            </a:r>
          </a:p>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1.2:</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The Engineer’s Survival Guide</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Applied (Part 2)</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r>
              <a:rPr lang="en-US" dirty="0">
                <a:solidFill>
                  <a:schemeClr val="tx1"/>
                </a:solidFill>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1148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114613"/>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Assess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situation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where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issues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evident or perceived, in order to make a decision or recommendation.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Make decisions in an enabled and empowered manner</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when faced with confusing or conflicting or incomplete information, guidance, direction, or messaging, and often under significant time constraints.</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The </a:t>
            </a:r>
            <a:r>
              <a:rPr lang="en-US" sz="1200" i="1" kern="0" dirty="0">
                <a:solidFill>
                  <a:srgbClr val="000000"/>
                </a:solidFill>
                <a:ea typeface="Times New Roman"/>
                <a:cs typeface="Arial" panose="020B0604020202020204" pitchFamily="34" charset="0"/>
                <a:sym typeface="Times New Roman"/>
              </a:rPr>
              <a:t>Engineer’s Survival </a:t>
            </a:r>
            <a:r>
              <a:rPr lang="en-US" sz="1200" i="1" kern="0" dirty="0" smtClean="0">
                <a:solidFill>
                  <a:srgbClr val="000000"/>
                </a:solidFill>
                <a:ea typeface="Times New Roman"/>
                <a:cs typeface="Arial" panose="020B0604020202020204" pitchFamily="34" charset="0"/>
                <a:sym typeface="Times New Roman"/>
              </a:rPr>
              <a:t>Guide - </a:t>
            </a:r>
            <a:r>
              <a:rPr lang="en-US" sz="1200" i="1" kern="0" dirty="0">
                <a:solidFill>
                  <a:srgbClr val="000000"/>
                </a:solidFill>
                <a:ea typeface="Times New Roman"/>
                <a:cs typeface="Arial" panose="020B0604020202020204" pitchFamily="34" charset="0"/>
                <a:sym typeface="Times New Roman"/>
              </a:rPr>
              <a:t>Applied (Part 2)</a:t>
            </a: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Scope of Application:</a:t>
            </a:r>
          </a:p>
          <a:p>
            <a:pPr mar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Points can be applied in any situation for any decision-making process e.g. a case study or a dilemma in the workplace.</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purpose is to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make a decision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or recommendation consistent with the Engineer’s Survival Guide:</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565350" lvl="1" indent="-432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Given the available data, information, and resources, </a:t>
            </a:r>
          </a:p>
          <a:p>
            <a:pPr marL="565350" lvl="1"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565350" lvl="1" indent="-432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order to maximize or </a:t>
            </a: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optimize</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realization of a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desired outcome</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How To Apply the Key Points: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The </a:t>
            </a:r>
            <a:r>
              <a:rPr lang="en-US" sz="1200" i="1" kern="0" dirty="0">
                <a:solidFill>
                  <a:srgbClr val="000000"/>
                </a:solidFill>
                <a:ea typeface="Times New Roman"/>
                <a:cs typeface="Arial" panose="020B0604020202020204" pitchFamily="34" charset="0"/>
                <a:sym typeface="Times New Roman"/>
              </a:rPr>
              <a:t>Engineer’s Survival </a:t>
            </a:r>
            <a:r>
              <a:rPr lang="en-US" sz="1200" i="1" kern="0" dirty="0" smtClean="0">
                <a:solidFill>
                  <a:srgbClr val="000000"/>
                </a:solidFill>
                <a:ea typeface="Times New Roman"/>
                <a:cs typeface="Arial" panose="020B0604020202020204" pitchFamily="34" charset="0"/>
                <a:sym typeface="Times New Roman"/>
              </a:rPr>
              <a:t>Guide - </a:t>
            </a:r>
            <a:r>
              <a:rPr lang="en-US" sz="1200" i="1" kern="0" dirty="0">
                <a:solidFill>
                  <a:srgbClr val="000000"/>
                </a:solidFill>
                <a:ea typeface="Times New Roman"/>
                <a:cs typeface="Arial" panose="020B0604020202020204" pitchFamily="34" charset="0"/>
                <a:sym typeface="Times New Roman"/>
              </a:rPr>
              <a:t>Applied (Part 2)</a:t>
            </a:r>
          </a:p>
        </p:txBody>
      </p:sp>
    </p:spTree>
    <p:extLst>
      <p:ext uri="{BB962C8B-B14F-4D97-AF65-F5344CB8AC3E}">
        <p14:creationId xmlns:p14="http://schemas.microsoft.com/office/powerpoint/2010/main" val="1128736626"/>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Answer a Set of Questions:</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Consider these points and answer in terms relative to a Key Point:</a:t>
            </a:r>
          </a:p>
          <a:p>
            <a:pPr marL="590550" lvl="1" indent="-457200" eaLnBrk="0" hangingPunct="0">
              <a:lnSpc>
                <a:spcPct val="100000"/>
              </a:lnSpc>
              <a:spcBef>
                <a:spcPts val="0"/>
              </a:spcBef>
              <a:buClr>
                <a:srgbClr val="000000"/>
              </a:buClr>
              <a:buSzPct val="100000"/>
              <a:buFont typeface="+mj-lt"/>
              <a:buAutoNum type="alphaLcParen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is the Loss Incident?</a:t>
            </a:r>
          </a:p>
          <a:p>
            <a:pPr marL="590550" lvl="1" indent="-457200" eaLnBrk="0" hangingPunct="0">
              <a:lnSpc>
                <a:spcPct val="100000"/>
              </a:lnSpc>
              <a:spcBef>
                <a:spcPts val="0"/>
              </a:spcBef>
              <a:buClr>
                <a:srgbClr val="000000"/>
              </a:buClr>
              <a:buSzPct val="100000"/>
              <a:buFont typeface="+mj-lt"/>
              <a:buAutoNum type="alphaLcParen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Key Point is being applied?</a:t>
            </a:r>
          </a:p>
          <a:p>
            <a:pPr marL="590550" lvl="1" indent="-457200" eaLnBrk="0" hangingPunct="0">
              <a:lnSpc>
                <a:spcPct val="100000"/>
              </a:lnSpc>
              <a:spcBef>
                <a:spcPts val="0"/>
              </a:spcBef>
              <a:buClr>
                <a:srgbClr val="000000"/>
              </a:buClr>
              <a:buSzPct val="100000"/>
              <a:buFont typeface="+mj-lt"/>
              <a:buAutoNum type="alphaLcParen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is the situation?</a:t>
            </a:r>
          </a:p>
          <a:p>
            <a:pPr marL="590550" lvl="1" indent="-457200" eaLnBrk="0" hangingPunct="0">
              <a:lnSpc>
                <a:spcPct val="100000"/>
              </a:lnSpc>
              <a:spcBef>
                <a:spcPts val="0"/>
              </a:spcBef>
              <a:buClr>
                <a:srgbClr val="000000"/>
              </a:buClr>
              <a:buSzPct val="100000"/>
              <a:buFont typeface="+mj-lt"/>
              <a:buAutoNum type="alphaLcParen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is the issue with that situation, in terms relative to the selected key point?</a:t>
            </a:r>
          </a:p>
          <a:p>
            <a:pPr marL="590550" lvl="1" indent="-457200" eaLnBrk="0" hangingPunct="0">
              <a:lnSpc>
                <a:spcPct val="100000"/>
              </a:lnSpc>
              <a:spcBef>
                <a:spcPts val="0"/>
              </a:spcBef>
              <a:buClr>
                <a:srgbClr val="000000"/>
              </a:buClr>
              <a:buSzPct val="100000"/>
              <a:buFont typeface="+mj-lt"/>
              <a:buAutoNum type="alphaLcParen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would you have done or what should you have done, again in terms relative to the selected key point?</a:t>
            </a:r>
          </a:p>
          <a:p>
            <a:pPr marL="590550" lvl="1" indent="-457200" eaLnBrk="0" hangingPunct="0">
              <a:lnSpc>
                <a:spcPct val="100000"/>
              </a:lnSpc>
              <a:spcBef>
                <a:spcPts val="0"/>
              </a:spcBef>
              <a:buClr>
                <a:srgbClr val="000000"/>
              </a:buClr>
              <a:buSzPct val="100000"/>
              <a:buFont typeface="+mj-lt"/>
              <a:buAutoNum type="alphaLcParenR"/>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would have been the probable outcome had it been done?</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examples under Chapter 1.2 in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handbook demonstrate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depth of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application expected in the class.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How To Apply the Key Points: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The </a:t>
            </a:r>
            <a:r>
              <a:rPr lang="en-US" sz="1200" i="1" kern="0" dirty="0">
                <a:solidFill>
                  <a:srgbClr val="000000"/>
                </a:solidFill>
                <a:ea typeface="Times New Roman"/>
                <a:cs typeface="Arial" panose="020B0604020202020204" pitchFamily="34" charset="0"/>
                <a:sym typeface="Times New Roman"/>
              </a:rPr>
              <a:t>Engineer’s Survival </a:t>
            </a:r>
            <a:r>
              <a:rPr lang="en-US" sz="1200" i="1" kern="0" dirty="0" smtClean="0">
                <a:solidFill>
                  <a:srgbClr val="000000"/>
                </a:solidFill>
                <a:ea typeface="Times New Roman"/>
                <a:cs typeface="Arial" panose="020B0604020202020204" pitchFamily="34" charset="0"/>
                <a:sym typeface="Times New Roman"/>
              </a:rPr>
              <a:t>Guide - </a:t>
            </a:r>
            <a:r>
              <a:rPr lang="en-US" sz="1200" i="1" kern="0" dirty="0">
                <a:solidFill>
                  <a:srgbClr val="000000"/>
                </a:solidFill>
                <a:ea typeface="Times New Roman"/>
                <a:cs typeface="Arial" panose="020B0604020202020204" pitchFamily="34" charset="0"/>
                <a:sym typeface="Times New Roman"/>
              </a:rPr>
              <a:t>Applied (Part 2)</a:t>
            </a:r>
          </a:p>
        </p:txBody>
      </p:sp>
    </p:spTree>
    <p:extLst>
      <p:ext uri="{BB962C8B-B14F-4D97-AF65-F5344CB8AC3E}">
        <p14:creationId xmlns:p14="http://schemas.microsoft.com/office/powerpoint/2010/main" val="3353348241"/>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Recall BP-</a:t>
            </a:r>
            <a:r>
              <a:rPr lang="en-US" altLang="en-US" sz="2400" b="0" dirty="0" err="1">
                <a:solidFill>
                  <a:schemeClr val="accent2"/>
                </a:solidFill>
                <a:latin typeface="Arial" panose="020B0604020202020204" pitchFamily="34" charset="0"/>
                <a:ea typeface="+mj-ea"/>
                <a:cs typeface="Arial" panose="020B0604020202020204" pitchFamily="34" charset="0"/>
              </a:rPr>
              <a:t>Macondo</a:t>
            </a:r>
            <a:r>
              <a:rPr lang="en-US" altLang="en-US" sz="2400" b="0" dirty="0">
                <a:solidFill>
                  <a:schemeClr val="accent2"/>
                </a:solidFill>
                <a:latin typeface="Arial" panose="020B0604020202020204" pitchFamily="34" charset="0"/>
                <a:ea typeface="+mj-ea"/>
                <a:cs typeface="Arial" panose="020B0604020202020204" pitchFamily="34" charset="0"/>
              </a:rPr>
              <a:t> Deepwater Horizon LI:</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The </a:t>
            </a:r>
            <a:r>
              <a:rPr lang="en-US" sz="1200" i="1" kern="0" dirty="0">
                <a:solidFill>
                  <a:srgbClr val="000000"/>
                </a:solidFill>
                <a:ea typeface="Times New Roman"/>
                <a:cs typeface="Arial" panose="020B0604020202020204" pitchFamily="34" charset="0"/>
                <a:sym typeface="Times New Roman"/>
              </a:rPr>
              <a:t>Engineer’s Survival </a:t>
            </a:r>
            <a:r>
              <a:rPr lang="en-US" sz="1200" i="1" kern="0" dirty="0" smtClean="0">
                <a:solidFill>
                  <a:srgbClr val="000000"/>
                </a:solidFill>
                <a:ea typeface="Times New Roman"/>
                <a:cs typeface="Arial" panose="020B0604020202020204" pitchFamily="34" charset="0"/>
                <a:sym typeface="Times New Roman"/>
              </a:rPr>
              <a:t>Guide - </a:t>
            </a:r>
            <a:r>
              <a:rPr lang="en-US" sz="1200" i="1" kern="0" dirty="0">
                <a:solidFill>
                  <a:srgbClr val="000000"/>
                </a:solidFill>
                <a:ea typeface="Times New Roman"/>
                <a:cs typeface="Arial" panose="020B0604020202020204" pitchFamily="34" charset="0"/>
                <a:sym typeface="Times New Roman"/>
              </a:rPr>
              <a:t>Applied (Part 2)</a:t>
            </a:r>
          </a:p>
        </p:txBody>
      </p:sp>
      <p:pic>
        <p:nvPicPr>
          <p:cNvPr id="2" name="Picture 1"/>
          <p:cNvPicPr>
            <a:picLocks noChangeAspect="1"/>
          </p:cNvPicPr>
          <p:nvPr/>
        </p:nvPicPr>
        <p:blipFill>
          <a:blip r:embed="rId3"/>
          <a:stretch>
            <a:fillRect/>
          </a:stretch>
        </p:blipFill>
        <p:spPr>
          <a:xfrm>
            <a:off x="180000" y="845663"/>
            <a:ext cx="4572638" cy="3429479"/>
          </a:xfrm>
          <a:prstGeom prst="rect">
            <a:avLst/>
          </a:prstGeom>
          <a:ln>
            <a:solidFill>
              <a:schemeClr val="tx1"/>
            </a:solidFill>
          </a:ln>
        </p:spPr>
      </p:pic>
      <p:pic>
        <p:nvPicPr>
          <p:cNvPr id="3" name="Picture 2"/>
          <p:cNvPicPr>
            <a:picLocks noChangeAspect="1"/>
          </p:cNvPicPr>
          <p:nvPr/>
        </p:nvPicPr>
        <p:blipFill>
          <a:blip r:embed="rId4"/>
          <a:stretch>
            <a:fillRect/>
          </a:stretch>
        </p:blipFill>
        <p:spPr>
          <a:xfrm>
            <a:off x="4281998" y="2663775"/>
            <a:ext cx="4572638" cy="3429479"/>
          </a:xfrm>
          <a:prstGeom prst="rect">
            <a:avLst/>
          </a:prstGeom>
          <a:ln>
            <a:solidFill>
              <a:schemeClr val="tx1"/>
            </a:solidFill>
          </a:ln>
        </p:spPr>
      </p:pic>
    </p:spTree>
    <p:extLst>
      <p:ext uri="{BB962C8B-B14F-4D97-AF65-F5344CB8AC3E}">
        <p14:creationId xmlns:p14="http://schemas.microsoft.com/office/powerpoint/2010/main" val="3612328496"/>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The Framework to Apply One of the Key Points: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The </a:t>
            </a:r>
            <a:r>
              <a:rPr lang="en-US" sz="1200" i="1" kern="0" dirty="0">
                <a:solidFill>
                  <a:srgbClr val="000000"/>
                </a:solidFill>
                <a:ea typeface="Times New Roman"/>
                <a:cs typeface="Arial" panose="020B0604020202020204" pitchFamily="34" charset="0"/>
                <a:sym typeface="Times New Roman"/>
              </a:rPr>
              <a:t>Engineer’s Survival </a:t>
            </a:r>
            <a:r>
              <a:rPr lang="en-US" sz="1200" i="1" kern="0" dirty="0" smtClean="0">
                <a:solidFill>
                  <a:srgbClr val="000000"/>
                </a:solidFill>
                <a:ea typeface="Times New Roman"/>
                <a:cs typeface="Arial" panose="020B0604020202020204" pitchFamily="34" charset="0"/>
                <a:sym typeface="Times New Roman"/>
              </a:rPr>
              <a:t>Guide - </a:t>
            </a:r>
            <a:r>
              <a:rPr lang="en-US" sz="1200" i="1" kern="0" dirty="0">
                <a:solidFill>
                  <a:srgbClr val="000000"/>
                </a:solidFill>
                <a:ea typeface="Times New Roman"/>
                <a:cs typeface="Arial" panose="020B0604020202020204" pitchFamily="34" charset="0"/>
                <a:sym typeface="Times New Roman"/>
              </a:rPr>
              <a:t>Applied (Part 2)</a:t>
            </a:r>
          </a:p>
        </p:txBody>
      </p:sp>
      <p:sp>
        <p:nvSpPr>
          <p:cNvPr id="6" name="Rectangle 3"/>
          <p:cNvSpPr>
            <a:spLocks noChangeArrowheads="1"/>
          </p:cNvSpPr>
          <p:nvPr/>
        </p:nvSpPr>
        <p:spPr bwMode="auto">
          <a:xfrm>
            <a:off x="180000" y="828000"/>
            <a:ext cx="8640000" cy="5364000"/>
          </a:xfrm>
          <a:prstGeom prst="rect">
            <a:avLst/>
          </a:prstGeom>
          <a:noFill/>
          <a:ln w="9525" algn="ctr">
            <a:solidFill>
              <a:schemeClr val="tx1"/>
            </a:solidFill>
            <a:miter lim="800000"/>
            <a:headEnd/>
            <a:tailEnd/>
          </a:ln>
          <a:effectLst/>
          <a:extLst/>
        </p:spPr>
        <p:txBody>
          <a:bodyPr/>
          <a:lstStyle>
            <a:lvl1pPr marL="609600" indent="-609600">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990600" indent="-53340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371600" indent="-4572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752600" indent="-3810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209800" indent="-3810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667000" indent="-3810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3124200" indent="-3810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581400" indent="-3810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4038600" indent="-3810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609600" marR="0" lvl="0" indent="-609600" algn="l" defTabSz="914400" rtl="0" eaLnBrk="1" fontAlgn="base" latinLnBrk="0" hangingPunct="1">
              <a:lnSpc>
                <a:spcPct val="100000"/>
              </a:lnSpc>
              <a:spcBef>
                <a:spcPct val="0"/>
              </a:spcBef>
              <a:spcAft>
                <a:spcPct val="0"/>
              </a:spcAft>
              <a:buClr>
                <a:srgbClr val="000000"/>
              </a:buClr>
              <a:buSzTx/>
              <a:buFont typeface="Wingdings" panose="05000000000000000000" pitchFamily="2" charset="2"/>
              <a:buNone/>
              <a:tabLst/>
              <a:defRPr/>
            </a:pPr>
            <a:r>
              <a:rPr lang="en-US" sz="1400" b="1" dirty="0">
                <a:solidFill>
                  <a:schemeClr val="tx1">
                    <a:lumMod val="75000"/>
                  </a:schemeClr>
                </a:solidFill>
                <a:latin typeface="Arial" panose="020B0604020202020204" pitchFamily="34" charset="0"/>
                <a:ea typeface="Times New Roman" panose="02020603050405020304" pitchFamily="18" charset="0"/>
                <a:cs typeface="Arial" panose="020B0604020202020204" pitchFamily="34" charset="0"/>
              </a:rPr>
              <a:t>Quoted </a:t>
            </a:r>
            <a:r>
              <a:rPr lang="en-US" sz="1400" b="1" dirty="0" smtClean="0">
                <a:solidFill>
                  <a:schemeClr val="tx1">
                    <a:lumMod val="75000"/>
                  </a:schemeClr>
                </a:solidFill>
                <a:latin typeface="Arial" panose="020B0604020202020204" pitchFamily="34" charset="0"/>
                <a:ea typeface="Times New Roman" panose="02020603050405020304" pitchFamily="18" charset="0"/>
                <a:cs typeface="Arial" panose="020B0604020202020204" pitchFamily="34" charset="0"/>
              </a:rPr>
              <a:t>from Chapter 1.2 </a:t>
            </a:r>
            <a:r>
              <a:rPr lang="en-US" sz="1400" b="1" dirty="0">
                <a:solidFill>
                  <a:schemeClr val="tx1">
                    <a:lumMod val="75000"/>
                  </a:schemeClr>
                </a:solidFill>
                <a:latin typeface="Arial" panose="020B0604020202020204" pitchFamily="34" charset="0"/>
                <a:ea typeface="Times New Roman" panose="02020603050405020304" pitchFamily="18" charset="0"/>
                <a:cs typeface="Arial" panose="020B0604020202020204" pitchFamily="34" charset="0"/>
              </a:rPr>
              <a:t>of your Textbook.</a:t>
            </a:r>
          </a:p>
          <a:p>
            <a:pPr marL="609600" marR="0" lvl="0" indent="-609600" algn="l" defTabSz="914400" rtl="0" eaLnBrk="1" fontAlgn="base" latinLnBrk="0" hangingPunct="1">
              <a:lnSpc>
                <a:spcPct val="100000"/>
              </a:lnSpc>
              <a:spcBef>
                <a:spcPct val="0"/>
              </a:spcBef>
              <a:spcAft>
                <a:spcPct val="0"/>
              </a:spcAft>
              <a:buClr>
                <a:srgbClr val="000000"/>
              </a:buClr>
              <a:buSzTx/>
              <a:buFont typeface="Wingdings" panose="05000000000000000000" pitchFamily="2" charset="2"/>
              <a:buNone/>
              <a:tabLst/>
              <a:defRPr/>
            </a:pPr>
            <a:endParaRPr lang="en-US" sz="1100" b="1" dirty="0" smtClean="0">
              <a:solidFill>
                <a:schemeClr val="tx1">
                  <a:lumMod val="75000"/>
                </a:schemeClr>
              </a:solidFill>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l" defTabSz="914400" rtl="0" eaLnBrk="0" fontAlgn="base" latinLnBrk="0" hangingPunct="0">
              <a:lnSpc>
                <a:spcPct val="100000"/>
              </a:lnSpc>
              <a:spcBef>
                <a:spcPts val="0"/>
              </a:spcBef>
              <a:spcAft>
                <a:spcPts val="0"/>
              </a:spcAft>
              <a:buClrTx/>
              <a:buSzPct val="100000"/>
              <a:buFont typeface="+mj-lt"/>
              <a:buAutoNum type="alphaLcParenR"/>
              <a:tabLst>
                <a:tab pos="685800" algn="l"/>
              </a:tabLst>
              <a:defRPr/>
            </a:pPr>
            <a:r>
              <a:rPr kumimoji="0" lang="en-US" sz="1200" b="1" i="0" u="none" strike="noStrike" kern="1200" cap="none" spc="0" normalizeH="0" baseline="0" noProof="0" dirty="0" smtClean="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What </a:t>
            </a:r>
            <a:r>
              <a:rPr kumimoji="0" lang="en-US" sz="1200" b="1"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is the Loss Incident? </a:t>
            </a:r>
            <a:endParaRPr kumimoji="0" lang="en-US" sz="1200" b="0"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The loss incident is that which is being examined in the course, the </a:t>
            </a:r>
            <a:b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b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team project loss incident under study, or work experience.  This is </a:t>
            </a:r>
            <a:b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b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a  simple statement of facts such as the facility, the location, and </a:t>
            </a:r>
            <a:r>
              <a:rPr kumimoji="0" lang="en-US" sz="1100" b="0" i="1" u="none" strike="noStrike" kern="1200" cap="none" spc="0" normalizeH="0" baseline="0" noProof="0" dirty="0" smtClean="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the </a:t>
            </a:r>
            <a:br>
              <a:rPr kumimoji="0" lang="en-US" sz="1100" b="0" i="1" u="none" strike="noStrike" kern="1200" cap="none" spc="0" normalizeH="0" baseline="0" noProof="0" dirty="0" smtClean="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br>
            <a:r>
              <a:rPr kumimoji="0" lang="en-US" sz="1100" b="0" i="1" u="none" strike="noStrike" kern="1200" cap="none" spc="0" normalizeH="0" baseline="0" noProof="0" dirty="0" smtClean="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nature </a:t>
            </a: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of the loss incident. In some cases, the title is sufficient.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sz="1100" b="0"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l" defTabSz="914400" rtl="0" eaLnBrk="0" fontAlgn="base" latinLnBrk="0" hangingPunct="0">
              <a:lnSpc>
                <a:spcPct val="100000"/>
              </a:lnSpc>
              <a:spcBef>
                <a:spcPts val="0"/>
              </a:spcBef>
              <a:spcAft>
                <a:spcPts val="0"/>
              </a:spcAft>
              <a:buClrTx/>
              <a:buSzPct val="100000"/>
              <a:buFont typeface="+mj-lt"/>
              <a:buAutoNum type="alphaLcParenR" startAt="2"/>
              <a:tabLst>
                <a:tab pos="685800" algn="l"/>
              </a:tabLst>
              <a:defRPr/>
            </a:pPr>
            <a:r>
              <a:rPr kumimoji="0" lang="en-US" sz="1200" b="1"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What Key Point is being applied?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This is one of the Four Key Points. </a:t>
            </a:r>
            <a:r>
              <a:rPr kumimoji="0" lang="en-US" sz="1100" b="0" i="1" u="sng"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State it! </a:t>
            </a: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l" defTabSz="914400" rtl="0" eaLnBrk="0" fontAlgn="base" latinLnBrk="0" hangingPunct="0">
              <a:lnSpc>
                <a:spcPct val="100000"/>
              </a:lnSpc>
              <a:spcBef>
                <a:spcPts val="0"/>
              </a:spcBef>
              <a:spcAft>
                <a:spcPts val="0"/>
              </a:spcAft>
              <a:buClrTx/>
              <a:buSzPct val="100000"/>
              <a:buFont typeface="+mj-lt"/>
              <a:buAutoNum type="alphaLcParenR" startAt="3"/>
              <a:tabLst>
                <a:tab pos="685800" algn="l"/>
              </a:tabLst>
              <a:defRPr/>
            </a:pPr>
            <a:r>
              <a:rPr kumimoji="0" lang="en-US" sz="1200" b="1"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What is the situation? </a:t>
            </a:r>
          </a:p>
          <a:p>
            <a:pPr marL="685800" lvl="0">
              <a:spcBef>
                <a:spcPts val="0"/>
              </a:spcBef>
              <a:spcAft>
                <a:spcPts val="0"/>
              </a:spcAft>
              <a:buClrTx/>
              <a:buSzPct val="100000"/>
              <a:buFont typeface="Wingdings" panose="05000000000000000000" pitchFamily="2" charset="2"/>
              <a:buChar char="Ø"/>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This is the description of the </a:t>
            </a:r>
            <a:r>
              <a:rPr lang="en-US" sz="1100" i="1" dirty="0">
                <a:solidFill>
                  <a:schemeClr val="tx1">
                    <a:lumMod val="75000"/>
                  </a:schemeClr>
                </a:solidFill>
                <a:latin typeface="Arial" panose="020B0604020202020204" pitchFamily="34" charset="0"/>
                <a:ea typeface="Times New Roman" panose="02020603050405020304" pitchFamily="18" charset="0"/>
                <a:cs typeface="Arial" panose="020B0604020202020204" pitchFamily="34" charset="0"/>
              </a:rPr>
              <a:t>activity that covers three points:</a:t>
            </a:r>
            <a:endPar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1066800" marR="0" lvl="1" indent="-5334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tab pos="914400" algn="l"/>
              </a:tabLst>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The facility or operation;</a:t>
            </a:r>
          </a:p>
          <a:p>
            <a:pPr marL="1066800" marR="0" lvl="1" indent="-5334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tab pos="914400" algn="l"/>
              </a:tabLst>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The hazards and risks posed by the facility / operation prior to the loss incident;</a:t>
            </a:r>
          </a:p>
          <a:p>
            <a:pPr marL="1066800" marR="0" lvl="1" indent="-5334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tab pos="914400" algn="l"/>
              </a:tabLst>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A brief summary of any deficiencies in the control measures of the activity.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This is NOT a long description of the sequence of events of the loss incident. </a:t>
            </a:r>
            <a:r>
              <a:rPr kumimoji="0" lang="en-US" sz="1100" b="1"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sz="1100" b="0"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l" defTabSz="914400" rtl="0" eaLnBrk="0" fontAlgn="base" latinLnBrk="0" hangingPunct="0">
              <a:lnSpc>
                <a:spcPct val="100000"/>
              </a:lnSpc>
              <a:spcBef>
                <a:spcPts val="0"/>
              </a:spcBef>
              <a:spcAft>
                <a:spcPts val="0"/>
              </a:spcAft>
              <a:buClrTx/>
              <a:buSzPct val="100000"/>
              <a:buFont typeface="+mj-lt"/>
              <a:buAutoNum type="alphaLcParenR" startAt="4"/>
              <a:tabLst>
                <a:tab pos="685800" algn="l"/>
              </a:tabLst>
              <a:defRPr/>
            </a:pPr>
            <a:r>
              <a:rPr kumimoji="0" lang="en-US" sz="1200" b="1"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What is the issue with that situation?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This drives into the details of the deficiencies in the control measures of the activity leading to the particular loss incident and relates the situation / circumstance to the issue </a:t>
            </a:r>
            <a:r>
              <a:rPr kumimoji="0" lang="en-US" sz="1100" b="0" i="1" u="none" strike="noStrike" kern="1200" cap="none" spc="0" normalizeH="0" baseline="0" noProof="0" dirty="0" smtClean="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in </a:t>
            </a: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terms relevant to the selected Key Point. This can be best described by the hazard (process or occupational), the risk of that hazard becoming uncontrolled under the current deficiencies, and a notion about management’s awareness of the </a:t>
            </a:r>
            <a:r>
              <a:rPr kumimoji="0" lang="en-US" sz="1100" b="0" i="1" u="none" strike="noStrike" kern="1200" cap="none" spc="0" normalizeH="0" baseline="0" noProof="0" dirty="0" smtClean="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issue. </a:t>
            </a: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Articulate this in terms of the selected Key Point if not obvious.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sz="1100" b="0"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l" defTabSz="914400" rtl="0" eaLnBrk="0" fontAlgn="base" latinLnBrk="0" hangingPunct="0">
              <a:lnSpc>
                <a:spcPct val="100000"/>
              </a:lnSpc>
              <a:spcBef>
                <a:spcPts val="0"/>
              </a:spcBef>
              <a:spcAft>
                <a:spcPts val="0"/>
              </a:spcAft>
              <a:buClrTx/>
              <a:buSzPct val="100000"/>
              <a:buFont typeface="+mj-lt"/>
              <a:buAutoNum type="alphaLcParenR" startAt="5"/>
              <a:tabLst>
                <a:tab pos="685800" algn="l"/>
              </a:tabLst>
              <a:defRPr/>
            </a:pPr>
            <a:r>
              <a:rPr kumimoji="0" lang="en-US" sz="1200" b="1"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What should have been done?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Describe one action (or more) that would address the </a:t>
            </a:r>
            <a:r>
              <a:rPr kumimoji="0" lang="en-US" sz="1100" b="0" i="1" u="none" strike="noStrike" kern="1200" cap="none" spc="0" normalizeH="0" baseline="0" noProof="0" dirty="0" smtClean="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issue, </a:t>
            </a: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how that action addresses that </a:t>
            </a:r>
            <a:r>
              <a:rPr kumimoji="0" lang="en-US" sz="1100" b="0" i="1" u="none" strike="noStrike" kern="1200" cap="none" spc="0" normalizeH="0" baseline="0" noProof="0" dirty="0" smtClean="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issue, </a:t>
            </a: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and how that action is aligned with satisfying the selected Key Point (if not obvious).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sz="1100" b="0"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42900" marR="0" lvl="0" indent="-342900" algn="l" defTabSz="914400" rtl="0" eaLnBrk="0" fontAlgn="base" latinLnBrk="0" hangingPunct="0">
              <a:lnSpc>
                <a:spcPct val="100000"/>
              </a:lnSpc>
              <a:spcBef>
                <a:spcPts val="0"/>
              </a:spcBef>
              <a:spcAft>
                <a:spcPts val="0"/>
              </a:spcAft>
              <a:buClrTx/>
              <a:buSzPct val="100000"/>
              <a:buFont typeface="+mj-lt"/>
              <a:buAutoNum type="alphaLcParenR" startAt="6"/>
              <a:tabLst>
                <a:tab pos="685800" algn="l"/>
              </a:tabLst>
              <a:defRPr/>
            </a:pPr>
            <a:r>
              <a:rPr kumimoji="0" lang="en-US" sz="1200" b="1" i="0"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What would have been the probable outcome had it been done? </a:t>
            </a:r>
          </a:p>
          <a:p>
            <a:pPr marL="685800" marR="0" lvl="0" indent="-609600" algn="l" defTabSz="914400" rtl="0" eaLnBrk="0" fontAlgn="base" latinLnBrk="0" hangingPunct="0">
              <a:lnSpc>
                <a:spcPct val="100000"/>
              </a:lnSpc>
              <a:spcBef>
                <a:spcPts val="0"/>
              </a:spcBef>
              <a:spcAft>
                <a:spcPts val="0"/>
              </a:spcAft>
              <a:buClrTx/>
              <a:buSzPct val="100000"/>
              <a:buFont typeface="Wingdings" panose="05000000000000000000" pitchFamily="2" charset="2"/>
              <a:buChar char="Ø"/>
              <a:tabLst/>
              <a:defRPr/>
            </a:pPr>
            <a:r>
              <a:rPr kumimoji="0" 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rPr>
              <a:t>Describe the status of the risk / hazard associated with the activity, and the outcome of the activity. </a:t>
            </a:r>
            <a:endParaRPr kumimoji="0" lang="en-US" altLang="en-US" sz="1100" b="0" i="1" u="none" strike="noStrike" kern="1200" cap="none" spc="0" normalizeH="0" baseline="0" noProof="0" dirty="0">
              <a:ln>
                <a:noFill/>
              </a:ln>
              <a:solidFill>
                <a:schemeClr val="tx1">
                  <a:lumMod val="75000"/>
                </a:schemeClr>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7" name="Rectangle 2"/>
          <p:cNvSpPr>
            <a:spLocks noChangeArrowheads="1"/>
          </p:cNvSpPr>
          <p:nvPr/>
        </p:nvSpPr>
        <p:spPr bwMode="auto">
          <a:xfrm>
            <a:off x="5334000" y="838200"/>
            <a:ext cx="3479399" cy="2057400"/>
          </a:xfrm>
          <a:prstGeom prst="rect">
            <a:avLst/>
          </a:prstGeom>
          <a:solidFill>
            <a:schemeClr val="tx1"/>
          </a:solidFill>
          <a:ln w="28575">
            <a:solidFill>
              <a:schemeClr val="tx1"/>
            </a:solidFill>
          </a:ln>
          <a:extLst/>
        </p:spPr>
        <p:txBody>
          <a:bodyPr wrap="square" rtlCol="0">
            <a:noAutofit/>
          </a:bodyPr>
          <a:lstStyle/>
          <a:p>
            <a:r>
              <a:rPr lang="en-US" altLang="en-US" sz="1600" i="1" dirty="0">
                <a:solidFill>
                  <a:srgbClr val="FFFFFF"/>
                </a:solidFill>
                <a:latin typeface="Arial" panose="020B0604020202020204" pitchFamily="34" charset="0"/>
                <a:ea typeface="+mn-ea"/>
                <a:cs typeface="Arial" panose="020B0604020202020204" pitchFamily="34" charset="0"/>
              </a:rPr>
              <a:t>With your colleague, </a:t>
            </a:r>
            <a:r>
              <a:rPr lang="en-US" altLang="en-US" sz="1600" i="1" u="sng" dirty="0" smtClean="0">
                <a:solidFill>
                  <a:srgbClr val="FFFFFF"/>
                </a:solidFill>
                <a:latin typeface="Arial" panose="020B0604020202020204" pitchFamily="34" charset="0"/>
                <a:ea typeface="+mn-ea"/>
                <a:cs typeface="Arial" panose="020B0604020202020204" pitchFamily="34" charset="0"/>
              </a:rPr>
              <a:t>select and apply one</a:t>
            </a:r>
            <a:r>
              <a:rPr lang="en-US" altLang="en-US" sz="1600" i="1" dirty="0" smtClean="0">
                <a:solidFill>
                  <a:srgbClr val="FFFFFF"/>
                </a:solidFill>
                <a:latin typeface="Arial" panose="020B0604020202020204" pitchFamily="34" charset="0"/>
                <a:ea typeface="+mn-ea"/>
                <a:cs typeface="Arial" panose="020B0604020202020204" pitchFamily="34" charset="0"/>
              </a:rPr>
              <a:t> </a:t>
            </a:r>
            <a:r>
              <a:rPr lang="en-US" altLang="en-US" sz="1600" i="1" dirty="0">
                <a:solidFill>
                  <a:srgbClr val="FFFFFF"/>
                </a:solidFill>
                <a:latin typeface="Arial" panose="020B0604020202020204" pitchFamily="34" charset="0"/>
                <a:ea typeface="+mn-ea"/>
                <a:cs typeface="Arial" panose="020B0604020202020204" pitchFamily="34" charset="0"/>
              </a:rPr>
              <a:t>of the Four Key Points to ANY situation on the BP-Macondo Deepwater Horizon Loss Incident</a:t>
            </a:r>
            <a:r>
              <a:rPr lang="en-US" altLang="en-US" sz="1600" i="1" dirty="0" smtClean="0">
                <a:solidFill>
                  <a:srgbClr val="FFFFFF"/>
                </a:solidFill>
                <a:latin typeface="Arial" panose="020B0604020202020204" pitchFamily="34" charset="0"/>
                <a:ea typeface="+mn-ea"/>
                <a:cs typeface="Arial" panose="020B0604020202020204" pitchFamily="34" charset="0"/>
              </a:rPr>
              <a:t>. Advance to the next slide to get you started. </a:t>
            </a:r>
            <a:r>
              <a:rPr lang="en-US" altLang="en-US" sz="1600" i="1" dirty="0">
                <a:solidFill>
                  <a:srgbClr val="FFFFFF"/>
                </a:solidFill>
                <a:latin typeface="Arial" panose="020B0604020202020204" pitchFamily="34" charset="0"/>
                <a:ea typeface="+mn-ea"/>
                <a:cs typeface="Arial" panose="020B0604020202020204" pitchFamily="34" charset="0"/>
              </a:rPr>
              <a:t>Please confer for 5 minutes. </a:t>
            </a:r>
            <a:r>
              <a:rPr lang="en-US" altLang="en-US" sz="1600" i="1" dirty="0" smtClean="0">
                <a:solidFill>
                  <a:srgbClr val="FFFFFF"/>
                </a:solidFill>
                <a:latin typeface="Arial" panose="020B0604020202020204" pitchFamily="34" charset="0"/>
                <a:ea typeface="+mn-ea"/>
                <a:cs typeface="Arial" panose="020B0604020202020204" pitchFamily="34" charset="0"/>
              </a:rPr>
              <a:t/>
            </a:r>
            <a:br>
              <a:rPr lang="en-US" altLang="en-US" sz="1600" i="1" dirty="0" smtClean="0">
                <a:solidFill>
                  <a:srgbClr val="FFFFFF"/>
                </a:solidFill>
                <a:latin typeface="Arial" panose="020B0604020202020204" pitchFamily="34" charset="0"/>
                <a:ea typeface="+mn-ea"/>
                <a:cs typeface="Arial" panose="020B0604020202020204" pitchFamily="34" charset="0"/>
              </a:rPr>
            </a:br>
            <a:r>
              <a:rPr lang="en-US" altLang="en-US" sz="1600" i="1" dirty="0" smtClean="0">
                <a:solidFill>
                  <a:srgbClr val="FFFFFF"/>
                </a:solidFill>
                <a:latin typeface="Arial" panose="020B0604020202020204" pitchFamily="34" charset="0"/>
                <a:ea typeface="+mn-ea"/>
                <a:cs typeface="Arial" panose="020B0604020202020204" pitchFamily="34" charset="0"/>
              </a:rPr>
              <a:t>(Response on MM not intended.)</a:t>
            </a:r>
            <a:endParaRPr lang="en-US" altLang="en-US" sz="1600" i="1" dirty="0">
              <a:solidFill>
                <a:srgbClr val="FFFFF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682683022"/>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a:extLst/>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An Example: Apply the Key Points of the ESG</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a:t>
            </a:r>
            <a:r>
              <a:rPr lang="en-US" sz="1200" i="1" kern="0" dirty="0">
                <a:solidFill>
                  <a:srgbClr val="000000"/>
                </a:solidFill>
                <a:ea typeface="Times New Roman"/>
                <a:cs typeface="Arial" panose="020B0604020202020204" pitchFamily="34" charset="0"/>
                <a:sym typeface="Times New Roman"/>
              </a:rPr>
              <a:t>The Engineer’s Survival Guide - Applied (Part 2)</a:t>
            </a: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a:extLst/>
        </p:spPr>
        <p:txBody>
          <a:bodyPr/>
          <a:lstStyle/>
          <a:p>
            <a:pPr eaLnBrk="1" hangingPunct="1">
              <a:buClr>
                <a:srgbClr val="000000"/>
              </a:buClr>
              <a:buFont typeface="Wingdings" panose="05000000000000000000" pitchFamily="2" charset="2"/>
              <a:buNone/>
            </a:pPr>
            <a:r>
              <a:rPr lang="en-US" sz="1100" b="0"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a) What </a:t>
            </a:r>
            <a:r>
              <a:rPr lang="en-US" sz="1100" b="0" dirty="0">
                <a:solidFill>
                  <a:srgbClr val="FFFFFF"/>
                </a:solidFill>
                <a:latin typeface="Arial" panose="020B0604020202020204" pitchFamily="34" charset="0"/>
                <a:ea typeface="Times New Roman" panose="02020603050405020304" pitchFamily="18" charset="0"/>
                <a:cs typeface="Arial" panose="020B0604020202020204" pitchFamily="34" charset="0"/>
              </a:rPr>
              <a:t>is the Loss Incident? </a:t>
            </a: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BP-DWH </a:t>
            </a: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offshore drilling rig, </a:t>
            </a: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Gulf </a:t>
            </a: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of Mexico off the coast of </a:t>
            </a: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Louisiana</a:t>
            </a:r>
            <a:endPar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endParaRPr lang="en-US" sz="11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r>
              <a:rPr lang="en-US" sz="1100" b="0"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b) What </a:t>
            </a:r>
            <a:r>
              <a:rPr lang="en-US" sz="1100" b="0" dirty="0">
                <a:solidFill>
                  <a:srgbClr val="FFFFFF"/>
                </a:solidFill>
                <a:latin typeface="Arial" panose="020B0604020202020204" pitchFamily="34" charset="0"/>
                <a:ea typeface="Times New Roman" panose="02020603050405020304" pitchFamily="18" charset="0"/>
                <a:cs typeface="Arial" panose="020B0604020202020204" pitchFamily="34" charset="0"/>
              </a:rPr>
              <a:t>Key Point is being applied? </a:t>
            </a: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KP </a:t>
            </a: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#3: Put safety ahead of any other objective. </a:t>
            </a:r>
          </a:p>
          <a:p>
            <a:pPr eaLnBrk="1" hangingPunct="1">
              <a:buClr>
                <a:srgbClr val="000000"/>
              </a:buClr>
              <a:buFont typeface="Wingdings" panose="05000000000000000000" pitchFamily="2" charset="2"/>
              <a:buNone/>
            </a:pPr>
            <a:endPar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r>
              <a:rPr lang="en-US" sz="1100" b="0"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c) What </a:t>
            </a:r>
            <a:r>
              <a:rPr lang="en-US" sz="1100" b="0" dirty="0">
                <a:solidFill>
                  <a:srgbClr val="FFFFFF"/>
                </a:solidFill>
                <a:latin typeface="Arial" panose="020B0604020202020204" pitchFamily="34" charset="0"/>
                <a:ea typeface="Times New Roman" panose="02020603050405020304" pitchFamily="18" charset="0"/>
                <a:cs typeface="Arial" panose="020B0604020202020204" pitchFamily="34" charset="0"/>
              </a:rPr>
              <a:t>is the situation? </a:t>
            </a:r>
          </a:p>
          <a:p>
            <a:pPr eaLnBrk="1" hangingPunct="1">
              <a:buFont typeface="+mj-lt"/>
              <a:buAutoNum type="arabicParenR"/>
            </a:pPr>
            <a:r>
              <a:rPr lang="en-CA"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The drilling deck and downhole operation where the well is being cemented and completed. </a:t>
            </a:r>
          </a:p>
          <a:p>
            <a:pPr eaLnBrk="1" hangingPunct="1">
              <a:buFont typeface="+mj-lt"/>
              <a:buAutoNum type="arabicParenR" startAt="2"/>
            </a:pPr>
            <a:r>
              <a:rPr lang="en-CA"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Downhole pressure is controlled by mud density and by the cement plugs at completion. If the downhole pressure exceeds mud density or cement plugs, then an uncontrolled “kick” or blowout can happen i.e. gas and oil blow-out onto the drilling deck and rig, and pose a fire risk. </a:t>
            </a:r>
          </a:p>
          <a:p>
            <a:pPr eaLnBrk="1" hangingPunct="1">
              <a:buFont typeface="+mj-lt"/>
              <a:buAutoNum type="arabicParenR" startAt="3"/>
            </a:pPr>
            <a:r>
              <a:rPr lang="en-CA"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Improper mud density control or inferior completion / hardening of the cement plugs can lead to an inability to contain high down-hole pressures. If this situation becomes uncontrolled, the well could blow-out. The blow-out preventer (BOP) is the last line of defense for stopping a blow-out. </a:t>
            </a:r>
          </a:p>
          <a:p>
            <a:pPr eaLnBrk="1" hangingPunct="1">
              <a:buClr>
                <a:srgbClr val="000000"/>
              </a:buClr>
              <a:buFont typeface="Wingdings" panose="05000000000000000000" pitchFamily="2" charset="2"/>
              <a:buNone/>
            </a:pPr>
            <a:endParaRPr lang="en-US" sz="1100" b="0" dirty="0" smtClean="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r>
              <a:rPr lang="en-US" sz="1100" b="0" dirty="0">
                <a:solidFill>
                  <a:srgbClr val="FFFFFF"/>
                </a:solidFill>
                <a:latin typeface="Arial" panose="020B0604020202020204" pitchFamily="34" charset="0"/>
                <a:ea typeface="Times New Roman" panose="02020603050405020304" pitchFamily="18" charset="0"/>
                <a:cs typeface="Arial" panose="020B0604020202020204" pitchFamily="34" charset="0"/>
              </a:rPr>
              <a:t>d) What is the issue with that situation? </a:t>
            </a:r>
            <a:endParaRPr lang="en-US" sz="1100" b="0" dirty="0" smtClean="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The </a:t>
            </a: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issue was that management made the decision to proceed with completion of the well (retract the downhole drilling tools and cement the well), despite known deficiencies including: the mud density, the less than the recommended number of cement plugs, and the less than the recommended cure time for the cement plugs. </a:t>
            </a:r>
          </a:p>
          <a:p>
            <a:pPr eaLnBrk="1" hangingPunct="1">
              <a:buClr>
                <a:srgbClr val="000000"/>
              </a:buClr>
              <a:buFont typeface="Wingdings" panose="05000000000000000000" pitchFamily="2" charset="2"/>
              <a:buNone/>
            </a:pP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In </a:t>
            </a: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other words, management rushed to complete the well, a major project milestone, and move on to the next stage of the project even though certain control measures were not as effectively implemented as they could be. This violated  “Put safety ahead of any other objective</a:t>
            </a: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a:t>
            </a:r>
          </a:p>
          <a:p>
            <a:pPr eaLnBrk="1" hangingPunct="1">
              <a:buClr>
                <a:srgbClr val="000000"/>
              </a:buClr>
              <a:buFont typeface="Wingdings" panose="05000000000000000000" pitchFamily="2" charset="2"/>
              <a:buNone/>
            </a:pPr>
            <a:endParaRPr lang="en-US" sz="11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r>
              <a:rPr lang="en-US" sz="1100" b="0" dirty="0">
                <a:solidFill>
                  <a:srgbClr val="FFFFFF"/>
                </a:solidFill>
                <a:latin typeface="Arial" panose="020B0604020202020204" pitchFamily="34" charset="0"/>
                <a:ea typeface="Times New Roman" panose="02020603050405020304" pitchFamily="18" charset="0"/>
                <a:cs typeface="Arial" panose="020B0604020202020204" pitchFamily="34" charset="0"/>
              </a:rPr>
              <a:t>e) What should have been done? </a:t>
            </a:r>
          </a:p>
          <a:p>
            <a:pPr eaLnBrk="1" hangingPunct="1">
              <a:buClr>
                <a:srgbClr val="000000"/>
              </a:buClr>
              <a:buFont typeface="Wingdings" panose="05000000000000000000" pitchFamily="2" charset="2"/>
              <a:buNone/>
            </a:pP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The </a:t>
            </a: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mud density should have been increased to contain the pressure. More cement plugs should have been installed to complete the well (contain the pressure). More time should have been allowed to cure (harden) the cement plugs and complete the well. Any / all three of these actions would decrease the likelihood of an uncontrolled kick and blow-out. </a:t>
            </a: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These </a:t>
            </a: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actions demonstrate “put safety ahead of any other objective”. </a:t>
            </a:r>
            <a:endPar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endParaRPr lang="en-US" sz="1100" b="0" dirty="0" smtClean="0">
              <a:solidFill>
                <a:srgbClr val="FFFFFF"/>
              </a:solidFill>
              <a:latin typeface="Arial" panose="020B0604020202020204" pitchFamily="34" charset="0"/>
              <a:ea typeface="Times New Roman" panose="02020603050405020304" pitchFamily="18" charset="0"/>
              <a:cs typeface="Arial" panose="020B0604020202020204" pitchFamily="34" charset="0"/>
            </a:endParaRPr>
          </a:p>
          <a:p>
            <a:pPr eaLnBrk="1" hangingPunct="1">
              <a:buClr>
                <a:srgbClr val="000000"/>
              </a:buClr>
              <a:buFont typeface="Wingdings" panose="05000000000000000000" pitchFamily="2" charset="2"/>
              <a:buNone/>
            </a:pPr>
            <a:r>
              <a:rPr lang="en-US" sz="1100" b="0" dirty="0">
                <a:solidFill>
                  <a:srgbClr val="FFFFFF"/>
                </a:solidFill>
                <a:latin typeface="Arial" panose="020B0604020202020204" pitchFamily="34" charset="0"/>
                <a:ea typeface="Times New Roman" panose="02020603050405020304" pitchFamily="18" charset="0"/>
                <a:cs typeface="Arial" panose="020B0604020202020204" pitchFamily="34" charset="0"/>
              </a:rPr>
              <a:t>f) What would have been the probable outcome had it been done? </a:t>
            </a:r>
          </a:p>
          <a:p>
            <a:pPr eaLnBrk="1" hangingPunct="1">
              <a:buClr>
                <a:srgbClr val="000000"/>
              </a:buClr>
              <a:buFont typeface="Wingdings" panose="05000000000000000000" pitchFamily="2" charset="2"/>
              <a:buNone/>
            </a:pP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With the control measures in place, there would not have been an uncontrolled blowout, no explosion, and no fire. The loss incident would have been prevented, and there would not have been any fatalities, harm to </a:t>
            </a: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the </a:t>
            </a: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environment, loss of the off-shore platform, and the loss of </a:t>
            </a:r>
            <a:r>
              <a:rPr lang="en-US" sz="1100" i="1" dirty="0" err="1">
                <a:solidFill>
                  <a:srgbClr val="FFFFFF"/>
                </a:solidFill>
                <a:latin typeface="Arial" panose="020B0604020202020204" pitchFamily="34" charset="0"/>
                <a:ea typeface="Times New Roman" panose="02020603050405020304" pitchFamily="18" charset="0"/>
                <a:cs typeface="Arial" panose="020B0604020202020204" pitchFamily="34" charset="0"/>
              </a:rPr>
              <a:t>Macondo</a:t>
            </a:r>
            <a:r>
              <a:rPr lang="en-US" sz="1100" i="1" dirty="0">
                <a:solidFill>
                  <a:srgbClr val="FFFFFF"/>
                </a:solidFill>
                <a:latin typeface="Arial" panose="020B0604020202020204" pitchFamily="34" charset="0"/>
                <a:ea typeface="Times New Roman" panose="02020603050405020304" pitchFamily="18" charset="0"/>
                <a:cs typeface="Arial" panose="020B0604020202020204" pitchFamily="34" charset="0"/>
              </a:rPr>
              <a:t> oil field productivity for over a year</a:t>
            </a:r>
            <a:r>
              <a:rPr lang="en-US" sz="1100" i="1" dirty="0" smtClean="0">
                <a:solidFill>
                  <a:srgbClr val="FFFFFF"/>
                </a:solidFill>
                <a:latin typeface="Arial" panose="020B0604020202020204" pitchFamily="34" charset="0"/>
                <a:ea typeface="Times New Roman" panose="02020603050405020304" pitchFamily="18" charset="0"/>
                <a:cs typeface="Arial" panose="020B0604020202020204" pitchFamily="34" charset="0"/>
              </a:rPr>
              <a:t>.</a:t>
            </a:r>
            <a:endParaRPr lang="en-US" sz="1100" b="0" dirty="0">
              <a:solidFill>
                <a:srgbClr val="FFFFFF"/>
              </a:solidFill>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797504979"/>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Engineer’s Survival Guide:</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ESG is a corner-stone for assessing case studies …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real-world situations in which you will find yourself during your career!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should be able to:</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Assess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situation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where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issues are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evident or perceived, in order to make a decision or recommendation.  </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Make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decisions in an enabled and empowered manner</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when faced with confusing or conflicting or incomplete information, guidance, direction, or messaging, and often under significant time constraints.</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Summary and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1.2: The </a:t>
            </a:r>
            <a:r>
              <a:rPr lang="en-US" sz="1200" i="1" kern="0" dirty="0">
                <a:solidFill>
                  <a:srgbClr val="000000"/>
                </a:solidFill>
                <a:ea typeface="Times New Roman"/>
                <a:cs typeface="Arial" panose="020B0604020202020204" pitchFamily="34" charset="0"/>
                <a:sym typeface="Times New Roman"/>
              </a:rPr>
              <a:t>Engineer’s Survival </a:t>
            </a:r>
            <a:r>
              <a:rPr lang="en-US" sz="1200" i="1" kern="0" dirty="0" smtClean="0">
                <a:solidFill>
                  <a:srgbClr val="000000"/>
                </a:solidFill>
                <a:ea typeface="Times New Roman"/>
                <a:cs typeface="Arial" panose="020B0604020202020204" pitchFamily="34" charset="0"/>
                <a:sym typeface="Times New Roman"/>
              </a:rPr>
              <a:t>Guide - </a:t>
            </a:r>
            <a:r>
              <a:rPr lang="en-US" sz="1200" i="1" kern="0" dirty="0">
                <a:solidFill>
                  <a:srgbClr val="000000"/>
                </a:solidFill>
                <a:ea typeface="Times New Roman"/>
                <a:cs typeface="Arial" panose="020B0604020202020204" pitchFamily="34" charset="0"/>
                <a:sym typeface="Times New Roman"/>
              </a:rPr>
              <a:t>Applied (Part 2)</a:t>
            </a:r>
          </a:p>
        </p:txBody>
      </p:sp>
      <p:sp>
        <p:nvSpPr>
          <p:cNvPr id="6" name="Rectangle 2"/>
          <p:cNvSpPr>
            <a:spLocks noChangeArrowheads="1"/>
          </p:cNvSpPr>
          <p:nvPr/>
        </p:nvSpPr>
        <p:spPr bwMode="auto">
          <a:xfrm>
            <a:off x="180000" y="4824000"/>
            <a:ext cx="8640000" cy="1080000"/>
          </a:xfrm>
          <a:prstGeom prst="rect">
            <a:avLst/>
          </a:prstGeom>
          <a:solidFill>
            <a:schemeClr val="tx1"/>
          </a:solidFill>
          <a:ln>
            <a:solidFill>
              <a:schemeClr val="tx1"/>
            </a:solidFill>
          </a:ln>
          <a:extLst/>
        </p:spPr>
        <p:txBody>
          <a:bodyPr wrap="square" rtlCol="0">
            <a:noAutofit/>
          </a:bodyPr>
          <a:lstStyle/>
          <a:p>
            <a:r>
              <a:rPr lang="en-CA" altLang="en-US" sz="2000" i="1" dirty="0">
                <a:solidFill>
                  <a:srgbClr val="FFFFFF"/>
                </a:solidFill>
                <a:latin typeface="Arial" panose="020B0604020202020204" pitchFamily="34" charset="0"/>
                <a:ea typeface="+mn-ea"/>
                <a:cs typeface="Arial" panose="020B0604020202020204" pitchFamily="34" charset="0"/>
              </a:rPr>
              <a:t>You should be able to apply </a:t>
            </a:r>
            <a:r>
              <a:rPr lang="en-CA" altLang="en-US" sz="2000" i="1" dirty="0" smtClean="0">
                <a:solidFill>
                  <a:srgbClr val="FFFFFF"/>
                </a:solidFill>
                <a:latin typeface="Arial" panose="020B0604020202020204" pitchFamily="34" charset="0"/>
                <a:ea typeface="+mn-ea"/>
                <a:cs typeface="Arial" panose="020B0604020202020204" pitchFamily="34" charset="0"/>
              </a:rPr>
              <a:t>any one of the key points of The </a:t>
            </a:r>
            <a:r>
              <a:rPr lang="en-CA" altLang="en-US" sz="2000" i="1" dirty="0">
                <a:solidFill>
                  <a:srgbClr val="FFFFFF"/>
                </a:solidFill>
                <a:latin typeface="Arial" panose="020B0604020202020204" pitchFamily="34" charset="0"/>
                <a:ea typeface="+mn-ea"/>
                <a:cs typeface="Arial" panose="020B0604020202020204" pitchFamily="34" charset="0"/>
              </a:rPr>
              <a:t>Engineer’s Survival </a:t>
            </a:r>
            <a:r>
              <a:rPr lang="en-CA" altLang="en-US" sz="2000" i="1" dirty="0" smtClean="0">
                <a:solidFill>
                  <a:srgbClr val="FFFFFF"/>
                </a:solidFill>
                <a:latin typeface="Arial" panose="020B0604020202020204" pitchFamily="34" charset="0"/>
                <a:ea typeface="+mn-ea"/>
                <a:cs typeface="Arial" panose="020B0604020202020204" pitchFamily="34" charset="0"/>
              </a:rPr>
              <a:t>Guide </a:t>
            </a:r>
            <a:r>
              <a:rPr lang="en-CA" altLang="en-US" sz="2000" i="1" dirty="0">
                <a:solidFill>
                  <a:srgbClr val="FFFFFF"/>
                </a:solidFill>
                <a:latin typeface="Arial" panose="020B0604020202020204" pitchFamily="34" charset="0"/>
                <a:ea typeface="+mn-ea"/>
                <a:cs typeface="Arial" panose="020B0604020202020204" pitchFamily="34" charset="0"/>
              </a:rPr>
              <a:t>to </a:t>
            </a:r>
            <a:r>
              <a:rPr lang="en-CA" altLang="en-US" sz="2000" i="1" u="sng" dirty="0">
                <a:solidFill>
                  <a:srgbClr val="FFFFFF"/>
                </a:solidFill>
                <a:latin typeface="Arial" panose="020B0604020202020204" pitchFamily="34" charset="0"/>
                <a:ea typeface="+mn-ea"/>
                <a:cs typeface="Arial" panose="020B0604020202020204" pitchFamily="34" charset="0"/>
              </a:rPr>
              <a:t>your team project loss incident</a:t>
            </a:r>
            <a:r>
              <a:rPr lang="en-CA" altLang="en-US" sz="2000" i="1" dirty="0">
                <a:solidFill>
                  <a:srgbClr val="FFFFFF"/>
                </a:solidFill>
                <a:latin typeface="Arial" panose="020B0604020202020204" pitchFamily="34" charset="0"/>
                <a:ea typeface="+mn-ea"/>
                <a:cs typeface="Arial" panose="020B0604020202020204" pitchFamily="34" charset="0"/>
              </a:rPr>
              <a:t> or </a:t>
            </a:r>
            <a:r>
              <a:rPr lang="en-CA" altLang="en-US" sz="2000" i="1" dirty="0" smtClean="0">
                <a:solidFill>
                  <a:srgbClr val="FFFFFF"/>
                </a:solidFill>
                <a:latin typeface="Arial" panose="020B0604020202020204" pitchFamily="34" charset="0"/>
                <a:ea typeface="+mn-ea"/>
                <a:cs typeface="Arial" panose="020B0604020202020204" pitchFamily="34" charset="0"/>
              </a:rPr>
              <a:t/>
            </a:r>
            <a:br>
              <a:rPr lang="en-CA" altLang="en-US" sz="2000" i="1" dirty="0" smtClean="0">
                <a:solidFill>
                  <a:srgbClr val="FFFFFF"/>
                </a:solidFill>
                <a:latin typeface="Arial" panose="020B0604020202020204" pitchFamily="34" charset="0"/>
                <a:ea typeface="+mn-ea"/>
                <a:cs typeface="Arial" panose="020B0604020202020204" pitchFamily="34" charset="0"/>
              </a:rPr>
            </a:br>
            <a:r>
              <a:rPr lang="en-CA" altLang="en-US" sz="2000" i="1" u="sng" dirty="0" smtClean="0">
                <a:solidFill>
                  <a:srgbClr val="FFFFFF"/>
                </a:solidFill>
                <a:latin typeface="Arial" panose="020B0604020202020204" pitchFamily="34" charset="0"/>
                <a:ea typeface="+mn-ea"/>
                <a:cs typeface="Arial" panose="020B0604020202020204" pitchFamily="34" charset="0"/>
              </a:rPr>
              <a:t>a </a:t>
            </a:r>
            <a:r>
              <a:rPr lang="en-CA" altLang="en-US" sz="2000" i="1" u="sng" dirty="0">
                <a:solidFill>
                  <a:srgbClr val="FFFFFF"/>
                </a:solidFill>
                <a:latin typeface="Arial" panose="020B0604020202020204" pitchFamily="34" charset="0"/>
                <a:ea typeface="+mn-ea"/>
                <a:cs typeface="Arial" panose="020B0604020202020204" pitchFamily="34" charset="0"/>
              </a:rPr>
              <a:t>real workplace experience</a:t>
            </a:r>
            <a:r>
              <a:rPr lang="en-CA" altLang="en-US" sz="2000" i="1" dirty="0">
                <a:solidFill>
                  <a:srgbClr val="FFFFFF"/>
                </a:solidFill>
                <a:latin typeface="Arial" panose="020B0604020202020204" pitchFamily="34" charset="0"/>
                <a:ea typeface="+mn-ea"/>
                <a:cs typeface="Arial" panose="020B0604020202020204" pitchFamily="34" charset="0"/>
              </a:rPr>
              <a:t>!</a:t>
            </a:r>
          </a:p>
        </p:txBody>
      </p:sp>
    </p:spTree>
    <p:extLst>
      <p:ext uri="{BB962C8B-B14F-4D97-AF65-F5344CB8AC3E}">
        <p14:creationId xmlns:p14="http://schemas.microsoft.com/office/powerpoint/2010/main" val="4187505649"/>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69110</TotalTime>
  <Words>976</Words>
  <Application>Microsoft Office PowerPoint</Application>
  <PresentationFormat>On-screen Show (4:3)</PresentationFormat>
  <Paragraphs>115</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ＭＳ Ｐゴシック</vt:lpstr>
      <vt:lpstr>Arial</vt:lpstr>
      <vt:lpstr>Calibri</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JR Cocchio</cp:lastModifiedBy>
  <cp:revision>1937</cp:revision>
  <cp:lastPrinted>2018-12-17T22:21:47Z</cp:lastPrinted>
  <dcterms:created xsi:type="dcterms:W3CDTF">2007-03-28T16:18:47Z</dcterms:created>
  <dcterms:modified xsi:type="dcterms:W3CDTF">2021-07-07T21:35:09Z</dcterms:modified>
</cp:coreProperties>
</file>