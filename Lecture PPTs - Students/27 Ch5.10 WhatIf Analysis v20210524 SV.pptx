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895" r:id="rId2"/>
    <p:sldId id="880" r:id="rId3"/>
    <p:sldId id="881" r:id="rId4"/>
    <p:sldId id="882" r:id="rId5"/>
    <p:sldId id="883" r:id="rId6"/>
    <p:sldId id="884" r:id="rId7"/>
    <p:sldId id="885" r:id="rId8"/>
    <p:sldId id="886" r:id="rId9"/>
    <p:sldId id="887" r:id="rId10"/>
    <p:sldId id="888" r:id="rId11"/>
    <p:sldId id="889" r:id="rId12"/>
    <p:sldId id="890" r:id="rId13"/>
    <p:sldId id="891" r:id="rId14"/>
    <p:sldId id="892" r:id="rId15"/>
    <p:sldId id="893" r:id="rId16"/>
    <p:sldId id="894" r:id="rId1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881"/>
            <p14:sldId id="882"/>
            <p14:sldId id="883"/>
            <p14:sldId id="884"/>
            <p14:sldId id="885"/>
            <p14:sldId id="886"/>
            <p14:sldId id="887"/>
            <p14:sldId id="888"/>
            <p14:sldId id="889"/>
            <p14:sldId id="890"/>
            <p14:sldId id="891"/>
            <p14:sldId id="892"/>
            <p14:sldId id="893"/>
            <p14:sldId id="8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DB1A6"/>
    <a:srgbClr val="0000CC"/>
    <a:srgbClr val="000000"/>
    <a:srgbClr val="F8F8F8"/>
    <a:srgbClr val="F5D7F1"/>
    <a:srgbClr val="5F5F5F"/>
    <a:srgbClr val="DDDDDD"/>
    <a:srgbClr val="FBA3E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548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5/24/2021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smtClean="0"/>
              <a:t>ENGG406 2015W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smtClean="0"/>
              <a:t>3-Feb-2015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31F306-09FB-47A3-B7F2-EBDC5AA2EBC3}" type="slidenum">
              <a:rPr lang="en-US" altLang="en-US" sz="1300" smtClean="0"/>
              <a:pPr/>
              <a:t>3</a:t>
            </a:fld>
            <a:endParaRPr lang="en-US" altLang="en-US" sz="1300" smtClean="0"/>
          </a:p>
        </p:txBody>
      </p:sp>
      <p:sp>
        <p:nvSpPr>
          <p:cNvPr id="9221" name="Rectangle 7"/>
          <p:cNvSpPr txBox="1">
            <a:spLocks noGrp="1" noChangeArrowheads="1"/>
          </p:cNvSpPr>
          <p:nvPr/>
        </p:nvSpPr>
        <p:spPr bwMode="auto">
          <a:xfrm>
            <a:off x="3971444" y="8831686"/>
            <a:ext cx="3038956" cy="4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4" tIns="46396" rIns="92794" bIns="46396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0178E9A9-A8BA-4372-805F-FD1C06DC55DE}" type="slidenum">
              <a:rPr lang="en-US" altLang="en-US"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3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794" tIns="46396" rIns="92794" bIns="46396"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1274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smtClean="0"/>
              <a:t>ENGG406 2015W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smtClean="0"/>
              <a:t>3-Feb-2015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31F306-09FB-47A3-B7F2-EBDC5AA2EBC3}" type="slidenum">
              <a:rPr lang="en-US" altLang="en-US" sz="1300" smtClean="0"/>
              <a:pPr/>
              <a:t>4</a:t>
            </a:fld>
            <a:endParaRPr lang="en-US" altLang="en-US" sz="1300" smtClean="0"/>
          </a:p>
        </p:txBody>
      </p:sp>
      <p:sp>
        <p:nvSpPr>
          <p:cNvPr id="9221" name="Rectangle 7"/>
          <p:cNvSpPr txBox="1">
            <a:spLocks noGrp="1" noChangeArrowheads="1"/>
          </p:cNvSpPr>
          <p:nvPr/>
        </p:nvSpPr>
        <p:spPr bwMode="auto">
          <a:xfrm>
            <a:off x="3971444" y="8831686"/>
            <a:ext cx="3038956" cy="4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4" tIns="46396" rIns="92794" bIns="46396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0178E9A9-A8BA-4372-805F-FD1C06DC55DE}" type="slidenum">
              <a:rPr lang="en-US" altLang="en-US"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4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794" tIns="46396" rIns="92794" bIns="46396"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5990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Burned electrical box,</a:t>
            </a:r>
            <a:r>
              <a:rPr lang="en-CA" baseline="0" dirty="0" smtClean="0"/>
              <a:t> f</a:t>
            </a:r>
            <a:r>
              <a:rPr lang="en-CA" dirty="0" smtClean="0"/>
              <a:t>ailed transformer, ice storm downed power transmission</a:t>
            </a:r>
            <a:r>
              <a:rPr lang="en-CA" baseline="0" dirty="0" smtClean="0"/>
              <a:t> lines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4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smtClean="0"/>
              <a:t>ENGG406 2015W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00" smtClean="0"/>
              <a:t>3-Feb-2015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A31F306-09FB-47A3-B7F2-EBDC5AA2EBC3}" type="slidenum">
              <a:rPr lang="en-US" altLang="en-US" sz="1300" smtClean="0"/>
              <a:pPr/>
              <a:t>7</a:t>
            </a:fld>
            <a:endParaRPr lang="en-US" altLang="en-US" sz="1300" smtClean="0"/>
          </a:p>
        </p:txBody>
      </p:sp>
      <p:sp>
        <p:nvSpPr>
          <p:cNvPr id="9221" name="Rectangle 7"/>
          <p:cNvSpPr txBox="1">
            <a:spLocks noGrp="1" noChangeArrowheads="1"/>
          </p:cNvSpPr>
          <p:nvPr/>
        </p:nvSpPr>
        <p:spPr bwMode="auto">
          <a:xfrm>
            <a:off x="3971444" y="8831686"/>
            <a:ext cx="3038956" cy="46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94" tIns="46396" rIns="92794" bIns="46396" anchor="b"/>
          <a:lstStyle>
            <a:lvl1pPr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503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0178E9A9-A8BA-4372-805F-FD1C06DC55DE}" type="slidenum">
              <a:rPr lang="en-US" altLang="en-US"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7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794" tIns="46396" rIns="92794" bIns="46396"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Risk</a:t>
            </a:r>
            <a:r>
              <a:rPr lang="en-US" altLang="en-US" baseline="0" dirty="0" smtClean="0">
                <a:ea typeface="ＭＳ Ｐゴシック" panose="020B0600070205080204" pitchFamily="34" charset="-128"/>
              </a:rPr>
              <a:t> criteria </a:t>
            </a:r>
            <a:r>
              <a:rPr lang="en-CA" altLang="en-US" baseline="0" dirty="0" smtClean="0">
                <a:ea typeface="ＭＳ Ｐゴシック" panose="020B0600070205080204" pitchFamily="34" charset="-128"/>
              </a:rPr>
              <a:t>are used to determine whether a specified level of risk is acceptable or tolerable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9802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ENGG406 2015WENGG404 Lecture 00 - Day 1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2-Feb-20152012 Fall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2E3E13-10A4-4D86-850F-72E362D61B09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  <p:sp>
        <p:nvSpPr>
          <p:cNvPr id="112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5863" y="698500"/>
            <a:ext cx="4652962" cy="3489325"/>
          </a:xfrm>
          <a:ln/>
        </p:spPr>
      </p:sp>
      <p:sp>
        <p:nvSpPr>
          <p:cNvPr id="112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none" tIns="46457" bIns="46457"/>
          <a:lstStyle/>
          <a:p>
            <a:endParaRPr lang="en-CA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82E4BEE-2CF0-43F2-9963-CC573725B15D}" type="slidenum">
              <a:rPr lang="en-US" altLang="en-US" sz="1200">
                <a:cs typeface="Arial" panose="020B0604020202020204" pitchFamily="34" charset="0"/>
              </a:rPr>
              <a:pPr algn="r" eaLnBrk="1" hangingPunct="1"/>
              <a:t>11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22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ENGG406 2015WENGG404 Lecture 00 - Day 1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2-Feb-20152012 Fall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2E3E13-10A4-4D86-850F-72E362D61B09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  <p:sp>
        <p:nvSpPr>
          <p:cNvPr id="112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5863" y="698500"/>
            <a:ext cx="4652962" cy="3489325"/>
          </a:xfrm>
          <a:ln/>
        </p:spPr>
      </p:sp>
      <p:sp>
        <p:nvSpPr>
          <p:cNvPr id="112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none" tIns="46457" bIns="46457"/>
          <a:lstStyle/>
          <a:p>
            <a:endParaRPr lang="en-CA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82E4BEE-2CF0-43F2-9963-CC573725B15D}" type="slidenum">
              <a:rPr lang="en-US" altLang="en-US" sz="1200">
                <a:cs typeface="Arial" panose="020B0604020202020204" pitchFamily="34" charset="0"/>
              </a:rPr>
              <a:pPr algn="r" eaLnBrk="1" hangingPunct="1"/>
              <a:t>12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403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ENGG406 2015WENGG404 Lecture 00 - Day 1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2-Feb-20152012 Fall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2E3E13-10A4-4D86-850F-72E362D61B09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  <p:sp>
        <p:nvSpPr>
          <p:cNvPr id="112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5863" y="698500"/>
            <a:ext cx="4652962" cy="3489325"/>
          </a:xfrm>
          <a:ln/>
        </p:spPr>
      </p:sp>
      <p:sp>
        <p:nvSpPr>
          <p:cNvPr id="112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none" tIns="46457" bIns="46457"/>
          <a:lstStyle/>
          <a:p>
            <a:endParaRPr lang="en-CA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1271" name="Slide Number Placeholder 3"/>
          <p:cNvSpPr txBox="1">
            <a:spLocks noGrp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159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159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fld id="{482E4BEE-2CF0-43F2-9963-CC573725B15D}" type="slidenum">
              <a:rPr lang="en-US" altLang="en-US" sz="1200">
                <a:cs typeface="Arial" panose="020B0604020202020204" pitchFamily="34" charset="0"/>
              </a:rPr>
              <a:pPr algn="r" eaLnBrk="1" hangingPunct="1"/>
              <a:t>13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38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Are the ‘right’ questions being asked? </a:t>
            </a:r>
          </a:p>
          <a:p>
            <a:r>
              <a:rPr lang="en-CA" dirty="0" smtClean="0"/>
              <a:t>You may not know the questions to ask with a new process, product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7289C4-4137-4B30-96C9-7C06C822912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27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ENGG406 2015WENGG404 Lecture 00 - Day 1</a:t>
            </a: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smtClean="0"/>
              <a:t>2-Feb-20152012 Fall</a:t>
            </a:r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36600" indent="-28257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33475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87500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39938" indent="-225425" defTabSz="92868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4971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543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115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68738" indent="-225425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0F11A85-18C6-4443-8104-73A031F15A63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  <p:sp>
        <p:nvSpPr>
          <p:cNvPr id="27653" name="Rectangle 7"/>
          <p:cNvSpPr txBox="1">
            <a:spLocks noGrp="1" noChangeArrowheads="1"/>
          </p:cNvSpPr>
          <p:nvPr/>
        </p:nvSpPr>
        <p:spPr bwMode="auto">
          <a:xfrm>
            <a:off x="3979838" y="8843752"/>
            <a:ext cx="3043263" cy="4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78" tIns="46639" rIns="93278" bIns="46639" anchor="b"/>
          <a:lstStyle>
            <a:lvl1pPr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6125" indent="-28733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9350" indent="-23018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8138" indent="-23018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68513" indent="-230188" defTabSz="9398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257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829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401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97313" indent="-230188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2289D0B-54E1-4325-86FE-7AC58F5684A2}" type="slidenum">
              <a:rPr lang="en-US" altLang="en-US" sz="1200">
                <a:cs typeface="Arial" panose="020B0604020202020204" pitchFamily="34" charset="0"/>
              </a:rPr>
              <a:pPr algn="r"/>
              <a:t>16</a:t>
            </a:fld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27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3278" tIns="46639" rIns="93278" bIns="46639"/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0116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5/24/2021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5.10: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Tool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sp>
        <p:nvSpPr>
          <p:cNvPr id="25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28600" y="1066800"/>
            <a:ext cx="7848600" cy="199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What-If Analysis risk analysis technique</a:t>
            </a:r>
          </a:p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create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</a:t>
            </a:r>
          </a:p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benefits and limitations of the What-If Analysis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3200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Learning Outcomes:</a:t>
            </a:r>
            <a:endParaRPr lang="en-US" altLang="en-US" sz="3200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1506" name="AutoShape 2" descr="Image result for image of toxic plu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1508" name="AutoShape 4" descr="Image result for image of toxic plu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so easy, especially if you do NOT know the technology!  </a:t>
            </a: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Analysis - a well-established and widely used method for identifying and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analysing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hazards, hazardous events (scenarios), and needed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controls.</a:t>
            </a:r>
            <a:endParaRPr lang="en-GB" sz="2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1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While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originally developed for chemical/petrochemical process hazard analysis (PHA), the tool has become widely used in many other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industries.</a:t>
            </a:r>
            <a:endParaRPr lang="en-GB" sz="2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1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applied to a system, process, or operation or for a more specific focus such as a piece of equipment, procedure, or </a:t>
            </a:r>
            <a:r>
              <a:rPr lang="en-GB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activity.</a:t>
            </a:r>
            <a:endParaRPr lang="en-GB" sz="2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1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 helps uncover potential incidents (proactive), and 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challenges the </a:t>
            </a:r>
            <a:r>
              <a:rPr lang="en-US" altLang="en-US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 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create and answer </a:t>
            </a:r>
            <a:r>
              <a:rPr lang="en-US" altLang="en-US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 which reveal </a:t>
            </a:r>
            <a:r>
              <a:rPr lang="en-US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undesirable </a:t>
            </a:r>
            <a:r>
              <a:rPr lang="en-US" altLang="en-US" sz="2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consequences.</a:t>
            </a:r>
            <a:endParaRPr lang="en-US" altLang="en-US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2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GB" sz="2000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GB" sz="20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Introduction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547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Introduction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80000" y="828000"/>
            <a:ext cx="8640000" cy="5328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structured </a:t>
            </a:r>
            <a:r>
              <a:rPr lang="en-US" altLang="en-US" sz="20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brainstorming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technique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are identified by answering questions derived from a review team’s knowledge and experience – “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if …”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Specific components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fail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parameter (flow, level, temperature)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abnormal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Operator actions a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 performed incorrectly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Various external events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occur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conjunction with relevant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checklists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each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question, we evaluate</a:t>
            </a:r>
          </a:p>
          <a:p>
            <a:pPr marL="720000" lvl="2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</a:t>
            </a:r>
          </a:p>
          <a:p>
            <a:pPr marL="720000" lvl="2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consequences</a:t>
            </a:r>
          </a:p>
          <a:p>
            <a:pPr marL="720000" lvl="2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safeguards/controls (in place, assumed)</a:t>
            </a:r>
          </a:p>
          <a:p>
            <a:pPr marL="360000" indent="-36000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Recommendations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made when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improvements are needed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15087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8112" y="131745"/>
            <a:ext cx="8762999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algn="l"/>
            <a:r>
              <a:rPr lang="en-US" altLang="en-US" sz="3200" b="0" dirty="0" smtClean="0"/>
              <a:t>Consider Extreme Events (Low L, High C)</a:t>
            </a:r>
            <a:endParaRPr lang="en-US" altLang="en-US" sz="2000" b="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877485"/>
            <a:ext cx="8305800" cy="7241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may never have seen it, but is it possible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  <a:b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(Extremely Low Likelihood but Extremely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igh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onsequence)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algn="ctr">
              <a:buFontTx/>
              <a:buNone/>
            </a:pPr>
            <a:r>
              <a:rPr lang="en-US" altLang="en-US" sz="1800" b="0" kern="0" dirty="0" smtClean="0">
                <a:solidFill>
                  <a:schemeClr val="bg1"/>
                </a:solidFill>
              </a:rPr>
              <a:t>What if we created a vacuum, instead of pressure, on the vessel ?</a:t>
            </a:r>
            <a:endParaRPr lang="en-US" altLang="en-US" sz="1800" b="0" kern="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069" y="1711438"/>
            <a:ext cx="3964931" cy="25488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91" y="1601623"/>
            <a:ext cx="2971800" cy="19775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777" y="3442426"/>
            <a:ext cx="4064005" cy="27052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95020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5028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Applications</a:t>
            </a:r>
            <a:endParaRPr lang="en-US" altLang="en-US" sz="3200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safety reviews of new facilities, systems &amp; equipment</a:t>
            </a:r>
          </a:p>
          <a:p>
            <a:pPr marL="720000" lvl="2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can be a key input to the “Prevention Through Design Process”, the next topic!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part of Management of Change (MOC) reviews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Non-routine activities such as equipment installation, repair or decommissioning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Facilities / Operations that manage (store, handle, </a:t>
            </a:r>
            <a:r>
              <a:rPr lang="en-US" altLang="en-US" sz="20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processhazardous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processes, materials</a:t>
            </a: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“Table Top Drills” to review emergency scenarios &amp; necessary measures for preparedness, disaster recovery &amp; business interruption</a:t>
            </a:r>
          </a:p>
        </p:txBody>
      </p: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64990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Steps in What If Analysis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722125" y="864736"/>
            <a:ext cx="6964675" cy="5231264"/>
            <a:chOff x="1051562" y="785658"/>
            <a:chExt cx="6964675" cy="5231264"/>
          </a:xfrm>
        </p:grpSpPr>
        <p:sp>
          <p:nvSpPr>
            <p:cNvPr id="4" name="Freeform 3"/>
            <p:cNvSpPr/>
            <p:nvPr/>
          </p:nvSpPr>
          <p:spPr>
            <a:xfrm>
              <a:off x="2666997" y="785658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What is being analyzed?</a:t>
              </a:r>
              <a:endParaRPr lang="en-US" sz="130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What risk criteria will be used? (the acceptable level of risk)</a:t>
              </a:r>
              <a:endParaRPr lang="en-US" sz="1300" kern="1200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1051562" y="785658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Define purpose and scope</a:t>
              </a:r>
              <a:endParaRPr lang="en-US" sz="1300" kern="1200" dirty="0"/>
            </a:p>
          </p:txBody>
        </p:sp>
        <p:sp>
          <p:nvSpPr>
            <p:cNvPr id="6" name="Freeform 5"/>
            <p:cNvSpPr/>
            <p:nvPr/>
          </p:nvSpPr>
          <p:spPr>
            <a:xfrm>
              <a:off x="2666997" y="1372841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Technical experts, safety experts in different areas</a:t>
              </a:r>
              <a:endParaRPr lang="en-US" sz="1300" kern="1200" dirty="0"/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End users if possible</a:t>
              </a:r>
              <a:endParaRPr lang="en-US" sz="1300" kern="1200" dirty="0"/>
            </a:p>
          </p:txBody>
        </p:sp>
        <p:sp>
          <p:nvSpPr>
            <p:cNvPr id="7" name="Freeform 6"/>
            <p:cNvSpPr/>
            <p:nvPr/>
          </p:nvSpPr>
          <p:spPr>
            <a:xfrm>
              <a:off x="1051562" y="1372841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3502"/>
                <a:lumOff val="3969"/>
                <a:alphaOff val="0"/>
              </a:schemeClr>
            </a:fillRef>
            <a:effectRef idx="2">
              <a:schemeClr val="accent2">
                <a:shade val="80000"/>
                <a:hueOff val="0"/>
                <a:satOff val="-3502"/>
                <a:lumOff val="396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Assemble team</a:t>
              </a:r>
              <a:endParaRPr lang="en-US" sz="1300" kern="1200" dirty="0"/>
            </a:p>
          </p:txBody>
        </p:sp>
        <p:sp>
          <p:nvSpPr>
            <p:cNvPr id="8" name="Freeform 7"/>
            <p:cNvSpPr/>
            <p:nvPr/>
          </p:nvSpPr>
          <p:spPr>
            <a:xfrm>
              <a:off x="2666997" y="1960024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Does everyone on the team know what the purpose and scope is? How are the risk criteria defined?</a:t>
              </a:r>
              <a:endParaRPr lang="en-US" sz="1300" kern="1200"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051562" y="1960024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7005"/>
                <a:lumOff val="7938"/>
                <a:alphaOff val="0"/>
              </a:schemeClr>
            </a:fillRef>
            <a:effectRef idx="2">
              <a:schemeClr val="accent2">
                <a:shade val="80000"/>
                <a:hueOff val="0"/>
                <a:satOff val="-7005"/>
                <a:lumOff val="793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Communicate objectives</a:t>
              </a:r>
              <a:endParaRPr lang="en-US" sz="1300" kern="1200" dirty="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666997" y="2547207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Drawings, schematics, component specs, operating manuals, reference manuals, etc</a:t>
              </a:r>
              <a:endParaRPr lang="en-US" sz="1300" kern="1200" dirty="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51562" y="2547207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10507"/>
                <a:lumOff val="11907"/>
                <a:alphaOff val="0"/>
              </a:schemeClr>
            </a:fillRef>
            <a:effectRef idx="2">
              <a:schemeClr val="accent2">
                <a:shade val="80000"/>
                <a:hueOff val="0"/>
                <a:satOff val="-10507"/>
                <a:lumOff val="119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Gather information</a:t>
              </a:r>
              <a:endParaRPr lang="en-US" sz="1300" kern="1200"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2666997" y="3134389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Break down the activity/system into tasks/elements to be analyzed</a:t>
              </a:r>
              <a:endParaRPr lang="en-US" sz="1300" kern="1200" dirty="0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51562" y="3134389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14010"/>
                <a:lumOff val="15876"/>
                <a:alphaOff val="0"/>
              </a:schemeClr>
            </a:fillRef>
            <a:effectRef idx="2">
              <a:schemeClr val="accent2">
                <a:shade val="80000"/>
                <a:hueOff val="0"/>
                <a:satOff val="-14010"/>
                <a:lumOff val="15876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Breakdown into tasks</a:t>
              </a:r>
              <a:endParaRPr lang="en-US" sz="1300" kern="1200" dirty="0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2666997" y="3721572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u="sng" kern="1200" dirty="0" smtClean="0"/>
                <a:t>Brainstorm</a:t>
              </a:r>
              <a:r>
                <a:rPr lang="en-US" sz="1300" kern="1200" dirty="0" smtClean="0"/>
                <a:t> hazards and hazardous scenarios with team</a:t>
              </a:r>
              <a:endParaRPr lang="en-US" sz="1300" kern="1200" dirty="0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51562" y="3721572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17512"/>
                <a:lumOff val="19845"/>
                <a:alphaOff val="0"/>
              </a:schemeClr>
            </a:fillRef>
            <a:effectRef idx="2">
              <a:schemeClr val="accent2">
                <a:shade val="80000"/>
                <a:hueOff val="0"/>
                <a:satOff val="-17512"/>
                <a:lumOff val="1984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Generate What-If Analysis questions</a:t>
              </a:r>
              <a:endParaRPr lang="en-US" sz="1300" kern="1200" dirty="0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2666997" y="4308755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Discuss the causes, resulting consequences, existing/assumed controls/safeguards</a:t>
              </a:r>
              <a:endParaRPr lang="en-US" sz="1300" kern="1200" dirty="0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51562" y="4308755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21014"/>
                <a:lumOff val="23814"/>
                <a:alphaOff val="0"/>
              </a:schemeClr>
            </a:fillRef>
            <a:effectRef idx="2">
              <a:schemeClr val="accent2">
                <a:shade val="80000"/>
                <a:hueOff val="0"/>
                <a:satOff val="-21014"/>
                <a:lumOff val="238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Answer What-If Analysis questions</a:t>
              </a:r>
              <a:endParaRPr lang="en-US" sz="1300" kern="1200" dirty="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666997" y="4895937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Identify and select risk reduction controls (using hierarchy of controls)</a:t>
              </a:r>
              <a:endParaRPr lang="en-US" sz="1300" kern="1200" dirty="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51562" y="4895937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24517"/>
                <a:lumOff val="27783"/>
                <a:alphaOff val="0"/>
              </a:schemeClr>
            </a:fillRef>
            <a:effectRef idx="2">
              <a:schemeClr val="accent2">
                <a:shade val="80000"/>
                <a:hueOff val="0"/>
                <a:satOff val="-24517"/>
                <a:lumOff val="2778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Select additional controls</a:t>
              </a:r>
              <a:endParaRPr lang="en-US" sz="1300" kern="1200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666997" y="5483120"/>
              <a:ext cx="5349240" cy="533802"/>
            </a:xfrm>
            <a:custGeom>
              <a:avLst/>
              <a:gdLst>
                <a:gd name="connsiteX0" fmla="*/ 0 w 5349240"/>
                <a:gd name="connsiteY0" fmla="*/ 66725 h 533802"/>
                <a:gd name="connsiteX1" fmla="*/ 5082339 w 5349240"/>
                <a:gd name="connsiteY1" fmla="*/ 66725 h 533802"/>
                <a:gd name="connsiteX2" fmla="*/ 5082339 w 5349240"/>
                <a:gd name="connsiteY2" fmla="*/ 0 h 533802"/>
                <a:gd name="connsiteX3" fmla="*/ 5349240 w 5349240"/>
                <a:gd name="connsiteY3" fmla="*/ 266901 h 533802"/>
                <a:gd name="connsiteX4" fmla="*/ 5082339 w 5349240"/>
                <a:gd name="connsiteY4" fmla="*/ 533802 h 533802"/>
                <a:gd name="connsiteX5" fmla="*/ 5082339 w 5349240"/>
                <a:gd name="connsiteY5" fmla="*/ 467077 h 533802"/>
                <a:gd name="connsiteX6" fmla="*/ 0 w 5349240"/>
                <a:gd name="connsiteY6" fmla="*/ 467077 h 533802"/>
                <a:gd name="connsiteX7" fmla="*/ 0 w 5349240"/>
                <a:gd name="connsiteY7" fmla="*/ 66725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49240" h="533802">
                  <a:moveTo>
                    <a:pt x="0" y="66725"/>
                  </a:moveTo>
                  <a:lnTo>
                    <a:pt x="5082339" y="66725"/>
                  </a:lnTo>
                  <a:lnTo>
                    <a:pt x="5082339" y="0"/>
                  </a:lnTo>
                  <a:lnTo>
                    <a:pt x="5349240" y="266901"/>
                  </a:lnTo>
                  <a:lnTo>
                    <a:pt x="5082339" y="533802"/>
                  </a:lnTo>
                  <a:lnTo>
                    <a:pt x="5082339" y="467077"/>
                  </a:lnTo>
                  <a:lnTo>
                    <a:pt x="0" y="467077"/>
                  </a:lnTo>
                  <a:lnTo>
                    <a:pt x="0" y="66725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44450" h="36350" prst="relaxedInset"/>
              <a:contourClr>
                <a:schemeClr val="bg1"/>
              </a:contourClr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55" tIns="74980" rIns="208431" bIns="7498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300" kern="1200" dirty="0" smtClean="0"/>
                <a:t>Communicate analysis results &amp; recommendations for controls to decision makers</a:t>
              </a:r>
              <a:endParaRPr lang="en-US" sz="1300" kern="1200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051562" y="5483120"/>
              <a:ext cx="1615434" cy="533802"/>
            </a:xfrm>
            <a:custGeom>
              <a:avLst/>
              <a:gdLst>
                <a:gd name="connsiteX0" fmla="*/ 0 w 1615434"/>
                <a:gd name="connsiteY0" fmla="*/ 88969 h 533802"/>
                <a:gd name="connsiteX1" fmla="*/ 88969 w 1615434"/>
                <a:gd name="connsiteY1" fmla="*/ 0 h 533802"/>
                <a:gd name="connsiteX2" fmla="*/ 1526465 w 1615434"/>
                <a:gd name="connsiteY2" fmla="*/ 0 h 533802"/>
                <a:gd name="connsiteX3" fmla="*/ 1615434 w 1615434"/>
                <a:gd name="connsiteY3" fmla="*/ 88969 h 533802"/>
                <a:gd name="connsiteX4" fmla="*/ 1615434 w 1615434"/>
                <a:gd name="connsiteY4" fmla="*/ 444833 h 533802"/>
                <a:gd name="connsiteX5" fmla="*/ 1526465 w 1615434"/>
                <a:gd name="connsiteY5" fmla="*/ 533802 h 533802"/>
                <a:gd name="connsiteX6" fmla="*/ 88969 w 1615434"/>
                <a:gd name="connsiteY6" fmla="*/ 533802 h 533802"/>
                <a:gd name="connsiteX7" fmla="*/ 0 w 1615434"/>
                <a:gd name="connsiteY7" fmla="*/ 444833 h 533802"/>
                <a:gd name="connsiteX8" fmla="*/ 0 w 1615434"/>
                <a:gd name="connsiteY8" fmla="*/ 88969 h 533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5434" h="533802">
                  <a:moveTo>
                    <a:pt x="0" y="88969"/>
                  </a:moveTo>
                  <a:cubicBezTo>
                    <a:pt x="0" y="39833"/>
                    <a:pt x="39833" y="0"/>
                    <a:pt x="88969" y="0"/>
                  </a:cubicBezTo>
                  <a:lnTo>
                    <a:pt x="1526465" y="0"/>
                  </a:lnTo>
                  <a:cubicBezTo>
                    <a:pt x="1575601" y="0"/>
                    <a:pt x="1615434" y="39833"/>
                    <a:pt x="1615434" y="88969"/>
                  </a:cubicBezTo>
                  <a:lnTo>
                    <a:pt x="1615434" y="444833"/>
                  </a:lnTo>
                  <a:cubicBezTo>
                    <a:pt x="1615434" y="493969"/>
                    <a:pt x="1575601" y="533802"/>
                    <a:pt x="1526465" y="533802"/>
                  </a:cubicBezTo>
                  <a:lnTo>
                    <a:pt x="88969" y="533802"/>
                  </a:lnTo>
                  <a:cubicBezTo>
                    <a:pt x="39833" y="533802"/>
                    <a:pt x="0" y="493969"/>
                    <a:pt x="0" y="444833"/>
                  </a:cubicBezTo>
                  <a:lnTo>
                    <a:pt x="0" y="88969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80000"/>
                <a:hueOff val="0"/>
                <a:satOff val="-28019"/>
                <a:lumOff val="31752"/>
                <a:alphaOff val="0"/>
              </a:schemeClr>
            </a:fillRef>
            <a:effectRef idx="2">
              <a:schemeClr val="accent2">
                <a:shade val="80000"/>
                <a:hueOff val="0"/>
                <a:satOff val="-28019"/>
                <a:lumOff val="3175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5588" tIns="50823" rIns="75588" bIns="50823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kern="1200" dirty="0" smtClean="0"/>
                <a:t>Communicate results</a:t>
              </a:r>
              <a:endParaRPr lang="en-US" sz="1300" kern="1200" dirty="0"/>
            </a:p>
          </p:txBody>
        </p:sp>
      </p:grp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5" name="Picture 24" descr="tpeng | Trinity Bante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2001" y="3657600"/>
            <a:ext cx="917403" cy="677501"/>
          </a:xfrm>
          <a:prstGeom prst="rect">
            <a:avLst/>
          </a:prstGeom>
        </p:spPr>
      </p:pic>
      <p:pic>
        <p:nvPicPr>
          <p:cNvPr id="26" name="Picture 25" descr="tpeng | Trinity Bante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2001" y="4257191"/>
            <a:ext cx="917403" cy="677501"/>
          </a:xfrm>
          <a:prstGeom prst="rect">
            <a:avLst/>
          </a:prstGeom>
        </p:spPr>
      </p:pic>
      <p:sp>
        <p:nvSpPr>
          <p:cNvPr id="2" name="Rounded Rectangular Callout 1"/>
          <p:cNvSpPr/>
          <p:nvPr/>
        </p:nvSpPr>
        <p:spPr>
          <a:xfrm>
            <a:off x="152401" y="1600200"/>
            <a:ext cx="1447799" cy="1143000"/>
          </a:xfrm>
          <a:prstGeom prst="wedgeRoundRectCallout">
            <a:avLst>
              <a:gd name="adj1" fmla="val -2428"/>
              <a:gd name="adj2" fmla="val 171300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Let’s examine these two steps …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708695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685800"/>
            <a:ext cx="5562600" cy="5321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the hazards?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Gases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e.g. argon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carbon dioxide,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oxygen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1600" u="sng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nitrogen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1600" dirty="0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Electrostatic discharge (from machinery)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Acids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such as acetic, chromic, hydrochloric, hydrofluoric, nitric, phosphoric, and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sulfuric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Caustics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such as ammonium hydroxide, hydrogen peroxide, and sodium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hydroxide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 gases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which are corrosive, explosive, flammable, pyrophoric and/or toxic such as arsine, boron </a:t>
            </a:r>
            <a:r>
              <a:rPr lang="en-US" alt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trifluoride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16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diborane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hydrogen chloride, phosphine, and </a:t>
            </a:r>
            <a:r>
              <a:rPr lang="en-US" altLang="en-US" sz="1600" b="0" dirty="0" err="1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silane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Ionizing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nonionizing radiation such as infrared (IR), lasers, radiofrequency (RF), and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x-rays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Metals &amp; salts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such as aluminum, antimony, arsenic, boron, chromium, gallium, gold, magnesium, mercury, nickel, silver, and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phosphorus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Nanoparticles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Nuisance dust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Silica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(crystalline) and silicon such as polycrystalline silicon, silicon dioxide, and silicon nitride;</a:t>
            </a:r>
          </a:p>
          <a:p>
            <a:pPr marL="360000" lvl="1" indent="-360000" eaLnBrk="0" hangingPunct="0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Solvents 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such as acetone, ethanol, glycol ether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mixture,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4652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Semiconductor Fabrication</a:t>
            </a:r>
            <a:endParaRPr lang="en-US" altLang="en-US" sz="3200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23467" y="954921"/>
            <a:ext cx="3115733" cy="1752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72290" y="3043697"/>
            <a:ext cx="3490447" cy="3091932"/>
          </a:xfrm>
          <a:prstGeom prst="rect">
            <a:avLst/>
          </a:prstGeom>
        </p:spPr>
      </p:pic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9611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4381800" y="899999"/>
            <a:ext cx="4457400" cy="5040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  <a:extLst/>
        </p:spPr>
        <p:txBody>
          <a:bodyPr wrap="square">
            <a:noAutofit/>
          </a:bodyPr>
          <a:lstStyle/>
          <a:p>
            <a:pPr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suppose you asked the question: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the 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pneumatic 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 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pressured with </a:t>
            </a:r>
            <a:r>
              <a:rPr lang="en-US" altLang="en-US" sz="200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nitrogen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leaked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consequences:</a:t>
            </a: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nitrogen would escape into the surrounding environment and possibly asphyxiate 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workers. 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high concentrations, N2 is an </a:t>
            </a:r>
            <a:r>
              <a:rPr lang="en-US" altLang="en-US" sz="2000" b="0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asphyxiant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lang="en-US" altLang="en-US" sz="20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hangingPunct="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en-US" sz="20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Then, specify the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action(s) of any </a:t>
            </a:r>
            <a:r>
              <a:rPr lang="en-US" altLang="en-US" sz="2000" u="sng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existing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safeguards/controls</a:t>
            </a:r>
            <a:endParaRPr lang="en-US" altLang="en-US" sz="20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None; so what </a:t>
            </a: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this mean for risk 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level? Is </a:t>
            </a:r>
            <a:r>
              <a:rPr lang="en-US" altLang="en-US" sz="2000" b="0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acceptable</a:t>
            </a:r>
            <a:r>
              <a:rPr lang="en-US" altLang="en-US" sz="2000" b="0" i="1" dirty="0" smtClean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  <a:endParaRPr lang="en-US" altLang="en-US" sz="2000" b="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152400"/>
            <a:ext cx="8686800" cy="5847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3200" b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rPr>
              <a:t>Example: WIA on Semi-conductor Manufacturing</a:t>
            </a:r>
            <a:endParaRPr lang="en-US" altLang="en-US" sz="3200" b="0" dirty="0">
              <a:solidFill>
                <a:schemeClr val="bg1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999" y="900002"/>
            <a:ext cx="3960000" cy="26358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4000" y="3672005"/>
            <a:ext cx="3960000" cy="22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663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32575" y="3768273"/>
            <a:ext cx="2286198" cy="14692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152400"/>
            <a:ext cx="86879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Suggest Improvements / Alternatives To Lower Risk</a:t>
            </a:r>
            <a:endParaRPr lang="en-US" altLang="en-US" sz="3200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2400" y="934472"/>
            <a:ext cx="8839200" cy="37584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 about ways to reduce the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the initiating event (prevention):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000" b="0" i="1" dirty="0" smtClean="0">
                <a:solidFill>
                  <a:srgbClr val="000000"/>
                </a:solidFill>
                <a:latin typeface="+mn-lt"/>
              </a:rPr>
              <a:t>Consider using a gas other than nitrogen in the pneumatic lines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en-US" sz="2000" b="0" i="1" dirty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 about ways to mitigate the consequences of the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hazardous event: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000" b="0" i="1" dirty="0" smtClean="0">
                <a:solidFill>
                  <a:srgbClr val="000000"/>
                </a:solidFill>
                <a:latin typeface="+mn-lt"/>
              </a:rPr>
              <a:t>Consider installing oxygen 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sensors </a:t>
            </a:r>
            <a:r>
              <a:rPr lang="en-US" altLang="en-US" sz="2000" b="0" i="1" dirty="0" smtClean="0">
                <a:solidFill>
                  <a:srgbClr val="000000"/>
                </a:solidFill>
                <a:latin typeface="+mn-lt"/>
              </a:rPr>
              <a:t>with low O2 alarms in </a:t>
            </a: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work areas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en-US" sz="2000" b="0" i="1" dirty="0" smtClean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Think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about ways to facilitate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response: </a:t>
            </a:r>
          </a:p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2000" b="0" i="1" dirty="0">
                <a:solidFill>
                  <a:srgbClr val="000000"/>
                </a:solidFill>
                <a:latin typeface="+mn-lt"/>
              </a:rPr>
              <a:t>Consider providing personnel with respirators in </a:t>
            </a:r>
            <a:r>
              <a:rPr lang="en-US" altLang="en-US" sz="2000" b="0" i="1" dirty="0" smtClean="0">
                <a:solidFill>
                  <a:srgbClr val="000000"/>
                </a:solidFill>
                <a:latin typeface="+mn-lt"/>
              </a:rPr>
              <a:t>work areas</a:t>
            </a:r>
            <a:endParaRPr lang="en-US" altLang="en-US" sz="2000" b="0" i="1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76623" y="4519364"/>
            <a:ext cx="3594797" cy="14692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800" y="4470774"/>
            <a:ext cx="2727775" cy="1533525"/>
          </a:xfrm>
          <a:prstGeom prst="rect">
            <a:avLst/>
          </a:prstGeom>
        </p:spPr>
      </p:pic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23004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495472"/>
              </p:ext>
            </p:extLst>
          </p:nvPr>
        </p:nvGraphicFramePr>
        <p:xfrm>
          <a:off x="227012" y="914400"/>
          <a:ext cx="8688389" cy="475700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55667">
                  <a:extLst>
                    <a:ext uri="{9D8B030D-6E8A-4147-A177-3AD203B41FA5}">
                      <a16:colId xmlns:a16="http://schemas.microsoft.com/office/drawing/2014/main" val="4103919208"/>
                    </a:ext>
                  </a:extLst>
                </a:gridCol>
                <a:gridCol w="1155667">
                  <a:extLst>
                    <a:ext uri="{9D8B030D-6E8A-4147-A177-3AD203B41FA5}">
                      <a16:colId xmlns:a16="http://schemas.microsoft.com/office/drawing/2014/main" val="2702426418"/>
                    </a:ext>
                  </a:extLst>
                </a:gridCol>
                <a:gridCol w="890654">
                  <a:extLst>
                    <a:ext uri="{9D8B030D-6E8A-4147-A177-3AD203B41FA5}">
                      <a16:colId xmlns:a16="http://schemas.microsoft.com/office/drawing/2014/main" val="3262073697"/>
                    </a:ext>
                  </a:extLst>
                </a:gridCol>
                <a:gridCol w="1253596">
                  <a:extLst>
                    <a:ext uri="{9D8B030D-6E8A-4147-A177-3AD203B41FA5}">
                      <a16:colId xmlns:a16="http://schemas.microsoft.com/office/drawing/2014/main" val="1958183453"/>
                    </a:ext>
                  </a:extLst>
                </a:gridCol>
                <a:gridCol w="1155667">
                  <a:extLst>
                    <a:ext uri="{9D8B030D-6E8A-4147-A177-3AD203B41FA5}">
                      <a16:colId xmlns:a16="http://schemas.microsoft.com/office/drawing/2014/main" val="2759589165"/>
                    </a:ext>
                  </a:extLst>
                </a:gridCol>
                <a:gridCol w="1308828">
                  <a:extLst>
                    <a:ext uri="{9D8B030D-6E8A-4147-A177-3AD203B41FA5}">
                      <a16:colId xmlns:a16="http://schemas.microsoft.com/office/drawing/2014/main" val="1460111988"/>
                    </a:ext>
                  </a:extLst>
                </a:gridCol>
                <a:gridCol w="1768310">
                  <a:extLst>
                    <a:ext uri="{9D8B030D-6E8A-4147-A177-3AD203B41FA5}">
                      <a16:colId xmlns:a16="http://schemas.microsoft.com/office/drawing/2014/main" val="4185843985"/>
                    </a:ext>
                  </a:extLst>
                </a:gridCol>
              </a:tblGrid>
              <a:tr h="504012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 of Concern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</a:t>
                      </a:r>
                      <a:r>
                        <a:rPr lang="en-CA" sz="14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If…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Cause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Safeguard In </a:t>
                      </a:r>
                      <a:r>
                        <a:rPr lang="en-CA" sz="14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Place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b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</a:t>
                      </a:r>
                      <a:endParaRPr lang="en-CA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73840"/>
                  </a:ext>
                </a:extLst>
              </a:tr>
              <a:tr h="1147516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Pneumatic lines utilizing nitrogen or carbon dioxide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lines leak inside the facility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Toxicity of gas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Over-pressurization</a:t>
                      </a:r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tube defects, loose connections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 leaks, asphyxiating workers in area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oxygen sensors; consider less toxic gas; </a:t>
                      </a:r>
                      <a:r>
                        <a:rPr lang="en-CA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make respirators </a:t>
                      </a:r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available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53722"/>
                  </a:ext>
                </a:extLst>
              </a:tr>
              <a:tr h="1374998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venting of silane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Silane immediately ignites, or delayed vapour cloud ignition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Flamm</a:t>
                      </a:r>
                      <a:r>
                        <a:rPr lang="en-CA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-ability </a:t>
                      </a:r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 gas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Spark or short circuit from handling equipment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Workers injured or killed, infrastructure damaged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Residual venting of area during container </a:t>
                      </a:r>
                      <a:r>
                        <a:rPr lang="en-CA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changes, double</a:t>
                      </a:r>
                      <a:r>
                        <a:rPr lang="en-CA" sz="1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glass walls </a:t>
                      </a:r>
                      <a:r>
                        <a:rPr lang="en-CA" sz="1400" u="none" strike="noStrike" baseline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separation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 pressure relief valves for emergency venting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040708"/>
                  </a:ext>
                </a:extLst>
              </a:tr>
              <a:tr h="1602480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Radio-frequency </a:t>
                      </a:r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radiation used in induction heating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 radiation exceeds recommended/ safe exposure levels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Radiation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Malfunctioning equipment during backside metallization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Workers exposed to RF radiation develop cancer or reduced fertility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PPE </a:t>
                      </a:r>
                      <a:endParaRPr lang="en-CA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Enclose operations involving RF emissions; provide shielding as necessary</a:t>
                      </a:r>
                      <a:endParaRPr lang="en-CA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79" marR="9479" marT="947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95909"/>
                  </a:ext>
                </a:extLst>
              </a:tr>
            </a:tbl>
          </a:graphicData>
        </a:graphic>
      </p:graphicFrame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Table For Hazardous Scenarios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5802868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Assumed/existing safeguards? Auditing/confirmation of </a:t>
            </a:r>
            <a:r>
              <a:rPr lang="en-CA" dirty="0" smtClean="0"/>
              <a:t>safeguards?</a:t>
            </a:r>
            <a:endParaRPr lang="en-CA" dirty="0"/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44449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2758"/>
              </p:ext>
            </p:extLst>
          </p:nvPr>
        </p:nvGraphicFramePr>
        <p:xfrm>
          <a:off x="75406" y="2133600"/>
          <a:ext cx="8991599" cy="396239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37613">
                  <a:extLst>
                    <a:ext uri="{9D8B030D-6E8A-4147-A177-3AD203B41FA5}">
                      <a16:colId xmlns:a16="http://schemas.microsoft.com/office/drawing/2014/main" val="1413065140"/>
                    </a:ext>
                  </a:extLst>
                </a:gridCol>
                <a:gridCol w="1037613">
                  <a:extLst>
                    <a:ext uri="{9D8B030D-6E8A-4147-A177-3AD203B41FA5}">
                      <a16:colId xmlns:a16="http://schemas.microsoft.com/office/drawing/2014/main" val="2196903259"/>
                    </a:ext>
                  </a:extLst>
                </a:gridCol>
                <a:gridCol w="637569">
                  <a:extLst>
                    <a:ext uri="{9D8B030D-6E8A-4147-A177-3AD203B41FA5}">
                      <a16:colId xmlns:a16="http://schemas.microsoft.com/office/drawing/2014/main" val="1102345944"/>
                    </a:ext>
                  </a:extLst>
                </a:gridCol>
                <a:gridCol w="1287639">
                  <a:extLst>
                    <a:ext uri="{9D8B030D-6E8A-4147-A177-3AD203B41FA5}">
                      <a16:colId xmlns:a16="http://schemas.microsoft.com/office/drawing/2014/main" val="2736625421"/>
                    </a:ext>
                  </a:extLst>
                </a:gridCol>
                <a:gridCol w="1037613">
                  <a:extLst>
                    <a:ext uri="{9D8B030D-6E8A-4147-A177-3AD203B41FA5}">
                      <a16:colId xmlns:a16="http://schemas.microsoft.com/office/drawing/2014/main" val="3315105302"/>
                    </a:ext>
                  </a:extLst>
                </a:gridCol>
                <a:gridCol w="515680">
                  <a:extLst>
                    <a:ext uri="{9D8B030D-6E8A-4147-A177-3AD203B41FA5}">
                      <a16:colId xmlns:a16="http://schemas.microsoft.com/office/drawing/2014/main" val="3623561032"/>
                    </a:ext>
                  </a:extLst>
                </a:gridCol>
                <a:gridCol w="1175127">
                  <a:extLst>
                    <a:ext uri="{9D8B030D-6E8A-4147-A177-3AD203B41FA5}">
                      <a16:colId xmlns:a16="http://schemas.microsoft.com/office/drawing/2014/main" val="2183271696"/>
                    </a:ext>
                  </a:extLst>
                </a:gridCol>
                <a:gridCol w="1425340">
                  <a:extLst>
                    <a:ext uri="{9D8B030D-6E8A-4147-A177-3AD203B41FA5}">
                      <a16:colId xmlns:a16="http://schemas.microsoft.com/office/drawing/2014/main" val="636395414"/>
                    </a:ext>
                  </a:extLst>
                </a:gridCol>
                <a:gridCol w="837405">
                  <a:extLst>
                    <a:ext uri="{9D8B030D-6E8A-4147-A177-3AD203B41FA5}">
                      <a16:colId xmlns:a16="http://schemas.microsoft.com/office/drawing/2014/main" val="1118748292"/>
                    </a:ext>
                  </a:extLst>
                </a:gridCol>
              </a:tblGrid>
              <a:tr h="626924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 of Concern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</a:t>
                      </a:r>
                      <a:r>
                        <a:rPr lang="en-CA" sz="12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If…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Cause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Level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Safeguard In </a:t>
                      </a:r>
                      <a:r>
                        <a:rPr lang="en-CA" sz="12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Place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Recommendation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Residual Risk Level</a:t>
                      </a:r>
                      <a:endParaRPr lang="en-C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75302"/>
                  </a:ext>
                </a:extLst>
              </a:tr>
              <a:tr h="897586"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332886"/>
                  </a:ext>
                </a:extLst>
              </a:tr>
              <a:tr h="1108131"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7283"/>
                  </a:ext>
                </a:extLst>
              </a:tr>
              <a:tr h="1329758"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474283"/>
                  </a:ext>
                </a:extLst>
              </a:tr>
            </a:tbl>
          </a:graphicData>
        </a:graphic>
      </p:graphicFrame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Sample What-If Analysis Template with Risk Matrix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27013" y="928414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7200"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200" b="1" dirty="0" smtClean="0">
                <a:solidFill>
                  <a:srgbClr val="000000"/>
                </a:solidFill>
              </a:rPr>
              <a:t>		</a:t>
            </a:r>
            <a:r>
              <a:rPr lang="en-US" altLang="en-US" sz="1200" b="1" dirty="0">
                <a:solidFill>
                  <a:srgbClr val="000000"/>
                </a:solidFill>
              </a:rPr>
              <a:t>			</a:t>
            </a:r>
            <a:r>
              <a:rPr lang="en-US" altLang="en-US" sz="12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1200" dirty="0" smtClean="0">
                <a:solidFill>
                  <a:srgbClr val="000000"/>
                </a:solidFill>
              </a:rPr>
              <a:t>Date</a:t>
            </a:r>
            <a:r>
              <a:rPr lang="en-US" altLang="en-US" sz="1200" dirty="0">
                <a:solidFill>
                  <a:srgbClr val="000000"/>
                </a:solidFill>
              </a:rPr>
              <a:t>: 				</a:t>
            </a:r>
            <a:r>
              <a:rPr lang="en-US" altLang="en-US" sz="1200" dirty="0" smtClean="0">
                <a:solidFill>
                  <a:srgbClr val="000000"/>
                </a:solidFill>
              </a:rPr>
              <a:t> Process </a:t>
            </a:r>
            <a:r>
              <a:rPr lang="en-US" altLang="en-US" sz="1200" dirty="0">
                <a:solidFill>
                  <a:srgbClr val="000000"/>
                </a:solidFill>
              </a:rPr>
              <a:t>and Location:				</a:t>
            </a:r>
            <a:r>
              <a:rPr lang="en-US" altLang="en-US" sz="1200" dirty="0" smtClean="0">
                <a:solidFill>
                  <a:srgbClr val="000000"/>
                </a:solidFill>
              </a:rPr>
              <a:t> Topic </a:t>
            </a:r>
            <a:r>
              <a:rPr lang="en-US" altLang="en-US" sz="1200" dirty="0">
                <a:solidFill>
                  <a:srgbClr val="000000"/>
                </a:solidFill>
              </a:rPr>
              <a:t>Investigated</a:t>
            </a:r>
            <a:r>
              <a:rPr lang="en-US" altLang="en-US" sz="1200" dirty="0" smtClean="0">
                <a:solidFill>
                  <a:srgbClr val="000000"/>
                </a:solidFill>
              </a:rPr>
              <a:t>: </a:t>
            </a:r>
            <a:r>
              <a:rPr lang="en-US" altLang="en-US" sz="1200" dirty="0">
                <a:solidFill>
                  <a:srgbClr val="000000"/>
                </a:solidFill>
              </a:rPr>
              <a:t>				</a:t>
            </a:r>
            <a:r>
              <a:rPr lang="en-US" altLang="en-US" sz="1200" dirty="0" smtClean="0">
                <a:solidFill>
                  <a:srgbClr val="000000"/>
                </a:solidFill>
              </a:rPr>
              <a:t> Equipment </a:t>
            </a:r>
            <a:r>
              <a:rPr lang="en-US" altLang="en-US" sz="1200" dirty="0">
                <a:solidFill>
                  <a:srgbClr val="000000"/>
                </a:solidFill>
              </a:rPr>
              <a:t>/ Task Intentions</a:t>
            </a:r>
            <a:r>
              <a:rPr lang="en-US" altLang="en-US" sz="1200" dirty="0" smtClean="0">
                <a:solidFill>
                  <a:srgbClr val="000000"/>
                </a:solidFill>
              </a:rPr>
              <a:t>: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9844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7077" y="1828800"/>
            <a:ext cx="8334375" cy="4388590"/>
          </a:xfrm>
          <a:prstGeom prst="rect">
            <a:avLst/>
          </a:prstGeom>
          <a:noFill/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7077" y="760413"/>
            <a:ext cx="84248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7200"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200" b="1" dirty="0" smtClean="0">
                <a:solidFill>
                  <a:srgbClr val="000000"/>
                </a:solidFill>
              </a:rPr>
              <a:t>		</a:t>
            </a:r>
            <a:r>
              <a:rPr lang="en-US" altLang="en-US" sz="1200" b="1" dirty="0">
                <a:solidFill>
                  <a:srgbClr val="000000"/>
                </a:solidFill>
              </a:rPr>
              <a:t>			</a:t>
            </a:r>
            <a:r>
              <a:rPr lang="en-US" altLang="en-US" sz="12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1200" dirty="0" smtClean="0">
                <a:solidFill>
                  <a:srgbClr val="000000"/>
                </a:solidFill>
              </a:rPr>
              <a:t>Date</a:t>
            </a:r>
            <a:r>
              <a:rPr lang="en-US" altLang="en-US" sz="1200" dirty="0">
                <a:solidFill>
                  <a:srgbClr val="000000"/>
                </a:solidFill>
              </a:rPr>
              <a:t>: 				</a:t>
            </a:r>
            <a:r>
              <a:rPr lang="en-US" altLang="en-US" sz="1200" dirty="0" smtClean="0">
                <a:solidFill>
                  <a:srgbClr val="000000"/>
                </a:solidFill>
              </a:rPr>
              <a:t> Process </a:t>
            </a:r>
            <a:r>
              <a:rPr lang="en-US" altLang="en-US" sz="1200" dirty="0">
                <a:solidFill>
                  <a:srgbClr val="000000"/>
                </a:solidFill>
              </a:rPr>
              <a:t>and Location:				</a:t>
            </a:r>
            <a:r>
              <a:rPr lang="en-US" altLang="en-US" sz="1200" dirty="0" smtClean="0">
                <a:solidFill>
                  <a:srgbClr val="000000"/>
                </a:solidFill>
              </a:rPr>
              <a:t> Topic </a:t>
            </a:r>
            <a:r>
              <a:rPr lang="en-US" altLang="en-US" sz="1200" dirty="0">
                <a:solidFill>
                  <a:srgbClr val="000000"/>
                </a:solidFill>
              </a:rPr>
              <a:t>Investigated</a:t>
            </a:r>
            <a:r>
              <a:rPr lang="en-US" altLang="en-US" sz="1200" dirty="0" smtClean="0">
                <a:solidFill>
                  <a:srgbClr val="000000"/>
                </a:solidFill>
              </a:rPr>
              <a:t>: </a:t>
            </a:r>
            <a:r>
              <a:rPr lang="en-US" altLang="en-US" sz="1200" dirty="0">
                <a:solidFill>
                  <a:srgbClr val="000000"/>
                </a:solidFill>
              </a:rPr>
              <a:t>				</a:t>
            </a:r>
            <a:r>
              <a:rPr lang="en-US" altLang="en-US" sz="1200" dirty="0" smtClean="0">
                <a:solidFill>
                  <a:srgbClr val="000000"/>
                </a:solidFill>
              </a:rPr>
              <a:t> Equipment </a:t>
            </a:r>
            <a:r>
              <a:rPr lang="en-US" altLang="en-US" sz="1200" dirty="0">
                <a:solidFill>
                  <a:srgbClr val="000000"/>
                </a:solidFill>
              </a:rPr>
              <a:t>/ Task Intentions</a:t>
            </a:r>
            <a:r>
              <a:rPr lang="en-US" altLang="en-US" sz="1200" dirty="0" smtClean="0">
                <a:solidFill>
                  <a:srgbClr val="000000"/>
                </a:solidFill>
              </a:rPr>
              <a:t>: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Sample What-If Analysis Template w/o Risk Matrix</a:t>
            </a:r>
          </a:p>
        </p:txBody>
      </p:sp>
    </p:spTree>
    <p:extLst>
      <p:ext uri="{BB962C8B-B14F-4D97-AF65-F5344CB8AC3E}">
        <p14:creationId xmlns:p14="http://schemas.microsoft.com/office/powerpoint/2010/main" val="7672984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44519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en-US" sz="3200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Benefits:</a:t>
            </a:r>
            <a:endParaRPr lang="en-US" altLang="en-US" sz="3200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6200" y="914400"/>
            <a:ext cx="88392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Flexible - concept phase to detailed design phase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examine non-process issues (e.g. work practices, Human Factors)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use the technique to focus on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“problem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 areas and spend less time on areas of low concern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Technique is easy to learn (people with plant / operations experience, not necessarily expertise in the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process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can be readily engaged and contribute)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Generates creativity &amp; new ideas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Recognized technique accepted by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regulatory authorities (due diligence)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tool for creating “inputs” to the “Prevention Through Design Process”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12122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152400"/>
            <a:ext cx="493404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ctr"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0" dirty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What-If Analysis Limitations: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28600" y="908050"/>
            <a:ext cx="8610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Completeness depends on the questions selected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Quality of review depends on team experience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May miss some hazards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always applicable to new or novel processes</a:t>
            </a: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high level of team self-discipline to produce a thorough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study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Difficult to audit for thoroughness</a:t>
            </a:r>
          </a:p>
          <a:p>
            <a:endParaRPr lang="en-US" altLang="en-US" b="0" kern="0" dirty="0" smtClean="0"/>
          </a:p>
          <a:p>
            <a:endParaRPr lang="en-US" altLang="en-US" b="0" kern="0" dirty="0"/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24543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Summary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34570" y="883179"/>
            <a:ext cx="8458200" cy="52641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A9C8F"/>
              </a:buClr>
              <a:buFont typeface="Wingdings" pitchFamily="2" charset="2"/>
              <a:buChar char="§"/>
              <a:defRPr sz="2800">
                <a:solidFill>
                  <a:srgbClr val="4D4D4D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75B1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is commonly used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potential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design, process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operational hazards in a structured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manner</a:t>
            </a: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to use the tool: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a broad </a:t>
            </a: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of process design and operational scenarios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projects </a:t>
            </a: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P&amp;IDs are in </a:t>
            </a:r>
            <a:r>
              <a:rPr lang="en-US" alt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(early/preliminary design)</a:t>
            </a:r>
            <a:endParaRPr lang="en-US" alt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a design </a:t>
            </a: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by experienced personnel</a:t>
            </a:r>
          </a:p>
          <a:p>
            <a:pPr lvl="1"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strengths: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Can apply to a system at any point in its life cycle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latin typeface="Arial" panose="020B0604020202020204" pitchFamily="34" charset="0"/>
                <a:cs typeface="Arial" panose="020B0604020202020204" pitchFamily="34" charset="0"/>
              </a:rPr>
              <a:t>Allows focus </a:t>
            </a: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on areas are greatest concern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Can address </a:t>
            </a:r>
            <a:r>
              <a:rPr lang="en-US" altLang="en-US" sz="1800" b="0" dirty="0" smtClean="0">
                <a:latin typeface="Arial" panose="020B0604020202020204" pitchFamily="34" charset="0"/>
                <a:cs typeface="Arial" panose="020B0604020202020204" pitchFamily="34" charset="0"/>
              </a:rPr>
              <a:t>non-process issues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latin typeface="Arial" panose="020B0604020202020204" pitchFamily="34" charset="0"/>
                <a:cs typeface="Arial" panose="020B0604020202020204" pitchFamily="34" charset="0"/>
              </a:rPr>
              <a:t>Use an input to a design process, such as “Prevention Through Design”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endParaRPr lang="en-US" alt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ct val="100000"/>
              <a:buFont typeface="Wingdings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What-If Analysis weaknesses: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Requires sufficient experience to ask key questions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May not be best for new equipment or technology</a:t>
            </a:r>
          </a:p>
          <a:p>
            <a:pPr marL="685800" lvl="1" eaLnBrk="1" hangingPunct="1">
              <a:spcBef>
                <a:spcPts val="0"/>
              </a:spcBef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Potential for less rigorous </a:t>
            </a:r>
            <a:r>
              <a:rPr lang="en-US" altLang="en-US" sz="1800" b="0" dirty="0" smtClean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US" alt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endParaRPr lang="en-US" altLang="en-US" sz="2000" b="0" kern="0" dirty="0"/>
          </a:p>
        </p:txBody>
      </p:sp>
      <p:sp>
        <p:nvSpPr>
          <p:cNvPr id="9" name="Slide Number Placeholder 1"/>
          <p:cNvSpPr txBox="1">
            <a:spLocks noGrp="1"/>
          </p:cNvSpPr>
          <p:nvPr/>
        </p:nvSpPr>
        <p:spPr bwMode="auto">
          <a:xfrm>
            <a:off x="8305800" y="6264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667000" y="6264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4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5.10: </a:t>
            </a:r>
            <a:r>
              <a:rPr lang="en-US" sz="14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What-If Analysis Tool</a:t>
            </a:r>
            <a:endParaRPr lang="en-US" sz="14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65794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69106</TotalTime>
  <Words>1472</Words>
  <Application>Microsoft Office PowerPoint</Application>
  <PresentationFormat>On-screen Show (4:3)</PresentationFormat>
  <Paragraphs>251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1926</cp:revision>
  <cp:lastPrinted>2018-12-17T22:21:47Z</cp:lastPrinted>
  <dcterms:created xsi:type="dcterms:W3CDTF">2007-03-28T16:18:47Z</dcterms:created>
  <dcterms:modified xsi:type="dcterms:W3CDTF">2021-05-24T22:33:55Z</dcterms:modified>
</cp:coreProperties>
</file>