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895" r:id="rId2"/>
    <p:sldId id="880" r:id="rId3"/>
    <p:sldId id="941" r:id="rId4"/>
    <p:sldId id="928" r:id="rId5"/>
    <p:sldId id="947" r:id="rId6"/>
    <p:sldId id="942" r:id="rId7"/>
    <p:sldId id="943" r:id="rId8"/>
    <p:sldId id="944" r:id="rId9"/>
    <p:sldId id="946" r:id="rId10"/>
    <p:sldId id="950" r:id="rId11"/>
    <p:sldId id="952" r:id="rId12"/>
    <p:sldId id="948" r:id="rId1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41"/>
            <p14:sldId id="928"/>
            <p14:sldId id="947"/>
            <p14:sldId id="942"/>
            <p14:sldId id="943"/>
            <p14:sldId id="944"/>
            <p14:sldId id="946"/>
            <p14:sldId id="950"/>
            <p14:sldId id="952"/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8F8F8"/>
    <a:srgbClr val="0000CC"/>
    <a:srgbClr val="0000FF"/>
    <a:srgbClr val="000000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1" autoAdjust="0"/>
    <p:restoredTop sz="98116" autoAdjust="0"/>
  </p:normalViewPr>
  <p:slideViewPr>
    <p:cSldViewPr>
      <p:cViewPr varScale="1">
        <p:scale>
          <a:sx n="77" d="100"/>
          <a:sy n="77" d="100"/>
        </p:scale>
        <p:origin x="1048" y="64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387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9/22/2021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9/22/2021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65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726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161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575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48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65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907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921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455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9/22/2021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</a:p>
          <a:p>
            <a:pPr lvl="0" eaLnBrk="1" hangingPunct="1">
              <a:buClr>
                <a:srgbClr val="AA9C8F"/>
              </a:buClr>
            </a:pPr>
            <a:r>
              <a:rPr lang="en-US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" y="2500342"/>
            <a:ext cx="8610600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4.4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Swiss Cheese Model of a Loss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</a:t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(The Relationship Between Latent Causes and Loss Incidents)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construct and components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the Swiss Cheese Model of a loss incident.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relationship between a latent cause and a loss incident i.e. how a latent cause (a weakness in a management system element) can lead to weaknesses in the risk management program, and ultimately lead to a loss incident.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and why some workers “only have bad choices”.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Risk Management Program: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Process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System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Slices of the Swiss Cheese Model: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 depicts the RM Program and two of </a:t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its components!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Examine The Components of the RM Program: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77" y="3429000"/>
            <a:ext cx="4509992" cy="262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947791"/>
            <a:ext cx="2662312" cy="2578845"/>
          </a:xfrm>
          <a:prstGeom prst="rect">
            <a:avLst/>
          </a:prstGeom>
        </p:spPr>
      </p:pic>
      <p:sp>
        <p:nvSpPr>
          <p:cNvPr id="4" name="Trapezoid 3"/>
          <p:cNvSpPr/>
          <p:nvPr/>
        </p:nvSpPr>
        <p:spPr>
          <a:xfrm>
            <a:off x="5791200" y="2176272"/>
            <a:ext cx="2662312" cy="1350364"/>
          </a:xfrm>
          <a:prstGeom prst="trapezoid">
            <a:avLst>
              <a:gd name="adj" fmla="val 4825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ent Arrow 9"/>
          <p:cNvSpPr/>
          <p:nvPr/>
        </p:nvSpPr>
        <p:spPr>
          <a:xfrm rot="5400000" flipH="1">
            <a:off x="5708101" y="3448373"/>
            <a:ext cx="1453718" cy="1849825"/>
          </a:xfrm>
          <a:prstGeom prst="bentArrow">
            <a:avLst>
              <a:gd name="adj1" fmla="val 12050"/>
              <a:gd name="adj2" fmla="val 15288"/>
              <a:gd name="adj3" fmla="val 16367"/>
              <a:gd name="adj4" fmla="val 4375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20866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“Swiss Cheese” Model of a Loss Incident: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7200" y="838200"/>
            <a:ext cx="8229600" cy="5182232"/>
            <a:chOff x="457200" y="838200"/>
            <a:chExt cx="8229600" cy="5182232"/>
          </a:xfrm>
        </p:grpSpPr>
        <p:sp>
          <p:nvSpPr>
            <p:cNvPr id="6" name="Rectangle 5"/>
            <p:cNvSpPr txBox="1">
              <a:spLocks noChangeArrowheads="1"/>
            </p:cNvSpPr>
            <p:nvPr/>
          </p:nvSpPr>
          <p:spPr bwMode="auto">
            <a:xfrm>
              <a:off x="457200" y="838200"/>
              <a:ext cx="8229600" cy="167481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0" hangingPunct="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Consider the </a:t>
              </a:r>
              <a:r>
                <a:rPr lang="en-US" altLang="en-US" sz="1400" b="0" i="1" u="sng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block of cheese </a:t>
              </a:r>
              <a: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and the </a:t>
              </a:r>
              <a:r>
                <a:rPr lang="en-US" altLang="en-US" sz="1400" b="0" i="1" u="sng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set of cheese slices </a:t>
              </a:r>
              <a: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as your </a:t>
              </a:r>
              <a:b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</a:br>
              <a: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facility’s </a:t>
              </a:r>
              <a:r>
                <a:rPr lang="en-US" altLang="en-US" sz="1400" b="0" i="1" u="sng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Risk Management Program</a:t>
              </a:r>
              <a: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. </a:t>
              </a:r>
            </a:p>
            <a:p>
              <a:pPr eaLnBrk="0" hangingPunct="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endParaRPr lang="en-CA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 eaLnBrk="0" hangingPunct="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en-CA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The slices </a:t>
              </a:r>
              <a: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of cheese are successive </a:t>
              </a:r>
              <a:r>
                <a:rPr lang="en-CA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safeguards to </a:t>
              </a:r>
              <a: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prevent a loss </a:t>
              </a:r>
              <a:r>
                <a:rPr lang="en-CA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incident.</a:t>
              </a:r>
              <a:endParaRPr lang="en-US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2513011"/>
              <a:ext cx="8229600" cy="3507421"/>
            </a:xfrm>
            <a:prstGeom prst="rect">
              <a:avLst/>
            </a:prstGeom>
            <a:solidFill>
              <a:srgbClr val="9999FF"/>
            </a:solidFill>
            <a:ln w="19050">
              <a:solidFill>
                <a:srgbClr val="000000"/>
              </a:solidFill>
            </a:ln>
          </p:spPr>
        </p:pic>
        <p:sp>
          <p:nvSpPr>
            <p:cNvPr id="11" name="TextBox 18"/>
            <p:cNvSpPr txBox="1">
              <a:spLocks noChangeArrowheads="1"/>
            </p:cNvSpPr>
            <p:nvPr/>
          </p:nvSpPr>
          <p:spPr bwMode="auto">
            <a:xfrm>
              <a:off x="7264400" y="2487612"/>
              <a:ext cx="1422400" cy="1815882"/>
            </a:xfrm>
            <a:prstGeom prst="rect">
              <a:avLst/>
            </a:prstGeom>
            <a:solidFill>
              <a:srgbClr val="9999FF">
                <a:lumMod val="75000"/>
              </a:srgbClr>
            </a:solidFill>
            <a:ln>
              <a:noFill/>
            </a:ln>
            <a:extLst/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Planned activity and its hazards &amp; 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risks … 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nd </a:t>
              </a: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 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successful </a:t>
              </a: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outcome is 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intended.</a:t>
              </a:r>
              <a:endParaRPr kumimoji="0" lang="en-CA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TextBox 21"/>
            <p:cNvSpPr txBox="1">
              <a:spLocks noChangeArrowheads="1"/>
            </p:cNvSpPr>
            <p:nvPr/>
          </p:nvSpPr>
          <p:spPr bwMode="auto">
            <a:xfrm>
              <a:off x="550724" y="5408037"/>
              <a:ext cx="1354275" cy="5847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algn="ctr">
                <a:spcBef>
                  <a:spcPct val="0"/>
                </a:spcBef>
                <a:buClrTx/>
                <a:buSzTx/>
                <a:buFontTx/>
                <a:buNone/>
                <a:defRPr sz="1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Successful </a:t>
              </a:r>
              <a:r>
                <a:rPr kumimoji="0" lang="en-CA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outcome?</a:t>
              </a:r>
              <a:endParaRPr kumimoji="0" lang="en-CA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“Swiss Cheese” Model of a Loss Incident: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7200" y="838200"/>
            <a:ext cx="8229600" cy="5182232"/>
            <a:chOff x="457200" y="838200"/>
            <a:chExt cx="8229600" cy="5182232"/>
          </a:xfrm>
        </p:grpSpPr>
        <p:sp>
          <p:nvSpPr>
            <p:cNvPr id="6" name="Rectangle 5"/>
            <p:cNvSpPr txBox="1">
              <a:spLocks noChangeArrowheads="1"/>
            </p:cNvSpPr>
            <p:nvPr/>
          </p:nvSpPr>
          <p:spPr bwMode="auto">
            <a:xfrm>
              <a:off x="457200" y="838200"/>
              <a:ext cx="8229600" cy="167481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Now </a:t>
              </a:r>
              <a:r>
                <a:rPr lang="en-US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consider the red arrow, wherein some kind of activity is planned, with its inherent hazards and risks and with the intention of a successful outcome. </a:t>
              </a:r>
              <a:endParaRPr lang="en-US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endParaRPr lang="en-US" altLang="en-US" sz="1400" b="0" i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If the safeguards to manage risks are effective, then there is a successful outcome. </a:t>
              </a:r>
            </a:p>
            <a:p>
              <a:pPr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endParaRPr lang="en-US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en-US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If </a:t>
              </a:r>
              <a:r>
                <a:rPr lang="en-US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the safeguards are deficient, as depicted by “holes”, an incident will occur.  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2513011"/>
              <a:ext cx="8229600" cy="3507421"/>
            </a:xfrm>
            <a:prstGeom prst="rect">
              <a:avLst/>
            </a:prstGeom>
            <a:solidFill>
              <a:srgbClr val="9999FF"/>
            </a:solidFill>
            <a:ln w="19050">
              <a:solidFill>
                <a:srgbClr val="000000"/>
              </a:solidFill>
            </a:ln>
          </p:spPr>
        </p:pic>
        <p:sp>
          <p:nvSpPr>
            <p:cNvPr id="11" name="TextBox 18"/>
            <p:cNvSpPr txBox="1">
              <a:spLocks noChangeArrowheads="1"/>
            </p:cNvSpPr>
            <p:nvPr/>
          </p:nvSpPr>
          <p:spPr bwMode="auto">
            <a:xfrm>
              <a:off x="7264400" y="2487612"/>
              <a:ext cx="1422400" cy="1815882"/>
            </a:xfrm>
            <a:prstGeom prst="rect">
              <a:avLst/>
            </a:prstGeom>
            <a:solidFill>
              <a:srgbClr val="9999FF">
                <a:lumMod val="75000"/>
              </a:srgbClr>
            </a:solidFill>
            <a:ln>
              <a:noFill/>
            </a:ln>
            <a:extLst/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Planned activity and its hazards &amp; 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risks … 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nd </a:t>
              </a: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 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successful </a:t>
              </a: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outcome is 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intended.</a:t>
              </a:r>
              <a:endParaRPr kumimoji="0" lang="en-CA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TextBox 21"/>
            <p:cNvSpPr txBox="1">
              <a:spLocks noChangeArrowheads="1"/>
            </p:cNvSpPr>
            <p:nvPr/>
          </p:nvSpPr>
          <p:spPr bwMode="auto">
            <a:xfrm>
              <a:off x="550724" y="5408037"/>
              <a:ext cx="1354275" cy="5847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algn="ctr">
                <a:spcBef>
                  <a:spcPct val="0"/>
                </a:spcBef>
                <a:buClrTx/>
                <a:buSzTx/>
                <a:buFontTx/>
                <a:buNone/>
                <a:defRPr sz="1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Successful </a:t>
              </a:r>
              <a:r>
                <a:rPr kumimoji="0" lang="en-CA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outcome?</a:t>
              </a:r>
              <a:endParaRPr kumimoji="0" lang="en-CA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28989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 Implementation of a RM Program: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7200" y="838200"/>
            <a:ext cx="8229600" cy="5182232"/>
            <a:chOff x="457200" y="838200"/>
            <a:chExt cx="8229600" cy="5182232"/>
          </a:xfrm>
        </p:grpSpPr>
        <p:sp>
          <p:nvSpPr>
            <p:cNvPr id="6" name="Rectangle 5"/>
            <p:cNvSpPr txBox="1">
              <a:spLocks noChangeArrowheads="1"/>
            </p:cNvSpPr>
            <p:nvPr/>
          </p:nvSpPr>
          <p:spPr bwMode="auto">
            <a:xfrm>
              <a:off x="457200" y="838200"/>
              <a:ext cx="8229600" cy="1674812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0" hangingPunct="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en-CA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The </a:t>
              </a:r>
              <a: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Risk Management Program is applied (1,2,3,4) to control the hazards and </a:t>
              </a:r>
              <a:b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</a:br>
              <a: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reduce the risks associated with the planned activity to an acceptable level; where: </a:t>
              </a:r>
              <a:b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</a:br>
              <a: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1) </a:t>
              </a:r>
              <a:r>
                <a:rPr lang="en-CA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Risk Management System;                     3) Administrative Control Measures;</a:t>
              </a:r>
              <a: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/>
              </a:r>
              <a:b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</a:br>
              <a: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2) </a:t>
              </a:r>
              <a:r>
                <a:rPr lang="en-CA" altLang="en-US" sz="1400" b="0" i="1" dirty="0" smtClean="0">
                  <a:solidFill>
                    <a:srgbClr val="000000"/>
                  </a:solidFill>
                  <a:latin typeface="Tahoma" panose="020B0604030504040204" pitchFamily="34" charset="0"/>
                </a:rPr>
                <a:t>Engineering Control Measures;               4</a:t>
              </a:r>
              <a:r>
                <a:rPr lang="en-CA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) Work Practices.</a:t>
              </a:r>
            </a:p>
            <a:p>
              <a:pPr eaLnBrk="0" hangingPunct="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en-US" altLang="en-US" sz="1400" b="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When the risk management program is implemented effectively, i.e. all safeguards and control measures are working, then there is a successful outcome to the planned activity, and loss incidents are prevented. </a:t>
              </a:r>
            </a:p>
            <a:p>
              <a:pPr eaLnBrk="0" hangingPunct="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Ø"/>
                <a:defRPr/>
              </a:pPr>
              <a:endParaRPr lang="en-US" altLang="en-US" sz="1400" b="0" i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457200" y="2408570"/>
              <a:ext cx="8229600" cy="3611862"/>
              <a:chOff x="457200" y="2850721"/>
              <a:chExt cx="8229600" cy="3611862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7200" y="2955162"/>
                <a:ext cx="8229600" cy="3507421"/>
              </a:xfrm>
              <a:prstGeom prst="rect">
                <a:avLst/>
              </a:prstGeom>
              <a:solidFill>
                <a:srgbClr val="9999FF"/>
              </a:solidFill>
              <a:ln w="19050">
                <a:solidFill>
                  <a:srgbClr val="000000"/>
                </a:solidFill>
              </a:ln>
            </p:spPr>
          </p:pic>
          <p:sp>
            <p:nvSpPr>
              <p:cNvPr id="11" name="Oval Callout 8"/>
              <p:cNvSpPr>
                <a:spLocks noChangeArrowheads="1"/>
              </p:cNvSpPr>
              <p:nvPr/>
            </p:nvSpPr>
            <p:spPr bwMode="auto">
              <a:xfrm>
                <a:off x="3694402" y="3474027"/>
                <a:ext cx="457200" cy="457200"/>
              </a:xfrm>
              <a:prstGeom prst="wedgeEllipseCallout">
                <a:avLst>
                  <a:gd name="adj1" fmla="val 2468"/>
                  <a:gd name="adj2" fmla="val 98907"/>
                </a:avLst>
              </a:prstGeom>
              <a:solidFill>
                <a:srgbClr val="FF0000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</a:rPr>
                  <a:t>3</a:t>
                </a:r>
              </a:p>
            </p:txBody>
          </p:sp>
          <p:sp>
            <p:nvSpPr>
              <p:cNvPr id="14" name="Oval Callout 9"/>
              <p:cNvSpPr>
                <a:spLocks noChangeArrowheads="1"/>
              </p:cNvSpPr>
              <p:nvPr/>
            </p:nvSpPr>
            <p:spPr bwMode="auto">
              <a:xfrm>
                <a:off x="2325113" y="3785751"/>
                <a:ext cx="457200" cy="457200"/>
              </a:xfrm>
              <a:prstGeom prst="wedgeEllipseCallout">
                <a:avLst>
                  <a:gd name="adj1" fmla="val 2468"/>
                  <a:gd name="adj2" fmla="val 98907"/>
                </a:avLst>
              </a:prstGeom>
              <a:solidFill>
                <a:srgbClr val="FF0000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</a:rPr>
                  <a:t>4</a:t>
                </a:r>
              </a:p>
            </p:txBody>
          </p:sp>
          <p:sp>
            <p:nvSpPr>
              <p:cNvPr id="15" name="Oval Callout 7"/>
              <p:cNvSpPr>
                <a:spLocks noChangeArrowheads="1"/>
              </p:cNvSpPr>
              <p:nvPr/>
            </p:nvSpPr>
            <p:spPr bwMode="auto">
              <a:xfrm>
                <a:off x="5038294" y="3150755"/>
                <a:ext cx="457200" cy="457200"/>
              </a:xfrm>
              <a:prstGeom prst="wedgeEllipseCallout">
                <a:avLst>
                  <a:gd name="adj1" fmla="val 2468"/>
                  <a:gd name="adj2" fmla="val 98907"/>
                </a:avLst>
              </a:prstGeom>
              <a:solidFill>
                <a:srgbClr val="FF0000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</a:rPr>
                  <a:t>2</a:t>
                </a:r>
              </a:p>
            </p:txBody>
          </p:sp>
          <p:sp>
            <p:nvSpPr>
              <p:cNvPr id="16" name="Oval Callout 6"/>
              <p:cNvSpPr>
                <a:spLocks noChangeArrowheads="1"/>
              </p:cNvSpPr>
              <p:nvPr/>
            </p:nvSpPr>
            <p:spPr bwMode="auto">
              <a:xfrm>
                <a:off x="6253016" y="2850721"/>
                <a:ext cx="457200" cy="457200"/>
              </a:xfrm>
              <a:prstGeom prst="wedgeEllipseCallout">
                <a:avLst>
                  <a:gd name="adj1" fmla="val 2468"/>
                  <a:gd name="adj2" fmla="val 98907"/>
                </a:avLst>
              </a:prstGeom>
              <a:solidFill>
                <a:srgbClr val="FF0000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</a:rPr>
                  <a:t>1</a:t>
                </a:r>
              </a:p>
            </p:txBody>
          </p:sp>
          <p:sp>
            <p:nvSpPr>
              <p:cNvPr id="17" name="TextBox 18"/>
              <p:cNvSpPr txBox="1">
                <a:spLocks noChangeArrowheads="1"/>
              </p:cNvSpPr>
              <p:nvPr/>
            </p:nvSpPr>
            <p:spPr bwMode="auto">
              <a:xfrm>
                <a:off x="7093527" y="3086095"/>
                <a:ext cx="1422400" cy="738664"/>
              </a:xfrm>
              <a:prstGeom prst="rect">
                <a:avLst/>
              </a:prstGeom>
              <a:solidFill>
                <a:srgbClr val="9999FF">
                  <a:lumMod val="75000"/>
                </a:srgbClr>
              </a:solidFill>
              <a:ln>
                <a:noFill/>
              </a:ln>
              <a:extLst/>
            </p:spPr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algn="ctr">
                  <a:buClrTx/>
                  <a:buSzTx/>
                  <a:buFontTx/>
                  <a:buNone/>
                  <a:defRPr sz="1400">
                    <a:solidFill>
                      <a:schemeClr val="bg1"/>
                    </a:solidFill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Planned activity and its hazards &amp; risks</a:t>
                </a:r>
              </a:p>
            </p:txBody>
          </p:sp>
          <p:sp>
            <p:nvSpPr>
              <p:cNvPr id="18" name="Text Box 11"/>
              <p:cNvSpPr txBox="1">
                <a:spLocks noChangeArrowheads="1"/>
              </p:cNvSpPr>
              <p:nvPr/>
            </p:nvSpPr>
            <p:spPr bwMode="auto">
              <a:xfrm>
                <a:off x="2057400" y="4635774"/>
                <a:ext cx="893623" cy="1323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FF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X</a:t>
                </a:r>
              </a:p>
            </p:txBody>
          </p:sp>
          <p:sp>
            <p:nvSpPr>
              <p:cNvPr id="19" name="Text Box 12"/>
              <p:cNvSpPr txBox="1">
                <a:spLocks noChangeArrowheads="1"/>
              </p:cNvSpPr>
              <p:nvPr/>
            </p:nvSpPr>
            <p:spPr bwMode="auto">
              <a:xfrm>
                <a:off x="3398980" y="4261698"/>
                <a:ext cx="893623" cy="1323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FF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X</a:t>
                </a:r>
              </a:p>
            </p:txBody>
          </p:sp>
          <p:sp>
            <p:nvSpPr>
              <p:cNvPr id="20" name="Text Box 13"/>
              <p:cNvSpPr txBox="1">
                <a:spLocks noChangeArrowheads="1"/>
              </p:cNvSpPr>
              <p:nvPr/>
            </p:nvSpPr>
            <p:spPr bwMode="auto">
              <a:xfrm>
                <a:off x="4671291" y="3883010"/>
                <a:ext cx="893623" cy="1323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FF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X</a:t>
                </a:r>
              </a:p>
            </p:txBody>
          </p:sp>
          <p:sp>
            <p:nvSpPr>
              <p:cNvPr id="21" name="Text Box 14"/>
              <p:cNvSpPr txBox="1">
                <a:spLocks noChangeArrowheads="1"/>
              </p:cNvSpPr>
              <p:nvPr/>
            </p:nvSpPr>
            <p:spPr bwMode="auto">
              <a:xfrm>
                <a:off x="5904341" y="3541264"/>
                <a:ext cx="893623" cy="1323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FF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X</a:t>
                </a:r>
              </a:p>
            </p:txBody>
          </p:sp>
          <p:sp>
            <p:nvSpPr>
              <p:cNvPr id="22" name="TextBox 22"/>
              <p:cNvSpPr txBox="1">
                <a:spLocks noChangeArrowheads="1"/>
              </p:cNvSpPr>
              <p:nvPr/>
            </p:nvSpPr>
            <p:spPr bwMode="auto">
              <a:xfrm rot="10800000">
                <a:off x="524435" y="3909864"/>
                <a:ext cx="1141130" cy="221599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altLang="en-US" sz="13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Wingdings" panose="05000000000000000000" pitchFamily="2" charset="2"/>
                    <a:ea typeface="ＭＳ Ｐゴシック" panose="020B0600070205080204" pitchFamily="34" charset="-128"/>
                  </a:rPr>
                  <a:t>D</a:t>
                </a:r>
              </a:p>
            </p:txBody>
          </p:sp>
          <p:sp>
            <p:nvSpPr>
              <p:cNvPr id="24" name="TextBox 21"/>
              <p:cNvSpPr txBox="1">
                <a:spLocks noChangeArrowheads="1"/>
              </p:cNvSpPr>
              <p:nvPr/>
            </p:nvSpPr>
            <p:spPr bwMode="auto">
              <a:xfrm>
                <a:off x="550724" y="5837527"/>
                <a:ext cx="1278075" cy="584775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/>
            </p:spPr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algn="ctr">
                  <a:buClrTx/>
                  <a:buSzTx/>
                  <a:buFontTx/>
                  <a:buNone/>
                  <a:defRPr sz="1600" b="1"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Successful outcome</a:t>
                </a:r>
              </a:p>
            </p:txBody>
          </p:sp>
          <p:sp>
            <p:nvSpPr>
              <p:cNvPr id="25" name="Double Brace 24"/>
              <p:cNvSpPr/>
              <p:nvPr/>
            </p:nvSpPr>
            <p:spPr>
              <a:xfrm rot="20640000">
                <a:off x="2748730" y="5046954"/>
                <a:ext cx="4216051" cy="632648"/>
              </a:xfrm>
              <a:prstGeom prst="bracePair">
                <a:avLst/>
              </a:prstGeom>
              <a:solidFill>
                <a:srgbClr val="FFFFFF">
                  <a:alpha val="80000"/>
                </a:srgbClr>
              </a:solidFill>
              <a:ln w="76200" cap="flat" cmpd="sng" algn="ctr">
                <a:solidFill>
                  <a:srgbClr val="66FF3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Effective Implementation of a </a:t>
                </a:r>
                <a:b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</a:b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Risk Management Program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TextBox 2"/>
              <p:cNvSpPr txBox="1">
                <a:spLocks noChangeArrowheads="1"/>
              </p:cNvSpPr>
              <p:nvPr/>
            </p:nvSpPr>
            <p:spPr bwMode="auto">
              <a:xfrm>
                <a:off x="2057400" y="5998122"/>
                <a:ext cx="5053012" cy="307777"/>
              </a:xfrm>
              <a:prstGeom prst="rect">
                <a:avLst/>
              </a:prstGeom>
              <a:solidFill>
                <a:srgbClr val="9999FF">
                  <a:lumMod val="75000"/>
                </a:srgbClr>
              </a:solidFill>
              <a:ln>
                <a:noFill/>
              </a:ln>
              <a:extLst/>
            </p:spPr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algn="ctr">
                  <a:buClrTx/>
                  <a:buSzTx/>
                  <a:buFontTx/>
                  <a:buNone/>
                  <a:defRPr sz="1400">
                    <a:solidFill>
                      <a:schemeClr val="bg1"/>
                    </a:solidFill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Char char="•"/>
                  <a:defRPr sz="2000"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Successive levels of effective control measures</a:t>
                </a:r>
              </a:p>
            </p:txBody>
          </p:sp>
        </p:grp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13" y="2649398"/>
            <a:ext cx="1163254" cy="111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785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Breakdowns in Safeguards of the RM Program: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457200" y="838200"/>
            <a:ext cx="8229600" cy="1674812"/>
          </a:xfrm>
          <a:prstGeom prst="rect">
            <a:avLst/>
          </a:prstGeom>
          <a:solidFill>
            <a:srgbClr val="FFFF99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400" b="0" i="1" dirty="0">
                <a:solidFill>
                  <a:srgbClr val="000000"/>
                </a:solidFill>
                <a:latin typeface="Tahoma" panose="020B0604030504040204" pitchFamily="34" charset="0"/>
              </a:rPr>
              <a:t>When there are weaknesses in the Risk Management Program – the program implementation is defective or ineffective – then there are breakdowns in the engineering controls, the administrative controls, and the work-practices, as represented by the holes in the cheeses slices. </a:t>
            </a:r>
            <a:endParaRPr lang="en-US" altLang="en-US" sz="1400" b="0" i="1" dirty="0" smtClean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rPr>
              <a:t>It is only a </a:t>
            </a:r>
            <a:r>
              <a:rPr lang="en-US" altLang="en-US" sz="1400" b="0" i="1" u="sng" dirty="0" smtClean="0">
                <a:solidFill>
                  <a:srgbClr val="000000"/>
                </a:solidFill>
                <a:latin typeface="Tahoma" panose="020B0604030504040204" pitchFamily="34" charset="0"/>
              </a:rPr>
              <a:t>matter of time </a:t>
            </a:r>
            <a:r>
              <a:rPr lang="en-US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rPr>
              <a:t>(probability, likelihood, chance, luck) before all of the breakdowns in the engineering controls, administrative controls, and work practices happen at the same time – </a:t>
            </a:r>
            <a:r>
              <a:rPr lang="en-US" altLang="en-US" sz="1400" b="0" i="1" u="sng" dirty="0" smtClean="0">
                <a:solidFill>
                  <a:srgbClr val="000000"/>
                </a:solidFill>
                <a:latin typeface="Tahoma" panose="020B0604030504040204" pitchFamily="34" charset="0"/>
              </a:rPr>
              <a:t>these align </a:t>
            </a:r>
            <a:r>
              <a:rPr lang="en-US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rPr>
              <a:t>– and a loss incident happens. </a:t>
            </a:r>
            <a:endParaRPr lang="en-US" altLang="en-US" sz="1400" b="0" i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57200" y="2408570"/>
            <a:ext cx="8229600" cy="3611862"/>
            <a:chOff x="457200" y="2408570"/>
            <a:chExt cx="8229600" cy="361186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2513011"/>
              <a:ext cx="8229600" cy="3507421"/>
            </a:xfrm>
            <a:prstGeom prst="rect">
              <a:avLst/>
            </a:prstGeom>
            <a:solidFill>
              <a:srgbClr val="9999FF"/>
            </a:solidFill>
            <a:ln w="19050">
              <a:solidFill>
                <a:srgbClr val="000000"/>
              </a:solidFill>
            </a:ln>
          </p:spPr>
        </p:pic>
        <p:sp>
          <p:nvSpPr>
            <p:cNvPr id="10" name="Oval Callout 8"/>
            <p:cNvSpPr>
              <a:spLocks noChangeArrowheads="1"/>
            </p:cNvSpPr>
            <p:nvPr/>
          </p:nvSpPr>
          <p:spPr bwMode="auto">
            <a:xfrm>
              <a:off x="3694402" y="3031876"/>
              <a:ext cx="457200" cy="457200"/>
            </a:xfrm>
            <a:prstGeom prst="wedgeEllipseCallout">
              <a:avLst>
                <a:gd name="adj1" fmla="val 2468"/>
                <a:gd name="adj2" fmla="val 98907"/>
              </a:avLst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</a:rPr>
                <a:t>3</a:t>
              </a:r>
            </a:p>
          </p:txBody>
        </p:sp>
        <p:sp>
          <p:nvSpPr>
            <p:cNvPr id="11" name="Oval Callout 9"/>
            <p:cNvSpPr>
              <a:spLocks noChangeArrowheads="1"/>
            </p:cNvSpPr>
            <p:nvPr/>
          </p:nvSpPr>
          <p:spPr bwMode="auto">
            <a:xfrm>
              <a:off x="2325113" y="3343600"/>
              <a:ext cx="457200" cy="457200"/>
            </a:xfrm>
            <a:prstGeom prst="wedgeEllipseCallout">
              <a:avLst>
                <a:gd name="adj1" fmla="val 2468"/>
                <a:gd name="adj2" fmla="val 98907"/>
              </a:avLst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</a:rPr>
                <a:t>4</a:t>
              </a:r>
            </a:p>
          </p:txBody>
        </p:sp>
        <p:sp>
          <p:nvSpPr>
            <p:cNvPr id="14" name="Oval Callout 7"/>
            <p:cNvSpPr>
              <a:spLocks noChangeArrowheads="1"/>
            </p:cNvSpPr>
            <p:nvPr/>
          </p:nvSpPr>
          <p:spPr bwMode="auto">
            <a:xfrm>
              <a:off x="5038294" y="2708604"/>
              <a:ext cx="457200" cy="457200"/>
            </a:xfrm>
            <a:prstGeom prst="wedgeEllipseCallout">
              <a:avLst>
                <a:gd name="adj1" fmla="val 2468"/>
                <a:gd name="adj2" fmla="val 98907"/>
              </a:avLst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15" name="Oval Callout 6"/>
            <p:cNvSpPr>
              <a:spLocks noChangeArrowheads="1"/>
            </p:cNvSpPr>
            <p:nvPr/>
          </p:nvSpPr>
          <p:spPr bwMode="auto">
            <a:xfrm>
              <a:off x="6253016" y="2408570"/>
              <a:ext cx="457200" cy="457200"/>
            </a:xfrm>
            <a:prstGeom prst="wedgeEllipseCallout">
              <a:avLst>
                <a:gd name="adj1" fmla="val 2468"/>
                <a:gd name="adj2" fmla="val 98907"/>
              </a:avLst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</a:rPr>
                <a:t>1</a:t>
              </a:r>
            </a:p>
          </p:txBody>
        </p:sp>
        <p:sp>
          <p:nvSpPr>
            <p:cNvPr id="16" name="TextBox 18"/>
            <p:cNvSpPr txBox="1">
              <a:spLocks noChangeArrowheads="1"/>
            </p:cNvSpPr>
            <p:nvPr/>
          </p:nvSpPr>
          <p:spPr bwMode="auto">
            <a:xfrm>
              <a:off x="7093527" y="2643944"/>
              <a:ext cx="1422400" cy="738664"/>
            </a:xfrm>
            <a:prstGeom prst="rect">
              <a:avLst/>
            </a:prstGeom>
            <a:solidFill>
              <a:srgbClr val="9999FF">
                <a:lumMod val="75000"/>
              </a:srgbClr>
            </a:solidFill>
            <a:ln>
              <a:noFill/>
            </a:ln>
            <a:extLst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buNone/>
                <a:defRPr sz="1400">
                  <a:solidFill>
                    <a:schemeClr val="bg1"/>
                  </a:solidFill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Planned activity and its hazards &amp; risks</a:t>
              </a:r>
            </a:p>
          </p:txBody>
        </p:sp>
        <p:sp>
          <p:nvSpPr>
            <p:cNvPr id="17" name="TextBox 13"/>
            <p:cNvSpPr txBox="1">
              <a:spLocks noChangeArrowheads="1"/>
            </p:cNvSpPr>
            <p:nvPr/>
          </p:nvSpPr>
          <p:spPr bwMode="auto">
            <a:xfrm>
              <a:off x="466443" y="3564104"/>
              <a:ext cx="1143000" cy="186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CA" altLang="en-US" sz="11500" dirty="0">
                  <a:solidFill>
                    <a:srgbClr val="FF0000"/>
                  </a:solidFill>
                  <a:latin typeface="Wingdings" panose="05000000000000000000" pitchFamily="2" charset="2"/>
                </a:rPr>
                <a:t>D</a:t>
              </a:r>
            </a:p>
          </p:txBody>
        </p:sp>
        <p:sp>
          <p:nvSpPr>
            <p:cNvPr id="18" name="TextBox 2"/>
            <p:cNvSpPr txBox="1">
              <a:spLocks noChangeArrowheads="1"/>
            </p:cNvSpPr>
            <p:nvPr/>
          </p:nvSpPr>
          <p:spPr bwMode="auto">
            <a:xfrm>
              <a:off x="2057400" y="5448250"/>
              <a:ext cx="5053012" cy="523220"/>
            </a:xfrm>
            <a:prstGeom prst="rect">
              <a:avLst/>
            </a:prstGeom>
            <a:solidFill>
              <a:srgbClr val="9999FF">
                <a:lumMod val="75000"/>
              </a:srgbClr>
            </a:solidFill>
            <a:ln>
              <a:noFill/>
            </a:ln>
            <a:extLst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buNone/>
                <a:defRPr sz="1400">
                  <a:solidFill>
                    <a:schemeClr val="bg1"/>
                  </a:solidFill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Breakdowns in 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safeguards (control measures), </a:t>
              </a: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/>
              </a:r>
              <a:b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</a:b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ultimately due </a:t>
              </a: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to </a:t>
              </a:r>
              <a:r>
                <a:rPr lang="en-CA" altLang="en-US" b="0" kern="0" dirty="0" smtClean="0">
                  <a:solidFill>
                    <a:srgbClr val="FFFFFF"/>
                  </a:solidFill>
                  <a:latin typeface="Arial" panose="020B0604020202020204" pitchFamily="34" charset="0"/>
                </a:rPr>
                <a:t>latent</a:t>
              </a:r>
              <a:r>
                <a:rPr kumimoji="0" lang="en-CA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</a:t>
              </a:r>
              <a:r>
                <a:rPr kumimoji="0" lang="en-CA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causes. </a:t>
              </a:r>
            </a:p>
          </p:txBody>
        </p:sp>
        <p:sp>
          <p:nvSpPr>
            <p:cNvPr id="19" name="TextBox 21"/>
            <p:cNvSpPr txBox="1">
              <a:spLocks noChangeArrowheads="1"/>
            </p:cNvSpPr>
            <p:nvPr/>
          </p:nvSpPr>
          <p:spPr bwMode="auto">
            <a:xfrm>
              <a:off x="550725" y="5395376"/>
              <a:ext cx="1058718" cy="58477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algn="ctr">
                <a:spcBef>
                  <a:spcPct val="0"/>
                </a:spcBef>
                <a:buClrTx/>
                <a:buSzTx/>
                <a:buFontTx/>
                <a:buNone/>
                <a:defRPr sz="1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Char char="•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Loss Incident</a:t>
              </a:r>
              <a:endParaRPr kumimoji="0" lang="en-CA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62695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 Latent Causes to Restore the RM Program: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7" name="Cloud 26"/>
          <p:cNvSpPr/>
          <p:nvPr/>
        </p:nvSpPr>
        <p:spPr bwMode="auto">
          <a:xfrm rot="20945362">
            <a:off x="415317" y="2679156"/>
            <a:ext cx="8342362" cy="2955481"/>
          </a:xfrm>
          <a:prstGeom prst="cloud">
            <a:avLst/>
          </a:prstGeom>
          <a:noFill/>
          <a:ln w="5715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457200" y="838200"/>
            <a:ext cx="8229600" cy="1674812"/>
          </a:xfrm>
          <a:prstGeom prst="rect">
            <a:avLst/>
          </a:prstGeom>
          <a:solidFill>
            <a:srgbClr val="FFFF99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en-US" sz="1400" b="0" i="1" dirty="0" smtClean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rPr>
              <a:t>After </a:t>
            </a:r>
            <a:r>
              <a:rPr lang="en-US" altLang="en-US" sz="1400" b="0" i="1" dirty="0">
                <a:solidFill>
                  <a:srgbClr val="000000"/>
                </a:solidFill>
                <a:latin typeface="Tahoma" panose="020B0604030504040204" pitchFamily="34" charset="0"/>
              </a:rPr>
              <a:t>the root cause analysis is completed and the recommendations that address the </a:t>
            </a:r>
            <a:r>
              <a:rPr lang="en-US" altLang="en-US" sz="1400" b="0" i="1" dirty="0" smtClean="0">
                <a:solidFill>
                  <a:srgbClr val="000000"/>
                </a:solidFill>
                <a:latin typeface="Tahoma" panose="020B0604030504040204" pitchFamily="34" charset="0"/>
              </a:rPr>
              <a:t>latent cause(s</a:t>
            </a:r>
            <a:r>
              <a:rPr lang="en-US" altLang="en-US" sz="1400" b="0" i="1" dirty="0">
                <a:solidFill>
                  <a:srgbClr val="000000"/>
                </a:solidFill>
                <a:latin typeface="Tahoma" panose="020B0604030504040204" pitchFamily="34" charset="0"/>
              </a:rPr>
              <a:t>) are effectively implemented, then the effectiveness of the implementation of the Risk Management Program is restored, and planned activities can be undertaken with successful outcomes. </a:t>
            </a:r>
          </a:p>
          <a:p>
            <a:pPr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en-US" sz="1400" b="0" i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3011"/>
            <a:ext cx="8229600" cy="3507421"/>
          </a:xfrm>
          <a:prstGeom prst="rect">
            <a:avLst/>
          </a:prstGeom>
          <a:solidFill>
            <a:srgbClr val="9999FF"/>
          </a:solidFill>
          <a:ln w="19050">
            <a:solidFill>
              <a:srgbClr val="000000"/>
            </a:solidFill>
          </a:ln>
        </p:spPr>
      </p:pic>
      <p:sp>
        <p:nvSpPr>
          <p:cNvPr id="11" name="Oval Callout 8"/>
          <p:cNvSpPr>
            <a:spLocks noChangeArrowheads="1"/>
          </p:cNvSpPr>
          <p:nvPr/>
        </p:nvSpPr>
        <p:spPr bwMode="auto">
          <a:xfrm>
            <a:off x="3694402" y="3031876"/>
            <a:ext cx="457200" cy="457200"/>
          </a:xfrm>
          <a:prstGeom prst="wedgeEllipseCallout">
            <a:avLst>
              <a:gd name="adj1" fmla="val 2468"/>
              <a:gd name="adj2" fmla="val 98907"/>
            </a:avLst>
          </a:prstGeom>
          <a:solidFill>
            <a:srgbClr val="FF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</a:rPr>
              <a:t>3</a:t>
            </a:r>
          </a:p>
        </p:txBody>
      </p:sp>
      <p:sp>
        <p:nvSpPr>
          <p:cNvPr id="14" name="Oval Callout 9"/>
          <p:cNvSpPr>
            <a:spLocks noChangeArrowheads="1"/>
          </p:cNvSpPr>
          <p:nvPr/>
        </p:nvSpPr>
        <p:spPr bwMode="auto">
          <a:xfrm>
            <a:off x="2325113" y="3343600"/>
            <a:ext cx="457200" cy="457200"/>
          </a:xfrm>
          <a:prstGeom prst="wedgeEllipseCallout">
            <a:avLst>
              <a:gd name="adj1" fmla="val 2468"/>
              <a:gd name="adj2" fmla="val 98907"/>
            </a:avLst>
          </a:prstGeom>
          <a:solidFill>
            <a:srgbClr val="FF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</a:rPr>
              <a:t>4</a:t>
            </a:r>
          </a:p>
        </p:txBody>
      </p:sp>
      <p:sp>
        <p:nvSpPr>
          <p:cNvPr id="15" name="Oval Callout 7"/>
          <p:cNvSpPr>
            <a:spLocks noChangeArrowheads="1"/>
          </p:cNvSpPr>
          <p:nvPr/>
        </p:nvSpPr>
        <p:spPr bwMode="auto">
          <a:xfrm>
            <a:off x="5038294" y="2708604"/>
            <a:ext cx="457200" cy="457200"/>
          </a:xfrm>
          <a:prstGeom prst="wedgeEllipseCallout">
            <a:avLst>
              <a:gd name="adj1" fmla="val 2468"/>
              <a:gd name="adj2" fmla="val 98907"/>
            </a:avLst>
          </a:prstGeom>
          <a:solidFill>
            <a:srgbClr val="FF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</a:rPr>
              <a:t>2</a:t>
            </a:r>
          </a:p>
        </p:txBody>
      </p:sp>
      <p:sp>
        <p:nvSpPr>
          <p:cNvPr id="16" name="Oval Callout 6"/>
          <p:cNvSpPr>
            <a:spLocks noChangeArrowheads="1"/>
          </p:cNvSpPr>
          <p:nvPr/>
        </p:nvSpPr>
        <p:spPr bwMode="auto">
          <a:xfrm>
            <a:off x="6253016" y="2408570"/>
            <a:ext cx="457200" cy="457200"/>
          </a:xfrm>
          <a:prstGeom prst="wedgeEllipseCallout">
            <a:avLst>
              <a:gd name="adj1" fmla="val 2468"/>
              <a:gd name="adj2" fmla="val 98907"/>
            </a:avLst>
          </a:prstGeom>
          <a:solidFill>
            <a:srgbClr val="FF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" name="TextBox 18"/>
          <p:cNvSpPr txBox="1">
            <a:spLocks noChangeArrowheads="1"/>
          </p:cNvSpPr>
          <p:nvPr/>
        </p:nvSpPr>
        <p:spPr bwMode="auto">
          <a:xfrm>
            <a:off x="7093527" y="2643944"/>
            <a:ext cx="1422400" cy="738664"/>
          </a:xfrm>
          <a:prstGeom prst="rect">
            <a:avLst/>
          </a:prstGeom>
          <a:solidFill>
            <a:srgbClr val="9999FF">
              <a:lumMod val="75000"/>
            </a:srgbClr>
          </a:solidFill>
          <a:ln>
            <a:noFill/>
          </a:ln>
          <a:extLst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buClrTx/>
              <a:buSzTx/>
              <a:buFontTx/>
              <a:buNone/>
              <a:defRPr sz="1400">
                <a:solidFill>
                  <a:schemeClr val="bg1"/>
                </a:solidFill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Planned activity and its hazards &amp; risks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057400" y="4193623"/>
            <a:ext cx="8936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X</a:t>
            </a: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3398980" y="3819547"/>
            <a:ext cx="8936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X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4671291" y="3440859"/>
            <a:ext cx="8936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X</a:t>
            </a: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5904341" y="3099113"/>
            <a:ext cx="8936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X</a:t>
            </a:r>
          </a:p>
        </p:txBody>
      </p:sp>
      <p:sp>
        <p:nvSpPr>
          <p:cNvPr id="22" name="TextBox 22"/>
          <p:cNvSpPr txBox="1">
            <a:spLocks noChangeArrowheads="1"/>
          </p:cNvSpPr>
          <p:nvPr/>
        </p:nvSpPr>
        <p:spPr bwMode="auto">
          <a:xfrm rot="10800000">
            <a:off x="524435" y="3467713"/>
            <a:ext cx="1141130" cy="2215991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3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Wingdings" panose="05000000000000000000" pitchFamily="2" charset="2"/>
                <a:ea typeface="ＭＳ Ｐゴシック" panose="020B0600070205080204" pitchFamily="34" charset="-128"/>
              </a:rPr>
              <a:t>D</a:t>
            </a:r>
          </a:p>
        </p:txBody>
      </p:sp>
      <p:sp>
        <p:nvSpPr>
          <p:cNvPr id="24" name="TextBox 21"/>
          <p:cNvSpPr txBox="1">
            <a:spLocks noChangeArrowheads="1"/>
          </p:cNvSpPr>
          <p:nvPr/>
        </p:nvSpPr>
        <p:spPr bwMode="auto">
          <a:xfrm>
            <a:off x="550724" y="5395376"/>
            <a:ext cx="1278075" cy="584775"/>
          </a:xfrm>
          <a:prstGeom prst="rect">
            <a:avLst/>
          </a:prstGeom>
          <a:solidFill>
            <a:srgbClr val="00FF00"/>
          </a:solidFill>
          <a:ln>
            <a:noFill/>
          </a:ln>
          <a:extLst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buClrTx/>
              <a:buSzTx/>
              <a:buFontTx/>
              <a:buNone/>
              <a:defRPr sz="1600" b="1"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Successful outcome</a:t>
            </a:r>
          </a:p>
        </p:txBody>
      </p:sp>
      <p:sp>
        <p:nvSpPr>
          <p:cNvPr id="25" name="Double Brace 24"/>
          <p:cNvSpPr/>
          <p:nvPr/>
        </p:nvSpPr>
        <p:spPr>
          <a:xfrm rot="20640000">
            <a:off x="2748730" y="4604803"/>
            <a:ext cx="4216051" cy="632648"/>
          </a:xfrm>
          <a:prstGeom prst="bracePair">
            <a:avLst/>
          </a:prstGeom>
          <a:solidFill>
            <a:srgbClr val="FFFFFF">
              <a:alpha val="80000"/>
            </a:srgbClr>
          </a:solidFill>
          <a:ln w="76200" cap="flat" cmpd="sng" algn="ctr">
            <a:solidFill>
              <a:srgbClr val="66FF33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Effective Implementation of a 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Risk Management Program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2"/>
          <p:cNvSpPr txBox="1">
            <a:spLocks noChangeArrowheads="1"/>
          </p:cNvSpPr>
          <p:nvPr/>
        </p:nvSpPr>
        <p:spPr bwMode="auto">
          <a:xfrm>
            <a:off x="2057400" y="5555971"/>
            <a:ext cx="5053012" cy="307777"/>
          </a:xfrm>
          <a:prstGeom prst="rect">
            <a:avLst/>
          </a:prstGeom>
          <a:solidFill>
            <a:srgbClr val="9999FF">
              <a:lumMod val="75000"/>
            </a:srgbClr>
          </a:solidFill>
          <a:ln>
            <a:noFill/>
          </a:ln>
          <a:extLst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buClrTx/>
              <a:buSzTx/>
              <a:buFontTx/>
              <a:buNone/>
              <a:defRPr sz="1400">
                <a:solidFill>
                  <a:schemeClr val="bg1"/>
                </a:solidFill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Successive levels of effective control measures</a:t>
            </a:r>
          </a:p>
        </p:txBody>
      </p:sp>
      <p:sp>
        <p:nvSpPr>
          <p:cNvPr id="28" name="Cloud 27"/>
          <p:cNvSpPr/>
          <p:nvPr/>
        </p:nvSpPr>
        <p:spPr bwMode="auto">
          <a:xfrm rot="20760000">
            <a:off x="252000" y="2844000"/>
            <a:ext cx="8639159" cy="2916000"/>
          </a:xfrm>
          <a:prstGeom prst="cloud">
            <a:avLst/>
          </a:prstGeom>
          <a:noFill/>
          <a:ln w="571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13" y="2649398"/>
            <a:ext cx="1163254" cy="111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228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8" name="Rectangle 5"/>
          <p:cNvSpPr txBox="1">
            <a:spLocks noChangeArrowheads="1"/>
          </p:cNvSpPr>
          <p:nvPr/>
        </p:nvSpPr>
        <p:spPr bwMode="auto">
          <a:xfrm>
            <a:off x="180000" y="838200"/>
            <a:ext cx="8633400" cy="533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defTabSz="914400" eaLnBrk="0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Work practices: smoking while loading, running truck, not chocking the wheels, illegal truck-to-truck transfer; not recognizing risks of handling inflammable liquefied propane</a:t>
            </a:r>
          </a:p>
          <a:p>
            <a:pPr lvl="0" eaLnBrk="0" fontAlgn="auto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Administrative Control </a:t>
            </a:r>
            <a:r>
              <a:rPr kumimoji="0" lang="en-US" alt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Measures:</a:t>
            </a:r>
            <a:r>
              <a:rPr kumimoji="0" lang="en-US" altLang="en-US" sz="1600" b="0" i="1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inadequate procedures, poor training, no checklists</a:t>
            </a:r>
          </a:p>
          <a:p>
            <a:pPr lvl="0" eaLnBrk="0" fontAlgn="auto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Control </a:t>
            </a:r>
            <a:r>
              <a:rPr kumimoji="0" lang="en-US" alt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Measures: defective / lack of gas detectors / alarms system, defective / lack of deluge/sprinkler system, facility built without proper truck loading area or without storage tanks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Risk management Work Process: Hazards clearly not controlled. Were hazards even identified? 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RM system</a:t>
            </a:r>
            <a:r>
              <a:rPr kumimoji="0" lang="en-US" altLang="en-US" sz="1600" b="0" i="1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- l</a:t>
            </a:r>
            <a:r>
              <a:rPr kumimoji="0" lang="en-US" alt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atent causes: lack of operating procedures, #8; lack of training program, #9; inadequate risk assessment program, #2; lack of maintenance program; #8; lack of design program, #7; lack of leadership commitment to operate a safe facility in accordance with legal requirements, #1.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1600" b="0" i="1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16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point: NOT to know </a:t>
            </a: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details </a:t>
            </a:r>
            <a:r>
              <a:rPr lang="en-US" altLang="en-US" sz="16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Sunrise Propane, </a:t>
            </a: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en-US" altLang="en-US" sz="16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develop your skills at </a:t>
            </a: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aligning, even deducing, </a:t>
            </a:r>
            <a:r>
              <a:rPr lang="en-US" altLang="en-US" sz="16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causes </a:t>
            </a:r>
            <a:r>
              <a:rPr lang="en-US" altLang="en-US" sz="16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 loss </a:t>
            </a: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incident </a:t>
            </a:r>
            <a:r>
              <a:rPr lang="en-US" altLang="en-US" sz="16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</a:t>
            </a: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altLang="en-US" sz="16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four </a:t>
            </a: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of </a:t>
            </a:r>
            <a:b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0" i="1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16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Swiss Cheese Model!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6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 #1: Surmise Latent Causes at Sunrise Propane LI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824" y="3835275"/>
            <a:ext cx="5663576" cy="244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799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 </a:t>
            </a:r>
            <a:r>
              <a:rPr lang="en-US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#2: Align Case Details with Swiss Cheese Slices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180000" y="838200"/>
            <a:ext cx="8640000" cy="5334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facility: A loading operation to fill tanker rail-cars with a combustible fluid. 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r>
              <a:rPr lang="en-US" altLang="en-US" sz="18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loading operator routinely stood right next to the rail-car to shut off the flow of product when the rail-car was at the “full” mark. </a:t>
            </a:r>
            <a: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Slice #4) Work Practices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r>
              <a:rPr lang="en-US" altLang="en-US" sz="18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maintenance program to maintain and repair instrumentation did not </a:t>
            </a:r>
            <a:r>
              <a:rPr lang="en-US" altLang="en-US" sz="18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a standard to classify </a:t>
            </a:r>
            <a:r>
              <a:rPr lang="en-US" altLang="en-US" sz="18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“priority” repairs on critical level instrumentation.  </a:t>
            </a:r>
            <a: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Slice #1) RME #8 O&amp;M</a:t>
            </a:r>
            <a:endParaRPr lang="en-US" altLang="en-US" sz="18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r>
              <a:rPr lang="en-US" altLang="en-US" sz="18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was widely known that the level switch on the rail-car was in a defective state i.e. could not detect “full” condition. </a:t>
            </a:r>
            <a: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Slice #2 Engineering Controls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r>
              <a:rPr lang="en-US" altLang="en-US" sz="18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maintenance schedule prioritized repairs based on “critical” and pushed out the repair of the level switch. </a:t>
            </a:r>
            <a: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Slice #3) Administrative Controls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endParaRPr lang="en-US" altLang="en-US" sz="18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endParaRPr lang="en-US" altLang="en-US" sz="1800" i="1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endParaRPr lang="en-US" altLang="en-US" sz="18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endParaRPr lang="en-US" altLang="en-US" sz="1800" i="1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endParaRPr lang="en-US" altLang="en-US" sz="18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endParaRPr lang="en-US" altLang="en-US" sz="1800" i="1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+mj-lt"/>
              <a:buAutoNum type="alphaUcPeriod"/>
              <a:defRPr/>
            </a:pPr>
            <a:endParaRPr lang="en-US" altLang="en-US" sz="18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Bonus discussion point: </a:t>
            </a:r>
            <a:b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the worker is called away or interrupted </a:t>
            </a:r>
            <a:b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8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watching the rail-car filling up?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637402"/>
            <a:ext cx="3501000" cy="15256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429000"/>
            <a:ext cx="3691442" cy="147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937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8" name="Rectangle 5"/>
          <p:cNvSpPr txBox="1">
            <a:spLocks noChangeArrowheads="1"/>
          </p:cNvSpPr>
          <p:nvPr/>
        </p:nvSpPr>
        <p:spPr bwMode="auto">
          <a:xfrm>
            <a:off x="180000" y="838200"/>
            <a:ext cx="8633400" cy="533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Consider the two graphics below:</a:t>
            </a:r>
          </a:p>
          <a:p>
            <a:pPr marL="360000" lvl="0" indent="-36000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Both of which are at </a:t>
            </a:r>
            <a:r>
              <a:rPr lang="en-US" altLang="en-US" sz="1800" b="0" i="1" u="sng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same organization</a:t>
            </a:r>
            <a:r>
              <a:rPr lang="en-US" altLang="en-US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with exactly the same risk management </a:t>
            </a:r>
            <a:r>
              <a:rPr lang="en-US" altLang="en-US" sz="1800" b="0" i="1" u="sng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system and program</a:t>
            </a:r>
            <a:r>
              <a:rPr lang="en-US" altLang="en-US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 </a:t>
            </a:r>
          </a:p>
          <a:p>
            <a:pPr marL="360000" lvl="0" indent="-36000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difference being </a:t>
            </a:r>
            <a:r>
              <a:rPr kumimoji="0" lang="en-US" altLang="en-US" sz="1800" b="0" i="1" u="sng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two different workers</a:t>
            </a:r>
            <a: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… with </a:t>
            </a:r>
            <a:r>
              <a:rPr kumimoji="0" lang="en-US" altLang="en-US" sz="1800" b="0" i="1" u="sng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two different outcomes!</a:t>
            </a: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b="0" i="1" kern="0" baseline="0" dirty="0" smtClean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800" b="0" i="1" kern="0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 the left “successful outcome”, the worker:</a:t>
            </a:r>
          </a:p>
          <a:p>
            <a:pPr marL="360000" indent="-36000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800" b="0" i="1" kern="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Knows that the “system has failed” and </a:t>
            </a:r>
          </a:p>
          <a:p>
            <a:pPr marL="360000" indent="-36000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800" b="0" i="1" kern="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Takes specific actions to prevent something bad from happening. </a:t>
            </a: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b="0" i="1" kern="0" baseline="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800" b="0" i="1" kern="0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 the right “”loss incident”, the worker:</a:t>
            </a:r>
          </a:p>
          <a:p>
            <a:pPr marL="360000" lvl="0" indent="-36000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800" b="0" i="1" kern="0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</a:t>
            </a:r>
            <a:r>
              <a:rPr lang="en-US" altLang="en-US" sz="1800" b="0" i="1" kern="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not fully aware that the “system has failed” and </a:t>
            </a:r>
          </a:p>
          <a:p>
            <a:pPr marL="360000" lvl="0" indent="-36000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800" b="0" i="1" kern="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Does not know that they must take specific </a:t>
            </a:r>
            <a:r>
              <a:rPr lang="en-US" altLang="en-US" sz="1800" b="0" i="1" kern="0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action! </a:t>
            </a:r>
          </a:p>
          <a:p>
            <a:pPr marL="360000" lvl="0" indent="-36000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1800" b="0" i="1" kern="0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Has “only bad choices” </a:t>
            </a:r>
            <a:r>
              <a:rPr lang="en-US" altLang="en-US" sz="1800" b="0" i="1" u="sng" kern="0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because the RM S&amp;P are ineffective and have set up the worker for failure</a:t>
            </a:r>
            <a:r>
              <a:rPr lang="en-US" altLang="en-US" sz="1800" b="0" i="1" kern="0" dirty="0" smtClean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  <a:endParaRPr lang="en-US" altLang="en-US" sz="1800" b="0" i="1" kern="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endParaRPr kumimoji="0" lang="en-US" altLang="en-US" sz="16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 #3: “Only Bad Choices” and Setting Up for Failure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66" y="4193870"/>
            <a:ext cx="8583912" cy="20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047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Construct of the Swiss Cheese Model:</a:t>
            </a: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Depicts </a:t>
            </a: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Risk Management Program.</a:t>
            </a: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successive barriers of the Swiss </a:t>
            </a: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Cheese </a:t>
            </a: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 </a:t>
            </a: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loss incident (in </a:t>
            </a: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order of </a:t>
            </a: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effectiveness) are:</a:t>
            </a: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 </a:t>
            </a: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System,</a:t>
            </a:r>
            <a:endParaRPr lang="en-US" altLang="en-US" b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Engineering Control Measures,</a:t>
            </a: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Administrative Control Measures, </a:t>
            </a: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Practices.</a:t>
            </a:r>
          </a:p>
          <a:p>
            <a:pPr marL="432000" lvl="0" indent="-432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 are always linked to a relevant management system element.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Lesson:</a:t>
            </a:r>
            <a:endParaRPr lang="en-US" altLang="en-US" b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Swiss Cheese Model depicts how a latent cause can lead to weaknesses (holes) in other parts of the RM Program, and how these weaknesses can ultimately </a:t>
            </a: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 to a loss incident. </a:t>
            </a:r>
            <a:endParaRPr lang="en-US" altLang="en-US" b="0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“only have bad choices” when the RM system and program are not effectively implemented.</a:t>
            </a:r>
            <a:endParaRPr lang="en-US" altLang="en-US" b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of Chapter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4.4 and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4.4 The Swiss Cheese Model of a Loss Incident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3741467" cy="162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15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69369</TotalTime>
  <Words>1142</Words>
  <Application>Microsoft Office PowerPoint</Application>
  <PresentationFormat>On-screen Show (4:3)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Arial</vt:lpstr>
      <vt:lpstr>Calibri</vt:lpstr>
      <vt:lpstr>Tahoma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1962</cp:revision>
  <cp:lastPrinted>2018-12-17T22:21:47Z</cp:lastPrinted>
  <dcterms:created xsi:type="dcterms:W3CDTF">2007-03-28T16:18:47Z</dcterms:created>
  <dcterms:modified xsi:type="dcterms:W3CDTF">2021-09-22T16:28:40Z</dcterms:modified>
</cp:coreProperties>
</file>