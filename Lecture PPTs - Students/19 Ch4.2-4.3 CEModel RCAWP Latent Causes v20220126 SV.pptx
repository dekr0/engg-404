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 id="2147483653" r:id="rId4"/>
    <p:sldMasterId id="2147483658" r:id="rId5"/>
    <p:sldMasterId id="2147483663" r:id="rId6"/>
    <p:sldMasterId id="2147483668"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47" roundtripDataSignature="AMtx7mhGtcgiQ1Y3eSxm+1qGCPu0BCILi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20" Type="http://schemas.openxmlformats.org/officeDocument/2006/relationships/slide" Target="slides/slide12.xml"/><Relationship Id="rId42" Type="http://schemas.openxmlformats.org/officeDocument/2006/relationships/slide" Target="slides/slide34.xml"/><Relationship Id="rId41" Type="http://schemas.openxmlformats.org/officeDocument/2006/relationships/slide" Target="slides/slide33.xml"/><Relationship Id="rId22" Type="http://schemas.openxmlformats.org/officeDocument/2006/relationships/slide" Target="slides/slide14.xml"/><Relationship Id="rId44" Type="http://schemas.openxmlformats.org/officeDocument/2006/relationships/slide" Target="slides/slide36.xml"/><Relationship Id="rId21" Type="http://schemas.openxmlformats.org/officeDocument/2006/relationships/slide" Target="slides/slide13.xml"/><Relationship Id="rId43" Type="http://schemas.openxmlformats.org/officeDocument/2006/relationships/slide" Target="slides/slide35.xml"/><Relationship Id="rId24" Type="http://schemas.openxmlformats.org/officeDocument/2006/relationships/slide" Target="slides/slide16.xml"/><Relationship Id="rId46" Type="http://schemas.openxmlformats.org/officeDocument/2006/relationships/slide" Target="slides/slide38.xml"/><Relationship Id="rId23" Type="http://schemas.openxmlformats.org/officeDocument/2006/relationships/slide" Target="slides/slide15.xml"/><Relationship Id="rId45" Type="http://schemas.openxmlformats.org/officeDocument/2006/relationships/slide" Target="slides/slide3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1.xml"/><Relationship Id="rId26" Type="http://schemas.openxmlformats.org/officeDocument/2006/relationships/slide" Target="slides/slide18.xml"/><Relationship Id="rId25" Type="http://schemas.openxmlformats.org/officeDocument/2006/relationships/slide" Target="slides/slide17.xml"/><Relationship Id="rId47" Type="http://customschemas.google.com/relationships/presentationmetadata" Target="metadata"/><Relationship Id="rId28" Type="http://schemas.openxmlformats.org/officeDocument/2006/relationships/slide" Target="slides/slide20.xml"/><Relationship Id="rId27" Type="http://schemas.openxmlformats.org/officeDocument/2006/relationships/slide" Target="slides/slide19.xml"/><Relationship Id="rId5" Type="http://schemas.openxmlformats.org/officeDocument/2006/relationships/slideMaster" Target="slideMasters/slideMaster3.xml"/><Relationship Id="rId6" Type="http://schemas.openxmlformats.org/officeDocument/2006/relationships/slideMaster" Target="slideMasters/slideMaster4.xml"/><Relationship Id="rId29" Type="http://schemas.openxmlformats.org/officeDocument/2006/relationships/slide" Target="slides/slide21.xml"/><Relationship Id="rId7" Type="http://schemas.openxmlformats.org/officeDocument/2006/relationships/slideMaster" Target="slideMasters/slideMaster5.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11" Type="http://schemas.openxmlformats.org/officeDocument/2006/relationships/slide" Target="slides/slide3.xml"/><Relationship Id="rId33" Type="http://schemas.openxmlformats.org/officeDocument/2006/relationships/slide" Target="slides/slide25.xml"/><Relationship Id="rId10" Type="http://schemas.openxmlformats.org/officeDocument/2006/relationships/slide" Target="slides/slide2.xml"/><Relationship Id="rId32" Type="http://schemas.openxmlformats.org/officeDocument/2006/relationships/slide" Target="slides/slide24.xml"/><Relationship Id="rId13" Type="http://schemas.openxmlformats.org/officeDocument/2006/relationships/slide" Target="slides/slide5.xml"/><Relationship Id="rId35" Type="http://schemas.openxmlformats.org/officeDocument/2006/relationships/slide" Target="slides/slide27.xml"/><Relationship Id="rId12" Type="http://schemas.openxmlformats.org/officeDocument/2006/relationships/slide" Target="slides/slide4.xml"/><Relationship Id="rId34" Type="http://schemas.openxmlformats.org/officeDocument/2006/relationships/slide" Target="slides/slide26.xml"/><Relationship Id="rId15" Type="http://schemas.openxmlformats.org/officeDocument/2006/relationships/slide" Target="slides/slide7.xml"/><Relationship Id="rId37" Type="http://schemas.openxmlformats.org/officeDocument/2006/relationships/slide" Target="slides/slide29.xml"/><Relationship Id="rId14" Type="http://schemas.openxmlformats.org/officeDocument/2006/relationships/slide" Target="slides/slide6.xml"/><Relationship Id="rId36" Type="http://schemas.openxmlformats.org/officeDocument/2006/relationships/slide" Target="slides/slide28.xml"/><Relationship Id="rId17" Type="http://schemas.openxmlformats.org/officeDocument/2006/relationships/slide" Target="slides/slide9.xml"/><Relationship Id="rId39" Type="http://schemas.openxmlformats.org/officeDocument/2006/relationships/slide" Target="slides/slide31.xml"/><Relationship Id="rId16" Type="http://schemas.openxmlformats.org/officeDocument/2006/relationships/slide" Target="slides/slide8.xml"/><Relationship Id="rId38" Type="http://schemas.openxmlformats.org/officeDocument/2006/relationships/slide" Target="slides/slide30.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06" name="Google Shape;10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2: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29" name="Google Shape;129;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0" name="Google Shape;130;p2:notes"/>
          <p:cNvSpPr txBox="1"/>
          <p:nvPr>
            <p:ph idx="1" type="body"/>
          </p:nvPr>
        </p:nvSpPr>
        <p:spPr>
          <a:xfrm>
            <a:off x="934880" y="4415844"/>
            <a:ext cx="5140641" cy="418242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3: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38" name="Google Shape;138;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9" name="Google Shape;139;p3:notes"/>
          <p:cNvSpPr txBox="1"/>
          <p:nvPr>
            <p:ph idx="1" type="body"/>
          </p:nvPr>
        </p:nvSpPr>
        <p:spPr>
          <a:xfrm>
            <a:off x="934880" y="4415844"/>
            <a:ext cx="5140641" cy="418242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4: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47" name="Google Shape;147;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8" name="Google Shape;148;p4:notes"/>
          <p:cNvSpPr txBox="1"/>
          <p:nvPr>
            <p:ph idx="1" type="body"/>
          </p:nvPr>
        </p:nvSpPr>
        <p:spPr>
          <a:xfrm>
            <a:off x="934880" y="4415844"/>
            <a:ext cx="5140641" cy="418242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This is meant to drive class discussion</a:t>
            </a:r>
            <a:endParaRPr/>
          </a:p>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5: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58" name="Google Shape;158;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9" name="Google Shape;159;p5:notes"/>
          <p:cNvSpPr txBox="1"/>
          <p:nvPr>
            <p:ph idx="1" type="body"/>
          </p:nvPr>
        </p:nvSpPr>
        <p:spPr>
          <a:xfrm>
            <a:off x="934880" y="4415844"/>
            <a:ext cx="5140641" cy="418242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7: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83" name="Google Shape;183;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4" name="Google Shape;184;p7:notes"/>
          <p:cNvSpPr txBox="1"/>
          <p:nvPr>
            <p:ph idx="1" type="body"/>
          </p:nvPr>
        </p:nvSpPr>
        <p:spPr>
          <a:xfrm>
            <a:off x="934880" y="4415844"/>
            <a:ext cx="5140641" cy="418242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8: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08" name="Google Shape;208;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9" name="Google Shape;209;p8:notes"/>
          <p:cNvSpPr txBox="1"/>
          <p:nvPr>
            <p:ph idx="1" type="body"/>
          </p:nvPr>
        </p:nvSpPr>
        <p:spPr>
          <a:xfrm>
            <a:off x="934880" y="4415844"/>
            <a:ext cx="5140641" cy="418242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9: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40" name="Google Shape;240;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1" name="Google Shape;241;p9:notes"/>
          <p:cNvSpPr txBox="1"/>
          <p:nvPr>
            <p:ph idx="1" type="body"/>
          </p:nvPr>
        </p:nvSpPr>
        <p:spPr>
          <a:xfrm>
            <a:off x="934880" y="4415844"/>
            <a:ext cx="5140641" cy="418242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0: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65" name="Google Shape;265;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6" name="Google Shape;266;p10:notes"/>
          <p:cNvSpPr txBox="1"/>
          <p:nvPr>
            <p:ph idx="1" type="body"/>
          </p:nvPr>
        </p:nvSpPr>
        <p:spPr>
          <a:xfrm>
            <a:off x="934880" y="4415844"/>
            <a:ext cx="5140641" cy="418242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1: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90" name="Google Shape;290;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1" name="Google Shape;291;p11:notes"/>
          <p:cNvSpPr txBox="1"/>
          <p:nvPr>
            <p:ph idx="1" type="body"/>
          </p:nvPr>
        </p:nvSpPr>
        <p:spPr>
          <a:xfrm>
            <a:off x="934880" y="4415844"/>
            <a:ext cx="5140641" cy="418242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54: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318" name="Google Shape;318;p5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9" name="Google Shape;319;p54:notes"/>
          <p:cNvSpPr txBox="1"/>
          <p:nvPr>
            <p:ph idx="1" type="body"/>
          </p:nvPr>
        </p:nvSpPr>
        <p:spPr>
          <a:xfrm>
            <a:off x="934880" y="4415844"/>
            <a:ext cx="5140641" cy="418242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6: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349" name="Google Shape;349;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0" name="Google Shape;350;p6:notes"/>
          <p:cNvSpPr txBox="1"/>
          <p:nvPr>
            <p:ph idx="1" type="body"/>
          </p:nvPr>
        </p:nvSpPr>
        <p:spPr>
          <a:xfrm>
            <a:off x="934880" y="4415844"/>
            <a:ext cx="5140641" cy="4182424"/>
          </a:xfrm>
          <a:prstGeom prst="rect">
            <a:avLst/>
          </a:prstGeom>
          <a:noFill/>
          <a:ln>
            <a:noFill/>
          </a:ln>
        </p:spPr>
        <p:txBody>
          <a:bodyPr anchorCtr="0" anchor="t" bIns="45700" lIns="91425" spcFirstLastPara="1" rIns="91425" wrap="square" tIns="45700">
            <a:noAutofit/>
          </a:bodyPr>
          <a:lstStyle/>
          <a:p>
            <a:pPr indent="-228600" lvl="0" marL="45720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13: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396" name="Google Shape;396;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7" name="Google Shape;397;p13:notes"/>
          <p:cNvSpPr txBox="1"/>
          <p:nvPr>
            <p:ph idx="1" type="body"/>
          </p:nvPr>
        </p:nvSpPr>
        <p:spPr>
          <a:xfrm>
            <a:off x="934880" y="4415844"/>
            <a:ext cx="5140641" cy="418242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14: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410" name="Google Shape;410;p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1" name="Google Shape;411;p14:notes"/>
          <p:cNvSpPr txBox="1"/>
          <p:nvPr>
            <p:ph idx="1" type="body"/>
          </p:nvPr>
        </p:nvSpPr>
        <p:spPr>
          <a:xfrm>
            <a:off x="934880" y="4415844"/>
            <a:ext cx="5140641" cy="418242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15: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419" name="Google Shape;419;p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0" name="Google Shape;420;p15:notes"/>
          <p:cNvSpPr txBox="1"/>
          <p:nvPr>
            <p:ph idx="1" type="body"/>
          </p:nvPr>
        </p:nvSpPr>
        <p:spPr>
          <a:xfrm>
            <a:off x="934880" y="4415844"/>
            <a:ext cx="5140641" cy="418242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16: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429" name="Google Shape;429;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0" name="Google Shape;430;p16:notes"/>
          <p:cNvSpPr txBox="1"/>
          <p:nvPr>
            <p:ph idx="1" type="body"/>
          </p:nvPr>
        </p:nvSpPr>
        <p:spPr>
          <a:xfrm>
            <a:off x="934880" y="4415844"/>
            <a:ext cx="5140641" cy="418242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7: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441" name="Google Shape;441;p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2" name="Google Shape;442;p17:notes"/>
          <p:cNvSpPr txBox="1"/>
          <p:nvPr>
            <p:ph idx="1" type="body"/>
          </p:nvPr>
        </p:nvSpPr>
        <p:spPr>
          <a:xfrm>
            <a:off x="934880" y="4415844"/>
            <a:ext cx="5140641" cy="418242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60: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454" name="Google Shape;454;p6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5" name="Google Shape;455;p60:notes"/>
          <p:cNvSpPr txBox="1"/>
          <p:nvPr>
            <p:ph idx="1" type="body"/>
          </p:nvPr>
        </p:nvSpPr>
        <p:spPr>
          <a:xfrm>
            <a:off x="934880" y="4415844"/>
            <a:ext cx="5140641" cy="4182424"/>
          </a:xfrm>
          <a:prstGeom prst="rect">
            <a:avLst/>
          </a:prstGeom>
          <a:noFill/>
          <a:ln>
            <a:noFill/>
          </a:ln>
        </p:spPr>
        <p:txBody>
          <a:bodyPr anchorCtr="0" anchor="t" bIns="45700" lIns="91425" spcFirstLastPara="1" rIns="91425" wrap="square" tIns="45700">
            <a:noAutofit/>
          </a:bodyPr>
          <a:lstStyle/>
          <a:p>
            <a:pPr indent="-228600" lvl="0" marL="45720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19: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498" name="Google Shape;498;p1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9" name="Google Shape;499;p19:notes"/>
          <p:cNvSpPr txBox="1"/>
          <p:nvPr>
            <p:ph idx="1" type="body"/>
          </p:nvPr>
        </p:nvSpPr>
        <p:spPr>
          <a:xfrm>
            <a:off x="934880" y="4415844"/>
            <a:ext cx="5140641" cy="418242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20: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524" name="Google Shape;524;p2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5" name="Google Shape;525;p20:notes"/>
          <p:cNvSpPr txBox="1"/>
          <p:nvPr>
            <p:ph idx="1" type="body"/>
          </p:nvPr>
        </p:nvSpPr>
        <p:spPr>
          <a:xfrm>
            <a:off x="934880" y="4415844"/>
            <a:ext cx="5140641" cy="418242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21: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552" name="Google Shape;552;p2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3" name="Google Shape;553;p21:notes"/>
          <p:cNvSpPr txBox="1"/>
          <p:nvPr>
            <p:ph idx="1" type="body"/>
          </p:nvPr>
        </p:nvSpPr>
        <p:spPr>
          <a:xfrm>
            <a:off x="934880" y="4415844"/>
            <a:ext cx="5140641" cy="418242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22: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568" name="Google Shape;568;p2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9" name="Google Shape;569;p22:notes"/>
          <p:cNvSpPr txBox="1"/>
          <p:nvPr>
            <p:ph idx="1" type="body"/>
          </p:nvPr>
        </p:nvSpPr>
        <p:spPr>
          <a:xfrm>
            <a:off x="934880" y="4415844"/>
            <a:ext cx="5140641" cy="418242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23: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582" name="Google Shape;582;p2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3" name="Google Shape;583;p23:notes"/>
          <p:cNvSpPr txBox="1"/>
          <p:nvPr>
            <p:ph idx="1" type="body"/>
          </p:nvPr>
        </p:nvSpPr>
        <p:spPr>
          <a:xfrm>
            <a:off x="934880" y="4415844"/>
            <a:ext cx="5140641" cy="418242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24: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595" name="Google Shape;595;p2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6" name="Google Shape;596;p24:notes"/>
          <p:cNvSpPr txBox="1"/>
          <p:nvPr>
            <p:ph idx="1" type="body"/>
          </p:nvPr>
        </p:nvSpPr>
        <p:spPr>
          <a:xfrm>
            <a:off x="934880" y="4415844"/>
            <a:ext cx="5140641" cy="418242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25: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606" name="Google Shape;606;p2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7" name="Google Shape;607;p25:notes"/>
          <p:cNvSpPr txBox="1"/>
          <p:nvPr>
            <p:ph idx="1" type="body"/>
          </p:nvPr>
        </p:nvSpPr>
        <p:spPr>
          <a:xfrm>
            <a:off x="934880" y="4415844"/>
            <a:ext cx="5140641" cy="418242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26:notes"/>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ENGG406 2015W</a:t>
            </a:r>
            <a:endParaRPr/>
          </a:p>
        </p:txBody>
      </p:sp>
      <p:sp>
        <p:nvSpPr>
          <p:cNvPr id="621" name="Google Shape;621;p26:notes"/>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3-March-2015</a:t>
            </a:r>
            <a:endParaRPr/>
          </a:p>
        </p:txBody>
      </p:sp>
      <p:sp>
        <p:nvSpPr>
          <p:cNvPr id="622" name="Google Shape;622;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623" name="Google Shape;623;p26:notes"/>
          <p:cNvSpPr txBox="1"/>
          <p:nvPr/>
        </p:nvSpPr>
        <p:spPr>
          <a:xfrm>
            <a:off x="3974250" y="8831898"/>
            <a:ext cx="3036150" cy="464503"/>
          </a:xfrm>
          <a:prstGeom prst="rect">
            <a:avLst/>
          </a:prstGeom>
          <a:noFill/>
          <a:ln>
            <a:noFill/>
          </a:ln>
        </p:spPr>
        <p:txBody>
          <a:bodyPr anchorCtr="0" anchor="b" bIns="46550" lIns="93100" spcFirstLastPara="1" rIns="93100" wrap="square" tIns="465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cap="none" strike="noStrike">
                <a:solidFill>
                  <a:srgbClr val="000000"/>
                </a:solidFill>
                <a:latin typeface="Times New Roman"/>
                <a:ea typeface="Times New Roman"/>
                <a:cs typeface="Times New Roman"/>
                <a:sym typeface="Times New Roman"/>
              </a:rPr>
              <a:t>‹#›</a:t>
            </a:fld>
            <a:endParaRPr b="1" i="0" sz="1200" u="none" cap="none" strike="noStrike">
              <a:solidFill>
                <a:srgbClr val="000000"/>
              </a:solidFill>
              <a:latin typeface="Times New Roman"/>
              <a:ea typeface="Times New Roman"/>
              <a:cs typeface="Times New Roman"/>
              <a:sym typeface="Times New Roman"/>
            </a:endParaRPr>
          </a:p>
        </p:txBody>
      </p:sp>
      <p:sp>
        <p:nvSpPr>
          <p:cNvPr id="624" name="Google Shape;624;p26:notes"/>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5" name="Google Shape;625;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27: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636" name="Google Shape;636;p2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7" name="Google Shape;637;p27:notes"/>
          <p:cNvSpPr txBox="1"/>
          <p:nvPr>
            <p:ph idx="1" type="body"/>
          </p:nvPr>
        </p:nvSpPr>
        <p:spPr>
          <a:xfrm>
            <a:off x="934880" y="4415844"/>
            <a:ext cx="5140641" cy="418242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28: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676" name="Google Shape;676;p2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7" name="Google Shape;677;p28:notes"/>
          <p:cNvSpPr txBox="1"/>
          <p:nvPr>
            <p:ph idx="1" type="body"/>
          </p:nvPr>
        </p:nvSpPr>
        <p:spPr>
          <a:xfrm>
            <a:off x="934880" y="4415844"/>
            <a:ext cx="5140641" cy="418242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p29: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699" name="Google Shape;699;p2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0" name="Google Shape;700;p29:notes"/>
          <p:cNvSpPr txBox="1"/>
          <p:nvPr>
            <p:ph idx="1" type="body"/>
          </p:nvPr>
        </p:nvSpPr>
        <p:spPr>
          <a:xfrm>
            <a:off x="934880" y="4415844"/>
            <a:ext cx="5140641" cy="418242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p30:notes"/>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ENGG406 2015W</a:t>
            </a:r>
            <a:endParaRPr/>
          </a:p>
        </p:txBody>
      </p:sp>
      <p:sp>
        <p:nvSpPr>
          <p:cNvPr id="741" name="Google Shape;741;p30:notes"/>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3-March-2015</a:t>
            </a:r>
            <a:endParaRPr/>
          </a:p>
        </p:txBody>
      </p:sp>
      <p:sp>
        <p:nvSpPr>
          <p:cNvPr id="742" name="Google Shape;742;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743" name="Google Shape;743;p30:notes"/>
          <p:cNvSpPr txBox="1"/>
          <p:nvPr/>
        </p:nvSpPr>
        <p:spPr>
          <a:xfrm>
            <a:off x="3974250" y="8831898"/>
            <a:ext cx="3036150" cy="464503"/>
          </a:xfrm>
          <a:prstGeom prst="rect">
            <a:avLst/>
          </a:prstGeom>
          <a:noFill/>
          <a:ln>
            <a:noFill/>
          </a:ln>
        </p:spPr>
        <p:txBody>
          <a:bodyPr anchorCtr="0" anchor="b" bIns="46550" lIns="93100" spcFirstLastPara="1" rIns="93100" wrap="square" tIns="465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cap="none" strike="noStrike">
                <a:solidFill>
                  <a:srgbClr val="000000"/>
                </a:solidFill>
                <a:latin typeface="Times New Roman"/>
                <a:ea typeface="Times New Roman"/>
                <a:cs typeface="Times New Roman"/>
                <a:sym typeface="Times New Roman"/>
              </a:rPr>
              <a:t>‹#›</a:t>
            </a:fld>
            <a:endParaRPr b="1" i="0" sz="1200" u="none" cap="none" strike="noStrike">
              <a:solidFill>
                <a:srgbClr val="000000"/>
              </a:solidFill>
              <a:latin typeface="Times New Roman"/>
              <a:ea typeface="Times New Roman"/>
              <a:cs typeface="Times New Roman"/>
              <a:sym typeface="Times New Roman"/>
            </a:endParaRPr>
          </a:p>
        </p:txBody>
      </p:sp>
      <p:sp>
        <p:nvSpPr>
          <p:cNvPr id="744" name="Google Shape;744;p30:notes"/>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5" name="Google Shape;745;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p31:notes"/>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ENGG406 2015W</a:t>
            </a:r>
            <a:endParaRPr/>
          </a:p>
        </p:txBody>
      </p:sp>
      <p:sp>
        <p:nvSpPr>
          <p:cNvPr id="753" name="Google Shape;753;p31:notes"/>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3-March-2015</a:t>
            </a:r>
            <a:endParaRPr/>
          </a:p>
        </p:txBody>
      </p:sp>
      <p:sp>
        <p:nvSpPr>
          <p:cNvPr id="754" name="Google Shape;754;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755" name="Google Shape;755;p31:notes"/>
          <p:cNvSpPr txBox="1"/>
          <p:nvPr/>
        </p:nvSpPr>
        <p:spPr>
          <a:xfrm>
            <a:off x="3974250" y="8831898"/>
            <a:ext cx="3036150" cy="464503"/>
          </a:xfrm>
          <a:prstGeom prst="rect">
            <a:avLst/>
          </a:prstGeom>
          <a:noFill/>
          <a:ln>
            <a:noFill/>
          </a:ln>
        </p:spPr>
        <p:txBody>
          <a:bodyPr anchorCtr="0" anchor="b" bIns="46550" lIns="93100" spcFirstLastPara="1" rIns="93100" wrap="square" tIns="465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cap="none" strike="noStrike">
                <a:solidFill>
                  <a:srgbClr val="000000"/>
                </a:solidFill>
                <a:latin typeface="Times New Roman"/>
                <a:ea typeface="Times New Roman"/>
                <a:cs typeface="Times New Roman"/>
                <a:sym typeface="Times New Roman"/>
              </a:rPr>
              <a:t>‹#›</a:t>
            </a:fld>
            <a:endParaRPr b="1" i="0" sz="1200" u="none" cap="none" strike="noStrike">
              <a:solidFill>
                <a:srgbClr val="000000"/>
              </a:solidFill>
              <a:latin typeface="Times New Roman"/>
              <a:ea typeface="Times New Roman"/>
              <a:cs typeface="Times New Roman"/>
              <a:sym typeface="Times New Roman"/>
            </a:endParaRPr>
          </a:p>
        </p:txBody>
      </p:sp>
      <p:sp>
        <p:nvSpPr>
          <p:cNvPr id="756" name="Google Shape;756;p31:notes"/>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7" name="Google Shape;757;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p32:notes"/>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ENGG406 2015W</a:t>
            </a:r>
            <a:endParaRPr/>
          </a:p>
        </p:txBody>
      </p:sp>
      <p:sp>
        <p:nvSpPr>
          <p:cNvPr id="769" name="Google Shape;769;p32:notes"/>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3-March-2015</a:t>
            </a:r>
            <a:endParaRPr/>
          </a:p>
        </p:txBody>
      </p:sp>
      <p:sp>
        <p:nvSpPr>
          <p:cNvPr id="770" name="Google Shape;770;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771" name="Google Shape;771;p32:notes"/>
          <p:cNvSpPr txBox="1"/>
          <p:nvPr/>
        </p:nvSpPr>
        <p:spPr>
          <a:xfrm>
            <a:off x="3974250" y="8831898"/>
            <a:ext cx="3036150" cy="464503"/>
          </a:xfrm>
          <a:prstGeom prst="rect">
            <a:avLst/>
          </a:prstGeom>
          <a:noFill/>
          <a:ln>
            <a:noFill/>
          </a:ln>
        </p:spPr>
        <p:txBody>
          <a:bodyPr anchorCtr="0" anchor="b" bIns="46550" lIns="93100" spcFirstLastPara="1" rIns="93100" wrap="square" tIns="465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cap="none" strike="noStrike">
                <a:solidFill>
                  <a:srgbClr val="000000"/>
                </a:solidFill>
                <a:latin typeface="Times New Roman"/>
                <a:ea typeface="Times New Roman"/>
                <a:cs typeface="Times New Roman"/>
                <a:sym typeface="Times New Roman"/>
              </a:rPr>
              <a:t>‹#›</a:t>
            </a:fld>
            <a:endParaRPr b="1" i="0" sz="1200" u="none" cap="none" strike="noStrike">
              <a:solidFill>
                <a:srgbClr val="000000"/>
              </a:solidFill>
              <a:latin typeface="Times New Roman"/>
              <a:ea typeface="Times New Roman"/>
              <a:cs typeface="Times New Roman"/>
              <a:sym typeface="Times New Roman"/>
            </a:endParaRPr>
          </a:p>
        </p:txBody>
      </p:sp>
      <p:sp>
        <p:nvSpPr>
          <p:cNvPr id="772" name="Google Shape;772;p32:notes"/>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3" name="Google Shape;773;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Consider these two versions of a latent cause statement:</a:t>
            </a:r>
            <a:endParaRPr/>
          </a:p>
          <a:p>
            <a:pPr indent="0" lvl="0" marL="0" rtl="0" algn="l">
              <a:lnSpc>
                <a:spcPct val="100000"/>
              </a:lnSpc>
              <a:spcBef>
                <a:spcPts val="0"/>
              </a:spcBef>
              <a:spcAft>
                <a:spcPts val="0"/>
              </a:spcAft>
              <a:buSzPts val="1400"/>
              <a:buNone/>
            </a:pPr>
            <a:r>
              <a:rPr lang="en-US"/>
              <a:t>"LC4-S: The design program was inadequate with regards to managing and accessing the most current hydraulic standards. #7 DC&amp;SU" is an inferior example of a latent cause statement because it is somewhat vague in terms of a category of this LC.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An improvement on that LC statement is: "LC4-S: The design program did not include a standard to describe how to manage and access the most current hydraulic standards. #7 DC&amp;SU"</a:t>
            </a:r>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p33:notes"/>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ENGG406 2015W</a:t>
            </a:r>
            <a:endParaRPr/>
          </a:p>
        </p:txBody>
      </p:sp>
      <p:sp>
        <p:nvSpPr>
          <p:cNvPr id="781" name="Google Shape;781;p33:notes"/>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3-March-2015</a:t>
            </a:r>
            <a:endParaRPr/>
          </a:p>
        </p:txBody>
      </p:sp>
      <p:sp>
        <p:nvSpPr>
          <p:cNvPr id="782" name="Google Shape;782;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783" name="Google Shape;783;p33:notes"/>
          <p:cNvSpPr txBox="1"/>
          <p:nvPr/>
        </p:nvSpPr>
        <p:spPr>
          <a:xfrm>
            <a:off x="3974250" y="8831898"/>
            <a:ext cx="3036150" cy="464503"/>
          </a:xfrm>
          <a:prstGeom prst="rect">
            <a:avLst/>
          </a:prstGeom>
          <a:noFill/>
          <a:ln>
            <a:noFill/>
          </a:ln>
        </p:spPr>
        <p:txBody>
          <a:bodyPr anchorCtr="0" anchor="b" bIns="46550" lIns="93100" spcFirstLastPara="1" rIns="93100" wrap="square" tIns="465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cap="none" strike="noStrike">
                <a:solidFill>
                  <a:srgbClr val="000000"/>
                </a:solidFill>
                <a:latin typeface="Times New Roman"/>
                <a:ea typeface="Times New Roman"/>
                <a:cs typeface="Times New Roman"/>
                <a:sym typeface="Times New Roman"/>
              </a:rPr>
              <a:t>‹#›</a:t>
            </a:fld>
            <a:endParaRPr b="1" i="0" sz="1200" u="none" cap="none" strike="noStrike">
              <a:solidFill>
                <a:srgbClr val="000000"/>
              </a:solidFill>
              <a:latin typeface="Times New Roman"/>
              <a:ea typeface="Times New Roman"/>
              <a:cs typeface="Times New Roman"/>
              <a:sym typeface="Times New Roman"/>
            </a:endParaRPr>
          </a:p>
        </p:txBody>
      </p:sp>
      <p:sp>
        <p:nvSpPr>
          <p:cNvPr id="784" name="Google Shape;784;p33:notes"/>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5" name="Google Shape;785;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p34:notes"/>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ENGG406 2015W</a:t>
            </a:r>
            <a:endParaRPr/>
          </a:p>
        </p:txBody>
      </p:sp>
      <p:sp>
        <p:nvSpPr>
          <p:cNvPr id="793" name="Google Shape;793;p34:notes"/>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3-March-2015</a:t>
            </a:r>
            <a:endParaRPr/>
          </a:p>
        </p:txBody>
      </p:sp>
      <p:sp>
        <p:nvSpPr>
          <p:cNvPr id="794" name="Google Shape;794;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795" name="Google Shape;795;p34:notes"/>
          <p:cNvSpPr txBox="1"/>
          <p:nvPr/>
        </p:nvSpPr>
        <p:spPr>
          <a:xfrm>
            <a:off x="3974250" y="8831898"/>
            <a:ext cx="3036150" cy="464503"/>
          </a:xfrm>
          <a:prstGeom prst="rect">
            <a:avLst/>
          </a:prstGeom>
          <a:noFill/>
          <a:ln>
            <a:noFill/>
          </a:ln>
        </p:spPr>
        <p:txBody>
          <a:bodyPr anchorCtr="0" anchor="b" bIns="46550" lIns="93100" spcFirstLastPara="1" rIns="93100" wrap="square" tIns="465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cap="none" strike="noStrike">
                <a:solidFill>
                  <a:srgbClr val="000000"/>
                </a:solidFill>
                <a:latin typeface="Times New Roman"/>
                <a:ea typeface="Times New Roman"/>
                <a:cs typeface="Times New Roman"/>
                <a:sym typeface="Times New Roman"/>
              </a:rPr>
              <a:t>‹#›</a:t>
            </a:fld>
            <a:endParaRPr b="1" i="0" sz="1200" u="none" cap="none" strike="noStrike">
              <a:solidFill>
                <a:srgbClr val="000000"/>
              </a:solidFill>
              <a:latin typeface="Times New Roman"/>
              <a:ea typeface="Times New Roman"/>
              <a:cs typeface="Times New Roman"/>
              <a:sym typeface="Times New Roman"/>
            </a:endParaRPr>
          </a:p>
        </p:txBody>
      </p:sp>
      <p:sp>
        <p:nvSpPr>
          <p:cNvPr id="796" name="Google Shape;796;p34:notes"/>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7" name="Google Shape;797;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p35: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805" name="Google Shape;805;p3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6" name="Google Shape;806;p35:notes"/>
          <p:cNvSpPr txBox="1"/>
          <p:nvPr>
            <p:ph idx="1" type="body"/>
          </p:nvPr>
        </p:nvSpPr>
        <p:spPr>
          <a:xfrm>
            <a:off x="934880" y="4415844"/>
            <a:ext cx="5140641" cy="418242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p36: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814" name="Google Shape;814;p3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5" name="Google Shape;815;p36:notes"/>
          <p:cNvSpPr txBox="1"/>
          <p:nvPr>
            <p:ph idx="1" type="body"/>
          </p:nvPr>
        </p:nvSpPr>
        <p:spPr>
          <a:xfrm>
            <a:off x="934880" y="4415844"/>
            <a:ext cx="5140641" cy="418242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p37: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824" name="Google Shape;824;p3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5" name="Google Shape;825;p37:notes"/>
          <p:cNvSpPr txBox="1"/>
          <p:nvPr>
            <p:ph idx="1" type="body"/>
          </p:nvPr>
        </p:nvSpPr>
        <p:spPr>
          <a:xfrm>
            <a:off x="934880" y="4415844"/>
            <a:ext cx="5140641" cy="418242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p38: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833" name="Google Shape;833;p3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4" name="Google Shape;834;p38:notes"/>
          <p:cNvSpPr txBox="1"/>
          <p:nvPr>
            <p:ph idx="1" type="body"/>
          </p:nvPr>
        </p:nvSpPr>
        <p:spPr>
          <a:xfrm>
            <a:off x="934880" y="4415844"/>
            <a:ext cx="5140641" cy="418242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 name="Shape 14"/>
        <p:cNvGrpSpPr/>
        <p:nvPr/>
      </p:nvGrpSpPr>
      <p:grpSpPr>
        <a:xfrm>
          <a:off x="0" y="0"/>
          <a:ext cx="0" cy="0"/>
          <a:chOff x="0" y="0"/>
          <a:chExt cx="0" cy="0"/>
        </a:xfrm>
      </p:grpSpPr>
      <p:sp>
        <p:nvSpPr>
          <p:cNvPr id="15" name="Google Shape;15;p40"/>
          <p:cNvSpPr txBox="1"/>
          <p:nvPr>
            <p:ph type="ctrTitle"/>
          </p:nvPr>
        </p:nvSpPr>
        <p:spPr>
          <a:xfrm>
            <a:off x="685800" y="1905000"/>
            <a:ext cx="7772400" cy="14700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720"/>
              </a:spcBef>
              <a:spcAft>
                <a:spcPts val="0"/>
              </a:spcAft>
              <a:buSzPts val="1400"/>
              <a:buNone/>
              <a:defRPr sz="3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 name="Google Shape;16;p40"/>
          <p:cNvSpPr txBox="1"/>
          <p:nvPr>
            <p:ph idx="1" type="subTitle"/>
          </p:nvPr>
        </p:nvSpPr>
        <p:spPr>
          <a:xfrm>
            <a:off x="1371600" y="4114800"/>
            <a:ext cx="6400800" cy="17526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560"/>
              </a:spcBef>
              <a:spcAft>
                <a:spcPts val="0"/>
              </a:spcAft>
              <a:buClr>
                <a:srgbClr val="AA9C8F"/>
              </a:buClr>
              <a:buSzPts val="2800"/>
              <a:buFont typeface="Noto Sans Symbols"/>
              <a:buNone/>
              <a:defRPr b="0" i="0" sz="2800" u="none" cap="none" strike="noStrike">
                <a:solidFill>
                  <a:srgbClr val="4D4D4D"/>
                </a:solidFill>
                <a:latin typeface="Calibri"/>
                <a:ea typeface="Calibri"/>
                <a:cs typeface="Calibri"/>
                <a:sym typeface="Calibri"/>
              </a:defRPr>
            </a:lvl1pPr>
            <a:lvl2pPr lvl="1" marR="0" rtl="0" algn="l">
              <a:lnSpc>
                <a:spcPct val="100000"/>
              </a:lnSpc>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lvl="2" marR="0" rtl="0" algn="l">
              <a:lnSpc>
                <a:spcPct val="100000"/>
              </a:lnSpc>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lvl="3"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lvl="4"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lvl="5"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lvl="6"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lvl="7"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lvl="8"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p43"/>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9" name="Google Shape;19;p43"/>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0" name="Google Shape;20;p43"/>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6"/>
          <p:cNvSpPr txBox="1"/>
          <p:nvPr>
            <p:ph type="title"/>
          </p:nvPr>
        </p:nvSpPr>
        <p:spPr>
          <a:xfrm>
            <a:off x="685800" y="168275"/>
            <a:ext cx="8153400" cy="56356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3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 name="Google Shape;23;p46"/>
          <p:cNvSpPr txBox="1"/>
          <p:nvPr>
            <p:ph idx="1" type="body"/>
          </p:nvPr>
        </p:nvSpPr>
        <p:spPr>
          <a:xfrm>
            <a:off x="663389" y="1120588"/>
            <a:ext cx="8153400" cy="5105400"/>
          </a:xfrm>
          <a:prstGeom prst="rect">
            <a:avLst/>
          </a:prstGeom>
          <a:noFill/>
          <a:ln>
            <a:noFill/>
          </a:ln>
        </p:spPr>
        <p:txBody>
          <a:bodyPr anchorCtr="0" anchor="t" bIns="45700" lIns="91425" spcFirstLastPara="1" rIns="91425" wrap="square" tIns="45700">
            <a:noAutofit/>
          </a:bodyPr>
          <a:lstStyle>
            <a:lvl1pPr indent="-381000" lvl="0" marL="457200" marR="0" rtl="0" algn="l">
              <a:lnSpc>
                <a:spcPct val="100000"/>
              </a:lnSpc>
              <a:spcBef>
                <a:spcPts val="480"/>
              </a:spcBef>
              <a:spcAft>
                <a:spcPts val="0"/>
              </a:spcAft>
              <a:buClr>
                <a:schemeClr val="dk1"/>
              </a:buClr>
              <a:buSzPts val="2400"/>
              <a:buFont typeface="Noto Sans Symbols"/>
              <a:buChar char="▪"/>
              <a:defRPr b="0" i="0" sz="2400" u="none" cap="none" strike="noStrike">
                <a:solidFill>
                  <a:schemeClr val="dk1"/>
                </a:solidFill>
                <a:latin typeface="Calibri"/>
                <a:ea typeface="Calibri"/>
                <a:cs typeface="Calibri"/>
                <a:sym typeface="Calibri"/>
              </a:defRPr>
            </a:lvl1pPr>
            <a:lvl2pPr indent="-368300" lvl="1" marL="914400" marR="0" rtl="0" algn="l">
              <a:lnSpc>
                <a:spcPct val="100000"/>
              </a:lnSpc>
              <a:spcBef>
                <a:spcPts val="440"/>
              </a:spcBef>
              <a:spcAft>
                <a:spcPts val="0"/>
              </a:spcAft>
              <a:buClr>
                <a:schemeClr val="dk1"/>
              </a:buClr>
              <a:buSzPts val="2200"/>
              <a:buFont typeface="Arial"/>
              <a:buChar char="•"/>
              <a:defRPr b="0" i="0" sz="2200" u="none" cap="none" strike="noStrike">
                <a:solidFill>
                  <a:schemeClr val="dk1"/>
                </a:solidFill>
                <a:latin typeface="Calibri"/>
                <a:ea typeface="Calibri"/>
                <a:cs typeface="Calibri"/>
                <a:sym typeface="Calibri"/>
              </a:defRPr>
            </a:lvl2pPr>
            <a:lvl3pPr indent="-355600" lvl="2" marL="1371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24" name="Shape 24"/>
        <p:cNvGrpSpPr/>
        <p:nvPr/>
      </p:nvGrpSpPr>
      <p:grpSpPr>
        <a:xfrm>
          <a:off x="0" y="0"/>
          <a:ext cx="0" cy="0"/>
          <a:chOff x="0" y="0"/>
          <a:chExt cx="0" cy="0"/>
        </a:xfrm>
      </p:grpSpPr>
      <p:sp>
        <p:nvSpPr>
          <p:cNvPr id="25" name="Google Shape;25;p47"/>
          <p:cNvSpPr txBox="1"/>
          <p:nvPr>
            <p:ph type="title"/>
          </p:nvPr>
        </p:nvSpPr>
        <p:spPr>
          <a:xfrm>
            <a:off x="577850" y="168275"/>
            <a:ext cx="8229600" cy="56356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6" name="Google Shape;26;p47"/>
          <p:cNvSpPr txBox="1"/>
          <p:nvPr>
            <p:ph idx="1" type="body"/>
          </p:nvPr>
        </p:nvSpPr>
        <p:spPr>
          <a:xfrm>
            <a:off x="577850" y="758825"/>
            <a:ext cx="4038600" cy="5718175"/>
          </a:xfrm>
          <a:prstGeom prst="rect">
            <a:avLst/>
          </a:prstGeom>
          <a:noFill/>
          <a:ln>
            <a:noFill/>
          </a:ln>
        </p:spPr>
        <p:txBody>
          <a:bodyPr anchorCtr="0" anchor="t" bIns="45700" lIns="91425" spcFirstLastPara="1" rIns="91425" wrap="square" tIns="45700">
            <a:noAutofit/>
          </a:bodyPr>
          <a:lstStyle>
            <a:lvl1pPr indent="-406400" lvl="0" marL="457200" marR="0" rtl="0" algn="l">
              <a:lnSpc>
                <a:spcPct val="100000"/>
              </a:lnSpc>
              <a:spcBef>
                <a:spcPts val="560"/>
              </a:spcBef>
              <a:spcAft>
                <a:spcPts val="0"/>
              </a:spcAft>
              <a:buClr>
                <a:srgbClr val="AA9C8F"/>
              </a:buClr>
              <a:buSzPts val="2800"/>
              <a:buFont typeface="Noto Sans Symbols"/>
              <a:buChar char="▪"/>
              <a:defRPr b="0" i="0" sz="2800" u="none" cap="none" strike="noStrike">
                <a:solidFill>
                  <a:srgbClr val="4D4D4D"/>
                </a:solidFill>
                <a:latin typeface="Calibri"/>
                <a:ea typeface="Calibri"/>
                <a:cs typeface="Calibri"/>
                <a:sym typeface="Calibri"/>
              </a:defRPr>
            </a:lvl1pPr>
            <a:lvl2pPr indent="-393700" lvl="1" marL="914400" marR="0" rtl="0" algn="l">
              <a:lnSpc>
                <a:spcPct val="100000"/>
              </a:lnSpc>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
        <p:nvSpPr>
          <p:cNvPr id="27" name="Google Shape;27;p47"/>
          <p:cNvSpPr txBox="1"/>
          <p:nvPr>
            <p:ph idx="2" type="body"/>
          </p:nvPr>
        </p:nvSpPr>
        <p:spPr>
          <a:xfrm>
            <a:off x="4768850" y="758825"/>
            <a:ext cx="4038600" cy="5718175"/>
          </a:xfrm>
          <a:prstGeom prst="rect">
            <a:avLst/>
          </a:prstGeom>
          <a:noFill/>
          <a:ln>
            <a:noFill/>
          </a:ln>
        </p:spPr>
        <p:txBody>
          <a:bodyPr anchorCtr="0" anchor="t" bIns="45700" lIns="91425" spcFirstLastPara="1" rIns="91425" wrap="square" tIns="45700">
            <a:noAutofit/>
          </a:bodyPr>
          <a:lstStyle>
            <a:lvl1pPr indent="-406400" lvl="0" marL="457200" marR="0" rtl="0" algn="l">
              <a:lnSpc>
                <a:spcPct val="100000"/>
              </a:lnSpc>
              <a:spcBef>
                <a:spcPts val="560"/>
              </a:spcBef>
              <a:spcAft>
                <a:spcPts val="0"/>
              </a:spcAft>
              <a:buClr>
                <a:srgbClr val="AA9C8F"/>
              </a:buClr>
              <a:buSzPts val="2800"/>
              <a:buFont typeface="Noto Sans Symbols"/>
              <a:buChar char="▪"/>
              <a:defRPr b="0" i="0" sz="2800" u="none" cap="none" strike="noStrike">
                <a:solidFill>
                  <a:srgbClr val="4D4D4D"/>
                </a:solidFill>
                <a:latin typeface="Calibri"/>
                <a:ea typeface="Calibri"/>
                <a:cs typeface="Calibri"/>
                <a:sym typeface="Calibri"/>
              </a:defRPr>
            </a:lvl1pPr>
            <a:lvl2pPr indent="-393700" lvl="1" marL="914400" marR="0" rtl="0" algn="l">
              <a:lnSpc>
                <a:spcPct val="100000"/>
              </a:lnSpc>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3" name="Shape 33"/>
        <p:cNvGrpSpPr/>
        <p:nvPr/>
      </p:nvGrpSpPr>
      <p:grpSpPr>
        <a:xfrm>
          <a:off x="0" y="0"/>
          <a:ext cx="0" cy="0"/>
          <a:chOff x="0" y="0"/>
          <a:chExt cx="0" cy="0"/>
        </a:xfrm>
      </p:grpSpPr>
      <p:sp>
        <p:nvSpPr>
          <p:cNvPr id="34" name="Google Shape;34;p42"/>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35" name="Google Shape;35;p42"/>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36" name="Google Shape;36;p42"/>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1" i="0" sz="18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1" i="0" sz="18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1" i="0" sz="18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1" i="0" sz="18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1" i="0" sz="18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1" i="0" sz="18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1" i="0" sz="18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1" i="0" sz="18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1" i="0" sz="18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7" name="Shape 37"/>
        <p:cNvGrpSpPr/>
        <p:nvPr/>
      </p:nvGrpSpPr>
      <p:grpSpPr>
        <a:xfrm>
          <a:off x="0" y="0"/>
          <a:ext cx="0" cy="0"/>
          <a:chOff x="0" y="0"/>
          <a:chExt cx="0" cy="0"/>
        </a:xfrm>
      </p:grpSpPr>
      <p:sp>
        <p:nvSpPr>
          <p:cNvPr id="38" name="Google Shape;38;p48"/>
          <p:cNvSpPr txBox="1"/>
          <p:nvPr>
            <p:ph type="ctrTitle"/>
          </p:nvPr>
        </p:nvSpPr>
        <p:spPr>
          <a:xfrm>
            <a:off x="685800" y="1905000"/>
            <a:ext cx="7772400" cy="14700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720"/>
              </a:spcBef>
              <a:spcAft>
                <a:spcPts val="0"/>
              </a:spcAft>
              <a:buSzPts val="1400"/>
              <a:buNone/>
              <a:defRPr sz="3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9" name="Google Shape;39;p48"/>
          <p:cNvSpPr txBox="1"/>
          <p:nvPr>
            <p:ph idx="1" type="subTitle"/>
          </p:nvPr>
        </p:nvSpPr>
        <p:spPr>
          <a:xfrm>
            <a:off x="1371600" y="4114800"/>
            <a:ext cx="6400800" cy="17526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560"/>
              </a:spcBef>
              <a:spcAft>
                <a:spcPts val="0"/>
              </a:spcAft>
              <a:buClr>
                <a:srgbClr val="AA9C8F"/>
              </a:buClr>
              <a:buSzPts val="2800"/>
              <a:buFont typeface="Noto Sans Symbols"/>
              <a:buNone/>
              <a:defRPr b="0" i="0" sz="2800" u="none" cap="none" strike="noStrike">
                <a:solidFill>
                  <a:srgbClr val="4D4D4D"/>
                </a:solidFill>
                <a:latin typeface="Calibri"/>
                <a:ea typeface="Calibri"/>
                <a:cs typeface="Calibri"/>
                <a:sym typeface="Calibri"/>
              </a:defRPr>
            </a:lvl1pPr>
            <a:lvl2pPr lvl="1" marR="0" rtl="0" algn="l">
              <a:lnSpc>
                <a:spcPct val="100000"/>
              </a:lnSpc>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lvl="2" marR="0" rtl="0" algn="l">
              <a:lnSpc>
                <a:spcPct val="100000"/>
              </a:lnSpc>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lvl="3"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lvl="4"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lvl="5"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lvl="6"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lvl="7"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lvl="8"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0" name="Shape 40"/>
        <p:cNvGrpSpPr/>
        <p:nvPr/>
      </p:nvGrpSpPr>
      <p:grpSpPr>
        <a:xfrm>
          <a:off x="0" y="0"/>
          <a:ext cx="0" cy="0"/>
          <a:chOff x="0" y="0"/>
          <a:chExt cx="0" cy="0"/>
        </a:xfrm>
      </p:grpSpPr>
      <p:sp>
        <p:nvSpPr>
          <p:cNvPr id="41" name="Google Shape;41;p49"/>
          <p:cNvSpPr txBox="1"/>
          <p:nvPr>
            <p:ph type="title"/>
          </p:nvPr>
        </p:nvSpPr>
        <p:spPr>
          <a:xfrm>
            <a:off x="685800" y="168275"/>
            <a:ext cx="8153400" cy="56356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3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2" name="Google Shape;42;p49"/>
          <p:cNvSpPr txBox="1"/>
          <p:nvPr>
            <p:ph idx="1" type="body"/>
          </p:nvPr>
        </p:nvSpPr>
        <p:spPr>
          <a:xfrm>
            <a:off x="663389" y="1120588"/>
            <a:ext cx="8153400" cy="5105400"/>
          </a:xfrm>
          <a:prstGeom prst="rect">
            <a:avLst/>
          </a:prstGeom>
          <a:noFill/>
          <a:ln>
            <a:noFill/>
          </a:ln>
        </p:spPr>
        <p:txBody>
          <a:bodyPr anchorCtr="0" anchor="t" bIns="45700" lIns="91425" spcFirstLastPara="1" rIns="91425" wrap="square" tIns="45700">
            <a:noAutofit/>
          </a:bodyPr>
          <a:lstStyle>
            <a:lvl1pPr indent="-381000" lvl="0" marL="457200" marR="0" rtl="0" algn="l">
              <a:lnSpc>
                <a:spcPct val="100000"/>
              </a:lnSpc>
              <a:spcBef>
                <a:spcPts val="480"/>
              </a:spcBef>
              <a:spcAft>
                <a:spcPts val="0"/>
              </a:spcAft>
              <a:buClr>
                <a:schemeClr val="dk1"/>
              </a:buClr>
              <a:buSzPts val="2400"/>
              <a:buFont typeface="Noto Sans Symbols"/>
              <a:buChar char="▪"/>
              <a:defRPr b="0" i="0" sz="2400" u="none" cap="none" strike="noStrike">
                <a:solidFill>
                  <a:schemeClr val="dk1"/>
                </a:solidFill>
                <a:latin typeface="Calibri"/>
                <a:ea typeface="Calibri"/>
                <a:cs typeface="Calibri"/>
                <a:sym typeface="Calibri"/>
              </a:defRPr>
            </a:lvl1pPr>
            <a:lvl2pPr indent="-368300" lvl="1" marL="914400" marR="0" rtl="0" algn="l">
              <a:lnSpc>
                <a:spcPct val="100000"/>
              </a:lnSpc>
              <a:spcBef>
                <a:spcPts val="440"/>
              </a:spcBef>
              <a:spcAft>
                <a:spcPts val="0"/>
              </a:spcAft>
              <a:buClr>
                <a:schemeClr val="dk1"/>
              </a:buClr>
              <a:buSzPts val="2200"/>
              <a:buFont typeface="Arial"/>
              <a:buChar char="•"/>
              <a:defRPr b="0" i="0" sz="2200" u="none" cap="none" strike="noStrike">
                <a:solidFill>
                  <a:schemeClr val="dk1"/>
                </a:solidFill>
                <a:latin typeface="Calibri"/>
                <a:ea typeface="Calibri"/>
                <a:cs typeface="Calibri"/>
                <a:sym typeface="Calibri"/>
              </a:defRPr>
            </a:lvl2pPr>
            <a:lvl3pPr indent="-355600" lvl="2" marL="1371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43" name="Shape 43"/>
        <p:cNvGrpSpPr/>
        <p:nvPr/>
      </p:nvGrpSpPr>
      <p:grpSpPr>
        <a:xfrm>
          <a:off x="0" y="0"/>
          <a:ext cx="0" cy="0"/>
          <a:chOff x="0" y="0"/>
          <a:chExt cx="0" cy="0"/>
        </a:xfrm>
      </p:grpSpPr>
      <p:sp>
        <p:nvSpPr>
          <p:cNvPr id="44" name="Google Shape;44;p50"/>
          <p:cNvSpPr txBox="1"/>
          <p:nvPr>
            <p:ph type="title"/>
          </p:nvPr>
        </p:nvSpPr>
        <p:spPr>
          <a:xfrm>
            <a:off x="577850" y="168275"/>
            <a:ext cx="8229600" cy="56356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5" name="Google Shape;45;p50"/>
          <p:cNvSpPr txBox="1"/>
          <p:nvPr>
            <p:ph idx="1" type="body"/>
          </p:nvPr>
        </p:nvSpPr>
        <p:spPr>
          <a:xfrm>
            <a:off x="577850" y="758825"/>
            <a:ext cx="4038600" cy="5718175"/>
          </a:xfrm>
          <a:prstGeom prst="rect">
            <a:avLst/>
          </a:prstGeom>
          <a:noFill/>
          <a:ln>
            <a:noFill/>
          </a:ln>
        </p:spPr>
        <p:txBody>
          <a:bodyPr anchorCtr="0" anchor="t" bIns="45700" lIns="91425" spcFirstLastPara="1" rIns="91425" wrap="square" tIns="45700">
            <a:noAutofit/>
          </a:bodyPr>
          <a:lstStyle>
            <a:lvl1pPr indent="-406400" lvl="0" marL="457200" marR="0" rtl="0" algn="l">
              <a:lnSpc>
                <a:spcPct val="100000"/>
              </a:lnSpc>
              <a:spcBef>
                <a:spcPts val="560"/>
              </a:spcBef>
              <a:spcAft>
                <a:spcPts val="0"/>
              </a:spcAft>
              <a:buClr>
                <a:srgbClr val="AA9C8F"/>
              </a:buClr>
              <a:buSzPts val="2800"/>
              <a:buFont typeface="Noto Sans Symbols"/>
              <a:buChar char="▪"/>
              <a:defRPr b="0" i="0" sz="2800" u="none" cap="none" strike="noStrike">
                <a:solidFill>
                  <a:srgbClr val="4D4D4D"/>
                </a:solidFill>
                <a:latin typeface="Calibri"/>
                <a:ea typeface="Calibri"/>
                <a:cs typeface="Calibri"/>
                <a:sym typeface="Calibri"/>
              </a:defRPr>
            </a:lvl1pPr>
            <a:lvl2pPr indent="-393700" lvl="1" marL="914400" marR="0" rtl="0" algn="l">
              <a:lnSpc>
                <a:spcPct val="100000"/>
              </a:lnSpc>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
        <p:nvSpPr>
          <p:cNvPr id="46" name="Google Shape;46;p50"/>
          <p:cNvSpPr txBox="1"/>
          <p:nvPr>
            <p:ph idx="2" type="body"/>
          </p:nvPr>
        </p:nvSpPr>
        <p:spPr>
          <a:xfrm>
            <a:off x="4768850" y="758825"/>
            <a:ext cx="4038600" cy="5718175"/>
          </a:xfrm>
          <a:prstGeom prst="rect">
            <a:avLst/>
          </a:prstGeom>
          <a:noFill/>
          <a:ln>
            <a:noFill/>
          </a:ln>
        </p:spPr>
        <p:txBody>
          <a:bodyPr anchorCtr="0" anchor="t" bIns="45700" lIns="91425" spcFirstLastPara="1" rIns="91425" wrap="square" tIns="45700">
            <a:noAutofit/>
          </a:bodyPr>
          <a:lstStyle>
            <a:lvl1pPr indent="-406400" lvl="0" marL="457200" marR="0" rtl="0" algn="l">
              <a:lnSpc>
                <a:spcPct val="100000"/>
              </a:lnSpc>
              <a:spcBef>
                <a:spcPts val="560"/>
              </a:spcBef>
              <a:spcAft>
                <a:spcPts val="0"/>
              </a:spcAft>
              <a:buClr>
                <a:srgbClr val="AA9C8F"/>
              </a:buClr>
              <a:buSzPts val="2800"/>
              <a:buFont typeface="Noto Sans Symbols"/>
              <a:buChar char="▪"/>
              <a:defRPr b="0" i="0" sz="2800" u="none" cap="none" strike="noStrike">
                <a:solidFill>
                  <a:srgbClr val="4D4D4D"/>
                </a:solidFill>
                <a:latin typeface="Calibri"/>
                <a:ea typeface="Calibri"/>
                <a:cs typeface="Calibri"/>
                <a:sym typeface="Calibri"/>
              </a:defRPr>
            </a:lvl1pPr>
            <a:lvl2pPr indent="-393700" lvl="1" marL="914400" marR="0" rtl="0" algn="l">
              <a:lnSpc>
                <a:spcPct val="100000"/>
              </a:lnSpc>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51"/>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4" name="Google Shape;54;p51"/>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5" name="Google Shape;55;p51"/>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6" name="Shape 56"/>
        <p:cNvGrpSpPr/>
        <p:nvPr/>
      </p:nvGrpSpPr>
      <p:grpSpPr>
        <a:xfrm>
          <a:off x="0" y="0"/>
          <a:ext cx="0" cy="0"/>
          <a:chOff x="0" y="0"/>
          <a:chExt cx="0" cy="0"/>
        </a:xfrm>
      </p:grpSpPr>
      <p:sp>
        <p:nvSpPr>
          <p:cNvPr id="57" name="Google Shape;57;p45"/>
          <p:cNvSpPr txBox="1"/>
          <p:nvPr>
            <p:ph type="ctrTitle"/>
          </p:nvPr>
        </p:nvSpPr>
        <p:spPr>
          <a:xfrm>
            <a:off x="685800" y="1905000"/>
            <a:ext cx="7772400" cy="14700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720"/>
              </a:spcBef>
              <a:spcAft>
                <a:spcPts val="0"/>
              </a:spcAft>
              <a:buSzPts val="1400"/>
              <a:buNone/>
              <a:defRPr sz="3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8" name="Google Shape;58;p45"/>
          <p:cNvSpPr txBox="1"/>
          <p:nvPr>
            <p:ph idx="1" type="subTitle"/>
          </p:nvPr>
        </p:nvSpPr>
        <p:spPr>
          <a:xfrm>
            <a:off x="1371600" y="4114800"/>
            <a:ext cx="6400800" cy="17526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560"/>
              </a:spcBef>
              <a:spcAft>
                <a:spcPts val="0"/>
              </a:spcAft>
              <a:buClr>
                <a:srgbClr val="AA9C8F"/>
              </a:buClr>
              <a:buSzPts val="2800"/>
              <a:buFont typeface="Noto Sans Symbols"/>
              <a:buNone/>
              <a:defRPr b="0" i="0" sz="2800" u="none" cap="none" strike="noStrike">
                <a:solidFill>
                  <a:srgbClr val="4D4D4D"/>
                </a:solidFill>
                <a:latin typeface="Calibri"/>
                <a:ea typeface="Calibri"/>
                <a:cs typeface="Calibri"/>
                <a:sym typeface="Calibri"/>
              </a:defRPr>
            </a:lvl1pPr>
            <a:lvl2pPr lvl="1" marR="0" rtl="0" algn="l">
              <a:lnSpc>
                <a:spcPct val="100000"/>
              </a:lnSpc>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lvl="2" marR="0" rtl="0" algn="l">
              <a:lnSpc>
                <a:spcPct val="100000"/>
              </a:lnSpc>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lvl="3"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lvl="4"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lvl="5"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lvl="6"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lvl="7"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lvl="8"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9" name="Shape 59"/>
        <p:cNvGrpSpPr/>
        <p:nvPr/>
      </p:nvGrpSpPr>
      <p:grpSpPr>
        <a:xfrm>
          <a:off x="0" y="0"/>
          <a:ext cx="0" cy="0"/>
          <a:chOff x="0" y="0"/>
          <a:chExt cx="0" cy="0"/>
        </a:xfrm>
      </p:grpSpPr>
      <p:sp>
        <p:nvSpPr>
          <p:cNvPr id="60" name="Google Shape;60;p52"/>
          <p:cNvSpPr txBox="1"/>
          <p:nvPr>
            <p:ph type="title"/>
          </p:nvPr>
        </p:nvSpPr>
        <p:spPr>
          <a:xfrm>
            <a:off x="685800" y="168275"/>
            <a:ext cx="8153400" cy="56356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3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1" name="Google Shape;61;p52"/>
          <p:cNvSpPr txBox="1"/>
          <p:nvPr>
            <p:ph idx="1" type="body"/>
          </p:nvPr>
        </p:nvSpPr>
        <p:spPr>
          <a:xfrm>
            <a:off x="663389" y="1120588"/>
            <a:ext cx="8153400" cy="5105400"/>
          </a:xfrm>
          <a:prstGeom prst="rect">
            <a:avLst/>
          </a:prstGeom>
          <a:noFill/>
          <a:ln>
            <a:noFill/>
          </a:ln>
        </p:spPr>
        <p:txBody>
          <a:bodyPr anchorCtr="0" anchor="t" bIns="45700" lIns="91425" spcFirstLastPara="1" rIns="91425" wrap="square" tIns="45700">
            <a:noAutofit/>
          </a:bodyPr>
          <a:lstStyle>
            <a:lvl1pPr indent="-381000" lvl="0" marL="457200" marR="0" rtl="0" algn="l">
              <a:lnSpc>
                <a:spcPct val="100000"/>
              </a:lnSpc>
              <a:spcBef>
                <a:spcPts val="480"/>
              </a:spcBef>
              <a:spcAft>
                <a:spcPts val="0"/>
              </a:spcAft>
              <a:buClr>
                <a:schemeClr val="dk1"/>
              </a:buClr>
              <a:buSzPts val="2400"/>
              <a:buFont typeface="Noto Sans Symbols"/>
              <a:buChar char="▪"/>
              <a:defRPr b="0" i="0" sz="2400" u="none" cap="none" strike="noStrike">
                <a:solidFill>
                  <a:schemeClr val="dk1"/>
                </a:solidFill>
                <a:latin typeface="Calibri"/>
                <a:ea typeface="Calibri"/>
                <a:cs typeface="Calibri"/>
                <a:sym typeface="Calibri"/>
              </a:defRPr>
            </a:lvl1pPr>
            <a:lvl2pPr indent="-368300" lvl="1" marL="914400" marR="0" rtl="0" algn="l">
              <a:lnSpc>
                <a:spcPct val="100000"/>
              </a:lnSpc>
              <a:spcBef>
                <a:spcPts val="440"/>
              </a:spcBef>
              <a:spcAft>
                <a:spcPts val="0"/>
              </a:spcAft>
              <a:buClr>
                <a:schemeClr val="dk1"/>
              </a:buClr>
              <a:buSzPts val="2200"/>
              <a:buFont typeface="Arial"/>
              <a:buChar char="•"/>
              <a:defRPr b="0" i="0" sz="2200" u="none" cap="none" strike="noStrike">
                <a:solidFill>
                  <a:schemeClr val="dk1"/>
                </a:solidFill>
                <a:latin typeface="Calibri"/>
                <a:ea typeface="Calibri"/>
                <a:cs typeface="Calibri"/>
                <a:sym typeface="Calibri"/>
              </a:defRPr>
            </a:lvl2pPr>
            <a:lvl3pPr indent="-355600" lvl="2" marL="1371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62" name="Shape 62"/>
        <p:cNvGrpSpPr/>
        <p:nvPr/>
      </p:nvGrpSpPr>
      <p:grpSpPr>
        <a:xfrm>
          <a:off x="0" y="0"/>
          <a:ext cx="0" cy="0"/>
          <a:chOff x="0" y="0"/>
          <a:chExt cx="0" cy="0"/>
        </a:xfrm>
      </p:grpSpPr>
      <p:sp>
        <p:nvSpPr>
          <p:cNvPr id="63" name="Google Shape;63;p53"/>
          <p:cNvSpPr txBox="1"/>
          <p:nvPr>
            <p:ph type="title"/>
          </p:nvPr>
        </p:nvSpPr>
        <p:spPr>
          <a:xfrm>
            <a:off x="577850" y="168275"/>
            <a:ext cx="8229600" cy="56356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4" name="Google Shape;64;p53"/>
          <p:cNvSpPr txBox="1"/>
          <p:nvPr>
            <p:ph idx="1" type="body"/>
          </p:nvPr>
        </p:nvSpPr>
        <p:spPr>
          <a:xfrm>
            <a:off x="577850" y="758825"/>
            <a:ext cx="4038600" cy="5718175"/>
          </a:xfrm>
          <a:prstGeom prst="rect">
            <a:avLst/>
          </a:prstGeom>
          <a:noFill/>
          <a:ln>
            <a:noFill/>
          </a:ln>
        </p:spPr>
        <p:txBody>
          <a:bodyPr anchorCtr="0" anchor="t" bIns="45700" lIns="91425" spcFirstLastPara="1" rIns="91425" wrap="square" tIns="45700">
            <a:noAutofit/>
          </a:bodyPr>
          <a:lstStyle>
            <a:lvl1pPr indent="-406400" lvl="0" marL="457200" marR="0" rtl="0" algn="l">
              <a:lnSpc>
                <a:spcPct val="100000"/>
              </a:lnSpc>
              <a:spcBef>
                <a:spcPts val="560"/>
              </a:spcBef>
              <a:spcAft>
                <a:spcPts val="0"/>
              </a:spcAft>
              <a:buClr>
                <a:srgbClr val="AA9C8F"/>
              </a:buClr>
              <a:buSzPts val="2800"/>
              <a:buFont typeface="Noto Sans Symbols"/>
              <a:buChar char="▪"/>
              <a:defRPr b="0" i="0" sz="2800" u="none" cap="none" strike="noStrike">
                <a:solidFill>
                  <a:srgbClr val="4D4D4D"/>
                </a:solidFill>
                <a:latin typeface="Calibri"/>
                <a:ea typeface="Calibri"/>
                <a:cs typeface="Calibri"/>
                <a:sym typeface="Calibri"/>
              </a:defRPr>
            </a:lvl1pPr>
            <a:lvl2pPr indent="-393700" lvl="1" marL="914400" marR="0" rtl="0" algn="l">
              <a:lnSpc>
                <a:spcPct val="100000"/>
              </a:lnSpc>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
        <p:nvSpPr>
          <p:cNvPr id="65" name="Google Shape;65;p53"/>
          <p:cNvSpPr txBox="1"/>
          <p:nvPr>
            <p:ph idx="2" type="body"/>
          </p:nvPr>
        </p:nvSpPr>
        <p:spPr>
          <a:xfrm>
            <a:off x="4768850" y="758825"/>
            <a:ext cx="4038600" cy="5718175"/>
          </a:xfrm>
          <a:prstGeom prst="rect">
            <a:avLst/>
          </a:prstGeom>
          <a:noFill/>
          <a:ln>
            <a:noFill/>
          </a:ln>
        </p:spPr>
        <p:txBody>
          <a:bodyPr anchorCtr="0" anchor="t" bIns="45700" lIns="91425" spcFirstLastPara="1" rIns="91425" wrap="square" tIns="45700">
            <a:noAutofit/>
          </a:bodyPr>
          <a:lstStyle>
            <a:lvl1pPr indent="-406400" lvl="0" marL="457200" marR="0" rtl="0" algn="l">
              <a:lnSpc>
                <a:spcPct val="100000"/>
              </a:lnSpc>
              <a:spcBef>
                <a:spcPts val="560"/>
              </a:spcBef>
              <a:spcAft>
                <a:spcPts val="0"/>
              </a:spcAft>
              <a:buClr>
                <a:srgbClr val="AA9C8F"/>
              </a:buClr>
              <a:buSzPts val="2800"/>
              <a:buFont typeface="Noto Sans Symbols"/>
              <a:buChar char="▪"/>
              <a:defRPr b="0" i="0" sz="2800" u="none" cap="none" strike="noStrike">
                <a:solidFill>
                  <a:srgbClr val="4D4D4D"/>
                </a:solidFill>
                <a:latin typeface="Calibri"/>
                <a:ea typeface="Calibri"/>
                <a:cs typeface="Calibri"/>
                <a:sym typeface="Calibri"/>
              </a:defRPr>
            </a:lvl1pPr>
            <a:lvl2pPr indent="-393700" lvl="1" marL="914400" marR="0" rtl="0" algn="l">
              <a:lnSpc>
                <a:spcPct val="100000"/>
              </a:lnSpc>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1" name="Shape 71"/>
        <p:cNvGrpSpPr/>
        <p:nvPr/>
      </p:nvGrpSpPr>
      <p:grpSpPr>
        <a:xfrm>
          <a:off x="0" y="0"/>
          <a:ext cx="0" cy="0"/>
          <a:chOff x="0" y="0"/>
          <a:chExt cx="0" cy="0"/>
        </a:xfrm>
      </p:grpSpPr>
      <p:sp>
        <p:nvSpPr>
          <p:cNvPr id="72" name="Google Shape;72;p56"/>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73" name="Google Shape;73;p56"/>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74" name="Google Shape;74;p56"/>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5" name="Shape 75"/>
        <p:cNvGrpSpPr/>
        <p:nvPr/>
      </p:nvGrpSpPr>
      <p:grpSpPr>
        <a:xfrm>
          <a:off x="0" y="0"/>
          <a:ext cx="0" cy="0"/>
          <a:chOff x="0" y="0"/>
          <a:chExt cx="0" cy="0"/>
        </a:xfrm>
      </p:grpSpPr>
      <p:sp>
        <p:nvSpPr>
          <p:cNvPr id="76" name="Google Shape;76;p57"/>
          <p:cNvSpPr txBox="1"/>
          <p:nvPr>
            <p:ph type="ctrTitle"/>
          </p:nvPr>
        </p:nvSpPr>
        <p:spPr>
          <a:xfrm>
            <a:off x="685800" y="1905000"/>
            <a:ext cx="7772400" cy="14700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720"/>
              </a:spcBef>
              <a:spcAft>
                <a:spcPts val="0"/>
              </a:spcAft>
              <a:buSzPts val="1400"/>
              <a:buNone/>
              <a:defRPr sz="3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7" name="Google Shape;77;p57"/>
          <p:cNvSpPr txBox="1"/>
          <p:nvPr>
            <p:ph idx="1" type="subTitle"/>
          </p:nvPr>
        </p:nvSpPr>
        <p:spPr>
          <a:xfrm>
            <a:off x="1371600" y="4114800"/>
            <a:ext cx="6400800" cy="17526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560"/>
              </a:spcBef>
              <a:spcAft>
                <a:spcPts val="0"/>
              </a:spcAft>
              <a:buClr>
                <a:srgbClr val="AA9C8F"/>
              </a:buClr>
              <a:buSzPts val="2800"/>
              <a:buFont typeface="Noto Sans Symbols"/>
              <a:buNone/>
              <a:defRPr b="0" i="0" sz="2800" u="none" cap="none" strike="noStrike">
                <a:solidFill>
                  <a:srgbClr val="4D4D4D"/>
                </a:solidFill>
                <a:latin typeface="Calibri"/>
                <a:ea typeface="Calibri"/>
                <a:cs typeface="Calibri"/>
                <a:sym typeface="Calibri"/>
              </a:defRPr>
            </a:lvl1pPr>
            <a:lvl2pPr lvl="1" marR="0" rtl="0" algn="l">
              <a:lnSpc>
                <a:spcPct val="100000"/>
              </a:lnSpc>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lvl="2" marR="0" rtl="0" algn="l">
              <a:lnSpc>
                <a:spcPct val="100000"/>
              </a:lnSpc>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lvl="3"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lvl="4"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lvl="5"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lvl="6"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lvl="7"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lvl="8"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8" name="Shape 78"/>
        <p:cNvGrpSpPr/>
        <p:nvPr/>
      </p:nvGrpSpPr>
      <p:grpSpPr>
        <a:xfrm>
          <a:off x="0" y="0"/>
          <a:ext cx="0" cy="0"/>
          <a:chOff x="0" y="0"/>
          <a:chExt cx="0" cy="0"/>
        </a:xfrm>
      </p:grpSpPr>
      <p:sp>
        <p:nvSpPr>
          <p:cNvPr id="79" name="Google Shape;79;p58"/>
          <p:cNvSpPr txBox="1"/>
          <p:nvPr>
            <p:ph type="title"/>
          </p:nvPr>
        </p:nvSpPr>
        <p:spPr>
          <a:xfrm>
            <a:off x="685800" y="168275"/>
            <a:ext cx="8153400" cy="56356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3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0" name="Google Shape;80;p58"/>
          <p:cNvSpPr txBox="1"/>
          <p:nvPr>
            <p:ph idx="1" type="body"/>
          </p:nvPr>
        </p:nvSpPr>
        <p:spPr>
          <a:xfrm>
            <a:off x="663389" y="1120588"/>
            <a:ext cx="8153400" cy="5105400"/>
          </a:xfrm>
          <a:prstGeom prst="rect">
            <a:avLst/>
          </a:prstGeom>
          <a:noFill/>
          <a:ln>
            <a:noFill/>
          </a:ln>
        </p:spPr>
        <p:txBody>
          <a:bodyPr anchorCtr="0" anchor="t" bIns="45700" lIns="91425" spcFirstLastPara="1" rIns="91425" wrap="square" tIns="45700">
            <a:noAutofit/>
          </a:bodyPr>
          <a:lstStyle>
            <a:lvl1pPr indent="-381000" lvl="0" marL="457200" marR="0" rtl="0" algn="l">
              <a:lnSpc>
                <a:spcPct val="100000"/>
              </a:lnSpc>
              <a:spcBef>
                <a:spcPts val="480"/>
              </a:spcBef>
              <a:spcAft>
                <a:spcPts val="0"/>
              </a:spcAft>
              <a:buClr>
                <a:schemeClr val="dk1"/>
              </a:buClr>
              <a:buSzPts val="2400"/>
              <a:buFont typeface="Noto Sans Symbols"/>
              <a:buChar char="▪"/>
              <a:defRPr b="0" i="0" sz="2400" u="none" cap="none" strike="noStrike">
                <a:solidFill>
                  <a:schemeClr val="dk1"/>
                </a:solidFill>
                <a:latin typeface="Calibri"/>
                <a:ea typeface="Calibri"/>
                <a:cs typeface="Calibri"/>
                <a:sym typeface="Calibri"/>
              </a:defRPr>
            </a:lvl1pPr>
            <a:lvl2pPr indent="-368300" lvl="1" marL="914400" marR="0" rtl="0" algn="l">
              <a:lnSpc>
                <a:spcPct val="100000"/>
              </a:lnSpc>
              <a:spcBef>
                <a:spcPts val="440"/>
              </a:spcBef>
              <a:spcAft>
                <a:spcPts val="0"/>
              </a:spcAft>
              <a:buClr>
                <a:schemeClr val="dk1"/>
              </a:buClr>
              <a:buSzPts val="2200"/>
              <a:buFont typeface="Arial"/>
              <a:buChar char="•"/>
              <a:defRPr b="0" i="0" sz="2200" u="none" cap="none" strike="noStrike">
                <a:solidFill>
                  <a:schemeClr val="dk1"/>
                </a:solidFill>
                <a:latin typeface="Calibri"/>
                <a:ea typeface="Calibri"/>
                <a:cs typeface="Calibri"/>
                <a:sym typeface="Calibri"/>
              </a:defRPr>
            </a:lvl2pPr>
            <a:lvl3pPr indent="-355600" lvl="2" marL="1371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81" name="Shape 81"/>
        <p:cNvGrpSpPr/>
        <p:nvPr/>
      </p:nvGrpSpPr>
      <p:grpSpPr>
        <a:xfrm>
          <a:off x="0" y="0"/>
          <a:ext cx="0" cy="0"/>
          <a:chOff x="0" y="0"/>
          <a:chExt cx="0" cy="0"/>
        </a:xfrm>
      </p:grpSpPr>
      <p:sp>
        <p:nvSpPr>
          <p:cNvPr id="82" name="Google Shape;82;p59"/>
          <p:cNvSpPr txBox="1"/>
          <p:nvPr>
            <p:ph type="title"/>
          </p:nvPr>
        </p:nvSpPr>
        <p:spPr>
          <a:xfrm>
            <a:off x="577850" y="168275"/>
            <a:ext cx="8229600" cy="56356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3" name="Google Shape;83;p59"/>
          <p:cNvSpPr txBox="1"/>
          <p:nvPr>
            <p:ph idx="1" type="body"/>
          </p:nvPr>
        </p:nvSpPr>
        <p:spPr>
          <a:xfrm>
            <a:off x="577850" y="758825"/>
            <a:ext cx="4038600" cy="5718175"/>
          </a:xfrm>
          <a:prstGeom prst="rect">
            <a:avLst/>
          </a:prstGeom>
          <a:noFill/>
          <a:ln>
            <a:noFill/>
          </a:ln>
        </p:spPr>
        <p:txBody>
          <a:bodyPr anchorCtr="0" anchor="t" bIns="45700" lIns="91425" spcFirstLastPara="1" rIns="91425" wrap="square" tIns="45700">
            <a:noAutofit/>
          </a:bodyPr>
          <a:lstStyle>
            <a:lvl1pPr indent="-406400" lvl="0" marL="457200" marR="0" rtl="0" algn="l">
              <a:lnSpc>
                <a:spcPct val="100000"/>
              </a:lnSpc>
              <a:spcBef>
                <a:spcPts val="560"/>
              </a:spcBef>
              <a:spcAft>
                <a:spcPts val="0"/>
              </a:spcAft>
              <a:buClr>
                <a:srgbClr val="AA9C8F"/>
              </a:buClr>
              <a:buSzPts val="2800"/>
              <a:buFont typeface="Noto Sans Symbols"/>
              <a:buChar char="▪"/>
              <a:defRPr b="0" i="0" sz="2800" u="none" cap="none" strike="noStrike">
                <a:solidFill>
                  <a:srgbClr val="4D4D4D"/>
                </a:solidFill>
                <a:latin typeface="Calibri"/>
                <a:ea typeface="Calibri"/>
                <a:cs typeface="Calibri"/>
                <a:sym typeface="Calibri"/>
              </a:defRPr>
            </a:lvl1pPr>
            <a:lvl2pPr indent="-393700" lvl="1" marL="914400" marR="0" rtl="0" algn="l">
              <a:lnSpc>
                <a:spcPct val="100000"/>
              </a:lnSpc>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
        <p:nvSpPr>
          <p:cNvPr id="84" name="Google Shape;84;p59"/>
          <p:cNvSpPr txBox="1"/>
          <p:nvPr>
            <p:ph idx="2" type="body"/>
          </p:nvPr>
        </p:nvSpPr>
        <p:spPr>
          <a:xfrm>
            <a:off x="4768850" y="758825"/>
            <a:ext cx="4038600" cy="5718175"/>
          </a:xfrm>
          <a:prstGeom prst="rect">
            <a:avLst/>
          </a:prstGeom>
          <a:noFill/>
          <a:ln>
            <a:noFill/>
          </a:ln>
        </p:spPr>
        <p:txBody>
          <a:bodyPr anchorCtr="0" anchor="t" bIns="45700" lIns="91425" spcFirstLastPara="1" rIns="91425" wrap="square" tIns="45700">
            <a:noAutofit/>
          </a:bodyPr>
          <a:lstStyle>
            <a:lvl1pPr indent="-406400" lvl="0" marL="457200" marR="0" rtl="0" algn="l">
              <a:lnSpc>
                <a:spcPct val="100000"/>
              </a:lnSpc>
              <a:spcBef>
                <a:spcPts val="560"/>
              </a:spcBef>
              <a:spcAft>
                <a:spcPts val="0"/>
              </a:spcAft>
              <a:buClr>
                <a:srgbClr val="AA9C8F"/>
              </a:buClr>
              <a:buSzPts val="2800"/>
              <a:buFont typeface="Noto Sans Symbols"/>
              <a:buChar char="▪"/>
              <a:defRPr b="0" i="0" sz="2800" u="none" cap="none" strike="noStrike">
                <a:solidFill>
                  <a:srgbClr val="4D4D4D"/>
                </a:solidFill>
                <a:latin typeface="Calibri"/>
                <a:ea typeface="Calibri"/>
                <a:cs typeface="Calibri"/>
                <a:sym typeface="Calibri"/>
              </a:defRPr>
            </a:lvl1pPr>
            <a:lvl2pPr indent="-393700" lvl="1" marL="914400" marR="0" rtl="0" algn="l">
              <a:lnSpc>
                <a:spcPct val="100000"/>
              </a:lnSpc>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0" name="Shape 90"/>
        <p:cNvGrpSpPr/>
        <p:nvPr/>
      </p:nvGrpSpPr>
      <p:grpSpPr>
        <a:xfrm>
          <a:off x="0" y="0"/>
          <a:ext cx="0" cy="0"/>
          <a:chOff x="0" y="0"/>
          <a:chExt cx="0" cy="0"/>
        </a:xfrm>
      </p:grpSpPr>
      <p:sp>
        <p:nvSpPr>
          <p:cNvPr id="91" name="Google Shape;91;p62"/>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92" name="Google Shape;92;p62"/>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93" name="Google Shape;93;p62"/>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4" name="Shape 94"/>
        <p:cNvGrpSpPr/>
        <p:nvPr/>
      </p:nvGrpSpPr>
      <p:grpSpPr>
        <a:xfrm>
          <a:off x="0" y="0"/>
          <a:ext cx="0" cy="0"/>
          <a:chOff x="0" y="0"/>
          <a:chExt cx="0" cy="0"/>
        </a:xfrm>
      </p:grpSpPr>
      <p:sp>
        <p:nvSpPr>
          <p:cNvPr id="95" name="Google Shape;95;p63"/>
          <p:cNvSpPr txBox="1"/>
          <p:nvPr>
            <p:ph type="ctrTitle"/>
          </p:nvPr>
        </p:nvSpPr>
        <p:spPr>
          <a:xfrm>
            <a:off x="685800" y="1905000"/>
            <a:ext cx="7772400" cy="1470025"/>
          </a:xfrm>
          <a:prstGeom prst="rect">
            <a:avLst/>
          </a:prstGeom>
          <a:noFill/>
          <a:ln>
            <a:noFill/>
          </a:ln>
        </p:spPr>
        <p:txBody>
          <a:bodyPr anchorCtr="0" anchor="ctr" bIns="45700" lIns="91425" spcFirstLastPara="1" rIns="91425" wrap="square" tIns="45700">
            <a:noAutofit/>
          </a:bodyPr>
          <a:lstStyle>
            <a:lvl1pPr lvl="0" algn="ctr">
              <a:spcBef>
                <a:spcPts val="720"/>
              </a:spcBef>
              <a:spcAft>
                <a:spcPts val="0"/>
              </a:spcAft>
              <a:buSzPts val="1400"/>
              <a:buNone/>
              <a:defRPr sz="36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6" name="Google Shape;96;p63"/>
          <p:cNvSpPr txBox="1"/>
          <p:nvPr>
            <p:ph idx="1" type="subTitle"/>
          </p:nvPr>
        </p:nvSpPr>
        <p:spPr>
          <a:xfrm>
            <a:off x="1371600" y="4114800"/>
            <a:ext cx="6400800" cy="1752600"/>
          </a:xfrm>
          <a:prstGeom prst="rect">
            <a:avLst/>
          </a:prstGeom>
          <a:noFill/>
          <a:ln>
            <a:noFill/>
          </a:ln>
        </p:spPr>
        <p:txBody>
          <a:bodyPr anchorCtr="0" anchor="t" bIns="45700" lIns="91425" spcFirstLastPara="1" rIns="91425" wrap="square" tIns="45700">
            <a:noAutofit/>
          </a:bodyPr>
          <a:lstStyle>
            <a:lvl1pPr lvl="0" marR="0" rtl="0" algn="ctr">
              <a:spcBef>
                <a:spcPts val="560"/>
              </a:spcBef>
              <a:spcAft>
                <a:spcPts val="0"/>
              </a:spcAft>
              <a:buClr>
                <a:srgbClr val="AA9C8F"/>
              </a:buClr>
              <a:buSzPts val="2800"/>
              <a:buFont typeface="Noto Sans Symbols"/>
              <a:buNone/>
              <a:defRPr b="0" i="0" sz="2800" u="none" cap="none" strike="noStrike">
                <a:solidFill>
                  <a:srgbClr val="4D4D4D"/>
                </a:solidFill>
                <a:latin typeface="Calibri"/>
                <a:ea typeface="Calibri"/>
                <a:cs typeface="Calibri"/>
                <a:sym typeface="Calibri"/>
              </a:defRPr>
            </a:lvl1pPr>
            <a:lvl2pPr lvl="1" marR="0" rtl="0" algn="l">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lvl="2" marR="0" rtl="0" algn="l">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lvl="3"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lvl="4"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lvl="5"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lvl="6"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lvl="7"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lvl="8"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7" name="Shape 97"/>
        <p:cNvGrpSpPr/>
        <p:nvPr/>
      </p:nvGrpSpPr>
      <p:grpSpPr>
        <a:xfrm>
          <a:off x="0" y="0"/>
          <a:ext cx="0" cy="0"/>
          <a:chOff x="0" y="0"/>
          <a:chExt cx="0" cy="0"/>
        </a:xfrm>
      </p:grpSpPr>
      <p:sp>
        <p:nvSpPr>
          <p:cNvPr id="98" name="Google Shape;98;p64"/>
          <p:cNvSpPr txBox="1"/>
          <p:nvPr>
            <p:ph type="title"/>
          </p:nvPr>
        </p:nvSpPr>
        <p:spPr>
          <a:xfrm>
            <a:off x="685800" y="168275"/>
            <a:ext cx="8153400" cy="56356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9" name="Google Shape;99;p64"/>
          <p:cNvSpPr txBox="1"/>
          <p:nvPr>
            <p:ph idx="1" type="body"/>
          </p:nvPr>
        </p:nvSpPr>
        <p:spPr>
          <a:xfrm>
            <a:off x="663389" y="1120588"/>
            <a:ext cx="8153400" cy="5105400"/>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1"/>
              </a:buClr>
              <a:buSzPts val="2400"/>
              <a:buFont typeface="Noto Sans Symbols"/>
              <a:buChar char="▪"/>
              <a:defRPr b="0" i="0" sz="2400" u="none" cap="none" strike="noStrike">
                <a:solidFill>
                  <a:schemeClr val="dk1"/>
                </a:solidFill>
                <a:latin typeface="Calibri"/>
                <a:ea typeface="Calibri"/>
                <a:cs typeface="Calibri"/>
                <a:sym typeface="Calibri"/>
              </a:defRPr>
            </a:lvl1pPr>
            <a:lvl2pPr indent="-368300" lvl="1" marL="914400" marR="0" rtl="0" algn="l">
              <a:spcBef>
                <a:spcPts val="440"/>
              </a:spcBef>
              <a:spcAft>
                <a:spcPts val="0"/>
              </a:spcAft>
              <a:buClr>
                <a:schemeClr val="dk1"/>
              </a:buClr>
              <a:buSzPts val="2200"/>
              <a:buFont typeface="Arial"/>
              <a:buChar char="•"/>
              <a:defRPr b="0" i="0" sz="2200" u="none" cap="none" strike="noStrike">
                <a:solidFill>
                  <a:schemeClr val="dk1"/>
                </a:solidFill>
                <a:latin typeface="Calibri"/>
                <a:ea typeface="Calibri"/>
                <a:cs typeface="Calibri"/>
                <a:sym typeface="Calibri"/>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100" name="Shape 100"/>
        <p:cNvGrpSpPr/>
        <p:nvPr/>
      </p:nvGrpSpPr>
      <p:grpSpPr>
        <a:xfrm>
          <a:off x="0" y="0"/>
          <a:ext cx="0" cy="0"/>
          <a:chOff x="0" y="0"/>
          <a:chExt cx="0" cy="0"/>
        </a:xfrm>
      </p:grpSpPr>
      <p:sp>
        <p:nvSpPr>
          <p:cNvPr id="101" name="Google Shape;101;p65"/>
          <p:cNvSpPr txBox="1"/>
          <p:nvPr>
            <p:ph type="title"/>
          </p:nvPr>
        </p:nvSpPr>
        <p:spPr>
          <a:xfrm>
            <a:off x="577850" y="168275"/>
            <a:ext cx="8229600" cy="56356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2" name="Google Shape;102;p65"/>
          <p:cNvSpPr txBox="1"/>
          <p:nvPr>
            <p:ph idx="1" type="body"/>
          </p:nvPr>
        </p:nvSpPr>
        <p:spPr>
          <a:xfrm>
            <a:off x="577850" y="758825"/>
            <a:ext cx="4038600" cy="5718175"/>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rgbClr val="AA9C8F"/>
              </a:buClr>
              <a:buSzPts val="2800"/>
              <a:buFont typeface="Noto Sans Symbols"/>
              <a:buChar char="▪"/>
              <a:defRPr b="0" i="0" sz="2800" u="none" cap="none" strike="noStrike">
                <a:solidFill>
                  <a:srgbClr val="4D4D4D"/>
                </a:solidFill>
                <a:latin typeface="Calibri"/>
                <a:ea typeface="Calibri"/>
                <a:cs typeface="Calibri"/>
                <a:sym typeface="Calibri"/>
              </a:defRPr>
            </a:lvl1pPr>
            <a:lvl2pPr indent="-393700" lvl="1" marL="914400" marR="0" rtl="0" algn="l">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
        <p:nvSpPr>
          <p:cNvPr id="103" name="Google Shape;103;p65"/>
          <p:cNvSpPr txBox="1"/>
          <p:nvPr>
            <p:ph idx="2" type="body"/>
          </p:nvPr>
        </p:nvSpPr>
        <p:spPr>
          <a:xfrm>
            <a:off x="4768850" y="758825"/>
            <a:ext cx="4038600" cy="5718175"/>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rgbClr val="AA9C8F"/>
              </a:buClr>
              <a:buSzPts val="2800"/>
              <a:buFont typeface="Noto Sans Symbols"/>
              <a:buChar char="▪"/>
              <a:defRPr b="0" i="0" sz="2800" u="none" cap="none" strike="noStrike">
                <a:solidFill>
                  <a:srgbClr val="4D4D4D"/>
                </a:solidFill>
                <a:latin typeface="Calibri"/>
                <a:ea typeface="Calibri"/>
                <a:cs typeface="Calibri"/>
                <a:sym typeface="Calibri"/>
              </a:defRPr>
            </a:lvl1pPr>
            <a:lvl2pPr indent="-393700" lvl="1" marL="914400" marR="0" rtl="0" algn="l">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slideLayout" Target="../slideLayouts/slideLayout7.xml"/><Relationship Id="rId5" Type="http://schemas.openxmlformats.org/officeDocument/2006/relationships/slideLayout" Target="../slideLayouts/slideLayout8.xml"/><Relationship Id="rId6" Type="http://schemas.openxmlformats.org/officeDocument/2006/relationships/theme" Target="../theme/theme5.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9.xml"/><Relationship Id="rId3" Type="http://schemas.openxmlformats.org/officeDocument/2006/relationships/slideLayout" Target="../slideLayouts/slideLayout10.xml"/><Relationship Id="rId4" Type="http://schemas.openxmlformats.org/officeDocument/2006/relationships/slideLayout" Target="../slideLayouts/slideLayout11.xml"/><Relationship Id="rId5" Type="http://schemas.openxmlformats.org/officeDocument/2006/relationships/slideLayout" Target="../slideLayouts/slideLayout12.xml"/><Relationship Id="rId6" Type="http://schemas.openxmlformats.org/officeDocument/2006/relationships/theme" Target="../theme/theme4.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theme" Target="../theme/theme6.xml"/></Relationships>
</file>

<file path=ppt/slideMasters/_rels/slideMaster5.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5" Type="http://schemas.openxmlformats.org/officeDocument/2006/relationships/slideLayout" Target="../slideLayouts/slideLayout20.xml"/><Relationship Id="rId6"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9"/>
          <p:cNvSpPr txBox="1"/>
          <p:nvPr>
            <p:ph type="title"/>
          </p:nvPr>
        </p:nvSpPr>
        <p:spPr>
          <a:xfrm>
            <a:off x="685800" y="168275"/>
            <a:ext cx="8153400" cy="563563"/>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3600" u="none" cap="none" strike="noStrike">
                <a:solidFill>
                  <a:schemeClr val="accent2"/>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3600" u="none" cap="none" strike="noStrike">
                <a:solidFill>
                  <a:srgbClr val="002C5F"/>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3600" u="none" cap="none" strike="noStrike">
                <a:solidFill>
                  <a:srgbClr val="002C5F"/>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3600" u="none" cap="none" strike="noStrike">
                <a:solidFill>
                  <a:srgbClr val="002C5F"/>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3600" u="none" cap="none" strike="noStrike">
                <a:solidFill>
                  <a:srgbClr val="002C5F"/>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1" i="0" sz="3600" u="none" cap="none" strike="noStrike">
                <a:solidFill>
                  <a:srgbClr val="002C5F"/>
                </a:solidFill>
                <a:latin typeface="Arial"/>
                <a:ea typeface="Arial"/>
                <a:cs typeface="Arial"/>
                <a:sym typeface="Arial"/>
              </a:defRPr>
            </a:lvl6pPr>
            <a:lvl7pPr lvl="6" marR="0" rtl="0" algn="ctr">
              <a:lnSpc>
                <a:spcPct val="100000"/>
              </a:lnSpc>
              <a:spcBef>
                <a:spcPts val="0"/>
              </a:spcBef>
              <a:spcAft>
                <a:spcPts val="0"/>
              </a:spcAft>
              <a:buClr>
                <a:srgbClr val="000000"/>
              </a:buClr>
              <a:buSzPts val="1400"/>
              <a:buFont typeface="Arial"/>
              <a:buNone/>
              <a:defRPr b="1" i="0" sz="3600" u="none" cap="none" strike="noStrike">
                <a:solidFill>
                  <a:srgbClr val="002C5F"/>
                </a:solidFill>
                <a:latin typeface="Arial"/>
                <a:ea typeface="Arial"/>
                <a:cs typeface="Arial"/>
                <a:sym typeface="Arial"/>
              </a:defRPr>
            </a:lvl7pPr>
            <a:lvl8pPr lvl="7" marR="0" rtl="0" algn="ctr">
              <a:lnSpc>
                <a:spcPct val="100000"/>
              </a:lnSpc>
              <a:spcBef>
                <a:spcPts val="0"/>
              </a:spcBef>
              <a:spcAft>
                <a:spcPts val="0"/>
              </a:spcAft>
              <a:buClr>
                <a:srgbClr val="000000"/>
              </a:buClr>
              <a:buSzPts val="1400"/>
              <a:buFont typeface="Arial"/>
              <a:buNone/>
              <a:defRPr b="1" i="0" sz="3600" u="none" cap="none" strike="noStrike">
                <a:solidFill>
                  <a:srgbClr val="002C5F"/>
                </a:solidFill>
                <a:latin typeface="Arial"/>
                <a:ea typeface="Arial"/>
                <a:cs typeface="Arial"/>
                <a:sym typeface="Arial"/>
              </a:defRPr>
            </a:lvl8pPr>
            <a:lvl9pPr lvl="8" marR="0" rtl="0" algn="ctr">
              <a:lnSpc>
                <a:spcPct val="100000"/>
              </a:lnSpc>
              <a:spcBef>
                <a:spcPts val="0"/>
              </a:spcBef>
              <a:spcAft>
                <a:spcPts val="0"/>
              </a:spcAft>
              <a:buClr>
                <a:srgbClr val="000000"/>
              </a:buClr>
              <a:buSzPts val="1400"/>
              <a:buFont typeface="Arial"/>
              <a:buNone/>
              <a:defRPr b="1" i="0" sz="3600" u="none" cap="none" strike="noStrike">
                <a:solidFill>
                  <a:srgbClr val="002C5F"/>
                </a:solidFill>
                <a:latin typeface="Arial"/>
                <a:ea typeface="Arial"/>
                <a:cs typeface="Arial"/>
                <a:sym typeface="Arial"/>
              </a:defRPr>
            </a:lvl9pPr>
          </a:lstStyle>
          <a:p/>
        </p:txBody>
      </p:sp>
      <p:cxnSp>
        <p:nvCxnSpPr>
          <p:cNvPr id="11" name="Google Shape;11;p39"/>
          <p:cNvCxnSpPr/>
          <p:nvPr/>
        </p:nvCxnSpPr>
        <p:spPr>
          <a:xfrm>
            <a:off x="76200" y="762000"/>
            <a:ext cx="8763000" cy="1588"/>
          </a:xfrm>
          <a:prstGeom prst="straightConnector1">
            <a:avLst/>
          </a:prstGeom>
          <a:noFill/>
          <a:ln cap="flat" cmpd="sng" w="9525">
            <a:solidFill>
              <a:srgbClr val="AA9C8F"/>
            </a:solidFill>
            <a:prstDash val="solid"/>
            <a:round/>
            <a:headEnd len="sm" w="sm" type="none"/>
            <a:tailEnd len="sm" w="sm" type="none"/>
          </a:ln>
        </p:spPr>
      </p:cxnSp>
      <p:cxnSp>
        <p:nvCxnSpPr>
          <p:cNvPr id="12" name="Google Shape;12;p39"/>
          <p:cNvCxnSpPr/>
          <p:nvPr/>
        </p:nvCxnSpPr>
        <p:spPr>
          <a:xfrm>
            <a:off x="76200" y="6248400"/>
            <a:ext cx="8763000" cy="1588"/>
          </a:xfrm>
          <a:prstGeom prst="straightConnector1">
            <a:avLst/>
          </a:prstGeom>
          <a:noFill/>
          <a:ln cap="flat" cmpd="sng" w="9525">
            <a:solidFill>
              <a:srgbClr val="AA9C8F"/>
            </a:solidFill>
            <a:prstDash val="solid"/>
            <a:round/>
            <a:headEnd len="sm" w="sm" type="none"/>
            <a:tailEnd len="sm" w="sm" type="none"/>
          </a:ln>
        </p:spPr>
      </p:cxnSp>
      <p:pic>
        <p:nvPicPr>
          <p:cNvPr descr="http://www.nanobridge.ca/Portals/0/Images/eng-logo.jpg" id="13" name="Google Shape;13;p39"/>
          <p:cNvPicPr preferRelativeResize="0"/>
          <p:nvPr/>
        </p:nvPicPr>
        <p:blipFill rotWithShape="1">
          <a:blip r:embed="rId1">
            <a:alphaModFix/>
          </a:blip>
          <a:srcRect b="0" l="0" r="0" t="0"/>
          <a:stretch/>
        </p:blipFill>
        <p:spPr>
          <a:xfrm>
            <a:off x="761999" y="6307038"/>
            <a:ext cx="1838325" cy="55245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 name="Shape 28"/>
        <p:cNvGrpSpPr/>
        <p:nvPr/>
      </p:nvGrpSpPr>
      <p:grpSpPr>
        <a:xfrm>
          <a:off x="0" y="0"/>
          <a:ext cx="0" cy="0"/>
          <a:chOff x="0" y="0"/>
          <a:chExt cx="0" cy="0"/>
        </a:xfrm>
      </p:grpSpPr>
      <p:sp>
        <p:nvSpPr>
          <p:cNvPr id="29" name="Google Shape;29;p41"/>
          <p:cNvSpPr txBox="1"/>
          <p:nvPr>
            <p:ph type="title"/>
          </p:nvPr>
        </p:nvSpPr>
        <p:spPr>
          <a:xfrm>
            <a:off x="685800" y="168275"/>
            <a:ext cx="8153400" cy="563563"/>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3600" u="none" cap="none" strike="noStrike">
                <a:solidFill>
                  <a:schemeClr val="accent2"/>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3600" u="none" cap="none" strike="noStrike">
                <a:solidFill>
                  <a:srgbClr val="002C5F"/>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3600" u="none" cap="none" strike="noStrike">
                <a:solidFill>
                  <a:srgbClr val="002C5F"/>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3600" u="none" cap="none" strike="noStrike">
                <a:solidFill>
                  <a:srgbClr val="002C5F"/>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3600" u="none" cap="none" strike="noStrike">
                <a:solidFill>
                  <a:srgbClr val="002C5F"/>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1" i="0" sz="3600" u="none" cap="none" strike="noStrike">
                <a:solidFill>
                  <a:srgbClr val="002C5F"/>
                </a:solidFill>
                <a:latin typeface="Arial"/>
                <a:ea typeface="Arial"/>
                <a:cs typeface="Arial"/>
                <a:sym typeface="Arial"/>
              </a:defRPr>
            </a:lvl6pPr>
            <a:lvl7pPr lvl="6" marR="0" rtl="0" algn="ctr">
              <a:lnSpc>
                <a:spcPct val="100000"/>
              </a:lnSpc>
              <a:spcBef>
                <a:spcPts val="0"/>
              </a:spcBef>
              <a:spcAft>
                <a:spcPts val="0"/>
              </a:spcAft>
              <a:buClr>
                <a:srgbClr val="000000"/>
              </a:buClr>
              <a:buSzPts val="1400"/>
              <a:buFont typeface="Arial"/>
              <a:buNone/>
              <a:defRPr b="1" i="0" sz="3600" u="none" cap="none" strike="noStrike">
                <a:solidFill>
                  <a:srgbClr val="002C5F"/>
                </a:solidFill>
                <a:latin typeface="Arial"/>
                <a:ea typeface="Arial"/>
                <a:cs typeface="Arial"/>
                <a:sym typeface="Arial"/>
              </a:defRPr>
            </a:lvl7pPr>
            <a:lvl8pPr lvl="7" marR="0" rtl="0" algn="ctr">
              <a:lnSpc>
                <a:spcPct val="100000"/>
              </a:lnSpc>
              <a:spcBef>
                <a:spcPts val="0"/>
              </a:spcBef>
              <a:spcAft>
                <a:spcPts val="0"/>
              </a:spcAft>
              <a:buClr>
                <a:srgbClr val="000000"/>
              </a:buClr>
              <a:buSzPts val="1400"/>
              <a:buFont typeface="Arial"/>
              <a:buNone/>
              <a:defRPr b="1" i="0" sz="3600" u="none" cap="none" strike="noStrike">
                <a:solidFill>
                  <a:srgbClr val="002C5F"/>
                </a:solidFill>
                <a:latin typeface="Arial"/>
                <a:ea typeface="Arial"/>
                <a:cs typeface="Arial"/>
                <a:sym typeface="Arial"/>
              </a:defRPr>
            </a:lvl8pPr>
            <a:lvl9pPr lvl="8" marR="0" rtl="0" algn="ctr">
              <a:lnSpc>
                <a:spcPct val="100000"/>
              </a:lnSpc>
              <a:spcBef>
                <a:spcPts val="0"/>
              </a:spcBef>
              <a:spcAft>
                <a:spcPts val="0"/>
              </a:spcAft>
              <a:buClr>
                <a:srgbClr val="000000"/>
              </a:buClr>
              <a:buSzPts val="1400"/>
              <a:buFont typeface="Arial"/>
              <a:buNone/>
              <a:defRPr b="1" i="0" sz="3600" u="none" cap="none" strike="noStrike">
                <a:solidFill>
                  <a:srgbClr val="002C5F"/>
                </a:solidFill>
                <a:latin typeface="Arial"/>
                <a:ea typeface="Arial"/>
                <a:cs typeface="Arial"/>
                <a:sym typeface="Arial"/>
              </a:defRPr>
            </a:lvl9pPr>
          </a:lstStyle>
          <a:p/>
        </p:txBody>
      </p:sp>
      <p:cxnSp>
        <p:nvCxnSpPr>
          <p:cNvPr id="30" name="Google Shape;30;p41"/>
          <p:cNvCxnSpPr/>
          <p:nvPr/>
        </p:nvCxnSpPr>
        <p:spPr>
          <a:xfrm>
            <a:off x="76200" y="762000"/>
            <a:ext cx="8763000" cy="1588"/>
          </a:xfrm>
          <a:prstGeom prst="straightConnector1">
            <a:avLst/>
          </a:prstGeom>
          <a:noFill/>
          <a:ln cap="flat" cmpd="sng" w="9525">
            <a:solidFill>
              <a:srgbClr val="AA9C8F"/>
            </a:solidFill>
            <a:prstDash val="solid"/>
            <a:round/>
            <a:headEnd len="sm" w="sm" type="none"/>
            <a:tailEnd len="sm" w="sm" type="none"/>
          </a:ln>
        </p:spPr>
      </p:cxnSp>
      <p:cxnSp>
        <p:nvCxnSpPr>
          <p:cNvPr id="31" name="Google Shape;31;p41"/>
          <p:cNvCxnSpPr/>
          <p:nvPr/>
        </p:nvCxnSpPr>
        <p:spPr>
          <a:xfrm>
            <a:off x="76200" y="6248400"/>
            <a:ext cx="8763000" cy="1588"/>
          </a:xfrm>
          <a:prstGeom prst="straightConnector1">
            <a:avLst/>
          </a:prstGeom>
          <a:noFill/>
          <a:ln cap="flat" cmpd="sng" w="9525">
            <a:solidFill>
              <a:srgbClr val="AA9C8F"/>
            </a:solidFill>
            <a:prstDash val="solid"/>
            <a:round/>
            <a:headEnd len="sm" w="sm" type="none"/>
            <a:tailEnd len="sm" w="sm" type="none"/>
          </a:ln>
        </p:spPr>
      </p:cxnSp>
      <p:pic>
        <p:nvPicPr>
          <p:cNvPr descr="http://www.nanobridge.ca/Portals/0/Images/eng-logo.jpg" id="32" name="Google Shape;32;p41"/>
          <p:cNvPicPr preferRelativeResize="0"/>
          <p:nvPr/>
        </p:nvPicPr>
        <p:blipFill rotWithShape="1">
          <a:blip r:embed="rId1">
            <a:alphaModFix/>
          </a:blip>
          <a:srcRect b="0" l="0" r="0" t="0"/>
          <a:stretch/>
        </p:blipFill>
        <p:spPr>
          <a:xfrm>
            <a:off x="761999" y="6307038"/>
            <a:ext cx="1838325" cy="55245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4" r:id="rId2"/>
    <p:sldLayoutId id="2147483655" r:id="rId3"/>
    <p:sldLayoutId id="2147483656" r:id="rId4"/>
    <p:sldLayoutId id="2147483657"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7" name="Shape 47"/>
        <p:cNvGrpSpPr/>
        <p:nvPr/>
      </p:nvGrpSpPr>
      <p:grpSpPr>
        <a:xfrm>
          <a:off x="0" y="0"/>
          <a:ext cx="0" cy="0"/>
          <a:chOff x="0" y="0"/>
          <a:chExt cx="0" cy="0"/>
        </a:xfrm>
      </p:grpSpPr>
      <p:sp>
        <p:nvSpPr>
          <p:cNvPr id="48" name="Google Shape;48;p44"/>
          <p:cNvSpPr txBox="1"/>
          <p:nvPr>
            <p:ph type="title"/>
          </p:nvPr>
        </p:nvSpPr>
        <p:spPr>
          <a:xfrm>
            <a:off x="685800" y="168275"/>
            <a:ext cx="8153400" cy="563563"/>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3600" u="none" cap="none" strike="noStrike">
                <a:solidFill>
                  <a:schemeClr val="accent2"/>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3600" u="none" cap="none" strike="noStrike">
                <a:solidFill>
                  <a:srgbClr val="002C5F"/>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3600" u="none" cap="none" strike="noStrike">
                <a:solidFill>
                  <a:srgbClr val="002C5F"/>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3600" u="none" cap="none" strike="noStrike">
                <a:solidFill>
                  <a:srgbClr val="002C5F"/>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3600" u="none" cap="none" strike="noStrike">
                <a:solidFill>
                  <a:srgbClr val="002C5F"/>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1" i="0" sz="3600" u="none" cap="none" strike="noStrike">
                <a:solidFill>
                  <a:srgbClr val="002C5F"/>
                </a:solidFill>
                <a:latin typeface="Arial"/>
                <a:ea typeface="Arial"/>
                <a:cs typeface="Arial"/>
                <a:sym typeface="Arial"/>
              </a:defRPr>
            </a:lvl6pPr>
            <a:lvl7pPr lvl="6" marR="0" rtl="0" algn="ctr">
              <a:lnSpc>
                <a:spcPct val="100000"/>
              </a:lnSpc>
              <a:spcBef>
                <a:spcPts val="0"/>
              </a:spcBef>
              <a:spcAft>
                <a:spcPts val="0"/>
              </a:spcAft>
              <a:buClr>
                <a:srgbClr val="000000"/>
              </a:buClr>
              <a:buSzPts val="1400"/>
              <a:buFont typeface="Arial"/>
              <a:buNone/>
              <a:defRPr b="1" i="0" sz="3600" u="none" cap="none" strike="noStrike">
                <a:solidFill>
                  <a:srgbClr val="002C5F"/>
                </a:solidFill>
                <a:latin typeface="Arial"/>
                <a:ea typeface="Arial"/>
                <a:cs typeface="Arial"/>
                <a:sym typeface="Arial"/>
              </a:defRPr>
            </a:lvl7pPr>
            <a:lvl8pPr lvl="7" marR="0" rtl="0" algn="ctr">
              <a:lnSpc>
                <a:spcPct val="100000"/>
              </a:lnSpc>
              <a:spcBef>
                <a:spcPts val="0"/>
              </a:spcBef>
              <a:spcAft>
                <a:spcPts val="0"/>
              </a:spcAft>
              <a:buClr>
                <a:srgbClr val="000000"/>
              </a:buClr>
              <a:buSzPts val="1400"/>
              <a:buFont typeface="Arial"/>
              <a:buNone/>
              <a:defRPr b="1" i="0" sz="3600" u="none" cap="none" strike="noStrike">
                <a:solidFill>
                  <a:srgbClr val="002C5F"/>
                </a:solidFill>
                <a:latin typeface="Arial"/>
                <a:ea typeface="Arial"/>
                <a:cs typeface="Arial"/>
                <a:sym typeface="Arial"/>
              </a:defRPr>
            </a:lvl8pPr>
            <a:lvl9pPr lvl="8" marR="0" rtl="0" algn="ctr">
              <a:lnSpc>
                <a:spcPct val="100000"/>
              </a:lnSpc>
              <a:spcBef>
                <a:spcPts val="0"/>
              </a:spcBef>
              <a:spcAft>
                <a:spcPts val="0"/>
              </a:spcAft>
              <a:buClr>
                <a:srgbClr val="000000"/>
              </a:buClr>
              <a:buSzPts val="1400"/>
              <a:buFont typeface="Arial"/>
              <a:buNone/>
              <a:defRPr b="1" i="0" sz="3600" u="none" cap="none" strike="noStrike">
                <a:solidFill>
                  <a:srgbClr val="002C5F"/>
                </a:solidFill>
                <a:latin typeface="Arial"/>
                <a:ea typeface="Arial"/>
                <a:cs typeface="Arial"/>
                <a:sym typeface="Arial"/>
              </a:defRPr>
            </a:lvl9pPr>
          </a:lstStyle>
          <a:p/>
        </p:txBody>
      </p:sp>
      <p:cxnSp>
        <p:nvCxnSpPr>
          <p:cNvPr id="49" name="Google Shape;49;p44"/>
          <p:cNvCxnSpPr/>
          <p:nvPr/>
        </p:nvCxnSpPr>
        <p:spPr>
          <a:xfrm>
            <a:off x="76200" y="762000"/>
            <a:ext cx="8763000" cy="1588"/>
          </a:xfrm>
          <a:prstGeom prst="straightConnector1">
            <a:avLst/>
          </a:prstGeom>
          <a:noFill/>
          <a:ln cap="flat" cmpd="sng" w="9525">
            <a:solidFill>
              <a:srgbClr val="AA9C8F"/>
            </a:solidFill>
            <a:prstDash val="solid"/>
            <a:round/>
            <a:headEnd len="sm" w="sm" type="none"/>
            <a:tailEnd len="sm" w="sm" type="none"/>
          </a:ln>
        </p:spPr>
      </p:cxnSp>
      <p:cxnSp>
        <p:nvCxnSpPr>
          <p:cNvPr id="50" name="Google Shape;50;p44"/>
          <p:cNvCxnSpPr/>
          <p:nvPr/>
        </p:nvCxnSpPr>
        <p:spPr>
          <a:xfrm>
            <a:off x="76200" y="6248400"/>
            <a:ext cx="8763000" cy="1588"/>
          </a:xfrm>
          <a:prstGeom prst="straightConnector1">
            <a:avLst/>
          </a:prstGeom>
          <a:noFill/>
          <a:ln cap="flat" cmpd="sng" w="9525">
            <a:solidFill>
              <a:srgbClr val="AA9C8F"/>
            </a:solidFill>
            <a:prstDash val="solid"/>
            <a:round/>
            <a:headEnd len="sm" w="sm" type="none"/>
            <a:tailEnd len="sm" w="sm" type="none"/>
          </a:ln>
        </p:spPr>
      </p:cxnSp>
      <p:pic>
        <p:nvPicPr>
          <p:cNvPr descr="http://www.nanobridge.ca/Portals/0/Images/eng-logo.jpg" id="51" name="Google Shape;51;p44"/>
          <p:cNvPicPr preferRelativeResize="0"/>
          <p:nvPr/>
        </p:nvPicPr>
        <p:blipFill rotWithShape="1">
          <a:blip r:embed="rId1">
            <a:alphaModFix/>
          </a:blip>
          <a:srcRect b="0" l="0" r="0" t="0"/>
          <a:stretch/>
        </p:blipFill>
        <p:spPr>
          <a:xfrm>
            <a:off x="761999" y="6307038"/>
            <a:ext cx="1838325" cy="55245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6" name="Shape 66"/>
        <p:cNvGrpSpPr/>
        <p:nvPr/>
      </p:nvGrpSpPr>
      <p:grpSpPr>
        <a:xfrm>
          <a:off x="0" y="0"/>
          <a:ext cx="0" cy="0"/>
          <a:chOff x="0" y="0"/>
          <a:chExt cx="0" cy="0"/>
        </a:xfrm>
      </p:grpSpPr>
      <p:sp>
        <p:nvSpPr>
          <p:cNvPr id="67" name="Google Shape;67;p55"/>
          <p:cNvSpPr txBox="1"/>
          <p:nvPr>
            <p:ph type="title"/>
          </p:nvPr>
        </p:nvSpPr>
        <p:spPr>
          <a:xfrm>
            <a:off x="685800" y="168275"/>
            <a:ext cx="8153400" cy="563563"/>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3600" u="none" cap="none" strike="noStrike">
                <a:solidFill>
                  <a:schemeClr val="accent2"/>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3600" u="none" cap="none" strike="noStrike">
                <a:solidFill>
                  <a:srgbClr val="002C5F"/>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3600" u="none" cap="none" strike="noStrike">
                <a:solidFill>
                  <a:srgbClr val="002C5F"/>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3600" u="none" cap="none" strike="noStrike">
                <a:solidFill>
                  <a:srgbClr val="002C5F"/>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3600" u="none" cap="none" strike="noStrike">
                <a:solidFill>
                  <a:srgbClr val="002C5F"/>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1" i="0" sz="3600" u="none" cap="none" strike="noStrike">
                <a:solidFill>
                  <a:srgbClr val="002C5F"/>
                </a:solidFill>
                <a:latin typeface="Arial"/>
                <a:ea typeface="Arial"/>
                <a:cs typeface="Arial"/>
                <a:sym typeface="Arial"/>
              </a:defRPr>
            </a:lvl6pPr>
            <a:lvl7pPr lvl="6" marR="0" rtl="0" algn="ctr">
              <a:lnSpc>
                <a:spcPct val="100000"/>
              </a:lnSpc>
              <a:spcBef>
                <a:spcPts val="0"/>
              </a:spcBef>
              <a:spcAft>
                <a:spcPts val="0"/>
              </a:spcAft>
              <a:buClr>
                <a:srgbClr val="000000"/>
              </a:buClr>
              <a:buSzPts val="1400"/>
              <a:buFont typeface="Arial"/>
              <a:buNone/>
              <a:defRPr b="1" i="0" sz="3600" u="none" cap="none" strike="noStrike">
                <a:solidFill>
                  <a:srgbClr val="002C5F"/>
                </a:solidFill>
                <a:latin typeface="Arial"/>
                <a:ea typeface="Arial"/>
                <a:cs typeface="Arial"/>
                <a:sym typeface="Arial"/>
              </a:defRPr>
            </a:lvl7pPr>
            <a:lvl8pPr lvl="7" marR="0" rtl="0" algn="ctr">
              <a:lnSpc>
                <a:spcPct val="100000"/>
              </a:lnSpc>
              <a:spcBef>
                <a:spcPts val="0"/>
              </a:spcBef>
              <a:spcAft>
                <a:spcPts val="0"/>
              </a:spcAft>
              <a:buClr>
                <a:srgbClr val="000000"/>
              </a:buClr>
              <a:buSzPts val="1400"/>
              <a:buFont typeface="Arial"/>
              <a:buNone/>
              <a:defRPr b="1" i="0" sz="3600" u="none" cap="none" strike="noStrike">
                <a:solidFill>
                  <a:srgbClr val="002C5F"/>
                </a:solidFill>
                <a:latin typeface="Arial"/>
                <a:ea typeface="Arial"/>
                <a:cs typeface="Arial"/>
                <a:sym typeface="Arial"/>
              </a:defRPr>
            </a:lvl8pPr>
            <a:lvl9pPr lvl="8" marR="0" rtl="0" algn="ctr">
              <a:lnSpc>
                <a:spcPct val="100000"/>
              </a:lnSpc>
              <a:spcBef>
                <a:spcPts val="0"/>
              </a:spcBef>
              <a:spcAft>
                <a:spcPts val="0"/>
              </a:spcAft>
              <a:buClr>
                <a:srgbClr val="000000"/>
              </a:buClr>
              <a:buSzPts val="1400"/>
              <a:buFont typeface="Arial"/>
              <a:buNone/>
              <a:defRPr b="1" i="0" sz="3600" u="none" cap="none" strike="noStrike">
                <a:solidFill>
                  <a:srgbClr val="002C5F"/>
                </a:solidFill>
                <a:latin typeface="Arial"/>
                <a:ea typeface="Arial"/>
                <a:cs typeface="Arial"/>
                <a:sym typeface="Arial"/>
              </a:defRPr>
            </a:lvl9pPr>
          </a:lstStyle>
          <a:p/>
        </p:txBody>
      </p:sp>
      <p:cxnSp>
        <p:nvCxnSpPr>
          <p:cNvPr id="68" name="Google Shape;68;p55"/>
          <p:cNvCxnSpPr/>
          <p:nvPr/>
        </p:nvCxnSpPr>
        <p:spPr>
          <a:xfrm>
            <a:off x="76200" y="762000"/>
            <a:ext cx="8763000" cy="1588"/>
          </a:xfrm>
          <a:prstGeom prst="straightConnector1">
            <a:avLst/>
          </a:prstGeom>
          <a:noFill/>
          <a:ln cap="flat" cmpd="sng" w="9525">
            <a:solidFill>
              <a:srgbClr val="AA9C8F"/>
            </a:solidFill>
            <a:prstDash val="solid"/>
            <a:round/>
            <a:headEnd len="sm" w="sm" type="none"/>
            <a:tailEnd len="sm" w="sm" type="none"/>
          </a:ln>
        </p:spPr>
      </p:cxnSp>
      <p:cxnSp>
        <p:nvCxnSpPr>
          <p:cNvPr id="69" name="Google Shape;69;p55"/>
          <p:cNvCxnSpPr/>
          <p:nvPr/>
        </p:nvCxnSpPr>
        <p:spPr>
          <a:xfrm>
            <a:off x="76200" y="6248400"/>
            <a:ext cx="8763000" cy="1588"/>
          </a:xfrm>
          <a:prstGeom prst="straightConnector1">
            <a:avLst/>
          </a:prstGeom>
          <a:noFill/>
          <a:ln cap="flat" cmpd="sng" w="9525">
            <a:solidFill>
              <a:srgbClr val="AA9C8F"/>
            </a:solidFill>
            <a:prstDash val="solid"/>
            <a:round/>
            <a:headEnd len="sm" w="sm" type="none"/>
            <a:tailEnd len="sm" w="sm" type="none"/>
          </a:ln>
        </p:spPr>
      </p:cxnSp>
      <p:pic>
        <p:nvPicPr>
          <p:cNvPr descr="http://www.nanobridge.ca/Portals/0/Images/eng-logo.jpg" id="70" name="Google Shape;70;p55"/>
          <p:cNvPicPr preferRelativeResize="0"/>
          <p:nvPr/>
        </p:nvPicPr>
        <p:blipFill rotWithShape="1">
          <a:blip r:embed="rId1">
            <a:alphaModFix/>
          </a:blip>
          <a:srcRect b="0" l="0" r="0" t="0"/>
          <a:stretch/>
        </p:blipFill>
        <p:spPr>
          <a:xfrm>
            <a:off x="761999" y="6307038"/>
            <a:ext cx="1838325" cy="55245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4" r:id="rId2"/>
    <p:sldLayoutId id="2147483665" r:id="rId3"/>
    <p:sldLayoutId id="2147483666" r:id="rId4"/>
    <p:sldLayoutId id="2147483667"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5" name="Shape 85"/>
        <p:cNvGrpSpPr/>
        <p:nvPr/>
      </p:nvGrpSpPr>
      <p:grpSpPr>
        <a:xfrm>
          <a:off x="0" y="0"/>
          <a:ext cx="0" cy="0"/>
          <a:chOff x="0" y="0"/>
          <a:chExt cx="0" cy="0"/>
        </a:xfrm>
      </p:grpSpPr>
      <p:sp>
        <p:nvSpPr>
          <p:cNvPr id="86" name="Google Shape;86;p61"/>
          <p:cNvSpPr txBox="1"/>
          <p:nvPr>
            <p:ph type="title"/>
          </p:nvPr>
        </p:nvSpPr>
        <p:spPr>
          <a:xfrm>
            <a:off x="685800" y="168275"/>
            <a:ext cx="8153400" cy="563563"/>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3600" u="none" cap="none" strike="noStrike">
                <a:solidFill>
                  <a:schemeClr val="accent2"/>
                </a:solidFill>
                <a:latin typeface="Calibri"/>
                <a:ea typeface="Calibri"/>
                <a:cs typeface="Calibri"/>
                <a:sym typeface="Calibri"/>
              </a:defRPr>
            </a:lvl1pPr>
            <a:lvl2pPr lvl="1"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2pPr>
            <a:lvl3pPr lvl="2"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3pPr>
            <a:lvl4pPr lvl="3"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4pPr>
            <a:lvl5pPr lvl="4"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5pPr>
            <a:lvl6pPr lvl="5"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6pPr>
            <a:lvl7pPr lvl="6"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7pPr>
            <a:lvl8pPr lvl="7"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8pPr>
            <a:lvl9pPr lvl="8"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9pPr>
          </a:lstStyle>
          <a:p/>
        </p:txBody>
      </p:sp>
      <p:cxnSp>
        <p:nvCxnSpPr>
          <p:cNvPr id="87" name="Google Shape;87;p61"/>
          <p:cNvCxnSpPr/>
          <p:nvPr/>
        </p:nvCxnSpPr>
        <p:spPr>
          <a:xfrm>
            <a:off x="76200" y="762000"/>
            <a:ext cx="8763000" cy="1588"/>
          </a:xfrm>
          <a:prstGeom prst="straightConnector1">
            <a:avLst/>
          </a:prstGeom>
          <a:noFill/>
          <a:ln cap="flat" cmpd="sng" w="9525">
            <a:solidFill>
              <a:srgbClr val="AA9C8F"/>
            </a:solidFill>
            <a:prstDash val="solid"/>
            <a:round/>
            <a:headEnd len="sm" w="sm" type="none"/>
            <a:tailEnd len="sm" w="sm" type="none"/>
          </a:ln>
        </p:spPr>
      </p:cxnSp>
      <p:cxnSp>
        <p:nvCxnSpPr>
          <p:cNvPr id="88" name="Google Shape;88;p61"/>
          <p:cNvCxnSpPr/>
          <p:nvPr/>
        </p:nvCxnSpPr>
        <p:spPr>
          <a:xfrm>
            <a:off x="76200" y="6248400"/>
            <a:ext cx="8763000" cy="1588"/>
          </a:xfrm>
          <a:prstGeom prst="straightConnector1">
            <a:avLst/>
          </a:prstGeom>
          <a:noFill/>
          <a:ln cap="flat" cmpd="sng" w="9525">
            <a:solidFill>
              <a:srgbClr val="AA9C8F"/>
            </a:solidFill>
            <a:prstDash val="solid"/>
            <a:round/>
            <a:headEnd len="sm" w="sm" type="none"/>
            <a:tailEnd len="sm" w="sm" type="none"/>
          </a:ln>
        </p:spPr>
      </p:cxnSp>
      <p:pic>
        <p:nvPicPr>
          <p:cNvPr descr="http://www.nanobridge.ca/Portals/0/Images/eng-logo.jpg" id="89" name="Google Shape;89;p61"/>
          <p:cNvPicPr preferRelativeResize="0"/>
          <p:nvPr/>
        </p:nvPicPr>
        <p:blipFill rotWithShape="1">
          <a:blip r:embed="rId1">
            <a:alphaModFix/>
          </a:blip>
          <a:srcRect b="0" l="0" r="0" t="0"/>
          <a:stretch/>
        </p:blipFill>
        <p:spPr>
          <a:xfrm>
            <a:off x="761999" y="6307038"/>
            <a:ext cx="1838325" cy="55245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9" r:id="rId2"/>
    <p:sldLayoutId id="2147483670" r:id="rId3"/>
    <p:sldLayoutId id="2147483671" r:id="rId4"/>
    <p:sldLayoutId id="2147483672"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2.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6.png"/><Relationship Id="rId4"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
          <p:cNvSpPr txBox="1"/>
          <p:nvPr/>
        </p:nvSpPr>
        <p:spPr>
          <a:xfrm>
            <a:off x="228600" y="838200"/>
            <a:ext cx="8610600" cy="166214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99"/>
              </a:buClr>
              <a:buSzPts val="3600"/>
              <a:buFont typeface="Calibri"/>
              <a:buNone/>
            </a:pPr>
            <a:r>
              <a:rPr b="1" i="1" lang="en-US" sz="3600" u="none" cap="none" strike="noStrike">
                <a:solidFill>
                  <a:srgbClr val="000099"/>
                </a:solidFill>
                <a:latin typeface="Calibri"/>
                <a:ea typeface="Calibri"/>
                <a:cs typeface="Calibri"/>
                <a:sym typeface="Calibri"/>
              </a:rPr>
              <a:t>On Becoming a </a:t>
            </a:r>
            <a:br>
              <a:rPr b="1" i="1" lang="en-US" sz="3600" u="none" cap="none" strike="noStrike">
                <a:solidFill>
                  <a:srgbClr val="000099"/>
                </a:solidFill>
                <a:latin typeface="Calibri"/>
                <a:ea typeface="Calibri"/>
                <a:cs typeface="Calibri"/>
                <a:sym typeface="Calibri"/>
              </a:rPr>
            </a:br>
            <a:r>
              <a:rPr b="1" i="1" lang="en-US" sz="3600" u="none" cap="none" strike="noStrike">
                <a:solidFill>
                  <a:srgbClr val="000099"/>
                </a:solidFill>
                <a:latin typeface="Calibri"/>
                <a:ea typeface="Calibri"/>
                <a:cs typeface="Calibri"/>
                <a:sym typeface="Calibri"/>
              </a:rPr>
              <a:t>Leader in Risk Management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AA9C8F"/>
              </a:buClr>
              <a:buSzPts val="3200"/>
              <a:buFont typeface="Arial"/>
              <a:buNone/>
            </a:pPr>
            <a:r>
              <a:rPr b="1" i="0" lang="en-US" sz="3200" u="none" cap="none" strike="noStrike">
                <a:solidFill>
                  <a:srgbClr val="000000"/>
                </a:solidFill>
                <a:latin typeface="Arial"/>
                <a:ea typeface="Arial"/>
                <a:cs typeface="Arial"/>
                <a:sym typeface="Arial"/>
              </a:rPr>
              <a:t>ENGG404 - Lecture</a:t>
            </a:r>
            <a:endParaRPr b="1" i="1" sz="3600" u="none" cap="none" strike="noStrike">
              <a:solidFill>
                <a:srgbClr val="000099"/>
              </a:solidFill>
              <a:latin typeface="Calibri"/>
              <a:ea typeface="Calibri"/>
              <a:cs typeface="Calibri"/>
              <a:sym typeface="Calibri"/>
            </a:endParaRPr>
          </a:p>
        </p:txBody>
      </p:sp>
      <p:sp>
        <p:nvSpPr>
          <p:cNvPr id="109" name="Google Shape;109;p1"/>
          <p:cNvSpPr txBox="1"/>
          <p:nvPr>
            <p:ph idx="1" type="subTitle"/>
          </p:nvPr>
        </p:nvSpPr>
        <p:spPr>
          <a:xfrm>
            <a:off x="228600" y="2500342"/>
            <a:ext cx="8610600" cy="2224058"/>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AA9C8F"/>
              </a:buClr>
              <a:buSzPts val="2400"/>
              <a:buFont typeface="Noto Sans Symbols"/>
              <a:buNone/>
            </a:pPr>
            <a:r>
              <a:rPr b="1" i="0" lang="en-US" sz="2400" u="none" cap="none" strike="noStrike">
                <a:solidFill>
                  <a:schemeClr val="dk2"/>
                </a:solidFill>
                <a:latin typeface="Arial"/>
                <a:ea typeface="Arial"/>
                <a:cs typeface="Arial"/>
                <a:sym typeface="Arial"/>
              </a:rPr>
              <a:t>Chapter 4.2: Cause and Effect Model for Incident Analysis</a:t>
            </a:r>
            <a:endParaRPr/>
          </a:p>
          <a:p>
            <a:pPr indent="0" lvl="0" marL="0" marR="0" rtl="0" algn="ctr">
              <a:lnSpc>
                <a:spcPct val="100000"/>
              </a:lnSpc>
              <a:spcBef>
                <a:spcPts val="0"/>
              </a:spcBef>
              <a:spcAft>
                <a:spcPts val="0"/>
              </a:spcAft>
              <a:buClr>
                <a:srgbClr val="AA9C8F"/>
              </a:buClr>
              <a:buSzPts val="2400"/>
              <a:buFont typeface="Noto Sans Symbols"/>
              <a:buNone/>
            </a:pPr>
            <a:r>
              <a:t/>
            </a:r>
            <a:endParaRPr b="1" i="0" sz="2400" u="none" cap="none" strike="noStrike">
              <a:solidFill>
                <a:schemeClr val="dk2"/>
              </a:solidFill>
              <a:latin typeface="Arial"/>
              <a:ea typeface="Arial"/>
              <a:cs typeface="Arial"/>
              <a:sym typeface="Arial"/>
            </a:endParaRPr>
          </a:p>
          <a:p>
            <a:pPr indent="0" lvl="0" marL="0" marR="0" rtl="0" algn="ctr">
              <a:lnSpc>
                <a:spcPct val="100000"/>
              </a:lnSpc>
              <a:spcBef>
                <a:spcPts val="0"/>
              </a:spcBef>
              <a:spcAft>
                <a:spcPts val="0"/>
              </a:spcAft>
              <a:buClr>
                <a:srgbClr val="AA9C8F"/>
              </a:buClr>
              <a:buSzPts val="2400"/>
              <a:buFont typeface="Noto Sans Symbols"/>
              <a:buNone/>
            </a:pPr>
            <a:r>
              <a:rPr b="1" i="0" lang="en-US" sz="2400" u="none" cap="none" strike="noStrike">
                <a:solidFill>
                  <a:schemeClr val="dk2"/>
                </a:solidFill>
                <a:latin typeface="Arial"/>
                <a:ea typeface="Arial"/>
                <a:cs typeface="Arial"/>
                <a:sym typeface="Arial"/>
              </a:rPr>
              <a:t>Chapter 4.3: Root Cause Analysis of an Incident</a:t>
            </a:r>
            <a:endParaRPr/>
          </a:p>
          <a:p>
            <a:pPr indent="0" lvl="0" marL="0" marR="0" rtl="0" algn="ctr">
              <a:lnSpc>
                <a:spcPct val="100000"/>
              </a:lnSpc>
              <a:spcBef>
                <a:spcPts val="0"/>
              </a:spcBef>
              <a:spcAft>
                <a:spcPts val="0"/>
              </a:spcAft>
              <a:buClr>
                <a:srgbClr val="AA9C8F"/>
              </a:buClr>
              <a:buSzPts val="2400"/>
              <a:buFont typeface="Noto Sans Symbols"/>
              <a:buNone/>
            </a:pPr>
            <a:r>
              <a:t/>
            </a:r>
            <a:endParaRPr b="1" i="0" sz="2400" u="none" cap="none" strike="noStrike">
              <a:solidFill>
                <a:schemeClr val="dk2"/>
              </a:solidFill>
              <a:latin typeface="Arial"/>
              <a:ea typeface="Arial"/>
              <a:cs typeface="Arial"/>
              <a:sym typeface="Arial"/>
            </a:endParaRPr>
          </a:p>
          <a:p>
            <a:pPr indent="0" lvl="0" marL="0" marR="0" rtl="0" algn="ctr">
              <a:lnSpc>
                <a:spcPct val="100000"/>
              </a:lnSpc>
              <a:spcBef>
                <a:spcPts val="0"/>
              </a:spcBef>
              <a:spcAft>
                <a:spcPts val="0"/>
              </a:spcAft>
              <a:buClr>
                <a:srgbClr val="AA9C8F"/>
              </a:buClr>
              <a:buSzPts val="3200"/>
              <a:buFont typeface="Noto Sans Symbols"/>
              <a:buNone/>
            </a:pPr>
            <a:r>
              <a:rPr b="1" i="0" lang="en-US" sz="3200" u="none" cap="none" strike="noStrike">
                <a:solidFill>
                  <a:schemeClr val="dk2"/>
                </a:solidFill>
                <a:latin typeface="Arial"/>
                <a:ea typeface="Arial"/>
                <a:cs typeface="Arial"/>
                <a:sym typeface="Arial"/>
              </a:rPr>
              <a:t>- Latent Causes -</a:t>
            </a:r>
            <a:endParaRPr b="1" i="0" sz="3200" u="none" cap="none" strike="noStrike">
              <a:solidFill>
                <a:schemeClr val="dk2"/>
              </a:solidFill>
              <a:latin typeface="Arial"/>
              <a:ea typeface="Arial"/>
              <a:cs typeface="Arial"/>
              <a:sym typeface="Arial"/>
            </a:endParaRPr>
          </a:p>
        </p:txBody>
      </p:sp>
      <p:sp>
        <p:nvSpPr>
          <p:cNvPr id="110" name="Google Shape;110;p1"/>
          <p:cNvSpPr txBox="1"/>
          <p:nvPr/>
        </p:nvSpPr>
        <p:spPr>
          <a:xfrm>
            <a:off x="152402" y="176015"/>
            <a:ext cx="1176817"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Fundamentals of RM</a:t>
            </a:r>
            <a:endParaRPr b="0" i="0" sz="1400" u="none" cap="none" strike="noStrike">
              <a:solidFill>
                <a:srgbClr val="000000"/>
              </a:solidFill>
              <a:latin typeface="Arial"/>
              <a:ea typeface="Arial"/>
              <a:cs typeface="Arial"/>
              <a:sym typeface="Arial"/>
            </a:endParaRPr>
          </a:p>
        </p:txBody>
      </p:sp>
      <p:sp>
        <p:nvSpPr>
          <p:cNvPr id="111" name="Google Shape;111;p1"/>
          <p:cNvSpPr txBox="1"/>
          <p:nvPr/>
        </p:nvSpPr>
        <p:spPr>
          <a:xfrm>
            <a:off x="1481037" y="169908"/>
            <a:ext cx="1024999"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RM System and Process</a:t>
            </a:r>
            <a:endParaRPr b="0" i="0" sz="1400" u="none" cap="none" strike="noStrike">
              <a:solidFill>
                <a:srgbClr val="000000"/>
              </a:solidFill>
              <a:latin typeface="Arial"/>
              <a:ea typeface="Arial"/>
              <a:cs typeface="Arial"/>
              <a:sym typeface="Arial"/>
            </a:endParaRPr>
          </a:p>
        </p:txBody>
      </p:sp>
      <p:sp>
        <p:nvSpPr>
          <p:cNvPr id="112" name="Google Shape;112;p1"/>
          <p:cNvSpPr txBox="1"/>
          <p:nvPr/>
        </p:nvSpPr>
        <p:spPr>
          <a:xfrm>
            <a:off x="7874130" y="169908"/>
            <a:ext cx="1155550"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Application and Perspectives</a:t>
            </a:r>
            <a:endParaRPr b="0" i="0" sz="1400" u="none" cap="none" strike="noStrike">
              <a:solidFill>
                <a:srgbClr val="000000"/>
              </a:solidFill>
              <a:latin typeface="Arial"/>
              <a:ea typeface="Arial"/>
              <a:cs typeface="Arial"/>
              <a:sym typeface="Arial"/>
            </a:endParaRPr>
          </a:p>
        </p:txBody>
      </p:sp>
      <p:sp>
        <p:nvSpPr>
          <p:cNvPr id="113" name="Google Shape;113;p1"/>
          <p:cNvSpPr txBox="1"/>
          <p:nvPr/>
        </p:nvSpPr>
        <p:spPr>
          <a:xfrm>
            <a:off x="7051217" y="169908"/>
            <a:ext cx="671096"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People &amp; Org.</a:t>
            </a:r>
            <a:endParaRPr b="0" i="0" sz="1400" u="none" cap="none" strike="noStrike">
              <a:solidFill>
                <a:srgbClr val="000000"/>
              </a:solidFill>
              <a:latin typeface="Arial"/>
              <a:ea typeface="Arial"/>
              <a:cs typeface="Arial"/>
              <a:sym typeface="Arial"/>
            </a:endParaRPr>
          </a:p>
        </p:txBody>
      </p:sp>
      <p:sp>
        <p:nvSpPr>
          <p:cNvPr id="114" name="Google Shape;114;p1"/>
          <p:cNvSpPr txBox="1"/>
          <p:nvPr/>
        </p:nvSpPr>
        <p:spPr>
          <a:xfrm>
            <a:off x="3834670" y="169908"/>
            <a:ext cx="1024999" cy="461665"/>
          </a:xfrm>
          <a:prstGeom prst="rect">
            <a:avLst/>
          </a:prstGeom>
          <a:solidFill>
            <a:srgbClr val="FFFF00"/>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Incident Investigation</a:t>
            </a:r>
            <a:endParaRPr b="0" i="0" sz="1400" u="none" cap="none" strike="noStrike">
              <a:solidFill>
                <a:srgbClr val="000000"/>
              </a:solidFill>
              <a:latin typeface="Arial"/>
              <a:ea typeface="Arial"/>
              <a:cs typeface="Arial"/>
              <a:sym typeface="Arial"/>
            </a:endParaRPr>
          </a:p>
        </p:txBody>
      </p:sp>
      <p:sp>
        <p:nvSpPr>
          <p:cNvPr id="115" name="Google Shape;115;p1"/>
          <p:cNvSpPr txBox="1"/>
          <p:nvPr/>
        </p:nvSpPr>
        <p:spPr>
          <a:xfrm>
            <a:off x="5011486" y="169908"/>
            <a:ext cx="1024999"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RM Tools &amp; Challenges</a:t>
            </a:r>
            <a:endParaRPr b="0" i="0" sz="1400" u="none" cap="none" strike="noStrike">
              <a:solidFill>
                <a:srgbClr val="000000"/>
              </a:solidFill>
              <a:latin typeface="Arial"/>
              <a:ea typeface="Arial"/>
              <a:cs typeface="Arial"/>
              <a:sym typeface="Arial"/>
            </a:endParaRPr>
          </a:p>
        </p:txBody>
      </p:sp>
      <p:sp>
        <p:nvSpPr>
          <p:cNvPr id="116" name="Google Shape;116;p1"/>
          <p:cNvSpPr txBox="1"/>
          <p:nvPr/>
        </p:nvSpPr>
        <p:spPr>
          <a:xfrm>
            <a:off x="2657853" y="170432"/>
            <a:ext cx="1024999"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Leadership in RM</a:t>
            </a:r>
            <a:endParaRPr b="0" i="0" sz="1400" u="none" cap="none" strike="noStrike">
              <a:solidFill>
                <a:srgbClr val="000000"/>
              </a:solidFill>
              <a:latin typeface="Arial"/>
              <a:ea typeface="Arial"/>
              <a:cs typeface="Arial"/>
              <a:sym typeface="Arial"/>
            </a:endParaRPr>
          </a:p>
        </p:txBody>
      </p:sp>
      <p:cxnSp>
        <p:nvCxnSpPr>
          <p:cNvPr id="117" name="Google Shape;117;p1"/>
          <p:cNvCxnSpPr>
            <a:stCxn id="110" idx="3"/>
            <a:endCxn id="111" idx="1"/>
          </p:cNvCxnSpPr>
          <p:nvPr/>
        </p:nvCxnSpPr>
        <p:spPr>
          <a:xfrm flipH="1" rot="10800000">
            <a:off x="1329219" y="400848"/>
            <a:ext cx="151800" cy="6000"/>
          </a:xfrm>
          <a:prstGeom prst="straightConnector1">
            <a:avLst/>
          </a:prstGeom>
          <a:noFill/>
          <a:ln cap="flat" cmpd="sng" w="9525">
            <a:solidFill>
              <a:schemeClr val="dk1"/>
            </a:solidFill>
            <a:prstDash val="solid"/>
            <a:miter lim="800000"/>
            <a:headEnd len="sm" w="sm" type="none"/>
            <a:tailEnd len="med" w="med" type="triangle"/>
          </a:ln>
        </p:spPr>
      </p:cxnSp>
      <p:cxnSp>
        <p:nvCxnSpPr>
          <p:cNvPr id="118" name="Google Shape;118;p1"/>
          <p:cNvCxnSpPr>
            <a:stCxn id="111" idx="3"/>
            <a:endCxn id="116" idx="1"/>
          </p:cNvCxnSpPr>
          <p:nvPr/>
        </p:nvCxnSpPr>
        <p:spPr>
          <a:xfrm>
            <a:off x="2506036" y="400741"/>
            <a:ext cx="151800" cy="600"/>
          </a:xfrm>
          <a:prstGeom prst="straightConnector1">
            <a:avLst/>
          </a:prstGeom>
          <a:noFill/>
          <a:ln cap="flat" cmpd="sng" w="9525">
            <a:solidFill>
              <a:schemeClr val="dk1"/>
            </a:solidFill>
            <a:prstDash val="solid"/>
            <a:miter lim="800000"/>
            <a:headEnd len="sm" w="sm" type="none"/>
            <a:tailEnd len="med" w="med" type="triangle"/>
          </a:ln>
        </p:spPr>
      </p:cxnSp>
      <p:cxnSp>
        <p:nvCxnSpPr>
          <p:cNvPr id="119" name="Google Shape;119;p1"/>
          <p:cNvCxnSpPr>
            <a:stCxn id="116" idx="3"/>
            <a:endCxn id="114" idx="1"/>
          </p:cNvCxnSpPr>
          <p:nvPr/>
        </p:nvCxnSpPr>
        <p:spPr>
          <a:xfrm flipH="1" rot="10800000">
            <a:off x="3682852" y="400665"/>
            <a:ext cx="151800" cy="600"/>
          </a:xfrm>
          <a:prstGeom prst="straightConnector1">
            <a:avLst/>
          </a:prstGeom>
          <a:noFill/>
          <a:ln cap="flat" cmpd="sng" w="9525">
            <a:solidFill>
              <a:schemeClr val="dk1"/>
            </a:solidFill>
            <a:prstDash val="solid"/>
            <a:miter lim="800000"/>
            <a:headEnd len="sm" w="sm" type="none"/>
            <a:tailEnd len="med" w="med" type="triangle"/>
          </a:ln>
        </p:spPr>
      </p:cxnSp>
      <p:cxnSp>
        <p:nvCxnSpPr>
          <p:cNvPr id="120" name="Google Shape;120;p1"/>
          <p:cNvCxnSpPr>
            <a:stCxn id="114" idx="3"/>
            <a:endCxn id="115" idx="1"/>
          </p:cNvCxnSpPr>
          <p:nvPr/>
        </p:nvCxnSpPr>
        <p:spPr>
          <a:xfrm>
            <a:off x="4859669" y="400741"/>
            <a:ext cx="151800" cy="0"/>
          </a:xfrm>
          <a:prstGeom prst="straightConnector1">
            <a:avLst/>
          </a:prstGeom>
          <a:noFill/>
          <a:ln cap="flat" cmpd="sng" w="9525">
            <a:solidFill>
              <a:schemeClr val="dk1"/>
            </a:solidFill>
            <a:prstDash val="solid"/>
            <a:miter lim="800000"/>
            <a:headEnd len="sm" w="sm" type="none"/>
            <a:tailEnd len="med" w="med" type="triangle"/>
          </a:ln>
        </p:spPr>
      </p:cxnSp>
      <p:cxnSp>
        <p:nvCxnSpPr>
          <p:cNvPr id="121" name="Google Shape;121;p1"/>
          <p:cNvCxnSpPr>
            <a:stCxn id="115" idx="3"/>
          </p:cNvCxnSpPr>
          <p:nvPr/>
        </p:nvCxnSpPr>
        <p:spPr>
          <a:xfrm>
            <a:off x="6036485" y="400741"/>
            <a:ext cx="151800" cy="0"/>
          </a:xfrm>
          <a:prstGeom prst="straightConnector1">
            <a:avLst/>
          </a:prstGeom>
          <a:noFill/>
          <a:ln cap="flat" cmpd="sng" w="9525">
            <a:solidFill>
              <a:schemeClr val="dk1"/>
            </a:solidFill>
            <a:prstDash val="solid"/>
            <a:miter lim="800000"/>
            <a:headEnd len="sm" w="sm" type="none"/>
            <a:tailEnd len="med" w="med" type="triangle"/>
          </a:ln>
        </p:spPr>
      </p:cxnSp>
      <p:cxnSp>
        <p:nvCxnSpPr>
          <p:cNvPr id="122" name="Google Shape;122;p1"/>
          <p:cNvCxnSpPr>
            <a:endCxn id="113" idx="1"/>
          </p:cNvCxnSpPr>
          <p:nvPr/>
        </p:nvCxnSpPr>
        <p:spPr>
          <a:xfrm>
            <a:off x="6899417" y="400741"/>
            <a:ext cx="151800" cy="0"/>
          </a:xfrm>
          <a:prstGeom prst="straightConnector1">
            <a:avLst/>
          </a:prstGeom>
          <a:noFill/>
          <a:ln cap="flat" cmpd="sng" w="9525">
            <a:solidFill>
              <a:schemeClr val="dk1"/>
            </a:solidFill>
            <a:prstDash val="solid"/>
            <a:miter lim="800000"/>
            <a:headEnd len="sm" w="sm" type="none"/>
            <a:tailEnd len="med" w="med" type="triangle"/>
          </a:ln>
        </p:spPr>
      </p:cxnSp>
      <p:cxnSp>
        <p:nvCxnSpPr>
          <p:cNvPr id="123" name="Google Shape;123;p1"/>
          <p:cNvCxnSpPr>
            <a:stCxn id="113" idx="3"/>
            <a:endCxn id="112" idx="1"/>
          </p:cNvCxnSpPr>
          <p:nvPr/>
        </p:nvCxnSpPr>
        <p:spPr>
          <a:xfrm>
            <a:off x="7722313" y="400741"/>
            <a:ext cx="151800" cy="0"/>
          </a:xfrm>
          <a:prstGeom prst="straightConnector1">
            <a:avLst/>
          </a:prstGeom>
          <a:noFill/>
          <a:ln cap="flat" cmpd="sng" w="9525">
            <a:solidFill>
              <a:schemeClr val="dk1"/>
            </a:solidFill>
            <a:prstDash val="solid"/>
            <a:miter lim="800000"/>
            <a:headEnd len="sm" w="sm" type="none"/>
            <a:tailEnd len="med" w="med" type="triangle"/>
          </a:ln>
        </p:spPr>
      </p:cxnSp>
      <p:sp>
        <p:nvSpPr>
          <p:cNvPr id="124" name="Google Shape;124;p1"/>
          <p:cNvSpPr txBox="1"/>
          <p:nvPr/>
        </p:nvSpPr>
        <p:spPr>
          <a:xfrm>
            <a:off x="6188301" y="169907"/>
            <a:ext cx="692362"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RM in Industry</a:t>
            </a:r>
            <a:endParaRPr b="0" i="0" sz="1400" u="none" cap="none" strike="noStrike">
              <a:solidFill>
                <a:srgbClr val="000000"/>
              </a:solidFill>
              <a:latin typeface="Arial"/>
              <a:ea typeface="Arial"/>
              <a:cs typeface="Arial"/>
              <a:sym typeface="Arial"/>
            </a:endParaRPr>
          </a:p>
        </p:txBody>
      </p:sp>
      <p:pic>
        <p:nvPicPr>
          <p:cNvPr id="125" name="Google Shape;125;p1"/>
          <p:cNvPicPr preferRelativeResize="0"/>
          <p:nvPr/>
        </p:nvPicPr>
        <p:blipFill rotWithShape="1">
          <a:blip r:embed="rId3">
            <a:alphaModFix/>
          </a:blip>
          <a:srcRect b="0" l="0" r="0" t="0"/>
          <a:stretch/>
        </p:blipFill>
        <p:spPr>
          <a:xfrm>
            <a:off x="891182" y="4405529"/>
            <a:ext cx="1766671" cy="1766671"/>
          </a:xfrm>
          <a:prstGeom prst="rect">
            <a:avLst/>
          </a:prstGeom>
          <a:noFill/>
          <a:ln>
            <a:noFill/>
          </a:ln>
        </p:spPr>
      </p:pic>
      <p:pic>
        <p:nvPicPr>
          <p:cNvPr descr="Introduction to Sociology - 2013 - The Collaboratory" id="126" name="Google Shape;126;p1"/>
          <p:cNvPicPr preferRelativeResize="0"/>
          <p:nvPr/>
        </p:nvPicPr>
        <p:blipFill rotWithShape="1">
          <a:blip r:embed="rId4">
            <a:alphaModFix/>
          </a:blip>
          <a:srcRect b="0" l="0" r="0" t="0"/>
          <a:stretch/>
        </p:blipFill>
        <p:spPr>
          <a:xfrm>
            <a:off x="6096500" y="4405342"/>
            <a:ext cx="2590300" cy="176685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This topic:</a:t>
            </a:r>
            <a:endParaRPr b="0" i="0" sz="14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Builds on </a:t>
            </a:r>
            <a:r>
              <a:rPr b="1" i="0" lang="en-US" sz="2000" u="none" cap="none" strike="noStrike">
                <a:solidFill>
                  <a:srgbClr val="000000"/>
                </a:solidFill>
                <a:latin typeface="Arial"/>
                <a:ea typeface="Arial"/>
                <a:cs typeface="Arial"/>
                <a:sym typeface="Arial"/>
              </a:rPr>
              <a:t>Topic #18 Chapter 4.2: Cause and Effect Model for Incident Analysis and Chapter 4.3: Root Cause Analysis of an Incident - Fundamentals</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Examines the </a:t>
            </a:r>
            <a:r>
              <a:rPr b="1" i="0" lang="en-US" sz="2000" u="none" cap="none" strike="noStrike">
                <a:solidFill>
                  <a:srgbClr val="000000"/>
                </a:solidFill>
                <a:latin typeface="Arial"/>
                <a:ea typeface="Arial"/>
                <a:cs typeface="Arial"/>
                <a:sym typeface="Arial"/>
              </a:rPr>
              <a:t>latent causes</a:t>
            </a:r>
            <a:r>
              <a:rPr b="0" i="0" lang="en-US" sz="2000" u="none" cap="none" strike="noStrike">
                <a:solidFill>
                  <a:srgbClr val="000000"/>
                </a:solidFill>
                <a:latin typeface="Arial"/>
                <a:ea typeface="Arial"/>
                <a:cs typeface="Arial"/>
                <a:sym typeface="Arial"/>
              </a:rPr>
              <a:t> as discovered in a </a:t>
            </a:r>
            <a:r>
              <a:rPr b="1" i="0" lang="en-US" sz="2000" u="none" cap="none" strike="noStrike">
                <a:solidFill>
                  <a:srgbClr val="000000"/>
                </a:solidFill>
                <a:latin typeface="Arial"/>
                <a:ea typeface="Arial"/>
                <a:cs typeface="Arial"/>
                <a:sym typeface="Arial"/>
              </a:rPr>
              <a:t>Root Cause Analysis</a:t>
            </a:r>
            <a:r>
              <a:rPr b="0" i="0" lang="en-US" sz="20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t/>
            </a:r>
            <a:endParaRPr b="1"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Learning Outcomes:</a:t>
            </a:r>
            <a:endParaRPr b="1" i="0" sz="2000" u="none" cap="none" strike="noStrike">
              <a:solidFill>
                <a:srgbClr val="000000"/>
              </a:solidFill>
              <a:latin typeface="Arial"/>
              <a:ea typeface="Arial"/>
              <a:cs typeface="Arial"/>
              <a:sym typeface="Arial"/>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Develop a thorough, comprehensive, and logical RCA Chart.</a:t>
            </a:r>
            <a:endParaRPr b="0" i="0" sz="1400" u="none" cap="none" strike="noStrike">
              <a:solidFill>
                <a:srgbClr val="000000"/>
              </a:solidFill>
              <a:latin typeface="Arial"/>
              <a:ea typeface="Arial"/>
              <a:cs typeface="Arial"/>
              <a:sym typeface="Arial"/>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Explain the parts of and write an acceptable statement of a latent cause in an RCA.</a:t>
            </a:r>
            <a:endParaRPr b="0" i="0" sz="2000" u="none" cap="none" strike="noStrike">
              <a:solidFill>
                <a:srgbClr val="000000"/>
              </a:solidFill>
              <a:latin typeface="Arial"/>
              <a:ea typeface="Arial"/>
              <a:cs typeface="Arial"/>
              <a:sym typeface="Arial"/>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Link a latent cause to a management system element.</a:t>
            </a:r>
            <a:endParaRPr b="0" i="0" sz="1400" u="none" cap="none" strike="noStrike">
              <a:solidFill>
                <a:srgbClr val="000000"/>
              </a:solidFill>
              <a:latin typeface="Arial"/>
              <a:ea typeface="Arial"/>
              <a:cs typeface="Arial"/>
              <a:sym typeface="Arial"/>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Set the stage with a well-written, acceptable latent cause statement in order to create a recommendation to address that latent cause. </a:t>
            </a:r>
            <a:endParaRPr b="0" i="0" sz="2000" u="none" cap="none" strike="noStrike">
              <a:solidFill>
                <a:srgbClr val="000000"/>
              </a:solidFill>
              <a:latin typeface="Arial"/>
              <a:ea typeface="Arial"/>
              <a:cs typeface="Arial"/>
              <a:sym typeface="Arial"/>
            </a:endParaRPr>
          </a:p>
        </p:txBody>
      </p:sp>
      <p:sp>
        <p:nvSpPr>
          <p:cNvPr id="133" name="Google Shape;133;p2"/>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Learning Outcomes:</a:t>
            </a:r>
            <a:endParaRPr b="0" i="0" sz="1400" u="none" cap="none" strike="noStrike">
              <a:solidFill>
                <a:srgbClr val="000000"/>
              </a:solidFill>
              <a:latin typeface="Arial"/>
              <a:ea typeface="Arial"/>
              <a:cs typeface="Arial"/>
              <a:sym typeface="Arial"/>
            </a:endParaRPr>
          </a:p>
        </p:txBody>
      </p:sp>
      <p:sp>
        <p:nvSpPr>
          <p:cNvPr id="134" name="Google Shape;134;p2"/>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35" name="Google Shape;135;p2"/>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3"/>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360000" lvl="0"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Latent causes are </a:t>
            </a:r>
            <a:r>
              <a:rPr b="0" i="0" lang="en-US" sz="1800" u="sng" cap="none" strike="noStrike">
                <a:solidFill>
                  <a:srgbClr val="000000"/>
                </a:solidFill>
                <a:latin typeface="Arial"/>
                <a:ea typeface="Arial"/>
                <a:cs typeface="Arial"/>
                <a:sym typeface="Arial"/>
              </a:rPr>
              <a:t>weaknesses (or failures)</a:t>
            </a:r>
            <a:r>
              <a:rPr b="0" i="0" lang="en-US" sz="1800" u="none" cap="none" strike="noStrike">
                <a:solidFill>
                  <a:srgbClr val="000000"/>
                </a:solidFill>
                <a:latin typeface="Arial"/>
                <a:ea typeface="Arial"/>
                <a:cs typeface="Arial"/>
                <a:sym typeface="Arial"/>
              </a:rPr>
              <a:t> in the elements of the Risk Management System.</a:t>
            </a:r>
            <a:endParaRPr b="0" i="0" sz="14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They are NOT:</a:t>
            </a:r>
            <a:endParaRPr b="0" i="0" sz="1400" u="none" cap="none" strike="noStrike">
              <a:solidFill>
                <a:srgbClr val="000000"/>
              </a:solidFill>
              <a:latin typeface="Arial"/>
              <a:ea typeface="Arial"/>
              <a:cs typeface="Arial"/>
              <a:sym typeface="Arial"/>
            </a:endParaRPr>
          </a:p>
          <a:p>
            <a:pPr indent="-359999" lvl="0"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Risk Management System Elements</a:t>
            </a:r>
            <a:endParaRPr b="0" i="0" sz="1400" u="none" cap="none" strike="noStrike">
              <a:solidFill>
                <a:srgbClr val="000000"/>
              </a:solidFill>
              <a:latin typeface="Arial"/>
              <a:ea typeface="Arial"/>
              <a:cs typeface="Arial"/>
              <a:sym typeface="Arial"/>
            </a:endParaRPr>
          </a:p>
          <a:p>
            <a:pPr indent="-359999" lvl="0"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Management failures i.e. “management failed to …”</a:t>
            </a:r>
            <a:endParaRPr b="0" i="0" sz="1400" u="none" cap="none" strike="noStrike">
              <a:solidFill>
                <a:srgbClr val="000000"/>
              </a:solidFill>
              <a:latin typeface="Arial"/>
              <a:ea typeface="Arial"/>
              <a:cs typeface="Arial"/>
              <a:sym typeface="Arial"/>
            </a:endParaRPr>
          </a:p>
          <a:p>
            <a:pPr indent="-359999" lvl="0"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See “Factors often missed or completed incorrectly for the RCA chart” in the </a:t>
            </a:r>
            <a:r>
              <a:rPr b="1" i="0" lang="en-US" sz="1800" u="none" cap="none" strike="noStrike">
                <a:solidFill>
                  <a:srgbClr val="000000"/>
                </a:solidFill>
                <a:latin typeface="Arial"/>
                <a:ea typeface="Arial"/>
                <a:cs typeface="Arial"/>
                <a:sym typeface="Arial"/>
              </a:rPr>
              <a:t>Team Project Instruction Manual</a:t>
            </a:r>
            <a:endParaRPr b="1" i="0" sz="1800" u="none" cap="none" strike="noStrike">
              <a:solidFill>
                <a:srgbClr val="000000"/>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When identified, the latent causes:</a:t>
            </a:r>
            <a:endParaRPr b="0" i="0" sz="1400" u="none" cap="none" strike="noStrike">
              <a:solidFill>
                <a:srgbClr val="000000"/>
              </a:solidFill>
              <a:latin typeface="Arial"/>
              <a:ea typeface="Arial"/>
              <a:cs typeface="Arial"/>
              <a:sym typeface="Arial"/>
            </a:endParaRPr>
          </a:p>
          <a:p>
            <a:pPr indent="-359999" lvl="0"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Relate to the elements of the management system</a:t>
            </a:r>
            <a:endParaRPr b="0" i="0" sz="1400" u="none" cap="none" strike="noStrike">
              <a:solidFill>
                <a:srgbClr val="000000"/>
              </a:solidFill>
              <a:latin typeface="Arial"/>
              <a:ea typeface="Arial"/>
              <a:cs typeface="Arial"/>
              <a:sym typeface="Arial"/>
            </a:endParaRPr>
          </a:p>
          <a:p>
            <a:pPr indent="-359999" lvl="0"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Reflect inadequacies in the management system and program</a:t>
            </a:r>
            <a:endParaRPr b="0" i="0" sz="1400" u="none" cap="none" strike="noStrike">
              <a:solidFill>
                <a:srgbClr val="000000"/>
              </a:solidFill>
              <a:latin typeface="Arial"/>
              <a:ea typeface="Arial"/>
              <a:cs typeface="Arial"/>
              <a:sym typeface="Arial"/>
            </a:endParaRPr>
          </a:p>
          <a:p>
            <a:pPr indent="-359999" lvl="0" marL="720000" marR="0" rtl="0" algn="l">
              <a:lnSpc>
                <a:spcPct val="100000"/>
              </a:lnSpc>
              <a:spcBef>
                <a:spcPts val="0"/>
              </a:spcBef>
              <a:spcAft>
                <a:spcPts val="0"/>
              </a:spcAft>
              <a:buClr>
                <a:srgbClr val="000000"/>
              </a:buClr>
              <a:buSzPts val="1800"/>
              <a:buFont typeface="Noto Sans Symbols"/>
              <a:buChar char="⮚"/>
            </a:pPr>
            <a:r>
              <a:rPr b="1" i="0" lang="en-US" sz="1800" u="sng" cap="none" strike="noStrike">
                <a:solidFill>
                  <a:srgbClr val="000000"/>
                </a:solidFill>
                <a:latin typeface="Arial"/>
                <a:ea typeface="Arial"/>
                <a:cs typeface="Arial"/>
                <a:sym typeface="Arial"/>
              </a:rPr>
              <a:t>Are stated in unique terms specific to the root in the RCA for that loss incident.</a:t>
            </a:r>
            <a:endParaRPr b="0" i="0" sz="1400" u="none" cap="none" strike="noStrike">
              <a:solidFill>
                <a:srgbClr val="000000"/>
              </a:solidFill>
              <a:latin typeface="Arial"/>
              <a:ea typeface="Arial"/>
              <a:cs typeface="Arial"/>
              <a:sym typeface="Arial"/>
            </a:endParaRPr>
          </a:p>
          <a:p>
            <a:pPr indent="-245699" lvl="0" marL="72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Thus, meaningful management action and management control can be undertaken to address a latent cause.</a:t>
            </a:r>
            <a:endParaRPr b="0" i="0" sz="1400" u="none" cap="none" strike="noStrike">
              <a:solidFill>
                <a:srgbClr val="000000"/>
              </a:solidFill>
              <a:latin typeface="Arial"/>
              <a:ea typeface="Arial"/>
              <a:cs typeface="Arial"/>
              <a:sym typeface="Arial"/>
            </a:endParaRPr>
          </a:p>
          <a:p>
            <a:pPr indent="-359999" lvl="0"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Leaders must </a:t>
            </a:r>
            <a:r>
              <a:rPr b="0" i="0" lang="en-US" sz="1800" u="sng" cap="none" strike="noStrike">
                <a:solidFill>
                  <a:srgbClr val="000000"/>
                </a:solidFill>
                <a:latin typeface="Arial"/>
                <a:ea typeface="Arial"/>
                <a:cs typeface="Arial"/>
                <a:sym typeface="Arial"/>
              </a:rPr>
              <a:t>drive</a:t>
            </a:r>
            <a:r>
              <a:rPr b="0" i="0" lang="en-US" sz="1800" u="none" cap="none" strike="noStrike">
                <a:solidFill>
                  <a:srgbClr val="000000"/>
                </a:solidFill>
                <a:latin typeface="Arial"/>
                <a:ea typeface="Arial"/>
                <a:cs typeface="Arial"/>
                <a:sym typeface="Arial"/>
              </a:rPr>
              <a:t> the </a:t>
            </a:r>
            <a:r>
              <a:rPr b="1" i="0" lang="en-US" sz="1800" u="none" cap="none" strike="noStrike">
                <a:solidFill>
                  <a:srgbClr val="000000"/>
                </a:solidFill>
                <a:latin typeface="Arial"/>
                <a:ea typeface="Arial"/>
                <a:cs typeface="Arial"/>
                <a:sym typeface="Arial"/>
              </a:rPr>
              <a:t>root cause analysis</a:t>
            </a:r>
            <a:r>
              <a:rPr b="0" i="0" lang="en-US" sz="1800" u="none" cap="none" strike="noStrike">
                <a:solidFill>
                  <a:srgbClr val="000000"/>
                </a:solidFill>
                <a:latin typeface="Arial"/>
                <a:ea typeface="Arial"/>
                <a:cs typeface="Arial"/>
                <a:sym typeface="Arial"/>
              </a:rPr>
              <a:t> process to effectively find the </a:t>
            </a:r>
            <a:r>
              <a:rPr b="0" i="0" lang="en-US" sz="1800" u="sng" cap="none" strike="noStrike">
                <a:solidFill>
                  <a:srgbClr val="000000"/>
                </a:solidFill>
                <a:latin typeface="Arial"/>
                <a:ea typeface="Arial"/>
                <a:cs typeface="Arial"/>
                <a:sym typeface="Arial"/>
              </a:rPr>
              <a:t>Latent Causes</a:t>
            </a:r>
            <a:r>
              <a:rPr b="0" i="0" lang="en-US" sz="18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317700" lvl="0" marL="432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142" name="Google Shape;142;p3"/>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Latent Causes – The What and Why:</a:t>
            </a:r>
            <a:endParaRPr b="0" i="0" sz="2400" u="none" cap="none" strike="noStrike">
              <a:solidFill>
                <a:srgbClr val="333399"/>
              </a:solidFill>
              <a:latin typeface="Arial"/>
              <a:ea typeface="Arial"/>
              <a:cs typeface="Arial"/>
              <a:sym typeface="Arial"/>
            </a:endParaRPr>
          </a:p>
        </p:txBody>
      </p:sp>
      <p:sp>
        <p:nvSpPr>
          <p:cNvPr id="143" name="Google Shape;143;p3"/>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44" name="Google Shape;144;p3"/>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4"/>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151" name="Google Shape;151;p4"/>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Practice – Latent Causes:</a:t>
            </a:r>
            <a:endParaRPr b="0" i="0" sz="1400" u="none" cap="none" strike="noStrike">
              <a:solidFill>
                <a:srgbClr val="000000"/>
              </a:solidFill>
              <a:latin typeface="Arial"/>
              <a:ea typeface="Arial"/>
              <a:cs typeface="Arial"/>
              <a:sym typeface="Arial"/>
            </a:endParaRPr>
          </a:p>
        </p:txBody>
      </p:sp>
      <p:sp>
        <p:nvSpPr>
          <p:cNvPr id="152" name="Google Shape;152;p4"/>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53" name="Google Shape;153;p4"/>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sp>
        <p:nvSpPr>
          <p:cNvPr id="154" name="Google Shape;154;p4"/>
          <p:cNvSpPr/>
          <p:nvPr/>
        </p:nvSpPr>
        <p:spPr>
          <a:xfrm>
            <a:off x="180000" y="828000"/>
            <a:ext cx="5030787" cy="5328000"/>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000000"/>
              </a:buClr>
              <a:buSzPts val="2000"/>
              <a:buFont typeface="Noto Sans Symbols"/>
              <a:buNone/>
            </a:pPr>
            <a:r>
              <a:rPr b="0" i="0" lang="en-US" sz="2000" u="none" cap="none" strike="noStrike">
                <a:solidFill>
                  <a:srgbClr val="FFFFFF"/>
                </a:solidFill>
                <a:latin typeface="Arial"/>
                <a:ea typeface="Arial"/>
                <a:cs typeface="Arial"/>
                <a:sym typeface="Arial"/>
              </a:rPr>
              <a:t>Let’s redraw the RCA and focus on three basic causes to discover the root causes on the RCA!</a:t>
            </a:r>
            <a:endParaRPr b="0" i="0" sz="1400" u="none" cap="none" strike="noStrike">
              <a:solidFill>
                <a:srgbClr val="000000"/>
              </a:solidFill>
              <a:latin typeface="Arial"/>
              <a:ea typeface="Arial"/>
              <a:cs typeface="Arial"/>
              <a:sym typeface="Arial"/>
            </a:endParaRPr>
          </a:p>
          <a:p>
            <a:pPr indent="-609600" lvl="0" marL="609600" marR="0" rtl="0" algn="l">
              <a:lnSpc>
                <a:spcPct val="110000"/>
              </a:lnSpc>
              <a:spcBef>
                <a:spcPts val="400"/>
              </a:spcBef>
              <a:spcAft>
                <a:spcPts val="0"/>
              </a:spcAft>
              <a:buClr>
                <a:srgbClr val="000000"/>
              </a:buClr>
              <a:buSzPts val="2000"/>
              <a:buFont typeface="Noto Sans Symbols"/>
              <a:buNone/>
            </a:pPr>
            <a:r>
              <a:t/>
            </a:r>
            <a:endParaRPr b="0" i="1" sz="2000" u="none" cap="none" strike="noStrike">
              <a:solidFill>
                <a:srgbClr val="FFFFFF"/>
              </a:solidFill>
              <a:latin typeface="Arial"/>
              <a:ea typeface="Arial"/>
              <a:cs typeface="Arial"/>
              <a:sym typeface="Arial"/>
            </a:endParaRPr>
          </a:p>
          <a:p>
            <a:pPr indent="0" lvl="0" marL="0" marR="0" rtl="0" algn="l">
              <a:lnSpc>
                <a:spcPct val="110000"/>
              </a:lnSpc>
              <a:spcBef>
                <a:spcPts val="400"/>
              </a:spcBef>
              <a:spcAft>
                <a:spcPts val="0"/>
              </a:spcAft>
              <a:buClr>
                <a:srgbClr val="000000"/>
              </a:buClr>
              <a:buSzPts val="2000"/>
              <a:buFont typeface="Noto Sans Symbols"/>
              <a:buNone/>
            </a:pPr>
            <a:r>
              <a:rPr b="0" i="1" lang="en-US" sz="2000" u="none" cap="none" strike="noStrike">
                <a:solidFill>
                  <a:srgbClr val="FFFFFF"/>
                </a:solidFill>
                <a:latin typeface="Arial"/>
                <a:ea typeface="Arial"/>
                <a:cs typeface="Arial"/>
                <a:sym typeface="Arial"/>
              </a:rPr>
              <a:t>Mining LI: “You are called to a scene where a mining haul truck and a shovel have been crushed with debris from an adjacent slope. You find one individual with a severe injury. You know the slopes are being monitored, you know there are procedures for safe work near the slopes, you know it had been raining for the last week.”</a:t>
            </a:r>
            <a:endParaRPr b="0" i="0" sz="1400" u="none" cap="none" strike="noStrike">
              <a:solidFill>
                <a:srgbClr val="000000"/>
              </a:solidFill>
              <a:latin typeface="Arial"/>
              <a:ea typeface="Arial"/>
              <a:cs typeface="Arial"/>
              <a:sym typeface="Arial"/>
            </a:endParaRPr>
          </a:p>
          <a:p>
            <a:pPr indent="-609600" lvl="0" marL="609600" marR="0" rtl="0" algn="l">
              <a:lnSpc>
                <a:spcPct val="110000"/>
              </a:lnSpc>
              <a:spcBef>
                <a:spcPts val="400"/>
              </a:spcBef>
              <a:spcAft>
                <a:spcPts val="0"/>
              </a:spcAft>
              <a:buClr>
                <a:srgbClr val="000000"/>
              </a:buClr>
              <a:buSzPts val="2000"/>
              <a:buFont typeface="Noto Sans Symbols"/>
              <a:buNone/>
            </a:pPr>
            <a:r>
              <a:t/>
            </a:r>
            <a:endParaRPr b="0" i="1" sz="2000" u="none" cap="none" strike="noStrike">
              <a:solidFill>
                <a:srgbClr val="FFFFFF"/>
              </a:solidFill>
              <a:latin typeface="Arial"/>
              <a:ea typeface="Arial"/>
              <a:cs typeface="Arial"/>
              <a:sym typeface="Arial"/>
            </a:endParaRPr>
          </a:p>
          <a:p>
            <a:pPr indent="-609600" lvl="0" marL="609600" marR="0" rtl="0" algn="l">
              <a:lnSpc>
                <a:spcPct val="110000"/>
              </a:lnSpc>
              <a:spcBef>
                <a:spcPts val="400"/>
              </a:spcBef>
              <a:spcAft>
                <a:spcPts val="0"/>
              </a:spcAft>
              <a:buClr>
                <a:srgbClr val="000000"/>
              </a:buClr>
              <a:buSzPts val="2000"/>
              <a:buFont typeface="Noto Sans Symbols"/>
              <a:buNone/>
            </a:pPr>
            <a:r>
              <a:t/>
            </a:r>
            <a:endParaRPr b="0" i="1" sz="2000" u="none" cap="none" strike="noStrike">
              <a:solidFill>
                <a:srgbClr val="FFFFFF"/>
              </a:solidFill>
              <a:latin typeface="Arial"/>
              <a:ea typeface="Arial"/>
              <a:cs typeface="Arial"/>
              <a:sym typeface="Arial"/>
            </a:endParaRPr>
          </a:p>
          <a:p>
            <a:pPr indent="-609600" lvl="0" marL="609600" marR="0" rtl="0" algn="l">
              <a:lnSpc>
                <a:spcPct val="110000"/>
              </a:lnSpc>
              <a:spcBef>
                <a:spcPts val="400"/>
              </a:spcBef>
              <a:spcAft>
                <a:spcPts val="0"/>
              </a:spcAft>
              <a:buClr>
                <a:srgbClr val="000000"/>
              </a:buClr>
              <a:buSzPts val="2000"/>
              <a:buFont typeface="Noto Sans Symbols"/>
              <a:buNone/>
            </a:pPr>
            <a:r>
              <a:t/>
            </a:r>
            <a:endParaRPr b="0" i="1" sz="2000" u="none" cap="none" strike="noStrike">
              <a:solidFill>
                <a:srgbClr val="FFFFFF"/>
              </a:solidFill>
              <a:latin typeface="Arial"/>
              <a:ea typeface="Arial"/>
              <a:cs typeface="Arial"/>
              <a:sym typeface="Arial"/>
            </a:endParaRPr>
          </a:p>
        </p:txBody>
      </p:sp>
      <p:pic>
        <p:nvPicPr>
          <p:cNvPr id="155" name="Google Shape;155;p4"/>
          <p:cNvPicPr preferRelativeResize="0"/>
          <p:nvPr/>
        </p:nvPicPr>
        <p:blipFill rotWithShape="1">
          <a:blip r:embed="rId3">
            <a:alphaModFix/>
          </a:blip>
          <a:srcRect b="53455" l="69814" r="9390" t="0"/>
          <a:stretch/>
        </p:blipFill>
        <p:spPr>
          <a:xfrm>
            <a:off x="5346299" y="828000"/>
            <a:ext cx="3242529" cy="5328000"/>
          </a:xfrm>
          <a:prstGeom prst="rect">
            <a:avLst/>
          </a:prstGeom>
          <a:noFill/>
          <a:ln>
            <a:noFill/>
          </a:ln>
        </p:spPr>
      </p:pic>
    </p:spTree>
  </p:cSld>
  <p:clrMapOvr>
    <a:masterClrMapping/>
  </p:clrMapOvr>
  <p:transition>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5"/>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162" name="Google Shape;162;p5"/>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63" name="Google Shape;163;p5"/>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sp>
        <p:nvSpPr>
          <p:cNvPr id="164" name="Google Shape;164;p5"/>
          <p:cNvSpPr txBox="1"/>
          <p:nvPr/>
        </p:nvSpPr>
        <p:spPr>
          <a:xfrm>
            <a:off x="3456000" y="864000"/>
            <a:ext cx="2952000" cy="52322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Debris fell on equipment, injuring one Worker &amp; damaged equipment</a:t>
            </a:r>
            <a:endParaRPr b="0" i="0" sz="1400" u="none" cap="none" strike="noStrike">
              <a:solidFill>
                <a:srgbClr val="262626"/>
              </a:solidFill>
              <a:latin typeface="Arial"/>
              <a:ea typeface="Arial"/>
              <a:cs typeface="Arial"/>
              <a:sym typeface="Arial"/>
            </a:endParaRPr>
          </a:p>
        </p:txBody>
      </p:sp>
      <p:sp>
        <p:nvSpPr>
          <p:cNvPr id="165" name="Google Shape;165;p5"/>
          <p:cNvSpPr txBox="1"/>
          <p:nvPr/>
        </p:nvSpPr>
        <p:spPr>
          <a:xfrm>
            <a:off x="3456000" y="1582598"/>
            <a:ext cx="2952000" cy="52322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Equipment &amp; Worker Were In Exclusion Zone</a:t>
            </a:r>
            <a:endParaRPr b="0" i="0" sz="1400" u="none" cap="none" strike="noStrike">
              <a:solidFill>
                <a:srgbClr val="000000"/>
              </a:solidFill>
              <a:latin typeface="Arial"/>
              <a:ea typeface="Arial"/>
              <a:cs typeface="Arial"/>
              <a:sym typeface="Arial"/>
            </a:endParaRPr>
          </a:p>
        </p:txBody>
      </p:sp>
      <p:sp>
        <p:nvSpPr>
          <p:cNvPr id="166" name="Google Shape;166;p5"/>
          <p:cNvSpPr txBox="1"/>
          <p:nvPr/>
        </p:nvSpPr>
        <p:spPr>
          <a:xfrm>
            <a:off x="3456000" y="2314199"/>
            <a:ext cx="2952000" cy="5040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Worker did not follow exclusion zone procedures</a:t>
            </a:r>
            <a:endParaRPr b="0" i="0" sz="1400" u="none" cap="none" strike="noStrike">
              <a:solidFill>
                <a:srgbClr val="000000"/>
              </a:solidFill>
              <a:latin typeface="Arial"/>
              <a:ea typeface="Arial"/>
              <a:cs typeface="Arial"/>
              <a:sym typeface="Arial"/>
            </a:endParaRPr>
          </a:p>
        </p:txBody>
      </p:sp>
      <p:sp>
        <p:nvSpPr>
          <p:cNvPr id="167" name="Google Shape;167;p5"/>
          <p:cNvSpPr txBox="1"/>
          <p:nvPr/>
        </p:nvSpPr>
        <p:spPr>
          <a:xfrm>
            <a:off x="1512000" y="3505680"/>
            <a:ext cx="2160000" cy="738664"/>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Worker was not aware of exclusion zone procedures</a:t>
            </a:r>
            <a:endParaRPr b="0" i="0" sz="1400" u="none" cap="none" strike="noStrike">
              <a:solidFill>
                <a:srgbClr val="000000"/>
              </a:solidFill>
              <a:latin typeface="Arial"/>
              <a:ea typeface="Arial"/>
              <a:cs typeface="Arial"/>
              <a:sym typeface="Arial"/>
            </a:endParaRPr>
          </a:p>
        </p:txBody>
      </p:sp>
      <p:sp>
        <p:nvSpPr>
          <p:cNvPr id="168" name="Google Shape;168;p5"/>
          <p:cNvSpPr txBox="1"/>
          <p:nvPr/>
        </p:nvSpPr>
        <p:spPr>
          <a:xfrm>
            <a:off x="3852000" y="3505680"/>
            <a:ext cx="2160000" cy="738664"/>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Worker disregarded exclusion zone procedures</a:t>
            </a:r>
            <a:endParaRPr b="0" i="0" sz="1400" u="none" cap="none" strike="noStrike">
              <a:solidFill>
                <a:srgbClr val="000000"/>
              </a:solidFill>
              <a:latin typeface="Arial"/>
              <a:ea typeface="Arial"/>
              <a:cs typeface="Arial"/>
              <a:sym typeface="Arial"/>
            </a:endParaRPr>
          </a:p>
        </p:txBody>
      </p:sp>
      <p:cxnSp>
        <p:nvCxnSpPr>
          <p:cNvPr id="169" name="Google Shape;169;p5"/>
          <p:cNvCxnSpPr>
            <a:stCxn id="166" idx="2"/>
            <a:endCxn id="170" idx="0"/>
          </p:cNvCxnSpPr>
          <p:nvPr/>
        </p:nvCxnSpPr>
        <p:spPr>
          <a:xfrm flipH="1" rot="-5400000">
            <a:off x="5722200" y="2027999"/>
            <a:ext cx="687600" cy="2268000"/>
          </a:xfrm>
          <a:prstGeom prst="bentConnector3">
            <a:avLst>
              <a:gd fmla="val 49991" name="adj1"/>
            </a:avLst>
          </a:prstGeom>
          <a:noFill/>
          <a:ln cap="flat" cmpd="sng" w="9525">
            <a:solidFill>
              <a:schemeClr val="dk1"/>
            </a:solidFill>
            <a:prstDash val="solid"/>
            <a:miter lim="800000"/>
            <a:headEnd len="sm" w="sm" type="none"/>
            <a:tailEnd len="med" w="med" type="triangle"/>
          </a:ln>
        </p:spPr>
      </p:cxnSp>
      <p:cxnSp>
        <p:nvCxnSpPr>
          <p:cNvPr id="171" name="Google Shape;171;p5"/>
          <p:cNvCxnSpPr>
            <a:stCxn id="166" idx="2"/>
            <a:endCxn id="167" idx="0"/>
          </p:cNvCxnSpPr>
          <p:nvPr/>
        </p:nvCxnSpPr>
        <p:spPr>
          <a:xfrm rot="5400000">
            <a:off x="3418200" y="1991999"/>
            <a:ext cx="687600" cy="2340000"/>
          </a:xfrm>
          <a:prstGeom prst="bentConnector3">
            <a:avLst>
              <a:gd fmla="val 49991" name="adj1"/>
            </a:avLst>
          </a:prstGeom>
          <a:noFill/>
          <a:ln cap="flat" cmpd="sng" w="9525">
            <a:solidFill>
              <a:schemeClr val="dk1"/>
            </a:solidFill>
            <a:prstDash val="solid"/>
            <a:miter lim="800000"/>
            <a:headEnd len="sm" w="sm" type="none"/>
            <a:tailEnd len="med" w="med" type="triangle"/>
          </a:ln>
        </p:spPr>
      </p:cxnSp>
      <p:sp>
        <p:nvSpPr>
          <p:cNvPr id="170" name="Google Shape;170;p5"/>
          <p:cNvSpPr txBox="1"/>
          <p:nvPr/>
        </p:nvSpPr>
        <p:spPr>
          <a:xfrm>
            <a:off x="6120000" y="3505680"/>
            <a:ext cx="2160000" cy="738664"/>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Supervisor told Worker to go into the exclusion zone</a:t>
            </a:r>
            <a:endParaRPr b="0" i="0" sz="1400" u="none" cap="none" strike="noStrike">
              <a:solidFill>
                <a:srgbClr val="000000"/>
              </a:solidFill>
              <a:latin typeface="Arial"/>
              <a:ea typeface="Arial"/>
              <a:cs typeface="Arial"/>
              <a:sym typeface="Arial"/>
            </a:endParaRPr>
          </a:p>
        </p:txBody>
      </p:sp>
      <p:cxnSp>
        <p:nvCxnSpPr>
          <p:cNvPr id="172" name="Google Shape;172;p5"/>
          <p:cNvCxnSpPr>
            <a:stCxn id="165" idx="2"/>
            <a:endCxn id="166" idx="0"/>
          </p:cNvCxnSpPr>
          <p:nvPr/>
        </p:nvCxnSpPr>
        <p:spPr>
          <a:xfrm>
            <a:off x="4932000" y="2105818"/>
            <a:ext cx="0" cy="208500"/>
          </a:xfrm>
          <a:prstGeom prst="straightConnector1">
            <a:avLst/>
          </a:prstGeom>
          <a:noFill/>
          <a:ln cap="flat" cmpd="sng" w="9525">
            <a:solidFill>
              <a:srgbClr val="000000"/>
            </a:solidFill>
            <a:prstDash val="solid"/>
            <a:miter lim="800000"/>
            <a:headEnd len="sm" w="sm" type="none"/>
            <a:tailEnd len="med" w="med" type="triangle"/>
          </a:ln>
        </p:spPr>
      </p:cxnSp>
      <p:cxnSp>
        <p:nvCxnSpPr>
          <p:cNvPr id="173" name="Google Shape;173;p5"/>
          <p:cNvCxnSpPr>
            <a:stCxn id="164" idx="2"/>
            <a:endCxn id="165" idx="0"/>
          </p:cNvCxnSpPr>
          <p:nvPr/>
        </p:nvCxnSpPr>
        <p:spPr>
          <a:xfrm>
            <a:off x="4932000" y="1387220"/>
            <a:ext cx="0" cy="195300"/>
          </a:xfrm>
          <a:prstGeom prst="straightConnector1">
            <a:avLst/>
          </a:prstGeom>
          <a:noFill/>
          <a:ln cap="flat" cmpd="sng" w="9525">
            <a:solidFill>
              <a:srgbClr val="000000"/>
            </a:solidFill>
            <a:prstDash val="solid"/>
            <a:miter lim="800000"/>
            <a:headEnd len="sm" w="sm" type="none"/>
            <a:tailEnd len="med" w="med" type="triangle"/>
          </a:ln>
        </p:spPr>
      </p:cxnSp>
      <p:cxnSp>
        <p:nvCxnSpPr>
          <p:cNvPr id="174" name="Google Shape;174;p5"/>
          <p:cNvCxnSpPr>
            <a:stCxn id="166" idx="2"/>
            <a:endCxn id="168" idx="0"/>
          </p:cNvCxnSpPr>
          <p:nvPr/>
        </p:nvCxnSpPr>
        <p:spPr>
          <a:xfrm>
            <a:off x="4932000" y="2818199"/>
            <a:ext cx="0" cy="687600"/>
          </a:xfrm>
          <a:prstGeom prst="straightConnector1">
            <a:avLst/>
          </a:prstGeom>
          <a:noFill/>
          <a:ln cap="flat" cmpd="sng" w="9525">
            <a:solidFill>
              <a:schemeClr val="dk1"/>
            </a:solidFill>
            <a:prstDash val="solid"/>
            <a:miter lim="800000"/>
            <a:headEnd len="sm" w="sm" type="none"/>
            <a:tailEnd len="med" w="med" type="triangle"/>
          </a:ln>
        </p:spPr>
      </p:cxnSp>
      <p:sp>
        <p:nvSpPr>
          <p:cNvPr id="175" name="Google Shape;175;p5"/>
          <p:cNvSpPr/>
          <p:nvPr/>
        </p:nvSpPr>
        <p:spPr>
          <a:xfrm flipH="1">
            <a:off x="4772880" y="2916365"/>
            <a:ext cx="392534" cy="305875"/>
          </a:xfrm>
          <a:prstGeom prst="flowChartPunchedTape">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76" name="Google Shape;176;p5"/>
          <p:cNvSpPr/>
          <p:nvPr/>
        </p:nvSpPr>
        <p:spPr>
          <a:xfrm>
            <a:off x="180000" y="188182"/>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Drilling Down to Latent Causes in the RCA:</a:t>
            </a:r>
            <a:endParaRPr b="0" i="0" sz="2400" u="none" cap="none" strike="noStrike">
              <a:solidFill>
                <a:srgbClr val="333399"/>
              </a:solidFill>
              <a:latin typeface="Arial"/>
              <a:ea typeface="Arial"/>
              <a:cs typeface="Arial"/>
              <a:sym typeface="Arial"/>
            </a:endParaRPr>
          </a:p>
        </p:txBody>
      </p:sp>
      <p:cxnSp>
        <p:nvCxnSpPr>
          <p:cNvPr id="177" name="Google Shape;177;p5"/>
          <p:cNvCxnSpPr/>
          <p:nvPr/>
        </p:nvCxnSpPr>
        <p:spPr>
          <a:xfrm flipH="1">
            <a:off x="2475166" y="4280992"/>
            <a:ext cx="2148" cy="1061336"/>
          </a:xfrm>
          <a:prstGeom prst="straightConnector1">
            <a:avLst/>
          </a:prstGeom>
          <a:noFill/>
          <a:ln cap="flat" cmpd="sng" w="28575">
            <a:solidFill>
              <a:schemeClr val="dk1"/>
            </a:solidFill>
            <a:prstDash val="dash"/>
            <a:miter lim="800000"/>
            <a:headEnd len="sm" w="sm" type="none"/>
            <a:tailEnd len="med" w="med" type="triangle"/>
          </a:ln>
        </p:spPr>
      </p:cxnSp>
      <p:cxnSp>
        <p:nvCxnSpPr>
          <p:cNvPr id="178" name="Google Shape;178;p5"/>
          <p:cNvCxnSpPr/>
          <p:nvPr/>
        </p:nvCxnSpPr>
        <p:spPr>
          <a:xfrm>
            <a:off x="4817314" y="4280992"/>
            <a:ext cx="0" cy="1061336"/>
          </a:xfrm>
          <a:prstGeom prst="straightConnector1">
            <a:avLst/>
          </a:prstGeom>
          <a:noFill/>
          <a:ln cap="flat" cmpd="sng" w="28575">
            <a:solidFill>
              <a:schemeClr val="dk1"/>
            </a:solidFill>
            <a:prstDash val="dash"/>
            <a:miter lim="800000"/>
            <a:headEnd len="sm" w="sm" type="none"/>
            <a:tailEnd len="med" w="med" type="triangle"/>
          </a:ln>
        </p:spPr>
      </p:cxnSp>
      <p:cxnSp>
        <p:nvCxnSpPr>
          <p:cNvPr id="179" name="Google Shape;179;p5"/>
          <p:cNvCxnSpPr/>
          <p:nvPr/>
        </p:nvCxnSpPr>
        <p:spPr>
          <a:xfrm>
            <a:off x="7085314" y="4280992"/>
            <a:ext cx="0" cy="1061336"/>
          </a:xfrm>
          <a:prstGeom prst="straightConnector1">
            <a:avLst/>
          </a:prstGeom>
          <a:noFill/>
          <a:ln cap="flat" cmpd="sng" w="28575">
            <a:solidFill>
              <a:schemeClr val="dk1"/>
            </a:solidFill>
            <a:prstDash val="dash"/>
            <a:miter lim="800000"/>
            <a:headEnd len="sm" w="sm" type="none"/>
            <a:tailEnd len="med" w="med" type="triangle"/>
          </a:ln>
        </p:spPr>
      </p:cxnSp>
      <p:sp>
        <p:nvSpPr>
          <p:cNvPr id="180" name="Google Shape;180;p5"/>
          <p:cNvSpPr/>
          <p:nvPr/>
        </p:nvSpPr>
        <p:spPr>
          <a:xfrm rot="-1647726">
            <a:off x="271091" y="1458020"/>
            <a:ext cx="3276000" cy="134219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000000"/>
              </a:buClr>
              <a:buSzPts val="2000"/>
              <a:buFont typeface="Noto Sans Symbols"/>
              <a:buNone/>
            </a:pPr>
            <a:r>
              <a:rPr b="0" i="0" lang="en-US" sz="2000" u="none" cap="none" strike="noStrike">
                <a:solidFill>
                  <a:srgbClr val="FFFFFF"/>
                </a:solidFill>
                <a:latin typeface="Arial"/>
                <a:ea typeface="Arial"/>
                <a:cs typeface="Arial"/>
                <a:sym typeface="Arial"/>
              </a:rPr>
              <a:t>Let’s redraw the RCA and focus on three basic causes to discover the root causes on the RCA!</a:t>
            </a:r>
            <a:endParaRPr b="0" i="1" sz="2000" u="none" cap="none" strike="noStrike">
              <a:solidFill>
                <a:srgbClr val="FFFFFF"/>
              </a:solidFill>
              <a:latin typeface="Arial"/>
              <a:ea typeface="Arial"/>
              <a:cs typeface="Arial"/>
              <a:sym typeface="Arial"/>
            </a:endParaRPr>
          </a:p>
          <a:p>
            <a:pPr indent="-609600" lvl="0" marL="609600" marR="0" rtl="0" algn="l">
              <a:lnSpc>
                <a:spcPct val="110000"/>
              </a:lnSpc>
              <a:spcBef>
                <a:spcPts val="400"/>
              </a:spcBef>
              <a:spcAft>
                <a:spcPts val="0"/>
              </a:spcAft>
              <a:buClr>
                <a:srgbClr val="000000"/>
              </a:buClr>
              <a:buSzPts val="2000"/>
              <a:buFont typeface="Noto Sans Symbols"/>
              <a:buNone/>
            </a:pPr>
            <a:r>
              <a:t/>
            </a:r>
            <a:endParaRPr b="0" i="1" sz="2000" u="none" cap="none" strike="noStrike">
              <a:solidFill>
                <a:srgbClr val="FFFFFF"/>
              </a:solidFill>
              <a:latin typeface="Arial"/>
              <a:ea typeface="Arial"/>
              <a:cs typeface="Arial"/>
              <a:sym typeface="Arial"/>
            </a:endParaRPr>
          </a:p>
          <a:p>
            <a:pPr indent="-609600" lvl="0" marL="609600" marR="0" rtl="0" algn="l">
              <a:lnSpc>
                <a:spcPct val="110000"/>
              </a:lnSpc>
              <a:spcBef>
                <a:spcPts val="400"/>
              </a:spcBef>
              <a:spcAft>
                <a:spcPts val="0"/>
              </a:spcAft>
              <a:buClr>
                <a:srgbClr val="000000"/>
              </a:buClr>
              <a:buSzPts val="2000"/>
              <a:buFont typeface="Noto Sans Symbols"/>
              <a:buNone/>
            </a:pPr>
            <a:r>
              <a:t/>
            </a:r>
            <a:endParaRPr b="0" i="1" sz="2000" u="none" cap="none" strike="noStrike">
              <a:solidFill>
                <a:srgbClr val="FFFFFF"/>
              </a:solidFill>
              <a:latin typeface="Arial"/>
              <a:ea typeface="Arial"/>
              <a:cs typeface="Arial"/>
              <a:sym typeface="Arial"/>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7"/>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187" name="Google Shape;187;p7"/>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88" name="Google Shape;188;p7"/>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sp>
        <p:nvSpPr>
          <p:cNvPr id="189" name="Google Shape;189;p7"/>
          <p:cNvSpPr txBox="1"/>
          <p:nvPr/>
        </p:nvSpPr>
        <p:spPr>
          <a:xfrm>
            <a:off x="3456000" y="864000"/>
            <a:ext cx="2952000" cy="52322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Debris fell on equipment, injuring one Worker &amp; damaged equipment</a:t>
            </a:r>
            <a:endParaRPr b="0" i="0" sz="1400" u="none" cap="none" strike="noStrike">
              <a:solidFill>
                <a:srgbClr val="262626"/>
              </a:solidFill>
              <a:latin typeface="Arial"/>
              <a:ea typeface="Arial"/>
              <a:cs typeface="Arial"/>
              <a:sym typeface="Arial"/>
            </a:endParaRPr>
          </a:p>
        </p:txBody>
      </p:sp>
      <p:sp>
        <p:nvSpPr>
          <p:cNvPr id="190" name="Google Shape;190;p7"/>
          <p:cNvSpPr txBox="1"/>
          <p:nvPr/>
        </p:nvSpPr>
        <p:spPr>
          <a:xfrm>
            <a:off x="3456000" y="1582597"/>
            <a:ext cx="2952000" cy="52322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Equipment &amp; Worker Were In Exclusion Zone</a:t>
            </a:r>
            <a:endParaRPr b="0" i="0" sz="1400" u="none" cap="none" strike="noStrike">
              <a:solidFill>
                <a:srgbClr val="000000"/>
              </a:solidFill>
              <a:latin typeface="Arial"/>
              <a:ea typeface="Arial"/>
              <a:cs typeface="Arial"/>
              <a:sym typeface="Arial"/>
            </a:endParaRPr>
          </a:p>
        </p:txBody>
      </p:sp>
      <p:sp>
        <p:nvSpPr>
          <p:cNvPr id="191" name="Google Shape;191;p7"/>
          <p:cNvSpPr txBox="1"/>
          <p:nvPr/>
        </p:nvSpPr>
        <p:spPr>
          <a:xfrm>
            <a:off x="3456000" y="2314199"/>
            <a:ext cx="2952000" cy="5040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Worker did not follow exclusion zone procedures</a:t>
            </a:r>
            <a:endParaRPr b="0" i="0" sz="1400" u="none" cap="none" strike="noStrike">
              <a:solidFill>
                <a:srgbClr val="000000"/>
              </a:solidFill>
              <a:latin typeface="Arial"/>
              <a:ea typeface="Arial"/>
              <a:cs typeface="Arial"/>
              <a:sym typeface="Arial"/>
            </a:endParaRPr>
          </a:p>
        </p:txBody>
      </p:sp>
      <p:sp>
        <p:nvSpPr>
          <p:cNvPr id="192" name="Google Shape;192;p7"/>
          <p:cNvSpPr txBox="1"/>
          <p:nvPr/>
        </p:nvSpPr>
        <p:spPr>
          <a:xfrm>
            <a:off x="1512000" y="3505680"/>
            <a:ext cx="2160000" cy="738664"/>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Worker was not aware of exclusion zone procedures</a:t>
            </a:r>
            <a:endParaRPr b="0" i="0" sz="1400" u="none" cap="none" strike="noStrike">
              <a:solidFill>
                <a:srgbClr val="000000"/>
              </a:solidFill>
              <a:latin typeface="Arial"/>
              <a:ea typeface="Arial"/>
              <a:cs typeface="Arial"/>
              <a:sym typeface="Arial"/>
            </a:endParaRPr>
          </a:p>
        </p:txBody>
      </p:sp>
      <p:sp>
        <p:nvSpPr>
          <p:cNvPr id="193" name="Google Shape;193;p7"/>
          <p:cNvSpPr txBox="1"/>
          <p:nvPr/>
        </p:nvSpPr>
        <p:spPr>
          <a:xfrm>
            <a:off x="3852000" y="3505680"/>
            <a:ext cx="2160000" cy="738664"/>
          </a:xfrm>
          <a:prstGeom prst="rect">
            <a:avLst/>
          </a:prstGeom>
          <a:solidFill>
            <a:srgbClr val="FFFFFF"/>
          </a:solidFill>
          <a:ln cap="flat" cmpd="sng" w="9525">
            <a:solidFill>
              <a:srgbClr val="9CC2E5"/>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9CC2E5"/>
              </a:buClr>
              <a:buSzPts val="1400"/>
              <a:buFont typeface="Arial"/>
              <a:buNone/>
            </a:pPr>
            <a:r>
              <a:rPr b="0" i="0" lang="en-US" sz="1400" u="none" cap="none" strike="noStrike">
                <a:solidFill>
                  <a:srgbClr val="9CC2E5"/>
                </a:solidFill>
                <a:latin typeface="Arial"/>
                <a:ea typeface="Arial"/>
                <a:cs typeface="Arial"/>
                <a:sym typeface="Arial"/>
              </a:rPr>
              <a:t>Worker disregarded exclusion zone procedures</a:t>
            </a:r>
            <a:endParaRPr b="0" i="0" sz="1400" u="none" cap="none" strike="noStrike">
              <a:solidFill>
                <a:srgbClr val="000000"/>
              </a:solidFill>
              <a:latin typeface="Arial"/>
              <a:ea typeface="Arial"/>
              <a:cs typeface="Arial"/>
              <a:sym typeface="Arial"/>
            </a:endParaRPr>
          </a:p>
        </p:txBody>
      </p:sp>
      <p:cxnSp>
        <p:nvCxnSpPr>
          <p:cNvPr id="194" name="Google Shape;194;p7"/>
          <p:cNvCxnSpPr>
            <a:stCxn id="191" idx="2"/>
            <a:endCxn id="195" idx="0"/>
          </p:cNvCxnSpPr>
          <p:nvPr/>
        </p:nvCxnSpPr>
        <p:spPr>
          <a:xfrm flipH="1" rot="-5400000">
            <a:off x="5722200" y="2027999"/>
            <a:ext cx="687600" cy="2268000"/>
          </a:xfrm>
          <a:prstGeom prst="bentConnector3">
            <a:avLst>
              <a:gd fmla="val 49991" name="adj1"/>
            </a:avLst>
          </a:prstGeom>
          <a:noFill/>
          <a:ln cap="flat" cmpd="sng" w="9525">
            <a:solidFill>
              <a:srgbClr val="000000"/>
            </a:solidFill>
            <a:prstDash val="solid"/>
            <a:miter lim="800000"/>
            <a:headEnd len="sm" w="sm" type="none"/>
            <a:tailEnd len="med" w="med" type="triangle"/>
          </a:ln>
        </p:spPr>
      </p:cxnSp>
      <p:cxnSp>
        <p:nvCxnSpPr>
          <p:cNvPr id="196" name="Google Shape;196;p7"/>
          <p:cNvCxnSpPr>
            <a:stCxn id="191" idx="2"/>
            <a:endCxn id="192" idx="0"/>
          </p:cNvCxnSpPr>
          <p:nvPr/>
        </p:nvCxnSpPr>
        <p:spPr>
          <a:xfrm rot="5400000">
            <a:off x="3418200" y="1991999"/>
            <a:ext cx="687600" cy="2340000"/>
          </a:xfrm>
          <a:prstGeom prst="bentConnector3">
            <a:avLst>
              <a:gd fmla="val 49991" name="adj1"/>
            </a:avLst>
          </a:prstGeom>
          <a:noFill/>
          <a:ln cap="flat" cmpd="sng" w="9525">
            <a:solidFill>
              <a:srgbClr val="000000"/>
            </a:solidFill>
            <a:prstDash val="solid"/>
            <a:miter lim="800000"/>
            <a:headEnd len="sm" w="sm" type="none"/>
            <a:tailEnd len="med" w="med" type="triangle"/>
          </a:ln>
        </p:spPr>
      </p:cxnSp>
      <p:sp>
        <p:nvSpPr>
          <p:cNvPr id="195" name="Google Shape;195;p7"/>
          <p:cNvSpPr txBox="1"/>
          <p:nvPr/>
        </p:nvSpPr>
        <p:spPr>
          <a:xfrm>
            <a:off x="6120000" y="3505680"/>
            <a:ext cx="2160000" cy="738664"/>
          </a:xfrm>
          <a:prstGeom prst="rect">
            <a:avLst/>
          </a:prstGeom>
          <a:solidFill>
            <a:srgbClr val="FFFFFF"/>
          </a:solidFill>
          <a:ln cap="flat" cmpd="sng" w="9525">
            <a:solidFill>
              <a:srgbClr val="9CC2E5"/>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9CC2E5"/>
              </a:buClr>
              <a:buSzPts val="1400"/>
              <a:buFont typeface="Arial"/>
              <a:buNone/>
            </a:pPr>
            <a:r>
              <a:rPr b="0" i="0" lang="en-US" sz="1400" u="none" cap="none" strike="noStrike">
                <a:solidFill>
                  <a:srgbClr val="9CC2E5"/>
                </a:solidFill>
                <a:latin typeface="Arial"/>
                <a:ea typeface="Arial"/>
                <a:cs typeface="Arial"/>
                <a:sym typeface="Arial"/>
              </a:rPr>
              <a:t>Supervisor told Worker to go into the exclusion zone</a:t>
            </a:r>
            <a:endParaRPr b="0" i="0" sz="1400" u="none" cap="none" strike="noStrike">
              <a:solidFill>
                <a:srgbClr val="000000"/>
              </a:solidFill>
              <a:latin typeface="Arial"/>
              <a:ea typeface="Arial"/>
              <a:cs typeface="Arial"/>
              <a:sym typeface="Arial"/>
            </a:endParaRPr>
          </a:p>
        </p:txBody>
      </p:sp>
      <p:sp>
        <p:nvSpPr>
          <p:cNvPr id="197" name="Google Shape;197;p7"/>
          <p:cNvSpPr txBox="1"/>
          <p:nvPr/>
        </p:nvSpPr>
        <p:spPr>
          <a:xfrm>
            <a:off x="1512000" y="5167107"/>
            <a:ext cx="2160000" cy="738664"/>
          </a:xfrm>
          <a:prstGeom prst="rect">
            <a:avLst/>
          </a:prstGeom>
          <a:solidFill>
            <a:srgbClr val="FEE599"/>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LC1: There was no training program for mining operations.</a:t>
            </a:r>
            <a:endParaRPr b="0" i="0" sz="1400" u="none" cap="none" strike="noStrike">
              <a:solidFill>
                <a:srgbClr val="000000"/>
              </a:solidFill>
              <a:latin typeface="Arial"/>
              <a:ea typeface="Arial"/>
              <a:cs typeface="Arial"/>
              <a:sym typeface="Arial"/>
            </a:endParaRPr>
          </a:p>
        </p:txBody>
      </p:sp>
      <p:cxnSp>
        <p:nvCxnSpPr>
          <p:cNvPr id="198" name="Google Shape;198;p7"/>
          <p:cNvCxnSpPr>
            <a:stCxn id="192" idx="2"/>
            <a:endCxn id="197" idx="0"/>
          </p:cNvCxnSpPr>
          <p:nvPr/>
        </p:nvCxnSpPr>
        <p:spPr>
          <a:xfrm>
            <a:off x="2592000" y="4244344"/>
            <a:ext cx="0" cy="922800"/>
          </a:xfrm>
          <a:prstGeom prst="straightConnector1">
            <a:avLst/>
          </a:prstGeom>
          <a:noFill/>
          <a:ln cap="flat" cmpd="sng" w="9525">
            <a:solidFill>
              <a:srgbClr val="000000"/>
            </a:solidFill>
            <a:prstDash val="solid"/>
            <a:miter lim="800000"/>
            <a:headEnd len="sm" w="sm" type="none"/>
            <a:tailEnd len="med" w="med" type="triangle"/>
          </a:ln>
        </p:spPr>
      </p:cxnSp>
      <p:cxnSp>
        <p:nvCxnSpPr>
          <p:cNvPr id="199" name="Google Shape;199;p7"/>
          <p:cNvCxnSpPr>
            <a:stCxn id="190" idx="2"/>
            <a:endCxn id="191" idx="0"/>
          </p:cNvCxnSpPr>
          <p:nvPr/>
        </p:nvCxnSpPr>
        <p:spPr>
          <a:xfrm>
            <a:off x="4932000" y="2105817"/>
            <a:ext cx="0" cy="208500"/>
          </a:xfrm>
          <a:prstGeom prst="straightConnector1">
            <a:avLst/>
          </a:prstGeom>
          <a:noFill/>
          <a:ln cap="flat" cmpd="sng" w="9525">
            <a:solidFill>
              <a:srgbClr val="000000"/>
            </a:solidFill>
            <a:prstDash val="solid"/>
            <a:miter lim="800000"/>
            <a:headEnd len="sm" w="sm" type="none"/>
            <a:tailEnd len="med" w="med" type="triangle"/>
          </a:ln>
        </p:spPr>
      </p:cxnSp>
      <p:cxnSp>
        <p:nvCxnSpPr>
          <p:cNvPr id="200" name="Google Shape;200;p7"/>
          <p:cNvCxnSpPr>
            <a:stCxn id="189" idx="2"/>
            <a:endCxn id="190" idx="0"/>
          </p:cNvCxnSpPr>
          <p:nvPr/>
        </p:nvCxnSpPr>
        <p:spPr>
          <a:xfrm>
            <a:off x="4932000" y="1387220"/>
            <a:ext cx="0" cy="195300"/>
          </a:xfrm>
          <a:prstGeom prst="straightConnector1">
            <a:avLst/>
          </a:prstGeom>
          <a:noFill/>
          <a:ln cap="flat" cmpd="sng" w="9525">
            <a:solidFill>
              <a:srgbClr val="000000"/>
            </a:solidFill>
            <a:prstDash val="solid"/>
            <a:miter lim="800000"/>
            <a:headEnd len="sm" w="sm" type="none"/>
            <a:tailEnd len="med" w="med" type="triangle"/>
          </a:ln>
        </p:spPr>
      </p:cxnSp>
      <p:cxnSp>
        <p:nvCxnSpPr>
          <p:cNvPr id="201" name="Google Shape;201;p7"/>
          <p:cNvCxnSpPr>
            <a:stCxn id="191" idx="2"/>
            <a:endCxn id="193" idx="0"/>
          </p:cNvCxnSpPr>
          <p:nvPr/>
        </p:nvCxnSpPr>
        <p:spPr>
          <a:xfrm>
            <a:off x="4932000" y="2818199"/>
            <a:ext cx="0" cy="687600"/>
          </a:xfrm>
          <a:prstGeom prst="straightConnector1">
            <a:avLst/>
          </a:prstGeom>
          <a:noFill/>
          <a:ln cap="flat" cmpd="sng" w="9525">
            <a:solidFill>
              <a:srgbClr val="000000"/>
            </a:solidFill>
            <a:prstDash val="solid"/>
            <a:miter lim="800000"/>
            <a:headEnd len="sm" w="sm" type="none"/>
            <a:tailEnd len="med" w="med" type="triangle"/>
          </a:ln>
        </p:spPr>
      </p:cxnSp>
      <p:sp>
        <p:nvSpPr>
          <p:cNvPr id="202" name="Google Shape;202;p7"/>
          <p:cNvSpPr/>
          <p:nvPr/>
        </p:nvSpPr>
        <p:spPr>
          <a:xfrm flipH="1">
            <a:off x="4772880" y="2916365"/>
            <a:ext cx="392534" cy="305875"/>
          </a:xfrm>
          <a:prstGeom prst="flowChartPunchedTape">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262626"/>
              </a:solidFill>
              <a:latin typeface="Arial"/>
              <a:ea typeface="Arial"/>
              <a:cs typeface="Arial"/>
              <a:sym typeface="Arial"/>
            </a:endParaRPr>
          </a:p>
        </p:txBody>
      </p:sp>
      <p:sp>
        <p:nvSpPr>
          <p:cNvPr id="203" name="Google Shape;203;p7"/>
          <p:cNvSpPr/>
          <p:nvPr/>
        </p:nvSpPr>
        <p:spPr>
          <a:xfrm>
            <a:off x="347135" y="3402651"/>
            <a:ext cx="1152777" cy="1039356"/>
          </a:xfrm>
          <a:prstGeom prst="rightArrow">
            <a:avLst>
              <a:gd fmla="val 50000" name="adj1"/>
              <a:gd fmla="val 50000" name="adj2"/>
            </a:avLst>
          </a:prstGeom>
          <a:solidFill>
            <a:srgbClr val="FFFFFF"/>
          </a:solid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Arial"/>
                <a:ea typeface="Arial"/>
                <a:cs typeface="Arial"/>
                <a:sym typeface="Arial"/>
              </a:rPr>
              <a:t>Basic Cause?</a:t>
            </a:r>
            <a:endParaRPr b="0" i="0" sz="1400" u="none" cap="none" strike="noStrike">
              <a:solidFill>
                <a:srgbClr val="FF0000"/>
              </a:solidFill>
              <a:latin typeface="Arial"/>
              <a:ea typeface="Arial"/>
              <a:cs typeface="Arial"/>
              <a:sym typeface="Arial"/>
            </a:endParaRPr>
          </a:p>
        </p:txBody>
      </p:sp>
      <p:sp>
        <p:nvSpPr>
          <p:cNvPr id="204" name="Google Shape;204;p7"/>
          <p:cNvSpPr/>
          <p:nvPr/>
        </p:nvSpPr>
        <p:spPr>
          <a:xfrm>
            <a:off x="180000" y="188182"/>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Drilling Down to Latent Causes in the RCA:</a:t>
            </a:r>
            <a:endParaRPr b="0" i="0" sz="2400" u="none" cap="none" strike="noStrike">
              <a:solidFill>
                <a:srgbClr val="333399"/>
              </a:solidFill>
              <a:latin typeface="Arial"/>
              <a:ea typeface="Arial"/>
              <a:cs typeface="Arial"/>
              <a:sym typeface="Arial"/>
            </a:endParaRPr>
          </a:p>
        </p:txBody>
      </p:sp>
      <p:sp>
        <p:nvSpPr>
          <p:cNvPr id="205" name="Google Shape;205;p7"/>
          <p:cNvSpPr/>
          <p:nvPr/>
        </p:nvSpPr>
        <p:spPr>
          <a:xfrm>
            <a:off x="99753" y="3419946"/>
            <a:ext cx="3644247" cy="2764053"/>
          </a:xfrm>
          <a:prstGeom prst="roundRect">
            <a:avLst>
              <a:gd fmla="val 7793" name="adj"/>
            </a:avLst>
          </a:prstGeom>
          <a:noFill/>
          <a:ln cap="flat" cmpd="sng" w="38100">
            <a:solidFill>
              <a:srgbClr val="0000FF"/>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0000"/>
              </a:buClr>
              <a:buSzPts val="2000"/>
              <a:buFont typeface="Calibri"/>
              <a:buNone/>
            </a:pPr>
            <a:r>
              <a:rPr b="1" i="0" lang="en-US" sz="2000" u="none" cap="none" strike="noStrike">
                <a:solidFill>
                  <a:srgbClr val="FF0000"/>
                </a:solidFill>
                <a:latin typeface="Calibri"/>
                <a:ea typeface="Calibri"/>
                <a:cs typeface="Calibri"/>
                <a:sym typeface="Calibri"/>
              </a:rPr>
              <a:t>Does this </a:t>
            </a:r>
            <a:br>
              <a:rPr b="1" i="0" lang="en-US" sz="2000" u="none" cap="none" strike="noStrike">
                <a:solidFill>
                  <a:srgbClr val="FF0000"/>
                </a:solidFill>
                <a:latin typeface="Calibri"/>
                <a:ea typeface="Calibri"/>
                <a:cs typeface="Calibri"/>
                <a:sym typeface="Calibri"/>
              </a:rPr>
            </a:br>
            <a:r>
              <a:rPr b="1" i="0" lang="en-US" sz="2000" u="none" cap="none" strike="noStrike">
                <a:solidFill>
                  <a:srgbClr val="FF0000"/>
                </a:solidFill>
                <a:latin typeface="Calibri"/>
                <a:ea typeface="Calibri"/>
                <a:cs typeface="Calibri"/>
                <a:sym typeface="Calibri"/>
              </a:rPr>
              <a:t>make sense? </a:t>
            </a:r>
            <a:br>
              <a:rPr b="1" i="0" lang="en-US" sz="2000" u="none" cap="none" strike="noStrike">
                <a:solidFill>
                  <a:srgbClr val="FF0000"/>
                </a:solidFill>
                <a:latin typeface="Calibri"/>
                <a:ea typeface="Calibri"/>
                <a:cs typeface="Calibri"/>
                <a:sym typeface="Calibri"/>
              </a:rPr>
            </a:br>
            <a:r>
              <a:rPr b="1" i="0" lang="en-US" sz="2000" u="none" cap="none" strike="noStrike">
                <a:solidFill>
                  <a:srgbClr val="FF0000"/>
                </a:solidFill>
                <a:latin typeface="Calibri"/>
                <a:ea typeface="Calibri"/>
                <a:cs typeface="Calibri"/>
                <a:sym typeface="Calibri"/>
              </a:rPr>
              <a:t>Is there a </a:t>
            </a:r>
            <a:br>
              <a:rPr b="1" i="0" lang="en-US" sz="2000" u="none" cap="none" strike="noStrike">
                <a:solidFill>
                  <a:srgbClr val="FF0000"/>
                </a:solidFill>
                <a:latin typeface="Calibri"/>
                <a:ea typeface="Calibri"/>
                <a:cs typeface="Calibri"/>
                <a:sym typeface="Calibri"/>
              </a:rPr>
            </a:br>
            <a:r>
              <a:rPr b="1" i="0" lang="en-US" sz="2000" u="none" cap="none" strike="noStrike">
                <a:solidFill>
                  <a:srgbClr val="FF0000"/>
                </a:solidFill>
                <a:latin typeface="Calibri"/>
                <a:ea typeface="Calibri"/>
                <a:cs typeface="Calibri"/>
                <a:sym typeface="Calibri"/>
              </a:rPr>
              <a:t>logic leap?</a:t>
            </a:r>
            <a:endParaRPr b="1" i="0" sz="2000" u="none" cap="none" strike="noStrike">
              <a:solidFill>
                <a:srgbClr val="FF0000"/>
              </a:solidFill>
              <a:latin typeface="Calibri"/>
              <a:ea typeface="Calibri"/>
              <a:cs typeface="Calibri"/>
              <a:sym typeface="Calibri"/>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8"/>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212" name="Google Shape;212;p8"/>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sp>
        <p:nvSpPr>
          <p:cNvPr id="213" name="Google Shape;213;p8"/>
          <p:cNvSpPr txBox="1"/>
          <p:nvPr/>
        </p:nvSpPr>
        <p:spPr>
          <a:xfrm>
            <a:off x="3456000" y="861252"/>
            <a:ext cx="2952000" cy="52322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Debris fell on equipment, injuring one Worker &amp; damaged equipment</a:t>
            </a:r>
            <a:endParaRPr b="0" i="0" sz="1400" u="none" cap="none" strike="noStrike">
              <a:solidFill>
                <a:srgbClr val="262626"/>
              </a:solidFill>
              <a:latin typeface="Arial"/>
              <a:ea typeface="Arial"/>
              <a:cs typeface="Arial"/>
              <a:sym typeface="Arial"/>
            </a:endParaRPr>
          </a:p>
        </p:txBody>
      </p:sp>
      <p:sp>
        <p:nvSpPr>
          <p:cNvPr id="214" name="Google Shape;214;p8"/>
          <p:cNvSpPr txBox="1"/>
          <p:nvPr/>
        </p:nvSpPr>
        <p:spPr>
          <a:xfrm>
            <a:off x="3456000" y="1578182"/>
            <a:ext cx="2952000" cy="52322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Equipment &amp; Worker Were In Exclusion Zone</a:t>
            </a:r>
            <a:endParaRPr b="0" i="0" sz="1400" u="none" cap="none" strike="noStrike">
              <a:solidFill>
                <a:srgbClr val="000000"/>
              </a:solidFill>
              <a:latin typeface="Arial"/>
              <a:ea typeface="Arial"/>
              <a:cs typeface="Arial"/>
              <a:sym typeface="Arial"/>
            </a:endParaRPr>
          </a:p>
        </p:txBody>
      </p:sp>
      <p:sp>
        <p:nvSpPr>
          <p:cNvPr id="215" name="Google Shape;215;p8"/>
          <p:cNvSpPr txBox="1"/>
          <p:nvPr/>
        </p:nvSpPr>
        <p:spPr>
          <a:xfrm>
            <a:off x="3456000" y="2311451"/>
            <a:ext cx="2952000" cy="5040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Worker did not follow exclusion zone procedures</a:t>
            </a:r>
            <a:endParaRPr b="0" i="0" sz="1400" u="none" cap="none" strike="noStrike">
              <a:solidFill>
                <a:srgbClr val="000000"/>
              </a:solidFill>
              <a:latin typeface="Arial"/>
              <a:ea typeface="Arial"/>
              <a:cs typeface="Arial"/>
              <a:sym typeface="Arial"/>
            </a:endParaRPr>
          </a:p>
        </p:txBody>
      </p:sp>
      <p:sp>
        <p:nvSpPr>
          <p:cNvPr id="216" name="Google Shape;216;p8"/>
          <p:cNvSpPr txBox="1"/>
          <p:nvPr/>
        </p:nvSpPr>
        <p:spPr>
          <a:xfrm>
            <a:off x="1512000" y="3502932"/>
            <a:ext cx="2160000" cy="738664"/>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Worker was not aware of exclusion zone procedures</a:t>
            </a:r>
            <a:endParaRPr b="0" i="0" sz="1400" u="none" cap="none" strike="noStrike">
              <a:solidFill>
                <a:srgbClr val="000000"/>
              </a:solidFill>
              <a:latin typeface="Arial"/>
              <a:ea typeface="Arial"/>
              <a:cs typeface="Arial"/>
              <a:sym typeface="Arial"/>
            </a:endParaRPr>
          </a:p>
        </p:txBody>
      </p:sp>
      <p:sp>
        <p:nvSpPr>
          <p:cNvPr id="217" name="Google Shape;217;p8"/>
          <p:cNvSpPr txBox="1"/>
          <p:nvPr/>
        </p:nvSpPr>
        <p:spPr>
          <a:xfrm>
            <a:off x="3852000" y="3502932"/>
            <a:ext cx="2160000" cy="738664"/>
          </a:xfrm>
          <a:prstGeom prst="rect">
            <a:avLst/>
          </a:prstGeom>
          <a:solidFill>
            <a:srgbClr val="FFFFFF"/>
          </a:solidFill>
          <a:ln cap="flat" cmpd="sng" w="9525">
            <a:solidFill>
              <a:srgbClr val="9CC2E5"/>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9CC2E5"/>
              </a:buClr>
              <a:buSzPts val="1400"/>
              <a:buFont typeface="Arial"/>
              <a:buNone/>
            </a:pPr>
            <a:r>
              <a:rPr b="0" i="0" lang="en-US" sz="1400" u="none" cap="none" strike="noStrike">
                <a:solidFill>
                  <a:srgbClr val="9CC2E5"/>
                </a:solidFill>
                <a:latin typeface="Arial"/>
                <a:ea typeface="Arial"/>
                <a:cs typeface="Arial"/>
                <a:sym typeface="Arial"/>
              </a:rPr>
              <a:t>Worker disregarded exclusion zone procedures</a:t>
            </a:r>
            <a:endParaRPr b="0" i="0" sz="1400" u="none" cap="none" strike="noStrike">
              <a:solidFill>
                <a:srgbClr val="000000"/>
              </a:solidFill>
              <a:latin typeface="Arial"/>
              <a:ea typeface="Arial"/>
              <a:cs typeface="Arial"/>
              <a:sym typeface="Arial"/>
            </a:endParaRPr>
          </a:p>
        </p:txBody>
      </p:sp>
      <p:cxnSp>
        <p:nvCxnSpPr>
          <p:cNvPr id="218" name="Google Shape;218;p8"/>
          <p:cNvCxnSpPr>
            <a:stCxn id="215" idx="2"/>
            <a:endCxn id="219" idx="0"/>
          </p:cNvCxnSpPr>
          <p:nvPr/>
        </p:nvCxnSpPr>
        <p:spPr>
          <a:xfrm flipH="1" rot="-5400000">
            <a:off x="5722200" y="2025251"/>
            <a:ext cx="687600" cy="2268000"/>
          </a:xfrm>
          <a:prstGeom prst="bentConnector3">
            <a:avLst>
              <a:gd fmla="val 49991" name="adj1"/>
            </a:avLst>
          </a:prstGeom>
          <a:noFill/>
          <a:ln cap="flat" cmpd="sng" w="9525">
            <a:solidFill>
              <a:srgbClr val="000000"/>
            </a:solidFill>
            <a:prstDash val="solid"/>
            <a:miter lim="800000"/>
            <a:headEnd len="sm" w="sm" type="none"/>
            <a:tailEnd len="med" w="med" type="triangle"/>
          </a:ln>
        </p:spPr>
      </p:cxnSp>
      <p:cxnSp>
        <p:nvCxnSpPr>
          <p:cNvPr id="220" name="Google Shape;220;p8"/>
          <p:cNvCxnSpPr>
            <a:stCxn id="215" idx="2"/>
            <a:endCxn id="216" idx="0"/>
          </p:cNvCxnSpPr>
          <p:nvPr/>
        </p:nvCxnSpPr>
        <p:spPr>
          <a:xfrm rot="5400000">
            <a:off x="3418200" y="1989251"/>
            <a:ext cx="687600" cy="2340000"/>
          </a:xfrm>
          <a:prstGeom prst="bentConnector3">
            <a:avLst>
              <a:gd fmla="val 49991" name="adj1"/>
            </a:avLst>
          </a:prstGeom>
          <a:noFill/>
          <a:ln cap="flat" cmpd="sng" w="9525">
            <a:solidFill>
              <a:srgbClr val="000000"/>
            </a:solidFill>
            <a:prstDash val="solid"/>
            <a:miter lim="800000"/>
            <a:headEnd len="sm" w="sm" type="none"/>
            <a:tailEnd len="med" w="med" type="triangle"/>
          </a:ln>
        </p:spPr>
      </p:cxnSp>
      <p:sp>
        <p:nvSpPr>
          <p:cNvPr id="219" name="Google Shape;219;p8"/>
          <p:cNvSpPr txBox="1"/>
          <p:nvPr/>
        </p:nvSpPr>
        <p:spPr>
          <a:xfrm>
            <a:off x="6120000" y="3502932"/>
            <a:ext cx="2160000" cy="738664"/>
          </a:xfrm>
          <a:prstGeom prst="rect">
            <a:avLst/>
          </a:prstGeom>
          <a:solidFill>
            <a:srgbClr val="FFFFFF"/>
          </a:solidFill>
          <a:ln cap="flat" cmpd="sng" w="9525">
            <a:solidFill>
              <a:srgbClr val="9CC2E5"/>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9CC2E5"/>
              </a:buClr>
              <a:buSzPts val="1400"/>
              <a:buFont typeface="Arial"/>
              <a:buNone/>
            </a:pPr>
            <a:r>
              <a:rPr b="0" i="0" lang="en-US" sz="1400" u="none" cap="none" strike="noStrike">
                <a:solidFill>
                  <a:srgbClr val="9CC2E5"/>
                </a:solidFill>
                <a:latin typeface="Arial"/>
                <a:ea typeface="Arial"/>
                <a:cs typeface="Arial"/>
                <a:sym typeface="Arial"/>
              </a:rPr>
              <a:t>Supervisor told Worker to go into the exclusion zone</a:t>
            </a:r>
            <a:endParaRPr b="0" i="0" sz="1400" u="none" cap="none" strike="noStrike">
              <a:solidFill>
                <a:srgbClr val="000000"/>
              </a:solidFill>
              <a:latin typeface="Arial"/>
              <a:ea typeface="Arial"/>
              <a:cs typeface="Arial"/>
              <a:sym typeface="Arial"/>
            </a:endParaRPr>
          </a:p>
        </p:txBody>
      </p:sp>
      <p:sp>
        <p:nvSpPr>
          <p:cNvPr id="221" name="Google Shape;221;p8"/>
          <p:cNvSpPr txBox="1"/>
          <p:nvPr/>
        </p:nvSpPr>
        <p:spPr>
          <a:xfrm>
            <a:off x="1512000" y="5164359"/>
            <a:ext cx="2160000" cy="738664"/>
          </a:xfrm>
          <a:prstGeom prst="rect">
            <a:avLst/>
          </a:prstGeom>
          <a:solidFill>
            <a:srgbClr val="FEE599"/>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LC1: There was no training program for mining operations.</a:t>
            </a:r>
            <a:endParaRPr b="0" i="0" sz="1400" u="none" cap="none" strike="noStrike">
              <a:solidFill>
                <a:srgbClr val="000000"/>
              </a:solidFill>
              <a:latin typeface="Arial"/>
              <a:ea typeface="Arial"/>
              <a:cs typeface="Arial"/>
              <a:sym typeface="Arial"/>
            </a:endParaRPr>
          </a:p>
        </p:txBody>
      </p:sp>
      <p:cxnSp>
        <p:nvCxnSpPr>
          <p:cNvPr id="222" name="Google Shape;222;p8"/>
          <p:cNvCxnSpPr>
            <a:stCxn id="216" idx="2"/>
            <a:endCxn id="223" idx="0"/>
          </p:cNvCxnSpPr>
          <p:nvPr/>
        </p:nvCxnSpPr>
        <p:spPr>
          <a:xfrm flipH="1">
            <a:off x="2589900" y="4241596"/>
            <a:ext cx="2100" cy="172200"/>
          </a:xfrm>
          <a:prstGeom prst="straightConnector1">
            <a:avLst/>
          </a:prstGeom>
          <a:noFill/>
          <a:ln cap="flat" cmpd="sng" w="9525">
            <a:solidFill>
              <a:srgbClr val="000000"/>
            </a:solidFill>
            <a:prstDash val="solid"/>
            <a:miter lim="800000"/>
            <a:headEnd len="sm" w="sm" type="none"/>
            <a:tailEnd len="med" w="med" type="triangle"/>
          </a:ln>
        </p:spPr>
      </p:cxnSp>
      <p:sp>
        <p:nvSpPr>
          <p:cNvPr id="223" name="Google Shape;223;p8"/>
          <p:cNvSpPr txBox="1"/>
          <p:nvPr/>
        </p:nvSpPr>
        <p:spPr>
          <a:xfrm>
            <a:off x="1509852" y="4413925"/>
            <a:ext cx="2160000" cy="5400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Worker was not trained on those procedures</a:t>
            </a:r>
            <a:endParaRPr b="0" i="0" sz="1400" u="none" cap="none" strike="noStrike">
              <a:solidFill>
                <a:srgbClr val="000000"/>
              </a:solidFill>
              <a:latin typeface="Arial"/>
              <a:ea typeface="Arial"/>
              <a:cs typeface="Arial"/>
              <a:sym typeface="Arial"/>
            </a:endParaRPr>
          </a:p>
        </p:txBody>
      </p:sp>
      <p:cxnSp>
        <p:nvCxnSpPr>
          <p:cNvPr id="224" name="Google Shape;224;p8"/>
          <p:cNvCxnSpPr>
            <a:stCxn id="223" idx="2"/>
            <a:endCxn id="221" idx="0"/>
          </p:cNvCxnSpPr>
          <p:nvPr/>
        </p:nvCxnSpPr>
        <p:spPr>
          <a:xfrm>
            <a:off x="2589852" y="4953925"/>
            <a:ext cx="2100" cy="210300"/>
          </a:xfrm>
          <a:prstGeom prst="straightConnector1">
            <a:avLst/>
          </a:prstGeom>
          <a:noFill/>
          <a:ln cap="flat" cmpd="sng" w="9525">
            <a:solidFill>
              <a:srgbClr val="000000"/>
            </a:solidFill>
            <a:prstDash val="solid"/>
            <a:miter lim="800000"/>
            <a:headEnd len="sm" w="sm" type="none"/>
            <a:tailEnd len="med" w="med" type="triangle"/>
          </a:ln>
        </p:spPr>
      </p:cxnSp>
      <p:cxnSp>
        <p:nvCxnSpPr>
          <p:cNvPr id="225" name="Google Shape;225;p8"/>
          <p:cNvCxnSpPr>
            <a:stCxn id="214" idx="2"/>
            <a:endCxn id="215" idx="0"/>
          </p:cNvCxnSpPr>
          <p:nvPr/>
        </p:nvCxnSpPr>
        <p:spPr>
          <a:xfrm>
            <a:off x="4932000" y="2101402"/>
            <a:ext cx="0" cy="210000"/>
          </a:xfrm>
          <a:prstGeom prst="straightConnector1">
            <a:avLst/>
          </a:prstGeom>
          <a:noFill/>
          <a:ln cap="flat" cmpd="sng" w="9525">
            <a:solidFill>
              <a:srgbClr val="000000"/>
            </a:solidFill>
            <a:prstDash val="solid"/>
            <a:miter lim="800000"/>
            <a:headEnd len="sm" w="sm" type="none"/>
            <a:tailEnd len="med" w="med" type="triangle"/>
          </a:ln>
        </p:spPr>
      </p:cxnSp>
      <p:cxnSp>
        <p:nvCxnSpPr>
          <p:cNvPr id="226" name="Google Shape;226;p8"/>
          <p:cNvCxnSpPr>
            <a:stCxn id="213" idx="2"/>
            <a:endCxn id="214" idx="0"/>
          </p:cNvCxnSpPr>
          <p:nvPr/>
        </p:nvCxnSpPr>
        <p:spPr>
          <a:xfrm>
            <a:off x="4932000" y="1384472"/>
            <a:ext cx="0" cy="193800"/>
          </a:xfrm>
          <a:prstGeom prst="straightConnector1">
            <a:avLst/>
          </a:prstGeom>
          <a:noFill/>
          <a:ln cap="flat" cmpd="sng" w="9525">
            <a:solidFill>
              <a:srgbClr val="000000"/>
            </a:solidFill>
            <a:prstDash val="solid"/>
            <a:miter lim="800000"/>
            <a:headEnd len="sm" w="sm" type="none"/>
            <a:tailEnd len="med" w="med" type="triangle"/>
          </a:ln>
        </p:spPr>
      </p:cxnSp>
      <p:cxnSp>
        <p:nvCxnSpPr>
          <p:cNvPr id="227" name="Google Shape;227;p8"/>
          <p:cNvCxnSpPr>
            <a:stCxn id="215" idx="2"/>
            <a:endCxn id="217" idx="0"/>
          </p:cNvCxnSpPr>
          <p:nvPr/>
        </p:nvCxnSpPr>
        <p:spPr>
          <a:xfrm>
            <a:off x="4932000" y="2815451"/>
            <a:ext cx="0" cy="687600"/>
          </a:xfrm>
          <a:prstGeom prst="straightConnector1">
            <a:avLst/>
          </a:prstGeom>
          <a:noFill/>
          <a:ln cap="flat" cmpd="sng" w="9525">
            <a:solidFill>
              <a:srgbClr val="000000"/>
            </a:solidFill>
            <a:prstDash val="solid"/>
            <a:miter lim="800000"/>
            <a:headEnd len="sm" w="sm" type="none"/>
            <a:tailEnd len="med" w="med" type="triangle"/>
          </a:ln>
        </p:spPr>
      </p:cxnSp>
      <p:sp>
        <p:nvSpPr>
          <p:cNvPr id="228" name="Google Shape;228;p8"/>
          <p:cNvSpPr/>
          <p:nvPr/>
        </p:nvSpPr>
        <p:spPr>
          <a:xfrm flipH="1">
            <a:off x="4772880" y="2913617"/>
            <a:ext cx="392534" cy="305875"/>
          </a:xfrm>
          <a:prstGeom prst="flowChartPunchedTape">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262626"/>
              </a:solidFill>
              <a:latin typeface="Arial"/>
              <a:ea typeface="Arial"/>
              <a:cs typeface="Arial"/>
              <a:sym typeface="Arial"/>
            </a:endParaRPr>
          </a:p>
        </p:txBody>
      </p:sp>
      <p:sp>
        <p:nvSpPr>
          <p:cNvPr id="229" name="Google Shape;229;p8"/>
          <p:cNvSpPr/>
          <p:nvPr/>
        </p:nvSpPr>
        <p:spPr>
          <a:xfrm>
            <a:off x="186380" y="3305273"/>
            <a:ext cx="1311908" cy="1039356"/>
          </a:xfrm>
          <a:prstGeom prst="rightArrow">
            <a:avLst>
              <a:gd fmla="val 50000" name="adj1"/>
              <a:gd fmla="val 50000" name="adj2"/>
            </a:avLst>
          </a:prstGeom>
          <a:solidFill>
            <a:srgbClr val="FFFFFF"/>
          </a:solid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400"/>
              <a:buFont typeface="Arial"/>
              <a:buNone/>
            </a:pPr>
            <a:r>
              <a:rPr b="0" i="0" lang="en-US" sz="1400" u="none" cap="none" strike="noStrike">
                <a:solidFill>
                  <a:srgbClr val="FF0000"/>
                </a:solidFill>
                <a:latin typeface="Arial"/>
                <a:ea typeface="Arial"/>
                <a:cs typeface="Arial"/>
                <a:sym typeface="Arial"/>
              </a:rPr>
              <a:t>Basic Cause</a:t>
            </a:r>
            <a:endParaRPr b="0" i="0" sz="1400" u="none" cap="none" strike="noStrike">
              <a:solidFill>
                <a:srgbClr val="000000"/>
              </a:solidFill>
              <a:latin typeface="Arial"/>
              <a:ea typeface="Arial"/>
              <a:cs typeface="Arial"/>
              <a:sym typeface="Arial"/>
            </a:endParaRPr>
          </a:p>
        </p:txBody>
      </p:sp>
      <p:sp>
        <p:nvSpPr>
          <p:cNvPr id="230" name="Google Shape;230;p8"/>
          <p:cNvSpPr/>
          <p:nvPr/>
        </p:nvSpPr>
        <p:spPr>
          <a:xfrm>
            <a:off x="188004" y="5160563"/>
            <a:ext cx="1316110" cy="805326"/>
          </a:xfrm>
          <a:prstGeom prst="rightArrow">
            <a:avLst>
              <a:gd fmla="val 50000" name="adj1"/>
              <a:gd fmla="val 50000" name="adj2"/>
            </a:avLst>
          </a:prstGeom>
          <a:solidFill>
            <a:srgbClr val="FFFFFF"/>
          </a:solidFill>
          <a:ln cap="flat" cmpd="sng" w="9525">
            <a:solidFill>
              <a:srgbClr val="FF0000"/>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lnSpc>
                <a:spcPct val="100000"/>
              </a:lnSpc>
              <a:spcBef>
                <a:spcPts val="0"/>
              </a:spcBef>
              <a:spcAft>
                <a:spcPts val="0"/>
              </a:spcAft>
              <a:buClr>
                <a:srgbClr val="FF0000"/>
              </a:buClr>
              <a:buSzPts val="1400"/>
              <a:buFont typeface="Arial"/>
              <a:buNone/>
            </a:pPr>
            <a:r>
              <a:rPr b="0" i="0" lang="en-US" sz="1400" u="none" cap="none" strike="noStrike">
                <a:solidFill>
                  <a:srgbClr val="FF0000"/>
                </a:solidFill>
                <a:latin typeface="Arial"/>
                <a:ea typeface="Arial"/>
                <a:cs typeface="Arial"/>
                <a:sym typeface="Arial"/>
              </a:rPr>
              <a:t>Latent Cause</a:t>
            </a:r>
            <a:endParaRPr b="0" i="0" sz="1400" u="none" cap="none" strike="noStrike">
              <a:solidFill>
                <a:srgbClr val="000000"/>
              </a:solidFill>
              <a:latin typeface="Arial"/>
              <a:ea typeface="Arial"/>
              <a:cs typeface="Arial"/>
              <a:sym typeface="Arial"/>
            </a:endParaRPr>
          </a:p>
        </p:txBody>
      </p:sp>
      <p:sp>
        <p:nvSpPr>
          <p:cNvPr id="231" name="Google Shape;231;p8"/>
          <p:cNvSpPr/>
          <p:nvPr/>
        </p:nvSpPr>
        <p:spPr>
          <a:xfrm>
            <a:off x="180000" y="188182"/>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Drilling Down to Latent Causes in the RCA:</a:t>
            </a:r>
            <a:endParaRPr b="0" i="0" sz="2400" u="none" cap="none" strike="noStrike">
              <a:solidFill>
                <a:srgbClr val="333399"/>
              </a:solidFill>
              <a:latin typeface="Arial"/>
              <a:ea typeface="Arial"/>
              <a:cs typeface="Arial"/>
              <a:sym typeface="Arial"/>
            </a:endParaRPr>
          </a:p>
        </p:txBody>
      </p:sp>
      <p:sp>
        <p:nvSpPr>
          <p:cNvPr id="232" name="Google Shape;232;p8"/>
          <p:cNvSpPr/>
          <p:nvPr/>
        </p:nvSpPr>
        <p:spPr>
          <a:xfrm>
            <a:off x="99753" y="3419946"/>
            <a:ext cx="3644247" cy="2764053"/>
          </a:xfrm>
          <a:prstGeom prst="roundRect">
            <a:avLst>
              <a:gd fmla="val 7793" name="adj"/>
            </a:avLst>
          </a:prstGeom>
          <a:noFill/>
          <a:ln cap="flat" cmpd="sng" w="38100">
            <a:solidFill>
              <a:srgbClr val="0000FF"/>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FF0000"/>
              </a:solidFill>
              <a:latin typeface="Calibri"/>
              <a:ea typeface="Calibri"/>
              <a:cs typeface="Calibri"/>
              <a:sym typeface="Calibri"/>
            </a:endParaRPr>
          </a:p>
        </p:txBody>
      </p:sp>
      <p:pic>
        <p:nvPicPr>
          <p:cNvPr id="233" name="Google Shape;233;p8"/>
          <p:cNvPicPr preferRelativeResize="0"/>
          <p:nvPr/>
        </p:nvPicPr>
        <p:blipFill rotWithShape="1">
          <a:blip r:embed="rId3">
            <a:alphaModFix/>
          </a:blip>
          <a:srcRect b="0" l="0" r="0" t="0"/>
          <a:stretch/>
        </p:blipFill>
        <p:spPr>
          <a:xfrm>
            <a:off x="6405717" y="4656667"/>
            <a:ext cx="2301413" cy="1456246"/>
          </a:xfrm>
          <a:prstGeom prst="rect">
            <a:avLst/>
          </a:prstGeom>
          <a:noFill/>
          <a:ln>
            <a:noFill/>
          </a:ln>
        </p:spPr>
      </p:pic>
      <p:sp>
        <p:nvSpPr>
          <p:cNvPr id="234" name="Google Shape;234;p8"/>
          <p:cNvSpPr/>
          <p:nvPr/>
        </p:nvSpPr>
        <p:spPr>
          <a:xfrm>
            <a:off x="4057831" y="5520858"/>
            <a:ext cx="2405823" cy="550247"/>
          </a:xfrm>
          <a:prstGeom prst="rightArrow">
            <a:avLst>
              <a:gd fmla="val 50000" name="adj1"/>
              <a:gd fmla="val 50000" name="adj2"/>
            </a:avLst>
          </a:prstGeom>
          <a:solidFill>
            <a:srgbClr val="FFFFFF"/>
          </a:solidFill>
          <a:ln cap="flat" cmpd="sng" w="9525">
            <a:solidFill>
              <a:srgbClr val="7030A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30A0"/>
              </a:buClr>
              <a:buSzPts val="1200"/>
              <a:buFont typeface="Arial"/>
              <a:buNone/>
            </a:pPr>
            <a:r>
              <a:rPr b="1" i="0" lang="en-US" sz="1200" u="none" cap="none" strike="noStrike">
                <a:solidFill>
                  <a:srgbClr val="7030A0"/>
                </a:solidFill>
                <a:latin typeface="Arial"/>
                <a:ea typeface="Arial"/>
                <a:cs typeface="Arial"/>
                <a:sym typeface="Arial"/>
              </a:rPr>
              <a:t>BC sub-sub-category</a:t>
            </a:r>
            <a:endParaRPr b="1" i="0" sz="1200" u="none" cap="none" strike="noStrike">
              <a:solidFill>
                <a:srgbClr val="7030A0"/>
              </a:solidFill>
              <a:latin typeface="Arial"/>
              <a:ea typeface="Arial"/>
              <a:cs typeface="Arial"/>
              <a:sym typeface="Arial"/>
            </a:endParaRPr>
          </a:p>
        </p:txBody>
      </p:sp>
      <p:sp>
        <p:nvSpPr>
          <p:cNvPr id="235" name="Google Shape;235;p8"/>
          <p:cNvSpPr/>
          <p:nvPr/>
        </p:nvSpPr>
        <p:spPr>
          <a:xfrm>
            <a:off x="3852000" y="4298900"/>
            <a:ext cx="4961400" cy="1921975"/>
          </a:xfrm>
          <a:prstGeom prst="roundRect">
            <a:avLst>
              <a:gd fmla="val 7793" name="adj"/>
            </a:avLst>
          </a:prstGeom>
          <a:noFill/>
          <a:ln cap="flat" cmpd="sng" w="38100">
            <a:solidFill>
              <a:srgbClr val="7030A0"/>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7030A0"/>
              </a:buClr>
              <a:buSzPts val="1800"/>
              <a:buFont typeface="Calibri"/>
              <a:buNone/>
            </a:pPr>
            <a:r>
              <a:rPr b="1" i="0" lang="en-US" sz="1800" u="none" cap="none" strike="noStrike">
                <a:solidFill>
                  <a:srgbClr val="7030A0"/>
                </a:solidFill>
                <a:latin typeface="Calibri"/>
                <a:ea typeface="Calibri"/>
                <a:cs typeface="Calibri"/>
                <a:sym typeface="Calibri"/>
              </a:rPr>
              <a:t>Use the C&amp;E Model to determine cause-category:</a:t>
            </a:r>
            <a:endParaRPr b="1" i="0" sz="1800" u="none" cap="none" strike="noStrike">
              <a:solidFill>
                <a:srgbClr val="7030A0"/>
              </a:solidFill>
              <a:latin typeface="Calibri"/>
              <a:ea typeface="Calibri"/>
              <a:cs typeface="Calibri"/>
              <a:sym typeface="Calibri"/>
            </a:endParaRPr>
          </a:p>
        </p:txBody>
      </p:sp>
      <p:sp>
        <p:nvSpPr>
          <p:cNvPr id="236" name="Google Shape;236;p8"/>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237" name="Google Shape;237;p8"/>
          <p:cNvSpPr/>
          <p:nvPr/>
        </p:nvSpPr>
        <p:spPr>
          <a:xfrm>
            <a:off x="116432" y="4189331"/>
            <a:ext cx="1471775" cy="1039356"/>
          </a:xfrm>
          <a:prstGeom prst="rightArrow">
            <a:avLst>
              <a:gd fmla="val 50000" name="adj1"/>
              <a:gd fmla="val 50000" name="adj2"/>
            </a:avLst>
          </a:prstGeom>
          <a:solidFill>
            <a:srgbClr val="FFFFFF"/>
          </a:solid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400"/>
              <a:buFont typeface="Arial"/>
              <a:buNone/>
            </a:pPr>
            <a:r>
              <a:rPr b="0" i="0" lang="en-US" sz="1400" u="none" cap="none" strike="noStrike">
                <a:solidFill>
                  <a:srgbClr val="FF0000"/>
                </a:solidFill>
                <a:latin typeface="Arial"/>
                <a:ea typeface="Arial"/>
                <a:cs typeface="Arial"/>
                <a:sym typeface="Arial"/>
              </a:rPr>
              <a:t>Intermediate Basic Cause</a:t>
            </a:r>
            <a:endParaRPr b="0" i="0" sz="14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9"/>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244" name="Google Shape;244;p9"/>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245" name="Google Shape;245;p9"/>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sp>
        <p:nvSpPr>
          <p:cNvPr id="246" name="Google Shape;246;p9"/>
          <p:cNvSpPr txBox="1"/>
          <p:nvPr/>
        </p:nvSpPr>
        <p:spPr>
          <a:xfrm>
            <a:off x="1512000" y="2382564"/>
            <a:ext cx="2160000" cy="738664"/>
          </a:xfrm>
          <a:prstGeom prst="rect">
            <a:avLst/>
          </a:prstGeom>
          <a:solidFill>
            <a:srgbClr val="FFFFFF"/>
          </a:solidFill>
          <a:ln cap="flat" cmpd="sng" w="9525">
            <a:solidFill>
              <a:srgbClr val="9CC2E5"/>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9CC2E5"/>
              </a:buClr>
              <a:buSzPts val="1400"/>
              <a:buFont typeface="Arial"/>
              <a:buNone/>
            </a:pPr>
            <a:r>
              <a:rPr b="0" i="0" lang="en-US" sz="1400" u="none" cap="none" strike="noStrike">
                <a:solidFill>
                  <a:srgbClr val="9CC2E5"/>
                </a:solidFill>
                <a:latin typeface="Arial"/>
                <a:ea typeface="Arial"/>
                <a:cs typeface="Arial"/>
                <a:sym typeface="Arial"/>
              </a:rPr>
              <a:t>Worker was not aware of exclusion zone procedures</a:t>
            </a:r>
            <a:endParaRPr b="0" i="0" sz="1400" u="none" cap="none" strike="noStrike">
              <a:solidFill>
                <a:srgbClr val="000000"/>
              </a:solidFill>
              <a:latin typeface="Arial"/>
              <a:ea typeface="Arial"/>
              <a:cs typeface="Arial"/>
              <a:sym typeface="Arial"/>
            </a:endParaRPr>
          </a:p>
        </p:txBody>
      </p:sp>
      <p:sp>
        <p:nvSpPr>
          <p:cNvPr id="247" name="Google Shape;247;p9"/>
          <p:cNvSpPr txBox="1"/>
          <p:nvPr/>
        </p:nvSpPr>
        <p:spPr>
          <a:xfrm>
            <a:off x="3852000" y="2382564"/>
            <a:ext cx="2160000" cy="738664"/>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Worker disregarded exclusion zone procedures</a:t>
            </a:r>
            <a:endParaRPr b="0" i="0" sz="1400" u="none" cap="none" strike="noStrike">
              <a:solidFill>
                <a:srgbClr val="000000"/>
              </a:solidFill>
              <a:latin typeface="Arial"/>
              <a:ea typeface="Arial"/>
              <a:cs typeface="Arial"/>
              <a:sym typeface="Arial"/>
            </a:endParaRPr>
          </a:p>
        </p:txBody>
      </p:sp>
      <p:cxnSp>
        <p:nvCxnSpPr>
          <p:cNvPr id="248" name="Google Shape;248;p9"/>
          <p:cNvCxnSpPr>
            <a:endCxn id="249" idx="0"/>
          </p:cNvCxnSpPr>
          <p:nvPr/>
        </p:nvCxnSpPr>
        <p:spPr>
          <a:xfrm>
            <a:off x="4932000" y="1694964"/>
            <a:ext cx="2268000" cy="687600"/>
          </a:xfrm>
          <a:prstGeom prst="bentConnector3">
            <a:avLst>
              <a:gd fmla="val 0" name="adj1"/>
            </a:avLst>
          </a:prstGeom>
          <a:noFill/>
          <a:ln cap="flat" cmpd="sng" w="9525">
            <a:solidFill>
              <a:srgbClr val="000000"/>
            </a:solidFill>
            <a:prstDash val="solid"/>
            <a:miter lim="800000"/>
            <a:headEnd len="sm" w="sm" type="none"/>
            <a:tailEnd len="med" w="med" type="triangle"/>
          </a:ln>
        </p:spPr>
      </p:cxnSp>
      <p:cxnSp>
        <p:nvCxnSpPr>
          <p:cNvPr id="250" name="Google Shape;250;p9"/>
          <p:cNvCxnSpPr>
            <a:endCxn id="246" idx="0"/>
          </p:cNvCxnSpPr>
          <p:nvPr/>
        </p:nvCxnSpPr>
        <p:spPr>
          <a:xfrm flipH="1">
            <a:off x="2592000" y="1694964"/>
            <a:ext cx="2340000" cy="687600"/>
          </a:xfrm>
          <a:prstGeom prst="bentConnector3">
            <a:avLst>
              <a:gd fmla="val 0" name="adj1"/>
            </a:avLst>
          </a:prstGeom>
          <a:noFill/>
          <a:ln cap="flat" cmpd="sng" w="9525">
            <a:solidFill>
              <a:srgbClr val="000000"/>
            </a:solidFill>
            <a:prstDash val="solid"/>
            <a:miter lim="800000"/>
            <a:headEnd len="sm" w="sm" type="none"/>
            <a:tailEnd len="med" w="med" type="triangle"/>
          </a:ln>
        </p:spPr>
      </p:cxnSp>
      <p:sp>
        <p:nvSpPr>
          <p:cNvPr id="249" name="Google Shape;249;p9"/>
          <p:cNvSpPr txBox="1"/>
          <p:nvPr/>
        </p:nvSpPr>
        <p:spPr>
          <a:xfrm>
            <a:off x="6120000" y="2382564"/>
            <a:ext cx="2160000" cy="738664"/>
          </a:xfrm>
          <a:prstGeom prst="rect">
            <a:avLst/>
          </a:prstGeom>
          <a:solidFill>
            <a:srgbClr val="FFFFFF"/>
          </a:solidFill>
          <a:ln cap="flat" cmpd="sng" w="9525">
            <a:solidFill>
              <a:srgbClr val="9CC2E5"/>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9CC2E5"/>
              </a:buClr>
              <a:buSzPts val="1400"/>
              <a:buFont typeface="Arial"/>
              <a:buNone/>
            </a:pPr>
            <a:r>
              <a:rPr b="0" i="0" lang="en-US" sz="1400" u="none" cap="none" strike="noStrike">
                <a:solidFill>
                  <a:srgbClr val="9CC2E5"/>
                </a:solidFill>
                <a:latin typeface="Arial"/>
                <a:ea typeface="Arial"/>
                <a:cs typeface="Arial"/>
                <a:sym typeface="Arial"/>
              </a:rPr>
              <a:t>Supervisor told Worker to go into the exclusion zone</a:t>
            </a:r>
            <a:endParaRPr b="0" i="0" sz="1400" u="none" cap="none" strike="noStrike">
              <a:solidFill>
                <a:srgbClr val="000000"/>
              </a:solidFill>
              <a:latin typeface="Arial"/>
              <a:ea typeface="Arial"/>
              <a:cs typeface="Arial"/>
              <a:sym typeface="Arial"/>
            </a:endParaRPr>
          </a:p>
        </p:txBody>
      </p:sp>
      <p:sp>
        <p:nvSpPr>
          <p:cNvPr id="251" name="Google Shape;251;p9"/>
          <p:cNvSpPr txBox="1"/>
          <p:nvPr/>
        </p:nvSpPr>
        <p:spPr>
          <a:xfrm>
            <a:off x="3852000" y="3426564"/>
            <a:ext cx="2160000" cy="738664"/>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B-JF: Procedures were not enforced through audits</a:t>
            </a:r>
            <a:endParaRPr b="0" i="0" sz="1400" u="none" cap="none" strike="noStrike">
              <a:solidFill>
                <a:srgbClr val="000000"/>
              </a:solidFill>
              <a:latin typeface="Arial"/>
              <a:ea typeface="Arial"/>
              <a:cs typeface="Arial"/>
              <a:sym typeface="Arial"/>
            </a:endParaRPr>
          </a:p>
        </p:txBody>
      </p:sp>
      <p:sp>
        <p:nvSpPr>
          <p:cNvPr id="252" name="Google Shape;252;p9"/>
          <p:cNvSpPr txBox="1"/>
          <p:nvPr/>
        </p:nvSpPr>
        <p:spPr>
          <a:xfrm>
            <a:off x="3852000" y="4218564"/>
            <a:ext cx="2160000" cy="1169551"/>
          </a:xfrm>
          <a:prstGeom prst="rect">
            <a:avLst/>
          </a:prstGeom>
          <a:solidFill>
            <a:srgbClr val="FEE599"/>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LC2: The auditing program schedule did not include the exclusion zone procedures</a:t>
            </a:r>
            <a:endParaRPr b="0" i="0" sz="1400" u="none" cap="none" strike="noStrike">
              <a:solidFill>
                <a:srgbClr val="000000"/>
              </a:solidFill>
              <a:latin typeface="Arial"/>
              <a:ea typeface="Arial"/>
              <a:cs typeface="Arial"/>
              <a:sym typeface="Arial"/>
            </a:endParaRPr>
          </a:p>
        </p:txBody>
      </p:sp>
      <p:cxnSp>
        <p:nvCxnSpPr>
          <p:cNvPr id="253" name="Google Shape;253;p9"/>
          <p:cNvCxnSpPr>
            <a:stCxn id="251" idx="2"/>
            <a:endCxn id="252" idx="0"/>
          </p:cNvCxnSpPr>
          <p:nvPr/>
        </p:nvCxnSpPr>
        <p:spPr>
          <a:xfrm>
            <a:off x="4932000" y="4165228"/>
            <a:ext cx="0" cy="53400"/>
          </a:xfrm>
          <a:prstGeom prst="straightConnector1">
            <a:avLst/>
          </a:prstGeom>
          <a:noFill/>
          <a:ln cap="flat" cmpd="sng" w="9525">
            <a:solidFill>
              <a:srgbClr val="000000"/>
            </a:solidFill>
            <a:prstDash val="solid"/>
            <a:miter lim="800000"/>
            <a:headEnd len="sm" w="sm" type="none"/>
            <a:tailEnd len="med" w="med" type="triangle"/>
          </a:ln>
        </p:spPr>
      </p:cxnSp>
      <p:cxnSp>
        <p:nvCxnSpPr>
          <p:cNvPr id="254" name="Google Shape;254;p9"/>
          <p:cNvCxnSpPr>
            <a:stCxn id="247" idx="2"/>
            <a:endCxn id="251" idx="0"/>
          </p:cNvCxnSpPr>
          <p:nvPr/>
        </p:nvCxnSpPr>
        <p:spPr>
          <a:xfrm>
            <a:off x="4932000" y="3121228"/>
            <a:ext cx="0" cy="305400"/>
          </a:xfrm>
          <a:prstGeom prst="straightConnector1">
            <a:avLst/>
          </a:prstGeom>
          <a:noFill/>
          <a:ln cap="flat" cmpd="sng" w="9525">
            <a:solidFill>
              <a:srgbClr val="000000"/>
            </a:solidFill>
            <a:prstDash val="solid"/>
            <a:miter lim="800000"/>
            <a:headEnd len="sm" w="sm" type="none"/>
            <a:tailEnd len="med" w="med" type="triangle"/>
          </a:ln>
        </p:spPr>
      </p:cxnSp>
      <p:cxnSp>
        <p:nvCxnSpPr>
          <p:cNvPr id="255" name="Google Shape;255;p9"/>
          <p:cNvCxnSpPr>
            <a:endCxn id="247" idx="0"/>
          </p:cNvCxnSpPr>
          <p:nvPr/>
        </p:nvCxnSpPr>
        <p:spPr>
          <a:xfrm>
            <a:off x="4932000" y="1694964"/>
            <a:ext cx="0" cy="687600"/>
          </a:xfrm>
          <a:prstGeom prst="straightConnector1">
            <a:avLst/>
          </a:prstGeom>
          <a:noFill/>
          <a:ln cap="flat" cmpd="sng" w="9525">
            <a:solidFill>
              <a:srgbClr val="000000"/>
            </a:solidFill>
            <a:prstDash val="solid"/>
            <a:miter lim="800000"/>
            <a:headEnd len="sm" w="sm" type="none"/>
            <a:tailEnd len="med" w="med" type="triangle"/>
          </a:ln>
        </p:spPr>
      </p:cxnSp>
      <p:sp>
        <p:nvSpPr>
          <p:cNvPr id="256" name="Google Shape;256;p9"/>
          <p:cNvSpPr/>
          <p:nvPr/>
        </p:nvSpPr>
        <p:spPr>
          <a:xfrm flipH="1">
            <a:off x="4772880" y="1793249"/>
            <a:ext cx="392534" cy="305875"/>
          </a:xfrm>
          <a:prstGeom prst="flowChartPunchedTape">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262626"/>
              </a:solidFill>
              <a:latin typeface="Arial"/>
              <a:ea typeface="Arial"/>
              <a:cs typeface="Arial"/>
              <a:sym typeface="Arial"/>
            </a:endParaRPr>
          </a:p>
        </p:txBody>
      </p:sp>
      <p:sp>
        <p:nvSpPr>
          <p:cNvPr id="257" name="Google Shape;257;p9"/>
          <p:cNvSpPr/>
          <p:nvPr/>
        </p:nvSpPr>
        <p:spPr>
          <a:xfrm>
            <a:off x="2249311" y="2018273"/>
            <a:ext cx="1584000" cy="1467246"/>
          </a:xfrm>
          <a:prstGeom prst="rightArrow">
            <a:avLst>
              <a:gd fmla="val 50000" name="adj1"/>
              <a:gd fmla="val 50000" name="adj2"/>
            </a:avLst>
          </a:prstGeom>
          <a:solidFill>
            <a:srgbClr val="FFFFFF"/>
          </a:solid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Arial"/>
                <a:ea typeface="Arial"/>
                <a:cs typeface="Arial"/>
                <a:sym typeface="Arial"/>
              </a:rPr>
              <a:t>Intermediate Immediate Cause</a:t>
            </a:r>
            <a:endParaRPr b="0" i="0" sz="1400" u="none" cap="none" strike="noStrike">
              <a:solidFill>
                <a:srgbClr val="000000"/>
              </a:solidFill>
              <a:latin typeface="Arial"/>
              <a:ea typeface="Arial"/>
              <a:cs typeface="Arial"/>
              <a:sym typeface="Arial"/>
            </a:endParaRPr>
          </a:p>
        </p:txBody>
      </p:sp>
      <p:sp>
        <p:nvSpPr>
          <p:cNvPr id="258" name="Google Shape;258;p9"/>
          <p:cNvSpPr/>
          <p:nvPr/>
        </p:nvSpPr>
        <p:spPr>
          <a:xfrm>
            <a:off x="1884758" y="2197290"/>
            <a:ext cx="4379495" cy="3334830"/>
          </a:xfrm>
          <a:prstGeom prst="roundRect">
            <a:avLst>
              <a:gd fmla="val 9908" name="adj"/>
            </a:avLst>
          </a:prstGeom>
          <a:noFill/>
          <a:ln cap="flat" cmpd="sng" w="38100">
            <a:solidFill>
              <a:srgbClr val="0000FF"/>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59" name="Google Shape;259;p9"/>
          <p:cNvSpPr/>
          <p:nvPr/>
        </p:nvSpPr>
        <p:spPr>
          <a:xfrm>
            <a:off x="2268000" y="4407617"/>
            <a:ext cx="1584000" cy="576000"/>
          </a:xfrm>
          <a:prstGeom prst="rightArrow">
            <a:avLst>
              <a:gd fmla="val 50000" name="adj1"/>
              <a:gd fmla="val 50000" name="adj2"/>
            </a:avLst>
          </a:prstGeom>
          <a:solidFill>
            <a:srgbClr val="FFFFFF"/>
          </a:solidFill>
          <a:ln cap="flat" cmpd="sng" w="9525">
            <a:solidFill>
              <a:srgbClr val="FF0000"/>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Arial"/>
                <a:ea typeface="Arial"/>
                <a:cs typeface="Arial"/>
                <a:sym typeface="Arial"/>
              </a:rPr>
              <a:t>Latent Cause</a:t>
            </a:r>
            <a:endParaRPr b="0" i="0" sz="1400" u="none" cap="none" strike="noStrike">
              <a:solidFill>
                <a:srgbClr val="000000"/>
              </a:solidFill>
              <a:latin typeface="Arial"/>
              <a:ea typeface="Arial"/>
              <a:cs typeface="Arial"/>
              <a:sym typeface="Arial"/>
            </a:endParaRPr>
          </a:p>
        </p:txBody>
      </p:sp>
      <p:sp>
        <p:nvSpPr>
          <p:cNvPr id="260" name="Google Shape;260;p9"/>
          <p:cNvSpPr/>
          <p:nvPr/>
        </p:nvSpPr>
        <p:spPr>
          <a:xfrm>
            <a:off x="2268000" y="3413943"/>
            <a:ext cx="1584000" cy="611386"/>
          </a:xfrm>
          <a:prstGeom prst="rightArrow">
            <a:avLst>
              <a:gd fmla="val 50000" name="adj1"/>
              <a:gd fmla="val 50000" name="adj2"/>
            </a:avLst>
          </a:prstGeom>
          <a:solidFill>
            <a:srgbClr val="FFFFFF"/>
          </a:solid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Arial"/>
                <a:ea typeface="Arial"/>
                <a:cs typeface="Arial"/>
                <a:sym typeface="Arial"/>
              </a:rPr>
              <a:t>Basic Cause</a:t>
            </a:r>
            <a:endParaRPr b="0" i="0" sz="1400" u="none" cap="none" strike="noStrike">
              <a:solidFill>
                <a:srgbClr val="FF0000"/>
              </a:solidFill>
              <a:latin typeface="Arial"/>
              <a:ea typeface="Arial"/>
              <a:cs typeface="Arial"/>
              <a:sym typeface="Arial"/>
            </a:endParaRPr>
          </a:p>
        </p:txBody>
      </p:sp>
      <p:sp>
        <p:nvSpPr>
          <p:cNvPr id="261" name="Google Shape;261;p9"/>
          <p:cNvSpPr txBox="1"/>
          <p:nvPr/>
        </p:nvSpPr>
        <p:spPr>
          <a:xfrm>
            <a:off x="3493147" y="1164550"/>
            <a:ext cx="2952000" cy="5040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Worker did not follow exclusion zone procedures</a:t>
            </a:r>
            <a:endParaRPr b="0" i="0" sz="1400" u="none" cap="none" strike="noStrike">
              <a:solidFill>
                <a:srgbClr val="000000"/>
              </a:solidFill>
              <a:latin typeface="Arial"/>
              <a:ea typeface="Arial"/>
              <a:cs typeface="Arial"/>
              <a:sym typeface="Arial"/>
            </a:endParaRPr>
          </a:p>
        </p:txBody>
      </p:sp>
      <p:sp>
        <p:nvSpPr>
          <p:cNvPr id="262" name="Google Shape;262;p9"/>
          <p:cNvSpPr/>
          <p:nvPr/>
        </p:nvSpPr>
        <p:spPr>
          <a:xfrm>
            <a:off x="180000" y="188182"/>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Drilling Down to Latent Causes in the RCA:</a:t>
            </a:r>
            <a:endParaRPr b="0" i="0" sz="2400" u="none" cap="none" strike="noStrike">
              <a:solidFill>
                <a:srgbClr val="333399"/>
              </a:solidFill>
              <a:latin typeface="Arial"/>
              <a:ea typeface="Arial"/>
              <a:cs typeface="Arial"/>
              <a:sym typeface="Arial"/>
            </a:endParaRP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10"/>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269" name="Google Shape;269;p10"/>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sp>
        <p:nvSpPr>
          <p:cNvPr id="270" name="Google Shape;270;p10"/>
          <p:cNvSpPr txBox="1"/>
          <p:nvPr/>
        </p:nvSpPr>
        <p:spPr>
          <a:xfrm>
            <a:off x="1022226" y="1849985"/>
            <a:ext cx="2160000" cy="738664"/>
          </a:xfrm>
          <a:prstGeom prst="rect">
            <a:avLst/>
          </a:prstGeom>
          <a:solidFill>
            <a:srgbClr val="FFFFFF"/>
          </a:solidFill>
          <a:ln cap="flat" cmpd="sng" w="9525">
            <a:solidFill>
              <a:srgbClr val="9CC2E5"/>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9CC2E5"/>
              </a:buClr>
              <a:buSzPts val="1400"/>
              <a:buFont typeface="Arial"/>
              <a:buNone/>
            </a:pPr>
            <a:r>
              <a:rPr b="0" i="0" lang="en-US" sz="1400" u="none" cap="none" strike="noStrike">
                <a:solidFill>
                  <a:srgbClr val="9CC2E5"/>
                </a:solidFill>
                <a:latin typeface="Arial"/>
                <a:ea typeface="Arial"/>
                <a:cs typeface="Arial"/>
                <a:sym typeface="Arial"/>
              </a:rPr>
              <a:t>Worker was not aware of exclusion zone procedures</a:t>
            </a:r>
            <a:endParaRPr b="0" i="0" sz="1400" u="none" cap="none" strike="noStrike">
              <a:solidFill>
                <a:srgbClr val="000000"/>
              </a:solidFill>
              <a:latin typeface="Arial"/>
              <a:ea typeface="Arial"/>
              <a:cs typeface="Arial"/>
              <a:sym typeface="Arial"/>
            </a:endParaRPr>
          </a:p>
        </p:txBody>
      </p:sp>
      <p:sp>
        <p:nvSpPr>
          <p:cNvPr id="271" name="Google Shape;271;p10"/>
          <p:cNvSpPr txBox="1"/>
          <p:nvPr/>
        </p:nvSpPr>
        <p:spPr>
          <a:xfrm>
            <a:off x="3362226" y="1849985"/>
            <a:ext cx="2160000" cy="738664"/>
          </a:xfrm>
          <a:prstGeom prst="rect">
            <a:avLst/>
          </a:prstGeom>
          <a:solidFill>
            <a:srgbClr val="FFFFFF"/>
          </a:solidFill>
          <a:ln cap="flat" cmpd="sng" w="9525">
            <a:solidFill>
              <a:srgbClr val="9CC2E5"/>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9CC2E5"/>
              </a:buClr>
              <a:buSzPts val="1400"/>
              <a:buFont typeface="Arial"/>
              <a:buNone/>
            </a:pPr>
            <a:r>
              <a:rPr b="0" i="0" lang="en-US" sz="1400" u="none" cap="none" strike="noStrike">
                <a:solidFill>
                  <a:srgbClr val="9CC2E5"/>
                </a:solidFill>
                <a:latin typeface="Arial"/>
                <a:ea typeface="Arial"/>
                <a:cs typeface="Arial"/>
                <a:sym typeface="Arial"/>
              </a:rPr>
              <a:t>Worker disregarded exclusion zone procedures</a:t>
            </a:r>
            <a:endParaRPr b="0" i="0" sz="1400" u="none" cap="none" strike="noStrike">
              <a:solidFill>
                <a:srgbClr val="000000"/>
              </a:solidFill>
              <a:latin typeface="Arial"/>
              <a:ea typeface="Arial"/>
              <a:cs typeface="Arial"/>
              <a:sym typeface="Arial"/>
            </a:endParaRPr>
          </a:p>
        </p:txBody>
      </p:sp>
      <p:cxnSp>
        <p:nvCxnSpPr>
          <p:cNvPr id="272" name="Google Shape;272;p10"/>
          <p:cNvCxnSpPr>
            <a:stCxn id="273" idx="2"/>
            <a:endCxn id="274" idx="0"/>
          </p:cNvCxnSpPr>
          <p:nvPr/>
        </p:nvCxnSpPr>
        <p:spPr>
          <a:xfrm flipH="1" rot="-5400000">
            <a:off x="5552521" y="537627"/>
            <a:ext cx="206100" cy="2418900"/>
          </a:xfrm>
          <a:prstGeom prst="bentConnector3">
            <a:avLst>
              <a:gd fmla="val 49966" name="adj1"/>
            </a:avLst>
          </a:prstGeom>
          <a:noFill/>
          <a:ln cap="flat" cmpd="sng" w="9525">
            <a:solidFill>
              <a:srgbClr val="000000"/>
            </a:solidFill>
            <a:prstDash val="solid"/>
            <a:miter lim="800000"/>
            <a:headEnd len="sm" w="sm" type="none"/>
            <a:tailEnd len="med" w="med" type="triangle"/>
          </a:ln>
        </p:spPr>
      </p:cxnSp>
      <p:cxnSp>
        <p:nvCxnSpPr>
          <p:cNvPr id="275" name="Google Shape;275;p10"/>
          <p:cNvCxnSpPr>
            <a:stCxn id="273" idx="2"/>
            <a:endCxn id="270" idx="0"/>
          </p:cNvCxnSpPr>
          <p:nvPr/>
        </p:nvCxnSpPr>
        <p:spPr>
          <a:xfrm rot="5400000">
            <a:off x="3171121" y="575126"/>
            <a:ext cx="206100" cy="2343900"/>
          </a:xfrm>
          <a:prstGeom prst="bentConnector3">
            <a:avLst>
              <a:gd fmla="val 49966" name="adj1"/>
            </a:avLst>
          </a:prstGeom>
          <a:noFill/>
          <a:ln cap="flat" cmpd="sng" w="9525">
            <a:solidFill>
              <a:srgbClr val="000000"/>
            </a:solidFill>
            <a:prstDash val="solid"/>
            <a:miter lim="800000"/>
            <a:headEnd len="sm" w="sm" type="none"/>
            <a:tailEnd len="med" w="med" type="triangle"/>
          </a:ln>
        </p:spPr>
      </p:cxnSp>
      <p:sp>
        <p:nvSpPr>
          <p:cNvPr id="274" name="Google Shape;274;p10"/>
          <p:cNvSpPr txBox="1"/>
          <p:nvPr/>
        </p:nvSpPr>
        <p:spPr>
          <a:xfrm>
            <a:off x="5630226" y="1849985"/>
            <a:ext cx="2469774" cy="52322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Supervisor told Worker to go into the exclusion zone</a:t>
            </a:r>
            <a:endParaRPr b="0" i="0" sz="1400" u="none" cap="none" strike="noStrike">
              <a:solidFill>
                <a:srgbClr val="000000"/>
              </a:solidFill>
              <a:latin typeface="Arial"/>
              <a:ea typeface="Arial"/>
              <a:cs typeface="Arial"/>
              <a:sym typeface="Arial"/>
            </a:endParaRPr>
          </a:p>
        </p:txBody>
      </p:sp>
      <p:sp>
        <p:nvSpPr>
          <p:cNvPr id="276" name="Google Shape;276;p10"/>
          <p:cNvSpPr txBox="1"/>
          <p:nvPr/>
        </p:nvSpPr>
        <p:spPr>
          <a:xfrm>
            <a:off x="5630226" y="3391233"/>
            <a:ext cx="2469774" cy="682682"/>
          </a:xfrm>
          <a:prstGeom prst="rect">
            <a:avLst/>
          </a:prstGeom>
          <a:solidFill>
            <a:srgbClr val="FEE599"/>
          </a:solidFill>
          <a:ln cap="flat" cmpd="sng" w="9525">
            <a:solidFill>
              <a:srgbClr val="000000"/>
            </a:solidFill>
            <a:prstDash val="solid"/>
            <a:round/>
            <a:headEnd len="sm" w="sm" type="none"/>
            <a:tailEnd len="sm" w="sm" type="none"/>
          </a:ln>
        </p:spPr>
        <p:txBody>
          <a:bodyPr anchorCtr="0" anchor="t" bIns="0" lIns="36000" spcFirstLastPara="1" rIns="36000" wrap="square" tIns="360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Supervisor believed that production was paramount over safety</a:t>
            </a:r>
            <a:endParaRPr b="0" i="0" sz="1400" u="none" cap="none" strike="noStrike">
              <a:solidFill>
                <a:srgbClr val="000000"/>
              </a:solidFill>
              <a:latin typeface="Arial"/>
              <a:ea typeface="Arial"/>
              <a:cs typeface="Arial"/>
              <a:sym typeface="Arial"/>
            </a:endParaRPr>
          </a:p>
        </p:txBody>
      </p:sp>
      <p:cxnSp>
        <p:nvCxnSpPr>
          <p:cNvPr id="277" name="Google Shape;277;p10"/>
          <p:cNvCxnSpPr>
            <a:stCxn id="274" idx="2"/>
            <a:endCxn id="278" idx="0"/>
          </p:cNvCxnSpPr>
          <p:nvPr/>
        </p:nvCxnSpPr>
        <p:spPr>
          <a:xfrm>
            <a:off x="6865113" y="2373205"/>
            <a:ext cx="0" cy="262200"/>
          </a:xfrm>
          <a:prstGeom prst="straightConnector1">
            <a:avLst/>
          </a:prstGeom>
          <a:noFill/>
          <a:ln cap="flat" cmpd="sng" w="9525">
            <a:solidFill>
              <a:srgbClr val="000000"/>
            </a:solidFill>
            <a:prstDash val="solid"/>
            <a:miter lim="800000"/>
            <a:headEnd len="sm" w="sm" type="none"/>
            <a:tailEnd len="med" w="med" type="triangle"/>
          </a:ln>
        </p:spPr>
      </p:cxnSp>
      <p:sp>
        <p:nvSpPr>
          <p:cNvPr id="278" name="Google Shape;278;p10"/>
          <p:cNvSpPr txBox="1"/>
          <p:nvPr/>
        </p:nvSpPr>
        <p:spPr>
          <a:xfrm>
            <a:off x="5630226" y="2635358"/>
            <a:ext cx="2469774" cy="52322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B-JF: Supervisor prioritized production over safety</a:t>
            </a:r>
            <a:endParaRPr b="0" i="0" sz="1400" u="none" cap="none" strike="noStrike">
              <a:solidFill>
                <a:srgbClr val="000000"/>
              </a:solidFill>
              <a:latin typeface="Arial"/>
              <a:ea typeface="Arial"/>
              <a:cs typeface="Arial"/>
              <a:sym typeface="Arial"/>
            </a:endParaRPr>
          </a:p>
        </p:txBody>
      </p:sp>
      <p:cxnSp>
        <p:nvCxnSpPr>
          <p:cNvPr id="279" name="Google Shape;279;p10"/>
          <p:cNvCxnSpPr>
            <a:stCxn id="278" idx="2"/>
            <a:endCxn id="276" idx="0"/>
          </p:cNvCxnSpPr>
          <p:nvPr/>
        </p:nvCxnSpPr>
        <p:spPr>
          <a:xfrm>
            <a:off x="6865113" y="3158578"/>
            <a:ext cx="0" cy="232800"/>
          </a:xfrm>
          <a:prstGeom prst="straightConnector1">
            <a:avLst/>
          </a:prstGeom>
          <a:noFill/>
          <a:ln cap="flat" cmpd="sng" w="9525">
            <a:solidFill>
              <a:srgbClr val="000000"/>
            </a:solidFill>
            <a:prstDash val="solid"/>
            <a:miter lim="800000"/>
            <a:headEnd len="sm" w="sm" type="none"/>
            <a:tailEnd len="med" w="med" type="triangle"/>
          </a:ln>
        </p:spPr>
      </p:cxnSp>
      <p:cxnSp>
        <p:nvCxnSpPr>
          <p:cNvPr id="280" name="Google Shape;280;p10"/>
          <p:cNvCxnSpPr>
            <a:endCxn id="271" idx="0"/>
          </p:cNvCxnSpPr>
          <p:nvPr/>
        </p:nvCxnSpPr>
        <p:spPr>
          <a:xfrm>
            <a:off x="4442226" y="1353785"/>
            <a:ext cx="0" cy="496200"/>
          </a:xfrm>
          <a:prstGeom prst="straightConnector1">
            <a:avLst/>
          </a:prstGeom>
          <a:noFill/>
          <a:ln cap="flat" cmpd="sng" w="9525">
            <a:solidFill>
              <a:srgbClr val="000000"/>
            </a:solidFill>
            <a:prstDash val="solid"/>
            <a:miter lim="800000"/>
            <a:headEnd len="sm" w="sm" type="none"/>
            <a:tailEnd len="med" w="med" type="triangle"/>
          </a:ln>
        </p:spPr>
      </p:cxnSp>
      <p:sp>
        <p:nvSpPr>
          <p:cNvPr id="273" name="Google Shape;273;p10"/>
          <p:cNvSpPr/>
          <p:nvPr/>
        </p:nvSpPr>
        <p:spPr>
          <a:xfrm flipH="1">
            <a:off x="4249854" y="1368739"/>
            <a:ext cx="392534" cy="305875"/>
          </a:xfrm>
          <a:prstGeom prst="flowChartPunchedTape">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262626"/>
              </a:solidFill>
              <a:latin typeface="Arial"/>
              <a:ea typeface="Arial"/>
              <a:cs typeface="Arial"/>
              <a:sym typeface="Arial"/>
            </a:endParaRPr>
          </a:p>
        </p:txBody>
      </p:sp>
      <p:sp>
        <p:nvSpPr>
          <p:cNvPr id="281" name="Google Shape;281;p10"/>
          <p:cNvSpPr/>
          <p:nvPr/>
        </p:nvSpPr>
        <p:spPr>
          <a:xfrm>
            <a:off x="4046226" y="2637607"/>
            <a:ext cx="1584000" cy="576000"/>
          </a:xfrm>
          <a:prstGeom prst="rightArrow">
            <a:avLst>
              <a:gd fmla="val 50000" name="adj1"/>
              <a:gd fmla="val 50000" name="adj2"/>
            </a:avLst>
          </a:prstGeom>
          <a:solidFill>
            <a:srgbClr val="FFFFFF"/>
          </a:solid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Arial"/>
                <a:ea typeface="Arial"/>
                <a:cs typeface="Arial"/>
                <a:sym typeface="Arial"/>
              </a:rPr>
              <a:t>Basic Cause</a:t>
            </a:r>
            <a:endParaRPr b="0" i="0" sz="1400" u="none" cap="none" strike="noStrike">
              <a:solidFill>
                <a:srgbClr val="000000"/>
              </a:solidFill>
              <a:latin typeface="Arial"/>
              <a:ea typeface="Arial"/>
              <a:cs typeface="Arial"/>
              <a:sym typeface="Arial"/>
            </a:endParaRPr>
          </a:p>
        </p:txBody>
      </p:sp>
      <p:sp>
        <p:nvSpPr>
          <p:cNvPr id="282" name="Google Shape;282;p10"/>
          <p:cNvSpPr/>
          <p:nvPr/>
        </p:nvSpPr>
        <p:spPr>
          <a:xfrm>
            <a:off x="4046226" y="3470908"/>
            <a:ext cx="1584000" cy="611386"/>
          </a:xfrm>
          <a:prstGeom prst="rightArrow">
            <a:avLst>
              <a:gd fmla="val 50000" name="adj1"/>
              <a:gd fmla="val 50000" name="adj2"/>
            </a:avLst>
          </a:prstGeom>
          <a:solidFill>
            <a:srgbClr val="FFFFFF"/>
          </a:solid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Arial"/>
                <a:ea typeface="Arial"/>
                <a:cs typeface="Arial"/>
                <a:sym typeface="Arial"/>
              </a:rPr>
              <a:t>Latent Cause?</a:t>
            </a:r>
            <a:endParaRPr b="0" i="0" sz="1400" u="none" cap="none" strike="noStrike">
              <a:solidFill>
                <a:srgbClr val="FF0000"/>
              </a:solidFill>
              <a:latin typeface="Arial"/>
              <a:ea typeface="Arial"/>
              <a:cs typeface="Arial"/>
              <a:sym typeface="Arial"/>
            </a:endParaRPr>
          </a:p>
        </p:txBody>
      </p:sp>
      <p:sp>
        <p:nvSpPr>
          <p:cNvPr id="283" name="Google Shape;283;p10"/>
          <p:cNvSpPr txBox="1"/>
          <p:nvPr/>
        </p:nvSpPr>
        <p:spPr>
          <a:xfrm>
            <a:off x="3003373" y="823172"/>
            <a:ext cx="2952000" cy="5040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Worker did not follow exclusion zone procedures</a:t>
            </a:r>
            <a:endParaRPr b="0" i="0" sz="1400" u="none" cap="none" strike="noStrike">
              <a:solidFill>
                <a:srgbClr val="000000"/>
              </a:solidFill>
              <a:latin typeface="Arial"/>
              <a:ea typeface="Arial"/>
              <a:cs typeface="Arial"/>
              <a:sym typeface="Arial"/>
            </a:endParaRPr>
          </a:p>
        </p:txBody>
      </p:sp>
      <p:sp>
        <p:nvSpPr>
          <p:cNvPr id="284" name="Google Shape;284;p10"/>
          <p:cNvSpPr/>
          <p:nvPr/>
        </p:nvSpPr>
        <p:spPr>
          <a:xfrm>
            <a:off x="180000" y="188182"/>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Drilling Down to Latent Causes in the RCA:</a:t>
            </a:r>
            <a:endParaRPr b="0" i="0" sz="2400" u="none" cap="none" strike="noStrike">
              <a:solidFill>
                <a:srgbClr val="333399"/>
              </a:solidFill>
              <a:latin typeface="Arial"/>
              <a:ea typeface="Arial"/>
              <a:cs typeface="Arial"/>
              <a:sym typeface="Arial"/>
            </a:endParaRPr>
          </a:p>
        </p:txBody>
      </p:sp>
      <p:sp>
        <p:nvSpPr>
          <p:cNvPr id="285" name="Google Shape;285;p10"/>
          <p:cNvSpPr/>
          <p:nvPr/>
        </p:nvSpPr>
        <p:spPr>
          <a:xfrm>
            <a:off x="3808011" y="1849985"/>
            <a:ext cx="4779036" cy="4067950"/>
          </a:xfrm>
          <a:prstGeom prst="roundRect">
            <a:avLst>
              <a:gd fmla="val 7793" name="adj"/>
            </a:avLst>
          </a:prstGeom>
          <a:noFill/>
          <a:ln cap="flat" cmpd="sng" w="38100">
            <a:solidFill>
              <a:srgbClr val="0000FF"/>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FF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FF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FF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FF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FF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FF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FF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FF0000"/>
                </a:solidFill>
                <a:latin typeface="Calibri"/>
                <a:ea typeface="Calibri"/>
                <a:cs typeface="Calibri"/>
                <a:sym typeface="Calibri"/>
              </a:rPr>
              <a:t>Is this an acceptable statement </a:t>
            </a:r>
            <a:br>
              <a:rPr b="1" i="0" lang="en-US" sz="2400" u="none" cap="none" strike="noStrike">
                <a:solidFill>
                  <a:srgbClr val="FF0000"/>
                </a:solidFill>
                <a:latin typeface="Calibri"/>
                <a:ea typeface="Calibri"/>
                <a:cs typeface="Calibri"/>
                <a:sym typeface="Calibri"/>
              </a:rPr>
            </a:br>
            <a:r>
              <a:rPr b="1" i="0" lang="en-US" sz="2400" u="none" cap="none" strike="noStrike">
                <a:solidFill>
                  <a:srgbClr val="FF0000"/>
                </a:solidFill>
                <a:latin typeface="Calibri"/>
                <a:ea typeface="Calibri"/>
                <a:cs typeface="Calibri"/>
                <a:sym typeface="Calibri"/>
              </a:rPr>
              <a:t>for a latent cause?</a:t>
            </a:r>
            <a:endParaRPr b="0" i="0" sz="1400" u="none" cap="none" strike="noStrike">
              <a:solidFill>
                <a:srgbClr val="000000"/>
              </a:solidFill>
              <a:latin typeface="Arial"/>
              <a:ea typeface="Arial"/>
              <a:cs typeface="Arial"/>
              <a:sym typeface="Arial"/>
            </a:endParaRPr>
          </a:p>
        </p:txBody>
      </p:sp>
      <p:sp>
        <p:nvSpPr>
          <p:cNvPr id="286" name="Google Shape;286;p10"/>
          <p:cNvSpPr/>
          <p:nvPr/>
        </p:nvSpPr>
        <p:spPr>
          <a:xfrm>
            <a:off x="4046226" y="2402463"/>
            <a:ext cx="1584000" cy="1039276"/>
          </a:xfrm>
          <a:prstGeom prst="rightArrow">
            <a:avLst>
              <a:gd fmla="val 50000" name="adj1"/>
              <a:gd fmla="val 50000" name="adj2"/>
            </a:avLst>
          </a:prstGeom>
          <a:solidFill>
            <a:srgbClr val="FFFFFF"/>
          </a:solid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Arial"/>
                <a:ea typeface="Arial"/>
                <a:cs typeface="Arial"/>
                <a:sym typeface="Arial"/>
              </a:rPr>
              <a:t>Int. Basic Cause</a:t>
            </a:r>
            <a:endParaRPr b="0" i="0" sz="1400" u="none" cap="none" strike="noStrike">
              <a:solidFill>
                <a:srgbClr val="000000"/>
              </a:solidFill>
              <a:latin typeface="Arial"/>
              <a:ea typeface="Arial"/>
              <a:cs typeface="Arial"/>
              <a:sym typeface="Arial"/>
            </a:endParaRPr>
          </a:p>
        </p:txBody>
      </p:sp>
      <p:sp>
        <p:nvSpPr>
          <p:cNvPr id="287" name="Google Shape;287;p10"/>
          <p:cNvSpPr/>
          <p:nvPr/>
        </p:nvSpPr>
        <p:spPr>
          <a:xfrm>
            <a:off x="4007192" y="1840995"/>
            <a:ext cx="1584000" cy="576000"/>
          </a:xfrm>
          <a:prstGeom prst="rightArrow">
            <a:avLst>
              <a:gd fmla="val 50000" name="adj1"/>
              <a:gd fmla="val 50000" name="adj2"/>
            </a:avLst>
          </a:prstGeom>
          <a:solidFill>
            <a:srgbClr val="FFFFFF"/>
          </a:solid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Arial"/>
                <a:ea typeface="Arial"/>
                <a:cs typeface="Arial"/>
                <a:sym typeface="Arial"/>
              </a:rPr>
              <a:t>Basic Cause</a:t>
            </a:r>
            <a:endParaRPr b="0" i="0" sz="14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11"/>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294" name="Google Shape;294;p11"/>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sp>
        <p:nvSpPr>
          <p:cNvPr id="295" name="Google Shape;295;p11"/>
          <p:cNvSpPr txBox="1"/>
          <p:nvPr/>
        </p:nvSpPr>
        <p:spPr>
          <a:xfrm>
            <a:off x="1022226" y="1849985"/>
            <a:ext cx="2160000" cy="738664"/>
          </a:xfrm>
          <a:prstGeom prst="rect">
            <a:avLst/>
          </a:prstGeom>
          <a:solidFill>
            <a:srgbClr val="FFFFFF"/>
          </a:solidFill>
          <a:ln cap="flat" cmpd="sng" w="9525">
            <a:solidFill>
              <a:srgbClr val="9CC2E5"/>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9CC2E5"/>
              </a:buClr>
              <a:buSzPts val="1400"/>
              <a:buFont typeface="Arial"/>
              <a:buNone/>
            </a:pPr>
            <a:r>
              <a:rPr b="0" i="0" lang="en-US" sz="1400" u="none" cap="none" strike="noStrike">
                <a:solidFill>
                  <a:srgbClr val="9CC2E5"/>
                </a:solidFill>
                <a:latin typeface="Arial"/>
                <a:ea typeface="Arial"/>
                <a:cs typeface="Arial"/>
                <a:sym typeface="Arial"/>
              </a:rPr>
              <a:t>Worker was not aware of exclusion zone procedures</a:t>
            </a:r>
            <a:endParaRPr b="0" i="0" sz="1400" u="none" cap="none" strike="noStrike">
              <a:solidFill>
                <a:srgbClr val="000000"/>
              </a:solidFill>
              <a:latin typeface="Arial"/>
              <a:ea typeface="Arial"/>
              <a:cs typeface="Arial"/>
              <a:sym typeface="Arial"/>
            </a:endParaRPr>
          </a:p>
        </p:txBody>
      </p:sp>
      <p:sp>
        <p:nvSpPr>
          <p:cNvPr id="296" name="Google Shape;296;p11"/>
          <p:cNvSpPr txBox="1"/>
          <p:nvPr/>
        </p:nvSpPr>
        <p:spPr>
          <a:xfrm>
            <a:off x="3362226" y="1849985"/>
            <a:ext cx="2160000" cy="738664"/>
          </a:xfrm>
          <a:prstGeom prst="rect">
            <a:avLst/>
          </a:prstGeom>
          <a:solidFill>
            <a:srgbClr val="FFFFFF"/>
          </a:solidFill>
          <a:ln cap="flat" cmpd="sng" w="9525">
            <a:solidFill>
              <a:srgbClr val="9CC2E5"/>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9CC2E5"/>
              </a:buClr>
              <a:buSzPts val="1400"/>
              <a:buFont typeface="Arial"/>
              <a:buNone/>
            </a:pPr>
            <a:r>
              <a:rPr b="0" i="0" lang="en-US" sz="1400" u="none" cap="none" strike="noStrike">
                <a:solidFill>
                  <a:srgbClr val="9CC2E5"/>
                </a:solidFill>
                <a:latin typeface="Arial"/>
                <a:ea typeface="Arial"/>
                <a:cs typeface="Arial"/>
                <a:sym typeface="Arial"/>
              </a:rPr>
              <a:t>Worker disregarded exclusion zone procedures</a:t>
            </a:r>
            <a:endParaRPr b="0" i="0" sz="1400" u="none" cap="none" strike="noStrike">
              <a:solidFill>
                <a:srgbClr val="000000"/>
              </a:solidFill>
              <a:latin typeface="Arial"/>
              <a:ea typeface="Arial"/>
              <a:cs typeface="Arial"/>
              <a:sym typeface="Arial"/>
            </a:endParaRPr>
          </a:p>
        </p:txBody>
      </p:sp>
      <p:cxnSp>
        <p:nvCxnSpPr>
          <p:cNvPr id="297" name="Google Shape;297;p11"/>
          <p:cNvCxnSpPr>
            <a:stCxn id="298" idx="2"/>
            <a:endCxn id="299" idx="0"/>
          </p:cNvCxnSpPr>
          <p:nvPr/>
        </p:nvCxnSpPr>
        <p:spPr>
          <a:xfrm flipH="1" rot="-5400000">
            <a:off x="5552521" y="537627"/>
            <a:ext cx="206100" cy="2418900"/>
          </a:xfrm>
          <a:prstGeom prst="bentConnector3">
            <a:avLst>
              <a:gd fmla="val 49966" name="adj1"/>
            </a:avLst>
          </a:prstGeom>
          <a:noFill/>
          <a:ln cap="flat" cmpd="sng" w="9525">
            <a:solidFill>
              <a:srgbClr val="000000"/>
            </a:solidFill>
            <a:prstDash val="solid"/>
            <a:miter lim="800000"/>
            <a:headEnd len="sm" w="sm" type="none"/>
            <a:tailEnd len="med" w="med" type="triangle"/>
          </a:ln>
        </p:spPr>
      </p:cxnSp>
      <p:cxnSp>
        <p:nvCxnSpPr>
          <p:cNvPr id="300" name="Google Shape;300;p11"/>
          <p:cNvCxnSpPr>
            <a:stCxn id="298" idx="2"/>
            <a:endCxn id="295" idx="0"/>
          </p:cNvCxnSpPr>
          <p:nvPr/>
        </p:nvCxnSpPr>
        <p:spPr>
          <a:xfrm rot="5400000">
            <a:off x="3171121" y="575126"/>
            <a:ext cx="206100" cy="2343900"/>
          </a:xfrm>
          <a:prstGeom prst="bentConnector3">
            <a:avLst>
              <a:gd fmla="val 49966" name="adj1"/>
            </a:avLst>
          </a:prstGeom>
          <a:noFill/>
          <a:ln cap="flat" cmpd="sng" w="9525">
            <a:solidFill>
              <a:srgbClr val="000000"/>
            </a:solidFill>
            <a:prstDash val="solid"/>
            <a:miter lim="800000"/>
            <a:headEnd len="sm" w="sm" type="none"/>
            <a:tailEnd len="med" w="med" type="triangle"/>
          </a:ln>
        </p:spPr>
      </p:cxnSp>
      <p:sp>
        <p:nvSpPr>
          <p:cNvPr id="299" name="Google Shape;299;p11"/>
          <p:cNvSpPr txBox="1"/>
          <p:nvPr/>
        </p:nvSpPr>
        <p:spPr>
          <a:xfrm>
            <a:off x="5630226" y="1849985"/>
            <a:ext cx="2469774" cy="52322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Supervisor told Worker to go into the exclusion zone</a:t>
            </a:r>
            <a:endParaRPr b="0" i="0" sz="1400" u="none" cap="none" strike="noStrike">
              <a:solidFill>
                <a:srgbClr val="000000"/>
              </a:solidFill>
              <a:latin typeface="Arial"/>
              <a:ea typeface="Arial"/>
              <a:cs typeface="Arial"/>
              <a:sym typeface="Arial"/>
            </a:endParaRPr>
          </a:p>
        </p:txBody>
      </p:sp>
      <p:sp>
        <p:nvSpPr>
          <p:cNvPr id="301" name="Google Shape;301;p11"/>
          <p:cNvSpPr txBox="1"/>
          <p:nvPr/>
        </p:nvSpPr>
        <p:spPr>
          <a:xfrm>
            <a:off x="5630226" y="3391233"/>
            <a:ext cx="2469774" cy="738664"/>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Supervisor believed that production was paramount over safety</a:t>
            </a:r>
            <a:endParaRPr b="0" i="0" sz="1400" u="none" cap="none" strike="noStrike">
              <a:solidFill>
                <a:srgbClr val="000000"/>
              </a:solidFill>
              <a:latin typeface="Arial"/>
              <a:ea typeface="Arial"/>
              <a:cs typeface="Arial"/>
              <a:sym typeface="Arial"/>
            </a:endParaRPr>
          </a:p>
        </p:txBody>
      </p:sp>
      <p:cxnSp>
        <p:nvCxnSpPr>
          <p:cNvPr id="302" name="Google Shape;302;p11"/>
          <p:cNvCxnSpPr>
            <a:stCxn id="299" idx="2"/>
            <a:endCxn id="303" idx="0"/>
          </p:cNvCxnSpPr>
          <p:nvPr/>
        </p:nvCxnSpPr>
        <p:spPr>
          <a:xfrm>
            <a:off x="6865113" y="2373205"/>
            <a:ext cx="0" cy="262200"/>
          </a:xfrm>
          <a:prstGeom prst="straightConnector1">
            <a:avLst/>
          </a:prstGeom>
          <a:noFill/>
          <a:ln cap="flat" cmpd="sng" w="9525">
            <a:solidFill>
              <a:srgbClr val="000000"/>
            </a:solidFill>
            <a:prstDash val="solid"/>
            <a:miter lim="800000"/>
            <a:headEnd len="sm" w="sm" type="none"/>
            <a:tailEnd len="med" w="med" type="triangle"/>
          </a:ln>
        </p:spPr>
      </p:cxnSp>
      <p:sp>
        <p:nvSpPr>
          <p:cNvPr id="303" name="Google Shape;303;p11"/>
          <p:cNvSpPr txBox="1"/>
          <p:nvPr/>
        </p:nvSpPr>
        <p:spPr>
          <a:xfrm>
            <a:off x="5630226" y="2635358"/>
            <a:ext cx="2469774" cy="52322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B-JF: Supervisor prioritized production over safety</a:t>
            </a:r>
            <a:endParaRPr b="0" i="0" sz="1400" u="none" cap="none" strike="noStrike">
              <a:solidFill>
                <a:srgbClr val="000000"/>
              </a:solidFill>
              <a:latin typeface="Arial"/>
              <a:ea typeface="Arial"/>
              <a:cs typeface="Arial"/>
              <a:sym typeface="Arial"/>
            </a:endParaRPr>
          </a:p>
        </p:txBody>
      </p:sp>
      <p:cxnSp>
        <p:nvCxnSpPr>
          <p:cNvPr id="304" name="Google Shape;304;p11"/>
          <p:cNvCxnSpPr>
            <a:stCxn id="303" idx="2"/>
            <a:endCxn id="301" idx="0"/>
          </p:cNvCxnSpPr>
          <p:nvPr/>
        </p:nvCxnSpPr>
        <p:spPr>
          <a:xfrm>
            <a:off x="6865113" y="3158578"/>
            <a:ext cx="0" cy="232800"/>
          </a:xfrm>
          <a:prstGeom prst="straightConnector1">
            <a:avLst/>
          </a:prstGeom>
          <a:noFill/>
          <a:ln cap="flat" cmpd="sng" w="9525">
            <a:solidFill>
              <a:srgbClr val="000000"/>
            </a:solidFill>
            <a:prstDash val="solid"/>
            <a:miter lim="800000"/>
            <a:headEnd len="sm" w="sm" type="none"/>
            <a:tailEnd len="med" w="med" type="triangle"/>
          </a:ln>
        </p:spPr>
      </p:cxnSp>
      <p:cxnSp>
        <p:nvCxnSpPr>
          <p:cNvPr id="305" name="Google Shape;305;p11"/>
          <p:cNvCxnSpPr>
            <a:endCxn id="296" idx="0"/>
          </p:cNvCxnSpPr>
          <p:nvPr/>
        </p:nvCxnSpPr>
        <p:spPr>
          <a:xfrm>
            <a:off x="4442226" y="1353785"/>
            <a:ext cx="0" cy="496200"/>
          </a:xfrm>
          <a:prstGeom prst="straightConnector1">
            <a:avLst/>
          </a:prstGeom>
          <a:noFill/>
          <a:ln cap="flat" cmpd="sng" w="9525">
            <a:solidFill>
              <a:srgbClr val="000000"/>
            </a:solidFill>
            <a:prstDash val="solid"/>
            <a:miter lim="800000"/>
            <a:headEnd len="sm" w="sm" type="none"/>
            <a:tailEnd len="med" w="med" type="triangle"/>
          </a:ln>
        </p:spPr>
      </p:cxnSp>
      <p:sp>
        <p:nvSpPr>
          <p:cNvPr id="298" name="Google Shape;298;p11"/>
          <p:cNvSpPr/>
          <p:nvPr/>
        </p:nvSpPr>
        <p:spPr>
          <a:xfrm flipH="1">
            <a:off x="4249854" y="1368739"/>
            <a:ext cx="392534" cy="305875"/>
          </a:xfrm>
          <a:prstGeom prst="flowChartPunchedTape">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262626"/>
              </a:solidFill>
              <a:latin typeface="Arial"/>
              <a:ea typeface="Arial"/>
              <a:cs typeface="Arial"/>
              <a:sym typeface="Arial"/>
            </a:endParaRPr>
          </a:p>
        </p:txBody>
      </p:sp>
      <p:sp>
        <p:nvSpPr>
          <p:cNvPr id="306" name="Google Shape;306;p11"/>
          <p:cNvSpPr/>
          <p:nvPr/>
        </p:nvSpPr>
        <p:spPr>
          <a:xfrm>
            <a:off x="4046226" y="2637607"/>
            <a:ext cx="1584000" cy="576000"/>
          </a:xfrm>
          <a:prstGeom prst="rightArrow">
            <a:avLst>
              <a:gd fmla="val 50000" name="adj1"/>
              <a:gd fmla="val 50000" name="adj2"/>
            </a:avLst>
          </a:prstGeom>
          <a:solidFill>
            <a:srgbClr val="FFFFFF"/>
          </a:solid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Arial"/>
                <a:ea typeface="Arial"/>
                <a:cs typeface="Arial"/>
                <a:sym typeface="Arial"/>
              </a:rPr>
              <a:t>Basic Cause</a:t>
            </a:r>
            <a:endParaRPr b="0" i="0" sz="1400" u="none" cap="none" strike="noStrike">
              <a:solidFill>
                <a:srgbClr val="000000"/>
              </a:solidFill>
              <a:latin typeface="Arial"/>
              <a:ea typeface="Arial"/>
              <a:cs typeface="Arial"/>
              <a:sym typeface="Arial"/>
            </a:endParaRPr>
          </a:p>
        </p:txBody>
      </p:sp>
      <p:sp>
        <p:nvSpPr>
          <p:cNvPr id="307" name="Google Shape;307;p11"/>
          <p:cNvSpPr/>
          <p:nvPr/>
        </p:nvSpPr>
        <p:spPr>
          <a:xfrm>
            <a:off x="4046226" y="5296973"/>
            <a:ext cx="1584000" cy="576000"/>
          </a:xfrm>
          <a:prstGeom prst="rightArrow">
            <a:avLst>
              <a:gd fmla="val 50000" name="adj1"/>
              <a:gd fmla="val 50000" name="adj2"/>
            </a:avLst>
          </a:prstGeom>
          <a:solidFill>
            <a:srgbClr val="FFFFFF"/>
          </a:solidFill>
          <a:ln cap="flat" cmpd="sng" w="9525">
            <a:solidFill>
              <a:srgbClr val="FF0000"/>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Arial"/>
                <a:ea typeface="Arial"/>
                <a:cs typeface="Arial"/>
                <a:sym typeface="Arial"/>
              </a:rPr>
              <a:t>Latent Cause</a:t>
            </a:r>
            <a:endParaRPr b="0" i="0" sz="1400" u="none" cap="none" strike="noStrike">
              <a:solidFill>
                <a:srgbClr val="000000"/>
              </a:solidFill>
              <a:latin typeface="Arial"/>
              <a:ea typeface="Arial"/>
              <a:cs typeface="Arial"/>
              <a:sym typeface="Arial"/>
            </a:endParaRPr>
          </a:p>
        </p:txBody>
      </p:sp>
      <p:sp>
        <p:nvSpPr>
          <p:cNvPr id="308" name="Google Shape;308;p11"/>
          <p:cNvSpPr txBox="1"/>
          <p:nvPr/>
        </p:nvSpPr>
        <p:spPr>
          <a:xfrm>
            <a:off x="5630226" y="5235253"/>
            <a:ext cx="2469774" cy="682682"/>
          </a:xfrm>
          <a:prstGeom prst="rect">
            <a:avLst/>
          </a:prstGeom>
          <a:solidFill>
            <a:srgbClr val="FEE599"/>
          </a:solidFill>
          <a:ln cap="flat" cmpd="sng" w="9525">
            <a:solidFill>
              <a:srgbClr val="000000"/>
            </a:solidFill>
            <a:prstDash val="solid"/>
            <a:round/>
            <a:headEnd len="sm" w="sm" type="none"/>
            <a:tailEnd len="sm" w="sm" type="none"/>
          </a:ln>
        </p:spPr>
        <p:txBody>
          <a:bodyPr anchorCtr="0" anchor="t" bIns="0" lIns="36000" spcFirstLastPara="1" rIns="36000" wrap="square" tIns="360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LC3: Core Safety Values Communications Program was inadequate **</a:t>
            </a:r>
            <a:endParaRPr b="1" i="0" sz="1400" u="none" cap="none" strike="noStrike">
              <a:solidFill>
                <a:srgbClr val="000000"/>
              </a:solidFill>
              <a:latin typeface="Arial"/>
              <a:ea typeface="Arial"/>
              <a:cs typeface="Arial"/>
              <a:sym typeface="Arial"/>
            </a:endParaRPr>
          </a:p>
        </p:txBody>
      </p:sp>
      <p:cxnSp>
        <p:nvCxnSpPr>
          <p:cNvPr id="309" name="Google Shape;309;p11"/>
          <p:cNvCxnSpPr>
            <a:stCxn id="301" idx="2"/>
            <a:endCxn id="308" idx="0"/>
          </p:cNvCxnSpPr>
          <p:nvPr/>
        </p:nvCxnSpPr>
        <p:spPr>
          <a:xfrm>
            <a:off x="6865113" y="4129897"/>
            <a:ext cx="0" cy="1105500"/>
          </a:xfrm>
          <a:prstGeom prst="straightConnector1">
            <a:avLst/>
          </a:prstGeom>
          <a:noFill/>
          <a:ln cap="flat" cmpd="sng" w="9525">
            <a:solidFill>
              <a:srgbClr val="000000"/>
            </a:solidFill>
            <a:prstDash val="solid"/>
            <a:miter lim="800000"/>
            <a:headEnd len="sm" w="sm" type="none"/>
            <a:tailEnd len="med" w="med" type="triangle"/>
          </a:ln>
        </p:spPr>
      </p:cxnSp>
      <p:sp>
        <p:nvSpPr>
          <p:cNvPr id="310" name="Google Shape;310;p11"/>
          <p:cNvSpPr/>
          <p:nvPr/>
        </p:nvSpPr>
        <p:spPr>
          <a:xfrm>
            <a:off x="4046226" y="3470908"/>
            <a:ext cx="1584000" cy="611386"/>
          </a:xfrm>
          <a:prstGeom prst="rightArrow">
            <a:avLst>
              <a:gd fmla="val 50000" name="adj1"/>
              <a:gd fmla="val 50000" name="adj2"/>
            </a:avLst>
          </a:prstGeom>
          <a:solidFill>
            <a:srgbClr val="FFFFFF"/>
          </a:solid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Arial"/>
                <a:ea typeface="Arial"/>
                <a:cs typeface="Arial"/>
                <a:sym typeface="Arial"/>
              </a:rPr>
              <a:t>Intermediate</a:t>
            </a:r>
            <a:endParaRPr b="0" i="0" sz="1400" u="none" cap="none" strike="noStrike">
              <a:solidFill>
                <a:srgbClr val="000000"/>
              </a:solidFill>
              <a:latin typeface="Arial"/>
              <a:ea typeface="Arial"/>
              <a:cs typeface="Arial"/>
              <a:sym typeface="Arial"/>
            </a:endParaRPr>
          </a:p>
        </p:txBody>
      </p:sp>
      <p:sp>
        <p:nvSpPr>
          <p:cNvPr id="311" name="Google Shape;311;p11"/>
          <p:cNvSpPr txBox="1"/>
          <p:nvPr/>
        </p:nvSpPr>
        <p:spPr>
          <a:xfrm>
            <a:off x="3003373" y="823172"/>
            <a:ext cx="2952000" cy="5040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Worker did not follow exclusion zone procedures</a:t>
            </a:r>
            <a:endParaRPr b="0" i="0" sz="1400" u="none" cap="none" strike="noStrike">
              <a:solidFill>
                <a:srgbClr val="000000"/>
              </a:solidFill>
              <a:latin typeface="Arial"/>
              <a:ea typeface="Arial"/>
              <a:cs typeface="Arial"/>
              <a:sym typeface="Arial"/>
            </a:endParaRPr>
          </a:p>
        </p:txBody>
      </p:sp>
      <p:sp>
        <p:nvSpPr>
          <p:cNvPr id="312" name="Google Shape;312;p11"/>
          <p:cNvSpPr/>
          <p:nvPr/>
        </p:nvSpPr>
        <p:spPr>
          <a:xfrm>
            <a:off x="180000" y="188182"/>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Drilling Down to Latent Causes in the RCA:</a:t>
            </a:r>
            <a:endParaRPr b="0" i="0" sz="2400" u="none" cap="none" strike="noStrike">
              <a:solidFill>
                <a:srgbClr val="333399"/>
              </a:solidFill>
              <a:latin typeface="Arial"/>
              <a:ea typeface="Arial"/>
              <a:cs typeface="Arial"/>
              <a:sym typeface="Arial"/>
            </a:endParaRPr>
          </a:p>
        </p:txBody>
      </p:sp>
      <p:sp>
        <p:nvSpPr>
          <p:cNvPr id="313" name="Google Shape;313;p11"/>
          <p:cNvSpPr/>
          <p:nvPr/>
        </p:nvSpPr>
        <p:spPr>
          <a:xfrm>
            <a:off x="3808011" y="1849985"/>
            <a:ext cx="4779036" cy="4067950"/>
          </a:xfrm>
          <a:prstGeom prst="roundRect">
            <a:avLst>
              <a:gd fmla="val 7793" name="adj"/>
            </a:avLst>
          </a:prstGeom>
          <a:noFill/>
          <a:ln cap="flat" cmpd="sng" w="38100">
            <a:solidFill>
              <a:srgbClr val="0000FF"/>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FF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FF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FF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FF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FF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FF0000"/>
              </a:solidFill>
              <a:latin typeface="Calibri"/>
              <a:ea typeface="Calibri"/>
              <a:cs typeface="Calibri"/>
              <a:sym typeface="Calibri"/>
            </a:endParaRPr>
          </a:p>
          <a:p>
            <a:pPr indent="0" lvl="0" marL="0" marR="0" rtl="0" algn="l">
              <a:lnSpc>
                <a:spcPct val="100000"/>
              </a:lnSpc>
              <a:spcBef>
                <a:spcPts val="0"/>
              </a:spcBef>
              <a:spcAft>
                <a:spcPts val="0"/>
              </a:spcAft>
              <a:buClr>
                <a:srgbClr val="FF0000"/>
              </a:buClr>
              <a:buSzPts val="2400"/>
              <a:buFont typeface="Calibri"/>
              <a:buNone/>
            </a:pPr>
            <a:r>
              <a:rPr b="1" i="0" lang="en-US" sz="2400" u="none" cap="none" strike="noStrike">
                <a:solidFill>
                  <a:srgbClr val="FF0000"/>
                </a:solidFill>
                <a:latin typeface="Calibri"/>
                <a:ea typeface="Calibri"/>
                <a:cs typeface="Calibri"/>
                <a:sym typeface="Calibri"/>
              </a:rPr>
              <a:t>Does this </a:t>
            </a:r>
            <a:br>
              <a:rPr b="1" i="0" lang="en-US" sz="2400" u="none" cap="none" strike="noStrike">
                <a:solidFill>
                  <a:srgbClr val="FF0000"/>
                </a:solidFill>
                <a:latin typeface="Calibri"/>
                <a:ea typeface="Calibri"/>
                <a:cs typeface="Calibri"/>
                <a:sym typeface="Calibri"/>
              </a:rPr>
            </a:br>
            <a:r>
              <a:rPr b="1" i="0" lang="en-US" sz="2400" u="none" cap="none" strike="noStrike">
                <a:solidFill>
                  <a:srgbClr val="FF0000"/>
                </a:solidFill>
                <a:latin typeface="Calibri"/>
                <a:ea typeface="Calibri"/>
                <a:cs typeface="Calibri"/>
                <a:sym typeface="Calibri"/>
              </a:rPr>
              <a:t>make sense?</a:t>
            </a:r>
            <a:endParaRPr b="1" i="0" sz="2400" u="none" cap="none" strike="noStrike">
              <a:solidFill>
                <a:srgbClr val="FF0000"/>
              </a:solidFill>
              <a:latin typeface="Calibri"/>
              <a:ea typeface="Calibri"/>
              <a:cs typeface="Calibri"/>
              <a:sym typeface="Calibri"/>
            </a:endParaRPr>
          </a:p>
        </p:txBody>
      </p:sp>
      <p:sp>
        <p:nvSpPr>
          <p:cNvPr id="314" name="Google Shape;314;p11"/>
          <p:cNvSpPr/>
          <p:nvPr/>
        </p:nvSpPr>
        <p:spPr>
          <a:xfrm>
            <a:off x="4007192" y="1840995"/>
            <a:ext cx="1584000" cy="576000"/>
          </a:xfrm>
          <a:prstGeom prst="rightArrow">
            <a:avLst>
              <a:gd fmla="val 50000" name="adj1"/>
              <a:gd fmla="val 50000" name="adj2"/>
            </a:avLst>
          </a:prstGeom>
          <a:solidFill>
            <a:srgbClr val="FFFFFF"/>
          </a:solid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Arial"/>
                <a:ea typeface="Arial"/>
                <a:cs typeface="Arial"/>
                <a:sym typeface="Arial"/>
              </a:rPr>
              <a:t>Basic Cause</a:t>
            </a:r>
            <a:endParaRPr b="0" i="0" sz="1400" u="none" cap="none" strike="noStrike">
              <a:solidFill>
                <a:srgbClr val="000000"/>
              </a:solidFill>
              <a:latin typeface="Arial"/>
              <a:ea typeface="Arial"/>
              <a:cs typeface="Arial"/>
              <a:sym typeface="Arial"/>
            </a:endParaRPr>
          </a:p>
        </p:txBody>
      </p:sp>
      <p:sp>
        <p:nvSpPr>
          <p:cNvPr id="315" name="Google Shape;315;p11"/>
          <p:cNvSpPr/>
          <p:nvPr/>
        </p:nvSpPr>
        <p:spPr>
          <a:xfrm>
            <a:off x="4046226" y="2402463"/>
            <a:ext cx="1584000" cy="1039276"/>
          </a:xfrm>
          <a:prstGeom prst="rightArrow">
            <a:avLst>
              <a:gd fmla="val 50000" name="adj1"/>
              <a:gd fmla="val 50000" name="adj2"/>
            </a:avLst>
          </a:prstGeom>
          <a:solidFill>
            <a:srgbClr val="FFFFFF"/>
          </a:solid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Arial"/>
                <a:ea typeface="Arial"/>
                <a:cs typeface="Arial"/>
                <a:sym typeface="Arial"/>
              </a:rPr>
              <a:t>Intermediate Basic Cause</a:t>
            </a:r>
            <a:endParaRPr b="0" i="0" sz="14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4"/>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322" name="Google Shape;322;p54"/>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sp>
        <p:nvSpPr>
          <p:cNvPr id="323" name="Google Shape;323;p54"/>
          <p:cNvSpPr txBox="1"/>
          <p:nvPr/>
        </p:nvSpPr>
        <p:spPr>
          <a:xfrm>
            <a:off x="1022226" y="1849985"/>
            <a:ext cx="2160000" cy="738664"/>
          </a:xfrm>
          <a:prstGeom prst="rect">
            <a:avLst/>
          </a:prstGeom>
          <a:solidFill>
            <a:srgbClr val="FFFFFF"/>
          </a:solidFill>
          <a:ln cap="flat" cmpd="sng" w="9525">
            <a:solidFill>
              <a:srgbClr val="9CC2E5"/>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9CC2E5"/>
              </a:buClr>
              <a:buSzPts val="1400"/>
              <a:buFont typeface="Arial"/>
              <a:buNone/>
            </a:pPr>
            <a:r>
              <a:rPr b="0" i="0" lang="en-US" sz="1400" u="none" cap="none" strike="noStrike">
                <a:solidFill>
                  <a:srgbClr val="9CC2E5"/>
                </a:solidFill>
                <a:latin typeface="Arial"/>
                <a:ea typeface="Arial"/>
                <a:cs typeface="Arial"/>
                <a:sym typeface="Arial"/>
              </a:rPr>
              <a:t>Worker was not aware of exclusion zone procedures</a:t>
            </a:r>
            <a:endParaRPr b="0" i="0" sz="1400" u="none" cap="none" strike="noStrike">
              <a:solidFill>
                <a:srgbClr val="000000"/>
              </a:solidFill>
              <a:latin typeface="Arial"/>
              <a:ea typeface="Arial"/>
              <a:cs typeface="Arial"/>
              <a:sym typeface="Arial"/>
            </a:endParaRPr>
          </a:p>
        </p:txBody>
      </p:sp>
      <p:sp>
        <p:nvSpPr>
          <p:cNvPr id="324" name="Google Shape;324;p54"/>
          <p:cNvSpPr txBox="1"/>
          <p:nvPr/>
        </p:nvSpPr>
        <p:spPr>
          <a:xfrm>
            <a:off x="3362226" y="1849985"/>
            <a:ext cx="2160000" cy="738664"/>
          </a:xfrm>
          <a:prstGeom prst="rect">
            <a:avLst/>
          </a:prstGeom>
          <a:solidFill>
            <a:srgbClr val="FFFFFF"/>
          </a:solidFill>
          <a:ln cap="flat" cmpd="sng" w="9525">
            <a:solidFill>
              <a:srgbClr val="9CC2E5"/>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9CC2E5"/>
              </a:buClr>
              <a:buSzPts val="1400"/>
              <a:buFont typeface="Arial"/>
              <a:buNone/>
            </a:pPr>
            <a:r>
              <a:rPr b="0" i="0" lang="en-US" sz="1400" u="none" cap="none" strike="noStrike">
                <a:solidFill>
                  <a:srgbClr val="9CC2E5"/>
                </a:solidFill>
                <a:latin typeface="Arial"/>
                <a:ea typeface="Arial"/>
                <a:cs typeface="Arial"/>
                <a:sym typeface="Arial"/>
              </a:rPr>
              <a:t>Worker disregarded exclusion zone procedures</a:t>
            </a:r>
            <a:endParaRPr b="0" i="0" sz="1400" u="none" cap="none" strike="noStrike">
              <a:solidFill>
                <a:srgbClr val="000000"/>
              </a:solidFill>
              <a:latin typeface="Arial"/>
              <a:ea typeface="Arial"/>
              <a:cs typeface="Arial"/>
              <a:sym typeface="Arial"/>
            </a:endParaRPr>
          </a:p>
        </p:txBody>
      </p:sp>
      <p:cxnSp>
        <p:nvCxnSpPr>
          <p:cNvPr id="325" name="Google Shape;325;p54"/>
          <p:cNvCxnSpPr>
            <a:stCxn id="326" idx="2"/>
            <a:endCxn id="327" idx="0"/>
          </p:cNvCxnSpPr>
          <p:nvPr/>
        </p:nvCxnSpPr>
        <p:spPr>
          <a:xfrm flipH="1" rot="-5400000">
            <a:off x="5552521" y="537627"/>
            <a:ext cx="206100" cy="2418900"/>
          </a:xfrm>
          <a:prstGeom prst="bentConnector3">
            <a:avLst>
              <a:gd fmla="val 49966" name="adj1"/>
            </a:avLst>
          </a:prstGeom>
          <a:noFill/>
          <a:ln cap="flat" cmpd="sng" w="9525">
            <a:solidFill>
              <a:srgbClr val="000000"/>
            </a:solidFill>
            <a:prstDash val="solid"/>
            <a:miter lim="800000"/>
            <a:headEnd len="sm" w="sm" type="none"/>
            <a:tailEnd len="med" w="med" type="triangle"/>
          </a:ln>
        </p:spPr>
      </p:cxnSp>
      <p:cxnSp>
        <p:nvCxnSpPr>
          <p:cNvPr id="328" name="Google Shape;328;p54"/>
          <p:cNvCxnSpPr>
            <a:stCxn id="326" idx="2"/>
            <a:endCxn id="323" idx="0"/>
          </p:cNvCxnSpPr>
          <p:nvPr/>
        </p:nvCxnSpPr>
        <p:spPr>
          <a:xfrm rot="5400000">
            <a:off x="3171121" y="575126"/>
            <a:ext cx="206100" cy="2343900"/>
          </a:xfrm>
          <a:prstGeom prst="bentConnector3">
            <a:avLst>
              <a:gd fmla="val 49966" name="adj1"/>
            </a:avLst>
          </a:prstGeom>
          <a:noFill/>
          <a:ln cap="flat" cmpd="sng" w="9525">
            <a:solidFill>
              <a:srgbClr val="000000"/>
            </a:solidFill>
            <a:prstDash val="solid"/>
            <a:miter lim="800000"/>
            <a:headEnd len="sm" w="sm" type="none"/>
            <a:tailEnd len="med" w="med" type="triangle"/>
          </a:ln>
        </p:spPr>
      </p:cxnSp>
      <p:sp>
        <p:nvSpPr>
          <p:cNvPr id="327" name="Google Shape;327;p54"/>
          <p:cNvSpPr txBox="1"/>
          <p:nvPr/>
        </p:nvSpPr>
        <p:spPr>
          <a:xfrm>
            <a:off x="5630226" y="1849985"/>
            <a:ext cx="2469774" cy="52322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Supervisor told Worker to go into the exclusion zone</a:t>
            </a:r>
            <a:endParaRPr b="0" i="0" sz="1400" u="none" cap="none" strike="noStrike">
              <a:solidFill>
                <a:srgbClr val="000000"/>
              </a:solidFill>
              <a:latin typeface="Arial"/>
              <a:ea typeface="Arial"/>
              <a:cs typeface="Arial"/>
              <a:sym typeface="Arial"/>
            </a:endParaRPr>
          </a:p>
        </p:txBody>
      </p:sp>
      <p:sp>
        <p:nvSpPr>
          <p:cNvPr id="329" name="Google Shape;329;p54"/>
          <p:cNvSpPr txBox="1"/>
          <p:nvPr/>
        </p:nvSpPr>
        <p:spPr>
          <a:xfrm>
            <a:off x="5630226" y="3391233"/>
            <a:ext cx="2469774" cy="738664"/>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Supervisor believed that production was paramount over safety</a:t>
            </a:r>
            <a:endParaRPr b="0" i="0" sz="1400" u="none" cap="none" strike="noStrike">
              <a:solidFill>
                <a:srgbClr val="000000"/>
              </a:solidFill>
              <a:latin typeface="Arial"/>
              <a:ea typeface="Arial"/>
              <a:cs typeface="Arial"/>
              <a:sym typeface="Arial"/>
            </a:endParaRPr>
          </a:p>
        </p:txBody>
      </p:sp>
      <p:cxnSp>
        <p:nvCxnSpPr>
          <p:cNvPr id="330" name="Google Shape;330;p54"/>
          <p:cNvCxnSpPr>
            <a:stCxn id="327" idx="2"/>
            <a:endCxn id="331" idx="0"/>
          </p:cNvCxnSpPr>
          <p:nvPr/>
        </p:nvCxnSpPr>
        <p:spPr>
          <a:xfrm>
            <a:off x="6865113" y="2373205"/>
            <a:ext cx="0" cy="262200"/>
          </a:xfrm>
          <a:prstGeom prst="straightConnector1">
            <a:avLst/>
          </a:prstGeom>
          <a:noFill/>
          <a:ln cap="flat" cmpd="sng" w="9525">
            <a:solidFill>
              <a:srgbClr val="000000"/>
            </a:solidFill>
            <a:prstDash val="solid"/>
            <a:miter lim="800000"/>
            <a:headEnd len="sm" w="sm" type="none"/>
            <a:tailEnd len="med" w="med" type="triangle"/>
          </a:ln>
        </p:spPr>
      </p:cxnSp>
      <p:sp>
        <p:nvSpPr>
          <p:cNvPr id="331" name="Google Shape;331;p54"/>
          <p:cNvSpPr txBox="1"/>
          <p:nvPr/>
        </p:nvSpPr>
        <p:spPr>
          <a:xfrm>
            <a:off x="5630226" y="2635358"/>
            <a:ext cx="2469774" cy="52322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B-JF: Supervisor prioritized production over safety</a:t>
            </a:r>
            <a:endParaRPr b="0" i="0" sz="1400" u="none" cap="none" strike="noStrike">
              <a:solidFill>
                <a:srgbClr val="000000"/>
              </a:solidFill>
              <a:latin typeface="Arial"/>
              <a:ea typeface="Arial"/>
              <a:cs typeface="Arial"/>
              <a:sym typeface="Arial"/>
            </a:endParaRPr>
          </a:p>
        </p:txBody>
      </p:sp>
      <p:cxnSp>
        <p:nvCxnSpPr>
          <p:cNvPr id="332" name="Google Shape;332;p54"/>
          <p:cNvCxnSpPr>
            <a:stCxn id="331" idx="2"/>
            <a:endCxn id="329" idx="0"/>
          </p:cNvCxnSpPr>
          <p:nvPr/>
        </p:nvCxnSpPr>
        <p:spPr>
          <a:xfrm>
            <a:off x="6865113" y="3158578"/>
            <a:ext cx="0" cy="232800"/>
          </a:xfrm>
          <a:prstGeom prst="straightConnector1">
            <a:avLst/>
          </a:prstGeom>
          <a:noFill/>
          <a:ln cap="flat" cmpd="sng" w="9525">
            <a:solidFill>
              <a:srgbClr val="000000"/>
            </a:solidFill>
            <a:prstDash val="solid"/>
            <a:miter lim="800000"/>
            <a:headEnd len="sm" w="sm" type="none"/>
            <a:tailEnd len="med" w="med" type="triangle"/>
          </a:ln>
        </p:spPr>
      </p:cxnSp>
      <p:cxnSp>
        <p:nvCxnSpPr>
          <p:cNvPr id="333" name="Google Shape;333;p54"/>
          <p:cNvCxnSpPr>
            <a:endCxn id="324" idx="0"/>
          </p:cNvCxnSpPr>
          <p:nvPr/>
        </p:nvCxnSpPr>
        <p:spPr>
          <a:xfrm>
            <a:off x="4442226" y="1353785"/>
            <a:ext cx="0" cy="496200"/>
          </a:xfrm>
          <a:prstGeom prst="straightConnector1">
            <a:avLst/>
          </a:prstGeom>
          <a:noFill/>
          <a:ln cap="flat" cmpd="sng" w="9525">
            <a:solidFill>
              <a:srgbClr val="000000"/>
            </a:solidFill>
            <a:prstDash val="solid"/>
            <a:miter lim="800000"/>
            <a:headEnd len="sm" w="sm" type="none"/>
            <a:tailEnd len="med" w="med" type="triangle"/>
          </a:ln>
        </p:spPr>
      </p:cxnSp>
      <p:sp>
        <p:nvSpPr>
          <p:cNvPr id="326" name="Google Shape;326;p54"/>
          <p:cNvSpPr/>
          <p:nvPr/>
        </p:nvSpPr>
        <p:spPr>
          <a:xfrm flipH="1">
            <a:off x="4249854" y="1368739"/>
            <a:ext cx="392534" cy="305875"/>
          </a:xfrm>
          <a:prstGeom prst="flowChartPunchedTape">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262626"/>
              </a:solidFill>
              <a:latin typeface="Arial"/>
              <a:ea typeface="Arial"/>
              <a:cs typeface="Arial"/>
              <a:sym typeface="Arial"/>
            </a:endParaRPr>
          </a:p>
        </p:txBody>
      </p:sp>
      <p:sp>
        <p:nvSpPr>
          <p:cNvPr id="334" name="Google Shape;334;p54"/>
          <p:cNvSpPr/>
          <p:nvPr/>
        </p:nvSpPr>
        <p:spPr>
          <a:xfrm>
            <a:off x="4049048" y="2507552"/>
            <a:ext cx="1584000" cy="1039276"/>
          </a:xfrm>
          <a:prstGeom prst="rightArrow">
            <a:avLst>
              <a:gd fmla="val 50000" name="adj1"/>
              <a:gd fmla="val 50000" name="adj2"/>
            </a:avLst>
          </a:prstGeom>
          <a:solidFill>
            <a:srgbClr val="FFFFFF"/>
          </a:solid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Arial"/>
                <a:ea typeface="Arial"/>
                <a:cs typeface="Arial"/>
                <a:sym typeface="Arial"/>
              </a:rPr>
              <a:t>Int. Basic Cause</a:t>
            </a:r>
            <a:endParaRPr b="0" i="0" sz="1400" u="none" cap="none" strike="noStrike">
              <a:solidFill>
                <a:srgbClr val="000000"/>
              </a:solidFill>
              <a:latin typeface="Arial"/>
              <a:ea typeface="Arial"/>
              <a:cs typeface="Arial"/>
              <a:sym typeface="Arial"/>
            </a:endParaRPr>
          </a:p>
        </p:txBody>
      </p:sp>
      <p:sp>
        <p:nvSpPr>
          <p:cNvPr id="335" name="Google Shape;335;p54"/>
          <p:cNvSpPr/>
          <p:nvPr/>
        </p:nvSpPr>
        <p:spPr>
          <a:xfrm>
            <a:off x="4046226" y="5296973"/>
            <a:ext cx="1584000" cy="576000"/>
          </a:xfrm>
          <a:prstGeom prst="rightArrow">
            <a:avLst>
              <a:gd fmla="val 50000" name="adj1"/>
              <a:gd fmla="val 50000" name="adj2"/>
            </a:avLst>
          </a:prstGeom>
          <a:solidFill>
            <a:srgbClr val="FFFFFF"/>
          </a:solidFill>
          <a:ln cap="flat" cmpd="sng" w="9525">
            <a:solidFill>
              <a:srgbClr val="FF0000"/>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Arial"/>
                <a:ea typeface="Arial"/>
                <a:cs typeface="Arial"/>
                <a:sym typeface="Arial"/>
              </a:rPr>
              <a:t>Latent Cause</a:t>
            </a:r>
            <a:endParaRPr b="0" i="0" sz="1400" u="none" cap="none" strike="noStrike">
              <a:solidFill>
                <a:srgbClr val="000000"/>
              </a:solidFill>
              <a:latin typeface="Arial"/>
              <a:ea typeface="Arial"/>
              <a:cs typeface="Arial"/>
              <a:sym typeface="Arial"/>
            </a:endParaRPr>
          </a:p>
        </p:txBody>
      </p:sp>
      <p:sp>
        <p:nvSpPr>
          <p:cNvPr id="336" name="Google Shape;336;p54"/>
          <p:cNvSpPr txBox="1"/>
          <p:nvPr/>
        </p:nvSpPr>
        <p:spPr>
          <a:xfrm>
            <a:off x="5630226" y="5235253"/>
            <a:ext cx="2469774" cy="682682"/>
          </a:xfrm>
          <a:prstGeom prst="rect">
            <a:avLst/>
          </a:prstGeom>
          <a:solidFill>
            <a:srgbClr val="FEE599"/>
          </a:solidFill>
          <a:ln cap="flat" cmpd="sng" w="9525">
            <a:solidFill>
              <a:srgbClr val="000000"/>
            </a:solidFill>
            <a:prstDash val="solid"/>
            <a:round/>
            <a:headEnd len="sm" w="sm" type="none"/>
            <a:tailEnd len="sm" w="sm" type="none"/>
          </a:ln>
        </p:spPr>
        <p:txBody>
          <a:bodyPr anchorCtr="0" anchor="t" bIns="0" lIns="36000" spcFirstLastPara="1" rIns="36000" wrap="square" tIns="360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LC3: Core Safety Values Communications Program was inadequate **</a:t>
            </a:r>
            <a:endParaRPr b="1" i="0" sz="1400" u="none" cap="none" strike="noStrike">
              <a:solidFill>
                <a:srgbClr val="000000"/>
              </a:solidFill>
              <a:latin typeface="Arial"/>
              <a:ea typeface="Arial"/>
              <a:cs typeface="Arial"/>
              <a:sym typeface="Arial"/>
            </a:endParaRPr>
          </a:p>
        </p:txBody>
      </p:sp>
      <p:sp>
        <p:nvSpPr>
          <p:cNvPr id="337" name="Google Shape;337;p54"/>
          <p:cNvSpPr/>
          <p:nvPr/>
        </p:nvSpPr>
        <p:spPr>
          <a:xfrm>
            <a:off x="4046226" y="3470908"/>
            <a:ext cx="1584000" cy="611386"/>
          </a:xfrm>
          <a:prstGeom prst="rightArrow">
            <a:avLst>
              <a:gd fmla="val 50000" name="adj1"/>
              <a:gd fmla="val 50000" name="adj2"/>
            </a:avLst>
          </a:prstGeom>
          <a:solidFill>
            <a:srgbClr val="FFFFFF"/>
          </a:solid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Arial"/>
                <a:ea typeface="Arial"/>
                <a:cs typeface="Arial"/>
                <a:sym typeface="Arial"/>
              </a:rPr>
              <a:t>Intermediate</a:t>
            </a:r>
            <a:endParaRPr b="0" i="0" sz="1400" u="none" cap="none" strike="noStrike">
              <a:solidFill>
                <a:srgbClr val="000000"/>
              </a:solidFill>
              <a:latin typeface="Arial"/>
              <a:ea typeface="Arial"/>
              <a:cs typeface="Arial"/>
              <a:sym typeface="Arial"/>
            </a:endParaRPr>
          </a:p>
        </p:txBody>
      </p:sp>
      <p:sp>
        <p:nvSpPr>
          <p:cNvPr id="338" name="Google Shape;338;p54"/>
          <p:cNvSpPr txBox="1"/>
          <p:nvPr/>
        </p:nvSpPr>
        <p:spPr>
          <a:xfrm>
            <a:off x="3003373" y="823172"/>
            <a:ext cx="2952000" cy="5040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Worker did not follow exclusion zone procedures</a:t>
            </a:r>
            <a:endParaRPr b="0" i="0" sz="1400" u="none" cap="none" strike="noStrike">
              <a:solidFill>
                <a:srgbClr val="000000"/>
              </a:solidFill>
              <a:latin typeface="Arial"/>
              <a:ea typeface="Arial"/>
              <a:cs typeface="Arial"/>
              <a:sym typeface="Arial"/>
            </a:endParaRPr>
          </a:p>
        </p:txBody>
      </p:sp>
      <p:sp>
        <p:nvSpPr>
          <p:cNvPr id="339" name="Google Shape;339;p54"/>
          <p:cNvSpPr/>
          <p:nvPr/>
        </p:nvSpPr>
        <p:spPr>
          <a:xfrm>
            <a:off x="180000" y="188182"/>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Drilling Down to Latent Causes in the RCA:</a:t>
            </a:r>
            <a:endParaRPr b="0" i="0" sz="2400" u="none" cap="none" strike="noStrike">
              <a:solidFill>
                <a:srgbClr val="333399"/>
              </a:solidFill>
              <a:latin typeface="Arial"/>
              <a:ea typeface="Arial"/>
              <a:cs typeface="Arial"/>
              <a:sym typeface="Arial"/>
            </a:endParaRPr>
          </a:p>
        </p:txBody>
      </p:sp>
      <p:sp>
        <p:nvSpPr>
          <p:cNvPr id="340" name="Google Shape;340;p54"/>
          <p:cNvSpPr txBox="1"/>
          <p:nvPr/>
        </p:nvSpPr>
        <p:spPr>
          <a:xfrm>
            <a:off x="5630227" y="4300600"/>
            <a:ext cx="2469774" cy="738664"/>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Sr Mngmt expectations were not in alignment with core safety values</a:t>
            </a:r>
            <a:endParaRPr b="0" i="0" sz="1400" u="none" cap="none" strike="noStrike">
              <a:solidFill>
                <a:srgbClr val="000000"/>
              </a:solidFill>
              <a:latin typeface="Arial"/>
              <a:ea typeface="Arial"/>
              <a:cs typeface="Arial"/>
              <a:sym typeface="Arial"/>
            </a:endParaRPr>
          </a:p>
        </p:txBody>
      </p:sp>
      <p:cxnSp>
        <p:nvCxnSpPr>
          <p:cNvPr id="341" name="Google Shape;341;p54"/>
          <p:cNvCxnSpPr>
            <a:stCxn id="329" idx="2"/>
            <a:endCxn id="340" idx="0"/>
          </p:cNvCxnSpPr>
          <p:nvPr/>
        </p:nvCxnSpPr>
        <p:spPr>
          <a:xfrm>
            <a:off x="6865113" y="4129897"/>
            <a:ext cx="0" cy="170700"/>
          </a:xfrm>
          <a:prstGeom prst="straightConnector1">
            <a:avLst/>
          </a:prstGeom>
          <a:noFill/>
          <a:ln cap="flat" cmpd="sng" w="9525">
            <a:solidFill>
              <a:srgbClr val="000000"/>
            </a:solidFill>
            <a:prstDash val="solid"/>
            <a:miter lim="800000"/>
            <a:headEnd len="sm" w="sm" type="none"/>
            <a:tailEnd len="med" w="med" type="triangle"/>
          </a:ln>
        </p:spPr>
      </p:cxnSp>
      <p:cxnSp>
        <p:nvCxnSpPr>
          <p:cNvPr id="342" name="Google Shape;342;p54"/>
          <p:cNvCxnSpPr>
            <a:stCxn id="340" idx="2"/>
            <a:endCxn id="336" idx="0"/>
          </p:cNvCxnSpPr>
          <p:nvPr/>
        </p:nvCxnSpPr>
        <p:spPr>
          <a:xfrm>
            <a:off x="6865114" y="5039264"/>
            <a:ext cx="0" cy="195900"/>
          </a:xfrm>
          <a:prstGeom prst="straightConnector1">
            <a:avLst/>
          </a:prstGeom>
          <a:noFill/>
          <a:ln cap="flat" cmpd="sng" w="9525">
            <a:solidFill>
              <a:srgbClr val="000000"/>
            </a:solidFill>
            <a:prstDash val="solid"/>
            <a:miter lim="800000"/>
            <a:headEnd len="sm" w="sm" type="none"/>
            <a:tailEnd len="med" w="med" type="triangle"/>
          </a:ln>
        </p:spPr>
      </p:cxnSp>
      <p:sp>
        <p:nvSpPr>
          <p:cNvPr id="343" name="Google Shape;343;p54"/>
          <p:cNvSpPr/>
          <p:nvPr/>
        </p:nvSpPr>
        <p:spPr>
          <a:xfrm>
            <a:off x="4046226" y="4361410"/>
            <a:ext cx="1584000" cy="611386"/>
          </a:xfrm>
          <a:prstGeom prst="rightArrow">
            <a:avLst>
              <a:gd fmla="val 50000" name="adj1"/>
              <a:gd fmla="val 50000" name="adj2"/>
            </a:avLst>
          </a:prstGeom>
          <a:solidFill>
            <a:srgbClr val="FFFFFF"/>
          </a:solid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Arial"/>
                <a:ea typeface="Arial"/>
                <a:cs typeface="Arial"/>
                <a:sym typeface="Arial"/>
              </a:rPr>
              <a:t>Intermediate</a:t>
            </a:r>
            <a:endParaRPr b="0" i="0" sz="1400" u="none" cap="none" strike="noStrike">
              <a:solidFill>
                <a:srgbClr val="000000"/>
              </a:solidFill>
              <a:latin typeface="Arial"/>
              <a:ea typeface="Arial"/>
              <a:cs typeface="Arial"/>
              <a:sym typeface="Arial"/>
            </a:endParaRPr>
          </a:p>
        </p:txBody>
      </p:sp>
      <p:sp>
        <p:nvSpPr>
          <p:cNvPr id="344" name="Google Shape;344;p54"/>
          <p:cNvSpPr/>
          <p:nvPr/>
        </p:nvSpPr>
        <p:spPr>
          <a:xfrm>
            <a:off x="3808011" y="1849984"/>
            <a:ext cx="4779036" cy="4067952"/>
          </a:xfrm>
          <a:prstGeom prst="roundRect">
            <a:avLst>
              <a:gd fmla="val 7793" name="adj"/>
            </a:avLst>
          </a:prstGeom>
          <a:noFill/>
          <a:ln cap="flat" cmpd="sng" w="38100">
            <a:solidFill>
              <a:srgbClr val="0000FF"/>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FF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FF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FF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FF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FF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FF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FF0000"/>
              </a:solidFill>
              <a:latin typeface="Calibri"/>
              <a:ea typeface="Calibri"/>
              <a:cs typeface="Calibri"/>
              <a:sym typeface="Calibri"/>
            </a:endParaRPr>
          </a:p>
        </p:txBody>
      </p:sp>
      <p:sp>
        <p:nvSpPr>
          <p:cNvPr id="345" name="Google Shape;345;p54"/>
          <p:cNvSpPr txBox="1"/>
          <p:nvPr/>
        </p:nvSpPr>
        <p:spPr>
          <a:xfrm>
            <a:off x="1878676" y="5882532"/>
            <a:ext cx="680238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0000"/>
                </a:solidFill>
                <a:latin typeface="Calibri"/>
                <a:ea typeface="Calibri"/>
                <a:cs typeface="Calibri"/>
                <a:sym typeface="Calibri"/>
              </a:rPr>
              <a:t>** Is this an acceptable latent cause statement? We will revisit this!</a:t>
            </a:r>
            <a:endParaRPr b="0" i="0" sz="1800" u="none" cap="none" strike="noStrike">
              <a:solidFill>
                <a:srgbClr val="000000"/>
              </a:solidFill>
              <a:latin typeface="Arial"/>
              <a:ea typeface="Arial"/>
              <a:cs typeface="Arial"/>
              <a:sym typeface="Arial"/>
            </a:endParaRPr>
          </a:p>
        </p:txBody>
      </p:sp>
      <p:sp>
        <p:nvSpPr>
          <p:cNvPr id="346" name="Google Shape;346;p54"/>
          <p:cNvSpPr/>
          <p:nvPr/>
        </p:nvSpPr>
        <p:spPr>
          <a:xfrm>
            <a:off x="4007192" y="1840995"/>
            <a:ext cx="1584000" cy="576000"/>
          </a:xfrm>
          <a:prstGeom prst="rightArrow">
            <a:avLst>
              <a:gd fmla="val 50000" name="adj1"/>
              <a:gd fmla="val 50000" name="adj2"/>
            </a:avLst>
          </a:prstGeom>
          <a:solidFill>
            <a:srgbClr val="FFFFFF"/>
          </a:solid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Arial"/>
                <a:ea typeface="Arial"/>
                <a:cs typeface="Arial"/>
                <a:sym typeface="Arial"/>
              </a:rPr>
              <a:t>Basic Cause</a:t>
            </a:r>
            <a:endParaRPr b="0" i="0" sz="14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6"/>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353" name="Google Shape;353;p6"/>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sp>
        <p:nvSpPr>
          <p:cNvPr id="354" name="Google Shape;354;p6"/>
          <p:cNvSpPr txBox="1"/>
          <p:nvPr/>
        </p:nvSpPr>
        <p:spPr>
          <a:xfrm>
            <a:off x="324000" y="1817541"/>
            <a:ext cx="2160000" cy="738664"/>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BC-PF</a:t>
            </a:r>
            <a:r>
              <a:rPr b="0" i="0" lang="en-US" sz="1400" u="none" cap="none" strike="noStrike">
                <a:solidFill>
                  <a:srgbClr val="000000"/>
                </a:solidFill>
                <a:latin typeface="Arial"/>
                <a:ea typeface="Arial"/>
                <a:cs typeface="Arial"/>
                <a:sym typeface="Arial"/>
              </a:rPr>
              <a:t>: Worker was not aware of exclusion zone procedures</a:t>
            </a:r>
            <a:endParaRPr/>
          </a:p>
        </p:txBody>
      </p:sp>
      <p:sp>
        <p:nvSpPr>
          <p:cNvPr id="355" name="Google Shape;355;p6"/>
          <p:cNvSpPr txBox="1"/>
          <p:nvPr/>
        </p:nvSpPr>
        <p:spPr>
          <a:xfrm>
            <a:off x="2628000" y="1817541"/>
            <a:ext cx="2772000" cy="5400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IC-SP: Worker disregarded exclusion zone procedures</a:t>
            </a:r>
            <a:endParaRPr/>
          </a:p>
        </p:txBody>
      </p:sp>
      <p:cxnSp>
        <p:nvCxnSpPr>
          <p:cNvPr id="356" name="Google Shape;356;p6"/>
          <p:cNvCxnSpPr>
            <a:stCxn id="357" idx="2"/>
            <a:endCxn id="358" idx="0"/>
          </p:cNvCxnSpPr>
          <p:nvPr/>
        </p:nvCxnSpPr>
        <p:spPr>
          <a:xfrm flipH="1" rot="-5400000">
            <a:off x="5385450" y="20915"/>
            <a:ext cx="407100" cy="3186000"/>
          </a:xfrm>
          <a:prstGeom prst="bentConnector3">
            <a:avLst>
              <a:gd fmla="val 50009" name="adj1"/>
            </a:avLst>
          </a:prstGeom>
          <a:noFill/>
          <a:ln cap="flat" cmpd="sng" w="9525">
            <a:solidFill>
              <a:srgbClr val="000000"/>
            </a:solidFill>
            <a:prstDash val="solid"/>
            <a:miter lim="800000"/>
            <a:headEnd len="sm" w="sm" type="none"/>
            <a:tailEnd len="med" w="med" type="triangle"/>
          </a:ln>
        </p:spPr>
      </p:cxnSp>
      <p:cxnSp>
        <p:nvCxnSpPr>
          <p:cNvPr id="359" name="Google Shape;359;p6"/>
          <p:cNvCxnSpPr>
            <a:stCxn id="357" idx="2"/>
            <a:endCxn id="354" idx="0"/>
          </p:cNvCxnSpPr>
          <p:nvPr/>
        </p:nvCxnSpPr>
        <p:spPr>
          <a:xfrm rot="5400000">
            <a:off x="2496450" y="317915"/>
            <a:ext cx="407100" cy="2592000"/>
          </a:xfrm>
          <a:prstGeom prst="bentConnector3">
            <a:avLst>
              <a:gd fmla="val 50009" name="adj1"/>
            </a:avLst>
          </a:prstGeom>
          <a:noFill/>
          <a:ln cap="flat" cmpd="sng" w="9525">
            <a:solidFill>
              <a:srgbClr val="000000"/>
            </a:solidFill>
            <a:prstDash val="solid"/>
            <a:miter lim="800000"/>
            <a:headEnd len="sm" w="sm" type="none"/>
            <a:tailEnd len="med" w="med" type="triangle"/>
          </a:ln>
        </p:spPr>
      </p:cxnSp>
      <p:sp>
        <p:nvSpPr>
          <p:cNvPr id="358" name="Google Shape;358;p6"/>
          <p:cNvSpPr txBox="1"/>
          <p:nvPr/>
        </p:nvSpPr>
        <p:spPr>
          <a:xfrm>
            <a:off x="5580000" y="1817541"/>
            <a:ext cx="3204000" cy="5400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BC-PF: </a:t>
            </a:r>
            <a:r>
              <a:rPr b="0" i="0" lang="en-US" sz="1400" u="none" cap="none" strike="noStrike">
                <a:solidFill>
                  <a:srgbClr val="000000"/>
                </a:solidFill>
                <a:latin typeface="Arial"/>
                <a:ea typeface="Arial"/>
                <a:cs typeface="Arial"/>
                <a:sym typeface="Arial"/>
              </a:rPr>
              <a:t>Supervisor told Worker to go into the exclusion zone</a:t>
            </a:r>
            <a:endParaRPr/>
          </a:p>
        </p:txBody>
      </p:sp>
      <p:sp>
        <p:nvSpPr>
          <p:cNvPr id="360" name="Google Shape;360;p6"/>
          <p:cNvSpPr txBox="1"/>
          <p:nvPr/>
        </p:nvSpPr>
        <p:spPr>
          <a:xfrm>
            <a:off x="2628000" y="4194000"/>
            <a:ext cx="2772000" cy="5400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Procedures were not enforced through audits</a:t>
            </a:r>
            <a:endParaRPr/>
          </a:p>
        </p:txBody>
      </p:sp>
      <p:sp>
        <p:nvSpPr>
          <p:cNvPr id="361" name="Google Shape;361;p6"/>
          <p:cNvSpPr txBox="1"/>
          <p:nvPr/>
        </p:nvSpPr>
        <p:spPr>
          <a:xfrm>
            <a:off x="2628000" y="5058000"/>
            <a:ext cx="2772000" cy="738664"/>
          </a:xfrm>
          <a:prstGeom prst="rect">
            <a:avLst/>
          </a:prstGeom>
          <a:solidFill>
            <a:srgbClr val="FEE599"/>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LC2: The auditing program schedule did not include the exclusion zone procedures</a:t>
            </a:r>
            <a:endParaRPr/>
          </a:p>
        </p:txBody>
      </p:sp>
      <p:cxnSp>
        <p:nvCxnSpPr>
          <p:cNvPr id="362" name="Google Shape;362;p6"/>
          <p:cNvCxnSpPr>
            <a:stCxn id="357" idx="2"/>
            <a:endCxn id="355" idx="0"/>
          </p:cNvCxnSpPr>
          <p:nvPr/>
        </p:nvCxnSpPr>
        <p:spPr>
          <a:xfrm>
            <a:off x="3996000" y="1410365"/>
            <a:ext cx="18000" cy="407100"/>
          </a:xfrm>
          <a:prstGeom prst="straightConnector1">
            <a:avLst/>
          </a:prstGeom>
          <a:noFill/>
          <a:ln cap="flat" cmpd="sng" w="9525">
            <a:solidFill>
              <a:srgbClr val="000000"/>
            </a:solidFill>
            <a:prstDash val="solid"/>
            <a:miter lim="800000"/>
            <a:headEnd len="sm" w="sm" type="none"/>
            <a:tailEnd len="med" w="med" type="triangle"/>
          </a:ln>
        </p:spPr>
      </p:cxnSp>
      <p:sp>
        <p:nvSpPr>
          <p:cNvPr id="363" name="Google Shape;363;p6"/>
          <p:cNvSpPr/>
          <p:nvPr/>
        </p:nvSpPr>
        <p:spPr>
          <a:xfrm>
            <a:off x="3771059" y="1426654"/>
            <a:ext cx="437760" cy="324152"/>
          </a:xfrm>
          <a:prstGeom prst="flowChartPunchedTape">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262626"/>
              </a:solidFill>
              <a:latin typeface="Arial"/>
              <a:ea typeface="Arial"/>
              <a:cs typeface="Arial"/>
              <a:sym typeface="Arial"/>
            </a:endParaRPr>
          </a:p>
        </p:txBody>
      </p:sp>
      <p:sp>
        <p:nvSpPr>
          <p:cNvPr id="364" name="Google Shape;364;p6"/>
          <p:cNvSpPr txBox="1"/>
          <p:nvPr/>
        </p:nvSpPr>
        <p:spPr>
          <a:xfrm>
            <a:off x="5580000" y="4194000"/>
            <a:ext cx="3204000" cy="5400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Sr Mngmt expectations were not in alignment with core safety values</a:t>
            </a:r>
            <a:endParaRPr/>
          </a:p>
        </p:txBody>
      </p:sp>
      <p:sp>
        <p:nvSpPr>
          <p:cNvPr id="365" name="Google Shape;365;p6"/>
          <p:cNvSpPr txBox="1"/>
          <p:nvPr/>
        </p:nvSpPr>
        <p:spPr>
          <a:xfrm>
            <a:off x="5580000" y="2480593"/>
            <a:ext cx="3204000" cy="5232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BC-</a:t>
            </a:r>
            <a:r>
              <a:rPr b="1" lang="en-US"/>
              <a:t>J</a:t>
            </a:r>
            <a:r>
              <a:rPr b="1" i="0" lang="en-US" sz="1400" u="none" cap="none" strike="noStrike">
                <a:solidFill>
                  <a:srgbClr val="000000"/>
                </a:solidFill>
                <a:latin typeface="Arial"/>
                <a:ea typeface="Arial"/>
                <a:cs typeface="Arial"/>
                <a:sym typeface="Arial"/>
              </a:rPr>
              <a:t>F: </a:t>
            </a:r>
            <a:r>
              <a:rPr b="0" i="0" lang="en-US" sz="1400" u="none" cap="none" strike="noStrike">
                <a:solidFill>
                  <a:srgbClr val="000000"/>
                </a:solidFill>
                <a:latin typeface="Arial"/>
                <a:ea typeface="Arial"/>
                <a:cs typeface="Arial"/>
                <a:sym typeface="Arial"/>
              </a:rPr>
              <a:t>Supervisor prioritized production over safety</a:t>
            </a:r>
            <a:endParaRPr/>
          </a:p>
        </p:txBody>
      </p:sp>
      <p:sp>
        <p:nvSpPr>
          <p:cNvPr id="366" name="Google Shape;366;p6"/>
          <p:cNvSpPr txBox="1"/>
          <p:nvPr/>
        </p:nvSpPr>
        <p:spPr>
          <a:xfrm>
            <a:off x="5580000" y="5058000"/>
            <a:ext cx="3204000" cy="738664"/>
          </a:xfrm>
          <a:prstGeom prst="rect">
            <a:avLst/>
          </a:prstGeom>
          <a:solidFill>
            <a:srgbClr val="FEE599"/>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LC3: Core Safety Values Communications Program was inadequate. **</a:t>
            </a:r>
            <a:endParaRPr/>
          </a:p>
        </p:txBody>
      </p:sp>
      <p:sp>
        <p:nvSpPr>
          <p:cNvPr id="367" name="Google Shape;367;p6"/>
          <p:cNvSpPr txBox="1"/>
          <p:nvPr/>
        </p:nvSpPr>
        <p:spPr>
          <a:xfrm>
            <a:off x="324000" y="5058000"/>
            <a:ext cx="2160000" cy="738664"/>
          </a:xfrm>
          <a:prstGeom prst="rect">
            <a:avLst/>
          </a:prstGeom>
          <a:solidFill>
            <a:srgbClr val="FEE599"/>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LC1: There was no training program for mining operations.</a:t>
            </a:r>
            <a:endParaRPr/>
          </a:p>
        </p:txBody>
      </p:sp>
      <p:sp>
        <p:nvSpPr>
          <p:cNvPr id="368" name="Google Shape;368;p6"/>
          <p:cNvSpPr txBox="1"/>
          <p:nvPr/>
        </p:nvSpPr>
        <p:spPr>
          <a:xfrm>
            <a:off x="324000" y="4194000"/>
            <a:ext cx="2160000" cy="738664"/>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BC-JF: Worker was not trained on those procedures</a:t>
            </a:r>
            <a:endParaRPr b="1" i="0" sz="1400" u="none" cap="none" strike="noStrike">
              <a:solidFill>
                <a:srgbClr val="000000"/>
              </a:solidFill>
              <a:latin typeface="Arial"/>
              <a:ea typeface="Arial"/>
              <a:cs typeface="Arial"/>
              <a:sym typeface="Arial"/>
            </a:endParaRPr>
          </a:p>
        </p:txBody>
      </p:sp>
      <p:sp>
        <p:nvSpPr>
          <p:cNvPr id="369" name="Google Shape;369;p6"/>
          <p:cNvSpPr txBox="1"/>
          <p:nvPr/>
        </p:nvSpPr>
        <p:spPr>
          <a:xfrm>
            <a:off x="324785" y="826708"/>
            <a:ext cx="926377" cy="523220"/>
          </a:xfrm>
          <a:prstGeom prst="rect">
            <a:avLst/>
          </a:prstGeom>
          <a:solidFill>
            <a:srgbClr val="FEE599"/>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Latent Causes</a:t>
            </a:r>
            <a:endParaRPr/>
          </a:p>
        </p:txBody>
      </p:sp>
      <p:sp>
        <p:nvSpPr>
          <p:cNvPr id="370" name="Google Shape;370;p6"/>
          <p:cNvSpPr txBox="1"/>
          <p:nvPr/>
        </p:nvSpPr>
        <p:spPr>
          <a:xfrm>
            <a:off x="5580000" y="5778000"/>
            <a:ext cx="3204000" cy="252000"/>
          </a:xfrm>
          <a:prstGeom prst="rect">
            <a:avLst/>
          </a:prstGeom>
          <a:solidFill>
            <a:srgbClr val="FFFFFF"/>
          </a:solidFill>
          <a:ln cap="flat" cmpd="sng" w="9525">
            <a:solidFill>
              <a:srgbClr val="FF0000"/>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lnSpc>
                <a:spcPct val="100000"/>
              </a:lnSpc>
              <a:spcBef>
                <a:spcPts val="0"/>
              </a:spcBef>
              <a:spcAft>
                <a:spcPts val="0"/>
              </a:spcAft>
              <a:buClr>
                <a:srgbClr val="FF0000"/>
              </a:buClr>
              <a:buSzPts val="1400"/>
              <a:buFont typeface="Arial"/>
              <a:buNone/>
            </a:pPr>
            <a:r>
              <a:rPr b="0" i="0" lang="en-US" sz="1400" u="none" cap="none" strike="noStrike">
                <a:solidFill>
                  <a:srgbClr val="FF0000"/>
                </a:solidFill>
                <a:latin typeface="Arial"/>
                <a:ea typeface="Arial"/>
                <a:cs typeface="Arial"/>
                <a:sym typeface="Arial"/>
              </a:rPr>
              <a:t>RME #1 MLCA</a:t>
            </a:r>
            <a:endParaRPr/>
          </a:p>
        </p:txBody>
      </p:sp>
      <p:sp>
        <p:nvSpPr>
          <p:cNvPr id="371" name="Google Shape;371;p6"/>
          <p:cNvSpPr txBox="1"/>
          <p:nvPr/>
        </p:nvSpPr>
        <p:spPr>
          <a:xfrm>
            <a:off x="324000" y="5778000"/>
            <a:ext cx="2160000" cy="252000"/>
          </a:xfrm>
          <a:prstGeom prst="rect">
            <a:avLst/>
          </a:prstGeom>
          <a:solidFill>
            <a:srgbClr val="FFFFFF"/>
          </a:solidFill>
          <a:ln cap="flat" cmpd="sng" w="9525">
            <a:solidFill>
              <a:srgbClr val="FF0000"/>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lnSpc>
                <a:spcPct val="100000"/>
              </a:lnSpc>
              <a:spcBef>
                <a:spcPts val="0"/>
              </a:spcBef>
              <a:spcAft>
                <a:spcPts val="0"/>
              </a:spcAft>
              <a:buClr>
                <a:srgbClr val="FF0000"/>
              </a:buClr>
              <a:buSzPts val="1400"/>
              <a:buFont typeface="Arial"/>
              <a:buNone/>
            </a:pPr>
            <a:r>
              <a:rPr b="0" i="0" lang="en-US" sz="1400" u="none" cap="none" strike="noStrike">
                <a:solidFill>
                  <a:srgbClr val="FF0000"/>
                </a:solidFill>
                <a:latin typeface="Arial"/>
                <a:ea typeface="Arial"/>
                <a:cs typeface="Arial"/>
                <a:sym typeface="Arial"/>
              </a:rPr>
              <a:t>RME #9 ECT</a:t>
            </a:r>
            <a:endParaRPr/>
          </a:p>
        </p:txBody>
      </p:sp>
      <p:sp>
        <p:nvSpPr>
          <p:cNvPr id="372" name="Google Shape;372;p6"/>
          <p:cNvSpPr txBox="1"/>
          <p:nvPr/>
        </p:nvSpPr>
        <p:spPr>
          <a:xfrm>
            <a:off x="2628000" y="5778000"/>
            <a:ext cx="2772000" cy="252000"/>
          </a:xfrm>
          <a:prstGeom prst="rect">
            <a:avLst/>
          </a:prstGeom>
          <a:solidFill>
            <a:srgbClr val="FFFFFF"/>
          </a:solidFill>
          <a:ln cap="flat" cmpd="sng" w="9525">
            <a:solidFill>
              <a:srgbClr val="FF0000"/>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lnSpc>
                <a:spcPct val="100000"/>
              </a:lnSpc>
              <a:spcBef>
                <a:spcPts val="0"/>
              </a:spcBef>
              <a:spcAft>
                <a:spcPts val="0"/>
              </a:spcAft>
              <a:buClr>
                <a:srgbClr val="FF0000"/>
              </a:buClr>
              <a:buSzPts val="1400"/>
              <a:buFont typeface="Arial"/>
              <a:buNone/>
            </a:pPr>
            <a:r>
              <a:rPr b="0" i="0" lang="en-US" sz="1400" u="none" cap="none" strike="noStrike">
                <a:solidFill>
                  <a:srgbClr val="FF0000"/>
                </a:solidFill>
                <a:latin typeface="Arial"/>
                <a:ea typeface="Arial"/>
                <a:cs typeface="Arial"/>
                <a:sym typeface="Arial"/>
              </a:rPr>
              <a:t>RME #6 PECI</a:t>
            </a:r>
            <a:endParaRPr/>
          </a:p>
        </p:txBody>
      </p:sp>
      <p:cxnSp>
        <p:nvCxnSpPr>
          <p:cNvPr id="373" name="Google Shape;373;p6"/>
          <p:cNvCxnSpPr>
            <a:stCxn id="358" idx="2"/>
            <a:endCxn id="365" idx="0"/>
          </p:cNvCxnSpPr>
          <p:nvPr/>
        </p:nvCxnSpPr>
        <p:spPr>
          <a:xfrm>
            <a:off x="7182000" y="2357541"/>
            <a:ext cx="0" cy="123000"/>
          </a:xfrm>
          <a:prstGeom prst="straightConnector1">
            <a:avLst/>
          </a:prstGeom>
          <a:noFill/>
          <a:ln cap="flat" cmpd="sng" w="9525">
            <a:solidFill>
              <a:srgbClr val="000000"/>
            </a:solidFill>
            <a:prstDash val="solid"/>
            <a:miter lim="800000"/>
            <a:headEnd len="sm" w="sm" type="none"/>
            <a:tailEnd len="med" w="med" type="triangle"/>
          </a:ln>
        </p:spPr>
      </p:cxnSp>
      <p:cxnSp>
        <p:nvCxnSpPr>
          <p:cNvPr id="374" name="Google Shape;374;p6"/>
          <p:cNvCxnSpPr>
            <a:stCxn id="365" idx="2"/>
            <a:endCxn id="364" idx="0"/>
          </p:cNvCxnSpPr>
          <p:nvPr/>
        </p:nvCxnSpPr>
        <p:spPr>
          <a:xfrm>
            <a:off x="7182000" y="3003793"/>
            <a:ext cx="0" cy="1190100"/>
          </a:xfrm>
          <a:prstGeom prst="straightConnector1">
            <a:avLst/>
          </a:prstGeom>
          <a:noFill/>
          <a:ln cap="flat" cmpd="sng" w="9525">
            <a:solidFill>
              <a:srgbClr val="000000"/>
            </a:solidFill>
            <a:prstDash val="solid"/>
            <a:miter lim="800000"/>
            <a:headEnd len="sm" w="sm" type="none"/>
            <a:tailEnd len="med" w="med" type="triangle"/>
          </a:ln>
        </p:spPr>
      </p:cxnSp>
      <p:cxnSp>
        <p:nvCxnSpPr>
          <p:cNvPr id="375" name="Google Shape;375;p6"/>
          <p:cNvCxnSpPr>
            <a:stCxn id="364" idx="2"/>
            <a:endCxn id="366" idx="0"/>
          </p:cNvCxnSpPr>
          <p:nvPr/>
        </p:nvCxnSpPr>
        <p:spPr>
          <a:xfrm>
            <a:off x="7182000" y="4734000"/>
            <a:ext cx="0" cy="324000"/>
          </a:xfrm>
          <a:prstGeom prst="straightConnector1">
            <a:avLst/>
          </a:prstGeom>
          <a:noFill/>
          <a:ln cap="flat" cmpd="sng" w="9525">
            <a:solidFill>
              <a:srgbClr val="000000"/>
            </a:solidFill>
            <a:prstDash val="solid"/>
            <a:miter lim="800000"/>
            <a:headEnd len="sm" w="sm" type="none"/>
            <a:tailEnd len="med" w="med" type="triangle"/>
          </a:ln>
        </p:spPr>
      </p:cxnSp>
      <p:cxnSp>
        <p:nvCxnSpPr>
          <p:cNvPr id="376" name="Google Shape;376;p6"/>
          <p:cNvCxnSpPr>
            <a:stCxn id="360" idx="2"/>
            <a:endCxn id="361" idx="0"/>
          </p:cNvCxnSpPr>
          <p:nvPr/>
        </p:nvCxnSpPr>
        <p:spPr>
          <a:xfrm>
            <a:off x="4014000" y="4734000"/>
            <a:ext cx="0" cy="324000"/>
          </a:xfrm>
          <a:prstGeom prst="straightConnector1">
            <a:avLst/>
          </a:prstGeom>
          <a:noFill/>
          <a:ln cap="flat" cmpd="sng" w="9525">
            <a:solidFill>
              <a:srgbClr val="000000"/>
            </a:solidFill>
            <a:prstDash val="solid"/>
            <a:miter lim="800000"/>
            <a:headEnd len="sm" w="sm" type="none"/>
            <a:tailEnd len="med" w="med" type="triangle"/>
          </a:ln>
        </p:spPr>
      </p:cxnSp>
      <p:cxnSp>
        <p:nvCxnSpPr>
          <p:cNvPr id="377" name="Google Shape;377;p6"/>
          <p:cNvCxnSpPr>
            <a:stCxn id="355" idx="2"/>
            <a:endCxn id="360" idx="0"/>
          </p:cNvCxnSpPr>
          <p:nvPr/>
        </p:nvCxnSpPr>
        <p:spPr>
          <a:xfrm>
            <a:off x="4014000" y="2357541"/>
            <a:ext cx="0" cy="1836600"/>
          </a:xfrm>
          <a:prstGeom prst="straightConnector1">
            <a:avLst/>
          </a:prstGeom>
          <a:noFill/>
          <a:ln cap="flat" cmpd="sng" w="9525">
            <a:solidFill>
              <a:srgbClr val="000000"/>
            </a:solidFill>
            <a:prstDash val="solid"/>
            <a:miter lim="800000"/>
            <a:headEnd len="sm" w="sm" type="none"/>
            <a:tailEnd len="med" w="med" type="triangle"/>
          </a:ln>
        </p:spPr>
      </p:cxnSp>
      <p:cxnSp>
        <p:nvCxnSpPr>
          <p:cNvPr id="378" name="Google Shape;378;p6"/>
          <p:cNvCxnSpPr>
            <a:stCxn id="354" idx="2"/>
            <a:endCxn id="368" idx="0"/>
          </p:cNvCxnSpPr>
          <p:nvPr/>
        </p:nvCxnSpPr>
        <p:spPr>
          <a:xfrm>
            <a:off x="1404000" y="2556205"/>
            <a:ext cx="0" cy="1637700"/>
          </a:xfrm>
          <a:prstGeom prst="straightConnector1">
            <a:avLst/>
          </a:prstGeom>
          <a:noFill/>
          <a:ln cap="flat" cmpd="sng" w="9525">
            <a:solidFill>
              <a:srgbClr val="000000"/>
            </a:solidFill>
            <a:prstDash val="solid"/>
            <a:miter lim="800000"/>
            <a:headEnd len="sm" w="sm" type="none"/>
            <a:tailEnd len="med" w="med" type="triangle"/>
          </a:ln>
        </p:spPr>
      </p:cxnSp>
      <p:cxnSp>
        <p:nvCxnSpPr>
          <p:cNvPr id="379" name="Google Shape;379;p6"/>
          <p:cNvCxnSpPr>
            <a:stCxn id="368" idx="2"/>
            <a:endCxn id="367" idx="0"/>
          </p:cNvCxnSpPr>
          <p:nvPr/>
        </p:nvCxnSpPr>
        <p:spPr>
          <a:xfrm>
            <a:off x="1404000" y="4932664"/>
            <a:ext cx="0" cy="125400"/>
          </a:xfrm>
          <a:prstGeom prst="straightConnector1">
            <a:avLst/>
          </a:prstGeom>
          <a:noFill/>
          <a:ln cap="flat" cmpd="sng" w="9525">
            <a:solidFill>
              <a:srgbClr val="000000"/>
            </a:solidFill>
            <a:prstDash val="solid"/>
            <a:miter lim="800000"/>
            <a:headEnd len="sm" w="sm" type="none"/>
            <a:tailEnd len="med" w="med" type="triangle"/>
          </a:ln>
        </p:spPr>
      </p:cxnSp>
      <p:sp>
        <p:nvSpPr>
          <p:cNvPr id="380" name="Google Shape;380;p6"/>
          <p:cNvSpPr txBox="1"/>
          <p:nvPr/>
        </p:nvSpPr>
        <p:spPr>
          <a:xfrm>
            <a:off x="1656000" y="136086"/>
            <a:ext cx="4680000" cy="307777"/>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Debris fell, injuring one Worker &amp; damaged equipment</a:t>
            </a:r>
            <a:endParaRPr/>
          </a:p>
        </p:txBody>
      </p:sp>
      <p:sp>
        <p:nvSpPr>
          <p:cNvPr id="381" name="Google Shape;381;p6"/>
          <p:cNvSpPr txBox="1"/>
          <p:nvPr/>
        </p:nvSpPr>
        <p:spPr>
          <a:xfrm>
            <a:off x="1656000" y="616886"/>
            <a:ext cx="4680000" cy="307777"/>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IC-SC: Equipment &amp; Worker Were In Exclusion Zone</a:t>
            </a:r>
            <a:endParaRPr/>
          </a:p>
        </p:txBody>
      </p:sp>
      <p:sp>
        <p:nvSpPr>
          <p:cNvPr id="357" name="Google Shape;357;p6"/>
          <p:cNvSpPr txBox="1"/>
          <p:nvPr/>
        </p:nvSpPr>
        <p:spPr>
          <a:xfrm>
            <a:off x="1656000" y="1102588"/>
            <a:ext cx="4680000" cy="307777"/>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IC-SP: Worker did not follow exclusion zone procedures</a:t>
            </a:r>
            <a:endParaRPr/>
          </a:p>
        </p:txBody>
      </p:sp>
      <p:cxnSp>
        <p:nvCxnSpPr>
          <p:cNvPr id="382" name="Google Shape;382;p6"/>
          <p:cNvCxnSpPr>
            <a:stCxn id="381" idx="2"/>
            <a:endCxn id="357" idx="0"/>
          </p:cNvCxnSpPr>
          <p:nvPr/>
        </p:nvCxnSpPr>
        <p:spPr>
          <a:xfrm>
            <a:off x="3996000" y="924663"/>
            <a:ext cx="0" cy="177900"/>
          </a:xfrm>
          <a:prstGeom prst="straightConnector1">
            <a:avLst/>
          </a:prstGeom>
          <a:noFill/>
          <a:ln cap="flat" cmpd="sng" w="9525">
            <a:solidFill>
              <a:srgbClr val="000000"/>
            </a:solidFill>
            <a:prstDash val="solid"/>
            <a:miter lim="800000"/>
            <a:headEnd len="sm" w="sm" type="none"/>
            <a:tailEnd len="med" w="med" type="triangle"/>
          </a:ln>
        </p:spPr>
      </p:cxnSp>
      <p:cxnSp>
        <p:nvCxnSpPr>
          <p:cNvPr id="383" name="Google Shape;383;p6"/>
          <p:cNvCxnSpPr>
            <a:stCxn id="380" idx="2"/>
            <a:endCxn id="381" idx="0"/>
          </p:cNvCxnSpPr>
          <p:nvPr/>
        </p:nvCxnSpPr>
        <p:spPr>
          <a:xfrm>
            <a:off x="3996000" y="443863"/>
            <a:ext cx="0" cy="173100"/>
          </a:xfrm>
          <a:prstGeom prst="straightConnector1">
            <a:avLst/>
          </a:prstGeom>
          <a:noFill/>
          <a:ln cap="flat" cmpd="sng" w="9525">
            <a:solidFill>
              <a:srgbClr val="000000"/>
            </a:solidFill>
            <a:prstDash val="solid"/>
            <a:miter lim="800000"/>
            <a:headEnd len="sm" w="sm" type="none"/>
            <a:tailEnd len="med" w="med" type="triangle"/>
          </a:ln>
        </p:spPr>
      </p:cxnSp>
      <p:sp>
        <p:nvSpPr>
          <p:cNvPr id="384" name="Google Shape;384;p6"/>
          <p:cNvSpPr txBox="1"/>
          <p:nvPr/>
        </p:nvSpPr>
        <p:spPr>
          <a:xfrm>
            <a:off x="324000" y="182828"/>
            <a:ext cx="926377" cy="52322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Basic Causes</a:t>
            </a:r>
            <a:endParaRPr/>
          </a:p>
        </p:txBody>
      </p:sp>
      <p:sp>
        <p:nvSpPr>
          <p:cNvPr id="385" name="Google Shape;385;p6"/>
          <p:cNvSpPr txBox="1"/>
          <p:nvPr/>
        </p:nvSpPr>
        <p:spPr>
          <a:xfrm>
            <a:off x="5630226" y="3289898"/>
            <a:ext cx="3153774" cy="52322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Supervisor believed that production was paramount over safety</a:t>
            </a:r>
            <a:endParaRPr/>
          </a:p>
        </p:txBody>
      </p:sp>
      <p:sp>
        <p:nvSpPr>
          <p:cNvPr id="386" name="Google Shape;386;p6"/>
          <p:cNvSpPr/>
          <p:nvPr/>
        </p:nvSpPr>
        <p:spPr>
          <a:xfrm rot="1728864">
            <a:off x="6649789" y="687653"/>
            <a:ext cx="2180423" cy="695265"/>
          </a:xfrm>
          <a:prstGeom prst="doubleWave">
            <a:avLst>
              <a:gd fmla="val 6250" name="adj1"/>
              <a:gd fmla="val 0" name="adj2"/>
            </a:avLst>
          </a:prstGeom>
          <a:solidFill>
            <a:srgbClr val="00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The RCA Chart </a:t>
            </a:r>
            <a:br>
              <a:rPr b="0" i="0" lang="en-US" sz="1400" u="none" cap="none" strike="noStrike">
                <a:solidFill>
                  <a:srgbClr val="000000"/>
                </a:solidFill>
                <a:latin typeface="Calibri"/>
                <a:ea typeface="Calibri"/>
                <a:cs typeface="Calibri"/>
                <a:sym typeface="Calibri"/>
              </a:rPr>
            </a:br>
            <a:r>
              <a:rPr b="0" i="0" lang="en-US" sz="1400" u="none" cap="none" strike="noStrike">
                <a:solidFill>
                  <a:srgbClr val="000000"/>
                </a:solidFill>
                <a:latin typeface="Calibri"/>
                <a:ea typeface="Calibri"/>
                <a:cs typeface="Calibri"/>
                <a:sym typeface="Calibri"/>
              </a:rPr>
              <a:t>is developed!</a:t>
            </a:r>
            <a:endParaRPr/>
          </a:p>
        </p:txBody>
      </p:sp>
      <p:sp>
        <p:nvSpPr>
          <p:cNvPr id="387" name="Google Shape;387;p6"/>
          <p:cNvSpPr/>
          <p:nvPr/>
        </p:nvSpPr>
        <p:spPr>
          <a:xfrm>
            <a:off x="1618789" y="2840965"/>
            <a:ext cx="2180423" cy="981551"/>
          </a:xfrm>
          <a:prstGeom prst="doubleWave">
            <a:avLst>
              <a:gd fmla="val 6250" name="adj1"/>
              <a:gd fmla="val 0" name="adj2"/>
            </a:avLst>
          </a:prstGeom>
          <a:solidFill>
            <a:srgbClr val="00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Improvements! Creating an RCA Chart is an iterative and collaborative activity!</a:t>
            </a:r>
            <a:endParaRPr/>
          </a:p>
        </p:txBody>
      </p:sp>
      <p:cxnSp>
        <p:nvCxnSpPr>
          <p:cNvPr id="388" name="Google Shape;388;p6"/>
          <p:cNvCxnSpPr>
            <a:stCxn id="387" idx="0"/>
          </p:cNvCxnSpPr>
          <p:nvPr/>
        </p:nvCxnSpPr>
        <p:spPr>
          <a:xfrm flipH="1" rot="10800000">
            <a:off x="2709000" y="2359612"/>
            <a:ext cx="1040100" cy="542700"/>
          </a:xfrm>
          <a:prstGeom prst="straightConnector1">
            <a:avLst/>
          </a:prstGeom>
          <a:noFill/>
          <a:ln cap="flat" cmpd="sng" w="57150">
            <a:solidFill>
              <a:srgbClr val="00FFFF"/>
            </a:solidFill>
            <a:prstDash val="solid"/>
            <a:round/>
            <a:headEnd len="sm" w="sm" type="none"/>
            <a:tailEnd len="med" w="med" type="triangle"/>
          </a:ln>
        </p:spPr>
      </p:cxnSp>
      <p:cxnSp>
        <p:nvCxnSpPr>
          <p:cNvPr id="389" name="Google Shape;389;p6"/>
          <p:cNvCxnSpPr>
            <a:stCxn id="387" idx="3"/>
            <a:endCxn id="365" idx="1"/>
          </p:cNvCxnSpPr>
          <p:nvPr/>
        </p:nvCxnSpPr>
        <p:spPr>
          <a:xfrm flipH="1" rot="10800000">
            <a:off x="3799212" y="2742241"/>
            <a:ext cx="1780800" cy="589500"/>
          </a:xfrm>
          <a:prstGeom prst="straightConnector1">
            <a:avLst/>
          </a:prstGeom>
          <a:noFill/>
          <a:ln cap="flat" cmpd="sng" w="57150">
            <a:solidFill>
              <a:srgbClr val="00FFFF"/>
            </a:solidFill>
            <a:prstDash val="solid"/>
            <a:round/>
            <a:headEnd len="sm" w="sm" type="none"/>
            <a:tailEnd len="med" w="med" type="triangle"/>
          </a:ln>
        </p:spPr>
      </p:cxnSp>
      <p:cxnSp>
        <p:nvCxnSpPr>
          <p:cNvPr id="390" name="Google Shape;390;p6"/>
          <p:cNvCxnSpPr>
            <a:stCxn id="387" idx="2"/>
          </p:cNvCxnSpPr>
          <p:nvPr/>
        </p:nvCxnSpPr>
        <p:spPr>
          <a:xfrm flipH="1">
            <a:off x="1566001" y="3761169"/>
            <a:ext cx="1143000" cy="432900"/>
          </a:xfrm>
          <a:prstGeom prst="straightConnector1">
            <a:avLst/>
          </a:prstGeom>
          <a:noFill/>
          <a:ln cap="flat" cmpd="sng" w="57150">
            <a:solidFill>
              <a:srgbClr val="00FFFF"/>
            </a:solidFill>
            <a:prstDash val="solid"/>
            <a:round/>
            <a:headEnd len="sm" w="sm" type="none"/>
            <a:tailEnd len="med" w="med" type="triangle"/>
          </a:ln>
        </p:spPr>
      </p:cxnSp>
      <p:cxnSp>
        <p:nvCxnSpPr>
          <p:cNvPr id="391" name="Google Shape;391;p6"/>
          <p:cNvCxnSpPr>
            <a:stCxn id="387" idx="3"/>
          </p:cNvCxnSpPr>
          <p:nvPr/>
        </p:nvCxnSpPr>
        <p:spPr>
          <a:xfrm>
            <a:off x="3799212" y="3331741"/>
            <a:ext cx="2094600" cy="862200"/>
          </a:xfrm>
          <a:prstGeom prst="straightConnector1">
            <a:avLst/>
          </a:prstGeom>
          <a:noFill/>
          <a:ln cap="flat" cmpd="sng" w="57150">
            <a:solidFill>
              <a:srgbClr val="00FFFF"/>
            </a:solidFill>
            <a:prstDash val="solid"/>
            <a:round/>
            <a:headEnd len="sm" w="sm" type="none"/>
            <a:tailEnd len="med" w="med" type="triangle"/>
          </a:ln>
        </p:spPr>
      </p:cxnSp>
      <p:cxnSp>
        <p:nvCxnSpPr>
          <p:cNvPr id="392" name="Google Shape;392;p6"/>
          <p:cNvCxnSpPr>
            <a:stCxn id="387" idx="2"/>
          </p:cNvCxnSpPr>
          <p:nvPr/>
        </p:nvCxnSpPr>
        <p:spPr>
          <a:xfrm>
            <a:off x="2709001" y="3761169"/>
            <a:ext cx="1414200" cy="432900"/>
          </a:xfrm>
          <a:prstGeom prst="straightConnector1">
            <a:avLst/>
          </a:prstGeom>
          <a:noFill/>
          <a:ln cap="flat" cmpd="sng" w="57150">
            <a:solidFill>
              <a:srgbClr val="00FFFF"/>
            </a:solidFill>
            <a:prstDash val="solid"/>
            <a:round/>
            <a:headEnd len="sm" w="sm" type="none"/>
            <a:tailEnd len="med" w="med" type="triangle"/>
          </a:ln>
        </p:spPr>
      </p:cxnSp>
      <p:cxnSp>
        <p:nvCxnSpPr>
          <p:cNvPr id="393" name="Google Shape;393;p6"/>
          <p:cNvCxnSpPr>
            <a:stCxn id="387" idx="3"/>
            <a:endCxn id="385" idx="1"/>
          </p:cNvCxnSpPr>
          <p:nvPr/>
        </p:nvCxnSpPr>
        <p:spPr>
          <a:xfrm>
            <a:off x="3799212" y="3331741"/>
            <a:ext cx="1830900" cy="219900"/>
          </a:xfrm>
          <a:prstGeom prst="straightConnector1">
            <a:avLst/>
          </a:prstGeom>
          <a:noFill/>
          <a:ln cap="flat" cmpd="sng" w="57150">
            <a:solidFill>
              <a:srgbClr val="00FFFF"/>
            </a:solidFill>
            <a:prstDash val="solid"/>
            <a:round/>
            <a:headEnd len="sm" w="sm" type="none"/>
            <a:tailEnd len="med" w="med" type="triangle"/>
          </a:ln>
        </p:spPr>
      </p:cxn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13"/>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400" name="Google Shape;400;p13"/>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Latent Causes and the Risk Management System Elements:</a:t>
            </a:r>
            <a:endParaRPr b="0" i="0" sz="1400" u="none" cap="none" strike="noStrike">
              <a:solidFill>
                <a:srgbClr val="000000"/>
              </a:solidFill>
              <a:latin typeface="Arial"/>
              <a:ea typeface="Arial"/>
              <a:cs typeface="Arial"/>
              <a:sym typeface="Arial"/>
            </a:endParaRPr>
          </a:p>
        </p:txBody>
      </p:sp>
      <p:sp>
        <p:nvSpPr>
          <p:cNvPr id="401" name="Google Shape;401;p13"/>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402" name="Google Shape;402;p13"/>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sp>
        <p:nvSpPr>
          <p:cNvPr id="403" name="Google Shape;403;p13"/>
          <p:cNvSpPr/>
          <p:nvPr/>
        </p:nvSpPr>
        <p:spPr>
          <a:xfrm>
            <a:off x="457200" y="1061760"/>
            <a:ext cx="8229600" cy="4968240"/>
          </a:xfrm>
          <a:prstGeom prst="rect">
            <a:avLst/>
          </a:prstGeom>
          <a:solidFill>
            <a:srgbClr val="5B9BD5">
              <a:alpha val="69019"/>
            </a:srgbClr>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330200" lvl="0" marL="457200" marR="0" rtl="0" algn="l">
              <a:lnSpc>
                <a:spcPct val="11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30200" lvl="0" marL="457200" marR="0" rtl="0" algn="l">
              <a:lnSpc>
                <a:spcPct val="11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p:txBody>
      </p:sp>
      <p:pic>
        <p:nvPicPr>
          <p:cNvPr id="404" name="Google Shape;404;p13"/>
          <p:cNvPicPr preferRelativeResize="0"/>
          <p:nvPr/>
        </p:nvPicPr>
        <p:blipFill rotWithShape="1">
          <a:blip r:embed="rId3">
            <a:alphaModFix/>
          </a:blip>
          <a:srcRect b="53455" l="69814" r="0" t="0"/>
          <a:stretch/>
        </p:blipFill>
        <p:spPr>
          <a:xfrm>
            <a:off x="597154" y="1109886"/>
            <a:ext cx="4100102" cy="4871988"/>
          </a:xfrm>
          <a:prstGeom prst="rect">
            <a:avLst/>
          </a:prstGeom>
          <a:noFill/>
          <a:ln>
            <a:noFill/>
          </a:ln>
        </p:spPr>
      </p:pic>
      <p:pic>
        <p:nvPicPr>
          <p:cNvPr id="405" name="Google Shape;405;p13"/>
          <p:cNvPicPr preferRelativeResize="0"/>
          <p:nvPr/>
        </p:nvPicPr>
        <p:blipFill rotWithShape="1">
          <a:blip r:embed="rId4">
            <a:alphaModFix/>
          </a:blip>
          <a:srcRect b="0" l="0" r="0" t="0"/>
          <a:stretch/>
        </p:blipFill>
        <p:spPr>
          <a:xfrm flipH="1">
            <a:off x="2369249" y="996110"/>
            <a:ext cx="2467961" cy="2451453"/>
          </a:xfrm>
          <a:prstGeom prst="rect">
            <a:avLst/>
          </a:prstGeom>
          <a:noFill/>
          <a:ln>
            <a:noFill/>
          </a:ln>
        </p:spPr>
      </p:pic>
      <p:sp>
        <p:nvSpPr>
          <p:cNvPr id="406" name="Google Shape;406;p13"/>
          <p:cNvSpPr/>
          <p:nvPr/>
        </p:nvSpPr>
        <p:spPr>
          <a:xfrm rot="5400000">
            <a:off x="5156327" y="1199842"/>
            <a:ext cx="1133859" cy="1772095"/>
          </a:xfrm>
          <a:prstGeom prst="bentArrow">
            <a:avLst>
              <a:gd fmla="val 25000" name="adj1"/>
              <a:gd fmla="val 25000" name="adj2"/>
              <a:gd fmla="val 25000" name="adj3"/>
              <a:gd fmla="val 43750" name="adj4"/>
            </a:avLst>
          </a:prstGeom>
          <a:solidFill>
            <a:srgbClr val="FF0000"/>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07" name="Google Shape;407;p13"/>
          <p:cNvSpPr txBox="1"/>
          <p:nvPr/>
        </p:nvSpPr>
        <p:spPr>
          <a:xfrm>
            <a:off x="4697257" y="2652816"/>
            <a:ext cx="3989544" cy="25237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Categories of Latent Causes: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P = Inadequate Program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S = Inadequate Standards</a:t>
            </a:r>
            <a:br>
              <a:rPr b="1" i="0" lang="en-US" sz="2000" u="none" cap="none" strike="noStrike">
                <a:solidFill>
                  <a:srgbClr val="000000"/>
                </a:solidFill>
                <a:latin typeface="Arial"/>
                <a:ea typeface="Arial"/>
                <a:cs typeface="Arial"/>
                <a:sym typeface="Arial"/>
              </a:rPr>
            </a:br>
            <a:r>
              <a:rPr b="1" i="1" lang="en-US" sz="1600" u="none" cap="none" strike="noStrike">
                <a:solidFill>
                  <a:srgbClr val="000000"/>
                </a:solidFill>
                <a:latin typeface="Arial"/>
                <a:ea typeface="Arial"/>
                <a:cs typeface="Arial"/>
                <a:sym typeface="Arial"/>
              </a:rPr>
              <a:t>(Standard = administrative control)</a:t>
            </a:r>
            <a:endParaRPr b="1" i="1"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C = Inadequate Compliance</a:t>
            </a:r>
            <a:endParaRPr b="0" i="0" sz="14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14"/>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[P] Inadequate Program</a:t>
            </a:r>
            <a:r>
              <a:rPr b="0" i="0" lang="en-US" sz="20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The overall RM Program (policy or high-level direction) and RMS Element that relate to that particular latent cause are non-existent for or lacking in large part.</a:t>
            </a:r>
            <a:endParaRPr b="0" i="0" sz="1800" u="none" cap="none" strike="noStrike">
              <a:solidFill>
                <a:srgbClr val="000000"/>
              </a:solidFill>
              <a:latin typeface="Arial"/>
              <a:ea typeface="Arial"/>
              <a:cs typeface="Arial"/>
              <a:sym typeface="Arial"/>
            </a:endParaRPr>
          </a:p>
          <a:p>
            <a:pPr indent="-233000" lvl="0" marL="360000" marR="0" rtl="0" algn="l">
              <a:lnSpc>
                <a:spcPct val="9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[S] Inadequate Standards </a:t>
            </a:r>
            <a:r>
              <a:rPr b="0" i="0" lang="en-US" sz="2000" u="none" cap="none" strike="noStrike">
                <a:solidFill>
                  <a:srgbClr val="000000"/>
                </a:solidFill>
                <a:latin typeface="Arial"/>
                <a:ea typeface="Arial"/>
                <a:cs typeface="Arial"/>
                <a:sym typeface="Arial"/>
              </a:rPr>
              <a:t>(of the program): </a:t>
            </a:r>
            <a:endParaRPr b="0" i="0" sz="14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Program exists but supporting administrative controls are non-existent or inadequate for that particular root of analysis</a:t>
            </a:r>
            <a:endParaRPr b="0" i="0" sz="14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The administrative controls (policies, procedures, checklists, schedules) document in detail the tasks /  instructions and roles / responsibilities for undertaking activities and managing the risks of those activities.</a:t>
            </a:r>
            <a:endParaRPr b="0" i="0" sz="1400" u="none" cap="none" strike="noStrike">
              <a:solidFill>
                <a:srgbClr val="000000"/>
              </a:solidFill>
              <a:latin typeface="Arial"/>
              <a:ea typeface="Arial"/>
              <a:cs typeface="Arial"/>
              <a:sym typeface="Arial"/>
            </a:endParaRPr>
          </a:p>
          <a:p>
            <a:pPr indent="-233000" lvl="0" marL="360000" marR="0" rtl="0" algn="l">
              <a:lnSpc>
                <a:spcPct val="9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[C] Inadequate Compliance</a:t>
            </a:r>
            <a:r>
              <a:rPr b="0" i="0" lang="en-US" sz="2000" u="none" cap="none" strike="noStrike">
                <a:solidFill>
                  <a:srgbClr val="000000"/>
                </a:solidFill>
                <a:latin typeface="Arial"/>
                <a:ea typeface="Arial"/>
                <a:cs typeface="Arial"/>
                <a:sym typeface="Arial"/>
              </a:rPr>
              <a:t> (with program standards): </a:t>
            </a:r>
            <a:endParaRPr b="0" i="0" sz="14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Program and supporting documentation exist, but the work practices (the actual execution of the work) do not comply with the requirements as specified in the standard i.e. not being done or not being done correctly.</a:t>
            </a:r>
            <a:endParaRPr b="0" i="0" sz="1800" u="none" cap="none" strike="noStrike">
              <a:solidFill>
                <a:srgbClr val="000000"/>
              </a:solidFill>
              <a:latin typeface="Arial"/>
              <a:ea typeface="Arial"/>
              <a:cs typeface="Arial"/>
              <a:sym typeface="Arial"/>
            </a:endParaRPr>
          </a:p>
          <a:p>
            <a:pPr indent="-233000" lvl="0" marL="360000" marR="0" rtl="0" algn="l">
              <a:lnSpc>
                <a:spcPct val="9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000"/>
              <a:buFont typeface="Arial"/>
              <a:buNone/>
            </a:pPr>
            <a:r>
              <a:rPr b="0" i="1" lang="en-US" sz="2000" u="none" cap="none" strike="noStrike">
                <a:solidFill>
                  <a:srgbClr val="000000"/>
                </a:solidFill>
                <a:latin typeface="Arial"/>
                <a:ea typeface="Arial"/>
                <a:cs typeface="Arial"/>
                <a:sym typeface="Arial"/>
              </a:rPr>
              <a:t>HINT: Because the categories of latent causes are </a:t>
            </a:r>
            <a:r>
              <a:rPr b="1" i="1" lang="en-US" sz="2000" u="none" cap="none" strike="noStrike">
                <a:solidFill>
                  <a:srgbClr val="000000"/>
                </a:solidFill>
                <a:latin typeface="Arial"/>
                <a:ea typeface="Arial"/>
                <a:cs typeface="Arial"/>
                <a:sym typeface="Arial"/>
              </a:rPr>
              <a:t>inadequate program</a:t>
            </a:r>
            <a:r>
              <a:rPr b="0" i="1" lang="en-US" sz="2000" u="none" cap="none" strike="noStrike">
                <a:solidFill>
                  <a:srgbClr val="000000"/>
                </a:solidFill>
                <a:latin typeface="Arial"/>
                <a:ea typeface="Arial"/>
                <a:cs typeface="Arial"/>
                <a:sym typeface="Arial"/>
              </a:rPr>
              <a:t>, </a:t>
            </a:r>
            <a:r>
              <a:rPr b="1" i="1" lang="en-US" sz="2000" u="none" cap="none" strike="noStrike">
                <a:solidFill>
                  <a:srgbClr val="000000"/>
                </a:solidFill>
                <a:latin typeface="Arial"/>
                <a:ea typeface="Arial"/>
                <a:cs typeface="Arial"/>
                <a:sym typeface="Arial"/>
              </a:rPr>
              <a:t>inadequate standards</a:t>
            </a:r>
            <a:r>
              <a:rPr b="0" i="1" lang="en-US" sz="2000" u="none" cap="none" strike="noStrike">
                <a:solidFill>
                  <a:srgbClr val="000000"/>
                </a:solidFill>
                <a:latin typeface="Arial"/>
                <a:ea typeface="Arial"/>
                <a:cs typeface="Arial"/>
                <a:sym typeface="Arial"/>
              </a:rPr>
              <a:t>, and </a:t>
            </a:r>
            <a:r>
              <a:rPr b="1" i="1" lang="en-US" sz="2000" u="none" cap="none" strike="noStrike">
                <a:solidFill>
                  <a:srgbClr val="000000"/>
                </a:solidFill>
                <a:latin typeface="Arial"/>
                <a:ea typeface="Arial"/>
                <a:cs typeface="Arial"/>
                <a:sym typeface="Arial"/>
              </a:rPr>
              <a:t>inadequate compliance</a:t>
            </a:r>
            <a:r>
              <a:rPr b="0" i="1" lang="en-US" sz="2000" u="none" cap="none" strike="noStrike">
                <a:solidFill>
                  <a:srgbClr val="000000"/>
                </a:solidFill>
                <a:latin typeface="Arial"/>
                <a:ea typeface="Arial"/>
                <a:cs typeface="Arial"/>
                <a:sym typeface="Arial"/>
              </a:rPr>
              <a:t>, then the latent cause must be expressed in similar terms.</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414" name="Google Shape;414;p14"/>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Explanation of LC Categories and Hints on Latent Causes:</a:t>
            </a:r>
            <a:endParaRPr b="0" i="0" sz="1400" u="none" cap="none" strike="noStrike">
              <a:solidFill>
                <a:srgbClr val="000000"/>
              </a:solidFill>
              <a:latin typeface="Arial"/>
              <a:ea typeface="Arial"/>
              <a:cs typeface="Arial"/>
              <a:sym typeface="Arial"/>
            </a:endParaRPr>
          </a:p>
        </p:txBody>
      </p:sp>
      <p:sp>
        <p:nvSpPr>
          <p:cNvPr id="415" name="Google Shape;415;p14"/>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416" name="Google Shape;416;p14"/>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15"/>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Which Category – P, S, or C?</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Can the </a:t>
            </a:r>
            <a:r>
              <a:rPr b="1" i="0" lang="en-US" sz="2000" u="none" cap="none" strike="noStrike">
                <a:solidFill>
                  <a:srgbClr val="000000"/>
                </a:solidFill>
                <a:latin typeface="Arial"/>
                <a:ea typeface="Arial"/>
                <a:cs typeface="Arial"/>
                <a:sym typeface="Arial"/>
              </a:rPr>
              <a:t>P, S, or C</a:t>
            </a:r>
            <a:r>
              <a:rPr b="0" i="0" lang="en-US" sz="2000" u="none" cap="none" strike="noStrike">
                <a:solidFill>
                  <a:srgbClr val="000000"/>
                </a:solidFill>
                <a:latin typeface="Arial"/>
                <a:ea typeface="Arial"/>
                <a:cs typeface="Arial"/>
                <a:sym typeface="Arial"/>
              </a:rPr>
              <a:t> </a:t>
            </a:r>
            <a:r>
              <a:rPr b="1" i="0" lang="en-US" sz="2000" u="none" cap="none" strike="noStrike">
                <a:solidFill>
                  <a:srgbClr val="000000"/>
                </a:solidFill>
                <a:latin typeface="Arial"/>
                <a:ea typeface="Arial"/>
                <a:cs typeface="Arial"/>
                <a:sym typeface="Arial"/>
              </a:rPr>
              <a:t>category for a latent cause</a:t>
            </a:r>
            <a:r>
              <a:rPr b="0" i="0" lang="en-US" sz="2000" u="none" cap="none" strike="noStrike">
                <a:solidFill>
                  <a:srgbClr val="000000"/>
                </a:solidFill>
                <a:latin typeface="Arial"/>
                <a:ea typeface="Arial"/>
                <a:cs typeface="Arial"/>
                <a:sym typeface="Arial"/>
              </a:rPr>
              <a:t> be determined in an RCA?</a:t>
            </a:r>
            <a:endParaRPr b="0" i="0" sz="1400" u="none" cap="none" strike="noStrike">
              <a:solidFill>
                <a:srgbClr val="000000"/>
              </a:solidFill>
              <a:latin typeface="Arial"/>
              <a:ea typeface="Arial"/>
              <a:cs typeface="Arial"/>
              <a:sym typeface="Arial"/>
            </a:endParaRPr>
          </a:p>
          <a:p>
            <a:pPr indent="-233000" lvl="0" marL="360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Yes – if you have </a:t>
            </a:r>
            <a:r>
              <a:rPr b="0" i="0" lang="en-US" sz="2000" u="sng" cap="none" strike="noStrike">
                <a:solidFill>
                  <a:srgbClr val="000000"/>
                </a:solidFill>
                <a:latin typeface="Arial"/>
                <a:ea typeface="Arial"/>
                <a:cs typeface="Arial"/>
                <a:sym typeface="Arial"/>
              </a:rPr>
              <a:t>sufficient</a:t>
            </a:r>
            <a:r>
              <a:rPr b="0" i="0" lang="en-US" sz="2000" u="none" cap="none" strike="noStrike">
                <a:solidFill>
                  <a:srgbClr val="000000"/>
                </a:solidFill>
                <a:latin typeface="Arial"/>
                <a:ea typeface="Arial"/>
                <a:cs typeface="Arial"/>
                <a:sym typeface="Arial"/>
              </a:rPr>
              <a:t> information which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will likely be the case in the workplace </a:t>
            </a:r>
            <a:r>
              <a:rPr b="0" i="0" lang="en-US" sz="2000" u="sng" cap="none" strike="noStrike">
                <a:solidFill>
                  <a:srgbClr val="000000"/>
                </a:solidFill>
                <a:latin typeface="Arial"/>
                <a:ea typeface="Arial"/>
                <a:cs typeface="Arial"/>
                <a:sym typeface="Arial"/>
              </a:rPr>
              <a:t>when </a:t>
            </a:r>
            <a:br>
              <a:rPr b="0" i="0" lang="en-US" sz="2000" u="sng" cap="none" strike="noStrike">
                <a:solidFill>
                  <a:srgbClr val="000000"/>
                </a:solidFill>
                <a:latin typeface="Arial"/>
                <a:ea typeface="Arial"/>
                <a:cs typeface="Arial"/>
                <a:sym typeface="Arial"/>
              </a:rPr>
            </a:br>
            <a:r>
              <a:rPr b="0" i="0" lang="en-US" sz="2000" u="sng" cap="none" strike="noStrike">
                <a:solidFill>
                  <a:srgbClr val="000000"/>
                </a:solidFill>
                <a:latin typeface="Arial"/>
                <a:ea typeface="Arial"/>
                <a:cs typeface="Arial"/>
                <a:sym typeface="Arial"/>
              </a:rPr>
              <a:t>you investigate</a:t>
            </a:r>
            <a:r>
              <a:rPr b="0" i="0" lang="en-US" sz="2000" u="none" cap="none" strike="noStrike">
                <a:solidFill>
                  <a:srgbClr val="000000"/>
                </a:solidFill>
                <a:latin typeface="Arial"/>
                <a:ea typeface="Arial"/>
                <a:cs typeface="Arial"/>
                <a:sym typeface="Arial"/>
              </a:rPr>
              <a:t>, lead an RCA, etc.</a:t>
            </a:r>
            <a:endParaRPr b="0" i="0" sz="1400" u="none" cap="none" strike="noStrike">
              <a:solidFill>
                <a:srgbClr val="000000"/>
              </a:solidFill>
              <a:latin typeface="Arial"/>
              <a:ea typeface="Arial"/>
              <a:cs typeface="Arial"/>
              <a:sym typeface="Arial"/>
            </a:endParaRPr>
          </a:p>
          <a:p>
            <a:pPr indent="-233000" lvl="0" marL="360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No – in </a:t>
            </a:r>
            <a:r>
              <a:rPr b="0" i="0" lang="en-US" sz="2000" u="sng" cap="none" strike="noStrike">
                <a:solidFill>
                  <a:srgbClr val="000000"/>
                </a:solidFill>
                <a:latin typeface="Arial"/>
                <a:ea typeface="Arial"/>
                <a:cs typeface="Arial"/>
                <a:sym typeface="Arial"/>
              </a:rPr>
              <a:t>absence</a:t>
            </a:r>
            <a:r>
              <a:rPr b="0" i="0" lang="en-US" sz="2000" u="none" cap="none" strike="noStrike">
                <a:solidFill>
                  <a:srgbClr val="000000"/>
                </a:solidFill>
                <a:latin typeface="Arial"/>
                <a:ea typeface="Arial"/>
                <a:cs typeface="Arial"/>
                <a:sym typeface="Arial"/>
              </a:rPr>
              <a:t> of information i.e. team project: </a:t>
            </a:r>
            <a:endParaRPr b="0" i="0" sz="1400" u="none" cap="none" strike="noStrike">
              <a:solidFill>
                <a:srgbClr val="000000"/>
              </a:solidFill>
              <a:latin typeface="Arial"/>
              <a:ea typeface="Arial"/>
              <a:cs typeface="Arial"/>
              <a:sym typeface="Arial"/>
            </a:endParaRPr>
          </a:p>
          <a:p>
            <a:pPr indent="-359999" lvl="2"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You will not have sufficient information to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discern P, S, or C. </a:t>
            </a:r>
            <a:endParaRPr b="0" i="0" sz="2000" u="none" cap="none" strike="noStrike">
              <a:solidFill>
                <a:srgbClr val="000000"/>
              </a:solidFill>
              <a:latin typeface="Arial"/>
              <a:ea typeface="Arial"/>
              <a:cs typeface="Arial"/>
              <a:sym typeface="Arial"/>
            </a:endParaRPr>
          </a:p>
          <a:p>
            <a:pPr indent="-359999" lvl="2"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Use your engineering know-how, your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expertise in risk management, and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knowledge of the incident to make reasonable suppositions. </a:t>
            </a:r>
            <a:endParaRPr b="0" i="0" sz="2000" u="none" cap="none" strike="noStrike">
              <a:solidFill>
                <a:srgbClr val="000000"/>
              </a:solidFill>
              <a:latin typeface="Arial"/>
              <a:ea typeface="Arial"/>
              <a:cs typeface="Arial"/>
              <a:sym typeface="Arial"/>
            </a:endParaRPr>
          </a:p>
          <a:p>
            <a:pPr indent="-359999" lvl="2"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The manner in which you state your latent cause may reveal whether it is P, S, or C.</a:t>
            </a:r>
            <a:endParaRPr b="0" i="0" sz="1400" u="none" cap="none" strike="noStrike">
              <a:solidFill>
                <a:srgbClr val="000000"/>
              </a:solidFill>
              <a:latin typeface="Arial"/>
              <a:ea typeface="Arial"/>
              <a:cs typeface="Arial"/>
              <a:sym typeface="Arial"/>
            </a:endParaRPr>
          </a:p>
          <a:p>
            <a:pPr indent="-359999" lvl="2"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More than likely, in your team project, you will express the latent cause as either a “P” or an “S”.</a:t>
            </a:r>
            <a:endParaRPr b="0" i="0" sz="2000" u="none" cap="none" strike="noStrike">
              <a:solidFill>
                <a:srgbClr val="000000"/>
              </a:solidFill>
              <a:latin typeface="Arial"/>
              <a:ea typeface="Arial"/>
              <a:cs typeface="Arial"/>
              <a:sym typeface="Arial"/>
            </a:endParaRPr>
          </a:p>
          <a:p>
            <a:pPr indent="-305000" lvl="0" marL="432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p:txBody>
      </p:sp>
      <p:sp>
        <p:nvSpPr>
          <p:cNvPr id="423" name="Google Shape;423;p15"/>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Categories for Latent Causes – P, S, and C:</a:t>
            </a:r>
            <a:endParaRPr b="0" i="0" sz="1400" u="none" cap="none" strike="noStrike">
              <a:solidFill>
                <a:srgbClr val="000000"/>
              </a:solidFill>
              <a:latin typeface="Arial"/>
              <a:ea typeface="Arial"/>
              <a:cs typeface="Arial"/>
              <a:sym typeface="Arial"/>
            </a:endParaRPr>
          </a:p>
        </p:txBody>
      </p:sp>
      <p:sp>
        <p:nvSpPr>
          <p:cNvPr id="424" name="Google Shape;424;p15"/>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425" name="Google Shape;425;p15"/>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pic>
        <p:nvPicPr>
          <p:cNvPr id="426" name="Google Shape;426;p15"/>
          <p:cNvPicPr preferRelativeResize="0"/>
          <p:nvPr/>
        </p:nvPicPr>
        <p:blipFill rotWithShape="1">
          <a:blip r:embed="rId3">
            <a:alphaModFix/>
          </a:blip>
          <a:srcRect b="0" l="0" r="0" t="0"/>
          <a:stretch/>
        </p:blipFill>
        <p:spPr>
          <a:xfrm>
            <a:off x="5817282" y="1542407"/>
            <a:ext cx="3202025" cy="2988027"/>
          </a:xfrm>
          <a:prstGeom prst="rect">
            <a:avLst/>
          </a:prstGeom>
          <a:noFill/>
          <a:ln>
            <a:noFill/>
          </a:ln>
        </p:spPr>
      </p:pic>
    </p:spTree>
  </p:cSld>
  <p:clrMapOvr>
    <a:masterClrMapping/>
  </p:clrMapOvr>
  <p:transition>
    <p:fade/>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16"/>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433" name="Google Shape;433;p16"/>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Example Model for the Set of Categories of Latent Causes:</a:t>
            </a:r>
            <a:endParaRPr b="0" i="0" sz="1400" u="none" cap="none" strike="noStrike">
              <a:solidFill>
                <a:srgbClr val="000000"/>
              </a:solidFill>
              <a:latin typeface="Arial"/>
              <a:ea typeface="Arial"/>
              <a:cs typeface="Arial"/>
              <a:sym typeface="Arial"/>
            </a:endParaRPr>
          </a:p>
        </p:txBody>
      </p:sp>
      <p:sp>
        <p:nvSpPr>
          <p:cNvPr id="434" name="Google Shape;434;p16"/>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435" name="Google Shape;435;p16"/>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sp>
        <p:nvSpPr>
          <p:cNvPr id="436" name="Google Shape;436;p16"/>
          <p:cNvSpPr/>
          <p:nvPr/>
        </p:nvSpPr>
        <p:spPr>
          <a:xfrm>
            <a:off x="385200" y="944880"/>
            <a:ext cx="8229600" cy="4968240"/>
          </a:xfrm>
          <a:prstGeom prst="rect">
            <a:avLst/>
          </a:prstGeom>
          <a:solidFill>
            <a:srgbClr val="5B9BD5">
              <a:alpha val="69019"/>
            </a:srgbClr>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330200" lvl="0" marL="457200" marR="0" rtl="0" algn="l">
              <a:lnSpc>
                <a:spcPct val="11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30200" lvl="0" marL="457200" marR="0" rtl="0" algn="l">
              <a:lnSpc>
                <a:spcPct val="11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457200" lvl="0" marL="457200" marR="0" rtl="0" algn="l">
              <a:lnSpc>
                <a:spcPct val="11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Large grey arrow is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the </a:t>
            </a:r>
            <a:r>
              <a:rPr b="0" i="0" lang="en-US" sz="2000" u="sng" cap="none" strike="noStrike">
                <a:solidFill>
                  <a:srgbClr val="000000"/>
                </a:solidFill>
                <a:latin typeface="Arial"/>
                <a:ea typeface="Arial"/>
                <a:cs typeface="Arial"/>
                <a:sym typeface="Arial"/>
              </a:rPr>
              <a:t>desired path</a:t>
            </a:r>
            <a:r>
              <a:rPr b="0" i="0" lang="en-US" sz="2000" u="none" cap="none" strike="noStrike">
                <a:solidFill>
                  <a:srgbClr val="000000"/>
                </a:solidFill>
                <a:latin typeface="Arial"/>
                <a:ea typeface="Arial"/>
                <a:cs typeface="Arial"/>
                <a:sym typeface="Arial"/>
              </a:rPr>
              <a:t> …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but may deviate!</a:t>
            </a:r>
            <a:endParaRPr b="0" i="0" sz="1400" u="none" cap="none" strike="noStrike">
              <a:solidFill>
                <a:srgbClr val="000000"/>
              </a:solidFill>
              <a:latin typeface="Arial"/>
              <a:ea typeface="Arial"/>
              <a:cs typeface="Arial"/>
              <a:sym typeface="Arial"/>
            </a:endParaRPr>
          </a:p>
          <a:p>
            <a:pPr indent="-330200" lvl="0" marL="457200" marR="0" rtl="0" algn="l">
              <a:lnSpc>
                <a:spcPct val="11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p:txBody>
      </p:sp>
      <p:sp>
        <p:nvSpPr>
          <p:cNvPr id="437" name="Google Shape;437;p16"/>
          <p:cNvSpPr/>
          <p:nvPr/>
        </p:nvSpPr>
        <p:spPr>
          <a:xfrm rot="7376752">
            <a:off x="2006322" y="2262206"/>
            <a:ext cx="4032555" cy="1800713"/>
          </a:xfrm>
          <a:prstGeom prst="rightArrow">
            <a:avLst>
              <a:gd fmla="val 34470" name="adj1"/>
              <a:gd fmla="val 63833" name="adj2"/>
            </a:avLst>
          </a:prstGeom>
          <a:solidFill>
            <a:srgbClr val="E7E6E6">
              <a:alpha val="80000"/>
            </a:srgbClr>
          </a:solidFill>
          <a:ln cap="flat" cmpd="sng" w="38100">
            <a:solidFill>
              <a:srgbClr val="E7E6E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id="438" name="Google Shape;438;p16"/>
          <p:cNvPicPr preferRelativeResize="0"/>
          <p:nvPr/>
        </p:nvPicPr>
        <p:blipFill rotWithShape="1">
          <a:blip r:embed="rId3">
            <a:alphaModFix/>
          </a:blip>
          <a:srcRect b="0" l="0" r="0" t="0"/>
          <a:stretch/>
        </p:blipFill>
        <p:spPr>
          <a:xfrm>
            <a:off x="1929938" y="1160284"/>
            <a:ext cx="4929925" cy="4593310"/>
          </a:xfrm>
          <a:prstGeom prst="rect">
            <a:avLst/>
          </a:prstGeom>
          <a:noFill/>
          <a:ln>
            <a:noFill/>
          </a:ln>
        </p:spPr>
      </p:pic>
    </p:spTree>
  </p:cSld>
  <p:clrMapOvr>
    <a:masterClrMapping/>
  </p:clrMapOvr>
  <p:transition>
    <p:fade/>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17"/>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445" name="Google Shape;445;p17"/>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Example Model for the Set of Categories of Latent Causes:</a:t>
            </a:r>
            <a:endParaRPr b="0" i="0" sz="1400" u="none" cap="none" strike="noStrike">
              <a:solidFill>
                <a:srgbClr val="000000"/>
              </a:solidFill>
              <a:latin typeface="Arial"/>
              <a:ea typeface="Arial"/>
              <a:cs typeface="Arial"/>
              <a:sym typeface="Arial"/>
            </a:endParaRPr>
          </a:p>
        </p:txBody>
      </p:sp>
      <p:sp>
        <p:nvSpPr>
          <p:cNvPr id="446" name="Google Shape;446;p17"/>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447" name="Google Shape;447;p17"/>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sp>
        <p:nvSpPr>
          <p:cNvPr id="448" name="Google Shape;448;p17"/>
          <p:cNvSpPr/>
          <p:nvPr/>
        </p:nvSpPr>
        <p:spPr>
          <a:xfrm>
            <a:off x="5040430" y="828000"/>
            <a:ext cx="3772970" cy="5328000"/>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1800"/>
              <a:buFont typeface="Noto Sans Symbols"/>
              <a:buNone/>
            </a:pPr>
            <a:r>
              <a:rPr b="0" i="1" lang="en-US" sz="1800" u="none" cap="none" strike="noStrike">
                <a:solidFill>
                  <a:srgbClr val="FFFFFF"/>
                </a:solidFill>
                <a:latin typeface="Arial"/>
                <a:ea typeface="Arial"/>
                <a:cs typeface="Arial"/>
                <a:sym typeface="Arial"/>
              </a:rPr>
              <a:t>Apply this concept to our mining case study. For the latent causes, choose the category: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1800"/>
              <a:buFont typeface="Noto Sans Symbols"/>
              <a:buNone/>
            </a:pPr>
            <a:r>
              <a:rPr b="0" i="1" lang="en-US" sz="1800" u="none" cap="none" strike="noStrike">
                <a:solidFill>
                  <a:srgbClr val="FFFFFF"/>
                </a:solidFill>
                <a:latin typeface="Arial"/>
                <a:ea typeface="Arial"/>
                <a:cs typeface="Arial"/>
                <a:sym typeface="Arial"/>
              </a:rPr>
              <a:t>P – inadequate program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1800"/>
              <a:buFont typeface="Noto Sans Symbols"/>
              <a:buNone/>
            </a:pPr>
            <a:r>
              <a:rPr b="0" i="1" lang="en-US" sz="1800" u="none" cap="none" strike="noStrike">
                <a:solidFill>
                  <a:srgbClr val="FFFFFF"/>
                </a:solidFill>
                <a:latin typeface="Arial"/>
                <a:ea typeface="Arial"/>
                <a:cs typeface="Arial"/>
                <a:sym typeface="Arial"/>
              </a:rPr>
              <a:t>S – inadequate standards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1800"/>
              <a:buFont typeface="Noto Sans Symbols"/>
              <a:buNone/>
            </a:pPr>
            <a:r>
              <a:rPr b="0" i="1" lang="en-US" sz="1800" u="none" cap="none" strike="noStrike">
                <a:solidFill>
                  <a:srgbClr val="FFFFFF"/>
                </a:solidFill>
                <a:latin typeface="Arial"/>
                <a:ea typeface="Arial"/>
                <a:cs typeface="Arial"/>
                <a:sym typeface="Arial"/>
              </a:rPr>
              <a:t>C – inadequate compliance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Noto Sans Symbols"/>
              <a:buNone/>
            </a:pPr>
            <a:r>
              <a:t/>
            </a:r>
            <a:endParaRPr b="0" i="1" sz="18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1800"/>
              <a:buFont typeface="Noto Sans Symbols"/>
              <a:buNone/>
            </a:pPr>
            <a:r>
              <a:rPr b="0" i="1" lang="en-US" sz="1800" u="none" cap="none" strike="noStrike">
                <a:solidFill>
                  <a:srgbClr val="FFFFFF"/>
                </a:solidFill>
                <a:latin typeface="Arial"/>
                <a:ea typeface="Arial"/>
                <a:cs typeface="Arial"/>
                <a:sym typeface="Arial"/>
              </a:rPr>
              <a:t>#1: MLCA – Core Safety Values Communications Program was inadequate.**  </a:t>
            </a:r>
            <a:r>
              <a:rPr b="1" i="1" lang="en-US" sz="2000" u="none" cap="none" strike="noStrike">
                <a:solidFill>
                  <a:srgbClr val="FFFFFF"/>
                </a:solidFill>
                <a:latin typeface="Arial"/>
                <a:ea typeface="Arial"/>
                <a:cs typeface="Arial"/>
                <a:sym typeface="Arial"/>
              </a:rPr>
              <a:t>&gt;&gt; 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Noto Sans Symbols"/>
              <a:buNone/>
            </a:pPr>
            <a:r>
              <a:t/>
            </a:r>
            <a:endParaRPr b="0" i="1" sz="18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1800"/>
              <a:buFont typeface="Noto Sans Symbols"/>
              <a:buNone/>
            </a:pPr>
            <a:r>
              <a:rPr b="0" i="1" lang="en-US" sz="1800" u="none" cap="none" strike="noStrike">
                <a:solidFill>
                  <a:srgbClr val="FFFFFF"/>
                </a:solidFill>
                <a:latin typeface="Arial"/>
                <a:ea typeface="Arial"/>
                <a:cs typeface="Arial"/>
                <a:sym typeface="Arial"/>
              </a:rPr>
              <a:t>#6: PE&amp;CI – The auditing program schedule did not include exclusion zone procedures.   </a:t>
            </a:r>
            <a:r>
              <a:rPr b="1" i="1" lang="en-US" sz="2000" u="none" cap="none" strike="noStrike">
                <a:solidFill>
                  <a:srgbClr val="FFFFFF"/>
                </a:solidFill>
                <a:latin typeface="Arial"/>
                <a:ea typeface="Arial"/>
                <a:cs typeface="Arial"/>
                <a:sym typeface="Arial"/>
              </a:rPr>
              <a:t>&gt;&gt; 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Noto Sans Symbols"/>
              <a:buNone/>
            </a:pPr>
            <a:r>
              <a:t/>
            </a:r>
            <a:endParaRPr b="0" i="1" sz="18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1800"/>
              <a:buFont typeface="Noto Sans Symbols"/>
              <a:buNone/>
            </a:pPr>
            <a:r>
              <a:rPr b="0" i="1" lang="en-US" sz="1800" u="none" cap="none" strike="noStrike">
                <a:solidFill>
                  <a:srgbClr val="FFFFFF"/>
                </a:solidFill>
                <a:latin typeface="Arial"/>
                <a:ea typeface="Arial"/>
                <a:cs typeface="Arial"/>
                <a:sym typeface="Arial"/>
              </a:rPr>
              <a:t>#9: EC&amp;T – There was no training program for mining operations. </a:t>
            </a:r>
            <a:br>
              <a:rPr b="0" i="1" lang="en-US" sz="1800" u="none" cap="none" strike="noStrike">
                <a:solidFill>
                  <a:srgbClr val="FFFFFF"/>
                </a:solidFill>
                <a:latin typeface="Arial"/>
                <a:ea typeface="Arial"/>
                <a:cs typeface="Arial"/>
                <a:sym typeface="Arial"/>
              </a:rPr>
            </a:br>
            <a:r>
              <a:rPr b="1" i="1" lang="en-US" sz="2000" u="none" cap="none" strike="noStrike">
                <a:solidFill>
                  <a:srgbClr val="FFFFFF"/>
                </a:solidFill>
                <a:latin typeface="Arial"/>
                <a:ea typeface="Arial"/>
                <a:cs typeface="Arial"/>
                <a:sym typeface="Arial"/>
              </a:rPr>
              <a:t>&gt;&gt; P</a:t>
            </a:r>
            <a:endParaRPr b="0" i="0" sz="1800" u="none" cap="none" strike="noStrike">
              <a:solidFill>
                <a:srgbClr val="FFFFFF"/>
              </a:solidFill>
              <a:latin typeface="Times New Roman"/>
              <a:ea typeface="Times New Roman"/>
              <a:cs typeface="Times New Roman"/>
              <a:sym typeface="Times New Roman"/>
            </a:endParaRPr>
          </a:p>
        </p:txBody>
      </p:sp>
      <p:sp>
        <p:nvSpPr>
          <p:cNvPr id="449" name="Google Shape;449;p17"/>
          <p:cNvSpPr/>
          <p:nvPr/>
        </p:nvSpPr>
        <p:spPr>
          <a:xfrm>
            <a:off x="180000" y="828000"/>
            <a:ext cx="4860430" cy="5328000"/>
          </a:xfrm>
          <a:prstGeom prst="rect">
            <a:avLst/>
          </a:prstGeom>
          <a:solidFill>
            <a:srgbClr val="5B9BD5">
              <a:alpha val="69019"/>
            </a:srgbClr>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330200" lvl="0" marL="457200" marR="0" rtl="0" algn="l">
              <a:lnSpc>
                <a:spcPct val="11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30200" lvl="0" marL="457200" marR="0" rtl="0" algn="l">
              <a:lnSpc>
                <a:spcPct val="11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p:txBody>
      </p:sp>
      <p:pic>
        <p:nvPicPr>
          <p:cNvPr id="450" name="Google Shape;450;p17"/>
          <p:cNvPicPr preferRelativeResize="0"/>
          <p:nvPr/>
        </p:nvPicPr>
        <p:blipFill rotWithShape="1">
          <a:blip r:embed="rId3">
            <a:alphaModFix/>
          </a:blip>
          <a:srcRect b="0" l="0" r="0" t="0"/>
          <a:stretch/>
        </p:blipFill>
        <p:spPr>
          <a:xfrm>
            <a:off x="563274" y="970014"/>
            <a:ext cx="4093881" cy="4114097"/>
          </a:xfrm>
          <a:prstGeom prst="rect">
            <a:avLst/>
          </a:prstGeom>
          <a:noFill/>
          <a:ln>
            <a:noFill/>
          </a:ln>
        </p:spPr>
      </p:pic>
      <p:pic>
        <p:nvPicPr>
          <p:cNvPr id="451" name="Google Shape;451;p17"/>
          <p:cNvPicPr preferRelativeResize="0"/>
          <p:nvPr/>
        </p:nvPicPr>
        <p:blipFill rotWithShape="1">
          <a:blip r:embed="rId4">
            <a:alphaModFix/>
          </a:blip>
          <a:srcRect b="0" l="0" r="0" t="0"/>
          <a:stretch/>
        </p:blipFill>
        <p:spPr>
          <a:xfrm>
            <a:off x="257048" y="5035844"/>
            <a:ext cx="4701966" cy="1074928"/>
          </a:xfrm>
          <a:prstGeom prst="rect">
            <a:avLst/>
          </a:prstGeom>
          <a:noFill/>
          <a:ln>
            <a:noFill/>
          </a:ln>
        </p:spPr>
      </p:pic>
    </p:spTree>
  </p:cSld>
  <p:clrMapOvr>
    <a:masterClrMapping/>
  </p:clrMapOvr>
  <p:transition>
    <p:fade/>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60"/>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458" name="Google Shape;458;p60"/>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sp>
        <p:nvSpPr>
          <p:cNvPr id="459" name="Google Shape;459;p60"/>
          <p:cNvSpPr txBox="1"/>
          <p:nvPr/>
        </p:nvSpPr>
        <p:spPr>
          <a:xfrm>
            <a:off x="324000" y="1817541"/>
            <a:ext cx="2160000" cy="738664"/>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BC-PF</a:t>
            </a:r>
            <a:r>
              <a:rPr b="0" i="0" lang="en-US" sz="1400" u="none" cap="none" strike="noStrike">
                <a:solidFill>
                  <a:srgbClr val="000000"/>
                </a:solidFill>
                <a:latin typeface="Arial"/>
                <a:ea typeface="Arial"/>
                <a:cs typeface="Arial"/>
                <a:sym typeface="Arial"/>
              </a:rPr>
              <a:t>: Worker was not aware of exclusion zone procedures</a:t>
            </a:r>
            <a:endParaRPr/>
          </a:p>
        </p:txBody>
      </p:sp>
      <p:sp>
        <p:nvSpPr>
          <p:cNvPr id="460" name="Google Shape;460;p60"/>
          <p:cNvSpPr txBox="1"/>
          <p:nvPr/>
        </p:nvSpPr>
        <p:spPr>
          <a:xfrm>
            <a:off x="2628000" y="1817541"/>
            <a:ext cx="2772000" cy="5400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IC-SP: Worker disregarded exclusion zone procedures</a:t>
            </a:r>
            <a:endParaRPr/>
          </a:p>
        </p:txBody>
      </p:sp>
      <p:cxnSp>
        <p:nvCxnSpPr>
          <p:cNvPr id="461" name="Google Shape;461;p60"/>
          <p:cNvCxnSpPr>
            <a:stCxn id="462" idx="2"/>
            <a:endCxn id="463" idx="0"/>
          </p:cNvCxnSpPr>
          <p:nvPr/>
        </p:nvCxnSpPr>
        <p:spPr>
          <a:xfrm flipH="1" rot="-5400000">
            <a:off x="5385450" y="20915"/>
            <a:ext cx="407100" cy="3186000"/>
          </a:xfrm>
          <a:prstGeom prst="bentConnector3">
            <a:avLst>
              <a:gd fmla="val 50009" name="adj1"/>
            </a:avLst>
          </a:prstGeom>
          <a:noFill/>
          <a:ln cap="flat" cmpd="sng" w="9525">
            <a:solidFill>
              <a:srgbClr val="000000"/>
            </a:solidFill>
            <a:prstDash val="solid"/>
            <a:miter lim="800000"/>
            <a:headEnd len="sm" w="sm" type="none"/>
            <a:tailEnd len="med" w="med" type="triangle"/>
          </a:ln>
        </p:spPr>
      </p:cxnSp>
      <p:cxnSp>
        <p:nvCxnSpPr>
          <p:cNvPr id="464" name="Google Shape;464;p60"/>
          <p:cNvCxnSpPr>
            <a:stCxn id="462" idx="2"/>
            <a:endCxn id="459" idx="0"/>
          </p:cNvCxnSpPr>
          <p:nvPr/>
        </p:nvCxnSpPr>
        <p:spPr>
          <a:xfrm rot="5400000">
            <a:off x="2496450" y="317915"/>
            <a:ext cx="407100" cy="2592000"/>
          </a:xfrm>
          <a:prstGeom prst="bentConnector3">
            <a:avLst>
              <a:gd fmla="val 50009" name="adj1"/>
            </a:avLst>
          </a:prstGeom>
          <a:noFill/>
          <a:ln cap="flat" cmpd="sng" w="9525">
            <a:solidFill>
              <a:srgbClr val="000000"/>
            </a:solidFill>
            <a:prstDash val="solid"/>
            <a:miter lim="800000"/>
            <a:headEnd len="sm" w="sm" type="none"/>
            <a:tailEnd len="med" w="med" type="triangle"/>
          </a:ln>
        </p:spPr>
      </p:cxnSp>
      <p:sp>
        <p:nvSpPr>
          <p:cNvPr id="463" name="Google Shape;463;p60"/>
          <p:cNvSpPr txBox="1"/>
          <p:nvPr/>
        </p:nvSpPr>
        <p:spPr>
          <a:xfrm>
            <a:off x="5580000" y="1817541"/>
            <a:ext cx="3204000" cy="5400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BC-PF: </a:t>
            </a:r>
            <a:r>
              <a:rPr b="0" i="0" lang="en-US" sz="1400" u="none" cap="none" strike="noStrike">
                <a:solidFill>
                  <a:srgbClr val="000000"/>
                </a:solidFill>
                <a:latin typeface="Arial"/>
                <a:ea typeface="Arial"/>
                <a:cs typeface="Arial"/>
                <a:sym typeface="Arial"/>
              </a:rPr>
              <a:t>Supervisor told Worker to go into the exclusion zone</a:t>
            </a:r>
            <a:endParaRPr/>
          </a:p>
        </p:txBody>
      </p:sp>
      <p:sp>
        <p:nvSpPr>
          <p:cNvPr id="465" name="Google Shape;465;p60"/>
          <p:cNvSpPr txBox="1"/>
          <p:nvPr/>
        </p:nvSpPr>
        <p:spPr>
          <a:xfrm>
            <a:off x="2628000" y="4194000"/>
            <a:ext cx="2772000" cy="5400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Procedures were not enforced through audits</a:t>
            </a:r>
            <a:endParaRPr/>
          </a:p>
        </p:txBody>
      </p:sp>
      <p:sp>
        <p:nvSpPr>
          <p:cNvPr id="466" name="Google Shape;466;p60"/>
          <p:cNvSpPr txBox="1"/>
          <p:nvPr/>
        </p:nvSpPr>
        <p:spPr>
          <a:xfrm>
            <a:off x="2628000" y="5058000"/>
            <a:ext cx="2772000" cy="738664"/>
          </a:xfrm>
          <a:prstGeom prst="rect">
            <a:avLst/>
          </a:prstGeom>
          <a:solidFill>
            <a:srgbClr val="FEE599"/>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LC2: The auditing program schedule did not include the exclusion zone procedures</a:t>
            </a:r>
            <a:endParaRPr/>
          </a:p>
        </p:txBody>
      </p:sp>
      <p:cxnSp>
        <p:nvCxnSpPr>
          <p:cNvPr id="467" name="Google Shape;467;p60"/>
          <p:cNvCxnSpPr>
            <a:stCxn id="462" idx="2"/>
            <a:endCxn id="460" idx="0"/>
          </p:cNvCxnSpPr>
          <p:nvPr/>
        </p:nvCxnSpPr>
        <p:spPr>
          <a:xfrm>
            <a:off x="3996000" y="1410365"/>
            <a:ext cx="18000" cy="407100"/>
          </a:xfrm>
          <a:prstGeom prst="straightConnector1">
            <a:avLst/>
          </a:prstGeom>
          <a:noFill/>
          <a:ln cap="flat" cmpd="sng" w="9525">
            <a:solidFill>
              <a:srgbClr val="000000"/>
            </a:solidFill>
            <a:prstDash val="solid"/>
            <a:miter lim="800000"/>
            <a:headEnd len="sm" w="sm" type="none"/>
            <a:tailEnd len="med" w="med" type="triangle"/>
          </a:ln>
        </p:spPr>
      </p:cxnSp>
      <p:sp>
        <p:nvSpPr>
          <p:cNvPr id="468" name="Google Shape;468;p60"/>
          <p:cNvSpPr/>
          <p:nvPr/>
        </p:nvSpPr>
        <p:spPr>
          <a:xfrm>
            <a:off x="3771059" y="1426654"/>
            <a:ext cx="437760" cy="324152"/>
          </a:xfrm>
          <a:prstGeom prst="flowChartPunchedTape">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262626"/>
              </a:solidFill>
              <a:latin typeface="Arial"/>
              <a:ea typeface="Arial"/>
              <a:cs typeface="Arial"/>
              <a:sym typeface="Arial"/>
            </a:endParaRPr>
          </a:p>
        </p:txBody>
      </p:sp>
      <p:sp>
        <p:nvSpPr>
          <p:cNvPr id="469" name="Google Shape;469;p60"/>
          <p:cNvSpPr txBox="1"/>
          <p:nvPr/>
        </p:nvSpPr>
        <p:spPr>
          <a:xfrm>
            <a:off x="5580000" y="4194000"/>
            <a:ext cx="3204000" cy="5400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Sr Mngmt expectations were not in alignment with core safety values</a:t>
            </a:r>
            <a:endParaRPr/>
          </a:p>
        </p:txBody>
      </p:sp>
      <p:sp>
        <p:nvSpPr>
          <p:cNvPr id="470" name="Google Shape;470;p60"/>
          <p:cNvSpPr txBox="1"/>
          <p:nvPr/>
        </p:nvSpPr>
        <p:spPr>
          <a:xfrm>
            <a:off x="5580000" y="2480593"/>
            <a:ext cx="3204000" cy="5232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BC-</a:t>
            </a:r>
            <a:r>
              <a:rPr b="1" lang="en-US"/>
              <a:t>J</a:t>
            </a:r>
            <a:r>
              <a:rPr b="1" i="0" lang="en-US" sz="1400" u="none" cap="none" strike="noStrike">
                <a:solidFill>
                  <a:srgbClr val="000000"/>
                </a:solidFill>
                <a:latin typeface="Arial"/>
                <a:ea typeface="Arial"/>
                <a:cs typeface="Arial"/>
                <a:sym typeface="Arial"/>
              </a:rPr>
              <a:t>F: </a:t>
            </a:r>
            <a:r>
              <a:rPr b="0" i="0" lang="en-US" sz="1400" u="none" cap="none" strike="noStrike">
                <a:solidFill>
                  <a:srgbClr val="000000"/>
                </a:solidFill>
                <a:latin typeface="Arial"/>
                <a:ea typeface="Arial"/>
                <a:cs typeface="Arial"/>
                <a:sym typeface="Arial"/>
              </a:rPr>
              <a:t>Supervisor prioritized production over safety</a:t>
            </a:r>
            <a:endParaRPr/>
          </a:p>
        </p:txBody>
      </p:sp>
      <p:sp>
        <p:nvSpPr>
          <p:cNvPr id="471" name="Google Shape;471;p60"/>
          <p:cNvSpPr txBox="1"/>
          <p:nvPr/>
        </p:nvSpPr>
        <p:spPr>
          <a:xfrm>
            <a:off x="5580000" y="5058000"/>
            <a:ext cx="3204000" cy="738664"/>
          </a:xfrm>
          <a:prstGeom prst="rect">
            <a:avLst/>
          </a:prstGeom>
          <a:solidFill>
            <a:srgbClr val="FEE599"/>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LC3: Core Safety Values Communications Program was inadequate. **</a:t>
            </a:r>
            <a:endParaRPr/>
          </a:p>
        </p:txBody>
      </p:sp>
      <p:sp>
        <p:nvSpPr>
          <p:cNvPr id="472" name="Google Shape;472;p60"/>
          <p:cNvSpPr txBox="1"/>
          <p:nvPr/>
        </p:nvSpPr>
        <p:spPr>
          <a:xfrm>
            <a:off x="324000" y="5058000"/>
            <a:ext cx="2160000" cy="738664"/>
          </a:xfrm>
          <a:prstGeom prst="rect">
            <a:avLst/>
          </a:prstGeom>
          <a:solidFill>
            <a:srgbClr val="FEE599"/>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LC1: There was no training program for mining operations.</a:t>
            </a:r>
            <a:endParaRPr/>
          </a:p>
        </p:txBody>
      </p:sp>
      <p:sp>
        <p:nvSpPr>
          <p:cNvPr id="473" name="Google Shape;473;p60"/>
          <p:cNvSpPr txBox="1"/>
          <p:nvPr/>
        </p:nvSpPr>
        <p:spPr>
          <a:xfrm>
            <a:off x="324000" y="4194000"/>
            <a:ext cx="2160000" cy="738664"/>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BC-JF: Worker was not trained on those procedures</a:t>
            </a:r>
            <a:endParaRPr b="1" i="0" sz="1400" u="none" cap="none" strike="noStrike">
              <a:solidFill>
                <a:srgbClr val="000000"/>
              </a:solidFill>
              <a:latin typeface="Arial"/>
              <a:ea typeface="Arial"/>
              <a:cs typeface="Arial"/>
              <a:sym typeface="Arial"/>
            </a:endParaRPr>
          </a:p>
        </p:txBody>
      </p:sp>
      <p:sp>
        <p:nvSpPr>
          <p:cNvPr id="474" name="Google Shape;474;p60"/>
          <p:cNvSpPr txBox="1"/>
          <p:nvPr/>
        </p:nvSpPr>
        <p:spPr>
          <a:xfrm>
            <a:off x="324785" y="826708"/>
            <a:ext cx="926377" cy="523220"/>
          </a:xfrm>
          <a:prstGeom prst="rect">
            <a:avLst/>
          </a:prstGeom>
          <a:solidFill>
            <a:srgbClr val="FEE599"/>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Latent Causes</a:t>
            </a:r>
            <a:endParaRPr/>
          </a:p>
        </p:txBody>
      </p:sp>
      <p:sp>
        <p:nvSpPr>
          <p:cNvPr id="475" name="Google Shape;475;p60"/>
          <p:cNvSpPr txBox="1"/>
          <p:nvPr/>
        </p:nvSpPr>
        <p:spPr>
          <a:xfrm>
            <a:off x="5580000" y="5778000"/>
            <a:ext cx="3204000" cy="252000"/>
          </a:xfrm>
          <a:prstGeom prst="rect">
            <a:avLst/>
          </a:prstGeom>
          <a:solidFill>
            <a:srgbClr val="FFFFFF"/>
          </a:solidFill>
          <a:ln cap="flat" cmpd="sng" w="9525">
            <a:solidFill>
              <a:srgbClr val="FF0000"/>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lnSpc>
                <a:spcPct val="100000"/>
              </a:lnSpc>
              <a:spcBef>
                <a:spcPts val="0"/>
              </a:spcBef>
              <a:spcAft>
                <a:spcPts val="0"/>
              </a:spcAft>
              <a:buClr>
                <a:srgbClr val="FF0000"/>
              </a:buClr>
              <a:buSzPts val="1400"/>
              <a:buFont typeface="Arial"/>
              <a:buNone/>
            </a:pPr>
            <a:r>
              <a:rPr b="0" i="0" lang="en-US" sz="1400" u="none" cap="none" strike="noStrike">
                <a:solidFill>
                  <a:srgbClr val="FF0000"/>
                </a:solidFill>
                <a:latin typeface="Arial"/>
                <a:ea typeface="Arial"/>
                <a:cs typeface="Arial"/>
                <a:sym typeface="Arial"/>
              </a:rPr>
              <a:t>RME #1 MLCA</a:t>
            </a:r>
            <a:endParaRPr/>
          </a:p>
        </p:txBody>
      </p:sp>
      <p:sp>
        <p:nvSpPr>
          <p:cNvPr id="476" name="Google Shape;476;p60"/>
          <p:cNvSpPr txBox="1"/>
          <p:nvPr/>
        </p:nvSpPr>
        <p:spPr>
          <a:xfrm>
            <a:off x="324000" y="5778000"/>
            <a:ext cx="2160000" cy="252000"/>
          </a:xfrm>
          <a:prstGeom prst="rect">
            <a:avLst/>
          </a:prstGeom>
          <a:solidFill>
            <a:srgbClr val="FFFFFF"/>
          </a:solidFill>
          <a:ln cap="flat" cmpd="sng" w="9525">
            <a:solidFill>
              <a:srgbClr val="FF0000"/>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lnSpc>
                <a:spcPct val="100000"/>
              </a:lnSpc>
              <a:spcBef>
                <a:spcPts val="0"/>
              </a:spcBef>
              <a:spcAft>
                <a:spcPts val="0"/>
              </a:spcAft>
              <a:buClr>
                <a:srgbClr val="FF0000"/>
              </a:buClr>
              <a:buSzPts val="1400"/>
              <a:buFont typeface="Arial"/>
              <a:buNone/>
            </a:pPr>
            <a:r>
              <a:rPr b="0" i="0" lang="en-US" sz="1400" u="none" cap="none" strike="noStrike">
                <a:solidFill>
                  <a:srgbClr val="FF0000"/>
                </a:solidFill>
                <a:latin typeface="Arial"/>
                <a:ea typeface="Arial"/>
                <a:cs typeface="Arial"/>
                <a:sym typeface="Arial"/>
              </a:rPr>
              <a:t>RME #9 ECT</a:t>
            </a:r>
            <a:endParaRPr/>
          </a:p>
        </p:txBody>
      </p:sp>
      <p:sp>
        <p:nvSpPr>
          <p:cNvPr id="477" name="Google Shape;477;p60"/>
          <p:cNvSpPr txBox="1"/>
          <p:nvPr/>
        </p:nvSpPr>
        <p:spPr>
          <a:xfrm>
            <a:off x="2628000" y="5778000"/>
            <a:ext cx="2772000" cy="252000"/>
          </a:xfrm>
          <a:prstGeom prst="rect">
            <a:avLst/>
          </a:prstGeom>
          <a:solidFill>
            <a:srgbClr val="FFFFFF"/>
          </a:solidFill>
          <a:ln cap="flat" cmpd="sng" w="9525">
            <a:solidFill>
              <a:srgbClr val="FF0000"/>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lnSpc>
                <a:spcPct val="100000"/>
              </a:lnSpc>
              <a:spcBef>
                <a:spcPts val="0"/>
              </a:spcBef>
              <a:spcAft>
                <a:spcPts val="0"/>
              </a:spcAft>
              <a:buClr>
                <a:srgbClr val="FF0000"/>
              </a:buClr>
              <a:buSzPts val="1400"/>
              <a:buFont typeface="Arial"/>
              <a:buNone/>
            </a:pPr>
            <a:r>
              <a:rPr b="0" i="0" lang="en-US" sz="1400" u="none" cap="none" strike="noStrike">
                <a:solidFill>
                  <a:srgbClr val="FF0000"/>
                </a:solidFill>
                <a:latin typeface="Arial"/>
                <a:ea typeface="Arial"/>
                <a:cs typeface="Arial"/>
                <a:sym typeface="Arial"/>
              </a:rPr>
              <a:t>RME #6 PECI</a:t>
            </a:r>
            <a:endParaRPr/>
          </a:p>
        </p:txBody>
      </p:sp>
      <p:cxnSp>
        <p:nvCxnSpPr>
          <p:cNvPr id="478" name="Google Shape;478;p60"/>
          <p:cNvCxnSpPr>
            <a:stCxn id="463" idx="2"/>
            <a:endCxn id="470" idx="0"/>
          </p:cNvCxnSpPr>
          <p:nvPr/>
        </p:nvCxnSpPr>
        <p:spPr>
          <a:xfrm>
            <a:off x="7182000" y="2357541"/>
            <a:ext cx="0" cy="123000"/>
          </a:xfrm>
          <a:prstGeom prst="straightConnector1">
            <a:avLst/>
          </a:prstGeom>
          <a:noFill/>
          <a:ln cap="flat" cmpd="sng" w="9525">
            <a:solidFill>
              <a:srgbClr val="000000"/>
            </a:solidFill>
            <a:prstDash val="solid"/>
            <a:miter lim="800000"/>
            <a:headEnd len="sm" w="sm" type="none"/>
            <a:tailEnd len="med" w="med" type="triangle"/>
          </a:ln>
        </p:spPr>
      </p:cxnSp>
      <p:cxnSp>
        <p:nvCxnSpPr>
          <p:cNvPr id="479" name="Google Shape;479;p60"/>
          <p:cNvCxnSpPr>
            <a:stCxn id="470" idx="2"/>
            <a:endCxn id="469" idx="0"/>
          </p:cNvCxnSpPr>
          <p:nvPr/>
        </p:nvCxnSpPr>
        <p:spPr>
          <a:xfrm>
            <a:off x="7182000" y="3003793"/>
            <a:ext cx="0" cy="1190100"/>
          </a:xfrm>
          <a:prstGeom prst="straightConnector1">
            <a:avLst/>
          </a:prstGeom>
          <a:noFill/>
          <a:ln cap="flat" cmpd="sng" w="9525">
            <a:solidFill>
              <a:srgbClr val="000000"/>
            </a:solidFill>
            <a:prstDash val="solid"/>
            <a:miter lim="800000"/>
            <a:headEnd len="sm" w="sm" type="none"/>
            <a:tailEnd len="med" w="med" type="triangle"/>
          </a:ln>
        </p:spPr>
      </p:cxnSp>
      <p:cxnSp>
        <p:nvCxnSpPr>
          <p:cNvPr id="480" name="Google Shape;480;p60"/>
          <p:cNvCxnSpPr>
            <a:stCxn id="469" idx="2"/>
            <a:endCxn id="471" idx="0"/>
          </p:cNvCxnSpPr>
          <p:nvPr/>
        </p:nvCxnSpPr>
        <p:spPr>
          <a:xfrm>
            <a:off x="7182000" y="4734000"/>
            <a:ext cx="0" cy="324000"/>
          </a:xfrm>
          <a:prstGeom prst="straightConnector1">
            <a:avLst/>
          </a:prstGeom>
          <a:noFill/>
          <a:ln cap="flat" cmpd="sng" w="9525">
            <a:solidFill>
              <a:srgbClr val="000000"/>
            </a:solidFill>
            <a:prstDash val="solid"/>
            <a:miter lim="800000"/>
            <a:headEnd len="sm" w="sm" type="none"/>
            <a:tailEnd len="med" w="med" type="triangle"/>
          </a:ln>
        </p:spPr>
      </p:cxnSp>
      <p:cxnSp>
        <p:nvCxnSpPr>
          <p:cNvPr id="481" name="Google Shape;481;p60"/>
          <p:cNvCxnSpPr>
            <a:stCxn id="465" idx="2"/>
            <a:endCxn id="466" idx="0"/>
          </p:cNvCxnSpPr>
          <p:nvPr/>
        </p:nvCxnSpPr>
        <p:spPr>
          <a:xfrm>
            <a:off x="4014000" y="4734000"/>
            <a:ext cx="0" cy="324000"/>
          </a:xfrm>
          <a:prstGeom prst="straightConnector1">
            <a:avLst/>
          </a:prstGeom>
          <a:noFill/>
          <a:ln cap="flat" cmpd="sng" w="9525">
            <a:solidFill>
              <a:srgbClr val="000000"/>
            </a:solidFill>
            <a:prstDash val="solid"/>
            <a:miter lim="800000"/>
            <a:headEnd len="sm" w="sm" type="none"/>
            <a:tailEnd len="med" w="med" type="triangle"/>
          </a:ln>
        </p:spPr>
      </p:cxnSp>
      <p:cxnSp>
        <p:nvCxnSpPr>
          <p:cNvPr id="482" name="Google Shape;482;p60"/>
          <p:cNvCxnSpPr>
            <a:stCxn id="460" idx="2"/>
            <a:endCxn id="465" idx="0"/>
          </p:cNvCxnSpPr>
          <p:nvPr/>
        </p:nvCxnSpPr>
        <p:spPr>
          <a:xfrm>
            <a:off x="4014000" y="2357541"/>
            <a:ext cx="0" cy="1836600"/>
          </a:xfrm>
          <a:prstGeom prst="straightConnector1">
            <a:avLst/>
          </a:prstGeom>
          <a:noFill/>
          <a:ln cap="flat" cmpd="sng" w="9525">
            <a:solidFill>
              <a:srgbClr val="000000"/>
            </a:solidFill>
            <a:prstDash val="solid"/>
            <a:miter lim="800000"/>
            <a:headEnd len="sm" w="sm" type="none"/>
            <a:tailEnd len="med" w="med" type="triangle"/>
          </a:ln>
        </p:spPr>
      </p:cxnSp>
      <p:cxnSp>
        <p:nvCxnSpPr>
          <p:cNvPr id="483" name="Google Shape;483;p60"/>
          <p:cNvCxnSpPr>
            <a:stCxn id="459" idx="2"/>
            <a:endCxn id="473" idx="0"/>
          </p:cNvCxnSpPr>
          <p:nvPr/>
        </p:nvCxnSpPr>
        <p:spPr>
          <a:xfrm>
            <a:off x="1404000" y="2556205"/>
            <a:ext cx="0" cy="1637700"/>
          </a:xfrm>
          <a:prstGeom prst="straightConnector1">
            <a:avLst/>
          </a:prstGeom>
          <a:noFill/>
          <a:ln cap="flat" cmpd="sng" w="9525">
            <a:solidFill>
              <a:srgbClr val="000000"/>
            </a:solidFill>
            <a:prstDash val="solid"/>
            <a:miter lim="800000"/>
            <a:headEnd len="sm" w="sm" type="none"/>
            <a:tailEnd len="med" w="med" type="triangle"/>
          </a:ln>
        </p:spPr>
      </p:cxnSp>
      <p:cxnSp>
        <p:nvCxnSpPr>
          <p:cNvPr id="484" name="Google Shape;484;p60"/>
          <p:cNvCxnSpPr>
            <a:stCxn id="473" idx="2"/>
            <a:endCxn id="472" idx="0"/>
          </p:cNvCxnSpPr>
          <p:nvPr/>
        </p:nvCxnSpPr>
        <p:spPr>
          <a:xfrm>
            <a:off x="1404000" y="4932664"/>
            <a:ext cx="0" cy="125400"/>
          </a:xfrm>
          <a:prstGeom prst="straightConnector1">
            <a:avLst/>
          </a:prstGeom>
          <a:noFill/>
          <a:ln cap="flat" cmpd="sng" w="9525">
            <a:solidFill>
              <a:srgbClr val="000000"/>
            </a:solidFill>
            <a:prstDash val="solid"/>
            <a:miter lim="800000"/>
            <a:headEnd len="sm" w="sm" type="none"/>
            <a:tailEnd len="med" w="med" type="triangle"/>
          </a:ln>
        </p:spPr>
      </p:cxnSp>
      <p:sp>
        <p:nvSpPr>
          <p:cNvPr id="485" name="Google Shape;485;p60"/>
          <p:cNvSpPr txBox="1"/>
          <p:nvPr/>
        </p:nvSpPr>
        <p:spPr>
          <a:xfrm>
            <a:off x="1656000" y="136086"/>
            <a:ext cx="4680000" cy="307777"/>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Debris fell, injuring one Worker &amp; damaged equipment</a:t>
            </a:r>
            <a:endParaRPr/>
          </a:p>
        </p:txBody>
      </p:sp>
      <p:sp>
        <p:nvSpPr>
          <p:cNvPr id="486" name="Google Shape;486;p60"/>
          <p:cNvSpPr txBox="1"/>
          <p:nvPr/>
        </p:nvSpPr>
        <p:spPr>
          <a:xfrm>
            <a:off x="1656000" y="616886"/>
            <a:ext cx="4680000" cy="307777"/>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IC-SC: Equipment &amp; Worker Were In Exclusion Zone</a:t>
            </a:r>
            <a:endParaRPr/>
          </a:p>
        </p:txBody>
      </p:sp>
      <p:sp>
        <p:nvSpPr>
          <p:cNvPr id="462" name="Google Shape;462;p60"/>
          <p:cNvSpPr txBox="1"/>
          <p:nvPr/>
        </p:nvSpPr>
        <p:spPr>
          <a:xfrm>
            <a:off x="1656000" y="1102588"/>
            <a:ext cx="4680000" cy="307777"/>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IC-SP: Worker did not follow exclusion zone procedures</a:t>
            </a:r>
            <a:endParaRPr/>
          </a:p>
        </p:txBody>
      </p:sp>
      <p:cxnSp>
        <p:nvCxnSpPr>
          <p:cNvPr id="487" name="Google Shape;487;p60"/>
          <p:cNvCxnSpPr>
            <a:stCxn id="486" idx="2"/>
            <a:endCxn id="462" idx="0"/>
          </p:cNvCxnSpPr>
          <p:nvPr/>
        </p:nvCxnSpPr>
        <p:spPr>
          <a:xfrm>
            <a:off x="3996000" y="924663"/>
            <a:ext cx="0" cy="177900"/>
          </a:xfrm>
          <a:prstGeom prst="straightConnector1">
            <a:avLst/>
          </a:prstGeom>
          <a:noFill/>
          <a:ln cap="flat" cmpd="sng" w="9525">
            <a:solidFill>
              <a:srgbClr val="000000"/>
            </a:solidFill>
            <a:prstDash val="solid"/>
            <a:miter lim="800000"/>
            <a:headEnd len="sm" w="sm" type="none"/>
            <a:tailEnd len="med" w="med" type="triangle"/>
          </a:ln>
        </p:spPr>
      </p:cxnSp>
      <p:cxnSp>
        <p:nvCxnSpPr>
          <p:cNvPr id="488" name="Google Shape;488;p60"/>
          <p:cNvCxnSpPr>
            <a:stCxn id="485" idx="2"/>
            <a:endCxn id="486" idx="0"/>
          </p:cNvCxnSpPr>
          <p:nvPr/>
        </p:nvCxnSpPr>
        <p:spPr>
          <a:xfrm>
            <a:off x="3996000" y="443863"/>
            <a:ext cx="0" cy="173100"/>
          </a:xfrm>
          <a:prstGeom prst="straightConnector1">
            <a:avLst/>
          </a:prstGeom>
          <a:noFill/>
          <a:ln cap="flat" cmpd="sng" w="9525">
            <a:solidFill>
              <a:srgbClr val="000000"/>
            </a:solidFill>
            <a:prstDash val="solid"/>
            <a:miter lim="800000"/>
            <a:headEnd len="sm" w="sm" type="none"/>
            <a:tailEnd len="med" w="med" type="triangle"/>
          </a:ln>
        </p:spPr>
      </p:cxnSp>
      <p:sp>
        <p:nvSpPr>
          <p:cNvPr id="489" name="Google Shape;489;p60"/>
          <p:cNvSpPr txBox="1"/>
          <p:nvPr/>
        </p:nvSpPr>
        <p:spPr>
          <a:xfrm>
            <a:off x="324000" y="182828"/>
            <a:ext cx="926377" cy="52322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Basic Causes</a:t>
            </a:r>
            <a:endParaRPr/>
          </a:p>
        </p:txBody>
      </p:sp>
      <p:sp>
        <p:nvSpPr>
          <p:cNvPr id="490" name="Google Shape;490;p60"/>
          <p:cNvSpPr txBox="1"/>
          <p:nvPr/>
        </p:nvSpPr>
        <p:spPr>
          <a:xfrm>
            <a:off x="5630226" y="3289898"/>
            <a:ext cx="3153774" cy="52322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Supervisor believed that production was paramount over safety</a:t>
            </a:r>
            <a:endParaRPr/>
          </a:p>
        </p:txBody>
      </p:sp>
      <p:sp>
        <p:nvSpPr>
          <p:cNvPr id="491" name="Google Shape;491;p60"/>
          <p:cNvSpPr/>
          <p:nvPr/>
        </p:nvSpPr>
        <p:spPr>
          <a:xfrm rot="1728864">
            <a:off x="6649789" y="687653"/>
            <a:ext cx="2180423" cy="695265"/>
          </a:xfrm>
          <a:prstGeom prst="doubleWave">
            <a:avLst>
              <a:gd fmla="val 6250" name="adj1"/>
              <a:gd fmla="val 0" name="adj2"/>
            </a:avLst>
          </a:prstGeom>
          <a:solidFill>
            <a:srgbClr val="00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The RCA Chart </a:t>
            </a:r>
            <a:br>
              <a:rPr b="0" i="0" lang="en-US" sz="1400" u="none" cap="none" strike="noStrike">
                <a:solidFill>
                  <a:srgbClr val="000000"/>
                </a:solidFill>
                <a:latin typeface="Calibri"/>
                <a:ea typeface="Calibri"/>
                <a:cs typeface="Calibri"/>
                <a:sym typeface="Calibri"/>
              </a:rPr>
            </a:br>
            <a:r>
              <a:rPr b="0" i="0" lang="en-US" sz="1400" u="none" cap="none" strike="noStrike">
                <a:solidFill>
                  <a:srgbClr val="000000"/>
                </a:solidFill>
                <a:latin typeface="Calibri"/>
                <a:ea typeface="Calibri"/>
                <a:cs typeface="Calibri"/>
                <a:sym typeface="Calibri"/>
              </a:rPr>
              <a:t>is developed!</a:t>
            </a:r>
            <a:endParaRPr/>
          </a:p>
        </p:txBody>
      </p:sp>
      <p:sp>
        <p:nvSpPr>
          <p:cNvPr id="492" name="Google Shape;492;p60"/>
          <p:cNvSpPr/>
          <p:nvPr/>
        </p:nvSpPr>
        <p:spPr>
          <a:xfrm>
            <a:off x="1618789" y="2840965"/>
            <a:ext cx="2180423" cy="981551"/>
          </a:xfrm>
          <a:prstGeom prst="doubleWave">
            <a:avLst>
              <a:gd fmla="val 6250" name="adj1"/>
              <a:gd fmla="val 0" name="adj2"/>
            </a:avLst>
          </a:prstGeom>
          <a:solidFill>
            <a:srgbClr val="00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Latent causes are numbered, categorized, and aligned with an RME </a:t>
            </a:r>
            <a:endParaRPr b="0" i="0" sz="1400" u="none" cap="none" strike="noStrike">
              <a:solidFill>
                <a:srgbClr val="000000"/>
              </a:solidFill>
              <a:latin typeface="Calibri"/>
              <a:ea typeface="Calibri"/>
              <a:cs typeface="Calibri"/>
              <a:sym typeface="Calibri"/>
            </a:endParaRPr>
          </a:p>
        </p:txBody>
      </p:sp>
      <p:cxnSp>
        <p:nvCxnSpPr>
          <p:cNvPr id="493" name="Google Shape;493;p60"/>
          <p:cNvCxnSpPr/>
          <p:nvPr/>
        </p:nvCxnSpPr>
        <p:spPr>
          <a:xfrm flipH="1">
            <a:off x="1800648" y="3684417"/>
            <a:ext cx="880200" cy="1296900"/>
          </a:xfrm>
          <a:prstGeom prst="straightConnector1">
            <a:avLst/>
          </a:prstGeom>
          <a:noFill/>
          <a:ln cap="flat" cmpd="sng" w="57150">
            <a:solidFill>
              <a:srgbClr val="00FFFF"/>
            </a:solidFill>
            <a:prstDash val="solid"/>
            <a:round/>
            <a:headEnd len="sm" w="sm" type="none"/>
            <a:tailEnd len="med" w="med" type="triangle"/>
          </a:ln>
        </p:spPr>
      </p:cxnSp>
      <p:cxnSp>
        <p:nvCxnSpPr>
          <p:cNvPr id="494" name="Google Shape;494;p60"/>
          <p:cNvCxnSpPr/>
          <p:nvPr/>
        </p:nvCxnSpPr>
        <p:spPr>
          <a:xfrm>
            <a:off x="2680848" y="3684417"/>
            <a:ext cx="1333152" cy="1373583"/>
          </a:xfrm>
          <a:prstGeom prst="straightConnector1">
            <a:avLst/>
          </a:prstGeom>
          <a:noFill/>
          <a:ln cap="flat" cmpd="sng" w="57150">
            <a:solidFill>
              <a:srgbClr val="00FFFF"/>
            </a:solidFill>
            <a:prstDash val="solid"/>
            <a:round/>
            <a:headEnd len="sm" w="sm" type="none"/>
            <a:tailEnd len="med" w="med" type="triangle"/>
          </a:ln>
        </p:spPr>
      </p:cxnSp>
      <p:cxnSp>
        <p:nvCxnSpPr>
          <p:cNvPr id="495" name="Google Shape;495;p60"/>
          <p:cNvCxnSpPr/>
          <p:nvPr/>
        </p:nvCxnSpPr>
        <p:spPr>
          <a:xfrm>
            <a:off x="2680848" y="3684417"/>
            <a:ext cx="4501152" cy="1373583"/>
          </a:xfrm>
          <a:prstGeom prst="straightConnector1">
            <a:avLst/>
          </a:prstGeom>
          <a:noFill/>
          <a:ln cap="flat" cmpd="sng" w="57150">
            <a:solidFill>
              <a:srgbClr val="00FFFF"/>
            </a:solidFill>
            <a:prstDash val="solid"/>
            <a:round/>
            <a:headEnd len="sm" w="sm" type="none"/>
            <a:tailEnd len="med" w="med" type="triangle"/>
          </a:ln>
        </p:spPr>
      </p:cxn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19"/>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502" name="Google Shape;502;p19"/>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503" name="Google Shape;503;p19"/>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sp>
        <p:nvSpPr>
          <p:cNvPr id="504" name="Google Shape;504;p19"/>
          <p:cNvSpPr txBox="1"/>
          <p:nvPr/>
        </p:nvSpPr>
        <p:spPr>
          <a:xfrm>
            <a:off x="324000" y="2574000"/>
            <a:ext cx="2160000" cy="738664"/>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Worker was not aware of exclusion zone procedures</a:t>
            </a:r>
            <a:endParaRPr b="0" i="0" sz="1400" u="none" cap="none" strike="noStrike">
              <a:solidFill>
                <a:srgbClr val="000000"/>
              </a:solidFill>
              <a:latin typeface="Arial"/>
              <a:ea typeface="Arial"/>
              <a:cs typeface="Arial"/>
              <a:sym typeface="Arial"/>
            </a:endParaRPr>
          </a:p>
        </p:txBody>
      </p:sp>
      <p:cxnSp>
        <p:nvCxnSpPr>
          <p:cNvPr id="505" name="Google Shape;505;p19"/>
          <p:cNvCxnSpPr>
            <a:stCxn id="506" idx="2"/>
            <a:endCxn id="504" idx="0"/>
          </p:cNvCxnSpPr>
          <p:nvPr/>
        </p:nvCxnSpPr>
        <p:spPr>
          <a:xfrm rot="5400000">
            <a:off x="2540495" y="1112281"/>
            <a:ext cx="325200" cy="2598000"/>
          </a:xfrm>
          <a:prstGeom prst="bentConnector3">
            <a:avLst>
              <a:gd fmla="val 50018" name="adj1"/>
            </a:avLst>
          </a:prstGeom>
          <a:noFill/>
          <a:ln cap="flat" cmpd="sng" w="9525">
            <a:solidFill>
              <a:srgbClr val="000000"/>
            </a:solidFill>
            <a:prstDash val="solid"/>
            <a:miter lim="800000"/>
            <a:headEnd len="sm" w="sm" type="none"/>
            <a:tailEnd len="med" w="med" type="triangle"/>
          </a:ln>
        </p:spPr>
      </p:cxnSp>
      <p:sp>
        <p:nvSpPr>
          <p:cNvPr id="506" name="Google Shape;506;p19"/>
          <p:cNvSpPr/>
          <p:nvPr/>
        </p:nvSpPr>
        <p:spPr>
          <a:xfrm>
            <a:off x="3783215" y="1956944"/>
            <a:ext cx="437760" cy="324152"/>
          </a:xfrm>
          <a:prstGeom prst="flowChartPunchedTape">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rgbClr val="262626"/>
              </a:solidFill>
              <a:latin typeface="Arial"/>
              <a:ea typeface="Arial"/>
              <a:cs typeface="Arial"/>
              <a:sym typeface="Arial"/>
            </a:endParaRPr>
          </a:p>
        </p:txBody>
      </p:sp>
      <p:sp>
        <p:nvSpPr>
          <p:cNvPr id="507" name="Google Shape;507;p19"/>
          <p:cNvSpPr txBox="1"/>
          <p:nvPr/>
        </p:nvSpPr>
        <p:spPr>
          <a:xfrm>
            <a:off x="324000" y="5182695"/>
            <a:ext cx="2160000" cy="738664"/>
          </a:xfrm>
          <a:prstGeom prst="rect">
            <a:avLst/>
          </a:prstGeom>
          <a:solidFill>
            <a:srgbClr val="FEE599"/>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LC1-P: There was no training program for mining operations.</a:t>
            </a:r>
            <a:endParaRPr b="0" i="0" sz="1400" u="none" cap="none" strike="noStrike">
              <a:solidFill>
                <a:srgbClr val="000000"/>
              </a:solidFill>
              <a:latin typeface="Arial"/>
              <a:ea typeface="Arial"/>
              <a:cs typeface="Arial"/>
              <a:sym typeface="Arial"/>
            </a:endParaRPr>
          </a:p>
        </p:txBody>
      </p:sp>
      <p:sp>
        <p:nvSpPr>
          <p:cNvPr id="508" name="Google Shape;508;p19"/>
          <p:cNvSpPr txBox="1"/>
          <p:nvPr/>
        </p:nvSpPr>
        <p:spPr>
          <a:xfrm>
            <a:off x="324000" y="3811610"/>
            <a:ext cx="2160000" cy="738664"/>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BC-JF: Worker was not trained on those procedures</a:t>
            </a:r>
            <a:endParaRPr b="1" i="0" sz="1400" u="none" cap="none" strike="noStrike">
              <a:solidFill>
                <a:srgbClr val="000000"/>
              </a:solidFill>
              <a:latin typeface="Arial"/>
              <a:ea typeface="Arial"/>
              <a:cs typeface="Arial"/>
              <a:sym typeface="Arial"/>
            </a:endParaRPr>
          </a:p>
        </p:txBody>
      </p:sp>
      <p:sp>
        <p:nvSpPr>
          <p:cNvPr id="509" name="Google Shape;509;p19"/>
          <p:cNvSpPr txBox="1"/>
          <p:nvPr/>
        </p:nvSpPr>
        <p:spPr>
          <a:xfrm>
            <a:off x="324000" y="5902695"/>
            <a:ext cx="2160000" cy="252000"/>
          </a:xfrm>
          <a:prstGeom prst="rect">
            <a:avLst/>
          </a:prstGeom>
          <a:solidFill>
            <a:srgbClr val="FFFFFF"/>
          </a:solidFill>
          <a:ln cap="flat" cmpd="sng" w="9525">
            <a:solidFill>
              <a:srgbClr val="FF0000"/>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lnSpc>
                <a:spcPct val="100000"/>
              </a:lnSpc>
              <a:spcBef>
                <a:spcPts val="0"/>
              </a:spcBef>
              <a:spcAft>
                <a:spcPts val="0"/>
              </a:spcAft>
              <a:buClr>
                <a:srgbClr val="FF0000"/>
              </a:buClr>
              <a:buSzPts val="1400"/>
              <a:buFont typeface="Arial"/>
              <a:buNone/>
            </a:pPr>
            <a:r>
              <a:rPr b="0" i="0" lang="en-US" sz="1400" u="none" cap="none" strike="noStrike">
                <a:solidFill>
                  <a:srgbClr val="FF0000"/>
                </a:solidFill>
                <a:latin typeface="Arial"/>
                <a:ea typeface="Arial"/>
                <a:cs typeface="Arial"/>
                <a:sym typeface="Arial"/>
              </a:rPr>
              <a:t>RME #9 ECT</a:t>
            </a:r>
            <a:endParaRPr b="0" i="0" sz="1400" u="none" cap="none" strike="noStrike">
              <a:solidFill>
                <a:srgbClr val="000000"/>
              </a:solidFill>
              <a:latin typeface="Arial"/>
              <a:ea typeface="Arial"/>
              <a:cs typeface="Arial"/>
              <a:sym typeface="Arial"/>
            </a:endParaRPr>
          </a:p>
        </p:txBody>
      </p:sp>
      <p:cxnSp>
        <p:nvCxnSpPr>
          <p:cNvPr id="510" name="Google Shape;510;p19"/>
          <p:cNvCxnSpPr/>
          <p:nvPr/>
        </p:nvCxnSpPr>
        <p:spPr>
          <a:xfrm>
            <a:off x="7182000" y="3114000"/>
            <a:ext cx="0" cy="247742"/>
          </a:xfrm>
          <a:prstGeom prst="straightConnector1">
            <a:avLst/>
          </a:prstGeom>
          <a:noFill/>
          <a:ln cap="flat" cmpd="sng" w="9525">
            <a:solidFill>
              <a:srgbClr val="000000"/>
            </a:solidFill>
            <a:prstDash val="solid"/>
            <a:miter lim="800000"/>
            <a:headEnd len="sm" w="sm" type="none"/>
            <a:tailEnd len="med" w="med" type="triangle"/>
          </a:ln>
        </p:spPr>
      </p:cxnSp>
      <p:cxnSp>
        <p:nvCxnSpPr>
          <p:cNvPr id="511" name="Google Shape;511;p19"/>
          <p:cNvCxnSpPr>
            <a:stCxn id="504" idx="2"/>
            <a:endCxn id="508" idx="0"/>
          </p:cNvCxnSpPr>
          <p:nvPr/>
        </p:nvCxnSpPr>
        <p:spPr>
          <a:xfrm>
            <a:off x="1404000" y="3312664"/>
            <a:ext cx="0" cy="498900"/>
          </a:xfrm>
          <a:prstGeom prst="straightConnector1">
            <a:avLst/>
          </a:prstGeom>
          <a:noFill/>
          <a:ln cap="flat" cmpd="sng" w="9525">
            <a:solidFill>
              <a:srgbClr val="000000"/>
            </a:solidFill>
            <a:prstDash val="solid"/>
            <a:miter lim="800000"/>
            <a:headEnd len="sm" w="sm" type="none"/>
            <a:tailEnd len="med" w="med" type="triangle"/>
          </a:ln>
        </p:spPr>
      </p:cxnSp>
      <p:cxnSp>
        <p:nvCxnSpPr>
          <p:cNvPr id="512" name="Google Shape;512;p19"/>
          <p:cNvCxnSpPr>
            <a:stCxn id="508" idx="2"/>
            <a:endCxn id="507" idx="0"/>
          </p:cNvCxnSpPr>
          <p:nvPr/>
        </p:nvCxnSpPr>
        <p:spPr>
          <a:xfrm>
            <a:off x="1404000" y="4550274"/>
            <a:ext cx="0" cy="632400"/>
          </a:xfrm>
          <a:prstGeom prst="straightConnector1">
            <a:avLst/>
          </a:prstGeom>
          <a:noFill/>
          <a:ln cap="flat" cmpd="sng" w="9525">
            <a:solidFill>
              <a:srgbClr val="000000"/>
            </a:solidFill>
            <a:prstDash val="solid"/>
            <a:miter lim="800000"/>
            <a:headEnd len="sm" w="sm" type="none"/>
            <a:tailEnd len="med" w="med" type="triangle"/>
          </a:ln>
        </p:spPr>
      </p:cxnSp>
      <p:sp>
        <p:nvSpPr>
          <p:cNvPr id="513" name="Google Shape;513;p19"/>
          <p:cNvSpPr txBox="1"/>
          <p:nvPr/>
        </p:nvSpPr>
        <p:spPr>
          <a:xfrm>
            <a:off x="1656000" y="393780"/>
            <a:ext cx="4680000" cy="307777"/>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Debris fell, injuring one Worker &amp; damaged equipment</a:t>
            </a:r>
            <a:endParaRPr b="0" i="0" sz="1400" u="none" cap="none" strike="noStrike">
              <a:solidFill>
                <a:srgbClr val="262626"/>
              </a:solidFill>
              <a:latin typeface="Arial"/>
              <a:ea typeface="Arial"/>
              <a:cs typeface="Arial"/>
              <a:sym typeface="Arial"/>
            </a:endParaRPr>
          </a:p>
        </p:txBody>
      </p:sp>
      <p:sp>
        <p:nvSpPr>
          <p:cNvPr id="514" name="Google Shape;514;p19"/>
          <p:cNvSpPr txBox="1"/>
          <p:nvPr/>
        </p:nvSpPr>
        <p:spPr>
          <a:xfrm>
            <a:off x="1656000" y="932771"/>
            <a:ext cx="4680000" cy="307777"/>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Equipment &amp; Worker Were In Exclusion Zone</a:t>
            </a:r>
            <a:endParaRPr b="0" i="0" sz="1400" u="none" cap="none" strike="noStrike">
              <a:solidFill>
                <a:srgbClr val="000000"/>
              </a:solidFill>
              <a:latin typeface="Arial"/>
              <a:ea typeface="Arial"/>
              <a:cs typeface="Arial"/>
              <a:sym typeface="Arial"/>
            </a:endParaRPr>
          </a:p>
        </p:txBody>
      </p:sp>
      <p:sp>
        <p:nvSpPr>
          <p:cNvPr id="515" name="Google Shape;515;p19"/>
          <p:cNvSpPr txBox="1"/>
          <p:nvPr/>
        </p:nvSpPr>
        <p:spPr>
          <a:xfrm>
            <a:off x="1656000" y="1418473"/>
            <a:ext cx="4680000" cy="2880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Worker did not follow exclusion zone procedures</a:t>
            </a:r>
            <a:endParaRPr b="0" i="0" sz="1400" u="none" cap="none" strike="noStrike">
              <a:solidFill>
                <a:srgbClr val="000000"/>
              </a:solidFill>
              <a:latin typeface="Arial"/>
              <a:ea typeface="Arial"/>
              <a:cs typeface="Arial"/>
              <a:sym typeface="Arial"/>
            </a:endParaRPr>
          </a:p>
        </p:txBody>
      </p:sp>
      <p:cxnSp>
        <p:nvCxnSpPr>
          <p:cNvPr id="516" name="Google Shape;516;p19"/>
          <p:cNvCxnSpPr>
            <a:stCxn id="514" idx="2"/>
            <a:endCxn id="515" idx="0"/>
          </p:cNvCxnSpPr>
          <p:nvPr/>
        </p:nvCxnSpPr>
        <p:spPr>
          <a:xfrm>
            <a:off x="3996000" y="1240548"/>
            <a:ext cx="0" cy="177900"/>
          </a:xfrm>
          <a:prstGeom prst="straightConnector1">
            <a:avLst/>
          </a:prstGeom>
          <a:noFill/>
          <a:ln cap="flat" cmpd="sng" w="9525">
            <a:solidFill>
              <a:srgbClr val="000000"/>
            </a:solidFill>
            <a:prstDash val="solid"/>
            <a:miter lim="800000"/>
            <a:headEnd len="sm" w="sm" type="none"/>
            <a:tailEnd len="med" w="med" type="triangle"/>
          </a:ln>
        </p:spPr>
      </p:cxnSp>
      <p:cxnSp>
        <p:nvCxnSpPr>
          <p:cNvPr id="517" name="Google Shape;517;p19"/>
          <p:cNvCxnSpPr>
            <a:stCxn id="515" idx="2"/>
            <a:endCxn id="506" idx="0"/>
          </p:cNvCxnSpPr>
          <p:nvPr/>
        </p:nvCxnSpPr>
        <p:spPr>
          <a:xfrm>
            <a:off x="3996000" y="1706473"/>
            <a:ext cx="6000" cy="282900"/>
          </a:xfrm>
          <a:prstGeom prst="straightConnector1">
            <a:avLst/>
          </a:prstGeom>
          <a:noFill/>
          <a:ln cap="flat" cmpd="sng" w="9525">
            <a:solidFill>
              <a:srgbClr val="000000"/>
            </a:solidFill>
            <a:prstDash val="solid"/>
            <a:miter lim="800000"/>
            <a:headEnd len="sm" w="sm" type="none"/>
            <a:tailEnd len="med" w="med" type="triangle"/>
          </a:ln>
        </p:spPr>
      </p:cxnSp>
      <p:sp>
        <p:nvSpPr>
          <p:cNvPr id="518" name="Google Shape;518;p19"/>
          <p:cNvSpPr/>
          <p:nvPr/>
        </p:nvSpPr>
        <p:spPr>
          <a:xfrm rot="-1344127">
            <a:off x="3170861" y="2640923"/>
            <a:ext cx="4979235" cy="2576572"/>
          </a:xfrm>
          <a:prstGeom prst="doubleWave">
            <a:avLst>
              <a:gd fmla="val 6250" name="adj1"/>
              <a:gd fmla="val 0" name="adj2"/>
            </a:avLst>
          </a:prstGeom>
          <a:solidFill>
            <a:srgbClr val="00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000"/>
              <a:buFont typeface="Calibri"/>
              <a:buNone/>
            </a:pPr>
            <a:r>
              <a:rPr b="0" i="0" lang="en-US" sz="4000" u="none" cap="none" strike="noStrike">
                <a:solidFill>
                  <a:srgbClr val="000000"/>
                </a:solidFill>
                <a:latin typeface="Calibri"/>
                <a:ea typeface="Calibri"/>
                <a:cs typeface="Calibri"/>
                <a:sym typeface="Calibri"/>
              </a:rPr>
              <a:t>Revisit One Basic Cause in the</a:t>
            </a:r>
            <a:br>
              <a:rPr b="0" i="0" lang="en-US" sz="4000" u="none" cap="none" strike="noStrike">
                <a:solidFill>
                  <a:srgbClr val="000000"/>
                </a:solidFill>
                <a:latin typeface="Calibri"/>
                <a:ea typeface="Calibri"/>
                <a:cs typeface="Calibri"/>
                <a:sym typeface="Calibri"/>
              </a:rPr>
            </a:br>
            <a:r>
              <a:rPr b="0" i="0" lang="en-US" sz="4000" u="none" cap="none" strike="noStrike">
                <a:solidFill>
                  <a:srgbClr val="000000"/>
                </a:solidFill>
                <a:latin typeface="Calibri"/>
                <a:ea typeface="Calibri"/>
                <a:cs typeface="Calibri"/>
                <a:sym typeface="Calibri"/>
              </a:rPr>
              <a:t>“Mine Loss RCA”</a:t>
            </a:r>
            <a:endParaRPr b="0" i="0" sz="1400" u="none" cap="none" strike="noStrike">
              <a:solidFill>
                <a:srgbClr val="000000"/>
              </a:solidFill>
              <a:latin typeface="Arial"/>
              <a:ea typeface="Arial"/>
              <a:cs typeface="Arial"/>
              <a:sym typeface="Arial"/>
            </a:endParaRPr>
          </a:p>
        </p:txBody>
      </p:sp>
      <p:sp>
        <p:nvSpPr>
          <p:cNvPr id="519" name="Google Shape;519;p19"/>
          <p:cNvSpPr/>
          <p:nvPr/>
        </p:nvSpPr>
        <p:spPr>
          <a:xfrm>
            <a:off x="180000" y="216000"/>
            <a:ext cx="8640000" cy="504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Examples of Latent Causes in Different Categories:</a:t>
            </a:r>
            <a:endParaRPr b="0" i="0" sz="2400" u="none" cap="none" strike="noStrike">
              <a:solidFill>
                <a:srgbClr val="333399"/>
              </a:solidFill>
              <a:latin typeface="Arial"/>
              <a:ea typeface="Arial"/>
              <a:cs typeface="Arial"/>
              <a:sym typeface="Arial"/>
            </a:endParaRPr>
          </a:p>
        </p:txBody>
      </p:sp>
      <p:sp>
        <p:nvSpPr>
          <p:cNvPr id="520" name="Google Shape;520;p19"/>
          <p:cNvSpPr txBox="1"/>
          <p:nvPr/>
        </p:nvSpPr>
        <p:spPr>
          <a:xfrm>
            <a:off x="7423069" y="1232105"/>
            <a:ext cx="1496487" cy="307777"/>
          </a:xfrm>
          <a:prstGeom prst="rect">
            <a:avLst/>
          </a:prstGeom>
          <a:solidFill>
            <a:srgbClr val="FEE599"/>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Latent Causes</a:t>
            </a:r>
            <a:endParaRPr b="0" i="0" sz="1400" u="none" cap="none" strike="noStrike">
              <a:solidFill>
                <a:srgbClr val="000000"/>
              </a:solidFill>
              <a:latin typeface="Arial"/>
              <a:ea typeface="Arial"/>
              <a:cs typeface="Arial"/>
              <a:sym typeface="Arial"/>
            </a:endParaRPr>
          </a:p>
        </p:txBody>
      </p:sp>
      <p:sp>
        <p:nvSpPr>
          <p:cNvPr id="521" name="Google Shape;521;p19"/>
          <p:cNvSpPr txBox="1"/>
          <p:nvPr/>
        </p:nvSpPr>
        <p:spPr>
          <a:xfrm>
            <a:off x="7423069" y="890913"/>
            <a:ext cx="1496487" cy="307777"/>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Basic Causes</a:t>
            </a:r>
            <a:endParaRPr b="0" i="0" sz="14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20"/>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528" name="Google Shape;528;p20"/>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529" name="Google Shape;529;p20"/>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sp>
        <p:nvSpPr>
          <p:cNvPr id="530" name="Google Shape;530;p20"/>
          <p:cNvSpPr txBox="1"/>
          <p:nvPr/>
        </p:nvSpPr>
        <p:spPr>
          <a:xfrm>
            <a:off x="324000" y="2482557"/>
            <a:ext cx="2160000" cy="738664"/>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Worker was not aware of exclusion zone procedures</a:t>
            </a:r>
            <a:endParaRPr b="0" i="0" sz="1400" u="none" cap="none" strike="noStrike">
              <a:solidFill>
                <a:srgbClr val="000000"/>
              </a:solidFill>
              <a:latin typeface="Arial"/>
              <a:ea typeface="Arial"/>
              <a:cs typeface="Arial"/>
              <a:sym typeface="Arial"/>
            </a:endParaRPr>
          </a:p>
        </p:txBody>
      </p:sp>
      <p:cxnSp>
        <p:nvCxnSpPr>
          <p:cNvPr id="531" name="Google Shape;531;p20"/>
          <p:cNvCxnSpPr>
            <a:stCxn id="532" idx="2"/>
            <a:endCxn id="530" idx="0"/>
          </p:cNvCxnSpPr>
          <p:nvPr/>
        </p:nvCxnSpPr>
        <p:spPr>
          <a:xfrm flipH="1" rot="-5400000">
            <a:off x="1084350" y="2162226"/>
            <a:ext cx="639900" cy="600"/>
          </a:xfrm>
          <a:prstGeom prst="bentConnector3">
            <a:avLst>
              <a:gd fmla="val 50999" name="adj1"/>
            </a:avLst>
          </a:prstGeom>
          <a:noFill/>
          <a:ln cap="flat" cmpd="sng" w="9525">
            <a:solidFill>
              <a:srgbClr val="000000"/>
            </a:solidFill>
            <a:prstDash val="solid"/>
            <a:miter lim="800000"/>
            <a:headEnd len="sm" w="sm" type="none"/>
            <a:tailEnd len="med" w="med" type="triangle"/>
          </a:ln>
        </p:spPr>
      </p:cxnSp>
      <p:sp>
        <p:nvSpPr>
          <p:cNvPr id="533" name="Google Shape;533;p20"/>
          <p:cNvSpPr/>
          <p:nvPr/>
        </p:nvSpPr>
        <p:spPr>
          <a:xfrm>
            <a:off x="1185120" y="1950084"/>
            <a:ext cx="437760" cy="324152"/>
          </a:xfrm>
          <a:prstGeom prst="flowChartPunchedTape">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rgbClr val="262626"/>
              </a:solidFill>
              <a:latin typeface="Arial"/>
              <a:ea typeface="Arial"/>
              <a:cs typeface="Arial"/>
              <a:sym typeface="Arial"/>
            </a:endParaRPr>
          </a:p>
        </p:txBody>
      </p:sp>
      <p:sp>
        <p:nvSpPr>
          <p:cNvPr id="534" name="Google Shape;534;p20"/>
          <p:cNvSpPr txBox="1"/>
          <p:nvPr/>
        </p:nvSpPr>
        <p:spPr>
          <a:xfrm>
            <a:off x="324000" y="5182695"/>
            <a:ext cx="2160000" cy="738664"/>
          </a:xfrm>
          <a:prstGeom prst="rect">
            <a:avLst/>
          </a:prstGeom>
          <a:solidFill>
            <a:srgbClr val="FEE599"/>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LC1-P: There was no training program for mining operations.</a:t>
            </a:r>
            <a:endParaRPr b="0" i="0" sz="1400" u="none" cap="none" strike="noStrike">
              <a:solidFill>
                <a:srgbClr val="000000"/>
              </a:solidFill>
              <a:latin typeface="Arial"/>
              <a:ea typeface="Arial"/>
              <a:cs typeface="Arial"/>
              <a:sym typeface="Arial"/>
            </a:endParaRPr>
          </a:p>
        </p:txBody>
      </p:sp>
      <p:sp>
        <p:nvSpPr>
          <p:cNvPr id="535" name="Google Shape;535;p20"/>
          <p:cNvSpPr txBox="1"/>
          <p:nvPr/>
        </p:nvSpPr>
        <p:spPr>
          <a:xfrm>
            <a:off x="324000" y="3429224"/>
            <a:ext cx="2160000" cy="738664"/>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BC-JF: Worker was not trained on those procedures</a:t>
            </a:r>
            <a:endParaRPr b="1" i="0" sz="1400" u="none" cap="none" strike="noStrike">
              <a:solidFill>
                <a:srgbClr val="000000"/>
              </a:solidFill>
              <a:latin typeface="Arial"/>
              <a:ea typeface="Arial"/>
              <a:cs typeface="Arial"/>
              <a:sym typeface="Arial"/>
            </a:endParaRPr>
          </a:p>
        </p:txBody>
      </p:sp>
      <p:sp>
        <p:nvSpPr>
          <p:cNvPr id="536" name="Google Shape;536;p20"/>
          <p:cNvSpPr txBox="1"/>
          <p:nvPr/>
        </p:nvSpPr>
        <p:spPr>
          <a:xfrm>
            <a:off x="324000" y="5902695"/>
            <a:ext cx="2160000" cy="252000"/>
          </a:xfrm>
          <a:prstGeom prst="rect">
            <a:avLst/>
          </a:prstGeom>
          <a:solidFill>
            <a:srgbClr val="FFFFFF"/>
          </a:solidFill>
          <a:ln cap="flat" cmpd="sng" w="9525">
            <a:solidFill>
              <a:srgbClr val="FF0000"/>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lnSpc>
                <a:spcPct val="100000"/>
              </a:lnSpc>
              <a:spcBef>
                <a:spcPts val="0"/>
              </a:spcBef>
              <a:spcAft>
                <a:spcPts val="0"/>
              </a:spcAft>
              <a:buClr>
                <a:srgbClr val="FF0000"/>
              </a:buClr>
              <a:buSzPts val="1400"/>
              <a:buFont typeface="Arial"/>
              <a:buNone/>
            </a:pPr>
            <a:r>
              <a:rPr b="0" i="0" lang="en-US" sz="1400" u="none" cap="none" strike="noStrike">
                <a:solidFill>
                  <a:srgbClr val="FF0000"/>
                </a:solidFill>
                <a:latin typeface="Arial"/>
                <a:ea typeface="Arial"/>
                <a:cs typeface="Arial"/>
                <a:sym typeface="Arial"/>
              </a:rPr>
              <a:t>RME #9 ECT</a:t>
            </a:r>
            <a:endParaRPr b="0" i="0" sz="1400" u="none" cap="none" strike="noStrike">
              <a:solidFill>
                <a:srgbClr val="000000"/>
              </a:solidFill>
              <a:latin typeface="Arial"/>
              <a:ea typeface="Arial"/>
              <a:cs typeface="Arial"/>
              <a:sym typeface="Arial"/>
            </a:endParaRPr>
          </a:p>
        </p:txBody>
      </p:sp>
      <p:cxnSp>
        <p:nvCxnSpPr>
          <p:cNvPr id="537" name="Google Shape;537;p20"/>
          <p:cNvCxnSpPr>
            <a:stCxn id="530" idx="2"/>
            <a:endCxn id="535" idx="0"/>
          </p:cNvCxnSpPr>
          <p:nvPr/>
        </p:nvCxnSpPr>
        <p:spPr>
          <a:xfrm>
            <a:off x="1404000" y="3221221"/>
            <a:ext cx="0" cy="207900"/>
          </a:xfrm>
          <a:prstGeom prst="straightConnector1">
            <a:avLst/>
          </a:prstGeom>
          <a:noFill/>
          <a:ln cap="flat" cmpd="sng" w="9525">
            <a:solidFill>
              <a:srgbClr val="000000"/>
            </a:solidFill>
            <a:prstDash val="solid"/>
            <a:miter lim="800000"/>
            <a:headEnd len="sm" w="sm" type="none"/>
            <a:tailEnd len="med" w="med" type="triangle"/>
          </a:ln>
        </p:spPr>
      </p:cxnSp>
      <p:cxnSp>
        <p:nvCxnSpPr>
          <p:cNvPr id="538" name="Google Shape;538;p20"/>
          <p:cNvCxnSpPr>
            <a:stCxn id="535" idx="2"/>
            <a:endCxn id="534" idx="0"/>
          </p:cNvCxnSpPr>
          <p:nvPr/>
        </p:nvCxnSpPr>
        <p:spPr>
          <a:xfrm>
            <a:off x="1404000" y="4167888"/>
            <a:ext cx="0" cy="1014900"/>
          </a:xfrm>
          <a:prstGeom prst="straightConnector1">
            <a:avLst/>
          </a:prstGeom>
          <a:noFill/>
          <a:ln cap="flat" cmpd="sng" w="9525">
            <a:solidFill>
              <a:srgbClr val="000000"/>
            </a:solidFill>
            <a:prstDash val="solid"/>
            <a:miter lim="800000"/>
            <a:headEnd len="sm" w="sm" type="none"/>
            <a:tailEnd len="med" w="med" type="triangle"/>
          </a:ln>
        </p:spPr>
      </p:cxnSp>
      <p:sp>
        <p:nvSpPr>
          <p:cNvPr id="532" name="Google Shape;532;p20"/>
          <p:cNvSpPr txBox="1"/>
          <p:nvPr/>
        </p:nvSpPr>
        <p:spPr>
          <a:xfrm>
            <a:off x="324000" y="1103912"/>
            <a:ext cx="2160000" cy="738664"/>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Worker did not follow exclusion zone procedures</a:t>
            </a:r>
            <a:endParaRPr b="0" i="0" sz="1400" u="none" cap="none" strike="noStrike">
              <a:solidFill>
                <a:srgbClr val="000000"/>
              </a:solidFill>
              <a:latin typeface="Arial"/>
              <a:ea typeface="Arial"/>
              <a:cs typeface="Arial"/>
              <a:sym typeface="Arial"/>
            </a:endParaRPr>
          </a:p>
        </p:txBody>
      </p:sp>
      <p:cxnSp>
        <p:nvCxnSpPr>
          <p:cNvPr id="539" name="Google Shape;539;p20"/>
          <p:cNvCxnSpPr>
            <a:endCxn id="532" idx="0"/>
          </p:cNvCxnSpPr>
          <p:nvPr/>
        </p:nvCxnSpPr>
        <p:spPr>
          <a:xfrm>
            <a:off x="1397700" y="770012"/>
            <a:ext cx="6300" cy="333900"/>
          </a:xfrm>
          <a:prstGeom prst="straightConnector1">
            <a:avLst/>
          </a:prstGeom>
          <a:noFill/>
          <a:ln cap="flat" cmpd="sng" w="9525">
            <a:solidFill>
              <a:srgbClr val="000000"/>
            </a:solidFill>
            <a:prstDash val="dash"/>
            <a:miter lim="800000"/>
            <a:headEnd len="sm" w="sm" type="none"/>
            <a:tailEnd len="med" w="med" type="triangle"/>
          </a:ln>
        </p:spPr>
      </p:cxnSp>
      <p:sp>
        <p:nvSpPr>
          <p:cNvPr id="540" name="Google Shape;540;p20"/>
          <p:cNvSpPr txBox="1"/>
          <p:nvPr/>
        </p:nvSpPr>
        <p:spPr>
          <a:xfrm>
            <a:off x="2817753" y="5040000"/>
            <a:ext cx="2160000" cy="954107"/>
          </a:xfrm>
          <a:prstGeom prst="rect">
            <a:avLst/>
          </a:prstGeom>
          <a:solidFill>
            <a:srgbClr val="FEE599"/>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LC4-S: The employee training program did not include exclusion zone procedures</a:t>
            </a:r>
            <a:endParaRPr b="0" i="0" sz="1400" u="none" cap="none" strike="noStrike">
              <a:solidFill>
                <a:srgbClr val="000000"/>
              </a:solidFill>
              <a:latin typeface="Arial"/>
              <a:ea typeface="Arial"/>
              <a:cs typeface="Arial"/>
              <a:sym typeface="Arial"/>
            </a:endParaRPr>
          </a:p>
        </p:txBody>
      </p:sp>
      <p:sp>
        <p:nvSpPr>
          <p:cNvPr id="541" name="Google Shape;541;p20"/>
          <p:cNvSpPr txBox="1"/>
          <p:nvPr/>
        </p:nvSpPr>
        <p:spPr>
          <a:xfrm>
            <a:off x="2817753" y="5919317"/>
            <a:ext cx="2160000" cy="252000"/>
          </a:xfrm>
          <a:prstGeom prst="rect">
            <a:avLst/>
          </a:prstGeom>
          <a:solidFill>
            <a:srgbClr val="FFFFFF"/>
          </a:solidFill>
          <a:ln cap="flat" cmpd="sng" w="9525">
            <a:solidFill>
              <a:srgbClr val="FF0000"/>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lnSpc>
                <a:spcPct val="100000"/>
              </a:lnSpc>
              <a:spcBef>
                <a:spcPts val="0"/>
              </a:spcBef>
              <a:spcAft>
                <a:spcPts val="0"/>
              </a:spcAft>
              <a:buClr>
                <a:srgbClr val="FF0000"/>
              </a:buClr>
              <a:buSzPts val="1400"/>
              <a:buFont typeface="Arial"/>
              <a:buNone/>
            </a:pPr>
            <a:r>
              <a:rPr b="0" i="0" lang="en-US" sz="1400" u="none" cap="none" strike="noStrike">
                <a:solidFill>
                  <a:srgbClr val="FF0000"/>
                </a:solidFill>
                <a:latin typeface="Arial"/>
                <a:ea typeface="Arial"/>
                <a:cs typeface="Arial"/>
                <a:sym typeface="Arial"/>
              </a:rPr>
              <a:t>RME #9 ECT</a:t>
            </a:r>
            <a:endParaRPr b="0" i="0" sz="1400" u="none" cap="none" strike="noStrike">
              <a:solidFill>
                <a:srgbClr val="000000"/>
              </a:solidFill>
              <a:latin typeface="Arial"/>
              <a:ea typeface="Arial"/>
              <a:cs typeface="Arial"/>
              <a:sym typeface="Arial"/>
            </a:endParaRPr>
          </a:p>
        </p:txBody>
      </p:sp>
      <p:cxnSp>
        <p:nvCxnSpPr>
          <p:cNvPr id="542" name="Google Shape;542;p20"/>
          <p:cNvCxnSpPr>
            <a:stCxn id="543" idx="2"/>
            <a:endCxn id="540" idx="0"/>
          </p:cNvCxnSpPr>
          <p:nvPr/>
        </p:nvCxnSpPr>
        <p:spPr>
          <a:xfrm flipH="1" rot="-5400000">
            <a:off x="2443800" y="3585803"/>
            <a:ext cx="414300" cy="2493900"/>
          </a:xfrm>
          <a:prstGeom prst="bentConnector3">
            <a:avLst>
              <a:gd fmla="val 50012" name="adj1"/>
            </a:avLst>
          </a:prstGeom>
          <a:noFill/>
          <a:ln cap="flat" cmpd="sng" w="9525">
            <a:solidFill>
              <a:srgbClr val="000000"/>
            </a:solidFill>
            <a:prstDash val="solid"/>
            <a:miter lim="800000"/>
            <a:headEnd len="sm" w="sm" type="none"/>
            <a:tailEnd len="med" w="med" type="triangle"/>
          </a:ln>
        </p:spPr>
      </p:cxnSp>
      <p:sp>
        <p:nvSpPr>
          <p:cNvPr id="543" name="Google Shape;543;p20"/>
          <p:cNvSpPr/>
          <p:nvPr/>
        </p:nvSpPr>
        <p:spPr>
          <a:xfrm>
            <a:off x="1185120" y="4333866"/>
            <a:ext cx="437760" cy="324152"/>
          </a:xfrm>
          <a:prstGeom prst="flowChartPunchedTape">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rgbClr val="262626"/>
              </a:solidFill>
              <a:latin typeface="Arial"/>
              <a:ea typeface="Arial"/>
              <a:cs typeface="Arial"/>
              <a:sym typeface="Arial"/>
            </a:endParaRPr>
          </a:p>
        </p:txBody>
      </p:sp>
      <p:sp>
        <p:nvSpPr>
          <p:cNvPr id="544" name="Google Shape;544;p20"/>
          <p:cNvSpPr txBox="1"/>
          <p:nvPr/>
        </p:nvSpPr>
        <p:spPr>
          <a:xfrm>
            <a:off x="2650876" y="925216"/>
            <a:ext cx="6261120" cy="3539430"/>
          </a:xfrm>
          <a:prstGeom prst="rect">
            <a:avLst/>
          </a:pr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1" lang="en-US" sz="1400" u="none" cap="none" strike="noStrike">
                <a:solidFill>
                  <a:schemeClr val="lt1"/>
                </a:solidFill>
                <a:latin typeface="Arial"/>
                <a:ea typeface="Arial"/>
                <a:cs typeface="Arial"/>
                <a:sym typeface="Arial"/>
              </a:rPr>
              <a:t>This example demonstrates how one basic cause “could” be caused by a weakness in the same element (latent cause), but different categories of that latent cause.  Note the difference in LC1, LC4, &amp; LC5: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1"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1" lang="en-US" sz="1400" u="none" cap="none" strike="noStrike">
                <a:solidFill>
                  <a:schemeClr val="lt1"/>
                </a:solidFill>
                <a:latin typeface="Arial"/>
                <a:ea typeface="Arial"/>
                <a:cs typeface="Arial"/>
                <a:sym typeface="Arial"/>
              </a:rPr>
              <a:t>LC1: “no program”; therefore “P – inadequate program”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1"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1" lang="en-US" sz="1400" u="none" cap="none" strike="noStrike">
                <a:solidFill>
                  <a:schemeClr val="lt1"/>
                </a:solidFill>
                <a:latin typeface="Arial"/>
                <a:ea typeface="Arial"/>
                <a:cs typeface="Arial"/>
                <a:sym typeface="Arial"/>
              </a:rPr>
              <a:t>LC4: the existence of a program is implied, but it lacks </a:t>
            </a:r>
            <a:br>
              <a:rPr b="0" i="1" lang="en-US" sz="1400" u="none" cap="none" strike="noStrike">
                <a:solidFill>
                  <a:schemeClr val="lt1"/>
                </a:solidFill>
                <a:latin typeface="Arial"/>
                <a:ea typeface="Arial"/>
                <a:cs typeface="Arial"/>
                <a:sym typeface="Arial"/>
              </a:rPr>
            </a:br>
            <a:r>
              <a:rPr b="0" i="1" lang="en-US" sz="1400" u="none" cap="none" strike="noStrike">
                <a:solidFill>
                  <a:schemeClr val="lt1"/>
                </a:solidFill>
                <a:latin typeface="Arial"/>
                <a:ea typeface="Arial"/>
                <a:cs typeface="Arial"/>
                <a:sym typeface="Arial"/>
              </a:rPr>
              <a:t>in details; therefore “S – lack of program standards”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1"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1" lang="en-US" sz="1400" u="none" cap="none" strike="noStrike">
                <a:solidFill>
                  <a:schemeClr val="lt1"/>
                </a:solidFill>
                <a:latin typeface="Arial"/>
                <a:ea typeface="Arial"/>
                <a:cs typeface="Arial"/>
                <a:sym typeface="Arial"/>
              </a:rPr>
              <a:t>LC5: The program and standards are implemented, but </a:t>
            </a:r>
            <a:br>
              <a:rPr b="0" i="1" lang="en-US" sz="1400" u="none" cap="none" strike="noStrike">
                <a:solidFill>
                  <a:schemeClr val="lt1"/>
                </a:solidFill>
                <a:latin typeface="Arial"/>
                <a:ea typeface="Arial"/>
                <a:cs typeface="Arial"/>
                <a:sym typeface="Arial"/>
              </a:rPr>
            </a:br>
            <a:r>
              <a:rPr b="0" i="1" lang="en-US" sz="1400" u="none" cap="none" strike="noStrike">
                <a:solidFill>
                  <a:schemeClr val="lt1"/>
                </a:solidFill>
                <a:latin typeface="Arial"/>
                <a:ea typeface="Arial"/>
                <a:cs typeface="Arial"/>
                <a:sym typeface="Arial"/>
              </a:rPr>
              <a:t>were not executed as required; therefore </a:t>
            </a:r>
            <a:br>
              <a:rPr b="0" i="1" lang="en-US" sz="1400" u="none" cap="none" strike="noStrike">
                <a:solidFill>
                  <a:schemeClr val="lt1"/>
                </a:solidFill>
                <a:latin typeface="Arial"/>
                <a:ea typeface="Arial"/>
                <a:cs typeface="Arial"/>
                <a:sym typeface="Arial"/>
              </a:rPr>
            </a:br>
            <a:r>
              <a:rPr b="0" i="1" lang="en-US" sz="1400" u="none" cap="none" strike="noStrike">
                <a:solidFill>
                  <a:schemeClr val="lt1"/>
                </a:solidFill>
                <a:latin typeface="Arial"/>
                <a:ea typeface="Arial"/>
                <a:cs typeface="Arial"/>
                <a:sym typeface="Arial"/>
              </a:rPr>
              <a:t>“C – inadequate compliance with program standards”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1"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1" lang="en-US" sz="1400" u="none" cap="none" strike="noStrike">
                <a:solidFill>
                  <a:schemeClr val="lt1"/>
                </a:solidFill>
                <a:latin typeface="Arial"/>
                <a:ea typeface="Arial"/>
                <a:cs typeface="Arial"/>
                <a:sym typeface="Arial"/>
              </a:rPr>
              <a:t>A real investigation will only reveal one of these.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1"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1" lang="en-US" sz="1400" u="none" cap="none" strike="noStrike">
                <a:solidFill>
                  <a:schemeClr val="lt1"/>
                </a:solidFill>
                <a:latin typeface="Arial"/>
                <a:ea typeface="Arial"/>
                <a:cs typeface="Arial"/>
                <a:sym typeface="Arial"/>
              </a:rPr>
              <a:t>Your team project need only identify ONE, not all three. </a:t>
            </a:r>
            <a:endParaRPr b="0" i="0" sz="1400" u="none" cap="none" strike="noStrike">
              <a:solidFill>
                <a:srgbClr val="000000"/>
              </a:solidFill>
              <a:latin typeface="Arial"/>
              <a:ea typeface="Arial"/>
              <a:cs typeface="Arial"/>
              <a:sym typeface="Arial"/>
            </a:endParaRPr>
          </a:p>
        </p:txBody>
      </p:sp>
      <p:pic>
        <p:nvPicPr>
          <p:cNvPr id="545" name="Google Shape;545;p20"/>
          <p:cNvPicPr preferRelativeResize="0"/>
          <p:nvPr/>
        </p:nvPicPr>
        <p:blipFill rotWithShape="1">
          <a:blip r:embed="rId3">
            <a:alphaModFix/>
          </a:blip>
          <a:srcRect b="0" l="0" r="0" t="0"/>
          <a:stretch/>
        </p:blipFill>
        <p:spPr>
          <a:xfrm>
            <a:off x="7379285" y="1958397"/>
            <a:ext cx="1434115" cy="1338271"/>
          </a:xfrm>
          <a:prstGeom prst="rect">
            <a:avLst/>
          </a:prstGeom>
          <a:solidFill>
            <a:srgbClr val="FFFFFF"/>
          </a:solidFill>
          <a:ln cap="flat" cmpd="sng" w="9525">
            <a:solidFill>
              <a:srgbClr val="000000"/>
            </a:solidFill>
            <a:prstDash val="solid"/>
            <a:miter lim="800000"/>
            <a:headEnd len="sm" w="sm" type="none"/>
            <a:tailEnd len="sm" w="sm" type="none"/>
          </a:ln>
        </p:spPr>
      </p:pic>
      <p:sp>
        <p:nvSpPr>
          <p:cNvPr id="546" name="Google Shape;546;p20"/>
          <p:cNvSpPr txBox="1"/>
          <p:nvPr/>
        </p:nvSpPr>
        <p:spPr>
          <a:xfrm>
            <a:off x="5306028" y="5040000"/>
            <a:ext cx="3289332" cy="954107"/>
          </a:xfrm>
          <a:prstGeom prst="rect">
            <a:avLst/>
          </a:prstGeom>
          <a:solidFill>
            <a:srgbClr val="FEE599"/>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LC5-C: The employee training program on exclusion zone procedures was not completed as specified.</a:t>
            </a:r>
            <a:endParaRPr b="1" i="0" sz="1400" u="none" cap="none" strike="noStrike">
              <a:solidFill>
                <a:srgbClr val="000000"/>
              </a:solidFill>
              <a:latin typeface="Arial"/>
              <a:ea typeface="Arial"/>
              <a:cs typeface="Arial"/>
              <a:sym typeface="Arial"/>
            </a:endParaRPr>
          </a:p>
        </p:txBody>
      </p:sp>
      <p:sp>
        <p:nvSpPr>
          <p:cNvPr id="547" name="Google Shape;547;p20"/>
          <p:cNvSpPr txBox="1"/>
          <p:nvPr/>
        </p:nvSpPr>
        <p:spPr>
          <a:xfrm>
            <a:off x="5306027" y="5930396"/>
            <a:ext cx="3289333" cy="240921"/>
          </a:xfrm>
          <a:prstGeom prst="rect">
            <a:avLst/>
          </a:prstGeom>
          <a:solidFill>
            <a:srgbClr val="FFFFFF"/>
          </a:solidFill>
          <a:ln cap="flat" cmpd="sng" w="9525">
            <a:solidFill>
              <a:srgbClr val="FF0000"/>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lnSpc>
                <a:spcPct val="100000"/>
              </a:lnSpc>
              <a:spcBef>
                <a:spcPts val="0"/>
              </a:spcBef>
              <a:spcAft>
                <a:spcPts val="0"/>
              </a:spcAft>
              <a:buClr>
                <a:srgbClr val="FF0000"/>
              </a:buClr>
              <a:buSzPts val="1400"/>
              <a:buFont typeface="Arial"/>
              <a:buNone/>
            </a:pPr>
            <a:r>
              <a:rPr b="0" i="0" lang="en-US" sz="1400" u="none" cap="none" strike="noStrike">
                <a:solidFill>
                  <a:srgbClr val="FF0000"/>
                </a:solidFill>
                <a:latin typeface="Arial"/>
                <a:ea typeface="Arial"/>
                <a:cs typeface="Arial"/>
                <a:sym typeface="Arial"/>
              </a:rPr>
              <a:t>RME #9 ECT</a:t>
            </a:r>
            <a:endParaRPr b="0" i="0" sz="1400" u="none" cap="none" strike="noStrike">
              <a:solidFill>
                <a:srgbClr val="000000"/>
              </a:solidFill>
              <a:latin typeface="Arial"/>
              <a:ea typeface="Arial"/>
              <a:cs typeface="Arial"/>
              <a:sym typeface="Arial"/>
            </a:endParaRPr>
          </a:p>
        </p:txBody>
      </p:sp>
      <p:sp>
        <p:nvSpPr>
          <p:cNvPr id="548" name="Google Shape;548;p20"/>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Examples of Latent Causes in Different Categories:</a:t>
            </a:r>
            <a:endParaRPr b="0" i="0" sz="2400" u="none" cap="none" strike="noStrike">
              <a:solidFill>
                <a:srgbClr val="333399"/>
              </a:solidFill>
              <a:latin typeface="Arial"/>
              <a:ea typeface="Arial"/>
              <a:cs typeface="Arial"/>
              <a:sym typeface="Arial"/>
            </a:endParaRPr>
          </a:p>
        </p:txBody>
      </p:sp>
      <p:cxnSp>
        <p:nvCxnSpPr>
          <p:cNvPr id="549" name="Google Shape;549;p20"/>
          <p:cNvCxnSpPr>
            <a:stCxn id="543" idx="2"/>
            <a:endCxn id="546" idx="0"/>
          </p:cNvCxnSpPr>
          <p:nvPr/>
        </p:nvCxnSpPr>
        <p:spPr>
          <a:xfrm flipH="1" rot="-5400000">
            <a:off x="3970200" y="2059403"/>
            <a:ext cx="414300" cy="5546700"/>
          </a:xfrm>
          <a:prstGeom prst="bentConnector3">
            <a:avLst>
              <a:gd fmla="val 50012" name="adj1"/>
            </a:avLst>
          </a:prstGeom>
          <a:noFill/>
          <a:ln cap="flat" cmpd="sng" w="9525">
            <a:solidFill>
              <a:srgbClr val="000000"/>
            </a:solidFill>
            <a:prstDash val="solid"/>
            <a:miter lim="800000"/>
            <a:headEnd len="sm" w="sm" type="none"/>
            <a:tailEnd len="med" w="med" type="triangle"/>
          </a:ln>
        </p:spPr>
      </p:cxn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21"/>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Breadth and Depth of the Scope of a Root Cause Analysis: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556" name="Google Shape;556;p21"/>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Developing an RCA:  Breadth and Depth Illustrated</a:t>
            </a:r>
            <a:endParaRPr b="0" i="0" sz="1400" u="none" cap="none" strike="noStrike">
              <a:solidFill>
                <a:srgbClr val="000000"/>
              </a:solidFill>
              <a:latin typeface="Arial"/>
              <a:ea typeface="Arial"/>
              <a:cs typeface="Arial"/>
              <a:sym typeface="Arial"/>
            </a:endParaRPr>
          </a:p>
        </p:txBody>
      </p:sp>
      <p:sp>
        <p:nvSpPr>
          <p:cNvPr id="557" name="Google Shape;557;p21"/>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558" name="Google Shape;558;p21"/>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sp>
        <p:nvSpPr>
          <p:cNvPr id="559" name="Google Shape;559;p21"/>
          <p:cNvSpPr/>
          <p:nvPr/>
        </p:nvSpPr>
        <p:spPr>
          <a:xfrm>
            <a:off x="6150980" y="1371601"/>
            <a:ext cx="1243584" cy="2693324"/>
          </a:xfrm>
          <a:prstGeom prst="downArrow">
            <a:avLst>
              <a:gd fmla="val 50000" name="adj1"/>
              <a:gd fmla="val 50000" name="adj2"/>
            </a:avLst>
          </a:prstGeom>
          <a:solidFill>
            <a:srgbClr val="FFFF00"/>
          </a:solidFill>
          <a:ln cap="flat" cmpd="sng" w="254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p21"/>
          <p:cNvSpPr txBox="1"/>
          <p:nvPr/>
        </p:nvSpPr>
        <p:spPr>
          <a:xfrm rot="5400000">
            <a:off x="5581553" y="2251918"/>
            <a:ext cx="2382428" cy="62179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Not  deep enough</a:t>
            </a:r>
            <a:endParaRPr b="0" i="0" sz="1400" u="none" cap="none" strike="noStrike">
              <a:solidFill>
                <a:srgbClr val="000000"/>
              </a:solidFill>
              <a:latin typeface="Arial"/>
              <a:ea typeface="Arial"/>
              <a:cs typeface="Arial"/>
              <a:sym typeface="Arial"/>
            </a:endParaRPr>
          </a:p>
        </p:txBody>
      </p:sp>
      <p:sp>
        <p:nvSpPr>
          <p:cNvPr id="561" name="Google Shape;561;p21"/>
          <p:cNvSpPr/>
          <p:nvPr/>
        </p:nvSpPr>
        <p:spPr>
          <a:xfrm>
            <a:off x="7129743" y="1353132"/>
            <a:ext cx="1536192" cy="3545645"/>
          </a:xfrm>
          <a:prstGeom prst="downArrow">
            <a:avLst>
              <a:gd fmla="val 50000" name="adj1"/>
              <a:gd fmla="val 39286" name="adj2"/>
            </a:avLst>
          </a:prstGeom>
          <a:solidFill>
            <a:srgbClr val="00FF00"/>
          </a:solidFill>
          <a:ln cap="flat" cmpd="sng" w="254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 name="Google Shape;562;p21"/>
          <p:cNvSpPr txBox="1"/>
          <p:nvPr/>
        </p:nvSpPr>
        <p:spPr>
          <a:xfrm rot="5400000">
            <a:off x="6275876" y="2591022"/>
            <a:ext cx="3243891" cy="768096"/>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Depth is right when you discover the LC</a:t>
            </a:r>
            <a:endParaRPr b="0" i="0" sz="1400" u="none" cap="none" strike="noStrike">
              <a:solidFill>
                <a:srgbClr val="000000"/>
              </a:solidFill>
              <a:latin typeface="Arial"/>
              <a:ea typeface="Arial"/>
              <a:cs typeface="Arial"/>
              <a:sym typeface="Arial"/>
            </a:endParaRPr>
          </a:p>
        </p:txBody>
      </p:sp>
      <p:sp>
        <p:nvSpPr>
          <p:cNvPr id="563" name="Google Shape;563;p21"/>
          <p:cNvSpPr/>
          <p:nvPr/>
        </p:nvSpPr>
        <p:spPr>
          <a:xfrm>
            <a:off x="630641" y="4898777"/>
            <a:ext cx="5324709" cy="576000"/>
          </a:xfrm>
          <a:prstGeom prst="leftRightArrow">
            <a:avLst>
              <a:gd fmla="val 50000" name="adj1"/>
              <a:gd fmla="val 50000" name="adj2"/>
            </a:avLst>
          </a:prstGeom>
          <a:solidFill>
            <a:srgbClr val="FFFF00"/>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Breadth too narrow (3 LC’s)</a:t>
            </a:r>
            <a:endParaRPr b="0" i="0" sz="1400" u="none" cap="none" strike="noStrike">
              <a:solidFill>
                <a:srgbClr val="000000"/>
              </a:solidFill>
              <a:latin typeface="Arial"/>
              <a:ea typeface="Arial"/>
              <a:cs typeface="Arial"/>
              <a:sym typeface="Arial"/>
            </a:endParaRPr>
          </a:p>
        </p:txBody>
      </p:sp>
      <p:sp>
        <p:nvSpPr>
          <p:cNvPr id="564" name="Google Shape;564;p21"/>
          <p:cNvSpPr/>
          <p:nvPr/>
        </p:nvSpPr>
        <p:spPr>
          <a:xfrm>
            <a:off x="658626" y="5248476"/>
            <a:ext cx="6693149" cy="576000"/>
          </a:xfrm>
          <a:prstGeom prst="leftRightArrow">
            <a:avLst>
              <a:gd fmla="val 50000" name="adj1"/>
              <a:gd fmla="val 50000" name="adj2"/>
            </a:avLst>
          </a:prstGeom>
          <a:solidFill>
            <a:srgbClr val="00FF00"/>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Breadth about right (18+ LC’s)</a:t>
            </a:r>
            <a:endParaRPr b="0" i="0" sz="1400" u="none" cap="none" strike="noStrike">
              <a:solidFill>
                <a:srgbClr val="000000"/>
              </a:solidFill>
              <a:latin typeface="Arial"/>
              <a:ea typeface="Arial"/>
              <a:cs typeface="Arial"/>
              <a:sym typeface="Arial"/>
            </a:endParaRPr>
          </a:p>
        </p:txBody>
      </p:sp>
      <p:pic>
        <p:nvPicPr>
          <p:cNvPr id="565" name="Google Shape;565;p21"/>
          <p:cNvPicPr preferRelativeResize="0"/>
          <p:nvPr/>
        </p:nvPicPr>
        <p:blipFill rotWithShape="1">
          <a:blip r:embed="rId3">
            <a:alphaModFix/>
          </a:blip>
          <a:srcRect b="0" l="0" r="0" t="0"/>
          <a:stretch/>
        </p:blipFill>
        <p:spPr>
          <a:xfrm>
            <a:off x="864086" y="1264650"/>
            <a:ext cx="5286894" cy="3722607"/>
          </a:xfrm>
          <a:prstGeom prst="rect">
            <a:avLst/>
          </a:prstGeom>
          <a:noFill/>
          <a:ln>
            <a:noFill/>
          </a:ln>
        </p:spPr>
      </p:pic>
    </p:spTree>
  </p:cSld>
  <p:clrMapOvr>
    <a:masterClrMapping/>
  </p:clrMapOvr>
  <p:transition>
    <p:fade/>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pic>
        <p:nvPicPr>
          <p:cNvPr id="571" name="Google Shape;571;p22"/>
          <p:cNvPicPr preferRelativeResize="0"/>
          <p:nvPr/>
        </p:nvPicPr>
        <p:blipFill rotWithShape="1">
          <a:blip r:embed="rId3">
            <a:alphaModFix/>
          </a:blip>
          <a:srcRect b="0" l="0" r="0" t="0"/>
          <a:stretch/>
        </p:blipFill>
        <p:spPr>
          <a:xfrm>
            <a:off x="669680" y="642827"/>
            <a:ext cx="7111474" cy="5007330"/>
          </a:xfrm>
          <a:prstGeom prst="rect">
            <a:avLst/>
          </a:prstGeom>
          <a:noFill/>
          <a:ln>
            <a:noFill/>
          </a:ln>
        </p:spPr>
      </p:pic>
      <p:sp>
        <p:nvSpPr>
          <p:cNvPr id="572" name="Google Shape;572;p22"/>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573" name="Google Shape;573;p22"/>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574" name="Google Shape;574;p22"/>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sp>
        <p:nvSpPr>
          <p:cNvPr id="575" name="Google Shape;575;p22"/>
          <p:cNvSpPr/>
          <p:nvPr/>
        </p:nvSpPr>
        <p:spPr>
          <a:xfrm>
            <a:off x="553744" y="4005673"/>
            <a:ext cx="7343347" cy="664052"/>
          </a:xfrm>
          <a:prstGeom prst="roundRect">
            <a:avLst>
              <a:gd fmla="val 16667" name="adj"/>
            </a:avLst>
          </a:prstGeom>
          <a:noFill/>
          <a:ln cap="flat" cmpd="sng" w="38100">
            <a:solidFill>
              <a:srgbClr val="0000FF"/>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76" name="Google Shape;576;p22"/>
          <p:cNvSpPr/>
          <p:nvPr/>
        </p:nvSpPr>
        <p:spPr>
          <a:xfrm>
            <a:off x="7569816" y="1077835"/>
            <a:ext cx="1243584" cy="3384643"/>
          </a:xfrm>
          <a:prstGeom prst="downArrow">
            <a:avLst>
              <a:gd fmla="val 50000" name="adj1"/>
              <a:gd fmla="val 50000" name="adj2"/>
            </a:avLst>
          </a:prstGeom>
          <a:solidFill>
            <a:srgbClr val="FFFF00"/>
          </a:solidFill>
          <a:ln cap="flat" cmpd="sng" w="12700">
            <a:solidFill>
              <a:srgbClr val="000000"/>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 name="Google Shape;577;p22"/>
          <p:cNvSpPr txBox="1"/>
          <p:nvPr/>
        </p:nvSpPr>
        <p:spPr>
          <a:xfrm rot="5400000">
            <a:off x="6654719" y="2303803"/>
            <a:ext cx="3073747" cy="62179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Not  deep enough</a:t>
            </a:r>
            <a:endParaRPr b="0" i="0" sz="1400" u="none" cap="none" strike="noStrike">
              <a:solidFill>
                <a:srgbClr val="000000"/>
              </a:solidFill>
              <a:latin typeface="Arial"/>
              <a:ea typeface="Arial"/>
              <a:cs typeface="Arial"/>
              <a:sym typeface="Arial"/>
            </a:endParaRPr>
          </a:p>
        </p:txBody>
      </p:sp>
      <p:sp>
        <p:nvSpPr>
          <p:cNvPr id="578" name="Google Shape;578;p22"/>
          <p:cNvSpPr txBox="1"/>
          <p:nvPr/>
        </p:nvSpPr>
        <p:spPr>
          <a:xfrm>
            <a:off x="324000" y="4712313"/>
            <a:ext cx="8534398" cy="1477328"/>
          </a:xfrm>
          <a:prstGeom prst="rect">
            <a:avLst/>
          </a:pr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1" lang="en-US" sz="1800" u="none" cap="none" strike="noStrike">
                <a:solidFill>
                  <a:srgbClr val="FFFFFF"/>
                </a:solidFill>
                <a:latin typeface="Arial"/>
                <a:ea typeface="Arial"/>
                <a:cs typeface="Arial"/>
                <a:sym typeface="Arial"/>
              </a:rPr>
              <a:t>Importance of Depth in a Root Cause Analysis: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FFFFFF"/>
                </a:solidFill>
                <a:latin typeface="Arial"/>
                <a:ea typeface="Arial"/>
                <a:cs typeface="Arial"/>
                <a:sym typeface="Arial"/>
              </a:rPr>
              <a:t>Did not drill deep enough. Ask yourself these questions: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FFFFFF"/>
              </a:buClr>
              <a:buSzPts val="1800"/>
              <a:buFont typeface="Noto Sans Symbols"/>
              <a:buChar char="⮚"/>
            </a:pPr>
            <a:r>
              <a:rPr b="0" i="1" lang="en-US" sz="1800" u="none" cap="none" strike="noStrike">
                <a:solidFill>
                  <a:srgbClr val="FFFFFF"/>
                </a:solidFill>
                <a:latin typeface="Arial"/>
                <a:ea typeface="Arial"/>
                <a:cs typeface="Arial"/>
                <a:sym typeface="Arial"/>
              </a:rPr>
              <a:t>Can this cause be linked to an RME in a meaningful and obvious way?</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FFFFFF"/>
              </a:buClr>
              <a:buSzPts val="1800"/>
              <a:buFont typeface="Noto Sans Symbols"/>
              <a:buChar char="⮚"/>
            </a:pPr>
            <a:r>
              <a:rPr b="0" i="1" lang="en-US" sz="1800" u="none" cap="none" strike="noStrike">
                <a:solidFill>
                  <a:srgbClr val="FFFFFF"/>
                </a:solidFill>
                <a:latin typeface="Arial"/>
                <a:ea typeface="Arial"/>
                <a:cs typeface="Arial"/>
                <a:sym typeface="Arial"/>
              </a:rPr>
              <a:t>Can a recommendation relating to an RME be made?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FFFFFF"/>
              </a:buClr>
              <a:buSzPts val="1800"/>
              <a:buFont typeface="Noto Sans Symbols"/>
              <a:buChar char="⮚"/>
            </a:pPr>
            <a:r>
              <a:rPr b="0" i="1" lang="en-US" sz="1800" u="none" cap="none" strike="noStrike">
                <a:solidFill>
                  <a:srgbClr val="FFFFFF"/>
                </a:solidFill>
                <a:latin typeface="Arial"/>
                <a:ea typeface="Arial"/>
                <a:cs typeface="Arial"/>
                <a:sym typeface="Arial"/>
              </a:rPr>
              <a:t>Can the cause be categorized as a </a:t>
            </a:r>
            <a:r>
              <a:rPr b="0" i="1" lang="en-US" sz="1800" u="sng" cap="none" strike="noStrike">
                <a:solidFill>
                  <a:srgbClr val="FFFFFF"/>
                </a:solidFill>
                <a:latin typeface="Arial"/>
                <a:ea typeface="Arial"/>
                <a:cs typeface="Arial"/>
                <a:sym typeface="Arial"/>
              </a:rPr>
              <a:t>basic cause</a:t>
            </a:r>
            <a:r>
              <a:rPr b="0" i="1" lang="en-US" sz="1800" u="none" cap="none" strike="noStrike">
                <a:solidFill>
                  <a:srgbClr val="FFFFFF"/>
                </a:solidFill>
                <a:latin typeface="Arial"/>
                <a:ea typeface="Arial"/>
                <a:cs typeface="Arial"/>
                <a:sym typeface="Arial"/>
              </a:rPr>
              <a:t>? If so, it is NOT a latent cause!</a:t>
            </a:r>
            <a:endParaRPr b="0" i="0" sz="1400" u="none" cap="none" strike="noStrike">
              <a:solidFill>
                <a:srgbClr val="000000"/>
              </a:solidFill>
              <a:latin typeface="Arial"/>
              <a:ea typeface="Arial"/>
              <a:cs typeface="Arial"/>
              <a:sym typeface="Arial"/>
            </a:endParaRPr>
          </a:p>
        </p:txBody>
      </p:sp>
      <p:sp>
        <p:nvSpPr>
          <p:cNvPr id="579" name="Google Shape;579;p22"/>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Developing an RCA: Depth Illustrated</a:t>
            </a:r>
            <a:endParaRPr b="0" i="0" sz="14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pic>
        <p:nvPicPr>
          <p:cNvPr id="585" name="Google Shape;585;p23"/>
          <p:cNvPicPr preferRelativeResize="0"/>
          <p:nvPr/>
        </p:nvPicPr>
        <p:blipFill rotWithShape="1">
          <a:blip r:embed="rId3">
            <a:alphaModFix/>
          </a:blip>
          <a:srcRect b="0" l="0" r="0" t="0"/>
          <a:stretch/>
        </p:blipFill>
        <p:spPr>
          <a:xfrm>
            <a:off x="669680" y="642827"/>
            <a:ext cx="7111474" cy="5007330"/>
          </a:xfrm>
          <a:prstGeom prst="rect">
            <a:avLst/>
          </a:prstGeom>
          <a:noFill/>
          <a:ln>
            <a:noFill/>
          </a:ln>
        </p:spPr>
      </p:pic>
      <p:sp>
        <p:nvSpPr>
          <p:cNvPr id="586" name="Google Shape;586;p23"/>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587" name="Google Shape;587;p23"/>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588" name="Google Shape;588;p23"/>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sp>
        <p:nvSpPr>
          <p:cNvPr id="589" name="Google Shape;589;p23"/>
          <p:cNvSpPr/>
          <p:nvPr/>
        </p:nvSpPr>
        <p:spPr>
          <a:xfrm>
            <a:off x="683853" y="5672515"/>
            <a:ext cx="6913545" cy="576000"/>
          </a:xfrm>
          <a:prstGeom prst="leftRightArrow">
            <a:avLst>
              <a:gd fmla="val 50000" name="adj1"/>
              <a:gd fmla="val 50000" name="adj2"/>
            </a:avLst>
          </a:prstGeom>
          <a:solidFill>
            <a:srgbClr val="FFFF00"/>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Breadth too narrow (3 LC’s)</a:t>
            </a:r>
            <a:endParaRPr b="0" i="0" sz="1400" u="none" cap="none" strike="noStrike">
              <a:solidFill>
                <a:srgbClr val="000000"/>
              </a:solidFill>
              <a:latin typeface="Arial"/>
              <a:ea typeface="Arial"/>
              <a:cs typeface="Arial"/>
              <a:sym typeface="Arial"/>
            </a:endParaRPr>
          </a:p>
        </p:txBody>
      </p:sp>
      <p:sp>
        <p:nvSpPr>
          <p:cNvPr id="590" name="Google Shape;590;p23"/>
          <p:cNvSpPr txBox="1"/>
          <p:nvPr/>
        </p:nvSpPr>
        <p:spPr>
          <a:xfrm>
            <a:off x="180000" y="809599"/>
            <a:ext cx="8640000" cy="3819253"/>
          </a:xfrm>
          <a:prstGeom prst="rect">
            <a:avLst/>
          </a:pr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1" lang="en-US" sz="2000" u="none" cap="none" strike="noStrike">
                <a:solidFill>
                  <a:srgbClr val="FFFFFF"/>
                </a:solidFill>
                <a:latin typeface="Arial"/>
                <a:ea typeface="Arial"/>
                <a:cs typeface="Arial"/>
                <a:sym typeface="Arial"/>
              </a:rPr>
              <a:t>Importance of Breadth in a Root Cause Analysis: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1" lang="en-US" sz="2000" u="none" cap="none" strike="noStrike">
                <a:solidFill>
                  <a:srgbClr val="FFFFFF"/>
                </a:solidFill>
                <a:latin typeface="Arial"/>
                <a:ea typeface="Arial"/>
                <a:cs typeface="Arial"/>
                <a:sym typeface="Arial"/>
              </a:rPr>
              <a:t>This RCA spanned three (3) risk management system elements.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FFFFFF"/>
              </a:buClr>
              <a:buSzPts val="2000"/>
              <a:buFont typeface="Noto Sans Symbols"/>
              <a:buChar char="⮚"/>
            </a:pPr>
            <a:r>
              <a:rPr b="0" i="1" lang="en-US" sz="2000" u="none" cap="none" strike="noStrike">
                <a:solidFill>
                  <a:srgbClr val="FFFFFF"/>
                </a:solidFill>
                <a:latin typeface="Arial"/>
                <a:ea typeface="Arial"/>
                <a:cs typeface="Arial"/>
                <a:sym typeface="Arial"/>
              </a:rPr>
              <a:t>Are these 3 LCs specific and unique? (A: YES)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2000"/>
              <a:buFont typeface="Noto Sans Symbols"/>
              <a:buChar char="⮚"/>
            </a:pPr>
            <a:r>
              <a:rPr b="0" i="1" lang="en-US" sz="2000" u="none" cap="none" strike="noStrike">
                <a:solidFill>
                  <a:schemeClr val="lt1"/>
                </a:solidFill>
                <a:latin typeface="Arial"/>
                <a:ea typeface="Arial"/>
                <a:cs typeface="Arial"/>
                <a:sym typeface="Arial"/>
              </a:rPr>
              <a:t>Are these 3 LCs through 3 separate roots? (A: YES)</a:t>
            </a:r>
            <a:endParaRPr b="0" i="1" sz="2000" u="none" cap="none" strike="noStrike">
              <a:solidFill>
                <a:schemeClr val="lt1"/>
              </a:solidFill>
              <a:latin typeface="Arial"/>
              <a:ea typeface="Arial"/>
              <a:cs typeface="Arial"/>
              <a:sym typeface="Arial"/>
            </a:endParaRPr>
          </a:p>
          <a:p>
            <a:pPr indent="-285750" lvl="0" marL="285750" marR="0" rtl="0" algn="l">
              <a:lnSpc>
                <a:spcPct val="100000"/>
              </a:lnSpc>
              <a:spcBef>
                <a:spcPts val="0"/>
              </a:spcBef>
              <a:spcAft>
                <a:spcPts val="0"/>
              </a:spcAft>
              <a:buClr>
                <a:srgbClr val="FFFFFF"/>
              </a:buClr>
              <a:buSzPts val="2000"/>
              <a:buFont typeface="Noto Sans Symbols"/>
              <a:buChar char="⮚"/>
            </a:pPr>
            <a:r>
              <a:rPr b="0" i="1" lang="en-US" sz="2000" u="none" cap="none" strike="noStrike">
                <a:solidFill>
                  <a:srgbClr val="FFFFFF"/>
                </a:solidFill>
                <a:latin typeface="Arial"/>
                <a:ea typeface="Arial"/>
                <a:cs typeface="Arial"/>
                <a:sym typeface="Arial"/>
              </a:rPr>
              <a:t>Can other LCs relating to other RMEs be found? (A: YES)</a:t>
            </a:r>
            <a:endParaRPr b="0" i="0" sz="1400" u="none" cap="none" strike="noStrike">
              <a:solidFill>
                <a:srgbClr val="000000"/>
              </a:solidFill>
              <a:latin typeface="Arial"/>
              <a:ea typeface="Arial"/>
              <a:cs typeface="Arial"/>
              <a:sym typeface="Arial"/>
            </a:endParaRPr>
          </a:p>
          <a:p>
            <a:pPr indent="-158750" lvl="0" marL="285750" marR="0" rtl="0" algn="l">
              <a:lnSpc>
                <a:spcPct val="100000"/>
              </a:lnSpc>
              <a:spcBef>
                <a:spcPts val="0"/>
              </a:spcBef>
              <a:spcAft>
                <a:spcPts val="0"/>
              </a:spcAft>
              <a:buClr>
                <a:schemeClr val="dk1"/>
              </a:buClr>
              <a:buSzPts val="2000"/>
              <a:buFont typeface="Noto Sans Symbols"/>
              <a:buNone/>
            </a:pPr>
            <a:r>
              <a:t/>
            </a:r>
            <a:endParaRPr b="0" i="1" sz="20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1" lang="en-US" sz="2000" u="none" cap="none" strike="noStrike">
                <a:solidFill>
                  <a:srgbClr val="FFFFFF"/>
                </a:solidFill>
                <a:latin typeface="Arial"/>
                <a:ea typeface="Arial"/>
                <a:cs typeface="Arial"/>
                <a:sym typeface="Arial"/>
              </a:rPr>
              <a:t>Team Project:</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FFFFFF"/>
              </a:buClr>
              <a:buSzPts val="2000"/>
              <a:buFont typeface="Arial"/>
              <a:buAutoNum type="arabicParenR"/>
            </a:pPr>
            <a:r>
              <a:rPr b="0" i="1" lang="en-US" sz="2000" u="none" cap="none" strike="noStrike">
                <a:solidFill>
                  <a:srgbClr val="FFFFFF"/>
                </a:solidFill>
                <a:latin typeface="Arial"/>
                <a:ea typeface="Arial"/>
                <a:cs typeface="Arial"/>
                <a:sym typeface="Arial"/>
              </a:rPr>
              <a:t>Preliminary RCA Chart – 3 separate roots to 3 unique LCs</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FFFFFF"/>
              </a:buClr>
              <a:buSzPts val="2000"/>
              <a:buFont typeface="Arial"/>
              <a:buAutoNum type="arabicParenR"/>
            </a:pPr>
            <a:r>
              <a:rPr b="0" i="1" lang="en-US" sz="2000" u="none" cap="none" strike="noStrike">
                <a:solidFill>
                  <a:srgbClr val="FFFFFF"/>
                </a:solidFill>
                <a:latin typeface="Arial"/>
                <a:ea typeface="Arial"/>
                <a:cs typeface="Arial"/>
                <a:sym typeface="Arial"/>
              </a:rPr>
              <a:t>Progress Report – at least 18 unique, specific LCs; </a:t>
            </a:r>
            <a:br>
              <a:rPr b="0" i="1" lang="en-US" sz="2000" u="none" cap="none" strike="noStrike">
                <a:solidFill>
                  <a:srgbClr val="FFFFFF"/>
                </a:solidFill>
                <a:latin typeface="Arial"/>
                <a:ea typeface="Arial"/>
                <a:cs typeface="Arial"/>
                <a:sym typeface="Arial"/>
              </a:rPr>
            </a:br>
            <a:r>
              <a:rPr b="0" i="1" lang="en-US" sz="2000" u="none" cap="none" strike="noStrike">
                <a:solidFill>
                  <a:srgbClr val="FFFFFF"/>
                </a:solidFill>
                <a:latin typeface="Arial"/>
                <a:ea typeface="Arial"/>
                <a:cs typeface="Arial"/>
                <a:sym typeface="Arial"/>
              </a:rPr>
              <a:t>feedback provided for improvements</a:t>
            </a:r>
            <a:endParaRPr b="0" i="1" sz="2000" u="none" cap="none" strike="noStrike">
              <a:solidFill>
                <a:srgbClr val="FFFFFF"/>
              </a:solidFill>
              <a:latin typeface="Arial"/>
              <a:ea typeface="Arial"/>
              <a:cs typeface="Arial"/>
              <a:sym typeface="Arial"/>
            </a:endParaRPr>
          </a:p>
          <a:p>
            <a:pPr indent="-457200" lvl="0" marL="457200" marR="0" rtl="0" algn="l">
              <a:lnSpc>
                <a:spcPct val="100000"/>
              </a:lnSpc>
              <a:spcBef>
                <a:spcPts val="0"/>
              </a:spcBef>
              <a:spcAft>
                <a:spcPts val="0"/>
              </a:spcAft>
              <a:buClr>
                <a:srgbClr val="FFFFFF"/>
              </a:buClr>
              <a:buSzPts val="2000"/>
              <a:buFont typeface="Arial"/>
              <a:buAutoNum type="arabicParenR"/>
            </a:pPr>
            <a:r>
              <a:rPr b="0" i="1" lang="en-US" sz="2000" u="none" cap="none" strike="noStrike">
                <a:solidFill>
                  <a:srgbClr val="FFFFFF"/>
                </a:solidFill>
                <a:latin typeface="Arial"/>
                <a:ea typeface="Arial"/>
                <a:cs typeface="Arial"/>
                <a:sym typeface="Arial"/>
              </a:rPr>
              <a:t>Final Technical Report – a completed RCA Chart with improvements!</a:t>
            </a:r>
            <a:endParaRPr b="0" i="1" sz="2000" u="none" cap="none" strike="noStrike">
              <a:solidFill>
                <a:srgbClr val="FFFFFF"/>
              </a:solidFill>
              <a:latin typeface="Arial"/>
              <a:ea typeface="Arial"/>
              <a:cs typeface="Arial"/>
              <a:sym typeface="Arial"/>
            </a:endParaRPr>
          </a:p>
        </p:txBody>
      </p:sp>
      <p:sp>
        <p:nvSpPr>
          <p:cNvPr id="591" name="Google Shape;591;p23"/>
          <p:cNvSpPr/>
          <p:nvPr/>
        </p:nvSpPr>
        <p:spPr>
          <a:xfrm>
            <a:off x="481701" y="4737239"/>
            <a:ext cx="7223761" cy="979950"/>
          </a:xfrm>
          <a:prstGeom prst="roundRect">
            <a:avLst>
              <a:gd fmla="val 16667" name="adj"/>
            </a:avLst>
          </a:prstGeom>
          <a:noFill/>
          <a:ln cap="flat" cmpd="sng" w="38100">
            <a:solidFill>
              <a:srgbClr val="0000FF"/>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92" name="Google Shape;592;p23"/>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Developing an RCA: Breadth Illustrated</a:t>
            </a:r>
            <a:endParaRPr b="0" i="0" sz="2400" u="none" cap="none" strike="noStrike">
              <a:solidFill>
                <a:srgbClr val="333399"/>
              </a:solidFill>
              <a:latin typeface="Arial"/>
              <a:ea typeface="Arial"/>
              <a:cs typeface="Arial"/>
              <a:sym typeface="Arial"/>
            </a:endParaRP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pic>
        <p:nvPicPr>
          <p:cNvPr id="598" name="Google Shape;598;p24"/>
          <p:cNvPicPr preferRelativeResize="0"/>
          <p:nvPr/>
        </p:nvPicPr>
        <p:blipFill rotWithShape="1">
          <a:blip r:embed="rId3">
            <a:alphaModFix/>
          </a:blip>
          <a:srcRect b="0" l="0" r="0" t="0"/>
          <a:stretch/>
        </p:blipFill>
        <p:spPr>
          <a:xfrm>
            <a:off x="1176756" y="2034569"/>
            <a:ext cx="5955564" cy="4193431"/>
          </a:xfrm>
          <a:prstGeom prst="rect">
            <a:avLst/>
          </a:prstGeom>
          <a:noFill/>
          <a:ln>
            <a:noFill/>
          </a:ln>
        </p:spPr>
      </p:pic>
      <p:sp>
        <p:nvSpPr>
          <p:cNvPr id="599" name="Google Shape;599;p24"/>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Drill down through causal analysis to determine latent causes, </a:t>
            </a:r>
            <a:r>
              <a:rPr b="0" i="0" lang="en-US" sz="2000" u="sng" cap="none" strike="noStrike">
                <a:solidFill>
                  <a:srgbClr val="000000"/>
                </a:solidFill>
                <a:latin typeface="Arial"/>
                <a:ea typeface="Arial"/>
                <a:cs typeface="Arial"/>
                <a:sym typeface="Arial"/>
              </a:rPr>
              <a:t>and</a:t>
            </a:r>
            <a:endParaRPr b="0" i="0" sz="14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Identify and address weaknesses in the management system elements (the latent causes); this sets the stage for recommendations!</a:t>
            </a:r>
            <a:endParaRPr b="0" i="0" sz="2000" u="none" cap="none" strike="noStrike">
              <a:solidFill>
                <a:srgbClr val="000000"/>
              </a:solidFill>
              <a:latin typeface="Arial"/>
              <a:ea typeface="Arial"/>
              <a:cs typeface="Arial"/>
              <a:sym typeface="Arial"/>
            </a:endParaRPr>
          </a:p>
        </p:txBody>
      </p:sp>
      <p:sp>
        <p:nvSpPr>
          <p:cNvPr id="600" name="Google Shape;600;p24"/>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Root Cause Analysis – Down to Latent Causes:</a:t>
            </a:r>
            <a:endParaRPr b="0" i="0" sz="2400" u="none" cap="none" strike="noStrike">
              <a:solidFill>
                <a:srgbClr val="333399"/>
              </a:solidFill>
              <a:latin typeface="Arial"/>
              <a:ea typeface="Arial"/>
              <a:cs typeface="Arial"/>
              <a:sym typeface="Arial"/>
            </a:endParaRPr>
          </a:p>
        </p:txBody>
      </p:sp>
      <p:sp>
        <p:nvSpPr>
          <p:cNvPr id="601" name="Google Shape;601;p24"/>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602" name="Google Shape;602;p24"/>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sp>
        <p:nvSpPr>
          <p:cNvPr id="603" name="Google Shape;603;p24"/>
          <p:cNvSpPr/>
          <p:nvPr/>
        </p:nvSpPr>
        <p:spPr>
          <a:xfrm rot="-1649030">
            <a:off x="4516259" y="3423026"/>
            <a:ext cx="4343749" cy="1834158"/>
          </a:xfrm>
          <a:prstGeom prst="leftArrow">
            <a:avLst>
              <a:gd fmla="val 50000" name="adj1"/>
              <a:gd fmla="val 67720" name="adj2"/>
            </a:avLst>
          </a:prstGeom>
          <a:solidFill>
            <a:srgbClr val="FFFFFF"/>
          </a:solidFill>
          <a:ln cap="flat" cmpd="sng" w="38100">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CC"/>
              </a:buClr>
              <a:buSzPts val="1800"/>
              <a:buFont typeface="Noto Sans Symbols"/>
              <a:buNone/>
            </a:pPr>
            <a:r>
              <a:rPr b="1" i="0" lang="en-US" sz="1800" u="none" cap="none" strike="noStrike">
                <a:solidFill>
                  <a:srgbClr val="0000CC"/>
                </a:solidFill>
                <a:latin typeface="Arial"/>
                <a:ea typeface="Arial"/>
                <a:cs typeface="Arial"/>
                <a:sym typeface="Arial"/>
              </a:rPr>
              <a:t>Be able to link a latent cause to a management system element and create a recommendation</a:t>
            </a:r>
            <a:endParaRPr b="1" i="0" sz="1800" u="none" cap="none" strike="noStrike">
              <a:solidFill>
                <a:srgbClr val="0000CC"/>
              </a:solidFill>
              <a:latin typeface="Arial"/>
              <a:ea typeface="Arial"/>
              <a:cs typeface="Arial"/>
              <a:sym typeface="Arial"/>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25"/>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360000" lvl="0"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Intermediate causes serve as links between the categories of causes in order to avoid leaps in logic!</a:t>
            </a:r>
            <a:endParaRPr b="0" i="0" sz="14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Use the </a:t>
            </a:r>
            <a:r>
              <a:rPr b="0" i="0" lang="en-US" sz="1800" u="sng" cap="none" strike="noStrike">
                <a:solidFill>
                  <a:srgbClr val="000000"/>
                </a:solidFill>
                <a:latin typeface="Arial"/>
                <a:ea typeface="Arial"/>
                <a:cs typeface="Arial"/>
                <a:sym typeface="Arial"/>
              </a:rPr>
              <a:t>narrative technique</a:t>
            </a:r>
            <a:r>
              <a:rPr b="0" i="0" lang="en-US" sz="1800" u="none" cap="none" strike="noStrike">
                <a:solidFill>
                  <a:srgbClr val="000000"/>
                </a:solidFill>
                <a:latin typeface="Arial"/>
                <a:ea typeface="Arial"/>
                <a:cs typeface="Arial"/>
                <a:sym typeface="Arial"/>
              </a:rPr>
              <a:t> to uncover logic leaps!</a:t>
            </a:r>
            <a:endParaRPr b="0" i="0" sz="1400" u="none" cap="none" strike="noStrike">
              <a:solidFill>
                <a:srgbClr val="000000"/>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The Worker disregarded the exclusion zone procedures, because </a:t>
            </a:r>
            <a:endParaRPr b="1" i="0" sz="1800" u="none" cap="none" strike="noStrike">
              <a:solidFill>
                <a:srgbClr val="000000"/>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1" i="0" sz="1800" u="none" cap="none" strike="noStrike">
              <a:solidFill>
                <a:srgbClr val="000000"/>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1" i="0" sz="1800" u="none" cap="none" strike="noStrike">
              <a:solidFill>
                <a:srgbClr val="000000"/>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1" i="0" sz="1800" u="none" cap="none" strike="noStrike">
              <a:solidFill>
                <a:srgbClr val="000000"/>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The auditing program schedule did not </a:t>
            </a:r>
            <a:br>
              <a:rPr b="1" i="0" lang="en-US" sz="1800" u="none" cap="none" strike="noStrike">
                <a:solidFill>
                  <a:srgbClr val="000000"/>
                </a:solidFill>
                <a:latin typeface="Arial"/>
                <a:ea typeface="Arial"/>
                <a:cs typeface="Arial"/>
                <a:sym typeface="Arial"/>
              </a:rPr>
            </a:br>
            <a:r>
              <a:rPr b="1" i="0" lang="en-US" sz="1800" u="none" cap="none" strike="noStrike">
                <a:solidFill>
                  <a:srgbClr val="000000"/>
                </a:solidFill>
                <a:latin typeface="Arial"/>
                <a:ea typeface="Arial"/>
                <a:cs typeface="Arial"/>
                <a:sym typeface="Arial"/>
              </a:rPr>
              <a:t>include exclusion zone procedures.</a:t>
            </a:r>
            <a:endParaRPr b="0" i="0" sz="1400" u="none" cap="none" strike="noStrike">
              <a:solidFill>
                <a:srgbClr val="000000"/>
              </a:solidFill>
              <a:latin typeface="Arial"/>
              <a:ea typeface="Arial"/>
              <a:cs typeface="Arial"/>
              <a:sym typeface="Arial"/>
            </a:endParaRPr>
          </a:p>
        </p:txBody>
      </p:sp>
      <p:sp>
        <p:nvSpPr>
          <p:cNvPr id="610" name="Google Shape;610;p25"/>
          <p:cNvSpPr/>
          <p:nvPr/>
        </p:nvSpPr>
        <p:spPr>
          <a:xfrm>
            <a:off x="180000" y="188182"/>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Practice: Apply The Narrative &amp; How to Avoid Logic Leaps</a:t>
            </a:r>
            <a:endParaRPr b="0" i="0" sz="1400" u="none" cap="none" strike="noStrike">
              <a:solidFill>
                <a:srgbClr val="000000"/>
              </a:solidFill>
              <a:latin typeface="Arial"/>
              <a:ea typeface="Arial"/>
              <a:cs typeface="Arial"/>
              <a:sym typeface="Arial"/>
            </a:endParaRPr>
          </a:p>
        </p:txBody>
      </p:sp>
      <p:sp>
        <p:nvSpPr>
          <p:cNvPr id="611" name="Google Shape;611;p25"/>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612" name="Google Shape;612;p25"/>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sp>
        <p:nvSpPr>
          <p:cNvPr id="613" name="Google Shape;613;p25"/>
          <p:cNvSpPr/>
          <p:nvPr/>
        </p:nvSpPr>
        <p:spPr>
          <a:xfrm rot="5400000">
            <a:off x="-132861" y="3400712"/>
            <a:ext cx="2997518" cy="914400"/>
          </a:xfrm>
          <a:custGeom>
            <a:rect b="b" l="l" r="r" t="t"/>
            <a:pathLst>
              <a:path extrusionOk="0" h="21600" w="21600">
                <a:moveTo>
                  <a:pt x="16200" y="0"/>
                </a:moveTo>
                <a:lnTo>
                  <a:pt x="16200" y="5400"/>
                </a:lnTo>
                <a:lnTo>
                  <a:pt x="3375" y="5400"/>
                </a:lnTo>
                <a:lnTo>
                  <a:pt x="3375" y="16200"/>
                </a:lnTo>
                <a:lnTo>
                  <a:pt x="16200" y="16200"/>
                </a:lnTo>
                <a:lnTo>
                  <a:pt x="16200" y="21600"/>
                </a:lnTo>
                <a:lnTo>
                  <a:pt x="21600" y="10800"/>
                </a:lnTo>
                <a:lnTo>
                  <a:pt x="16200" y="0"/>
                </a:lnTo>
                <a:close/>
              </a:path>
              <a:path extrusionOk="0" h="21600" w="21600">
                <a:moveTo>
                  <a:pt x="1350" y="5400"/>
                </a:moveTo>
                <a:lnTo>
                  <a:pt x="1350" y="16200"/>
                </a:lnTo>
                <a:lnTo>
                  <a:pt x="2700" y="16200"/>
                </a:lnTo>
                <a:lnTo>
                  <a:pt x="2700" y="5400"/>
                </a:lnTo>
                <a:lnTo>
                  <a:pt x="1350" y="5400"/>
                </a:lnTo>
                <a:close/>
              </a:path>
              <a:path extrusionOk="0" h="21600" w="21600">
                <a:moveTo>
                  <a:pt x="0" y="5400"/>
                </a:moveTo>
                <a:lnTo>
                  <a:pt x="0" y="16200"/>
                </a:lnTo>
                <a:lnTo>
                  <a:pt x="675" y="16200"/>
                </a:lnTo>
                <a:lnTo>
                  <a:pt x="675" y="5400"/>
                </a:lnTo>
                <a:lnTo>
                  <a:pt x="0" y="5400"/>
                </a:lnTo>
                <a:close/>
              </a:path>
            </a:pathLst>
          </a:custGeom>
          <a:solidFill>
            <a:srgbClr val="FF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14" name="Google Shape;614;p25"/>
          <p:cNvSpPr txBox="1"/>
          <p:nvPr/>
        </p:nvSpPr>
        <p:spPr>
          <a:xfrm>
            <a:off x="5048842" y="2401918"/>
            <a:ext cx="3771158" cy="3662642"/>
          </a:xfrm>
          <a:prstGeom prst="rect">
            <a:avLst/>
          </a:pr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FFFFFF"/>
              </a:buClr>
              <a:buSzPts val="1600"/>
              <a:buFont typeface="Noto Sans Symbols"/>
              <a:buChar char="⮚"/>
            </a:pPr>
            <a:r>
              <a:rPr b="0" i="0" lang="en-US" sz="1600" u="none" cap="none" strike="noStrike">
                <a:solidFill>
                  <a:srgbClr val="FFFFFF"/>
                </a:solidFill>
                <a:latin typeface="Arial"/>
                <a:ea typeface="Arial"/>
                <a:cs typeface="Arial"/>
                <a:sym typeface="Arial"/>
              </a:rPr>
              <a:t>For this narrative of a root:</a:t>
            </a:r>
            <a:br>
              <a:rPr b="0" i="0" lang="en-US" sz="1600" u="none" cap="none" strike="noStrike">
                <a:solidFill>
                  <a:srgbClr val="FFFFFF"/>
                </a:solidFill>
                <a:latin typeface="Arial"/>
                <a:ea typeface="Arial"/>
                <a:cs typeface="Arial"/>
                <a:sym typeface="Arial"/>
              </a:rPr>
            </a:br>
            <a:br>
              <a:rPr b="0" i="0" lang="en-US" sz="1600" u="none" cap="none" strike="noStrike">
                <a:solidFill>
                  <a:srgbClr val="FFFFFF"/>
                </a:solidFill>
                <a:latin typeface="Arial"/>
                <a:ea typeface="Arial"/>
                <a:cs typeface="Arial"/>
                <a:sym typeface="Arial"/>
              </a:rPr>
            </a:br>
            <a:r>
              <a:rPr b="0" i="0" lang="en-US" sz="1600" u="none" cap="none" strike="noStrike">
                <a:solidFill>
                  <a:srgbClr val="FFFFFF"/>
                </a:solidFill>
                <a:latin typeface="Arial"/>
                <a:ea typeface="Arial"/>
                <a:cs typeface="Arial"/>
                <a:sym typeface="Arial"/>
              </a:rPr>
              <a:t>“</a:t>
            </a:r>
            <a:r>
              <a:rPr b="0" i="1" lang="en-US" sz="1600" u="none" cap="none" strike="noStrike">
                <a:solidFill>
                  <a:srgbClr val="FFFFFF"/>
                </a:solidFill>
                <a:latin typeface="Arial"/>
                <a:ea typeface="Arial"/>
                <a:cs typeface="Arial"/>
                <a:sym typeface="Arial"/>
              </a:rPr>
              <a:t>The Worker disregarded the exclusion zone procedures,</a:t>
            </a:r>
            <a:r>
              <a:rPr b="0" i="0" lang="en-US" sz="1600" u="none" cap="none" strike="noStrike">
                <a:solidFill>
                  <a:srgbClr val="FFFFFF"/>
                </a:solidFill>
                <a:latin typeface="Arial"/>
                <a:ea typeface="Arial"/>
                <a:cs typeface="Arial"/>
                <a:sym typeface="Arial"/>
              </a:rPr>
              <a:t>“ </a:t>
            </a:r>
            <a:br>
              <a:rPr b="0" i="0" lang="en-US" sz="1600" u="none" cap="none" strike="noStrike">
                <a:solidFill>
                  <a:srgbClr val="FFFFFF"/>
                </a:solidFill>
                <a:latin typeface="Arial"/>
                <a:ea typeface="Arial"/>
                <a:cs typeface="Arial"/>
                <a:sym typeface="Arial"/>
              </a:rPr>
            </a:br>
            <a:br>
              <a:rPr b="0" i="0" lang="en-US" sz="1600" u="none" cap="none" strike="noStrike">
                <a:solidFill>
                  <a:srgbClr val="FFFFFF"/>
                </a:solidFill>
                <a:latin typeface="Arial"/>
                <a:ea typeface="Arial"/>
                <a:cs typeface="Arial"/>
                <a:sym typeface="Arial"/>
              </a:rPr>
            </a:br>
            <a:r>
              <a:rPr b="0" i="0" lang="en-US" sz="1600" u="none" cap="none" strike="noStrike">
                <a:solidFill>
                  <a:srgbClr val="FFFFFF"/>
                </a:solidFill>
                <a:latin typeface="Arial"/>
                <a:ea typeface="Arial"/>
                <a:cs typeface="Arial"/>
                <a:sym typeface="Arial"/>
              </a:rPr>
              <a:t>because (or was caused by) </a:t>
            </a:r>
            <a:br>
              <a:rPr b="0" i="0" lang="en-US" sz="1600" u="none" cap="none" strike="noStrike">
                <a:solidFill>
                  <a:srgbClr val="FFFFFF"/>
                </a:solidFill>
                <a:latin typeface="Arial"/>
                <a:ea typeface="Arial"/>
                <a:cs typeface="Arial"/>
                <a:sym typeface="Arial"/>
              </a:rPr>
            </a:br>
            <a:br>
              <a:rPr b="0" i="0" lang="en-US" sz="1600" u="none" cap="none" strike="noStrike">
                <a:solidFill>
                  <a:srgbClr val="FFFFFF"/>
                </a:solidFill>
                <a:latin typeface="Arial"/>
                <a:ea typeface="Arial"/>
                <a:cs typeface="Arial"/>
                <a:sym typeface="Arial"/>
              </a:rPr>
            </a:br>
            <a:r>
              <a:rPr b="0" i="0" lang="en-US" sz="1600" u="none" cap="none" strike="noStrike">
                <a:solidFill>
                  <a:srgbClr val="FFFFFF"/>
                </a:solidFill>
                <a:latin typeface="Arial"/>
                <a:ea typeface="Arial"/>
                <a:cs typeface="Arial"/>
                <a:sym typeface="Arial"/>
              </a:rPr>
              <a:t>“</a:t>
            </a:r>
            <a:r>
              <a:rPr b="0" i="1" lang="en-US" sz="1600" u="none" cap="none" strike="noStrike">
                <a:solidFill>
                  <a:srgbClr val="FFFFFF"/>
                </a:solidFill>
                <a:latin typeface="Arial"/>
                <a:ea typeface="Arial"/>
                <a:cs typeface="Arial"/>
                <a:sym typeface="Arial"/>
              </a:rPr>
              <a:t>The auditing program schedule did not include exclusion zone procedures</a:t>
            </a:r>
            <a:r>
              <a:rPr b="0" i="0" lang="en-US" sz="1600" u="none" cap="none" strike="noStrike">
                <a:solidFill>
                  <a:srgbClr val="FFFFFF"/>
                </a:solidFill>
                <a:latin typeface="Arial"/>
                <a:ea typeface="Arial"/>
                <a:cs typeface="Arial"/>
                <a:sym typeface="Arial"/>
              </a:rPr>
              <a:t>”</a:t>
            </a:r>
            <a:endParaRPr b="0" i="0" sz="1600" u="none" cap="none" strike="noStrike">
              <a:solidFill>
                <a:srgbClr val="FFFFFF"/>
              </a:solidFill>
              <a:latin typeface="Arial"/>
              <a:ea typeface="Arial"/>
              <a:cs typeface="Arial"/>
              <a:sym typeface="Arial"/>
            </a:endParaRPr>
          </a:p>
          <a:p>
            <a:pPr indent="-241300" lvl="0" marL="34290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rgbClr val="FFFFFF"/>
              </a:solidFill>
              <a:latin typeface="Arial"/>
              <a:ea typeface="Arial"/>
              <a:cs typeface="Arial"/>
              <a:sym typeface="Arial"/>
            </a:endParaRPr>
          </a:p>
          <a:p>
            <a:pPr indent="-342900" lvl="0" marL="342900" marR="0" rtl="0" algn="l">
              <a:lnSpc>
                <a:spcPct val="100000"/>
              </a:lnSpc>
              <a:spcBef>
                <a:spcPts val="0"/>
              </a:spcBef>
              <a:spcAft>
                <a:spcPts val="0"/>
              </a:spcAft>
              <a:buClr>
                <a:srgbClr val="FFFFFF"/>
              </a:buClr>
              <a:buSzPts val="1600"/>
              <a:buFont typeface="Noto Sans Symbols"/>
              <a:buChar char="⮚"/>
            </a:pPr>
            <a:r>
              <a:rPr b="0" i="0" lang="en-US" sz="1600" u="none" cap="none" strike="noStrike">
                <a:solidFill>
                  <a:srgbClr val="FFFFFF"/>
                </a:solidFill>
                <a:latin typeface="Arial"/>
                <a:ea typeface="Arial"/>
                <a:cs typeface="Arial"/>
                <a:sym typeface="Arial"/>
              </a:rPr>
              <a:t>Does this statement make sense?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FFFFFF"/>
              </a:buClr>
              <a:buSzPts val="1600"/>
              <a:buFont typeface="Noto Sans Symbols"/>
              <a:buChar char="⮚"/>
            </a:pPr>
            <a:r>
              <a:rPr b="0" i="0" lang="en-US" sz="1600" u="none" cap="none" strike="noStrike">
                <a:solidFill>
                  <a:srgbClr val="FFFFFF"/>
                </a:solidFill>
                <a:latin typeface="Arial"/>
                <a:ea typeface="Arial"/>
                <a:cs typeface="Arial"/>
                <a:sym typeface="Arial"/>
              </a:rPr>
              <a:t>What details are needed to avoid this logic leap? </a:t>
            </a:r>
            <a:endParaRPr b="0" i="0" sz="1400" u="none" cap="none" strike="noStrike">
              <a:solidFill>
                <a:srgbClr val="000000"/>
              </a:solidFill>
              <a:latin typeface="Arial"/>
              <a:ea typeface="Arial"/>
              <a:cs typeface="Arial"/>
              <a:sym typeface="Arial"/>
            </a:endParaRPr>
          </a:p>
        </p:txBody>
      </p:sp>
      <p:sp>
        <p:nvSpPr>
          <p:cNvPr id="615" name="Google Shape;615;p25"/>
          <p:cNvSpPr txBox="1"/>
          <p:nvPr/>
        </p:nvSpPr>
        <p:spPr>
          <a:xfrm>
            <a:off x="2106792" y="2449309"/>
            <a:ext cx="2772000" cy="5400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Worker disregarded exclusion zone procedures</a:t>
            </a:r>
            <a:endParaRPr b="0" i="0" sz="1400" u="none" cap="none" strike="noStrike">
              <a:solidFill>
                <a:srgbClr val="000000"/>
              </a:solidFill>
              <a:latin typeface="Arial"/>
              <a:ea typeface="Arial"/>
              <a:cs typeface="Arial"/>
              <a:sym typeface="Arial"/>
            </a:endParaRPr>
          </a:p>
        </p:txBody>
      </p:sp>
      <p:sp>
        <p:nvSpPr>
          <p:cNvPr id="616" name="Google Shape;616;p25"/>
          <p:cNvSpPr txBox="1"/>
          <p:nvPr/>
        </p:nvSpPr>
        <p:spPr>
          <a:xfrm>
            <a:off x="2106792" y="4384671"/>
            <a:ext cx="2772000" cy="738664"/>
          </a:xfrm>
          <a:prstGeom prst="rect">
            <a:avLst/>
          </a:prstGeom>
          <a:solidFill>
            <a:srgbClr val="FEE599"/>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LC2-S: The auditing program schedule did not include the exclusion zone procedures</a:t>
            </a:r>
            <a:endParaRPr b="0" i="0" sz="1400" u="none" cap="none" strike="noStrike">
              <a:solidFill>
                <a:srgbClr val="000000"/>
              </a:solidFill>
              <a:latin typeface="Arial"/>
              <a:ea typeface="Arial"/>
              <a:cs typeface="Arial"/>
              <a:sym typeface="Arial"/>
            </a:endParaRPr>
          </a:p>
        </p:txBody>
      </p:sp>
      <p:sp>
        <p:nvSpPr>
          <p:cNvPr id="617" name="Google Shape;617;p25"/>
          <p:cNvSpPr txBox="1"/>
          <p:nvPr/>
        </p:nvSpPr>
        <p:spPr>
          <a:xfrm>
            <a:off x="2106792" y="5104671"/>
            <a:ext cx="2772000" cy="252000"/>
          </a:xfrm>
          <a:prstGeom prst="rect">
            <a:avLst/>
          </a:prstGeom>
          <a:solidFill>
            <a:srgbClr val="FFFFFF"/>
          </a:solidFill>
          <a:ln cap="flat" cmpd="sng" w="9525">
            <a:solidFill>
              <a:srgbClr val="FF0000"/>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lnSpc>
                <a:spcPct val="100000"/>
              </a:lnSpc>
              <a:spcBef>
                <a:spcPts val="0"/>
              </a:spcBef>
              <a:spcAft>
                <a:spcPts val="0"/>
              </a:spcAft>
              <a:buClr>
                <a:srgbClr val="FF0000"/>
              </a:buClr>
              <a:buSzPts val="1400"/>
              <a:buFont typeface="Arial"/>
              <a:buNone/>
            </a:pPr>
            <a:r>
              <a:rPr b="0" i="0" lang="en-US" sz="1400" u="none" cap="none" strike="noStrike">
                <a:solidFill>
                  <a:srgbClr val="FF0000"/>
                </a:solidFill>
                <a:latin typeface="Arial"/>
                <a:ea typeface="Arial"/>
                <a:cs typeface="Arial"/>
                <a:sym typeface="Arial"/>
              </a:rPr>
              <a:t>RME #6 PECI</a:t>
            </a:r>
            <a:endParaRPr b="0" i="0" sz="1400" u="none" cap="none" strike="noStrike">
              <a:solidFill>
                <a:srgbClr val="000000"/>
              </a:solidFill>
              <a:latin typeface="Arial"/>
              <a:ea typeface="Arial"/>
              <a:cs typeface="Arial"/>
              <a:sym typeface="Arial"/>
            </a:endParaRPr>
          </a:p>
        </p:txBody>
      </p:sp>
      <p:cxnSp>
        <p:nvCxnSpPr>
          <p:cNvPr id="618" name="Google Shape;618;p25"/>
          <p:cNvCxnSpPr>
            <a:stCxn id="615" idx="2"/>
          </p:cNvCxnSpPr>
          <p:nvPr/>
        </p:nvCxnSpPr>
        <p:spPr>
          <a:xfrm flipH="1">
            <a:off x="3483792" y="2989309"/>
            <a:ext cx="9000" cy="1395300"/>
          </a:xfrm>
          <a:prstGeom prst="straightConnector1">
            <a:avLst/>
          </a:prstGeom>
          <a:noFill/>
          <a:ln cap="flat" cmpd="sng" w="9525">
            <a:solidFill>
              <a:srgbClr val="000000"/>
            </a:solidFill>
            <a:prstDash val="solid"/>
            <a:miter lim="800000"/>
            <a:headEnd len="sm" w="sm" type="none"/>
            <a:tailEnd len="med" w="med" type="triangle"/>
          </a:ln>
        </p:spPr>
      </p:cxn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26"/>
          <p:cNvSpPr/>
          <p:nvPr/>
        </p:nvSpPr>
        <p:spPr>
          <a:xfrm>
            <a:off x="180000" y="828000"/>
            <a:ext cx="8640000" cy="532800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8F8F8"/>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8F8F8"/>
                </a:solidFill>
                <a:latin typeface="Arial"/>
                <a:ea typeface="Arial"/>
                <a:cs typeface="Arial"/>
                <a:sym typeface="Arial"/>
              </a:rPr>
              <a:t>Q: Is this narrative for a root complete, logical, </a:t>
            </a:r>
            <a:br>
              <a:rPr b="1" i="0" lang="en-US" sz="1800" u="none" cap="none" strike="noStrike">
                <a:solidFill>
                  <a:srgbClr val="F8F8F8"/>
                </a:solidFill>
                <a:latin typeface="Arial"/>
                <a:ea typeface="Arial"/>
                <a:cs typeface="Arial"/>
                <a:sym typeface="Arial"/>
              </a:rPr>
            </a:br>
            <a:r>
              <a:rPr b="1" i="0" lang="en-US" sz="1800" u="none" cap="none" strike="noStrike">
                <a:solidFill>
                  <a:srgbClr val="F8F8F8"/>
                </a:solidFill>
                <a:latin typeface="Arial"/>
                <a:ea typeface="Arial"/>
                <a:cs typeface="Arial"/>
                <a:sym typeface="Arial"/>
              </a:rPr>
              <a:t>and does it make sense?</a:t>
            </a:r>
            <a:endParaRPr b="0" i="0" sz="14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F8F8F8"/>
              </a:buClr>
              <a:buSzPts val="1800"/>
              <a:buFont typeface="Noto Sans Symbols"/>
              <a:buChar char="⮚"/>
            </a:pPr>
            <a:r>
              <a:rPr b="0" i="1" lang="en-US" sz="1800" u="none" cap="none" strike="noStrike">
                <a:solidFill>
                  <a:srgbClr val="F8F8F8"/>
                </a:solidFill>
                <a:latin typeface="Arial"/>
                <a:ea typeface="Arial"/>
                <a:cs typeface="Arial"/>
                <a:sym typeface="Arial"/>
              </a:rPr>
              <a:t>The Worker disregarded the exclusion zone </a:t>
            </a:r>
            <a:br>
              <a:rPr b="0" i="1" lang="en-US" sz="1800" u="none" cap="none" strike="noStrike">
                <a:solidFill>
                  <a:srgbClr val="F8F8F8"/>
                </a:solidFill>
                <a:latin typeface="Arial"/>
                <a:ea typeface="Arial"/>
                <a:cs typeface="Arial"/>
                <a:sym typeface="Arial"/>
              </a:rPr>
            </a:br>
            <a:r>
              <a:rPr b="0" i="1" lang="en-US" sz="1800" u="none" cap="none" strike="noStrike">
                <a:solidFill>
                  <a:srgbClr val="F8F8F8"/>
                </a:solidFill>
                <a:latin typeface="Arial"/>
                <a:ea typeface="Arial"/>
                <a:cs typeface="Arial"/>
                <a:sym typeface="Arial"/>
              </a:rPr>
              <a:t>procedures, </a:t>
            </a:r>
            <a:r>
              <a:rPr b="0" i="0" lang="en-US" sz="1800" u="none" cap="none" strike="noStrike">
                <a:solidFill>
                  <a:srgbClr val="F8F8F8"/>
                </a:solidFill>
                <a:latin typeface="Arial"/>
                <a:ea typeface="Arial"/>
                <a:cs typeface="Arial"/>
                <a:sym typeface="Arial"/>
              </a:rPr>
              <a:t>because (or was caused by) </a:t>
            </a:r>
            <a:endParaRPr b="0" i="0" sz="1800" u="none" cap="none" strike="noStrike">
              <a:solidFill>
                <a:srgbClr val="F8F8F8"/>
              </a:solidFill>
              <a:latin typeface="Arial"/>
              <a:ea typeface="Arial"/>
              <a:cs typeface="Arial"/>
              <a:sym typeface="Arial"/>
            </a:endParaRPr>
          </a:p>
          <a:p>
            <a:pPr indent="-360000" lvl="0" marL="360000" marR="0" rtl="0" algn="l">
              <a:lnSpc>
                <a:spcPct val="100000"/>
              </a:lnSpc>
              <a:spcBef>
                <a:spcPts val="0"/>
              </a:spcBef>
              <a:spcAft>
                <a:spcPts val="0"/>
              </a:spcAft>
              <a:buClr>
                <a:srgbClr val="F8F8F8"/>
              </a:buClr>
              <a:buSzPts val="1800"/>
              <a:buFont typeface="Noto Sans Symbols"/>
              <a:buChar char="⮚"/>
            </a:pPr>
            <a:r>
              <a:rPr b="0" i="1" lang="en-US" sz="1800" u="none" cap="none" strike="noStrike">
                <a:solidFill>
                  <a:srgbClr val="F8F8F8"/>
                </a:solidFill>
                <a:latin typeface="Arial"/>
                <a:ea typeface="Arial"/>
                <a:cs typeface="Arial"/>
                <a:sym typeface="Arial"/>
              </a:rPr>
              <a:t>The auditing program schedule did not </a:t>
            </a:r>
            <a:br>
              <a:rPr b="0" i="1" lang="en-US" sz="1800" u="none" cap="none" strike="noStrike">
                <a:solidFill>
                  <a:srgbClr val="F8F8F8"/>
                </a:solidFill>
                <a:latin typeface="Arial"/>
                <a:ea typeface="Arial"/>
                <a:cs typeface="Arial"/>
                <a:sym typeface="Arial"/>
              </a:rPr>
            </a:br>
            <a:r>
              <a:rPr b="0" i="1" lang="en-US" sz="1800" u="none" cap="none" strike="noStrike">
                <a:solidFill>
                  <a:srgbClr val="F8F8F8"/>
                </a:solidFill>
                <a:latin typeface="Arial"/>
                <a:ea typeface="Arial"/>
                <a:cs typeface="Arial"/>
                <a:sym typeface="Arial"/>
              </a:rPr>
              <a:t>include exclusion zone procedures</a:t>
            </a:r>
            <a:endParaRPr b="0" i="1" sz="1800" u="none" cap="none" strike="noStrike">
              <a:solidFill>
                <a:srgbClr val="F8F8F8"/>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8F8F8"/>
                </a:solidFill>
                <a:latin typeface="Arial"/>
                <a:ea typeface="Arial"/>
                <a:cs typeface="Arial"/>
                <a:sym typeface="Arial"/>
              </a:rPr>
              <a:t>A: [NO]</a:t>
            </a:r>
            <a:endParaRPr b="0" i="0" sz="1800" u="none" cap="none" strike="noStrike">
              <a:solidFill>
                <a:srgbClr val="F8F8F8"/>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F8F8F8"/>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F8F8F8"/>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8F8F8"/>
                </a:solidFill>
                <a:latin typeface="Arial"/>
                <a:ea typeface="Arial"/>
                <a:cs typeface="Arial"/>
                <a:sym typeface="Arial"/>
              </a:rPr>
              <a:t>Q: Is this an improvement?</a:t>
            </a:r>
            <a:endParaRPr b="0" i="0" sz="14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F8F8F8"/>
              </a:buClr>
              <a:buSzPts val="1800"/>
              <a:buFont typeface="Noto Sans Symbols"/>
              <a:buChar char="⮚"/>
            </a:pPr>
            <a:r>
              <a:rPr b="0" i="1" lang="en-US" sz="1800" u="none" cap="none" strike="noStrike">
                <a:solidFill>
                  <a:srgbClr val="F8F8F8"/>
                </a:solidFill>
                <a:latin typeface="Arial"/>
                <a:ea typeface="Arial"/>
                <a:cs typeface="Arial"/>
                <a:sym typeface="Arial"/>
              </a:rPr>
              <a:t>The Worker disregarded exclusion </a:t>
            </a:r>
            <a:br>
              <a:rPr b="0" i="1" lang="en-US" sz="1800" u="none" cap="none" strike="noStrike">
                <a:solidFill>
                  <a:srgbClr val="F8F8F8"/>
                </a:solidFill>
                <a:latin typeface="Arial"/>
                <a:ea typeface="Arial"/>
                <a:cs typeface="Arial"/>
                <a:sym typeface="Arial"/>
              </a:rPr>
            </a:br>
            <a:r>
              <a:rPr b="0" i="1" lang="en-US" sz="1800" u="none" cap="none" strike="noStrike">
                <a:solidFill>
                  <a:srgbClr val="F8F8F8"/>
                </a:solidFill>
                <a:latin typeface="Arial"/>
                <a:ea typeface="Arial"/>
                <a:cs typeface="Arial"/>
                <a:sym typeface="Arial"/>
              </a:rPr>
              <a:t>zone procedures, </a:t>
            </a:r>
            <a:r>
              <a:rPr b="0" i="0" lang="en-US" sz="1800" u="none" cap="none" strike="noStrike">
                <a:solidFill>
                  <a:srgbClr val="F8F8F8"/>
                </a:solidFill>
                <a:latin typeface="Arial"/>
                <a:ea typeface="Arial"/>
                <a:cs typeface="Arial"/>
                <a:sym typeface="Arial"/>
              </a:rPr>
              <a:t>because</a:t>
            </a:r>
            <a:r>
              <a:rPr b="0" i="1" lang="en-US" sz="1800" u="none" cap="none" strike="noStrike">
                <a:solidFill>
                  <a:srgbClr val="F8F8F8"/>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F8F8F8"/>
              </a:buClr>
              <a:buSzPts val="1800"/>
              <a:buFont typeface="Noto Sans Symbols"/>
              <a:buChar char="⮚"/>
            </a:pPr>
            <a:r>
              <a:rPr b="0" i="1" lang="en-US" sz="1800" u="none" cap="none" strike="noStrike">
                <a:solidFill>
                  <a:srgbClr val="F8F8F8"/>
                </a:solidFill>
                <a:latin typeface="Arial"/>
                <a:ea typeface="Arial"/>
                <a:cs typeface="Arial"/>
                <a:sym typeface="Arial"/>
              </a:rPr>
              <a:t>procedures were not enforced </a:t>
            </a:r>
            <a:br>
              <a:rPr b="0" i="1" lang="en-US" sz="1800" u="none" cap="none" strike="noStrike">
                <a:solidFill>
                  <a:srgbClr val="F8F8F8"/>
                </a:solidFill>
                <a:latin typeface="Arial"/>
                <a:ea typeface="Arial"/>
                <a:cs typeface="Arial"/>
                <a:sym typeface="Arial"/>
              </a:rPr>
            </a:br>
            <a:r>
              <a:rPr b="0" i="1" lang="en-US" sz="1800" u="none" cap="none" strike="noStrike">
                <a:solidFill>
                  <a:srgbClr val="F8F8F8"/>
                </a:solidFill>
                <a:latin typeface="Arial"/>
                <a:ea typeface="Arial"/>
                <a:cs typeface="Arial"/>
                <a:sym typeface="Arial"/>
              </a:rPr>
              <a:t>through audits, </a:t>
            </a:r>
            <a:r>
              <a:rPr b="0" i="0" lang="en-US" sz="1800" u="none" cap="none" strike="noStrike">
                <a:solidFill>
                  <a:srgbClr val="F8F8F8"/>
                </a:solidFill>
                <a:latin typeface="Arial"/>
                <a:ea typeface="Arial"/>
                <a:cs typeface="Arial"/>
                <a:sym typeface="Arial"/>
              </a:rPr>
              <a:t>because</a:t>
            </a:r>
            <a:r>
              <a:rPr b="0" i="1" lang="en-US" sz="1800" u="none" cap="none" strike="noStrike">
                <a:solidFill>
                  <a:srgbClr val="F8F8F8"/>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F8F8F8"/>
              </a:buClr>
              <a:buSzPts val="1800"/>
              <a:buFont typeface="Noto Sans Symbols"/>
              <a:buChar char="⮚"/>
            </a:pPr>
            <a:r>
              <a:rPr b="0" i="1" lang="en-US" sz="1800" u="none" cap="none" strike="noStrike">
                <a:solidFill>
                  <a:srgbClr val="F8F8F8"/>
                </a:solidFill>
                <a:latin typeface="Arial"/>
                <a:ea typeface="Arial"/>
                <a:cs typeface="Arial"/>
                <a:sym typeface="Arial"/>
              </a:rPr>
              <a:t>LC2: The auditing program </a:t>
            </a:r>
            <a:br>
              <a:rPr b="0" i="1" lang="en-US" sz="1800" u="none" cap="none" strike="noStrike">
                <a:solidFill>
                  <a:srgbClr val="F8F8F8"/>
                </a:solidFill>
                <a:latin typeface="Arial"/>
                <a:ea typeface="Arial"/>
                <a:cs typeface="Arial"/>
                <a:sym typeface="Arial"/>
              </a:rPr>
            </a:br>
            <a:r>
              <a:rPr b="0" i="1" lang="en-US" sz="1800" u="none" cap="none" strike="noStrike">
                <a:solidFill>
                  <a:srgbClr val="F8F8F8"/>
                </a:solidFill>
                <a:latin typeface="Arial"/>
                <a:ea typeface="Arial"/>
                <a:cs typeface="Arial"/>
                <a:sym typeface="Arial"/>
              </a:rPr>
              <a:t>schedule did not include the </a:t>
            </a:r>
            <a:br>
              <a:rPr b="0" i="1" lang="en-US" sz="1800" u="none" cap="none" strike="noStrike">
                <a:solidFill>
                  <a:srgbClr val="F8F8F8"/>
                </a:solidFill>
                <a:latin typeface="Arial"/>
                <a:ea typeface="Arial"/>
                <a:cs typeface="Arial"/>
                <a:sym typeface="Arial"/>
              </a:rPr>
            </a:br>
            <a:r>
              <a:rPr b="0" i="1" lang="en-US" sz="1800" u="none" cap="none" strike="noStrike">
                <a:solidFill>
                  <a:srgbClr val="F8F8F8"/>
                </a:solidFill>
                <a:latin typeface="Arial"/>
                <a:ea typeface="Arial"/>
                <a:cs typeface="Arial"/>
                <a:sym typeface="Arial"/>
              </a:rPr>
              <a:t>exclusion zone procedures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8F8F8"/>
                </a:solidFill>
                <a:latin typeface="Arial"/>
                <a:ea typeface="Arial"/>
                <a:cs typeface="Arial"/>
                <a:sym typeface="Arial"/>
              </a:rPr>
              <a:t>A: [YES]</a:t>
            </a:r>
            <a:endParaRPr b="1" i="0" sz="1800" u="none" cap="none" strike="noStrike">
              <a:solidFill>
                <a:srgbClr val="F8F8F8"/>
              </a:solidFill>
              <a:latin typeface="Arial"/>
              <a:ea typeface="Arial"/>
              <a:cs typeface="Arial"/>
              <a:sym typeface="Arial"/>
            </a:endParaRPr>
          </a:p>
        </p:txBody>
      </p:sp>
      <p:sp>
        <p:nvSpPr>
          <p:cNvPr id="628" name="Google Shape;628;p26"/>
          <p:cNvSpPr/>
          <p:nvPr/>
        </p:nvSpPr>
        <p:spPr>
          <a:xfrm>
            <a:off x="180000" y="180000"/>
            <a:ext cx="8640000" cy="50400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8F8F8"/>
              </a:buClr>
              <a:buSzPts val="2400"/>
              <a:buFont typeface="Arial"/>
              <a:buNone/>
            </a:pPr>
            <a:r>
              <a:rPr b="0" i="0" lang="en-US" sz="2400" u="none" cap="none" strike="noStrike">
                <a:solidFill>
                  <a:srgbClr val="F8F8F8"/>
                </a:solidFill>
                <a:latin typeface="Arial"/>
                <a:ea typeface="Arial"/>
                <a:cs typeface="Arial"/>
                <a:sym typeface="Arial"/>
              </a:rPr>
              <a:t>Practice: Apply The Narrative &amp; A Latent Cause</a:t>
            </a:r>
            <a:endParaRPr b="0" i="0" sz="1400" u="none" cap="none" strike="noStrike">
              <a:solidFill>
                <a:srgbClr val="000000"/>
              </a:solidFill>
              <a:latin typeface="Arial"/>
              <a:ea typeface="Arial"/>
              <a:cs typeface="Arial"/>
              <a:sym typeface="Arial"/>
            </a:endParaRPr>
          </a:p>
        </p:txBody>
      </p:sp>
      <p:sp>
        <p:nvSpPr>
          <p:cNvPr id="629" name="Google Shape;629;p26"/>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630" name="Google Shape;630;p26"/>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pic>
        <p:nvPicPr>
          <p:cNvPr id="631" name="Google Shape;631;p26"/>
          <p:cNvPicPr preferRelativeResize="0"/>
          <p:nvPr/>
        </p:nvPicPr>
        <p:blipFill rotWithShape="1">
          <a:blip r:embed="rId3">
            <a:alphaModFix/>
          </a:blip>
          <a:srcRect b="0" l="0" r="0" t="0"/>
          <a:stretch/>
        </p:blipFill>
        <p:spPr>
          <a:xfrm>
            <a:off x="5818040" y="1145124"/>
            <a:ext cx="2593736" cy="2002113"/>
          </a:xfrm>
          <a:prstGeom prst="rect">
            <a:avLst/>
          </a:prstGeom>
          <a:solidFill>
            <a:srgbClr val="00FFFF"/>
          </a:solidFill>
          <a:ln>
            <a:noFill/>
          </a:ln>
        </p:spPr>
      </p:pic>
      <p:pic>
        <p:nvPicPr>
          <p:cNvPr id="632" name="Google Shape;632;p26"/>
          <p:cNvPicPr preferRelativeResize="0"/>
          <p:nvPr/>
        </p:nvPicPr>
        <p:blipFill rotWithShape="1">
          <a:blip r:embed="rId4">
            <a:alphaModFix/>
          </a:blip>
          <a:srcRect b="0" l="0" r="0" t="0"/>
          <a:stretch/>
        </p:blipFill>
        <p:spPr>
          <a:xfrm>
            <a:off x="5807420" y="3593049"/>
            <a:ext cx="2604355" cy="2010310"/>
          </a:xfrm>
          <a:prstGeom prst="rect">
            <a:avLst/>
          </a:prstGeom>
          <a:solidFill>
            <a:srgbClr val="00FFFF"/>
          </a:solidFill>
          <a:ln>
            <a:noFill/>
          </a:ln>
        </p:spPr>
      </p:pic>
      <p:sp>
        <p:nvSpPr>
          <p:cNvPr id="633" name="Google Shape;633;p26"/>
          <p:cNvSpPr txBox="1"/>
          <p:nvPr/>
        </p:nvSpPr>
        <p:spPr>
          <a:xfrm>
            <a:off x="6634717" y="4251508"/>
            <a:ext cx="1666549" cy="40011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chemeClr val="dk1"/>
                </a:solidFill>
                <a:latin typeface="Arial"/>
                <a:ea typeface="Arial"/>
                <a:cs typeface="Arial"/>
                <a:sym typeface="Arial"/>
              </a:rPr>
              <a:t>procedures were not enforced through audits</a:t>
            </a:r>
            <a:endParaRPr b="1" i="0" sz="1000" u="none" cap="none" strike="noStrike">
              <a:solidFill>
                <a:schemeClr val="dk1"/>
              </a:solidFill>
              <a:latin typeface="Arial"/>
              <a:ea typeface="Arial"/>
              <a:cs typeface="Arial"/>
              <a:sym typeface="Arial"/>
            </a:endParaRPr>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27"/>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640" name="Google Shape;640;p27"/>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sp>
        <p:nvSpPr>
          <p:cNvPr id="641" name="Google Shape;641;p27"/>
          <p:cNvSpPr txBox="1"/>
          <p:nvPr/>
        </p:nvSpPr>
        <p:spPr>
          <a:xfrm>
            <a:off x="324000" y="1817541"/>
            <a:ext cx="2160000" cy="738664"/>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Worker was not aware of exclusion zone procedures</a:t>
            </a:r>
            <a:endParaRPr b="0" i="0" sz="1400" u="none" cap="none" strike="noStrike">
              <a:solidFill>
                <a:srgbClr val="000000"/>
              </a:solidFill>
              <a:latin typeface="Arial"/>
              <a:ea typeface="Arial"/>
              <a:cs typeface="Arial"/>
              <a:sym typeface="Arial"/>
            </a:endParaRPr>
          </a:p>
        </p:txBody>
      </p:sp>
      <p:sp>
        <p:nvSpPr>
          <p:cNvPr id="642" name="Google Shape;642;p27"/>
          <p:cNvSpPr txBox="1"/>
          <p:nvPr/>
        </p:nvSpPr>
        <p:spPr>
          <a:xfrm>
            <a:off x="2628000" y="1817541"/>
            <a:ext cx="2772000" cy="5232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Worker disregarded exclusion zone procedures</a:t>
            </a:r>
            <a:endParaRPr b="0" i="0" sz="1400" u="none" cap="none" strike="noStrike">
              <a:solidFill>
                <a:srgbClr val="000000"/>
              </a:solidFill>
              <a:latin typeface="Arial"/>
              <a:ea typeface="Arial"/>
              <a:cs typeface="Arial"/>
              <a:sym typeface="Arial"/>
            </a:endParaRPr>
          </a:p>
        </p:txBody>
      </p:sp>
      <p:cxnSp>
        <p:nvCxnSpPr>
          <p:cNvPr id="643" name="Google Shape;643;p27"/>
          <p:cNvCxnSpPr>
            <a:stCxn id="644" idx="2"/>
            <a:endCxn id="645" idx="0"/>
          </p:cNvCxnSpPr>
          <p:nvPr/>
        </p:nvCxnSpPr>
        <p:spPr>
          <a:xfrm flipH="1" rot="-5400000">
            <a:off x="5375550" y="11038"/>
            <a:ext cx="426900" cy="3186000"/>
          </a:xfrm>
          <a:prstGeom prst="bentConnector3">
            <a:avLst>
              <a:gd fmla="val 50006" name="adj1"/>
            </a:avLst>
          </a:prstGeom>
          <a:noFill/>
          <a:ln cap="flat" cmpd="sng" w="9525">
            <a:solidFill>
              <a:srgbClr val="000000"/>
            </a:solidFill>
            <a:prstDash val="solid"/>
            <a:miter lim="800000"/>
            <a:headEnd len="sm" w="sm" type="none"/>
            <a:tailEnd len="med" w="med" type="triangle"/>
          </a:ln>
        </p:spPr>
      </p:cxnSp>
      <p:cxnSp>
        <p:nvCxnSpPr>
          <p:cNvPr id="646" name="Google Shape;646;p27"/>
          <p:cNvCxnSpPr>
            <a:stCxn id="644" idx="2"/>
            <a:endCxn id="641" idx="0"/>
          </p:cNvCxnSpPr>
          <p:nvPr/>
        </p:nvCxnSpPr>
        <p:spPr>
          <a:xfrm rot="5400000">
            <a:off x="2486550" y="308038"/>
            <a:ext cx="426900" cy="2592000"/>
          </a:xfrm>
          <a:prstGeom prst="bentConnector3">
            <a:avLst>
              <a:gd fmla="val 50006" name="adj1"/>
            </a:avLst>
          </a:prstGeom>
          <a:noFill/>
          <a:ln cap="flat" cmpd="sng" w="9525">
            <a:solidFill>
              <a:srgbClr val="000000"/>
            </a:solidFill>
            <a:prstDash val="solid"/>
            <a:miter lim="800000"/>
            <a:headEnd len="sm" w="sm" type="none"/>
            <a:tailEnd len="med" w="med" type="triangle"/>
          </a:ln>
        </p:spPr>
      </p:cxnSp>
      <p:sp>
        <p:nvSpPr>
          <p:cNvPr id="645" name="Google Shape;645;p27"/>
          <p:cNvSpPr txBox="1"/>
          <p:nvPr/>
        </p:nvSpPr>
        <p:spPr>
          <a:xfrm>
            <a:off x="5580000" y="1817541"/>
            <a:ext cx="3204000" cy="5400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Supervisor told Worker to go into the exclusion zone</a:t>
            </a:r>
            <a:endParaRPr b="0" i="0" sz="1400" u="none" cap="none" strike="noStrike">
              <a:solidFill>
                <a:srgbClr val="000000"/>
              </a:solidFill>
              <a:latin typeface="Arial"/>
              <a:ea typeface="Arial"/>
              <a:cs typeface="Arial"/>
              <a:sym typeface="Arial"/>
            </a:endParaRPr>
          </a:p>
        </p:txBody>
      </p:sp>
      <p:sp>
        <p:nvSpPr>
          <p:cNvPr id="647" name="Google Shape;647;p27"/>
          <p:cNvSpPr txBox="1"/>
          <p:nvPr/>
        </p:nvSpPr>
        <p:spPr>
          <a:xfrm>
            <a:off x="2628000" y="4194000"/>
            <a:ext cx="2772000" cy="5400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BC-JF: Procedures were not enforced through audits</a:t>
            </a:r>
            <a:endParaRPr b="0" i="0" sz="1400" u="none" cap="none" strike="noStrike">
              <a:solidFill>
                <a:srgbClr val="000000"/>
              </a:solidFill>
              <a:latin typeface="Arial"/>
              <a:ea typeface="Arial"/>
              <a:cs typeface="Arial"/>
              <a:sym typeface="Arial"/>
            </a:endParaRPr>
          </a:p>
        </p:txBody>
      </p:sp>
      <p:sp>
        <p:nvSpPr>
          <p:cNvPr id="648" name="Google Shape;648;p27"/>
          <p:cNvSpPr txBox="1"/>
          <p:nvPr/>
        </p:nvSpPr>
        <p:spPr>
          <a:xfrm>
            <a:off x="2628000" y="5058000"/>
            <a:ext cx="2772000" cy="738664"/>
          </a:xfrm>
          <a:prstGeom prst="rect">
            <a:avLst/>
          </a:prstGeom>
          <a:solidFill>
            <a:srgbClr val="FEE599"/>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LC2-S: The auditing program schedule did not include the exclusion zone procedures</a:t>
            </a:r>
            <a:endParaRPr b="0" i="0" sz="1400" u="none" cap="none" strike="noStrike">
              <a:solidFill>
                <a:srgbClr val="000000"/>
              </a:solidFill>
              <a:latin typeface="Arial"/>
              <a:ea typeface="Arial"/>
              <a:cs typeface="Arial"/>
              <a:sym typeface="Arial"/>
            </a:endParaRPr>
          </a:p>
        </p:txBody>
      </p:sp>
      <p:cxnSp>
        <p:nvCxnSpPr>
          <p:cNvPr id="649" name="Google Shape;649;p27"/>
          <p:cNvCxnSpPr>
            <a:stCxn id="644" idx="2"/>
            <a:endCxn id="642" idx="0"/>
          </p:cNvCxnSpPr>
          <p:nvPr/>
        </p:nvCxnSpPr>
        <p:spPr>
          <a:xfrm>
            <a:off x="3996000" y="1390588"/>
            <a:ext cx="18000" cy="426900"/>
          </a:xfrm>
          <a:prstGeom prst="straightConnector1">
            <a:avLst/>
          </a:prstGeom>
          <a:noFill/>
          <a:ln cap="flat" cmpd="sng" w="9525">
            <a:solidFill>
              <a:srgbClr val="000000"/>
            </a:solidFill>
            <a:prstDash val="solid"/>
            <a:miter lim="800000"/>
            <a:headEnd len="sm" w="sm" type="none"/>
            <a:tailEnd len="med" w="med" type="triangle"/>
          </a:ln>
        </p:spPr>
      </p:cxnSp>
      <p:sp>
        <p:nvSpPr>
          <p:cNvPr id="650" name="Google Shape;650;p27"/>
          <p:cNvSpPr/>
          <p:nvPr/>
        </p:nvSpPr>
        <p:spPr>
          <a:xfrm>
            <a:off x="3771059" y="1426654"/>
            <a:ext cx="437760" cy="324152"/>
          </a:xfrm>
          <a:prstGeom prst="flowChartPunchedTape">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rgbClr val="262626"/>
              </a:solidFill>
              <a:latin typeface="Arial"/>
              <a:ea typeface="Arial"/>
              <a:cs typeface="Arial"/>
              <a:sym typeface="Arial"/>
            </a:endParaRPr>
          </a:p>
        </p:txBody>
      </p:sp>
      <p:sp>
        <p:nvSpPr>
          <p:cNvPr id="651" name="Google Shape;651;p27"/>
          <p:cNvSpPr txBox="1"/>
          <p:nvPr/>
        </p:nvSpPr>
        <p:spPr>
          <a:xfrm>
            <a:off x="5580000" y="4194000"/>
            <a:ext cx="3204000" cy="5400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Sr Mngmt expectations were not in alignment with core safety values</a:t>
            </a:r>
            <a:endParaRPr b="0" i="0" sz="1400" u="none" cap="none" strike="noStrike">
              <a:solidFill>
                <a:srgbClr val="000000"/>
              </a:solidFill>
              <a:latin typeface="Arial"/>
              <a:ea typeface="Arial"/>
              <a:cs typeface="Arial"/>
              <a:sym typeface="Arial"/>
            </a:endParaRPr>
          </a:p>
        </p:txBody>
      </p:sp>
      <p:sp>
        <p:nvSpPr>
          <p:cNvPr id="652" name="Google Shape;652;p27"/>
          <p:cNvSpPr txBox="1"/>
          <p:nvPr/>
        </p:nvSpPr>
        <p:spPr>
          <a:xfrm>
            <a:off x="5580000" y="2480593"/>
            <a:ext cx="3204000" cy="5400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BC-PF: Supervisor prioritized production over safety</a:t>
            </a:r>
            <a:endParaRPr b="0" i="0" sz="1400" u="none" cap="none" strike="noStrike">
              <a:solidFill>
                <a:srgbClr val="000000"/>
              </a:solidFill>
              <a:latin typeface="Arial"/>
              <a:ea typeface="Arial"/>
              <a:cs typeface="Arial"/>
              <a:sym typeface="Arial"/>
            </a:endParaRPr>
          </a:p>
        </p:txBody>
      </p:sp>
      <p:sp>
        <p:nvSpPr>
          <p:cNvPr id="653" name="Google Shape;653;p27"/>
          <p:cNvSpPr txBox="1"/>
          <p:nvPr/>
        </p:nvSpPr>
        <p:spPr>
          <a:xfrm>
            <a:off x="5580000" y="5058000"/>
            <a:ext cx="3204000" cy="738664"/>
          </a:xfrm>
          <a:prstGeom prst="rect">
            <a:avLst/>
          </a:prstGeom>
          <a:solidFill>
            <a:srgbClr val="FEE599"/>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LC3-P: Core Safety Values Communications Program was inadequate. **</a:t>
            </a:r>
            <a:endParaRPr b="1" i="0" sz="1400" u="none" cap="none" strike="noStrike">
              <a:solidFill>
                <a:srgbClr val="000000"/>
              </a:solidFill>
              <a:latin typeface="Arial"/>
              <a:ea typeface="Arial"/>
              <a:cs typeface="Arial"/>
              <a:sym typeface="Arial"/>
            </a:endParaRPr>
          </a:p>
        </p:txBody>
      </p:sp>
      <p:sp>
        <p:nvSpPr>
          <p:cNvPr id="654" name="Google Shape;654;p27"/>
          <p:cNvSpPr txBox="1"/>
          <p:nvPr/>
        </p:nvSpPr>
        <p:spPr>
          <a:xfrm>
            <a:off x="324000" y="5058000"/>
            <a:ext cx="2160000" cy="738664"/>
          </a:xfrm>
          <a:prstGeom prst="rect">
            <a:avLst/>
          </a:prstGeom>
          <a:solidFill>
            <a:srgbClr val="FEE599"/>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LC1-P: There was no training program for mining operations.</a:t>
            </a:r>
            <a:endParaRPr b="1" i="0" sz="1400" u="none" cap="none" strike="noStrike">
              <a:solidFill>
                <a:srgbClr val="000000"/>
              </a:solidFill>
              <a:latin typeface="Arial"/>
              <a:ea typeface="Arial"/>
              <a:cs typeface="Arial"/>
              <a:sym typeface="Arial"/>
            </a:endParaRPr>
          </a:p>
        </p:txBody>
      </p:sp>
      <p:sp>
        <p:nvSpPr>
          <p:cNvPr id="655" name="Google Shape;655;p27"/>
          <p:cNvSpPr txBox="1"/>
          <p:nvPr/>
        </p:nvSpPr>
        <p:spPr>
          <a:xfrm>
            <a:off x="324000" y="4194000"/>
            <a:ext cx="2160000" cy="738664"/>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BC-JF: Worker was not trained on those procedures</a:t>
            </a:r>
            <a:endParaRPr b="1" i="0" sz="1400" u="none" cap="none" strike="noStrike">
              <a:solidFill>
                <a:srgbClr val="000000"/>
              </a:solidFill>
              <a:latin typeface="Arial"/>
              <a:ea typeface="Arial"/>
              <a:cs typeface="Arial"/>
              <a:sym typeface="Arial"/>
            </a:endParaRPr>
          </a:p>
        </p:txBody>
      </p:sp>
      <p:sp>
        <p:nvSpPr>
          <p:cNvPr id="656" name="Google Shape;656;p27"/>
          <p:cNvSpPr txBox="1"/>
          <p:nvPr/>
        </p:nvSpPr>
        <p:spPr>
          <a:xfrm>
            <a:off x="7423069" y="409144"/>
            <a:ext cx="1496487" cy="307777"/>
          </a:xfrm>
          <a:prstGeom prst="rect">
            <a:avLst/>
          </a:prstGeom>
          <a:solidFill>
            <a:srgbClr val="FEE599"/>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Latent Causes</a:t>
            </a:r>
            <a:endParaRPr b="0" i="0" sz="1400" u="none" cap="none" strike="noStrike">
              <a:solidFill>
                <a:srgbClr val="000000"/>
              </a:solidFill>
              <a:latin typeface="Arial"/>
              <a:ea typeface="Arial"/>
              <a:cs typeface="Arial"/>
              <a:sym typeface="Arial"/>
            </a:endParaRPr>
          </a:p>
        </p:txBody>
      </p:sp>
      <p:sp>
        <p:nvSpPr>
          <p:cNvPr id="657" name="Google Shape;657;p27"/>
          <p:cNvSpPr txBox="1"/>
          <p:nvPr/>
        </p:nvSpPr>
        <p:spPr>
          <a:xfrm>
            <a:off x="5580000" y="5778000"/>
            <a:ext cx="3204000" cy="252000"/>
          </a:xfrm>
          <a:prstGeom prst="rect">
            <a:avLst/>
          </a:prstGeom>
          <a:solidFill>
            <a:srgbClr val="FFFFFF"/>
          </a:solidFill>
          <a:ln cap="flat" cmpd="sng" w="9525">
            <a:solidFill>
              <a:srgbClr val="FF0000"/>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lnSpc>
                <a:spcPct val="100000"/>
              </a:lnSpc>
              <a:spcBef>
                <a:spcPts val="0"/>
              </a:spcBef>
              <a:spcAft>
                <a:spcPts val="0"/>
              </a:spcAft>
              <a:buClr>
                <a:srgbClr val="FF0000"/>
              </a:buClr>
              <a:buSzPts val="1400"/>
              <a:buFont typeface="Arial"/>
              <a:buNone/>
            </a:pPr>
            <a:r>
              <a:rPr b="0" i="0" lang="en-US" sz="1400" u="none" cap="none" strike="noStrike">
                <a:solidFill>
                  <a:srgbClr val="FF0000"/>
                </a:solidFill>
                <a:latin typeface="Arial"/>
                <a:ea typeface="Arial"/>
                <a:cs typeface="Arial"/>
                <a:sym typeface="Arial"/>
              </a:rPr>
              <a:t>RME #1 MLCA</a:t>
            </a:r>
            <a:endParaRPr b="0" i="0" sz="1400" u="none" cap="none" strike="noStrike">
              <a:solidFill>
                <a:srgbClr val="000000"/>
              </a:solidFill>
              <a:latin typeface="Arial"/>
              <a:ea typeface="Arial"/>
              <a:cs typeface="Arial"/>
              <a:sym typeface="Arial"/>
            </a:endParaRPr>
          </a:p>
        </p:txBody>
      </p:sp>
      <p:sp>
        <p:nvSpPr>
          <p:cNvPr id="658" name="Google Shape;658;p27"/>
          <p:cNvSpPr txBox="1"/>
          <p:nvPr/>
        </p:nvSpPr>
        <p:spPr>
          <a:xfrm>
            <a:off x="324000" y="5778000"/>
            <a:ext cx="2160000" cy="252000"/>
          </a:xfrm>
          <a:prstGeom prst="rect">
            <a:avLst/>
          </a:prstGeom>
          <a:solidFill>
            <a:srgbClr val="FFFFFF"/>
          </a:solidFill>
          <a:ln cap="flat" cmpd="sng" w="9525">
            <a:solidFill>
              <a:srgbClr val="FF0000"/>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lnSpc>
                <a:spcPct val="100000"/>
              </a:lnSpc>
              <a:spcBef>
                <a:spcPts val="0"/>
              </a:spcBef>
              <a:spcAft>
                <a:spcPts val="0"/>
              </a:spcAft>
              <a:buClr>
                <a:srgbClr val="FF0000"/>
              </a:buClr>
              <a:buSzPts val="1400"/>
              <a:buFont typeface="Arial"/>
              <a:buNone/>
            </a:pPr>
            <a:r>
              <a:rPr b="0" i="0" lang="en-US" sz="1400" u="none" cap="none" strike="noStrike">
                <a:solidFill>
                  <a:srgbClr val="FF0000"/>
                </a:solidFill>
                <a:latin typeface="Arial"/>
                <a:ea typeface="Arial"/>
                <a:cs typeface="Arial"/>
                <a:sym typeface="Arial"/>
              </a:rPr>
              <a:t>RME #9 ECT</a:t>
            </a:r>
            <a:endParaRPr b="0" i="0" sz="1400" u="none" cap="none" strike="noStrike">
              <a:solidFill>
                <a:srgbClr val="000000"/>
              </a:solidFill>
              <a:latin typeface="Arial"/>
              <a:ea typeface="Arial"/>
              <a:cs typeface="Arial"/>
              <a:sym typeface="Arial"/>
            </a:endParaRPr>
          </a:p>
        </p:txBody>
      </p:sp>
      <p:sp>
        <p:nvSpPr>
          <p:cNvPr id="659" name="Google Shape;659;p27"/>
          <p:cNvSpPr txBox="1"/>
          <p:nvPr/>
        </p:nvSpPr>
        <p:spPr>
          <a:xfrm>
            <a:off x="2628000" y="5778000"/>
            <a:ext cx="2772000" cy="252000"/>
          </a:xfrm>
          <a:prstGeom prst="rect">
            <a:avLst/>
          </a:prstGeom>
          <a:solidFill>
            <a:srgbClr val="FFFFFF"/>
          </a:solidFill>
          <a:ln cap="flat" cmpd="sng" w="9525">
            <a:solidFill>
              <a:srgbClr val="FF0000"/>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lnSpc>
                <a:spcPct val="100000"/>
              </a:lnSpc>
              <a:spcBef>
                <a:spcPts val="0"/>
              </a:spcBef>
              <a:spcAft>
                <a:spcPts val="0"/>
              </a:spcAft>
              <a:buClr>
                <a:srgbClr val="FF0000"/>
              </a:buClr>
              <a:buSzPts val="1400"/>
              <a:buFont typeface="Arial"/>
              <a:buNone/>
            </a:pPr>
            <a:r>
              <a:rPr b="0" i="0" lang="en-US" sz="1400" u="none" cap="none" strike="noStrike">
                <a:solidFill>
                  <a:srgbClr val="FF0000"/>
                </a:solidFill>
                <a:latin typeface="Arial"/>
                <a:ea typeface="Arial"/>
                <a:cs typeface="Arial"/>
                <a:sym typeface="Arial"/>
              </a:rPr>
              <a:t>RME #6 PECI</a:t>
            </a:r>
            <a:endParaRPr b="0" i="0" sz="1400" u="none" cap="none" strike="noStrike">
              <a:solidFill>
                <a:srgbClr val="000000"/>
              </a:solidFill>
              <a:latin typeface="Arial"/>
              <a:ea typeface="Arial"/>
              <a:cs typeface="Arial"/>
              <a:sym typeface="Arial"/>
            </a:endParaRPr>
          </a:p>
        </p:txBody>
      </p:sp>
      <p:cxnSp>
        <p:nvCxnSpPr>
          <p:cNvPr id="660" name="Google Shape;660;p27"/>
          <p:cNvCxnSpPr>
            <a:stCxn id="645" idx="2"/>
            <a:endCxn id="652" idx="0"/>
          </p:cNvCxnSpPr>
          <p:nvPr/>
        </p:nvCxnSpPr>
        <p:spPr>
          <a:xfrm>
            <a:off x="7182000" y="2357541"/>
            <a:ext cx="0" cy="123000"/>
          </a:xfrm>
          <a:prstGeom prst="straightConnector1">
            <a:avLst/>
          </a:prstGeom>
          <a:noFill/>
          <a:ln cap="flat" cmpd="sng" w="9525">
            <a:solidFill>
              <a:srgbClr val="000000"/>
            </a:solidFill>
            <a:prstDash val="solid"/>
            <a:miter lim="800000"/>
            <a:headEnd len="sm" w="sm" type="none"/>
            <a:tailEnd len="med" w="med" type="triangle"/>
          </a:ln>
        </p:spPr>
      </p:cxnSp>
      <p:cxnSp>
        <p:nvCxnSpPr>
          <p:cNvPr id="661" name="Google Shape;661;p27"/>
          <p:cNvCxnSpPr>
            <a:stCxn id="652" idx="2"/>
            <a:endCxn id="651" idx="0"/>
          </p:cNvCxnSpPr>
          <p:nvPr/>
        </p:nvCxnSpPr>
        <p:spPr>
          <a:xfrm>
            <a:off x="7182000" y="3020593"/>
            <a:ext cx="0" cy="1173300"/>
          </a:xfrm>
          <a:prstGeom prst="straightConnector1">
            <a:avLst/>
          </a:prstGeom>
          <a:noFill/>
          <a:ln cap="flat" cmpd="sng" w="9525">
            <a:solidFill>
              <a:srgbClr val="000000"/>
            </a:solidFill>
            <a:prstDash val="solid"/>
            <a:miter lim="800000"/>
            <a:headEnd len="sm" w="sm" type="none"/>
            <a:tailEnd len="med" w="med" type="triangle"/>
          </a:ln>
        </p:spPr>
      </p:cxnSp>
      <p:cxnSp>
        <p:nvCxnSpPr>
          <p:cNvPr id="662" name="Google Shape;662;p27"/>
          <p:cNvCxnSpPr>
            <a:stCxn id="651" idx="2"/>
            <a:endCxn id="653" idx="0"/>
          </p:cNvCxnSpPr>
          <p:nvPr/>
        </p:nvCxnSpPr>
        <p:spPr>
          <a:xfrm>
            <a:off x="7182000" y="4734000"/>
            <a:ext cx="0" cy="324000"/>
          </a:xfrm>
          <a:prstGeom prst="straightConnector1">
            <a:avLst/>
          </a:prstGeom>
          <a:noFill/>
          <a:ln cap="flat" cmpd="sng" w="9525">
            <a:solidFill>
              <a:srgbClr val="000000"/>
            </a:solidFill>
            <a:prstDash val="solid"/>
            <a:miter lim="800000"/>
            <a:headEnd len="sm" w="sm" type="none"/>
            <a:tailEnd len="med" w="med" type="triangle"/>
          </a:ln>
        </p:spPr>
      </p:cxnSp>
      <p:cxnSp>
        <p:nvCxnSpPr>
          <p:cNvPr id="663" name="Google Shape;663;p27"/>
          <p:cNvCxnSpPr>
            <a:stCxn id="647" idx="2"/>
            <a:endCxn id="648" idx="0"/>
          </p:cNvCxnSpPr>
          <p:nvPr/>
        </p:nvCxnSpPr>
        <p:spPr>
          <a:xfrm>
            <a:off x="4014000" y="4734000"/>
            <a:ext cx="0" cy="324000"/>
          </a:xfrm>
          <a:prstGeom prst="straightConnector1">
            <a:avLst/>
          </a:prstGeom>
          <a:noFill/>
          <a:ln cap="flat" cmpd="sng" w="9525">
            <a:solidFill>
              <a:srgbClr val="000000"/>
            </a:solidFill>
            <a:prstDash val="solid"/>
            <a:miter lim="800000"/>
            <a:headEnd len="sm" w="sm" type="none"/>
            <a:tailEnd len="med" w="med" type="triangle"/>
          </a:ln>
        </p:spPr>
      </p:cxnSp>
      <p:cxnSp>
        <p:nvCxnSpPr>
          <p:cNvPr id="664" name="Google Shape;664;p27"/>
          <p:cNvCxnSpPr>
            <a:stCxn id="642" idx="2"/>
            <a:endCxn id="647" idx="0"/>
          </p:cNvCxnSpPr>
          <p:nvPr/>
        </p:nvCxnSpPr>
        <p:spPr>
          <a:xfrm>
            <a:off x="4014000" y="2340741"/>
            <a:ext cx="0" cy="1853400"/>
          </a:xfrm>
          <a:prstGeom prst="straightConnector1">
            <a:avLst/>
          </a:prstGeom>
          <a:noFill/>
          <a:ln cap="flat" cmpd="sng" w="9525">
            <a:solidFill>
              <a:srgbClr val="000000"/>
            </a:solidFill>
            <a:prstDash val="solid"/>
            <a:miter lim="800000"/>
            <a:headEnd len="sm" w="sm" type="none"/>
            <a:tailEnd len="med" w="med" type="triangle"/>
          </a:ln>
        </p:spPr>
      </p:cxnSp>
      <p:cxnSp>
        <p:nvCxnSpPr>
          <p:cNvPr id="665" name="Google Shape;665;p27"/>
          <p:cNvCxnSpPr>
            <a:stCxn id="641" idx="2"/>
            <a:endCxn id="655" idx="0"/>
          </p:cNvCxnSpPr>
          <p:nvPr/>
        </p:nvCxnSpPr>
        <p:spPr>
          <a:xfrm>
            <a:off x="1404000" y="2556205"/>
            <a:ext cx="0" cy="1637700"/>
          </a:xfrm>
          <a:prstGeom prst="straightConnector1">
            <a:avLst/>
          </a:prstGeom>
          <a:noFill/>
          <a:ln cap="flat" cmpd="sng" w="9525">
            <a:solidFill>
              <a:srgbClr val="000000"/>
            </a:solidFill>
            <a:prstDash val="solid"/>
            <a:miter lim="800000"/>
            <a:headEnd len="sm" w="sm" type="none"/>
            <a:tailEnd len="med" w="med" type="triangle"/>
          </a:ln>
        </p:spPr>
      </p:cxnSp>
      <p:cxnSp>
        <p:nvCxnSpPr>
          <p:cNvPr id="666" name="Google Shape;666;p27"/>
          <p:cNvCxnSpPr>
            <a:stCxn id="655" idx="2"/>
            <a:endCxn id="654" idx="0"/>
          </p:cNvCxnSpPr>
          <p:nvPr/>
        </p:nvCxnSpPr>
        <p:spPr>
          <a:xfrm>
            <a:off x="1404000" y="4932664"/>
            <a:ext cx="0" cy="125400"/>
          </a:xfrm>
          <a:prstGeom prst="straightConnector1">
            <a:avLst/>
          </a:prstGeom>
          <a:noFill/>
          <a:ln cap="flat" cmpd="sng" w="9525">
            <a:solidFill>
              <a:srgbClr val="000000"/>
            </a:solidFill>
            <a:prstDash val="solid"/>
            <a:miter lim="800000"/>
            <a:headEnd len="sm" w="sm" type="none"/>
            <a:tailEnd len="med" w="med" type="triangle"/>
          </a:ln>
        </p:spPr>
      </p:cxnSp>
      <p:sp>
        <p:nvSpPr>
          <p:cNvPr id="667" name="Google Shape;667;p27"/>
          <p:cNvSpPr txBox="1"/>
          <p:nvPr/>
        </p:nvSpPr>
        <p:spPr>
          <a:xfrm>
            <a:off x="1656000" y="136086"/>
            <a:ext cx="4680000" cy="307777"/>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Debris fell, injuring one Worker &amp; damaged equipment</a:t>
            </a:r>
            <a:endParaRPr b="0" i="0" sz="1400" u="none" cap="none" strike="noStrike">
              <a:solidFill>
                <a:srgbClr val="262626"/>
              </a:solidFill>
              <a:latin typeface="Arial"/>
              <a:ea typeface="Arial"/>
              <a:cs typeface="Arial"/>
              <a:sym typeface="Arial"/>
            </a:endParaRPr>
          </a:p>
        </p:txBody>
      </p:sp>
      <p:sp>
        <p:nvSpPr>
          <p:cNvPr id="668" name="Google Shape;668;p27"/>
          <p:cNvSpPr txBox="1"/>
          <p:nvPr/>
        </p:nvSpPr>
        <p:spPr>
          <a:xfrm>
            <a:off x="1656000" y="616886"/>
            <a:ext cx="4680000" cy="307777"/>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Equipment &amp; Worker Were In Exclusion Zone</a:t>
            </a:r>
            <a:endParaRPr b="0" i="0" sz="1400" u="none" cap="none" strike="noStrike">
              <a:solidFill>
                <a:srgbClr val="000000"/>
              </a:solidFill>
              <a:latin typeface="Arial"/>
              <a:ea typeface="Arial"/>
              <a:cs typeface="Arial"/>
              <a:sym typeface="Arial"/>
            </a:endParaRPr>
          </a:p>
        </p:txBody>
      </p:sp>
      <p:sp>
        <p:nvSpPr>
          <p:cNvPr id="644" name="Google Shape;644;p27"/>
          <p:cNvSpPr txBox="1"/>
          <p:nvPr/>
        </p:nvSpPr>
        <p:spPr>
          <a:xfrm>
            <a:off x="1656000" y="1102588"/>
            <a:ext cx="4680000" cy="2880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Worker did not follow exclusion zone procedures</a:t>
            </a:r>
            <a:endParaRPr b="0" i="0" sz="1400" u="none" cap="none" strike="noStrike">
              <a:solidFill>
                <a:srgbClr val="000000"/>
              </a:solidFill>
              <a:latin typeface="Arial"/>
              <a:ea typeface="Arial"/>
              <a:cs typeface="Arial"/>
              <a:sym typeface="Arial"/>
            </a:endParaRPr>
          </a:p>
        </p:txBody>
      </p:sp>
      <p:cxnSp>
        <p:nvCxnSpPr>
          <p:cNvPr id="669" name="Google Shape;669;p27"/>
          <p:cNvCxnSpPr>
            <a:stCxn id="668" idx="2"/>
            <a:endCxn id="644" idx="0"/>
          </p:cNvCxnSpPr>
          <p:nvPr/>
        </p:nvCxnSpPr>
        <p:spPr>
          <a:xfrm>
            <a:off x="3996000" y="924663"/>
            <a:ext cx="0" cy="177900"/>
          </a:xfrm>
          <a:prstGeom prst="straightConnector1">
            <a:avLst/>
          </a:prstGeom>
          <a:noFill/>
          <a:ln cap="flat" cmpd="sng" w="9525">
            <a:solidFill>
              <a:srgbClr val="000000"/>
            </a:solidFill>
            <a:prstDash val="solid"/>
            <a:miter lim="800000"/>
            <a:headEnd len="sm" w="sm" type="none"/>
            <a:tailEnd len="med" w="med" type="triangle"/>
          </a:ln>
        </p:spPr>
      </p:cxnSp>
      <p:cxnSp>
        <p:nvCxnSpPr>
          <p:cNvPr id="670" name="Google Shape;670;p27"/>
          <p:cNvCxnSpPr>
            <a:stCxn id="667" idx="2"/>
            <a:endCxn id="668" idx="0"/>
          </p:cNvCxnSpPr>
          <p:nvPr/>
        </p:nvCxnSpPr>
        <p:spPr>
          <a:xfrm>
            <a:off x="3996000" y="443863"/>
            <a:ext cx="0" cy="173100"/>
          </a:xfrm>
          <a:prstGeom prst="straightConnector1">
            <a:avLst/>
          </a:prstGeom>
          <a:noFill/>
          <a:ln cap="flat" cmpd="sng" w="9525">
            <a:solidFill>
              <a:srgbClr val="000000"/>
            </a:solidFill>
            <a:prstDash val="solid"/>
            <a:miter lim="800000"/>
            <a:headEnd len="sm" w="sm" type="none"/>
            <a:tailEnd len="med" w="med" type="triangle"/>
          </a:ln>
        </p:spPr>
      </p:cxnSp>
      <p:sp>
        <p:nvSpPr>
          <p:cNvPr id="671" name="Google Shape;671;p27"/>
          <p:cNvSpPr txBox="1"/>
          <p:nvPr/>
        </p:nvSpPr>
        <p:spPr>
          <a:xfrm>
            <a:off x="7423069" y="67952"/>
            <a:ext cx="1496487" cy="307777"/>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Basic Causes</a:t>
            </a:r>
            <a:endParaRPr b="0" i="0" sz="1400" u="none" cap="none" strike="noStrike">
              <a:solidFill>
                <a:srgbClr val="000000"/>
              </a:solidFill>
              <a:latin typeface="Arial"/>
              <a:ea typeface="Arial"/>
              <a:cs typeface="Arial"/>
              <a:sym typeface="Arial"/>
            </a:endParaRPr>
          </a:p>
        </p:txBody>
      </p:sp>
      <p:sp>
        <p:nvSpPr>
          <p:cNvPr id="672" name="Google Shape;672;p27"/>
          <p:cNvSpPr txBox="1"/>
          <p:nvPr/>
        </p:nvSpPr>
        <p:spPr>
          <a:xfrm>
            <a:off x="5630226" y="3289898"/>
            <a:ext cx="3153774" cy="52322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Supervisor believed that production was paramount over safety</a:t>
            </a:r>
            <a:endParaRPr b="0" i="0" sz="1400" u="none" cap="none" strike="noStrike">
              <a:solidFill>
                <a:srgbClr val="000000"/>
              </a:solidFill>
              <a:latin typeface="Arial"/>
              <a:ea typeface="Arial"/>
              <a:cs typeface="Arial"/>
              <a:sym typeface="Arial"/>
            </a:endParaRPr>
          </a:p>
        </p:txBody>
      </p:sp>
      <p:sp>
        <p:nvSpPr>
          <p:cNvPr id="673" name="Google Shape;673;p27"/>
          <p:cNvSpPr/>
          <p:nvPr/>
        </p:nvSpPr>
        <p:spPr>
          <a:xfrm rot="1728864">
            <a:off x="6649789" y="421816"/>
            <a:ext cx="2180423" cy="1226939"/>
          </a:xfrm>
          <a:prstGeom prst="doubleWave">
            <a:avLst>
              <a:gd fmla="val 6250" name="adj1"/>
              <a:gd fmla="val 0" name="adj2"/>
            </a:avLst>
          </a:prstGeom>
          <a:solidFill>
            <a:srgbClr val="00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The RCA for the “Mine LI” is complete … or is it?</a:t>
            </a:r>
            <a:endParaRPr b="0" i="0" sz="14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28"/>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The “value” in doing the Root “Narrative”:</a:t>
            </a:r>
            <a:endParaRPr b="0" i="0" sz="1400" u="none" cap="none" strike="noStrike">
              <a:solidFill>
                <a:srgbClr val="000000"/>
              </a:solidFill>
              <a:latin typeface="Arial"/>
              <a:ea typeface="Arial"/>
              <a:cs typeface="Arial"/>
              <a:sym typeface="Arial"/>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1" i="0" lang="en-US" sz="2000" u="none" cap="none" strike="noStrike">
                <a:solidFill>
                  <a:srgbClr val="000000"/>
                </a:solidFill>
                <a:latin typeface="Arial"/>
                <a:ea typeface="Arial"/>
                <a:cs typeface="Arial"/>
                <a:sym typeface="Arial"/>
              </a:rPr>
              <a:t>Debris fell on equipment, injuring </a:t>
            </a:r>
            <a:br>
              <a:rPr b="1" i="0" lang="en-US" sz="2000" u="none" cap="none" strike="noStrike">
                <a:solidFill>
                  <a:srgbClr val="000000"/>
                </a:solidFill>
                <a:latin typeface="Arial"/>
                <a:ea typeface="Arial"/>
                <a:cs typeface="Arial"/>
                <a:sym typeface="Arial"/>
              </a:rPr>
            </a:br>
            <a:r>
              <a:rPr b="1" i="0" lang="en-US" sz="2000" u="none" cap="none" strike="noStrike">
                <a:solidFill>
                  <a:srgbClr val="000000"/>
                </a:solidFill>
                <a:latin typeface="Arial"/>
                <a:ea typeface="Arial"/>
                <a:cs typeface="Arial"/>
                <a:sym typeface="Arial"/>
              </a:rPr>
              <a:t>one Worker &amp; damaged equipment; </a:t>
            </a:r>
            <a:endParaRPr b="1"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Because the Equipment &amp; Worker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Were In Exclusion Zone;</a:t>
            </a:r>
            <a:endParaRPr b="0" i="0" sz="14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Because the Worker did not follow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exclusion zone procedures;</a:t>
            </a:r>
            <a:endParaRPr b="0" i="0" sz="14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Because the Worker disregarded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exclusion zone procedures;</a:t>
            </a:r>
            <a:endParaRPr b="0" i="0" sz="14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Because Procedures were not enforced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through audits;</a:t>
            </a:r>
            <a:endParaRPr b="0" i="0" sz="14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FF0000"/>
              </a:buClr>
              <a:buSzPts val="2000"/>
              <a:buFont typeface="Noto Sans Symbols"/>
              <a:buChar char="⮚"/>
            </a:pPr>
            <a:r>
              <a:rPr b="1" i="0" lang="en-US" sz="2000" u="none" cap="none" strike="noStrike">
                <a:solidFill>
                  <a:srgbClr val="FF0000"/>
                </a:solidFill>
                <a:latin typeface="Arial"/>
                <a:ea typeface="Arial"/>
                <a:cs typeface="Arial"/>
                <a:sym typeface="Arial"/>
              </a:rPr>
              <a:t>Because Managers did not </a:t>
            </a:r>
            <a:br>
              <a:rPr b="1" i="0" lang="en-US" sz="2000" u="none" cap="none" strike="noStrike">
                <a:solidFill>
                  <a:srgbClr val="FF0000"/>
                </a:solidFill>
                <a:latin typeface="Arial"/>
                <a:ea typeface="Arial"/>
                <a:cs typeface="Arial"/>
                <a:sym typeface="Arial"/>
              </a:rPr>
            </a:br>
            <a:r>
              <a:rPr b="1" i="0" lang="en-US" sz="2000" u="none" cap="none" strike="noStrike">
                <a:solidFill>
                  <a:srgbClr val="FF0000"/>
                </a:solidFill>
                <a:latin typeface="Arial"/>
                <a:ea typeface="Arial"/>
                <a:cs typeface="Arial"/>
                <a:sym typeface="Arial"/>
              </a:rPr>
              <a:t>complete audits on procedures;</a:t>
            </a:r>
            <a:endParaRPr b="1" i="0" sz="2000" u="none" cap="none" strike="noStrike">
              <a:solidFill>
                <a:srgbClr val="FF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1" i="0" lang="en-US" sz="2000" u="none" cap="none" strike="noStrike">
                <a:solidFill>
                  <a:srgbClr val="000000"/>
                </a:solidFill>
                <a:latin typeface="Arial"/>
                <a:ea typeface="Arial"/>
                <a:cs typeface="Arial"/>
                <a:sym typeface="Arial"/>
              </a:rPr>
              <a:t>Because The auditing program schedule</a:t>
            </a:r>
            <a:br>
              <a:rPr b="1" i="0" lang="en-US" sz="2000" u="none" cap="none" strike="noStrike">
                <a:solidFill>
                  <a:srgbClr val="000000"/>
                </a:solidFill>
                <a:latin typeface="Arial"/>
                <a:ea typeface="Arial"/>
                <a:cs typeface="Arial"/>
                <a:sym typeface="Arial"/>
              </a:rPr>
            </a:br>
            <a:r>
              <a:rPr b="1" i="0" lang="en-US" sz="2000" u="none" cap="none" strike="noStrike">
                <a:solidFill>
                  <a:srgbClr val="000000"/>
                </a:solidFill>
                <a:latin typeface="Arial"/>
                <a:ea typeface="Arial"/>
                <a:cs typeface="Arial"/>
                <a:sym typeface="Arial"/>
              </a:rPr>
              <a:t>did not include exclusion zone procedures.</a:t>
            </a:r>
            <a:endParaRPr b="0" i="0" sz="1400" u="none" cap="none" strike="noStrike">
              <a:solidFill>
                <a:srgbClr val="000000"/>
              </a:solidFill>
              <a:latin typeface="Arial"/>
              <a:ea typeface="Arial"/>
              <a:cs typeface="Arial"/>
              <a:sym typeface="Arial"/>
            </a:endParaRPr>
          </a:p>
        </p:txBody>
      </p:sp>
      <p:sp>
        <p:nvSpPr>
          <p:cNvPr id="680" name="Google Shape;680;p28"/>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Example: Apply the Narrative &amp; How to Avoid Logic Leaps</a:t>
            </a:r>
            <a:endParaRPr b="0" i="0" sz="1400" u="none" cap="none" strike="noStrike">
              <a:solidFill>
                <a:srgbClr val="000000"/>
              </a:solidFill>
              <a:latin typeface="Arial"/>
              <a:ea typeface="Arial"/>
              <a:cs typeface="Arial"/>
              <a:sym typeface="Arial"/>
            </a:endParaRPr>
          </a:p>
        </p:txBody>
      </p:sp>
      <p:sp>
        <p:nvSpPr>
          <p:cNvPr id="681" name="Google Shape;681;p28"/>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682" name="Google Shape;682;p28"/>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sp>
        <p:nvSpPr>
          <p:cNvPr id="683" name="Google Shape;683;p28"/>
          <p:cNvSpPr txBox="1"/>
          <p:nvPr/>
        </p:nvSpPr>
        <p:spPr>
          <a:xfrm>
            <a:off x="6386700" y="1068373"/>
            <a:ext cx="2160000" cy="646331"/>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200"/>
              <a:buFont typeface="Arial"/>
              <a:buNone/>
            </a:pPr>
            <a:r>
              <a:rPr b="0" i="0" lang="en-US" sz="1200" u="none" cap="none" strike="noStrike">
                <a:solidFill>
                  <a:srgbClr val="262626"/>
                </a:solidFill>
                <a:latin typeface="Arial"/>
                <a:ea typeface="Arial"/>
                <a:cs typeface="Arial"/>
                <a:sym typeface="Arial"/>
              </a:rPr>
              <a:t>Debris fell on equipment, injuring one Worker &amp; damaged equipment</a:t>
            </a:r>
            <a:endParaRPr b="0" i="0" sz="1200" u="none" cap="none" strike="noStrike">
              <a:solidFill>
                <a:srgbClr val="262626"/>
              </a:solidFill>
              <a:latin typeface="Arial"/>
              <a:ea typeface="Arial"/>
              <a:cs typeface="Arial"/>
              <a:sym typeface="Arial"/>
            </a:endParaRPr>
          </a:p>
        </p:txBody>
      </p:sp>
      <p:sp>
        <p:nvSpPr>
          <p:cNvPr id="684" name="Google Shape;684;p28"/>
          <p:cNvSpPr txBox="1"/>
          <p:nvPr/>
        </p:nvSpPr>
        <p:spPr>
          <a:xfrm>
            <a:off x="6386700" y="1968476"/>
            <a:ext cx="2160000" cy="461665"/>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200"/>
              <a:buFont typeface="Arial"/>
              <a:buNone/>
            </a:pPr>
            <a:r>
              <a:rPr b="0" i="0" lang="en-US" sz="1200" u="none" cap="none" strike="noStrike">
                <a:solidFill>
                  <a:srgbClr val="262626"/>
                </a:solidFill>
                <a:latin typeface="Arial"/>
                <a:ea typeface="Arial"/>
                <a:cs typeface="Arial"/>
                <a:sym typeface="Arial"/>
              </a:rPr>
              <a:t>Equipment &amp; Worker Were In Exclusion Zone</a:t>
            </a:r>
            <a:endParaRPr b="0" i="0" sz="1400" u="none" cap="none" strike="noStrike">
              <a:solidFill>
                <a:srgbClr val="000000"/>
              </a:solidFill>
              <a:latin typeface="Arial"/>
              <a:ea typeface="Arial"/>
              <a:cs typeface="Arial"/>
              <a:sym typeface="Arial"/>
            </a:endParaRPr>
          </a:p>
        </p:txBody>
      </p:sp>
      <p:sp>
        <p:nvSpPr>
          <p:cNvPr id="685" name="Google Shape;685;p28"/>
          <p:cNvSpPr txBox="1"/>
          <p:nvPr/>
        </p:nvSpPr>
        <p:spPr>
          <a:xfrm>
            <a:off x="6386700" y="2657038"/>
            <a:ext cx="2160000" cy="4320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200"/>
              <a:buFont typeface="Arial"/>
              <a:buNone/>
            </a:pPr>
            <a:r>
              <a:rPr b="0" i="0" lang="en-US" sz="1200" u="none" cap="none" strike="noStrike">
                <a:solidFill>
                  <a:srgbClr val="262626"/>
                </a:solidFill>
                <a:latin typeface="Arial"/>
                <a:ea typeface="Arial"/>
                <a:cs typeface="Arial"/>
                <a:sym typeface="Arial"/>
              </a:rPr>
              <a:t>Worker did not follow exclusion zone procedures</a:t>
            </a:r>
            <a:endParaRPr b="0" i="0" sz="1400" u="none" cap="none" strike="noStrike">
              <a:solidFill>
                <a:srgbClr val="000000"/>
              </a:solidFill>
              <a:latin typeface="Arial"/>
              <a:ea typeface="Arial"/>
              <a:cs typeface="Arial"/>
              <a:sym typeface="Arial"/>
            </a:endParaRPr>
          </a:p>
        </p:txBody>
      </p:sp>
      <p:sp>
        <p:nvSpPr>
          <p:cNvPr id="686" name="Google Shape;686;p28"/>
          <p:cNvSpPr txBox="1"/>
          <p:nvPr/>
        </p:nvSpPr>
        <p:spPr>
          <a:xfrm>
            <a:off x="6386700" y="3342810"/>
            <a:ext cx="2160000" cy="4320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200"/>
              <a:buFont typeface="Arial"/>
              <a:buNone/>
            </a:pPr>
            <a:r>
              <a:rPr b="0" i="0" lang="en-US" sz="1200" u="none" cap="none" strike="noStrike">
                <a:solidFill>
                  <a:srgbClr val="262626"/>
                </a:solidFill>
                <a:latin typeface="Arial"/>
                <a:ea typeface="Arial"/>
                <a:cs typeface="Arial"/>
                <a:sym typeface="Arial"/>
              </a:rPr>
              <a:t>Worker disregarded exclusion zone procedures</a:t>
            </a:r>
            <a:endParaRPr b="0" i="0" sz="1400" u="none" cap="none" strike="noStrike">
              <a:solidFill>
                <a:srgbClr val="000000"/>
              </a:solidFill>
              <a:latin typeface="Arial"/>
              <a:ea typeface="Arial"/>
              <a:cs typeface="Arial"/>
              <a:sym typeface="Arial"/>
            </a:endParaRPr>
          </a:p>
        </p:txBody>
      </p:sp>
      <p:sp>
        <p:nvSpPr>
          <p:cNvPr id="687" name="Google Shape;687;p28"/>
          <p:cNvSpPr txBox="1"/>
          <p:nvPr/>
        </p:nvSpPr>
        <p:spPr>
          <a:xfrm>
            <a:off x="6386700" y="4028582"/>
            <a:ext cx="2160000" cy="4320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Procedures were not enforced through audits</a:t>
            </a:r>
            <a:endParaRPr b="0" i="0" sz="1400" u="none" cap="none" strike="noStrike">
              <a:solidFill>
                <a:srgbClr val="000000"/>
              </a:solidFill>
              <a:latin typeface="Arial"/>
              <a:ea typeface="Arial"/>
              <a:cs typeface="Arial"/>
              <a:sym typeface="Arial"/>
            </a:endParaRPr>
          </a:p>
        </p:txBody>
      </p:sp>
      <p:sp>
        <p:nvSpPr>
          <p:cNvPr id="688" name="Google Shape;688;p28"/>
          <p:cNvSpPr txBox="1"/>
          <p:nvPr/>
        </p:nvSpPr>
        <p:spPr>
          <a:xfrm>
            <a:off x="6386700" y="5400126"/>
            <a:ext cx="2160000" cy="830997"/>
          </a:xfrm>
          <a:prstGeom prst="rect">
            <a:avLst/>
          </a:prstGeom>
          <a:solidFill>
            <a:srgbClr val="FEE599"/>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LC2-S: The auditing program schedule did not include exclusion zone procedures</a:t>
            </a:r>
            <a:endParaRPr b="1" i="0" sz="1200" u="none" cap="none" strike="noStrike">
              <a:solidFill>
                <a:srgbClr val="000000"/>
              </a:solidFill>
              <a:latin typeface="Arial"/>
              <a:ea typeface="Arial"/>
              <a:cs typeface="Arial"/>
              <a:sym typeface="Arial"/>
            </a:endParaRPr>
          </a:p>
        </p:txBody>
      </p:sp>
      <p:cxnSp>
        <p:nvCxnSpPr>
          <p:cNvPr id="689" name="Google Shape;689;p28"/>
          <p:cNvCxnSpPr>
            <a:stCxn id="684" idx="2"/>
            <a:endCxn id="685" idx="0"/>
          </p:cNvCxnSpPr>
          <p:nvPr/>
        </p:nvCxnSpPr>
        <p:spPr>
          <a:xfrm>
            <a:off x="7466700" y="2430141"/>
            <a:ext cx="0" cy="226800"/>
          </a:xfrm>
          <a:prstGeom prst="straightConnector1">
            <a:avLst/>
          </a:prstGeom>
          <a:noFill/>
          <a:ln cap="flat" cmpd="sng" w="9525">
            <a:solidFill>
              <a:srgbClr val="000000"/>
            </a:solidFill>
            <a:prstDash val="solid"/>
            <a:miter lim="800000"/>
            <a:headEnd len="sm" w="sm" type="none"/>
            <a:tailEnd len="med" w="med" type="triangle"/>
          </a:ln>
        </p:spPr>
      </p:cxnSp>
      <p:cxnSp>
        <p:nvCxnSpPr>
          <p:cNvPr id="690" name="Google Shape;690;p28"/>
          <p:cNvCxnSpPr>
            <a:stCxn id="683" idx="2"/>
            <a:endCxn id="684" idx="0"/>
          </p:cNvCxnSpPr>
          <p:nvPr/>
        </p:nvCxnSpPr>
        <p:spPr>
          <a:xfrm>
            <a:off x="7466700" y="1714704"/>
            <a:ext cx="0" cy="253800"/>
          </a:xfrm>
          <a:prstGeom prst="straightConnector1">
            <a:avLst/>
          </a:prstGeom>
          <a:noFill/>
          <a:ln cap="flat" cmpd="sng" w="9525">
            <a:solidFill>
              <a:srgbClr val="000000"/>
            </a:solidFill>
            <a:prstDash val="solid"/>
            <a:miter lim="800000"/>
            <a:headEnd len="sm" w="sm" type="none"/>
            <a:tailEnd len="med" w="med" type="triangle"/>
          </a:ln>
        </p:spPr>
      </p:cxnSp>
      <p:sp>
        <p:nvSpPr>
          <p:cNvPr id="691" name="Google Shape;691;p28"/>
          <p:cNvSpPr txBox="1"/>
          <p:nvPr/>
        </p:nvSpPr>
        <p:spPr>
          <a:xfrm>
            <a:off x="6386700" y="4714354"/>
            <a:ext cx="2160000" cy="461665"/>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200"/>
              <a:buFont typeface="Arial"/>
              <a:buNone/>
            </a:pPr>
            <a:r>
              <a:rPr b="1" i="0" lang="en-US" sz="1200" u="none" cap="none" strike="noStrike">
                <a:solidFill>
                  <a:srgbClr val="FF0000"/>
                </a:solidFill>
                <a:latin typeface="Arial"/>
                <a:ea typeface="Arial"/>
                <a:cs typeface="Arial"/>
                <a:sym typeface="Arial"/>
              </a:rPr>
              <a:t>Managers did not complete audits on procedures</a:t>
            </a:r>
            <a:endParaRPr b="0" i="0" sz="1400" u="none" cap="none" strike="noStrike">
              <a:solidFill>
                <a:srgbClr val="000000"/>
              </a:solidFill>
              <a:latin typeface="Arial"/>
              <a:ea typeface="Arial"/>
              <a:cs typeface="Arial"/>
              <a:sym typeface="Arial"/>
            </a:endParaRPr>
          </a:p>
        </p:txBody>
      </p:sp>
      <p:cxnSp>
        <p:nvCxnSpPr>
          <p:cNvPr id="692" name="Google Shape;692;p28"/>
          <p:cNvCxnSpPr>
            <a:stCxn id="685" idx="2"/>
            <a:endCxn id="686" idx="0"/>
          </p:cNvCxnSpPr>
          <p:nvPr/>
        </p:nvCxnSpPr>
        <p:spPr>
          <a:xfrm>
            <a:off x="7466700" y="3089038"/>
            <a:ext cx="0" cy="253800"/>
          </a:xfrm>
          <a:prstGeom prst="straightConnector1">
            <a:avLst/>
          </a:prstGeom>
          <a:noFill/>
          <a:ln cap="flat" cmpd="sng" w="9525">
            <a:solidFill>
              <a:srgbClr val="000000"/>
            </a:solidFill>
            <a:prstDash val="solid"/>
            <a:miter lim="800000"/>
            <a:headEnd len="sm" w="sm" type="none"/>
            <a:tailEnd len="med" w="med" type="triangle"/>
          </a:ln>
        </p:spPr>
      </p:cxnSp>
      <p:cxnSp>
        <p:nvCxnSpPr>
          <p:cNvPr id="693" name="Google Shape;693;p28"/>
          <p:cNvCxnSpPr>
            <a:stCxn id="691" idx="2"/>
            <a:endCxn id="688" idx="0"/>
          </p:cNvCxnSpPr>
          <p:nvPr/>
        </p:nvCxnSpPr>
        <p:spPr>
          <a:xfrm>
            <a:off x="7466700" y="5176019"/>
            <a:ext cx="0" cy="224100"/>
          </a:xfrm>
          <a:prstGeom prst="straightConnector1">
            <a:avLst/>
          </a:prstGeom>
          <a:noFill/>
          <a:ln cap="flat" cmpd="sng" w="9525">
            <a:solidFill>
              <a:srgbClr val="000000"/>
            </a:solidFill>
            <a:prstDash val="solid"/>
            <a:miter lim="800000"/>
            <a:headEnd len="sm" w="sm" type="none"/>
            <a:tailEnd len="med" w="med" type="triangle"/>
          </a:ln>
        </p:spPr>
      </p:cxnSp>
      <p:cxnSp>
        <p:nvCxnSpPr>
          <p:cNvPr id="694" name="Google Shape;694;p28"/>
          <p:cNvCxnSpPr>
            <a:stCxn id="686" idx="2"/>
            <a:endCxn id="687" idx="0"/>
          </p:cNvCxnSpPr>
          <p:nvPr/>
        </p:nvCxnSpPr>
        <p:spPr>
          <a:xfrm>
            <a:off x="7466700" y="3774810"/>
            <a:ext cx="0" cy="253800"/>
          </a:xfrm>
          <a:prstGeom prst="straightConnector1">
            <a:avLst/>
          </a:prstGeom>
          <a:noFill/>
          <a:ln cap="flat" cmpd="sng" w="9525">
            <a:solidFill>
              <a:srgbClr val="000000"/>
            </a:solidFill>
            <a:prstDash val="solid"/>
            <a:miter lim="800000"/>
            <a:headEnd len="sm" w="sm" type="none"/>
            <a:tailEnd len="med" w="med" type="triangle"/>
          </a:ln>
        </p:spPr>
      </p:cxnSp>
      <p:cxnSp>
        <p:nvCxnSpPr>
          <p:cNvPr id="695" name="Google Shape;695;p28"/>
          <p:cNvCxnSpPr>
            <a:stCxn id="687" idx="2"/>
            <a:endCxn id="691" idx="0"/>
          </p:cNvCxnSpPr>
          <p:nvPr/>
        </p:nvCxnSpPr>
        <p:spPr>
          <a:xfrm>
            <a:off x="7466700" y="4460582"/>
            <a:ext cx="0" cy="253800"/>
          </a:xfrm>
          <a:prstGeom prst="straightConnector1">
            <a:avLst/>
          </a:prstGeom>
          <a:noFill/>
          <a:ln cap="flat" cmpd="sng" w="9525">
            <a:solidFill>
              <a:srgbClr val="000000"/>
            </a:solidFill>
            <a:prstDash val="solid"/>
            <a:miter lim="800000"/>
            <a:headEnd len="sm" w="sm" type="none"/>
            <a:tailEnd len="med" w="med" type="triangle"/>
          </a:ln>
        </p:spPr>
      </p:cxnSp>
      <p:sp>
        <p:nvSpPr>
          <p:cNvPr id="696" name="Google Shape;696;p28"/>
          <p:cNvSpPr/>
          <p:nvPr/>
        </p:nvSpPr>
        <p:spPr>
          <a:xfrm>
            <a:off x="5055330" y="4690777"/>
            <a:ext cx="1208708" cy="485242"/>
          </a:xfrm>
          <a:prstGeom prst="rightArrow">
            <a:avLst>
              <a:gd fmla="val 50000" name="adj1"/>
              <a:gd fmla="val 50000" name="adj2"/>
            </a:avLst>
          </a:prstGeom>
          <a:solidFill>
            <a:srgbClr val="FFFFFF"/>
          </a:solidFill>
          <a:ln cap="flat" cmpd="sng" w="9525">
            <a:solidFill>
              <a:srgbClr val="FF0000"/>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lnSpc>
                <a:spcPct val="100000"/>
              </a:lnSpc>
              <a:spcBef>
                <a:spcPts val="0"/>
              </a:spcBef>
              <a:spcAft>
                <a:spcPts val="0"/>
              </a:spcAft>
              <a:buClr>
                <a:srgbClr val="FF0000"/>
              </a:buClr>
              <a:buSzPts val="1400"/>
              <a:buFont typeface="Arial"/>
              <a:buNone/>
            </a:pPr>
            <a:r>
              <a:rPr b="0" i="0" lang="en-US" sz="1400" u="none" cap="none" strike="noStrike">
                <a:solidFill>
                  <a:srgbClr val="FF0000"/>
                </a:solidFill>
                <a:latin typeface="Arial"/>
                <a:ea typeface="Arial"/>
                <a:cs typeface="Arial"/>
                <a:sym typeface="Arial"/>
              </a:rPr>
              <a:t>Improved!</a:t>
            </a:r>
            <a:endParaRPr b="0" i="0" sz="14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29"/>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703" name="Google Shape;703;p29"/>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sp>
        <p:nvSpPr>
          <p:cNvPr id="704" name="Google Shape;704;p29"/>
          <p:cNvSpPr txBox="1"/>
          <p:nvPr/>
        </p:nvSpPr>
        <p:spPr>
          <a:xfrm>
            <a:off x="324000" y="1817541"/>
            <a:ext cx="2160000" cy="738664"/>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Worker was not aware of exclusion zone procedures</a:t>
            </a:r>
            <a:endParaRPr b="0" i="0" sz="1400" u="none" cap="none" strike="noStrike">
              <a:solidFill>
                <a:srgbClr val="000000"/>
              </a:solidFill>
              <a:latin typeface="Arial"/>
              <a:ea typeface="Arial"/>
              <a:cs typeface="Arial"/>
              <a:sym typeface="Arial"/>
            </a:endParaRPr>
          </a:p>
        </p:txBody>
      </p:sp>
      <p:sp>
        <p:nvSpPr>
          <p:cNvPr id="705" name="Google Shape;705;p29"/>
          <p:cNvSpPr txBox="1"/>
          <p:nvPr/>
        </p:nvSpPr>
        <p:spPr>
          <a:xfrm>
            <a:off x="2628000" y="1817541"/>
            <a:ext cx="2772000" cy="5232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Worker disregarded exclusion zone procedures</a:t>
            </a:r>
            <a:endParaRPr b="0" i="0" sz="1400" u="none" cap="none" strike="noStrike">
              <a:solidFill>
                <a:srgbClr val="000000"/>
              </a:solidFill>
              <a:latin typeface="Arial"/>
              <a:ea typeface="Arial"/>
              <a:cs typeface="Arial"/>
              <a:sym typeface="Arial"/>
            </a:endParaRPr>
          </a:p>
        </p:txBody>
      </p:sp>
      <p:cxnSp>
        <p:nvCxnSpPr>
          <p:cNvPr id="706" name="Google Shape;706;p29"/>
          <p:cNvCxnSpPr>
            <a:stCxn id="707" idx="2"/>
            <a:endCxn id="708" idx="0"/>
          </p:cNvCxnSpPr>
          <p:nvPr/>
        </p:nvCxnSpPr>
        <p:spPr>
          <a:xfrm flipH="1" rot="-5400000">
            <a:off x="5375550" y="11038"/>
            <a:ext cx="426900" cy="3186000"/>
          </a:xfrm>
          <a:prstGeom prst="bentConnector3">
            <a:avLst>
              <a:gd fmla="val 50006" name="adj1"/>
            </a:avLst>
          </a:prstGeom>
          <a:noFill/>
          <a:ln cap="flat" cmpd="sng" w="9525">
            <a:solidFill>
              <a:srgbClr val="000000"/>
            </a:solidFill>
            <a:prstDash val="solid"/>
            <a:miter lim="800000"/>
            <a:headEnd len="sm" w="sm" type="none"/>
            <a:tailEnd len="med" w="med" type="triangle"/>
          </a:ln>
        </p:spPr>
      </p:cxnSp>
      <p:cxnSp>
        <p:nvCxnSpPr>
          <p:cNvPr id="709" name="Google Shape;709;p29"/>
          <p:cNvCxnSpPr>
            <a:stCxn id="707" idx="2"/>
            <a:endCxn id="704" idx="0"/>
          </p:cNvCxnSpPr>
          <p:nvPr/>
        </p:nvCxnSpPr>
        <p:spPr>
          <a:xfrm rot="5400000">
            <a:off x="2486550" y="308038"/>
            <a:ext cx="426900" cy="2592000"/>
          </a:xfrm>
          <a:prstGeom prst="bentConnector3">
            <a:avLst>
              <a:gd fmla="val 50006" name="adj1"/>
            </a:avLst>
          </a:prstGeom>
          <a:noFill/>
          <a:ln cap="flat" cmpd="sng" w="9525">
            <a:solidFill>
              <a:srgbClr val="000000"/>
            </a:solidFill>
            <a:prstDash val="solid"/>
            <a:miter lim="800000"/>
            <a:headEnd len="sm" w="sm" type="none"/>
            <a:tailEnd len="med" w="med" type="triangle"/>
          </a:ln>
        </p:spPr>
      </p:cxnSp>
      <p:sp>
        <p:nvSpPr>
          <p:cNvPr id="708" name="Google Shape;708;p29"/>
          <p:cNvSpPr txBox="1"/>
          <p:nvPr/>
        </p:nvSpPr>
        <p:spPr>
          <a:xfrm>
            <a:off x="5580000" y="1817541"/>
            <a:ext cx="3204000" cy="5400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Supervisor told Worker to go into the exclusion zone</a:t>
            </a:r>
            <a:endParaRPr b="0" i="0" sz="1400" u="none" cap="none" strike="noStrike">
              <a:solidFill>
                <a:srgbClr val="000000"/>
              </a:solidFill>
              <a:latin typeface="Arial"/>
              <a:ea typeface="Arial"/>
              <a:cs typeface="Arial"/>
              <a:sym typeface="Arial"/>
            </a:endParaRPr>
          </a:p>
        </p:txBody>
      </p:sp>
      <p:sp>
        <p:nvSpPr>
          <p:cNvPr id="710" name="Google Shape;710;p29"/>
          <p:cNvSpPr txBox="1"/>
          <p:nvPr/>
        </p:nvSpPr>
        <p:spPr>
          <a:xfrm>
            <a:off x="2628000" y="5058000"/>
            <a:ext cx="2772000" cy="738664"/>
          </a:xfrm>
          <a:prstGeom prst="rect">
            <a:avLst/>
          </a:prstGeom>
          <a:solidFill>
            <a:srgbClr val="FEE599"/>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LC2-S: The auditing program schedule did not include the exclusion zone procedures</a:t>
            </a:r>
            <a:endParaRPr b="0" i="0" sz="1400" u="none" cap="none" strike="noStrike">
              <a:solidFill>
                <a:srgbClr val="000000"/>
              </a:solidFill>
              <a:latin typeface="Arial"/>
              <a:ea typeface="Arial"/>
              <a:cs typeface="Arial"/>
              <a:sym typeface="Arial"/>
            </a:endParaRPr>
          </a:p>
        </p:txBody>
      </p:sp>
      <p:cxnSp>
        <p:nvCxnSpPr>
          <p:cNvPr id="711" name="Google Shape;711;p29"/>
          <p:cNvCxnSpPr>
            <a:stCxn id="707" idx="2"/>
            <a:endCxn id="705" idx="0"/>
          </p:cNvCxnSpPr>
          <p:nvPr/>
        </p:nvCxnSpPr>
        <p:spPr>
          <a:xfrm>
            <a:off x="3996000" y="1390588"/>
            <a:ext cx="18000" cy="426900"/>
          </a:xfrm>
          <a:prstGeom prst="straightConnector1">
            <a:avLst/>
          </a:prstGeom>
          <a:noFill/>
          <a:ln cap="flat" cmpd="sng" w="9525">
            <a:solidFill>
              <a:srgbClr val="000000"/>
            </a:solidFill>
            <a:prstDash val="solid"/>
            <a:miter lim="800000"/>
            <a:headEnd len="sm" w="sm" type="none"/>
            <a:tailEnd len="med" w="med" type="triangle"/>
          </a:ln>
        </p:spPr>
      </p:cxnSp>
      <p:sp>
        <p:nvSpPr>
          <p:cNvPr id="712" name="Google Shape;712;p29"/>
          <p:cNvSpPr/>
          <p:nvPr/>
        </p:nvSpPr>
        <p:spPr>
          <a:xfrm>
            <a:off x="3771059" y="1426654"/>
            <a:ext cx="437760" cy="324152"/>
          </a:xfrm>
          <a:prstGeom prst="flowChartPunchedTape">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rgbClr val="262626"/>
              </a:solidFill>
              <a:latin typeface="Arial"/>
              <a:ea typeface="Arial"/>
              <a:cs typeface="Arial"/>
              <a:sym typeface="Arial"/>
            </a:endParaRPr>
          </a:p>
        </p:txBody>
      </p:sp>
      <p:sp>
        <p:nvSpPr>
          <p:cNvPr id="713" name="Google Shape;713;p29"/>
          <p:cNvSpPr txBox="1"/>
          <p:nvPr/>
        </p:nvSpPr>
        <p:spPr>
          <a:xfrm>
            <a:off x="5580000" y="4194000"/>
            <a:ext cx="3204000" cy="5400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Sr Mngmt expectations were not in alignment with core safety values</a:t>
            </a:r>
            <a:endParaRPr b="0" i="0" sz="1400" u="none" cap="none" strike="noStrike">
              <a:solidFill>
                <a:srgbClr val="000000"/>
              </a:solidFill>
              <a:latin typeface="Arial"/>
              <a:ea typeface="Arial"/>
              <a:cs typeface="Arial"/>
              <a:sym typeface="Arial"/>
            </a:endParaRPr>
          </a:p>
        </p:txBody>
      </p:sp>
      <p:sp>
        <p:nvSpPr>
          <p:cNvPr id="714" name="Google Shape;714;p29"/>
          <p:cNvSpPr txBox="1"/>
          <p:nvPr/>
        </p:nvSpPr>
        <p:spPr>
          <a:xfrm>
            <a:off x="5580000" y="2480593"/>
            <a:ext cx="3204000" cy="5400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BC-PF: Supervisor prioritized production over safety</a:t>
            </a:r>
            <a:endParaRPr b="0" i="0" sz="1400" u="none" cap="none" strike="noStrike">
              <a:solidFill>
                <a:srgbClr val="000000"/>
              </a:solidFill>
              <a:latin typeface="Arial"/>
              <a:ea typeface="Arial"/>
              <a:cs typeface="Arial"/>
              <a:sym typeface="Arial"/>
            </a:endParaRPr>
          </a:p>
        </p:txBody>
      </p:sp>
      <p:sp>
        <p:nvSpPr>
          <p:cNvPr id="715" name="Google Shape;715;p29"/>
          <p:cNvSpPr txBox="1"/>
          <p:nvPr/>
        </p:nvSpPr>
        <p:spPr>
          <a:xfrm>
            <a:off x="5580000" y="5058000"/>
            <a:ext cx="3204000" cy="738664"/>
          </a:xfrm>
          <a:prstGeom prst="rect">
            <a:avLst/>
          </a:prstGeom>
          <a:solidFill>
            <a:srgbClr val="FEE599"/>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LC3-P: Core Safety Values Communications Program was inadequate. **</a:t>
            </a:r>
            <a:endParaRPr b="1" i="0" sz="1400" u="none" cap="none" strike="noStrike">
              <a:solidFill>
                <a:srgbClr val="000000"/>
              </a:solidFill>
              <a:latin typeface="Arial"/>
              <a:ea typeface="Arial"/>
              <a:cs typeface="Arial"/>
              <a:sym typeface="Arial"/>
            </a:endParaRPr>
          </a:p>
        </p:txBody>
      </p:sp>
      <p:sp>
        <p:nvSpPr>
          <p:cNvPr id="716" name="Google Shape;716;p29"/>
          <p:cNvSpPr txBox="1"/>
          <p:nvPr/>
        </p:nvSpPr>
        <p:spPr>
          <a:xfrm>
            <a:off x="324000" y="5058000"/>
            <a:ext cx="2160000" cy="738664"/>
          </a:xfrm>
          <a:prstGeom prst="rect">
            <a:avLst/>
          </a:prstGeom>
          <a:solidFill>
            <a:srgbClr val="FEE599"/>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LC1-P: There was no training program for mining operations.</a:t>
            </a:r>
            <a:endParaRPr b="1" i="0" sz="1400" u="none" cap="none" strike="noStrike">
              <a:solidFill>
                <a:srgbClr val="000000"/>
              </a:solidFill>
              <a:latin typeface="Arial"/>
              <a:ea typeface="Arial"/>
              <a:cs typeface="Arial"/>
              <a:sym typeface="Arial"/>
            </a:endParaRPr>
          </a:p>
        </p:txBody>
      </p:sp>
      <p:sp>
        <p:nvSpPr>
          <p:cNvPr id="717" name="Google Shape;717;p29"/>
          <p:cNvSpPr txBox="1"/>
          <p:nvPr/>
        </p:nvSpPr>
        <p:spPr>
          <a:xfrm>
            <a:off x="324000" y="4194000"/>
            <a:ext cx="2160000" cy="738664"/>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BC-JF: Worker was not trained on those procedures</a:t>
            </a:r>
            <a:endParaRPr b="1" i="0" sz="1400" u="none" cap="none" strike="noStrike">
              <a:solidFill>
                <a:srgbClr val="000000"/>
              </a:solidFill>
              <a:latin typeface="Arial"/>
              <a:ea typeface="Arial"/>
              <a:cs typeface="Arial"/>
              <a:sym typeface="Arial"/>
            </a:endParaRPr>
          </a:p>
        </p:txBody>
      </p:sp>
      <p:sp>
        <p:nvSpPr>
          <p:cNvPr id="718" name="Google Shape;718;p29"/>
          <p:cNvSpPr txBox="1"/>
          <p:nvPr/>
        </p:nvSpPr>
        <p:spPr>
          <a:xfrm>
            <a:off x="7423069" y="409144"/>
            <a:ext cx="1496487" cy="307777"/>
          </a:xfrm>
          <a:prstGeom prst="rect">
            <a:avLst/>
          </a:prstGeom>
          <a:solidFill>
            <a:srgbClr val="FEE599"/>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Latent Causes</a:t>
            </a:r>
            <a:endParaRPr b="0" i="0" sz="1400" u="none" cap="none" strike="noStrike">
              <a:solidFill>
                <a:srgbClr val="000000"/>
              </a:solidFill>
              <a:latin typeface="Arial"/>
              <a:ea typeface="Arial"/>
              <a:cs typeface="Arial"/>
              <a:sym typeface="Arial"/>
            </a:endParaRPr>
          </a:p>
        </p:txBody>
      </p:sp>
      <p:sp>
        <p:nvSpPr>
          <p:cNvPr id="719" name="Google Shape;719;p29"/>
          <p:cNvSpPr txBox="1"/>
          <p:nvPr/>
        </p:nvSpPr>
        <p:spPr>
          <a:xfrm>
            <a:off x="5580000" y="5778000"/>
            <a:ext cx="3204000" cy="252000"/>
          </a:xfrm>
          <a:prstGeom prst="rect">
            <a:avLst/>
          </a:prstGeom>
          <a:solidFill>
            <a:srgbClr val="FFFFFF"/>
          </a:solidFill>
          <a:ln cap="flat" cmpd="sng" w="9525">
            <a:solidFill>
              <a:srgbClr val="FF0000"/>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lnSpc>
                <a:spcPct val="100000"/>
              </a:lnSpc>
              <a:spcBef>
                <a:spcPts val="0"/>
              </a:spcBef>
              <a:spcAft>
                <a:spcPts val="0"/>
              </a:spcAft>
              <a:buClr>
                <a:srgbClr val="FF0000"/>
              </a:buClr>
              <a:buSzPts val="1400"/>
              <a:buFont typeface="Arial"/>
              <a:buNone/>
            </a:pPr>
            <a:r>
              <a:rPr b="0" i="0" lang="en-US" sz="1400" u="none" cap="none" strike="noStrike">
                <a:solidFill>
                  <a:srgbClr val="FF0000"/>
                </a:solidFill>
                <a:latin typeface="Arial"/>
                <a:ea typeface="Arial"/>
                <a:cs typeface="Arial"/>
                <a:sym typeface="Arial"/>
              </a:rPr>
              <a:t>RME #1 MLCA</a:t>
            </a:r>
            <a:endParaRPr b="0" i="0" sz="1400" u="none" cap="none" strike="noStrike">
              <a:solidFill>
                <a:srgbClr val="000000"/>
              </a:solidFill>
              <a:latin typeface="Arial"/>
              <a:ea typeface="Arial"/>
              <a:cs typeface="Arial"/>
              <a:sym typeface="Arial"/>
            </a:endParaRPr>
          </a:p>
        </p:txBody>
      </p:sp>
      <p:sp>
        <p:nvSpPr>
          <p:cNvPr id="720" name="Google Shape;720;p29"/>
          <p:cNvSpPr txBox="1"/>
          <p:nvPr/>
        </p:nvSpPr>
        <p:spPr>
          <a:xfrm>
            <a:off x="324000" y="5778000"/>
            <a:ext cx="2160000" cy="252000"/>
          </a:xfrm>
          <a:prstGeom prst="rect">
            <a:avLst/>
          </a:prstGeom>
          <a:solidFill>
            <a:srgbClr val="FFFFFF"/>
          </a:solidFill>
          <a:ln cap="flat" cmpd="sng" w="9525">
            <a:solidFill>
              <a:srgbClr val="FF0000"/>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lnSpc>
                <a:spcPct val="100000"/>
              </a:lnSpc>
              <a:spcBef>
                <a:spcPts val="0"/>
              </a:spcBef>
              <a:spcAft>
                <a:spcPts val="0"/>
              </a:spcAft>
              <a:buClr>
                <a:srgbClr val="FF0000"/>
              </a:buClr>
              <a:buSzPts val="1400"/>
              <a:buFont typeface="Arial"/>
              <a:buNone/>
            </a:pPr>
            <a:r>
              <a:rPr b="0" i="0" lang="en-US" sz="1400" u="none" cap="none" strike="noStrike">
                <a:solidFill>
                  <a:srgbClr val="FF0000"/>
                </a:solidFill>
                <a:latin typeface="Arial"/>
                <a:ea typeface="Arial"/>
                <a:cs typeface="Arial"/>
                <a:sym typeface="Arial"/>
              </a:rPr>
              <a:t>RME #9 ECT</a:t>
            </a:r>
            <a:endParaRPr b="0" i="0" sz="1400" u="none" cap="none" strike="noStrike">
              <a:solidFill>
                <a:srgbClr val="000000"/>
              </a:solidFill>
              <a:latin typeface="Arial"/>
              <a:ea typeface="Arial"/>
              <a:cs typeface="Arial"/>
              <a:sym typeface="Arial"/>
            </a:endParaRPr>
          </a:p>
        </p:txBody>
      </p:sp>
      <p:sp>
        <p:nvSpPr>
          <p:cNvPr id="721" name="Google Shape;721;p29"/>
          <p:cNvSpPr txBox="1"/>
          <p:nvPr/>
        </p:nvSpPr>
        <p:spPr>
          <a:xfrm>
            <a:off x="2628000" y="5778000"/>
            <a:ext cx="2772000" cy="252000"/>
          </a:xfrm>
          <a:prstGeom prst="rect">
            <a:avLst/>
          </a:prstGeom>
          <a:solidFill>
            <a:srgbClr val="FFFFFF"/>
          </a:solidFill>
          <a:ln cap="flat" cmpd="sng" w="9525">
            <a:solidFill>
              <a:srgbClr val="FF0000"/>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lnSpc>
                <a:spcPct val="100000"/>
              </a:lnSpc>
              <a:spcBef>
                <a:spcPts val="0"/>
              </a:spcBef>
              <a:spcAft>
                <a:spcPts val="0"/>
              </a:spcAft>
              <a:buClr>
                <a:srgbClr val="FF0000"/>
              </a:buClr>
              <a:buSzPts val="1400"/>
              <a:buFont typeface="Arial"/>
              <a:buNone/>
            </a:pPr>
            <a:r>
              <a:rPr b="0" i="0" lang="en-US" sz="1400" u="none" cap="none" strike="noStrike">
                <a:solidFill>
                  <a:srgbClr val="FF0000"/>
                </a:solidFill>
                <a:latin typeface="Arial"/>
                <a:ea typeface="Arial"/>
                <a:cs typeface="Arial"/>
                <a:sym typeface="Arial"/>
              </a:rPr>
              <a:t>RME #6 PECI</a:t>
            </a:r>
            <a:endParaRPr b="0" i="0" sz="1400" u="none" cap="none" strike="noStrike">
              <a:solidFill>
                <a:srgbClr val="000000"/>
              </a:solidFill>
              <a:latin typeface="Arial"/>
              <a:ea typeface="Arial"/>
              <a:cs typeface="Arial"/>
              <a:sym typeface="Arial"/>
            </a:endParaRPr>
          </a:p>
        </p:txBody>
      </p:sp>
      <p:cxnSp>
        <p:nvCxnSpPr>
          <p:cNvPr id="722" name="Google Shape;722;p29"/>
          <p:cNvCxnSpPr>
            <a:stCxn id="708" idx="2"/>
            <a:endCxn id="714" idx="0"/>
          </p:cNvCxnSpPr>
          <p:nvPr/>
        </p:nvCxnSpPr>
        <p:spPr>
          <a:xfrm>
            <a:off x="7182000" y="2357541"/>
            <a:ext cx="0" cy="123000"/>
          </a:xfrm>
          <a:prstGeom prst="straightConnector1">
            <a:avLst/>
          </a:prstGeom>
          <a:noFill/>
          <a:ln cap="flat" cmpd="sng" w="9525">
            <a:solidFill>
              <a:srgbClr val="000000"/>
            </a:solidFill>
            <a:prstDash val="solid"/>
            <a:miter lim="800000"/>
            <a:headEnd len="sm" w="sm" type="none"/>
            <a:tailEnd len="med" w="med" type="triangle"/>
          </a:ln>
        </p:spPr>
      </p:cxnSp>
      <p:cxnSp>
        <p:nvCxnSpPr>
          <p:cNvPr id="723" name="Google Shape;723;p29"/>
          <p:cNvCxnSpPr>
            <a:stCxn id="714" idx="2"/>
            <a:endCxn id="713" idx="0"/>
          </p:cNvCxnSpPr>
          <p:nvPr/>
        </p:nvCxnSpPr>
        <p:spPr>
          <a:xfrm>
            <a:off x="7182000" y="3020593"/>
            <a:ext cx="0" cy="1173300"/>
          </a:xfrm>
          <a:prstGeom prst="straightConnector1">
            <a:avLst/>
          </a:prstGeom>
          <a:noFill/>
          <a:ln cap="flat" cmpd="sng" w="9525">
            <a:solidFill>
              <a:srgbClr val="000000"/>
            </a:solidFill>
            <a:prstDash val="solid"/>
            <a:miter lim="800000"/>
            <a:headEnd len="sm" w="sm" type="none"/>
            <a:tailEnd len="med" w="med" type="triangle"/>
          </a:ln>
        </p:spPr>
      </p:cxnSp>
      <p:cxnSp>
        <p:nvCxnSpPr>
          <p:cNvPr id="724" name="Google Shape;724;p29"/>
          <p:cNvCxnSpPr>
            <a:stCxn id="713" idx="2"/>
            <a:endCxn id="715" idx="0"/>
          </p:cNvCxnSpPr>
          <p:nvPr/>
        </p:nvCxnSpPr>
        <p:spPr>
          <a:xfrm>
            <a:off x="7182000" y="4734000"/>
            <a:ext cx="0" cy="324000"/>
          </a:xfrm>
          <a:prstGeom prst="straightConnector1">
            <a:avLst/>
          </a:prstGeom>
          <a:noFill/>
          <a:ln cap="flat" cmpd="sng" w="9525">
            <a:solidFill>
              <a:srgbClr val="000000"/>
            </a:solidFill>
            <a:prstDash val="solid"/>
            <a:miter lim="800000"/>
            <a:headEnd len="sm" w="sm" type="none"/>
            <a:tailEnd len="med" w="med" type="triangle"/>
          </a:ln>
        </p:spPr>
      </p:cxnSp>
      <p:cxnSp>
        <p:nvCxnSpPr>
          <p:cNvPr id="725" name="Google Shape;725;p29"/>
          <p:cNvCxnSpPr>
            <a:stCxn id="726" idx="2"/>
            <a:endCxn id="710" idx="0"/>
          </p:cNvCxnSpPr>
          <p:nvPr/>
        </p:nvCxnSpPr>
        <p:spPr>
          <a:xfrm>
            <a:off x="4014000" y="4644000"/>
            <a:ext cx="0" cy="414000"/>
          </a:xfrm>
          <a:prstGeom prst="straightConnector1">
            <a:avLst/>
          </a:prstGeom>
          <a:noFill/>
          <a:ln cap="flat" cmpd="sng" w="9525">
            <a:solidFill>
              <a:srgbClr val="000000"/>
            </a:solidFill>
            <a:prstDash val="solid"/>
            <a:miter lim="800000"/>
            <a:headEnd len="sm" w="sm" type="none"/>
            <a:tailEnd len="med" w="med" type="triangle"/>
          </a:ln>
        </p:spPr>
      </p:cxnSp>
      <p:cxnSp>
        <p:nvCxnSpPr>
          <p:cNvPr id="727" name="Google Shape;727;p29"/>
          <p:cNvCxnSpPr>
            <a:stCxn id="705" idx="2"/>
            <a:endCxn id="728" idx="0"/>
          </p:cNvCxnSpPr>
          <p:nvPr/>
        </p:nvCxnSpPr>
        <p:spPr>
          <a:xfrm>
            <a:off x="4014000" y="2340741"/>
            <a:ext cx="0" cy="523200"/>
          </a:xfrm>
          <a:prstGeom prst="straightConnector1">
            <a:avLst/>
          </a:prstGeom>
          <a:noFill/>
          <a:ln cap="flat" cmpd="sng" w="9525">
            <a:solidFill>
              <a:srgbClr val="000000"/>
            </a:solidFill>
            <a:prstDash val="solid"/>
            <a:miter lim="800000"/>
            <a:headEnd len="sm" w="sm" type="none"/>
            <a:tailEnd len="med" w="med" type="triangle"/>
          </a:ln>
        </p:spPr>
      </p:cxnSp>
      <p:cxnSp>
        <p:nvCxnSpPr>
          <p:cNvPr id="729" name="Google Shape;729;p29"/>
          <p:cNvCxnSpPr>
            <a:stCxn id="704" idx="2"/>
            <a:endCxn id="717" idx="0"/>
          </p:cNvCxnSpPr>
          <p:nvPr/>
        </p:nvCxnSpPr>
        <p:spPr>
          <a:xfrm>
            <a:off x="1404000" y="2556205"/>
            <a:ext cx="0" cy="1637700"/>
          </a:xfrm>
          <a:prstGeom prst="straightConnector1">
            <a:avLst/>
          </a:prstGeom>
          <a:noFill/>
          <a:ln cap="flat" cmpd="sng" w="9525">
            <a:solidFill>
              <a:srgbClr val="000000"/>
            </a:solidFill>
            <a:prstDash val="solid"/>
            <a:miter lim="800000"/>
            <a:headEnd len="sm" w="sm" type="none"/>
            <a:tailEnd len="med" w="med" type="triangle"/>
          </a:ln>
        </p:spPr>
      </p:cxnSp>
      <p:cxnSp>
        <p:nvCxnSpPr>
          <p:cNvPr id="730" name="Google Shape;730;p29"/>
          <p:cNvCxnSpPr>
            <a:stCxn id="717" idx="2"/>
            <a:endCxn id="716" idx="0"/>
          </p:cNvCxnSpPr>
          <p:nvPr/>
        </p:nvCxnSpPr>
        <p:spPr>
          <a:xfrm>
            <a:off x="1404000" y="4932664"/>
            <a:ext cx="0" cy="125400"/>
          </a:xfrm>
          <a:prstGeom prst="straightConnector1">
            <a:avLst/>
          </a:prstGeom>
          <a:noFill/>
          <a:ln cap="flat" cmpd="sng" w="9525">
            <a:solidFill>
              <a:srgbClr val="000000"/>
            </a:solidFill>
            <a:prstDash val="solid"/>
            <a:miter lim="800000"/>
            <a:headEnd len="sm" w="sm" type="none"/>
            <a:tailEnd len="med" w="med" type="triangle"/>
          </a:ln>
        </p:spPr>
      </p:cxnSp>
      <p:sp>
        <p:nvSpPr>
          <p:cNvPr id="731" name="Google Shape;731;p29"/>
          <p:cNvSpPr txBox="1"/>
          <p:nvPr/>
        </p:nvSpPr>
        <p:spPr>
          <a:xfrm>
            <a:off x="1656000" y="136086"/>
            <a:ext cx="4680000" cy="307777"/>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Debris fell, injuring one Worker &amp; damaged equipment</a:t>
            </a:r>
            <a:endParaRPr b="0" i="0" sz="1400" u="none" cap="none" strike="noStrike">
              <a:solidFill>
                <a:srgbClr val="262626"/>
              </a:solidFill>
              <a:latin typeface="Arial"/>
              <a:ea typeface="Arial"/>
              <a:cs typeface="Arial"/>
              <a:sym typeface="Arial"/>
            </a:endParaRPr>
          </a:p>
        </p:txBody>
      </p:sp>
      <p:sp>
        <p:nvSpPr>
          <p:cNvPr id="732" name="Google Shape;732;p29"/>
          <p:cNvSpPr txBox="1"/>
          <p:nvPr/>
        </p:nvSpPr>
        <p:spPr>
          <a:xfrm>
            <a:off x="1656000" y="616886"/>
            <a:ext cx="4680000" cy="307777"/>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Equipment &amp; Worker Were In Exclusion Zone</a:t>
            </a:r>
            <a:endParaRPr b="0" i="0" sz="1400" u="none" cap="none" strike="noStrike">
              <a:solidFill>
                <a:srgbClr val="000000"/>
              </a:solidFill>
              <a:latin typeface="Arial"/>
              <a:ea typeface="Arial"/>
              <a:cs typeface="Arial"/>
              <a:sym typeface="Arial"/>
            </a:endParaRPr>
          </a:p>
        </p:txBody>
      </p:sp>
      <p:sp>
        <p:nvSpPr>
          <p:cNvPr id="707" name="Google Shape;707;p29"/>
          <p:cNvSpPr txBox="1"/>
          <p:nvPr/>
        </p:nvSpPr>
        <p:spPr>
          <a:xfrm>
            <a:off x="1656000" y="1102588"/>
            <a:ext cx="4680000" cy="2880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Worker did not follow exclusion zone procedures</a:t>
            </a:r>
            <a:endParaRPr b="0" i="0" sz="1400" u="none" cap="none" strike="noStrike">
              <a:solidFill>
                <a:srgbClr val="000000"/>
              </a:solidFill>
              <a:latin typeface="Arial"/>
              <a:ea typeface="Arial"/>
              <a:cs typeface="Arial"/>
              <a:sym typeface="Arial"/>
            </a:endParaRPr>
          </a:p>
        </p:txBody>
      </p:sp>
      <p:cxnSp>
        <p:nvCxnSpPr>
          <p:cNvPr id="733" name="Google Shape;733;p29"/>
          <p:cNvCxnSpPr>
            <a:stCxn id="732" idx="2"/>
            <a:endCxn id="707" idx="0"/>
          </p:cNvCxnSpPr>
          <p:nvPr/>
        </p:nvCxnSpPr>
        <p:spPr>
          <a:xfrm>
            <a:off x="3996000" y="924663"/>
            <a:ext cx="0" cy="177900"/>
          </a:xfrm>
          <a:prstGeom prst="straightConnector1">
            <a:avLst/>
          </a:prstGeom>
          <a:noFill/>
          <a:ln cap="flat" cmpd="sng" w="9525">
            <a:solidFill>
              <a:srgbClr val="000000"/>
            </a:solidFill>
            <a:prstDash val="solid"/>
            <a:miter lim="800000"/>
            <a:headEnd len="sm" w="sm" type="none"/>
            <a:tailEnd len="med" w="med" type="triangle"/>
          </a:ln>
        </p:spPr>
      </p:cxnSp>
      <p:cxnSp>
        <p:nvCxnSpPr>
          <p:cNvPr id="734" name="Google Shape;734;p29"/>
          <p:cNvCxnSpPr>
            <a:stCxn id="731" idx="2"/>
            <a:endCxn id="732" idx="0"/>
          </p:cNvCxnSpPr>
          <p:nvPr/>
        </p:nvCxnSpPr>
        <p:spPr>
          <a:xfrm>
            <a:off x="3996000" y="443863"/>
            <a:ext cx="0" cy="173100"/>
          </a:xfrm>
          <a:prstGeom prst="straightConnector1">
            <a:avLst/>
          </a:prstGeom>
          <a:noFill/>
          <a:ln cap="flat" cmpd="sng" w="9525">
            <a:solidFill>
              <a:srgbClr val="000000"/>
            </a:solidFill>
            <a:prstDash val="solid"/>
            <a:miter lim="800000"/>
            <a:headEnd len="sm" w="sm" type="none"/>
            <a:tailEnd len="med" w="med" type="triangle"/>
          </a:ln>
        </p:spPr>
      </p:cxnSp>
      <p:sp>
        <p:nvSpPr>
          <p:cNvPr id="735" name="Google Shape;735;p29"/>
          <p:cNvSpPr txBox="1"/>
          <p:nvPr/>
        </p:nvSpPr>
        <p:spPr>
          <a:xfrm>
            <a:off x="7423069" y="67952"/>
            <a:ext cx="1496487" cy="307777"/>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Basic Causes</a:t>
            </a:r>
            <a:endParaRPr b="0" i="0" sz="1400" u="none" cap="none" strike="noStrike">
              <a:solidFill>
                <a:srgbClr val="000000"/>
              </a:solidFill>
              <a:latin typeface="Arial"/>
              <a:ea typeface="Arial"/>
              <a:cs typeface="Arial"/>
              <a:sym typeface="Arial"/>
            </a:endParaRPr>
          </a:p>
        </p:txBody>
      </p:sp>
      <p:sp>
        <p:nvSpPr>
          <p:cNvPr id="736" name="Google Shape;736;p29"/>
          <p:cNvSpPr txBox="1"/>
          <p:nvPr/>
        </p:nvSpPr>
        <p:spPr>
          <a:xfrm>
            <a:off x="5630226" y="3289898"/>
            <a:ext cx="3153774" cy="52322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Supervisor believed that production was paramount over safety</a:t>
            </a:r>
            <a:endParaRPr b="0" i="0" sz="1400" u="none" cap="none" strike="noStrike">
              <a:solidFill>
                <a:srgbClr val="000000"/>
              </a:solidFill>
              <a:latin typeface="Arial"/>
              <a:ea typeface="Arial"/>
              <a:cs typeface="Arial"/>
              <a:sym typeface="Arial"/>
            </a:endParaRPr>
          </a:p>
        </p:txBody>
      </p:sp>
      <p:sp>
        <p:nvSpPr>
          <p:cNvPr id="726" name="Google Shape;726;p29"/>
          <p:cNvSpPr txBox="1"/>
          <p:nvPr/>
        </p:nvSpPr>
        <p:spPr>
          <a:xfrm>
            <a:off x="2628000" y="4104000"/>
            <a:ext cx="2772000" cy="5400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Managers did not complete audits on procedures</a:t>
            </a:r>
            <a:endParaRPr b="0" i="0" sz="1400" u="none" cap="none" strike="noStrike">
              <a:solidFill>
                <a:srgbClr val="000000"/>
              </a:solidFill>
              <a:latin typeface="Arial"/>
              <a:ea typeface="Arial"/>
              <a:cs typeface="Arial"/>
              <a:sym typeface="Arial"/>
            </a:endParaRPr>
          </a:p>
        </p:txBody>
      </p:sp>
      <p:sp>
        <p:nvSpPr>
          <p:cNvPr id="737" name="Google Shape;737;p29"/>
          <p:cNvSpPr/>
          <p:nvPr/>
        </p:nvSpPr>
        <p:spPr>
          <a:xfrm rot="1728864">
            <a:off x="6649789" y="544510"/>
            <a:ext cx="2180423" cy="981551"/>
          </a:xfrm>
          <a:prstGeom prst="doubleWave">
            <a:avLst>
              <a:gd fmla="val 6250" name="adj1"/>
              <a:gd fmla="val 0" name="adj2"/>
            </a:avLst>
          </a:prstGeom>
          <a:solidFill>
            <a:srgbClr val="00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Now there is very little room for improvement … “Mine LI”!</a:t>
            </a:r>
            <a:endParaRPr b="0" i="0" sz="1400" u="none" cap="none" strike="noStrike">
              <a:solidFill>
                <a:srgbClr val="000000"/>
              </a:solidFill>
              <a:latin typeface="Calibri"/>
              <a:ea typeface="Calibri"/>
              <a:cs typeface="Calibri"/>
              <a:sym typeface="Calibri"/>
            </a:endParaRPr>
          </a:p>
        </p:txBody>
      </p:sp>
      <p:sp>
        <p:nvSpPr>
          <p:cNvPr id="728" name="Google Shape;728;p29"/>
          <p:cNvSpPr txBox="1"/>
          <p:nvPr/>
        </p:nvSpPr>
        <p:spPr>
          <a:xfrm>
            <a:off x="2628000" y="2863965"/>
            <a:ext cx="2772000" cy="5400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BC-JF: Procedures were not enforced through audits</a:t>
            </a:r>
            <a:endParaRPr b="0" i="0" sz="1400" u="none" cap="none" strike="noStrike">
              <a:solidFill>
                <a:srgbClr val="000000"/>
              </a:solidFill>
              <a:latin typeface="Arial"/>
              <a:ea typeface="Arial"/>
              <a:cs typeface="Arial"/>
              <a:sym typeface="Arial"/>
            </a:endParaRPr>
          </a:p>
        </p:txBody>
      </p:sp>
      <p:cxnSp>
        <p:nvCxnSpPr>
          <p:cNvPr id="738" name="Google Shape;738;p29"/>
          <p:cNvCxnSpPr>
            <a:stCxn id="728" idx="2"/>
            <a:endCxn id="726" idx="0"/>
          </p:cNvCxnSpPr>
          <p:nvPr/>
        </p:nvCxnSpPr>
        <p:spPr>
          <a:xfrm>
            <a:off x="4014000" y="3403965"/>
            <a:ext cx="0" cy="699900"/>
          </a:xfrm>
          <a:prstGeom prst="straightConnector1">
            <a:avLst/>
          </a:prstGeom>
          <a:noFill/>
          <a:ln cap="flat" cmpd="sng" w="9525">
            <a:solidFill>
              <a:srgbClr val="000000"/>
            </a:solidFill>
            <a:prstDash val="solid"/>
            <a:miter lim="800000"/>
            <a:headEnd len="sm" w="sm" type="none"/>
            <a:tailEnd len="med" w="med" type="triangle"/>
          </a:ln>
        </p:spPr>
      </p:cxn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p30"/>
          <p:cNvSpPr/>
          <p:nvPr/>
        </p:nvSpPr>
        <p:spPr>
          <a:xfrm>
            <a:off x="180000" y="180000"/>
            <a:ext cx="8640000" cy="5040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8F8F8"/>
              </a:buClr>
              <a:buSzPts val="2400"/>
              <a:buFont typeface="Arial"/>
              <a:buNone/>
            </a:pPr>
            <a:r>
              <a:rPr b="0" i="0" lang="en-US" sz="2400" u="none" cap="none" strike="noStrike">
                <a:solidFill>
                  <a:srgbClr val="F8F8F8"/>
                </a:solidFill>
                <a:latin typeface="Arial"/>
                <a:ea typeface="Arial"/>
                <a:cs typeface="Arial"/>
                <a:sym typeface="Arial"/>
              </a:rPr>
              <a:t>Best Practices: The Latent Cause Statement, page 1 of 4</a:t>
            </a:r>
            <a:endParaRPr b="0" i="0" sz="2400" u="none" cap="none" strike="noStrike">
              <a:solidFill>
                <a:srgbClr val="F8F8F8"/>
              </a:solidFill>
              <a:latin typeface="Arial"/>
              <a:ea typeface="Arial"/>
              <a:cs typeface="Arial"/>
              <a:sym typeface="Arial"/>
            </a:endParaRPr>
          </a:p>
        </p:txBody>
      </p:sp>
      <p:sp>
        <p:nvSpPr>
          <p:cNvPr id="748" name="Google Shape;748;p30"/>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749" name="Google Shape;749;p30"/>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sp>
        <p:nvSpPr>
          <p:cNvPr id="750" name="Google Shape;750;p30"/>
          <p:cNvSpPr/>
          <p:nvPr/>
        </p:nvSpPr>
        <p:spPr>
          <a:xfrm>
            <a:off x="180000" y="828000"/>
            <a:ext cx="8640000" cy="532800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1800"/>
              <a:buFont typeface="Arial"/>
              <a:buNone/>
            </a:pPr>
            <a:r>
              <a:rPr b="1" i="0" lang="en-US" sz="1800" u="none" cap="none" strike="noStrike">
                <a:solidFill>
                  <a:srgbClr val="F8F8F8"/>
                </a:solidFill>
                <a:latin typeface="Arial"/>
                <a:ea typeface="Arial"/>
                <a:cs typeface="Arial"/>
                <a:sym typeface="Arial"/>
              </a:rPr>
              <a:t>Best practices for writing a latent cause statement:</a:t>
            </a:r>
            <a:endParaRPr b="0" i="0" sz="14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F8F8F8"/>
              </a:buClr>
              <a:buSzPts val="1800"/>
              <a:buFont typeface="Noto Sans Symbols"/>
              <a:buChar char="⮚"/>
            </a:pPr>
            <a:r>
              <a:rPr b="0" i="0" lang="en-US" sz="1800" u="none" cap="none" strike="noStrike">
                <a:solidFill>
                  <a:srgbClr val="F8F8F8"/>
                </a:solidFill>
                <a:latin typeface="Arial"/>
                <a:ea typeface="Arial"/>
                <a:cs typeface="Arial"/>
                <a:sym typeface="Arial"/>
              </a:rPr>
              <a:t>Unique and specific to the root</a:t>
            </a:r>
            <a:endParaRPr b="0" i="0" sz="14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F8F8F8"/>
              </a:buClr>
              <a:buSzPts val="1800"/>
              <a:buFont typeface="Noto Sans Symbols"/>
              <a:buChar char="⮚"/>
            </a:pPr>
            <a:r>
              <a:rPr b="0" i="0" lang="en-US" sz="1800" u="none" cap="none" strike="noStrike">
                <a:solidFill>
                  <a:srgbClr val="F8F8F8"/>
                </a:solidFill>
                <a:latin typeface="Arial"/>
                <a:ea typeface="Arial"/>
                <a:cs typeface="Arial"/>
                <a:sym typeface="Arial"/>
              </a:rPr>
              <a:t>Relates to one RM element </a:t>
            </a:r>
            <a:endParaRPr b="0" i="0" sz="14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F8F8F8"/>
              </a:buClr>
              <a:buSzPts val="1800"/>
              <a:buFont typeface="Noto Sans Symbols"/>
              <a:buChar char="⮚"/>
            </a:pPr>
            <a:r>
              <a:rPr b="0" i="0" lang="en-US" sz="1800" u="none" cap="none" strike="noStrike">
                <a:solidFill>
                  <a:srgbClr val="F8F8F8"/>
                </a:solidFill>
                <a:latin typeface="Arial"/>
                <a:ea typeface="Arial"/>
                <a:cs typeface="Arial"/>
                <a:sym typeface="Arial"/>
              </a:rPr>
              <a:t>Expressed in terms relating to:</a:t>
            </a:r>
            <a:br>
              <a:rPr b="0" i="0" lang="en-US" sz="1800" u="none" cap="none" strike="noStrike">
                <a:solidFill>
                  <a:srgbClr val="F8F8F8"/>
                </a:solidFill>
                <a:latin typeface="Arial"/>
                <a:ea typeface="Arial"/>
                <a:cs typeface="Arial"/>
                <a:sym typeface="Arial"/>
              </a:rPr>
            </a:br>
            <a:r>
              <a:rPr b="0" i="0" lang="en-US" sz="1800" u="none" cap="none" strike="noStrike">
                <a:solidFill>
                  <a:srgbClr val="F8F8F8"/>
                </a:solidFill>
                <a:latin typeface="Arial"/>
                <a:ea typeface="Arial"/>
                <a:cs typeface="Arial"/>
                <a:sym typeface="Arial"/>
              </a:rPr>
              <a:t>“P = Inadequate Program”, </a:t>
            </a:r>
            <a:br>
              <a:rPr b="0" i="0" lang="en-US" sz="1800" u="none" cap="none" strike="noStrike">
                <a:solidFill>
                  <a:srgbClr val="F8F8F8"/>
                </a:solidFill>
                <a:latin typeface="Arial"/>
                <a:ea typeface="Arial"/>
                <a:cs typeface="Arial"/>
                <a:sym typeface="Arial"/>
              </a:rPr>
            </a:br>
            <a:r>
              <a:rPr b="0" i="0" lang="en-US" sz="1800" u="none" cap="none" strike="noStrike">
                <a:solidFill>
                  <a:srgbClr val="F8F8F8"/>
                </a:solidFill>
                <a:latin typeface="Arial"/>
                <a:ea typeface="Arial"/>
                <a:cs typeface="Arial"/>
                <a:sym typeface="Arial"/>
              </a:rPr>
              <a:t>“S = Inadequate Program Standards”, or </a:t>
            </a:r>
            <a:br>
              <a:rPr b="0" i="0" lang="en-US" sz="1800" u="none" cap="none" strike="noStrike">
                <a:solidFill>
                  <a:srgbClr val="F8F8F8"/>
                </a:solidFill>
                <a:latin typeface="Arial"/>
                <a:ea typeface="Arial"/>
                <a:cs typeface="Arial"/>
                <a:sym typeface="Arial"/>
              </a:rPr>
            </a:br>
            <a:r>
              <a:rPr b="0" i="0" lang="en-US" sz="1800" u="none" cap="none" strike="noStrike">
                <a:solidFill>
                  <a:srgbClr val="F8F8F8"/>
                </a:solidFill>
                <a:latin typeface="Arial"/>
                <a:ea typeface="Arial"/>
                <a:cs typeface="Arial"/>
                <a:sym typeface="Arial"/>
              </a:rPr>
              <a:t>“C = Inadequate Compliance with Program Standards”</a:t>
            </a:r>
            <a:endParaRPr b="0" i="0" sz="1800" u="none" cap="none" strike="noStrike">
              <a:solidFill>
                <a:srgbClr val="F8F8F8"/>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800"/>
              <a:buFont typeface="Arial"/>
              <a:buNone/>
            </a:pPr>
            <a:r>
              <a:t/>
            </a:r>
            <a:endParaRPr b="0" i="0" sz="1800" u="none" cap="none" strike="noStrike">
              <a:solidFill>
                <a:srgbClr val="F8F8F8"/>
              </a:solidFill>
              <a:latin typeface="Arial"/>
              <a:ea typeface="Arial"/>
              <a:cs typeface="Arial"/>
              <a:sym typeface="Arial"/>
            </a:endParaRPr>
          </a:p>
          <a:p>
            <a:pPr indent="-360000" lvl="0" marL="360000" marR="0" rtl="0" algn="l">
              <a:lnSpc>
                <a:spcPct val="90000"/>
              </a:lnSpc>
              <a:spcBef>
                <a:spcPts val="0"/>
              </a:spcBef>
              <a:spcAft>
                <a:spcPts val="0"/>
              </a:spcAft>
              <a:buClr>
                <a:srgbClr val="F8F8F8"/>
              </a:buClr>
              <a:buSzPts val="1800"/>
              <a:buFont typeface="Noto Sans Symbols"/>
              <a:buChar char="⮚"/>
            </a:pPr>
            <a:r>
              <a:rPr b="0" i="0" lang="en-US" sz="1800" u="none" cap="none" strike="noStrike">
                <a:solidFill>
                  <a:srgbClr val="F8F8F8"/>
                </a:solidFill>
                <a:latin typeface="Arial"/>
                <a:ea typeface="Arial"/>
                <a:cs typeface="Arial"/>
                <a:sym typeface="Arial"/>
              </a:rPr>
              <a:t>Some fairly simple forms of a statement for a latent cause in this RCA:</a:t>
            </a:r>
            <a:br>
              <a:rPr b="0" i="0" lang="en-US" sz="1800" u="none" cap="none" strike="noStrike">
                <a:solidFill>
                  <a:srgbClr val="F8F8F8"/>
                </a:solidFill>
                <a:latin typeface="Arial"/>
                <a:ea typeface="Arial"/>
                <a:cs typeface="Arial"/>
                <a:sym typeface="Arial"/>
              </a:rPr>
            </a:br>
            <a:endParaRPr b="0" i="0" sz="1800" u="none" cap="none" strike="noStrike">
              <a:solidFill>
                <a:srgbClr val="F8F8F8"/>
              </a:solidFill>
              <a:latin typeface="Arial"/>
              <a:ea typeface="Arial"/>
              <a:cs typeface="Arial"/>
              <a:sym typeface="Arial"/>
            </a:endParaRPr>
          </a:p>
          <a:p>
            <a:pPr indent="-360000" lvl="0" marL="360000" marR="0" rtl="0" algn="l">
              <a:lnSpc>
                <a:spcPct val="90000"/>
              </a:lnSpc>
              <a:spcBef>
                <a:spcPts val="0"/>
              </a:spcBef>
              <a:spcAft>
                <a:spcPts val="0"/>
              </a:spcAft>
              <a:buClr>
                <a:srgbClr val="F8F8F8"/>
              </a:buClr>
              <a:buSzPts val="1800"/>
              <a:buFont typeface="Noto Sans Symbols"/>
              <a:buChar char="⮚"/>
            </a:pPr>
            <a:r>
              <a:rPr b="0" i="0" lang="en-US" sz="1800" u="none" cap="none" strike="noStrike">
                <a:solidFill>
                  <a:srgbClr val="F8F8F8"/>
                </a:solidFill>
                <a:latin typeface="Arial"/>
                <a:ea typeface="Arial"/>
                <a:cs typeface="Arial"/>
                <a:sym typeface="Arial"/>
              </a:rPr>
              <a:t>[Statement A is unacceptable – this “blames management”]</a:t>
            </a:r>
            <a:br>
              <a:rPr b="0" i="0" lang="en-US" sz="1800" u="none" cap="none" strike="noStrike">
                <a:solidFill>
                  <a:srgbClr val="F8F8F8"/>
                </a:solidFill>
                <a:latin typeface="Arial"/>
                <a:ea typeface="Arial"/>
                <a:cs typeface="Arial"/>
                <a:sym typeface="Arial"/>
              </a:rPr>
            </a:br>
            <a:r>
              <a:rPr b="0" i="1" lang="en-US" sz="1800" u="none" cap="none" strike="noStrike">
                <a:solidFill>
                  <a:srgbClr val="F8F8F8"/>
                </a:solidFill>
                <a:latin typeface="Arial"/>
                <a:ea typeface="Arial"/>
                <a:cs typeface="Arial"/>
                <a:sym typeface="Arial"/>
              </a:rPr>
              <a:t>A: Managers did not complete audits on exclusion zone procedures.</a:t>
            </a:r>
            <a:br>
              <a:rPr b="0" i="1" lang="en-US" sz="1800" u="none" cap="none" strike="noStrike">
                <a:solidFill>
                  <a:srgbClr val="F8F8F8"/>
                </a:solidFill>
                <a:latin typeface="Arial"/>
                <a:ea typeface="Arial"/>
                <a:cs typeface="Arial"/>
                <a:sym typeface="Arial"/>
              </a:rPr>
            </a:br>
            <a:endParaRPr b="0" i="1" sz="1800" u="none" cap="none" strike="noStrike">
              <a:solidFill>
                <a:srgbClr val="F8F8F8"/>
              </a:solidFill>
              <a:latin typeface="Arial"/>
              <a:ea typeface="Arial"/>
              <a:cs typeface="Arial"/>
              <a:sym typeface="Arial"/>
            </a:endParaRPr>
          </a:p>
          <a:p>
            <a:pPr indent="-360000" lvl="0" marL="360000" marR="0" rtl="0" algn="l">
              <a:lnSpc>
                <a:spcPct val="90000"/>
              </a:lnSpc>
              <a:spcBef>
                <a:spcPts val="0"/>
              </a:spcBef>
              <a:spcAft>
                <a:spcPts val="0"/>
              </a:spcAft>
              <a:buClr>
                <a:srgbClr val="F8F8F8"/>
              </a:buClr>
              <a:buSzPts val="1800"/>
              <a:buFont typeface="Noto Sans Symbols"/>
              <a:buChar char="⮚"/>
            </a:pPr>
            <a:r>
              <a:rPr b="0" i="0" lang="en-US" sz="1800" u="none" cap="none" strike="noStrike">
                <a:solidFill>
                  <a:srgbClr val="F8F8F8"/>
                </a:solidFill>
                <a:latin typeface="Arial"/>
                <a:ea typeface="Arial"/>
                <a:cs typeface="Arial"/>
                <a:sym typeface="Arial"/>
              </a:rPr>
              <a:t>[Statement B is acceptable, although more detail would be helpful.]</a:t>
            </a:r>
            <a:br>
              <a:rPr b="0" i="0" lang="en-US" sz="1800" u="none" cap="none" strike="noStrike">
                <a:solidFill>
                  <a:srgbClr val="F8F8F8"/>
                </a:solidFill>
                <a:latin typeface="Arial"/>
                <a:ea typeface="Arial"/>
                <a:cs typeface="Arial"/>
                <a:sym typeface="Arial"/>
              </a:rPr>
            </a:br>
            <a:r>
              <a:rPr b="0" i="1" lang="en-US" sz="1800" u="none" cap="none" strike="noStrike">
                <a:solidFill>
                  <a:srgbClr val="F8F8F8"/>
                </a:solidFill>
                <a:latin typeface="Arial"/>
                <a:ea typeface="Arial"/>
                <a:cs typeface="Arial"/>
                <a:sym typeface="Arial"/>
              </a:rPr>
              <a:t>B: The auditing program schedule did not include exclusion zone procedures.</a:t>
            </a:r>
            <a:endParaRPr b="0" i="0" sz="1400" u="none" cap="none" strike="noStrike">
              <a:solidFill>
                <a:srgbClr val="000000"/>
              </a:solidFill>
              <a:latin typeface="Arial"/>
              <a:ea typeface="Arial"/>
              <a:cs typeface="Arial"/>
              <a:sym typeface="Arial"/>
            </a:endParaRPr>
          </a:p>
          <a:p>
            <a:pPr indent="-245700" lvl="0" marL="360000" marR="0" rtl="0" algn="l">
              <a:lnSpc>
                <a:spcPct val="90000"/>
              </a:lnSpc>
              <a:spcBef>
                <a:spcPts val="0"/>
              </a:spcBef>
              <a:spcAft>
                <a:spcPts val="0"/>
              </a:spcAft>
              <a:buClr>
                <a:schemeClr val="dk1"/>
              </a:buClr>
              <a:buSzPts val="1800"/>
              <a:buFont typeface="Noto Sans Symbols"/>
              <a:buNone/>
            </a:pPr>
            <a:r>
              <a:t/>
            </a:r>
            <a:endParaRPr b="0" i="0" sz="1800" u="none" cap="none" strike="noStrike">
              <a:solidFill>
                <a:srgbClr val="F8F8F8"/>
              </a:solidFill>
              <a:latin typeface="Arial"/>
              <a:ea typeface="Arial"/>
              <a:cs typeface="Arial"/>
              <a:sym typeface="Arial"/>
            </a:endParaRPr>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p31"/>
          <p:cNvSpPr/>
          <p:nvPr/>
        </p:nvSpPr>
        <p:spPr>
          <a:xfrm>
            <a:off x="180000" y="180000"/>
            <a:ext cx="8640000" cy="5040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8F8F8"/>
              </a:buClr>
              <a:buSzPts val="2400"/>
              <a:buFont typeface="Arial"/>
              <a:buNone/>
            </a:pPr>
            <a:r>
              <a:rPr b="0" i="0" lang="en-US" sz="2400" u="none" cap="none" strike="noStrike">
                <a:solidFill>
                  <a:srgbClr val="F8F8F8"/>
                </a:solidFill>
                <a:latin typeface="Arial"/>
                <a:ea typeface="Arial"/>
                <a:cs typeface="Arial"/>
                <a:sym typeface="Arial"/>
              </a:rPr>
              <a:t>Best Practices: The Latent Cause Statement, page 1 of 4</a:t>
            </a:r>
            <a:endParaRPr b="0" i="0" sz="2400" u="none" cap="none" strike="noStrike">
              <a:solidFill>
                <a:srgbClr val="F8F8F8"/>
              </a:solidFill>
              <a:latin typeface="Arial"/>
              <a:ea typeface="Arial"/>
              <a:cs typeface="Arial"/>
              <a:sym typeface="Arial"/>
            </a:endParaRPr>
          </a:p>
        </p:txBody>
      </p:sp>
      <p:sp>
        <p:nvSpPr>
          <p:cNvPr id="760" name="Google Shape;760;p31"/>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761" name="Google Shape;761;p31"/>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sp>
        <p:nvSpPr>
          <p:cNvPr id="762" name="Google Shape;762;p31"/>
          <p:cNvSpPr/>
          <p:nvPr/>
        </p:nvSpPr>
        <p:spPr>
          <a:xfrm>
            <a:off x="180000" y="828000"/>
            <a:ext cx="8640000" cy="532800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1800"/>
              <a:buFont typeface="Arial"/>
              <a:buNone/>
            </a:pPr>
            <a:r>
              <a:rPr b="1" i="0" lang="en-US" sz="1800" u="none" cap="none" strike="noStrike">
                <a:solidFill>
                  <a:srgbClr val="F8F8F8"/>
                </a:solidFill>
                <a:latin typeface="Arial"/>
                <a:ea typeface="Arial"/>
                <a:cs typeface="Arial"/>
                <a:sym typeface="Arial"/>
              </a:rPr>
              <a:t>Best practices for writing a latent cause statement:</a:t>
            </a:r>
            <a:endParaRPr b="0" i="0" sz="1400" u="none" cap="none" strike="noStrike">
              <a:solidFill>
                <a:srgbClr val="000000"/>
              </a:solidFill>
              <a:latin typeface="Arial"/>
              <a:ea typeface="Arial"/>
              <a:cs typeface="Arial"/>
              <a:sym typeface="Arial"/>
            </a:endParaRPr>
          </a:p>
          <a:p>
            <a:pPr indent="-245700" lvl="0" marL="360000" marR="0" rtl="0" algn="l">
              <a:lnSpc>
                <a:spcPct val="90000"/>
              </a:lnSpc>
              <a:spcBef>
                <a:spcPts val="0"/>
              </a:spcBef>
              <a:spcAft>
                <a:spcPts val="0"/>
              </a:spcAft>
              <a:buClr>
                <a:schemeClr val="dk1"/>
              </a:buClr>
              <a:buSzPts val="1800"/>
              <a:buFont typeface="Noto Sans Symbols"/>
              <a:buNone/>
            </a:pPr>
            <a:r>
              <a:t/>
            </a:r>
            <a:endParaRPr b="0" i="0" sz="1800" u="none" cap="none" strike="noStrike">
              <a:solidFill>
                <a:srgbClr val="F8F8F8"/>
              </a:solidFill>
              <a:latin typeface="Arial"/>
              <a:ea typeface="Arial"/>
              <a:cs typeface="Arial"/>
              <a:sym typeface="Arial"/>
            </a:endParaRPr>
          </a:p>
          <a:p>
            <a:pPr indent="-245700" lvl="0" marL="360000" marR="0" rtl="0" algn="l">
              <a:lnSpc>
                <a:spcPct val="90000"/>
              </a:lnSpc>
              <a:spcBef>
                <a:spcPts val="0"/>
              </a:spcBef>
              <a:spcAft>
                <a:spcPts val="0"/>
              </a:spcAft>
              <a:buClr>
                <a:schemeClr val="dk1"/>
              </a:buClr>
              <a:buSzPts val="1800"/>
              <a:buFont typeface="Noto Sans Symbols"/>
              <a:buNone/>
            </a:pPr>
            <a:r>
              <a:t/>
            </a:r>
            <a:endParaRPr b="0" i="0" sz="1800" u="none" cap="none" strike="noStrike">
              <a:solidFill>
                <a:srgbClr val="F8F8F8"/>
              </a:solidFill>
              <a:latin typeface="Arial"/>
              <a:ea typeface="Arial"/>
              <a:cs typeface="Arial"/>
              <a:sym typeface="Arial"/>
            </a:endParaRPr>
          </a:p>
          <a:p>
            <a:pPr indent="-245700" lvl="0" marL="360000" marR="0" rtl="0" algn="l">
              <a:lnSpc>
                <a:spcPct val="90000"/>
              </a:lnSpc>
              <a:spcBef>
                <a:spcPts val="0"/>
              </a:spcBef>
              <a:spcAft>
                <a:spcPts val="0"/>
              </a:spcAft>
              <a:buClr>
                <a:schemeClr val="dk1"/>
              </a:buClr>
              <a:buSzPts val="1800"/>
              <a:buFont typeface="Noto Sans Symbols"/>
              <a:buNone/>
            </a:pPr>
            <a:r>
              <a:t/>
            </a:r>
            <a:endParaRPr b="0" i="0" sz="1800" u="none" cap="none" strike="noStrike">
              <a:solidFill>
                <a:srgbClr val="F8F8F8"/>
              </a:solidFill>
              <a:latin typeface="Arial"/>
              <a:ea typeface="Arial"/>
              <a:cs typeface="Arial"/>
              <a:sym typeface="Arial"/>
            </a:endParaRPr>
          </a:p>
          <a:p>
            <a:pPr indent="-245700" lvl="0" marL="360000" marR="0" rtl="0" algn="l">
              <a:lnSpc>
                <a:spcPct val="90000"/>
              </a:lnSpc>
              <a:spcBef>
                <a:spcPts val="0"/>
              </a:spcBef>
              <a:spcAft>
                <a:spcPts val="0"/>
              </a:spcAft>
              <a:buClr>
                <a:schemeClr val="dk1"/>
              </a:buClr>
              <a:buSzPts val="1800"/>
              <a:buFont typeface="Noto Sans Symbols"/>
              <a:buNone/>
            </a:pPr>
            <a:r>
              <a:t/>
            </a:r>
            <a:endParaRPr b="0" i="0" sz="1800" u="none" cap="none" strike="noStrike">
              <a:solidFill>
                <a:srgbClr val="F8F8F8"/>
              </a:solidFill>
              <a:latin typeface="Arial"/>
              <a:ea typeface="Arial"/>
              <a:cs typeface="Arial"/>
              <a:sym typeface="Arial"/>
            </a:endParaRPr>
          </a:p>
          <a:p>
            <a:pPr indent="-245700" lvl="0" marL="360000" marR="0" rtl="0" algn="l">
              <a:lnSpc>
                <a:spcPct val="90000"/>
              </a:lnSpc>
              <a:spcBef>
                <a:spcPts val="0"/>
              </a:spcBef>
              <a:spcAft>
                <a:spcPts val="0"/>
              </a:spcAft>
              <a:buClr>
                <a:schemeClr val="dk1"/>
              </a:buClr>
              <a:buSzPts val="1800"/>
              <a:buFont typeface="Noto Sans Symbols"/>
              <a:buNone/>
            </a:pPr>
            <a:r>
              <a:t/>
            </a:r>
            <a:endParaRPr b="0" i="0" sz="1800" u="none" cap="none" strike="noStrike">
              <a:solidFill>
                <a:srgbClr val="F8F8F8"/>
              </a:solidFill>
              <a:latin typeface="Arial"/>
              <a:ea typeface="Arial"/>
              <a:cs typeface="Arial"/>
              <a:sym typeface="Arial"/>
            </a:endParaRPr>
          </a:p>
          <a:p>
            <a:pPr indent="-245700" lvl="0" marL="360000" marR="0" rtl="0" algn="l">
              <a:lnSpc>
                <a:spcPct val="90000"/>
              </a:lnSpc>
              <a:spcBef>
                <a:spcPts val="0"/>
              </a:spcBef>
              <a:spcAft>
                <a:spcPts val="0"/>
              </a:spcAft>
              <a:buClr>
                <a:schemeClr val="dk1"/>
              </a:buClr>
              <a:buSzPts val="1800"/>
              <a:buFont typeface="Noto Sans Symbols"/>
              <a:buNone/>
            </a:pPr>
            <a:r>
              <a:t/>
            </a:r>
            <a:endParaRPr b="0" i="0" sz="1800" u="none" cap="none" strike="noStrike">
              <a:solidFill>
                <a:srgbClr val="F8F8F8"/>
              </a:solidFill>
              <a:latin typeface="Arial"/>
              <a:ea typeface="Arial"/>
              <a:cs typeface="Arial"/>
              <a:sym typeface="Arial"/>
            </a:endParaRPr>
          </a:p>
          <a:p>
            <a:pPr indent="-245700" lvl="0" marL="360000" marR="0" rtl="0" algn="l">
              <a:lnSpc>
                <a:spcPct val="90000"/>
              </a:lnSpc>
              <a:spcBef>
                <a:spcPts val="0"/>
              </a:spcBef>
              <a:spcAft>
                <a:spcPts val="0"/>
              </a:spcAft>
              <a:buClr>
                <a:schemeClr val="dk1"/>
              </a:buClr>
              <a:buSzPts val="1800"/>
              <a:buFont typeface="Noto Sans Symbols"/>
              <a:buNone/>
            </a:pPr>
            <a:r>
              <a:t/>
            </a:r>
            <a:endParaRPr b="0" i="0" sz="1800" u="none" cap="none" strike="noStrike">
              <a:solidFill>
                <a:srgbClr val="F8F8F8"/>
              </a:solidFill>
              <a:latin typeface="Arial"/>
              <a:ea typeface="Arial"/>
              <a:cs typeface="Arial"/>
              <a:sym typeface="Arial"/>
            </a:endParaRPr>
          </a:p>
          <a:p>
            <a:pPr indent="-360000" lvl="0" marL="360000" marR="0" rtl="0" algn="l">
              <a:lnSpc>
                <a:spcPct val="90000"/>
              </a:lnSpc>
              <a:spcBef>
                <a:spcPts val="0"/>
              </a:spcBef>
              <a:spcAft>
                <a:spcPts val="0"/>
              </a:spcAft>
              <a:buClr>
                <a:srgbClr val="F8F8F8"/>
              </a:buClr>
              <a:buSzPts val="1800"/>
              <a:buFont typeface="Noto Sans Symbols"/>
              <a:buChar char="⮚"/>
            </a:pPr>
            <a:r>
              <a:rPr b="0" i="0" lang="en-US" sz="1800" u="none" cap="none" strike="noStrike">
                <a:solidFill>
                  <a:srgbClr val="F8F8F8"/>
                </a:solidFill>
                <a:latin typeface="Arial"/>
                <a:ea typeface="Arial"/>
                <a:cs typeface="Arial"/>
                <a:sym typeface="Arial"/>
              </a:rPr>
              <a:t>Let’s look at another LC example: “</a:t>
            </a:r>
            <a:r>
              <a:rPr b="0" i="1" lang="en-US" sz="1800" u="none" cap="none" strike="noStrike">
                <a:solidFill>
                  <a:srgbClr val="F8F8F8"/>
                </a:solidFill>
                <a:latin typeface="Arial"/>
                <a:ea typeface="Arial"/>
                <a:cs typeface="Arial"/>
                <a:sym typeface="Arial"/>
              </a:rPr>
              <a:t>The Core Safety Values Communications program was inadequate</a:t>
            </a:r>
            <a:r>
              <a:rPr b="0" i="0" lang="en-US" sz="1800" u="none" cap="none" strike="noStrike">
                <a:solidFill>
                  <a:srgbClr val="F8F8F8"/>
                </a:solidFill>
                <a:latin typeface="Arial"/>
                <a:ea typeface="Arial"/>
                <a:cs typeface="Arial"/>
                <a:sym typeface="Arial"/>
              </a:rPr>
              <a:t>" is vague and lacks detail. More detail is needed to make it specific and unique to the root, and it helps you create a recommendation for action. In what manner is it inadequate? What do you want to "fix" on the inadequate communications program?</a:t>
            </a:r>
            <a:endParaRPr b="0" i="0" sz="1400" u="none" cap="none" strike="noStrike">
              <a:solidFill>
                <a:srgbClr val="000000"/>
              </a:solidFill>
              <a:latin typeface="Arial"/>
              <a:ea typeface="Arial"/>
              <a:cs typeface="Arial"/>
              <a:sym typeface="Arial"/>
            </a:endParaRPr>
          </a:p>
          <a:p>
            <a:pPr indent="-245700" lvl="0" marL="360000" marR="0" rtl="0" algn="l">
              <a:lnSpc>
                <a:spcPct val="90000"/>
              </a:lnSpc>
              <a:spcBef>
                <a:spcPts val="0"/>
              </a:spcBef>
              <a:spcAft>
                <a:spcPts val="0"/>
              </a:spcAft>
              <a:buClr>
                <a:schemeClr val="dk1"/>
              </a:buClr>
              <a:buSzPts val="1800"/>
              <a:buFont typeface="Noto Sans Symbols"/>
              <a:buNone/>
            </a:pPr>
            <a:r>
              <a:t/>
            </a:r>
            <a:endParaRPr b="0" i="0" sz="1800" u="none" cap="none" strike="noStrike">
              <a:solidFill>
                <a:srgbClr val="F8F8F8"/>
              </a:solidFill>
              <a:latin typeface="Arial"/>
              <a:ea typeface="Arial"/>
              <a:cs typeface="Arial"/>
              <a:sym typeface="Arial"/>
            </a:endParaRPr>
          </a:p>
          <a:p>
            <a:pPr indent="-360000" lvl="0" marL="360000" marR="0" rtl="0" algn="l">
              <a:lnSpc>
                <a:spcPct val="90000"/>
              </a:lnSpc>
              <a:spcBef>
                <a:spcPts val="0"/>
              </a:spcBef>
              <a:spcAft>
                <a:spcPts val="0"/>
              </a:spcAft>
              <a:buClr>
                <a:srgbClr val="F8F8F8"/>
              </a:buClr>
              <a:buSzPts val="1800"/>
              <a:buFont typeface="Noto Sans Symbols"/>
              <a:buChar char="⮚"/>
            </a:pPr>
            <a:r>
              <a:rPr b="0" i="0" lang="en-US" sz="1800" u="none" cap="none" strike="noStrike">
                <a:solidFill>
                  <a:srgbClr val="F8F8F8"/>
                </a:solidFill>
                <a:latin typeface="Arial"/>
                <a:ea typeface="Arial"/>
                <a:cs typeface="Arial"/>
                <a:sym typeface="Arial"/>
              </a:rPr>
              <a:t>Possible correction:</a:t>
            </a:r>
            <a:endParaRPr b="0" i="0" sz="1400" u="none" cap="none" strike="noStrike">
              <a:solidFill>
                <a:srgbClr val="000000"/>
              </a:solidFill>
              <a:latin typeface="Arial"/>
              <a:ea typeface="Arial"/>
              <a:cs typeface="Arial"/>
              <a:sym typeface="Arial"/>
            </a:endParaRPr>
          </a:p>
          <a:p>
            <a:pPr indent="-245700" lvl="0" marL="360000" marR="0" rtl="0" algn="l">
              <a:lnSpc>
                <a:spcPct val="90000"/>
              </a:lnSpc>
              <a:spcBef>
                <a:spcPts val="0"/>
              </a:spcBef>
              <a:spcAft>
                <a:spcPts val="0"/>
              </a:spcAft>
              <a:buClr>
                <a:schemeClr val="dk1"/>
              </a:buClr>
              <a:buSzPts val="1800"/>
              <a:buFont typeface="Noto Sans Symbols"/>
              <a:buNone/>
            </a:pPr>
            <a:r>
              <a:t/>
            </a:r>
            <a:endParaRPr b="0" i="1" sz="1800" u="none" cap="none" strike="noStrike">
              <a:solidFill>
                <a:srgbClr val="F8F8F8"/>
              </a:solidFill>
              <a:latin typeface="Arial"/>
              <a:ea typeface="Arial"/>
              <a:cs typeface="Arial"/>
              <a:sym typeface="Arial"/>
            </a:endParaRPr>
          </a:p>
          <a:p>
            <a:pPr indent="-245700" lvl="0" marL="360000" marR="0" rtl="0" algn="l">
              <a:lnSpc>
                <a:spcPct val="90000"/>
              </a:lnSpc>
              <a:spcBef>
                <a:spcPts val="0"/>
              </a:spcBef>
              <a:spcAft>
                <a:spcPts val="0"/>
              </a:spcAft>
              <a:buClr>
                <a:schemeClr val="dk1"/>
              </a:buClr>
              <a:buSzPts val="1800"/>
              <a:buFont typeface="Noto Sans Symbols"/>
              <a:buNone/>
            </a:pPr>
            <a:r>
              <a:t/>
            </a:r>
            <a:endParaRPr b="0" i="1" sz="1800" u="none" cap="none" strike="noStrike">
              <a:solidFill>
                <a:srgbClr val="F8F8F8"/>
              </a:solidFill>
              <a:latin typeface="Arial"/>
              <a:ea typeface="Arial"/>
              <a:cs typeface="Arial"/>
              <a:sym typeface="Arial"/>
            </a:endParaRPr>
          </a:p>
          <a:p>
            <a:pPr indent="-245700" lvl="0" marL="360000" marR="0" rtl="0" algn="l">
              <a:lnSpc>
                <a:spcPct val="90000"/>
              </a:lnSpc>
              <a:spcBef>
                <a:spcPts val="0"/>
              </a:spcBef>
              <a:spcAft>
                <a:spcPts val="0"/>
              </a:spcAft>
              <a:buClr>
                <a:schemeClr val="dk1"/>
              </a:buClr>
              <a:buSzPts val="1800"/>
              <a:buFont typeface="Noto Sans Symbols"/>
              <a:buNone/>
            </a:pPr>
            <a:r>
              <a:t/>
            </a:r>
            <a:endParaRPr b="0" i="1" sz="1800" u="none" cap="none" strike="noStrike">
              <a:solidFill>
                <a:srgbClr val="F8F8F8"/>
              </a:solidFill>
              <a:latin typeface="Arial"/>
              <a:ea typeface="Arial"/>
              <a:cs typeface="Arial"/>
              <a:sym typeface="Arial"/>
            </a:endParaRPr>
          </a:p>
          <a:p>
            <a:pPr indent="-360000" lvl="0" marL="360000" marR="0" rtl="0" algn="l">
              <a:lnSpc>
                <a:spcPct val="90000"/>
              </a:lnSpc>
              <a:spcBef>
                <a:spcPts val="0"/>
              </a:spcBef>
              <a:spcAft>
                <a:spcPts val="0"/>
              </a:spcAft>
              <a:buClr>
                <a:srgbClr val="F8F8F8"/>
              </a:buClr>
              <a:buSzPts val="1800"/>
              <a:buFont typeface="Noto Sans Symbols"/>
              <a:buChar char="⮚"/>
            </a:pPr>
            <a:r>
              <a:rPr b="0" i="1" lang="en-US" sz="1800" u="none" cap="none" strike="noStrike">
                <a:solidFill>
                  <a:srgbClr val="F8F8F8"/>
                </a:solidFill>
                <a:latin typeface="Arial"/>
                <a:ea typeface="Arial"/>
                <a:cs typeface="Arial"/>
                <a:sym typeface="Arial"/>
              </a:rPr>
              <a:t>It is debatable as to whether this is a P or an S as it depends on the contextual information of the organizations: If other standards of the MLCA program are absent, then likely a “P”; if this is the only standard missing, then “S”. </a:t>
            </a:r>
            <a:endParaRPr b="0" i="0" sz="1400" u="none" cap="none" strike="noStrike">
              <a:solidFill>
                <a:srgbClr val="000000"/>
              </a:solidFill>
              <a:latin typeface="Arial"/>
              <a:ea typeface="Arial"/>
              <a:cs typeface="Arial"/>
              <a:sym typeface="Arial"/>
            </a:endParaRPr>
          </a:p>
          <a:p>
            <a:pPr indent="-245700" lvl="0" marL="360000" marR="0" rtl="0" algn="l">
              <a:lnSpc>
                <a:spcPct val="90000"/>
              </a:lnSpc>
              <a:spcBef>
                <a:spcPts val="0"/>
              </a:spcBef>
              <a:spcAft>
                <a:spcPts val="0"/>
              </a:spcAft>
              <a:buClr>
                <a:schemeClr val="dk1"/>
              </a:buClr>
              <a:buSzPts val="1800"/>
              <a:buFont typeface="Noto Sans Symbols"/>
              <a:buNone/>
            </a:pPr>
            <a:r>
              <a:t/>
            </a:r>
            <a:endParaRPr b="0" i="1" sz="1800" u="none" cap="none" strike="noStrike">
              <a:solidFill>
                <a:srgbClr val="F8F8F8"/>
              </a:solidFill>
              <a:latin typeface="Arial"/>
              <a:ea typeface="Arial"/>
              <a:cs typeface="Arial"/>
              <a:sym typeface="Arial"/>
            </a:endParaRPr>
          </a:p>
          <a:p>
            <a:pPr indent="-245700" lvl="0" marL="360000" marR="0" rtl="0" algn="l">
              <a:lnSpc>
                <a:spcPct val="90000"/>
              </a:lnSpc>
              <a:spcBef>
                <a:spcPts val="0"/>
              </a:spcBef>
              <a:spcAft>
                <a:spcPts val="0"/>
              </a:spcAft>
              <a:buClr>
                <a:schemeClr val="dk1"/>
              </a:buClr>
              <a:buSzPts val="1800"/>
              <a:buFont typeface="Noto Sans Symbols"/>
              <a:buNone/>
            </a:pPr>
            <a:r>
              <a:t/>
            </a:r>
            <a:endParaRPr b="0" i="1" sz="1800" u="none" cap="none" strike="noStrike">
              <a:solidFill>
                <a:srgbClr val="F8F8F8"/>
              </a:solidFill>
              <a:latin typeface="Arial"/>
              <a:ea typeface="Arial"/>
              <a:cs typeface="Arial"/>
              <a:sym typeface="Arial"/>
            </a:endParaRPr>
          </a:p>
          <a:p>
            <a:pPr indent="-245700" lvl="0" marL="360000" marR="0" rtl="0" algn="l">
              <a:lnSpc>
                <a:spcPct val="90000"/>
              </a:lnSpc>
              <a:spcBef>
                <a:spcPts val="0"/>
              </a:spcBef>
              <a:spcAft>
                <a:spcPts val="0"/>
              </a:spcAft>
              <a:buClr>
                <a:schemeClr val="dk1"/>
              </a:buClr>
              <a:buSzPts val="1800"/>
              <a:buFont typeface="Noto Sans Symbols"/>
              <a:buNone/>
            </a:pPr>
            <a:r>
              <a:t/>
            </a:r>
            <a:endParaRPr b="0" i="1" sz="1800" u="none" cap="none" strike="noStrike">
              <a:solidFill>
                <a:srgbClr val="F8F8F8"/>
              </a:solidFill>
              <a:latin typeface="Arial"/>
              <a:ea typeface="Arial"/>
              <a:cs typeface="Arial"/>
              <a:sym typeface="Arial"/>
            </a:endParaRPr>
          </a:p>
          <a:p>
            <a:pPr indent="-245700" lvl="0" marL="360000" marR="0" rtl="0" algn="l">
              <a:lnSpc>
                <a:spcPct val="90000"/>
              </a:lnSpc>
              <a:spcBef>
                <a:spcPts val="0"/>
              </a:spcBef>
              <a:spcAft>
                <a:spcPts val="0"/>
              </a:spcAft>
              <a:buClr>
                <a:schemeClr val="dk1"/>
              </a:buClr>
              <a:buSzPts val="1800"/>
              <a:buFont typeface="Noto Sans Symbols"/>
              <a:buNone/>
            </a:pPr>
            <a:r>
              <a:t/>
            </a:r>
            <a:endParaRPr b="0" i="0" sz="1800" u="none" cap="none" strike="noStrike">
              <a:solidFill>
                <a:srgbClr val="F8F8F8"/>
              </a:solidFill>
              <a:latin typeface="Arial"/>
              <a:ea typeface="Arial"/>
              <a:cs typeface="Arial"/>
              <a:sym typeface="Arial"/>
            </a:endParaRPr>
          </a:p>
          <a:p>
            <a:pPr indent="-245700" lvl="0" marL="360000" marR="0" rtl="0" algn="l">
              <a:lnSpc>
                <a:spcPct val="90000"/>
              </a:lnSpc>
              <a:spcBef>
                <a:spcPts val="0"/>
              </a:spcBef>
              <a:spcAft>
                <a:spcPts val="0"/>
              </a:spcAft>
              <a:buClr>
                <a:schemeClr val="dk1"/>
              </a:buClr>
              <a:buSzPts val="1800"/>
              <a:buFont typeface="Noto Sans Symbols"/>
              <a:buNone/>
            </a:pPr>
            <a:r>
              <a:t/>
            </a:r>
            <a:endParaRPr b="0" i="0" sz="1800" u="none" cap="none" strike="noStrike">
              <a:solidFill>
                <a:srgbClr val="F8F8F8"/>
              </a:solidFill>
              <a:latin typeface="Arial"/>
              <a:ea typeface="Arial"/>
              <a:cs typeface="Arial"/>
              <a:sym typeface="Arial"/>
            </a:endParaRPr>
          </a:p>
        </p:txBody>
      </p:sp>
      <p:sp>
        <p:nvSpPr>
          <p:cNvPr id="763" name="Google Shape;763;p31"/>
          <p:cNvSpPr txBox="1"/>
          <p:nvPr/>
        </p:nvSpPr>
        <p:spPr>
          <a:xfrm>
            <a:off x="4596424" y="1367526"/>
            <a:ext cx="3204000" cy="738664"/>
          </a:xfrm>
          <a:prstGeom prst="rect">
            <a:avLst/>
          </a:prstGeom>
          <a:solidFill>
            <a:srgbClr val="FEE599"/>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LC3-P: Core Safety Values Communications Program was inadequate. **</a:t>
            </a:r>
            <a:endParaRPr b="1" i="0" sz="1400" u="none" cap="none" strike="noStrike">
              <a:solidFill>
                <a:srgbClr val="000000"/>
              </a:solidFill>
              <a:latin typeface="Arial"/>
              <a:ea typeface="Arial"/>
              <a:cs typeface="Arial"/>
              <a:sym typeface="Arial"/>
            </a:endParaRPr>
          </a:p>
        </p:txBody>
      </p:sp>
      <p:sp>
        <p:nvSpPr>
          <p:cNvPr id="764" name="Google Shape;764;p31"/>
          <p:cNvSpPr/>
          <p:nvPr/>
        </p:nvSpPr>
        <p:spPr>
          <a:xfrm>
            <a:off x="861644" y="1167807"/>
            <a:ext cx="3851673" cy="1220482"/>
          </a:xfrm>
          <a:prstGeom prst="rightArrow">
            <a:avLst>
              <a:gd fmla="val 50000" name="adj1"/>
              <a:gd fmla="val 50000" name="adj2"/>
            </a:avLst>
          </a:prstGeom>
          <a:solidFill>
            <a:srgbClr val="FF0000"/>
          </a:solidFill>
          <a:ln cap="flat" cmpd="sng" w="952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400"/>
              <a:buFont typeface="Arial"/>
              <a:buNone/>
            </a:pPr>
            <a:r>
              <a:rPr b="0" i="0" lang="en-US" sz="1400" u="none" cap="none" strike="noStrike">
                <a:solidFill>
                  <a:schemeClr val="lt1"/>
                </a:solidFill>
                <a:latin typeface="Arial"/>
                <a:ea typeface="Arial"/>
                <a:cs typeface="Arial"/>
                <a:sym typeface="Arial"/>
              </a:rPr>
              <a:t>Now consider this latent cause statement!</a:t>
            </a:r>
            <a:endParaRPr b="0" i="0" sz="1400" u="none" cap="none" strike="noStrike">
              <a:solidFill>
                <a:schemeClr val="lt1"/>
              </a:solidFill>
              <a:latin typeface="Arial"/>
              <a:ea typeface="Arial"/>
              <a:cs typeface="Arial"/>
              <a:sym typeface="Arial"/>
            </a:endParaRPr>
          </a:p>
        </p:txBody>
      </p:sp>
      <p:sp>
        <p:nvSpPr>
          <p:cNvPr id="765" name="Google Shape;765;p31"/>
          <p:cNvSpPr txBox="1"/>
          <p:nvPr/>
        </p:nvSpPr>
        <p:spPr>
          <a:xfrm>
            <a:off x="931025" y="2203623"/>
            <a:ext cx="6802386" cy="36933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0000"/>
                </a:solidFill>
                <a:latin typeface="Calibri"/>
                <a:ea typeface="Calibri"/>
                <a:cs typeface="Calibri"/>
                <a:sym typeface="Calibri"/>
              </a:rPr>
              <a:t>** Is this an acceptable latent cause statement? We will revisit this!</a:t>
            </a:r>
            <a:endParaRPr b="0" i="0" sz="1800" u="none" cap="none" strike="noStrike">
              <a:solidFill>
                <a:schemeClr val="dk1"/>
              </a:solidFill>
              <a:latin typeface="Arial"/>
              <a:ea typeface="Arial"/>
              <a:cs typeface="Arial"/>
              <a:sym typeface="Arial"/>
            </a:endParaRPr>
          </a:p>
        </p:txBody>
      </p:sp>
      <p:sp>
        <p:nvSpPr>
          <p:cNvPr id="766" name="Google Shape;766;p31"/>
          <p:cNvSpPr txBox="1"/>
          <p:nvPr/>
        </p:nvSpPr>
        <p:spPr>
          <a:xfrm>
            <a:off x="2787480" y="4380170"/>
            <a:ext cx="3204000" cy="738664"/>
          </a:xfrm>
          <a:prstGeom prst="rect">
            <a:avLst/>
          </a:prstGeom>
          <a:solidFill>
            <a:srgbClr val="FEE599"/>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LC3-S: The Leadership program did not include Core Safety Values Communications standard.</a:t>
            </a:r>
            <a:endParaRPr b="1" i="0" sz="14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32"/>
          <p:cNvSpPr/>
          <p:nvPr/>
        </p:nvSpPr>
        <p:spPr>
          <a:xfrm>
            <a:off x="180000" y="180000"/>
            <a:ext cx="8640000" cy="5040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8F8F8"/>
              </a:buClr>
              <a:buSzPts val="2400"/>
              <a:buFont typeface="Arial"/>
              <a:buNone/>
            </a:pPr>
            <a:r>
              <a:rPr b="0" i="0" lang="en-US" sz="2400" u="none" cap="none" strike="noStrike">
                <a:solidFill>
                  <a:srgbClr val="F8F8F8"/>
                </a:solidFill>
                <a:latin typeface="Arial"/>
                <a:ea typeface="Arial"/>
                <a:cs typeface="Arial"/>
                <a:sym typeface="Arial"/>
              </a:rPr>
              <a:t>Best Practices: The Latent Cause Statement, page 2 of 4</a:t>
            </a:r>
            <a:endParaRPr b="0" i="0" sz="2400" u="none" cap="none" strike="noStrike">
              <a:solidFill>
                <a:srgbClr val="F8F8F8"/>
              </a:solidFill>
              <a:latin typeface="Arial"/>
              <a:ea typeface="Arial"/>
              <a:cs typeface="Arial"/>
              <a:sym typeface="Arial"/>
            </a:endParaRPr>
          </a:p>
        </p:txBody>
      </p:sp>
      <p:sp>
        <p:nvSpPr>
          <p:cNvPr id="776" name="Google Shape;776;p32"/>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777" name="Google Shape;777;p32"/>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sp>
        <p:nvSpPr>
          <p:cNvPr id="778" name="Google Shape;778;p32"/>
          <p:cNvSpPr/>
          <p:nvPr/>
        </p:nvSpPr>
        <p:spPr>
          <a:xfrm>
            <a:off x="180000" y="828000"/>
            <a:ext cx="8640000" cy="532800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8F8F8"/>
                </a:solidFill>
                <a:latin typeface="Arial"/>
                <a:ea typeface="Arial"/>
                <a:cs typeface="Arial"/>
                <a:sym typeface="Arial"/>
              </a:rPr>
              <a:t>Some great examples of latent cause statement (from a different LI and RCA):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8F8F8"/>
              </a:solidFill>
              <a:latin typeface="Arial"/>
              <a:ea typeface="Arial"/>
              <a:cs typeface="Arial"/>
              <a:sym typeface="Arial"/>
            </a:endParaRPr>
          </a:p>
          <a:p>
            <a:pPr indent="-360000" lvl="0" marL="360000" marR="0" rtl="0" algn="l">
              <a:lnSpc>
                <a:spcPct val="100000"/>
              </a:lnSpc>
              <a:spcBef>
                <a:spcPts val="0"/>
              </a:spcBef>
              <a:spcAft>
                <a:spcPts val="0"/>
              </a:spcAft>
              <a:buClr>
                <a:srgbClr val="F8F8F8"/>
              </a:buClr>
              <a:buSzPts val="1800"/>
              <a:buFont typeface="Noto Sans Symbols"/>
              <a:buChar char="⮚"/>
            </a:pPr>
            <a:r>
              <a:rPr b="0" i="0" lang="en-US" sz="1800" u="none" cap="none" strike="noStrike">
                <a:solidFill>
                  <a:srgbClr val="F8F8F8"/>
                </a:solidFill>
                <a:latin typeface="Arial"/>
                <a:ea typeface="Arial"/>
                <a:cs typeface="Arial"/>
                <a:sym typeface="Arial"/>
              </a:rPr>
              <a:t>LC1-P: There was no training program for any engineers that were hired by the company. #9EC&amp;T</a:t>
            </a:r>
            <a:endParaRPr b="0" i="0" sz="1400" u="none" cap="none" strike="noStrike">
              <a:solidFill>
                <a:srgbClr val="000000"/>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F8F8F8"/>
              </a:solidFill>
              <a:latin typeface="Arial"/>
              <a:ea typeface="Arial"/>
              <a:cs typeface="Arial"/>
              <a:sym typeface="Arial"/>
            </a:endParaRPr>
          </a:p>
          <a:p>
            <a:pPr indent="-360000" lvl="0" marL="360000" marR="0" rtl="0" algn="l">
              <a:lnSpc>
                <a:spcPct val="100000"/>
              </a:lnSpc>
              <a:spcBef>
                <a:spcPts val="0"/>
              </a:spcBef>
              <a:spcAft>
                <a:spcPts val="0"/>
              </a:spcAft>
              <a:buClr>
                <a:srgbClr val="F8F8F8"/>
              </a:buClr>
              <a:buSzPts val="1800"/>
              <a:buFont typeface="Noto Sans Symbols"/>
              <a:buChar char="⮚"/>
            </a:pPr>
            <a:r>
              <a:rPr b="0" i="0" lang="en-US" sz="1800" u="none" cap="none" strike="noStrike">
                <a:solidFill>
                  <a:srgbClr val="F8F8F8"/>
                </a:solidFill>
                <a:latin typeface="Arial"/>
                <a:ea typeface="Arial"/>
                <a:cs typeface="Arial"/>
                <a:sym typeface="Arial"/>
              </a:rPr>
              <a:t>LC2-S: The incident reporting program was inadequate as it did not include reporting criteria (standards) for minor incidents. #5 IRIAA</a:t>
            </a:r>
            <a:endParaRPr b="0" i="0" sz="1400" u="none" cap="none" strike="noStrike">
              <a:solidFill>
                <a:srgbClr val="000000"/>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F8F8F8"/>
              </a:solidFill>
              <a:latin typeface="Arial"/>
              <a:ea typeface="Arial"/>
              <a:cs typeface="Arial"/>
              <a:sym typeface="Arial"/>
            </a:endParaRPr>
          </a:p>
          <a:p>
            <a:pPr indent="-360000" lvl="0" marL="360000" marR="0" rtl="0" algn="l">
              <a:lnSpc>
                <a:spcPct val="100000"/>
              </a:lnSpc>
              <a:spcBef>
                <a:spcPts val="0"/>
              </a:spcBef>
              <a:spcAft>
                <a:spcPts val="0"/>
              </a:spcAft>
              <a:buClr>
                <a:srgbClr val="F8F8F8"/>
              </a:buClr>
              <a:buSzPts val="1800"/>
              <a:buFont typeface="Noto Sans Symbols"/>
              <a:buChar char="⮚"/>
            </a:pPr>
            <a:r>
              <a:rPr b="0" i="0" lang="en-US" sz="1800" u="none" cap="none" strike="noStrike">
                <a:solidFill>
                  <a:srgbClr val="F8F8F8"/>
                </a:solidFill>
                <a:latin typeface="Arial"/>
                <a:ea typeface="Arial"/>
                <a:cs typeface="Arial"/>
                <a:sym typeface="Arial"/>
              </a:rPr>
              <a:t>LC3-S: The MOC program did not include a process or procedure (a standard) to communicate between management and training instructors about changes in training courses and requirements. #4 MOC</a:t>
            </a:r>
            <a:endParaRPr b="0" i="0" sz="1400" u="none" cap="none" strike="noStrike">
              <a:solidFill>
                <a:srgbClr val="000000"/>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F8F8F8"/>
              </a:solidFill>
              <a:latin typeface="Arial"/>
              <a:ea typeface="Arial"/>
              <a:cs typeface="Arial"/>
              <a:sym typeface="Arial"/>
            </a:endParaRPr>
          </a:p>
          <a:p>
            <a:pPr indent="-360000" lvl="0" marL="360000" marR="0" rtl="0" algn="l">
              <a:lnSpc>
                <a:spcPct val="100000"/>
              </a:lnSpc>
              <a:spcBef>
                <a:spcPts val="0"/>
              </a:spcBef>
              <a:spcAft>
                <a:spcPts val="0"/>
              </a:spcAft>
              <a:buClr>
                <a:srgbClr val="F8F8F8"/>
              </a:buClr>
              <a:buSzPts val="1800"/>
              <a:buFont typeface="Noto Sans Symbols"/>
              <a:buChar char="⮚"/>
            </a:pPr>
            <a:r>
              <a:rPr b="0" i="0" lang="en-US" sz="1800" u="none" cap="none" strike="noStrike">
                <a:solidFill>
                  <a:srgbClr val="F8F8F8"/>
                </a:solidFill>
                <a:latin typeface="Arial"/>
                <a:ea typeface="Arial"/>
                <a:cs typeface="Arial"/>
                <a:sym typeface="Arial"/>
              </a:rPr>
              <a:t>LC4-S: The design program did not include a standard to describe how to manage and access the most current hydraulic designs. #7 DC&amp;SU</a:t>
            </a:r>
            <a:endParaRPr b="0" i="0" sz="1800" u="none" cap="none" strike="noStrike">
              <a:solidFill>
                <a:srgbClr val="F8F8F8"/>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F8F8F8"/>
              </a:solidFill>
              <a:latin typeface="Arial"/>
              <a:ea typeface="Arial"/>
              <a:cs typeface="Arial"/>
              <a:sym typeface="Arial"/>
            </a:endParaRPr>
          </a:p>
          <a:p>
            <a:pPr indent="-360000" lvl="0" marL="360000" marR="0" rtl="0" algn="l">
              <a:lnSpc>
                <a:spcPct val="100000"/>
              </a:lnSpc>
              <a:spcBef>
                <a:spcPts val="0"/>
              </a:spcBef>
              <a:spcAft>
                <a:spcPts val="0"/>
              </a:spcAft>
              <a:buClr>
                <a:srgbClr val="F8F8F8"/>
              </a:buClr>
              <a:buSzPts val="1800"/>
              <a:buFont typeface="Noto Sans Symbols"/>
              <a:buChar char="⮚"/>
            </a:pPr>
            <a:r>
              <a:rPr b="0" i="0" lang="en-US" sz="1800" u="none" cap="none" strike="noStrike">
                <a:solidFill>
                  <a:srgbClr val="F8F8F8"/>
                </a:solidFill>
                <a:latin typeface="Arial"/>
                <a:ea typeface="Arial"/>
                <a:cs typeface="Arial"/>
                <a:sym typeface="Arial"/>
              </a:rPr>
              <a:t>LC5-C: The community awareness program had standards that described the downstream risks of the dam operation but these standards were not communicated to the downstream residents. #3 CA&amp;EP</a:t>
            </a:r>
            <a:endParaRPr b="0" i="0" sz="1800" u="none" cap="none" strike="noStrike">
              <a:solidFill>
                <a:srgbClr val="FFFFFF"/>
              </a:solidFill>
              <a:latin typeface="Arial"/>
              <a:ea typeface="Arial"/>
              <a:cs typeface="Arial"/>
              <a:sym typeface="Arial"/>
            </a:endParaRPr>
          </a:p>
          <a:p>
            <a:pPr indent="0" lvl="1"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Arial"/>
              <a:ea typeface="Arial"/>
              <a:cs typeface="Arial"/>
              <a:sym typeface="Arial"/>
            </a:endParaRPr>
          </a:p>
          <a:p>
            <a:pPr indent="0" lvl="1"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Arial"/>
              <a:ea typeface="Arial"/>
              <a:cs typeface="Arial"/>
              <a:sym typeface="Arial"/>
            </a:endParaRPr>
          </a:p>
          <a:p>
            <a:pPr indent="0" lvl="1"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8F8F8"/>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8F8F8"/>
              </a:solidFill>
              <a:latin typeface="Arial"/>
              <a:ea typeface="Arial"/>
              <a:cs typeface="Arial"/>
              <a:sym typeface="Arial"/>
            </a:endParaRPr>
          </a:p>
        </p:txBody>
      </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33"/>
          <p:cNvSpPr/>
          <p:nvPr/>
        </p:nvSpPr>
        <p:spPr>
          <a:xfrm>
            <a:off x="180000" y="180000"/>
            <a:ext cx="8640000" cy="5040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8F8F8"/>
              </a:buClr>
              <a:buSzPts val="2400"/>
              <a:buFont typeface="Arial"/>
              <a:buNone/>
            </a:pPr>
            <a:r>
              <a:rPr b="0" i="0" lang="en-US" sz="2400" u="none" cap="none" strike="noStrike">
                <a:solidFill>
                  <a:srgbClr val="F8F8F8"/>
                </a:solidFill>
                <a:latin typeface="Arial"/>
                <a:ea typeface="Arial"/>
                <a:cs typeface="Arial"/>
                <a:sym typeface="Arial"/>
              </a:rPr>
              <a:t>Best Practices: The Latent Cause Statement, page 3 of 4</a:t>
            </a:r>
            <a:endParaRPr b="0" i="0" sz="2400" u="none" cap="none" strike="noStrike">
              <a:solidFill>
                <a:srgbClr val="F8F8F8"/>
              </a:solidFill>
              <a:latin typeface="Arial"/>
              <a:ea typeface="Arial"/>
              <a:cs typeface="Arial"/>
              <a:sym typeface="Arial"/>
            </a:endParaRPr>
          </a:p>
        </p:txBody>
      </p:sp>
      <p:sp>
        <p:nvSpPr>
          <p:cNvPr id="788" name="Google Shape;788;p33"/>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789" name="Google Shape;789;p33"/>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sp>
        <p:nvSpPr>
          <p:cNvPr id="790" name="Google Shape;790;p33"/>
          <p:cNvSpPr/>
          <p:nvPr/>
        </p:nvSpPr>
        <p:spPr>
          <a:xfrm>
            <a:off x="180000" y="828000"/>
            <a:ext cx="8640000" cy="532800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8F8F8"/>
                </a:solidFill>
                <a:latin typeface="Arial"/>
                <a:ea typeface="Arial"/>
                <a:cs typeface="Arial"/>
                <a:sym typeface="Arial"/>
              </a:rPr>
              <a:t>What do these great examples of latent cause statement have in common?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8F8F8"/>
                </a:solidFill>
                <a:latin typeface="Arial"/>
                <a:ea typeface="Arial"/>
                <a:cs typeface="Arial"/>
                <a:sym typeface="Arial"/>
              </a:rPr>
              <a:t>They all have these items in common: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8F8F8"/>
              </a:solidFill>
              <a:latin typeface="Arial"/>
              <a:ea typeface="Arial"/>
              <a:cs typeface="Arial"/>
              <a:sym typeface="Arial"/>
            </a:endParaRPr>
          </a:p>
          <a:p>
            <a:pPr indent="-360000" lvl="0" marL="360000" marR="0" rtl="0" algn="l">
              <a:lnSpc>
                <a:spcPct val="100000"/>
              </a:lnSpc>
              <a:spcBef>
                <a:spcPts val="0"/>
              </a:spcBef>
              <a:spcAft>
                <a:spcPts val="0"/>
              </a:spcAft>
              <a:buClr>
                <a:srgbClr val="F8F8F8"/>
              </a:buClr>
              <a:buSzPts val="1800"/>
              <a:buFont typeface="Noto Sans Symbols"/>
              <a:buChar char="⮚"/>
            </a:pPr>
            <a:r>
              <a:rPr b="0" i="0" lang="en-US" sz="1800" u="none" cap="none" strike="noStrike">
                <a:solidFill>
                  <a:srgbClr val="F8F8F8"/>
                </a:solidFill>
                <a:latin typeface="Arial"/>
                <a:ea typeface="Arial"/>
                <a:cs typeface="Arial"/>
                <a:sym typeface="Arial"/>
              </a:rPr>
              <a:t>Labelled and numbered: LC1, LC2, etc.</a:t>
            </a:r>
            <a:endParaRPr b="0" i="0" sz="1400" u="none" cap="none" strike="noStrike">
              <a:solidFill>
                <a:srgbClr val="000000"/>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F8F8F8"/>
              </a:solidFill>
              <a:latin typeface="Arial"/>
              <a:ea typeface="Arial"/>
              <a:cs typeface="Arial"/>
              <a:sym typeface="Arial"/>
            </a:endParaRPr>
          </a:p>
          <a:p>
            <a:pPr indent="-360000" lvl="0" marL="360000" marR="0" rtl="0" algn="l">
              <a:lnSpc>
                <a:spcPct val="100000"/>
              </a:lnSpc>
              <a:spcBef>
                <a:spcPts val="0"/>
              </a:spcBef>
              <a:spcAft>
                <a:spcPts val="0"/>
              </a:spcAft>
              <a:buClr>
                <a:srgbClr val="F8F8F8"/>
              </a:buClr>
              <a:buSzPts val="1800"/>
              <a:buFont typeface="Noto Sans Symbols"/>
              <a:buChar char="⮚"/>
            </a:pPr>
            <a:r>
              <a:rPr b="0" i="0" lang="en-US" sz="1800" u="none" cap="none" strike="noStrike">
                <a:solidFill>
                  <a:srgbClr val="F8F8F8"/>
                </a:solidFill>
                <a:latin typeface="Arial"/>
                <a:ea typeface="Arial"/>
                <a:cs typeface="Arial"/>
                <a:sym typeface="Arial"/>
              </a:rPr>
              <a:t>Categorized as P, S, or C (The categorization with appropriately stated latent causes demonstrates the ability to differentiate among the three categories of latent causes.)</a:t>
            </a:r>
            <a:endParaRPr b="0" i="0" sz="1400" u="none" cap="none" strike="noStrike">
              <a:solidFill>
                <a:srgbClr val="000000"/>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F8F8F8"/>
              </a:solidFill>
              <a:latin typeface="Arial"/>
              <a:ea typeface="Arial"/>
              <a:cs typeface="Arial"/>
              <a:sym typeface="Arial"/>
            </a:endParaRPr>
          </a:p>
          <a:p>
            <a:pPr indent="-360000" lvl="0" marL="360000" marR="0" rtl="0" algn="l">
              <a:lnSpc>
                <a:spcPct val="100000"/>
              </a:lnSpc>
              <a:spcBef>
                <a:spcPts val="0"/>
              </a:spcBef>
              <a:spcAft>
                <a:spcPts val="0"/>
              </a:spcAft>
              <a:buClr>
                <a:srgbClr val="F8F8F8"/>
              </a:buClr>
              <a:buSzPts val="1800"/>
              <a:buFont typeface="Noto Sans Symbols"/>
              <a:buChar char="⮚"/>
            </a:pPr>
            <a:r>
              <a:rPr b="0" i="0" lang="en-US" sz="1800" u="none" cap="none" strike="noStrike">
                <a:solidFill>
                  <a:srgbClr val="F8F8F8"/>
                </a:solidFill>
                <a:latin typeface="Arial"/>
                <a:ea typeface="Arial"/>
                <a:cs typeface="Arial"/>
                <a:sym typeface="Arial"/>
              </a:rPr>
              <a:t>Each statement has four components, not specifically in this order:</a:t>
            </a:r>
            <a:endParaRPr b="0" i="0" sz="14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F8F8F8"/>
              </a:buClr>
              <a:buSzPts val="1800"/>
              <a:buFont typeface="Arial"/>
              <a:buAutoNum type="arabicParenR"/>
            </a:pPr>
            <a:r>
              <a:rPr b="0" i="0" lang="en-US" sz="1800" u="none" cap="none" strike="noStrike">
                <a:solidFill>
                  <a:srgbClr val="F8F8F8"/>
                </a:solidFill>
                <a:latin typeface="Arial"/>
                <a:ea typeface="Arial"/>
                <a:cs typeface="Arial"/>
                <a:sym typeface="Arial"/>
              </a:rPr>
              <a:t>Relates to an element “training”, “design”, “incident reporting”, etc.; </a:t>
            </a:r>
            <a:endParaRPr b="0" i="0" sz="14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F8F8F8"/>
              </a:buClr>
              <a:buSzPts val="1800"/>
              <a:buFont typeface="Arial"/>
              <a:buAutoNum type="arabicParenR"/>
            </a:pPr>
            <a:r>
              <a:rPr b="0" i="0" lang="en-US" sz="1800" u="none" cap="none" strike="noStrike">
                <a:solidFill>
                  <a:srgbClr val="F8F8F8"/>
                </a:solidFill>
                <a:latin typeface="Arial"/>
                <a:ea typeface="Arial"/>
                <a:cs typeface="Arial"/>
                <a:sym typeface="Arial"/>
              </a:rPr>
              <a:t>Has the word “program”;</a:t>
            </a:r>
            <a:endParaRPr b="0" i="0" sz="14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F8F8F8"/>
              </a:buClr>
              <a:buSzPts val="1800"/>
              <a:buFont typeface="Arial"/>
              <a:buAutoNum type="arabicParenR"/>
            </a:pPr>
            <a:r>
              <a:rPr b="0" i="0" lang="en-US" sz="1800" u="none" cap="none" strike="noStrike">
                <a:solidFill>
                  <a:srgbClr val="F8F8F8"/>
                </a:solidFill>
                <a:latin typeface="Arial"/>
                <a:ea typeface="Arial"/>
                <a:cs typeface="Arial"/>
                <a:sym typeface="Arial"/>
              </a:rPr>
              <a:t>Gives some level or degree of inadequacy that relates to the LC category e.g. inadequate program, inadequate program standards, or inadequate compliance with program standards;</a:t>
            </a:r>
            <a:endParaRPr b="0" i="0" sz="14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F8F8F8"/>
              </a:buClr>
              <a:buSzPts val="1800"/>
              <a:buFont typeface="Arial"/>
              <a:buAutoNum type="arabicParenR"/>
            </a:pPr>
            <a:r>
              <a:rPr b="0" i="0" lang="en-US" sz="1800" u="none" cap="none" strike="noStrike">
                <a:solidFill>
                  <a:srgbClr val="F8F8F8"/>
                </a:solidFill>
                <a:latin typeface="Arial"/>
                <a:ea typeface="Arial"/>
                <a:cs typeface="Arial"/>
                <a:sym typeface="Arial"/>
              </a:rPr>
              <a:t>Specific and unique terms or phrases relevant to the root in question. </a:t>
            </a:r>
            <a:endParaRPr b="0" i="0" sz="1400" u="none" cap="none" strike="noStrike">
              <a:solidFill>
                <a:srgbClr val="000000"/>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F8F8F8"/>
              </a:solidFill>
              <a:latin typeface="Arial"/>
              <a:ea typeface="Arial"/>
              <a:cs typeface="Arial"/>
              <a:sym typeface="Arial"/>
            </a:endParaRPr>
          </a:p>
          <a:p>
            <a:pPr indent="-360000" lvl="0" marL="360000" marR="0" rtl="0" algn="l">
              <a:lnSpc>
                <a:spcPct val="100000"/>
              </a:lnSpc>
              <a:spcBef>
                <a:spcPts val="0"/>
              </a:spcBef>
              <a:spcAft>
                <a:spcPts val="0"/>
              </a:spcAft>
              <a:buClr>
                <a:srgbClr val="F8F8F8"/>
              </a:buClr>
              <a:buSzPts val="1800"/>
              <a:buFont typeface="Noto Sans Symbols"/>
              <a:buChar char="⮚"/>
            </a:pPr>
            <a:r>
              <a:rPr b="0" i="0" lang="en-US" sz="1800" u="none" cap="none" strike="noStrike">
                <a:solidFill>
                  <a:srgbClr val="F8F8F8"/>
                </a:solidFill>
                <a:latin typeface="Arial"/>
                <a:ea typeface="Arial"/>
                <a:cs typeface="Arial"/>
                <a:sym typeface="Arial"/>
              </a:rPr>
              <a:t>The stated latent cause then clearly links to a Risk Management System element. </a:t>
            </a:r>
            <a:endParaRPr b="0" i="0" sz="1800" u="none" cap="none" strike="noStrike">
              <a:solidFill>
                <a:srgbClr val="F8F8F8"/>
              </a:solidFill>
              <a:latin typeface="Arial"/>
              <a:ea typeface="Arial"/>
              <a:cs typeface="Arial"/>
              <a:sym typeface="Arial"/>
            </a:endParaRPr>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p34"/>
          <p:cNvSpPr/>
          <p:nvPr/>
        </p:nvSpPr>
        <p:spPr>
          <a:xfrm>
            <a:off x="180000" y="180000"/>
            <a:ext cx="8640000" cy="5040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8F8F8"/>
              </a:buClr>
              <a:buSzPts val="2400"/>
              <a:buFont typeface="Arial"/>
              <a:buNone/>
            </a:pPr>
            <a:r>
              <a:rPr b="0" i="0" lang="en-US" sz="2400" u="none" cap="none" strike="noStrike">
                <a:solidFill>
                  <a:srgbClr val="F8F8F8"/>
                </a:solidFill>
                <a:latin typeface="Arial"/>
                <a:ea typeface="Arial"/>
                <a:cs typeface="Arial"/>
                <a:sym typeface="Arial"/>
              </a:rPr>
              <a:t>Best Practices: The Latent Cause Statement, page 4 of 4</a:t>
            </a:r>
            <a:endParaRPr b="0" i="0" sz="2400" u="none" cap="none" strike="noStrike">
              <a:solidFill>
                <a:srgbClr val="F8F8F8"/>
              </a:solidFill>
              <a:latin typeface="Arial"/>
              <a:ea typeface="Arial"/>
              <a:cs typeface="Arial"/>
              <a:sym typeface="Arial"/>
            </a:endParaRPr>
          </a:p>
        </p:txBody>
      </p:sp>
      <p:sp>
        <p:nvSpPr>
          <p:cNvPr id="800" name="Google Shape;800;p34"/>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801" name="Google Shape;801;p34"/>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sp>
        <p:nvSpPr>
          <p:cNvPr id="802" name="Google Shape;802;p34"/>
          <p:cNvSpPr/>
          <p:nvPr/>
        </p:nvSpPr>
        <p:spPr>
          <a:xfrm>
            <a:off x="180000" y="828000"/>
            <a:ext cx="8640000" cy="532800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8F8F8"/>
                </a:solidFill>
                <a:latin typeface="Arial"/>
                <a:ea typeface="Arial"/>
                <a:cs typeface="Arial"/>
                <a:sym typeface="Arial"/>
              </a:rPr>
              <a:t>Use examples to write your latent cause statements:</a:t>
            </a:r>
            <a:endParaRPr b="0" i="0" sz="1400" u="none" cap="none" strike="noStrike">
              <a:solidFill>
                <a:srgbClr val="000000"/>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F8F8F8"/>
              </a:solidFill>
              <a:latin typeface="Arial"/>
              <a:ea typeface="Arial"/>
              <a:cs typeface="Arial"/>
              <a:sym typeface="Arial"/>
            </a:endParaRPr>
          </a:p>
          <a:p>
            <a:pPr indent="-360000" lvl="0" marL="360000" marR="0" rtl="0" algn="l">
              <a:lnSpc>
                <a:spcPct val="100000"/>
              </a:lnSpc>
              <a:spcBef>
                <a:spcPts val="0"/>
              </a:spcBef>
              <a:spcAft>
                <a:spcPts val="0"/>
              </a:spcAft>
              <a:buClr>
                <a:srgbClr val="F8F8F8"/>
              </a:buClr>
              <a:buSzPts val="1800"/>
              <a:buFont typeface="Noto Sans Symbols"/>
              <a:buChar char="⮚"/>
            </a:pPr>
            <a:r>
              <a:rPr b="0" i="0" lang="en-US" sz="1800" u="none" cap="none" strike="noStrike">
                <a:solidFill>
                  <a:srgbClr val="F8F8F8"/>
                </a:solidFill>
                <a:latin typeface="Arial"/>
                <a:ea typeface="Arial"/>
                <a:cs typeface="Arial"/>
                <a:sym typeface="Arial"/>
              </a:rPr>
              <a:t>Look again at those examples and the specific items.</a:t>
            </a:r>
            <a:endParaRPr b="0" i="0" sz="1400" u="none" cap="none" strike="noStrike">
              <a:solidFill>
                <a:srgbClr val="000000"/>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F8F8F8"/>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8F8F8"/>
                </a:solidFill>
                <a:latin typeface="Arial"/>
                <a:ea typeface="Arial"/>
                <a:cs typeface="Arial"/>
                <a:sym typeface="Arial"/>
              </a:rPr>
              <a:t>See these resources:</a:t>
            </a:r>
            <a:endParaRPr b="0" i="0" sz="1400" u="none" cap="none" strike="noStrike">
              <a:solidFill>
                <a:srgbClr val="000000"/>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F8F8F8"/>
              </a:solidFill>
              <a:latin typeface="Arial"/>
              <a:ea typeface="Arial"/>
              <a:cs typeface="Arial"/>
              <a:sym typeface="Arial"/>
            </a:endParaRPr>
          </a:p>
          <a:p>
            <a:pPr indent="-360000" lvl="0" marL="360000" marR="0" rtl="0" algn="l">
              <a:lnSpc>
                <a:spcPct val="100000"/>
              </a:lnSpc>
              <a:spcBef>
                <a:spcPts val="0"/>
              </a:spcBef>
              <a:spcAft>
                <a:spcPts val="0"/>
              </a:spcAft>
              <a:buClr>
                <a:srgbClr val="F8F8F8"/>
              </a:buClr>
              <a:buSzPts val="1800"/>
              <a:buFont typeface="Noto Sans Symbols"/>
              <a:buChar char="⮚"/>
            </a:pPr>
            <a:r>
              <a:rPr b="0" i="0" lang="en-US" sz="1800" u="none" cap="none" strike="noStrike">
                <a:solidFill>
                  <a:srgbClr val="F8F8F8"/>
                </a:solidFill>
                <a:latin typeface="Arial"/>
                <a:ea typeface="Arial"/>
                <a:cs typeface="Arial"/>
                <a:sym typeface="Arial"/>
              </a:rPr>
              <a:t>“Factors often missed or completed incorrectly for the RCA chart” in the </a:t>
            </a:r>
            <a:r>
              <a:rPr b="1" i="0" lang="en-US" sz="1800" u="none" cap="none" strike="noStrike">
                <a:solidFill>
                  <a:srgbClr val="F8F8F8"/>
                </a:solidFill>
                <a:latin typeface="Arial"/>
                <a:ea typeface="Arial"/>
                <a:cs typeface="Arial"/>
                <a:sym typeface="Arial"/>
              </a:rPr>
              <a:t>Team Project Instruction Manual </a:t>
            </a:r>
            <a:endParaRPr b="0" i="0" sz="1400" u="none" cap="none" strike="noStrike">
              <a:solidFill>
                <a:srgbClr val="000000"/>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1" i="0" sz="1800" u="none" cap="none" strike="noStrike">
              <a:solidFill>
                <a:srgbClr val="F8F8F8"/>
              </a:solidFill>
              <a:latin typeface="Arial"/>
              <a:ea typeface="Arial"/>
              <a:cs typeface="Arial"/>
              <a:sym typeface="Arial"/>
            </a:endParaRPr>
          </a:p>
          <a:p>
            <a:pPr indent="-360000" lvl="0" marL="360000" marR="0" rtl="0" algn="l">
              <a:lnSpc>
                <a:spcPct val="100000"/>
              </a:lnSpc>
              <a:spcBef>
                <a:spcPts val="0"/>
              </a:spcBef>
              <a:spcAft>
                <a:spcPts val="0"/>
              </a:spcAft>
              <a:buClr>
                <a:srgbClr val="F8F8F8"/>
              </a:buClr>
              <a:buSzPts val="1800"/>
              <a:buFont typeface="Noto Sans Symbols"/>
              <a:buChar char="⮚"/>
            </a:pPr>
            <a:r>
              <a:rPr b="1" i="0" lang="en-US" sz="1800" u="none" cap="none" strike="noStrike">
                <a:solidFill>
                  <a:srgbClr val="F8F8F8"/>
                </a:solidFill>
                <a:latin typeface="Arial"/>
                <a:ea typeface="Arial"/>
                <a:cs typeface="Arial"/>
                <a:sym typeface="Arial"/>
              </a:rPr>
              <a:t>Topic #18 Chapter 4.2: Cause and Effect Model for Incident Analysis and Chapter 4.3: Root Cause Analysis of an Incident - Fundamentals</a:t>
            </a:r>
            <a:endParaRPr b="1" i="0" sz="1800" u="none" cap="none" strike="noStrike">
              <a:solidFill>
                <a:srgbClr val="F8F8F8"/>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1" i="0" sz="1800" u="none" cap="none" strike="noStrike">
              <a:solidFill>
                <a:srgbClr val="F8F8F8"/>
              </a:solidFill>
              <a:latin typeface="Arial"/>
              <a:ea typeface="Arial"/>
              <a:cs typeface="Arial"/>
              <a:sym typeface="Arial"/>
            </a:endParaRPr>
          </a:p>
          <a:p>
            <a:pPr indent="-360000" lvl="0" marL="360000" marR="0" rtl="0" algn="l">
              <a:lnSpc>
                <a:spcPct val="100000"/>
              </a:lnSpc>
              <a:spcBef>
                <a:spcPts val="0"/>
              </a:spcBef>
              <a:spcAft>
                <a:spcPts val="0"/>
              </a:spcAft>
              <a:buClr>
                <a:srgbClr val="F8F8F8"/>
              </a:buClr>
              <a:buSzPts val="1800"/>
              <a:buFont typeface="Noto Sans Symbols"/>
              <a:buChar char="⮚"/>
            </a:pPr>
            <a:r>
              <a:rPr b="1" i="0" lang="en-US" sz="1800" u="none" cap="none" strike="noStrike">
                <a:solidFill>
                  <a:srgbClr val="F8F8F8"/>
                </a:solidFill>
                <a:latin typeface="Arial"/>
                <a:ea typeface="Arial"/>
                <a:cs typeface="Arial"/>
                <a:sym typeface="Arial"/>
              </a:rPr>
              <a:t>Topic #19 Chapter 4.2: Cause and Effect Model for Incident Analysis and Chapter 4.3: Root Cause Analysis of an Incident - Latent Causes</a:t>
            </a:r>
            <a:endParaRPr b="1" i="0" sz="1800" u="none" cap="none" strike="noStrike">
              <a:solidFill>
                <a:srgbClr val="F8F8F8"/>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1" i="0" sz="1800" u="none" cap="none" strike="noStrike">
              <a:solidFill>
                <a:srgbClr val="F8F8F8"/>
              </a:solidFill>
              <a:latin typeface="Arial"/>
              <a:ea typeface="Arial"/>
              <a:cs typeface="Arial"/>
              <a:sym typeface="Arial"/>
            </a:endParaRPr>
          </a:p>
          <a:p>
            <a:pPr indent="-360000" lvl="0" marL="360000" marR="0" rtl="0" algn="l">
              <a:lnSpc>
                <a:spcPct val="100000"/>
              </a:lnSpc>
              <a:spcBef>
                <a:spcPts val="0"/>
              </a:spcBef>
              <a:spcAft>
                <a:spcPts val="0"/>
              </a:spcAft>
              <a:buClr>
                <a:srgbClr val="F8F8F8"/>
              </a:buClr>
              <a:buSzPts val="1800"/>
              <a:buFont typeface="Noto Sans Symbols"/>
              <a:buChar char="⮚"/>
            </a:pPr>
            <a:r>
              <a:rPr b="1" i="0" lang="en-US" sz="1800" u="none" cap="none" strike="noStrike">
                <a:solidFill>
                  <a:srgbClr val="F8F8F8"/>
                </a:solidFill>
                <a:latin typeface="Arial"/>
                <a:ea typeface="Arial"/>
                <a:cs typeface="Arial"/>
                <a:sym typeface="Arial"/>
              </a:rPr>
              <a:t>Topic #34 Chapter 4.5 Linking Latent Causes to Recommendations for Action</a:t>
            </a:r>
            <a:endParaRPr b="0" i="0" sz="1400" u="none" cap="none" strike="noStrike">
              <a:solidFill>
                <a:srgbClr val="000000"/>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1" i="0" sz="1800" u="none" cap="none" strike="noStrike">
              <a:solidFill>
                <a:srgbClr val="F8F8F8"/>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1" i="0" sz="1800" u="none" cap="none" strike="noStrike">
              <a:solidFill>
                <a:srgbClr val="F8F8F8"/>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8F8F8"/>
              </a:solidFill>
              <a:latin typeface="Arial"/>
              <a:ea typeface="Arial"/>
              <a:cs typeface="Arial"/>
              <a:sym typeface="Arial"/>
            </a:endParaRPr>
          </a:p>
        </p:txBody>
      </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p35"/>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Once you think you are completed:</a:t>
            </a:r>
            <a:endParaRPr b="0" i="0" sz="1400" u="none" cap="none" strike="noStrike">
              <a:solidFill>
                <a:srgbClr val="000000"/>
              </a:solidFill>
              <a:latin typeface="Arial"/>
              <a:ea typeface="Arial"/>
              <a:cs typeface="Arial"/>
              <a:sym typeface="Arial"/>
            </a:endParaRPr>
          </a:p>
          <a:p>
            <a:pPr indent="-359999" lvl="0"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Look for any logic leaps or any roots that could benefit with more causation details</a:t>
            </a:r>
            <a:endParaRPr b="0" i="0" sz="1400" u="none" cap="none" strike="noStrike">
              <a:solidFill>
                <a:srgbClr val="000000"/>
              </a:solidFill>
              <a:latin typeface="Arial"/>
              <a:ea typeface="Arial"/>
              <a:cs typeface="Arial"/>
              <a:sym typeface="Arial"/>
            </a:endParaRPr>
          </a:p>
          <a:p>
            <a:pPr indent="-359999" lvl="0"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Take time to verify by looking for hard evidence for each and every one of your causes. </a:t>
            </a:r>
            <a:endParaRPr b="0" i="0" sz="2000" u="none" cap="none" strike="noStrike">
              <a:solidFill>
                <a:srgbClr val="000000"/>
              </a:solidFill>
              <a:latin typeface="Arial"/>
              <a:ea typeface="Arial"/>
              <a:cs typeface="Arial"/>
              <a:sym typeface="Arial"/>
            </a:endParaRPr>
          </a:p>
          <a:p>
            <a:pPr indent="-359999" lvl="0" marL="720000" marR="0" rtl="0" algn="l">
              <a:lnSpc>
                <a:spcPct val="100000"/>
              </a:lnSpc>
              <a:spcBef>
                <a:spcPts val="0"/>
              </a:spcBef>
              <a:spcAft>
                <a:spcPts val="0"/>
              </a:spcAft>
              <a:buClr>
                <a:srgbClr val="000000"/>
              </a:buClr>
              <a:buSzPts val="2000"/>
              <a:buFont typeface="Noto Sans Symbols"/>
              <a:buChar char="⮚"/>
            </a:pPr>
            <a:r>
              <a:rPr b="0" i="1" lang="en-US" sz="2000" u="none" cap="none" strike="noStrike">
                <a:solidFill>
                  <a:srgbClr val="000000"/>
                </a:solidFill>
                <a:latin typeface="Arial"/>
                <a:ea typeface="Arial"/>
                <a:cs typeface="Arial"/>
                <a:sym typeface="Arial"/>
              </a:rPr>
              <a:t>Note: For your team project, plausible suppositions are acceptable!</a:t>
            </a:r>
            <a:endParaRPr b="0" i="1" sz="2000" u="none" cap="none" strike="noStrike">
              <a:solidFill>
                <a:srgbClr val="000000"/>
              </a:solidFill>
              <a:latin typeface="Arial"/>
              <a:ea typeface="Arial"/>
              <a:cs typeface="Arial"/>
              <a:sym typeface="Arial"/>
            </a:endParaRPr>
          </a:p>
          <a:p>
            <a:pPr indent="-232999" lvl="0" marL="720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432000" lvl="0" marL="432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Review the evidence and confirm your conclusions with your workplace colleagues. (Team project: check your suppositions with your team-mates; are they plausible?)</a:t>
            </a:r>
            <a:endParaRPr b="0" i="0" sz="1400" u="none" cap="none" strike="noStrike">
              <a:solidFill>
                <a:srgbClr val="000000"/>
              </a:solidFill>
              <a:latin typeface="Arial"/>
              <a:ea typeface="Arial"/>
              <a:cs typeface="Arial"/>
              <a:sym typeface="Arial"/>
            </a:endParaRPr>
          </a:p>
          <a:p>
            <a:pPr indent="-305000" lvl="0" marL="432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432000" lvl="0" marL="432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This activity validates the actual causes (or plausible causes in the case of your Team Project Loss Incident) and will be very supportive and valuable for determining recommendations and action items.</a:t>
            </a:r>
            <a:endParaRPr b="0" i="0" sz="1400" u="none" cap="none" strike="noStrike">
              <a:solidFill>
                <a:srgbClr val="000000"/>
              </a:solidFill>
              <a:latin typeface="Arial"/>
              <a:ea typeface="Arial"/>
              <a:cs typeface="Arial"/>
              <a:sym typeface="Arial"/>
            </a:endParaRPr>
          </a:p>
        </p:txBody>
      </p:sp>
      <p:sp>
        <p:nvSpPr>
          <p:cNvPr id="809" name="Google Shape;809;p35"/>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Developing and Validating the Causes:</a:t>
            </a:r>
            <a:endParaRPr b="0" i="0" sz="1400" u="none" cap="none" strike="noStrike">
              <a:solidFill>
                <a:srgbClr val="000000"/>
              </a:solidFill>
              <a:latin typeface="Arial"/>
              <a:ea typeface="Arial"/>
              <a:cs typeface="Arial"/>
              <a:sym typeface="Arial"/>
            </a:endParaRPr>
          </a:p>
        </p:txBody>
      </p:sp>
      <p:sp>
        <p:nvSpPr>
          <p:cNvPr id="810" name="Google Shape;810;p35"/>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811" name="Google Shape;811;p35"/>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36"/>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1800"/>
              <a:buFont typeface="Arial"/>
              <a:buNone/>
            </a:pPr>
            <a:r>
              <a:rPr b="1" i="1" lang="en-US" sz="1800" u="none" cap="none" strike="noStrike">
                <a:solidFill>
                  <a:srgbClr val="FF0000"/>
                </a:solidFill>
                <a:latin typeface="Arial"/>
                <a:ea typeface="Arial"/>
                <a:cs typeface="Arial"/>
                <a:sym typeface="Arial"/>
              </a:rPr>
              <a:t>It is really, really easy to do a root cause analysis … badly.</a:t>
            </a:r>
            <a:br>
              <a:rPr b="1" i="1" lang="en-US" sz="1800" u="none" cap="none" strike="noStrike">
                <a:solidFill>
                  <a:srgbClr val="FF0000"/>
                </a:solidFill>
                <a:latin typeface="Arial"/>
                <a:ea typeface="Arial"/>
                <a:cs typeface="Arial"/>
                <a:sym typeface="Arial"/>
              </a:rPr>
            </a:br>
            <a:r>
              <a:rPr b="1" i="1" lang="en-US" sz="1800" u="none" cap="none" strike="noStrike">
                <a:solidFill>
                  <a:srgbClr val="FF0000"/>
                </a:solidFill>
                <a:latin typeface="Arial"/>
                <a:ea typeface="Arial"/>
                <a:cs typeface="Arial"/>
                <a:sym typeface="Arial"/>
              </a:rPr>
              <a:t>It takes practice to do a root cause analysis well!</a:t>
            </a:r>
            <a:endParaRPr b="0" i="0" sz="2000" u="none" cap="none" strike="noStrike">
              <a:solidFill>
                <a:srgbClr val="000000"/>
              </a:solidFill>
              <a:latin typeface="Arial"/>
              <a:ea typeface="Arial"/>
              <a:cs typeface="Arial"/>
              <a:sym typeface="Arial"/>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sng" cap="none" strike="noStrike">
                <a:solidFill>
                  <a:srgbClr val="000000"/>
                </a:solidFill>
                <a:latin typeface="Arial"/>
                <a:ea typeface="Arial"/>
                <a:cs typeface="Arial"/>
                <a:sym typeface="Arial"/>
              </a:rPr>
              <a:t>Incidents</a:t>
            </a:r>
            <a:r>
              <a:rPr b="0" i="0" lang="en-US" sz="2000" u="none" cap="none" strike="noStrike">
                <a:solidFill>
                  <a:srgbClr val="000000"/>
                </a:solidFill>
                <a:latin typeface="Arial"/>
                <a:ea typeface="Arial"/>
                <a:cs typeface="Arial"/>
                <a:sym typeface="Arial"/>
              </a:rPr>
              <a:t> have causes </a:t>
            </a:r>
            <a:r>
              <a:rPr b="0" i="0" lang="en-US" sz="2000" u="sng" cap="none" strike="noStrike">
                <a:solidFill>
                  <a:srgbClr val="000000"/>
                </a:solidFill>
                <a:latin typeface="Arial"/>
                <a:ea typeface="Arial"/>
                <a:cs typeface="Arial"/>
                <a:sym typeface="Arial"/>
              </a:rPr>
              <a:t>rooted in management system weaknesses</a:t>
            </a:r>
            <a:r>
              <a:rPr b="0" i="0" lang="en-US" sz="2000" u="none" cap="none" strike="noStrike">
                <a:solidFill>
                  <a:srgbClr val="000000"/>
                </a:solidFill>
                <a:latin typeface="Arial"/>
                <a:ea typeface="Arial"/>
                <a:cs typeface="Arial"/>
                <a:sym typeface="Arial"/>
              </a:rPr>
              <a:t>;</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these are called latent causes (also sometimes called root causes).</a:t>
            </a:r>
            <a:endParaRPr b="0" i="0" sz="2000" u="none" cap="none" strike="noStrike">
              <a:solidFill>
                <a:srgbClr val="000000"/>
              </a:solidFill>
              <a:latin typeface="Arial"/>
              <a:ea typeface="Arial"/>
              <a:cs typeface="Arial"/>
              <a:sym typeface="Arial"/>
            </a:endParaRPr>
          </a:p>
          <a:p>
            <a:pPr indent="-233000" lvl="0" marL="360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Latent causes can be discovered through a rigourous and disciplined root cause analysis; thus, management can take action on the management system to address the latent causes.</a:t>
            </a:r>
            <a:endParaRPr b="0" i="0" sz="1400" u="none" cap="none" strike="noStrike">
              <a:solidFill>
                <a:srgbClr val="000000"/>
              </a:solidFill>
              <a:latin typeface="Arial"/>
              <a:ea typeface="Arial"/>
              <a:cs typeface="Arial"/>
              <a:sym typeface="Arial"/>
            </a:endParaRPr>
          </a:p>
        </p:txBody>
      </p:sp>
      <p:sp>
        <p:nvSpPr>
          <p:cNvPr id="818" name="Google Shape;818;p36"/>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Key Lessons:</a:t>
            </a:r>
            <a:endParaRPr b="0" i="0" sz="2400" u="none" cap="none" strike="noStrike">
              <a:solidFill>
                <a:srgbClr val="333399"/>
              </a:solidFill>
              <a:latin typeface="Arial"/>
              <a:ea typeface="Arial"/>
              <a:cs typeface="Arial"/>
              <a:sym typeface="Arial"/>
            </a:endParaRPr>
          </a:p>
        </p:txBody>
      </p:sp>
      <p:sp>
        <p:nvSpPr>
          <p:cNvPr id="819" name="Google Shape;819;p36"/>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820" name="Google Shape;820;p36"/>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sp>
        <p:nvSpPr>
          <p:cNvPr id="821" name="Google Shape;821;p36"/>
          <p:cNvSpPr txBox="1"/>
          <p:nvPr/>
        </p:nvSpPr>
        <p:spPr>
          <a:xfrm>
            <a:off x="180000" y="4056842"/>
            <a:ext cx="8633400" cy="1631216"/>
          </a:xfrm>
          <a:prstGeom prst="rect">
            <a:avLst/>
          </a:prstGeom>
          <a:solidFill>
            <a:srgbClr val="000000"/>
          </a:solidFill>
          <a:ln cap="flat" cmpd="sng" w="9525">
            <a:solidFill>
              <a:srgbClr val="000000"/>
            </a:solidFill>
            <a:prstDash val="solid"/>
            <a:miter lim="800000"/>
            <a:headEnd len="sm" w="sm" type="none"/>
            <a:tailEnd len="sm" w="sm" type="none"/>
          </a:ln>
        </p:spPr>
        <p:txBody>
          <a:bodyPr anchorCtr="1"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Noto Sans Symbols"/>
              <a:buNone/>
            </a:pPr>
            <a:r>
              <a:rPr b="0" i="1" lang="en-US" sz="2000" u="none" cap="none" strike="noStrike">
                <a:solidFill>
                  <a:srgbClr val="FFFFFF"/>
                </a:solidFill>
                <a:latin typeface="Arial"/>
                <a:ea typeface="Arial"/>
                <a:cs typeface="Arial"/>
                <a:sym typeface="Arial"/>
              </a:rPr>
              <a:t>A Latent Cause is synonymous with a weakness a management system element, and can be aligned to any one specific management system element; thus, one can begin to make a recommendation to correct the weakness in the management system, and eliminate the latent cause that lead to incidents.</a:t>
            </a:r>
            <a:endParaRPr b="0" i="0" sz="14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37"/>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Must relate the basic causes to the latent causes.</a:t>
            </a:r>
            <a:endParaRPr b="0" i="0" sz="1400" u="none" cap="none" strike="noStrike">
              <a:solidFill>
                <a:srgbClr val="000000"/>
              </a:solidFill>
              <a:latin typeface="Arial"/>
              <a:ea typeface="Arial"/>
              <a:cs typeface="Arial"/>
              <a:sym typeface="Arial"/>
            </a:endParaRPr>
          </a:p>
          <a:p>
            <a:pPr indent="-359999" lvl="0"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Requires a bit of reverse logic. A trick to use when you are at that level of the analysis: </a:t>
            </a:r>
            <a:endParaRPr b="0" i="0" sz="1400" u="none" cap="none" strike="noStrike">
              <a:solidFill>
                <a:srgbClr val="000000"/>
              </a:solidFill>
              <a:latin typeface="Arial"/>
              <a:ea typeface="Arial"/>
              <a:cs typeface="Arial"/>
              <a:sym typeface="Arial"/>
            </a:endParaRPr>
          </a:p>
          <a:p>
            <a:pPr indent="-359998" lvl="0" marL="108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express each weakness in a RMS element as a failure, </a:t>
            </a:r>
            <a:endParaRPr b="0" i="0" sz="1400" u="none" cap="none" strike="noStrike">
              <a:solidFill>
                <a:srgbClr val="000000"/>
              </a:solidFill>
              <a:latin typeface="Arial"/>
              <a:ea typeface="Arial"/>
              <a:cs typeface="Arial"/>
              <a:sym typeface="Arial"/>
            </a:endParaRPr>
          </a:p>
          <a:p>
            <a:pPr indent="-359998" lvl="0" marL="108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then compare each of these failures with the basic causes.</a:t>
            </a:r>
            <a:endParaRPr b="0" i="0" sz="1400" u="none" cap="none" strike="noStrike">
              <a:solidFill>
                <a:srgbClr val="000000"/>
              </a:solidFill>
              <a:latin typeface="Arial"/>
              <a:ea typeface="Arial"/>
              <a:cs typeface="Arial"/>
              <a:sym typeface="Arial"/>
            </a:endParaRPr>
          </a:p>
          <a:p>
            <a:pPr indent="-232999" lvl="0" marL="720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432000" lvl="0" marL="432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Each latent cause has a direct link to one, unique management system element that failed. </a:t>
            </a:r>
            <a:endParaRPr b="0" i="0" sz="1400" u="none" cap="none" strike="noStrike">
              <a:solidFill>
                <a:srgbClr val="000000"/>
              </a:solidFill>
              <a:latin typeface="Arial"/>
              <a:ea typeface="Arial"/>
              <a:cs typeface="Arial"/>
              <a:sym typeface="Arial"/>
            </a:endParaRPr>
          </a:p>
          <a:p>
            <a:pPr indent="-359999" lvl="0"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There is no universal set of latent causes; these must be expressed as weaknesses in the management system elements for the organization. </a:t>
            </a:r>
            <a:endParaRPr b="0" i="0" sz="2000" u="none" cap="none" strike="noStrike">
              <a:solidFill>
                <a:srgbClr val="000000"/>
              </a:solidFill>
              <a:latin typeface="Arial"/>
              <a:ea typeface="Arial"/>
              <a:cs typeface="Arial"/>
              <a:sym typeface="Arial"/>
            </a:endParaRPr>
          </a:p>
          <a:p>
            <a:pPr indent="-359999" lvl="0"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A well-written, acceptable latent cause statement enables the creation of a recommendation to address that latent cause.</a:t>
            </a:r>
            <a:endParaRPr b="0" i="0" sz="2000" u="none" cap="none" strike="noStrike">
              <a:solidFill>
                <a:srgbClr val="000000"/>
              </a:solidFill>
              <a:latin typeface="Arial"/>
              <a:ea typeface="Arial"/>
              <a:cs typeface="Arial"/>
              <a:sym typeface="Arial"/>
            </a:endParaRPr>
          </a:p>
          <a:p>
            <a:pPr indent="-305000" lvl="0" marL="432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432000" lvl="0" marL="432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For reporting all causes types, not so important to align causes with the detailed lists; it is </a:t>
            </a:r>
            <a:r>
              <a:rPr b="0" i="0" lang="en-US" sz="2000" u="sng" cap="none" strike="noStrike">
                <a:solidFill>
                  <a:srgbClr val="000000"/>
                </a:solidFill>
                <a:latin typeface="Arial"/>
                <a:ea typeface="Arial"/>
                <a:cs typeface="Arial"/>
                <a:sym typeface="Arial"/>
              </a:rPr>
              <a:t>important</a:t>
            </a:r>
            <a:r>
              <a:rPr b="0" i="0" lang="en-US" sz="2000" u="none" cap="none" strike="noStrike">
                <a:solidFill>
                  <a:srgbClr val="000000"/>
                </a:solidFill>
                <a:latin typeface="Arial"/>
                <a:ea typeface="Arial"/>
                <a:cs typeface="Arial"/>
                <a:sym typeface="Arial"/>
              </a:rPr>
              <a:t> to recognize cause type and in which major group a cause sits. </a:t>
            </a:r>
            <a:endParaRPr b="0" i="0" sz="1400" u="none" cap="none" strike="noStrike">
              <a:solidFill>
                <a:srgbClr val="000000"/>
              </a:solidFill>
              <a:latin typeface="Arial"/>
              <a:ea typeface="Arial"/>
              <a:cs typeface="Arial"/>
              <a:sym typeface="Arial"/>
            </a:endParaRPr>
          </a:p>
          <a:p>
            <a:pPr indent="-305000" lvl="0" marL="432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p:txBody>
      </p:sp>
      <p:sp>
        <p:nvSpPr>
          <p:cNvPr id="828" name="Google Shape;828;p37"/>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Key Lessons:</a:t>
            </a:r>
            <a:endParaRPr b="0" i="0" sz="1400" u="none" cap="none" strike="noStrike">
              <a:solidFill>
                <a:srgbClr val="000000"/>
              </a:solidFill>
              <a:latin typeface="Arial"/>
              <a:ea typeface="Arial"/>
              <a:cs typeface="Arial"/>
              <a:sym typeface="Arial"/>
            </a:endParaRPr>
          </a:p>
        </p:txBody>
      </p:sp>
      <p:sp>
        <p:nvSpPr>
          <p:cNvPr id="829" name="Google Shape;829;p37"/>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830" name="Google Shape;830;p37"/>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p38"/>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Categories and sub-categories of causes:</a:t>
            </a:r>
            <a:endParaRPr b="0" i="0" sz="1400" u="none" cap="none" strike="noStrike">
              <a:solidFill>
                <a:srgbClr val="000000"/>
              </a:solidFill>
              <a:latin typeface="Arial"/>
              <a:ea typeface="Arial"/>
              <a:cs typeface="Arial"/>
              <a:sym typeface="Arial"/>
            </a:endParaRPr>
          </a:p>
          <a:p>
            <a:pPr indent="-359999" lvl="0"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Immediate Causes</a:t>
            </a:r>
            <a:endParaRPr b="0" i="0" sz="1400" u="none" cap="none" strike="noStrike">
              <a:solidFill>
                <a:srgbClr val="000000"/>
              </a:solidFill>
              <a:latin typeface="Arial"/>
              <a:ea typeface="Arial"/>
              <a:cs typeface="Arial"/>
              <a:sym typeface="Arial"/>
            </a:endParaRPr>
          </a:p>
          <a:p>
            <a:pPr indent="-359999" lvl="0"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Basic Causes </a:t>
            </a:r>
            <a:endParaRPr b="0" i="0" sz="1400" u="none" cap="none" strike="noStrike">
              <a:solidFill>
                <a:srgbClr val="000000"/>
              </a:solidFill>
              <a:latin typeface="Arial"/>
              <a:ea typeface="Arial"/>
              <a:cs typeface="Arial"/>
              <a:sym typeface="Arial"/>
            </a:endParaRPr>
          </a:p>
          <a:p>
            <a:pPr indent="-359999" lvl="0"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Latent Causes</a:t>
            </a:r>
            <a:endParaRPr b="0" i="0" sz="1400" u="none" cap="none" strike="noStrike">
              <a:solidFill>
                <a:srgbClr val="000000"/>
              </a:solidFill>
              <a:latin typeface="Arial"/>
              <a:ea typeface="Arial"/>
              <a:cs typeface="Arial"/>
              <a:sym typeface="Arial"/>
            </a:endParaRPr>
          </a:p>
          <a:p>
            <a:pPr indent="-232999" lvl="0" marL="720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432000" lvl="0" marL="432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The </a:t>
            </a:r>
            <a:r>
              <a:rPr b="1" i="0" lang="en-US" sz="2000" u="none" cap="none" strike="noStrike">
                <a:solidFill>
                  <a:srgbClr val="000000"/>
                </a:solidFill>
                <a:latin typeface="Arial"/>
                <a:ea typeface="Arial"/>
                <a:cs typeface="Arial"/>
                <a:sym typeface="Arial"/>
              </a:rPr>
              <a:t>RCA Work Process</a:t>
            </a:r>
            <a:r>
              <a:rPr b="0" i="0" lang="en-US" sz="2000" u="none" cap="none" strike="noStrike">
                <a:solidFill>
                  <a:srgbClr val="000000"/>
                </a:solidFill>
                <a:latin typeface="Arial"/>
                <a:ea typeface="Arial"/>
                <a:cs typeface="Arial"/>
                <a:sym typeface="Arial"/>
              </a:rPr>
              <a:t> is used to create a logical sequence and understanding of incident causation in an </a:t>
            </a:r>
            <a:r>
              <a:rPr b="1" i="0" lang="en-US" sz="2000" u="none" cap="none" strike="noStrike">
                <a:solidFill>
                  <a:srgbClr val="000000"/>
                </a:solidFill>
                <a:latin typeface="Arial"/>
                <a:ea typeface="Arial"/>
                <a:cs typeface="Arial"/>
                <a:sym typeface="Arial"/>
              </a:rPr>
              <a:t>RCA Chart.</a:t>
            </a:r>
            <a:endParaRPr b="1" i="0" sz="2000" u="none" cap="none" strike="noStrike">
              <a:solidFill>
                <a:srgbClr val="000000"/>
              </a:solidFill>
              <a:latin typeface="Arial"/>
              <a:ea typeface="Arial"/>
              <a:cs typeface="Arial"/>
              <a:sym typeface="Arial"/>
            </a:endParaRPr>
          </a:p>
          <a:p>
            <a:pPr indent="-305000" lvl="0" marL="432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432000" lvl="0" marL="432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The </a:t>
            </a:r>
            <a:r>
              <a:rPr b="1" i="0" lang="en-US" sz="2000" u="none" cap="none" strike="noStrike">
                <a:solidFill>
                  <a:srgbClr val="000000"/>
                </a:solidFill>
                <a:latin typeface="Arial"/>
                <a:ea typeface="Arial"/>
                <a:cs typeface="Arial"/>
                <a:sym typeface="Arial"/>
              </a:rPr>
              <a:t>Cause and Effect Model</a:t>
            </a:r>
            <a:r>
              <a:rPr b="0" i="0" lang="en-US" sz="2000" u="none" cap="none" strike="noStrike">
                <a:solidFill>
                  <a:srgbClr val="000000"/>
                </a:solidFill>
                <a:latin typeface="Arial"/>
                <a:ea typeface="Arial"/>
                <a:cs typeface="Arial"/>
                <a:sym typeface="Arial"/>
              </a:rPr>
              <a:t> is used to categorize causes and to </a:t>
            </a:r>
            <a:r>
              <a:rPr b="0" i="0" lang="en-US" sz="2000" u="sng" cap="none" strike="noStrike">
                <a:solidFill>
                  <a:srgbClr val="000000"/>
                </a:solidFill>
                <a:latin typeface="Arial"/>
                <a:ea typeface="Arial"/>
                <a:cs typeface="Arial"/>
                <a:sym typeface="Arial"/>
              </a:rPr>
              <a:t>test the depth and breadth</a:t>
            </a:r>
            <a:r>
              <a:rPr b="0" i="0" lang="en-US" sz="2000" u="none" cap="none" strike="noStrike">
                <a:solidFill>
                  <a:srgbClr val="000000"/>
                </a:solidFill>
                <a:latin typeface="Arial"/>
                <a:ea typeface="Arial"/>
                <a:cs typeface="Arial"/>
                <a:sym typeface="Arial"/>
              </a:rPr>
              <a:t> of a </a:t>
            </a:r>
            <a:r>
              <a:rPr b="1" i="0" lang="en-US" sz="2000" u="none" cap="none" strike="noStrike">
                <a:solidFill>
                  <a:srgbClr val="000000"/>
                </a:solidFill>
                <a:latin typeface="Arial"/>
                <a:ea typeface="Arial"/>
                <a:cs typeface="Arial"/>
                <a:sym typeface="Arial"/>
              </a:rPr>
              <a:t>Root Cause Analysis</a:t>
            </a:r>
            <a:r>
              <a:rPr b="0" i="0" lang="en-US" sz="2000" u="none" cap="none" strike="noStrike">
                <a:solidFill>
                  <a:srgbClr val="000000"/>
                </a:solidFill>
                <a:latin typeface="Arial"/>
                <a:ea typeface="Arial"/>
                <a:cs typeface="Arial"/>
                <a:sym typeface="Arial"/>
              </a:rPr>
              <a:t>. </a:t>
            </a:r>
            <a:endParaRPr b="0" i="1" sz="2000" u="none" cap="none" strike="noStrike">
              <a:solidFill>
                <a:srgbClr val="262626"/>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t/>
            </a:r>
            <a:endParaRPr b="0" i="1" sz="2000" u="none" cap="none" strike="noStrike">
              <a:solidFill>
                <a:srgbClr val="262626"/>
              </a:solidFill>
              <a:latin typeface="Arial"/>
              <a:ea typeface="Arial"/>
              <a:cs typeface="Arial"/>
              <a:sym typeface="Arial"/>
            </a:endParaRPr>
          </a:p>
          <a:p>
            <a:pPr indent="0" lvl="0" marL="0" marR="0" rtl="0" algn="l">
              <a:lnSpc>
                <a:spcPct val="100000"/>
              </a:lnSpc>
              <a:spcBef>
                <a:spcPts val="0"/>
              </a:spcBef>
              <a:spcAft>
                <a:spcPts val="0"/>
              </a:spcAft>
              <a:buClr>
                <a:srgbClr val="262626"/>
              </a:buClr>
              <a:buSzPts val="2000"/>
              <a:buFont typeface="Arial"/>
              <a:buNone/>
            </a:pPr>
            <a:r>
              <a:rPr b="0" i="1" lang="en-US" sz="2000" u="none" cap="none" strike="noStrike">
                <a:solidFill>
                  <a:srgbClr val="262626"/>
                </a:solidFill>
                <a:latin typeface="Arial"/>
                <a:ea typeface="Arial"/>
                <a:cs typeface="Arial"/>
                <a:sym typeface="Arial"/>
              </a:rPr>
              <a:t>Note on loss incident team project, you will use </a:t>
            </a:r>
            <a:r>
              <a:rPr b="0" i="1" lang="en-US" sz="2000" u="sng" cap="none" strike="noStrike">
                <a:solidFill>
                  <a:srgbClr val="262626"/>
                </a:solidFill>
                <a:latin typeface="Arial"/>
                <a:ea typeface="Arial"/>
                <a:cs typeface="Arial"/>
                <a:sym typeface="Arial"/>
              </a:rPr>
              <a:t>the available facts</a:t>
            </a:r>
            <a:r>
              <a:rPr b="0" i="1" lang="en-US" sz="2000" u="none" cap="none" strike="noStrike">
                <a:solidFill>
                  <a:srgbClr val="262626"/>
                </a:solidFill>
                <a:latin typeface="Arial"/>
                <a:ea typeface="Arial"/>
                <a:cs typeface="Arial"/>
                <a:sym typeface="Arial"/>
              </a:rPr>
              <a:t> AND </a:t>
            </a:r>
            <a:r>
              <a:rPr b="0" i="1" lang="en-US" sz="2000" u="sng" cap="none" strike="noStrike">
                <a:solidFill>
                  <a:srgbClr val="262626"/>
                </a:solidFill>
                <a:latin typeface="Arial"/>
                <a:ea typeface="Arial"/>
                <a:cs typeface="Arial"/>
                <a:sym typeface="Arial"/>
              </a:rPr>
              <a:t>your engineering know-how and deduction skills</a:t>
            </a:r>
            <a:r>
              <a:rPr b="0" i="1" lang="en-US" sz="2000" u="none" cap="none" strike="noStrike">
                <a:solidFill>
                  <a:srgbClr val="262626"/>
                </a:solidFill>
                <a:latin typeface="Arial"/>
                <a:ea typeface="Arial"/>
                <a:cs typeface="Arial"/>
                <a:sym typeface="Arial"/>
              </a:rPr>
              <a:t> to analyze the potential sequences that can lead to the incident in a similar context; apply your skills of rationale and supposition to determine possible, probable, plausible, and conceivable causes. </a:t>
            </a:r>
            <a:endParaRPr b="0" i="0" sz="2000" u="none" cap="none" strike="noStrike">
              <a:solidFill>
                <a:srgbClr val="262626"/>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837" name="Google Shape;837;p38"/>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Summary:</a:t>
            </a:r>
            <a:endParaRPr b="0" i="0" sz="2400" u="none" cap="none" strike="noStrike">
              <a:solidFill>
                <a:srgbClr val="333399"/>
              </a:solidFill>
              <a:latin typeface="Arial"/>
              <a:ea typeface="Arial"/>
              <a:cs typeface="Arial"/>
              <a:sym typeface="Arial"/>
            </a:endParaRPr>
          </a:p>
        </p:txBody>
      </p:sp>
      <p:sp>
        <p:nvSpPr>
          <p:cNvPr id="838" name="Google Shape;838;p38"/>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839" name="Google Shape;839;p38"/>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theme/theme1.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3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4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2020-05-12T17:37:29Z</dcterms:created>
  <dc:creator>JR Cocchio</dc:creator>
</cp:coreProperties>
</file>