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945" r:id="rId2"/>
    <p:sldId id="880" r:id="rId3"/>
    <p:sldId id="921" r:id="rId4"/>
    <p:sldId id="932" r:id="rId5"/>
    <p:sldId id="933" r:id="rId6"/>
    <p:sldId id="934" r:id="rId7"/>
    <p:sldId id="935" r:id="rId8"/>
    <p:sldId id="937" r:id="rId9"/>
    <p:sldId id="938" r:id="rId10"/>
    <p:sldId id="939" r:id="rId11"/>
    <p:sldId id="902" r:id="rId12"/>
    <p:sldId id="940" r:id="rId13"/>
    <p:sldId id="946" r:id="rId14"/>
    <p:sldId id="941" r:id="rId15"/>
    <p:sldId id="900" r:id="rId16"/>
    <p:sldId id="942" r:id="rId17"/>
    <p:sldId id="943" r:id="rId18"/>
    <p:sldId id="944" r:id="rId19"/>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45"/>
            <p14:sldId id="880"/>
            <p14:sldId id="921"/>
            <p14:sldId id="932"/>
            <p14:sldId id="933"/>
            <p14:sldId id="934"/>
            <p14:sldId id="935"/>
            <p14:sldId id="937"/>
            <p14:sldId id="938"/>
            <p14:sldId id="939"/>
            <p14:sldId id="902"/>
            <p14:sldId id="940"/>
            <p14:sldId id="946"/>
            <p14:sldId id="941"/>
            <p14:sldId id="900"/>
            <p14:sldId id="942"/>
            <p14:sldId id="943"/>
            <p14:sldId id="944"/>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CC"/>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9" autoAdjust="0"/>
    <p:restoredTop sz="83933" autoAdjust="0"/>
  </p:normalViewPr>
  <p:slideViewPr>
    <p:cSldViewPr>
      <p:cViewPr varScale="1">
        <p:scale>
          <a:sx n="68" d="100"/>
          <a:sy n="68" d="100"/>
        </p:scale>
        <p:origin x="1280" y="60"/>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92"/>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11/9/2021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11/9/2021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youtube.com/watch?v=dPAyBgWLm0A"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2281522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3571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6161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8504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9623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306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2340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3118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1878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11</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11</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77500" lnSpcReduction="20000"/>
          </a:bodyPr>
          <a:lstStyle/>
          <a:p>
            <a:r>
              <a:rPr lang="en-US" altLang="en-US" dirty="0" smtClean="0">
                <a:latin typeface="Times New Roman" panose="02020603050405020304" pitchFamily="18" charset="0"/>
              </a:rPr>
              <a:t>Safety at the Top of all Meeting Agendas:</a:t>
            </a:r>
            <a:br>
              <a:rPr lang="en-US" altLang="en-US" dirty="0" smtClean="0">
                <a:latin typeface="Times New Roman" panose="02020603050405020304" pitchFamily="18" charset="0"/>
              </a:rPr>
            </a:br>
            <a:r>
              <a:rPr lang="en-US" altLang="en-US" dirty="0" smtClean="0">
                <a:latin typeface="Times New Roman" panose="02020603050405020304" pitchFamily="18" charset="0"/>
              </a:rPr>
              <a:t>1) MLCA – It was O’Neill’s commitment to</a:t>
            </a:r>
            <a:r>
              <a:rPr lang="en-US" altLang="en-US" baseline="0" dirty="0" smtClean="0">
                <a:latin typeface="Times New Roman" panose="02020603050405020304" pitchFamily="18" charset="0"/>
              </a:rPr>
              <a:t> make “safety the most important thing / top priority” (a value, as we would term it now) at Alcoa, and his steadfast commitment to that value set the tone at the top and for all those who reported directly to him and on down through line management. He communicated his commitment to shareholders and directors, and was unwavering in his commitment. Safety performance was the first topic on the agenda at annual shareholders’ meetings, Board of Directors meetings, quarterly reviews with senior management, and all other periodic management meetings.  </a:t>
            </a: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Report Incidents Within 24 Hours: </a:t>
            </a:r>
            <a:br>
              <a:rPr lang="en-US" altLang="en-US" dirty="0" smtClean="0">
                <a:latin typeface="Times New Roman" panose="02020603050405020304" pitchFamily="18" charset="0"/>
              </a:rPr>
            </a:br>
            <a:r>
              <a:rPr lang="en-US" altLang="en-US" dirty="0" smtClean="0">
                <a:latin typeface="Times New Roman" panose="02020603050405020304" pitchFamily="18" charset="0"/>
              </a:rPr>
              <a:t>1) MLCA</a:t>
            </a:r>
            <a:r>
              <a:rPr lang="en-US" altLang="en-US" baseline="0" dirty="0" smtClean="0">
                <a:latin typeface="Times New Roman" panose="02020603050405020304" pitchFamily="18" charset="0"/>
              </a:rPr>
              <a:t> – It was O’Neill’s unwavering requirement that plant managers must report directly to him within 24 hours about a loss incident. </a:t>
            </a:r>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5) IRIA&amp;A</a:t>
            </a:r>
            <a:r>
              <a:rPr lang="en-US" altLang="en-US" baseline="0" dirty="0" smtClean="0">
                <a:latin typeface="Times New Roman" panose="02020603050405020304" pitchFamily="18" charset="0"/>
              </a:rPr>
              <a:t> – This element describes the requirements for what </a:t>
            </a:r>
            <a:r>
              <a:rPr lang="en-US" altLang="en-US" dirty="0" smtClean="0">
                <a:latin typeface="Times New Roman" panose="02020603050405020304" pitchFamily="18" charset="0"/>
              </a:rPr>
              <a:t>the plant manager / business manager </a:t>
            </a:r>
            <a:r>
              <a:rPr lang="en-US" altLang="en-US" baseline="0" dirty="0" smtClean="0">
                <a:latin typeface="Times New Roman" panose="02020603050405020304" pitchFamily="18" charset="0"/>
              </a:rPr>
              <a:t>must report, in what time frame, and the minimum information: </a:t>
            </a:r>
            <a:r>
              <a:rPr lang="en-US" altLang="en-US" dirty="0" smtClean="0">
                <a:latin typeface="Times New Roman" panose="02020603050405020304" pitchFamily="18" charset="0"/>
              </a:rPr>
              <a:t>“Who was hurt, why they were hurt, and what have you done about it?” </a:t>
            </a: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Real-time Safety Performance Data:  </a:t>
            </a:r>
            <a:br>
              <a:rPr lang="en-US" altLang="en-US" dirty="0" smtClean="0">
                <a:latin typeface="Times New Roman" panose="02020603050405020304" pitchFamily="18" charset="0"/>
              </a:rPr>
            </a:br>
            <a:r>
              <a:rPr lang="en-US" altLang="en-US" dirty="0" smtClean="0">
                <a:latin typeface="Times New Roman" panose="02020603050405020304" pitchFamily="18" charset="0"/>
              </a:rPr>
              <a:t>1) MLCA</a:t>
            </a:r>
            <a:r>
              <a:rPr lang="en-US" altLang="en-US" baseline="0" dirty="0" smtClean="0">
                <a:latin typeface="Times New Roman" panose="02020603050405020304" pitchFamily="18" charset="0"/>
              </a:rPr>
              <a:t> -</a:t>
            </a:r>
            <a:r>
              <a:rPr lang="en-US" altLang="en-US" dirty="0" smtClean="0">
                <a:latin typeface="Times New Roman" panose="02020603050405020304" pitchFamily="18" charset="0"/>
              </a:rPr>
              <a:t> Plant managers are accountable for safety performance, not the safety manager / safety professional. The lecturer may need to describe the shift in culture from “it’s the</a:t>
            </a:r>
            <a:r>
              <a:rPr lang="en-US" altLang="en-US" baseline="0" dirty="0" smtClean="0">
                <a:latin typeface="Times New Roman" panose="02020603050405020304" pitchFamily="18" charset="0"/>
              </a:rPr>
              <a:t> safety manager’s responsibility” to “it is the manager’s responsibility”. </a:t>
            </a:r>
          </a:p>
          <a:p>
            <a:r>
              <a:rPr lang="en-US" altLang="en-US" dirty="0" smtClean="0">
                <a:latin typeface="Times New Roman" panose="02020603050405020304" pitchFamily="18" charset="0"/>
              </a:rPr>
              <a:t>8) O&amp;M – Policies</a:t>
            </a:r>
            <a:r>
              <a:rPr lang="en-US" altLang="en-US" baseline="0" dirty="0" smtClean="0">
                <a:latin typeface="Times New Roman" panose="02020603050405020304" pitchFamily="18" charset="0"/>
              </a:rPr>
              <a:t> and procedures (administrative controls) need to be in place in order to track, record, and report data on a daily basis across the global organization in order to provide meaningful and accurate data to the executive offices and all line management. </a:t>
            </a:r>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latin typeface="Times New Roman" panose="02020603050405020304" pitchFamily="18" charset="0"/>
              </a:rPr>
              <a:t>Safety Audit Program and Department (Resources and Authority):</a:t>
            </a:r>
            <a:br>
              <a:rPr lang="en-US" altLang="en-US" dirty="0" smtClean="0">
                <a:latin typeface="Times New Roman" panose="02020603050405020304" pitchFamily="18" charset="0"/>
              </a:rPr>
            </a:br>
            <a:r>
              <a:rPr lang="en-US" altLang="en-US" dirty="0" smtClean="0">
                <a:latin typeface="Times New Roman" panose="02020603050405020304" pitchFamily="18" charset="0"/>
              </a:rPr>
              <a:t>1) MLCA and 6) PECI - Safety Audit Program and Department: people and resources with same level</a:t>
            </a:r>
            <a:r>
              <a:rPr lang="en-US" altLang="en-US" baseline="0" dirty="0" smtClean="0">
                <a:latin typeface="Times New Roman" panose="02020603050405020304" pitchFamily="18" charset="0"/>
              </a:rPr>
              <a:t> of authority and </a:t>
            </a:r>
            <a:r>
              <a:rPr lang="en-US" altLang="en-US" dirty="0" smtClean="0">
                <a:latin typeface="Times New Roman" panose="02020603050405020304" pitchFamily="18" charset="0"/>
              </a:rPr>
              <a:t>discipline as a financial audit department; plant managers reported audit failures directly to the Board of Directors. </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Plant Manager Training:</a:t>
            </a:r>
            <a:br>
              <a:rPr lang="en-US" altLang="en-US" dirty="0" smtClean="0">
                <a:latin typeface="Times New Roman" panose="02020603050405020304" pitchFamily="18" charset="0"/>
              </a:rPr>
            </a:br>
            <a:r>
              <a:rPr lang="en-US" altLang="en-US" dirty="0" smtClean="0">
                <a:latin typeface="Times New Roman" panose="02020603050405020304" pitchFamily="18" charset="0"/>
              </a:rPr>
              <a:t>1) MLCA, 9) EC&amp;T</a:t>
            </a:r>
            <a:r>
              <a:rPr lang="en-US" altLang="en-US" baseline="0" dirty="0" smtClean="0">
                <a:latin typeface="Times New Roman" panose="02020603050405020304" pitchFamily="18" charset="0"/>
              </a:rPr>
              <a:t> - </a:t>
            </a:r>
            <a:r>
              <a:rPr lang="en-US" altLang="en-US" dirty="0" smtClean="0">
                <a:latin typeface="Times New Roman" panose="02020603050405020304" pitchFamily="18" charset="0"/>
              </a:rPr>
              <a:t>The training boiled down to two lessons for Plant Managers: 1) Don’t fail an audit. 2) Don’t mess with safety. If you fail an audit, you must</a:t>
            </a:r>
            <a:r>
              <a:rPr lang="en-US" altLang="en-US" baseline="0" dirty="0" smtClean="0">
                <a:latin typeface="Times New Roman" panose="02020603050405020304" pitchFamily="18" charset="0"/>
              </a:rPr>
              <a:t> </a:t>
            </a:r>
            <a:r>
              <a:rPr lang="en-US" altLang="en-US" dirty="0" smtClean="0">
                <a:latin typeface="Times New Roman" panose="02020603050405020304" pitchFamily="18" charset="0"/>
              </a:rPr>
              <a:t>report directly</a:t>
            </a:r>
            <a:r>
              <a:rPr lang="en-US" altLang="en-US" baseline="0" dirty="0" smtClean="0">
                <a:latin typeface="Times New Roman" panose="02020603050405020304" pitchFamily="18" charset="0"/>
              </a:rPr>
              <a:t> to the Board of Directors as to what you will do to fix it. If you fail a second audit, your successor </a:t>
            </a:r>
            <a:r>
              <a:rPr lang="en-US" altLang="en-US" dirty="0" smtClean="0">
                <a:latin typeface="Times New Roman" panose="02020603050405020304" pitchFamily="18" charset="0"/>
              </a:rPr>
              <a:t>must</a:t>
            </a:r>
            <a:r>
              <a:rPr lang="en-US" altLang="en-US" baseline="0" dirty="0" smtClean="0">
                <a:latin typeface="Times New Roman" panose="02020603050405020304" pitchFamily="18" charset="0"/>
              </a:rPr>
              <a:t> </a:t>
            </a:r>
            <a:r>
              <a:rPr lang="en-US" altLang="en-US" dirty="0" smtClean="0">
                <a:latin typeface="Times New Roman" panose="02020603050405020304" pitchFamily="18" charset="0"/>
              </a:rPr>
              <a:t>report directly</a:t>
            </a:r>
            <a:r>
              <a:rPr lang="en-US" altLang="en-US" baseline="0" dirty="0" smtClean="0">
                <a:latin typeface="Times New Roman" panose="02020603050405020304" pitchFamily="18" charset="0"/>
              </a:rPr>
              <a:t> to the Board of Directors as to what they will do to fix it.  </a:t>
            </a:r>
            <a:endParaRPr lang="en-US" altLang="en-US" dirty="0" smtClean="0">
              <a:latin typeface="Times New Roman" panose="02020603050405020304" pitchFamily="18" charset="0"/>
            </a:endParaRPr>
          </a:p>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6740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17209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1"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035999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0734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15</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15</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normAutofit fontScale="70000" lnSpcReduction="20000"/>
          </a:bodyPr>
          <a:lstStyle/>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Video: </a:t>
            </a:r>
            <a:r>
              <a:rPr kumimoji="0" lang="en-US" sz="1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Safety First at Alcoa</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with former Alcoa vice president Bill O'Rourke; speaking about the changes implemented by the former Alcoa CEO Paul O'Neill to the Carnegie Council for Ethics in International Affairs; 18-Sept-2012; </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hlinkClick r:id="rId3"/>
              </a:rPr>
              <a:t>https://www.youtube.com/watch?v=dPAyBgWLm0A</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5:05 m:ss; accessed 31-Oct-2019</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600" b="0" i="1"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“Former Alcoa vice president Bill O'Rourke details the many successful safety policies that former Alcoa CEO Paul O'Neill implemented at the giant aluminum manufacturer. O'Neill later became secretary of the treasury under President George W. Bush.”</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00:23-01:20 Safety Was The First Point Of Discussion:</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annual shareholders’ meetings, Board of Directors meetings; every quarterly review with senior management; management meetings </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01:33-02:30 Report Incidents Within 24 Hours:</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Questions directed to the plant manager / business manager: “Who was hurt, why they were hurt, and what have you done about it?” </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02:30-03:27 Real-time Safety Performance Data: </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plant managers are accountable for safety performance, not the safety manager / safety professional</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03:27-04:15 Safety Audit System and Department:</a:t>
            </a:r>
            <a:r>
              <a:rPr kumimoji="0" lang="en-US" sz="19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with same level and discipline as a financial audit; plant managers reported audit failures directly to the Board of Directors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sz="1000" b="0" i="0" u="none" strike="noStrike" kern="1200" cap="none" spc="0" normalizeH="0" baseline="0" noProof="0" dirty="0" smtClean="0">
              <a:ln>
                <a:noFill/>
              </a:ln>
              <a:solidFill>
                <a:prstClr val="black"/>
              </a:solidFill>
              <a:effectLst/>
              <a:uLnTx/>
              <a:uFillTx/>
              <a:latin typeface="+mn-lt"/>
              <a:ea typeface="+mn-ea"/>
              <a:cs typeface="Arial" charset="0"/>
            </a:endParaRPr>
          </a:p>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6582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89240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1587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11/9/2021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tC2ucDs_XJY"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aerossurance.com/helicopters/paul-oneill-safety-alcoa-power-safety-leadership/"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dPAyBgWLm0A"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tC2ucDs_XJY" TargetMode="Externa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hyperlink" Target="https://www.alcoa.com/sustainability/en/pdf/EHS-Values-Policy-Principles.pdf" TargetMode="External"/><Relationship Id="rId13" Type="http://schemas.openxmlformats.org/officeDocument/2006/relationships/hyperlink" Target="https://www.youtube.com/watch?v=dPAyBgWLm0A" TargetMode="External"/><Relationship Id="rId3" Type="http://schemas.openxmlformats.org/officeDocument/2006/relationships/hyperlink" Target="https://www.alcoa.com/sustainability/en/default.asp" TargetMode="External"/><Relationship Id="rId7" Type="http://schemas.openxmlformats.org/officeDocument/2006/relationships/hyperlink" Target="http://strategicdiscipline.positioningsystems.com/bid/104508/Pearson-s-Law" TargetMode="External"/><Relationship Id="rId12" Type="http://schemas.openxmlformats.org/officeDocument/2006/relationships/hyperlink" Target="https://www.youtube.com/watch?v=yclcW9Tw_cs"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hyperlink" Target="https://www.businessinsider.com/how-changing-one-habit-quintupled-alcoas-income-2014-4" TargetMode="External"/><Relationship Id="rId11" Type="http://schemas.openxmlformats.org/officeDocument/2006/relationships/hyperlink" Target="https://www.youtube.com/watch?v=56a3-Sc65M8" TargetMode="External"/><Relationship Id="rId5" Type="http://schemas.openxmlformats.org/officeDocument/2006/relationships/hyperlink" Target="http://strategicdiscipline.positioningsystems.com/bid/104994/Alcoa-s-Key-to-Safety-Success-Communication-Keystone-Habit" TargetMode="External"/><Relationship Id="rId15" Type="http://schemas.openxmlformats.org/officeDocument/2006/relationships/hyperlink" Target="https://www.google.com/search?source=hp&amp;ei=NYTcXcDaN_Ww0PEPjei02AY&amp;q=alcoa+stock+price+history&amp;oq=alcoa+stock+&amp;gs_l=psy-ab.1.6.0l10.4703.9363..13920...3.0..0.314.1714.3j9j0j1......0....1..gws-wiz.....6..0i362i308i154i357j0i131j0i70i250.t6ROvaHHwZM" TargetMode="External"/><Relationship Id="rId10" Type="http://schemas.openxmlformats.org/officeDocument/2006/relationships/hyperlink" Target="https://www.youtube.com/watch?v=htLCVqaLBvo" TargetMode="External"/><Relationship Id="rId4" Type="http://schemas.openxmlformats.org/officeDocument/2006/relationships/hyperlink" Target="http://aerossurance.com/helicopters/paul-oneill-safety-alcoa-power-safety-leadership/" TargetMode="External"/><Relationship Id="rId9" Type="http://schemas.openxmlformats.org/officeDocument/2006/relationships/hyperlink" Target="https://www.youtube.com/watch?v=tC2ucDs_XJY" TargetMode="External"/><Relationship Id="rId14" Type="http://schemas.openxmlformats.org/officeDocument/2006/relationships/hyperlink" Target="https://www.youtube.com/watch?v=y99_lhFFCs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smtClean="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smtClean="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smtClean="0">
                <a:ln>
                  <a:noFill/>
                </a:ln>
                <a:solidFill>
                  <a:srgbClr val="000099"/>
                </a:solidFill>
                <a:effectLst/>
                <a:uLnTx/>
                <a:uFillTx/>
                <a:latin typeface="Calibri" pitchFamily="34" charset="0"/>
                <a:ea typeface="ＭＳ Ｐゴシック" panose="020B0600070205080204" pitchFamily="34" charset="-128"/>
                <a:cs typeface="+mj-cs"/>
              </a:rPr>
              <a:t>Leader in Risk Management</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12: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Lessons from the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ALCOA Success Story</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13009378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success story of Paul O’Neill, CEO, and the Aluminum Company of America (Alcoa)</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Demonstrate what practicable programs can support the implementation of cultural change.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Critique the culture and performance of any organization using the principles and practices of leadership in risk management, using this case study as a model for analysis.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12: </a:t>
            </a:r>
            <a:r>
              <a:rPr lang="en-US" sz="1200" i="1" kern="0" dirty="0">
                <a:solidFill>
                  <a:srgbClr val="000000"/>
                </a:solidFill>
                <a:ea typeface="Times New Roman"/>
                <a:cs typeface="Arial" panose="020B0604020202020204" pitchFamily="34" charset="0"/>
                <a:sym typeface="Times New Roman"/>
              </a:rPr>
              <a:t>Lessons from the </a:t>
            </a:r>
            <a:r>
              <a:rPr lang="en-US" sz="1200" i="1" kern="0" dirty="0" smtClean="0">
                <a:solidFill>
                  <a:srgbClr val="000000"/>
                </a:solidFill>
                <a:ea typeface="Times New Roman"/>
                <a:cs typeface="Arial" panose="020B0604020202020204" pitchFamily="34" charset="0"/>
                <a:sym typeface="Times New Roman"/>
              </a:rPr>
              <a:t>ALCOA </a:t>
            </a:r>
            <a:r>
              <a:rPr lang="en-US" sz="1200" i="1" kern="0" dirty="0">
                <a:solidFill>
                  <a:srgbClr val="000000"/>
                </a:solidFill>
                <a:ea typeface="Times New Roman"/>
                <a:cs typeface="Arial" panose="020B0604020202020204" pitchFamily="34" charset="0"/>
                <a:sym typeface="Times New Roman"/>
              </a:rPr>
              <a:t>Success Story</a:t>
            </a: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beyond “What gets measured, gets managed</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Paul O’Neill, CEO, Aluminum Company of America (Alcoa)</a:t>
            </a:r>
          </a:p>
          <a:p>
            <a:pPr marL="864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Change Starts At The Top.</a:t>
            </a:r>
          </a:p>
          <a:p>
            <a:pPr marL="864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Reaction of the Financial Analysts on Wall Street.</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Five practicable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programs to support and implement the desired change in corporate cultures.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Legacy:</a:t>
            </a:r>
          </a:p>
          <a:p>
            <a:pPr marL="864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Performance</a:t>
            </a:r>
          </a:p>
          <a:p>
            <a:pPr marL="864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Financial Performance </a:t>
            </a:r>
          </a:p>
          <a:p>
            <a:pPr marL="864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Key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Lessons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Key Points in this Success Story:</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Case 12: </a:t>
            </a:r>
            <a:r>
              <a:rPr lang="en-US" sz="1200" i="1" kern="0" dirty="0">
                <a:solidFill>
                  <a:srgbClr val="000000"/>
                </a:solidFill>
                <a:ea typeface="Times New Roman"/>
                <a:cs typeface="Arial" panose="020B0604020202020204" pitchFamily="34" charset="0"/>
                <a:sym typeface="Times New Roman"/>
              </a:rPr>
              <a:t>Lessons from the </a:t>
            </a:r>
            <a:r>
              <a:rPr lang="en-US" sz="1200" i="1" kern="0" dirty="0" smtClean="0">
                <a:solidFill>
                  <a:srgbClr val="000000"/>
                </a:solidFill>
                <a:ea typeface="Times New Roman"/>
                <a:cs typeface="Arial" panose="020B0604020202020204" pitchFamily="34" charset="0"/>
                <a:sym typeface="Times New Roman"/>
              </a:rPr>
              <a:t>ALCOA </a:t>
            </a:r>
            <a:r>
              <a:rPr lang="en-US" sz="1200" i="1" kern="0" dirty="0">
                <a:solidFill>
                  <a:srgbClr val="000000"/>
                </a:solidFill>
                <a:ea typeface="Times New Roman"/>
                <a:cs typeface="Arial" panose="020B0604020202020204" pitchFamily="34" charset="0"/>
                <a:sym typeface="Times New Roman"/>
              </a:rPr>
              <a:t>Success Story</a:t>
            </a:r>
          </a:p>
        </p:txBody>
      </p:sp>
    </p:spTree>
    <p:extLst>
      <p:ext uri="{BB962C8B-B14F-4D97-AF65-F5344CB8AC3E}">
        <p14:creationId xmlns:p14="http://schemas.microsoft.com/office/powerpoint/2010/main" val="958998985"/>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Widely observed in industry: “What gets measured, gets managed”.</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864000" lvl="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BP-</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DeepWater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Horizon and the</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intensive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measurements of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occupational safety</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performance and apparent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lack</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measurements of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process safety</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performance. </a:t>
            </a:r>
          </a:p>
          <a:p>
            <a:pPr marL="432000" lvl="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Karl Pearson’s Law:</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0" eaLnBrk="0" hangingPunct="0">
              <a:lnSpc>
                <a:spcPct val="100000"/>
              </a:lnSpc>
              <a:spcBef>
                <a:spcPts val="0"/>
              </a:spcBef>
              <a:buClr>
                <a:srgbClr val="000000"/>
              </a:buClr>
              <a:buSzPct val="100000"/>
              <a:buNone/>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performance is measured, </a:t>
            </a:r>
            <a:b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 improves. </a:t>
            </a:r>
            <a:b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performance is </a:t>
            </a: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measured and </a:t>
            </a:r>
            <a:b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reported</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back, the </a:t>
            </a: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rate of improvement </a:t>
            </a:r>
            <a:b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accelerates</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Go Beyond “What gets measured, gets managed”: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3"/>
          <a:stretch>
            <a:fillRect/>
          </a:stretch>
        </p:blipFill>
        <p:spPr>
          <a:xfrm>
            <a:off x="5608089" y="2895600"/>
            <a:ext cx="2938611" cy="2926080"/>
          </a:xfrm>
          <a:prstGeom prst="rect">
            <a:avLst/>
          </a:prstGeom>
          <a:ln>
            <a:solidFill>
              <a:sysClr val="windowText" lastClr="000000"/>
            </a:solidFill>
          </a:ln>
        </p:spPr>
      </p:pic>
    </p:spTree>
    <p:extLst>
      <p:ext uri="{BB962C8B-B14F-4D97-AF65-F5344CB8AC3E}">
        <p14:creationId xmlns:p14="http://schemas.microsoft.com/office/powerpoint/2010/main" val="737914924"/>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lvl="0" indent="-4572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Paul O’Neill, Alcoa CEO, leveraged this law (</a:t>
            </a:r>
            <a:r>
              <a:rPr lang="en-US" i="1" dirty="0">
                <a:solidFill>
                  <a:prstClr val="black"/>
                </a:solidFill>
                <a:latin typeface="Arial" panose="020B0604020202020204" pitchFamily="34" charset="0"/>
                <a:cs typeface="Arial" panose="020B0604020202020204" pitchFamily="34" charset="0"/>
              </a:rPr>
              <a:t>measure and report back</a:t>
            </a:r>
            <a:r>
              <a:rPr lang="en-US" b="0" dirty="0">
                <a:solidFill>
                  <a:prstClr val="black"/>
                </a:solidFill>
                <a:latin typeface="Arial" panose="020B0604020202020204" pitchFamily="34" charset="0"/>
                <a:cs typeface="Arial" panose="020B0604020202020204" pitchFamily="34" charset="0"/>
              </a:rPr>
              <a:t>) in changing culture at Alcoa and improving safety performance.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Go Beyond “What gets measured, gets managed”: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3"/>
          <a:stretch>
            <a:fillRect/>
          </a:stretch>
        </p:blipFill>
        <p:spPr>
          <a:xfrm>
            <a:off x="5418251" y="2304854"/>
            <a:ext cx="2938611" cy="2926080"/>
          </a:xfrm>
          <a:prstGeom prst="rect">
            <a:avLst/>
          </a:prstGeom>
          <a:ln>
            <a:solidFill>
              <a:sysClr val="windowText" lastClr="000000"/>
            </a:solidFill>
          </a:ln>
        </p:spPr>
      </p:pic>
      <p:pic>
        <p:nvPicPr>
          <p:cNvPr id="7" name="Picture 6"/>
          <p:cNvPicPr>
            <a:picLocks noChangeAspect="1"/>
          </p:cNvPicPr>
          <p:nvPr/>
        </p:nvPicPr>
        <p:blipFill>
          <a:blip r:embed="rId4"/>
          <a:stretch>
            <a:fillRect/>
          </a:stretch>
        </p:blipFill>
        <p:spPr>
          <a:xfrm>
            <a:off x="762000" y="2286000"/>
            <a:ext cx="3906428" cy="2926080"/>
          </a:xfrm>
          <a:prstGeom prst="rect">
            <a:avLst/>
          </a:prstGeom>
        </p:spPr>
      </p:pic>
    </p:spTree>
    <p:extLst>
      <p:ext uri="{BB962C8B-B14F-4D97-AF65-F5344CB8AC3E}">
        <p14:creationId xmlns:p14="http://schemas.microsoft.com/office/powerpoint/2010/main" val="2240745260"/>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Recall that to improve performance, culture must change, and that to change culture, the change starts at the very top of the organization.</a:t>
            </a:r>
          </a:p>
          <a:p>
            <a:pPr marL="360000" lvl="0" indent="-3600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60000" lvl="0" indent="-3600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So, the </a:t>
            </a:r>
            <a:r>
              <a:rPr lang="en-US" b="0" u="sng" dirty="0">
                <a:solidFill>
                  <a:prstClr val="black"/>
                </a:solidFill>
                <a:latin typeface="Arial" panose="020B0604020202020204" pitchFamily="34" charset="0"/>
                <a:cs typeface="Arial" panose="020B0604020202020204" pitchFamily="34" charset="0"/>
              </a:rPr>
              <a:t>change in </a:t>
            </a:r>
            <a:r>
              <a:rPr lang="en-US" b="0" u="sng" dirty="0" smtClean="0">
                <a:solidFill>
                  <a:prstClr val="black"/>
                </a:solidFill>
                <a:latin typeface="Arial" panose="020B0604020202020204" pitchFamily="34" charset="0"/>
                <a:cs typeface="Arial" panose="020B0604020202020204" pitchFamily="34" charset="0"/>
              </a:rPr>
              <a:t>values, the </a:t>
            </a:r>
            <a:r>
              <a:rPr lang="en-US" u="sng" dirty="0" smtClean="0">
                <a:solidFill>
                  <a:prstClr val="black"/>
                </a:solidFill>
                <a:latin typeface="Arial" panose="020B0604020202020204" pitchFamily="34" charset="0"/>
                <a:cs typeface="Arial" panose="020B0604020202020204" pitchFamily="34" charset="0"/>
              </a:rPr>
              <a:t>“Tone at </a:t>
            </a:r>
            <a:r>
              <a:rPr lang="en-US" u="sng" dirty="0">
                <a:solidFill>
                  <a:prstClr val="black"/>
                </a:solidFill>
                <a:latin typeface="Arial" panose="020B0604020202020204" pitchFamily="34" charset="0"/>
                <a:cs typeface="Arial" panose="020B0604020202020204" pitchFamily="34" charset="0"/>
              </a:rPr>
              <a:t>the </a:t>
            </a:r>
            <a:r>
              <a:rPr lang="en-US" u="sng" dirty="0" smtClean="0">
                <a:solidFill>
                  <a:prstClr val="black"/>
                </a:solidFill>
                <a:latin typeface="Arial" panose="020B0604020202020204" pitchFamily="34" charset="0"/>
                <a:cs typeface="Arial" panose="020B0604020202020204" pitchFamily="34" charset="0"/>
              </a:rPr>
              <a:t>Top”</a:t>
            </a:r>
            <a:r>
              <a:rPr lang="en-US" b="0" u="sng" dirty="0" smtClean="0">
                <a:solidFill>
                  <a:prstClr val="black"/>
                </a:solidFill>
                <a:latin typeface="Arial" panose="020B0604020202020204" pitchFamily="34" charset="0"/>
                <a:cs typeface="Arial" panose="020B0604020202020204" pitchFamily="34" charset="0"/>
              </a:rPr>
              <a:t>, initiates </a:t>
            </a:r>
            <a:r>
              <a:rPr lang="en-US" b="0" u="sng" dirty="0">
                <a:solidFill>
                  <a:prstClr val="black"/>
                </a:solidFill>
                <a:latin typeface="Arial" panose="020B0604020202020204" pitchFamily="34" charset="0"/>
                <a:cs typeface="Arial" panose="020B0604020202020204" pitchFamily="34" charset="0"/>
              </a:rPr>
              <a:t>the change in corporate culture</a:t>
            </a:r>
            <a:r>
              <a:rPr lang="en-US" b="0" dirty="0">
                <a:solidFill>
                  <a:prstClr val="black"/>
                </a:solidFill>
                <a:latin typeface="Arial" panose="020B0604020202020204" pitchFamily="34" charset="0"/>
                <a:cs typeface="Arial" panose="020B0604020202020204" pitchFamily="34" charset="0"/>
              </a:rPr>
              <a:t>.</a:t>
            </a:r>
          </a:p>
          <a:p>
            <a:pPr marL="360000" lvl="0" indent="-3600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60000" lvl="0" indent="-360000" fontAlgn="auto">
              <a:lnSpc>
                <a:spcPct val="100000"/>
              </a:lnSpc>
              <a:spcBef>
                <a:spcPts val="0"/>
              </a:spcBef>
              <a:spcAft>
                <a:spcPts val="0"/>
              </a:spcAft>
              <a:buClr>
                <a:prstClr val="black"/>
              </a:buClr>
              <a:buFont typeface="Wingdings" panose="05000000000000000000" pitchFamily="2" charset="2"/>
              <a:buChar char="Ø"/>
            </a:pPr>
            <a:r>
              <a:rPr lang="en-US" b="0" i="1" dirty="0">
                <a:solidFill>
                  <a:prstClr val="black"/>
                </a:solidFill>
                <a:latin typeface="Arial" panose="020B0604020202020204" pitchFamily="34" charset="0"/>
                <a:cs typeface="Arial" panose="020B0604020202020204" pitchFamily="34" charset="0"/>
              </a:rPr>
              <a:t>This triangle depicts:</a:t>
            </a:r>
            <a:br>
              <a:rPr lang="en-US" b="0" i="1" dirty="0">
                <a:solidFill>
                  <a:prstClr val="black"/>
                </a:solidFill>
                <a:latin typeface="Arial" panose="020B0604020202020204" pitchFamily="34" charset="0"/>
                <a:cs typeface="Arial" panose="020B0604020202020204" pitchFamily="34" charset="0"/>
              </a:rPr>
            </a:br>
            <a:r>
              <a:rPr lang="en-US" b="0" i="1" dirty="0">
                <a:solidFill>
                  <a:prstClr val="black"/>
                </a:solidFill>
                <a:latin typeface="Arial" panose="020B0604020202020204" pitchFamily="34" charset="0"/>
                <a:cs typeface="Arial" panose="020B0604020202020204" pitchFamily="34" charset="0"/>
              </a:rPr>
              <a:t>President / CEO at the top; </a:t>
            </a:r>
            <a:br>
              <a:rPr lang="en-US" b="0" i="1" dirty="0">
                <a:solidFill>
                  <a:prstClr val="black"/>
                </a:solidFill>
                <a:latin typeface="Arial" panose="020B0604020202020204" pitchFamily="34" charset="0"/>
                <a:cs typeface="Arial" panose="020B0604020202020204" pitchFamily="34" charset="0"/>
              </a:rPr>
            </a:br>
            <a:r>
              <a:rPr lang="en-US" b="0" i="1" dirty="0">
                <a:solidFill>
                  <a:prstClr val="black"/>
                </a:solidFill>
                <a:latin typeface="Arial" panose="020B0604020202020204" pitchFamily="34" charset="0"/>
                <a:cs typeface="Arial" panose="020B0604020202020204" pitchFamily="34" charset="0"/>
              </a:rPr>
              <a:t>Vice Presidents at the next level, </a:t>
            </a:r>
            <a:br>
              <a:rPr lang="en-US" b="0" i="1" dirty="0">
                <a:solidFill>
                  <a:prstClr val="black"/>
                </a:solidFill>
                <a:latin typeface="Arial" panose="020B0604020202020204" pitchFamily="34" charset="0"/>
                <a:cs typeface="Arial" panose="020B0604020202020204" pitchFamily="34" charset="0"/>
              </a:rPr>
            </a:br>
            <a:r>
              <a:rPr lang="en-US" b="0" i="1" dirty="0">
                <a:solidFill>
                  <a:prstClr val="black"/>
                </a:solidFill>
                <a:latin typeface="Arial" panose="020B0604020202020204" pitchFamily="34" charset="0"/>
                <a:cs typeface="Arial" panose="020B0604020202020204" pitchFamily="34" charset="0"/>
              </a:rPr>
              <a:t>Senior Managers,</a:t>
            </a:r>
            <a:br>
              <a:rPr lang="en-US" b="0" i="1" dirty="0">
                <a:solidFill>
                  <a:prstClr val="black"/>
                </a:solidFill>
                <a:latin typeface="Arial" panose="020B0604020202020204" pitchFamily="34" charset="0"/>
                <a:cs typeface="Arial" panose="020B0604020202020204" pitchFamily="34" charset="0"/>
              </a:rPr>
            </a:br>
            <a:r>
              <a:rPr lang="en-US" b="0" i="1" dirty="0">
                <a:solidFill>
                  <a:prstClr val="black"/>
                </a:solidFill>
                <a:latin typeface="Arial" panose="020B0604020202020204" pitchFamily="34" charset="0"/>
                <a:cs typeface="Arial" panose="020B0604020202020204" pitchFamily="34" charset="0"/>
              </a:rPr>
              <a:t>Middle Managers, Supervisors;</a:t>
            </a:r>
            <a:br>
              <a:rPr lang="en-US" b="0" i="1" dirty="0">
                <a:solidFill>
                  <a:prstClr val="black"/>
                </a:solidFill>
                <a:latin typeface="Arial" panose="020B0604020202020204" pitchFamily="34" charset="0"/>
                <a:cs typeface="Arial" panose="020B0604020202020204" pitchFamily="34" charset="0"/>
              </a:rPr>
            </a:br>
            <a:r>
              <a:rPr lang="en-US" b="0" i="1" dirty="0" smtClean="0">
                <a:solidFill>
                  <a:prstClr val="black"/>
                </a:solidFill>
                <a:latin typeface="Arial" panose="020B0604020202020204" pitchFamily="34" charset="0"/>
                <a:cs typeface="Arial" panose="020B0604020202020204" pitchFamily="34" charset="0"/>
              </a:rPr>
              <a:t>Workers</a:t>
            </a:r>
          </a:p>
          <a:p>
            <a:pPr marL="360000" lvl="0" indent="-3600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60000" lvl="0" indent="-360000" fontAlgn="auto">
              <a:lnSpc>
                <a:spcPct val="100000"/>
              </a:lnSpc>
              <a:spcBef>
                <a:spcPts val="0"/>
              </a:spcBef>
              <a:spcAft>
                <a:spcPts val="0"/>
              </a:spcAft>
              <a:buClr>
                <a:prstClr val="black"/>
              </a:buClr>
              <a:buFont typeface="Wingdings" panose="05000000000000000000" pitchFamily="2" charset="2"/>
              <a:buChar char="Ø"/>
            </a:pPr>
            <a:r>
              <a:rPr lang="en-US" b="0" dirty="0" smtClean="0">
                <a:solidFill>
                  <a:prstClr val="black"/>
                </a:solidFill>
                <a:latin typeface="Arial" panose="020B0604020202020204" pitchFamily="34" charset="0"/>
                <a:cs typeface="Arial" panose="020B0604020202020204" pitchFamily="34" charset="0"/>
              </a:rPr>
              <a:t>The </a:t>
            </a:r>
            <a:r>
              <a:rPr lang="en-US" b="0" u="sng" dirty="0" smtClean="0">
                <a:solidFill>
                  <a:prstClr val="black"/>
                </a:solidFill>
                <a:latin typeface="Arial" panose="020B0604020202020204" pitchFamily="34" charset="0"/>
                <a:cs typeface="Arial" panose="020B0604020202020204" pitchFamily="34" charset="0"/>
              </a:rPr>
              <a:t>message</a:t>
            </a:r>
            <a:r>
              <a:rPr lang="en-US" b="0" dirty="0" smtClean="0">
                <a:solidFill>
                  <a:prstClr val="black"/>
                </a:solidFill>
                <a:latin typeface="Arial" panose="020B0604020202020204" pitchFamily="34" charset="0"/>
                <a:cs typeface="Arial" panose="020B0604020202020204" pitchFamily="34" charset="0"/>
              </a:rPr>
              <a:t> AND </a:t>
            </a:r>
            <a:r>
              <a:rPr lang="en-US" b="0" u="sng" dirty="0" smtClean="0">
                <a:solidFill>
                  <a:prstClr val="black"/>
                </a:solidFill>
                <a:latin typeface="Arial" panose="020B0604020202020204" pitchFamily="34" charset="0"/>
                <a:cs typeface="Arial" panose="020B0604020202020204" pitchFamily="34" charset="0"/>
              </a:rPr>
              <a:t>actions</a:t>
            </a:r>
            <a:r>
              <a:rPr lang="en-US" b="0" dirty="0" smtClean="0">
                <a:solidFill>
                  <a:prstClr val="black"/>
                </a:solidFill>
                <a:latin typeface="Arial" panose="020B0604020202020204" pitchFamily="34" charset="0"/>
                <a:cs typeface="Arial" panose="020B0604020202020204" pitchFamily="34" charset="0"/>
              </a:rPr>
              <a:t> MUST be consistent throughout!</a:t>
            </a:r>
          </a:p>
          <a:p>
            <a:pPr marL="720000" lvl="0" indent="-360000" fontAlgn="auto">
              <a:lnSpc>
                <a:spcPct val="100000"/>
              </a:lnSpc>
              <a:spcBef>
                <a:spcPts val="0"/>
              </a:spcBef>
              <a:spcAft>
                <a:spcPts val="0"/>
              </a:spcAft>
              <a:buClr>
                <a:prstClr val="black"/>
              </a:buClr>
              <a:buFont typeface="Wingdings" panose="05000000000000000000" pitchFamily="2" charset="2"/>
              <a:buChar char="Ø"/>
            </a:pPr>
            <a:r>
              <a:rPr lang="en-US" b="0" dirty="0" smtClean="0">
                <a:solidFill>
                  <a:prstClr val="black"/>
                </a:solidFill>
                <a:latin typeface="Arial" panose="020B0604020202020204" pitchFamily="34" charset="0"/>
                <a:cs typeface="Arial" panose="020B0604020202020204" pitchFamily="34" charset="0"/>
              </a:rPr>
              <a:t>Lower levels MUST NOT undermine!</a:t>
            </a:r>
            <a:endParaRPr lang="en-US" b="0" dirty="0">
              <a:solidFill>
                <a:prstClr val="black"/>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Change Starts At The Top:</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3"/>
          <a:stretch>
            <a:fillRect/>
          </a:stretch>
        </p:blipFill>
        <p:spPr>
          <a:xfrm>
            <a:off x="4686300" y="2590800"/>
            <a:ext cx="3860400" cy="2225957"/>
          </a:xfrm>
          <a:prstGeom prst="rect">
            <a:avLst/>
          </a:prstGeom>
          <a:ln>
            <a:solidFill>
              <a:sysClr val="windowText" lastClr="000000"/>
            </a:solidFill>
          </a:ln>
        </p:spPr>
      </p:pic>
    </p:spTree>
    <p:extLst>
      <p:ext uri="{BB962C8B-B14F-4D97-AF65-F5344CB8AC3E}">
        <p14:creationId xmlns:p14="http://schemas.microsoft.com/office/powerpoint/2010/main" val="1527893464"/>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100000"/>
              </a:lnSpc>
              <a:spcBef>
                <a:spcPts val="0"/>
              </a:spcBef>
              <a:spcAft>
                <a:spcPts val="0"/>
              </a:spcAft>
              <a:buClr>
                <a:prstClr val="black"/>
              </a:buClr>
              <a:buNone/>
            </a:pPr>
            <a:r>
              <a:rPr lang="en-US" b="0" dirty="0" smtClean="0">
                <a:solidFill>
                  <a:prstClr val="black"/>
                </a:solidFill>
                <a:latin typeface="Arial" panose="020B0604020202020204" pitchFamily="34" charset="0"/>
                <a:cs typeface="Arial" panose="020B0604020202020204" pitchFamily="34" charset="0"/>
              </a:rPr>
              <a:t>Paul </a:t>
            </a:r>
            <a:r>
              <a:rPr lang="en-US" b="0" dirty="0">
                <a:solidFill>
                  <a:prstClr val="black"/>
                </a:solidFill>
                <a:latin typeface="Arial" panose="020B0604020202020204" pitchFamily="34" charset="0"/>
                <a:cs typeface="Arial" panose="020B0604020202020204" pitchFamily="34" charset="0"/>
              </a:rPr>
              <a:t>O'Neill CEO of Alcoa - It's all about safety; Charter Partners; posted 12-Jun-2015; 12m58s; accessed 31-Oct-2019 </a:t>
            </a:r>
            <a:r>
              <a:rPr lang="en-US" b="0" dirty="0">
                <a:solidFill>
                  <a:prstClr val="black"/>
                </a:solidFill>
                <a:latin typeface="Arial" panose="020B0604020202020204" pitchFamily="34" charset="0"/>
                <a:cs typeface="Arial" panose="020B0604020202020204" pitchFamily="34" charset="0"/>
                <a:hlinkClick r:id="rId3"/>
              </a:rPr>
              <a:t>https://www.youtube.com/watch?v=tC2ucDs_XJY</a:t>
            </a:r>
            <a:r>
              <a:rPr lang="en-US" b="0" dirty="0">
                <a:solidFill>
                  <a:prstClr val="black"/>
                </a:solidFill>
                <a:latin typeface="Arial" panose="020B0604020202020204" pitchFamily="34" charset="0"/>
                <a:cs typeface="Arial" panose="020B0604020202020204" pitchFamily="34" charset="0"/>
              </a:rPr>
              <a:t>   </a:t>
            </a:r>
            <a:br>
              <a:rPr lang="en-US" b="0" dirty="0">
                <a:solidFill>
                  <a:prstClr val="black"/>
                </a:solidFill>
                <a:latin typeface="Arial" panose="020B0604020202020204" pitchFamily="34" charset="0"/>
                <a:cs typeface="Arial" panose="020B0604020202020204" pitchFamily="34" charset="0"/>
              </a:rPr>
            </a:br>
            <a:r>
              <a:rPr lang="en-US" dirty="0" smtClean="0">
                <a:solidFill>
                  <a:prstClr val="black"/>
                </a:solidFill>
                <a:latin typeface="Arial" panose="020B0604020202020204" pitchFamily="34" charset="0"/>
                <a:cs typeface="Arial" panose="020B0604020202020204" pitchFamily="34" charset="0"/>
              </a:rPr>
              <a:t>Case12 </a:t>
            </a:r>
            <a:r>
              <a:rPr lang="en-US" dirty="0">
                <a:solidFill>
                  <a:prstClr val="black"/>
                </a:solidFill>
                <a:latin typeface="Arial" panose="020B0604020202020204" pitchFamily="34" charset="0"/>
                <a:cs typeface="Arial" panose="020B0604020202020204" pitchFamily="34" charset="0"/>
              </a:rPr>
              <a:t>ALCOA vid1 </a:t>
            </a:r>
            <a:r>
              <a:rPr lang="en-US" dirty="0" err="1">
                <a:solidFill>
                  <a:prstClr val="black"/>
                </a:solidFill>
                <a:latin typeface="Arial" panose="020B0604020202020204" pitchFamily="34" charset="0"/>
                <a:cs typeface="Arial" panose="020B0604020202020204" pitchFamily="34" charset="0"/>
              </a:rPr>
              <a:t>ONeill</a:t>
            </a:r>
            <a:r>
              <a:rPr lang="en-US" dirty="0">
                <a:solidFill>
                  <a:prstClr val="black"/>
                </a:solidFill>
                <a:latin typeface="Arial" panose="020B0604020202020204" pitchFamily="34" charset="0"/>
                <a:cs typeface="Arial" panose="020B0604020202020204" pitchFamily="34" charset="0"/>
              </a:rPr>
              <a:t> Its all about safety Charter Partners </a:t>
            </a:r>
            <a:r>
              <a:rPr lang="en-US" dirty="0" smtClean="0">
                <a:solidFill>
                  <a:prstClr val="black"/>
                </a:solidFill>
                <a:latin typeface="Arial" panose="020B0604020202020204" pitchFamily="34" charset="0"/>
                <a:cs typeface="Arial" panose="020B0604020202020204" pitchFamily="34" charset="0"/>
              </a:rPr>
              <a:t>12m58s.mp4</a:t>
            </a:r>
            <a:endParaRPr lang="en-US" b="0" dirty="0">
              <a:solidFill>
                <a:prstClr val="black"/>
              </a:solidFill>
              <a:latin typeface="Arial" panose="020B0604020202020204" pitchFamily="34" charset="0"/>
              <a:cs typeface="Arial" panose="020B0604020202020204" pitchFamily="34" charset="0"/>
            </a:endParaRPr>
          </a:p>
          <a:p>
            <a:pPr marL="685800" lvl="2" indent="-457200" fontAlgn="auto">
              <a:lnSpc>
                <a:spcPct val="100000"/>
              </a:lnSpc>
              <a:spcBef>
                <a:spcPts val="0"/>
              </a:spcBef>
              <a:spcAft>
                <a:spcPts val="0"/>
              </a:spcAft>
              <a:buClr>
                <a:prstClr val="black"/>
              </a:buClr>
              <a:buFont typeface="Wingdings" panose="05000000000000000000" pitchFamily="2" charset="2"/>
              <a:buChar char="Ø"/>
            </a:pPr>
            <a:r>
              <a:rPr lang="en-US" sz="2000" b="0" dirty="0">
                <a:solidFill>
                  <a:prstClr val="black"/>
                </a:solidFill>
                <a:latin typeface="Arial" panose="020B0604020202020204" pitchFamily="34" charset="0"/>
                <a:cs typeface="Arial" panose="020B0604020202020204" pitchFamily="34" charset="0"/>
              </a:rPr>
              <a:t>07:50-08:35 </a:t>
            </a:r>
            <a:r>
              <a:rPr lang="en-US" sz="2000" b="0" i="1" dirty="0">
                <a:solidFill>
                  <a:prstClr val="black"/>
                </a:solidFill>
                <a:latin typeface="Arial" panose="020B0604020202020204" pitchFamily="34" charset="0"/>
                <a:cs typeface="Arial" panose="020B0604020202020204" pitchFamily="34" charset="0"/>
              </a:rPr>
              <a:t>“Here is what I mean by this </a:t>
            </a:r>
            <a:r>
              <a:rPr lang="en-US" sz="2000" b="0" i="1" dirty="0" smtClean="0">
                <a:solidFill>
                  <a:prstClr val="black"/>
                </a:solidFill>
                <a:latin typeface="Arial" panose="020B0604020202020204" pitchFamily="34" charset="0"/>
                <a:cs typeface="Arial" panose="020B0604020202020204" pitchFamily="34" charset="0"/>
              </a:rPr>
              <a:t/>
            </a:r>
            <a:br>
              <a:rPr lang="en-US" sz="2000" b="0" i="1" dirty="0" smtClean="0">
                <a:solidFill>
                  <a:prstClr val="black"/>
                </a:solidFill>
                <a:latin typeface="Arial" panose="020B0604020202020204" pitchFamily="34" charset="0"/>
                <a:cs typeface="Arial" panose="020B0604020202020204" pitchFamily="34" charset="0"/>
              </a:rPr>
            </a:br>
            <a:r>
              <a:rPr lang="en-US" sz="2000" b="0" i="1" dirty="0" smtClean="0">
                <a:solidFill>
                  <a:prstClr val="black"/>
                </a:solidFill>
                <a:latin typeface="Arial" panose="020B0604020202020204" pitchFamily="34" charset="0"/>
                <a:cs typeface="Arial" panose="020B0604020202020204" pitchFamily="34" charset="0"/>
              </a:rPr>
              <a:t>(</a:t>
            </a:r>
            <a:r>
              <a:rPr lang="en-US" sz="2000" b="0" i="1" dirty="0">
                <a:solidFill>
                  <a:prstClr val="black"/>
                </a:solidFill>
                <a:latin typeface="Arial" panose="020B0604020202020204" pitchFamily="34" charset="0"/>
                <a:cs typeface="Arial" panose="020B0604020202020204" pitchFamily="34" charset="0"/>
              </a:rPr>
              <a:t>zero injuries is our goal) … </a:t>
            </a:r>
            <a:br>
              <a:rPr lang="en-US" sz="2000" b="0" i="1" dirty="0">
                <a:solidFill>
                  <a:prstClr val="black"/>
                </a:solidFill>
                <a:latin typeface="Arial" panose="020B0604020202020204" pitchFamily="34" charset="0"/>
                <a:cs typeface="Arial" panose="020B0604020202020204" pitchFamily="34" charset="0"/>
              </a:rPr>
            </a:br>
            <a:r>
              <a:rPr lang="en-US" sz="2000" b="0" i="1" dirty="0">
                <a:solidFill>
                  <a:prstClr val="black"/>
                </a:solidFill>
                <a:latin typeface="Arial" panose="020B0604020202020204" pitchFamily="34" charset="0"/>
                <a:cs typeface="Arial" panose="020B0604020202020204" pitchFamily="34" charset="0"/>
              </a:rPr>
              <a:t>I don’t want to budget it, I want to fix it.”</a:t>
            </a:r>
          </a:p>
          <a:p>
            <a:pPr marL="685800" lvl="2" indent="-457200" fontAlgn="auto">
              <a:lnSpc>
                <a:spcPct val="100000"/>
              </a:lnSpc>
              <a:spcBef>
                <a:spcPts val="0"/>
              </a:spcBef>
              <a:spcAft>
                <a:spcPts val="0"/>
              </a:spcAft>
              <a:buClr>
                <a:prstClr val="black"/>
              </a:buClr>
              <a:buFont typeface="Wingdings" panose="05000000000000000000" pitchFamily="2" charset="2"/>
              <a:buChar char="Ø"/>
            </a:pPr>
            <a:endParaRPr lang="en-US" sz="2000" dirty="0">
              <a:solidFill>
                <a:prstClr val="black"/>
              </a:solidFill>
              <a:latin typeface="Arial" panose="020B0604020202020204" pitchFamily="34" charset="0"/>
              <a:cs typeface="Arial" panose="020B0604020202020204" pitchFamily="34" charset="0"/>
            </a:endParaRPr>
          </a:p>
          <a:p>
            <a:pPr marL="685800" lvl="2" indent="-457200" fontAlgn="auto">
              <a:lnSpc>
                <a:spcPct val="100000"/>
              </a:lnSpc>
              <a:spcBef>
                <a:spcPts val="0"/>
              </a:spcBef>
              <a:spcAft>
                <a:spcPts val="0"/>
              </a:spcAft>
              <a:buClr>
                <a:prstClr val="black"/>
              </a:buClr>
              <a:buFont typeface="Wingdings" panose="05000000000000000000" pitchFamily="2" charset="2"/>
              <a:buChar char="Ø"/>
            </a:pPr>
            <a:r>
              <a:rPr lang="en-US" sz="2000" b="0" dirty="0">
                <a:solidFill>
                  <a:prstClr val="black"/>
                </a:solidFill>
                <a:latin typeface="Arial" panose="020B0604020202020204" pitchFamily="34" charset="0"/>
                <a:cs typeface="Arial" panose="020B0604020202020204" pitchFamily="34" charset="0"/>
              </a:rPr>
              <a:t>09:32-10:59 </a:t>
            </a:r>
            <a:r>
              <a:rPr lang="en-US" sz="2000" b="0" i="1" dirty="0">
                <a:solidFill>
                  <a:prstClr val="black"/>
                </a:solidFill>
                <a:latin typeface="Arial" panose="020B0604020202020204" pitchFamily="34" charset="0"/>
                <a:cs typeface="Arial" panose="020B0604020202020204" pitchFamily="34" charset="0"/>
              </a:rPr>
              <a:t>“We killed him. I killed him.”</a:t>
            </a:r>
            <a:r>
              <a:rPr lang="en-US" sz="2000" b="0" dirty="0">
                <a:solidFill>
                  <a:prstClr val="black"/>
                </a:solidFill>
                <a:latin typeface="Arial" panose="020B0604020202020204" pitchFamily="34" charset="0"/>
                <a:cs typeface="Arial" panose="020B0604020202020204" pitchFamily="34" charset="0"/>
              </a:rPr>
              <a:t> </a:t>
            </a:r>
            <a:r>
              <a:rPr lang="en-US" sz="2000" b="0" dirty="0" smtClean="0">
                <a:solidFill>
                  <a:prstClr val="black"/>
                </a:solidFill>
                <a:latin typeface="Arial" panose="020B0604020202020204" pitchFamily="34" charset="0"/>
                <a:cs typeface="Arial" panose="020B0604020202020204" pitchFamily="34" charset="0"/>
              </a:rPr>
              <a:t/>
            </a:r>
            <a:br>
              <a:rPr lang="en-US" sz="2000" b="0" dirty="0" smtClean="0">
                <a:solidFill>
                  <a:prstClr val="black"/>
                </a:solidFill>
                <a:latin typeface="Arial" panose="020B0604020202020204" pitchFamily="34" charset="0"/>
                <a:cs typeface="Arial" panose="020B0604020202020204" pitchFamily="34" charset="0"/>
              </a:rPr>
            </a:br>
            <a:r>
              <a:rPr lang="en-US" sz="2000" b="0" dirty="0" smtClean="0">
                <a:solidFill>
                  <a:prstClr val="black"/>
                </a:solidFill>
                <a:latin typeface="Arial" panose="020B0604020202020204" pitchFamily="34" charset="0"/>
                <a:cs typeface="Arial" panose="020B0604020202020204" pitchFamily="34" charset="0"/>
              </a:rPr>
              <a:t>Management </a:t>
            </a:r>
            <a:r>
              <a:rPr lang="en-US" sz="2000" b="0" dirty="0">
                <a:solidFill>
                  <a:prstClr val="black"/>
                </a:solidFill>
                <a:latin typeface="Arial" panose="020B0604020202020204" pitchFamily="34" charset="0"/>
                <a:cs typeface="Arial" panose="020B0604020202020204" pitchFamily="34" charset="0"/>
              </a:rPr>
              <a:t>accountability at its best </a:t>
            </a:r>
            <a:r>
              <a:rPr lang="en-US" sz="2000" b="0" dirty="0" smtClean="0">
                <a:solidFill>
                  <a:prstClr val="black"/>
                </a:solidFill>
                <a:latin typeface="Arial" panose="020B0604020202020204" pitchFamily="34" charset="0"/>
                <a:cs typeface="Arial" panose="020B0604020202020204" pitchFamily="34" charset="0"/>
              </a:rPr>
              <a:t/>
            </a:r>
            <a:br>
              <a:rPr lang="en-US" sz="2000" b="0" dirty="0" smtClean="0">
                <a:solidFill>
                  <a:prstClr val="black"/>
                </a:solidFill>
                <a:latin typeface="Arial" panose="020B0604020202020204" pitchFamily="34" charset="0"/>
                <a:cs typeface="Arial" panose="020B0604020202020204" pitchFamily="34" charset="0"/>
              </a:rPr>
            </a:br>
            <a:r>
              <a:rPr lang="en-US" sz="2000" b="0" dirty="0" smtClean="0">
                <a:solidFill>
                  <a:prstClr val="black"/>
                </a:solidFill>
                <a:latin typeface="Arial" panose="020B0604020202020204" pitchFamily="34" charset="0"/>
                <a:cs typeface="Arial" panose="020B0604020202020204" pitchFamily="34" charset="0"/>
              </a:rPr>
              <a:t>under </a:t>
            </a:r>
            <a:r>
              <a:rPr lang="en-US" sz="2000" b="0" dirty="0">
                <a:solidFill>
                  <a:prstClr val="black"/>
                </a:solidFill>
                <a:latin typeface="Arial" panose="020B0604020202020204" pitchFamily="34" charset="0"/>
                <a:cs typeface="Arial" panose="020B0604020202020204" pitchFamily="34" charset="0"/>
              </a:rPr>
              <a:t>the most unfavorable, difficult, and </a:t>
            </a:r>
            <a:r>
              <a:rPr lang="en-US" sz="2000" b="0" dirty="0" smtClean="0">
                <a:solidFill>
                  <a:prstClr val="black"/>
                </a:solidFill>
                <a:latin typeface="Arial" panose="020B0604020202020204" pitchFamily="34" charset="0"/>
                <a:cs typeface="Arial" panose="020B0604020202020204" pitchFamily="34" charset="0"/>
              </a:rPr>
              <a:t/>
            </a:r>
            <a:br>
              <a:rPr lang="en-US" sz="2000" b="0" dirty="0" smtClean="0">
                <a:solidFill>
                  <a:prstClr val="black"/>
                </a:solidFill>
                <a:latin typeface="Arial" panose="020B0604020202020204" pitchFamily="34" charset="0"/>
                <a:cs typeface="Arial" panose="020B0604020202020204" pitchFamily="34" charset="0"/>
              </a:rPr>
            </a:br>
            <a:r>
              <a:rPr lang="en-US" sz="2000" b="0" dirty="0" smtClean="0">
                <a:solidFill>
                  <a:prstClr val="black"/>
                </a:solidFill>
                <a:latin typeface="Arial" panose="020B0604020202020204" pitchFamily="34" charset="0"/>
                <a:cs typeface="Arial" panose="020B0604020202020204" pitchFamily="34" charset="0"/>
              </a:rPr>
              <a:t>unpleasant </a:t>
            </a:r>
            <a:r>
              <a:rPr lang="en-US" sz="2000" b="0" dirty="0">
                <a:solidFill>
                  <a:prstClr val="black"/>
                </a:solidFill>
                <a:latin typeface="Arial" panose="020B0604020202020204" pitchFamily="34" charset="0"/>
                <a:cs typeface="Arial" panose="020B0604020202020204" pitchFamily="34" charset="0"/>
              </a:rPr>
              <a:t>of conditions. </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When leadership </a:t>
            </a:r>
            <a:r>
              <a:rPr lang="en-US" b="0" dirty="0" smtClean="0">
                <a:solidFill>
                  <a:prstClr val="black"/>
                </a:solidFill>
                <a:latin typeface="Arial" panose="020B0604020202020204" pitchFamily="34" charset="0"/>
                <a:cs typeface="Arial" panose="020B0604020202020204" pitchFamily="34" charset="0"/>
              </a:rPr>
              <a:t>sets the “tone at the top” </a:t>
            </a:r>
            <a:r>
              <a:rPr lang="en-US" b="0" u="sng" dirty="0" smtClean="0">
                <a:solidFill>
                  <a:prstClr val="black"/>
                </a:solidFill>
                <a:latin typeface="Arial" panose="020B0604020202020204" pitchFamily="34" charset="0"/>
                <a:cs typeface="Arial" panose="020B0604020202020204" pitchFamily="34" charset="0"/>
              </a:rPr>
              <a:t>AND</a:t>
            </a:r>
            <a:r>
              <a:rPr lang="en-US" b="0" dirty="0" smtClean="0">
                <a:solidFill>
                  <a:prstClr val="black"/>
                </a:solidFill>
                <a:latin typeface="Arial" panose="020B0604020202020204" pitchFamily="34" charset="0"/>
                <a:cs typeface="Arial" panose="020B0604020202020204" pitchFamily="34" charset="0"/>
              </a:rPr>
              <a:t> upholds </a:t>
            </a:r>
            <a:r>
              <a:rPr lang="en-US" b="0" dirty="0">
                <a:solidFill>
                  <a:prstClr val="black"/>
                </a:solidFill>
                <a:latin typeface="Arial" panose="020B0604020202020204" pitchFamily="34" charset="0"/>
                <a:cs typeface="Arial" panose="020B0604020202020204" pitchFamily="34" charset="0"/>
              </a:rPr>
              <a:t>the values </a:t>
            </a:r>
            <a:r>
              <a:rPr lang="en-US" b="0" dirty="0" smtClean="0">
                <a:solidFill>
                  <a:prstClr val="black"/>
                </a:solidFill>
                <a:latin typeface="Arial" panose="020B0604020202020204" pitchFamily="34" charset="0"/>
                <a:cs typeface="Arial" panose="020B0604020202020204" pitchFamily="34" charset="0"/>
              </a:rPr>
              <a:t>and </a:t>
            </a:r>
            <a:r>
              <a:rPr lang="en-US" b="0" dirty="0">
                <a:solidFill>
                  <a:prstClr val="black"/>
                </a:solidFill>
                <a:latin typeface="Arial" panose="020B0604020202020204" pitchFamily="34" charset="0"/>
                <a:cs typeface="Arial" panose="020B0604020202020204" pitchFamily="34" charset="0"/>
              </a:rPr>
              <a:t>commitment that “nobody gets hurt </a:t>
            </a:r>
            <a:r>
              <a:rPr lang="en-US" b="0" dirty="0" smtClean="0">
                <a:solidFill>
                  <a:prstClr val="black"/>
                </a:solidFill>
                <a:latin typeface="Arial" panose="020B0604020202020204" pitchFamily="34" charset="0"/>
                <a:cs typeface="Arial" panose="020B0604020202020204" pitchFamily="34" charset="0"/>
              </a:rPr>
              <a:t>around </a:t>
            </a:r>
            <a:r>
              <a:rPr lang="en-US" b="0" dirty="0">
                <a:solidFill>
                  <a:prstClr val="black"/>
                </a:solidFill>
                <a:latin typeface="Arial" panose="020B0604020202020204" pitchFamily="34" charset="0"/>
                <a:cs typeface="Arial" panose="020B0604020202020204" pitchFamily="34" charset="0"/>
              </a:rPr>
              <a:t>here”, it follows that </a:t>
            </a:r>
            <a:r>
              <a:rPr lang="en-US" b="0" dirty="0" smtClean="0">
                <a:solidFill>
                  <a:prstClr val="black"/>
                </a:solidFill>
                <a:latin typeface="Arial" panose="020B0604020202020204" pitchFamily="34" charset="0"/>
                <a:cs typeface="Arial" panose="020B0604020202020204" pitchFamily="34" charset="0"/>
              </a:rPr>
              <a:t>this initiates </a:t>
            </a:r>
            <a:r>
              <a:rPr lang="en-US" b="0" dirty="0">
                <a:solidFill>
                  <a:prstClr val="black"/>
                </a:solidFill>
                <a:latin typeface="Arial" panose="020B0604020202020204" pitchFamily="34" charset="0"/>
                <a:cs typeface="Arial" panose="020B0604020202020204" pitchFamily="34" charset="0"/>
              </a:rPr>
              <a:t>the change in culture</a:t>
            </a:r>
            <a:r>
              <a:rPr lang="en-US" b="0" dirty="0" smtClean="0">
                <a:solidFill>
                  <a:prstClr val="black"/>
                </a:solidFill>
                <a:latin typeface="Arial" panose="020B0604020202020204" pitchFamily="34" charset="0"/>
                <a:cs typeface="Arial" panose="020B0604020202020204" pitchFamily="34" charset="0"/>
              </a:rPr>
              <a:t>.</a:t>
            </a:r>
            <a:endParaRPr lang="en-US" b="0" dirty="0">
              <a:solidFill>
                <a:prstClr val="black"/>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Change Starts At The Top:</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4"/>
          <a:stretch>
            <a:fillRect/>
          </a:stretch>
        </p:blipFill>
        <p:spPr>
          <a:xfrm>
            <a:off x="5762220" y="2234700"/>
            <a:ext cx="2784480" cy="2514600"/>
          </a:xfrm>
          <a:prstGeom prst="rect">
            <a:avLst/>
          </a:prstGeom>
        </p:spPr>
      </p:pic>
    </p:spTree>
    <p:extLst>
      <p:ext uri="{BB962C8B-B14F-4D97-AF65-F5344CB8AC3E}">
        <p14:creationId xmlns:p14="http://schemas.microsoft.com/office/powerpoint/2010/main" val="3723470717"/>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100000"/>
              </a:lnSpc>
              <a:spcBef>
                <a:spcPts val="0"/>
              </a:spcBef>
              <a:spcAft>
                <a:spcPts val="0"/>
              </a:spcAft>
              <a:buClr>
                <a:prstClr val="black"/>
              </a:buClr>
              <a:buNone/>
            </a:pPr>
            <a:r>
              <a:rPr lang="en-US" sz="1600" b="0" dirty="0">
                <a:solidFill>
                  <a:prstClr val="black"/>
                </a:solidFill>
                <a:latin typeface="Arial" panose="020B0604020202020204" pitchFamily="34" charset="0"/>
                <a:cs typeface="Arial" panose="020B0604020202020204" pitchFamily="34" charset="0"/>
              </a:rPr>
              <a:t>Excerpts from </a:t>
            </a:r>
            <a:r>
              <a:rPr lang="en-US" sz="1600" b="0" u="sng" dirty="0">
                <a:solidFill>
                  <a:prstClr val="black"/>
                </a:solidFill>
                <a:latin typeface="Arial" panose="020B0604020202020204" pitchFamily="34" charset="0"/>
                <a:cs typeface="Arial" panose="020B0604020202020204" pitchFamily="34" charset="0"/>
              </a:rPr>
              <a:t>article</a:t>
            </a:r>
            <a:r>
              <a:rPr lang="en-US" sz="1600" b="0" dirty="0">
                <a:solidFill>
                  <a:prstClr val="black"/>
                </a:solidFill>
                <a:latin typeface="Arial" panose="020B0604020202020204" pitchFamily="34" charset="0"/>
                <a:cs typeface="Arial" panose="020B0604020202020204" pitchFamily="34" charset="0"/>
              </a:rPr>
              <a:t>: </a:t>
            </a:r>
            <a:r>
              <a:rPr lang="en-US" sz="1600" dirty="0">
                <a:solidFill>
                  <a:prstClr val="black"/>
                </a:solidFill>
                <a:latin typeface="Arial" panose="020B0604020202020204" pitchFamily="34" charset="0"/>
                <a:cs typeface="Arial" panose="020B0604020202020204" pitchFamily="34" charset="0"/>
              </a:rPr>
              <a:t>The Power of Safety Leadership</a:t>
            </a:r>
            <a:r>
              <a:rPr lang="en-US" sz="1600" b="0" dirty="0">
                <a:solidFill>
                  <a:prstClr val="black"/>
                </a:solidFill>
                <a:latin typeface="Arial" panose="020B0604020202020204" pitchFamily="34" charset="0"/>
                <a:cs typeface="Arial" panose="020B0604020202020204" pitchFamily="34" charset="0"/>
              </a:rPr>
              <a:t>: Paul O’Neill, Safety and Alcoa; Posted by </a:t>
            </a:r>
            <a:r>
              <a:rPr lang="en-US" sz="1600" b="0" dirty="0" err="1">
                <a:solidFill>
                  <a:prstClr val="black"/>
                </a:solidFill>
                <a:latin typeface="Arial" panose="020B0604020202020204" pitchFamily="34" charset="0"/>
                <a:cs typeface="Arial" panose="020B0604020202020204" pitchFamily="34" charset="0"/>
              </a:rPr>
              <a:t>Aerossurance</a:t>
            </a:r>
            <a:r>
              <a:rPr lang="en-US" sz="1600" b="0" dirty="0">
                <a:solidFill>
                  <a:prstClr val="black"/>
                </a:solidFill>
                <a:latin typeface="Arial" panose="020B0604020202020204" pitchFamily="34" charset="0"/>
                <a:cs typeface="Arial" panose="020B0604020202020204" pitchFamily="34" charset="0"/>
              </a:rPr>
              <a:t> 29-Dec-2014; accessed 31-Oct-2019; </a:t>
            </a:r>
            <a:r>
              <a:rPr lang="en-US" sz="1600" b="0" dirty="0">
                <a:solidFill>
                  <a:prstClr val="black"/>
                </a:solidFill>
                <a:latin typeface="Arial" panose="020B0604020202020204" pitchFamily="34" charset="0"/>
                <a:cs typeface="Arial" panose="020B0604020202020204" pitchFamily="34" charset="0"/>
                <a:hlinkClick r:id="rId3"/>
              </a:rPr>
              <a:t>http://aerossurance.com/helicopters/paul-oneill-safety-alcoa-power-safety-leadership/</a:t>
            </a:r>
            <a:r>
              <a:rPr lang="en-US" sz="1600" b="0" dirty="0">
                <a:solidFill>
                  <a:prstClr val="black"/>
                </a:solidFill>
                <a:latin typeface="Arial" panose="020B0604020202020204" pitchFamily="34" charset="0"/>
                <a:cs typeface="Arial" panose="020B0604020202020204" pitchFamily="34" charset="0"/>
              </a:rPr>
              <a:t> </a:t>
            </a:r>
          </a:p>
          <a:p>
            <a:pPr marL="0" lvl="0" indent="0" fontAlgn="auto">
              <a:lnSpc>
                <a:spcPct val="100000"/>
              </a:lnSpc>
              <a:spcBef>
                <a:spcPts val="0"/>
              </a:spcBef>
              <a:spcAft>
                <a:spcPts val="0"/>
              </a:spcAft>
              <a:buClr>
                <a:prstClr val="black"/>
              </a:buClr>
              <a:buNone/>
            </a:pPr>
            <a:endParaRPr lang="en-US" sz="14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800" b="0" dirty="0">
                <a:solidFill>
                  <a:prstClr val="black"/>
                </a:solidFill>
                <a:latin typeface="Arial" panose="020B0604020202020204" pitchFamily="34" charset="0"/>
                <a:cs typeface="Arial" panose="020B0604020202020204" pitchFamily="34" charset="0"/>
              </a:rPr>
              <a:t>October 1987, Paul O'Neill gave his first speech as CEO of Alcoa to</a:t>
            </a:r>
            <a:br>
              <a:rPr lang="en-US" sz="1800" b="0" dirty="0">
                <a:solidFill>
                  <a:prstClr val="black"/>
                </a:solidFill>
                <a:latin typeface="Arial" panose="020B0604020202020204" pitchFamily="34" charset="0"/>
                <a:cs typeface="Arial" panose="020B0604020202020204" pitchFamily="34" charset="0"/>
              </a:rPr>
            </a:br>
            <a:r>
              <a:rPr lang="en-US" sz="1800" b="0" dirty="0">
                <a:solidFill>
                  <a:prstClr val="black"/>
                </a:solidFill>
                <a:latin typeface="Arial" panose="020B0604020202020204" pitchFamily="34" charset="0"/>
                <a:cs typeface="Arial" panose="020B0604020202020204" pitchFamily="34" charset="0"/>
              </a:rPr>
              <a:t>a crowd of financial analysts: </a:t>
            </a:r>
            <a:r>
              <a:rPr lang="en-US" sz="1800" b="0" i="1" dirty="0">
                <a:solidFill>
                  <a:prstClr val="black"/>
                </a:solidFill>
                <a:latin typeface="Arial" panose="020B0604020202020204" pitchFamily="34" charset="0"/>
                <a:cs typeface="Arial" panose="020B0604020202020204" pitchFamily="34" charset="0"/>
              </a:rPr>
              <a:t>“I want to talk to you about </a:t>
            </a:r>
            <a:r>
              <a:rPr lang="en-US" sz="1800" b="0" i="1" u="sng" dirty="0">
                <a:solidFill>
                  <a:prstClr val="black"/>
                </a:solidFill>
                <a:latin typeface="Arial" panose="020B0604020202020204" pitchFamily="34" charset="0"/>
                <a:cs typeface="Arial" panose="020B0604020202020204" pitchFamily="34" charset="0"/>
              </a:rPr>
              <a:t>worker safety.</a:t>
            </a:r>
            <a:r>
              <a:rPr lang="en-US" sz="1800" b="0" i="1" dirty="0">
                <a:solidFill>
                  <a:prstClr val="black"/>
                </a:solidFill>
                <a:latin typeface="Arial" panose="020B0604020202020204" pitchFamily="34" charset="0"/>
                <a:cs typeface="Arial" panose="020B0604020202020204" pitchFamily="34" charset="0"/>
              </a:rPr>
              <a:t>”</a:t>
            </a:r>
            <a:r>
              <a:rPr lang="en-US" sz="1800" b="0" dirty="0">
                <a:solidFill>
                  <a:prstClr val="black"/>
                </a:solidFill>
                <a:latin typeface="Arial" panose="020B0604020202020204" pitchFamily="34" charset="0"/>
                <a:cs typeface="Arial" panose="020B0604020202020204" pitchFamily="34" charset="0"/>
              </a:rPr>
              <a:t> </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8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8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800" b="0" dirty="0" smtClean="0">
                <a:solidFill>
                  <a:prstClr val="black"/>
                </a:solidFill>
                <a:latin typeface="Arial" panose="020B0604020202020204" pitchFamily="34" charset="0"/>
                <a:cs typeface="Arial" panose="020B0604020202020204" pitchFamily="34" charset="0"/>
              </a:rPr>
              <a:t>The </a:t>
            </a:r>
            <a:r>
              <a:rPr lang="en-US" sz="1800" b="0" dirty="0">
                <a:solidFill>
                  <a:prstClr val="black"/>
                </a:solidFill>
                <a:latin typeface="Arial" panose="020B0604020202020204" pitchFamily="34" charset="0"/>
                <a:cs typeface="Arial" panose="020B0604020202020204" pitchFamily="34" charset="0"/>
              </a:rPr>
              <a:t>room went silent.</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8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800" b="0" i="1" dirty="0">
                <a:solidFill>
                  <a:prstClr val="black"/>
                </a:solidFill>
                <a:latin typeface="Arial" panose="020B0604020202020204" pitchFamily="34" charset="0"/>
                <a:cs typeface="Arial" panose="020B0604020202020204" pitchFamily="34" charset="0"/>
              </a:rPr>
              <a:t>“Every year, numerous Alcoa workers are injured so badly that they miss a day of work. I intend to make Alcoa the safest company in America. I intend to go for zero injuries.”</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8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800" b="0" dirty="0">
                <a:solidFill>
                  <a:prstClr val="black"/>
                </a:solidFill>
                <a:latin typeface="Arial" panose="020B0604020202020204" pitchFamily="34" charset="0"/>
                <a:cs typeface="Arial" panose="020B0604020202020204" pitchFamily="34" charset="0"/>
              </a:rPr>
              <a:t>When asked about inventories and profits,</a:t>
            </a:r>
            <a:br>
              <a:rPr lang="en-US" sz="1800" b="0" dirty="0">
                <a:solidFill>
                  <a:prstClr val="black"/>
                </a:solidFill>
                <a:latin typeface="Arial" panose="020B0604020202020204" pitchFamily="34" charset="0"/>
                <a:cs typeface="Arial" panose="020B0604020202020204" pitchFamily="34" charset="0"/>
              </a:rPr>
            </a:br>
            <a:r>
              <a:rPr lang="en-US" sz="1800" b="0" dirty="0">
                <a:solidFill>
                  <a:prstClr val="black"/>
                </a:solidFill>
                <a:latin typeface="Arial" panose="020B0604020202020204" pitchFamily="34" charset="0"/>
                <a:cs typeface="Arial" panose="020B0604020202020204" pitchFamily="34" charset="0"/>
              </a:rPr>
              <a:t>he responded, </a:t>
            </a:r>
            <a:r>
              <a:rPr lang="en-US" sz="1800" b="0" i="1" dirty="0">
                <a:solidFill>
                  <a:prstClr val="black"/>
                </a:solidFill>
                <a:latin typeface="Arial" panose="020B0604020202020204" pitchFamily="34" charset="0"/>
                <a:cs typeface="Arial" panose="020B0604020202020204" pitchFamily="34" charset="0"/>
              </a:rPr>
              <a:t>“If you want to understand </a:t>
            </a:r>
            <a:br>
              <a:rPr lang="en-US" sz="1800" b="0" i="1" dirty="0">
                <a:solidFill>
                  <a:prstClr val="black"/>
                </a:solidFill>
                <a:latin typeface="Arial" panose="020B0604020202020204" pitchFamily="34" charset="0"/>
                <a:cs typeface="Arial" panose="020B0604020202020204" pitchFamily="34" charset="0"/>
              </a:rPr>
            </a:br>
            <a:r>
              <a:rPr lang="en-US" sz="1800" b="0" i="1" dirty="0">
                <a:solidFill>
                  <a:prstClr val="black"/>
                </a:solidFill>
                <a:latin typeface="Arial" panose="020B0604020202020204" pitchFamily="34" charset="0"/>
                <a:cs typeface="Arial" panose="020B0604020202020204" pitchFamily="34" charset="0"/>
              </a:rPr>
              <a:t>how Alcoa is doing, you need to look </a:t>
            </a:r>
            <a:br>
              <a:rPr lang="en-US" sz="1800" b="0" i="1" dirty="0">
                <a:solidFill>
                  <a:prstClr val="black"/>
                </a:solidFill>
                <a:latin typeface="Arial" panose="020B0604020202020204" pitchFamily="34" charset="0"/>
                <a:cs typeface="Arial" panose="020B0604020202020204" pitchFamily="34" charset="0"/>
              </a:rPr>
            </a:br>
            <a:r>
              <a:rPr lang="en-US" sz="1800" b="0" i="1" dirty="0">
                <a:solidFill>
                  <a:prstClr val="black"/>
                </a:solidFill>
                <a:latin typeface="Arial" panose="020B0604020202020204" pitchFamily="34" charset="0"/>
                <a:cs typeface="Arial" panose="020B0604020202020204" pitchFamily="34" charset="0"/>
              </a:rPr>
              <a:t>at our workplace safety figures.”</a:t>
            </a:r>
          </a:p>
          <a:p>
            <a:pPr marL="720000" lvl="0" indent="-342900" fontAlgn="auto">
              <a:lnSpc>
                <a:spcPct val="100000"/>
              </a:lnSpc>
              <a:spcBef>
                <a:spcPts val="0"/>
              </a:spcBef>
              <a:spcAft>
                <a:spcPts val="0"/>
              </a:spcAft>
              <a:buClr>
                <a:prstClr val="black"/>
              </a:buClr>
              <a:buFont typeface="Wingdings" panose="05000000000000000000" pitchFamily="2" charset="2"/>
              <a:buChar char="Ø"/>
            </a:pPr>
            <a:r>
              <a:rPr lang="en-US" i="1" dirty="0" smtClean="0">
                <a:solidFill>
                  <a:prstClr val="black"/>
                </a:solidFill>
                <a:latin typeface="Arial" panose="020B0604020202020204" pitchFamily="34" charset="0"/>
                <a:cs typeface="Arial" panose="020B0604020202020204" pitchFamily="34" charset="0"/>
              </a:rPr>
              <a:t>This </a:t>
            </a:r>
            <a:r>
              <a:rPr lang="en-US" i="1" dirty="0">
                <a:solidFill>
                  <a:prstClr val="black"/>
                </a:solidFill>
                <a:latin typeface="Arial" panose="020B0604020202020204" pitchFamily="34" charset="0"/>
                <a:cs typeface="Arial" panose="020B0604020202020204" pitchFamily="34" charset="0"/>
              </a:rPr>
              <a:t>was radical in 1987!</a:t>
            </a:r>
            <a:endParaRPr lang="en-US" dirty="0">
              <a:solidFill>
                <a:prstClr val="black"/>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Change Starts At The </a:t>
            </a:r>
            <a:r>
              <a:rPr lang="en-US" altLang="en-US" sz="2400" b="0" dirty="0" smtClean="0">
                <a:solidFill>
                  <a:srgbClr val="333399"/>
                </a:solidFill>
                <a:latin typeface="Arial" panose="020B0604020202020204" pitchFamily="34" charset="0"/>
                <a:cs typeface="Arial" panose="020B0604020202020204" pitchFamily="34" charset="0"/>
              </a:rPr>
              <a:t>Top:</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4"/>
          <a:stretch>
            <a:fillRect/>
          </a:stretch>
        </p:blipFill>
        <p:spPr>
          <a:xfrm>
            <a:off x="5410200" y="4132200"/>
            <a:ext cx="3352800" cy="1887600"/>
          </a:xfrm>
          <a:prstGeom prst="rect">
            <a:avLst/>
          </a:prstGeom>
        </p:spPr>
      </p:pic>
      <p:pic>
        <p:nvPicPr>
          <p:cNvPr id="7" name="Picture 6"/>
          <p:cNvPicPr>
            <a:picLocks noChangeAspect="1"/>
          </p:cNvPicPr>
          <p:nvPr/>
        </p:nvPicPr>
        <p:blipFill>
          <a:blip r:embed="rId5"/>
          <a:stretch>
            <a:fillRect/>
          </a:stretch>
        </p:blipFill>
        <p:spPr>
          <a:xfrm>
            <a:off x="3886200" y="2308686"/>
            <a:ext cx="3386447" cy="609446"/>
          </a:xfrm>
          <a:prstGeom prst="rect">
            <a:avLst/>
          </a:prstGeom>
        </p:spPr>
      </p:pic>
    </p:spTree>
    <p:extLst>
      <p:ext uri="{BB962C8B-B14F-4D97-AF65-F5344CB8AC3E}">
        <p14:creationId xmlns:p14="http://schemas.microsoft.com/office/powerpoint/2010/main" val="166926367"/>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smtClean="0">
                <a:solidFill>
                  <a:prstClr val="black"/>
                </a:solidFill>
                <a:latin typeface="Arial" panose="020B0604020202020204" pitchFamily="34" charset="0"/>
                <a:cs typeface="Arial" panose="020B0604020202020204" pitchFamily="34" charset="0"/>
              </a:rPr>
              <a:t>The </a:t>
            </a:r>
            <a:r>
              <a:rPr lang="en-US" b="0" dirty="0">
                <a:solidFill>
                  <a:prstClr val="black"/>
                </a:solidFill>
                <a:latin typeface="Arial" panose="020B0604020202020204" pitchFamily="34" charset="0"/>
                <a:cs typeface="Arial" panose="020B0604020202020204" pitchFamily="34" charset="0"/>
              </a:rPr>
              <a:t>financial analysts perceived this as </a:t>
            </a:r>
            <a:r>
              <a:rPr lang="en-US" b="0" i="1" dirty="0">
                <a:solidFill>
                  <a:prstClr val="black"/>
                </a:solidFill>
                <a:latin typeface="Arial" panose="020B0604020202020204" pitchFamily="34" charset="0"/>
                <a:cs typeface="Arial" panose="020B0604020202020204" pitchFamily="34" charset="0"/>
              </a:rPr>
              <a:t>“Profits don’t matter as much (to this CEO) as safety.”</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Investors in the room almost stampeded out the doors when the presentation ended. One jogged to the lobby, found a pay phone, and called his 20 largest clients. </a:t>
            </a:r>
            <a:r>
              <a:rPr lang="en-US" b="0" i="1" dirty="0">
                <a:solidFill>
                  <a:prstClr val="black"/>
                </a:solidFill>
                <a:latin typeface="Arial" panose="020B0604020202020204" pitchFamily="34" charset="0"/>
                <a:cs typeface="Arial" panose="020B0604020202020204" pitchFamily="34" charset="0"/>
              </a:rPr>
              <a:t>“The board put a crazy hippie in charge and he’s going to kill the company. I ordered them to sell their stock immediately, before everyone else in the room started calling their clients and telling them the same thing.”</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However, that investor admitted that in </a:t>
            </a:r>
            <a:r>
              <a:rPr lang="en-US" b="0" dirty="0" smtClean="0">
                <a:solidFill>
                  <a:prstClr val="black"/>
                </a:solidFill>
                <a:latin typeface="Arial" panose="020B0604020202020204" pitchFamily="34" charset="0"/>
                <a:cs typeface="Arial" panose="020B0604020202020204" pitchFamily="34" charset="0"/>
              </a:rPr>
              <a:t/>
            </a:r>
            <a:br>
              <a:rPr lang="en-US" b="0" dirty="0" smtClean="0">
                <a:solidFill>
                  <a:prstClr val="black"/>
                </a:solidFill>
                <a:latin typeface="Arial" panose="020B0604020202020204" pitchFamily="34" charset="0"/>
                <a:cs typeface="Arial" panose="020B0604020202020204" pitchFamily="34" charset="0"/>
              </a:rPr>
            </a:br>
            <a:r>
              <a:rPr lang="en-US" b="0" dirty="0" smtClean="0">
                <a:solidFill>
                  <a:prstClr val="black"/>
                </a:solidFill>
                <a:latin typeface="Arial" panose="020B0604020202020204" pitchFamily="34" charset="0"/>
                <a:cs typeface="Arial" panose="020B0604020202020204" pitchFamily="34" charset="0"/>
              </a:rPr>
              <a:t>the </a:t>
            </a:r>
            <a:r>
              <a:rPr lang="en-US" b="0" dirty="0">
                <a:solidFill>
                  <a:prstClr val="black"/>
                </a:solidFill>
                <a:latin typeface="Arial" panose="020B0604020202020204" pitchFamily="34" charset="0"/>
                <a:cs typeface="Arial" panose="020B0604020202020204" pitchFamily="34" charset="0"/>
              </a:rPr>
              <a:t>long run he </a:t>
            </a:r>
            <a:r>
              <a:rPr lang="en-US" b="0" dirty="0" err="1">
                <a:solidFill>
                  <a:prstClr val="black"/>
                </a:solidFill>
                <a:latin typeface="Arial" panose="020B0604020202020204" pitchFamily="34" charset="0"/>
                <a:cs typeface="Arial" panose="020B0604020202020204" pitchFamily="34" charset="0"/>
              </a:rPr>
              <a:t>recognised</a:t>
            </a:r>
            <a:r>
              <a:rPr lang="en-US" b="0" dirty="0">
                <a:solidFill>
                  <a:prstClr val="black"/>
                </a:solidFill>
                <a:latin typeface="Arial" panose="020B0604020202020204" pitchFamily="34" charset="0"/>
                <a:cs typeface="Arial" panose="020B0604020202020204" pitchFamily="34" charset="0"/>
              </a:rPr>
              <a:t> that: </a:t>
            </a:r>
            <a:br>
              <a:rPr lang="en-US" b="0" dirty="0">
                <a:solidFill>
                  <a:prstClr val="black"/>
                </a:solidFill>
                <a:latin typeface="Arial" panose="020B0604020202020204" pitchFamily="34" charset="0"/>
                <a:cs typeface="Arial" panose="020B0604020202020204" pitchFamily="34" charset="0"/>
              </a:rPr>
            </a:br>
            <a:r>
              <a:rPr lang="en-US" b="0" i="1" dirty="0">
                <a:solidFill>
                  <a:prstClr val="black"/>
                </a:solidFill>
                <a:latin typeface="Arial" panose="020B0604020202020204" pitchFamily="34" charset="0"/>
                <a:cs typeface="Arial" panose="020B0604020202020204" pitchFamily="34" charset="0"/>
              </a:rPr>
              <a:t>“It was literally the worst piece of advice </a:t>
            </a:r>
            <a:r>
              <a:rPr lang="en-US" b="0" i="1" dirty="0" smtClean="0">
                <a:solidFill>
                  <a:prstClr val="black"/>
                </a:solidFill>
                <a:latin typeface="Arial" panose="020B0604020202020204" pitchFamily="34" charset="0"/>
                <a:cs typeface="Arial" panose="020B0604020202020204" pitchFamily="34" charset="0"/>
              </a:rPr>
              <a:t/>
            </a:r>
            <a:br>
              <a:rPr lang="en-US" b="0" i="1" dirty="0" smtClean="0">
                <a:solidFill>
                  <a:prstClr val="black"/>
                </a:solidFill>
                <a:latin typeface="Arial" panose="020B0604020202020204" pitchFamily="34" charset="0"/>
                <a:cs typeface="Arial" panose="020B0604020202020204" pitchFamily="34" charset="0"/>
              </a:rPr>
            </a:br>
            <a:r>
              <a:rPr lang="en-US" b="0" i="1" dirty="0" smtClean="0">
                <a:solidFill>
                  <a:prstClr val="black"/>
                </a:solidFill>
                <a:latin typeface="Arial" panose="020B0604020202020204" pitchFamily="34" charset="0"/>
                <a:cs typeface="Arial" panose="020B0604020202020204" pitchFamily="34" charset="0"/>
              </a:rPr>
              <a:t>I </a:t>
            </a:r>
            <a:r>
              <a:rPr lang="en-US" b="0" i="1" dirty="0">
                <a:solidFill>
                  <a:prstClr val="black"/>
                </a:solidFill>
                <a:latin typeface="Arial" panose="020B0604020202020204" pitchFamily="34" charset="0"/>
                <a:cs typeface="Arial" panose="020B0604020202020204" pitchFamily="34" charset="0"/>
              </a:rPr>
              <a:t>gave in my entire career.”</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The Financial Analysts’ Reactions: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descr="monopoly-&lt;strong&gt;man&lt;/strong&gt;-&lt;strong&gt;running&lt;/strong&gt;-&lt;strong&gt;with-money&lt;/strong&gt;-bag | Caelum Et Terr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9300" y="3733800"/>
            <a:ext cx="3594100" cy="2156460"/>
          </a:xfrm>
          <a:prstGeom prst="rect">
            <a:avLst/>
          </a:prstGeom>
        </p:spPr>
      </p:pic>
    </p:spTree>
    <p:extLst>
      <p:ext uri="{BB962C8B-B14F-4D97-AF65-F5344CB8AC3E}">
        <p14:creationId xmlns:p14="http://schemas.microsoft.com/office/powerpoint/2010/main" val="312835077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90000"/>
              </a:lnSpc>
              <a:spcBef>
                <a:spcPts val="0"/>
              </a:spcBef>
              <a:spcAft>
                <a:spcPts val="0"/>
              </a:spcAft>
              <a:buClr>
                <a:prstClr val="black"/>
              </a:buClr>
              <a:buNone/>
            </a:pPr>
            <a:r>
              <a:rPr lang="en-US" sz="1600" b="0" dirty="0" smtClean="0">
                <a:solidFill>
                  <a:prstClr val="black"/>
                </a:solidFill>
                <a:latin typeface="Arial" panose="020B0604020202020204" pitchFamily="34" charset="0"/>
                <a:cs typeface="Arial" panose="020B0604020202020204" pitchFamily="34" charset="0"/>
              </a:rPr>
              <a:t>In </a:t>
            </a:r>
            <a:r>
              <a:rPr lang="en-US" sz="1600" b="0" dirty="0">
                <a:solidFill>
                  <a:prstClr val="black"/>
                </a:solidFill>
                <a:latin typeface="Arial" panose="020B0604020202020204" pitchFamily="34" charset="0"/>
                <a:cs typeface="Arial" panose="020B0604020202020204" pitchFamily="34" charset="0"/>
              </a:rPr>
              <a:t>a presentation to The Carnegie Council in 2012, former Alcoa VP Bill O'Rourke indicated five programs that O’Neill had implemented to influence:</a:t>
            </a:r>
          </a:p>
          <a:p>
            <a:pPr marL="0" lvl="0" indent="0" fontAlgn="auto">
              <a:lnSpc>
                <a:spcPct val="90000"/>
              </a:lnSpc>
              <a:spcBef>
                <a:spcPts val="0"/>
              </a:spcBef>
              <a:spcAft>
                <a:spcPts val="0"/>
              </a:spcAft>
              <a:buClr>
                <a:prstClr val="black"/>
              </a:buClr>
              <a:buNone/>
            </a:pPr>
            <a:endParaRPr lang="en-US" sz="1600" dirty="0">
              <a:solidFill>
                <a:prstClr val="black"/>
              </a:solidFill>
              <a:latin typeface="Arial" panose="020B0604020202020204" pitchFamily="34" charset="0"/>
              <a:cs typeface="Arial" panose="020B0604020202020204" pitchFamily="34" charset="0"/>
            </a:endParaRPr>
          </a:p>
          <a:p>
            <a:pPr marL="0" lvl="0"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1) Safety was at the Top of the Meeting Agenda:</a:t>
            </a:r>
          </a:p>
          <a:p>
            <a:pPr marL="342900" lvl="0"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Plant managers, senior management, Board of Directors, Shareholders, Financial Analysts</a:t>
            </a:r>
          </a:p>
          <a:p>
            <a:pPr marL="342900" lvl="0" indent="-342900" fontAlgn="auto">
              <a:lnSpc>
                <a:spcPct val="9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0" lvl="0"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2) Report Incidents Within 24 Hours: </a:t>
            </a:r>
          </a:p>
          <a:p>
            <a:pPr marL="342900" lvl="1"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Who was hurt?</a:t>
            </a:r>
          </a:p>
          <a:p>
            <a:pPr marL="342900" lvl="1"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Why they were hurt?</a:t>
            </a:r>
          </a:p>
          <a:p>
            <a:pPr marL="342900" lvl="1"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What have you done about it? </a:t>
            </a:r>
          </a:p>
          <a:p>
            <a:pPr marL="342900" lvl="0" indent="-342900" fontAlgn="auto">
              <a:lnSpc>
                <a:spcPct val="9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0" lvl="0"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3) Real-time Safety Performance Data:  </a:t>
            </a:r>
          </a:p>
          <a:p>
            <a:pPr marL="342900" lvl="0" indent="-342900" fontAlgn="auto">
              <a:lnSpc>
                <a:spcPct val="9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0" lvl="0"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4) Safety Audit Program and Department (Resources and Authority):</a:t>
            </a:r>
          </a:p>
          <a:p>
            <a:pPr marL="342900" lvl="0" indent="-342900" fontAlgn="auto">
              <a:lnSpc>
                <a:spcPct val="9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0" lvl="1"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5) Plant Manager Training: </a:t>
            </a:r>
          </a:p>
          <a:p>
            <a:pPr marL="342900" lvl="1"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The training was condensed in two lessons for Plant Managers: </a:t>
            </a:r>
          </a:p>
          <a:p>
            <a:pPr marL="800100" lvl="2" indent="-342900" fontAlgn="auto">
              <a:lnSpc>
                <a:spcPct val="90000"/>
              </a:lnSpc>
              <a:spcBef>
                <a:spcPts val="0"/>
              </a:spcBef>
              <a:spcAft>
                <a:spcPts val="0"/>
              </a:spcAft>
              <a:buClr>
                <a:prstClr val="black"/>
              </a:buClr>
              <a:buFont typeface="Wingdings" panose="05000000000000000000" pitchFamily="2" charset="2"/>
              <a:buAutoNum type="arabicParenR"/>
            </a:pPr>
            <a:r>
              <a:rPr lang="en-US" b="0" dirty="0">
                <a:solidFill>
                  <a:prstClr val="black"/>
                </a:solidFill>
                <a:latin typeface="Arial" panose="020B0604020202020204" pitchFamily="34" charset="0"/>
                <a:cs typeface="Arial" panose="020B0604020202020204" pitchFamily="34" charset="0"/>
              </a:rPr>
              <a:t>“Don’t fail an audit.”</a:t>
            </a:r>
          </a:p>
          <a:p>
            <a:pPr marL="800100" lvl="2" indent="-342900" fontAlgn="auto">
              <a:lnSpc>
                <a:spcPct val="90000"/>
              </a:lnSpc>
              <a:spcBef>
                <a:spcPts val="0"/>
              </a:spcBef>
              <a:spcAft>
                <a:spcPts val="0"/>
              </a:spcAft>
              <a:buClr>
                <a:prstClr val="black"/>
              </a:buClr>
              <a:buFont typeface="Wingdings" panose="05000000000000000000" pitchFamily="2" charset="2"/>
              <a:buAutoNum type="arabicParenR"/>
            </a:pPr>
            <a:r>
              <a:rPr lang="en-US" b="0" dirty="0">
                <a:solidFill>
                  <a:prstClr val="black"/>
                </a:solidFill>
                <a:latin typeface="Arial" panose="020B0604020202020204" pitchFamily="34" charset="0"/>
                <a:cs typeface="Arial" panose="020B0604020202020204" pitchFamily="34" charset="0"/>
              </a:rPr>
              <a:t>“Don’t mess with safety programs and requirements.”</a:t>
            </a:r>
          </a:p>
          <a:p>
            <a:pPr marL="1143000" lvl="1" indent="-457200" fontAlgn="auto">
              <a:lnSpc>
                <a:spcPct val="90000"/>
              </a:lnSpc>
              <a:spcBef>
                <a:spcPts val="0"/>
              </a:spcBef>
              <a:spcAft>
                <a:spcPts val="0"/>
              </a:spcAft>
              <a:buClr>
                <a:prstClr val="black"/>
              </a:buClr>
              <a:buFont typeface="Wingdings" panose="05000000000000000000" pitchFamily="2" charset="2"/>
              <a:buAutoNum type="arabicParenR"/>
            </a:pPr>
            <a:endParaRPr lang="en-US" sz="1600" b="0" dirty="0">
              <a:solidFill>
                <a:prstClr val="black"/>
              </a:solidFill>
              <a:latin typeface="Arial" panose="020B0604020202020204" pitchFamily="34" charset="0"/>
              <a:cs typeface="Arial" panose="020B0604020202020204" pitchFamily="34" charset="0"/>
            </a:endParaRPr>
          </a:p>
          <a:p>
            <a:pPr marL="0" lvl="1" indent="0" fontAlgn="auto">
              <a:lnSpc>
                <a:spcPct val="9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Key Lesson: </a:t>
            </a:r>
          </a:p>
          <a:p>
            <a:pPr marL="342900" lvl="1" indent="-342900" fontAlgn="auto">
              <a:lnSpc>
                <a:spcPct val="9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In other words, do everything possible to effectively implement the safety program at your plant (your area of responsibility)! (ESG KP#2 Understand your program!)</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Five Practicable Programs: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Tree>
    <p:extLst>
      <p:ext uri="{BB962C8B-B14F-4D97-AF65-F5344CB8AC3E}">
        <p14:creationId xmlns:p14="http://schemas.microsoft.com/office/powerpoint/2010/main" val="3574973146"/>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Alcoa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Five Programs and RM Elements </a:t>
            </a:r>
          </a:p>
        </p:txBody>
      </p:sp>
      <p:sp>
        <p:nvSpPr>
          <p:cNvPr id="6"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
        <p:nvSpPr>
          <p:cNvPr id="10" name="Rectangle 3"/>
          <p:cNvSpPr>
            <a:spLocks noChangeArrowheads="1"/>
          </p:cNvSpPr>
          <p:nvPr/>
        </p:nvSpPr>
        <p:spPr bwMode="auto">
          <a:xfrm>
            <a:off x="180000" y="828000"/>
            <a:ext cx="6754200" cy="5328000"/>
          </a:xfrm>
          <a:prstGeom prst="rect">
            <a:avLst/>
          </a:prstGeom>
          <a:solidFill>
            <a:schemeClr val="tx1"/>
          </a:solidFill>
          <a:ln w="9525">
            <a:solidFill>
              <a:schemeClr val="tx1"/>
            </a:solidFill>
            <a:miter lim="800000"/>
            <a:headEnd/>
            <a:tailEnd/>
          </a:ln>
        </p:spPr>
        <p:txBody>
          <a:bodyPr/>
          <a:lstStyle>
            <a:lvl1pPr marL="609600" indent="-6096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Wingdings" panose="05000000000000000000" pitchFamily="2" charset="2"/>
              <a:buNone/>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 typeface="Wingdings" panose="05000000000000000000" pitchFamily="2" charset="2"/>
              <a:buNone/>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Program alignment to APEGA RM Elements:</a:t>
            </a: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Safety at the Top of all Meeting Agendas:</a:t>
            </a:r>
            <a:b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1) </a:t>
            </a:r>
            <a:r>
              <a:rPr kumimoji="0" lang="en-US" altLang="en-US" sz="2000" b="1"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MLCA</a:t>
            </a: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Report Incidents Within 24 Hours: </a:t>
            </a:r>
            <a:b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1) </a:t>
            </a:r>
            <a:r>
              <a:rPr kumimoji="0" lang="en-US" altLang="en-US" sz="2000" b="1"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MLCA, 5) IRIA&amp;A</a:t>
            </a: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Real-time Safety Performance Data:  </a:t>
            </a:r>
            <a:b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5) </a:t>
            </a:r>
            <a:r>
              <a:rPr kumimoji="0" lang="en-US" altLang="en-US" sz="2000" b="1"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IRIA&amp;A, 8) O&amp;M</a:t>
            </a: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Global Safety Audit Program and Department:</a:t>
            </a:r>
            <a:b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6) </a:t>
            </a:r>
            <a:r>
              <a:rPr kumimoji="0" lang="en-US" altLang="en-US" sz="2000" b="1"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PECI</a:t>
            </a: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Plant Manager Training:</a:t>
            </a:r>
            <a:b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1) </a:t>
            </a:r>
            <a:r>
              <a:rPr kumimoji="0" lang="en-US" altLang="en-US" sz="2000" b="1"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MLCA, 9) EC&amp;T</a:t>
            </a:r>
          </a:p>
          <a:p>
            <a:pPr marL="0" marR="0" lvl="0" indent="0" algn="l" defTabSz="914400" rtl="0" eaLnBrk="0" fontAlgn="base" latinLnBrk="0" hangingPunct="0">
              <a:lnSpc>
                <a:spcPct val="90000"/>
              </a:lnSpc>
              <a:spcBef>
                <a:spcPts val="0"/>
              </a:spcBef>
              <a:spcAft>
                <a:spcPct val="0"/>
              </a:spcAft>
              <a:buClr>
                <a:srgbClr val="000000"/>
              </a:buClr>
              <a:buSzPct val="100000"/>
              <a:buFont typeface="Wingdings" panose="05000000000000000000" pitchFamily="2" charset="2"/>
              <a:buNone/>
              <a:tabLst/>
              <a:defRPr/>
            </a:pPr>
            <a:endPar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 typeface="Wingdings" panose="05000000000000000000" pitchFamily="2" charset="2"/>
              <a:buNone/>
              <a:tabLst/>
              <a:defRPr/>
            </a:pPr>
            <a:r>
              <a:rPr kumimoji="0" lang="en-US" altLang="en-US" sz="1600" b="0" i="1"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(See additional comments in the Notes section)</a:t>
            </a:r>
            <a:endParaRPr kumimoji="0" lang="en-US" altLang="en-US" sz="1600" b="0" i="1"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1" name="Rectangle 3"/>
          <p:cNvSpPr>
            <a:spLocks noChangeArrowheads="1"/>
          </p:cNvSpPr>
          <p:nvPr/>
        </p:nvSpPr>
        <p:spPr bwMode="auto">
          <a:xfrm>
            <a:off x="7010400" y="828000"/>
            <a:ext cx="1828800" cy="5328000"/>
          </a:xfrm>
          <a:prstGeom prst="rect">
            <a:avLst/>
          </a:prstGeom>
          <a:solidFill>
            <a:srgbClr val="000000"/>
          </a:solidFill>
          <a:ln w="9525">
            <a:solidFill>
              <a:srgbClr val="000000"/>
            </a:solidFill>
            <a:miter lim="800000"/>
            <a:headEnd/>
            <a:tailEnd/>
          </a:ln>
        </p:spPr>
        <p:txBody>
          <a:bodyPr/>
          <a:lstStyle>
            <a:lvl1pPr marL="609600" indent="-6096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0" fontAlgn="base" latinLnBrk="0" hangingPunct="0">
              <a:lnSpc>
                <a:spcPct val="100000"/>
              </a:lnSpc>
              <a:spcBef>
                <a:spcPts val="0"/>
              </a:spcBef>
              <a:spcAft>
                <a:spcPts val="600"/>
              </a:spcAft>
              <a:buClr>
                <a:srgbClr val="000000"/>
              </a:buClr>
              <a:buSzPct val="100000"/>
              <a:buFont typeface="Wingdings" panose="05000000000000000000" pitchFamily="2" charset="2"/>
              <a:buNone/>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rPr>
              <a:t>APEGA RME:</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MLCA</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RA&amp;MR</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CAER</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MOC</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IRIA&amp;A</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PECI</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DC&amp;SU.</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O&amp;M</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EC&amp;T.</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CC&amp;I</a:t>
            </a:r>
          </a:p>
          <a:p>
            <a:pPr marL="274320" marR="0" lvl="0" indent="-274320" algn="l" defTabSz="914400" rtl="0" eaLnBrk="1" fontAlgn="base" latinLnBrk="0" hangingPunct="1">
              <a:lnSpc>
                <a:spcPct val="100000"/>
              </a:lnSpc>
              <a:spcBef>
                <a:spcPts val="0"/>
              </a:spcBef>
              <a:spcAft>
                <a:spcPts val="600"/>
              </a:spcAft>
              <a:buClrTx/>
              <a:buSzPct val="100000"/>
              <a:buFont typeface="Times New Roman" panose="02020603050405020304" pitchFamily="18" charset="0"/>
              <a:buAutoNum type="arabicParenR"/>
              <a:tabLst/>
              <a:defRPr/>
            </a:pPr>
            <a:r>
              <a:rPr kumimoji="0" lang="en-US" altLang="en-US" sz="2000" b="0" i="0" u="none" strike="noStrike" kern="1200" cap="none" spc="0" normalizeH="0" baseline="0" noProof="0" dirty="0" smtClean="0">
                <a:ln>
                  <a:noFill/>
                </a:ln>
                <a:solidFill>
                  <a:prstClr val="white"/>
                </a:solidFill>
                <a:effectLst/>
                <a:uLnTx/>
                <a:uFillTx/>
                <a:latin typeface="Arial" panose="020B0604020202020204" pitchFamily="34" charset="0"/>
                <a:ea typeface="ＭＳ Ｐゴシック" panose="020B0600070205080204" pitchFamily="34" charset="-128"/>
                <a:cs typeface="+mn-cs"/>
              </a:rPr>
              <a:t>OFID</a:t>
            </a:r>
            <a:endParaRPr kumimoji="0" lang="en-US" altLang="en-US" sz="2000" b="0" i="0" u="none" strike="noStrike" kern="1200" cap="none" spc="0" normalizeH="0" baseline="0" noProof="0" dirty="0">
              <a:ln>
                <a:noFill/>
              </a:ln>
              <a:solidFill>
                <a:prstClr val="white"/>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754177889"/>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Alcoa Global Lost Workday Rate = 0.126 in 2014</a:t>
            </a: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Improved market cap 9X (1987 USD4Bn to 2007 USD28Bn)</a:t>
            </a:r>
          </a:p>
          <a:p>
            <a:pPr marL="864000" lvl="1" indent="-342900" fontAlgn="auto">
              <a:lnSpc>
                <a:spcPct val="100000"/>
              </a:lnSpc>
              <a:spcBef>
                <a:spcPts val="0"/>
              </a:spcBef>
              <a:spcAft>
                <a:spcPts val="0"/>
              </a:spcAft>
              <a:buClr>
                <a:prstClr val="black"/>
              </a:buClr>
              <a:buFont typeface="Wingdings" panose="05000000000000000000" pitchFamily="2" charset="2"/>
              <a:buChar char="Ø"/>
            </a:pPr>
            <a:r>
              <a:rPr lang="en-US" sz="2000" b="0" i="1" dirty="0">
                <a:solidFill>
                  <a:srgbClr val="FF0000"/>
                </a:solidFill>
                <a:latin typeface="Arial" panose="020B0604020202020204" pitchFamily="34" charset="0"/>
                <a:cs typeface="Arial" panose="020B0604020202020204" pitchFamily="34" charset="0"/>
              </a:rPr>
              <a:t>Market crash in Fall 2008, followed by restructuring, divestments  </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smtClean="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b="0" dirty="0">
                <a:solidFill>
                  <a:prstClr val="black"/>
                </a:solidFill>
                <a:latin typeface="Arial" panose="020B0604020202020204" pitchFamily="34" charset="0"/>
                <a:cs typeface="Arial" panose="020B0604020202020204" pitchFamily="34" charset="0"/>
              </a:rPr>
              <a:t>Tennessee Operations are </a:t>
            </a:r>
            <a:r>
              <a:rPr lang="en-US" b="0" dirty="0" smtClean="0">
                <a:solidFill>
                  <a:prstClr val="black"/>
                </a:solidFill>
                <a:latin typeface="Arial" panose="020B0604020202020204" pitchFamily="34" charset="0"/>
                <a:cs typeface="Arial" panose="020B0604020202020204" pitchFamily="34" charset="0"/>
              </a:rPr>
              <a:t>typical.</a:t>
            </a:r>
            <a:endParaRPr lang="en-US" b="0" dirty="0">
              <a:solidFill>
                <a:prstClr val="black"/>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The Legacy – Safety &amp; Financial Performance:</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6" name="Picture 5"/>
          <p:cNvPicPr>
            <a:picLocks noChangeAspect="1"/>
          </p:cNvPicPr>
          <p:nvPr/>
        </p:nvPicPr>
        <p:blipFill>
          <a:blip r:embed="rId3"/>
          <a:stretch>
            <a:fillRect/>
          </a:stretch>
        </p:blipFill>
        <p:spPr>
          <a:xfrm>
            <a:off x="533400" y="2185200"/>
            <a:ext cx="3790422" cy="2844000"/>
          </a:xfrm>
          <a:prstGeom prst="rect">
            <a:avLst/>
          </a:prstGeom>
          <a:ln>
            <a:solidFill>
              <a:schemeClr val="tx1"/>
            </a:solidFill>
          </a:ln>
        </p:spPr>
      </p:pic>
      <p:pic>
        <p:nvPicPr>
          <p:cNvPr id="7" name="Picture 6">
            <a:extLst>
              <a:ext uri="{FF2B5EF4-FFF2-40B4-BE49-F238E27FC236}">
                <a16:creationId xmlns:a16="http://schemas.microsoft.com/office/drawing/2014/main" id="{6881B64F-552B-8D46-B3F9-75A30BECF959}"/>
              </a:ext>
            </a:extLst>
          </p:cNvPr>
          <p:cNvPicPr>
            <a:picLocks noChangeAspect="1"/>
          </p:cNvPicPr>
          <p:nvPr/>
        </p:nvPicPr>
        <p:blipFill>
          <a:blip r:embed="rId4"/>
          <a:stretch>
            <a:fillRect/>
          </a:stretch>
        </p:blipFill>
        <p:spPr>
          <a:xfrm>
            <a:off x="4468200" y="2185200"/>
            <a:ext cx="4246413" cy="2844000"/>
          </a:xfrm>
          <a:prstGeom prst="rect">
            <a:avLst/>
          </a:prstGeom>
        </p:spPr>
      </p:pic>
    </p:spTree>
    <p:extLst>
      <p:ext uri="{BB962C8B-B14F-4D97-AF65-F5344CB8AC3E}">
        <p14:creationId xmlns:p14="http://schemas.microsoft.com/office/powerpoint/2010/main" val="2899771240"/>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100000"/>
              </a:lnSpc>
              <a:spcBef>
                <a:spcPts val="0"/>
              </a:spcBef>
              <a:buClrTx/>
              <a:buSzPct val="100000"/>
              <a:buNone/>
              <a:defRPr/>
            </a:pPr>
            <a:r>
              <a:rPr kumimoji="0" lang="en-US" altLang="en-US" sz="20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Recall</a:t>
            </a:r>
            <a:r>
              <a:rPr kumimoji="0" lang="en-US" altLang="en-US" sz="20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7.7: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Makes an Effective Leader</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lvl="0" indent="0" eaLnBrk="0" hangingPunct="0">
              <a:lnSpc>
                <a:spcPct val="100000"/>
              </a:lnSpc>
              <a:spcBef>
                <a:spcPts val="0"/>
              </a:spcBef>
              <a:buClrTx/>
              <a:buSzPct val="100000"/>
              <a:buNone/>
              <a:defRPr/>
            </a:pP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strategy that Paul </a:t>
            </a: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O’Neill formulated and </a:t>
            </a:r>
            <a:b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executed was evident at all of these layers.</a:t>
            </a:r>
          </a:p>
          <a:p>
            <a:pPr marL="360000" indent="-360000" eaLnBrk="0" hangingPunct="0">
              <a:lnSpc>
                <a:spcPct val="100000"/>
              </a:lnSpc>
              <a:spcBef>
                <a:spcPts val="0"/>
              </a:spcBef>
              <a:buClrTx/>
              <a:buSzPct val="100000"/>
              <a:buFont typeface="Wingdings" panose="05000000000000000000" pitchFamily="2" charset="2"/>
              <a:buChar char="Ø"/>
              <a:defRPr/>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 what’s important … </a:t>
            </a:r>
            <a:b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it gets managed.</a:t>
            </a:r>
          </a:p>
          <a:p>
            <a:pPr marL="360000" indent="-360000" eaLnBrk="0" hangingPunct="0">
              <a:lnSpc>
                <a:spcPct val="100000"/>
              </a:lnSpc>
              <a:spcBef>
                <a:spcPts val="0"/>
              </a:spcBef>
              <a:buClrTx/>
              <a:buSzPct val="100000"/>
              <a:buFont typeface="Wingdings" panose="05000000000000000000" pitchFamily="2" charset="2"/>
              <a:buChar char="Ø"/>
              <a:defRPr/>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formed by line management </a:t>
            </a:r>
            <a:b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“Don’t fail an audit.</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Don’t mess with safety.”</a:t>
            </a:r>
          </a:p>
          <a:p>
            <a:pPr marL="36000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Paul O’Neill’s actions were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consistent with his intentions.</a:t>
            </a:r>
          </a:p>
          <a:p>
            <a:pPr marL="360000" indent="-360000" eaLnBrk="0" hangingPunct="0">
              <a:lnSpc>
                <a:spcPct val="100000"/>
              </a:lnSpc>
              <a:spcBef>
                <a:spcPts val="0"/>
              </a:spcBef>
              <a:buClrTx/>
              <a:buSzPct val="100000"/>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“Here is what I mean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by this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zero injuries is our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goal</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 don’t want to budget it, I want to fix it</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Effective Leader Sets the Foundation for Performance:</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2" name="Picture 1"/>
          <p:cNvPicPr>
            <a:picLocks noChangeAspect="1"/>
          </p:cNvPicPr>
          <p:nvPr/>
        </p:nvPicPr>
        <p:blipFill>
          <a:blip r:embed="rId3"/>
          <a:stretch>
            <a:fillRect/>
          </a:stretch>
        </p:blipFill>
        <p:spPr>
          <a:xfrm>
            <a:off x="3898492" y="1219200"/>
            <a:ext cx="5093108" cy="4495800"/>
          </a:xfrm>
          <a:prstGeom prst="rect">
            <a:avLst/>
          </a:prstGeom>
        </p:spPr>
      </p:pic>
      <p:sp>
        <p:nvSpPr>
          <p:cNvPr id="1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Tree>
    <p:extLst>
      <p:ext uri="{BB962C8B-B14F-4D97-AF65-F5344CB8AC3E}">
        <p14:creationId xmlns:p14="http://schemas.microsoft.com/office/powerpoint/2010/main" val="87981935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90000"/>
              </a:lnSpc>
              <a:spcBef>
                <a:spcPts val="0"/>
              </a:spcBef>
              <a:buClr>
                <a:srgbClr val="000000"/>
              </a:buClr>
              <a:buSzPct val="100000"/>
              <a:buNone/>
              <a:defRPr/>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Summary: </a:t>
            </a:r>
          </a:p>
          <a:p>
            <a:pPr marL="457200" lvl="0" indent="-457200" eaLnBrk="0" hangingPunct="0">
              <a:lnSpc>
                <a:spcPct val="90000"/>
              </a:lnSpc>
              <a:spcBef>
                <a:spcPts val="0"/>
              </a:spcBef>
              <a:buClr>
                <a:srgbClr val="000000"/>
              </a:buClr>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Pearson’s Law: </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performance is measured, performance improves. When performance is measured </a:t>
            </a:r>
            <a:r>
              <a:rPr lang="en-US" altLang="en-US" b="0" i="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reported back, the rate of improvement accelerates</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57200" lvl="0" indent="-457200" eaLnBrk="0" hangingPunct="0">
              <a:lnSpc>
                <a:spcPct val="90000"/>
              </a:lnSpc>
              <a:spcBef>
                <a:spcPts val="0"/>
              </a:spcBef>
              <a:buClr>
                <a:srgbClr val="000000"/>
              </a:buClr>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Change starts with the values set at the top of the organization.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Zero Injuries” “Safety is a precondition (value).”</a:t>
            </a:r>
          </a:p>
          <a:p>
            <a:pPr marL="457200" lvl="0" indent="-457200" eaLnBrk="0" hangingPunct="0">
              <a:lnSpc>
                <a:spcPct val="90000"/>
              </a:lnSpc>
              <a:spcBef>
                <a:spcPts val="0"/>
              </a:spcBef>
              <a:buClr>
                <a:srgbClr val="000000"/>
              </a:buClr>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Five Practicable Programs: </a:t>
            </a:r>
          </a:p>
          <a:p>
            <a:pPr marL="914400" lvl="1" indent="-457200" eaLnBrk="0" hangingPunct="0">
              <a:lnSpc>
                <a:spcPct val="90000"/>
              </a:lnSpc>
              <a:spcBef>
                <a:spcPts val="0"/>
              </a:spcBef>
              <a:buClr>
                <a:srgbClr val="000000"/>
              </a:buClr>
              <a:buSzPct val="100000"/>
              <a:buFont typeface="+mj-lt"/>
              <a:buAutoNum type="arabicParenR"/>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at the Top of all Meeting Agendas:</a:t>
            </a:r>
          </a:p>
          <a:p>
            <a:pPr marL="914400" lvl="1" indent="-457200" eaLnBrk="0" hangingPunct="0">
              <a:lnSpc>
                <a:spcPct val="90000"/>
              </a:lnSpc>
              <a:spcBef>
                <a:spcPts val="0"/>
              </a:spcBef>
              <a:buClr>
                <a:srgbClr val="000000"/>
              </a:buClr>
              <a:buSzPct val="100000"/>
              <a:buFont typeface="+mj-lt"/>
              <a:buAutoNum type="arabicParenR"/>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Report Incidents Within 24 Hours: </a:t>
            </a:r>
          </a:p>
          <a:p>
            <a:pPr marL="914400" lvl="1" indent="-457200" eaLnBrk="0" hangingPunct="0">
              <a:lnSpc>
                <a:spcPct val="90000"/>
              </a:lnSpc>
              <a:spcBef>
                <a:spcPts val="0"/>
              </a:spcBef>
              <a:buClr>
                <a:srgbClr val="000000"/>
              </a:buClr>
              <a:buSzPct val="100000"/>
              <a:buFont typeface="+mj-lt"/>
              <a:buAutoNum type="arabicParenR"/>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Real-time Safety Performance Data:  </a:t>
            </a:r>
          </a:p>
          <a:p>
            <a:pPr marL="914400" lvl="1" indent="-457200" eaLnBrk="0" hangingPunct="0">
              <a:lnSpc>
                <a:spcPct val="90000"/>
              </a:lnSpc>
              <a:spcBef>
                <a:spcPts val="0"/>
              </a:spcBef>
              <a:buClr>
                <a:srgbClr val="000000"/>
              </a:buClr>
              <a:buSzPct val="100000"/>
              <a:buFont typeface="+mj-lt"/>
              <a:buAutoNum type="arabicParenR"/>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Audit System and Department:</a:t>
            </a:r>
          </a:p>
          <a:p>
            <a:pPr marL="914400" lvl="1" indent="-457200" eaLnBrk="0" hangingPunct="0">
              <a:lnSpc>
                <a:spcPct val="90000"/>
              </a:lnSpc>
              <a:spcBef>
                <a:spcPts val="0"/>
              </a:spcBef>
              <a:buClr>
                <a:srgbClr val="000000"/>
              </a:buClr>
              <a:buSzPct val="100000"/>
              <a:buFont typeface="+mj-lt"/>
              <a:buAutoNum type="arabicParenR"/>
              <a:defRP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Plant Manager Training:</a:t>
            </a:r>
          </a:p>
          <a:p>
            <a:pPr lvl="0" eaLnBrk="0" hangingPunct="0">
              <a:lnSpc>
                <a:spcPct val="90000"/>
              </a:lnSpc>
              <a:spcBef>
                <a:spcPts val="0"/>
              </a:spcBef>
              <a:buClr>
                <a:srgbClr val="000000"/>
              </a:buClr>
              <a:buSzPct val="100000"/>
              <a:buFont typeface="Wingdings" panose="05000000000000000000" pitchFamily="2" charset="2"/>
              <a:buChar char="Ø"/>
              <a:defRPr/>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 is founded on leadership values.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
                <a:srgbClr val="000000"/>
              </a:buClr>
              <a:buSzPct val="100000"/>
              <a:buNone/>
              <a:defRPr/>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57200" lvl="0" indent="-457200" eaLnBrk="0" hangingPunct="0">
              <a:lnSpc>
                <a:spcPct val="90000"/>
              </a:lnSpc>
              <a:spcBef>
                <a:spcPts val="0"/>
              </a:spcBef>
              <a:buClr>
                <a:srgbClr val="000000"/>
              </a:buClr>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case study and approach can be used to critique the culture and performance of any organization using the principles and practices of leadership in risk management. </a:t>
            </a:r>
          </a:p>
          <a:p>
            <a:pPr marL="457200" lvl="0" indent="-457200" eaLnBrk="0" hangingPunct="0">
              <a:lnSpc>
                <a:spcPct val="90000"/>
              </a:lnSpc>
              <a:spcBef>
                <a:spcPts val="0"/>
              </a:spcBef>
              <a:buClr>
                <a:srgbClr val="000000"/>
              </a:buClr>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 everything possible to effectively implement the safety program at your plant.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“ESG KP#2 Understand your program</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Summary and Key Lesson</a:t>
            </a:r>
            <a:r>
              <a:rPr lang="en-US" altLang="en-US" sz="2400" b="0" dirty="0" smtClean="0">
                <a:solidFill>
                  <a:srgbClr val="333399"/>
                </a:solidFill>
                <a:latin typeface="Arial" panose="020B0604020202020204" pitchFamily="34" charset="0"/>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pic>
        <p:nvPicPr>
          <p:cNvPr id="2" name="Picture 1"/>
          <p:cNvPicPr>
            <a:picLocks noChangeAspect="1"/>
          </p:cNvPicPr>
          <p:nvPr/>
        </p:nvPicPr>
        <p:blipFill>
          <a:blip r:embed="rId3"/>
          <a:stretch>
            <a:fillRect/>
          </a:stretch>
        </p:blipFill>
        <p:spPr>
          <a:xfrm>
            <a:off x="6172200" y="2286000"/>
            <a:ext cx="2545301" cy="2249619"/>
          </a:xfrm>
          <a:prstGeom prst="rect">
            <a:avLst/>
          </a:prstGeom>
        </p:spPr>
      </p:pic>
    </p:spTree>
    <p:extLst>
      <p:ext uri="{BB962C8B-B14F-4D97-AF65-F5344CB8AC3E}">
        <p14:creationId xmlns:p14="http://schemas.microsoft.com/office/powerpoint/2010/main" val="156552666"/>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442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fontAlgn="auto">
              <a:lnSpc>
                <a:spcPct val="100000"/>
              </a:lnSpc>
              <a:spcBef>
                <a:spcPts val="0"/>
              </a:spcBef>
              <a:spcAft>
                <a:spcPts val="0"/>
              </a:spcAft>
              <a:buClr>
                <a:prstClr val="black"/>
              </a:buClr>
              <a:buNone/>
            </a:pPr>
            <a:r>
              <a:rPr lang="en-US" sz="1600" b="0" dirty="0">
                <a:solidFill>
                  <a:prstClr val="black"/>
                </a:solidFill>
                <a:latin typeface="Arial" panose="020B0604020202020204" pitchFamily="34" charset="0"/>
                <a:cs typeface="Arial" panose="020B0604020202020204" pitchFamily="34" charset="0"/>
              </a:rPr>
              <a:t>Excerpts from Video: Safety First at Alcoa with former Alcoa vice president Bill O'Rourke; Carnegie Council; 18-Sept-2012; 5:05 m:ss; accessed 31-Oct-2019; </a:t>
            </a:r>
            <a:r>
              <a:rPr lang="en-US" sz="1600" b="0" dirty="0">
                <a:solidFill>
                  <a:prstClr val="black"/>
                </a:solidFill>
                <a:latin typeface="Arial" panose="020B0604020202020204" pitchFamily="34" charset="0"/>
                <a:cs typeface="Arial" panose="020B0604020202020204" pitchFamily="34" charset="0"/>
                <a:hlinkClick r:id="rId3"/>
              </a:rPr>
              <a:t>https://www.youtube.com/watch?v=dPAyBgWLm0A</a:t>
            </a:r>
            <a:endParaRPr lang="en-US" sz="1600" b="0" dirty="0">
              <a:solidFill>
                <a:prstClr val="black"/>
              </a:solidFill>
              <a:latin typeface="Arial" panose="020B0604020202020204" pitchFamily="34" charset="0"/>
              <a:cs typeface="Arial" panose="020B0604020202020204" pitchFamily="34" charset="0"/>
            </a:endParaRPr>
          </a:p>
          <a:p>
            <a:pPr marL="0" lvl="0" indent="0" fontAlgn="auto">
              <a:lnSpc>
                <a:spcPct val="100000"/>
              </a:lnSpc>
              <a:spcBef>
                <a:spcPts val="0"/>
              </a:spcBef>
              <a:spcAft>
                <a:spcPts val="0"/>
              </a:spcAft>
              <a:buClr>
                <a:prstClr val="black"/>
              </a:buClr>
              <a:buNone/>
            </a:pPr>
            <a:r>
              <a:rPr lang="en-US" sz="1600" dirty="0">
                <a:solidFill>
                  <a:prstClr val="black"/>
                </a:solidFill>
                <a:latin typeface="Arial" panose="020B0604020202020204" pitchFamily="34" charset="0"/>
                <a:cs typeface="Arial" panose="020B0604020202020204" pitchFamily="34" charset="0"/>
              </a:rPr>
              <a:t>53 Case12 ALCOA vid2 </a:t>
            </a:r>
            <a:r>
              <a:rPr lang="en-US" sz="1600" dirty="0" err="1">
                <a:solidFill>
                  <a:prstClr val="black"/>
                </a:solidFill>
                <a:latin typeface="Arial" panose="020B0604020202020204" pitchFamily="34" charset="0"/>
                <a:cs typeface="Arial" panose="020B0604020202020204" pitchFamily="34" charset="0"/>
              </a:rPr>
              <a:t>ONeill</a:t>
            </a:r>
            <a:r>
              <a:rPr lang="en-US" sz="1600" dirty="0">
                <a:solidFill>
                  <a:prstClr val="black"/>
                </a:solidFill>
                <a:latin typeface="Arial" panose="020B0604020202020204" pitchFamily="34" charset="0"/>
                <a:cs typeface="Arial" panose="020B0604020202020204" pitchFamily="34" charset="0"/>
              </a:rPr>
              <a:t> Safety First Carnegie Council 5m05s</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60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600" dirty="0">
                <a:solidFill>
                  <a:prstClr val="black"/>
                </a:solidFill>
                <a:latin typeface="Arial" panose="020B0604020202020204" pitchFamily="34" charset="0"/>
                <a:cs typeface="Arial" panose="020B0604020202020204" pitchFamily="34" charset="0"/>
              </a:rPr>
              <a:t>00:23-01:20 Safety at the Top of the Meeting Agenda:</a:t>
            </a:r>
          </a:p>
          <a:p>
            <a:pPr marL="648000" lvl="1" indent="-342900" fontAlgn="auto">
              <a:lnSpc>
                <a:spcPct val="10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Plant managers, </a:t>
            </a:r>
            <a:r>
              <a:rPr lang="en-US" sz="1600" b="0" dirty="0" smtClean="0">
                <a:solidFill>
                  <a:prstClr val="black"/>
                </a:solidFill>
                <a:latin typeface="Arial" panose="020B0604020202020204" pitchFamily="34" charset="0"/>
                <a:cs typeface="Arial" panose="020B0604020202020204" pitchFamily="34" charset="0"/>
              </a:rPr>
              <a:t>Sr. </a:t>
            </a:r>
            <a:r>
              <a:rPr lang="en-US" sz="1600" b="0" dirty="0" err="1" smtClean="0">
                <a:solidFill>
                  <a:prstClr val="black"/>
                </a:solidFill>
                <a:latin typeface="Arial" panose="020B0604020202020204" pitchFamily="34" charset="0"/>
                <a:cs typeface="Arial" panose="020B0604020202020204" pitchFamily="34" charset="0"/>
              </a:rPr>
              <a:t>Mgmnt</a:t>
            </a:r>
            <a:r>
              <a:rPr lang="en-US" sz="1600" b="0" dirty="0" smtClean="0">
                <a:solidFill>
                  <a:prstClr val="black"/>
                </a:solidFill>
                <a:latin typeface="Arial" panose="020B0604020202020204" pitchFamily="34" charset="0"/>
                <a:cs typeface="Arial" panose="020B0604020202020204" pitchFamily="34" charset="0"/>
              </a:rPr>
              <a:t>, </a:t>
            </a:r>
            <a:r>
              <a:rPr lang="en-US" sz="1600" b="0" dirty="0">
                <a:solidFill>
                  <a:prstClr val="black"/>
                </a:solidFill>
                <a:latin typeface="Arial" panose="020B0604020202020204" pitchFamily="34" charset="0"/>
                <a:cs typeface="Arial" panose="020B0604020202020204" pitchFamily="34" charset="0"/>
              </a:rPr>
              <a:t>Board of Directors, Shareholders, Financial Analysts</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600" dirty="0">
                <a:solidFill>
                  <a:prstClr val="black"/>
                </a:solidFill>
                <a:latin typeface="Arial" panose="020B0604020202020204" pitchFamily="34" charset="0"/>
                <a:cs typeface="Arial" panose="020B0604020202020204" pitchFamily="34" charset="0"/>
              </a:rPr>
              <a:t>01:33-02:30 Report Incidents Within 24 Hours:</a:t>
            </a:r>
            <a:r>
              <a:rPr lang="en-US" sz="1600" b="0" dirty="0">
                <a:solidFill>
                  <a:prstClr val="black"/>
                </a:solidFill>
                <a:latin typeface="Arial" panose="020B0604020202020204" pitchFamily="34" charset="0"/>
                <a:cs typeface="Arial" panose="020B0604020202020204" pitchFamily="34" charset="0"/>
              </a:rPr>
              <a:t> </a:t>
            </a:r>
          </a:p>
          <a:p>
            <a:pPr marL="648000" lvl="1" indent="-342900" fontAlgn="auto">
              <a:lnSpc>
                <a:spcPct val="10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Who was hurt?</a:t>
            </a:r>
          </a:p>
          <a:p>
            <a:pPr marL="648000" lvl="1" indent="-342900" fontAlgn="auto">
              <a:lnSpc>
                <a:spcPct val="10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Why they were hurt?</a:t>
            </a:r>
          </a:p>
          <a:p>
            <a:pPr marL="648000" lvl="1" indent="-342900" fontAlgn="auto">
              <a:lnSpc>
                <a:spcPct val="100000"/>
              </a:lnSpc>
              <a:spcBef>
                <a:spcPts val="0"/>
              </a:spcBef>
              <a:spcAft>
                <a:spcPts val="0"/>
              </a:spcAft>
              <a:buClr>
                <a:prstClr val="black"/>
              </a:buClr>
              <a:buFont typeface="Wingdings" panose="05000000000000000000" pitchFamily="2" charset="2"/>
              <a:buChar char="Ø"/>
            </a:pPr>
            <a:r>
              <a:rPr lang="en-US" sz="1600" b="0" dirty="0">
                <a:solidFill>
                  <a:prstClr val="black"/>
                </a:solidFill>
                <a:latin typeface="Arial" panose="020B0604020202020204" pitchFamily="34" charset="0"/>
                <a:cs typeface="Arial" panose="020B0604020202020204" pitchFamily="34" charset="0"/>
              </a:rPr>
              <a:t>What have you done about it? </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60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600" dirty="0">
                <a:solidFill>
                  <a:prstClr val="black"/>
                </a:solidFill>
                <a:latin typeface="Arial" panose="020B0604020202020204" pitchFamily="34" charset="0"/>
                <a:cs typeface="Arial" panose="020B0604020202020204" pitchFamily="34" charset="0"/>
              </a:rPr>
              <a:t>02:30-03:27 Real-time Safety Performance Data: </a:t>
            </a:r>
            <a:r>
              <a:rPr lang="en-US" sz="1600" b="0" dirty="0">
                <a:solidFill>
                  <a:prstClr val="black"/>
                </a:solidFill>
                <a:latin typeface="Arial" panose="020B0604020202020204" pitchFamily="34" charset="0"/>
                <a:cs typeface="Arial" panose="020B0604020202020204" pitchFamily="34" charset="0"/>
              </a:rPr>
              <a:t> </a:t>
            </a: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6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600" dirty="0">
                <a:solidFill>
                  <a:prstClr val="black"/>
                </a:solidFill>
                <a:latin typeface="Arial" panose="020B0604020202020204" pitchFamily="34" charset="0"/>
                <a:cs typeface="Arial" panose="020B0604020202020204" pitchFamily="34" charset="0"/>
              </a:rPr>
              <a:t>03:27-04:15 Safety Audit Program and Department:</a:t>
            </a:r>
            <a:endParaRPr lang="en-US" sz="1600" b="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endParaRPr lang="en-US" sz="1600" dirty="0">
              <a:solidFill>
                <a:prstClr val="black"/>
              </a:solidFill>
              <a:latin typeface="Arial" panose="020B0604020202020204" pitchFamily="34" charset="0"/>
              <a:cs typeface="Arial" panose="020B0604020202020204" pitchFamily="34" charset="0"/>
            </a:endParaRPr>
          </a:p>
          <a:p>
            <a:pPr marL="342900" lvl="0" indent="-342900" fontAlgn="auto">
              <a:lnSpc>
                <a:spcPct val="100000"/>
              </a:lnSpc>
              <a:spcBef>
                <a:spcPts val="0"/>
              </a:spcBef>
              <a:spcAft>
                <a:spcPts val="0"/>
              </a:spcAft>
              <a:buClr>
                <a:prstClr val="black"/>
              </a:buClr>
              <a:buFont typeface="Wingdings" panose="05000000000000000000" pitchFamily="2" charset="2"/>
              <a:buChar char="Ø"/>
            </a:pPr>
            <a:r>
              <a:rPr lang="en-US" sz="1600" dirty="0">
                <a:solidFill>
                  <a:prstClr val="black"/>
                </a:solidFill>
                <a:latin typeface="Arial" panose="020B0604020202020204" pitchFamily="34" charset="0"/>
                <a:cs typeface="Arial" panose="020B0604020202020204" pitchFamily="34" charset="0"/>
              </a:rPr>
              <a:t>04:16-04:32 Plant Manager Training:</a:t>
            </a:r>
            <a:r>
              <a:rPr lang="en-US" sz="1600" b="0" dirty="0">
                <a:solidFill>
                  <a:prstClr val="black"/>
                </a:solidFill>
                <a:latin typeface="Arial" panose="020B0604020202020204" pitchFamily="34" charset="0"/>
                <a:cs typeface="Arial" panose="020B0604020202020204" pitchFamily="34" charset="0"/>
              </a:rPr>
              <a:t> </a:t>
            </a:r>
            <a:br>
              <a:rPr lang="en-US" sz="1600" b="0" dirty="0">
                <a:solidFill>
                  <a:prstClr val="black"/>
                </a:solidFill>
                <a:latin typeface="Arial" panose="020B0604020202020204" pitchFamily="34" charset="0"/>
                <a:cs typeface="Arial" panose="020B0604020202020204" pitchFamily="34" charset="0"/>
              </a:rPr>
            </a:br>
            <a:r>
              <a:rPr lang="en-US" sz="1600" b="0" dirty="0">
                <a:solidFill>
                  <a:prstClr val="black"/>
                </a:solidFill>
                <a:latin typeface="Arial" panose="020B0604020202020204" pitchFamily="34" charset="0"/>
                <a:cs typeface="Arial" panose="020B0604020202020204" pitchFamily="34" charset="0"/>
              </a:rPr>
              <a:t>The training boiled down to two lessons for Plant Managers: </a:t>
            </a:r>
          </a:p>
          <a:p>
            <a:pPr marL="1143000" lvl="1" indent="-457200" fontAlgn="auto">
              <a:lnSpc>
                <a:spcPct val="100000"/>
              </a:lnSpc>
              <a:spcBef>
                <a:spcPts val="0"/>
              </a:spcBef>
              <a:spcAft>
                <a:spcPts val="0"/>
              </a:spcAft>
              <a:buClr>
                <a:prstClr val="black"/>
              </a:buClr>
              <a:buFont typeface="Wingdings" panose="05000000000000000000" pitchFamily="2" charset="2"/>
              <a:buAutoNum type="arabicParenR"/>
            </a:pPr>
            <a:r>
              <a:rPr lang="en-US" sz="1600" b="0" dirty="0">
                <a:solidFill>
                  <a:prstClr val="black"/>
                </a:solidFill>
                <a:latin typeface="Arial" panose="020B0604020202020204" pitchFamily="34" charset="0"/>
                <a:cs typeface="Arial" panose="020B0604020202020204" pitchFamily="34" charset="0"/>
              </a:rPr>
              <a:t>Don’t fail an audit.</a:t>
            </a:r>
          </a:p>
          <a:p>
            <a:pPr marL="1143000" lvl="1" indent="-457200" fontAlgn="auto">
              <a:lnSpc>
                <a:spcPct val="100000"/>
              </a:lnSpc>
              <a:spcBef>
                <a:spcPts val="0"/>
              </a:spcBef>
              <a:spcAft>
                <a:spcPts val="0"/>
              </a:spcAft>
              <a:buClr>
                <a:prstClr val="black"/>
              </a:buClr>
              <a:buFont typeface="Wingdings" panose="05000000000000000000" pitchFamily="2" charset="2"/>
              <a:buAutoNum type="arabicParenR"/>
            </a:pPr>
            <a:r>
              <a:rPr lang="en-US" sz="1600" b="0" dirty="0">
                <a:solidFill>
                  <a:prstClr val="black"/>
                </a:solidFill>
                <a:latin typeface="Arial" panose="020B0604020202020204" pitchFamily="34" charset="0"/>
                <a:cs typeface="Arial" panose="020B0604020202020204" pitchFamily="34" charset="0"/>
              </a:rPr>
              <a:t>Don’t mess with safety</a:t>
            </a:r>
            <a:r>
              <a:rPr lang="en-US" sz="1600" b="0" dirty="0" smtClean="0">
                <a:solidFill>
                  <a:prstClr val="black"/>
                </a:solidFill>
                <a:latin typeface="Arial" panose="020B0604020202020204" pitchFamily="34" charset="0"/>
                <a:cs typeface="Arial" panose="020B0604020202020204" pitchFamily="34" charset="0"/>
              </a:rPr>
              <a:t>.</a:t>
            </a: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Five Practicable Programs: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
        <p:nvSpPr>
          <p:cNvPr id="7" name="Rounded Rectangle 6"/>
          <p:cNvSpPr/>
          <p:nvPr/>
        </p:nvSpPr>
        <p:spPr>
          <a:xfrm>
            <a:off x="4495800" y="76200"/>
            <a:ext cx="4343400" cy="640080"/>
          </a:xfrm>
          <a:prstGeom prst="roundRect">
            <a:avLst/>
          </a:prstGeom>
          <a:solidFill>
            <a:srgbClr val="2FA3EE"/>
          </a:solidFill>
          <a:ln w="15875" cap="flat" cmpd="sng" algn="ctr">
            <a:solidFill>
              <a:srgbClr val="2FA3EE">
                <a:shade val="50000"/>
              </a:srgbClr>
            </a:solidFill>
            <a:prstDash val="solid"/>
          </a:ln>
          <a:effectLst/>
        </p:spPr>
        <p:txBody>
          <a:bodyPr rtlCol="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Tw Cen MT" panose="020B0602020104020603"/>
                <a:ea typeface="+mn-ea"/>
                <a:cs typeface="+mn-cs"/>
              </a:rPr>
              <a:t>Reference only. Intent is NOT </a:t>
            </a:r>
            <a:br>
              <a:rPr kumimoji="0" lang="en-US" sz="2000" b="0" i="0" u="none" strike="noStrike" kern="0" cap="none" spc="0" normalizeH="0" baseline="0" noProof="0" dirty="0">
                <a:ln>
                  <a:noFill/>
                </a:ln>
                <a:solidFill>
                  <a:prstClr val="white"/>
                </a:solidFill>
                <a:effectLst/>
                <a:uLnTx/>
                <a:uFillTx/>
                <a:latin typeface="Tw Cen MT" panose="020B0602020104020603"/>
                <a:ea typeface="+mn-ea"/>
                <a:cs typeface="+mn-cs"/>
              </a:rPr>
            </a:br>
            <a:r>
              <a:rPr kumimoji="0" lang="en-US" sz="2000" b="0" i="0" u="none" strike="noStrike" kern="0" cap="none" spc="0" normalizeH="0" baseline="0" noProof="0" dirty="0">
                <a:ln>
                  <a:noFill/>
                </a:ln>
                <a:solidFill>
                  <a:prstClr val="white"/>
                </a:solidFill>
                <a:effectLst/>
                <a:uLnTx/>
                <a:uFillTx/>
                <a:latin typeface="Tw Cen MT" panose="020B0602020104020603"/>
                <a:ea typeface="+mn-ea"/>
                <a:cs typeface="+mn-cs"/>
              </a:rPr>
              <a:t>to view the video in class.</a:t>
            </a:r>
          </a:p>
        </p:txBody>
      </p:sp>
    </p:spTree>
    <p:extLst>
      <p:ext uri="{BB962C8B-B14F-4D97-AF65-F5344CB8AC3E}">
        <p14:creationId xmlns:p14="http://schemas.microsoft.com/office/powerpoint/2010/main" val="1610887768"/>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a:solidFill>
                  <a:srgbClr val="333399"/>
                </a:solidFill>
                <a:latin typeface="Arial" panose="020B0604020202020204" pitchFamily="34" charset="0"/>
                <a:cs typeface="Arial" panose="020B0604020202020204" pitchFamily="34" charset="0"/>
              </a:rPr>
              <a:t>Change Starts at the Top:</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
        <p:nvSpPr>
          <p:cNvPr id="7" name="Content Placeholder 2"/>
          <p:cNvSpPr txBox="1">
            <a:spLocks/>
          </p:cNvSpPr>
          <p:nvPr/>
        </p:nvSpPr>
        <p:spPr>
          <a:xfrm>
            <a:off x="180000" y="828000"/>
            <a:ext cx="8640000" cy="5328000"/>
          </a:xfrm>
          <a:prstGeom prst="rect">
            <a:avLst/>
          </a:prstGeom>
          <a:solidFill>
            <a:sysClr val="window" lastClr="FFFFFF">
              <a:alpha val="50000"/>
            </a:sysClr>
          </a:solidFill>
          <a:ln>
            <a:solidFill>
              <a:srgbClr val="355071"/>
            </a:solidFill>
          </a:ln>
        </p:spPr>
        <p:txBody>
          <a:bodyPr vert="horz" lIns="91440" tIns="45720" rIns="91440" bIns="45720" rtlCol="0">
            <a:noAutofit/>
          </a:bodyPr>
          <a:lstStyle>
            <a:lvl1pPr marL="0" indent="0" algn="l" defTabSz="914400" rtl="0" eaLnBrk="1" latinLnBrk="0" hangingPunct="1">
              <a:lnSpc>
                <a:spcPct val="120000"/>
              </a:lnSpc>
              <a:spcBef>
                <a:spcPts val="1000"/>
              </a:spcBef>
              <a:buClr>
                <a:schemeClr val="tx1"/>
              </a:buClr>
              <a:buFont typeface="Wingdings" panose="05000000000000000000" pitchFamily="2" charset="2"/>
              <a:buNone/>
              <a:defRPr sz="2400" kern="1200" cap="all" baseline="0">
                <a:solidFill>
                  <a:schemeClr val="tx1"/>
                </a:solidFill>
                <a:effectLst/>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500"/>
              </a:spcBef>
              <a:buClr>
                <a:schemeClr val="tx1"/>
              </a:buClr>
              <a:buFont typeface="Wingdings" panose="05000000000000000000" pitchFamily="2" charset="2"/>
              <a:buChar char="Ø"/>
              <a:defRPr sz="2400" kern="1200" cap="all" baseline="0">
                <a:solidFill>
                  <a:schemeClr val="tx1"/>
                </a:solidFill>
                <a:effectLst/>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500"/>
              </a:spcBef>
              <a:buClr>
                <a:schemeClr val="tx1"/>
              </a:buClr>
              <a:buFont typeface="Wingdings" panose="05000000000000000000" pitchFamily="2" charset="2"/>
              <a:buChar char="Ø"/>
              <a:defRPr sz="2400" kern="1200" cap="all" baseline="0">
                <a:solidFill>
                  <a:schemeClr val="tx1"/>
                </a:solidFill>
                <a:effectLst/>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500"/>
              </a:spcBef>
              <a:buClr>
                <a:schemeClr val="tx1"/>
              </a:buClr>
              <a:buFont typeface="Wingdings" panose="05000000000000000000" pitchFamily="2" charset="2"/>
              <a:buChar char="Ø"/>
              <a:defRPr sz="2400" kern="1200" cap="all" baseline="0">
                <a:solidFill>
                  <a:schemeClr val="tx1"/>
                </a:solidFill>
                <a:effectLst/>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2400" kern="1200" cap="all" baseline="0">
                <a:solidFill>
                  <a:schemeClr val="tx1"/>
                </a:solidFill>
                <a:effectLst/>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342900" marR="0" lvl="0" indent="-3429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Char char="Ø"/>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Recall that to improve performance, culture must change, and that to change culture, the change starts at the very top of the organization.</a:t>
            </a:r>
          </a:p>
          <a:p>
            <a:pPr marL="342900" marR="0" lvl="0" indent="-3429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Char char="Ø"/>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So, the change in values at the Top initiates the change in corporate culture. </a:t>
            </a:r>
          </a:p>
          <a:p>
            <a:pPr marL="0" marR="0" lvl="0" indent="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None/>
              <a:tabLst/>
              <a:defRPr/>
            </a:pPr>
            <a:endParaRPr kumimoji="0" lang="en-US" sz="11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None/>
              <a:tabLst/>
              <a:defRPr/>
            </a:pPr>
            <a:r>
              <a:rPr kumimoji="0" lang="en-US" sz="11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Paul O'Neill CEO of Alcoa - It's all about safety; Charter Partners; posted 12-Jun-2015; 12m58s; accessed 31-Oct-2019 </a:t>
            </a:r>
            <a:r>
              <a:rPr kumimoji="0" lang="en-US" sz="11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hlinkClick r:id="rId3"/>
              </a:rPr>
              <a:t>https://www.youtube.com/watch?v=tC2ucDs_XJY</a:t>
            </a:r>
            <a:r>
              <a:rPr kumimoji="0" lang="en-US" sz="11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a:t>
            </a:r>
            <a:br>
              <a:rPr kumimoji="0" lang="en-US" sz="11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1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53 Case12 ALCOA vid1 ONeill Its all about safety Charter Partners 12m58s.mp4</a:t>
            </a:r>
          </a:p>
          <a:p>
            <a:pPr marL="342900" marR="0" lvl="0" indent="-3429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Char char="Ø"/>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01:39- 02:13 </a:t>
            </a:r>
            <a:r>
              <a:rPr kumimoji="0" lang="en-US" sz="1200" b="1"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“What is it am I going to do at Alcoa? .. What is it you want to be remembered for when you leave? … And at the top of my list was safety.” </a:t>
            </a:r>
          </a:p>
          <a:p>
            <a:pPr marL="342900" marR="0" lvl="0" indent="-3429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Char char="Ø"/>
              <a:tabLst/>
              <a:defRPr/>
            </a:pPr>
            <a:r>
              <a:rPr kumimoji="0" lang="en-US" sz="1200" b="1"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02:15-05:20 The organization that has the potential for greatness: </a:t>
            </a: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“It is possible for every person in the organization can say ‘yes’ to three questions without hesitation:” </a:t>
            </a:r>
          </a:p>
          <a:p>
            <a:pPr marL="1143000" marR="0" lvl="1" indent="-4572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AutoNum type="arabicParenR"/>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Are you treated with dignity and respect every day by every one you encounter?</a:t>
            </a:r>
          </a:p>
          <a:p>
            <a:pPr marL="1143000" marR="0" lvl="1" indent="-4572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AutoNum type="arabicParenR"/>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Are you given the things you need – tools, training, encouragement – so that you can make a contribution that gives meaning to your life?”</a:t>
            </a:r>
          </a:p>
          <a:p>
            <a:pPr marL="1143000" marR="0" lvl="1" indent="-457200" algn="l" defTabSz="914400" rtl="0" eaLnBrk="1" fontAlgn="auto" latinLnBrk="0" hangingPunct="1">
              <a:lnSpc>
                <a:spcPct val="100000"/>
              </a:lnSpc>
              <a:spcBef>
                <a:spcPts val="0"/>
              </a:spcBef>
              <a:spcAft>
                <a:spcPts val="0"/>
              </a:spcAft>
              <a:buClr>
                <a:sysClr val="windowText" lastClr="000000"/>
              </a:buClr>
              <a:buSzTx/>
              <a:buFont typeface="Wingdings" panose="05000000000000000000" pitchFamily="2" charset="2"/>
              <a:buAutoNum type="arabicParenR"/>
              <a:tabLst/>
              <a:defRPr/>
            </a:pPr>
            <a:r>
              <a:rPr kumimoji="0" lang="en-US" sz="1200" b="0" i="0" u="none" strike="noStrike" kern="1200" cap="none" spc="0" normalizeH="0" baseline="0" noProof="0" smtClean="0">
                <a:ln>
                  <a:noFill/>
                </a:ln>
                <a:solidFill>
                  <a:sysClr val="windowText" lastClr="000000"/>
                </a:solidFill>
                <a:effectLst/>
                <a:uLnTx/>
                <a:uFillTx/>
                <a:latin typeface="Arial" panose="020B0604020202020204" pitchFamily="34" charset="0"/>
                <a:ea typeface="+mn-ea"/>
                <a:cs typeface="Arial" panose="020B0604020202020204" pitchFamily="34" charset="0"/>
              </a:rPr>
              <a:t>Do you get recognized for what you do?</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05:22-07:00 Humans are our most important asset:</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LTI=5 America, LTI=1.86 at Alcoa in 1987; “Our goal is going to be zero.” ONeill acknowledged that there will be hurdles and challenges, but remained committed to steadfastly overcome them.. </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05:22-07:00 Humans are our most important asset:</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LTI=5 America, LTI=1.86 at Alcoa in 1987; “Our goal is going to be zero.”</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07:50-08:35 “Here is what I mean by this (zero injuries is our goal) …</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I don’t want to budget it (the means to address a safety concern), I want to fix it.”</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08:36-09:31 “The things that move organizations are not happy stories.”</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The story of the 18-yo worker killed on the job. </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09:32-10:59 “We killed him. I killed him.” </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Management accountability at its best under the 09:32-10:59 “We killed him. I killed him.” Management accountability at its best under the most unfavorable, difficult, and unpleasant of conditions. </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1"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10:59-12:09 “Safety is a precondition (value) for organizational behaviour.”</a:t>
            </a: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 “We are responsible. I am responsible.”</a:t>
            </a:r>
          </a:p>
          <a:p>
            <a:pPr marL="342900" marR="0" lvl="0" indent="-342900" algn="l" defTabSz="914400" rtl="0" eaLnBrk="1" fontAlgn="auto" latinLnBrk="0" hangingPunct="1">
              <a:lnSpc>
                <a:spcPct val="100000"/>
              </a:lnSpc>
              <a:spcBef>
                <a:spcPts val="0"/>
              </a:spcBef>
              <a:spcAft>
                <a:spcPts val="0"/>
              </a:spcAft>
              <a:buClr>
                <a:prstClr val="black"/>
              </a:buClr>
              <a:buSzTx/>
              <a:buFont typeface="Wingdings" panose="05000000000000000000" pitchFamily="2" charset="2"/>
              <a:buChar char="Ø"/>
              <a:tabLst/>
              <a:defRPr/>
            </a:pP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When leadership upholds these values, “dignity and respect”, and “nobody gets hurt around here”, it follows that this initiating culture creates a sense of ownership and a sense of pride in all that we do. </a:t>
            </a:r>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endParaRPr kumimoji="0" lang="en-US" sz="1200" b="0" i="0" u="none" strike="noStrike" kern="1200" cap="none" spc="0" normalizeH="0" baseline="0" noProof="0" dirty="0">
              <a:ln>
                <a:noFill/>
              </a:ln>
              <a:solidFill>
                <a:srgbClr val="000000"/>
              </a:solidFill>
              <a:effectLst/>
              <a:uLnTx/>
              <a:uFillTx/>
              <a:latin typeface="Times New Roman" pitchFamily="18" charset="0"/>
              <a:ea typeface="+mn-ea"/>
              <a:cs typeface="Arial" panose="020B0604020202020204" pitchFamily="34" charset="0"/>
            </a:endParaRPr>
          </a:p>
        </p:txBody>
      </p:sp>
      <p:sp>
        <p:nvSpPr>
          <p:cNvPr id="10" name="Rounded Rectangle 9"/>
          <p:cNvSpPr/>
          <p:nvPr/>
        </p:nvSpPr>
        <p:spPr>
          <a:xfrm>
            <a:off x="4495800" y="76200"/>
            <a:ext cx="4343400" cy="640080"/>
          </a:xfrm>
          <a:prstGeom prst="roundRect">
            <a:avLst/>
          </a:prstGeom>
          <a:solidFill>
            <a:srgbClr val="2FA3EE"/>
          </a:solidFill>
          <a:ln w="15875" cap="flat" cmpd="sng" algn="ctr">
            <a:solidFill>
              <a:srgbClr val="2FA3EE">
                <a:shade val="50000"/>
              </a:srgbClr>
            </a:solidFill>
            <a:prstDash val="solid"/>
          </a:ln>
          <a:effectLst/>
        </p:spPr>
        <p:txBody>
          <a:bodyPr rtlCol="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prstClr val="white"/>
                </a:solidFill>
                <a:effectLst/>
                <a:uLnTx/>
                <a:uFillTx/>
                <a:latin typeface="Tw Cen MT" panose="020B0602020104020603"/>
                <a:ea typeface="+mn-ea"/>
                <a:cs typeface="+mn-cs"/>
              </a:rPr>
              <a:t>This slide is in the Student Version</a:t>
            </a:r>
          </a:p>
        </p:txBody>
      </p:sp>
    </p:spTree>
    <p:extLst>
      <p:ext uri="{BB962C8B-B14F-4D97-AF65-F5344CB8AC3E}">
        <p14:creationId xmlns:p14="http://schemas.microsoft.com/office/powerpoint/2010/main" val="34084252"/>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pPr>
            <a:r>
              <a:rPr lang="en-US" altLang="en-US" sz="2400" b="0" dirty="0">
                <a:solidFill>
                  <a:srgbClr val="333399"/>
                </a:solidFill>
                <a:latin typeface="Arial" panose="020B0604020202020204" pitchFamily="34" charset="0"/>
                <a:cs typeface="Arial" panose="020B0604020202020204" pitchFamily="34" charset="0"/>
              </a:rPr>
              <a:t>References to Supplemental Resources: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Case 12: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Lessons from the </a:t>
            </a: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ALCOA </a:t>
            </a: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Success Story</a:t>
            </a:r>
          </a:p>
        </p:txBody>
      </p:sp>
      <p:sp>
        <p:nvSpPr>
          <p:cNvPr id="6" name="Rectangle 3"/>
          <p:cNvSpPr>
            <a:spLocks noChangeArrowheads="1"/>
          </p:cNvSpPr>
          <p:nvPr/>
        </p:nvSpPr>
        <p:spPr bwMode="auto">
          <a:xfrm>
            <a:off x="179999" y="828000"/>
            <a:ext cx="8640000" cy="5328000"/>
          </a:xfrm>
          <a:prstGeom prst="rect">
            <a:avLst/>
          </a:prstGeom>
          <a:solidFill>
            <a:sysClr val="window" lastClr="FFFFFF">
              <a:alpha val="70195"/>
            </a:sysClr>
          </a:solidFill>
          <a:ln w="9525">
            <a:solidFill>
              <a:srgbClr val="000000"/>
            </a:solidFill>
            <a:miter lim="800000"/>
            <a:headEnd/>
            <a:tailEnd/>
          </a:ln>
        </p:spPr>
        <p:txBody>
          <a:bodyPr/>
          <a:lstStyle>
            <a:lvl1pPr marL="609600" indent="-6096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2018 Alcoa Sustainability Report; 12-April-2019;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3"/>
              </a:rPr>
              <a:t>https://www.alcoa.com/sustainability/en/default.asp</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Power of Safety Leadership: Paul O’Neill, Safety and Alcoa; Posted by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Aerossurance</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29-Dec-2014;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4"/>
              </a:rPr>
              <a:t>http://aerossurance.com/helicopters/paul-oneill-safety-alcoa-power-safety-leadership/</a:t>
            </a:r>
            <a:endPar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Alcoa’s Key to Safety Success: Communication &amp; Keystone Habit; Strategic Discipline Blog; posted by Douglas A Wick on 18-Sept-2014;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5"/>
              </a:rPr>
              <a:t>http://strategicdiscipline.positioningsystems.com/bid/104994/Alcoa-s-Key-to-Safety-Success-Communication-Keystone-Habit</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Changing One Habit Helped Quintuple Alcoa's Income; Business Insider; posted by Drake Baer 09-Apr-2014accessed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6"/>
              </a:rPr>
              <a:t>https://www.businessinsider.com/how-changing-one-habit-quintupled-alcoas-income-2014-4</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Pearson’s Law; Strategic Discipline Blog; Posted by Douglas A Wick on 11-Aug-2014;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7"/>
              </a:rPr>
              <a:t>http://strategicdiscipline.positioningsystems.com/bid/104508/Pearson-s-Law</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Alcoa Global EHS Policy 19Dec2016;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8"/>
              </a:rPr>
              <a:t>https://www.alcoa.com/sustainability/en/pdf/EHS-Values-Policy-Principles.pdf</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Paul O'Neill CEO of Alcoa - It's all about safety; Charter Partners; posted 12-Jun-2015;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9"/>
              </a:rPr>
              <a:t>https://www.youtube.com/watch?v=tC2ucDs_XJY</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Paul O'Neill The Irreducible Components of Leadership; Paul O-’Neill, 22-March-2012;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0"/>
              </a:rPr>
              <a:t>https://www.youtube.com/watch?v=htLCVqaLBvo</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Paul O'Neill CNN Interview Worker Safety at ALCOA; CNN News with Fareed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Zakaria</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29-May-2014;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1"/>
              </a:rPr>
              <a:t>https://www.youtube.com/watch?v=56a3-Sc65M8</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Profile of Paul O'Neill, Alcoa CEO on CNN Business; CNN Business News; 11-Sept-2012;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2"/>
              </a:rPr>
              <a:t>https://www.youtube.com/watch?v=yclcW9Tw_cs</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First at Alcoa with former Alcoa vice president Bill O'Rourke; speaking about the changes implemented by the former Alcoa CEO Paul O'Neill to the Carnegie Council for Ethics in International Affairs; 18-Sept-2012; 5:05 m:ss;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3"/>
              </a:rPr>
              <a:t>https://www.youtube.com/watch?v=dPAyBgWLm0A</a:t>
            </a:r>
            <a:endPar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Hon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Mr</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Justice Haddon-Cave – “Piper 25”;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OilandGasUK</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posted 20-June-2013; The Hon.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Mr</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Justice Haddon-Cave addresses conference delegates at Piper 25, June 2013 on the topic entitled 'Leadership and Culture, Principles and Professionalism, Simplicity and Safety - Lessons from the Nimrod Review; accessed 31-Oct-2019; </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4"/>
              </a:rPr>
              <a:t>https://www.youtube.com/watch?v=y99_lhFFCsk</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457200" marR="0" lvl="0" indent="-4572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Google Financial Services “</a:t>
            </a:r>
            <a:r>
              <a:rPr kumimoji="0" lang="en-US" altLang="en-US" sz="1100" b="0" i="0" u="none" strike="noStrike" kern="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alcoa</a:t>
            </a:r>
            <a:r>
              <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stock price history”; accessed 25Nov-2019; </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https://www.google.com/</a:t>
            </a:r>
            <a:r>
              <a:rPr kumimoji="0" lang="en-US" sz="1100" b="0" i="0" u="none" strike="noStrike" kern="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search?source</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a:t>
            </a:r>
            <a:r>
              <a:rPr kumimoji="0" lang="en-US" sz="1100" b="0" i="0" u="none" strike="noStrike" kern="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hp&amp;ei</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=NYTcXcDaN_Ww0PEPjei02AY&amp;q=</a:t>
            </a:r>
            <a:r>
              <a:rPr kumimoji="0" lang="en-US" sz="1100" b="0" i="0" u="none" strike="noStrike" kern="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alcoa+stock+price+history&amp;oq</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a:t>
            </a:r>
            <a:r>
              <a:rPr kumimoji="0" lang="en-US" sz="1100" b="0" i="0" u="none" strike="noStrike" kern="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alcoa+stock</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+&amp;</a:t>
            </a:r>
            <a:r>
              <a:rPr kumimoji="0" lang="en-US" sz="1100" b="0" i="0" u="none" strike="noStrike" kern="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gs_l</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hlinkClick r:id="rId15"/>
              </a:rPr>
              <a:t>=psy-ab.1.6.0l10.4703.9363..13920...3.0..0.314.1714.3j9j0j1......0....1..gws-wiz.....6..0i362i308i154i357j0i131j0i70i250.t6ROvaHHwZM</a:t>
            </a:r>
            <a:r>
              <a:rPr kumimoji="0" lang="en-US" sz="1100" b="0" i="0" u="none" strike="noStrike" kern="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endPar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endPar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609600" marR="0" lvl="0" indent="-609600" defTabSz="914400" eaLnBrk="0" fontAlgn="auto" latinLnBrk="0" hangingPunct="0">
              <a:lnSpc>
                <a:spcPct val="90000"/>
              </a:lnSpc>
              <a:spcBef>
                <a:spcPts val="0"/>
              </a:spcBef>
              <a:spcAft>
                <a:spcPts val="300"/>
              </a:spcAft>
              <a:buClr>
                <a:srgbClr val="000000"/>
              </a:buClr>
              <a:buSzPct val="100000"/>
              <a:buFont typeface="Wingdings" panose="05000000000000000000" pitchFamily="2" charset="2"/>
              <a:buChar char="Ø"/>
              <a:tabLst/>
              <a:defRPr/>
            </a:pPr>
            <a:endParaRPr kumimoji="0" lang="en-US" altLang="en-US" sz="11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944819833"/>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69372</TotalTime>
  <Words>1731</Words>
  <Application>Microsoft Office PowerPoint</Application>
  <PresentationFormat>On-screen Show (4:3)</PresentationFormat>
  <Paragraphs>294</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ＭＳ Ｐゴシック</vt:lpstr>
      <vt:lpstr>Arial</vt:lpstr>
      <vt:lpstr>Calibri</vt:lpstr>
      <vt:lpstr>Times New Roman</vt:lpstr>
      <vt:lpstr>Tw Cen MT</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1937</cp:revision>
  <cp:lastPrinted>2018-12-17T22:21:47Z</cp:lastPrinted>
  <dcterms:created xsi:type="dcterms:W3CDTF">2007-03-28T16:18:47Z</dcterms:created>
  <dcterms:modified xsi:type="dcterms:W3CDTF">2021-11-09T20:48:26Z</dcterms:modified>
</cp:coreProperties>
</file>