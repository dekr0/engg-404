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5" r:id="rId1"/>
    <p:sldMasterId id="2147483680" r:id="rId2"/>
  </p:sldMasterIdLst>
  <p:notesMasterIdLst>
    <p:notesMasterId r:id="rId25"/>
  </p:notesMasterIdLst>
  <p:handoutMasterIdLst>
    <p:handoutMasterId r:id="rId26"/>
  </p:handoutMasterIdLst>
  <p:sldIdLst>
    <p:sldId id="895" r:id="rId3"/>
    <p:sldId id="880" r:id="rId4"/>
    <p:sldId id="928" r:id="rId5"/>
    <p:sldId id="954" r:id="rId6"/>
    <p:sldId id="947" r:id="rId7"/>
    <p:sldId id="930" r:id="rId8"/>
    <p:sldId id="931" r:id="rId9"/>
    <p:sldId id="932" r:id="rId10"/>
    <p:sldId id="948" r:id="rId11"/>
    <p:sldId id="933" r:id="rId12"/>
    <p:sldId id="934" r:id="rId13"/>
    <p:sldId id="935" r:id="rId14"/>
    <p:sldId id="936" r:id="rId15"/>
    <p:sldId id="937" r:id="rId16"/>
    <p:sldId id="951" r:id="rId17"/>
    <p:sldId id="939" r:id="rId18"/>
    <p:sldId id="949" r:id="rId19"/>
    <p:sldId id="945" r:id="rId20"/>
    <p:sldId id="946" r:id="rId21"/>
    <p:sldId id="955" r:id="rId22"/>
    <p:sldId id="956" r:id="rId23"/>
    <p:sldId id="958" r:id="rId24"/>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CC6600"/>
    <a:srgbClr val="0000FF"/>
    <a:srgbClr val="FFCCCC"/>
    <a:srgbClr val="FFFFFF"/>
    <a:srgbClr val="000000"/>
    <a:srgbClr val="000099"/>
    <a:srgbClr val="3366CC"/>
    <a:srgbClr val="4F76F1"/>
    <a:srgbClr val="4894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84576" autoAdjust="0"/>
  </p:normalViewPr>
  <p:slideViewPr>
    <p:cSldViewPr>
      <p:cViewPr varScale="1">
        <p:scale>
          <a:sx n="59" d="100"/>
          <a:sy n="59" d="100"/>
        </p:scale>
        <p:origin x="1504" y="56"/>
      </p:cViewPr>
      <p:guideLst>
        <p:guide orient="horz" pos="2112"/>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70" d="100"/>
        <a:sy n="70" d="100"/>
      </p:scale>
      <p:origin x="0" y="0"/>
    </p:cViewPr>
  </p:sorterViewPr>
  <p:notesViewPr>
    <p:cSldViewPr>
      <p:cViewPr varScale="1">
        <p:scale>
          <a:sx n="68" d="100"/>
          <a:sy n="68" d="100"/>
        </p:scale>
        <p:origin x="1812" y="64"/>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15400D-B176-4775-8EA0-7DCCCE9E0A3E}" type="doc">
      <dgm:prSet loTypeId="urn:microsoft.com/office/officeart/2005/8/layout/pyramid4" loCatId="pyramid" qsTypeId="urn:microsoft.com/office/officeart/2005/8/quickstyle/simple3" qsCatId="simple" csTypeId="urn:microsoft.com/office/officeart/2005/8/colors/accent1_2" csCatId="accent1" phldr="1"/>
      <dgm:spPr/>
      <dgm:t>
        <a:bodyPr/>
        <a:lstStyle/>
        <a:p>
          <a:endParaRPr lang="en-US"/>
        </a:p>
      </dgm:t>
    </dgm:pt>
    <dgm:pt modelId="{67324364-69B0-4B9C-BC76-06BFB490E26B}">
      <dgm:prSet phldrT="[Text]" custT="1"/>
      <dgm:spPr>
        <a:ln w="25400">
          <a:solidFill>
            <a:schemeClr val="tx1"/>
          </a:solidFill>
        </a:ln>
      </dgm:spPr>
      <dgm:t>
        <a:bodyPr lIns="0" tIns="0" rIns="0" bIns="0"/>
        <a:lstStyle/>
        <a:p>
          <a:r>
            <a:rPr lang="en-US" sz="1600" b="1" dirty="0" smtClean="0"/>
            <a:t>Risk Management  Work Process</a:t>
          </a:r>
          <a:endParaRPr lang="en-US" sz="1600" b="1" dirty="0"/>
        </a:p>
      </dgm:t>
    </dgm:pt>
    <dgm:pt modelId="{15FFBD31-7470-4CB7-9707-52904304C3E5}" type="parTrans" cxnId="{56660758-02DC-4740-BFFF-4C66C9D76732}">
      <dgm:prSet/>
      <dgm:spPr/>
      <dgm:t>
        <a:bodyPr/>
        <a:lstStyle/>
        <a:p>
          <a:endParaRPr lang="en-US" sz="1600"/>
        </a:p>
      </dgm:t>
    </dgm:pt>
    <dgm:pt modelId="{DFAE2815-6BAB-498B-933D-29A64E7FA4D0}" type="sibTrans" cxnId="{56660758-02DC-4740-BFFF-4C66C9D76732}">
      <dgm:prSet/>
      <dgm:spPr/>
      <dgm:t>
        <a:bodyPr/>
        <a:lstStyle/>
        <a:p>
          <a:endParaRPr lang="en-US" sz="1600"/>
        </a:p>
      </dgm:t>
    </dgm:pt>
    <dgm:pt modelId="{18AD7C76-45B4-441B-83A9-F8B4C8E6AA11}">
      <dgm:prSet phldrT="[Text]" custT="1"/>
      <dgm:spPr>
        <a:ln w="25400">
          <a:solidFill>
            <a:schemeClr val="tx1"/>
          </a:solidFill>
        </a:ln>
      </dgm:spPr>
      <dgm:t>
        <a:bodyPr lIns="0" tIns="0" rIns="0" bIns="0"/>
        <a:lstStyle/>
        <a:p>
          <a:r>
            <a:rPr lang="en-US" sz="1600" b="1" dirty="0" smtClean="0"/>
            <a:t>Control Measures</a:t>
          </a:r>
          <a:endParaRPr lang="en-US" sz="1600" b="1" dirty="0"/>
        </a:p>
      </dgm:t>
    </dgm:pt>
    <dgm:pt modelId="{9208E44C-CC2D-4889-8CF5-7497F4842E51}" type="parTrans" cxnId="{7AEC8A6F-B30A-4328-B39C-D9F833678551}">
      <dgm:prSet/>
      <dgm:spPr/>
      <dgm:t>
        <a:bodyPr/>
        <a:lstStyle/>
        <a:p>
          <a:endParaRPr lang="en-US" sz="1600"/>
        </a:p>
      </dgm:t>
    </dgm:pt>
    <dgm:pt modelId="{7C56ABD5-9FE5-49C2-9F4E-2213B2284D44}" type="sibTrans" cxnId="{7AEC8A6F-B30A-4328-B39C-D9F833678551}">
      <dgm:prSet/>
      <dgm:spPr/>
      <dgm:t>
        <a:bodyPr/>
        <a:lstStyle/>
        <a:p>
          <a:endParaRPr lang="en-US" sz="1600"/>
        </a:p>
      </dgm:t>
    </dgm:pt>
    <dgm:pt modelId="{14F08CD9-8793-4034-A2A7-389CE3ADFA15}">
      <dgm:prSet phldrT="[Text]" custT="1"/>
      <dgm:spPr>
        <a:ln w="25400">
          <a:solidFill>
            <a:schemeClr val="tx1"/>
          </a:solidFill>
        </a:ln>
      </dgm:spPr>
      <dgm:t>
        <a:bodyPr lIns="0" tIns="0" rIns="0" bIns="0"/>
        <a:lstStyle/>
        <a:p>
          <a:r>
            <a:rPr lang="en-US" sz="1600" b="1" dirty="0" smtClean="0"/>
            <a:t>Risk Management Program</a:t>
          </a:r>
          <a:endParaRPr lang="en-US" sz="1600" b="1" dirty="0"/>
        </a:p>
      </dgm:t>
    </dgm:pt>
    <dgm:pt modelId="{0C08592E-E69C-4303-941E-62396BD24FFF}" type="parTrans" cxnId="{44500C6C-B571-4E04-A06F-A2A73E6D1DD8}">
      <dgm:prSet/>
      <dgm:spPr/>
      <dgm:t>
        <a:bodyPr/>
        <a:lstStyle/>
        <a:p>
          <a:endParaRPr lang="en-US" sz="1600"/>
        </a:p>
      </dgm:t>
    </dgm:pt>
    <dgm:pt modelId="{39542320-936B-4F04-85BA-0AA854CFBD37}" type="sibTrans" cxnId="{44500C6C-B571-4E04-A06F-A2A73E6D1DD8}">
      <dgm:prSet/>
      <dgm:spPr/>
      <dgm:t>
        <a:bodyPr/>
        <a:lstStyle/>
        <a:p>
          <a:endParaRPr lang="en-US" sz="1600"/>
        </a:p>
      </dgm:t>
    </dgm:pt>
    <dgm:pt modelId="{E3095430-39FD-4B74-9E78-65B2C4CB0A38}">
      <dgm:prSet phldrT="[Text]" custT="1"/>
      <dgm:spPr>
        <a:ln w="25400">
          <a:solidFill>
            <a:schemeClr val="tx1"/>
          </a:solidFill>
        </a:ln>
      </dgm:spPr>
      <dgm:t>
        <a:bodyPr lIns="0" tIns="0" rIns="0" bIns="0"/>
        <a:lstStyle/>
        <a:p>
          <a:r>
            <a:rPr lang="en-US" sz="1600" b="1" dirty="0" smtClean="0"/>
            <a:t>Risk Management  System</a:t>
          </a:r>
          <a:endParaRPr lang="en-US" sz="1600" b="1" dirty="0"/>
        </a:p>
      </dgm:t>
    </dgm:pt>
    <dgm:pt modelId="{E02AE4F5-F91D-4A75-A21A-F8B013035DE7}" type="parTrans" cxnId="{5232C5AC-CED6-4642-9A81-D420F50560C5}">
      <dgm:prSet/>
      <dgm:spPr/>
      <dgm:t>
        <a:bodyPr/>
        <a:lstStyle/>
        <a:p>
          <a:endParaRPr lang="en-US" sz="1600"/>
        </a:p>
      </dgm:t>
    </dgm:pt>
    <dgm:pt modelId="{DF2C48E0-75E0-4A2A-A6BB-E3BE4B514DB0}" type="sibTrans" cxnId="{5232C5AC-CED6-4642-9A81-D420F50560C5}">
      <dgm:prSet/>
      <dgm:spPr/>
      <dgm:t>
        <a:bodyPr/>
        <a:lstStyle/>
        <a:p>
          <a:endParaRPr lang="en-US" sz="1600"/>
        </a:p>
      </dgm:t>
    </dgm:pt>
    <dgm:pt modelId="{CE1CB199-4ECC-4776-8C15-6C4E16F4FE41}" type="pres">
      <dgm:prSet presAssocID="{1F15400D-B176-4775-8EA0-7DCCCE9E0A3E}" presName="compositeShape" presStyleCnt="0">
        <dgm:presLayoutVars>
          <dgm:chMax val="9"/>
          <dgm:dir/>
          <dgm:resizeHandles val="exact"/>
        </dgm:presLayoutVars>
      </dgm:prSet>
      <dgm:spPr/>
      <dgm:t>
        <a:bodyPr/>
        <a:lstStyle/>
        <a:p>
          <a:endParaRPr lang="en-US"/>
        </a:p>
      </dgm:t>
    </dgm:pt>
    <dgm:pt modelId="{60EF21CB-BE0C-4558-A869-077A978D063E}" type="pres">
      <dgm:prSet presAssocID="{1F15400D-B176-4775-8EA0-7DCCCE9E0A3E}" presName="triangle1" presStyleLbl="node1" presStyleIdx="0" presStyleCnt="4">
        <dgm:presLayoutVars>
          <dgm:bulletEnabled val="1"/>
        </dgm:presLayoutVars>
      </dgm:prSet>
      <dgm:spPr/>
      <dgm:t>
        <a:bodyPr/>
        <a:lstStyle/>
        <a:p>
          <a:endParaRPr lang="en-US"/>
        </a:p>
      </dgm:t>
    </dgm:pt>
    <dgm:pt modelId="{CFFEADA0-BEA0-4CAE-9BC5-915130CB12F6}" type="pres">
      <dgm:prSet presAssocID="{1F15400D-B176-4775-8EA0-7DCCCE9E0A3E}" presName="triangle2" presStyleLbl="node1" presStyleIdx="1" presStyleCnt="4">
        <dgm:presLayoutVars>
          <dgm:bulletEnabled val="1"/>
        </dgm:presLayoutVars>
      </dgm:prSet>
      <dgm:spPr/>
      <dgm:t>
        <a:bodyPr/>
        <a:lstStyle/>
        <a:p>
          <a:endParaRPr lang="en-US"/>
        </a:p>
      </dgm:t>
    </dgm:pt>
    <dgm:pt modelId="{F9D791B0-507B-49F6-8BF3-D5B5F9E82932}" type="pres">
      <dgm:prSet presAssocID="{1F15400D-B176-4775-8EA0-7DCCCE9E0A3E}" presName="triangle3" presStyleLbl="node1" presStyleIdx="2" presStyleCnt="4">
        <dgm:presLayoutVars>
          <dgm:bulletEnabled val="1"/>
        </dgm:presLayoutVars>
      </dgm:prSet>
      <dgm:spPr/>
      <dgm:t>
        <a:bodyPr/>
        <a:lstStyle/>
        <a:p>
          <a:endParaRPr lang="en-US"/>
        </a:p>
      </dgm:t>
    </dgm:pt>
    <dgm:pt modelId="{5E11B0C0-F3E3-48B1-A209-BD1302A40800}" type="pres">
      <dgm:prSet presAssocID="{1F15400D-B176-4775-8EA0-7DCCCE9E0A3E}" presName="triangle4" presStyleLbl="node1" presStyleIdx="3" presStyleCnt="4">
        <dgm:presLayoutVars>
          <dgm:bulletEnabled val="1"/>
        </dgm:presLayoutVars>
      </dgm:prSet>
      <dgm:spPr/>
      <dgm:t>
        <a:bodyPr/>
        <a:lstStyle/>
        <a:p>
          <a:endParaRPr lang="en-US"/>
        </a:p>
      </dgm:t>
    </dgm:pt>
  </dgm:ptLst>
  <dgm:cxnLst>
    <dgm:cxn modelId="{56660758-02DC-4740-BFFF-4C66C9D76732}" srcId="{1F15400D-B176-4775-8EA0-7DCCCE9E0A3E}" destId="{67324364-69B0-4B9C-BC76-06BFB490E26B}" srcOrd="0" destOrd="0" parTransId="{15FFBD31-7470-4CB7-9707-52904304C3E5}" sibTransId="{DFAE2815-6BAB-498B-933D-29A64E7FA4D0}"/>
    <dgm:cxn modelId="{558BC0EC-C6AE-4DA1-BF6B-469328B58D7D}" type="presOf" srcId="{18AD7C76-45B4-441B-83A9-F8B4C8E6AA11}" destId="{CFFEADA0-BEA0-4CAE-9BC5-915130CB12F6}" srcOrd="0" destOrd="0" presId="urn:microsoft.com/office/officeart/2005/8/layout/pyramid4"/>
    <dgm:cxn modelId="{44500C6C-B571-4E04-A06F-A2A73E6D1DD8}" srcId="{1F15400D-B176-4775-8EA0-7DCCCE9E0A3E}" destId="{14F08CD9-8793-4034-A2A7-389CE3ADFA15}" srcOrd="2" destOrd="0" parTransId="{0C08592E-E69C-4303-941E-62396BD24FFF}" sibTransId="{39542320-936B-4F04-85BA-0AA854CFBD37}"/>
    <dgm:cxn modelId="{6C61A75E-2530-4410-AB52-0EF443689898}" type="presOf" srcId="{14F08CD9-8793-4034-A2A7-389CE3ADFA15}" destId="{F9D791B0-507B-49F6-8BF3-D5B5F9E82932}" srcOrd="0" destOrd="0" presId="urn:microsoft.com/office/officeart/2005/8/layout/pyramid4"/>
    <dgm:cxn modelId="{A4143D8A-DCB5-43AF-9464-542101D06034}" type="presOf" srcId="{1F15400D-B176-4775-8EA0-7DCCCE9E0A3E}" destId="{CE1CB199-4ECC-4776-8C15-6C4E16F4FE41}" srcOrd="0" destOrd="0" presId="urn:microsoft.com/office/officeart/2005/8/layout/pyramid4"/>
    <dgm:cxn modelId="{5232C5AC-CED6-4642-9A81-D420F50560C5}" srcId="{1F15400D-B176-4775-8EA0-7DCCCE9E0A3E}" destId="{E3095430-39FD-4B74-9E78-65B2C4CB0A38}" srcOrd="3" destOrd="0" parTransId="{E02AE4F5-F91D-4A75-A21A-F8B013035DE7}" sibTransId="{DF2C48E0-75E0-4A2A-A6BB-E3BE4B514DB0}"/>
    <dgm:cxn modelId="{7AEC8A6F-B30A-4328-B39C-D9F833678551}" srcId="{1F15400D-B176-4775-8EA0-7DCCCE9E0A3E}" destId="{18AD7C76-45B4-441B-83A9-F8B4C8E6AA11}" srcOrd="1" destOrd="0" parTransId="{9208E44C-CC2D-4889-8CF5-7497F4842E51}" sibTransId="{7C56ABD5-9FE5-49C2-9F4E-2213B2284D44}"/>
    <dgm:cxn modelId="{DE6A13A4-CBC8-4605-B3A2-CBF06798B358}" type="presOf" srcId="{E3095430-39FD-4B74-9E78-65B2C4CB0A38}" destId="{5E11B0C0-F3E3-48B1-A209-BD1302A40800}" srcOrd="0" destOrd="0" presId="urn:microsoft.com/office/officeart/2005/8/layout/pyramid4"/>
    <dgm:cxn modelId="{6ED5632D-92D9-4EFE-9F30-8925F665A8E0}" type="presOf" srcId="{67324364-69B0-4B9C-BC76-06BFB490E26B}" destId="{60EF21CB-BE0C-4558-A869-077A978D063E}" srcOrd="0" destOrd="0" presId="urn:microsoft.com/office/officeart/2005/8/layout/pyramid4"/>
    <dgm:cxn modelId="{69D9ACF8-ABED-4851-8DDE-D4BF07FEE264}" type="presParOf" srcId="{CE1CB199-4ECC-4776-8C15-6C4E16F4FE41}" destId="{60EF21CB-BE0C-4558-A869-077A978D063E}" srcOrd="0" destOrd="0" presId="urn:microsoft.com/office/officeart/2005/8/layout/pyramid4"/>
    <dgm:cxn modelId="{A0697872-E252-4A70-A7EE-E7C5608A88DF}" type="presParOf" srcId="{CE1CB199-4ECC-4776-8C15-6C4E16F4FE41}" destId="{CFFEADA0-BEA0-4CAE-9BC5-915130CB12F6}" srcOrd="1" destOrd="0" presId="urn:microsoft.com/office/officeart/2005/8/layout/pyramid4"/>
    <dgm:cxn modelId="{27B34FBA-5CF1-41EC-AF4E-FB80076E811C}" type="presParOf" srcId="{CE1CB199-4ECC-4776-8C15-6C4E16F4FE41}" destId="{F9D791B0-507B-49F6-8BF3-D5B5F9E82932}" srcOrd="2" destOrd="0" presId="urn:microsoft.com/office/officeart/2005/8/layout/pyramid4"/>
    <dgm:cxn modelId="{859CC814-C357-4D4D-BC88-00E98CCAB796}" type="presParOf" srcId="{CE1CB199-4ECC-4776-8C15-6C4E16F4FE41}" destId="{5E11B0C0-F3E3-48B1-A209-BD1302A40800}"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F21CB-BE0C-4558-A869-077A978D063E}">
      <dsp:nvSpPr>
        <dsp:cNvPr id="0" name=""/>
        <dsp:cNvSpPr/>
      </dsp:nvSpPr>
      <dsp:spPr>
        <a:xfrm>
          <a:off x="1496174" y="0"/>
          <a:ext cx="2646450" cy="2646450"/>
        </a:xfrm>
        <a:prstGeom prst="triangl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2540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Work Process</a:t>
          </a:r>
          <a:endParaRPr lang="en-US" sz="1600" b="1" kern="1200" dirty="0"/>
        </a:p>
      </dsp:txBody>
      <dsp:txXfrm>
        <a:off x="2157787" y="1323225"/>
        <a:ext cx="1323225" cy="1323225"/>
      </dsp:txXfrm>
    </dsp:sp>
    <dsp:sp modelId="{CFFEADA0-BEA0-4CAE-9BC5-915130CB12F6}">
      <dsp:nvSpPr>
        <dsp:cNvPr id="0" name=""/>
        <dsp:cNvSpPr/>
      </dsp:nvSpPr>
      <dsp:spPr>
        <a:xfrm>
          <a:off x="172949" y="2646450"/>
          <a:ext cx="2646450" cy="2646450"/>
        </a:xfrm>
        <a:prstGeom prst="triangl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2540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en-US" sz="1600" b="1" kern="1200" dirty="0" smtClean="0"/>
            <a:t>Control Measures</a:t>
          </a:r>
          <a:endParaRPr lang="en-US" sz="1600" b="1" kern="1200" dirty="0"/>
        </a:p>
      </dsp:txBody>
      <dsp:txXfrm>
        <a:off x="834562" y="3969675"/>
        <a:ext cx="1323225" cy="1323225"/>
      </dsp:txXfrm>
    </dsp:sp>
    <dsp:sp modelId="{F9D791B0-507B-49F6-8BF3-D5B5F9E82932}">
      <dsp:nvSpPr>
        <dsp:cNvPr id="0" name=""/>
        <dsp:cNvSpPr/>
      </dsp:nvSpPr>
      <dsp:spPr>
        <a:xfrm rot="10800000">
          <a:off x="1496174" y="2646450"/>
          <a:ext cx="2646450" cy="2646450"/>
        </a:xfrm>
        <a:prstGeom prst="triangl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2540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Program</a:t>
          </a:r>
          <a:endParaRPr lang="en-US" sz="1600" b="1" kern="1200" dirty="0"/>
        </a:p>
      </dsp:txBody>
      <dsp:txXfrm rot="10800000">
        <a:off x="2157786" y="2646450"/>
        <a:ext cx="1323225" cy="1323225"/>
      </dsp:txXfrm>
    </dsp:sp>
    <dsp:sp modelId="{5E11B0C0-F3E3-48B1-A209-BD1302A40800}">
      <dsp:nvSpPr>
        <dsp:cNvPr id="0" name=""/>
        <dsp:cNvSpPr/>
      </dsp:nvSpPr>
      <dsp:spPr>
        <a:xfrm>
          <a:off x="2819400" y="2646450"/>
          <a:ext cx="2646450" cy="2646450"/>
        </a:xfrm>
        <a:prstGeom prst="triangl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2540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System</a:t>
          </a:r>
          <a:endParaRPr lang="en-US" sz="1600" b="1" kern="1200" dirty="0"/>
        </a:p>
      </dsp:txBody>
      <dsp:txXfrm>
        <a:off x="3481013" y="3969675"/>
        <a:ext cx="1323225" cy="1323225"/>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2" y="4"/>
            <a:ext cx="3055005" cy="45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t" anchorCtr="0" compatLnSpc="1">
            <a:prstTxWarp prst="textNoShape">
              <a:avLst/>
            </a:prstTxWarp>
          </a:bodyPr>
          <a:lstStyle>
            <a:lvl1pPr defTabSz="911994">
              <a:defRPr sz="1200" dirty="0" smtClean="0">
                <a:ea typeface="ＭＳ Ｐゴシック" charset="-128"/>
              </a:defRPr>
            </a:lvl1pPr>
          </a:lstStyle>
          <a:p>
            <a:pPr>
              <a:defRPr/>
            </a:pPr>
            <a:r>
              <a:rPr lang="en-US" altLang="en-US" dirty="0"/>
              <a:t>2017-2018</a:t>
            </a:r>
          </a:p>
        </p:txBody>
      </p:sp>
      <p:sp>
        <p:nvSpPr>
          <p:cNvPr id="13316" name="Rectangle 4"/>
          <p:cNvSpPr>
            <a:spLocks noGrp="1" noChangeArrowheads="1"/>
          </p:cNvSpPr>
          <p:nvPr>
            <p:ph type="ftr" sz="quarter" idx="2"/>
          </p:nvPr>
        </p:nvSpPr>
        <p:spPr bwMode="auto">
          <a:xfrm>
            <a:off x="2" y="8862137"/>
            <a:ext cx="3055005" cy="45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b" anchorCtr="0" compatLnSpc="1">
            <a:prstTxWarp prst="textNoShape">
              <a:avLst/>
            </a:prstTxWarp>
          </a:bodyPr>
          <a:lstStyle>
            <a:lvl1pPr defTabSz="911994">
              <a:defRPr sz="1200">
                <a:ea typeface="ＭＳ Ｐゴシック" charset="-128"/>
              </a:defRPr>
            </a:lvl1pPr>
          </a:lstStyle>
          <a:p>
            <a:pPr>
              <a:defRPr/>
            </a:pPr>
            <a:endParaRPr lang="en-US" altLang="en-US"/>
          </a:p>
        </p:txBody>
      </p:sp>
      <p:sp>
        <p:nvSpPr>
          <p:cNvPr id="13317" name="Rectangle 5"/>
          <p:cNvSpPr>
            <a:spLocks noGrp="1" noChangeArrowheads="1"/>
          </p:cNvSpPr>
          <p:nvPr>
            <p:ph type="sldNum" sz="quarter" idx="3"/>
          </p:nvPr>
        </p:nvSpPr>
        <p:spPr bwMode="auto">
          <a:xfrm>
            <a:off x="3968033" y="8862137"/>
            <a:ext cx="3055005" cy="45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b" anchorCtr="0" compatLnSpc="1">
            <a:prstTxWarp prst="textNoShape">
              <a:avLst/>
            </a:prstTxWarp>
          </a:bodyPr>
          <a:lstStyle>
            <a:lvl1pPr algn="r" defTabSz="911994">
              <a:defRPr sz="1200">
                <a:ea typeface="ＭＳ Ｐゴシック" charset="-128"/>
              </a:defRPr>
            </a:lvl1pPr>
          </a:lstStyle>
          <a:p>
            <a:pPr>
              <a:defRPr/>
            </a:pPr>
            <a:fld id="{299CD3DF-89E7-4245-800C-61F6B6E83699}" type="slidenum">
              <a:rPr lang="en-US" altLang="en-US"/>
              <a:pPr>
                <a:defRPr/>
              </a:pPr>
              <a:t>‹#›</a:t>
            </a:fld>
            <a:endParaRPr lang="en-US" altLang="en-US"/>
          </a:p>
        </p:txBody>
      </p:sp>
    </p:spTree>
    <p:extLst>
      <p:ext uri="{BB962C8B-B14F-4D97-AF65-F5344CB8AC3E}">
        <p14:creationId xmlns:p14="http://schemas.microsoft.com/office/powerpoint/2010/main" val="26834685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3039210" cy="4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lvl1pPr defTabSz="929319">
              <a:defRPr sz="1200">
                <a:ea typeface="ＭＳ Ｐゴシック" charset="-128"/>
              </a:defRPr>
            </a:lvl1pPr>
          </a:lstStyle>
          <a:p>
            <a:pPr>
              <a:defRPr/>
            </a:pPr>
            <a:r>
              <a:rPr lang="en-US" altLang="en-US"/>
              <a:t>2015-2016ENGG404 Lecture 00 - Day 1</a:t>
            </a:r>
          </a:p>
        </p:txBody>
      </p:sp>
      <p:sp>
        <p:nvSpPr>
          <p:cNvPr id="3075" name="Rectangle 3"/>
          <p:cNvSpPr>
            <a:spLocks noGrp="1" noChangeArrowheads="1"/>
          </p:cNvSpPr>
          <p:nvPr>
            <p:ph type="dt" idx="1"/>
          </p:nvPr>
        </p:nvSpPr>
        <p:spPr bwMode="auto">
          <a:xfrm>
            <a:off x="3971191" y="1"/>
            <a:ext cx="3039210" cy="4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lvl1pPr algn="r" defTabSz="929319">
              <a:defRPr sz="1200">
                <a:ea typeface="ＭＳ Ｐゴシック" charset="-128"/>
              </a:defRPr>
            </a:lvl1pPr>
          </a:lstStyle>
          <a:p>
            <a:pPr>
              <a:defRPr/>
            </a:pPr>
            <a:fld id="{BA666613-07D0-4AF0-91BE-BAEC6DF2665F}" type="datetimeFigureOut">
              <a:rPr lang="en-US" altLang="en-US"/>
              <a:pPr>
                <a:defRPr/>
              </a:pPr>
              <a:t>5/11/2021</a:t>
            </a:fld>
            <a:endParaRPr lang="en-US" altLang="en-US"/>
          </a:p>
        </p:txBody>
      </p:sp>
      <p:sp>
        <p:nvSpPr>
          <p:cNvPr id="2052" name="Rectangle 4"/>
          <p:cNvSpPr>
            <a:spLocks noGrp="1" noRot="1" noChangeAspect="1" noChangeArrowheads="1" noTextEdit="1"/>
          </p:cNvSpPr>
          <p:nvPr>
            <p:ph type="sldImg" idx="2"/>
          </p:nvPr>
        </p:nvSpPr>
        <p:spPr bwMode="auto">
          <a:xfrm>
            <a:off x="1181100" y="695325"/>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35142" y="4418435"/>
            <a:ext cx="5140117" cy="4183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832134"/>
            <a:ext cx="3039210" cy="4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b" anchorCtr="0" compatLnSpc="1">
            <a:prstTxWarp prst="textNoShape">
              <a:avLst/>
            </a:prstTxWarp>
          </a:bodyPr>
          <a:lstStyle>
            <a:lvl1pPr defTabSz="929319">
              <a:defRPr sz="1200">
                <a:ea typeface="ＭＳ Ｐゴシック" charset="-128"/>
              </a:defRPr>
            </a:lvl1pPr>
          </a:lstStyle>
          <a:p>
            <a:pPr>
              <a:defRPr/>
            </a:pPr>
            <a:r>
              <a:rPr lang="en-US" altLang="en-US"/>
              <a:t>2012 Fall</a:t>
            </a:r>
          </a:p>
        </p:txBody>
      </p:sp>
      <p:sp>
        <p:nvSpPr>
          <p:cNvPr id="3079" name="Rectangle 7"/>
          <p:cNvSpPr>
            <a:spLocks noGrp="1" noChangeArrowheads="1"/>
          </p:cNvSpPr>
          <p:nvPr>
            <p:ph type="sldNum" sz="quarter" idx="5"/>
          </p:nvPr>
        </p:nvSpPr>
        <p:spPr bwMode="auto">
          <a:xfrm>
            <a:off x="3971191" y="8832134"/>
            <a:ext cx="3039210" cy="4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b" anchorCtr="0" compatLnSpc="1">
            <a:prstTxWarp prst="textNoShape">
              <a:avLst/>
            </a:prstTxWarp>
          </a:bodyPr>
          <a:lstStyle>
            <a:lvl1pPr algn="r" defTabSz="929319">
              <a:defRPr sz="1200">
                <a:ea typeface="ＭＳ Ｐゴシック" charset="-128"/>
              </a:defRPr>
            </a:lvl1pPr>
          </a:lstStyle>
          <a:p>
            <a:pPr>
              <a:defRPr/>
            </a:pPr>
            <a:fld id="{A39816AF-B88C-494B-BFC3-759C320F278A}" type="slidenum">
              <a:rPr lang="en-US" altLang="en-US"/>
              <a:pPr>
                <a:defRPr/>
              </a:pPr>
              <a:t>‹#›</a:t>
            </a:fld>
            <a:endParaRPr lang="en-US" altLang="en-US"/>
          </a:p>
        </p:txBody>
      </p:sp>
    </p:spTree>
    <p:extLst>
      <p:ext uri="{BB962C8B-B14F-4D97-AF65-F5344CB8AC3E}">
        <p14:creationId xmlns:p14="http://schemas.microsoft.com/office/powerpoint/2010/main" val="308756319"/>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CA" altLang="en-US" dirty="0">
                <a:ea typeface="ＭＳ Ｐゴシック" panose="020B0600070205080204" pitchFamily="34" charset="-128"/>
              </a:rPr>
              <a:t>Simple overview here</a:t>
            </a:r>
            <a:r>
              <a:rPr lang="en-CA" altLang="en-US" baseline="0" dirty="0">
                <a:ea typeface="ＭＳ Ｐゴシック" panose="020B0600070205080204" pitchFamily="34" charset="-128"/>
              </a:rPr>
              <a:t> to then start introducing the RM work process</a:t>
            </a:r>
            <a:endParaRPr lang="en-CA" altLang="en-US" dirty="0">
              <a:ea typeface="ＭＳ Ｐゴシック" panose="020B0600070205080204" pitchFamily="34" charset="-128"/>
            </a:endParaRP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61758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1170099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a:ea typeface="ＭＳ Ｐゴシック" panose="020B0600070205080204" pitchFamily="34" charset="-128"/>
              </a:rPr>
              <a:t>Combination of consequence and probability</a:t>
            </a:r>
          </a:p>
          <a:p>
            <a:r>
              <a:rPr lang="en-CA" altLang="en-US" dirty="0">
                <a:ea typeface="ＭＳ Ｐゴシック" panose="020B0600070205080204" pitchFamily="34" charset="-128"/>
              </a:rPr>
              <a:t>Be able to draw a risk management process (for exam – know the steps)</a:t>
            </a:r>
          </a:p>
          <a:p>
            <a:r>
              <a:rPr lang="en-CA" altLang="en-US" dirty="0">
                <a:ea typeface="ＭＳ Ｐゴシック" panose="020B0600070205080204" pitchFamily="34" charset="-128"/>
              </a:rPr>
              <a:t>What is the range of possible incidents that can happen?</a:t>
            </a:r>
          </a:p>
          <a:p>
            <a:r>
              <a:rPr lang="en-CA" altLang="en-US" dirty="0">
                <a:ea typeface="ＭＳ Ｐゴシック" panose="020B0600070205080204" pitchFamily="34" charset="-128"/>
              </a:rPr>
              <a:t>Lots of uncertainty in undertaking activities</a:t>
            </a:r>
          </a:p>
          <a:p>
            <a:r>
              <a:rPr lang="en-CA" altLang="en-US" dirty="0">
                <a:ea typeface="ＭＳ Ｐゴシック" panose="020B0600070205080204" pitchFamily="34" charset="-128"/>
              </a:rPr>
              <a:t>Resolve that uncertainty by using the same set of criteria to compare the risks (</a:t>
            </a:r>
            <a:r>
              <a:rPr lang="en-CA" altLang="en-US" dirty="0" err="1">
                <a:ea typeface="ＭＳ Ｐゴシック" panose="020B0600070205080204" pitchFamily="34" charset="-128"/>
              </a:rPr>
              <a:t>defn</a:t>
            </a:r>
            <a:r>
              <a:rPr lang="en-CA" altLang="en-US" dirty="0">
                <a:ea typeface="ＭＳ Ｐゴシック" panose="020B0600070205080204" pitchFamily="34" charset="-128"/>
              </a:rPr>
              <a:t> later on in slides)</a:t>
            </a:r>
          </a:p>
          <a:p>
            <a:r>
              <a:rPr lang="en-CA" altLang="en-US" dirty="0">
                <a:ea typeface="ＭＳ Ｐゴシック" panose="020B0600070205080204" pitchFamily="34" charset="-128"/>
              </a:rPr>
              <a:t>Each step is described in the courseware</a:t>
            </a:r>
          </a:p>
          <a:p>
            <a:r>
              <a:rPr lang="en-CA" altLang="en-US" dirty="0">
                <a:ea typeface="ＭＳ Ｐゴシック" panose="020B0600070205080204" pitchFamily="34" charset="-128"/>
              </a:rPr>
              <a:t>Adapted from the APEGA guidelines – explain what APEGA is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CA" altLang="en-US" dirty="0">
                <a:ea typeface="ＭＳ Ｐゴシック" panose="020B0600070205080204" pitchFamily="34" charset="-128"/>
              </a:rPr>
              <a:t>They work together…</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357139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a:ea typeface="ＭＳ Ｐゴシック" panose="020B0600070205080204" pitchFamily="34" charset="-128"/>
              </a:rPr>
              <a:t>They work together…</a:t>
            </a:r>
          </a:p>
        </p:txBody>
      </p:sp>
    </p:spTree>
    <p:extLst>
      <p:ext uri="{BB962C8B-B14F-4D97-AF65-F5344CB8AC3E}">
        <p14:creationId xmlns:p14="http://schemas.microsoft.com/office/powerpoint/2010/main" val="3638151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err="1">
                <a:ea typeface="ＭＳ Ｐゴシック" panose="020B0600070205080204" pitchFamily="34" charset="-128"/>
              </a:rPr>
              <a:t>Mgmt</a:t>
            </a:r>
            <a:r>
              <a:rPr lang="en-CA" altLang="en-US" dirty="0">
                <a:ea typeface="ＭＳ Ｐゴシック" panose="020B0600070205080204" pitchFamily="34" charset="-128"/>
              </a:rPr>
              <a:t> system – describes how an organization does work (university calendar for us, ensures the university complies with academic requirements, </a:t>
            </a:r>
            <a:r>
              <a:rPr lang="en-CA" altLang="en-US" dirty="0" err="1">
                <a:ea typeface="ＭＳ Ｐゴシック" panose="020B0600070205080204" pitchFamily="34" charset="-128"/>
              </a:rPr>
              <a:t>etc</a:t>
            </a:r>
            <a:r>
              <a:rPr lang="en-CA" altLang="en-US" dirty="0">
                <a:ea typeface="ＭＳ Ｐゴシック" panose="020B0600070205080204" pitchFamily="34" charset="-128"/>
              </a:rPr>
              <a:t>)</a:t>
            </a:r>
          </a:p>
        </p:txBody>
      </p:sp>
    </p:spTree>
    <p:extLst>
      <p:ext uri="{BB962C8B-B14F-4D97-AF65-F5344CB8AC3E}">
        <p14:creationId xmlns:p14="http://schemas.microsoft.com/office/powerpoint/2010/main" val="3638151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CA" altLang="en-US" dirty="0">
                <a:ea typeface="ＭＳ Ｐゴシック" panose="020B0600070205080204" pitchFamily="34" charset="-128"/>
              </a:rPr>
              <a:t>This is the overall RM system –</a:t>
            </a:r>
            <a:r>
              <a:rPr lang="en-CA" altLang="en-US" baseline="0" dirty="0">
                <a:ea typeface="ＭＳ Ｐゴシック" panose="020B0600070205080204" pitchFamily="34" charset="-128"/>
              </a:rPr>
              <a:t> it includes the RM work process to reduce risk and then the system used to manage the residual risk</a:t>
            </a:r>
            <a:endParaRPr lang="en-CA" altLang="en-US" dirty="0">
              <a:ea typeface="ＭＳ Ｐゴシック" panose="020B0600070205080204" pitchFamily="34" charset="-128"/>
            </a:endParaRP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a:ea typeface="ＭＳ Ｐゴシック" panose="020B0600070205080204" pitchFamily="34" charset="-128"/>
              </a:rPr>
              <a:t>Most important one!!!</a:t>
            </a:r>
          </a:p>
          <a:p>
            <a:r>
              <a:rPr lang="en-CA" altLang="en-US" dirty="0">
                <a:ea typeface="ＭＳ Ｐゴシック" panose="020B0600070205080204" pitchFamily="34" charset="-128"/>
              </a:rPr>
              <a:t>Focus on this in chapter 9</a:t>
            </a:r>
          </a:p>
          <a:p>
            <a:r>
              <a:rPr lang="en-CA" altLang="en-US" dirty="0">
                <a:ea typeface="ＭＳ Ｐゴシック" panose="020B0600070205080204" pitchFamily="34" charset="-128"/>
              </a:rPr>
              <a:t>What gets measured gets managed</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3885890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a:ea typeface="ＭＳ Ｐゴシック" panose="020B0600070205080204" pitchFamily="34" charset="-128"/>
              </a:rPr>
              <a:t>Compare the process with the system</a:t>
            </a:r>
          </a:p>
          <a:p>
            <a:r>
              <a:rPr lang="en-CA" altLang="en-US" dirty="0">
                <a:ea typeface="ＭＳ Ｐゴシック" panose="020B0600070205080204" pitchFamily="34" charset="-128"/>
              </a:rPr>
              <a:t>RM system describes how you go through/direct the risk management process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1565601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lnSpc>
                <a:spcPct val="80000"/>
              </a:lnSpc>
              <a:spcBef>
                <a:spcPct val="0"/>
              </a:spcBef>
              <a:spcAft>
                <a:spcPts val="210"/>
              </a:spcAft>
            </a:pPr>
            <a:r>
              <a:rPr lang="en-US" altLang="en-US" dirty="0" smtClean="0"/>
              <a:t>Engineering Controls: an engineered system with specific design intent to control / mitigate</a:t>
            </a:r>
            <a:r>
              <a:rPr lang="en-US" altLang="en-US" baseline="0" dirty="0" smtClean="0"/>
              <a:t> </a:t>
            </a:r>
            <a:r>
              <a:rPr lang="en-US" altLang="en-US" dirty="0" smtClean="0"/>
              <a:t>a hazard and manage a risk to an acceptable level. </a:t>
            </a:r>
          </a:p>
          <a:p>
            <a:r>
              <a:rPr lang="en-US" altLang="en-US" dirty="0" smtClean="0"/>
              <a:t>Process equipment and process hardware (e.g. pressure vessels and pressure relief valves; automated process control systems, their sensors, and their control devices; fire suppression systems, etc.) and process software (logic that automatically activates control devices) that are put in place to prevent an incident from happening or to mitigate the incident to a safe level should it happen. </a:t>
            </a:r>
            <a:endParaRPr lang="en-US" altLang="en-US" dirty="0"/>
          </a:p>
        </p:txBody>
      </p:sp>
    </p:spTree>
    <p:extLst>
      <p:ext uri="{BB962C8B-B14F-4D97-AF65-F5344CB8AC3E}">
        <p14:creationId xmlns:p14="http://schemas.microsoft.com/office/powerpoint/2010/main" val="2557992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Administrative Control: This specifies a safe plan for the safe execution of work. In the form of policies, procedures, and best practices.</a:t>
            </a:r>
          </a:p>
          <a:p>
            <a:pPr eaLnBrk="1" hangingPunct="1"/>
            <a:r>
              <a:rPr lang="en-US" altLang="en-US" dirty="0" smtClean="0">
                <a:latin typeface="Arial" panose="020B0604020202020204" pitchFamily="34" charset="0"/>
                <a:cs typeface="Arial" panose="020B0604020202020204" pitchFamily="34" charset="0"/>
              </a:rPr>
              <a:t>An administrative control specifies a safe plan for the safe execution of work. It may be in the form of policies, procedures, and the best practices.  </a:t>
            </a:r>
          </a:p>
          <a:p>
            <a:pPr eaLnBrk="1" hangingPunct="1"/>
            <a:r>
              <a:rPr lang="en-US" altLang="en-US" dirty="0" smtClean="0">
                <a:latin typeface="Arial" panose="020B0604020202020204" pitchFamily="34" charset="0"/>
                <a:cs typeface="Arial" panose="020B0604020202020204" pitchFamily="34" charset="0"/>
              </a:rPr>
              <a:t>Policies and procedures are well-defined, and establish actions to safely and efficiently execute work. </a:t>
            </a:r>
          </a:p>
          <a:p>
            <a:pPr eaLnBrk="1" hangingPunct="1"/>
            <a:r>
              <a:rPr lang="en-US" altLang="en-US" dirty="0" smtClean="0">
                <a:latin typeface="Arial" panose="020B0604020202020204" pitchFamily="34" charset="0"/>
                <a:cs typeface="Arial" panose="020B0604020202020204" pitchFamily="34" charset="0"/>
              </a:rPr>
              <a:t>Best practices are based on the skills and knowledge of trained and competent workers in their field of expertise. </a:t>
            </a:r>
          </a:p>
          <a:p>
            <a:pPr eaLnBrk="1" hangingPunct="1"/>
            <a:r>
              <a:rPr lang="en-US" altLang="en-US" dirty="0" smtClean="0">
                <a:latin typeface="Arial" panose="020B0604020202020204" pitchFamily="34" charset="0"/>
                <a:cs typeface="Arial" panose="020B0604020202020204" pitchFamily="34" charset="0"/>
              </a:rPr>
              <a:t>Administrative Controls are put in place to prevent an incident from happening, or to mitigate the incident to a safe level should it happen. Some examples of administrative controls are: operating procedures, maintenance procedures, training requirements, procedures that control life-critical jobs (e.g. work permits, confined space entry, work at elevation, work in atmospheres immediately dangerous to life or health), and emergency response plans and tactics. These, in part, can effectively implement the intent of the risk management system.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Work practices are the result of implementing an administrative control</a:t>
            </a:r>
            <a:r>
              <a:rPr lang="en-US" altLang="en-US" baseline="0" dirty="0" smtClean="0">
                <a:latin typeface="Arial" panose="020B0604020202020204" pitchFamily="34" charset="0"/>
                <a:cs typeface="Arial" panose="020B0604020202020204" pitchFamily="34" charset="0"/>
              </a:rPr>
              <a:t> i.e. the actual execution of or “doing” the work. </a:t>
            </a:r>
            <a:endParaRPr lang="en-US" altLang="en-US" dirty="0" smtClean="0">
              <a:latin typeface="Arial" panose="020B0604020202020204" pitchFamily="34" charset="0"/>
              <a:cs typeface="Arial" panose="020B0604020202020204" pitchFamily="34" charset="0"/>
            </a:endParaRPr>
          </a:p>
          <a:p>
            <a:pPr eaLnBrk="1" hangingPunct="1"/>
            <a:endParaRPr lang="en-US" altLang="en-US" dirty="0" smtClean="0">
              <a:latin typeface="Arial" panose="020B0604020202020204" pitchFamily="34" charset="0"/>
              <a:cs typeface="Arial" panose="020B0604020202020204" pitchFamily="34" charset="0"/>
            </a:endParaRP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6258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09769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2187398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2315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398284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5095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116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5/11/2021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401609945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153991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7344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10171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558707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12898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4.jpg"/><Relationship Id="rId4" Type="http://schemas.openxmlformats.org/officeDocument/2006/relationships/image" Target="../media/image13.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3.1 The Risk Management Program</a:t>
            </a:r>
          </a:p>
          <a:p>
            <a:pPr marL="0" indent="0" algn="ctr" eaLnBrk="1" hangingPunct="1">
              <a:spcBef>
                <a:spcPct val="0"/>
              </a:spcBef>
              <a:buNone/>
            </a:pPr>
            <a: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3.2 The Risk Management Work Process</a:t>
            </a:r>
          </a:p>
          <a:p>
            <a:pPr marL="0" indent="0" algn="ctr" eaLnBrk="1" hangingPunct="1">
              <a:spcBef>
                <a:spcPct val="0"/>
              </a:spcBef>
              <a:buNone/>
            </a:pPr>
            <a: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3.3 The Risk Management System </a:t>
            </a:r>
            <a:b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and Elements (Part 1)</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how a risk management program is structured.</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each of the steps in a risk management work process.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risk management system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elements.</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Differentiate between risk management system elements</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smtClean="0">
              <a:solidFill>
                <a:srgbClr val="000000"/>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cs typeface="Arial" panose="020B0604020202020204" pitchFamily="34" charset="0"/>
              </a:rPr>
              <a:t>Explain the components of a risk management program. </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Chapters 3.1, 3.2, and 3.3</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spcBef>
                <a:spcPct val="0"/>
              </a:spcBef>
              <a:buClrTx/>
              <a:buSzTx/>
              <a:buNone/>
            </a:pPr>
            <a:r>
              <a:rPr lang="en-CA" sz="2000" dirty="0">
                <a:solidFill>
                  <a:srgbClr val="000000"/>
                </a:solidFill>
                <a:latin typeface="Arial" panose="020B0604020202020204" pitchFamily="34" charset="0"/>
                <a:cs typeface="Arial" panose="020B0604020202020204" pitchFamily="34" charset="0"/>
              </a:rPr>
              <a:t>Overarching program to:</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and reduce risk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 residual risk</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a:spcBef>
                <a:spcPct val="0"/>
              </a:spcBef>
              <a:buClrTx/>
              <a:buSzTx/>
              <a:buNone/>
            </a:pPr>
            <a:r>
              <a:rPr lang="en-CA" sz="2000" dirty="0" smtClean="0">
                <a:solidFill>
                  <a:srgbClr val="000000"/>
                </a:solidFill>
                <a:latin typeface="Arial" panose="020B0604020202020204" pitchFamily="34" charset="0"/>
                <a:cs typeface="Arial" panose="020B0604020202020204" pitchFamily="34" charset="0"/>
              </a:rPr>
              <a:t>Consists </a:t>
            </a:r>
            <a:r>
              <a:rPr lang="en-CA" sz="2000" dirty="0">
                <a:solidFill>
                  <a:srgbClr val="000000"/>
                </a:solidFill>
                <a:latin typeface="Arial" panose="020B0604020202020204" pitchFamily="34" charset="0"/>
                <a:cs typeface="Arial" panose="020B0604020202020204" pitchFamily="34" charset="0"/>
              </a:rPr>
              <a:t>of </a:t>
            </a:r>
            <a:r>
              <a:rPr lang="en-CA" sz="2000" dirty="0" smtClean="0">
                <a:solidFill>
                  <a:srgbClr val="000000"/>
                </a:solidFill>
                <a:latin typeface="Arial" panose="020B0604020202020204" pitchFamily="34" charset="0"/>
                <a:cs typeface="Arial" panose="020B0604020202020204" pitchFamily="34" charset="0"/>
              </a:rPr>
              <a:t>3 components:</a:t>
            </a:r>
            <a:endParaRPr lang="en-CA" sz="2000" dirty="0">
              <a:solidFill>
                <a:srgbClr val="000000"/>
              </a:solidFill>
              <a:latin typeface="Arial" panose="020B0604020202020204" pitchFamily="34" charset="0"/>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 </a:t>
            </a:r>
            <a:r>
              <a:rPr lang="en-CA" altLang="en-US" sz="2400" dirty="0" smtClean="0">
                <a:solidFill>
                  <a:srgbClr val="333399"/>
                </a:solidFill>
                <a:latin typeface="Arial" panose="020B0604020202020204" pitchFamily="34" charset="0"/>
                <a:ea typeface="+mn-ea"/>
                <a:cs typeface="Arial" panose="020B0604020202020204" pitchFamily="34" charset="0"/>
              </a:rPr>
              <a:t>Model of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Risk Management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Program:</a:t>
            </a:r>
            <a:endPar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 The Risk Management Program</a:t>
            </a:r>
          </a:p>
        </p:txBody>
      </p:sp>
      <p:graphicFrame>
        <p:nvGraphicFramePr>
          <p:cNvPr id="2" name="Diagram 1"/>
          <p:cNvGraphicFramePr/>
          <p:nvPr>
            <p:extLst>
              <p:ext uri="{D42A27DB-BD31-4B8C-83A1-F6EECF244321}">
                <p14:modId xmlns:p14="http://schemas.microsoft.com/office/powerpoint/2010/main" val="2323281413"/>
              </p:ext>
            </p:extLst>
          </p:nvPr>
        </p:nvGraphicFramePr>
        <p:xfrm>
          <a:off x="1676400" y="879300"/>
          <a:ext cx="5638800" cy="5292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517005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Let’s examine </a:t>
            </a: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each of the </a:t>
            </a:r>
            <a:b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three integrated components of </a:t>
            </a:r>
            <a:b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RM Program:</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a:solidFill>
                  <a:srgbClr val="333399"/>
                </a:solidFill>
                <a:latin typeface="Arial" panose="020B0604020202020204" pitchFamily="34" charset="0"/>
                <a:ea typeface="+mn-ea"/>
                <a:cs typeface="Arial" panose="020B0604020202020204" pitchFamily="34" charset="0"/>
              </a:rPr>
              <a:t>A Model of The Risk Management Program:</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2" name="Group 1"/>
          <p:cNvGrpSpPr/>
          <p:nvPr/>
        </p:nvGrpSpPr>
        <p:grpSpPr>
          <a:xfrm>
            <a:off x="1257299" y="685800"/>
            <a:ext cx="6477000" cy="5778078"/>
            <a:chOff x="1257299" y="685800"/>
            <a:chExt cx="6477000" cy="5778078"/>
          </a:xfrm>
        </p:grpSpPr>
        <p:sp>
          <p:nvSpPr>
            <p:cNvPr id="30" name="Oval 29"/>
            <p:cNvSpPr/>
            <p:nvPr/>
          </p:nvSpPr>
          <p:spPr>
            <a:xfrm>
              <a:off x="1257299" y="1371600"/>
              <a:ext cx="6477000" cy="5092278"/>
            </a:xfrm>
            <a:prstGeom prst="ellipse">
              <a:avLst/>
            </a:prstGeom>
            <a:noFill/>
            <a:ln w="762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3172574" y="68580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Work Process</a:t>
              </a:r>
              <a:endParaRPr lang="en-US" sz="1600" b="1" kern="1200" dirty="0"/>
            </a:p>
          </p:txBody>
        </p:sp>
        <p:sp>
          <p:nvSpPr>
            <p:cNvPr id="27" name="Freeform 26"/>
            <p:cNvSpPr/>
            <p:nvPr/>
          </p:nvSpPr>
          <p:spPr>
            <a:xfrm>
              <a:off x="162075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Control Measures</a:t>
              </a:r>
              <a:endParaRPr lang="en-US" sz="1600" b="1" kern="1200" dirty="0"/>
            </a:p>
          </p:txBody>
        </p:sp>
        <p:sp>
          <p:nvSpPr>
            <p:cNvPr id="28" name="Freeform 27"/>
            <p:cNvSpPr/>
            <p:nvPr/>
          </p:nvSpPr>
          <p:spPr>
            <a:xfrm>
              <a:off x="3172574" y="3525749"/>
              <a:ext cx="2646451" cy="2646451"/>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2646450" y="0"/>
                  </a:moveTo>
                  <a:lnTo>
                    <a:pt x="1323225" y="2646450"/>
                  </a:lnTo>
                  <a:lnTo>
                    <a:pt x="0" y="0"/>
                  </a:lnTo>
                  <a:lnTo>
                    <a:pt x="2646450" y="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2" tIns="1" rIns="661614" bIns="1323225" numCol="1" spcCol="1270" anchor="ctr" anchorCtr="0">
              <a:noAutofit/>
            </a:bodyPr>
            <a:lstStyle/>
            <a:p>
              <a:pPr algn="ctr" defTabSz="711200">
                <a:lnSpc>
                  <a:spcPct val="90000"/>
                </a:lnSpc>
                <a:spcAft>
                  <a:spcPct val="35000"/>
                </a:spcAft>
              </a:pPr>
              <a:r>
                <a:rPr lang="en-US" sz="1600" b="1" dirty="0">
                  <a:solidFill>
                    <a:schemeClr val="bg1"/>
                  </a:solidFill>
                </a:rPr>
                <a:t>Risk Management Program</a:t>
              </a:r>
            </a:p>
          </p:txBody>
        </p:sp>
        <p:sp>
          <p:nvSpPr>
            <p:cNvPr id="29" name="Freeform 28"/>
            <p:cNvSpPr/>
            <p:nvPr/>
          </p:nvSpPr>
          <p:spPr>
            <a:xfrm>
              <a:off x="472440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System</a:t>
              </a:r>
              <a:endParaRPr lang="en-US" sz="1600" b="1" kern="1200" dirty="0"/>
            </a:p>
          </p:txBody>
        </p:sp>
      </p:grpSp>
      <p:sp>
        <p:nvSpPr>
          <p:cNvPr id="3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 The Risk Management Program</a:t>
            </a:r>
          </a:p>
        </p:txBody>
      </p:sp>
    </p:spTree>
    <p:extLst>
      <p:ext uri="{BB962C8B-B14F-4D97-AF65-F5344CB8AC3E}">
        <p14:creationId xmlns:p14="http://schemas.microsoft.com/office/powerpoint/2010/main" val="21956985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The </a:t>
            </a:r>
            <a:r>
              <a:rPr lang="en-US" altLang="en-US" sz="2400" dirty="0">
                <a:solidFill>
                  <a:srgbClr val="333399"/>
                </a:solidFill>
                <a:latin typeface="Arial" panose="020B0604020202020204" pitchFamily="34" charset="0"/>
                <a:ea typeface="+mn-ea"/>
                <a:cs typeface="Arial" panose="020B0604020202020204" pitchFamily="34" charset="0"/>
              </a:rPr>
              <a:t>Risk Management </a:t>
            </a:r>
            <a:r>
              <a:rPr lang="en-US" altLang="en-US" sz="2400" dirty="0" smtClean="0">
                <a:solidFill>
                  <a:srgbClr val="333399"/>
                </a:solidFill>
                <a:latin typeface="Arial" panose="020B0604020202020204" pitchFamily="34" charset="0"/>
                <a:ea typeface="+mn-ea"/>
                <a:cs typeface="Arial" panose="020B0604020202020204" pitchFamily="34" charset="0"/>
              </a:rPr>
              <a:t>Work Process:</a:t>
            </a:r>
            <a:endParaRPr lang="en-US"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sp>
        <p:nvSpPr>
          <p:cNvPr id="26" name="Freeform 25"/>
          <p:cNvSpPr/>
          <p:nvPr/>
        </p:nvSpPr>
        <p:spPr>
          <a:xfrm>
            <a:off x="3172574" y="68580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Work Process</a:t>
            </a:r>
            <a:endParaRPr lang="en-US" sz="1600" b="1" kern="1200" dirty="0"/>
          </a:p>
        </p:txBody>
      </p:sp>
      <p:sp>
        <p:nvSpPr>
          <p:cNvPr id="27" name="Freeform 26"/>
          <p:cNvSpPr/>
          <p:nvPr/>
        </p:nvSpPr>
        <p:spPr>
          <a:xfrm>
            <a:off x="162075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Control Measures</a:t>
            </a:r>
          </a:p>
        </p:txBody>
      </p:sp>
      <p:sp>
        <p:nvSpPr>
          <p:cNvPr id="28" name="Freeform 27"/>
          <p:cNvSpPr/>
          <p:nvPr/>
        </p:nvSpPr>
        <p:spPr>
          <a:xfrm>
            <a:off x="3172574" y="3525749"/>
            <a:ext cx="2646451" cy="2646451"/>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2646450" y="0"/>
                </a:moveTo>
                <a:lnTo>
                  <a:pt x="1323225" y="2646450"/>
                </a:lnTo>
                <a:lnTo>
                  <a:pt x="0" y="0"/>
                </a:lnTo>
                <a:lnTo>
                  <a:pt x="2646450" y="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2" tIns="1" rIns="661614" bIns="1323225" numCol="1" spcCol="1270" anchor="ctr" anchorCtr="0">
            <a:noAutofit/>
          </a:bodyPr>
          <a:lstStyle/>
          <a:p>
            <a:pPr lvl="0" algn="ctr" defTabSz="711200">
              <a:lnSpc>
                <a:spcPct val="90000"/>
              </a:lnSpc>
              <a:spcBef>
                <a:spcPct val="0"/>
              </a:spcBef>
              <a:spcAft>
                <a:spcPct val="35000"/>
              </a:spcAft>
            </a:pPr>
            <a:r>
              <a:rPr lang="en-US" sz="1600" b="1" kern="1200" dirty="0" smtClean="0"/>
              <a:t>Risk Management Program</a:t>
            </a:r>
            <a:endParaRPr lang="en-US" sz="1600" b="1" kern="1200" dirty="0"/>
          </a:p>
        </p:txBody>
      </p:sp>
      <p:sp>
        <p:nvSpPr>
          <p:cNvPr id="29" name="Freeform 28"/>
          <p:cNvSpPr/>
          <p:nvPr/>
        </p:nvSpPr>
        <p:spPr>
          <a:xfrm>
            <a:off x="472440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System</a:t>
            </a:r>
            <a:endParaRPr lang="en-US" sz="1600" b="1" kern="1200" dirty="0"/>
          </a:p>
        </p:txBody>
      </p:sp>
    </p:spTree>
    <p:extLst>
      <p:ext uri="{BB962C8B-B14F-4D97-AF65-F5344CB8AC3E}">
        <p14:creationId xmlns:p14="http://schemas.microsoft.com/office/powerpoint/2010/main" val="166932916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a Risk Management Work Process?</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One part of an overall risk management program</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First analyzes risk to PEAP</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are the chances of it happening?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Likelihood</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bad could it be? Consequence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Then systematically assesses that risk against what is acceptable: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reduce risk to PEAP</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Utilizing tools such as: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Matrices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Criteria Tables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Directions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Chapter </a:t>
            </a:r>
            <a:r>
              <a:rPr lang="en-US" altLang="en-US" sz="2400" dirty="0">
                <a:solidFill>
                  <a:srgbClr val="333399"/>
                </a:solidFill>
                <a:latin typeface="Arial" panose="020B0604020202020204" pitchFamily="34" charset="0"/>
                <a:ea typeface="+mn-ea"/>
                <a:cs typeface="Arial" panose="020B0604020202020204" pitchFamily="34" charset="0"/>
              </a:rPr>
              <a:t>3.2: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Risk Management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pic>
        <p:nvPicPr>
          <p:cNvPr id="2" name="Picture 1"/>
          <p:cNvPicPr>
            <a:picLocks noChangeAspect="1"/>
          </p:cNvPicPr>
          <p:nvPr/>
        </p:nvPicPr>
        <p:blipFill>
          <a:blip r:embed="rId3"/>
          <a:stretch>
            <a:fillRect/>
          </a:stretch>
        </p:blipFill>
        <p:spPr>
          <a:xfrm>
            <a:off x="6094328" y="3549402"/>
            <a:ext cx="2719072" cy="2606598"/>
          </a:xfrm>
          <a:prstGeom prst="rect">
            <a:avLst/>
          </a:prstGeom>
        </p:spPr>
      </p:pic>
    </p:spTree>
    <p:extLst>
      <p:ext uri="{BB962C8B-B14F-4D97-AF65-F5344CB8AC3E}">
        <p14:creationId xmlns:p14="http://schemas.microsoft.com/office/powerpoint/2010/main" val="227813599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Flowchart of The Risk Management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pic>
        <p:nvPicPr>
          <p:cNvPr id="6" name="Picture 8">
            <a:extLst>
              <a:ext uri="{FF2B5EF4-FFF2-40B4-BE49-F238E27FC236}">
                <a16:creationId xmlns:a16="http://schemas.microsoft.com/office/drawing/2014/main" id="{2723B1E1-2AEA-46ED-9638-038FAEA00F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00" y="824698"/>
            <a:ext cx="4343400" cy="5322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999999"/>
                  </a:outerShdw>
                </a:effectLst>
              </a14:hiddenEffects>
            </a:ext>
          </a:extLst>
        </p:spPr>
      </p:pic>
      <p:sp>
        <p:nvSpPr>
          <p:cNvPr id="7" name="TextBox 6">
            <a:extLst>
              <a:ext uri="{FF2B5EF4-FFF2-40B4-BE49-F238E27FC236}">
                <a16:creationId xmlns:a16="http://schemas.microsoft.com/office/drawing/2014/main" id="{D2858257-AA23-4C2C-9AE1-47F61E919D3B}"/>
              </a:ext>
            </a:extLst>
          </p:cNvPr>
          <p:cNvSpPr txBox="1"/>
          <p:nvPr/>
        </p:nvSpPr>
        <p:spPr>
          <a:xfrm>
            <a:off x="4805280" y="830542"/>
            <a:ext cx="3474720" cy="4431983"/>
          </a:xfrm>
          <a:prstGeom prst="rect">
            <a:avLst/>
          </a:prstGeom>
          <a:solidFill>
            <a:srgbClr val="FFFFFF"/>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Nine (9) sequential and integrated steps!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New or existing projects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 3: Likelihood </a:t>
            </a:r>
            <a:b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and Consequence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 4: </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The risk matrix</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 5: Ongoing process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 6: </a:t>
            </a:r>
            <a:b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Risk Management </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Direction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Steps 7, 8, 9: </a:t>
            </a:r>
            <a:b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Manage the Risks!</a:t>
            </a:r>
          </a:p>
        </p:txBody>
      </p:sp>
      <p:sp>
        <p:nvSpPr>
          <p:cNvPr id="10" name="TextBox 9">
            <a:extLst>
              <a:ext uri="{FF2B5EF4-FFF2-40B4-BE49-F238E27FC236}">
                <a16:creationId xmlns:a16="http://schemas.microsoft.com/office/drawing/2014/main" id="{86525325-DCC2-4147-AF13-08C456FDBBB6}"/>
              </a:ext>
            </a:extLst>
          </p:cNvPr>
          <p:cNvSpPr txBox="1"/>
          <p:nvPr/>
        </p:nvSpPr>
        <p:spPr>
          <a:xfrm>
            <a:off x="4805280" y="5370525"/>
            <a:ext cx="3474720" cy="707886"/>
          </a:xfrm>
          <a:prstGeom prst="rect">
            <a:avLst/>
          </a:prstGeom>
          <a:solidFill>
            <a:srgbClr val="000000"/>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Be able to </a:t>
            </a:r>
            <a:r>
              <a:rPr kumimoji="0" lang="en-CA" sz="2000" b="0" i="1" u="sng"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explain and apply</a:t>
            </a:r>
            <a:r>
              <a:rPr kumimoji="0" lang="en-CA"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this work process!</a:t>
            </a:r>
          </a:p>
        </p:txBody>
      </p:sp>
    </p:spTree>
    <p:extLst>
      <p:ext uri="{BB962C8B-B14F-4D97-AF65-F5344CB8AC3E}">
        <p14:creationId xmlns:p14="http://schemas.microsoft.com/office/powerpoint/2010/main" val="42074107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function or purpose of RM WP:</a:t>
            </a: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Function of The Risk Management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pic>
        <p:nvPicPr>
          <p:cNvPr id="10" name="Picture 8">
            <a:extLst>
              <a:ext uri="{FF2B5EF4-FFF2-40B4-BE49-F238E27FC236}">
                <a16:creationId xmlns:a16="http://schemas.microsoft.com/office/drawing/2014/main" id="{A36D3FA9-009B-4041-B0BA-A51DDAC3F4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63184" y="2600668"/>
            <a:ext cx="2700000" cy="3305149"/>
          </a:xfrm>
          <a:prstGeom prst="rect">
            <a:avLst/>
          </a:prstGeom>
          <a:noFill/>
          <a:ln w="76200" cap="flat" cmpd="sng" algn="ctr">
            <a:solidFill>
              <a:srgbClr val="00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7961" dir="2700000" algn="ctr" rotWithShape="0">
                    <a:srgbClr val="999999"/>
                  </a:outerShdw>
                </a:effectLst>
              </a14:hiddenEffects>
            </a:ext>
          </a:extLst>
        </p:spPr>
      </p:pic>
      <p:sp>
        <p:nvSpPr>
          <p:cNvPr id="11" name="Down Arrow 14">
            <a:extLst>
              <a:ext uri="{FF2B5EF4-FFF2-40B4-BE49-F238E27FC236}">
                <a16:creationId xmlns:a16="http://schemas.microsoft.com/office/drawing/2014/main" id="{6E71CD79-534A-41F7-A892-39AB8CDC17C0}"/>
              </a:ext>
            </a:extLst>
          </p:cNvPr>
          <p:cNvSpPr/>
          <p:nvPr/>
        </p:nvSpPr>
        <p:spPr bwMode="auto">
          <a:xfrm>
            <a:off x="7133765" y="2102208"/>
            <a:ext cx="540000" cy="540000"/>
          </a:xfrm>
          <a:prstGeom prst="downArrow">
            <a:avLst/>
          </a:prstGeom>
          <a:solidFill>
            <a:srgbClr val="00FF00"/>
          </a:solidFill>
          <a:ln w="9525" cap="flat" cmpd="sng" algn="ctr">
            <a:solidFill>
              <a:srgbClr val="00FF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463634"/>
              </a:solidFill>
              <a:effectLst/>
              <a:uLnTx/>
              <a:uFillTx/>
            </a:endParaRPr>
          </a:p>
        </p:txBody>
      </p:sp>
      <p:sp>
        <p:nvSpPr>
          <p:cNvPr id="14" name="TextBox 13">
            <a:extLst>
              <a:ext uri="{FF2B5EF4-FFF2-40B4-BE49-F238E27FC236}">
                <a16:creationId xmlns:a16="http://schemas.microsoft.com/office/drawing/2014/main" id="{DD9E7D1F-1FA4-470B-AF6B-359370C640ED}"/>
              </a:ext>
            </a:extLst>
          </p:cNvPr>
          <p:cNvSpPr txBox="1"/>
          <p:nvPr/>
        </p:nvSpPr>
        <p:spPr>
          <a:xfrm>
            <a:off x="6019800" y="1371600"/>
            <a:ext cx="2700000" cy="720000"/>
          </a:xfrm>
          <a:prstGeom prst="rect">
            <a:avLst/>
          </a:prstGeom>
          <a:solidFill>
            <a:srgbClr val="FFFFFF"/>
          </a:solidFill>
          <a:ln w="76200" cap="flat" cmpd="sng" algn="ctr">
            <a:solidFill>
              <a:srgbClr val="00FF00"/>
            </a:solidFill>
            <a:prstDash val="solid"/>
            <a:round/>
            <a:headEnd type="none" w="med" len="med"/>
            <a:tailEnd type="none" w="med" len="med"/>
          </a:ln>
          <a:effectLst/>
        </p:spPr>
        <p:txBody>
          <a:bodyPr wrap="square" rtlCol="0">
            <a:spAutoFit/>
          </a:bodyPr>
          <a:lstStyle/>
          <a:p>
            <a:pPr algn="ctr"/>
            <a:r>
              <a:rPr lang="en-CA" sz="2000" dirty="0">
                <a:solidFill>
                  <a:srgbClr val="000000"/>
                </a:solidFill>
                <a:latin typeface="Arial" panose="020B0604020202020204" pitchFamily="34" charset="0"/>
                <a:cs typeface="Arial" panose="020B0604020202020204" pitchFamily="34" charset="0"/>
              </a:rPr>
              <a:t>Identify, </a:t>
            </a:r>
            <a:r>
              <a:rPr lang="en-CA" sz="2000" dirty="0" smtClean="0">
                <a:solidFill>
                  <a:srgbClr val="000000"/>
                </a:solidFill>
                <a:latin typeface="Arial" panose="020B0604020202020204" pitchFamily="34" charset="0"/>
                <a:cs typeface="Arial" panose="020B0604020202020204" pitchFamily="34" charset="0"/>
              </a:rPr>
              <a:t>Assess, </a:t>
            </a:r>
            <a:r>
              <a:rPr lang="en-CA" sz="2000" dirty="0">
                <a:solidFill>
                  <a:srgbClr val="000000"/>
                </a:solidFill>
                <a:latin typeface="Arial" panose="020B0604020202020204" pitchFamily="34" charset="0"/>
                <a:cs typeface="Arial" panose="020B0604020202020204" pitchFamily="34" charset="0"/>
              </a:rPr>
              <a:t>&amp; Reduce Risk</a:t>
            </a:r>
          </a:p>
        </p:txBody>
      </p:sp>
      <p:pic>
        <p:nvPicPr>
          <p:cNvPr id="17" name="Picture 16"/>
          <p:cNvPicPr preferRelativeResize="0">
            <a:picLocks/>
          </p:cNvPicPr>
          <p:nvPr/>
        </p:nvPicPr>
        <p:blipFill>
          <a:blip r:embed="rId4"/>
          <a:stretch>
            <a:fillRect/>
          </a:stretch>
        </p:blipFill>
        <p:spPr>
          <a:xfrm>
            <a:off x="180000" y="1440000"/>
            <a:ext cx="3780000" cy="3780000"/>
          </a:xfrm>
          <a:prstGeom prst="rect">
            <a:avLst/>
          </a:prstGeom>
        </p:spPr>
      </p:pic>
      <p:sp>
        <p:nvSpPr>
          <p:cNvPr id="4" name="Striped Right Arrow 3"/>
          <p:cNvSpPr/>
          <p:nvPr/>
        </p:nvSpPr>
        <p:spPr>
          <a:xfrm>
            <a:off x="3600000" y="2880000"/>
            <a:ext cx="216000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49045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The </a:t>
            </a:r>
            <a:r>
              <a:rPr lang="en-US" altLang="en-US" sz="2400" dirty="0">
                <a:solidFill>
                  <a:srgbClr val="333399"/>
                </a:solidFill>
                <a:latin typeface="Arial" panose="020B0604020202020204" pitchFamily="34" charset="0"/>
                <a:ea typeface="+mn-ea"/>
                <a:cs typeface="Arial" panose="020B0604020202020204" pitchFamily="34" charset="0"/>
              </a:rPr>
              <a:t>Risk Management System and Elements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US" sz="1200" b="1" i="1" kern="0" dirty="0">
                <a:solidFill>
                  <a:srgbClr val="000000"/>
                </a:solidFill>
                <a:latin typeface="Arial" charset="0"/>
                <a:ea typeface="Times New Roman"/>
                <a:cs typeface="Arial" panose="020B0604020202020204" pitchFamily="34" charset="0"/>
                <a:sym typeface="Times New Roman"/>
              </a:rPr>
              <a:t>Chapter 3.3: The Risk Management System and Elements </a:t>
            </a:r>
          </a:p>
        </p:txBody>
      </p:sp>
      <p:sp>
        <p:nvSpPr>
          <p:cNvPr id="26" name="Freeform 25"/>
          <p:cNvSpPr/>
          <p:nvPr/>
        </p:nvSpPr>
        <p:spPr>
          <a:xfrm>
            <a:off x="3172574" y="68580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Risk Management  Work Process</a:t>
            </a:r>
          </a:p>
        </p:txBody>
      </p:sp>
      <p:sp>
        <p:nvSpPr>
          <p:cNvPr id="27" name="Freeform 26"/>
          <p:cNvSpPr/>
          <p:nvPr/>
        </p:nvSpPr>
        <p:spPr>
          <a:xfrm>
            <a:off x="162075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Control Measures</a:t>
            </a:r>
          </a:p>
        </p:txBody>
      </p:sp>
      <p:sp>
        <p:nvSpPr>
          <p:cNvPr id="28" name="Freeform 27"/>
          <p:cNvSpPr/>
          <p:nvPr/>
        </p:nvSpPr>
        <p:spPr>
          <a:xfrm>
            <a:off x="3172574" y="3525749"/>
            <a:ext cx="2646451" cy="2646451"/>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2646450" y="0"/>
                </a:moveTo>
                <a:lnTo>
                  <a:pt x="1323225" y="2646450"/>
                </a:lnTo>
                <a:lnTo>
                  <a:pt x="0" y="0"/>
                </a:lnTo>
                <a:lnTo>
                  <a:pt x="2646450" y="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2" tIns="1" rIns="661614" bIns="1323225" numCol="1" spcCol="1270" anchor="ctr" anchorCtr="0">
            <a:noAutofit/>
          </a:bodyPr>
          <a:lstStyle/>
          <a:p>
            <a:pPr lvl="0" algn="ctr" defTabSz="711200">
              <a:lnSpc>
                <a:spcPct val="90000"/>
              </a:lnSpc>
              <a:spcBef>
                <a:spcPct val="0"/>
              </a:spcBef>
              <a:spcAft>
                <a:spcPct val="35000"/>
              </a:spcAft>
            </a:pPr>
            <a:r>
              <a:rPr lang="en-US" sz="1600" b="1" kern="1200" dirty="0" smtClean="0"/>
              <a:t>Risk Management Program</a:t>
            </a:r>
            <a:endParaRPr lang="en-US" sz="1600" b="1" kern="1200" dirty="0"/>
          </a:p>
        </p:txBody>
      </p:sp>
      <p:sp>
        <p:nvSpPr>
          <p:cNvPr id="29" name="Freeform 28"/>
          <p:cNvSpPr/>
          <p:nvPr/>
        </p:nvSpPr>
        <p:spPr>
          <a:xfrm>
            <a:off x="472440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Risk Management  System</a:t>
            </a:r>
          </a:p>
        </p:txBody>
      </p:sp>
    </p:spTree>
    <p:extLst>
      <p:ext uri="{BB962C8B-B14F-4D97-AF65-F5344CB8AC3E}">
        <p14:creationId xmlns:p14="http://schemas.microsoft.com/office/powerpoint/2010/main" val="258560019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function of the RMS &amp; E:</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Function of The Risk Management System &amp; Its Elements: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
        <p:nvSpPr>
          <p:cNvPr id="6" name="Rectangle 3">
            <a:extLst>
              <a:ext uri="{FF2B5EF4-FFF2-40B4-BE49-F238E27FC236}">
                <a16:creationId xmlns:a16="http://schemas.microsoft.com/office/drawing/2014/main" id="{41399B01-7E27-4799-ACC3-FC36FB1D25C9}"/>
              </a:ext>
            </a:extLst>
          </p:cNvPr>
          <p:cNvSpPr>
            <a:spLocks noChangeArrowheads="1"/>
          </p:cNvSpPr>
          <p:nvPr/>
        </p:nvSpPr>
        <p:spPr bwMode="auto">
          <a:xfrm>
            <a:off x="5239200" y="3517800"/>
            <a:ext cx="3600000" cy="2316115"/>
          </a:xfrm>
          <a:prstGeom prst="rect">
            <a:avLst/>
          </a:prstGeom>
          <a:solidFill>
            <a:srgbClr val="FFFFFF"/>
          </a:solidFill>
          <a:ln w="76200" algn="ctr">
            <a:solidFill>
              <a:srgbClr val="CC6600"/>
            </a:solidFill>
            <a:miter lim="800000"/>
            <a:headEnd/>
            <a:tailEnd/>
          </a:ln>
          <a:effectLst/>
        </p:spPr>
        <p:txBody>
          <a:bodyPr/>
          <a:lstStyle>
            <a:lvl1pPr marL="457200" indent="-457200">
              <a:defRPr sz="2400">
                <a:solidFill>
                  <a:schemeClr val="tx1"/>
                </a:solidFill>
                <a:latin typeface="Times New Roman" panose="02020603050405020304" pitchFamily="18" charset="0"/>
                <a:ea typeface="ＭＳ Ｐゴシック" panose="020B0600070205080204" pitchFamily="34" charset="-128"/>
              </a:defRPr>
            </a:lvl1pPr>
            <a:lvl2pPr marL="914400" indent="-457200">
              <a:defRPr sz="2400">
                <a:solidFill>
                  <a:schemeClr val="tx1"/>
                </a:solidFill>
                <a:latin typeface="Times New Roman" panose="02020603050405020304" pitchFamily="18" charset="0"/>
                <a:ea typeface="ＭＳ Ｐゴシック" panose="020B0600070205080204" pitchFamily="34" charset="-128"/>
              </a:defRPr>
            </a:lvl2pPr>
            <a:lvl3pPr marL="1371600" indent="-457200">
              <a:defRPr sz="2400">
                <a:solidFill>
                  <a:schemeClr val="tx1"/>
                </a:solidFill>
                <a:latin typeface="Times New Roman" panose="02020603050405020304" pitchFamily="18" charset="0"/>
                <a:ea typeface="ＭＳ Ｐゴシック" panose="020B0600070205080204" pitchFamily="34" charset="-128"/>
              </a:defRPr>
            </a:lvl3pPr>
            <a:lvl4pPr marL="1828800" indent="-457200">
              <a:defRPr sz="2400">
                <a:solidFill>
                  <a:schemeClr val="tx1"/>
                </a:solidFill>
                <a:latin typeface="Times New Roman" panose="02020603050405020304" pitchFamily="18" charset="0"/>
                <a:ea typeface="ＭＳ Ｐゴシック" panose="020B0600070205080204" pitchFamily="34" charset="-128"/>
              </a:defRPr>
            </a:lvl4pPr>
            <a:lvl5pPr marL="2286000" indent="-457200">
              <a:defRPr sz="2400">
                <a:solidFill>
                  <a:schemeClr val="tx1"/>
                </a:solidFill>
                <a:latin typeface="Times New Roman" panose="02020603050405020304" pitchFamily="18" charset="0"/>
                <a:ea typeface="ＭＳ Ｐゴシック" panose="020B0600070205080204" pitchFamily="34" charset="-128"/>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10000"/>
              </a:lnSpc>
              <a:spcBef>
                <a:spcPct val="20000"/>
              </a:spcBef>
              <a:buClr>
                <a:srgbClr val="000000"/>
              </a:buClr>
              <a:buFont typeface="Wingdings" panose="05000000000000000000" pitchFamily="2" charset="2"/>
              <a:buNone/>
            </a:pPr>
            <a:r>
              <a:rPr lang="en-US" altLang="en-US" sz="900" b="1" dirty="0">
                <a:solidFill>
                  <a:srgbClr val="000000"/>
                </a:solidFill>
                <a:latin typeface="Arial" panose="020B0604020202020204" pitchFamily="34" charset="0"/>
              </a:rPr>
              <a:t>Risk Management System (APEGA Model):</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1) Management Leadership, Commitment and Accountability.</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2) Risk Assessment and Management of Risks.</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3) Community Awareness and Emergency Preparedness.</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4) Management of Change.</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5) Incident Reporting, Investigation, Analysis and Actions.</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6) Program Evaluation and Continuous Improvement. </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7) Design, Construction and Start-up.</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8) Operations and Maintenance.</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9) Employee Competency and Training.</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10) Contractor Competency and Integration.</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11) Operations and Facilities Information and Documentation.</a:t>
            </a:r>
          </a:p>
        </p:txBody>
      </p:sp>
      <p:sp>
        <p:nvSpPr>
          <p:cNvPr id="11" name="Down Arrow 13">
            <a:extLst>
              <a:ext uri="{FF2B5EF4-FFF2-40B4-BE49-F238E27FC236}">
                <a16:creationId xmlns:a16="http://schemas.microsoft.com/office/drawing/2014/main" id="{4925DF95-B661-4B88-9C65-2D1DB57DDE4D}"/>
              </a:ext>
            </a:extLst>
          </p:cNvPr>
          <p:cNvSpPr/>
          <p:nvPr/>
        </p:nvSpPr>
        <p:spPr bwMode="auto">
          <a:xfrm>
            <a:off x="6769200" y="3006000"/>
            <a:ext cx="540000" cy="540000"/>
          </a:xfrm>
          <a:prstGeom prst="downArrow">
            <a:avLst/>
          </a:prstGeom>
          <a:solidFill>
            <a:srgbClr val="CC6600"/>
          </a:solidFill>
          <a:ln w="9525" cap="flat" cmpd="sng" algn="ctr">
            <a:solidFill>
              <a:srgbClr val="CC66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463634"/>
              </a:solidFill>
              <a:effectLst/>
              <a:uLnTx/>
              <a:uFillTx/>
            </a:endParaRPr>
          </a:p>
        </p:txBody>
      </p:sp>
      <p:sp>
        <p:nvSpPr>
          <p:cNvPr id="14" name="TextBox 13">
            <a:extLst>
              <a:ext uri="{FF2B5EF4-FFF2-40B4-BE49-F238E27FC236}">
                <a16:creationId xmlns:a16="http://schemas.microsoft.com/office/drawing/2014/main" id="{46F45618-7E02-4429-A91B-B0E605F09029}"/>
              </a:ext>
            </a:extLst>
          </p:cNvPr>
          <p:cNvSpPr txBox="1"/>
          <p:nvPr/>
        </p:nvSpPr>
        <p:spPr>
          <a:xfrm>
            <a:off x="5239200" y="2286000"/>
            <a:ext cx="3600000" cy="720000"/>
          </a:xfrm>
          <a:prstGeom prst="rect">
            <a:avLst/>
          </a:prstGeom>
          <a:solidFill>
            <a:srgbClr val="FFFFFF"/>
          </a:solidFill>
          <a:ln w="76200" cap="flat" cmpd="sng" algn="ctr">
            <a:solidFill>
              <a:srgbClr val="CC6600"/>
            </a:solidFill>
            <a:prstDash val="solid"/>
            <a:round/>
            <a:headEnd type="none" w="med" len="med"/>
            <a:tailEnd type="none" w="med" len="med"/>
          </a:ln>
          <a:effectLst/>
        </p:spPr>
        <p:txBody>
          <a:bodyPr wrap="square" rtlCol="0">
            <a:spAutoFit/>
          </a:bodyPr>
          <a:lstStyle>
            <a:defPPr>
              <a:defRPr lang="en-US"/>
            </a:defPPr>
            <a:lvl1pPr algn="ctr">
              <a:defRPr sz="2000">
                <a:solidFill>
                  <a:schemeClr val="bg2"/>
                </a:solidFill>
                <a:latin typeface="Arial" panose="020B0604020202020204" pitchFamily="34" charset="0"/>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Control &amp; Manage </a:t>
            </a:r>
            <a:r>
              <a:rPr kumimoji="0" lang="en-CA" sz="20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
            </a:r>
            <a:br>
              <a:rPr kumimoji="0" lang="en-CA" sz="20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br>
            <a:r>
              <a:rPr kumimoji="0" lang="en-CA" sz="20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Residual </a:t>
            </a:r>
            <a:r>
              <a:rPr kumimoji="0" lang="en-CA"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Risk</a:t>
            </a:r>
          </a:p>
        </p:txBody>
      </p:sp>
      <p:pic>
        <p:nvPicPr>
          <p:cNvPr id="2" name="Picture 1"/>
          <p:cNvPicPr preferRelativeResize="0">
            <a:picLocks/>
          </p:cNvPicPr>
          <p:nvPr/>
        </p:nvPicPr>
        <p:blipFill>
          <a:blip r:embed="rId3"/>
          <a:stretch>
            <a:fillRect/>
          </a:stretch>
        </p:blipFill>
        <p:spPr>
          <a:xfrm>
            <a:off x="180000" y="1440000"/>
            <a:ext cx="3780000" cy="3780000"/>
          </a:xfrm>
          <a:prstGeom prst="rect">
            <a:avLst/>
          </a:prstGeom>
        </p:spPr>
      </p:pic>
      <p:sp>
        <p:nvSpPr>
          <p:cNvPr id="15" name="Striped Right Arrow 14"/>
          <p:cNvSpPr/>
          <p:nvPr/>
        </p:nvSpPr>
        <p:spPr>
          <a:xfrm>
            <a:off x="3600000" y="2880000"/>
            <a:ext cx="1390798"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337906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RMS is a Framework:</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risk management system is a framework for leadership to control the residual risks of their organization’s activities</a:t>
            </a:r>
          </a:p>
          <a:p>
            <a:pPr eaLnBrk="1" hangingPunct="1">
              <a:lnSpc>
                <a:spcPct val="110000"/>
              </a:lnSpc>
              <a:buClr>
                <a:srgbClr val="000000"/>
              </a:buClr>
              <a:buSzTx/>
              <a:buFont typeface="Wingdings" panose="05000000000000000000" pitchFamily="2" charset="2"/>
              <a:buChar char="Ø"/>
            </a:pPr>
            <a:r>
              <a:rPr lang="en-US" altLang="en-US" sz="2000" dirty="0">
                <a:latin typeface="Arial" panose="020B0604020202020204" pitchFamily="34" charset="0"/>
              </a:rPr>
              <a:t>In general: </a:t>
            </a:r>
          </a:p>
          <a:p>
            <a:pPr marL="914400" lvl="1" indent="-457200" eaLnBrk="1" hangingPunct="1">
              <a:lnSpc>
                <a:spcPct val="110000"/>
              </a:lnSpc>
              <a:buClr>
                <a:srgbClr val="000000"/>
              </a:buClr>
              <a:buFont typeface="+mj-lt"/>
              <a:buAutoNum type="alphaLcParenR"/>
            </a:pPr>
            <a:r>
              <a:rPr lang="en-US" altLang="en-US" sz="2000" dirty="0">
                <a:latin typeface="Arial" panose="020B0604020202020204" pitchFamily="34" charset="0"/>
              </a:rPr>
              <a:t>defines how an organization is managed on a daily basis, </a:t>
            </a:r>
          </a:p>
          <a:p>
            <a:pPr marL="914400" lvl="1" indent="-457200" eaLnBrk="1" hangingPunct="1">
              <a:lnSpc>
                <a:spcPct val="110000"/>
              </a:lnSpc>
              <a:buClr>
                <a:srgbClr val="000000"/>
              </a:buClr>
              <a:buFont typeface="+mj-lt"/>
              <a:buAutoNum type="alphaLcParenR"/>
            </a:pPr>
            <a:r>
              <a:rPr lang="en-US" altLang="en-US" sz="2000" dirty="0">
                <a:latin typeface="Arial" panose="020B0604020202020204" pitchFamily="34" charset="0"/>
              </a:rPr>
              <a:t>documents the policies, work processes, and procedures by which and through which people execute their tasks and fulfill their duties,</a:t>
            </a:r>
          </a:p>
          <a:p>
            <a:pPr marL="914400" lvl="1" indent="-457200" eaLnBrk="1" hangingPunct="1">
              <a:lnSpc>
                <a:spcPct val="110000"/>
              </a:lnSpc>
              <a:buClr>
                <a:srgbClr val="000000"/>
              </a:buClr>
              <a:buFont typeface="+mj-lt"/>
              <a:buAutoNum type="alphaLcParenR"/>
            </a:pPr>
            <a:r>
              <a:rPr lang="en-US" altLang="en-US" sz="2000" dirty="0">
                <a:latin typeface="Arial" panose="020B0604020202020204" pitchFamily="34" charset="0"/>
              </a:rPr>
              <a:t>complies with requirements or regulations stipulated by governments, industry associations, or the organization’s corporate policies, and</a:t>
            </a:r>
          </a:p>
          <a:p>
            <a:pPr marL="914400" lvl="1" indent="-457200" eaLnBrk="1" hangingPunct="1">
              <a:lnSpc>
                <a:spcPct val="110000"/>
              </a:lnSpc>
              <a:buClr>
                <a:srgbClr val="000000"/>
              </a:buClr>
              <a:buFont typeface="+mj-lt"/>
              <a:buAutoNum type="alphaLcParenR"/>
            </a:pPr>
            <a:r>
              <a:rPr lang="en-US" altLang="en-US" sz="2000" dirty="0">
                <a:latin typeface="Arial" panose="020B0604020202020204" pitchFamily="34" charset="0"/>
              </a:rPr>
              <a:t>is Pro-Active!!!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Risk Management System:</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Tree>
    <p:extLst>
      <p:ext uri="{BB962C8B-B14F-4D97-AF65-F5344CB8AC3E}">
        <p14:creationId xmlns:p14="http://schemas.microsoft.com/office/powerpoint/2010/main" val="317192696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Risk Management System – The APEGA Model: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
        <p:nvSpPr>
          <p:cNvPr id="6" name="Rectangle 3">
            <a:extLst>
              <a:ext uri="{FF2B5EF4-FFF2-40B4-BE49-F238E27FC236}">
                <a16:creationId xmlns:a16="http://schemas.microsoft.com/office/drawing/2014/main" id="{11CA7686-CDAD-4827-849B-E8EF82EEAC76}"/>
              </a:ext>
            </a:extLst>
          </p:cNvPr>
          <p:cNvSpPr>
            <a:spLocks noChangeArrowheads="1"/>
          </p:cNvSpPr>
          <p:nvPr/>
        </p:nvSpPr>
        <p:spPr bwMode="auto">
          <a:xfrm>
            <a:off x="180000" y="864000"/>
            <a:ext cx="8229600" cy="4209600"/>
          </a:xfrm>
          <a:prstGeom prst="rect">
            <a:avLst/>
          </a:prstGeom>
          <a:solidFill>
            <a:srgbClr val="FFFFFF"/>
          </a:solidFill>
          <a:ln w="76200" algn="ctr">
            <a:solidFill>
              <a:srgbClr val="3366CC"/>
            </a:solidFill>
            <a:miter lim="800000"/>
            <a:headEnd/>
            <a:tailEnd/>
          </a:ln>
          <a:effectLst/>
        </p:spPr>
        <p:txBody>
          <a:bodyPr/>
          <a:lstStyle>
            <a:lvl1pPr marL="457200" indent="-457200">
              <a:defRPr sz="2400">
                <a:solidFill>
                  <a:schemeClr val="tx1"/>
                </a:solidFill>
                <a:latin typeface="Times New Roman" panose="02020603050405020304" pitchFamily="18" charset="0"/>
                <a:ea typeface="ＭＳ Ｐゴシック" panose="020B0600070205080204" pitchFamily="34" charset="-128"/>
              </a:defRPr>
            </a:lvl1pPr>
            <a:lvl2pPr marL="914400" indent="-457200">
              <a:defRPr sz="2400">
                <a:solidFill>
                  <a:schemeClr val="tx1"/>
                </a:solidFill>
                <a:latin typeface="Times New Roman" panose="02020603050405020304" pitchFamily="18" charset="0"/>
                <a:ea typeface="ＭＳ Ｐゴシック" panose="020B0600070205080204" pitchFamily="34" charset="-128"/>
              </a:defRPr>
            </a:lvl2pPr>
            <a:lvl3pPr marL="1371600" indent="-457200">
              <a:defRPr sz="2400">
                <a:solidFill>
                  <a:schemeClr val="tx1"/>
                </a:solidFill>
                <a:latin typeface="Times New Roman" panose="02020603050405020304" pitchFamily="18" charset="0"/>
                <a:ea typeface="ＭＳ Ｐゴシック" panose="020B0600070205080204" pitchFamily="34" charset="-128"/>
              </a:defRPr>
            </a:lvl3pPr>
            <a:lvl4pPr marL="1828800" indent="-457200">
              <a:defRPr sz="2400">
                <a:solidFill>
                  <a:schemeClr val="tx1"/>
                </a:solidFill>
                <a:latin typeface="Times New Roman" panose="02020603050405020304" pitchFamily="18" charset="0"/>
                <a:ea typeface="ＭＳ Ｐゴシック" panose="020B0600070205080204" pitchFamily="34" charset="-128"/>
              </a:defRPr>
            </a:lvl4pPr>
            <a:lvl5pPr marL="2286000" indent="-457200">
              <a:defRPr sz="2400">
                <a:solidFill>
                  <a:schemeClr val="tx1"/>
                </a:solidFill>
                <a:latin typeface="Times New Roman" panose="02020603050405020304" pitchFamily="18" charset="0"/>
                <a:ea typeface="ＭＳ Ｐゴシック" panose="020B0600070205080204" pitchFamily="34" charset="-128"/>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10000"/>
              </a:lnSpc>
              <a:spcBef>
                <a:spcPts val="0"/>
              </a:spcBef>
              <a:buClr>
                <a:srgbClr val="000000"/>
              </a:buClr>
              <a:buFont typeface="Wingdings" panose="05000000000000000000" pitchFamily="2" charset="2"/>
              <a:buNone/>
            </a:pPr>
            <a:r>
              <a:rPr lang="en-US" altLang="en-US" sz="2000" b="1" dirty="0">
                <a:solidFill>
                  <a:srgbClr val="000000"/>
                </a:solidFill>
                <a:latin typeface="Arial" panose="020B0604020202020204" pitchFamily="34" charset="0"/>
              </a:rPr>
              <a:t>Risk Management System (APEGA Model):</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Management Leadership, Commitment and Accountability.</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Risk Assessment and Management of Risks.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Community Awareness and Emergency Preparedness.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Management of Change.</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Incident Reporting, Investigation, Analysis and Actions.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Program Evaluation and Continuous Improvement. </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Design, Construction and Start-up.</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Operations and Maintenance.</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Employee Competency and Training.</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Contractor Competency and Integration.</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Operations and Facilities Information and Documentation.</a:t>
            </a:r>
          </a:p>
        </p:txBody>
      </p:sp>
      <p:sp>
        <p:nvSpPr>
          <p:cNvPr id="7" name="TextBox 6">
            <a:extLst>
              <a:ext uri="{FF2B5EF4-FFF2-40B4-BE49-F238E27FC236}">
                <a16:creationId xmlns:a16="http://schemas.microsoft.com/office/drawing/2014/main" id="{DDA52C09-1F3B-4A1E-87B8-E4EDD6528F79}"/>
              </a:ext>
            </a:extLst>
          </p:cNvPr>
          <p:cNvSpPr txBox="1"/>
          <p:nvPr/>
        </p:nvSpPr>
        <p:spPr>
          <a:xfrm>
            <a:off x="180000" y="5242409"/>
            <a:ext cx="8229600" cy="461665"/>
          </a:xfrm>
          <a:prstGeom prst="rect">
            <a:avLst/>
          </a:prstGeom>
          <a:solidFill>
            <a:srgbClr val="FFFF00"/>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b="0" i="1"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Be able to </a:t>
            </a:r>
            <a:r>
              <a:rPr kumimoji="0" lang="en-CA" b="0" i="1" u="sng"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explain and apply</a:t>
            </a:r>
            <a:r>
              <a:rPr kumimoji="0" lang="en-CA" b="0" i="1"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each of these elements!</a:t>
            </a:r>
          </a:p>
        </p:txBody>
      </p:sp>
    </p:spTree>
    <p:extLst>
      <p:ext uri="{BB962C8B-B14F-4D97-AF65-F5344CB8AC3E}">
        <p14:creationId xmlns:p14="http://schemas.microsoft.com/office/powerpoint/2010/main" val="384360426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Each Risk Management System Element:</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All potential PEAP loss exposures are identified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the likelihood and consequence?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risks in each exposure are evaluated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management work process to determine residual risks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 are developed</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Reduce risks to an acceptable level and control residual risks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Progress monitored &amp; responded to on an ongoing basis</a:t>
            </a:r>
          </a:p>
          <a:p>
            <a:pPr lvl="1" eaLnBrk="1" hangingPunct="1">
              <a:spcBef>
                <a:spcPts val="0"/>
              </a:spcBef>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Correct deviations</a:t>
            </a:r>
          </a:p>
          <a:p>
            <a:pPr lvl="1" eaLnBrk="1" hangingPunct="1">
              <a:spcBef>
                <a:spcPts val="0"/>
              </a:spcBef>
              <a:buClr>
                <a:srgbClr val="000000"/>
              </a:buClr>
              <a:buFont typeface="Wingdings" panose="05000000000000000000" pitchFamily="2" charset="2"/>
              <a:buChar char="Ø"/>
            </a:pPr>
            <a:endParaRPr lang="en-US" altLang="en-US" sz="2000" dirty="0">
              <a:solidFill>
                <a:srgbClr val="000000"/>
              </a:solidFill>
              <a:latin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Leadership drives the process and is seen to do so by all employees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is responsible!!!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Purpose of the Risk Management System Elements: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Tree>
    <p:extLst>
      <p:ext uri="{BB962C8B-B14F-4D97-AF65-F5344CB8AC3E}">
        <p14:creationId xmlns:p14="http://schemas.microsoft.com/office/powerpoint/2010/main" val="137463585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most important element … </a:t>
            </a:r>
          </a:p>
          <a:p>
            <a:pPr marL="457200" marR="0" lvl="0" indent="-457200" algn="l" defTabSz="914400" rtl="0" eaLnBrk="0" fontAlgn="base" latinLnBrk="0" hangingPunct="0">
              <a:lnSpc>
                <a:spcPct val="100000"/>
              </a:lnSpc>
              <a:spcBef>
                <a:spcPts val="0"/>
              </a:spcBef>
              <a:spcAft>
                <a:spcPct val="0"/>
              </a:spcAft>
              <a:buClr>
                <a:srgbClr val="000000"/>
              </a:buClr>
              <a:buSzPct val="100000"/>
              <a:buAutoNum type="arabicParenR"/>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Leadership, Commitment, and Accountability.</a:t>
            </a: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 weaknesses here, the system will fail or mediocre results at best</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actions must be consistent between their words and actions - walk the talk</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sets the culture and tone of the organization</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Long term and pro-active commitment</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Management focusing on profit, rather than on getting the job done safely</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Risk Management System Elements: An Exercise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Tree>
    <p:extLst>
      <p:ext uri="{BB962C8B-B14F-4D97-AF65-F5344CB8AC3E}">
        <p14:creationId xmlns:p14="http://schemas.microsoft.com/office/powerpoint/2010/main" val="313177856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dirty="0">
                <a:solidFill>
                  <a:srgbClr val="333399"/>
                </a:solidFill>
                <a:latin typeface="Arial" panose="020B0604020202020204" pitchFamily="34" charset="0"/>
                <a:ea typeface="+mn-ea"/>
                <a:cs typeface="Arial" panose="020B0604020202020204" pitchFamily="34" charset="0"/>
              </a:rPr>
              <a:t>Chapter 3.1-3.2-3.3: RM Program, Work Process, </a:t>
            </a:r>
            <a:r>
              <a:rPr lang="en-US" altLang="en-US" dirty="0" smtClean="0">
                <a:solidFill>
                  <a:srgbClr val="333399"/>
                </a:solidFill>
                <a:latin typeface="Arial" panose="020B0604020202020204" pitchFamily="34" charset="0"/>
                <a:ea typeface="+mn-ea"/>
                <a:cs typeface="Arial" panose="020B0604020202020204" pitchFamily="34" charset="0"/>
              </a:rPr>
              <a:t>System &amp; </a:t>
            </a:r>
            <a:r>
              <a:rPr lang="en-US" altLang="en-US" dirty="0">
                <a:solidFill>
                  <a:srgbClr val="333399"/>
                </a:solidFill>
                <a:latin typeface="Arial" panose="020B0604020202020204" pitchFamily="34" charset="0"/>
                <a:ea typeface="+mn-ea"/>
                <a:cs typeface="Arial" panose="020B0604020202020204" pitchFamily="34" charset="0"/>
              </a:rPr>
              <a:t>Elements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US" sz="1200" b="1" i="1" kern="0" dirty="0">
                <a:solidFill>
                  <a:srgbClr val="000000"/>
                </a:solidFill>
                <a:latin typeface="Arial" charset="0"/>
                <a:ea typeface="Times New Roman"/>
                <a:cs typeface="Arial" panose="020B0604020202020204" pitchFamily="34" charset="0"/>
                <a:sym typeface="Times New Roman"/>
              </a:rPr>
              <a:t>Chapter 3.1-3.2-3.3: RM Program, Work Process, </a:t>
            </a:r>
            <a:r>
              <a:rPr lang="en-US" sz="1200" b="1" i="1" kern="0" dirty="0" smtClean="0">
                <a:solidFill>
                  <a:srgbClr val="000000"/>
                </a:solidFill>
                <a:latin typeface="Arial" charset="0"/>
                <a:ea typeface="Times New Roman"/>
                <a:cs typeface="Arial" panose="020B0604020202020204" pitchFamily="34" charset="0"/>
                <a:sym typeface="Times New Roman"/>
              </a:rPr>
              <a:t>System &amp; </a:t>
            </a:r>
            <a:r>
              <a:rPr lang="en-US" sz="1200" b="1" i="1" kern="0" dirty="0">
                <a:solidFill>
                  <a:srgbClr val="000000"/>
                </a:solidFill>
                <a:latin typeface="Arial" charset="0"/>
                <a:ea typeface="Times New Roman"/>
                <a:cs typeface="Arial" panose="020B0604020202020204" pitchFamily="34" charset="0"/>
                <a:sym typeface="Times New Roman"/>
              </a:rPr>
              <a:t>Elements</a:t>
            </a:r>
          </a:p>
        </p:txBody>
      </p:sp>
      <p:pic>
        <p:nvPicPr>
          <p:cNvPr id="2" name="Picture 1"/>
          <p:cNvPicPr>
            <a:picLocks noChangeAspect="1"/>
          </p:cNvPicPr>
          <p:nvPr/>
        </p:nvPicPr>
        <p:blipFill>
          <a:blip r:embed="rId3"/>
          <a:stretch>
            <a:fillRect/>
          </a:stretch>
        </p:blipFill>
        <p:spPr>
          <a:xfrm>
            <a:off x="53994" y="955446"/>
            <a:ext cx="5292012" cy="5073108"/>
          </a:xfrm>
          <a:prstGeom prst="rect">
            <a:avLst/>
          </a:prstGeom>
        </p:spPr>
      </p:pic>
      <p:pic>
        <p:nvPicPr>
          <p:cNvPr id="3" name="Picture 2"/>
          <p:cNvPicPr>
            <a:picLocks noChangeAspect="1"/>
          </p:cNvPicPr>
          <p:nvPr/>
        </p:nvPicPr>
        <p:blipFill>
          <a:blip r:embed="rId4"/>
          <a:stretch>
            <a:fillRect/>
          </a:stretch>
        </p:blipFill>
        <p:spPr>
          <a:xfrm>
            <a:off x="6712873" y="828001"/>
            <a:ext cx="1551942" cy="2524800"/>
          </a:xfrm>
          <a:prstGeom prst="rect">
            <a:avLst/>
          </a:prstGeom>
        </p:spPr>
      </p:pic>
      <p:pic>
        <p:nvPicPr>
          <p:cNvPr id="4" name="Picture 3"/>
          <p:cNvPicPr>
            <a:picLocks noChangeAspect="1"/>
          </p:cNvPicPr>
          <p:nvPr/>
        </p:nvPicPr>
        <p:blipFill>
          <a:blip r:embed="rId5"/>
          <a:stretch>
            <a:fillRect/>
          </a:stretch>
        </p:blipFill>
        <p:spPr>
          <a:xfrm>
            <a:off x="6366943" y="3657600"/>
            <a:ext cx="2453057" cy="2416504"/>
          </a:xfrm>
          <a:prstGeom prst="rect">
            <a:avLst/>
          </a:prstGeom>
        </p:spPr>
      </p:pic>
      <p:sp>
        <p:nvSpPr>
          <p:cNvPr id="14" name="Striped Right Arrow 13"/>
          <p:cNvSpPr/>
          <p:nvPr/>
        </p:nvSpPr>
        <p:spPr>
          <a:xfrm>
            <a:off x="3581400" y="1981200"/>
            <a:ext cx="304800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riped Right Arrow 14"/>
          <p:cNvSpPr/>
          <p:nvPr/>
        </p:nvSpPr>
        <p:spPr>
          <a:xfrm>
            <a:off x="4913142" y="4572000"/>
            <a:ext cx="1390798"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104802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Differences between RM WP &amp; RMS:</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 directs managers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identify risks, determine acceptability,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define and implement control measures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reduce the risk to an acceptable level.</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But 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 does not </a:t>
            </a:r>
            <a:b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how to effectively manage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control residual risks.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System using its Elements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to manage and control the residual risks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different activities within the organization.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Note: We present one model of a risk management work process, system, and program. There are many different variations that are equally valid and widely practiced in industry, governments, and agencies. </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RM System vs. RM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a:t>
            </a:r>
            <a:r>
              <a:rPr kumimoji="0" lang="en-CA" sz="1200" b="1" i="1" u="none" strike="noStrike" kern="0" cap="none" spc="0" normalizeH="0" noProof="0" dirty="0" smtClean="0">
                <a:ln>
                  <a:noFill/>
                </a:ln>
                <a:solidFill>
                  <a:srgbClr val="000000"/>
                </a:solidFill>
                <a:effectLst/>
                <a:uLnTx/>
                <a:uFillTx/>
                <a:latin typeface="Arial" charset="0"/>
                <a:ea typeface="Times New Roman"/>
                <a:cs typeface="Arial" panose="020B0604020202020204" pitchFamily="34" charset="0"/>
                <a:sym typeface="Times New Roman"/>
              </a:rPr>
              <a:t> &amp;</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a:t>
            </a: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Elements</a:t>
            </a:r>
          </a:p>
        </p:txBody>
      </p:sp>
      <p:pic>
        <p:nvPicPr>
          <p:cNvPr id="2" name="Picture 1"/>
          <p:cNvPicPr>
            <a:picLocks noChangeAspect="1"/>
          </p:cNvPicPr>
          <p:nvPr/>
        </p:nvPicPr>
        <p:blipFill>
          <a:blip r:embed="rId3"/>
          <a:stretch>
            <a:fillRect/>
          </a:stretch>
        </p:blipFill>
        <p:spPr>
          <a:xfrm>
            <a:off x="5715000" y="1238162"/>
            <a:ext cx="3262088" cy="3126794"/>
          </a:xfrm>
          <a:prstGeom prst="rect">
            <a:avLst/>
          </a:prstGeom>
        </p:spPr>
      </p:pic>
    </p:spTree>
    <p:extLst>
      <p:ext uri="{BB962C8B-B14F-4D97-AF65-F5344CB8AC3E}">
        <p14:creationId xmlns:p14="http://schemas.microsoft.com/office/powerpoint/2010/main" val="400762527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Control Measures</a:t>
            </a:r>
            <a:endParaRPr lang="en-US"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sp>
        <p:nvSpPr>
          <p:cNvPr id="26" name="Freeform 25"/>
          <p:cNvSpPr/>
          <p:nvPr/>
        </p:nvSpPr>
        <p:spPr>
          <a:xfrm>
            <a:off x="3172574" y="68580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Risk Management  Work Process</a:t>
            </a:r>
          </a:p>
        </p:txBody>
      </p:sp>
      <p:sp>
        <p:nvSpPr>
          <p:cNvPr id="27" name="Freeform 26"/>
          <p:cNvSpPr/>
          <p:nvPr/>
        </p:nvSpPr>
        <p:spPr>
          <a:xfrm>
            <a:off x="162075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Control Measures</a:t>
            </a:r>
          </a:p>
        </p:txBody>
      </p:sp>
      <p:sp>
        <p:nvSpPr>
          <p:cNvPr id="28" name="Freeform 27"/>
          <p:cNvSpPr/>
          <p:nvPr/>
        </p:nvSpPr>
        <p:spPr>
          <a:xfrm>
            <a:off x="3172574" y="3525749"/>
            <a:ext cx="2646451" cy="2646451"/>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2646450" y="0"/>
                </a:moveTo>
                <a:lnTo>
                  <a:pt x="1323225" y="2646450"/>
                </a:lnTo>
                <a:lnTo>
                  <a:pt x="0" y="0"/>
                </a:lnTo>
                <a:lnTo>
                  <a:pt x="2646450" y="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2" tIns="1" rIns="661614" bIns="1323225" numCol="1" spcCol="1270" anchor="ctr" anchorCtr="0">
            <a:noAutofit/>
          </a:bodyPr>
          <a:lstStyle/>
          <a:p>
            <a:pPr lvl="0" algn="ctr" defTabSz="711200">
              <a:lnSpc>
                <a:spcPct val="90000"/>
              </a:lnSpc>
              <a:spcBef>
                <a:spcPct val="0"/>
              </a:spcBef>
              <a:spcAft>
                <a:spcPct val="35000"/>
              </a:spcAft>
            </a:pPr>
            <a:r>
              <a:rPr lang="en-US" sz="1600" b="1" kern="1200" dirty="0" smtClean="0"/>
              <a:t>Risk Management Program</a:t>
            </a:r>
            <a:endParaRPr lang="en-US" sz="1600" b="1" kern="1200" dirty="0"/>
          </a:p>
        </p:txBody>
      </p:sp>
      <p:sp>
        <p:nvSpPr>
          <p:cNvPr id="29" name="Freeform 28"/>
          <p:cNvSpPr/>
          <p:nvPr/>
        </p:nvSpPr>
        <p:spPr>
          <a:xfrm>
            <a:off x="472440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Risk Management  System</a:t>
            </a:r>
          </a:p>
        </p:txBody>
      </p:sp>
      <p:sp>
        <p:nvSpPr>
          <p:cNvPr id="10" name="Rectangle 3"/>
          <p:cNvSpPr>
            <a:spLocks noChangeArrowheads="1"/>
          </p:cNvSpPr>
          <p:nvPr/>
        </p:nvSpPr>
        <p:spPr bwMode="auto">
          <a:xfrm>
            <a:off x="332400" y="9804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a:t>
            </a: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encompass</a:t>
            </a:r>
            <a:b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two</a:t>
            </a:r>
            <a:r>
              <a:rPr kumimoji="0" lang="en-CA" altLang="en-US" sz="20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types</a:t>
            </a: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indent="-360000">
              <a:lnSpc>
                <a:spcPct val="100000"/>
              </a:lnSpc>
              <a:spcBef>
                <a:spcPts val="0"/>
              </a:spcBef>
              <a:buClrTx/>
              <a:buSzPct val="100000"/>
              <a:buFont typeface="Wingdings" panose="05000000000000000000" pitchFamily="2" charset="2"/>
              <a:buChar char="Ø"/>
              <a:defRPr/>
            </a:pPr>
            <a:r>
              <a:rPr lang="en-CA" altLang="en-US" dirty="0">
                <a:solidFill>
                  <a:srgbClr val="000000"/>
                </a:solidFill>
                <a:latin typeface="Arial" panose="020B0604020202020204" pitchFamily="34" charset="0"/>
                <a:cs typeface="Arial" panose="020B0604020202020204" pitchFamily="34" charset="0"/>
              </a:rPr>
              <a:t>Engineering Controls</a:t>
            </a:r>
          </a:p>
          <a:p>
            <a:pPr marL="360000" indent="-360000">
              <a:lnSpc>
                <a:spcPct val="100000"/>
              </a:lnSpc>
              <a:spcBef>
                <a:spcPts val="0"/>
              </a:spcBef>
              <a:buClrTx/>
              <a:buSzPct val="100000"/>
              <a:buFont typeface="Wingdings" panose="05000000000000000000" pitchFamily="2" charset="2"/>
              <a:buChar char="Ø"/>
              <a:defRPr/>
            </a:pPr>
            <a:r>
              <a:rPr lang="en-CA" altLang="en-US" dirty="0">
                <a:solidFill>
                  <a:srgbClr val="000000"/>
                </a:solidFill>
                <a:latin typeface="Arial" panose="020B0604020202020204" pitchFamily="34" charset="0"/>
                <a:cs typeface="Arial" panose="020B0604020202020204" pitchFamily="34" charset="0"/>
              </a:rPr>
              <a:t>Administrative Controls</a:t>
            </a:r>
            <a:endParaRPr lang="en-US" altLang="en-US" dirty="0">
              <a:solidFill>
                <a:srgbClr val="000000"/>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24645278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100000"/>
              </a:lnSpc>
              <a:spcBef>
                <a:spcPts val="0"/>
              </a:spcBef>
              <a:buClr>
                <a:srgbClr val="000000"/>
              </a:buClr>
              <a:buSzPct val="100000"/>
              <a:buNone/>
              <a:defRPr/>
            </a:pPr>
            <a:r>
              <a:rPr lang="en-CA" altLang="en-US" b="1" dirty="0">
                <a:solidFill>
                  <a:srgbClr val="000000"/>
                </a:solidFill>
                <a:latin typeface="Arial" panose="020B0604020202020204" pitchFamily="34" charset="0"/>
                <a:cs typeface="Arial" panose="020B0604020202020204" pitchFamily="34" charset="0"/>
              </a:rPr>
              <a:t>Engineering </a:t>
            </a:r>
            <a:r>
              <a:rPr lang="en-CA" altLang="en-US" b="1" dirty="0" smtClean="0">
                <a:solidFill>
                  <a:srgbClr val="000000"/>
                </a:solidFill>
                <a:latin typeface="Arial" panose="020B0604020202020204" pitchFamily="34" charset="0"/>
                <a:cs typeface="Arial" panose="020B0604020202020204" pitchFamily="34" charset="0"/>
              </a:rPr>
              <a:t>Controls:</a:t>
            </a:r>
          </a:p>
          <a:p>
            <a:pPr marL="360000" indent="-360000">
              <a:lnSpc>
                <a:spcPct val="100000"/>
              </a:lnSpc>
              <a:spcBef>
                <a:spcPts val="0"/>
              </a:spcBef>
              <a:buClrTx/>
              <a:buSzPct val="100000"/>
              <a:buFont typeface="Wingdings" panose="05000000000000000000" pitchFamily="2" charset="2"/>
              <a:buChar char="Ø"/>
              <a:defRPr/>
            </a:pPr>
            <a:r>
              <a:rPr lang="en-US" altLang="en-US" dirty="0">
                <a:solidFill>
                  <a:srgbClr val="000000"/>
                </a:solidFill>
                <a:latin typeface="Arial" panose="020B0604020202020204" pitchFamily="34" charset="0"/>
                <a:cs typeface="Arial" panose="020B0604020202020204" pitchFamily="34" charset="0"/>
              </a:rPr>
              <a:t>An engineered system with specific design intent to control </a:t>
            </a:r>
            <a:r>
              <a:rPr lang="en-US" altLang="en-US" dirty="0" smtClean="0">
                <a:solidFill>
                  <a:srgbClr val="000000"/>
                </a:solidFill>
                <a:latin typeface="Arial" panose="020B0604020202020204" pitchFamily="34" charset="0"/>
                <a:cs typeface="Arial" panose="020B0604020202020204" pitchFamily="34" charset="0"/>
              </a:rPr>
              <a:t>/ mitigate a </a:t>
            </a:r>
            <a:r>
              <a:rPr lang="en-US" altLang="en-US" dirty="0">
                <a:solidFill>
                  <a:srgbClr val="000000"/>
                </a:solidFill>
                <a:latin typeface="Arial" panose="020B0604020202020204" pitchFamily="34" charset="0"/>
                <a:cs typeface="Arial" panose="020B0604020202020204" pitchFamily="34" charset="0"/>
              </a:rPr>
              <a:t>hazard </a:t>
            </a:r>
            <a:r>
              <a:rPr lang="en-US" altLang="en-US" dirty="0" smtClean="0">
                <a:solidFill>
                  <a:srgbClr val="000000"/>
                </a:solidFill>
                <a:latin typeface="Arial" panose="020B0604020202020204" pitchFamily="34" charset="0"/>
                <a:cs typeface="Arial" panose="020B0604020202020204" pitchFamily="34" charset="0"/>
              </a:rPr>
              <a:t>and </a:t>
            </a:r>
            <a:r>
              <a:rPr lang="en-US" altLang="en-US" dirty="0">
                <a:solidFill>
                  <a:srgbClr val="000000"/>
                </a:solidFill>
                <a:latin typeface="Arial" panose="020B0604020202020204" pitchFamily="34" charset="0"/>
                <a:cs typeface="Arial" panose="020B0604020202020204" pitchFamily="34" charset="0"/>
              </a:rPr>
              <a:t>manage a </a:t>
            </a:r>
            <a:r>
              <a:rPr lang="en-US" altLang="en-US" dirty="0" smtClean="0">
                <a:solidFill>
                  <a:srgbClr val="000000"/>
                </a:solidFill>
                <a:latin typeface="Arial" panose="020B0604020202020204" pitchFamily="34" charset="0"/>
                <a:cs typeface="Arial" panose="020B0604020202020204" pitchFamily="34" charset="0"/>
              </a:rPr>
              <a:t>risk to an acceptable level.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CA" altLang="en-US" sz="2400" dirty="0" smtClean="0">
                <a:solidFill>
                  <a:srgbClr val="333399"/>
                </a:solidFill>
                <a:latin typeface="Arial" panose="020B0604020202020204" pitchFamily="34" charset="0"/>
                <a:ea typeface="+mn-ea"/>
                <a:cs typeface="Arial" panose="020B0604020202020204" pitchFamily="34" charset="0"/>
              </a:rPr>
              <a:t>Definition: Engineering Controls</a:t>
            </a:r>
            <a:endParaRPr lang="en-CA"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7" name="Picture 6" descr="سامانه کنترل فرایند - ویکی‌پدیا، دانشنامهٔ آزا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6452" y="2057400"/>
            <a:ext cx="5767096" cy="3767836"/>
          </a:xfrm>
          <a:prstGeom prst="rect">
            <a:avLst/>
          </a:prstGeom>
        </p:spPr>
      </p:pic>
    </p:spTree>
    <p:extLst>
      <p:ext uri="{BB962C8B-B14F-4D97-AF65-F5344CB8AC3E}">
        <p14:creationId xmlns:p14="http://schemas.microsoft.com/office/powerpoint/2010/main" val="346835240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90000"/>
              </a:lnSpc>
              <a:spcBef>
                <a:spcPts val="0"/>
              </a:spcBef>
              <a:buClr>
                <a:srgbClr val="000000"/>
              </a:buClr>
              <a:buSzPct val="100000"/>
              <a:buNone/>
              <a:defRPr/>
            </a:pPr>
            <a:r>
              <a:rPr lang="en-CA" altLang="en-US" b="1" dirty="0">
                <a:solidFill>
                  <a:srgbClr val="000000"/>
                </a:solidFill>
                <a:latin typeface="Arial" panose="020B0604020202020204" pitchFamily="34" charset="0"/>
                <a:cs typeface="Arial" panose="020B0604020202020204" pitchFamily="34" charset="0"/>
              </a:rPr>
              <a:t>Administrative Controls</a:t>
            </a:r>
            <a:r>
              <a:rPr lang="en-CA" altLang="en-US" b="1" dirty="0" smtClean="0">
                <a:solidFill>
                  <a:srgbClr val="000000"/>
                </a:solidFill>
                <a:latin typeface="Arial" panose="020B0604020202020204" pitchFamily="34" charset="0"/>
                <a:cs typeface="Arial" panose="020B0604020202020204" pitchFamily="34" charset="0"/>
              </a:rPr>
              <a:t>:</a:t>
            </a:r>
            <a:endParaRPr lang="en-CA" altLang="en-US" b="1" dirty="0">
              <a:solidFill>
                <a:srgbClr val="000000"/>
              </a:solidFill>
              <a:latin typeface="Arial" panose="020B0604020202020204" pitchFamily="34" charset="0"/>
              <a:cs typeface="Arial" panose="020B0604020202020204" pitchFamily="34" charset="0"/>
            </a:endParaRPr>
          </a:p>
          <a:p>
            <a:pPr marL="360000" indent="-360000">
              <a:lnSpc>
                <a:spcPct val="90000"/>
              </a:lnSpc>
              <a:spcBef>
                <a:spcPts val="0"/>
              </a:spcBef>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cs typeface="Arial" panose="020B0604020202020204" pitchFamily="34" charset="0"/>
              </a:rPr>
              <a:t>A </a:t>
            </a:r>
            <a:r>
              <a:rPr lang="en-US" altLang="en-US" dirty="0">
                <a:solidFill>
                  <a:srgbClr val="000000"/>
                </a:solidFill>
                <a:latin typeface="Arial" panose="020B0604020202020204" pitchFamily="34" charset="0"/>
                <a:cs typeface="Arial" panose="020B0604020202020204" pitchFamily="34" charset="0"/>
              </a:rPr>
              <a:t>documented plan for the </a:t>
            </a:r>
            <a:r>
              <a:rPr lang="en-US" altLang="en-US" dirty="0" smtClean="0">
                <a:solidFill>
                  <a:srgbClr val="000000"/>
                </a:solidFill>
                <a:latin typeface="Arial" panose="020B0604020202020204" pitchFamily="34" charset="0"/>
                <a:cs typeface="Arial" panose="020B0604020202020204" pitchFamily="34" charset="0"/>
              </a:rPr>
              <a:t>safe </a:t>
            </a:r>
            <a:r>
              <a:rPr lang="en-US" altLang="en-US" dirty="0">
                <a:solidFill>
                  <a:srgbClr val="000000"/>
                </a:solidFill>
                <a:latin typeface="Arial" panose="020B0604020202020204" pitchFamily="34" charset="0"/>
                <a:cs typeface="Arial" panose="020B0604020202020204" pitchFamily="34" charset="0"/>
              </a:rPr>
              <a:t>execution of work: </a:t>
            </a:r>
            <a:r>
              <a:rPr lang="en-US" altLang="en-US" dirty="0" smtClean="0">
                <a:solidFill>
                  <a:srgbClr val="000000"/>
                </a:solidFill>
                <a:latin typeface="Arial" panose="020B0604020202020204" pitchFamily="34" charset="0"/>
                <a:cs typeface="Arial" panose="020B0604020202020204" pitchFamily="34" charset="0"/>
              </a:rPr>
              <a:t>policies, procedures</a:t>
            </a:r>
            <a:r>
              <a:rPr lang="en-US" altLang="en-US" dirty="0">
                <a:solidFill>
                  <a:srgbClr val="000000"/>
                </a:solidFill>
                <a:latin typeface="Arial" panose="020B0604020202020204" pitchFamily="34" charset="0"/>
                <a:cs typeface="Arial" panose="020B0604020202020204" pitchFamily="34" charset="0"/>
              </a:rPr>
              <a:t>, SOPs, JSAs, </a:t>
            </a:r>
            <a:r>
              <a:rPr lang="en-US" altLang="en-US" dirty="0" smtClean="0">
                <a:solidFill>
                  <a:srgbClr val="000000"/>
                </a:solidFill>
                <a:latin typeface="Arial" panose="020B0604020202020204" pitchFamily="34" charset="0"/>
                <a:cs typeface="Arial" panose="020B0604020202020204" pitchFamily="34" charset="0"/>
              </a:rPr>
              <a:t>best </a:t>
            </a:r>
            <a:r>
              <a:rPr lang="en-US" altLang="en-US" dirty="0">
                <a:solidFill>
                  <a:srgbClr val="000000"/>
                </a:solidFill>
                <a:latin typeface="Arial" panose="020B0604020202020204" pitchFamily="34" charset="0"/>
                <a:cs typeface="Arial" panose="020B0604020202020204" pitchFamily="34" charset="0"/>
              </a:rPr>
              <a:t>practices, and check-lists</a:t>
            </a:r>
            <a:r>
              <a:rPr lang="en-US" altLang="en-US" dirty="0" smtClean="0">
                <a:solidFill>
                  <a:srgbClr val="000000"/>
                </a:solidFill>
                <a:latin typeface="Arial" panose="020B0604020202020204" pitchFamily="34" charset="0"/>
                <a:cs typeface="Arial" panose="020B0604020202020204" pitchFamily="34" charset="0"/>
              </a:rPr>
              <a:t>.</a:t>
            </a:r>
          </a:p>
          <a:p>
            <a:pPr marL="0" indent="0">
              <a:lnSpc>
                <a:spcPct val="90000"/>
              </a:lnSpc>
              <a:spcBef>
                <a:spcPts val="0"/>
              </a:spcBef>
              <a:buClrTx/>
              <a:buSzPct val="100000"/>
              <a:buNone/>
              <a:defRPr/>
            </a:pPr>
            <a:endParaRPr lang="en-US" altLang="en-US" dirty="0" smtClean="0">
              <a:solidFill>
                <a:srgbClr val="000000"/>
              </a:solidFill>
              <a:latin typeface="Arial" panose="020B0604020202020204" pitchFamily="34" charset="0"/>
              <a:cs typeface="Arial" panose="020B0604020202020204" pitchFamily="34" charset="0"/>
            </a:endParaRPr>
          </a:p>
          <a:p>
            <a:pPr marL="0" indent="0">
              <a:lnSpc>
                <a:spcPct val="90000"/>
              </a:lnSpc>
              <a:spcBef>
                <a:spcPts val="0"/>
              </a:spcBef>
              <a:buClrTx/>
              <a:buSzPct val="100000"/>
              <a:buNone/>
              <a:defRPr/>
            </a:pPr>
            <a:r>
              <a:rPr lang="en-US" altLang="en-US" b="1" dirty="0" smtClean="0">
                <a:solidFill>
                  <a:srgbClr val="000000"/>
                </a:solidFill>
                <a:latin typeface="Arial" panose="020B0604020202020204" pitchFamily="34" charset="0"/>
                <a:cs typeface="Arial" panose="020B0604020202020204" pitchFamily="34" charset="0"/>
              </a:rPr>
              <a:t>Work Practices:</a:t>
            </a:r>
            <a:endParaRPr lang="en-US" altLang="en-US" b="1" dirty="0">
              <a:solidFill>
                <a:srgbClr val="000000"/>
              </a:solidFill>
              <a:latin typeface="Arial" panose="020B0604020202020204" pitchFamily="34" charset="0"/>
              <a:cs typeface="Arial" panose="020B0604020202020204" pitchFamily="34" charset="0"/>
            </a:endParaRPr>
          </a:p>
          <a:p>
            <a:pPr marL="360000" indent="-360000">
              <a:lnSpc>
                <a:spcPct val="90000"/>
              </a:lnSpc>
              <a:spcBef>
                <a:spcPts val="0"/>
              </a:spcBef>
              <a:buClrTx/>
              <a:buSzPct val="100000"/>
              <a:buFont typeface="Wingdings" panose="05000000000000000000" pitchFamily="2" charset="2"/>
              <a:buChar char="Ø"/>
              <a:defRPr/>
            </a:pPr>
            <a:r>
              <a:rPr lang="en-US" altLang="en-US" dirty="0">
                <a:solidFill>
                  <a:srgbClr val="000000"/>
                </a:solidFill>
                <a:latin typeface="Arial" panose="020B0604020202020204" pitchFamily="34" charset="0"/>
                <a:cs typeface="Arial" panose="020B0604020202020204" pitchFamily="34" charset="0"/>
              </a:rPr>
              <a:t>Work practices: </a:t>
            </a:r>
            <a:r>
              <a:rPr lang="en-US" altLang="en-US" dirty="0" smtClean="0">
                <a:solidFill>
                  <a:srgbClr val="000000"/>
                </a:solidFill>
                <a:latin typeface="Arial" panose="020B0604020202020204" pitchFamily="34" charset="0"/>
                <a:cs typeface="Arial" panose="020B0604020202020204" pitchFamily="34" charset="0"/>
              </a:rPr>
              <a:t>the </a:t>
            </a:r>
            <a:r>
              <a:rPr lang="en-US" altLang="en-US" dirty="0">
                <a:solidFill>
                  <a:srgbClr val="000000"/>
                </a:solidFill>
                <a:latin typeface="Arial" panose="020B0604020202020204" pitchFamily="34" charset="0"/>
                <a:cs typeface="Arial" panose="020B0604020202020204" pitchFamily="34" charset="0"/>
              </a:rPr>
              <a:t>result of executing </a:t>
            </a:r>
            <a:r>
              <a:rPr lang="en-US" altLang="en-US" dirty="0" smtClean="0">
                <a:solidFill>
                  <a:srgbClr val="000000"/>
                </a:solidFill>
                <a:latin typeface="Arial" panose="020B0604020202020204" pitchFamily="34" charset="0"/>
                <a:cs typeface="Arial" panose="020B0604020202020204" pitchFamily="34" charset="0"/>
              </a:rPr>
              <a:t>an </a:t>
            </a:r>
            <a:r>
              <a:rPr lang="en-US" altLang="en-US" dirty="0">
                <a:solidFill>
                  <a:srgbClr val="000000"/>
                </a:solidFill>
                <a:latin typeface="Arial" panose="020B0604020202020204" pitchFamily="34" charset="0"/>
                <a:cs typeface="Arial" panose="020B0604020202020204" pitchFamily="34" charset="0"/>
              </a:rPr>
              <a:t>administrative </a:t>
            </a:r>
            <a:r>
              <a:rPr lang="en-US" altLang="en-US" dirty="0" smtClean="0">
                <a:solidFill>
                  <a:srgbClr val="000000"/>
                </a:solidFill>
                <a:latin typeface="Arial" panose="020B0604020202020204" pitchFamily="34" charset="0"/>
                <a:cs typeface="Arial" panose="020B0604020202020204" pitchFamily="34" charset="0"/>
              </a:rPr>
              <a:t>control</a:t>
            </a:r>
            <a:r>
              <a:rPr lang="en-US" altLang="en-US" dirty="0">
                <a:solidFill>
                  <a:srgbClr val="000000"/>
                </a:solidFill>
                <a:latin typeface="Arial" panose="020B0604020202020204" pitchFamily="34" charset="0"/>
                <a:cs typeface="Arial" panose="020B0604020202020204" pitchFamily="34" charset="0"/>
              </a:rPr>
              <a:t/>
            </a:r>
            <a:br>
              <a:rPr lang="en-US" altLang="en-US" dirty="0">
                <a:solidFill>
                  <a:srgbClr val="000000"/>
                </a:solidFill>
                <a:latin typeface="Arial" panose="020B0604020202020204" pitchFamily="34" charset="0"/>
                <a:cs typeface="Arial" panose="020B0604020202020204" pitchFamily="34" charset="0"/>
              </a:rPr>
            </a:br>
            <a:r>
              <a:rPr lang="en-US" altLang="en-US" dirty="0">
                <a:solidFill>
                  <a:srgbClr val="000000"/>
                </a:solidFill>
                <a:latin typeface="Arial" panose="020B0604020202020204" pitchFamily="34" charset="0"/>
                <a:cs typeface="Arial" panose="020B0604020202020204" pitchFamily="34" charset="0"/>
              </a:rPr>
              <a:t>i.e. the actual execution of or “doing” the work. </a:t>
            </a:r>
            <a:r>
              <a:rPr lang="en-US" altLang="en-US" dirty="0" smtClean="0">
                <a:solidFill>
                  <a:srgbClr val="000000"/>
                </a:solidFill>
                <a:latin typeface="Arial" panose="020B0604020202020204" pitchFamily="34" charset="0"/>
                <a:cs typeface="Arial" panose="020B0604020202020204" pitchFamily="34" charset="0"/>
              </a:rPr>
              <a:t>(Not </a:t>
            </a:r>
            <a:r>
              <a:rPr lang="en-US" altLang="en-US" dirty="0">
                <a:solidFill>
                  <a:srgbClr val="000000"/>
                </a:solidFill>
                <a:latin typeface="Arial" panose="020B0604020202020204" pitchFamily="34" charset="0"/>
                <a:cs typeface="Arial" panose="020B0604020202020204" pitchFamily="34" charset="0"/>
              </a:rPr>
              <a:t>to be confused with </a:t>
            </a:r>
            <a:r>
              <a:rPr lang="en-US" altLang="en-US" dirty="0" smtClean="0">
                <a:solidFill>
                  <a:srgbClr val="000000"/>
                </a:solidFill>
                <a:latin typeface="Arial" panose="020B0604020202020204" pitchFamily="34" charset="0"/>
                <a:cs typeface="Arial" panose="020B0604020202020204" pitchFamily="34" charset="0"/>
              </a:rPr>
              <a:t>administrative </a:t>
            </a:r>
            <a:r>
              <a:rPr lang="en-US" altLang="en-US" dirty="0">
                <a:solidFill>
                  <a:srgbClr val="000000"/>
                </a:solidFill>
                <a:latin typeface="Arial" panose="020B0604020202020204" pitchFamily="34" charset="0"/>
                <a:cs typeface="Arial" panose="020B0604020202020204" pitchFamily="34" charset="0"/>
              </a:rPr>
              <a:t>controls </a:t>
            </a:r>
            <a:r>
              <a:rPr lang="en-US" altLang="en-US" dirty="0" smtClean="0">
                <a:solidFill>
                  <a:srgbClr val="000000"/>
                </a:solidFill>
                <a:latin typeface="Arial" panose="020B0604020202020204" pitchFamily="34" charset="0"/>
                <a:cs typeface="Arial" panose="020B0604020202020204" pitchFamily="34" charset="0"/>
              </a:rPr>
              <a:t>that are </a:t>
            </a:r>
            <a:r>
              <a:rPr lang="en-US" altLang="en-US" dirty="0">
                <a:solidFill>
                  <a:srgbClr val="000000"/>
                </a:solidFill>
                <a:latin typeface="Arial" panose="020B0604020202020204" pitchFamily="34" charset="0"/>
                <a:cs typeface="Arial" panose="020B0604020202020204" pitchFamily="34" charset="0"/>
              </a:rPr>
              <a:t>entitled “Work Practice</a:t>
            </a:r>
            <a:r>
              <a:rPr lang="en-US" altLang="en-US" dirty="0" smtClean="0">
                <a:solidFill>
                  <a:srgbClr val="000000"/>
                </a:solidFill>
                <a:latin typeface="Arial" panose="020B0604020202020204" pitchFamily="34" charset="0"/>
                <a:cs typeface="Arial" panose="020B0604020202020204" pitchFamily="34" charset="0"/>
              </a:rPr>
              <a:t>”)</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CA" altLang="en-US" sz="2400" dirty="0" smtClean="0">
                <a:solidFill>
                  <a:srgbClr val="333399"/>
                </a:solidFill>
                <a:latin typeface="Arial" panose="020B0604020202020204" pitchFamily="34" charset="0"/>
                <a:ea typeface="+mn-ea"/>
                <a:cs typeface="Arial" panose="020B0604020202020204" pitchFamily="34" charset="0"/>
              </a:rPr>
              <a:t>Definition</a:t>
            </a:r>
            <a:r>
              <a:rPr lang="en-CA" altLang="en-US" sz="2400" dirty="0">
                <a:solidFill>
                  <a:srgbClr val="333399"/>
                </a:solidFill>
                <a:latin typeface="Arial" panose="020B0604020202020204" pitchFamily="34" charset="0"/>
                <a:ea typeface="+mn-ea"/>
                <a:cs typeface="Arial" panose="020B0604020202020204" pitchFamily="34" charset="0"/>
              </a:rPr>
              <a:t>: Administrative </a:t>
            </a:r>
            <a:r>
              <a:rPr lang="en-CA" altLang="en-US" sz="2400" dirty="0" smtClean="0">
                <a:solidFill>
                  <a:srgbClr val="333399"/>
                </a:solidFill>
                <a:latin typeface="Arial" panose="020B0604020202020204" pitchFamily="34" charset="0"/>
                <a:ea typeface="+mn-ea"/>
                <a:cs typeface="Arial" panose="020B0604020202020204" pitchFamily="34" charset="0"/>
              </a:rPr>
              <a:t>Controls</a:t>
            </a:r>
            <a:endParaRPr lang="en-CA"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11" name="Picture 1" descr="vector image of a checklis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66179" y="3325587"/>
            <a:ext cx="1076093" cy="2450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astronautwoma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17452" y="3325587"/>
            <a:ext cx="3266125" cy="2450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Category:&lt;strong&gt;Nuclear&lt;/strong&gt; &lt;strong&gt;power&lt;/strong&gt; &lt;strong&gt;plant&lt;/strong&gt; &lt;strong&gt;control&lt;/strong&gt; rooms - Wikimedia Commons"/>
          <p:cNvPicPr>
            <a:picLocks noChangeAspect="1"/>
          </p:cNvPicPr>
          <p:nvPr/>
        </p:nvPicPr>
        <p:blipFill rotWithShape="1">
          <a:blip r:embed="rId5">
            <a:extLst>
              <a:ext uri="{28A0092B-C50C-407E-A947-70E740481C1C}">
                <a14:useLocalDpi xmlns:a14="http://schemas.microsoft.com/office/drawing/2010/main" val="0"/>
              </a:ext>
            </a:extLst>
          </a:blip>
          <a:srcRect t="64271"/>
          <a:stretch/>
        </p:blipFill>
        <p:spPr>
          <a:xfrm>
            <a:off x="533400" y="4060864"/>
            <a:ext cx="3657600" cy="980110"/>
          </a:xfrm>
          <a:prstGeom prst="rect">
            <a:avLst/>
          </a:prstGeom>
        </p:spPr>
      </p:pic>
    </p:spTree>
    <p:extLst>
      <p:ext uri="{BB962C8B-B14F-4D97-AF65-F5344CB8AC3E}">
        <p14:creationId xmlns:p14="http://schemas.microsoft.com/office/powerpoint/2010/main" val="53371565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Administrative Controls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documents (policies, standards, procedures, etc.)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describe the most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efficient and effective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way to “execute work” at an acceptable level of risk. </a:t>
            </a: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all documents are created equal!</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a:solidFill>
                  <a:srgbClr val="333399"/>
                </a:solidFill>
                <a:latin typeface="Arial" panose="020B0604020202020204" pitchFamily="34" charset="0"/>
                <a:ea typeface="+mn-ea"/>
                <a:cs typeface="Arial" panose="020B0604020202020204" pitchFamily="34" charset="0"/>
              </a:rPr>
              <a:t>The </a:t>
            </a:r>
            <a:r>
              <a:rPr lang="en-US" altLang="en-US" sz="2400" dirty="0" smtClean="0">
                <a:solidFill>
                  <a:srgbClr val="333399"/>
                </a:solidFill>
                <a:latin typeface="Arial" panose="020B0604020202020204" pitchFamily="34" charset="0"/>
                <a:ea typeface="+mn-ea"/>
                <a:cs typeface="Arial" panose="020B0604020202020204" pitchFamily="34" charset="0"/>
              </a:rPr>
              <a:t>Hierarchy of Administrative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Controls: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Freeform 19">
            <a:extLst>
              <a:ext uri="{FF2B5EF4-FFF2-40B4-BE49-F238E27FC236}">
                <a16:creationId xmlns:a16="http://schemas.microsoft.com/office/drawing/2014/main" id="{C493ED77-82A3-41D1-802C-E622386EEC51}"/>
              </a:ext>
            </a:extLst>
          </p:cNvPr>
          <p:cNvSpPr/>
          <p:nvPr/>
        </p:nvSpPr>
        <p:spPr>
          <a:xfrm>
            <a:off x="648928" y="2929621"/>
            <a:ext cx="7551173" cy="515141"/>
          </a:xfrm>
          <a:custGeom>
            <a:avLst/>
            <a:gdLst>
              <a:gd name="connsiteX0" fmla="*/ 0 w 7393857"/>
              <a:gd name="connsiteY0" fmla="*/ 0 h 573300"/>
              <a:gd name="connsiteX1" fmla="*/ 7393857 w 7393857"/>
              <a:gd name="connsiteY1" fmla="*/ 0 h 573300"/>
              <a:gd name="connsiteX2" fmla="*/ 7393857 w 7393857"/>
              <a:gd name="connsiteY2" fmla="*/ 573300 h 573300"/>
              <a:gd name="connsiteX3" fmla="*/ 0 w 7393857"/>
              <a:gd name="connsiteY3" fmla="*/ 573300 h 573300"/>
              <a:gd name="connsiteX4" fmla="*/ 0 w 7393857"/>
              <a:gd name="connsiteY4" fmla="*/ 0 h 573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857" h="573300">
                <a:moveTo>
                  <a:pt x="0" y="0"/>
                </a:moveTo>
                <a:lnTo>
                  <a:pt x="7393857" y="0"/>
                </a:lnTo>
                <a:lnTo>
                  <a:pt x="7393857" y="573300"/>
                </a:lnTo>
                <a:lnTo>
                  <a:pt x="0" y="573300"/>
                </a:lnTo>
                <a:lnTo>
                  <a:pt x="0" y="0"/>
                </a:lnTo>
                <a:close/>
              </a:path>
            </a:pathLst>
          </a:cu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txBody>
          <a:bodyPr spcFirstLastPara="0" vert="horz" wrap="square" lIns="36000" tIns="36000" rIns="36000" bIns="36000" numCol="1" spcCol="1270" anchor="b" anchorCtr="0">
            <a:noAutofit/>
          </a:bodyPr>
          <a:lstStyle/>
          <a:p>
            <a:pPr marL="285750" marR="0" lvl="1" indent="-285750" algn="l" defTabSz="622300" rtl="0" eaLnBrk="1" fontAlgn="auto" latinLnBrk="0" hangingPunct="1">
              <a:lnSpc>
                <a:spcPct val="100000"/>
              </a:lnSpc>
              <a:spcBef>
                <a:spcPct val="0"/>
              </a:spcBef>
              <a:spcAft>
                <a:spcPts val="0"/>
              </a:spcAft>
              <a:buClrTx/>
              <a:buSzTx/>
              <a:buFont typeface="Wingdings" panose="05000000000000000000" pitchFamily="2" charset="2"/>
              <a:buChar char="§"/>
              <a:tabLst/>
              <a:defRPr/>
            </a:pPr>
            <a:r>
              <a:rPr kumimoji="0" lang="en-CA"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Refinery </a:t>
            </a:r>
            <a:r>
              <a:rPr kumimoji="0" lang="en-CA"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 Fluid</a:t>
            </a:r>
            <a:r>
              <a:rPr kumimoji="0" lang="en-US"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Catalytic Cracking Unit Cold Start-up Procedure</a:t>
            </a:r>
          </a:p>
        </p:txBody>
      </p:sp>
      <p:sp>
        <p:nvSpPr>
          <p:cNvPr id="7" name="Freeform 4">
            <a:extLst>
              <a:ext uri="{FF2B5EF4-FFF2-40B4-BE49-F238E27FC236}">
                <a16:creationId xmlns:a16="http://schemas.microsoft.com/office/drawing/2014/main" id="{DA46837A-473A-49B6-9612-74BEE4C97623}"/>
              </a:ext>
            </a:extLst>
          </p:cNvPr>
          <p:cNvSpPr/>
          <p:nvPr/>
        </p:nvSpPr>
        <p:spPr>
          <a:xfrm>
            <a:off x="648929" y="2127437"/>
            <a:ext cx="7551173" cy="515141"/>
          </a:xfrm>
          <a:custGeom>
            <a:avLst/>
            <a:gdLst>
              <a:gd name="connsiteX0" fmla="*/ 0 w 7393857"/>
              <a:gd name="connsiteY0" fmla="*/ 0 h 573300"/>
              <a:gd name="connsiteX1" fmla="*/ 7393857 w 7393857"/>
              <a:gd name="connsiteY1" fmla="*/ 0 h 573300"/>
              <a:gd name="connsiteX2" fmla="*/ 7393857 w 7393857"/>
              <a:gd name="connsiteY2" fmla="*/ 573300 h 573300"/>
              <a:gd name="connsiteX3" fmla="*/ 0 w 7393857"/>
              <a:gd name="connsiteY3" fmla="*/ 573300 h 573300"/>
              <a:gd name="connsiteX4" fmla="*/ 0 w 7393857"/>
              <a:gd name="connsiteY4" fmla="*/ 0 h 573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857" h="573300">
                <a:moveTo>
                  <a:pt x="0" y="0"/>
                </a:moveTo>
                <a:lnTo>
                  <a:pt x="7393857" y="0"/>
                </a:lnTo>
                <a:lnTo>
                  <a:pt x="7393857" y="573300"/>
                </a:lnTo>
                <a:lnTo>
                  <a:pt x="0" y="573300"/>
                </a:lnTo>
                <a:lnTo>
                  <a:pt x="0" y="0"/>
                </a:lnTo>
                <a:close/>
              </a:path>
            </a:pathLst>
          </a:cu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txBody>
          <a:bodyPr spcFirstLastPara="0" vert="horz" wrap="square" lIns="36000" tIns="36000" rIns="36000" bIns="36000" numCol="1" spcCol="1270" anchor="b" anchorCtr="0">
            <a:noAutofit/>
          </a:bodyPr>
          <a:lstStyle/>
          <a:p>
            <a:pPr marL="285750" marR="0" lvl="1" indent="-285750" algn="l" defTabSz="622300" rtl="0" eaLnBrk="1" fontAlgn="auto" latinLnBrk="0" hangingPunct="1">
              <a:lnSpc>
                <a:spcPct val="100000"/>
              </a:lnSpc>
              <a:spcBef>
                <a:spcPct val="0"/>
              </a:spcBef>
              <a:spcAft>
                <a:spcPts val="0"/>
              </a:spcAft>
              <a:buClrTx/>
              <a:buSzTx/>
              <a:buFont typeface="Wingdings" panose="05000000000000000000" pitchFamily="2" charset="2"/>
              <a:buChar char="§"/>
              <a:tabLst/>
              <a:defRPr/>
            </a:pPr>
            <a:r>
              <a:rPr kumimoji="0" lang="en-CA"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Permit to Work, Hot Work, Isolation and Lock-out, Confined Space Entry, H2S</a:t>
            </a:r>
            <a:endParaRPr kumimoji="0" lang="en-U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endParaRPr>
          </a:p>
        </p:txBody>
      </p:sp>
      <p:sp>
        <p:nvSpPr>
          <p:cNvPr id="10" name="Freeform 8">
            <a:extLst>
              <a:ext uri="{FF2B5EF4-FFF2-40B4-BE49-F238E27FC236}">
                <a16:creationId xmlns:a16="http://schemas.microsoft.com/office/drawing/2014/main" id="{89B509E3-5CEB-453E-86E0-17349A511BB1}"/>
              </a:ext>
            </a:extLst>
          </p:cNvPr>
          <p:cNvSpPr/>
          <p:nvPr/>
        </p:nvSpPr>
        <p:spPr>
          <a:xfrm>
            <a:off x="841643" y="1862639"/>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Life </a:t>
            </a:r>
            <a:r>
              <a:rPr kumimoji="0" lang="en-US" sz="2000" b="0" i="0" u="none" strike="noStrike" kern="0" cap="none" spc="0" normalizeH="0" baseline="0" noProof="0" dirty="0" smtClean="0">
                <a:ln>
                  <a:noFill/>
                </a:ln>
                <a:solidFill>
                  <a:prstClr val="white"/>
                </a:solidFill>
                <a:effectLst/>
                <a:uLnTx/>
                <a:uFillTx/>
                <a:latin typeface="Arial" panose="020B0604020202020204" pitchFamily="34" charset="0"/>
                <a:ea typeface="+mn-ea"/>
                <a:cs typeface="Arial" panose="020B0604020202020204" pitchFamily="34" charset="0"/>
              </a:rPr>
              <a:t>Critical Rules / Life Saving </a:t>
            </a: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Rules</a:t>
            </a:r>
          </a:p>
        </p:txBody>
      </p:sp>
      <p:sp>
        <p:nvSpPr>
          <p:cNvPr id="11" name="Freeform 10">
            <a:extLst>
              <a:ext uri="{FF2B5EF4-FFF2-40B4-BE49-F238E27FC236}">
                <a16:creationId xmlns:a16="http://schemas.microsoft.com/office/drawing/2014/main" id="{ED947192-B457-41D5-A759-31DFC5E7E056}"/>
              </a:ext>
            </a:extLst>
          </p:cNvPr>
          <p:cNvSpPr/>
          <p:nvPr/>
        </p:nvSpPr>
        <p:spPr>
          <a:xfrm>
            <a:off x="841643" y="2728011"/>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Critical Procedures</a:t>
            </a:r>
          </a:p>
        </p:txBody>
      </p:sp>
      <p:sp>
        <p:nvSpPr>
          <p:cNvPr id="14" name="Freeform 11">
            <a:extLst>
              <a:ext uri="{FF2B5EF4-FFF2-40B4-BE49-F238E27FC236}">
                <a16:creationId xmlns:a16="http://schemas.microsoft.com/office/drawing/2014/main" id="{028B3BFB-9F16-48F8-96B8-684B0DB7754C}"/>
              </a:ext>
            </a:extLst>
          </p:cNvPr>
          <p:cNvSpPr/>
          <p:nvPr/>
        </p:nvSpPr>
        <p:spPr>
          <a:xfrm>
            <a:off x="648929" y="3683045"/>
            <a:ext cx="7551173" cy="812756"/>
          </a:xfrm>
          <a:custGeom>
            <a:avLst/>
            <a:gdLst>
              <a:gd name="connsiteX0" fmla="*/ 0 w 7393857"/>
              <a:gd name="connsiteY0" fmla="*/ 0 h 573300"/>
              <a:gd name="connsiteX1" fmla="*/ 7393857 w 7393857"/>
              <a:gd name="connsiteY1" fmla="*/ 0 h 573300"/>
              <a:gd name="connsiteX2" fmla="*/ 7393857 w 7393857"/>
              <a:gd name="connsiteY2" fmla="*/ 573300 h 573300"/>
              <a:gd name="connsiteX3" fmla="*/ 0 w 7393857"/>
              <a:gd name="connsiteY3" fmla="*/ 573300 h 573300"/>
              <a:gd name="connsiteX4" fmla="*/ 0 w 7393857"/>
              <a:gd name="connsiteY4" fmla="*/ 0 h 573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857" h="573300">
                <a:moveTo>
                  <a:pt x="0" y="0"/>
                </a:moveTo>
                <a:lnTo>
                  <a:pt x="7393857" y="0"/>
                </a:lnTo>
                <a:lnTo>
                  <a:pt x="7393857" y="573300"/>
                </a:lnTo>
                <a:lnTo>
                  <a:pt x="0" y="573300"/>
                </a:lnTo>
                <a:lnTo>
                  <a:pt x="0" y="0"/>
                </a:lnTo>
                <a:close/>
              </a:path>
            </a:pathLst>
          </a:cu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txBody>
          <a:bodyPr spcFirstLastPara="0" vert="horz" wrap="square" lIns="36000" tIns="36000" rIns="36000" bIns="36000" numCol="1" spcCol="1270" anchor="b" anchorCtr="0">
            <a:noAutofit/>
          </a:bodyPr>
          <a:lstStyle/>
          <a:p>
            <a:pPr marL="0" marR="0" lvl="1" algn="l" defTabSz="622300" rtl="0" eaLnBrk="1" fontAlgn="auto" latinLnBrk="0" hangingPunct="1">
              <a:lnSpc>
                <a:spcPct val="100000"/>
              </a:lnSpc>
              <a:spcBef>
                <a:spcPct val="0"/>
              </a:spcBef>
              <a:spcAft>
                <a:spcPts val="0"/>
              </a:spcAft>
              <a:buClrTx/>
              <a:buSzTx/>
              <a:tabLst/>
              <a:defRPr/>
            </a:pPr>
            <a:endParaRPr kumimoji="0" lang="en-CA"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endParaRPr>
          </a:p>
          <a:p>
            <a:pPr marL="285750" marR="0" lvl="1" indent="-285750" algn="l" defTabSz="622300" rtl="0" eaLnBrk="1" fontAlgn="auto" latinLnBrk="0" hangingPunct="1">
              <a:lnSpc>
                <a:spcPct val="100000"/>
              </a:lnSpc>
              <a:spcBef>
                <a:spcPct val="0"/>
              </a:spcBef>
              <a:spcAft>
                <a:spcPts val="0"/>
              </a:spcAft>
              <a:buClrTx/>
              <a:buSzTx/>
              <a:buFont typeface="Wingdings" panose="05000000000000000000" pitchFamily="2" charset="2"/>
              <a:buChar char="§"/>
              <a:tabLst/>
              <a:defRPr/>
            </a:pPr>
            <a:r>
              <a:rPr kumimoji="0" lang="en-CA"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Installation </a:t>
            </a:r>
            <a:r>
              <a:rPr kumimoji="0" lang="en-CA"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Manual, Operating Manual, Maintenance and Repair </a:t>
            </a:r>
            <a:r>
              <a:rPr kumimoji="0" lang="en-CA"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Manual</a:t>
            </a:r>
          </a:p>
          <a:p>
            <a:pPr marL="285750" marR="0" lvl="1" indent="-285750" algn="l" defTabSz="622300" rtl="0" eaLnBrk="1" fontAlgn="auto" latinLnBrk="0" hangingPunct="1">
              <a:lnSpc>
                <a:spcPct val="100000"/>
              </a:lnSpc>
              <a:spcBef>
                <a:spcPct val="0"/>
              </a:spcBef>
              <a:spcAft>
                <a:spcPts val="0"/>
              </a:spcAft>
              <a:buClrTx/>
              <a:buSzTx/>
              <a:buFont typeface="Wingdings" panose="05000000000000000000" pitchFamily="2" charset="2"/>
              <a:buChar char="§"/>
              <a:tabLst/>
              <a:defRPr/>
            </a:pPr>
            <a:r>
              <a:rPr lang="en-CA" sz="1600" kern="0" dirty="0" smtClean="0">
                <a:solidFill>
                  <a:prstClr val="black">
                    <a:hueOff val="0"/>
                    <a:satOff val="0"/>
                    <a:lumOff val="0"/>
                    <a:alphaOff val="0"/>
                  </a:prstClr>
                </a:solidFill>
                <a:latin typeface="Arial" panose="020B0604020202020204" pitchFamily="34" charset="0"/>
                <a:ea typeface="+mn-ea"/>
                <a:cs typeface="Arial" panose="020B0604020202020204" pitchFamily="34" charset="0"/>
              </a:rPr>
              <a:t>Checklists for these and above</a:t>
            </a:r>
            <a:endParaRPr kumimoji="0" lang="en-U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endParaRPr>
          </a:p>
        </p:txBody>
      </p:sp>
      <p:sp>
        <p:nvSpPr>
          <p:cNvPr id="15" name="Freeform 12">
            <a:extLst>
              <a:ext uri="{FF2B5EF4-FFF2-40B4-BE49-F238E27FC236}">
                <a16:creationId xmlns:a16="http://schemas.microsoft.com/office/drawing/2014/main" id="{45F58D1F-B840-4DD9-8419-FC0DD0833828}"/>
              </a:ext>
            </a:extLst>
          </p:cNvPr>
          <p:cNvSpPr/>
          <p:nvPr/>
        </p:nvSpPr>
        <p:spPr>
          <a:xfrm>
            <a:off x="841643" y="3569523"/>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Reference </a:t>
            </a:r>
            <a:r>
              <a:rPr kumimoji="0" lang="en-US" sz="2000" b="0" i="0" u="none" strike="noStrike" kern="0" cap="none" spc="0" normalizeH="0" baseline="0" noProof="0" dirty="0" smtClean="0">
                <a:ln>
                  <a:noFill/>
                </a:ln>
                <a:solidFill>
                  <a:prstClr val="white"/>
                </a:solidFill>
                <a:effectLst/>
                <a:uLnTx/>
                <a:uFillTx/>
                <a:latin typeface="Arial" panose="020B0604020202020204" pitchFamily="34" charset="0"/>
                <a:ea typeface="+mn-ea"/>
                <a:cs typeface="Arial" panose="020B0604020202020204" pitchFamily="34" charset="0"/>
              </a:rPr>
              <a:t>Procedures, Checklists</a:t>
            </a:r>
            <a:endPar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82E77D83-7E02-4D61-9158-000D32362DFE}"/>
              </a:ext>
            </a:extLst>
          </p:cNvPr>
          <p:cNvSpPr/>
          <p:nvPr/>
        </p:nvSpPr>
        <p:spPr>
          <a:xfrm>
            <a:off x="648929" y="4724400"/>
            <a:ext cx="7551173" cy="308676"/>
          </a:xfrm>
          <a:prstGeom prst="rect">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sp>
      <p:sp>
        <p:nvSpPr>
          <p:cNvPr id="17" name="Freeform 14">
            <a:extLst>
              <a:ext uri="{FF2B5EF4-FFF2-40B4-BE49-F238E27FC236}">
                <a16:creationId xmlns:a16="http://schemas.microsoft.com/office/drawing/2014/main" id="{0C9D7C56-EE10-4BE2-BE1D-A2693108814B}"/>
              </a:ext>
            </a:extLst>
          </p:cNvPr>
          <p:cNvSpPr/>
          <p:nvPr/>
        </p:nvSpPr>
        <p:spPr>
          <a:xfrm>
            <a:off x="841643" y="4539720"/>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Qualification Training</a:t>
            </a:r>
          </a:p>
        </p:txBody>
      </p:sp>
      <p:sp>
        <p:nvSpPr>
          <p:cNvPr id="18" name="Rectangle 17">
            <a:extLst>
              <a:ext uri="{FF2B5EF4-FFF2-40B4-BE49-F238E27FC236}">
                <a16:creationId xmlns:a16="http://schemas.microsoft.com/office/drawing/2014/main" id="{8DC1AD9E-1ED0-4773-B17F-F4C3BB523C60}"/>
              </a:ext>
            </a:extLst>
          </p:cNvPr>
          <p:cNvSpPr/>
          <p:nvPr/>
        </p:nvSpPr>
        <p:spPr>
          <a:xfrm>
            <a:off x="648929" y="5330124"/>
            <a:ext cx="7551173" cy="308676"/>
          </a:xfrm>
          <a:prstGeom prst="rect">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sp>
      <p:sp>
        <p:nvSpPr>
          <p:cNvPr id="19" name="Freeform 16">
            <a:extLst>
              <a:ext uri="{FF2B5EF4-FFF2-40B4-BE49-F238E27FC236}">
                <a16:creationId xmlns:a16="http://schemas.microsoft.com/office/drawing/2014/main" id="{AD00ECAB-9733-411B-BD9F-699D86ED47D9}"/>
              </a:ext>
            </a:extLst>
          </p:cNvPr>
          <p:cNvSpPr/>
          <p:nvPr/>
        </p:nvSpPr>
        <p:spPr>
          <a:xfrm>
            <a:off x="841643" y="5149320"/>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General Rules and Practices</a:t>
            </a:r>
          </a:p>
        </p:txBody>
      </p:sp>
      <p:sp>
        <p:nvSpPr>
          <p:cNvPr id="20" name="Rectangle 19">
            <a:extLst>
              <a:ext uri="{FF2B5EF4-FFF2-40B4-BE49-F238E27FC236}">
                <a16:creationId xmlns:a16="http://schemas.microsoft.com/office/drawing/2014/main" id="{C4A1A1B0-831C-4EAB-B5DD-172B10AFB041}"/>
              </a:ext>
            </a:extLst>
          </p:cNvPr>
          <p:cNvSpPr/>
          <p:nvPr/>
        </p:nvSpPr>
        <p:spPr>
          <a:xfrm>
            <a:off x="648929" y="5877082"/>
            <a:ext cx="7551173" cy="308676"/>
          </a:xfrm>
          <a:prstGeom prst="rect">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sp>
      <p:sp>
        <p:nvSpPr>
          <p:cNvPr id="21" name="Freeform 18">
            <a:extLst>
              <a:ext uri="{FF2B5EF4-FFF2-40B4-BE49-F238E27FC236}">
                <a16:creationId xmlns:a16="http://schemas.microsoft.com/office/drawing/2014/main" id="{73FA85D1-8E36-4115-933D-A85667EEAD76}"/>
              </a:ext>
            </a:extLst>
          </p:cNvPr>
          <p:cNvSpPr/>
          <p:nvPr/>
        </p:nvSpPr>
        <p:spPr>
          <a:xfrm>
            <a:off x="841643" y="5715000"/>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General Training</a:t>
            </a:r>
          </a:p>
        </p:txBody>
      </p:sp>
      <p:sp>
        <p:nvSpPr>
          <p:cNvPr id="2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6735805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Difference: Engineering Controls and Administrative Controls</a:t>
            </a:r>
            <a:endParaRPr lang="en-US"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11" name="Picture 10" descr="Category:&lt;strong&gt;Nuclear&lt;/strong&gt; &lt;strong&gt;power&lt;/strong&gt; &lt;strong&gt;plant&lt;/strong&gt; &lt;strong&gt;control&lt;/strong&gt; rooms - Wikimedia Comm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686" y="2362200"/>
            <a:ext cx="3657600" cy="2743200"/>
          </a:xfrm>
          <a:prstGeom prst="rect">
            <a:avLst/>
          </a:prstGeom>
        </p:spPr>
      </p:pic>
      <p:pic>
        <p:nvPicPr>
          <p:cNvPr id="2" name="Picture 1"/>
          <p:cNvPicPr>
            <a:picLocks noChangeAspect="1"/>
          </p:cNvPicPr>
          <p:nvPr/>
        </p:nvPicPr>
        <p:blipFill>
          <a:blip r:embed="rId4"/>
          <a:stretch>
            <a:fillRect/>
          </a:stretch>
        </p:blipFill>
        <p:spPr>
          <a:xfrm>
            <a:off x="4698559" y="1379742"/>
            <a:ext cx="4270971" cy="4094302"/>
          </a:xfrm>
          <a:prstGeom prst="rect">
            <a:avLst/>
          </a:prstGeom>
        </p:spPr>
      </p:pic>
      <p:sp>
        <p:nvSpPr>
          <p:cNvPr id="19" name="Left Arrow 18"/>
          <p:cNvSpPr/>
          <p:nvPr/>
        </p:nvSpPr>
        <p:spPr>
          <a:xfrm>
            <a:off x="3409894" y="3657600"/>
            <a:ext cx="2000306" cy="720000"/>
          </a:xfrm>
          <a:prstGeom prst="lef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Engineering</a:t>
            </a:r>
            <a:endParaRPr lang="en-US" sz="2000" dirty="0">
              <a:solidFill>
                <a:schemeClr val="tx1"/>
              </a:solidFill>
            </a:endParaRPr>
          </a:p>
        </p:txBody>
      </p:sp>
      <p:sp>
        <p:nvSpPr>
          <p:cNvPr id="3" name="Rounded Rectangle 2"/>
          <p:cNvSpPr/>
          <p:nvPr/>
        </p:nvSpPr>
        <p:spPr>
          <a:xfrm>
            <a:off x="180000" y="2743200"/>
            <a:ext cx="3229893" cy="1436528"/>
          </a:xfrm>
          <a:prstGeom prst="roundRect">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180000" y="4287728"/>
            <a:ext cx="2925093" cy="754264"/>
          </a:xfrm>
          <a:prstGeom prst="roundRect">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Arrow 20"/>
          <p:cNvSpPr/>
          <p:nvPr/>
        </p:nvSpPr>
        <p:spPr>
          <a:xfrm>
            <a:off x="3144407" y="4293206"/>
            <a:ext cx="2000306" cy="720000"/>
          </a:xfrm>
          <a:prstGeom prst="lef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Administrative</a:t>
            </a:r>
            <a:endParaRPr lang="en-US" sz="2000" dirty="0">
              <a:solidFill>
                <a:schemeClr val="tx1"/>
              </a:solidFill>
            </a:endParaRPr>
          </a:p>
        </p:txBody>
      </p:sp>
      <p:sp>
        <p:nvSpPr>
          <p:cNvPr id="1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5664883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 and the RM System Elements are integrated, with purpose to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and reduce risk</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 and control residual risks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for different activities</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7" name="Picture 6"/>
          <p:cNvPicPr>
            <a:picLocks noChangeAspect="1"/>
          </p:cNvPicPr>
          <p:nvPr/>
        </p:nvPicPr>
        <p:blipFill>
          <a:blip r:embed="rId3"/>
          <a:stretch>
            <a:fillRect/>
          </a:stretch>
        </p:blipFill>
        <p:spPr>
          <a:xfrm>
            <a:off x="7075388" y="1917139"/>
            <a:ext cx="1241294" cy="2019418"/>
          </a:xfrm>
          <a:prstGeom prst="rect">
            <a:avLst/>
          </a:prstGeom>
        </p:spPr>
      </p:pic>
      <p:pic>
        <p:nvPicPr>
          <p:cNvPr id="10" name="Picture 9"/>
          <p:cNvPicPr>
            <a:picLocks noChangeAspect="1"/>
          </p:cNvPicPr>
          <p:nvPr/>
        </p:nvPicPr>
        <p:blipFill>
          <a:blip r:embed="rId4"/>
          <a:stretch>
            <a:fillRect/>
          </a:stretch>
        </p:blipFill>
        <p:spPr>
          <a:xfrm>
            <a:off x="6848958" y="4044557"/>
            <a:ext cx="1792932" cy="1766216"/>
          </a:xfrm>
          <a:prstGeom prst="rect">
            <a:avLst/>
          </a:prstGeom>
        </p:spPr>
      </p:pic>
      <p:pic>
        <p:nvPicPr>
          <p:cNvPr id="5" name="Picture 4"/>
          <p:cNvPicPr>
            <a:picLocks noChangeAspect="1"/>
          </p:cNvPicPr>
          <p:nvPr/>
        </p:nvPicPr>
        <p:blipFill>
          <a:blip r:embed="rId5"/>
          <a:stretch>
            <a:fillRect/>
          </a:stretch>
        </p:blipFill>
        <p:spPr>
          <a:xfrm>
            <a:off x="3206300" y="2367640"/>
            <a:ext cx="3027158" cy="2901940"/>
          </a:xfrm>
          <a:prstGeom prst="rect">
            <a:avLst/>
          </a:prstGeom>
        </p:spPr>
      </p:pic>
      <p:sp>
        <p:nvSpPr>
          <p:cNvPr id="14" name="Striped Right Arrow 13"/>
          <p:cNvSpPr/>
          <p:nvPr/>
        </p:nvSpPr>
        <p:spPr>
          <a:xfrm rot="10800000">
            <a:off x="2375999" y="3907373"/>
            <a:ext cx="120540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riped Right Arrow 14"/>
          <p:cNvSpPr/>
          <p:nvPr/>
        </p:nvSpPr>
        <p:spPr>
          <a:xfrm>
            <a:off x="5181600" y="2772000"/>
            <a:ext cx="1893788"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triped Right Arrow 15"/>
          <p:cNvSpPr/>
          <p:nvPr/>
        </p:nvSpPr>
        <p:spPr>
          <a:xfrm>
            <a:off x="5902064" y="4037392"/>
            <a:ext cx="946894"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324000" y="2926848"/>
            <a:ext cx="2052000" cy="2520170"/>
            <a:chOff x="324000" y="2926848"/>
            <a:chExt cx="2052000" cy="2520170"/>
          </a:xfrm>
        </p:grpSpPr>
        <p:pic>
          <p:nvPicPr>
            <p:cNvPr id="3" name="Picture 2"/>
            <p:cNvPicPr>
              <a:picLocks noChangeAspect="1"/>
            </p:cNvPicPr>
            <p:nvPr/>
          </p:nvPicPr>
          <p:blipFill>
            <a:blip r:embed="rId6"/>
            <a:stretch>
              <a:fillRect/>
            </a:stretch>
          </p:blipFill>
          <p:spPr>
            <a:xfrm>
              <a:off x="324000" y="2926848"/>
              <a:ext cx="2052000" cy="1340525"/>
            </a:xfrm>
            <a:prstGeom prst="rect">
              <a:avLst/>
            </a:prstGeom>
          </p:spPr>
        </p:pic>
        <p:pic>
          <p:nvPicPr>
            <p:cNvPr id="6" name="Picture 5"/>
            <p:cNvPicPr>
              <a:picLocks noChangeAspect="1"/>
            </p:cNvPicPr>
            <p:nvPr/>
          </p:nvPicPr>
          <p:blipFill>
            <a:blip r:embed="rId7"/>
            <a:stretch>
              <a:fillRect/>
            </a:stretch>
          </p:blipFill>
          <p:spPr>
            <a:xfrm>
              <a:off x="324000" y="4236403"/>
              <a:ext cx="2052000" cy="1210615"/>
            </a:xfrm>
            <a:prstGeom prst="rect">
              <a:avLst/>
            </a:prstGeom>
          </p:spPr>
        </p:pic>
      </p:grpSp>
    </p:spTree>
    <p:extLst>
      <p:ext uri="{BB962C8B-B14F-4D97-AF65-F5344CB8AC3E}">
        <p14:creationId xmlns:p14="http://schemas.microsoft.com/office/powerpoint/2010/main" val="2553825800"/>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7353</TotalTime>
  <Words>1771</Words>
  <Application>Microsoft Office PowerPoint</Application>
  <PresentationFormat>On-screen Show (4:3)</PresentationFormat>
  <Paragraphs>293</Paragraphs>
  <Slides>22</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ＭＳ Ｐゴシック</vt:lpstr>
      <vt:lpstr>Arial</vt:lpstr>
      <vt:lpstr>Calibri</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Alberta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ESRM</dc:title>
  <dc:creator>JR Cocchio</dc:creator>
  <cp:lastModifiedBy>JR Cocchio</cp:lastModifiedBy>
  <cp:revision>547</cp:revision>
  <cp:lastPrinted>2018-01-18T19:23:51Z</cp:lastPrinted>
  <dcterms:created xsi:type="dcterms:W3CDTF">2011-09-07T03:22:54Z</dcterms:created>
  <dcterms:modified xsi:type="dcterms:W3CDTF">2021-05-11T21:50:41Z</dcterms:modified>
</cp:coreProperties>
</file>