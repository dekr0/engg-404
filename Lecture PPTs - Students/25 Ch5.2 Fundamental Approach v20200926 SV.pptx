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2"/>
  </p:notesMasterIdLst>
  <p:sldIdLst>
    <p:sldId id="934" r:id="rId2"/>
    <p:sldId id="936" r:id="rId3"/>
    <p:sldId id="946" r:id="rId4"/>
    <p:sldId id="947" r:id="rId5"/>
    <p:sldId id="926" r:id="rId6"/>
    <p:sldId id="937" r:id="rId7"/>
    <p:sldId id="938" r:id="rId8"/>
    <p:sldId id="943" r:id="rId9"/>
    <p:sldId id="944" r:id="rId10"/>
    <p:sldId id="941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CFF"/>
    <a:srgbClr val="CC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463" autoAdjust="0"/>
  </p:normalViewPr>
  <p:slideViewPr>
    <p:cSldViewPr snapToGrid="0">
      <p:cViewPr varScale="1">
        <p:scale>
          <a:sx n="56" d="100"/>
          <a:sy n="56" d="100"/>
        </p:scale>
        <p:origin x="16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B33E5-8C4C-4E85-BEBF-D3242DFF86DC}" type="datetimeFigureOut">
              <a:rPr lang="en-US" smtClean="0"/>
              <a:t>5/24/2021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A2075-A6F1-4E03-8896-95FD9C4B7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636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7651" name="Rectangle 3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baseline="0" dirty="0"/>
          </a:p>
        </p:txBody>
      </p:sp>
    </p:spTree>
    <p:extLst>
      <p:ext uri="{BB962C8B-B14F-4D97-AF65-F5344CB8AC3E}">
        <p14:creationId xmlns:p14="http://schemas.microsoft.com/office/powerpoint/2010/main" val="1800767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APEGA’ minimum requirements</a:t>
            </a:r>
            <a:endParaRPr lang="en-US" dirty="0"/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850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APEGA’ minimum requirements</a:t>
            </a:r>
            <a:endParaRPr lang="en-US" dirty="0"/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3018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APEGA’ minimum requirements</a:t>
            </a:r>
            <a:endParaRPr lang="en-US" dirty="0"/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59475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ENGG406 2015W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3-March-2015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2715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E0E8D8-AE63-4BAB-AE10-86197CF9CB04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2715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09" name="Rectangle 7"/>
          <p:cNvSpPr txBox="1">
            <a:spLocks noGrp="1" noChangeArrowheads="1"/>
          </p:cNvSpPr>
          <p:nvPr/>
        </p:nvSpPr>
        <p:spPr bwMode="auto">
          <a:xfrm>
            <a:off x="3974250" y="8831898"/>
            <a:ext cx="3036150" cy="464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122" tIns="46561" rIns="93122" bIns="46561"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6B2B90-B612-42CC-80D2-4870E63A5117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APEGA’ minimum requirements</a:t>
            </a:r>
            <a:endParaRPr lang="en-US" dirty="0"/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788524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Order of effectiveness, not priority!!! Maybe you prioritize using PPE in a lab because it’s easy, but not the most effective way of reducing risk.</a:t>
            </a:r>
          </a:p>
          <a:p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Apply engineering controls – encompasses substitute, isolate/separate, engineer</a:t>
            </a:r>
          </a:p>
          <a:p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Apply admin controls – organization and procedures (there’s a policy for when you wear </a:t>
            </a:r>
            <a:r>
              <a:rPr lang="en-US" altLang="en-US" dirty="0" err="1">
                <a:latin typeface="Arial" panose="020B0604020202020204" pitchFamily="34" charset="0"/>
                <a:cs typeface="Arial" panose="020B0604020202020204" pitchFamily="34" charset="0"/>
              </a:rPr>
              <a:t>ppe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PPE – work practices (I am wearing my </a:t>
            </a:r>
            <a:r>
              <a:rPr lang="en-US" altLang="en-US" dirty="0" err="1">
                <a:latin typeface="Arial" panose="020B0604020202020204" pitchFamily="34" charset="0"/>
                <a:cs typeface="Arial" panose="020B0604020202020204" pitchFamily="34" charset="0"/>
              </a:rPr>
              <a:t>ppe</a:t>
            </a:r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altLang="en-US" dirty="0">
                <a:latin typeface="Arial" panose="020B0604020202020204" pitchFamily="34" charset="0"/>
                <a:cs typeface="Arial" panose="020B0604020202020204" pitchFamily="34" charset="0"/>
              </a:rPr>
              <a:t>They work together</a:t>
            </a:r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3577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6312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dirty="0">
                <a:latin typeface="Arial"/>
                <a:ea typeface="Arial"/>
                <a:cs typeface="Arial"/>
                <a:sym typeface="Arial"/>
              </a:rPr>
              <a:t>Potentially tie in Fernie example with regard to engineering controls (substitute, isolate, engineer)</a:t>
            </a:r>
            <a:endParaRPr lang="en-CA" dirty="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>
                <a:latin typeface="Arial"/>
                <a:ea typeface="Arial"/>
                <a:cs typeface="Arial"/>
                <a:sym typeface="Arial"/>
              </a:rPr>
              <a:t>-replace the brine with ethylene glycol (antifreeze) – substitute, or replace the ammonia with </a:t>
            </a:r>
            <a:r>
              <a:rPr lang="en-CA" dirty="0" err="1">
                <a:latin typeface="Arial"/>
                <a:ea typeface="Arial"/>
                <a:cs typeface="Arial"/>
                <a:sym typeface="Arial"/>
              </a:rPr>
              <a:t>freeon</a:t>
            </a:r>
            <a:r>
              <a:rPr lang="en-CA" dirty="0">
                <a:latin typeface="Arial"/>
                <a:ea typeface="Arial"/>
                <a:cs typeface="Arial"/>
                <a:sym typeface="Arial"/>
              </a:rPr>
              <a:t> - substitute</a:t>
            </a:r>
            <a:endParaRPr lang="en-CA" dirty="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>
                <a:latin typeface="Arial"/>
                <a:ea typeface="Arial"/>
                <a:cs typeface="Arial"/>
                <a:sym typeface="Arial"/>
              </a:rPr>
              <a:t>-use a more corrosion resistant heat exchanger (</a:t>
            </a:r>
            <a:r>
              <a:rPr lang="en-CA" dirty="0" err="1">
                <a:latin typeface="Arial"/>
                <a:ea typeface="Arial"/>
                <a:cs typeface="Arial"/>
                <a:sym typeface="Arial"/>
              </a:rPr>
              <a:t>shellen</a:t>
            </a:r>
            <a:r>
              <a:rPr lang="en-CA" dirty="0">
                <a:latin typeface="Arial"/>
                <a:ea typeface="Arial"/>
                <a:cs typeface="Arial"/>
                <a:sym typeface="Arial"/>
              </a:rPr>
              <a:t> tube?) - </a:t>
            </a:r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1721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ea typeface="Arial"/>
                <a:cs typeface="Arial"/>
                <a:sym typeface="Arial"/>
              </a:rPr>
              <a:t>APEGA’ minimum requirements</a:t>
            </a:r>
            <a:endParaRPr lang="en-US" dirty="0"/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1458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>
                <a:latin typeface="Arial"/>
                <a:ea typeface="Arial"/>
                <a:cs typeface="Arial"/>
                <a:sym typeface="Arial"/>
              </a:rPr>
              <a:t>I.e. PPE – you prioritize it because it’s easy and cheap, but it is not the most effective risk reduction solution!</a:t>
            </a:r>
            <a:endParaRPr lang="en-CA" dirty="0"/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97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05000"/>
            <a:ext cx="7772400" cy="1470025"/>
          </a:xfrm>
        </p:spPr>
        <p:txBody>
          <a:bodyPr/>
          <a:lstStyle>
            <a:lvl1pPr>
              <a:spcBef>
                <a:spcPct val="20000"/>
              </a:spcBef>
              <a:defRPr sz="3600" smtClean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mtClean="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99185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389" y="1120588"/>
            <a:ext cx="8153400" cy="5105400"/>
          </a:xfrm>
          <a:prstGeom prst="rect">
            <a:avLst/>
          </a:prstGeom>
        </p:spPr>
        <p:txBody>
          <a:bodyPr/>
          <a:lstStyle>
            <a:lvl1pPr marL="342900" indent="-342900">
              <a:buClrTx/>
              <a:buFont typeface="Wingdings" charset="2"/>
              <a:buChar char="§"/>
              <a:defRPr sz="2400">
                <a:solidFill>
                  <a:schemeClr val="tx1"/>
                </a:solidFill>
              </a:defRPr>
            </a:lvl1pPr>
            <a:lvl2pPr marL="742950" indent="-285750">
              <a:buClrTx/>
              <a:buFont typeface="Arial"/>
              <a:buChar char="•"/>
              <a:defRPr sz="2200">
                <a:solidFill>
                  <a:schemeClr val="tx1"/>
                </a:solidFill>
              </a:defRPr>
            </a:lvl2pPr>
            <a:lvl3pPr marL="1143000" indent="-228600">
              <a:buClrTx/>
              <a:buFont typeface="Arial"/>
              <a:buChar char="•"/>
              <a:defRPr sz="2000">
                <a:solidFill>
                  <a:schemeClr val="tx1"/>
                </a:solidFill>
              </a:defRPr>
            </a:lvl3pPr>
            <a:lvl4pPr marL="16002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4pPr>
            <a:lvl5pPr marL="20574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1830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168275"/>
            <a:ext cx="8229600" cy="563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77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8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3806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8"/>
          <p:cNvSpPr>
            <a:spLocks noGrp="1" noChangeArrowheads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118CC2-884A-4430-8B4F-9976F3C29C24}" type="datetimeFigureOut">
              <a:rPr lang="en-US"/>
              <a:pPr>
                <a:defRPr/>
              </a:pPr>
              <a:t>5/24/2021</a:t>
            </a:fld>
            <a:endParaRPr lang="en-US"/>
          </a:p>
        </p:txBody>
      </p:sp>
      <p:sp>
        <p:nvSpPr>
          <p:cNvPr id="3" name="Rectangle 1029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030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823322-A425-42F9-B4E6-DE1BA6748F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976770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68275"/>
            <a:ext cx="81534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enter page Title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6200" y="7620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/>
          <p:cNvCxnSpPr/>
          <p:nvPr/>
        </p:nvCxnSpPr>
        <p:spPr>
          <a:xfrm>
            <a:off x="76200" y="62484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http://www.nanobridge.ca/Portals/0/Images/eng-logo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6307038"/>
            <a:ext cx="1838325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66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AA9C8F"/>
        </a:buClr>
        <a:buFont typeface="Wingdings" pitchFamily="2" charset="2"/>
        <a:buChar char="§"/>
        <a:defRPr sz="2800">
          <a:solidFill>
            <a:srgbClr val="4D4D4D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600">
          <a:solidFill>
            <a:schemeClr val="tx1"/>
          </a:solidFill>
          <a:latin typeface="Calibri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400">
          <a:solidFill>
            <a:schemeClr val="tx1"/>
          </a:solidFill>
          <a:latin typeface="Calibri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28600" y="838200"/>
            <a:ext cx="8610600" cy="1662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2"/>
                </a:solidFill>
                <a:latin typeface="Calibri" pitchFamily="34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  <a:t>On Becoming a </a:t>
            </a:r>
            <a:b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</a:br>
            <a: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  <a:t>Leader in Risk Management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A9C8F"/>
              </a:buClr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ENGG404 - Lecture</a:t>
            </a:r>
            <a:endParaRPr kumimoji="0" lang="en-US" altLang="en-US" sz="3600" b="1" i="1" u="none" strike="noStrike" kern="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itchFamily="34" charset="0"/>
              <a:ea typeface="ＭＳ Ｐゴシック" panose="020B0600070205080204" pitchFamily="34" charset="-128"/>
              <a:cs typeface="+mj-cs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4294967295"/>
          </p:nvPr>
        </p:nvSpPr>
        <p:spPr>
          <a:xfrm>
            <a:off x="838200" y="2419062"/>
            <a:ext cx="7315201" cy="2224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CA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Chapter 5.2:</a:t>
            </a:r>
          </a:p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CA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Fundamental Approach to </a:t>
            </a:r>
            <a:br>
              <a:rPr lang="en-CA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CA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All Risks </a:t>
            </a:r>
            <a:br>
              <a:rPr lang="en-CA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lang="en-CA" altLang="en-US" sz="3200" b="1" dirty="0" smtClean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(Hierarchy of Effectiveness)</a:t>
            </a:r>
            <a:endParaRPr lang="en-CA" altLang="en-US" sz="3200" b="1" dirty="0">
              <a:solidFill>
                <a:schemeClr val="tx2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37290-7F22-4D42-BFDD-D5AD4C09C01F}"/>
              </a:ext>
            </a:extLst>
          </p:cNvPr>
          <p:cNvSpPr txBox="1"/>
          <p:nvPr/>
        </p:nvSpPr>
        <p:spPr>
          <a:xfrm>
            <a:off x="152402" y="176015"/>
            <a:ext cx="1176817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Fundamentals of RM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18FDCA-D6EA-3540-8AE2-F6CD31336ABE}"/>
              </a:ext>
            </a:extLst>
          </p:cNvPr>
          <p:cNvSpPr txBox="1"/>
          <p:nvPr/>
        </p:nvSpPr>
        <p:spPr>
          <a:xfrm>
            <a:off x="1481037" y="169908"/>
            <a:ext cx="1024999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System and Process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C740A-AE56-7744-84D0-32724BDFA21D}"/>
              </a:ext>
            </a:extLst>
          </p:cNvPr>
          <p:cNvSpPr txBox="1"/>
          <p:nvPr/>
        </p:nvSpPr>
        <p:spPr>
          <a:xfrm>
            <a:off x="7874130" y="169908"/>
            <a:ext cx="1155550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 and Perspectives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7D91E5-FF6E-C346-BD54-1494F0C62548}"/>
              </a:ext>
            </a:extLst>
          </p:cNvPr>
          <p:cNvSpPr txBox="1"/>
          <p:nvPr/>
        </p:nvSpPr>
        <p:spPr>
          <a:xfrm>
            <a:off x="7051217" y="169908"/>
            <a:ext cx="671096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People &amp; Org.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457A8C-8AD1-BC48-A393-2CA6461462C7}"/>
              </a:ext>
            </a:extLst>
          </p:cNvPr>
          <p:cNvSpPr txBox="1"/>
          <p:nvPr/>
        </p:nvSpPr>
        <p:spPr>
          <a:xfrm>
            <a:off x="3834670" y="169908"/>
            <a:ext cx="1024999" cy="46166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Incident Investigation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E14612-2C60-CA49-88DC-A40274E52BE8}"/>
              </a:ext>
            </a:extLst>
          </p:cNvPr>
          <p:cNvSpPr txBox="1"/>
          <p:nvPr/>
        </p:nvSpPr>
        <p:spPr>
          <a:xfrm>
            <a:off x="5011486" y="169908"/>
            <a:ext cx="1024999" cy="46166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Tools &amp; Challenges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8AF929-DEC8-B045-BD5C-00378213E2AE}"/>
              </a:ext>
            </a:extLst>
          </p:cNvPr>
          <p:cNvSpPr txBox="1"/>
          <p:nvPr/>
        </p:nvSpPr>
        <p:spPr>
          <a:xfrm>
            <a:off x="2657853" y="170432"/>
            <a:ext cx="1024999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Leadership in RM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4E84B9-8682-8C4B-A72E-1FFEAF78256B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1329217" y="400741"/>
            <a:ext cx="151818" cy="6107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ED6320-D6B4-374B-AE59-18735BF60E66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>
            <a:off x="2506036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27112B-E9F0-2348-9B20-FB76B2277E3D}"/>
              </a:ext>
            </a:extLst>
          </p:cNvPr>
          <p:cNvCxnSpPr>
            <a:stCxn id="15" idx="3"/>
            <a:endCxn id="13" idx="1"/>
          </p:cNvCxnSpPr>
          <p:nvPr/>
        </p:nvCxnSpPr>
        <p:spPr>
          <a:xfrm flipV="1">
            <a:off x="3682853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FCC88D-6DFA-474E-80EC-662B2D4B909B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859669" y="400741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CA7384E-C04D-ED41-9740-B0199EA1890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6036485" y="400740"/>
            <a:ext cx="151816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7C1AD4-35C5-B84F-A011-FC352A9DC134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6899402" y="400741"/>
            <a:ext cx="151817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0B8989-9D9A-DE41-B118-0BB225CC704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7722315" y="400739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97011C2-9A0B-664B-83CB-DE2410B86B87}"/>
              </a:ext>
            </a:extLst>
          </p:cNvPr>
          <p:cNvSpPr txBox="1"/>
          <p:nvPr/>
        </p:nvSpPr>
        <p:spPr>
          <a:xfrm>
            <a:off x="6188301" y="169907"/>
            <a:ext cx="692362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in Industry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182" y="4436009"/>
            <a:ext cx="1766671" cy="1766671"/>
          </a:xfrm>
          <a:prstGeom prst="rect">
            <a:avLst/>
          </a:prstGeom>
        </p:spPr>
      </p:pic>
      <p:pic>
        <p:nvPicPr>
          <p:cNvPr id="25" name="Picture 24" descr="Introduction to Sociology - 2013 - The Collaboratory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500" y="4456142"/>
            <a:ext cx="2590300" cy="176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256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Explain two different approaches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for a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Reduction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Hierarchy:</a:t>
            </a:r>
          </a:p>
          <a:p>
            <a:pPr marL="72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OH&amp;S Code Part 2 Hazard Assessment, Elimination, and Control</a:t>
            </a:r>
          </a:p>
          <a:p>
            <a:pPr marL="72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ANSI Z10-2012: Risk Reduction Hierarchy </a:t>
            </a:r>
            <a:r>
              <a:rPr lang="en-US" altLang="en-US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&amp; </a:t>
            </a:r>
            <a:r>
              <a:rPr lang="en-US" altLang="en-US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Hierarchy of Effectiveness</a:t>
            </a:r>
            <a:endParaRPr lang="en-CA" altLang="en-US" dirty="0" smtClean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the two different approaches to </a:t>
            </a:r>
            <a:r>
              <a:rPr lang="en-CA" altLang="en-US" b="1" u="sng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identify</a:t>
            </a:r>
            <a:r>
              <a:rPr lang="en-CA" altLang="en-US" b="1" u="sng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evaluate, and select 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most effective risk reduction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solution(s).</a:t>
            </a: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Explain that order of effectiveness is NOT an order of priority.</a:t>
            </a: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None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Learning Outcomes:</a:t>
            </a:r>
            <a:endParaRPr kumimoji="0" lang="en-CA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</p:spTree>
    <p:extLst>
      <p:ext uri="{BB962C8B-B14F-4D97-AF65-F5344CB8AC3E}">
        <p14:creationId xmlns:p14="http://schemas.microsoft.com/office/powerpoint/2010/main" val="34800403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You want to implement the most effective risk reduction solutions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i.e. the safeguards or control measures in the form of engineering 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controls &amp; administrative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controls.</a:t>
            </a: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How do you </a:t>
            </a:r>
            <a:r>
              <a:rPr lang="en-CA" altLang="en-US" b="1" u="sng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identify, evaluate, and select 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most effective risk reduction solutions </a:t>
            </a: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i.e. the most effective safeguard / control measure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?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lang="en-US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fundamental approach to control all risks is simply a hierarchy.</a:t>
            </a: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Two approaches (of many) are:</a:t>
            </a:r>
          </a:p>
          <a:p>
            <a:pPr marL="72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CA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OH&amp;S Code Part 2 Hazard Assessment, Elimination, and Control</a:t>
            </a:r>
          </a:p>
          <a:p>
            <a:pPr marL="72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ANSI Z10-2012: Risk Reduction Hierarchy </a:t>
            </a:r>
            <a:r>
              <a:rPr lang="en-US" altLang="en-US" sz="180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&amp; </a:t>
            </a:r>
            <a:r>
              <a:rPr lang="en-US" altLang="en-US" sz="180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Hierarchy of Effectiveness</a:t>
            </a:r>
            <a:endParaRPr lang="en-CA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Reduction Hierarchy </a:t>
            </a:r>
            <a:r>
              <a:rPr lang="en-US" altLang="en-US" sz="240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lang="en-US" altLang="en-US" sz="240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Hierarchy of Effectiveness</a:t>
            </a:r>
            <a:endParaRPr kumimoji="0" lang="en-CA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</p:spTree>
    <p:extLst>
      <p:ext uri="{BB962C8B-B14F-4D97-AF65-F5344CB8AC3E}">
        <p14:creationId xmlns:p14="http://schemas.microsoft.com/office/powerpoint/2010/main" val="86891091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OH&amp;S Code Part 2 Hazard Assessment, Elimination, and Control</a:t>
            </a: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kumimoji="0" lang="en-CA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</a:t>
            </a:r>
            <a:r>
              <a:rPr kumimoji="0" lang="en-CA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OH&amp;S Code Part </a:t>
            </a:r>
            <a:r>
              <a:rPr kumimoji="0" lang="en-CA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 Section 9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specifies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order of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effectiveness,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 basic approach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of a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Reduction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Hierarchy:</a:t>
            </a: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Eliminate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/>
              <a:cs typeface="Times New Roman"/>
              <a:sym typeface="Times New Roman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Apply Engineering Controls to Reduce the Exposure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/>
              <a:cs typeface="Times New Roman"/>
              <a:sym typeface="Times New Roman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Apply Administrative Controls and Work Practices </a:t>
            </a:r>
            <a:b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</a:b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to Reduce the Exposure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/>
              <a:cs typeface="Times New Roman"/>
              <a:sym typeface="Times New Roman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Use PPE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463634"/>
              </a:solidFill>
              <a:effectLst/>
              <a:uLnTx/>
              <a:uFillTx/>
              <a:latin typeface="Times New Roman"/>
              <a:cs typeface="Times New Roman"/>
              <a:sym typeface="Times New Roman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Use combinations of above. </a:t>
            </a:r>
            <a:endParaRPr kumimoji="0" lang="en-CA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endParaRPr lang="en-CA" sz="2000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6000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  <a:sym typeface="Arial"/>
              </a:rPr>
              <a:t>Most facilities usually apply and “prioritize” PPE first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  <a:sym typeface="Arial"/>
              </a:rPr>
              <a:t>” because it is easy even though it is the least effective!</a:t>
            </a:r>
          </a:p>
          <a:p>
            <a:pPr marL="990600" marR="0" lvl="1" indent="-533400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AutoNum type="arabicParenR"/>
              <a:tabLst/>
              <a:defRPr/>
            </a:pP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CA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 OH&amp;S Code Part 2:</a:t>
            </a:r>
            <a:endParaRPr kumimoji="0" lang="en-CA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</p:spTree>
    <p:extLst>
      <p:ext uri="{BB962C8B-B14F-4D97-AF65-F5344CB8AC3E}">
        <p14:creationId xmlns:p14="http://schemas.microsoft.com/office/powerpoint/2010/main" val="248197129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5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anchor="ctr" anchorCtr="0">
            <a:noAutofit/>
          </a:bodyPr>
          <a:lstStyle/>
          <a:p>
            <a:pPr lvl="0" fontAlgn="base">
              <a:defRPr/>
            </a:pPr>
            <a:r>
              <a:rPr kumimoji="0" lang="en-CA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Example:</a:t>
            </a:r>
            <a:r>
              <a:rPr lang="en-CA" altLang="en-US" sz="2400" dirty="0">
                <a:solidFill>
                  <a:srgbClr val="F8F8F8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400" dirty="0" smtClean="0">
                <a:solidFill>
                  <a:srgbClr val="F8F8F8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</a:t>
            </a:r>
            <a:r>
              <a:rPr lang="en-US" altLang="en-US" sz="2400" dirty="0">
                <a:solidFill>
                  <a:srgbClr val="F8F8F8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OH&amp;S Code Part 2 to Spray-Patch Crew</a:t>
            </a:r>
          </a:p>
        </p:txBody>
      </p:sp>
      <p:sp>
        <p:nvSpPr>
          <p:cNvPr id="8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033;p15">
            <a:extLst>
              <a:ext uri="{FF2B5EF4-FFF2-40B4-BE49-F238E27FC236}">
                <a16:creationId xmlns:a16="http://schemas.microsoft.com/office/drawing/2014/main" id="{76F12B50-4841-4E04-BADC-E572265482B1}"/>
              </a:ext>
            </a:extLst>
          </p:cNvPr>
          <p:cNvSpPr/>
          <p:nvPr/>
        </p:nvSpPr>
        <p:spPr>
          <a:xfrm>
            <a:off x="650463" y="1026158"/>
            <a:ext cx="3919950" cy="4857405"/>
          </a:xfrm>
          <a:prstGeom prst="rect">
            <a:avLst/>
          </a:prstGeom>
          <a:solidFill>
            <a:srgbClr val="000000"/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  <a:tabLst/>
              <a:defRPr/>
            </a:pP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Eliminates: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crushed by moving dump truck,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repetitive shoveling motion,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  <a:tabLst/>
              <a:defRPr/>
            </a:pP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contact with hot tar.</a:t>
            </a:r>
            <a:endParaRPr kumimoji="0" sz="11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0FA49-A4E9-4E92-B46F-15CAB40015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181" y="2484520"/>
            <a:ext cx="3694514" cy="27063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1" name="Google Shape;1033;p15">
            <a:extLst>
              <a:ext uri="{FF2B5EF4-FFF2-40B4-BE49-F238E27FC236}">
                <a16:creationId xmlns:a16="http://schemas.microsoft.com/office/drawing/2014/main" id="{2AF2116B-64AE-4DBD-9D23-07A648356C9E}"/>
              </a:ext>
            </a:extLst>
          </p:cNvPr>
          <p:cNvSpPr/>
          <p:nvPr/>
        </p:nvSpPr>
        <p:spPr>
          <a:xfrm>
            <a:off x="4834350" y="1026160"/>
            <a:ext cx="3657600" cy="4857403"/>
          </a:xfrm>
          <a:prstGeom prst="rect">
            <a:avLst/>
          </a:prstGeom>
          <a:solidFill>
            <a:srgbClr val="000000"/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  <a:tabLst/>
              <a:defRPr/>
            </a:pP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Eliminates: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crushed by moving dump truck,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all repetitive motions,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contact with hot tar AND </a:t>
            </a:r>
            <a:b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</a:br>
            <a:r>
              <a:rPr kumimoji="0" lang="en-US" sz="1800" b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Arial"/>
                <a:sym typeface="Arial"/>
              </a:rPr>
              <a:t>exposure to traffic. </a:t>
            </a:r>
            <a:endParaRPr kumimoji="0" sz="11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/>
              <a:sym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A52B5A8-4C1B-489C-940A-72E3984432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4683" y="2484520"/>
            <a:ext cx="3017936" cy="3268009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7975049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altLang="en-US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ANSI Z10-2012: Risk Reduction Hierarchy </a:t>
            </a:r>
            <a:r>
              <a:rPr lang="en-US" altLang="en-US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lang="en-US" altLang="en-US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Hierarchy of Effectiveness</a:t>
            </a:r>
            <a:endParaRPr lang="en-US" altLang="en-US" dirty="0">
              <a:solidFill>
                <a:srgbClr val="3333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452057-F194-4545-AA0B-98F6DF34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763" y="1378113"/>
            <a:ext cx="8590637" cy="4826846"/>
          </a:xfrm>
          <a:prstGeom prst="rect">
            <a:avLst/>
          </a:prstGeom>
        </p:spPr>
      </p:pic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332400" y="9804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lvl="0" indent="-360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ANSI Z10-2012 has same order as AB OH&amp;S but includes “substitution”. </a:t>
            </a: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99441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82550" y="185520"/>
            <a:ext cx="4179668" cy="10971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altLang="en-US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ANSI </a:t>
            </a:r>
            <a:r>
              <a:rPr lang="en-US" altLang="en-US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Z10-2012: Risk </a:t>
            </a:r>
            <a:r>
              <a:rPr lang="en-US" altLang="en-US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Reduction Hierarchy </a:t>
            </a:r>
            <a:r>
              <a:rPr lang="en-US" altLang="en-US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lang="en-US" altLang="en-US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Hierarchy of Effectiveness</a:t>
            </a:r>
            <a:endParaRPr lang="en-US" altLang="en-US" dirty="0">
              <a:solidFill>
                <a:srgbClr val="33339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100A21-F2E7-4A11-9CA2-678C57E82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464" y="1772944"/>
            <a:ext cx="4010914" cy="22536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F088DD-6499-476F-BE8E-F97E22714BC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73" t="1238" r="2978" b="2324"/>
          <a:stretch/>
        </p:blipFill>
        <p:spPr>
          <a:xfrm>
            <a:off x="4262218" y="19200"/>
            <a:ext cx="4588262" cy="61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10943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Examples</a:t>
            </a: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Application of ANSI Z10-21012: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graphicFrame>
        <p:nvGraphicFramePr>
          <p:cNvPr id="10" name="Google Shape;1095;p19">
            <a:extLst>
              <a:ext uri="{FF2B5EF4-FFF2-40B4-BE49-F238E27FC236}">
                <a16:creationId xmlns:a16="http://schemas.microsoft.com/office/drawing/2014/main" id="{606B0D9A-F5C7-43AC-961E-5D77D23DB2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2212068"/>
              </p:ext>
            </p:extLst>
          </p:nvPr>
        </p:nvGraphicFramePr>
        <p:xfrm>
          <a:off x="180000" y="828000"/>
          <a:ext cx="8633400" cy="545264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1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4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50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Hierarchy Level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Example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Eliminate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Evacuate the piping system of the hazard.</a:t>
                      </a:r>
                      <a:endParaRPr sz="1600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Fill in the hole to eliminate a fall hazard.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0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Substitute</a:t>
                      </a:r>
                      <a:endParaRPr sz="1600" b="1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non-toxic substance instead of a toxic substance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Isolate / Separate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work platform instead of using personal fall arrest.</a:t>
                      </a:r>
                      <a:endParaRPr sz="1600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Closed-loop sampling system.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66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Engineering Controls</a:t>
                      </a:r>
                      <a:endParaRPr sz="1600" b="1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Noise-dampening technology to reduce noise levels.</a:t>
                      </a:r>
                      <a:endParaRPr sz="1600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Mechanical-assist lifting devices instead of physical effort.</a:t>
                      </a:r>
                      <a:endParaRPr sz="1600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Exhaust ventilation system to draw away contaminated air e.g. fume hood or welding hood. 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1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Warnings / Organization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Train workers to observe warning </a:t>
                      </a: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signs, labels, alarms,</a:t>
                      </a:r>
                      <a:r>
                        <a:rPr lang="en-US" sz="1600" b="1" baseline="0" dirty="0" smtClean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and how to respond</a:t>
                      </a:r>
                      <a:endParaRPr sz="1600" b="1" dirty="0">
                        <a:solidFill>
                          <a:schemeClr val="tx1"/>
                        </a:solidFill>
                      </a:endParaRPr>
                    </a:p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Additional workers for relief and rotation in hazardous conditions e.g. hot weather / hot environments.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81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Administrative Controls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Policies / procedures (PTWs, checklists, JSAs, FLRAs, SQRAs, etc.) that describe how to do the safe execution of work e.g. walk on designated in-plant walkways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721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PPE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285750" marR="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Noto Sans Symbols"/>
                        <a:buChar char="⮚"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Flame retardant clothing, hard hats, eye protection, respiratory</a:t>
                      </a:r>
                      <a:r>
                        <a:rPr lang="en-US" sz="1600" b="1" baseline="0" dirty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protection, face protection, gloves, safety boots, flash suit</a:t>
                      </a:r>
                      <a:endParaRPr sz="1600" b="1" dirty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280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261324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altLang="en-US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</a:t>
            </a: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AB OH&amp;S Code Part 2 to Spray-Patch Crew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None/>
              <a:defRPr/>
            </a:pPr>
            <a:r>
              <a:rPr lang="en-US" altLang="en-US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</a:t>
            </a: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ANSI Z10 to </a:t>
            </a:r>
            <a:r>
              <a:rPr lang="en-US" altLang="en-US" b="1" dirty="0" err="1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Fernie</a:t>
            </a:r>
            <a:r>
              <a:rPr lang="en-US" altLang="en-US" b="1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Arena Refrigeration System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intent is to give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you an opportunity to practice these approaches, and NOT to instruct you on specific solutions to these problems. </a:t>
            </a: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Intent of These Active Learning Exercises:</a:t>
            </a:r>
            <a:endParaRPr kumimoji="0" lang="en-CA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080" y="2950041"/>
            <a:ext cx="4248000" cy="3186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001" y="2240041"/>
            <a:ext cx="4297999" cy="32234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552787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Key Difference Between </a:t>
            </a:r>
            <a:r>
              <a:rPr kumimoji="0" lang="en-CA" altLang="en-US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Hierarchy </a:t>
            </a:r>
            <a:r>
              <a:rPr kumimoji="0" lang="en-CA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of Effectiveness &amp; Order of </a:t>
            </a:r>
            <a:r>
              <a:rPr kumimoji="0" lang="en-CA" altLang="en-US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Priority:</a:t>
            </a:r>
            <a:endParaRPr kumimoji="0" lang="en-CA" altLang="en-US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CA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5.2: Fundamental Approach to Control All Risks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313290-5204-44EB-B152-17E86E668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00" y="954464"/>
            <a:ext cx="4296875" cy="2414297"/>
          </a:xfrm>
          <a:prstGeom prst="rect">
            <a:avLst/>
          </a:prstGeom>
        </p:spPr>
      </p:pic>
      <p:pic>
        <p:nvPicPr>
          <p:cNvPr id="7" name="Google Shape;1111;p20">
            <a:extLst>
              <a:ext uri="{FF2B5EF4-FFF2-40B4-BE49-F238E27FC236}">
                <a16:creationId xmlns:a16="http://schemas.microsoft.com/office/drawing/2014/main" id="{BEDD46B0-C543-4330-B9DA-3A3986FB107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61894" y="3620394"/>
            <a:ext cx="4105403" cy="2547562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112;p20">
            <a:extLst>
              <a:ext uri="{FF2B5EF4-FFF2-40B4-BE49-F238E27FC236}">
                <a16:creationId xmlns:a16="http://schemas.microsoft.com/office/drawing/2014/main" id="{885952AB-927E-4A1E-9299-6BCE07C7C388}"/>
              </a:ext>
            </a:extLst>
          </p:cNvPr>
          <p:cNvSpPr/>
          <p:nvPr/>
        </p:nvSpPr>
        <p:spPr>
          <a:xfrm>
            <a:off x="4500000" y="1356227"/>
            <a:ext cx="4178595" cy="1305312"/>
          </a:xfrm>
          <a:prstGeom prst="leftArrow">
            <a:avLst>
              <a:gd name="adj1" fmla="val 100000"/>
              <a:gd name="adj2" fmla="val 51081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36000" rIns="72000" bIns="360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1800"/>
              <a:defRPr/>
            </a:pP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This tool is a hierarchy of effectiveness and yields an order of effectiveness,</a:t>
            </a:r>
            <a:b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</a:b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NOT an order of priority. </a:t>
            </a:r>
          </a:p>
        </p:txBody>
      </p:sp>
      <p:sp>
        <p:nvSpPr>
          <p:cNvPr id="11" name="Google Shape;1108;p20">
            <a:extLst>
              <a:ext uri="{FF2B5EF4-FFF2-40B4-BE49-F238E27FC236}">
                <a16:creationId xmlns:a16="http://schemas.microsoft.com/office/drawing/2014/main" id="{FA8FF6AB-2902-43F4-B1AD-4F42D4609746}"/>
              </a:ext>
            </a:extLst>
          </p:cNvPr>
          <p:cNvSpPr/>
          <p:nvPr/>
        </p:nvSpPr>
        <p:spPr>
          <a:xfrm>
            <a:off x="481053" y="4000783"/>
            <a:ext cx="4437893" cy="1980395"/>
          </a:xfrm>
          <a:prstGeom prst="rightArrow">
            <a:avLst>
              <a:gd name="adj1" fmla="val 100000"/>
              <a:gd name="adj2" fmla="val 46625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36000" rIns="72000" bIns="36000" anchor="ctr" anchorCtr="0">
            <a:noAutofit/>
          </a:bodyPr>
          <a:lstStyle/>
          <a:p>
            <a:pPr lvl="0" algn="ctr">
              <a:buClr>
                <a:srgbClr val="FFFFFF"/>
              </a:buClr>
              <a:buSzPts val="1800"/>
              <a:defRPr/>
            </a:pP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In a future seminar, the </a:t>
            </a:r>
            <a:r>
              <a:rPr lang="en-US" b="1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Complex Effort </a:t>
            </a:r>
            <a:r>
              <a:rPr lang="en-US" b="1" i="1" kern="0" dirty="0" smtClean="0">
                <a:solidFill>
                  <a:srgbClr val="FFFFFF"/>
                </a:solidFill>
                <a:ea typeface="Arial"/>
                <a:cs typeface="Arial"/>
                <a:sym typeface="Arial"/>
              </a:rPr>
              <a:t>vs </a:t>
            </a:r>
            <a:r>
              <a:rPr lang="en-US" b="1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Gain Tool</a:t>
            </a: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 will be presented; this tool </a:t>
            </a:r>
            <a:r>
              <a:rPr lang="en-US" i="1" kern="0" dirty="0" smtClean="0">
                <a:solidFill>
                  <a:srgbClr val="FFFFFF"/>
                </a:solidFill>
                <a:ea typeface="Arial"/>
                <a:cs typeface="Arial"/>
                <a:sym typeface="Arial"/>
              </a:rPr>
              <a:t>helps </a:t>
            </a: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us to </a:t>
            </a:r>
            <a:r>
              <a:rPr lang="en-US" i="1" u="sng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prioritize </a:t>
            </a:r>
            <a:r>
              <a:rPr lang="en-US" i="1" u="sng" kern="0" dirty="0" smtClean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 implementation </a:t>
            </a: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/>
            </a:r>
            <a:b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</a:br>
            <a:r>
              <a:rPr lang="en-US" i="1" kern="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of recommendations. </a:t>
            </a:r>
          </a:p>
        </p:txBody>
      </p:sp>
    </p:spTree>
    <p:extLst>
      <p:ext uri="{BB962C8B-B14F-4D97-AF65-F5344CB8AC3E}">
        <p14:creationId xmlns:p14="http://schemas.microsoft.com/office/powerpoint/2010/main" val="40628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</TotalTime>
  <Words>854</Words>
  <Application>Microsoft Office PowerPoint</Application>
  <PresentationFormat>On-screen Show (4:3)</PresentationFormat>
  <Paragraphs>124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ＭＳ Ｐゴシック</vt:lpstr>
      <vt:lpstr>Arial</vt:lpstr>
      <vt:lpstr>Calibri</vt:lpstr>
      <vt:lpstr>Noto Sans Symbols</vt:lpstr>
      <vt:lpstr>Times New Roman</vt:lpstr>
      <vt:lpstr>Wingdings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Faculty of engineering, University of Alberta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JR Cocchio</dc:creator>
  <cp:lastModifiedBy>JR Cocchio</cp:lastModifiedBy>
  <cp:revision>55</cp:revision>
  <dcterms:created xsi:type="dcterms:W3CDTF">2020-05-22T23:48:02Z</dcterms:created>
  <dcterms:modified xsi:type="dcterms:W3CDTF">2021-05-24T21:10:53Z</dcterms:modified>
</cp:coreProperties>
</file>