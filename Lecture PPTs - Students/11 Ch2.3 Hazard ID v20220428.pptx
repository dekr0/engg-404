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60" r:id="rId1"/>
  </p:sldMasterIdLst>
  <p:notesMasterIdLst>
    <p:notesMasterId r:id="rId14"/>
  </p:notesMasterIdLst>
  <p:sldIdLst>
    <p:sldId id="895" r:id="rId2"/>
    <p:sldId id="880" r:id="rId3"/>
    <p:sldId id="928" r:id="rId4"/>
    <p:sldId id="929" r:id="rId5"/>
    <p:sldId id="930" r:id="rId6"/>
    <p:sldId id="931" r:id="rId7"/>
    <p:sldId id="932" r:id="rId8"/>
    <p:sldId id="933" r:id="rId9"/>
    <p:sldId id="934" r:id="rId10"/>
    <p:sldId id="936" r:id="rId11"/>
    <p:sldId id="923" r:id="rId12"/>
    <p:sldId id="900" r:id="rId13"/>
  </p:sldIdLst>
  <p:sldSz cx="9144000" cy="6858000" type="screen4x3"/>
  <p:notesSz cx="7010400" cy="9296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9">
          <p15:clr>
            <a:srgbClr val="A4A3A4"/>
          </p15:clr>
        </p15:guide>
        <p15:guide id="2" pos="2209">
          <p15:clr>
            <a:srgbClr val="A4A3A4"/>
          </p15:clr>
        </p15:guide>
      </p15:notes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r:id="rId16" roundtripDataSignature="AMtx7miNskiymCAqQ5hgU9NjHCDp7TeI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FF00"/>
    <a:srgbClr val="FF99F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D7D1BFE-9D6A-46A3-8E06-B776CACC8AB2}">
  <a:tblStyle styleId="{AD7D1BFE-9D6A-46A3-8E06-B776CACC8AB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13" autoAdjust="0"/>
    <p:restoredTop sz="92562" autoAdjust="0"/>
  </p:normalViewPr>
  <p:slideViewPr>
    <p:cSldViewPr snapToGrid="0">
      <p:cViewPr varScale="1">
        <p:scale>
          <a:sx n="65" d="100"/>
          <a:sy n="65" d="100"/>
        </p:scale>
        <p:origin x="1328" y="44"/>
      </p:cViewPr>
      <p:guideLst>
        <p:guide orient="horz" pos="2112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10" d="100"/>
        <a:sy n="110" d="100"/>
      </p:scale>
      <p:origin x="0" y="-4440"/>
    </p:cViewPr>
  </p:sorter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929"/>
        <p:guide pos="220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2" y="2"/>
            <a:ext cx="3038553" cy="464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625" tIns="46800" rIns="93625" bIns="468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971848" y="2"/>
            <a:ext cx="3038553" cy="464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625" tIns="46800" rIns="93625" bIns="468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79513" y="696913"/>
            <a:ext cx="4649787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34941" y="4417387"/>
            <a:ext cx="5140522" cy="41828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625" tIns="46800" rIns="93625" bIns="468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2" y="8831802"/>
            <a:ext cx="3038553" cy="464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625" tIns="46800" rIns="93625" bIns="468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971848" y="8831802"/>
            <a:ext cx="3038553" cy="4645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625" tIns="46800" rIns="93625" bIns="468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baseline="0" dirty="0"/>
          </a:p>
        </p:txBody>
      </p:sp>
    </p:spTree>
    <p:extLst>
      <p:ext uri="{BB962C8B-B14F-4D97-AF65-F5344CB8AC3E}">
        <p14:creationId xmlns:p14="http://schemas.microsoft.com/office/powerpoint/2010/main" val="1800767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931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81514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CA" dirty="0"/>
              <a:t>It can be both – a hazard </a:t>
            </a:r>
            <a:r>
              <a:rPr lang="en-CA" dirty="0" err="1"/>
              <a:t>ie</a:t>
            </a:r>
            <a:r>
              <a:rPr lang="en-CA" dirty="0"/>
              <a:t> corrosive substance in a pipe or a consequence </a:t>
            </a:r>
            <a:r>
              <a:rPr lang="en-CA" dirty="0" err="1"/>
              <a:t>ie</a:t>
            </a:r>
            <a:r>
              <a:rPr lang="en-CA" dirty="0"/>
              <a:t> corrosion of rebar due to water penetration</a:t>
            </a:r>
          </a:p>
        </p:txBody>
      </p:sp>
    </p:spTree>
    <p:extLst>
      <p:ext uri="{BB962C8B-B14F-4D97-AF65-F5344CB8AC3E}">
        <p14:creationId xmlns:p14="http://schemas.microsoft.com/office/powerpoint/2010/main" val="33087863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marL="4572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CA" dirty="0"/>
              <a:t>Different experts with specific expertise and experience in each of these areas would be used to id the hazards</a:t>
            </a:r>
          </a:p>
          <a:p>
            <a:pPr eaLnBrk="1" hangingPunct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6280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23650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marL="609600" lvl="0" indent="-609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lang="en-CA" sz="1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Hazards become evident. </a:t>
            </a:r>
            <a:endParaRPr lang="en-CA" dirty="0"/>
          </a:p>
          <a:p>
            <a:pPr marL="609600" lvl="0" indent="-609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lang="en-CA" sz="1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sharp observer can see hazards that may not be obvious.</a:t>
            </a:r>
            <a:endParaRPr lang="en-CA" dirty="0"/>
          </a:p>
          <a:p>
            <a:pPr marL="609600" lvl="0" indent="-609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lang="en-CA" sz="1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Then can take steps to address the hazard and avoid an incident.</a:t>
            </a:r>
            <a:endParaRPr lang="en-CA" dirty="0"/>
          </a:p>
          <a:p>
            <a:pPr marL="609600" lvl="0" indent="-609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Char char="⮚"/>
            </a:pPr>
            <a:r>
              <a:rPr lang="en-CA" sz="12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Effectively working to eliminate the immediate causes of incidents</a:t>
            </a:r>
            <a:endParaRPr lang="en-CA" dirty="0"/>
          </a:p>
          <a:p>
            <a:pPr eaLnBrk="1" hangingPunct="1"/>
            <a:endParaRPr lang="en-US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03608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18851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50717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98878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 txBox="1">
            <a:spLocks noGrp="1" noChangeArrowheads="1"/>
          </p:cNvSpPr>
          <p:nvPr/>
        </p:nvSpPr>
        <p:spPr bwMode="auto">
          <a:xfrm>
            <a:off x="3970250" y="8829564"/>
            <a:ext cx="3038956" cy="46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511" tIns="46256" rIns="92511" bIns="46256"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41DADFD-3BE4-4AB0-B910-544CAFF0BCC2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880" y="4415844"/>
            <a:ext cx="5140641" cy="4182424"/>
          </a:xfrm>
          <a:noFill/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1411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ENGG406 2015W</a:t>
            </a:r>
          </a:p>
        </p:txBody>
      </p:sp>
      <p:sp>
        <p:nvSpPr>
          <p:cNvPr id="7270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30321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30321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3032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t>3-March-2015</a:t>
            </a:r>
          </a:p>
        </p:txBody>
      </p:sp>
      <p:sp>
        <p:nvSpPr>
          <p:cNvPr id="727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1721" indent="-285277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1110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597553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3997" indent="-228222" defTabSz="927152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0440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66884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3328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79772" indent="-228222" defTabSz="927152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2715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2E0E8D8-AE63-4BAB-AE10-86197CF9CB04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2715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09" name="Rectangle 7"/>
          <p:cNvSpPr txBox="1">
            <a:spLocks noGrp="1" noChangeArrowheads="1"/>
          </p:cNvSpPr>
          <p:nvPr/>
        </p:nvSpPr>
        <p:spPr bwMode="auto">
          <a:xfrm>
            <a:off x="3974250" y="8831898"/>
            <a:ext cx="3036150" cy="4645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3122" tIns="46561" rIns="93122" bIns="46561" anchor="b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B6B2B90-B612-42CC-80D2-4870E63A5117}" type="slidenum">
              <a:rPr kumimoji="0" lang="en-US" altLang="en-US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27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11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30235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6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905000"/>
            <a:ext cx="7772400" cy="1470025"/>
          </a:xfrm>
        </p:spPr>
        <p:txBody>
          <a:bodyPr/>
          <a:lstStyle>
            <a:lvl1pPr>
              <a:spcBef>
                <a:spcPct val="20000"/>
              </a:spcBef>
              <a:defRPr sz="3600" smtClean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606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148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Font typeface="Wingdings" pitchFamily="2" charset="2"/>
              <a:buNone/>
              <a:defRPr smtClean="0"/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444615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3389" y="1120588"/>
            <a:ext cx="8153400" cy="5105400"/>
          </a:xfrm>
          <a:prstGeom prst="rect">
            <a:avLst/>
          </a:prstGeom>
        </p:spPr>
        <p:txBody>
          <a:bodyPr/>
          <a:lstStyle>
            <a:lvl1pPr marL="342900" indent="-342900">
              <a:buClrTx/>
              <a:buFont typeface="Wingdings" charset="2"/>
              <a:buChar char="§"/>
              <a:defRPr sz="2400">
                <a:solidFill>
                  <a:schemeClr val="tx1"/>
                </a:solidFill>
              </a:defRPr>
            </a:lvl1pPr>
            <a:lvl2pPr marL="742950" indent="-285750">
              <a:buClrTx/>
              <a:buFont typeface="Arial"/>
              <a:buChar char="•"/>
              <a:defRPr sz="2200">
                <a:solidFill>
                  <a:schemeClr val="tx1"/>
                </a:solidFill>
              </a:defRPr>
            </a:lvl2pPr>
            <a:lvl3pPr marL="1143000" indent="-228600">
              <a:buClrTx/>
              <a:buFont typeface="Arial"/>
              <a:buChar char="•"/>
              <a:defRPr sz="2000">
                <a:solidFill>
                  <a:schemeClr val="tx1"/>
                </a:solidFill>
              </a:defRPr>
            </a:lvl3pPr>
            <a:lvl4pPr marL="16002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4pPr>
            <a:lvl5pPr marL="2057400" indent="-228600">
              <a:buClrTx/>
              <a:buFont typeface="Arial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17654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168275"/>
            <a:ext cx="8229600" cy="563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7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68850" y="758825"/>
            <a:ext cx="4038600" cy="57181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127757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28"/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118CC2-884A-4430-8B4F-9976F3C29C24}" type="datetimeFigureOut">
              <a:rPr lang="en-US"/>
              <a:pPr>
                <a:defRPr/>
              </a:pPr>
              <a:t>5/2/2022</a:t>
            </a:fld>
            <a:endParaRPr lang="en-US"/>
          </a:p>
        </p:txBody>
      </p:sp>
      <p:sp>
        <p:nvSpPr>
          <p:cNvPr id="3" name="Rectangle 102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103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823322-A425-42F9-B4E6-DE1BA6748F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8821491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jpe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68275"/>
            <a:ext cx="8153400" cy="56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enter page Title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76200" y="7620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4"/>
          <p:cNvCxnSpPr/>
          <p:nvPr/>
        </p:nvCxnSpPr>
        <p:spPr>
          <a:xfrm>
            <a:off x="76200" y="6248400"/>
            <a:ext cx="8763000" cy="1588"/>
          </a:xfrm>
          <a:prstGeom prst="line">
            <a:avLst/>
          </a:prstGeom>
          <a:ln w="9525">
            <a:solidFill>
              <a:srgbClr val="AA9C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2" descr="http://www.nanobridge.ca/Portals/0/Images/eng-logo.jp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999" y="6307038"/>
            <a:ext cx="1838325" cy="552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206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002C5F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rgbClr val="002C5F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AA9C8F"/>
        </a:buClr>
        <a:buFont typeface="Wingdings" pitchFamily="2" charset="2"/>
        <a:buChar char="§"/>
        <a:defRPr sz="2800">
          <a:solidFill>
            <a:srgbClr val="4D4D4D"/>
          </a:solidFill>
          <a:latin typeface="Calibri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600">
          <a:solidFill>
            <a:schemeClr val="tx1"/>
          </a:solidFill>
          <a:latin typeface="Calibri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400">
          <a:solidFill>
            <a:schemeClr val="tx1"/>
          </a:solidFill>
          <a:latin typeface="Calibri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Calibri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75B1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228600" y="838200"/>
            <a:ext cx="8610600" cy="16621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accent2"/>
                </a:solidFill>
                <a:latin typeface="Calibri" pitchFamily="34" charset="0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02C5F"/>
                </a:solidFill>
                <a:latin typeface="Calibri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002C5F"/>
                </a:solidFill>
                <a:latin typeface="Arial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altLang="en-US" sz="3600" b="1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itchFamily="34" charset="0"/>
                <a:ea typeface="ＭＳ Ｐゴシック" panose="020B0600070205080204" pitchFamily="34" charset="-128"/>
                <a:cs typeface="+mj-cs"/>
              </a:rPr>
              <a:t>On Becoming a </a:t>
            </a:r>
            <a:br>
              <a:rPr kumimoji="0" lang="en-CA" altLang="en-US" sz="3600" b="1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itchFamily="34" charset="0"/>
                <a:ea typeface="ＭＳ Ｐゴシック" panose="020B0600070205080204" pitchFamily="34" charset="-128"/>
                <a:cs typeface="+mj-cs"/>
              </a:rPr>
            </a:br>
            <a:r>
              <a:rPr kumimoji="0" lang="en-CA" altLang="en-US" sz="3600" b="1" i="1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itchFamily="34" charset="0"/>
                <a:ea typeface="ＭＳ Ｐゴシック" panose="020B0600070205080204" pitchFamily="34" charset="-128"/>
                <a:cs typeface="+mj-cs"/>
              </a:rPr>
              <a:t>Leader in Risk Management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AA9C8F"/>
              </a:buClr>
              <a:buSzTx/>
              <a:buFontTx/>
              <a:buNone/>
              <a:tabLst/>
              <a:defRPr/>
            </a:pPr>
            <a:r>
              <a:rPr kumimoji="0" lang="en-US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ENGG404 - Lecture</a:t>
            </a:r>
            <a:endParaRPr kumimoji="0" lang="en-US" altLang="en-US" sz="3600" b="1" i="1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Calibri" pitchFamily="34" charset="0"/>
              <a:ea typeface="ＭＳ Ｐゴシック" panose="020B0600070205080204" pitchFamily="34" charset="-128"/>
              <a:cs typeface="+mj-cs"/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838200" y="2500342"/>
            <a:ext cx="7315201" cy="2224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CA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Chapter 2.3:</a:t>
            </a:r>
          </a:p>
          <a:p>
            <a:pPr marL="0" indent="0" algn="ctr" eaLnBrk="1" hangingPunct="1">
              <a:spcBef>
                <a:spcPct val="0"/>
              </a:spcBef>
              <a:buNone/>
            </a:pPr>
            <a:r>
              <a:rPr lang="en-CA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Hazards and </a:t>
            </a:r>
            <a:br>
              <a:rPr lang="en-CA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CA" altLang="en-US" sz="3200" b="1" dirty="0">
                <a:solidFill>
                  <a:schemeClr val="tx2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Hazard Identification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837290-7F22-4D42-BFDD-D5AD4C09C01F}"/>
              </a:ext>
            </a:extLst>
          </p:cNvPr>
          <p:cNvSpPr txBox="1"/>
          <p:nvPr/>
        </p:nvSpPr>
        <p:spPr>
          <a:xfrm>
            <a:off x="152402" y="176015"/>
            <a:ext cx="1176817" cy="46166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Fundamentals of RM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18FDCA-D6EA-3540-8AE2-F6CD31336ABE}"/>
              </a:ext>
            </a:extLst>
          </p:cNvPr>
          <p:cNvSpPr txBox="1"/>
          <p:nvPr/>
        </p:nvSpPr>
        <p:spPr>
          <a:xfrm>
            <a:off x="1481037" y="169908"/>
            <a:ext cx="1024999" cy="461665"/>
          </a:xfrm>
          <a:prstGeom prst="rect">
            <a:avLst/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System and Process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BC740A-AE56-7744-84D0-32724BDFA21D}"/>
              </a:ext>
            </a:extLst>
          </p:cNvPr>
          <p:cNvSpPr txBox="1"/>
          <p:nvPr/>
        </p:nvSpPr>
        <p:spPr>
          <a:xfrm>
            <a:off x="7874130" y="169908"/>
            <a:ext cx="1155550" cy="46166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Application and Perspectives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7D91E5-FF6E-C346-BD54-1494F0C62548}"/>
              </a:ext>
            </a:extLst>
          </p:cNvPr>
          <p:cNvSpPr txBox="1"/>
          <p:nvPr/>
        </p:nvSpPr>
        <p:spPr>
          <a:xfrm>
            <a:off x="7051217" y="169908"/>
            <a:ext cx="671096" cy="461665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People &amp; Org.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457A8C-8AD1-BC48-A393-2CA6461462C7}"/>
              </a:ext>
            </a:extLst>
          </p:cNvPr>
          <p:cNvSpPr txBox="1"/>
          <p:nvPr/>
        </p:nvSpPr>
        <p:spPr>
          <a:xfrm>
            <a:off x="3834670" y="169908"/>
            <a:ext cx="1024999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Incident Investigation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7E14612-2C60-CA49-88DC-A40274E52BE8}"/>
              </a:ext>
            </a:extLst>
          </p:cNvPr>
          <p:cNvSpPr txBox="1"/>
          <p:nvPr/>
        </p:nvSpPr>
        <p:spPr>
          <a:xfrm>
            <a:off x="5011486" y="169908"/>
            <a:ext cx="1024999" cy="461665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Tools &amp; Challenges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8AF929-DEC8-B045-BD5C-00378213E2AE}"/>
              </a:ext>
            </a:extLst>
          </p:cNvPr>
          <p:cNvSpPr txBox="1"/>
          <p:nvPr/>
        </p:nvSpPr>
        <p:spPr>
          <a:xfrm>
            <a:off x="2657853" y="170432"/>
            <a:ext cx="1024999" cy="46166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Leadership in RM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94E84B9-8682-8C4B-A72E-1FFEAF78256B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1329217" y="400741"/>
            <a:ext cx="151818" cy="6107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CED6320-D6B4-374B-AE59-18735BF60E66}"/>
              </a:ext>
            </a:extLst>
          </p:cNvPr>
          <p:cNvCxnSpPr>
            <a:stCxn id="10" idx="3"/>
            <a:endCxn id="15" idx="1"/>
          </p:cNvCxnSpPr>
          <p:nvPr/>
        </p:nvCxnSpPr>
        <p:spPr>
          <a:xfrm>
            <a:off x="2506036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A27112B-E9F0-2348-9B20-FB76B2277E3D}"/>
              </a:ext>
            </a:extLst>
          </p:cNvPr>
          <p:cNvCxnSpPr>
            <a:stCxn id="15" idx="3"/>
            <a:endCxn id="13" idx="1"/>
          </p:cNvCxnSpPr>
          <p:nvPr/>
        </p:nvCxnSpPr>
        <p:spPr>
          <a:xfrm flipV="1">
            <a:off x="3682853" y="400739"/>
            <a:ext cx="151817" cy="524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6FCC88D-6DFA-474E-80EC-662B2D4B909B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>
            <a:off x="4859669" y="400741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CA7384E-C04D-ED41-9740-B0199EA1890A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6036485" y="400740"/>
            <a:ext cx="151816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37C1AD4-35C5-B84F-A011-FC352A9DC134}"/>
              </a:ext>
            </a:extLst>
          </p:cNvPr>
          <p:cNvCxnSpPr>
            <a:cxnSpLocks/>
            <a:endCxn id="12" idx="1"/>
          </p:cNvCxnSpPr>
          <p:nvPr/>
        </p:nvCxnSpPr>
        <p:spPr>
          <a:xfrm flipV="1">
            <a:off x="6899402" y="400741"/>
            <a:ext cx="151817" cy="1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A40B8989-9D9A-DE41-B118-0BB225CC7043}"/>
              </a:ext>
            </a:extLst>
          </p:cNvPr>
          <p:cNvCxnSpPr>
            <a:stCxn id="12" idx="3"/>
            <a:endCxn id="11" idx="1"/>
          </p:cNvCxnSpPr>
          <p:nvPr/>
        </p:nvCxnSpPr>
        <p:spPr>
          <a:xfrm>
            <a:off x="7722315" y="400739"/>
            <a:ext cx="151817" cy="0"/>
          </a:xfrm>
          <a:prstGeom prst="straightConnector1">
            <a:avLst/>
          </a:prstGeom>
          <a:noFill/>
          <a:ln w="6350" cap="flat" cmpd="sng" algn="ctr">
            <a:solidFill>
              <a:schemeClr val="tx1"/>
            </a:solidFill>
            <a:prstDash val="solid"/>
            <a:miter lim="800000"/>
            <a:tailEnd type="triangle"/>
          </a:ln>
          <a:effectLst/>
        </p:spPr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E97011C2-9A0B-664B-83CB-DE2410B86B87}"/>
              </a:ext>
            </a:extLst>
          </p:cNvPr>
          <p:cNvSpPr txBox="1"/>
          <p:nvPr/>
        </p:nvSpPr>
        <p:spPr>
          <a:xfrm>
            <a:off x="6188301" y="169907"/>
            <a:ext cx="692362" cy="461665"/>
          </a:xfrm>
          <a:prstGeom prst="rect">
            <a:avLst/>
          </a:prstGeom>
          <a:noFill/>
          <a:ln w="12700" cap="flat" cmpd="sng" algn="ctr">
            <a:solidFill>
              <a:schemeClr val="tx1"/>
            </a:solidFill>
            <a:prstDash val="solid"/>
            <a:miter lim="800000"/>
          </a:ln>
          <a:effectLst/>
        </p:spPr>
        <p:txBody>
          <a:bodyPr wrap="square" rtlCol="0">
            <a:spAutoFit/>
          </a:bodyPr>
          <a:lstStyle>
            <a:defPPr>
              <a:defRPr lang="en-US"/>
            </a:defPPr>
            <a:lvl1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RM in Industry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182" y="4405529"/>
            <a:ext cx="1766671" cy="1766671"/>
          </a:xfrm>
          <a:prstGeom prst="rect">
            <a:avLst/>
          </a:prstGeom>
        </p:spPr>
      </p:pic>
      <p:pic>
        <p:nvPicPr>
          <p:cNvPr id="25" name="Picture 24" descr="Introduction to Sociology - 2013 - The Collaboratory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500" y="4405342"/>
            <a:ext cx="2590300" cy="1766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937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Differentiate between a hazard, the severity of hazard, and consequences (impact on PEAP).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Describe and explain different types of hazards in terms of losses (including occupational and/or process safety), and the impact of the severity of those hazards.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Apply </a:t>
            </a:r>
            <a:r>
              <a:rPr lang="en-CA" altLang="en-US" kern="1200" noProof="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The Incident Model to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identify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hazards associated with an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activity that could lead to a loss incident. </a:t>
            </a:r>
            <a:endParaRPr kumimoji="0" lang="en-CA" altLang="en-US" sz="20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CA" altLang="en-US" kern="12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Explain “situational awareness” and its practical application.</a:t>
            </a:r>
            <a:r>
              <a:rPr kumimoji="0" lang="en-CA" altLang="en-US" sz="20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</a:t>
            </a: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Learning Outcomes: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2.3: Hazard Identification</a:t>
            </a:r>
          </a:p>
        </p:txBody>
      </p:sp>
    </p:spTree>
    <p:extLst>
      <p:ext uri="{BB962C8B-B14F-4D97-AF65-F5344CB8AC3E}">
        <p14:creationId xmlns:p14="http://schemas.microsoft.com/office/powerpoint/2010/main" val="27341274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txBody>
          <a:bodyPr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None/>
            </a:pPr>
            <a:r>
              <a:rPr lang="en-US" altLang="en-US" sz="2400" kern="1200" dirty="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ALE #1: What </a:t>
            </a:r>
            <a:r>
              <a:rPr lang="en-US" altLang="en-US" sz="2400" kern="1200" dirty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are Hazards?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2.3: Hazard Identification</a:t>
            </a:r>
          </a:p>
        </p:txBody>
      </p:sp>
      <p:sp>
        <p:nvSpPr>
          <p:cNvPr id="6" name="Google Shape;141;p3">
            <a:extLst>
              <a:ext uri="{FF2B5EF4-FFF2-40B4-BE49-F238E27FC236}">
                <a16:creationId xmlns:a16="http://schemas.microsoft.com/office/drawing/2014/main" id="{FFE5B978-E764-4357-B2AE-9B0E896D8B18}"/>
              </a:ext>
            </a:extLst>
          </p:cNvPr>
          <p:cNvSpPr txBox="1"/>
          <p:nvPr/>
        </p:nvSpPr>
        <p:spPr>
          <a:xfrm>
            <a:off x="180000" y="864000"/>
            <a:ext cx="8640000" cy="1984905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Most hazards are seen as occupational safety issues.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Please confer!</a:t>
            </a:r>
            <a:endParaRPr kumimoji="0" sz="2000" b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  <a:p>
            <a:pPr marL="342900" marR="0" lvl="0" indent="-34290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Noto Sans Symbols"/>
              <a:buChar char="⮚"/>
              <a:tabLst/>
              <a:defRPr/>
            </a:pPr>
            <a:r>
              <a:rPr kumimoji="0" lang="en-US" sz="2000" b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What hazards did you manage in your work experiences? </a:t>
            </a:r>
            <a:br>
              <a:rPr kumimoji="0" lang="en-US" sz="2000" b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</a:br>
            <a:r>
              <a:rPr kumimoji="0" lang="en-US" sz="2000" b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Were these exclusively occupational, or did you manage some process safety hazards? </a:t>
            </a:r>
            <a:endParaRPr kumimoji="0" sz="2000" b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graphicFrame>
        <p:nvGraphicFramePr>
          <p:cNvPr id="7" name="Google Shape;140;p3">
            <a:extLst>
              <a:ext uri="{FF2B5EF4-FFF2-40B4-BE49-F238E27FC236}">
                <a16:creationId xmlns:a16="http://schemas.microsoft.com/office/drawing/2014/main" id="{39C18434-E218-45D9-98C8-D471B574A7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34139400"/>
              </p:ext>
            </p:extLst>
          </p:nvPr>
        </p:nvGraphicFramePr>
        <p:xfrm>
          <a:off x="180000" y="2956904"/>
          <a:ext cx="8633400" cy="303709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0855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9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56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752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741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endParaRPr sz="2000" b="0" i="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endParaRPr sz="2000" b="0" i="0" u="none" strike="noStrike" cap="none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endParaRPr sz="2000" b="0" i="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endParaRPr sz="2000" b="0" i="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741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endParaRPr sz="2000" b="0" i="0" u="none" strike="noStrike" cap="none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endParaRPr sz="2000" b="0" i="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endParaRPr sz="2000" b="0" i="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endParaRPr sz="2000" b="0" i="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741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endParaRPr sz="2000" b="0" i="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endParaRPr sz="2000" b="0" i="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endParaRPr sz="2000" b="0" i="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endParaRPr sz="2000" b="0" i="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741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endParaRPr sz="2000" b="0" i="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endParaRPr sz="2000" b="0" i="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endParaRPr sz="2000" b="0" i="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endParaRPr sz="2000" b="0" i="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741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endParaRPr sz="2000" b="0" i="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endParaRPr sz="2000" b="0" i="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endParaRPr sz="2000" b="0" i="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Times New Roman"/>
                        <a:buNone/>
                      </a:pPr>
                      <a:endParaRPr sz="2000" b="0" i="0" u="none" strike="noStrike" cap="none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5170058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What are Hazards?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2.3: Hazard Identification</a:t>
            </a:r>
          </a:p>
        </p:txBody>
      </p:sp>
      <p:sp>
        <p:nvSpPr>
          <p:cNvPr id="7" name="Google Shape;151;p4">
            <a:extLst>
              <a:ext uri="{FF2B5EF4-FFF2-40B4-BE49-F238E27FC236}">
                <a16:creationId xmlns:a16="http://schemas.microsoft.com/office/drawing/2014/main" id="{63BE24B5-4D34-4BFB-A062-9B34CF12FAE0}"/>
              </a:ext>
            </a:extLst>
          </p:cNvPr>
          <p:cNvSpPr txBox="1">
            <a:spLocks/>
          </p:cNvSpPr>
          <p:nvPr/>
        </p:nvSpPr>
        <p:spPr>
          <a:xfrm>
            <a:off x="183174" y="864000"/>
            <a:ext cx="8631843" cy="4517040"/>
          </a:xfrm>
          <a:prstGeom prst="rect">
            <a:avLst/>
          </a:prstGeom>
          <a:solidFill>
            <a:srgbClr val="FFFF00">
              <a:alpha val="69803"/>
            </a:srgbClr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068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2080"/>
              <a:buFont typeface="Noto Sans Symbols"/>
              <a:buChar char="❖"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Char char="–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Char char="•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Char char="–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111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111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111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111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111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Most hazards are seen as exclusively occupational safety issues.</a:t>
            </a:r>
          </a:p>
          <a:p>
            <a:pPr marL="360000" indent="-360000" eaLnBrk="0" fontAlgn="base" hangingPunct="0"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Do not overlook these as process safety issues. </a:t>
            </a: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609600" marR="0" lvl="0" indent="-4826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  <a:tabLst/>
              <a:defRPr/>
            </a:pPr>
            <a:endParaRPr kumimoji="0" lang="en-CA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609600" marR="0" lvl="0" indent="-4826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  <a:tabLst/>
              <a:defRPr/>
            </a:pPr>
            <a:endParaRPr kumimoji="0" lang="en-CA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609600" marR="0" lvl="0" indent="-4826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  <a:tabLst/>
              <a:defRPr/>
            </a:pPr>
            <a:endParaRPr kumimoji="0" lang="en-CA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609600" marR="0" lvl="0" indent="-4826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  <a:tabLst/>
              <a:defRPr/>
            </a:pPr>
            <a:endParaRPr kumimoji="0" lang="en-CA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609600" marR="0" lvl="0" indent="-4826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  <a:tabLst/>
              <a:defRPr/>
            </a:pPr>
            <a:endParaRPr kumimoji="0" lang="en-CA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609600" marR="0" lvl="0" indent="-4826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  <a:tabLst/>
              <a:defRPr/>
            </a:pPr>
            <a:endParaRPr kumimoji="0" lang="en-CA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609600" marR="0" lvl="0" indent="-4826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  <a:tabLst/>
              <a:defRPr/>
            </a:pPr>
            <a:endParaRPr kumimoji="0" lang="en-CA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609600" marR="0" lvl="0" indent="-4826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  <a:tabLst/>
              <a:defRPr/>
            </a:pPr>
            <a:endParaRPr kumimoji="0" lang="en-CA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609600" marR="0" lvl="0" indent="-4826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Noto Sans Symbols"/>
              <a:buNone/>
              <a:tabLst/>
              <a:defRPr/>
            </a:pPr>
            <a:endParaRPr kumimoji="0" lang="en-CA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  <a:p>
            <a:pPr marL="360000" indent="-360000" eaLnBrk="0" fontAlgn="base" hangingPunct="0"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CA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Workers successfully manage their exposures on a daily basis. </a:t>
            </a:r>
            <a:endParaRPr kumimoji="0" lang="en-CA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cs typeface="Times New Roman"/>
              <a:sym typeface="Times New Roman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" name="Google Shape;155;p4">
            <a:extLst>
              <a:ext uri="{FF2B5EF4-FFF2-40B4-BE49-F238E27FC236}">
                <a16:creationId xmlns:a16="http://schemas.microsoft.com/office/drawing/2014/main" id="{9224491B-5CAC-43D5-AB11-5285E5A68D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92745107"/>
              </p:ext>
            </p:extLst>
          </p:nvPr>
        </p:nvGraphicFramePr>
        <p:xfrm>
          <a:off x="183174" y="1569908"/>
          <a:ext cx="8636825" cy="31052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0863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7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64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761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937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Corrosive Substance</a:t>
                      </a:r>
                      <a:endParaRPr sz="1600" b="0" i="0" u="none" strike="noStrike" cap="none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Toxicity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Inert Gas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Oxygen Deficiency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83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Radiation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Moving Equipment / Machinery</a:t>
                      </a:r>
                      <a:endParaRPr sz="1600" b="0" i="0" u="none" strike="noStrike" cap="none" dirty="0">
                        <a:solidFill>
                          <a:schemeClr val="tx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Noise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High Pressure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223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Vibration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Unstable Materials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High Temperature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Slippery Surfaces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223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Flammability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Cryogenic Temperature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Combustible Dust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Elevations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223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High Voltage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Vacuum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Pressure Cycling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defRPr>
                      </a:lvl9pPr>
                    </a:lstStyle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0" i="0" u="none" strike="noStrike" cap="none" dirty="0">
                          <a:solidFill>
                            <a:schemeClr val="tx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Liquefied Gases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Google Shape;157;p4">
            <a:extLst>
              <a:ext uri="{FF2B5EF4-FFF2-40B4-BE49-F238E27FC236}">
                <a16:creationId xmlns:a16="http://schemas.microsoft.com/office/drawing/2014/main" id="{2D796D31-C07F-47E4-A430-621CE3B43057}"/>
              </a:ext>
            </a:extLst>
          </p:cNvPr>
          <p:cNvSpPr txBox="1"/>
          <p:nvPr/>
        </p:nvSpPr>
        <p:spPr>
          <a:xfrm>
            <a:off x="180000" y="5209949"/>
            <a:ext cx="8635173" cy="706582"/>
          </a:xfrm>
          <a:prstGeom prst="rect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Consider corrosion: is it a hazard or a consequence? </a:t>
            </a:r>
            <a:endParaRPr kumimoji="0" sz="2000" b="0" i="1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377006805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Based on knowledge of the inspector (the person looking for the hazards) and/or documented check-lists for use during an inspection.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CA" altLang="en-US" sz="20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Moving equipment and desire to gain access (think: conveyor)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Fuming sulfuric acid (corrosive material)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Weakened steel structures (corroded material)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Unbalanced rotating / reciprocating equipment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Ground fault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Slumping Walls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How We Identify Hazards: The Knowledge-Based Approach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2.3: Hazard Identification</a:t>
            </a:r>
          </a:p>
        </p:txBody>
      </p:sp>
      <p:pic>
        <p:nvPicPr>
          <p:cNvPr id="10" name="Picture 9" descr="مهارات القرن الحادي والعشرين">
            <a:extLst>
              <a:ext uri="{FF2B5EF4-FFF2-40B4-BE49-F238E27FC236}">
                <a16:creationId xmlns:a16="http://schemas.microsoft.com/office/drawing/2014/main" id="{3AA20E17-538C-49CD-908C-90893D6915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1503" y="4139627"/>
            <a:ext cx="2688497" cy="2016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264881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US" altLang="en-US" kern="12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US" altLang="en-US" kern="12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US" altLang="en-US" kern="12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US" altLang="en-US" kern="12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US" altLang="en-US" kern="12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It follows that by mitigating one or more of these components of incident cause, incidents can be prevented. 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Note: This technique can be applied for finding both </a:t>
            </a:r>
            <a:b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</a:br>
            <a:r>
              <a:rPr kumimoji="0" lang="en-CA" alt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occupational safety hazards AND process safety hazards!</a:t>
            </a: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How </a:t>
            </a:r>
            <a:r>
              <a:rPr kumimoji="0" lang="en-CA" altLang="en-US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to </a:t>
            </a:r>
            <a:r>
              <a:rPr kumimoji="0" lang="en-CA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Identify Hazards: The Discovery </a:t>
            </a:r>
            <a:r>
              <a:rPr kumimoji="0" lang="en-CA" altLang="en-US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Approach </a:t>
            </a:r>
            <a:r>
              <a:rPr kumimoji="0" lang="en-CA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using </a:t>
            </a:r>
            <a:r>
              <a:rPr kumimoji="0" lang="en-CA" altLang="en-US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the Incident Model</a:t>
            </a:r>
            <a:endParaRPr kumimoji="0" lang="en-CA" altLang="en-US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2.3: Hazard Identification</a:t>
            </a:r>
          </a:p>
        </p:txBody>
      </p:sp>
      <p:sp>
        <p:nvSpPr>
          <p:cNvPr id="14" name="Google Shape;227;p10">
            <a:extLst>
              <a:ext uri="{FF2B5EF4-FFF2-40B4-BE49-F238E27FC236}">
                <a16:creationId xmlns:a16="http://schemas.microsoft.com/office/drawing/2014/main" id="{781F0EF1-952D-4F49-A775-0C2F252E380D}"/>
              </a:ext>
            </a:extLst>
          </p:cNvPr>
          <p:cNvSpPr txBox="1"/>
          <p:nvPr/>
        </p:nvSpPr>
        <p:spPr>
          <a:xfrm>
            <a:off x="179999" y="828000"/>
            <a:ext cx="8726933" cy="3422268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dist="107763" dir="2700000" algn="ctr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ClrTx/>
              <a:buSzPts val="1600"/>
              <a:defRPr/>
            </a:pPr>
            <a:r>
              <a:rPr lang="en-US" dirty="0">
                <a:solidFill>
                  <a:schemeClr val="bg1"/>
                </a:solidFill>
              </a:rPr>
              <a:t>The </a:t>
            </a:r>
            <a:r>
              <a:rPr lang="en-US" b="1" dirty="0">
                <a:solidFill>
                  <a:schemeClr val="bg1"/>
                </a:solidFill>
              </a:rPr>
              <a:t>Incident Model</a:t>
            </a:r>
            <a:r>
              <a:rPr lang="en-US" dirty="0">
                <a:solidFill>
                  <a:schemeClr val="bg1"/>
                </a:solidFill>
              </a:rPr>
              <a:t> is a </a:t>
            </a:r>
            <a:r>
              <a:rPr kumimoji="0" lang="en-US" b="1" u="sng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combination</a:t>
            </a:r>
            <a:r>
              <a:rPr kumimoji="0" lang="en-US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 </a:t>
            </a:r>
            <a:r>
              <a:rPr kumimoji="0" lang="en-US" b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of:</a:t>
            </a:r>
            <a:endParaRPr kumimoji="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ts val="16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b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Energy</a:t>
            </a:r>
            <a:r>
              <a:rPr kumimoji="0" lang="en-US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 (controlled or uncontrolled </a:t>
            </a:r>
            <a:r>
              <a:rPr kumimoji="0" lang="en-US" b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release, or </a:t>
            </a:r>
            <a:r>
              <a:rPr kumimoji="0" lang="en-US" b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protected </a:t>
            </a:r>
            <a:r>
              <a:rPr kumimoji="0" lang="en-US" b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/ unprotected exposure to a source</a:t>
            </a:r>
            <a:r>
              <a:rPr kumimoji="0" lang="en-US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), </a:t>
            </a:r>
            <a:r>
              <a:rPr kumimoji="0" lang="en-US" b="0" u="sng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and</a:t>
            </a:r>
            <a:r>
              <a:rPr kumimoji="0" lang="en-US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 </a:t>
            </a:r>
            <a:endParaRPr kumimoji="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ts val="16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b="1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Line-of-Fire</a:t>
            </a:r>
            <a:r>
              <a:rPr kumimoji="0" lang="en-US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 </a:t>
            </a:r>
            <a:r>
              <a:rPr kumimoji="0" lang="en-US" b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(no safe distance,</a:t>
            </a:r>
            <a:r>
              <a:rPr kumimoji="0" lang="en-US" b="0" u="none" strike="noStrike" kern="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 separation, or space; </a:t>
            </a:r>
            <a:r>
              <a:rPr kumimoji="0" lang="en-US" b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intentional </a:t>
            </a:r>
            <a:r>
              <a:rPr kumimoji="0" lang="en-US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or not intentional), </a:t>
            </a:r>
            <a:r>
              <a:rPr kumimoji="0" lang="en-US" b="0" u="sng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and</a:t>
            </a:r>
            <a:r>
              <a:rPr kumimoji="0" lang="en-US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 </a:t>
            </a:r>
            <a:endParaRPr kumimoji="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L="285750" lvl="0" indent="-285750">
              <a:spcBef>
                <a:spcPts val="400"/>
              </a:spcBef>
              <a:buClrTx/>
              <a:buSzPts val="1600"/>
              <a:buFont typeface="Wingdings" panose="05000000000000000000" pitchFamily="2" charset="2"/>
              <a:buChar char="Ø"/>
              <a:defRPr/>
            </a:pPr>
            <a:r>
              <a:rPr kumimoji="0" lang="en-US" b="1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Control Measures </a:t>
            </a:r>
            <a:r>
              <a:rPr kumimoji="0" lang="en-US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(</a:t>
            </a:r>
            <a:r>
              <a:rPr kumimoji="0" lang="en-US" u="none" strike="noStrike" kern="0" cap="none" spc="0" normalizeH="0" baseline="0" noProof="0" dirty="0" err="1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i</a:t>
            </a:r>
            <a:r>
              <a:rPr lang="en-US" dirty="0" err="1" smtClean="0">
                <a:solidFill>
                  <a:schemeClr val="bg1"/>
                </a:solidFill>
              </a:rPr>
              <a:t>nadequate</a:t>
            </a:r>
            <a:r>
              <a:rPr lang="en-US" dirty="0" smtClean="0">
                <a:solidFill>
                  <a:schemeClr val="bg1"/>
                </a:solidFill>
              </a:rPr>
              <a:t>, defective, </a:t>
            </a:r>
            <a:r>
              <a:rPr lang="en-US" dirty="0" smtClean="0">
                <a:solidFill>
                  <a:schemeClr val="bg1"/>
                </a:solidFill>
              </a:rPr>
              <a:t>ineffective</a:t>
            </a:r>
            <a:r>
              <a:rPr lang="en-US" dirty="0" smtClean="0">
                <a:solidFill>
                  <a:schemeClr val="bg1"/>
                </a:solidFill>
              </a:rPr>
              <a:t>, </a:t>
            </a:r>
            <a:r>
              <a:rPr lang="en-US" dirty="0">
                <a:solidFill>
                  <a:schemeClr val="bg1"/>
                </a:solidFill>
              </a:rPr>
              <a:t>or </a:t>
            </a:r>
            <a:r>
              <a:rPr lang="en-US" dirty="0" smtClean="0">
                <a:solidFill>
                  <a:schemeClr val="bg1"/>
                </a:solidFill>
              </a:rPr>
              <a:t>lack of) </a:t>
            </a:r>
            <a:endParaRPr kumimoji="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ts val="1600"/>
              <a:buFontTx/>
              <a:buNone/>
              <a:tabLst/>
              <a:defRPr/>
            </a:pPr>
            <a:r>
              <a:rPr kumimoji="0" lang="en-US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… will result in </a:t>
            </a:r>
            <a:r>
              <a:rPr kumimoji="0" lang="en-US" b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a</a:t>
            </a:r>
            <a:r>
              <a:rPr kumimoji="0" lang="en-US" b="0" u="none" strike="noStrike" kern="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 </a:t>
            </a:r>
            <a:r>
              <a:rPr kumimoji="0" lang="en-US" b="0" u="sng" strike="noStrike" kern="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loss </a:t>
            </a:r>
            <a:r>
              <a:rPr kumimoji="0" lang="en-US" b="0" u="sng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incident</a:t>
            </a:r>
            <a:r>
              <a:rPr kumimoji="0" lang="en-US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. </a:t>
            </a:r>
            <a:endParaRPr kumimoji="0" lang="en-US" b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SzPts val="1600"/>
              <a:buFontTx/>
              <a:buNone/>
              <a:tabLst/>
              <a:defRPr/>
            </a:pPr>
            <a:endParaRPr lang="en-US" dirty="0">
              <a:solidFill>
                <a:schemeClr val="bg1"/>
              </a:solidFill>
            </a:endParaRPr>
          </a:p>
          <a:p>
            <a:pPr lvl="0">
              <a:spcBef>
                <a:spcPts val="400"/>
              </a:spcBef>
              <a:buClrTx/>
              <a:buSzPts val="1600"/>
              <a:defRPr/>
            </a:pPr>
            <a:r>
              <a:rPr lang="en-US" dirty="0">
                <a:solidFill>
                  <a:schemeClr val="bg1"/>
                </a:solidFill>
              </a:rPr>
              <a:t>A </a:t>
            </a:r>
            <a:r>
              <a:rPr lang="en-US" b="1" u="sng" dirty="0" smtClean="0">
                <a:solidFill>
                  <a:schemeClr val="bg1"/>
                </a:solidFill>
              </a:rPr>
              <a:t>triggering event</a:t>
            </a:r>
            <a:r>
              <a:rPr lang="en-US" dirty="0" smtClean="0">
                <a:solidFill>
                  <a:schemeClr val="bg1"/>
                </a:solidFill>
              </a:rPr>
              <a:t> (dashed lines) may: 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spcBef>
                <a:spcPts val="400"/>
              </a:spcBef>
              <a:buClrTx/>
              <a:buSzPts val="1600"/>
              <a:buFont typeface="Wingdings" panose="05000000000000000000" pitchFamily="2" charset="2"/>
              <a:buChar char="Ø"/>
              <a:defRPr/>
            </a:pPr>
            <a:r>
              <a:rPr lang="en-US" dirty="0">
                <a:solidFill>
                  <a:schemeClr val="bg1"/>
                </a:solidFill>
              </a:rPr>
              <a:t>Put someone or something </a:t>
            </a:r>
            <a:r>
              <a:rPr lang="en-US" dirty="0" smtClean="0">
                <a:solidFill>
                  <a:schemeClr val="bg1"/>
                </a:solidFill>
              </a:rPr>
              <a:t>in </a:t>
            </a:r>
            <a:r>
              <a:rPr lang="en-US" dirty="0">
                <a:solidFill>
                  <a:schemeClr val="bg1"/>
                </a:solidFill>
              </a:rPr>
              <a:t>the </a:t>
            </a:r>
            <a:r>
              <a:rPr lang="en-US" dirty="0" smtClean="0">
                <a:solidFill>
                  <a:schemeClr val="bg1"/>
                </a:solidFill>
              </a:rPr>
              <a:t>line </a:t>
            </a:r>
            <a:r>
              <a:rPr lang="en-US" dirty="0">
                <a:solidFill>
                  <a:schemeClr val="bg1"/>
                </a:solidFill>
              </a:rPr>
              <a:t>of </a:t>
            </a:r>
            <a:r>
              <a:rPr lang="en-US" dirty="0" smtClean="0">
                <a:solidFill>
                  <a:schemeClr val="bg1"/>
                </a:solidFill>
              </a:rPr>
              <a:t>fire, or 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spcBef>
                <a:spcPts val="400"/>
              </a:spcBef>
              <a:buClrTx/>
              <a:buSzPts val="1600"/>
              <a:buFont typeface="Wingdings" panose="05000000000000000000" pitchFamily="2" charset="2"/>
              <a:buChar char="Ø"/>
              <a:defRPr/>
            </a:pPr>
            <a:r>
              <a:rPr lang="en-US" dirty="0">
                <a:solidFill>
                  <a:schemeClr val="bg1"/>
                </a:solidFill>
              </a:rPr>
              <a:t>Initiate the release of an energy </a:t>
            </a:r>
            <a:r>
              <a:rPr lang="en-US" dirty="0" smtClean="0">
                <a:solidFill>
                  <a:schemeClr val="bg1"/>
                </a:solidFill>
              </a:rPr>
              <a:t>source</a:t>
            </a:r>
            <a:r>
              <a:rPr lang="en-US" dirty="0" smtClean="0">
                <a:solidFill>
                  <a:schemeClr val="bg1"/>
                </a:solidFill>
              </a:rPr>
              <a:t>, or</a:t>
            </a:r>
            <a:endParaRPr lang="en-US" dirty="0">
              <a:solidFill>
                <a:schemeClr val="bg1"/>
              </a:solidFill>
            </a:endParaRPr>
          </a:p>
          <a:p>
            <a:pPr marL="285750" indent="-285750">
              <a:spcBef>
                <a:spcPts val="400"/>
              </a:spcBef>
              <a:buClrTx/>
              <a:buSzPts val="1600"/>
              <a:buFont typeface="Wingdings" panose="05000000000000000000" pitchFamily="2" charset="2"/>
              <a:buChar char="Ø"/>
              <a:defRPr/>
            </a:pPr>
            <a:r>
              <a:rPr lang="en-US" dirty="0" smtClean="0">
                <a:solidFill>
                  <a:schemeClr val="bg1"/>
                </a:solidFill>
              </a:rPr>
              <a:t>Defeat a </a:t>
            </a:r>
            <a:r>
              <a:rPr lang="en-US" dirty="0">
                <a:solidFill>
                  <a:schemeClr val="bg1"/>
                </a:solidFill>
              </a:rPr>
              <a:t>control </a:t>
            </a:r>
            <a:r>
              <a:rPr lang="en-US" dirty="0" smtClean="0">
                <a:solidFill>
                  <a:schemeClr val="bg1"/>
                </a:solidFill>
              </a:rPr>
              <a:t>measure. 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9550" y="1476387"/>
            <a:ext cx="2737382" cy="2773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27449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 Rephrase the components: </a:t>
            </a:r>
          </a:p>
          <a:p>
            <a:pPr marL="432000" marR="0" lvl="0" indent="-432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Find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 the </a:t>
            </a: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Energy Source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: 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mechanical, electrical, chemical, etc. 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Look for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 the </a:t>
            </a: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Line-of-Fire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: 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bodies, assets, and environment that could </a:t>
            </a:r>
            <a:b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</a:b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be harmed by a release of the energy source. 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Look for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 </a:t>
            </a: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No/Inadequate </a:t>
            </a:r>
            <a:r>
              <a:rPr kumimoji="0" lang="en-CA" altLang="en-US" sz="2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control measures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: </a:t>
            </a:r>
            <a:b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</a:b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the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absence of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the</a:t>
            </a:r>
            <a:r>
              <a:rPr kumimoji="0" lang="en-CA" altLang="en-US" sz="20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control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measure or safeguard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that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is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/>
            </a:r>
            <a:b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</a:b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preventing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or limiting or controlling exposure to the energy source.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360000" lvl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kumimoji="0" lang="en-CA" altLang="en-US" sz="2000" b="0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Find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 the </a:t>
            </a:r>
            <a:r>
              <a:rPr kumimoji="0" lang="en-CA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Trigger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: the circumstances or mechanisms that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will:</a:t>
            </a:r>
          </a:p>
          <a:p>
            <a:pPr marL="720000" lvl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Put </a:t>
            </a:r>
            <a:r>
              <a:rPr lang="en-US" altLang="en-US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someone or something in the line of fire, or </a:t>
            </a:r>
          </a:p>
          <a:p>
            <a:pPr marL="720000" lvl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Initiate the release of an energy source, or</a:t>
            </a:r>
          </a:p>
          <a:p>
            <a:pPr marL="720000" lvl="0" indent="-360000" eaLnBrk="0" fontAlgn="base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US" altLang="en-US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Defeat a control measure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.</a:t>
            </a: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The Discovery Approach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2.3: Hazard Identification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6007511" y="828000"/>
            <a:ext cx="2969806" cy="2969806"/>
            <a:chOff x="6007511" y="828000"/>
            <a:chExt cx="2969806" cy="2969806"/>
          </a:xfrm>
        </p:grpSpPr>
        <p:grpSp>
          <p:nvGrpSpPr>
            <p:cNvPr id="4" name="Group 3"/>
            <p:cNvGrpSpPr>
              <a:grpSpLocks noChangeAspect="1"/>
            </p:cNvGrpSpPr>
            <p:nvPr/>
          </p:nvGrpSpPr>
          <p:grpSpPr>
            <a:xfrm>
              <a:off x="6007511" y="828000"/>
              <a:ext cx="2969806" cy="2969806"/>
              <a:chOff x="5672667" y="279399"/>
              <a:chExt cx="3168000" cy="3168000"/>
            </a:xfrm>
          </p:grpSpPr>
          <p:sp>
            <p:nvSpPr>
              <p:cNvPr id="2" name="Rectangle 1"/>
              <p:cNvSpPr/>
              <p:nvPr/>
            </p:nvSpPr>
            <p:spPr>
              <a:xfrm>
                <a:off x="5672667" y="279399"/>
                <a:ext cx="3168000" cy="3168000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10" name="Picture 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81684" y="501867"/>
                <a:ext cx="2737382" cy="2773881"/>
              </a:xfrm>
              <a:prstGeom prst="rect">
                <a:avLst/>
              </a:prstGeom>
            </p:spPr>
          </p:pic>
        </p:grpSp>
        <p:sp>
          <p:nvSpPr>
            <p:cNvPr id="14" name="TextBox 13"/>
            <p:cNvSpPr txBox="1"/>
            <p:nvPr/>
          </p:nvSpPr>
          <p:spPr>
            <a:xfrm>
              <a:off x="7516525" y="928550"/>
              <a:ext cx="93406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400" b="1" dirty="0" smtClean="0">
                  <a:solidFill>
                    <a:schemeClr val="bg1"/>
                  </a:solidFill>
                </a:rPr>
                <a:t>?</a:t>
              </a:r>
              <a:endParaRPr lang="en-US" sz="5400" b="1" dirty="0">
                <a:solidFill>
                  <a:schemeClr val="bg1"/>
                </a:solidFill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8060507" y="2060430"/>
              <a:ext cx="89542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400" b="1" dirty="0" smtClean="0">
                  <a:solidFill>
                    <a:schemeClr val="bg1"/>
                  </a:solidFill>
                </a:rPr>
                <a:t>?</a:t>
              </a:r>
              <a:endParaRPr lang="en-US" sz="5400" b="1" dirty="0">
                <a:solidFill>
                  <a:schemeClr val="bg1"/>
                </a:solidFill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017102" y="2060430"/>
              <a:ext cx="934064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400" b="1" dirty="0" smtClean="0">
                  <a:solidFill>
                    <a:schemeClr val="bg1"/>
                  </a:solidFill>
                </a:rPr>
                <a:t>?</a:t>
              </a:r>
              <a:endParaRPr lang="en-US" sz="54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05684763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ALE #2: Applying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the Discovery Approach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2.3: Hazard Identification</a:t>
            </a:r>
          </a:p>
        </p:txBody>
      </p:sp>
      <p:pic>
        <p:nvPicPr>
          <p:cNvPr id="6" name="Google Shape;215;p8" descr="P426S 1s">
            <a:extLst>
              <a:ext uri="{FF2B5EF4-FFF2-40B4-BE49-F238E27FC236}">
                <a16:creationId xmlns:a16="http://schemas.microsoft.com/office/drawing/2014/main" id="{CDDDE780-DC1F-4CEE-822D-5A530071E8F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083" y="828000"/>
            <a:ext cx="4360241" cy="53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217;p8">
            <a:extLst>
              <a:ext uri="{FF2B5EF4-FFF2-40B4-BE49-F238E27FC236}">
                <a16:creationId xmlns:a16="http://schemas.microsoft.com/office/drawing/2014/main" id="{41B1833D-C5F8-4402-A32C-C4D2FD9C144C}"/>
              </a:ext>
            </a:extLst>
          </p:cNvPr>
          <p:cNvSpPr txBox="1"/>
          <p:nvPr/>
        </p:nvSpPr>
        <p:spPr>
          <a:xfrm>
            <a:off x="4572000" y="828000"/>
            <a:ext cx="4241400" cy="5328000"/>
          </a:xfrm>
          <a:prstGeom prst="rect">
            <a:avLst/>
          </a:prstGeom>
          <a:solidFill>
            <a:srgbClr val="0000FF"/>
          </a:solidFill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Equipment description: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The electrically-powered motor (blue) is  connected to a pump (under the metal cladding). The piping contains light hydrocarbons (similar to gasoline) at high pressure and high temperature.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1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Activity: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The pump and motor are in operation.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1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Please confer ….  </a:t>
            </a:r>
            <a:b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</a:b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Identify some hazards in this photo: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00" b="0" i="1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FIND OR LOOK FOR:</a:t>
            </a: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 Symbols"/>
              <a:buChar char="⮚"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Energy Sources: </a:t>
            </a:r>
            <a:r>
              <a:rPr kumimoji="0" lang="en-US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(These are fully controlled, but how might these become uncontrolled?)</a:t>
            </a:r>
            <a:endParaRPr kumimoji="0" b="0" i="1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 Symbols"/>
              <a:buChar char="⮚"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Safeguards: </a:t>
            </a:r>
            <a:r>
              <a:rPr kumimoji="0" lang="en-US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(By identifying the safeguards, one can foresee the lack of safeguards.)</a:t>
            </a:r>
            <a:endParaRPr kumimoji="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 Symbols"/>
              <a:buChar char="⮚"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Trigger: </a:t>
            </a:r>
            <a:r>
              <a:rPr kumimoji="0" lang="en-US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(What could go wrong?)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 Symbols"/>
              <a:buChar char="⮚"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Line-of-Fire: </a:t>
            </a:r>
            <a:r>
              <a:rPr kumimoji="0" lang="en-US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(Where might someone be in the line of fire if something failed?)</a:t>
            </a:r>
            <a:endParaRPr kumimoji="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317" y="4640826"/>
            <a:ext cx="1267782" cy="1180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075621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None/>
              <a:tabLst/>
              <a:defRPr/>
            </a:pPr>
            <a:endParaRPr kumimoji="0" lang="en-US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Applying the Discovery Approach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2.3: Hazard Identification</a:t>
            </a:r>
          </a:p>
        </p:txBody>
      </p:sp>
      <p:pic>
        <p:nvPicPr>
          <p:cNvPr id="6" name="Google Shape;215;p8" descr="P426S 1s">
            <a:extLst>
              <a:ext uri="{FF2B5EF4-FFF2-40B4-BE49-F238E27FC236}">
                <a16:creationId xmlns:a16="http://schemas.microsoft.com/office/drawing/2014/main" id="{CDDDE780-DC1F-4CEE-822D-5A530071E8F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083" y="828000"/>
            <a:ext cx="4360241" cy="53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217;p8">
            <a:extLst>
              <a:ext uri="{FF2B5EF4-FFF2-40B4-BE49-F238E27FC236}">
                <a16:creationId xmlns:a16="http://schemas.microsoft.com/office/drawing/2014/main" id="{41B1833D-C5F8-4402-A32C-C4D2FD9C144C}"/>
              </a:ext>
            </a:extLst>
          </p:cNvPr>
          <p:cNvSpPr txBox="1"/>
          <p:nvPr/>
        </p:nvSpPr>
        <p:spPr>
          <a:xfrm>
            <a:off x="4444324" y="828000"/>
            <a:ext cx="4369076" cy="5328000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tabLst/>
              <a:defRPr/>
            </a:pPr>
            <a:r>
              <a:rPr kumimoji="0" lang="en-US" sz="1600" b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Energy </a:t>
            </a:r>
            <a:r>
              <a:rPr kumimoji="0" lang="en-US" sz="1600" b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Sources</a:t>
            </a:r>
            <a:r>
              <a:rPr kumimoji="0" lang="en-US" sz="1600" b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: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 Symbols"/>
              <a:buChar char="⮚"/>
              <a:tabLst/>
              <a:defRPr/>
            </a:pPr>
            <a:r>
              <a:rPr lang="en-US" sz="1600" dirty="0" smtClean="0">
                <a:solidFill>
                  <a:schemeClr val="bg1"/>
                </a:solidFill>
              </a:rPr>
              <a:t>Rotating equipment: spinning shafts and coupling between motor and pump 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 Symbols"/>
              <a:buChar char="⮚"/>
              <a:tabLst/>
              <a:defRPr/>
            </a:pPr>
            <a:r>
              <a:rPr kumimoji="0" lang="en-US" sz="1600" b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Process fluid: hot, pressurized, flammable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 Symbols"/>
              <a:buChar char="⮚"/>
              <a:tabLst/>
              <a:defRPr/>
            </a:pPr>
            <a:r>
              <a:rPr lang="en-US" sz="1600" dirty="0" smtClean="0">
                <a:solidFill>
                  <a:schemeClr val="bg1"/>
                </a:solidFill>
              </a:rPr>
              <a:t>Electrical: shock hazard, ignition source</a:t>
            </a:r>
            <a:endParaRPr kumimoji="0" sz="16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 Symbols"/>
              <a:buChar char="⮚"/>
              <a:tabLst/>
              <a:defRPr/>
            </a:pPr>
            <a:endParaRPr kumimoji="0" lang="en-US" sz="1600" b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tabLst/>
              <a:defRPr/>
            </a:pPr>
            <a:r>
              <a:rPr kumimoji="0" lang="en-US" sz="1600" b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Safeguards: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 Symbols"/>
              <a:buChar char="⮚"/>
              <a:tabLst/>
              <a:defRPr/>
            </a:pPr>
            <a:r>
              <a:rPr kumimoji="0" lang="en-US" sz="1600" b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Coupling cover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 Symbols"/>
              <a:buChar char="⮚"/>
              <a:tabLst/>
              <a:defRPr/>
            </a:pPr>
            <a:r>
              <a:rPr lang="en-US" sz="1600" dirty="0" smtClean="0">
                <a:solidFill>
                  <a:schemeClr val="bg1"/>
                </a:solidFill>
              </a:rPr>
              <a:t>Insulation, pressure-piping, pipe inspections,  leak prevention leak detection</a:t>
            </a:r>
            <a:endParaRPr kumimoji="0" lang="en-US" sz="1600" b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 Symbols"/>
              <a:buChar char="⮚"/>
              <a:tabLst/>
              <a:defRPr/>
            </a:pPr>
            <a:r>
              <a:rPr kumimoji="0" lang="en-US" sz="1600" b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Insulation, wiring inspections, sealed </a:t>
            </a:r>
            <a:endParaRPr kumimoji="0" sz="16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 Symbols"/>
              <a:buChar char="⮚"/>
              <a:tabLst/>
              <a:defRPr/>
            </a:pPr>
            <a:endParaRPr kumimoji="0" lang="en-US" sz="1600" b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tabLst/>
              <a:defRPr/>
            </a:pPr>
            <a:r>
              <a:rPr kumimoji="0" lang="en-US" sz="1600" b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Trigger: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 Symbols"/>
              <a:buChar char="⮚"/>
              <a:tabLst/>
              <a:defRPr/>
            </a:pPr>
            <a:r>
              <a:rPr lang="en-US" sz="1600" dirty="0" smtClean="0">
                <a:solidFill>
                  <a:schemeClr val="bg1"/>
                </a:solidFill>
              </a:rPr>
              <a:t>Loose or misplaced cover, failed coupling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 Symbols"/>
              <a:buChar char="⮚"/>
              <a:tabLst/>
              <a:defRPr/>
            </a:pPr>
            <a:r>
              <a:rPr kumimoji="0" lang="en-US" sz="1600" b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Corrosion, loose</a:t>
            </a:r>
            <a:r>
              <a:rPr kumimoji="0" lang="en-US" sz="1600" b="0" u="none" strike="noStrike" kern="0" cap="none" spc="0" normalizeH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 pipe connections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 Symbols"/>
              <a:buChar char="⮚"/>
              <a:tabLst/>
              <a:defRPr/>
            </a:pPr>
            <a:r>
              <a:rPr lang="en-US" sz="1600" baseline="0" dirty="0" smtClean="0">
                <a:solidFill>
                  <a:schemeClr val="bg1"/>
                </a:solidFill>
              </a:rPr>
              <a:t>Corrosion, water entry, </a:t>
            </a:r>
            <a:r>
              <a:rPr lang="en-US" sz="1600" dirty="0" smtClean="0">
                <a:solidFill>
                  <a:schemeClr val="bg1"/>
                </a:solidFill>
              </a:rPr>
              <a:t>damaged fittings</a:t>
            </a:r>
            <a:endParaRPr kumimoji="0" lang="en-US" sz="16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 Symbols"/>
              <a:buChar char="⮚"/>
              <a:tabLst/>
              <a:defRPr/>
            </a:pPr>
            <a:endParaRPr kumimoji="0" lang="en-US" sz="1600" b="0" u="none" strike="noStrike" kern="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  <a:p>
            <a:pPr marR="0" lvl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tabLst/>
              <a:defRPr/>
            </a:pPr>
            <a:r>
              <a:rPr kumimoji="0" lang="en-US" sz="1600" b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Line-of-Fire: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 Symbols"/>
              <a:buChar char="⮚"/>
              <a:tabLst/>
              <a:defRPr/>
            </a:pPr>
            <a:r>
              <a:rPr kumimoji="0" lang="en-US" sz="1600" b="0" u="none" strike="noStrike" kern="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t>People working in area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 Symbols"/>
              <a:buChar char="⮚"/>
              <a:tabLst/>
              <a:defRPr/>
            </a:pPr>
            <a:r>
              <a:rPr lang="en-US" sz="1600" dirty="0" smtClean="0">
                <a:solidFill>
                  <a:schemeClr val="bg1"/>
                </a:solidFill>
              </a:rPr>
              <a:t>Process unit operations</a:t>
            </a:r>
            <a:endParaRPr kumimoji="0" sz="1600" b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256563694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None/>
              <a:tabLst/>
              <a:defRPr/>
            </a:pPr>
            <a:r>
              <a:rPr kumimoji="0" lang="en-CA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Situational </a:t>
            </a:r>
            <a:r>
              <a:rPr lang="en-CA" altLang="en-US" sz="1800" b="1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Awareness</a:t>
            </a:r>
            <a:r>
              <a:rPr kumimoji="0" lang="en-CA" alt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:</a:t>
            </a:r>
            <a:endParaRPr kumimoji="0" lang="en-CA" altLang="en-US" sz="1800" b="1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A key skill in monitoring for hazards – by workers</a:t>
            </a:r>
            <a:r>
              <a:rPr kumimoji="0" lang="en-CA" altLang="en-US" sz="1800" b="0" i="0" u="none" strike="noStrike" kern="1200" cap="none" spc="0" normalizeH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t> and leaders!</a:t>
            </a:r>
            <a:endParaRPr kumimoji="0" lang="en-CA" altLang="en-US" sz="1800" b="0" i="0" u="none" strike="noStrike" kern="120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CA" altLang="en-US" sz="1800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Relentless, almost continuous, assessment of a person’s surroundings for potential and actual hazards – just like you did in the previous ALE!</a:t>
            </a: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lang="en-CA" altLang="en-US" sz="1800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Achieved by asking those four </a:t>
            </a:r>
            <a:r>
              <a:rPr lang="en-CA" altLang="en-US" sz="1800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questions about yourself, your equipment, your team, and your environment!:</a:t>
            </a:r>
            <a:endParaRPr lang="en-CA" altLang="en-US" sz="1800" kern="1200" dirty="0" smtClean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“Situational Awareness” and the </a:t>
            </a:r>
            <a:r>
              <a:rPr kumimoji="0" lang="en-CA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Arial"/>
              </a:rPr>
              <a:t>Incident Model:</a:t>
            </a:r>
            <a:endParaRPr kumimoji="0" lang="en-CA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Arial"/>
            </a:endParaRP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  <a:sym typeface="Arial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  <a:sym typeface="Arial"/>
            </a:endParaRPr>
          </a:p>
        </p:txBody>
      </p:sp>
      <p:sp>
        <p:nvSpPr>
          <p:cNvPr id="14" name="Google Shape;217;p8">
            <a:extLst>
              <a:ext uri="{FF2B5EF4-FFF2-40B4-BE49-F238E27FC236}">
                <a16:creationId xmlns:a16="http://schemas.microsoft.com/office/drawing/2014/main" id="{41B1833D-C5F8-4402-A32C-C4D2FD9C144C}"/>
              </a:ext>
            </a:extLst>
          </p:cNvPr>
          <p:cNvSpPr txBox="1"/>
          <p:nvPr/>
        </p:nvSpPr>
        <p:spPr>
          <a:xfrm>
            <a:off x="180000" y="2540226"/>
            <a:ext cx="8633400" cy="1431599"/>
          </a:xfrm>
          <a:prstGeom prst="rect">
            <a:avLst/>
          </a:prstGeom>
          <a:solidFill>
            <a:schemeClr val="tx1"/>
          </a:solidFill>
          <a:ln w="952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FIND </a:t>
            </a: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OR LOOK FOR: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 Symbols"/>
              <a:buChar char="⮚"/>
              <a:tabLst/>
              <a:defRPr/>
            </a:pP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Energy Sources: (These are fully controlled, but how might these become uncontrolled?)</a:t>
            </a:r>
            <a:endParaRPr kumimoji="0" sz="1600" b="0" i="1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 Symbols"/>
              <a:buChar char="⮚"/>
              <a:tabLst/>
              <a:defRPr/>
            </a:pPr>
            <a:r>
              <a:rPr kumimoji="0" lang="en-US" sz="1600" b="0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Control Measures: </a:t>
            </a: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(By identifying the safeguards, one can foresee the lack of safeguards.)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  <a:p>
            <a:pPr marL="285750" indent="-285750">
              <a:buClr>
                <a:srgbClr val="FFFFFF"/>
              </a:buClr>
              <a:buSzPts val="1600"/>
              <a:buFont typeface="Noto Sans Symbols"/>
              <a:buChar char="⮚"/>
              <a:defRPr/>
            </a:pPr>
            <a:r>
              <a:rPr lang="en-US" sz="1600" i="1" dirty="0">
                <a:solidFill>
                  <a:srgbClr val="FFFFFF"/>
                </a:solidFill>
              </a:rPr>
              <a:t>Line-of-Fire: (Where might someone </a:t>
            </a:r>
            <a:r>
              <a:rPr lang="en-US" sz="1600" i="1" dirty="0" smtClean="0">
                <a:solidFill>
                  <a:srgbClr val="FFFFFF"/>
                </a:solidFill>
              </a:rPr>
              <a:t>or something be </a:t>
            </a:r>
            <a:r>
              <a:rPr lang="en-US" sz="1600" i="1" dirty="0">
                <a:solidFill>
                  <a:srgbClr val="FFFFFF"/>
                </a:solidFill>
              </a:rPr>
              <a:t>in the line of fire if something failed?)</a:t>
            </a:r>
            <a:endParaRPr lang="en-US" sz="1600" dirty="0">
              <a:solidFill>
                <a:sysClr val="windowText" lastClr="000000"/>
              </a:solidFill>
            </a:endParaRP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Noto Sans Symbols"/>
              <a:buChar char="⮚"/>
              <a:tabLst/>
              <a:defRPr/>
            </a:pPr>
            <a:r>
              <a:rPr kumimoji="0" lang="en-US" sz="1600" b="0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Trigger</a:t>
            </a:r>
            <a:r>
              <a:rPr kumimoji="0" lang="en-US" sz="1600" b="0" i="1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: (What could go wrong</a:t>
            </a:r>
            <a:r>
              <a:rPr kumimoji="0" lang="en-US" sz="1600" b="0" i="1" u="none" strike="noStrike" kern="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</a:rPr>
              <a:t>?)</a:t>
            </a:r>
            <a:endParaRPr kumimoji="0" lang="en-US" sz="1600" b="0" i="1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</a:endParaRPr>
          </a:p>
        </p:txBody>
      </p:sp>
      <p:sp>
        <p:nvSpPr>
          <p:cNvPr id="15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2.3: Hazard Identification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2412600" y="3860323"/>
            <a:ext cx="6400800" cy="2269067"/>
            <a:chOff x="2540000" y="3191932"/>
            <a:chExt cx="6400800" cy="2269067"/>
          </a:xfrm>
        </p:grpSpPr>
        <p:sp>
          <p:nvSpPr>
            <p:cNvPr id="4" name="Freeform 3"/>
            <p:cNvSpPr/>
            <p:nvPr/>
          </p:nvSpPr>
          <p:spPr>
            <a:xfrm>
              <a:off x="2540000" y="3191932"/>
              <a:ext cx="6400800" cy="2269067"/>
            </a:xfrm>
            <a:custGeom>
              <a:avLst/>
              <a:gdLst>
                <a:gd name="connsiteX0" fmla="*/ 0 w 4064000"/>
                <a:gd name="connsiteY0" fmla="*/ 2032000 h 4064000"/>
                <a:gd name="connsiteX1" fmla="*/ 2032000 w 4064000"/>
                <a:gd name="connsiteY1" fmla="*/ 0 h 4064000"/>
                <a:gd name="connsiteX2" fmla="*/ 4064000 w 4064000"/>
                <a:gd name="connsiteY2" fmla="*/ 2032000 h 4064000"/>
                <a:gd name="connsiteX3" fmla="*/ 2032000 w 4064000"/>
                <a:gd name="connsiteY3" fmla="*/ 4064000 h 4064000"/>
                <a:gd name="connsiteX4" fmla="*/ 0 w 4064000"/>
                <a:gd name="connsiteY4" fmla="*/ 2032000 h 4064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4000" h="4064000">
                  <a:moveTo>
                    <a:pt x="0" y="2032000"/>
                  </a:moveTo>
                  <a:cubicBezTo>
                    <a:pt x="0" y="909757"/>
                    <a:pt x="909757" y="0"/>
                    <a:pt x="2032000" y="0"/>
                  </a:cubicBezTo>
                  <a:cubicBezTo>
                    <a:pt x="3154243" y="0"/>
                    <a:pt x="4064000" y="909757"/>
                    <a:pt x="4064000" y="2032000"/>
                  </a:cubicBezTo>
                  <a:cubicBezTo>
                    <a:pt x="4064000" y="3154243"/>
                    <a:pt x="3154243" y="4064000"/>
                    <a:pt x="2032000" y="4064000"/>
                  </a:cubicBezTo>
                  <a:cubicBezTo>
                    <a:pt x="909757" y="4064000"/>
                    <a:pt x="0" y="3154243"/>
                    <a:pt x="0" y="2032000"/>
                  </a:cubicBezTo>
                  <a:close/>
                </a:path>
              </a:pathLst>
            </a:custGeom>
            <a:blipFill>
              <a:blip r:embed="rId3"/>
              <a:tile tx="0" ty="0" sx="100000" sy="100000" flip="none" algn="tl"/>
            </a:blipFill>
            <a:ln>
              <a:solidFill>
                <a:srgbClr val="000000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6000" tIns="108000" rIns="36000" bIns="36000" numCol="1" spcCol="1270" anchor="t" anchorCtr="1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800" b="1" kern="1200" dirty="0" smtClean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Environment</a:t>
              </a:r>
              <a:endParaRPr lang="en-US" sz="1800" b="1" kern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Freeform 4"/>
            <p:cNvSpPr/>
            <p:nvPr/>
          </p:nvSpPr>
          <p:spPr>
            <a:xfrm>
              <a:off x="3180080" y="3645745"/>
              <a:ext cx="5120640" cy="1815254"/>
            </a:xfrm>
            <a:custGeom>
              <a:avLst/>
              <a:gdLst>
                <a:gd name="connsiteX0" fmla="*/ 0 w 3251200"/>
                <a:gd name="connsiteY0" fmla="*/ 1625600 h 3251200"/>
                <a:gd name="connsiteX1" fmla="*/ 1625600 w 3251200"/>
                <a:gd name="connsiteY1" fmla="*/ 0 h 3251200"/>
                <a:gd name="connsiteX2" fmla="*/ 3251200 w 3251200"/>
                <a:gd name="connsiteY2" fmla="*/ 1625600 h 3251200"/>
                <a:gd name="connsiteX3" fmla="*/ 1625600 w 3251200"/>
                <a:gd name="connsiteY3" fmla="*/ 3251200 h 3251200"/>
                <a:gd name="connsiteX4" fmla="*/ 0 w 3251200"/>
                <a:gd name="connsiteY4" fmla="*/ 1625600 h 3251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51200" h="3251200">
                  <a:moveTo>
                    <a:pt x="0" y="1625600"/>
                  </a:moveTo>
                  <a:cubicBezTo>
                    <a:pt x="0" y="727806"/>
                    <a:pt x="727806" y="0"/>
                    <a:pt x="1625600" y="0"/>
                  </a:cubicBezTo>
                  <a:cubicBezTo>
                    <a:pt x="2523394" y="0"/>
                    <a:pt x="3251200" y="727806"/>
                    <a:pt x="3251200" y="1625600"/>
                  </a:cubicBezTo>
                  <a:cubicBezTo>
                    <a:pt x="3251200" y="2523394"/>
                    <a:pt x="2523394" y="3251200"/>
                    <a:pt x="1625600" y="3251200"/>
                  </a:cubicBezTo>
                  <a:cubicBezTo>
                    <a:pt x="727806" y="3251200"/>
                    <a:pt x="0" y="2523394"/>
                    <a:pt x="0" y="162560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accent2">
                    <a:lumMod val="0"/>
                    <a:lumOff val="100000"/>
                  </a:schemeClr>
                </a:gs>
                <a:gs pos="35000">
                  <a:schemeClr val="accent2">
                    <a:lumMod val="0"/>
                    <a:lumOff val="100000"/>
                  </a:schemeClr>
                </a:gs>
                <a:gs pos="100000">
                  <a:schemeClr val="accent2">
                    <a:lumMod val="100000"/>
                  </a:schemeClr>
                </a:gs>
              </a:gsLst>
              <a:path path="circle">
                <a:fillToRect l="50000" t="-80000" r="50000" b="180000"/>
              </a:path>
              <a:tileRect/>
            </a:gra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6000" tIns="108000" rIns="36000" bIns="36000" numCol="1" spcCol="1270" anchor="t" anchorCtr="1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800" b="1" kern="1200" dirty="0" smtClean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Team</a:t>
              </a:r>
              <a:endParaRPr lang="en-US" sz="1800" b="1" kern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Freeform 5"/>
            <p:cNvSpPr/>
            <p:nvPr/>
          </p:nvSpPr>
          <p:spPr>
            <a:xfrm>
              <a:off x="3820160" y="4099558"/>
              <a:ext cx="3840480" cy="1361440"/>
            </a:xfrm>
            <a:custGeom>
              <a:avLst/>
              <a:gdLst>
                <a:gd name="connsiteX0" fmla="*/ 0 w 2438400"/>
                <a:gd name="connsiteY0" fmla="*/ 1219200 h 2438400"/>
                <a:gd name="connsiteX1" fmla="*/ 1219200 w 2438400"/>
                <a:gd name="connsiteY1" fmla="*/ 0 h 2438400"/>
                <a:gd name="connsiteX2" fmla="*/ 2438400 w 2438400"/>
                <a:gd name="connsiteY2" fmla="*/ 1219200 h 2438400"/>
                <a:gd name="connsiteX3" fmla="*/ 1219200 w 2438400"/>
                <a:gd name="connsiteY3" fmla="*/ 2438400 h 2438400"/>
                <a:gd name="connsiteX4" fmla="*/ 0 w 2438400"/>
                <a:gd name="connsiteY4" fmla="*/ 1219200 h 2438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38400" h="2438400">
                  <a:moveTo>
                    <a:pt x="0" y="1219200"/>
                  </a:moveTo>
                  <a:cubicBezTo>
                    <a:pt x="0" y="545854"/>
                    <a:pt x="545854" y="0"/>
                    <a:pt x="1219200" y="0"/>
                  </a:cubicBezTo>
                  <a:cubicBezTo>
                    <a:pt x="1892546" y="0"/>
                    <a:pt x="2438400" y="545854"/>
                    <a:pt x="2438400" y="1219200"/>
                  </a:cubicBezTo>
                  <a:cubicBezTo>
                    <a:pt x="2438400" y="1892546"/>
                    <a:pt x="1892546" y="2438400"/>
                    <a:pt x="1219200" y="2438400"/>
                  </a:cubicBezTo>
                  <a:cubicBezTo>
                    <a:pt x="545854" y="2438400"/>
                    <a:pt x="0" y="1892546"/>
                    <a:pt x="0" y="1219200"/>
                  </a:cubicBezTo>
                  <a:close/>
                </a:path>
              </a:pathLst>
            </a:custGeom>
            <a:blipFill>
              <a:blip r:embed="rId4"/>
              <a:tile tx="0" ty="0" sx="100000" sy="100000" flip="none" algn="tl"/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6000" tIns="108000" rIns="36000" bIns="36000" numCol="1" spcCol="1270" anchor="t" anchorCtr="1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800" b="1" kern="1200" dirty="0" smtClean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 Equipment</a:t>
              </a:r>
              <a:endParaRPr lang="en-US" sz="1800" b="1" kern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Freeform 6"/>
            <p:cNvSpPr/>
            <p:nvPr/>
          </p:nvSpPr>
          <p:spPr>
            <a:xfrm>
              <a:off x="4460240" y="4553372"/>
              <a:ext cx="2560320" cy="907627"/>
            </a:xfrm>
            <a:custGeom>
              <a:avLst/>
              <a:gdLst>
                <a:gd name="connsiteX0" fmla="*/ 0 w 1625600"/>
                <a:gd name="connsiteY0" fmla="*/ 812800 h 1625600"/>
                <a:gd name="connsiteX1" fmla="*/ 812800 w 1625600"/>
                <a:gd name="connsiteY1" fmla="*/ 0 h 1625600"/>
                <a:gd name="connsiteX2" fmla="*/ 1625600 w 1625600"/>
                <a:gd name="connsiteY2" fmla="*/ 812800 h 1625600"/>
                <a:gd name="connsiteX3" fmla="*/ 812800 w 1625600"/>
                <a:gd name="connsiteY3" fmla="*/ 1625600 h 1625600"/>
                <a:gd name="connsiteX4" fmla="*/ 0 w 1625600"/>
                <a:gd name="connsiteY4" fmla="*/ 812800 h 162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25600" h="1625600">
                  <a:moveTo>
                    <a:pt x="0" y="812800"/>
                  </a:moveTo>
                  <a:cubicBezTo>
                    <a:pt x="0" y="363903"/>
                    <a:pt x="363903" y="0"/>
                    <a:pt x="812800" y="0"/>
                  </a:cubicBezTo>
                  <a:cubicBezTo>
                    <a:pt x="1261697" y="0"/>
                    <a:pt x="1625600" y="363903"/>
                    <a:pt x="1625600" y="812800"/>
                  </a:cubicBezTo>
                  <a:cubicBezTo>
                    <a:pt x="1625600" y="1261697"/>
                    <a:pt x="1261697" y="1625600"/>
                    <a:pt x="812800" y="1625600"/>
                  </a:cubicBezTo>
                  <a:cubicBezTo>
                    <a:pt x="363903" y="1625600"/>
                    <a:pt x="0" y="1261697"/>
                    <a:pt x="0" y="812800"/>
                  </a:cubicBezTo>
                  <a:close/>
                </a:path>
              </a:pathLst>
            </a:custGeom>
            <a:solidFill>
              <a:srgbClr val="FF99FF"/>
            </a:solidFill>
            <a:ln>
              <a:solidFill>
                <a:srgbClr val="000000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6000" tIns="498856" rIns="36000" bIns="498856" numCol="1" spcCol="1270" anchor="ctr" anchorCtr="0">
              <a:noAutofit/>
            </a:bodyPr>
            <a:lstStyle/>
            <a:p>
              <a:pPr lvl="0" algn="ctr" defTabSz="5778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1800" b="1" kern="1200" dirty="0" smtClean="0">
                  <a:solidFill>
                    <a:srgbClr val="00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Yourself</a:t>
              </a:r>
              <a:endParaRPr lang="en-US" sz="1800" b="1" kern="12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23" name="Picture 2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106" y="4079825"/>
            <a:ext cx="2161076" cy="2012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770054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180000" y="828000"/>
            <a:ext cx="8640000" cy="532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marL="609600" indent="-609600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Hazards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are associated with:</a:t>
            </a:r>
          </a:p>
          <a:p>
            <a:pPr marL="72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activities, </a:t>
            </a:r>
          </a:p>
          <a:p>
            <a:pPr marL="72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occupational losses</a:t>
            </a:r>
          </a:p>
          <a:p>
            <a:pPr marL="72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process safety losses</a:t>
            </a:r>
          </a:p>
          <a:p>
            <a:pPr marL="72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Hazards are often related to substandard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conditions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and substandard work practices.</a:t>
            </a:r>
          </a:p>
          <a:p>
            <a:pPr marL="432000" marR="0" lvl="0" indent="-432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432000" marR="0" lvl="0" indent="-432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Context is important where there is a need to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differentiate 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between a hazard, severity of 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hazard</a:t>
            </a: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, and a consequence</a:t>
            </a:r>
          </a:p>
          <a:p>
            <a:pPr marL="432000" marR="0" lvl="0" indent="-432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kumimoji="0" lang="en-CA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We employ two approaches for identifying hazards:</a:t>
            </a:r>
          </a:p>
          <a:p>
            <a:pPr marL="72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Knowledge based </a:t>
            </a:r>
          </a:p>
          <a:p>
            <a:pPr marL="72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r>
              <a:rPr kumimoji="0" lang="en-CA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Discovery based</a:t>
            </a:r>
            <a:r>
              <a:rPr kumimoji="0" lang="en-CA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.</a:t>
            </a:r>
          </a:p>
          <a:p>
            <a:pPr marL="720000" marR="0" lvl="0" indent="-360000" algn="l" defTabSz="914400" rtl="0" eaLnBrk="0" fontAlgn="base" latinLnBrk="0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tabLst/>
              <a:defRPr/>
            </a:pPr>
            <a:endParaRPr lang="en-CA" altLang="en-US" kern="12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  <a:p>
            <a:pPr marL="360000" indent="-360000" eaLnBrk="0" fontAlgn="base" hangingPunct="0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Tx/>
              <a:buSzPct val="100000"/>
              <a:buFont typeface="Wingdings" panose="05000000000000000000" pitchFamily="2" charset="2"/>
              <a:buChar char="Ø"/>
              <a:defRPr/>
            </a:pPr>
            <a:r>
              <a:rPr lang="en-CA" altLang="en-US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Situational awareness </a:t>
            </a:r>
            <a:r>
              <a:rPr lang="en-CA" altLang="en-US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is </a:t>
            </a:r>
            <a:r>
              <a:rPr lang="en-CA" altLang="en-US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a </a:t>
            </a:r>
            <a:r>
              <a:rPr lang="en-CA" altLang="en-US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/>
            </a:r>
            <a:br>
              <a:rPr lang="en-CA" altLang="en-US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</a:br>
            <a:r>
              <a:rPr lang="en-CA" altLang="en-US" kern="1200" dirty="0" smtClean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key </a:t>
            </a:r>
            <a:r>
              <a:rPr lang="en-CA" altLang="en-US" kern="1200" dirty="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skill!</a:t>
            </a:r>
            <a:endParaRPr lang="en-US" altLang="en-US" kern="1200" dirty="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80000" y="216000"/>
            <a:ext cx="8640000" cy="50400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Summary and Key Lessons:</a:t>
            </a:r>
          </a:p>
        </p:txBody>
      </p:sp>
      <p:sp>
        <p:nvSpPr>
          <p:cNvPr id="12" name="Slide Number Placeholder 1"/>
          <p:cNvSpPr txBox="1">
            <a:spLocks noGrp="1"/>
          </p:cNvSpPr>
          <p:nvPr/>
        </p:nvSpPr>
        <p:spPr bwMode="auto">
          <a:xfrm>
            <a:off x="8280000" y="6300000"/>
            <a:ext cx="533400" cy="28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65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6500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9AAC074-F6B9-4EA4-AE59-9F9DB0D8944F}" type="slidenum">
              <a:rPr kumimoji="0" lang="en-US" altLang="en-US" sz="12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en-US" sz="1200" b="1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" name="Google Shape;125;p2"/>
          <p:cNvSpPr/>
          <p:nvPr/>
        </p:nvSpPr>
        <p:spPr>
          <a:xfrm>
            <a:off x="2700000" y="6300000"/>
            <a:ext cx="5400000" cy="28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Tx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Times New Roman"/>
                <a:cs typeface="Arial" panose="020B0604020202020204" pitchFamily="34" charset="0"/>
                <a:sym typeface="Times New Roman"/>
              </a:rPr>
              <a:t>Chapter 2.3: Hazard Identification</a:t>
            </a:r>
          </a:p>
        </p:txBody>
      </p:sp>
      <p:pic>
        <p:nvPicPr>
          <p:cNvPr id="10" name="Picture 9" descr="مهارات القرن الحادي والعشرين">
            <a:extLst>
              <a:ext uri="{FF2B5EF4-FFF2-40B4-BE49-F238E27FC236}">
                <a16:creationId xmlns:a16="http://schemas.microsoft.com/office/drawing/2014/main" id="{EEF096C3-4A19-4A70-85E2-0905B1545E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2923" y="820535"/>
            <a:ext cx="2028122" cy="152109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5861" y="4641481"/>
            <a:ext cx="4371296" cy="15594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1829" y="2485627"/>
            <a:ext cx="2158171" cy="2011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505649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80000" y="180000"/>
            <a:ext cx="8640000" cy="504000"/>
          </a:xfrm>
          <a:prstGeom prst="rect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txBody>
          <a:bodyPr anchor="ctr"/>
          <a:lstStyle>
            <a:lvl1pPr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w Cen MT" panose="020B0602020104020603" pitchFamily="34" charset="0"/>
              </a:defRPr>
            </a:lvl1pPr>
            <a:lvl2pPr marL="742950" indent="-28575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w Cen MT" panose="020B0602020104020603" pitchFamily="34" charset="0"/>
              </a:defRPr>
            </a:lvl2pPr>
            <a:lvl3pPr marL="11430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Tw Cen MT" panose="020B0602020104020603" pitchFamily="34" charset="0"/>
              </a:defRPr>
            </a:lvl3pPr>
            <a:lvl4pPr marL="16002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4pPr>
            <a:lvl5pPr marL="2057400" indent="-228600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5pPr>
            <a:lvl6pPr marL="25146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6pPr>
            <a:lvl7pPr marL="29718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7pPr>
            <a:lvl8pPr marL="34290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8pPr>
            <a:lvl9pPr marL="3886200" indent="-228600" eaLnBrk="0" fontAlgn="base" hangingPunct="0">
              <a:lnSpc>
                <a:spcPct val="12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Font typeface="Arial" panose="020B0604020202020204" pitchFamily="34" charset="0"/>
              <a:buChar char="•"/>
              <a:defRPr sz="1400">
                <a:solidFill>
                  <a:schemeClr val="tx1"/>
                </a:solidFill>
                <a:latin typeface="Tw Cen MT" panose="020B0602020104020603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4077953517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905</Words>
  <Application>Microsoft Office PowerPoint</Application>
  <PresentationFormat>On-screen Show (4:3)</PresentationFormat>
  <Paragraphs>217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ＭＳ Ｐゴシック</vt:lpstr>
      <vt:lpstr>Arial</vt:lpstr>
      <vt:lpstr>Calibri</vt:lpstr>
      <vt:lpstr>Noto Sans Symbols</vt:lpstr>
      <vt:lpstr>Times New Roman</vt:lpstr>
      <vt:lpstr>Wingdings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 Becoming a Leader in Risk Management</dc:title>
  <dc:creator>JR Cocchio</dc:creator>
  <cp:lastModifiedBy>John Cocchio</cp:lastModifiedBy>
  <cp:revision>43</cp:revision>
  <dcterms:created xsi:type="dcterms:W3CDTF">2011-09-07T03:22:54Z</dcterms:created>
  <dcterms:modified xsi:type="dcterms:W3CDTF">2022-05-02T19:11:47Z</dcterms:modified>
</cp:coreProperties>
</file>