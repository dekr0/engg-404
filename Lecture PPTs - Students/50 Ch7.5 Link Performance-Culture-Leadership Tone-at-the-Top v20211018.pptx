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6858000" cx="91440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76">
          <p15:clr>
            <a:srgbClr val="A4A3A4"/>
          </p15:clr>
        </p15:guide>
        <p15:guide id="2" pos="3792">
          <p15:clr>
            <a:srgbClr val="A4A3A4"/>
          </p15:clr>
        </p15:guide>
      </p15:sldGuideLst>
    </p:ext>
    <p:ext uri="{2D200454-40CA-4A62-9FC3-DE9A4176ACB9}">
      <p15:notesGuideLst>
        <p15:guide id="1" orient="horz" pos="2928">
          <p15:clr>
            <a:srgbClr val="A4A3A4"/>
          </p15:clr>
        </p15:guide>
        <p15:guide id="2" pos="2209">
          <p15:clr>
            <a:srgbClr val="A4A3A4"/>
          </p15:clr>
        </p15:guide>
      </p15:notesGuideLst>
    </p:ext>
    <p:ext uri="http://customooxmlschemas.google.com/">
      <go:slidesCustomData xmlns:go="http://customooxmlschemas.google.com/" r:id="rId51" roundtripDataSignature="AMtx7mgDAZgrbWW5j52VDcQh/bGGNrUb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 orient="horz"/>
        <p:guide pos="3792"/>
      </p:guideLst>
    </p:cSldViewPr>
  </p:slideViewPr>
  <p:notesViewPr>
    <p:cSldViewPr snapToGrid="0">
      <p:cViewPr varScale="1">
        <p:scale>
          <a:sx n="100" d="100"/>
          <a:sy n="100" d="100"/>
        </p:scale>
        <p:origin x="0" y="0"/>
      </p:cViewPr>
      <p:guideLst>
        <p:guide pos="2928" orient="horz"/>
        <p:guide pos="2209"/>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slide" Target="slides/slide4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971654" y="1"/>
            <a:ext cx="3037146" cy="464504"/>
          </a:xfrm>
          <a:prstGeom prst="rect">
            <a:avLst/>
          </a:prstGeom>
          <a:noFill/>
          <a:ln>
            <a:noFill/>
          </a:ln>
        </p:spPr>
        <p:txBody>
          <a:bodyPr anchorCtr="0" anchor="t" bIns="46550" lIns="93125" spcFirstLastPara="1" rIns="93125" wrap="square" tIns="4655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lvl1pPr indent="-228600" lvl="0" marL="4572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1pPr>
            <a:lvl2pPr indent="-228600" lvl="1" marL="9144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2pPr>
            <a:lvl3pPr indent="-228600" lvl="2" marL="13716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3pPr>
            <a:lvl4pPr indent="-228600" lvl="3" marL="18288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4pPr>
            <a:lvl5pPr indent="-228600" lvl="4" marL="22860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9" name="Google Shape;49;p2: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72" name="Google Shape;72;p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81" name="Google Shape;81;p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latin typeface="Arial"/>
                <a:ea typeface="Arial"/>
                <a:cs typeface="Arial"/>
                <a:sym typeface="Arial"/>
              </a:rPr>
              <a:t>Who can tell me in their own words what culture means to you?</a:t>
            </a:r>
            <a:endParaRPr/>
          </a:p>
          <a:p>
            <a:pPr indent="0" lvl="0" marL="0" rtl="0" algn="l">
              <a:spcBef>
                <a:spcPts val="300"/>
              </a:spcBef>
              <a:spcAft>
                <a:spcPts val="0"/>
              </a:spcAft>
              <a:buNone/>
            </a:pPr>
            <a:r>
              <a:rPr lang="en-US">
                <a:latin typeface="Arial"/>
                <a:ea typeface="Arial"/>
                <a:cs typeface="Arial"/>
                <a:sym typeface="Arial"/>
              </a:rPr>
              <a:t>The manner in which we act around others is a manifestation of our values, beliefs, opinions, attitudes, training, education, etc. It also includes our exposure to others and their cultures – ethnic as well as workplaces, teams, volunteer organizations, religious organizations, and so on. </a:t>
            </a:r>
            <a:endParaRPr>
              <a:latin typeface="Arial"/>
              <a:ea typeface="Arial"/>
              <a:cs typeface="Arial"/>
              <a:sym typeface="Arial"/>
            </a:endParaRPr>
          </a:p>
          <a:p>
            <a:pPr indent="0" lvl="0" marL="0" rtl="0" algn="l">
              <a:spcBef>
                <a:spcPts val="300"/>
              </a:spcBef>
              <a:spcAft>
                <a:spcPts val="0"/>
              </a:spcAft>
              <a:buNone/>
            </a:pPr>
            <a:r>
              <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txBox="1"/>
          <p:nvPr>
            <p:ph idx="2" type="hdr"/>
          </p:nvPr>
        </p:nvSpPr>
        <p:spPr>
          <a:xfrm>
            <a:off x="0" y="1"/>
            <a:ext cx="3015122" cy="464901"/>
          </a:xfrm>
          <a:prstGeom prst="rect">
            <a:avLst/>
          </a:prstGeom>
          <a:noFill/>
          <a:ln>
            <a:noFill/>
          </a:ln>
        </p:spPr>
        <p:txBody>
          <a:bodyPr anchorCtr="0" anchor="t" bIns="46450" lIns="92900" spcFirstLastPara="1" rIns="92900" wrap="square" tIns="464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2015-2016</a:t>
            </a:r>
            <a:endParaRPr b="0" i="0" sz="1200" u="none" cap="none" strike="noStrike">
              <a:solidFill>
                <a:srgbClr val="000000"/>
              </a:solidFill>
              <a:latin typeface="Calibri"/>
              <a:ea typeface="Calibri"/>
              <a:cs typeface="Calibri"/>
              <a:sym typeface="Calibri"/>
            </a:endParaRPr>
          </a:p>
        </p:txBody>
      </p:sp>
      <p:sp>
        <p:nvSpPr>
          <p:cNvPr id="90" name="Google Shape;90;p5:notes"/>
          <p:cNvSpPr txBox="1"/>
          <p:nvPr>
            <p:ph idx="12" type="sldNum"/>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91" name="Google Shape;91;p5:notes"/>
          <p:cNvSpPr txBox="1"/>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92" name="Google Shape;92;p5:notes"/>
          <p:cNvSpPr/>
          <p:nvPr>
            <p:ph idx="3"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5:notes"/>
          <p:cNvSpPr txBox="1"/>
          <p:nvPr>
            <p:ph idx="1" type="body"/>
          </p:nvPr>
        </p:nvSpPr>
        <p:spPr>
          <a:xfrm>
            <a:off x="927730" y="4424471"/>
            <a:ext cx="5099378" cy="4188858"/>
          </a:xfrm>
          <a:prstGeom prst="rect">
            <a:avLst/>
          </a:prstGeom>
          <a:noFill/>
          <a:ln>
            <a:noFill/>
          </a:ln>
        </p:spPr>
        <p:txBody>
          <a:bodyPr anchorCtr="0" anchor="t" bIns="46450" lIns="92900" spcFirstLastPara="1" rIns="92900" wrap="square" tIns="46450">
            <a:noAutofit/>
          </a:bodyPr>
          <a:lstStyle/>
          <a:p>
            <a:pPr indent="-285750" lvl="0" marL="285750" marR="0" rtl="0" algn="l">
              <a:lnSpc>
                <a:spcPct val="100000"/>
              </a:lnSpc>
              <a:spcBef>
                <a:spcPts val="0"/>
              </a:spcBef>
              <a:spcAft>
                <a:spcPts val="0"/>
              </a:spcAft>
              <a:buClr>
                <a:srgbClr val="000000"/>
              </a:buClr>
              <a:buSzPts val="2000"/>
              <a:buFont typeface="Noto Sans Symbols"/>
              <a:buChar char="⮚"/>
            </a:pPr>
            <a:r>
              <a:rPr b="0" i="0" lang="en-US" sz="1000" u="none" cap="none" strike="noStrike">
                <a:solidFill>
                  <a:srgbClr val="000000"/>
                </a:solidFill>
                <a:latin typeface="Arial"/>
                <a:ea typeface="Arial"/>
                <a:cs typeface="Arial"/>
                <a:sym typeface="Arial"/>
              </a:rPr>
              <a:t>The path to </a:t>
            </a:r>
            <a:r>
              <a:rPr b="0" i="0" lang="en-US" sz="1000" u="sng" cap="none" strike="noStrike">
                <a:solidFill>
                  <a:srgbClr val="000000"/>
                </a:solidFill>
                <a:latin typeface="Arial"/>
                <a:ea typeface="Arial"/>
                <a:cs typeface="Arial"/>
                <a:sym typeface="Arial"/>
              </a:rPr>
              <a:t>unwanted outcomes</a:t>
            </a:r>
            <a:r>
              <a:rPr b="0" i="0" lang="en-US" sz="1000" u="none" cap="none" strike="noStrike">
                <a:solidFill>
                  <a:srgbClr val="000000"/>
                </a:solidFill>
                <a:latin typeface="Arial"/>
                <a:ea typeface="Arial"/>
                <a:cs typeface="Arial"/>
                <a:sym typeface="Arial"/>
              </a:rPr>
              <a:t> for an organization is </a:t>
            </a:r>
            <a:r>
              <a:rPr b="0" i="0" lang="en-US" sz="1000" u="sng" cap="none" strike="noStrike">
                <a:solidFill>
                  <a:srgbClr val="000000"/>
                </a:solidFill>
                <a:latin typeface="Arial"/>
                <a:ea typeface="Arial"/>
                <a:cs typeface="Arial"/>
                <a:sym typeface="Arial"/>
              </a:rPr>
              <a:t>due to weaknesses</a:t>
            </a:r>
            <a:r>
              <a:rPr b="0" i="0" lang="en-US" sz="1000" u="none" cap="none" strike="noStrike">
                <a:solidFill>
                  <a:srgbClr val="000000"/>
                </a:solidFill>
                <a:latin typeface="Arial"/>
                <a:ea typeface="Arial"/>
                <a:cs typeface="Arial"/>
                <a:sym typeface="Arial"/>
              </a:rPr>
              <a:t> in the defenses provided by the culture, management system, and supporting management processes and management programs.  </a:t>
            </a:r>
            <a:endParaRPr/>
          </a:p>
          <a:p>
            <a:pPr indent="-285750" lvl="0" marL="285750" marR="0" rtl="0" algn="l">
              <a:lnSpc>
                <a:spcPct val="100000"/>
              </a:lnSpc>
              <a:spcBef>
                <a:spcPts val="0"/>
              </a:spcBef>
              <a:spcAft>
                <a:spcPts val="0"/>
              </a:spcAft>
              <a:buClr>
                <a:srgbClr val="000000"/>
              </a:buClr>
              <a:buSzPts val="2000"/>
              <a:buFont typeface="Noto Sans Symbols"/>
              <a:buChar char="⮚"/>
            </a:pPr>
            <a:r>
              <a:rPr b="0" i="0" lang="en-US" sz="1000" u="none" cap="none" strike="noStrike">
                <a:solidFill>
                  <a:srgbClr val="000000"/>
                </a:solidFill>
                <a:latin typeface="Arial"/>
                <a:ea typeface="Arial"/>
                <a:cs typeface="Arial"/>
                <a:sym typeface="Arial"/>
              </a:rPr>
              <a:t>The residual level of risk is determined by the weakness in these defence layers.  </a:t>
            </a:r>
            <a:endParaRPr/>
          </a:p>
          <a:p>
            <a:pPr indent="-285750" lvl="0" marL="285750" marR="0" rtl="0" algn="l">
              <a:lnSpc>
                <a:spcPct val="100000"/>
              </a:lnSpc>
              <a:spcBef>
                <a:spcPts val="0"/>
              </a:spcBef>
              <a:spcAft>
                <a:spcPts val="0"/>
              </a:spcAft>
              <a:buClr>
                <a:srgbClr val="000000"/>
              </a:buClr>
              <a:buSzPts val="2000"/>
              <a:buFont typeface="Noto Sans Symbols"/>
              <a:buChar char="⮚"/>
            </a:pPr>
            <a:r>
              <a:rPr b="0" i="0" lang="en-US" sz="1000" u="none" cap="none" strike="noStrike">
                <a:solidFill>
                  <a:srgbClr val="000000"/>
                </a:solidFill>
                <a:latin typeface="Arial"/>
                <a:ea typeface="Arial"/>
                <a:cs typeface="Arial"/>
                <a:sym typeface="Arial"/>
              </a:rPr>
              <a:t>An unacceptable level of residual risk leads to undesired outcomes. </a:t>
            </a:r>
            <a:endParaRPr/>
          </a:p>
          <a:p>
            <a:pPr indent="-285750" lvl="0" marL="285750" marR="0" rtl="0" algn="l">
              <a:lnSpc>
                <a:spcPct val="100000"/>
              </a:lnSpc>
              <a:spcBef>
                <a:spcPts val="0"/>
              </a:spcBef>
              <a:spcAft>
                <a:spcPts val="0"/>
              </a:spcAft>
              <a:buClr>
                <a:srgbClr val="000000"/>
              </a:buClr>
              <a:buSzPts val="2000"/>
              <a:buFont typeface="Noto Sans Symbols"/>
              <a:buChar char="⮚"/>
            </a:pPr>
            <a:r>
              <a:rPr b="0" i="0" lang="en-US" sz="1000" u="none" cap="none" strike="noStrike">
                <a:solidFill>
                  <a:srgbClr val="000000"/>
                </a:solidFill>
                <a:latin typeface="Arial"/>
                <a:ea typeface="Arial"/>
                <a:cs typeface="Arial"/>
                <a:sym typeface="Arial"/>
              </a:rPr>
              <a:t>Thus, not only must leaders work on the management systems, processes, and programs, leaders must also build and promote a positive safety culture! </a:t>
            </a:r>
            <a:endParaRPr/>
          </a:p>
          <a:p>
            <a:pPr indent="0" lvl="0" marL="0" rtl="0" algn="l">
              <a:spcBef>
                <a:spcPts val="0"/>
              </a:spcBef>
              <a:spcAft>
                <a:spcPts val="0"/>
              </a:spcAft>
              <a:buClr>
                <a:schemeClr val="dk1"/>
              </a:buClr>
              <a:buSzPts val="1000"/>
              <a:buFont typeface="Calibri"/>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2" type="hdr"/>
          </p:nvPr>
        </p:nvSpPr>
        <p:spPr>
          <a:xfrm>
            <a:off x="0" y="1"/>
            <a:ext cx="3015122" cy="464901"/>
          </a:xfrm>
          <a:prstGeom prst="rect">
            <a:avLst/>
          </a:prstGeom>
          <a:noFill/>
          <a:ln>
            <a:noFill/>
          </a:ln>
        </p:spPr>
        <p:txBody>
          <a:bodyPr anchorCtr="0" anchor="t" bIns="46450" lIns="92900" spcFirstLastPara="1" rIns="92900" wrap="square" tIns="464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2015-2016</a:t>
            </a:r>
            <a:endParaRPr b="0" i="0" sz="1200" u="none" cap="none" strike="noStrike">
              <a:solidFill>
                <a:srgbClr val="000000"/>
              </a:solidFill>
              <a:latin typeface="Calibri"/>
              <a:ea typeface="Calibri"/>
              <a:cs typeface="Calibri"/>
              <a:sym typeface="Calibri"/>
            </a:endParaRPr>
          </a:p>
        </p:txBody>
      </p:sp>
      <p:sp>
        <p:nvSpPr>
          <p:cNvPr id="116" name="Google Shape;116;p6:notes"/>
          <p:cNvSpPr txBox="1"/>
          <p:nvPr>
            <p:ph idx="12" type="sldNum"/>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117" name="Google Shape;117;p6:notes"/>
          <p:cNvSpPr txBox="1"/>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118" name="Google Shape;118;p6:notes"/>
          <p:cNvSpPr/>
          <p:nvPr>
            <p:ph idx="3"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6:notes"/>
          <p:cNvSpPr txBox="1"/>
          <p:nvPr>
            <p:ph idx="1" type="body"/>
          </p:nvPr>
        </p:nvSpPr>
        <p:spPr>
          <a:xfrm>
            <a:off x="927730" y="4424471"/>
            <a:ext cx="5099378" cy="4188858"/>
          </a:xfrm>
          <a:prstGeom prst="rect">
            <a:avLst/>
          </a:prstGeom>
          <a:noFill/>
          <a:ln>
            <a:noFill/>
          </a:ln>
        </p:spPr>
        <p:txBody>
          <a:bodyPr anchorCtr="0" anchor="t" bIns="46450" lIns="92900" spcFirstLastPara="1" rIns="92900" wrap="square" tIns="46450">
            <a:noAutofit/>
          </a:bodyPr>
          <a:lstStyle/>
          <a:p>
            <a:pPr indent="-285750" lvl="0" marL="285750" marR="0" rtl="0" algn="l">
              <a:lnSpc>
                <a:spcPct val="100000"/>
              </a:lnSpc>
              <a:spcBef>
                <a:spcPts val="0"/>
              </a:spcBef>
              <a:spcAft>
                <a:spcPts val="0"/>
              </a:spcAft>
              <a:buClr>
                <a:srgbClr val="000000"/>
              </a:buClr>
              <a:buSzPts val="2000"/>
              <a:buFont typeface="Noto Sans Symbols"/>
              <a:buChar char="⮚"/>
            </a:pPr>
            <a:r>
              <a:rPr b="0" i="0" lang="en-US" sz="1000" u="none" cap="none" strike="noStrike">
                <a:solidFill>
                  <a:srgbClr val="000000"/>
                </a:solidFill>
                <a:latin typeface="Arial"/>
                <a:ea typeface="Arial"/>
                <a:cs typeface="Arial"/>
                <a:sym typeface="Arial"/>
              </a:rPr>
              <a:t>The path to </a:t>
            </a:r>
            <a:r>
              <a:rPr b="0" i="0" lang="en-US" sz="1000" u="sng" cap="none" strike="noStrike">
                <a:solidFill>
                  <a:srgbClr val="000000"/>
                </a:solidFill>
                <a:latin typeface="Arial"/>
                <a:ea typeface="Arial"/>
                <a:cs typeface="Arial"/>
                <a:sym typeface="Arial"/>
              </a:rPr>
              <a:t>unwanted outcomes</a:t>
            </a:r>
            <a:r>
              <a:rPr b="0" i="0" lang="en-US" sz="1000" u="none" cap="none" strike="noStrike">
                <a:solidFill>
                  <a:srgbClr val="000000"/>
                </a:solidFill>
                <a:latin typeface="Arial"/>
                <a:ea typeface="Arial"/>
                <a:cs typeface="Arial"/>
                <a:sym typeface="Arial"/>
              </a:rPr>
              <a:t> for an organization is </a:t>
            </a:r>
            <a:r>
              <a:rPr b="0" i="0" lang="en-US" sz="1000" u="sng" cap="none" strike="noStrike">
                <a:solidFill>
                  <a:srgbClr val="000000"/>
                </a:solidFill>
                <a:latin typeface="Arial"/>
                <a:ea typeface="Arial"/>
                <a:cs typeface="Arial"/>
                <a:sym typeface="Arial"/>
              </a:rPr>
              <a:t>due to weaknesses</a:t>
            </a:r>
            <a:r>
              <a:rPr b="0" i="0" lang="en-US" sz="1000" u="none" cap="none" strike="noStrike">
                <a:solidFill>
                  <a:srgbClr val="000000"/>
                </a:solidFill>
                <a:latin typeface="Arial"/>
                <a:ea typeface="Arial"/>
                <a:cs typeface="Arial"/>
                <a:sym typeface="Arial"/>
              </a:rPr>
              <a:t> in the defenses provided by the culture, management system, and supporting management processes and management programs.  </a:t>
            </a:r>
            <a:endParaRPr/>
          </a:p>
          <a:p>
            <a:pPr indent="-285750" lvl="0" marL="285750" marR="0" rtl="0" algn="l">
              <a:lnSpc>
                <a:spcPct val="100000"/>
              </a:lnSpc>
              <a:spcBef>
                <a:spcPts val="0"/>
              </a:spcBef>
              <a:spcAft>
                <a:spcPts val="0"/>
              </a:spcAft>
              <a:buClr>
                <a:srgbClr val="000000"/>
              </a:buClr>
              <a:buSzPts val="2000"/>
              <a:buFont typeface="Noto Sans Symbols"/>
              <a:buChar char="⮚"/>
            </a:pPr>
            <a:r>
              <a:rPr b="0" i="0" lang="en-US" sz="1000" u="none" cap="none" strike="noStrike">
                <a:solidFill>
                  <a:srgbClr val="000000"/>
                </a:solidFill>
                <a:latin typeface="Arial"/>
                <a:ea typeface="Arial"/>
                <a:cs typeface="Arial"/>
                <a:sym typeface="Arial"/>
              </a:rPr>
              <a:t>The residual level of risk is determined by the weakness in these defence layers.  </a:t>
            </a:r>
            <a:endParaRPr/>
          </a:p>
          <a:p>
            <a:pPr indent="-285750" lvl="0" marL="285750" marR="0" rtl="0" algn="l">
              <a:lnSpc>
                <a:spcPct val="100000"/>
              </a:lnSpc>
              <a:spcBef>
                <a:spcPts val="0"/>
              </a:spcBef>
              <a:spcAft>
                <a:spcPts val="0"/>
              </a:spcAft>
              <a:buClr>
                <a:srgbClr val="000000"/>
              </a:buClr>
              <a:buSzPts val="2000"/>
              <a:buFont typeface="Noto Sans Symbols"/>
              <a:buChar char="⮚"/>
            </a:pPr>
            <a:r>
              <a:rPr b="0" i="0" lang="en-US" sz="1000" u="none" cap="none" strike="noStrike">
                <a:solidFill>
                  <a:srgbClr val="000000"/>
                </a:solidFill>
                <a:latin typeface="Arial"/>
                <a:ea typeface="Arial"/>
                <a:cs typeface="Arial"/>
                <a:sym typeface="Arial"/>
              </a:rPr>
              <a:t>An unacceptable level of residual risk leads to undesired outcomes. </a:t>
            </a:r>
            <a:endParaRPr/>
          </a:p>
          <a:p>
            <a:pPr indent="-285750" lvl="0" marL="285750" marR="0" rtl="0" algn="l">
              <a:lnSpc>
                <a:spcPct val="100000"/>
              </a:lnSpc>
              <a:spcBef>
                <a:spcPts val="0"/>
              </a:spcBef>
              <a:spcAft>
                <a:spcPts val="0"/>
              </a:spcAft>
              <a:buClr>
                <a:srgbClr val="000000"/>
              </a:buClr>
              <a:buSzPts val="2000"/>
              <a:buFont typeface="Noto Sans Symbols"/>
              <a:buChar char="⮚"/>
            </a:pPr>
            <a:r>
              <a:rPr b="0" i="0" lang="en-US" sz="1000" u="none" cap="none" strike="noStrike">
                <a:solidFill>
                  <a:srgbClr val="000000"/>
                </a:solidFill>
                <a:latin typeface="Arial"/>
                <a:ea typeface="Arial"/>
                <a:cs typeface="Arial"/>
                <a:sym typeface="Arial"/>
              </a:rPr>
              <a:t>Thus, not only must leaders work on the management systems, processes, and programs, leaders must also build and promote a positive safety culture! </a:t>
            </a:r>
            <a:endParaRPr/>
          </a:p>
          <a:p>
            <a:pPr indent="0" lvl="0" marL="0" rtl="0" algn="l">
              <a:spcBef>
                <a:spcPts val="0"/>
              </a:spcBef>
              <a:spcAft>
                <a:spcPts val="0"/>
              </a:spcAft>
              <a:buClr>
                <a:schemeClr val="dk1"/>
              </a:buClr>
              <a:buSzPts val="1000"/>
              <a:buFont typeface="Calibri"/>
              <a:buNone/>
            </a:pPr>
            <a:r>
              <a:t/>
            </a:r>
            <a:endParaRPr/>
          </a:p>
          <a:p>
            <a:pPr indent="0" lvl="0" marL="0" rtl="0" algn="l">
              <a:spcBef>
                <a:spcPts val="0"/>
              </a:spcBef>
              <a:spcAft>
                <a:spcPts val="0"/>
              </a:spcAft>
              <a:buClr>
                <a:schemeClr val="dk1"/>
              </a:buClr>
              <a:buSzPts val="1000"/>
              <a:buFont typeface="Calibri"/>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41" name="Google Shape;141;p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58" name="Google Shape;158;p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8: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67" name="Google Shape;167;p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9: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176" name="Google Shape;176;p1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186" name="Google Shape;186;p11: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187" name="Google Shape;187;p11: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188" name="Google Shape;188;p11: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189" name="Google Shape;189;p11: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1: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t>Let’s examine a possible decision pathway that a leader faces. The organization has a set of administrative controls; these document the most effective way, the efficient way to do work with acceptable level of risk to do work. The leader can choose to either: a) disregard these administrative controls in terms of not following them or not insisting that the workers follow them, or b) accept these administrative controls, follow them, and insist that the workers follow and comply with them. </a:t>
            </a:r>
            <a:endParaRPr/>
          </a:p>
          <a:p>
            <a:pPr indent="0" lvl="0" marL="0" rtl="0" algn="l">
              <a:spcBef>
                <a:spcPts val="300"/>
              </a:spcBef>
              <a:spcAft>
                <a:spcPts val="0"/>
              </a:spcAft>
              <a:buNone/>
            </a:pPr>
            <a:r>
              <a:t/>
            </a:r>
            <a:endParaRPr/>
          </a:p>
          <a:p>
            <a:pPr indent="0" lvl="0" marL="0" rtl="0" algn="l">
              <a:spcBef>
                <a:spcPts val="300"/>
              </a:spcBef>
              <a:spcAft>
                <a:spcPts val="0"/>
              </a:spcAft>
              <a:buNone/>
            </a:pPr>
            <a:r>
              <a:rPr lang="en-US"/>
              <a:t>The “YES” pathway results in a positive culture, the “NO” pathway results in a negative culture. In both cases, the leader set the example; therefore it is of utmost importance for leader to “lead by example”, the right example in order for the organization to be successful. </a:t>
            </a:r>
            <a:endParaRPr/>
          </a:p>
          <a:p>
            <a:pPr indent="0" lvl="0" marL="0" rtl="0" algn="l">
              <a:spcBef>
                <a:spcPts val="3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2: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209" name="Google Shape;209;p12: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210" name="Google Shape;210;p12: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211" name="Google Shape;211;p12: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212" name="Google Shape;212;p12: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2: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t>Let’s examine a possible decision pathway that a leader faces. The organization has a number of engineering controls installed in the facility. These engineering controls manage hazards and risks associated with the operations of the facility. The leader can choose to either: a) allow the engineering controls to degrade (deteriorate, fall into a state of disrepair) or b) actively check / inspect, maintain, and repair the engineering controls to ensure that the hazards and risks are being controlled to an acceptable level, per the design intent of the engineering controls. </a:t>
            </a:r>
            <a:endParaRPr/>
          </a:p>
          <a:p>
            <a:pPr indent="0" lvl="0" marL="0" rtl="0" algn="l">
              <a:spcBef>
                <a:spcPts val="300"/>
              </a:spcBef>
              <a:spcAft>
                <a:spcPts val="0"/>
              </a:spcAft>
              <a:buNone/>
            </a:pPr>
            <a:r>
              <a:t/>
            </a:r>
            <a:endParaRPr/>
          </a:p>
          <a:p>
            <a:pPr indent="0" lvl="0" marL="0" rtl="0" algn="l">
              <a:spcBef>
                <a:spcPts val="300"/>
              </a:spcBef>
              <a:spcAft>
                <a:spcPts val="0"/>
              </a:spcAft>
              <a:buNone/>
            </a:pPr>
            <a:r>
              <a:rPr lang="en-US"/>
              <a:t>The “YES” pathway results in a positive culture, the “NO” pathway results in a negative culture. In both cases, the leader set the example; therefore it is of utmost importance for leader to “lead by example”, the right example in order for the organization to be successful.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232" name="Google Shape;232;p1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4: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ENGG406 2015W</a:t>
            </a:r>
            <a:endParaRPr/>
          </a:p>
        </p:txBody>
      </p:sp>
      <p:sp>
        <p:nvSpPr>
          <p:cNvPr id="243" name="Google Shape;243;p14: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3-March-2015</a:t>
            </a:r>
            <a:endParaRPr/>
          </a:p>
        </p:txBody>
      </p:sp>
      <p:sp>
        <p:nvSpPr>
          <p:cNvPr id="244" name="Google Shape;244;p14: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45" name="Google Shape;245;p14: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246" name="Google Shape;246;p14: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14: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ENGG406 2015W</a:t>
            </a:r>
            <a:endParaRPr/>
          </a:p>
        </p:txBody>
      </p:sp>
      <p:sp>
        <p:nvSpPr>
          <p:cNvPr id="255" name="Google Shape;255;p15: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3-March-2015</a:t>
            </a:r>
            <a:endParaRPr/>
          </a:p>
        </p:txBody>
      </p:sp>
      <p:sp>
        <p:nvSpPr>
          <p:cNvPr id="256" name="Google Shape;256;p15: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57" name="Google Shape;257;p15: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258" name="Google Shape;258;p15: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15: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267" name="Google Shape;267;p1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1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276" name="Google Shape;276;p1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1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t>Two basic measures of workplace injury and disease risks are LTC and DI rates.</a:t>
            </a:r>
            <a:endParaRPr/>
          </a:p>
          <a:p>
            <a:pPr indent="0" lvl="0" marL="0" rtl="0" algn="l">
              <a:spcBef>
                <a:spcPts val="300"/>
              </a:spcBef>
              <a:spcAft>
                <a:spcPts val="0"/>
              </a:spcAft>
              <a:buNone/>
            </a:pPr>
            <a:r>
              <a:rPr lang="en-US"/>
              <a:t>These rates represent the number of injury or disease claims per 100 person-years worked.</a:t>
            </a:r>
            <a:endParaRPr/>
          </a:p>
          <a:p>
            <a:pPr indent="0" lvl="0" marL="0" rtl="0" algn="l">
              <a:spcBef>
                <a:spcPts val="300"/>
              </a:spcBef>
              <a:spcAft>
                <a:spcPts val="0"/>
              </a:spcAft>
              <a:buNone/>
            </a:pPr>
            <a:r>
              <a:rPr lang="en-US"/>
              <a:t>DIs include LTCs and modified-work claims. The LTC rate of Alberta workplaces increased from 1.42 in 2017 to 1.46 in 2018. The DI rate increased from 2.67 in 2017 to 2.71 in 2018. Compared to 2009, the current LTC rate decreased 8.2 per cent (1.59 in 2009 versus 1.46 in 2018); and the DI rate decreased 4.6 per cent (2.84 in 2009 versus 2.71 in 2018).</a:t>
            </a:r>
            <a:endParaRPr/>
          </a:p>
          <a:p>
            <a:pPr indent="0" lvl="0" marL="0" rtl="0" algn="l">
              <a:spcBef>
                <a:spcPts val="300"/>
              </a:spcBef>
              <a:spcAft>
                <a:spcPts val="0"/>
              </a:spcAft>
              <a:buNone/>
            </a:pPr>
            <a:r>
              <a:rPr lang="en-US"/>
              <a:t>Several factors can contribute to changes in LTC and DI rates, including but not limited to:</a:t>
            </a:r>
            <a:endParaRPr/>
          </a:p>
          <a:p>
            <a:pPr indent="-171450" lvl="0" marL="171450" rtl="0" algn="l">
              <a:spcBef>
                <a:spcPts val="300"/>
              </a:spcBef>
              <a:spcAft>
                <a:spcPts val="0"/>
              </a:spcAft>
              <a:buClr>
                <a:schemeClr val="dk1"/>
              </a:buClr>
              <a:buSzPts val="1000"/>
              <a:buFont typeface="Arial"/>
              <a:buChar char="•"/>
            </a:pPr>
            <a:r>
              <a:rPr lang="en-US"/>
              <a:t>changes in workplace health and safety culture</a:t>
            </a:r>
            <a:endParaRPr/>
          </a:p>
          <a:p>
            <a:pPr indent="-171450" lvl="0" marL="171450" rtl="0" algn="l">
              <a:spcBef>
                <a:spcPts val="300"/>
              </a:spcBef>
              <a:spcAft>
                <a:spcPts val="0"/>
              </a:spcAft>
              <a:buClr>
                <a:schemeClr val="dk1"/>
              </a:buClr>
              <a:buSzPts val="1000"/>
              <a:buFont typeface="Arial"/>
              <a:buChar char="•"/>
            </a:pPr>
            <a:r>
              <a:rPr lang="en-US"/>
              <a:t>enhanced OHS compliance</a:t>
            </a:r>
            <a:endParaRPr/>
          </a:p>
          <a:p>
            <a:pPr indent="-171450" lvl="0" marL="171450" rtl="0" algn="l">
              <a:spcBef>
                <a:spcPts val="300"/>
              </a:spcBef>
              <a:spcAft>
                <a:spcPts val="0"/>
              </a:spcAft>
              <a:buClr>
                <a:schemeClr val="dk1"/>
              </a:buClr>
              <a:buSzPts val="1000"/>
              <a:buFont typeface="Arial"/>
              <a:buChar char="•"/>
            </a:pPr>
            <a:r>
              <a:rPr lang="en-US"/>
              <a:t>improved support for modified-work arrangements</a:t>
            </a:r>
            <a:endParaRPr/>
          </a:p>
          <a:p>
            <a:pPr indent="-171450" lvl="0" marL="171450" rtl="0" algn="l">
              <a:spcBef>
                <a:spcPts val="300"/>
              </a:spcBef>
              <a:spcAft>
                <a:spcPts val="0"/>
              </a:spcAft>
              <a:buClr>
                <a:schemeClr val="dk1"/>
              </a:buClr>
              <a:buSzPts val="1000"/>
              <a:buFont typeface="Arial"/>
              <a:buChar char="•"/>
            </a:pPr>
            <a:r>
              <a:rPr lang="en-US"/>
              <a:t>industry-led initiatives to improve workers’ health and safety</a:t>
            </a: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286" name="Google Shape;286;p1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8: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t>In 2018, the number of occupational fatalities was 126, down 24.6 per cent from 167 in 2017. The fatality rate is the number of fatalities per million person-years worked. The fatality rate decreased from 90 in 2017 to 67 in 2018.</a:t>
            </a:r>
            <a:endParaRPr/>
          </a:p>
          <a:p>
            <a:pPr indent="0" lvl="0" marL="0" rtl="0" algn="l">
              <a:spcBef>
                <a:spcPts val="300"/>
              </a:spcBef>
              <a:spcAft>
                <a:spcPts val="0"/>
              </a:spcAft>
              <a:buNone/>
            </a:pPr>
            <a:r>
              <a:rPr lang="en-US"/>
              <a:t>Occupational fatalities are classified into three general types: motor vehicle incidents, workplace incidents and occupational disease.</a:t>
            </a:r>
            <a:endParaRPr/>
          </a:p>
          <a:p>
            <a:pPr indent="0" lvl="0" marL="0" rtl="0" algn="l">
              <a:spcBef>
                <a:spcPts val="300"/>
              </a:spcBef>
              <a:spcAft>
                <a:spcPts val="0"/>
              </a:spcAft>
              <a:buNone/>
            </a:pPr>
            <a:r>
              <a:rPr lang="en-US"/>
              <a:t>The proportion of fatalities by type in 2018 was:</a:t>
            </a:r>
            <a:endParaRPr/>
          </a:p>
          <a:p>
            <a:pPr indent="-171450" lvl="0" marL="171450" rtl="0" algn="l">
              <a:spcBef>
                <a:spcPts val="300"/>
              </a:spcBef>
              <a:spcAft>
                <a:spcPts val="0"/>
              </a:spcAft>
              <a:buClr>
                <a:schemeClr val="dk1"/>
              </a:buClr>
              <a:buSzPts val="1000"/>
              <a:buFont typeface="Arial"/>
              <a:buChar char="•"/>
            </a:pPr>
            <a:r>
              <a:rPr lang="en-US"/>
              <a:t>Occupational diseases – 45.2%</a:t>
            </a:r>
            <a:endParaRPr/>
          </a:p>
          <a:p>
            <a:pPr indent="-171450" lvl="0" marL="171450" rtl="0" algn="l">
              <a:spcBef>
                <a:spcPts val="300"/>
              </a:spcBef>
              <a:spcAft>
                <a:spcPts val="0"/>
              </a:spcAft>
              <a:buClr>
                <a:schemeClr val="dk1"/>
              </a:buClr>
              <a:buSzPts val="1000"/>
              <a:buFont typeface="Arial"/>
              <a:buChar char="•"/>
            </a:pPr>
            <a:r>
              <a:rPr lang="en-US"/>
              <a:t>Motor vehicle incidents – 21.4 %</a:t>
            </a:r>
            <a:endParaRPr/>
          </a:p>
          <a:p>
            <a:pPr indent="-171450" lvl="0" marL="171450" rtl="0" algn="l">
              <a:spcBef>
                <a:spcPts val="300"/>
              </a:spcBef>
              <a:spcAft>
                <a:spcPts val="0"/>
              </a:spcAft>
              <a:buClr>
                <a:schemeClr val="dk1"/>
              </a:buClr>
              <a:buSzPts val="1000"/>
              <a:buFont typeface="Arial"/>
              <a:buChar char="•"/>
            </a:pPr>
            <a:r>
              <a:rPr lang="en-US"/>
              <a:t>Workplace incidents – 33.3 %</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296" name="Google Shape;296;p1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9: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308" name="Google Shape;308;p2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2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latin typeface="Arial"/>
                <a:ea typeface="Arial"/>
                <a:cs typeface="Arial"/>
                <a:sym typeface="Arial"/>
              </a:rPr>
              <a:t>These two models are similar – increasing severity with fewer “counts” as one moves up. As was identified in the topic Chapter 6.2: Safety Metrics, </a:t>
            </a:r>
            <a:br>
              <a:rPr lang="en-US">
                <a:latin typeface="Arial"/>
                <a:ea typeface="Arial"/>
                <a:cs typeface="Arial"/>
                <a:sym typeface="Arial"/>
              </a:rPr>
            </a:br>
            <a:r>
              <a:rPr lang="en-US">
                <a:latin typeface="Arial"/>
                <a:ea typeface="Arial"/>
                <a:cs typeface="Arial"/>
                <a:sym typeface="Arial"/>
              </a:rPr>
              <a:t>Lagging and Leading Indicators, some sub-standard conditions and some standard practices are the “fast track to disaster”. </a:t>
            </a: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320" name="Google Shape;320;p2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2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336" name="Google Shape;336;p2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2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latin typeface="Arial"/>
                <a:ea typeface="Arial"/>
                <a:cs typeface="Arial"/>
                <a:sym typeface="Arial"/>
              </a:rPr>
              <a:t>Within each layer, some of those incidents have the potential to become fatalities. As a leader, you need to pay attention to the HiPo incidents.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2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643" name="Google Shape;643;p2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4" name="Google Shape;644;p2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marR="0" rtl="0" algn="l">
              <a:lnSpc>
                <a:spcPct val="100000"/>
              </a:lnSpc>
              <a:spcBef>
                <a:spcPts val="0"/>
              </a:spcBef>
              <a:spcAft>
                <a:spcPts val="0"/>
              </a:spcAft>
              <a:buClr>
                <a:schemeClr val="dk1"/>
              </a:buClr>
              <a:buSzPts val="1000"/>
              <a:buFont typeface="Arial"/>
              <a:buNone/>
            </a:pPr>
            <a:r>
              <a:rPr lang="en-US">
                <a:latin typeface="Arial"/>
                <a:ea typeface="Arial"/>
                <a:cs typeface="Arial"/>
                <a:sym typeface="Arial"/>
              </a:rPr>
              <a:t>In other words, there will be relatively few – a low number – of near miss incidents, sub-standard practices, and sub-standard conditions that have the potential to become a fatality. As each layer is examined, there will be relatively more as you move up the pyramid i.e. </a:t>
            </a:r>
            <a:endParaRPr/>
          </a:p>
          <a:p>
            <a:pPr indent="0" lvl="0" marL="0" rtl="0" algn="l">
              <a:spcBef>
                <a:spcPts val="300"/>
              </a:spcBef>
              <a:spcAft>
                <a:spcPts val="0"/>
              </a:spcAft>
              <a:buNone/>
            </a:pPr>
            <a:r>
              <a:rPr lang="en-US">
                <a:latin typeface="Arial"/>
                <a:ea typeface="Arial"/>
                <a:cs typeface="Arial"/>
                <a:sym typeface="Arial"/>
              </a:rPr>
              <a:t> more LTIs that have the potential to become a fatality.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2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653" name="Google Shape;653;p2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4" name="Google Shape;654;p2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marR="0" rtl="0" algn="l">
              <a:lnSpc>
                <a:spcPct val="100000"/>
              </a:lnSpc>
              <a:spcBef>
                <a:spcPts val="0"/>
              </a:spcBef>
              <a:spcAft>
                <a:spcPts val="0"/>
              </a:spcAft>
              <a:buClr>
                <a:schemeClr val="dk1"/>
              </a:buClr>
              <a:buSzPts val="1000"/>
              <a:buFont typeface="Arial"/>
              <a:buNone/>
            </a:pPr>
            <a:r>
              <a:rPr lang="en-US">
                <a:latin typeface="Arial"/>
                <a:ea typeface="Arial"/>
                <a:cs typeface="Arial"/>
                <a:sym typeface="Arial"/>
              </a:rPr>
              <a:t>In other words, there will be relatively few – a low number – of near miss incidents, sub-standard practices, and sub-standard conditions that have the potential to become a fatality. As each layer is examined, there will be relatively more as you move up the pyramid i.e. </a:t>
            </a:r>
            <a:endParaRPr/>
          </a:p>
          <a:p>
            <a:pPr indent="0" lvl="0" marL="0" rtl="0" algn="l">
              <a:spcBef>
                <a:spcPts val="300"/>
              </a:spcBef>
              <a:spcAft>
                <a:spcPts val="0"/>
              </a:spcAft>
              <a:buNone/>
            </a:pPr>
            <a:r>
              <a:rPr lang="en-US">
                <a:latin typeface="Arial"/>
                <a:ea typeface="Arial"/>
                <a:cs typeface="Arial"/>
                <a:sym typeface="Arial"/>
              </a:rPr>
              <a:t> more LTIs that have the potential to become a fatality.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25: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ENGG406 2015W</a:t>
            </a:r>
            <a:endParaRPr/>
          </a:p>
        </p:txBody>
      </p:sp>
      <p:sp>
        <p:nvSpPr>
          <p:cNvPr id="663" name="Google Shape;663;p25: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3-March-2015</a:t>
            </a:r>
            <a:endParaRPr/>
          </a:p>
        </p:txBody>
      </p:sp>
      <p:sp>
        <p:nvSpPr>
          <p:cNvPr id="664" name="Google Shape;664;p25: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65" name="Google Shape;665;p25: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666" name="Google Shape;666;p25: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7" name="Google Shape;667;p25: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26: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ENGG406 2015W</a:t>
            </a:r>
            <a:endParaRPr/>
          </a:p>
        </p:txBody>
      </p:sp>
      <p:sp>
        <p:nvSpPr>
          <p:cNvPr id="675" name="Google Shape;675;p26: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3-March-2015</a:t>
            </a:r>
            <a:endParaRPr/>
          </a:p>
        </p:txBody>
      </p:sp>
      <p:sp>
        <p:nvSpPr>
          <p:cNvPr id="676" name="Google Shape;676;p26: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77" name="Google Shape;677;p26: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678" name="Google Shape;678;p26: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9" name="Google Shape;679;p26: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2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687" name="Google Shape;687;p2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8" name="Google Shape;688;p2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2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698" name="Google Shape;698;p2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9" name="Google Shape;699;p28: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725" name="Google Shape;725;p2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6" name="Google Shape;726;p29: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3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752" name="Google Shape;752;p3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3" name="Google Shape;753;p3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31: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ENGG406 2015W</a:t>
            </a:r>
            <a:endParaRPr/>
          </a:p>
        </p:txBody>
      </p:sp>
      <p:sp>
        <p:nvSpPr>
          <p:cNvPr id="762" name="Google Shape;762;p31: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3-March-2015</a:t>
            </a:r>
            <a:endParaRPr/>
          </a:p>
        </p:txBody>
      </p:sp>
      <p:sp>
        <p:nvSpPr>
          <p:cNvPr id="763" name="Google Shape;763;p31: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64" name="Google Shape;764;p31: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765" name="Google Shape;765;p31: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6" name="Google Shape;766;p31: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32: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ENGG406 2015W</a:t>
            </a:r>
            <a:endParaRPr/>
          </a:p>
        </p:txBody>
      </p:sp>
      <p:sp>
        <p:nvSpPr>
          <p:cNvPr id="774" name="Google Shape;774;p32: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3-March-2015</a:t>
            </a:r>
            <a:endParaRPr/>
          </a:p>
        </p:txBody>
      </p:sp>
      <p:sp>
        <p:nvSpPr>
          <p:cNvPr id="775" name="Google Shape;775;p32: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76" name="Google Shape;776;p32: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777" name="Google Shape;777;p32: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8" name="Google Shape;778;p32: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33: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ENGG406 2015W</a:t>
            </a:r>
            <a:endParaRPr/>
          </a:p>
        </p:txBody>
      </p:sp>
      <p:sp>
        <p:nvSpPr>
          <p:cNvPr id="786" name="Google Shape;786;p33: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3-March-2015</a:t>
            </a:r>
            <a:endParaRPr/>
          </a:p>
        </p:txBody>
      </p:sp>
      <p:sp>
        <p:nvSpPr>
          <p:cNvPr id="787" name="Google Shape;787;p33: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88" name="Google Shape;788;p33: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789" name="Google Shape;789;p33: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0" name="Google Shape;790;p33: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3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798" name="Google Shape;798;p3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9" name="Google Shape;799;p3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3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807" name="Google Shape;807;p3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8" name="Google Shape;808;p3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3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26" name="Google Shape;826;p3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7" name="Google Shape;827;p3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marR="0" rtl="0" algn="l">
              <a:lnSpc>
                <a:spcPct val="100000"/>
              </a:lnSpc>
              <a:spcBef>
                <a:spcPts val="0"/>
              </a:spcBef>
              <a:spcAft>
                <a:spcPts val="0"/>
              </a:spcAft>
              <a:buClr>
                <a:srgbClr val="FF0000"/>
              </a:buClr>
              <a:buSzPts val="1200"/>
              <a:buFont typeface="Arial"/>
              <a:buNone/>
            </a:pPr>
            <a:r>
              <a:rPr b="0" i="0" lang="en-US" sz="1200" u="none" cap="none" strike="noStrike">
                <a:solidFill>
                  <a:srgbClr val="FF0000"/>
                </a:solidFill>
                <a:latin typeface="Arial"/>
                <a:ea typeface="Arial"/>
                <a:cs typeface="Arial"/>
                <a:sym typeface="Arial"/>
              </a:rPr>
              <a:t>Performance in Response to the Evolution of Culture:</a:t>
            </a:r>
            <a:endParaRPr/>
          </a:p>
          <a:p>
            <a:pPr indent="0" lvl="0" marL="0" marR="0" rtl="0" algn="l">
              <a:lnSpc>
                <a:spcPct val="100000"/>
              </a:lnSpc>
              <a:spcBef>
                <a:spcPts val="0"/>
              </a:spcBef>
              <a:spcAft>
                <a:spcPts val="0"/>
              </a:spcAft>
              <a:buClr>
                <a:srgbClr val="FF0000"/>
              </a:buClr>
              <a:buSzPts val="1200"/>
              <a:buFont typeface="Arial"/>
              <a:buNone/>
            </a:pPr>
            <a:r>
              <a:rPr b="0" i="0" lang="en-US" sz="1200" u="none" cap="none" strike="noStrike">
                <a:solidFill>
                  <a:srgbClr val="FF0000"/>
                </a:solidFill>
                <a:latin typeface="Arial"/>
                <a:ea typeface="Arial"/>
                <a:cs typeface="Arial"/>
                <a:sym typeface="Arial"/>
              </a:rPr>
              <a:t>5)  Adapting</a:t>
            </a:r>
            <a:r>
              <a:rPr b="0" i="0" lang="en-US" sz="1200" u="none" cap="none" strike="noStrike">
                <a:solidFill>
                  <a:srgbClr val="000000"/>
                </a:solidFill>
                <a:latin typeface="Arial"/>
                <a:ea typeface="Arial"/>
                <a:cs typeface="Arial"/>
                <a:sym typeface="Arial"/>
              </a:rPr>
              <a:t> - safety is a core value of the organization and a primary driver for successful enterprise. </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 p</a:t>
            </a:r>
            <a:r>
              <a:rPr b="0" i="0" lang="en-US" sz="1200" u="none" cap="none" strike="noStrike">
                <a:solidFill>
                  <a:srgbClr val="FF0000"/>
                </a:solidFill>
                <a:latin typeface="Arial"/>
                <a:ea typeface="Arial"/>
                <a:cs typeface="Arial"/>
                <a:sym typeface="Arial"/>
              </a:rPr>
              <a:t>erformance monitoring </a:t>
            </a:r>
            <a:r>
              <a:rPr b="0" i="0" lang="en-US" sz="1200" u="none" cap="none" strike="noStrike">
                <a:solidFill>
                  <a:srgbClr val="000000"/>
                </a:solidFill>
                <a:latin typeface="Arial"/>
                <a:ea typeface="Arial"/>
                <a:cs typeface="Arial"/>
                <a:sym typeface="Arial"/>
              </a:rPr>
              <a:t>using statistics to drive continuous improvement.</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 m</a:t>
            </a:r>
            <a:r>
              <a:rPr b="0" i="0" lang="en-US" sz="1200" u="none" cap="none" strike="noStrike">
                <a:solidFill>
                  <a:srgbClr val="FF0000"/>
                </a:solidFill>
                <a:latin typeface="Arial"/>
                <a:ea typeface="Arial"/>
                <a:cs typeface="Arial"/>
                <a:sym typeface="Arial"/>
              </a:rPr>
              <a:t>anagement systems </a:t>
            </a:r>
            <a:r>
              <a:rPr b="0" i="0" lang="en-US" sz="1200" u="none" cap="none" strike="noStrike">
                <a:solidFill>
                  <a:srgbClr val="000000"/>
                </a:solidFill>
                <a:latin typeface="Arial"/>
                <a:ea typeface="Arial"/>
                <a:cs typeface="Arial"/>
                <a:sym typeface="Arial"/>
              </a:rPr>
              <a:t>based such as Job Safety Assessment (JSA), Isolation and Lock-out, etc. </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 </a:t>
            </a:r>
            <a:r>
              <a:rPr b="0" i="0" lang="en-US" sz="1200" u="none" cap="none" strike="noStrike">
                <a:solidFill>
                  <a:srgbClr val="FF0000"/>
                </a:solidFill>
                <a:latin typeface="Arial"/>
                <a:ea typeface="Arial"/>
                <a:cs typeface="Arial"/>
                <a:sym typeface="Arial"/>
              </a:rPr>
              <a:t>Complying</a:t>
            </a:r>
            <a:r>
              <a:rPr b="0" i="0" lang="en-US" sz="1200" u="none" cap="none" strike="noStrike">
                <a:solidFill>
                  <a:srgbClr val="000000"/>
                </a:solidFill>
                <a:latin typeface="Arial"/>
                <a:ea typeface="Arial"/>
                <a:cs typeface="Arial"/>
                <a:sym typeface="Arial"/>
              </a:rPr>
              <a:t> to rules and regulations.</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 </a:t>
            </a:r>
            <a:r>
              <a:rPr b="0" i="0" lang="en-US" sz="1200" u="none" cap="none" strike="noStrike">
                <a:solidFill>
                  <a:srgbClr val="FF0000"/>
                </a:solidFill>
                <a:latin typeface="Arial"/>
                <a:ea typeface="Arial"/>
                <a:cs typeface="Arial"/>
                <a:sym typeface="Arial"/>
              </a:rPr>
              <a:t>Reacting</a:t>
            </a:r>
            <a:r>
              <a:rPr b="0" i="0" lang="en-US" sz="1200" u="none" cap="none" strike="noStrike">
                <a:solidFill>
                  <a:srgbClr val="000000"/>
                </a:solidFill>
                <a:latin typeface="Arial"/>
                <a:ea typeface="Arial"/>
                <a:cs typeface="Arial"/>
                <a:sym typeface="Arial"/>
              </a:rPr>
              <a:t> to incidents as they occur.</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a:t>
            </a:r>
            <a:r>
              <a:rPr b="0" i="0" lang="en-US" sz="1200" u="none" cap="none" strike="noStrike">
                <a:solidFill>
                  <a:srgbClr val="FF0000"/>
                </a:solidFill>
                <a:latin typeface="Arial"/>
                <a:ea typeface="Arial"/>
                <a:cs typeface="Arial"/>
                <a:sym typeface="Arial"/>
              </a:rPr>
              <a:t>No safety program </a:t>
            </a:r>
            <a:r>
              <a:rPr b="0" i="0" lang="en-US" sz="1200" u="none" cap="none" strike="noStrike">
                <a:solidFill>
                  <a:srgbClr val="000000"/>
                </a:solidFill>
                <a:latin typeface="Arial"/>
                <a:ea typeface="Arial"/>
                <a:cs typeface="Arial"/>
                <a:sym typeface="Arial"/>
              </a:rPr>
              <a:t>- maybe even disdain for safety.</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100"/>
              <a:buFont typeface="Noto Sans Symbols"/>
              <a:buChar char="⮚"/>
            </a:pPr>
            <a:r>
              <a:rPr b="0" i="1" lang="en-US" sz="1100" u="none" cap="none" strike="noStrike">
                <a:solidFill>
                  <a:srgbClr val="000000"/>
                </a:solidFill>
                <a:latin typeface="Arial"/>
                <a:ea typeface="Arial"/>
                <a:cs typeface="Arial"/>
                <a:sym typeface="Arial"/>
              </a:rPr>
              <a:t>Need to work from bottom up, can’t leapfrog.</a:t>
            </a:r>
            <a:endParaRPr/>
          </a:p>
          <a:p>
            <a:pPr indent="-285750" lvl="0" marL="285750" marR="0" rtl="0" algn="l">
              <a:lnSpc>
                <a:spcPct val="100000"/>
              </a:lnSpc>
              <a:spcBef>
                <a:spcPts val="0"/>
              </a:spcBef>
              <a:spcAft>
                <a:spcPts val="0"/>
              </a:spcAft>
              <a:buClr>
                <a:srgbClr val="000000"/>
              </a:buClr>
              <a:buSzPts val="1100"/>
              <a:buFont typeface="Noto Sans Symbols"/>
              <a:buChar char="⮚"/>
            </a:pPr>
            <a:r>
              <a:rPr b="0" i="1" lang="en-US" sz="1100" u="none" cap="none" strike="noStrike">
                <a:solidFill>
                  <a:srgbClr val="000000"/>
                </a:solidFill>
                <a:latin typeface="Arial"/>
                <a:ea typeface="Arial"/>
                <a:cs typeface="Arial"/>
                <a:sym typeface="Arial"/>
              </a:rPr>
              <a:t>Rules and regulations do not make a safety program, only at level 2.</a:t>
            </a:r>
            <a:endParaRPr/>
          </a:p>
          <a:p>
            <a:pPr indent="-285750" lvl="0" marL="285750" marR="0" rtl="0" algn="l">
              <a:lnSpc>
                <a:spcPct val="100000"/>
              </a:lnSpc>
              <a:spcBef>
                <a:spcPts val="0"/>
              </a:spcBef>
              <a:spcAft>
                <a:spcPts val="0"/>
              </a:spcAft>
              <a:buClr>
                <a:srgbClr val="000000"/>
              </a:buClr>
              <a:buSzPts val="1100"/>
              <a:buFont typeface="Noto Sans Symbols"/>
              <a:buChar char="⮚"/>
            </a:pPr>
            <a:r>
              <a:rPr b="0" i="1" lang="en-US" sz="1100" u="none" cap="none" strike="noStrike">
                <a:solidFill>
                  <a:srgbClr val="000000"/>
                </a:solidFill>
                <a:latin typeface="Arial"/>
                <a:ea typeface="Arial"/>
                <a:cs typeface="Arial"/>
                <a:sym typeface="Arial"/>
              </a:rPr>
              <a:t>Industry needs students prepared to work at level 5. </a:t>
            </a:r>
            <a:endParaRPr b="0" i="1" sz="11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100"/>
              <a:buFont typeface="Noto Sans Symbols"/>
              <a:buChar char="⮚"/>
            </a:pPr>
            <a:r>
              <a:rPr b="0" i="1" lang="en-US" sz="1100" u="none" cap="none" strike="noStrike">
                <a:solidFill>
                  <a:srgbClr val="000000"/>
                </a:solidFill>
                <a:latin typeface="Arial"/>
                <a:ea typeface="Arial"/>
                <a:cs typeface="Arial"/>
                <a:sym typeface="Arial"/>
              </a:rPr>
              <a:t>Most universities are probably sending out students at level 2.</a:t>
            </a:r>
            <a:endParaRPr b="0" i="1"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37:notes"/>
          <p:cNvSpPr txBox="1"/>
          <p:nvPr>
            <p:ph idx="2" type="hdr"/>
          </p:nvPr>
        </p:nvSpPr>
        <p:spPr>
          <a:xfrm>
            <a:off x="0" y="1"/>
            <a:ext cx="3015122" cy="464901"/>
          </a:xfrm>
          <a:prstGeom prst="rect">
            <a:avLst/>
          </a:prstGeom>
          <a:noFill/>
          <a:ln>
            <a:noFill/>
          </a:ln>
        </p:spPr>
        <p:txBody>
          <a:bodyPr anchorCtr="0" anchor="t" bIns="46450" lIns="92900" spcFirstLastPara="1" rIns="92900" wrap="square" tIns="46450">
            <a:noAutofit/>
          </a:bodyPr>
          <a:lstStyle/>
          <a:p>
            <a:pPr indent="0" lvl="0" marL="0" rtl="0" algn="l">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2015-2016</a:t>
            </a:r>
            <a:endParaRPr/>
          </a:p>
        </p:txBody>
      </p:sp>
      <p:sp>
        <p:nvSpPr>
          <p:cNvPr id="840" name="Google Shape;840;p37:notes"/>
          <p:cNvSpPr txBox="1"/>
          <p:nvPr>
            <p:ph idx="12" type="sldNum"/>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rtl="0" algn="r">
              <a:spcBef>
                <a:spcPts val="0"/>
              </a:spcBef>
              <a:spcAft>
                <a:spcPts val="0"/>
              </a:spcAft>
              <a:buClr>
                <a:schemeClr val="dk1"/>
              </a:buClr>
              <a:buSzPts val="1200"/>
              <a:buFont typeface="Times New Roman"/>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41" name="Google Shape;841;p37:notes"/>
          <p:cNvSpPr txBox="1"/>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marR="0" rtl="0" algn="r">
              <a:spcBef>
                <a:spcPts val="0"/>
              </a:spcBef>
              <a:spcAft>
                <a:spcPts val="0"/>
              </a:spcAft>
              <a:buClr>
                <a:schemeClr val="dk1"/>
              </a:buClr>
              <a:buSzPts val="1200"/>
              <a:buFont typeface="Times New Roman"/>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842" name="Google Shape;842;p37:notes"/>
          <p:cNvSpPr/>
          <p:nvPr>
            <p:ph idx="3"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3" name="Google Shape;843;p37:notes"/>
          <p:cNvSpPr txBox="1"/>
          <p:nvPr>
            <p:ph idx="1" type="body"/>
          </p:nvPr>
        </p:nvSpPr>
        <p:spPr>
          <a:xfrm>
            <a:off x="927730" y="4424471"/>
            <a:ext cx="5099378" cy="4188858"/>
          </a:xfrm>
          <a:prstGeom prst="rect">
            <a:avLst/>
          </a:prstGeom>
          <a:noFill/>
          <a:ln>
            <a:noFill/>
          </a:ln>
        </p:spPr>
        <p:txBody>
          <a:bodyPr anchorCtr="0" anchor="t" bIns="46450" lIns="92900" spcFirstLastPara="1" rIns="92900" wrap="square" tIns="46450">
            <a:noAutofit/>
          </a:bodyPr>
          <a:lstStyle/>
          <a:p>
            <a:pPr indent="0" lvl="0" marL="0" rtl="0" algn="l">
              <a:spcBef>
                <a:spcPts val="0"/>
              </a:spcBef>
              <a:spcAft>
                <a:spcPts val="0"/>
              </a:spcAft>
              <a:buClr>
                <a:schemeClr val="dk1"/>
              </a:buClr>
              <a:buSzPts val="1000"/>
              <a:buFont typeface="Calibri"/>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38:notes"/>
          <p:cNvSpPr txBox="1"/>
          <p:nvPr>
            <p:ph idx="2" type="hdr"/>
          </p:nvPr>
        </p:nvSpPr>
        <p:spPr>
          <a:xfrm>
            <a:off x="0" y="1"/>
            <a:ext cx="3015122" cy="464901"/>
          </a:xfrm>
          <a:prstGeom prst="rect">
            <a:avLst/>
          </a:prstGeom>
          <a:noFill/>
          <a:ln>
            <a:noFill/>
          </a:ln>
        </p:spPr>
        <p:txBody>
          <a:bodyPr anchorCtr="0" anchor="t" bIns="46450" lIns="92900" spcFirstLastPara="1" rIns="92900" wrap="square" tIns="46450">
            <a:noAutofit/>
          </a:bodyPr>
          <a:lstStyle/>
          <a:p>
            <a:pPr indent="0" lvl="0" marL="0" rtl="0" algn="l">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2015-2016</a:t>
            </a:r>
            <a:endParaRPr/>
          </a:p>
        </p:txBody>
      </p:sp>
      <p:sp>
        <p:nvSpPr>
          <p:cNvPr id="853" name="Google Shape;853;p38:notes"/>
          <p:cNvSpPr txBox="1"/>
          <p:nvPr>
            <p:ph idx="12" type="sldNum"/>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rtl="0" algn="r">
              <a:spcBef>
                <a:spcPts val="0"/>
              </a:spcBef>
              <a:spcAft>
                <a:spcPts val="0"/>
              </a:spcAft>
              <a:buClr>
                <a:schemeClr val="dk1"/>
              </a:buClr>
              <a:buSzPts val="1200"/>
              <a:buFont typeface="Times New Roman"/>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54" name="Google Shape;854;p38:notes"/>
          <p:cNvSpPr txBox="1"/>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marR="0" rtl="0" algn="r">
              <a:spcBef>
                <a:spcPts val="0"/>
              </a:spcBef>
              <a:spcAft>
                <a:spcPts val="0"/>
              </a:spcAft>
              <a:buClr>
                <a:schemeClr val="dk1"/>
              </a:buClr>
              <a:buSzPts val="1200"/>
              <a:buFont typeface="Times New Roman"/>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855" name="Google Shape;855;p38:notes"/>
          <p:cNvSpPr/>
          <p:nvPr>
            <p:ph idx="3"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6" name="Google Shape;856;p38:notes"/>
          <p:cNvSpPr txBox="1"/>
          <p:nvPr>
            <p:ph idx="1" type="body"/>
          </p:nvPr>
        </p:nvSpPr>
        <p:spPr>
          <a:xfrm>
            <a:off x="927730" y="4424471"/>
            <a:ext cx="5099378" cy="4188858"/>
          </a:xfrm>
          <a:prstGeom prst="rect">
            <a:avLst/>
          </a:prstGeom>
          <a:noFill/>
          <a:ln>
            <a:noFill/>
          </a:ln>
        </p:spPr>
        <p:txBody>
          <a:bodyPr anchorCtr="0" anchor="t" bIns="46450" lIns="92900" spcFirstLastPara="1" rIns="92900" wrap="square" tIns="46450">
            <a:noAutofit/>
          </a:bodyPr>
          <a:lstStyle/>
          <a:p>
            <a:pPr indent="0" lvl="0" marL="0" rtl="0" algn="l">
              <a:spcBef>
                <a:spcPts val="0"/>
              </a:spcBef>
              <a:spcAft>
                <a:spcPts val="0"/>
              </a:spcAft>
              <a:buClr>
                <a:schemeClr val="dk1"/>
              </a:buClr>
              <a:buSzPts val="1000"/>
              <a:buFont typeface="Calibri"/>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39:notes"/>
          <p:cNvSpPr txBox="1"/>
          <p:nvPr>
            <p:ph idx="2" type="hdr"/>
          </p:nvPr>
        </p:nvSpPr>
        <p:spPr>
          <a:xfrm>
            <a:off x="0" y="1"/>
            <a:ext cx="3015122" cy="464901"/>
          </a:xfrm>
          <a:prstGeom prst="rect">
            <a:avLst/>
          </a:prstGeom>
          <a:noFill/>
          <a:ln>
            <a:noFill/>
          </a:ln>
        </p:spPr>
        <p:txBody>
          <a:bodyPr anchorCtr="0" anchor="t" bIns="46450" lIns="92900" spcFirstLastPara="1" rIns="92900" wrap="square" tIns="46450">
            <a:noAutofit/>
          </a:bodyPr>
          <a:lstStyle/>
          <a:p>
            <a:pPr indent="0" lvl="0" marL="0" rtl="0" algn="l">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2015-2016</a:t>
            </a:r>
            <a:endParaRPr/>
          </a:p>
        </p:txBody>
      </p:sp>
      <p:sp>
        <p:nvSpPr>
          <p:cNvPr id="865" name="Google Shape;865;p39:notes"/>
          <p:cNvSpPr txBox="1"/>
          <p:nvPr>
            <p:ph idx="12" type="sldNum"/>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rtl="0" algn="r">
              <a:spcBef>
                <a:spcPts val="0"/>
              </a:spcBef>
              <a:spcAft>
                <a:spcPts val="0"/>
              </a:spcAft>
              <a:buClr>
                <a:schemeClr val="dk1"/>
              </a:buClr>
              <a:buSzPts val="1200"/>
              <a:buFont typeface="Times New Roman"/>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66" name="Google Shape;866;p39:notes"/>
          <p:cNvSpPr txBox="1"/>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marR="0" rtl="0" algn="r">
              <a:spcBef>
                <a:spcPts val="0"/>
              </a:spcBef>
              <a:spcAft>
                <a:spcPts val="0"/>
              </a:spcAft>
              <a:buClr>
                <a:schemeClr val="dk1"/>
              </a:buClr>
              <a:buSzPts val="1200"/>
              <a:buFont typeface="Times New Roman"/>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867" name="Google Shape;867;p39:notes"/>
          <p:cNvSpPr/>
          <p:nvPr>
            <p:ph idx="3"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8" name="Google Shape;868;p39:notes"/>
          <p:cNvSpPr txBox="1"/>
          <p:nvPr>
            <p:ph idx="1" type="body"/>
          </p:nvPr>
        </p:nvSpPr>
        <p:spPr>
          <a:xfrm>
            <a:off x="927730" y="4424471"/>
            <a:ext cx="5099378" cy="4188858"/>
          </a:xfrm>
          <a:prstGeom prst="rect">
            <a:avLst/>
          </a:prstGeom>
          <a:noFill/>
          <a:ln>
            <a:noFill/>
          </a:ln>
        </p:spPr>
        <p:txBody>
          <a:bodyPr anchorCtr="0" anchor="t" bIns="46450" lIns="92900" spcFirstLastPara="1" rIns="92900" wrap="square" tIns="46450">
            <a:noAutofit/>
          </a:bodyPr>
          <a:lstStyle/>
          <a:p>
            <a:pPr indent="0" lvl="0" marL="0" rtl="0" algn="l">
              <a:spcBef>
                <a:spcPts val="0"/>
              </a:spcBef>
              <a:spcAft>
                <a:spcPts val="0"/>
              </a:spcAft>
              <a:buClr>
                <a:schemeClr val="dk1"/>
              </a:buClr>
              <a:buSzPts val="1000"/>
              <a:buFont typeface="Calibri"/>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40:notes"/>
          <p:cNvSpPr txBox="1"/>
          <p:nvPr>
            <p:ph idx="2" type="hdr"/>
          </p:nvPr>
        </p:nvSpPr>
        <p:spPr>
          <a:xfrm>
            <a:off x="0" y="1"/>
            <a:ext cx="3015122" cy="464901"/>
          </a:xfrm>
          <a:prstGeom prst="rect">
            <a:avLst/>
          </a:prstGeom>
          <a:noFill/>
          <a:ln>
            <a:noFill/>
          </a:ln>
        </p:spPr>
        <p:txBody>
          <a:bodyPr anchorCtr="0" anchor="t" bIns="46450" lIns="92900" spcFirstLastPara="1" rIns="92900" wrap="square" tIns="46450">
            <a:noAutofit/>
          </a:bodyPr>
          <a:lstStyle/>
          <a:p>
            <a:pPr indent="0" lvl="0" marL="0" rtl="0" algn="l">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2015-2016</a:t>
            </a:r>
            <a:endParaRPr/>
          </a:p>
        </p:txBody>
      </p:sp>
      <p:sp>
        <p:nvSpPr>
          <p:cNvPr id="877" name="Google Shape;877;p40:notes"/>
          <p:cNvSpPr txBox="1"/>
          <p:nvPr>
            <p:ph idx="12" type="sldNum"/>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rtl="0" algn="r">
              <a:spcBef>
                <a:spcPts val="0"/>
              </a:spcBef>
              <a:spcAft>
                <a:spcPts val="0"/>
              </a:spcAft>
              <a:buClr>
                <a:schemeClr val="dk1"/>
              </a:buClr>
              <a:buSzPts val="1200"/>
              <a:buFont typeface="Times New Roman"/>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78" name="Google Shape;878;p40:notes"/>
          <p:cNvSpPr txBox="1"/>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marR="0" rtl="0" algn="r">
              <a:spcBef>
                <a:spcPts val="0"/>
              </a:spcBef>
              <a:spcAft>
                <a:spcPts val="0"/>
              </a:spcAft>
              <a:buClr>
                <a:schemeClr val="dk1"/>
              </a:buClr>
              <a:buSzPts val="1200"/>
              <a:buFont typeface="Times New Roman"/>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879" name="Google Shape;879;p40:notes"/>
          <p:cNvSpPr/>
          <p:nvPr>
            <p:ph idx="3"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0" name="Google Shape;880;p40:notes"/>
          <p:cNvSpPr txBox="1"/>
          <p:nvPr>
            <p:ph idx="1" type="body"/>
          </p:nvPr>
        </p:nvSpPr>
        <p:spPr>
          <a:xfrm>
            <a:off x="927730" y="4424471"/>
            <a:ext cx="5099378" cy="4188858"/>
          </a:xfrm>
          <a:prstGeom prst="rect">
            <a:avLst/>
          </a:prstGeom>
          <a:noFill/>
          <a:ln>
            <a:noFill/>
          </a:ln>
        </p:spPr>
        <p:txBody>
          <a:bodyPr anchorCtr="0" anchor="t" bIns="46450" lIns="92900" spcFirstLastPara="1" rIns="92900" wrap="square" tIns="46450">
            <a:noAutofit/>
          </a:bodyPr>
          <a:lstStyle/>
          <a:p>
            <a:pPr indent="0" lvl="0" marL="0" rtl="0" algn="l">
              <a:spcBef>
                <a:spcPts val="0"/>
              </a:spcBef>
              <a:spcAft>
                <a:spcPts val="0"/>
              </a:spcAft>
              <a:buClr>
                <a:schemeClr val="dk1"/>
              </a:buClr>
              <a:buSzPts val="1000"/>
              <a:buFont typeface="Calibri"/>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41: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ENGG406 2015W</a:t>
            </a:r>
            <a:endParaRPr/>
          </a:p>
        </p:txBody>
      </p:sp>
      <p:sp>
        <p:nvSpPr>
          <p:cNvPr id="888" name="Google Shape;888;p41: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3-March-2015</a:t>
            </a:r>
            <a:endParaRPr/>
          </a:p>
        </p:txBody>
      </p:sp>
      <p:sp>
        <p:nvSpPr>
          <p:cNvPr id="889" name="Google Shape;889;p41: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90" name="Google Shape;890;p41: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891" name="Google Shape;891;p41: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2" name="Google Shape;892;p41: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42:notes"/>
          <p:cNvSpPr txBox="1"/>
          <p:nvPr>
            <p:ph idx="2" type="hdr"/>
          </p:nvPr>
        </p:nvSpPr>
        <p:spPr>
          <a:xfrm>
            <a:off x="0" y="1"/>
            <a:ext cx="3015122" cy="464901"/>
          </a:xfrm>
          <a:prstGeom prst="rect">
            <a:avLst/>
          </a:prstGeom>
          <a:noFill/>
          <a:ln>
            <a:noFill/>
          </a:ln>
        </p:spPr>
        <p:txBody>
          <a:bodyPr anchorCtr="0" anchor="t" bIns="46450" lIns="92900" spcFirstLastPara="1" rIns="92900" wrap="square" tIns="46450">
            <a:noAutofit/>
          </a:bodyPr>
          <a:lstStyle/>
          <a:p>
            <a:pPr indent="0" lvl="0" marL="0" rtl="0" algn="l">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2015-2016</a:t>
            </a:r>
            <a:endParaRPr/>
          </a:p>
        </p:txBody>
      </p:sp>
      <p:sp>
        <p:nvSpPr>
          <p:cNvPr id="900" name="Google Shape;900;p42:notes"/>
          <p:cNvSpPr txBox="1"/>
          <p:nvPr>
            <p:ph idx="12" type="sldNum"/>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rtl="0" algn="r">
              <a:spcBef>
                <a:spcPts val="0"/>
              </a:spcBef>
              <a:spcAft>
                <a:spcPts val="0"/>
              </a:spcAft>
              <a:buClr>
                <a:schemeClr val="dk1"/>
              </a:buClr>
              <a:buSzPts val="1200"/>
              <a:buFont typeface="Times New Roman"/>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901" name="Google Shape;901;p42:notes"/>
          <p:cNvSpPr txBox="1"/>
          <p:nvPr/>
        </p:nvSpPr>
        <p:spPr>
          <a:xfrm>
            <a:off x="3939717" y="8844199"/>
            <a:ext cx="3015122" cy="464901"/>
          </a:xfrm>
          <a:prstGeom prst="rect">
            <a:avLst/>
          </a:prstGeom>
          <a:noFill/>
          <a:ln>
            <a:noFill/>
          </a:ln>
        </p:spPr>
        <p:txBody>
          <a:bodyPr anchorCtr="0" anchor="b" bIns="46450" lIns="92900" spcFirstLastPara="1" rIns="92900" wrap="square" tIns="46450">
            <a:noAutofit/>
          </a:bodyPr>
          <a:lstStyle/>
          <a:p>
            <a:pPr indent="0" lvl="0" marL="0" marR="0" rtl="0" algn="r">
              <a:spcBef>
                <a:spcPts val="0"/>
              </a:spcBef>
              <a:spcAft>
                <a:spcPts val="0"/>
              </a:spcAft>
              <a:buClr>
                <a:schemeClr val="dk1"/>
              </a:buClr>
              <a:buSzPts val="1200"/>
              <a:buFont typeface="Times New Roman"/>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902" name="Google Shape;902;p42:notes"/>
          <p:cNvSpPr/>
          <p:nvPr>
            <p:ph idx="3" type="sldImg"/>
          </p:nvPr>
        </p:nvSpPr>
        <p:spPr>
          <a:xfrm>
            <a:off x="1150938" y="696913"/>
            <a:ext cx="4652962" cy="34909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3" name="Google Shape;903;p42:notes"/>
          <p:cNvSpPr txBox="1"/>
          <p:nvPr>
            <p:ph idx="1" type="body"/>
          </p:nvPr>
        </p:nvSpPr>
        <p:spPr>
          <a:xfrm>
            <a:off x="927730" y="4424471"/>
            <a:ext cx="5099378" cy="4188858"/>
          </a:xfrm>
          <a:prstGeom prst="rect">
            <a:avLst/>
          </a:prstGeom>
          <a:noFill/>
          <a:ln>
            <a:noFill/>
          </a:ln>
        </p:spPr>
        <p:txBody>
          <a:bodyPr anchorCtr="0" anchor="t" bIns="46450" lIns="92900" spcFirstLastPara="1" rIns="92900" wrap="square" tIns="46450">
            <a:noAutofit/>
          </a:bodyPr>
          <a:lstStyle/>
          <a:p>
            <a:pPr indent="0" lvl="0" marL="0" rtl="0" algn="l">
              <a:spcBef>
                <a:spcPts val="0"/>
              </a:spcBef>
              <a:spcAft>
                <a:spcPts val="0"/>
              </a:spcAft>
              <a:buClr>
                <a:schemeClr val="dk1"/>
              </a:buClr>
              <a:buSzPts val="1000"/>
              <a:buFont typeface="Calibri"/>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4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914" name="Google Shape;914;p4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5" name="Google Shape;915;p4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latin typeface="Arial"/>
                <a:ea typeface="Arial"/>
                <a:cs typeface="Arial"/>
                <a:sym typeface="Arial"/>
              </a:rPr>
              <a:t>Culture eats performance!</a:t>
            </a:r>
            <a:endParaRPr/>
          </a:p>
          <a:p>
            <a:pPr indent="0" lvl="0" marL="0" rtl="0" algn="l">
              <a:spcBef>
                <a:spcPts val="300"/>
              </a:spcBef>
              <a:spcAft>
                <a:spcPts val="0"/>
              </a:spcAft>
              <a:buNone/>
            </a:pPr>
            <a:r>
              <a:t/>
            </a:r>
            <a:endParaRPr>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4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30" name="Google Shape;930;p4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1" name="Google Shape;931;p4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45: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ENGG406 2015W</a:t>
            </a:r>
            <a:endParaRPr/>
          </a:p>
        </p:txBody>
      </p:sp>
      <p:sp>
        <p:nvSpPr>
          <p:cNvPr id="940" name="Google Shape;940;p45: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rtl="0" algn="l">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3-March-2015</a:t>
            </a:r>
            <a:endParaRPr/>
          </a:p>
        </p:txBody>
      </p:sp>
      <p:sp>
        <p:nvSpPr>
          <p:cNvPr id="941" name="Google Shape;941;p45: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942" name="Google Shape;942;p45: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943" name="Google Shape;943;p45: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4" name="Google Shape;944;p45: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 name="Shape 14"/>
        <p:cNvGrpSpPr/>
        <p:nvPr/>
      </p:nvGrpSpPr>
      <p:grpSpPr>
        <a:xfrm>
          <a:off x="0" y="0"/>
          <a:ext cx="0" cy="0"/>
          <a:chOff x="0" y="0"/>
          <a:chExt cx="0" cy="0"/>
        </a:xfrm>
      </p:grpSpPr>
      <p:sp>
        <p:nvSpPr>
          <p:cNvPr id="15" name="Google Shape;15;p4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16" name="Google Shape;16;p4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17" name="Google Shape;17;p4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i="0" sz="1800" u="none" cap="none" strike="noStrike">
                <a:solidFill>
                  <a:schemeClr val="dk1"/>
                </a:solidFill>
                <a:latin typeface="Arial"/>
                <a:ea typeface="Arial"/>
                <a:cs typeface="Arial"/>
                <a:sym typeface="Arial"/>
              </a:defRPr>
            </a:lvl1pPr>
            <a:lvl2pPr indent="0" lvl="1" marL="0" marR="0" rtl="0" algn="l">
              <a:spcBef>
                <a:spcPts val="0"/>
              </a:spcBef>
              <a:spcAft>
                <a:spcPts val="0"/>
              </a:spcAft>
              <a:buNone/>
              <a:defRPr b="1" i="0" sz="1800" u="none" cap="none" strike="noStrike">
                <a:solidFill>
                  <a:schemeClr val="dk1"/>
                </a:solidFill>
                <a:latin typeface="Arial"/>
                <a:ea typeface="Arial"/>
                <a:cs typeface="Arial"/>
                <a:sym typeface="Arial"/>
              </a:defRPr>
            </a:lvl2pPr>
            <a:lvl3pPr indent="0" lvl="2" marL="0" marR="0" rtl="0" algn="l">
              <a:spcBef>
                <a:spcPts val="0"/>
              </a:spcBef>
              <a:spcAft>
                <a:spcPts val="0"/>
              </a:spcAft>
              <a:buNone/>
              <a:defRPr b="1" i="0" sz="1800" u="none" cap="none" strike="noStrike">
                <a:solidFill>
                  <a:schemeClr val="dk1"/>
                </a:solidFill>
                <a:latin typeface="Arial"/>
                <a:ea typeface="Arial"/>
                <a:cs typeface="Arial"/>
                <a:sym typeface="Arial"/>
              </a:defRPr>
            </a:lvl3pPr>
            <a:lvl4pPr indent="0" lvl="3" marL="0" marR="0" rtl="0" algn="l">
              <a:spcBef>
                <a:spcPts val="0"/>
              </a:spcBef>
              <a:spcAft>
                <a:spcPts val="0"/>
              </a:spcAft>
              <a:buNone/>
              <a:defRPr b="1" i="0" sz="1800" u="none" cap="none" strike="noStrike">
                <a:solidFill>
                  <a:schemeClr val="dk1"/>
                </a:solidFill>
                <a:latin typeface="Arial"/>
                <a:ea typeface="Arial"/>
                <a:cs typeface="Arial"/>
                <a:sym typeface="Arial"/>
              </a:defRPr>
            </a:lvl4pPr>
            <a:lvl5pPr indent="0" lvl="4" marL="0" marR="0" rtl="0" algn="l">
              <a:spcBef>
                <a:spcPts val="0"/>
              </a:spcBef>
              <a:spcAft>
                <a:spcPts val="0"/>
              </a:spcAft>
              <a:buNone/>
              <a:defRPr b="1" i="0" sz="1800" u="none" cap="none" strike="noStrike">
                <a:solidFill>
                  <a:schemeClr val="dk1"/>
                </a:solidFill>
                <a:latin typeface="Arial"/>
                <a:ea typeface="Arial"/>
                <a:cs typeface="Arial"/>
                <a:sym typeface="Arial"/>
              </a:defRPr>
            </a:lvl5pPr>
            <a:lvl6pPr indent="0" lvl="5" marL="0" marR="0" rtl="0" algn="l">
              <a:spcBef>
                <a:spcPts val="0"/>
              </a:spcBef>
              <a:spcAft>
                <a:spcPts val="0"/>
              </a:spcAft>
              <a:buNone/>
              <a:defRPr b="1" i="0" sz="1800" u="none" cap="none" strike="noStrike">
                <a:solidFill>
                  <a:schemeClr val="dk1"/>
                </a:solidFill>
                <a:latin typeface="Arial"/>
                <a:ea typeface="Arial"/>
                <a:cs typeface="Arial"/>
                <a:sym typeface="Arial"/>
              </a:defRPr>
            </a:lvl6pPr>
            <a:lvl7pPr indent="0" lvl="6" marL="0" marR="0" rtl="0" algn="l">
              <a:spcBef>
                <a:spcPts val="0"/>
              </a:spcBef>
              <a:spcAft>
                <a:spcPts val="0"/>
              </a:spcAft>
              <a:buNone/>
              <a:defRPr b="1" i="0" sz="1800" u="none" cap="none" strike="noStrike">
                <a:solidFill>
                  <a:schemeClr val="dk1"/>
                </a:solidFill>
                <a:latin typeface="Arial"/>
                <a:ea typeface="Arial"/>
                <a:cs typeface="Arial"/>
                <a:sym typeface="Arial"/>
              </a:defRPr>
            </a:lvl7pPr>
            <a:lvl8pPr indent="0" lvl="7" marL="0" marR="0" rtl="0" algn="l">
              <a:spcBef>
                <a:spcPts val="0"/>
              </a:spcBef>
              <a:spcAft>
                <a:spcPts val="0"/>
              </a:spcAft>
              <a:buNone/>
              <a:defRPr b="1" i="0" sz="1800" u="none" cap="none" strike="noStrike">
                <a:solidFill>
                  <a:schemeClr val="dk1"/>
                </a:solidFill>
                <a:latin typeface="Arial"/>
                <a:ea typeface="Arial"/>
                <a:cs typeface="Arial"/>
                <a:sym typeface="Arial"/>
              </a:defRPr>
            </a:lvl8pPr>
            <a:lvl9pPr indent="0" lvl="8" marL="0" marR="0" rtl="0" algn="l">
              <a:spcBef>
                <a:spcPts val="0"/>
              </a:spcBef>
              <a:spcAft>
                <a:spcPts val="0"/>
              </a:spcAft>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48"/>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 name="Google Shape;20;p48"/>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1"/>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51"/>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4" name="Shape 24"/>
        <p:cNvGrpSpPr/>
        <p:nvPr/>
      </p:nvGrpSpPr>
      <p:grpSpPr>
        <a:xfrm>
          <a:off x="0" y="0"/>
          <a:ext cx="0" cy="0"/>
          <a:chOff x="0" y="0"/>
          <a:chExt cx="0" cy="0"/>
        </a:xfrm>
      </p:grpSpPr>
      <p:sp>
        <p:nvSpPr>
          <p:cNvPr id="25" name="Google Shape;25;p52"/>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52"/>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27" name="Google Shape;27;p52"/>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5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35" name="Google Shape;35;p5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36" name="Google Shape;36;p5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 name="Shape 37"/>
        <p:cNvGrpSpPr/>
        <p:nvPr/>
      </p:nvGrpSpPr>
      <p:grpSpPr>
        <a:xfrm>
          <a:off x="0" y="0"/>
          <a:ext cx="0" cy="0"/>
          <a:chOff x="0" y="0"/>
          <a:chExt cx="0" cy="0"/>
        </a:xfrm>
      </p:grpSpPr>
      <p:sp>
        <p:nvSpPr>
          <p:cNvPr id="38" name="Google Shape;38;p53"/>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53"/>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 name="Shape 40"/>
        <p:cNvGrpSpPr/>
        <p:nvPr/>
      </p:nvGrpSpPr>
      <p:grpSpPr>
        <a:xfrm>
          <a:off x="0" y="0"/>
          <a:ext cx="0" cy="0"/>
          <a:chOff x="0" y="0"/>
          <a:chExt cx="0" cy="0"/>
        </a:xfrm>
      </p:grpSpPr>
      <p:sp>
        <p:nvSpPr>
          <p:cNvPr id="41" name="Google Shape;41;p54"/>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54"/>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43" name="Shape 43"/>
        <p:cNvGrpSpPr/>
        <p:nvPr/>
      </p:nvGrpSpPr>
      <p:grpSpPr>
        <a:xfrm>
          <a:off x="0" y="0"/>
          <a:ext cx="0" cy="0"/>
          <a:chOff x="0" y="0"/>
          <a:chExt cx="0" cy="0"/>
        </a:xfrm>
      </p:grpSpPr>
      <p:sp>
        <p:nvSpPr>
          <p:cNvPr id="44" name="Google Shape;44;p55"/>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55"/>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46" name="Google Shape;46;p55"/>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6"/>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9pPr>
          </a:lstStyle>
          <a:p/>
        </p:txBody>
      </p:sp>
      <p:cxnSp>
        <p:nvCxnSpPr>
          <p:cNvPr id="11" name="Google Shape;11;p46"/>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12" name="Google Shape;12;p46"/>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13" name="Google Shape;13;p46"/>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 name="Shape 28"/>
        <p:cNvGrpSpPr/>
        <p:nvPr/>
      </p:nvGrpSpPr>
      <p:grpSpPr>
        <a:xfrm>
          <a:off x="0" y="0"/>
          <a:ext cx="0" cy="0"/>
          <a:chOff x="0" y="0"/>
          <a:chExt cx="0" cy="0"/>
        </a:xfrm>
      </p:grpSpPr>
      <p:sp>
        <p:nvSpPr>
          <p:cNvPr id="29" name="Google Shape;29;p49"/>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9pPr>
          </a:lstStyle>
          <a:p/>
        </p:txBody>
      </p:sp>
      <p:cxnSp>
        <p:nvCxnSpPr>
          <p:cNvPr id="30" name="Google Shape;30;p49"/>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31" name="Google Shape;31;p49"/>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32" name="Google Shape;32;p49"/>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 id="2147483657"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1.png"/><Relationship Id="rId4" Type="http://schemas.openxmlformats.org/officeDocument/2006/relationships/image" Target="../media/image26.png"/><Relationship Id="rId5" Type="http://schemas.openxmlformats.org/officeDocument/2006/relationships/image" Target="../media/image22.png"/><Relationship Id="rId6"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4.png"/><Relationship Id="rId4" Type="http://schemas.openxmlformats.org/officeDocument/2006/relationships/image" Target="../media/image20.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hyperlink" Target="https://www.consultdss.com/bradley-curve-video/" TargetMode="External"/><Relationship Id="rId4" Type="http://schemas.openxmlformats.org/officeDocument/2006/relationships/image" Target="../media/image2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7.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4.png"/><Relationship Id="rId4" Type="http://schemas.openxmlformats.org/officeDocument/2006/relationships/image" Target="../media/image32.png"/><Relationship Id="rId5" Type="http://schemas.openxmlformats.org/officeDocument/2006/relationships/image" Target="../media/image2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2"/>
          <p:cNvSpPr txBox="1"/>
          <p:nvPr/>
        </p:nvSpPr>
        <p:spPr>
          <a:xfrm>
            <a:off x="228600" y="838200"/>
            <a:ext cx="8610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600" u="none" cap="none" strike="noStrike">
                <a:solidFill>
                  <a:srgbClr val="000099"/>
                </a:solidFill>
                <a:latin typeface="Calibri"/>
                <a:ea typeface="Calibri"/>
                <a:cs typeface="Calibri"/>
                <a:sym typeface="Calibri"/>
              </a:rPr>
              <a:t>On Becoming a </a:t>
            </a:r>
            <a:br>
              <a:rPr b="1" i="1" lang="en-US" sz="3600" u="none" cap="none" strike="noStrike">
                <a:solidFill>
                  <a:srgbClr val="000099"/>
                </a:solidFill>
                <a:latin typeface="Calibri"/>
                <a:ea typeface="Calibri"/>
                <a:cs typeface="Calibri"/>
                <a:sym typeface="Calibri"/>
              </a:rPr>
            </a:br>
            <a:r>
              <a:rPr b="1" i="1" lang="en-US" sz="3600" u="none" cap="none" strike="noStrike">
                <a:solidFill>
                  <a:srgbClr val="000099"/>
                </a:solidFill>
                <a:latin typeface="Calibri"/>
                <a:ea typeface="Calibri"/>
                <a:cs typeface="Calibri"/>
                <a:sym typeface="Calibri"/>
              </a:rPr>
              <a:t>Leader in Risk Management</a:t>
            </a:r>
            <a:endParaRPr b="1" i="1" sz="3600" u="none" cap="none" strike="noStrike">
              <a:solidFill>
                <a:srgbClr val="000099"/>
              </a:solidFill>
              <a:latin typeface="Calibri"/>
              <a:ea typeface="Calibri"/>
              <a:cs typeface="Calibri"/>
              <a:sym typeface="Calibri"/>
            </a:endParaRPr>
          </a:p>
        </p:txBody>
      </p:sp>
      <p:sp>
        <p:nvSpPr>
          <p:cNvPr id="52" name="Google Shape;52;p2"/>
          <p:cNvSpPr txBox="1"/>
          <p:nvPr>
            <p:ph idx="1" type="subTitle"/>
          </p:nvPr>
        </p:nvSpPr>
        <p:spPr>
          <a:xfrm>
            <a:off x="457200" y="2105519"/>
            <a:ext cx="8153400" cy="351264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ENGG404 - Lecture</a:t>
            </a:r>
            <a:endParaRPr/>
          </a:p>
          <a:p>
            <a:pPr indent="0" lvl="0" marL="0" marR="0" rtl="0" algn="ctr">
              <a:spcBef>
                <a:spcPts val="0"/>
              </a:spcBef>
              <a:spcAft>
                <a:spcPts val="0"/>
              </a:spcAft>
              <a:buClr>
                <a:srgbClr val="AA9C8F"/>
              </a:buClr>
              <a:buSzPts val="2800"/>
              <a:buFont typeface="Noto Sans Symbols"/>
              <a:buNone/>
            </a:pPr>
            <a:r>
              <a:rPr b="1" i="0" lang="en-US" sz="2800" u="none" cap="none" strike="noStrike">
                <a:solidFill>
                  <a:schemeClr val="dk2"/>
                </a:solidFill>
                <a:latin typeface="Arial"/>
                <a:ea typeface="Arial"/>
                <a:cs typeface="Arial"/>
                <a:sym typeface="Arial"/>
              </a:rPr>
              <a:t>Chapter 7.5: The Importance of Leadership and The Links Between Safety Performance, Culture, and the Role of Leadership in Shaping Culture</a:t>
            </a:r>
            <a:endParaRPr/>
          </a:p>
        </p:txBody>
      </p:sp>
      <p:sp>
        <p:nvSpPr>
          <p:cNvPr id="53" name="Google Shape;53;p2"/>
          <p:cNvSpPr txBox="1"/>
          <p:nvPr/>
        </p:nvSpPr>
        <p:spPr>
          <a:xfrm>
            <a:off x="152402" y="176015"/>
            <a:ext cx="1176817"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Fundamentals of RM</a:t>
            </a:r>
            <a:endParaRPr/>
          </a:p>
        </p:txBody>
      </p:sp>
      <p:sp>
        <p:nvSpPr>
          <p:cNvPr id="54" name="Google Shape;54;p2"/>
          <p:cNvSpPr txBox="1"/>
          <p:nvPr/>
        </p:nvSpPr>
        <p:spPr>
          <a:xfrm>
            <a:off x="1481037"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System and Process</a:t>
            </a:r>
            <a:endParaRPr/>
          </a:p>
        </p:txBody>
      </p:sp>
      <p:sp>
        <p:nvSpPr>
          <p:cNvPr id="55" name="Google Shape;55;p2"/>
          <p:cNvSpPr txBox="1"/>
          <p:nvPr/>
        </p:nvSpPr>
        <p:spPr>
          <a:xfrm>
            <a:off x="7874130" y="169908"/>
            <a:ext cx="1155550"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Application and Perspectives</a:t>
            </a:r>
            <a:endParaRPr/>
          </a:p>
        </p:txBody>
      </p:sp>
      <p:sp>
        <p:nvSpPr>
          <p:cNvPr id="56" name="Google Shape;56;p2"/>
          <p:cNvSpPr txBox="1"/>
          <p:nvPr/>
        </p:nvSpPr>
        <p:spPr>
          <a:xfrm>
            <a:off x="7051217" y="169908"/>
            <a:ext cx="671096"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People &amp; Org.</a:t>
            </a:r>
            <a:endParaRPr/>
          </a:p>
        </p:txBody>
      </p:sp>
      <p:sp>
        <p:nvSpPr>
          <p:cNvPr id="57" name="Google Shape;57;p2"/>
          <p:cNvSpPr txBox="1"/>
          <p:nvPr/>
        </p:nvSpPr>
        <p:spPr>
          <a:xfrm>
            <a:off x="3834670"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Incident Investigation</a:t>
            </a:r>
            <a:endParaRPr/>
          </a:p>
        </p:txBody>
      </p:sp>
      <p:sp>
        <p:nvSpPr>
          <p:cNvPr id="58" name="Google Shape;58;p2"/>
          <p:cNvSpPr txBox="1"/>
          <p:nvPr/>
        </p:nvSpPr>
        <p:spPr>
          <a:xfrm>
            <a:off x="5011486"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Tools &amp; Challenges</a:t>
            </a:r>
            <a:endParaRPr/>
          </a:p>
        </p:txBody>
      </p:sp>
      <p:sp>
        <p:nvSpPr>
          <p:cNvPr id="59" name="Google Shape;59;p2"/>
          <p:cNvSpPr txBox="1"/>
          <p:nvPr/>
        </p:nvSpPr>
        <p:spPr>
          <a:xfrm>
            <a:off x="2657853" y="170432"/>
            <a:ext cx="1024999"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Leadership in RM</a:t>
            </a:r>
            <a:endParaRPr/>
          </a:p>
        </p:txBody>
      </p:sp>
      <p:cxnSp>
        <p:nvCxnSpPr>
          <p:cNvPr id="60" name="Google Shape;60;p2"/>
          <p:cNvCxnSpPr>
            <a:stCxn id="53" idx="3"/>
            <a:endCxn id="54" idx="1"/>
          </p:cNvCxnSpPr>
          <p:nvPr/>
        </p:nvCxnSpPr>
        <p:spPr>
          <a:xfrm flipH="1" rot="10800000">
            <a:off x="1329219" y="400848"/>
            <a:ext cx="151800" cy="6000"/>
          </a:xfrm>
          <a:prstGeom prst="straightConnector1">
            <a:avLst/>
          </a:prstGeom>
          <a:noFill/>
          <a:ln cap="flat" cmpd="sng" w="9525">
            <a:solidFill>
              <a:schemeClr val="dk1"/>
            </a:solidFill>
            <a:prstDash val="solid"/>
            <a:miter lim="800000"/>
            <a:headEnd len="sm" w="sm" type="none"/>
            <a:tailEnd len="med" w="med" type="triangle"/>
          </a:ln>
        </p:spPr>
      </p:cxnSp>
      <p:cxnSp>
        <p:nvCxnSpPr>
          <p:cNvPr id="61" name="Google Shape;61;p2"/>
          <p:cNvCxnSpPr>
            <a:stCxn id="54" idx="3"/>
            <a:endCxn id="59" idx="1"/>
          </p:cNvCxnSpPr>
          <p:nvPr/>
        </p:nvCxnSpPr>
        <p:spPr>
          <a:xfrm>
            <a:off x="2506036" y="400741"/>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62" name="Google Shape;62;p2"/>
          <p:cNvCxnSpPr>
            <a:stCxn id="59" idx="3"/>
            <a:endCxn id="57" idx="1"/>
          </p:cNvCxnSpPr>
          <p:nvPr/>
        </p:nvCxnSpPr>
        <p:spPr>
          <a:xfrm flipH="1" rot="10800000">
            <a:off x="3682852" y="400665"/>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63" name="Google Shape;63;p2"/>
          <p:cNvCxnSpPr>
            <a:stCxn id="57" idx="3"/>
            <a:endCxn id="58" idx="1"/>
          </p:cNvCxnSpPr>
          <p:nvPr/>
        </p:nvCxnSpPr>
        <p:spPr>
          <a:xfrm>
            <a:off x="4859669" y="400741"/>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64" name="Google Shape;64;p2"/>
          <p:cNvCxnSpPr>
            <a:stCxn id="58" idx="3"/>
          </p:cNvCxnSpPr>
          <p:nvPr/>
        </p:nvCxnSpPr>
        <p:spPr>
          <a:xfrm>
            <a:off x="6036485" y="400741"/>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65" name="Google Shape;65;p2"/>
          <p:cNvCxnSpPr>
            <a:endCxn id="56" idx="1"/>
          </p:cNvCxnSpPr>
          <p:nvPr/>
        </p:nvCxnSpPr>
        <p:spPr>
          <a:xfrm>
            <a:off x="6899417" y="400741"/>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66" name="Google Shape;66;p2"/>
          <p:cNvCxnSpPr>
            <a:stCxn id="56" idx="3"/>
            <a:endCxn id="55" idx="1"/>
          </p:cNvCxnSpPr>
          <p:nvPr/>
        </p:nvCxnSpPr>
        <p:spPr>
          <a:xfrm>
            <a:off x="7722313" y="400741"/>
            <a:ext cx="151800" cy="0"/>
          </a:xfrm>
          <a:prstGeom prst="straightConnector1">
            <a:avLst/>
          </a:prstGeom>
          <a:noFill/>
          <a:ln cap="flat" cmpd="sng" w="9525">
            <a:solidFill>
              <a:schemeClr val="dk1"/>
            </a:solidFill>
            <a:prstDash val="solid"/>
            <a:miter lim="800000"/>
            <a:headEnd len="sm" w="sm" type="none"/>
            <a:tailEnd len="med" w="med" type="triangle"/>
          </a:ln>
        </p:spPr>
      </p:cxnSp>
      <p:sp>
        <p:nvSpPr>
          <p:cNvPr id="67" name="Google Shape;67;p2"/>
          <p:cNvSpPr txBox="1"/>
          <p:nvPr/>
        </p:nvSpPr>
        <p:spPr>
          <a:xfrm>
            <a:off x="6188301" y="169907"/>
            <a:ext cx="692362"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in Industry</a:t>
            </a:r>
            <a:endParaRPr/>
          </a:p>
        </p:txBody>
      </p:sp>
      <p:pic>
        <p:nvPicPr>
          <p:cNvPr id="68" name="Google Shape;68;p2"/>
          <p:cNvPicPr preferRelativeResize="0"/>
          <p:nvPr/>
        </p:nvPicPr>
        <p:blipFill rotWithShape="1">
          <a:blip r:embed="rId3">
            <a:alphaModFix/>
          </a:blip>
          <a:srcRect b="0" l="0" r="0" t="0"/>
          <a:stretch/>
        </p:blipFill>
        <p:spPr>
          <a:xfrm>
            <a:off x="891182" y="4114800"/>
            <a:ext cx="1766671" cy="1766671"/>
          </a:xfrm>
          <a:prstGeom prst="rect">
            <a:avLst/>
          </a:prstGeom>
          <a:noFill/>
          <a:ln>
            <a:noFill/>
          </a:ln>
        </p:spPr>
      </p:pic>
      <p:pic>
        <p:nvPicPr>
          <p:cNvPr descr="Introduction to Sociology - 2013 - The Collaboratory" id="69" name="Google Shape;69;p2"/>
          <p:cNvPicPr preferRelativeResize="0"/>
          <p:nvPr/>
        </p:nvPicPr>
        <p:blipFill rotWithShape="1">
          <a:blip r:embed="rId4">
            <a:alphaModFix/>
          </a:blip>
          <a:srcRect b="0" l="0" r="0" t="0"/>
          <a:stretch/>
        </p:blipFill>
        <p:spPr>
          <a:xfrm>
            <a:off x="6096500" y="4114613"/>
            <a:ext cx="2590300" cy="17668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3"/>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Learning Outcomes:</a:t>
            </a:r>
            <a:endParaRPr/>
          </a:p>
        </p:txBody>
      </p:sp>
      <p:sp>
        <p:nvSpPr>
          <p:cNvPr id="76" name="Google Shape;76;p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7" name="Google Shape;77;p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
        <p:nvSpPr>
          <p:cNvPr id="78" name="Google Shape;78;p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Explain and demonstrate the link between culture and safety performance, and how culture affects performance.</a:t>
            </a:r>
            <a:endParaRPr/>
          </a:p>
          <a:p>
            <a:pPr indent="-245700" lvl="0" marL="3600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Explain and demonstrate the link between leadership actions and culture.</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Explain how desirable behaviours and undesirable behaviours of the leader directly impact the culture of the organization.</a:t>
            </a:r>
            <a:endParaRPr/>
          </a:p>
          <a:p>
            <a:pPr indent="-317700" lvl="0" marL="4320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Explain the concept of “high potential incidents”; explain how leaders can identify these “HiPo” incidents and use leading indicators to influence culture, and explain the rationale why leaders need to focus on these “HiPo” incidents.</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Explain the DuPont-Bradley Curve and demonstrate how one can analyse an organization to determine its phase of development.</a:t>
            </a:r>
            <a:endParaRPr/>
          </a:p>
          <a:p>
            <a:pPr indent="-245700" lvl="0" marL="3600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Explain the integration of The Fundamental Process of Management, RME #6 Program Evaluation and Continuous Improvement, and the DuPont-Bradley Curve.</a:t>
            </a:r>
            <a:endParaRPr b="0" i="0" sz="18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457189" lvl="0" marL="457189"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 From The Merriam-Webster Dictionary:</a:t>
            </a:r>
            <a:endParaRPr/>
          </a:p>
          <a:p>
            <a:pPr indent="-457189" lvl="0" marL="457189" marR="0" rtl="0" algn="l">
              <a:lnSpc>
                <a:spcPct val="100000"/>
              </a:lnSpc>
              <a:spcBef>
                <a:spcPts val="0"/>
              </a:spcBef>
              <a:spcAft>
                <a:spcPts val="0"/>
              </a:spcAft>
              <a:buClr>
                <a:srgbClr val="000000"/>
              </a:buClr>
              <a:buSzPts val="2000"/>
              <a:buFont typeface="Arial"/>
              <a:buNone/>
            </a:pPr>
            <a:r>
              <a:t/>
            </a:r>
            <a:endParaRPr b="1" i="1" sz="2000" u="none" cap="none" strike="noStrike">
              <a:solidFill>
                <a:srgbClr val="000000"/>
              </a:solidFill>
              <a:latin typeface="Arial"/>
              <a:ea typeface="Arial"/>
              <a:cs typeface="Arial"/>
              <a:sym typeface="Arial"/>
            </a:endParaRPr>
          </a:p>
          <a:p>
            <a:pPr indent="-457189" lvl="0" marL="457189"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Arial"/>
                <a:ea typeface="Arial"/>
                <a:cs typeface="Arial"/>
                <a:sym typeface="Arial"/>
              </a:rPr>
              <a:t>Culture: c: the set of shared attitudes, values, goals, and practices that characterizes an institution or organization </a:t>
            </a:r>
            <a:endParaRPr/>
          </a:p>
          <a:p>
            <a:pPr indent="-457189" lvl="0" marL="457189" marR="0" rtl="0" algn="l">
              <a:lnSpc>
                <a:spcPct val="100000"/>
              </a:lnSpc>
              <a:spcBef>
                <a:spcPts val="0"/>
              </a:spcBef>
              <a:spcAft>
                <a:spcPts val="0"/>
              </a:spcAft>
              <a:buClr>
                <a:srgbClr val="000000"/>
              </a:buClr>
              <a:buSzPts val="2000"/>
              <a:buFont typeface="Arial"/>
              <a:buNone/>
            </a:pPr>
            <a:r>
              <a:rPr b="1" i="1" lang="en-US" sz="2000" u="none" cap="none" strike="noStrike">
                <a:solidFill>
                  <a:srgbClr val="000000"/>
                </a:solidFill>
                <a:latin typeface="Arial"/>
                <a:ea typeface="Arial"/>
                <a:cs typeface="Arial"/>
                <a:sym typeface="Arial"/>
              </a:rPr>
              <a:t>	Example: A corporate culture that is focused on the bottom line</a:t>
            </a:r>
            <a:endParaRPr/>
          </a:p>
          <a:p>
            <a:pPr indent="-457189" lvl="0" marL="457189" marR="0" rtl="0" algn="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http://www.merriam-webster.com/dictionary/culture </a:t>
            </a:r>
            <a:endParaRPr/>
          </a:p>
          <a:p>
            <a:pPr indent="0" lvl="0" marL="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Safety Culture:</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Safety is a </a:t>
            </a:r>
            <a:r>
              <a:rPr b="0" i="0" lang="en-US" sz="2000" u="sng" cap="none" strike="noStrike">
                <a:solidFill>
                  <a:srgbClr val="000000"/>
                </a:solidFill>
                <a:latin typeface="Arial"/>
                <a:ea typeface="Arial"/>
                <a:cs typeface="Arial"/>
                <a:sym typeface="Arial"/>
              </a:rPr>
              <a:t>primary value</a:t>
            </a:r>
            <a:r>
              <a:rPr b="0" i="0" lang="en-US" sz="2000" u="none" cap="none" strike="noStrike">
                <a:solidFill>
                  <a:srgbClr val="000000"/>
                </a:solidFill>
                <a:latin typeface="Arial"/>
                <a:ea typeface="Arial"/>
                <a:cs typeface="Arial"/>
                <a:sym typeface="Arial"/>
              </a:rPr>
              <a:t> that adds to the total corporate culture. </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Safety is a </a:t>
            </a:r>
            <a:r>
              <a:rPr b="0" i="0" lang="en-US" sz="2000" u="sng" cap="none" strike="noStrike">
                <a:solidFill>
                  <a:srgbClr val="000000"/>
                </a:solidFill>
                <a:latin typeface="Arial"/>
                <a:ea typeface="Arial"/>
                <a:cs typeface="Arial"/>
                <a:sym typeface="Arial"/>
              </a:rPr>
              <a:t>slice of the total corporate culture</a:t>
            </a:r>
            <a:r>
              <a:rPr b="0" i="0" lang="en-US" sz="2000" u="none" cap="none" strike="noStrike">
                <a:solidFill>
                  <a:srgbClr val="000000"/>
                </a:solidFill>
                <a:latin typeface="Arial"/>
                <a:ea typeface="Arial"/>
                <a:cs typeface="Arial"/>
                <a:sym typeface="Arial"/>
              </a:rPr>
              <a:t> and its set of values such as respect, diversity, learning, integrity, advancing the organization. </a:t>
            </a:r>
            <a:endParaRPr/>
          </a:p>
        </p:txBody>
      </p:sp>
      <p:sp>
        <p:nvSpPr>
          <p:cNvPr id="85" name="Google Shape;85;p4"/>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Q: What are “Culture” and “Safety Culture”?</a:t>
            </a:r>
            <a:endParaRPr/>
          </a:p>
        </p:txBody>
      </p:sp>
      <p:sp>
        <p:nvSpPr>
          <p:cNvPr id="86" name="Google Shape;86;p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7" name="Google Shape;87;p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5"/>
          <p:cNvSpPr txBox="1"/>
          <p:nvPr/>
        </p:nvSpPr>
        <p:spPr>
          <a:xfrm>
            <a:off x="180000" y="820043"/>
            <a:ext cx="8640000" cy="53280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Noto Sans Symbols"/>
              <a:buNone/>
            </a:pPr>
            <a:r>
              <a:rPr b="1" i="0" lang="en-US" sz="1800" u="none" cap="none" strike="noStrike">
                <a:solidFill>
                  <a:srgbClr val="000000"/>
                </a:solidFill>
                <a:latin typeface="Arial"/>
                <a:ea typeface="Arial"/>
                <a:cs typeface="Arial"/>
                <a:sym typeface="Arial"/>
              </a:rPr>
              <a:t>The path to unwanted outcomes … (see notes):</a:t>
            </a:r>
            <a:endParaRPr/>
          </a:p>
        </p:txBody>
      </p:sp>
      <p:sp>
        <p:nvSpPr>
          <p:cNvPr id="96" name="Google Shape;96;p5"/>
          <p:cNvSpPr/>
          <p:nvPr/>
        </p:nvSpPr>
        <p:spPr>
          <a:xfrm>
            <a:off x="180000" y="180000"/>
            <a:ext cx="8640000" cy="54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000"/>
              <a:buFont typeface="Arial"/>
              <a:buNone/>
            </a:pPr>
            <a:r>
              <a:rPr b="0" i="0" lang="en-US" sz="2000" u="none" cap="none" strike="noStrike">
                <a:solidFill>
                  <a:srgbClr val="333399"/>
                </a:solidFill>
                <a:latin typeface="Arial"/>
                <a:ea typeface="Arial"/>
                <a:cs typeface="Arial"/>
                <a:sym typeface="Arial"/>
              </a:rPr>
              <a:t>Why the Emphasis on Culture? The Culture-to-Outcomes Relationship:</a:t>
            </a:r>
            <a:endParaRPr b="0" i="0" sz="2000" u="none" cap="none" strike="noStrike">
              <a:solidFill>
                <a:srgbClr val="333399"/>
              </a:solidFill>
              <a:latin typeface="Arial"/>
              <a:ea typeface="Arial"/>
              <a:cs typeface="Arial"/>
              <a:sym typeface="Arial"/>
            </a:endParaRPr>
          </a:p>
        </p:txBody>
      </p:sp>
      <p:sp>
        <p:nvSpPr>
          <p:cNvPr id="97" name="Google Shape;97;p5"/>
          <p:cNvSpPr/>
          <p:nvPr/>
        </p:nvSpPr>
        <p:spPr>
          <a:xfrm>
            <a:off x="432000" y="2520000"/>
            <a:ext cx="7316787" cy="2938856"/>
          </a:xfrm>
          <a:prstGeom prst="rightArrow">
            <a:avLst>
              <a:gd fmla="val 50000" name="adj1"/>
              <a:gd fmla="val 50000" name="adj2"/>
            </a:avLst>
          </a:prstGeom>
          <a:solidFill>
            <a:srgbClr val="8AC6CC"/>
          </a:solidFill>
          <a:ln cap="flat" cmpd="sng" w="9525">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537000" y="3420000"/>
            <a:ext cx="1368000" cy="1188000"/>
          </a:xfrm>
          <a:custGeom>
            <a:rect b="b" l="l" r="r" t="t"/>
            <a:pathLst>
              <a:path extrusionOk="0" h="1175542" w="1315434">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FFFF00"/>
          </a:solidFill>
          <a:ln cap="flat" cmpd="sng" w="12700">
            <a:solidFill>
              <a:schemeClr val="dk1"/>
            </a:solidFill>
            <a:prstDash val="solid"/>
            <a:round/>
            <a:headEnd len="sm" w="sm" type="none"/>
            <a:tailEnd len="sm" w="sm" type="none"/>
          </a:ln>
        </p:spPr>
        <p:txBody>
          <a:bodyPr anchorCtr="1" anchor="ctr" bIns="36000" lIns="36000" spcFirstLastPara="1" rIns="36000" wrap="square" tIns="36000">
            <a:noAutofit/>
          </a:bodyPr>
          <a:lstStyle/>
          <a:p>
            <a:pPr indent="0" lvl="0" marL="0" marR="0" rtl="0" algn="ctr">
              <a:lnSpc>
                <a:spcPct val="90000"/>
              </a:lnSpc>
              <a:spcBef>
                <a:spcPts val="0"/>
              </a:spcBef>
              <a:spcAft>
                <a:spcPts val="0"/>
              </a:spcAft>
              <a:buNone/>
            </a:pPr>
            <a:r>
              <a:rPr b="1" i="0" lang="en-US" sz="1600" u="none" cap="none" strike="noStrike">
                <a:solidFill>
                  <a:schemeClr val="dk2"/>
                </a:solidFill>
                <a:latin typeface="Arial"/>
                <a:ea typeface="Arial"/>
                <a:cs typeface="Arial"/>
                <a:sym typeface="Arial"/>
              </a:rPr>
              <a:t>Culture</a:t>
            </a:r>
            <a:endParaRPr/>
          </a:p>
        </p:txBody>
      </p:sp>
      <p:sp>
        <p:nvSpPr>
          <p:cNvPr id="99" name="Google Shape;99;p5"/>
          <p:cNvSpPr/>
          <p:nvPr/>
        </p:nvSpPr>
        <p:spPr>
          <a:xfrm>
            <a:off x="1981200" y="3420000"/>
            <a:ext cx="1368000" cy="1188000"/>
          </a:xfrm>
          <a:custGeom>
            <a:rect b="b" l="l" r="r" t="t"/>
            <a:pathLst>
              <a:path extrusionOk="0" h="1175542" w="1315434">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FFFF00"/>
          </a:solidFill>
          <a:ln cap="flat" cmpd="sng" w="12700">
            <a:solidFill>
              <a:schemeClr val="dk1"/>
            </a:solidFill>
            <a:prstDash val="solid"/>
            <a:round/>
            <a:headEnd len="sm" w="sm" type="none"/>
            <a:tailEnd len="sm" w="sm" type="none"/>
          </a:ln>
        </p:spPr>
        <p:txBody>
          <a:bodyPr anchorCtr="1" anchor="ctr" bIns="36000" lIns="36000" spcFirstLastPara="1" rIns="36000" wrap="square" tIns="36000">
            <a:noAutofit/>
          </a:bodyPr>
          <a:lstStyle/>
          <a:p>
            <a:pPr indent="0" lvl="0" marL="0" marR="0" rtl="0" algn="ctr">
              <a:lnSpc>
                <a:spcPct val="90000"/>
              </a:lnSpc>
              <a:spcBef>
                <a:spcPts val="0"/>
              </a:spcBef>
              <a:spcAft>
                <a:spcPts val="0"/>
              </a:spcAft>
              <a:buNone/>
            </a:pPr>
            <a:r>
              <a:rPr b="1" i="0" lang="en-US" sz="1600" u="none" cap="none" strike="noStrike">
                <a:solidFill>
                  <a:schemeClr val="dk2"/>
                </a:solidFill>
                <a:latin typeface="Arial"/>
                <a:ea typeface="Arial"/>
                <a:cs typeface="Arial"/>
                <a:sym typeface="Arial"/>
              </a:rPr>
              <a:t>Management Systems</a:t>
            </a:r>
            <a:endParaRPr/>
          </a:p>
        </p:txBody>
      </p:sp>
      <p:sp>
        <p:nvSpPr>
          <p:cNvPr id="100" name="Google Shape;100;p5"/>
          <p:cNvSpPr/>
          <p:nvPr/>
        </p:nvSpPr>
        <p:spPr>
          <a:xfrm>
            <a:off x="3429000" y="3420000"/>
            <a:ext cx="1368000" cy="1188000"/>
          </a:xfrm>
          <a:custGeom>
            <a:rect b="b" l="l" r="r" t="t"/>
            <a:pathLst>
              <a:path extrusionOk="0" h="1175542" w="1315434">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FFFF00"/>
          </a:solidFill>
          <a:ln cap="flat" cmpd="sng" w="12700">
            <a:solidFill>
              <a:schemeClr val="dk1"/>
            </a:solidFill>
            <a:prstDash val="solid"/>
            <a:round/>
            <a:headEnd len="sm" w="sm" type="none"/>
            <a:tailEnd len="sm" w="sm" type="none"/>
          </a:ln>
        </p:spPr>
        <p:txBody>
          <a:bodyPr anchorCtr="1" anchor="ctr" bIns="36000" lIns="36000" spcFirstLastPara="1" rIns="36000" wrap="square" tIns="36000">
            <a:noAutofit/>
          </a:bodyPr>
          <a:lstStyle/>
          <a:p>
            <a:pPr indent="0" lvl="0" marL="0" marR="0" rtl="0" algn="ctr">
              <a:lnSpc>
                <a:spcPct val="90000"/>
              </a:lnSpc>
              <a:spcBef>
                <a:spcPts val="0"/>
              </a:spcBef>
              <a:spcAft>
                <a:spcPts val="0"/>
              </a:spcAft>
              <a:buNone/>
            </a:pPr>
            <a:r>
              <a:rPr b="1" i="0" lang="en-US" sz="1600" u="none" cap="none" strike="noStrike">
                <a:solidFill>
                  <a:schemeClr val="dk2"/>
                </a:solidFill>
                <a:latin typeface="Arial"/>
                <a:ea typeface="Arial"/>
                <a:cs typeface="Arial"/>
                <a:sym typeface="Arial"/>
              </a:rPr>
              <a:t>Processes &amp; Programs</a:t>
            </a:r>
            <a:endParaRPr/>
          </a:p>
        </p:txBody>
      </p:sp>
      <p:sp>
        <p:nvSpPr>
          <p:cNvPr id="101" name="Google Shape;101;p5"/>
          <p:cNvSpPr/>
          <p:nvPr/>
        </p:nvSpPr>
        <p:spPr>
          <a:xfrm>
            <a:off x="4956600" y="3420000"/>
            <a:ext cx="1368000" cy="1188000"/>
          </a:xfrm>
          <a:custGeom>
            <a:rect b="b" l="l" r="r" t="t"/>
            <a:pathLst>
              <a:path extrusionOk="0" h="1175542" w="1315434">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FFFF00"/>
          </a:solidFill>
          <a:ln cap="flat" cmpd="sng" w="12700">
            <a:solidFill>
              <a:schemeClr val="dk1"/>
            </a:solidFill>
            <a:prstDash val="solid"/>
            <a:round/>
            <a:headEnd len="sm" w="sm" type="none"/>
            <a:tailEnd len="sm" w="sm" type="none"/>
          </a:ln>
        </p:spPr>
        <p:txBody>
          <a:bodyPr anchorCtr="1" anchor="ctr" bIns="36000" lIns="36000" spcFirstLastPara="1" rIns="36000" wrap="square" tIns="36000">
            <a:noAutofit/>
          </a:bodyPr>
          <a:lstStyle/>
          <a:p>
            <a:pPr indent="0" lvl="0" marL="0" marR="0" rtl="0" algn="ctr">
              <a:lnSpc>
                <a:spcPct val="90000"/>
              </a:lnSpc>
              <a:spcBef>
                <a:spcPts val="0"/>
              </a:spcBef>
              <a:spcAft>
                <a:spcPts val="0"/>
              </a:spcAft>
              <a:buNone/>
            </a:pPr>
            <a:r>
              <a:rPr b="1" i="0" lang="en-US" sz="1600" u="none" cap="none" strike="noStrike">
                <a:solidFill>
                  <a:schemeClr val="dk2"/>
                </a:solidFill>
                <a:latin typeface="Arial"/>
                <a:ea typeface="Arial"/>
                <a:cs typeface="Arial"/>
                <a:sym typeface="Arial"/>
              </a:rPr>
              <a:t>Residual</a:t>
            </a:r>
            <a:endParaRPr/>
          </a:p>
          <a:p>
            <a:pPr indent="0" lvl="0" marL="0" marR="0" rtl="0" algn="ctr">
              <a:lnSpc>
                <a:spcPct val="90000"/>
              </a:lnSpc>
              <a:spcBef>
                <a:spcPts val="560"/>
              </a:spcBef>
              <a:spcAft>
                <a:spcPts val="0"/>
              </a:spcAft>
              <a:buNone/>
            </a:pPr>
            <a:r>
              <a:rPr b="1" i="0" lang="en-US" sz="1600" u="none" cap="none" strike="noStrike">
                <a:solidFill>
                  <a:schemeClr val="dk2"/>
                </a:solidFill>
                <a:latin typeface="Arial"/>
                <a:ea typeface="Arial"/>
                <a:cs typeface="Arial"/>
                <a:sym typeface="Arial"/>
              </a:rPr>
              <a:t>Risk</a:t>
            </a:r>
            <a:endParaRPr b="1" i="0" sz="1600" u="none" cap="none" strike="noStrike">
              <a:solidFill>
                <a:schemeClr val="dk2"/>
              </a:solidFill>
              <a:latin typeface="Arial"/>
              <a:ea typeface="Arial"/>
              <a:cs typeface="Arial"/>
              <a:sym typeface="Arial"/>
            </a:endParaRPr>
          </a:p>
        </p:txBody>
      </p:sp>
      <p:sp>
        <p:nvSpPr>
          <p:cNvPr id="102" name="Google Shape;102;p5"/>
          <p:cNvSpPr/>
          <p:nvPr/>
        </p:nvSpPr>
        <p:spPr>
          <a:xfrm>
            <a:off x="6990366" y="3420000"/>
            <a:ext cx="1620234" cy="1188000"/>
          </a:xfrm>
          <a:custGeom>
            <a:rect b="b" l="l" r="r" t="t"/>
            <a:pathLst>
              <a:path extrusionOk="0" h="1175542" w="1315434">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FF0000"/>
          </a:solidFill>
          <a:ln cap="flat" cmpd="sng" w="12700">
            <a:solidFill>
              <a:schemeClr val="dk1"/>
            </a:solidFill>
            <a:prstDash val="solid"/>
            <a:round/>
            <a:headEnd len="sm" w="sm" type="none"/>
            <a:tailEnd len="sm" w="sm" type="none"/>
          </a:ln>
        </p:spPr>
        <p:txBody>
          <a:bodyPr anchorCtr="1" anchor="ctr" bIns="36000" lIns="36000" spcFirstLastPara="1" rIns="36000" wrap="square" tIns="36000">
            <a:noAutofit/>
          </a:bodyPr>
          <a:lstStyle/>
          <a:p>
            <a:pPr indent="0" lvl="0" marL="0" marR="0" rtl="0" algn="ctr">
              <a:lnSpc>
                <a:spcPct val="90000"/>
              </a:lnSpc>
              <a:spcBef>
                <a:spcPts val="0"/>
              </a:spcBef>
              <a:spcAft>
                <a:spcPts val="0"/>
              </a:spcAft>
              <a:buNone/>
            </a:pPr>
            <a:r>
              <a:rPr b="1" i="0" lang="en-US" sz="1600" u="none" cap="none" strike="noStrike">
                <a:solidFill>
                  <a:schemeClr val="lt1"/>
                </a:solidFill>
                <a:latin typeface="Arial"/>
                <a:ea typeface="Arial"/>
                <a:cs typeface="Arial"/>
                <a:sym typeface="Arial"/>
              </a:rPr>
              <a:t>Performance Outcomes</a:t>
            </a:r>
            <a:endParaRPr/>
          </a:p>
          <a:p>
            <a:pPr indent="0" lvl="0" marL="0" marR="0" rtl="0" algn="ctr">
              <a:lnSpc>
                <a:spcPct val="90000"/>
              </a:lnSpc>
              <a:spcBef>
                <a:spcPts val="560"/>
              </a:spcBef>
              <a:spcAft>
                <a:spcPts val="0"/>
              </a:spcAft>
              <a:buNone/>
            </a:pPr>
            <a:r>
              <a:rPr b="1" i="0" lang="en-US" sz="1600" u="none" cap="none" strike="noStrike">
                <a:solidFill>
                  <a:schemeClr val="lt1"/>
                </a:solidFill>
                <a:latin typeface="Arial"/>
                <a:ea typeface="Arial"/>
                <a:cs typeface="Arial"/>
                <a:sym typeface="Arial"/>
              </a:rPr>
              <a:t>(Poor Results)</a:t>
            </a:r>
            <a:endParaRPr b="1" i="0" sz="1600" u="none" cap="none" strike="noStrike">
              <a:solidFill>
                <a:schemeClr val="lt1"/>
              </a:solidFill>
              <a:latin typeface="Arial"/>
              <a:ea typeface="Arial"/>
              <a:cs typeface="Arial"/>
              <a:sym typeface="Arial"/>
            </a:endParaRPr>
          </a:p>
        </p:txBody>
      </p:sp>
      <p:sp>
        <p:nvSpPr>
          <p:cNvPr id="103" name="Google Shape;103;p5"/>
          <p:cNvSpPr txBox="1"/>
          <p:nvPr/>
        </p:nvSpPr>
        <p:spPr>
          <a:xfrm>
            <a:off x="455613" y="5035396"/>
            <a:ext cx="1463040"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Organizational &amp; operational factors</a:t>
            </a:r>
            <a:endParaRPr b="0" i="0" sz="1400" u="none" cap="none" strike="noStrike">
              <a:solidFill>
                <a:srgbClr val="000000"/>
              </a:solidFill>
              <a:latin typeface="Arial"/>
              <a:ea typeface="Arial"/>
              <a:cs typeface="Arial"/>
              <a:sym typeface="Arial"/>
            </a:endParaRPr>
          </a:p>
        </p:txBody>
      </p:sp>
      <p:sp>
        <p:nvSpPr>
          <p:cNvPr id="104" name="Google Shape;104;p5"/>
          <p:cNvSpPr txBox="1"/>
          <p:nvPr/>
        </p:nvSpPr>
        <p:spPr>
          <a:xfrm>
            <a:off x="1838936" y="5041979"/>
            <a:ext cx="1463040" cy="9541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Common management system elements</a:t>
            </a:r>
            <a:endParaRPr b="0" i="0" sz="1400" u="none" cap="none" strike="noStrike">
              <a:solidFill>
                <a:srgbClr val="000000"/>
              </a:solidFill>
              <a:latin typeface="Arial"/>
              <a:ea typeface="Arial"/>
              <a:cs typeface="Arial"/>
              <a:sym typeface="Arial"/>
            </a:endParaRPr>
          </a:p>
        </p:txBody>
      </p:sp>
      <p:sp>
        <p:nvSpPr>
          <p:cNvPr id="105" name="Google Shape;105;p5"/>
          <p:cNvSpPr txBox="1"/>
          <p:nvPr/>
        </p:nvSpPr>
        <p:spPr>
          <a:xfrm>
            <a:off x="3222259" y="5041979"/>
            <a:ext cx="1463040" cy="9541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Requirements driven by management system</a:t>
            </a:r>
            <a:endParaRPr b="0" i="0" sz="1400" u="none" cap="none" strike="noStrike">
              <a:solidFill>
                <a:srgbClr val="000000"/>
              </a:solidFill>
              <a:latin typeface="Arial"/>
              <a:ea typeface="Arial"/>
              <a:cs typeface="Arial"/>
              <a:sym typeface="Arial"/>
            </a:endParaRPr>
          </a:p>
        </p:txBody>
      </p:sp>
      <p:sp>
        <p:nvSpPr>
          <p:cNvPr id="106" name="Google Shape;106;p5"/>
          <p:cNvSpPr txBox="1"/>
          <p:nvPr/>
        </p:nvSpPr>
        <p:spPr>
          <a:xfrm>
            <a:off x="4685299" y="5042105"/>
            <a:ext cx="1699016" cy="9541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Risk level for organization</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(what we tolerate or accept) </a:t>
            </a:r>
            <a:endParaRPr b="0" i="0" sz="1400" u="none" cap="none" strike="noStrike">
              <a:solidFill>
                <a:srgbClr val="000000"/>
              </a:solidFill>
              <a:latin typeface="Arial"/>
              <a:ea typeface="Arial"/>
              <a:cs typeface="Arial"/>
              <a:sym typeface="Arial"/>
            </a:endParaRPr>
          </a:p>
        </p:txBody>
      </p:sp>
      <p:sp>
        <p:nvSpPr>
          <p:cNvPr id="107" name="Google Shape;107;p5"/>
          <p:cNvSpPr txBox="1"/>
          <p:nvPr/>
        </p:nvSpPr>
        <p:spPr>
          <a:xfrm>
            <a:off x="6828691" y="5041979"/>
            <a:ext cx="178190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Actual &amp; potential losses (close calls)</a:t>
            </a:r>
            <a:endParaRPr b="0" i="0" sz="1400" u="none" cap="none" strike="noStrike">
              <a:solidFill>
                <a:srgbClr val="000000"/>
              </a:solidFill>
              <a:latin typeface="Arial"/>
              <a:ea typeface="Arial"/>
              <a:cs typeface="Arial"/>
              <a:sym typeface="Arial"/>
            </a:endParaRPr>
          </a:p>
        </p:txBody>
      </p:sp>
      <p:sp>
        <p:nvSpPr>
          <p:cNvPr id="108" name="Google Shape;108;p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09" name="Google Shape;109;p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
        <p:nvSpPr>
          <p:cNvPr id="110" name="Google Shape;110;p5"/>
          <p:cNvSpPr/>
          <p:nvPr/>
        </p:nvSpPr>
        <p:spPr>
          <a:xfrm>
            <a:off x="442002" y="1371600"/>
            <a:ext cx="2605998" cy="719951"/>
          </a:xfrm>
          <a:prstGeom prst="wedgeRoundRectCallout">
            <a:avLst>
              <a:gd fmla="val 36855" name="adj1"/>
              <a:gd fmla="val 157952" name="adj2"/>
              <a:gd fmla="val 16667" name="adj3"/>
            </a:avLst>
          </a:prstGeom>
          <a:solidFill>
            <a:srgbClr val="FF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Weaknesses here …</a:t>
            </a:r>
            <a:endParaRPr b="1" i="0" sz="1800" u="none" cap="none" strike="noStrike">
              <a:solidFill>
                <a:schemeClr val="dk1"/>
              </a:solidFill>
              <a:latin typeface="Arial"/>
              <a:ea typeface="Arial"/>
              <a:cs typeface="Arial"/>
              <a:sym typeface="Arial"/>
            </a:endParaRPr>
          </a:p>
        </p:txBody>
      </p:sp>
      <p:sp>
        <p:nvSpPr>
          <p:cNvPr id="111" name="Google Shape;111;p5"/>
          <p:cNvSpPr/>
          <p:nvPr/>
        </p:nvSpPr>
        <p:spPr>
          <a:xfrm>
            <a:off x="3301976" y="1371599"/>
            <a:ext cx="2699061" cy="1148275"/>
          </a:xfrm>
          <a:prstGeom prst="wedgeRoundRectCallout">
            <a:avLst>
              <a:gd fmla="val 32019" name="adj1"/>
              <a:gd fmla="val 132281" name="adj2"/>
              <a:gd fmla="val 16667" name="adj3"/>
            </a:avLst>
          </a:prstGeom>
          <a:solidFill>
            <a:srgbClr val="FF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 result in operating at higher than acceptable residual risk levels</a:t>
            </a:r>
            <a:endParaRPr b="1" i="0" sz="1800" u="none" cap="none" strike="noStrike">
              <a:solidFill>
                <a:schemeClr val="dk1"/>
              </a:solidFill>
              <a:latin typeface="Arial"/>
              <a:ea typeface="Arial"/>
              <a:cs typeface="Arial"/>
              <a:sym typeface="Arial"/>
            </a:endParaRPr>
          </a:p>
        </p:txBody>
      </p:sp>
      <p:sp>
        <p:nvSpPr>
          <p:cNvPr id="112" name="Google Shape;112;p5"/>
          <p:cNvSpPr/>
          <p:nvPr/>
        </p:nvSpPr>
        <p:spPr>
          <a:xfrm>
            <a:off x="6255013" y="1371599"/>
            <a:ext cx="2431787" cy="1148275"/>
          </a:xfrm>
          <a:prstGeom prst="wedgeRoundRectCallout">
            <a:avLst>
              <a:gd fmla="val 11947" name="adj1"/>
              <a:gd fmla="val 122038" name="adj2"/>
              <a:gd fmla="val 16667" name="adj3"/>
            </a:avLst>
          </a:prstGeom>
          <a:solidFill>
            <a:srgbClr val="FF0000"/>
          </a:solidFill>
          <a:ln cap="flat" cmpd="sng" w="28575">
            <a:solidFill>
              <a:schemeClr val="dk1"/>
            </a:solidFill>
            <a:prstDash val="solid"/>
            <a:round/>
            <a:headEnd len="sm" w="sm" type="none"/>
            <a:tailEnd len="sm" w="sm" type="none"/>
          </a:ln>
        </p:spPr>
        <p:txBody>
          <a:bodyPr anchorCtr="1" anchor="ctr" bIns="36000" lIns="36000" spcFirstLastPara="1" rIns="36000" wrap="square" tIns="36000">
            <a:noAutofit/>
          </a:bodyPr>
          <a:lstStyle/>
          <a:p>
            <a:pPr indent="0" lvl="0" marL="0" marR="0" rtl="0" algn="ctr">
              <a:lnSpc>
                <a:spcPct val="90000"/>
              </a:lnSpc>
              <a:spcBef>
                <a:spcPts val="0"/>
              </a:spcBef>
              <a:spcAft>
                <a:spcPts val="0"/>
              </a:spcAft>
              <a:buNone/>
            </a:pPr>
            <a:r>
              <a:rPr b="1" i="0" lang="en-US" sz="1800" u="none" cap="none" strike="noStrike">
                <a:solidFill>
                  <a:schemeClr val="lt1"/>
                </a:solidFill>
                <a:latin typeface="Arial"/>
                <a:ea typeface="Arial"/>
                <a:cs typeface="Arial"/>
                <a:sym typeface="Arial"/>
              </a:rPr>
              <a:t>… which will eventually but ultimately result in poor outcomes</a:t>
            </a:r>
            <a:endParaRPr/>
          </a:p>
        </p:txBody>
      </p:sp>
      <p:sp>
        <p:nvSpPr>
          <p:cNvPr id="113" name="Google Shape;113;p5"/>
          <p:cNvSpPr/>
          <p:nvPr/>
        </p:nvSpPr>
        <p:spPr>
          <a:xfrm rot="5400000">
            <a:off x="2413350" y="1130309"/>
            <a:ext cx="573299" cy="3999499"/>
          </a:xfrm>
          <a:prstGeom prst="leftBrace">
            <a:avLst>
              <a:gd fmla="val 21936" name="adj1"/>
              <a:gd fmla="val 49759" name="adj2"/>
            </a:avLst>
          </a:prstGeom>
          <a:noFill/>
          <a:ln cap="flat"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dk1"/>
              </a:solidFill>
              <a:latin typeface="Arial"/>
              <a:ea typeface="Arial"/>
              <a:cs typeface="Arial"/>
              <a:sym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6"/>
          <p:cNvSpPr txBox="1"/>
          <p:nvPr/>
        </p:nvSpPr>
        <p:spPr>
          <a:xfrm>
            <a:off x="180000" y="827999"/>
            <a:ext cx="8640000" cy="53280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Noto Sans Symbols"/>
              <a:buNone/>
            </a:pPr>
            <a:r>
              <a:rPr b="1" i="0" lang="en-US" sz="1800" u="none" cap="none" strike="noStrike">
                <a:solidFill>
                  <a:srgbClr val="000000"/>
                </a:solidFill>
                <a:latin typeface="Arial"/>
                <a:ea typeface="Arial"/>
                <a:cs typeface="Arial"/>
                <a:sym typeface="Arial"/>
              </a:rPr>
              <a:t>The path to </a:t>
            </a:r>
            <a:r>
              <a:rPr b="1" i="0" lang="en-US" sz="1800" u="sng" cap="none" strike="noStrike">
                <a:solidFill>
                  <a:srgbClr val="000000"/>
                </a:solidFill>
                <a:latin typeface="Arial"/>
                <a:ea typeface="Arial"/>
                <a:cs typeface="Arial"/>
                <a:sym typeface="Arial"/>
              </a:rPr>
              <a:t>desirable outcomes</a:t>
            </a:r>
            <a:r>
              <a:rPr b="1" i="0" lang="en-US" sz="1800" u="none" cap="none" strike="noStrike">
                <a:solidFill>
                  <a:srgbClr val="000000"/>
                </a:solidFill>
                <a:latin typeface="Arial"/>
                <a:ea typeface="Arial"/>
                <a:cs typeface="Arial"/>
                <a:sym typeface="Arial"/>
              </a:rPr>
              <a:t> … (see notes): </a:t>
            </a:r>
            <a:endParaRPr/>
          </a:p>
          <a:p>
            <a:pPr indent="-482600" lvl="0" marL="609600" marR="0" rtl="0" algn="l">
              <a:lnSpc>
                <a:spcPct val="100000"/>
              </a:lnSpc>
              <a:spcBef>
                <a:spcPts val="0"/>
              </a:spcBef>
              <a:spcAft>
                <a:spcPts val="0"/>
              </a:spcAft>
              <a:buClr>
                <a:srgbClr val="000000"/>
              </a:buClr>
              <a:buSzPts val="2000"/>
              <a:buFont typeface="Noto Sans Symbols"/>
              <a:buNone/>
            </a:pPr>
            <a:r>
              <a:t/>
            </a:r>
            <a:endParaRPr b="0" i="0" sz="1800" u="none" cap="none" strike="noStrike">
              <a:solidFill>
                <a:srgbClr val="000000"/>
              </a:solidFill>
              <a:latin typeface="Arial"/>
              <a:ea typeface="Arial"/>
              <a:cs typeface="Arial"/>
              <a:sym typeface="Arial"/>
            </a:endParaRPr>
          </a:p>
        </p:txBody>
      </p:sp>
      <p:sp>
        <p:nvSpPr>
          <p:cNvPr id="122" name="Google Shape;122;p6"/>
          <p:cNvSpPr/>
          <p:nvPr/>
        </p:nvSpPr>
        <p:spPr>
          <a:xfrm>
            <a:off x="180000" y="180000"/>
            <a:ext cx="8640000" cy="54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000"/>
              <a:buFont typeface="Arial"/>
              <a:buNone/>
            </a:pPr>
            <a:r>
              <a:rPr b="0" i="0" lang="en-US" sz="2000" u="none" cap="none" strike="noStrike">
                <a:solidFill>
                  <a:srgbClr val="333399"/>
                </a:solidFill>
                <a:latin typeface="Arial"/>
                <a:ea typeface="Arial"/>
                <a:cs typeface="Arial"/>
                <a:sym typeface="Arial"/>
              </a:rPr>
              <a:t>Why the Emphasis on Culture? The Culture-to-Outcomes Relationship:</a:t>
            </a:r>
            <a:endParaRPr b="0" i="0" sz="2000" u="none" cap="none" strike="noStrike">
              <a:solidFill>
                <a:srgbClr val="333399"/>
              </a:solidFill>
              <a:latin typeface="Arial"/>
              <a:ea typeface="Arial"/>
              <a:cs typeface="Arial"/>
              <a:sym typeface="Arial"/>
            </a:endParaRPr>
          </a:p>
        </p:txBody>
      </p:sp>
      <p:sp>
        <p:nvSpPr>
          <p:cNvPr id="123" name="Google Shape;123;p6"/>
          <p:cNvSpPr/>
          <p:nvPr/>
        </p:nvSpPr>
        <p:spPr>
          <a:xfrm>
            <a:off x="432000" y="2520000"/>
            <a:ext cx="7316787" cy="2938856"/>
          </a:xfrm>
          <a:prstGeom prst="rightArrow">
            <a:avLst>
              <a:gd fmla="val 50000" name="adj1"/>
              <a:gd fmla="val 50000" name="adj2"/>
            </a:avLst>
          </a:prstGeom>
          <a:solidFill>
            <a:srgbClr val="8AC6CC"/>
          </a:solidFill>
          <a:ln cap="flat" cmpd="sng" w="9525">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537000" y="3420000"/>
            <a:ext cx="1368000" cy="1188000"/>
          </a:xfrm>
          <a:custGeom>
            <a:rect b="b" l="l" r="r" t="t"/>
            <a:pathLst>
              <a:path extrusionOk="0" h="1175542" w="1315434">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00FFCC"/>
          </a:solidFill>
          <a:ln cap="flat" cmpd="sng" w="12700">
            <a:solidFill>
              <a:schemeClr val="dk1"/>
            </a:solidFill>
            <a:prstDash val="solid"/>
            <a:round/>
            <a:headEnd len="sm" w="sm" type="none"/>
            <a:tailEnd len="sm" w="sm" type="none"/>
          </a:ln>
        </p:spPr>
        <p:txBody>
          <a:bodyPr anchorCtr="1" anchor="ctr" bIns="36000" lIns="36000" spcFirstLastPara="1" rIns="36000" wrap="square" tIns="36000">
            <a:noAutofit/>
          </a:bodyPr>
          <a:lstStyle/>
          <a:p>
            <a:pPr indent="0" lvl="0" marL="0" marR="0" rtl="0" algn="ctr">
              <a:lnSpc>
                <a:spcPct val="90000"/>
              </a:lnSpc>
              <a:spcBef>
                <a:spcPts val="0"/>
              </a:spcBef>
              <a:spcAft>
                <a:spcPts val="0"/>
              </a:spcAft>
              <a:buNone/>
            </a:pPr>
            <a:r>
              <a:rPr b="1" i="0" lang="en-US" sz="1600" u="none" cap="none" strike="noStrike">
                <a:solidFill>
                  <a:schemeClr val="dk2"/>
                </a:solidFill>
                <a:latin typeface="Arial"/>
                <a:ea typeface="Arial"/>
                <a:cs typeface="Arial"/>
                <a:sym typeface="Arial"/>
              </a:rPr>
              <a:t>Culture</a:t>
            </a:r>
            <a:endParaRPr b="1" i="0" sz="1600" u="none" cap="none" strike="noStrike">
              <a:solidFill>
                <a:schemeClr val="dk2"/>
              </a:solidFill>
              <a:latin typeface="Arial"/>
              <a:ea typeface="Arial"/>
              <a:cs typeface="Arial"/>
              <a:sym typeface="Arial"/>
            </a:endParaRPr>
          </a:p>
        </p:txBody>
      </p:sp>
      <p:sp>
        <p:nvSpPr>
          <p:cNvPr id="125" name="Google Shape;125;p6"/>
          <p:cNvSpPr/>
          <p:nvPr/>
        </p:nvSpPr>
        <p:spPr>
          <a:xfrm>
            <a:off x="1981200" y="3420000"/>
            <a:ext cx="1368000" cy="1188000"/>
          </a:xfrm>
          <a:custGeom>
            <a:rect b="b" l="l" r="r" t="t"/>
            <a:pathLst>
              <a:path extrusionOk="0" h="1175542" w="1315434">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00FF00"/>
          </a:solidFill>
          <a:ln cap="flat" cmpd="sng" w="12700">
            <a:solidFill>
              <a:schemeClr val="dk1"/>
            </a:solidFill>
            <a:prstDash val="solid"/>
            <a:round/>
            <a:headEnd len="sm" w="sm" type="none"/>
            <a:tailEnd len="sm" w="sm" type="none"/>
          </a:ln>
        </p:spPr>
        <p:txBody>
          <a:bodyPr anchorCtr="1" anchor="ctr" bIns="36000" lIns="36000" spcFirstLastPara="1" rIns="36000" wrap="square" tIns="36000">
            <a:noAutofit/>
          </a:bodyPr>
          <a:lstStyle/>
          <a:p>
            <a:pPr indent="0" lvl="0" marL="0" marR="0" rtl="0" algn="ctr">
              <a:lnSpc>
                <a:spcPct val="90000"/>
              </a:lnSpc>
              <a:spcBef>
                <a:spcPts val="0"/>
              </a:spcBef>
              <a:spcAft>
                <a:spcPts val="0"/>
              </a:spcAft>
              <a:buNone/>
            </a:pPr>
            <a:r>
              <a:rPr b="1" i="0" lang="en-US" sz="1600" u="none" cap="none" strike="noStrike">
                <a:solidFill>
                  <a:schemeClr val="dk2"/>
                </a:solidFill>
                <a:latin typeface="Arial"/>
                <a:ea typeface="Arial"/>
                <a:cs typeface="Arial"/>
                <a:sym typeface="Arial"/>
              </a:rPr>
              <a:t>Management Systems</a:t>
            </a:r>
            <a:endParaRPr b="1" i="0" sz="1600" u="none" cap="none" strike="noStrike">
              <a:solidFill>
                <a:schemeClr val="dk2"/>
              </a:solidFill>
              <a:latin typeface="Arial"/>
              <a:ea typeface="Arial"/>
              <a:cs typeface="Arial"/>
              <a:sym typeface="Arial"/>
            </a:endParaRPr>
          </a:p>
        </p:txBody>
      </p:sp>
      <p:sp>
        <p:nvSpPr>
          <p:cNvPr id="126" name="Google Shape;126;p6"/>
          <p:cNvSpPr/>
          <p:nvPr/>
        </p:nvSpPr>
        <p:spPr>
          <a:xfrm>
            <a:off x="3429000" y="3420000"/>
            <a:ext cx="1368000" cy="1188000"/>
          </a:xfrm>
          <a:custGeom>
            <a:rect b="b" l="l" r="r" t="t"/>
            <a:pathLst>
              <a:path extrusionOk="0" h="1175542" w="1315434">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00FF00"/>
          </a:solidFill>
          <a:ln cap="flat" cmpd="sng" w="12700">
            <a:solidFill>
              <a:schemeClr val="dk1"/>
            </a:solidFill>
            <a:prstDash val="solid"/>
            <a:round/>
            <a:headEnd len="sm" w="sm" type="none"/>
            <a:tailEnd len="sm" w="sm" type="none"/>
          </a:ln>
        </p:spPr>
        <p:txBody>
          <a:bodyPr anchorCtr="1" anchor="ctr" bIns="36000" lIns="36000" spcFirstLastPara="1" rIns="36000" wrap="square" tIns="36000">
            <a:noAutofit/>
          </a:bodyPr>
          <a:lstStyle/>
          <a:p>
            <a:pPr indent="0" lvl="0" marL="0" marR="0" rtl="0" algn="ctr">
              <a:lnSpc>
                <a:spcPct val="90000"/>
              </a:lnSpc>
              <a:spcBef>
                <a:spcPts val="0"/>
              </a:spcBef>
              <a:spcAft>
                <a:spcPts val="0"/>
              </a:spcAft>
              <a:buNone/>
            </a:pPr>
            <a:r>
              <a:rPr b="1" i="0" lang="en-US" sz="1600" u="none" cap="none" strike="noStrike">
                <a:solidFill>
                  <a:schemeClr val="dk2"/>
                </a:solidFill>
                <a:latin typeface="Arial"/>
                <a:ea typeface="Arial"/>
                <a:cs typeface="Arial"/>
                <a:sym typeface="Arial"/>
              </a:rPr>
              <a:t>Processes &amp; Programs</a:t>
            </a:r>
            <a:endParaRPr b="1" i="0" sz="1600" u="none" cap="none" strike="noStrike">
              <a:solidFill>
                <a:schemeClr val="dk2"/>
              </a:solidFill>
              <a:latin typeface="Arial"/>
              <a:ea typeface="Arial"/>
              <a:cs typeface="Arial"/>
              <a:sym typeface="Arial"/>
            </a:endParaRPr>
          </a:p>
        </p:txBody>
      </p:sp>
      <p:sp>
        <p:nvSpPr>
          <p:cNvPr id="127" name="Google Shape;127;p6"/>
          <p:cNvSpPr/>
          <p:nvPr/>
        </p:nvSpPr>
        <p:spPr>
          <a:xfrm>
            <a:off x="4956600" y="3420000"/>
            <a:ext cx="1368000" cy="1188000"/>
          </a:xfrm>
          <a:custGeom>
            <a:rect b="b" l="l" r="r" t="t"/>
            <a:pathLst>
              <a:path extrusionOk="0" h="1175542" w="1315434">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00FF00"/>
          </a:solidFill>
          <a:ln cap="flat" cmpd="sng" w="12700">
            <a:solidFill>
              <a:schemeClr val="dk1"/>
            </a:solidFill>
            <a:prstDash val="solid"/>
            <a:round/>
            <a:headEnd len="sm" w="sm" type="none"/>
            <a:tailEnd len="sm" w="sm" type="none"/>
          </a:ln>
        </p:spPr>
        <p:txBody>
          <a:bodyPr anchorCtr="1" anchor="ctr" bIns="36000" lIns="36000" spcFirstLastPara="1" rIns="36000" wrap="square" tIns="36000">
            <a:noAutofit/>
          </a:bodyPr>
          <a:lstStyle/>
          <a:p>
            <a:pPr indent="0" lvl="0" marL="0" marR="0" rtl="0" algn="ctr">
              <a:lnSpc>
                <a:spcPct val="90000"/>
              </a:lnSpc>
              <a:spcBef>
                <a:spcPts val="0"/>
              </a:spcBef>
              <a:spcAft>
                <a:spcPts val="0"/>
              </a:spcAft>
              <a:buNone/>
            </a:pPr>
            <a:r>
              <a:rPr b="1" i="0" lang="en-US" sz="1600" u="none" cap="none" strike="noStrike">
                <a:solidFill>
                  <a:schemeClr val="dk2"/>
                </a:solidFill>
                <a:latin typeface="Arial"/>
                <a:ea typeface="Arial"/>
                <a:cs typeface="Arial"/>
                <a:sym typeface="Arial"/>
              </a:rPr>
              <a:t>Residual</a:t>
            </a:r>
            <a:endParaRPr/>
          </a:p>
          <a:p>
            <a:pPr indent="0" lvl="0" marL="0" marR="0" rtl="0" algn="ctr">
              <a:lnSpc>
                <a:spcPct val="90000"/>
              </a:lnSpc>
              <a:spcBef>
                <a:spcPts val="560"/>
              </a:spcBef>
              <a:spcAft>
                <a:spcPts val="0"/>
              </a:spcAft>
              <a:buNone/>
            </a:pPr>
            <a:r>
              <a:rPr b="1" i="0" lang="en-US" sz="1600" u="none" cap="none" strike="noStrike">
                <a:solidFill>
                  <a:schemeClr val="dk2"/>
                </a:solidFill>
                <a:latin typeface="Arial"/>
                <a:ea typeface="Arial"/>
                <a:cs typeface="Arial"/>
                <a:sym typeface="Arial"/>
              </a:rPr>
              <a:t>Risk</a:t>
            </a:r>
            <a:endParaRPr/>
          </a:p>
        </p:txBody>
      </p:sp>
      <p:sp>
        <p:nvSpPr>
          <p:cNvPr id="128" name="Google Shape;128;p6"/>
          <p:cNvSpPr/>
          <p:nvPr/>
        </p:nvSpPr>
        <p:spPr>
          <a:xfrm>
            <a:off x="6990366" y="3420000"/>
            <a:ext cx="1620234" cy="1188000"/>
          </a:xfrm>
          <a:custGeom>
            <a:rect b="b" l="l" r="r" t="t"/>
            <a:pathLst>
              <a:path extrusionOk="0" h="1175542" w="1315434">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00FF00"/>
          </a:solidFill>
          <a:ln cap="flat" cmpd="sng" w="12700">
            <a:solidFill>
              <a:schemeClr val="dk1"/>
            </a:solidFill>
            <a:prstDash val="solid"/>
            <a:round/>
            <a:headEnd len="sm" w="sm" type="none"/>
            <a:tailEnd len="sm" w="sm" type="none"/>
          </a:ln>
        </p:spPr>
        <p:txBody>
          <a:bodyPr anchorCtr="1" anchor="ctr" bIns="36000" lIns="36000" spcFirstLastPara="1" rIns="36000" wrap="square" tIns="36000">
            <a:noAutofit/>
          </a:bodyPr>
          <a:lstStyle/>
          <a:p>
            <a:pPr indent="0" lvl="0" marL="0" marR="0" rtl="0" algn="ctr">
              <a:lnSpc>
                <a:spcPct val="90000"/>
              </a:lnSpc>
              <a:spcBef>
                <a:spcPts val="0"/>
              </a:spcBef>
              <a:spcAft>
                <a:spcPts val="0"/>
              </a:spcAft>
              <a:buNone/>
            </a:pPr>
            <a:r>
              <a:rPr b="1" i="0" lang="en-US" sz="1600" u="none" cap="none" strike="noStrike">
                <a:solidFill>
                  <a:schemeClr val="dk2"/>
                </a:solidFill>
                <a:latin typeface="Arial"/>
                <a:ea typeface="Arial"/>
                <a:cs typeface="Arial"/>
                <a:sym typeface="Arial"/>
              </a:rPr>
              <a:t>Performance Outcomes</a:t>
            </a:r>
            <a:endParaRPr/>
          </a:p>
          <a:p>
            <a:pPr indent="0" lvl="0" marL="0" marR="0" rtl="0" algn="ctr">
              <a:lnSpc>
                <a:spcPct val="90000"/>
              </a:lnSpc>
              <a:spcBef>
                <a:spcPts val="560"/>
              </a:spcBef>
              <a:spcAft>
                <a:spcPts val="0"/>
              </a:spcAft>
              <a:buNone/>
            </a:pPr>
            <a:r>
              <a:rPr b="1" i="0" lang="en-US" sz="1600" u="none" cap="none" strike="noStrike">
                <a:solidFill>
                  <a:schemeClr val="dk2"/>
                </a:solidFill>
                <a:latin typeface="Arial"/>
                <a:ea typeface="Arial"/>
                <a:cs typeface="Arial"/>
                <a:sym typeface="Arial"/>
              </a:rPr>
              <a:t>(Good Results)</a:t>
            </a:r>
            <a:endParaRPr/>
          </a:p>
        </p:txBody>
      </p:sp>
      <p:sp>
        <p:nvSpPr>
          <p:cNvPr id="129" name="Google Shape;129;p6"/>
          <p:cNvSpPr txBox="1"/>
          <p:nvPr/>
        </p:nvSpPr>
        <p:spPr>
          <a:xfrm>
            <a:off x="455613" y="5035396"/>
            <a:ext cx="1463040"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Organizational &amp; operational factors</a:t>
            </a:r>
            <a:endParaRPr b="0" i="0" sz="1400" u="none" cap="none" strike="noStrike">
              <a:solidFill>
                <a:srgbClr val="000000"/>
              </a:solidFill>
              <a:latin typeface="Arial"/>
              <a:ea typeface="Arial"/>
              <a:cs typeface="Arial"/>
              <a:sym typeface="Arial"/>
            </a:endParaRPr>
          </a:p>
        </p:txBody>
      </p:sp>
      <p:sp>
        <p:nvSpPr>
          <p:cNvPr id="130" name="Google Shape;130;p6"/>
          <p:cNvSpPr txBox="1"/>
          <p:nvPr/>
        </p:nvSpPr>
        <p:spPr>
          <a:xfrm>
            <a:off x="1838936" y="5041979"/>
            <a:ext cx="1463040" cy="9541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Common management system elements</a:t>
            </a:r>
            <a:endParaRPr b="0" i="0" sz="1400" u="none" cap="none" strike="noStrike">
              <a:solidFill>
                <a:srgbClr val="000000"/>
              </a:solidFill>
              <a:latin typeface="Arial"/>
              <a:ea typeface="Arial"/>
              <a:cs typeface="Arial"/>
              <a:sym typeface="Arial"/>
            </a:endParaRPr>
          </a:p>
        </p:txBody>
      </p:sp>
      <p:sp>
        <p:nvSpPr>
          <p:cNvPr id="131" name="Google Shape;131;p6"/>
          <p:cNvSpPr txBox="1"/>
          <p:nvPr/>
        </p:nvSpPr>
        <p:spPr>
          <a:xfrm>
            <a:off x="3222259" y="5041979"/>
            <a:ext cx="1463040" cy="9541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Requirements driven by management system</a:t>
            </a:r>
            <a:endParaRPr b="0" i="0" sz="1400" u="none" cap="none" strike="noStrike">
              <a:solidFill>
                <a:srgbClr val="000000"/>
              </a:solidFill>
              <a:latin typeface="Arial"/>
              <a:ea typeface="Arial"/>
              <a:cs typeface="Arial"/>
              <a:sym typeface="Arial"/>
            </a:endParaRPr>
          </a:p>
        </p:txBody>
      </p:sp>
      <p:sp>
        <p:nvSpPr>
          <p:cNvPr id="132" name="Google Shape;132;p6"/>
          <p:cNvSpPr txBox="1"/>
          <p:nvPr/>
        </p:nvSpPr>
        <p:spPr>
          <a:xfrm>
            <a:off x="4685299" y="5042105"/>
            <a:ext cx="1699016" cy="9541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Risk level for organization</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(what we tolerate or accept) </a:t>
            </a:r>
            <a:endParaRPr b="0" i="0" sz="1400" u="none" cap="none" strike="noStrike">
              <a:solidFill>
                <a:srgbClr val="000000"/>
              </a:solidFill>
              <a:latin typeface="Arial"/>
              <a:ea typeface="Arial"/>
              <a:cs typeface="Arial"/>
              <a:sym typeface="Arial"/>
            </a:endParaRPr>
          </a:p>
        </p:txBody>
      </p:sp>
      <p:sp>
        <p:nvSpPr>
          <p:cNvPr id="133" name="Google Shape;133;p6"/>
          <p:cNvSpPr txBox="1"/>
          <p:nvPr/>
        </p:nvSpPr>
        <p:spPr>
          <a:xfrm>
            <a:off x="6828691" y="5041979"/>
            <a:ext cx="178190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Actual &amp; potential losses (close calls)</a:t>
            </a:r>
            <a:endParaRPr b="0" i="0" sz="1400" u="none" cap="none" strike="noStrike">
              <a:solidFill>
                <a:srgbClr val="000000"/>
              </a:solidFill>
              <a:latin typeface="Arial"/>
              <a:ea typeface="Arial"/>
              <a:cs typeface="Arial"/>
              <a:sym typeface="Arial"/>
            </a:endParaRPr>
          </a:p>
        </p:txBody>
      </p:sp>
      <p:sp>
        <p:nvSpPr>
          <p:cNvPr id="134" name="Google Shape;134;p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35" name="Google Shape;135;p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
        <p:nvSpPr>
          <p:cNvPr id="136" name="Google Shape;136;p6"/>
          <p:cNvSpPr/>
          <p:nvPr/>
        </p:nvSpPr>
        <p:spPr>
          <a:xfrm>
            <a:off x="4419600" y="1273360"/>
            <a:ext cx="4267200" cy="867883"/>
          </a:xfrm>
          <a:prstGeom prst="wedgeRoundRectCallout">
            <a:avLst>
              <a:gd fmla="val -54937" name="adj1"/>
              <a:gd fmla="val 133283" name="adj2"/>
              <a:gd fmla="val 16667" name="adj3"/>
            </a:avLst>
          </a:prstGeom>
          <a:solidFill>
            <a:srgbClr val="00FF00"/>
          </a:solidFill>
          <a:ln cap="flat" cmpd="sng" w="12700">
            <a:solidFill>
              <a:schemeClr val="dk1"/>
            </a:solidFill>
            <a:prstDash val="solid"/>
            <a:round/>
            <a:headEnd len="sm" w="sm" type="none"/>
            <a:tailEnd len="sm" w="sm" type="none"/>
          </a:ln>
        </p:spPr>
        <p:txBody>
          <a:bodyPr anchorCtr="1" anchor="ctr" bIns="36000" lIns="36000" spcFirstLastPara="1" rIns="36000" wrap="square" tIns="36000">
            <a:noAutofit/>
          </a:bodyPr>
          <a:lstStyle/>
          <a:p>
            <a:pPr indent="0" lvl="0" marL="0" marR="0" rtl="0" algn="ctr">
              <a:lnSpc>
                <a:spcPct val="90000"/>
              </a:lnSpc>
              <a:spcBef>
                <a:spcPts val="0"/>
              </a:spcBef>
              <a:spcAft>
                <a:spcPts val="0"/>
              </a:spcAft>
              <a:buNone/>
            </a:pPr>
            <a:r>
              <a:rPr b="1" i="0" lang="en-US" sz="1800" u="none" cap="none" strike="noStrike">
                <a:solidFill>
                  <a:schemeClr val="dk2"/>
                </a:solidFill>
                <a:latin typeface="Arial"/>
                <a:ea typeface="Arial"/>
                <a:cs typeface="Arial"/>
                <a:sym typeface="Arial"/>
              </a:rPr>
              <a:t>1) We should readily see the connections for actions here to reduce and improve performance.</a:t>
            </a:r>
            <a:endParaRPr b="1" i="0" sz="1800" u="none" cap="none" strike="noStrike">
              <a:solidFill>
                <a:schemeClr val="dk2"/>
              </a:solidFill>
              <a:latin typeface="Arial"/>
              <a:ea typeface="Arial"/>
              <a:cs typeface="Arial"/>
              <a:sym typeface="Arial"/>
            </a:endParaRPr>
          </a:p>
        </p:txBody>
      </p:sp>
      <p:sp>
        <p:nvSpPr>
          <p:cNvPr id="137" name="Google Shape;137;p6"/>
          <p:cNvSpPr/>
          <p:nvPr/>
        </p:nvSpPr>
        <p:spPr>
          <a:xfrm rot="5400000">
            <a:off x="3866249" y="1034558"/>
            <a:ext cx="573299" cy="4191001"/>
          </a:xfrm>
          <a:prstGeom prst="leftBrace">
            <a:avLst>
              <a:gd fmla="val 21936" name="adj1"/>
              <a:gd fmla="val 49759" name="adj2"/>
            </a:avLst>
          </a:prstGeom>
          <a:noFill/>
          <a:ln cap="flat" cmpd="sng" w="381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dk1"/>
              </a:solidFill>
              <a:latin typeface="Arial"/>
              <a:ea typeface="Arial"/>
              <a:cs typeface="Arial"/>
              <a:sym typeface="Arial"/>
            </a:endParaRPr>
          </a:p>
        </p:txBody>
      </p:sp>
      <p:sp>
        <p:nvSpPr>
          <p:cNvPr id="138" name="Google Shape;138;p6"/>
          <p:cNvSpPr/>
          <p:nvPr/>
        </p:nvSpPr>
        <p:spPr>
          <a:xfrm>
            <a:off x="537000" y="1288500"/>
            <a:ext cx="3577800" cy="1172970"/>
          </a:xfrm>
          <a:prstGeom prst="wedgeRoundRectCallout">
            <a:avLst>
              <a:gd fmla="val -28218" name="adj1"/>
              <a:gd fmla="val 135565" name="adj2"/>
              <a:gd fmla="val 16667" name="adj3"/>
            </a:avLst>
          </a:prstGeom>
          <a:solidFill>
            <a:srgbClr val="00FFCC"/>
          </a:solidFill>
          <a:ln cap="flat" cmpd="sng" w="12700">
            <a:solidFill>
              <a:schemeClr val="dk1"/>
            </a:solidFill>
            <a:prstDash val="solid"/>
            <a:round/>
            <a:headEnd len="sm" w="sm" type="none"/>
            <a:tailEnd len="sm" w="sm" type="none"/>
          </a:ln>
        </p:spPr>
        <p:txBody>
          <a:bodyPr anchorCtr="1" anchor="ctr" bIns="36000" lIns="36000" spcFirstLastPara="1" rIns="36000" wrap="square" tIns="36000">
            <a:noAutofit/>
          </a:bodyPr>
          <a:lstStyle/>
          <a:p>
            <a:pPr indent="0" lvl="0" marL="0" marR="0" rtl="0" algn="ctr">
              <a:lnSpc>
                <a:spcPct val="90000"/>
              </a:lnSpc>
              <a:spcBef>
                <a:spcPts val="0"/>
              </a:spcBef>
              <a:spcAft>
                <a:spcPts val="0"/>
              </a:spcAft>
              <a:buNone/>
            </a:pPr>
            <a:r>
              <a:rPr b="1" i="0" lang="en-US" sz="1800" u="none" cap="none" strike="noStrike">
                <a:solidFill>
                  <a:schemeClr val="dk2"/>
                </a:solidFill>
                <a:latin typeface="Arial"/>
                <a:ea typeface="Arial"/>
                <a:cs typeface="Arial"/>
                <a:sym typeface="Arial"/>
              </a:rPr>
              <a:t>2) We now transition to where we, as leaders, must also build and promote a positive safety culture.</a:t>
            </a:r>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Recall that safety culture determines safety performance:</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Q: So, how does leadership shape </a:t>
            </a:r>
            <a:br>
              <a:rPr b="1" i="0" lang="en-US" sz="2000" u="none" cap="none" strike="noStrike">
                <a:solidFill>
                  <a:srgbClr val="000000"/>
                </a:solidFill>
                <a:latin typeface="Arial"/>
                <a:ea typeface="Arial"/>
                <a:cs typeface="Arial"/>
                <a:sym typeface="Arial"/>
              </a:rPr>
            </a:br>
            <a:r>
              <a:rPr b="1" i="0" lang="en-US" sz="2000" u="none" cap="none" strike="noStrike">
                <a:solidFill>
                  <a:srgbClr val="000000"/>
                </a:solidFill>
                <a:latin typeface="Arial"/>
                <a:ea typeface="Arial"/>
                <a:cs typeface="Arial"/>
                <a:sym typeface="Arial"/>
              </a:rPr>
              <a:t>that culture?</a:t>
            </a:r>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 Through their actions!</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Just as performance is founded on</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culture, culture is founded on</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leadership actions. </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Let’s explore leadership actions.</a:t>
            </a:r>
            <a:endParaRPr b="0" i="0" sz="2000" u="none" cap="none" strike="noStrike">
              <a:solidFill>
                <a:srgbClr val="000000"/>
              </a:solidFill>
              <a:latin typeface="Arial"/>
              <a:ea typeface="Arial"/>
              <a:cs typeface="Arial"/>
              <a:sym typeface="Arial"/>
            </a:endParaRPr>
          </a:p>
        </p:txBody>
      </p:sp>
      <p:sp>
        <p:nvSpPr>
          <p:cNvPr id="145" name="Google Shape;145;p7"/>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Leadership Actions Determines Safety Culture:</a:t>
            </a:r>
            <a:endParaRPr b="0" i="0" sz="2400" u="none" cap="none" strike="noStrike">
              <a:solidFill>
                <a:schemeClr val="accent2"/>
              </a:solidFill>
              <a:latin typeface="Arial"/>
              <a:ea typeface="Arial"/>
              <a:cs typeface="Arial"/>
              <a:sym typeface="Arial"/>
            </a:endParaRPr>
          </a:p>
        </p:txBody>
      </p:sp>
      <p:sp>
        <p:nvSpPr>
          <p:cNvPr id="146" name="Google Shape;146;p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47" name="Google Shape;147;p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pic>
        <p:nvPicPr>
          <p:cNvPr id="148" name="Google Shape;148;p7"/>
          <p:cNvPicPr preferRelativeResize="0"/>
          <p:nvPr/>
        </p:nvPicPr>
        <p:blipFill rotWithShape="1">
          <a:blip r:embed="rId3">
            <a:alphaModFix/>
          </a:blip>
          <a:srcRect b="0" l="0" r="0" t="0"/>
          <a:stretch/>
        </p:blipFill>
        <p:spPr>
          <a:xfrm>
            <a:off x="501637" y="1285880"/>
            <a:ext cx="1780906" cy="1335680"/>
          </a:xfrm>
          <a:prstGeom prst="rect">
            <a:avLst/>
          </a:prstGeom>
          <a:noFill/>
          <a:ln cap="flat" cmpd="sng" w="9525">
            <a:solidFill>
              <a:schemeClr val="dk1"/>
            </a:solidFill>
            <a:prstDash val="solid"/>
            <a:round/>
            <a:headEnd len="sm" w="sm" type="none"/>
            <a:tailEnd len="sm" w="sm" type="none"/>
          </a:ln>
        </p:spPr>
      </p:pic>
      <p:sp>
        <p:nvSpPr>
          <p:cNvPr id="149" name="Google Shape;149;p7"/>
          <p:cNvSpPr/>
          <p:nvPr/>
        </p:nvSpPr>
        <p:spPr>
          <a:xfrm>
            <a:off x="5442857" y="1579639"/>
            <a:ext cx="2286472" cy="1954792"/>
          </a:xfrm>
          <a:prstGeom prst="triangle">
            <a:avLst>
              <a:gd fmla="val 50697" name="adj"/>
            </a:avLst>
          </a:prstGeom>
          <a:solidFill>
            <a:schemeClr val="accent1"/>
          </a:solidFill>
          <a:ln cap="flat" cmpd="sng" w="25400">
            <a:solidFill>
              <a:schemeClr val="dk1"/>
            </a:solidFill>
            <a:prstDash val="solid"/>
            <a:round/>
            <a:headEnd len="sm" w="sm" type="none"/>
            <a:tailEnd len="sm" w="sm" type="none"/>
          </a:ln>
        </p:spPr>
        <p:txBody>
          <a:bodyPr anchorCtr="0" anchor="b" bIns="0" lIns="0" spcFirstLastPara="1" rIns="0" wrap="square" tIns="0">
            <a:noAutofit/>
          </a:bodyPr>
          <a:lstStyle/>
          <a:p>
            <a:pPr indent="0" lvl="0" marL="0" marR="0" rtl="0" algn="ctr">
              <a:spcBef>
                <a:spcPts val="0"/>
              </a:spcBef>
              <a:spcAft>
                <a:spcPts val="0"/>
              </a:spcAft>
              <a:buNone/>
            </a:pPr>
            <a:r>
              <a:t/>
            </a:r>
            <a:endParaRPr b="1" i="0" sz="1600" u="none" cap="none" strike="noStrike">
              <a:solidFill>
                <a:schemeClr val="dk1"/>
              </a:solidFill>
              <a:latin typeface="Arial"/>
              <a:ea typeface="Arial"/>
              <a:cs typeface="Arial"/>
              <a:sym typeface="Arial"/>
            </a:endParaRPr>
          </a:p>
        </p:txBody>
      </p:sp>
      <p:sp>
        <p:nvSpPr>
          <p:cNvPr id="150" name="Google Shape;150;p7"/>
          <p:cNvSpPr/>
          <p:nvPr/>
        </p:nvSpPr>
        <p:spPr>
          <a:xfrm>
            <a:off x="4800599" y="4038600"/>
            <a:ext cx="3528000" cy="828000"/>
          </a:xfrm>
          <a:prstGeom prst="trapezoid">
            <a:avLst>
              <a:gd fmla="val 58631" name="adj"/>
            </a:avLst>
          </a:prstGeom>
          <a:solidFill>
            <a:schemeClr val="accent1"/>
          </a:solidFill>
          <a:ln cap="flat" cmpd="sng" w="25400">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Culture</a:t>
            </a:r>
            <a:endParaRPr/>
          </a:p>
        </p:txBody>
      </p:sp>
      <p:sp>
        <p:nvSpPr>
          <p:cNvPr id="151" name="Google Shape;151;p7"/>
          <p:cNvSpPr/>
          <p:nvPr/>
        </p:nvSpPr>
        <p:spPr>
          <a:xfrm>
            <a:off x="4191000" y="5370769"/>
            <a:ext cx="4752000" cy="828000"/>
          </a:xfrm>
          <a:prstGeom prst="trapezoid">
            <a:avLst>
              <a:gd fmla="val 59680" name="adj"/>
            </a:avLst>
          </a:prstGeom>
          <a:solidFill>
            <a:schemeClr val="accent1"/>
          </a:solidFill>
          <a:ln cap="flat" cmpd="sng" w="25400">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Leadership Actions</a:t>
            </a:r>
            <a:endParaRPr b="1" i="0" sz="1800" u="none" cap="none" strike="noStrike">
              <a:solidFill>
                <a:schemeClr val="dk1"/>
              </a:solidFill>
              <a:latin typeface="Arial"/>
              <a:ea typeface="Arial"/>
              <a:cs typeface="Arial"/>
              <a:sym typeface="Arial"/>
            </a:endParaRPr>
          </a:p>
        </p:txBody>
      </p:sp>
      <p:sp>
        <p:nvSpPr>
          <p:cNvPr id="152" name="Google Shape;152;p7"/>
          <p:cNvSpPr/>
          <p:nvPr/>
        </p:nvSpPr>
        <p:spPr>
          <a:xfrm>
            <a:off x="5442858" y="2590800"/>
            <a:ext cx="2286472" cy="778631"/>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Performance</a:t>
            </a:r>
            <a:endParaRPr b="1" i="0" sz="1800" u="none" cap="none" strike="noStrike">
              <a:solidFill>
                <a:schemeClr val="dk1"/>
              </a:solidFill>
              <a:latin typeface="Arial"/>
              <a:ea typeface="Arial"/>
              <a:cs typeface="Arial"/>
              <a:sym typeface="Arial"/>
            </a:endParaRPr>
          </a:p>
        </p:txBody>
      </p:sp>
      <p:sp>
        <p:nvSpPr>
          <p:cNvPr id="153" name="Google Shape;153;p7"/>
          <p:cNvSpPr/>
          <p:nvPr/>
        </p:nvSpPr>
        <p:spPr>
          <a:xfrm>
            <a:off x="5780999" y="4707768"/>
            <a:ext cx="1534200" cy="828001"/>
          </a:xfrm>
          <a:prstGeom prst="upArrow">
            <a:avLst>
              <a:gd fmla="val 50000" name="adj1"/>
              <a:gd fmla="val 50000" name="adj2"/>
            </a:avLst>
          </a:prstGeom>
          <a:solidFill>
            <a:srgbClr val="00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
        <p:nvSpPr>
          <p:cNvPr id="154" name="Google Shape;154;p7"/>
          <p:cNvSpPr/>
          <p:nvPr/>
        </p:nvSpPr>
        <p:spPr>
          <a:xfrm>
            <a:off x="5840699" y="3369431"/>
            <a:ext cx="1534200" cy="834168"/>
          </a:xfrm>
          <a:prstGeom prst="upArrow">
            <a:avLst>
              <a:gd fmla="val 50000" name="adj1"/>
              <a:gd fmla="val 50000" name="adj2"/>
            </a:avLst>
          </a:prstGeom>
          <a:solidFill>
            <a:srgbClr val="00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Arial"/>
              <a:ea typeface="Arial"/>
              <a:cs typeface="Arial"/>
              <a:sym typeface="Arial"/>
            </a:endParaRPr>
          </a:p>
        </p:txBody>
      </p:sp>
      <p:pic>
        <p:nvPicPr>
          <p:cNvPr id="155" name="Google Shape;155;p7"/>
          <p:cNvPicPr preferRelativeResize="0"/>
          <p:nvPr/>
        </p:nvPicPr>
        <p:blipFill rotWithShape="1">
          <a:blip r:embed="rId4">
            <a:alphaModFix/>
          </a:blip>
          <a:srcRect b="0" l="0" r="0" t="0"/>
          <a:stretch/>
        </p:blipFill>
        <p:spPr>
          <a:xfrm>
            <a:off x="2604180" y="1255819"/>
            <a:ext cx="3117926" cy="1353500"/>
          </a:xfrm>
          <a:prstGeom prst="rect">
            <a:avLst/>
          </a:prstGeom>
          <a:noFill/>
          <a:ln>
            <a:no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8"/>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Five key factors for </a:t>
            </a:r>
            <a:r>
              <a:rPr b="1" i="0" lang="en-US" sz="2000" u="sng" cap="none" strike="noStrike">
                <a:solidFill>
                  <a:srgbClr val="000000"/>
                </a:solidFill>
                <a:latin typeface="Arial"/>
                <a:ea typeface="Arial"/>
                <a:cs typeface="Arial"/>
                <a:sym typeface="Arial"/>
              </a:rPr>
              <a:t>sound leadership in risk management</a:t>
            </a:r>
            <a:r>
              <a:rPr b="1" i="0" lang="en-US" sz="2000" u="none" cap="none" strike="noStrike">
                <a:solidFill>
                  <a:srgbClr val="000000"/>
                </a:solidFill>
                <a:latin typeface="Arial"/>
                <a:ea typeface="Arial"/>
                <a:cs typeface="Arial"/>
                <a:sym typeface="Arial"/>
              </a:rPr>
              <a:t>:</a:t>
            </a:r>
            <a:endParaRPr/>
          </a:p>
          <a:p>
            <a:pPr indent="-609600" lvl="0" marL="609600" marR="0" rtl="0" algn="l">
              <a:lnSpc>
                <a:spcPct val="110000"/>
              </a:lnSpc>
              <a:spcBef>
                <a:spcPts val="1000"/>
              </a:spcBef>
              <a:spcAft>
                <a:spcPts val="0"/>
              </a:spcAft>
              <a:buClr>
                <a:srgbClr val="000000"/>
              </a:buClr>
              <a:buSzPts val="2000"/>
              <a:buFont typeface="Noto Sans Symbols"/>
              <a:buAutoNum type="arabicParenR"/>
            </a:pPr>
            <a:r>
              <a:rPr b="0" i="0" lang="en-US" sz="2000" u="none" cap="none" strike="noStrike">
                <a:solidFill>
                  <a:srgbClr val="000000"/>
                </a:solidFill>
                <a:latin typeface="Arial"/>
                <a:ea typeface="Arial"/>
                <a:cs typeface="Arial"/>
                <a:sym typeface="Arial"/>
              </a:rPr>
              <a:t>Management belief that “safety is a value”. </a:t>
            </a:r>
            <a:endParaRPr b="0" i="0" sz="2000" u="none" cap="none" strike="noStrike">
              <a:solidFill>
                <a:srgbClr val="000000"/>
              </a:solidFill>
              <a:latin typeface="Arial"/>
              <a:ea typeface="Arial"/>
              <a:cs typeface="Arial"/>
              <a:sym typeface="Arial"/>
            </a:endParaRPr>
          </a:p>
          <a:p>
            <a:pPr indent="-609600" lvl="0" marL="609600" marR="0" rtl="0" algn="l">
              <a:lnSpc>
                <a:spcPct val="110000"/>
              </a:lnSpc>
              <a:spcBef>
                <a:spcPts val="1000"/>
              </a:spcBef>
              <a:spcAft>
                <a:spcPts val="0"/>
              </a:spcAft>
              <a:buClr>
                <a:srgbClr val="000000"/>
              </a:buClr>
              <a:buSzPts val="2000"/>
              <a:buFont typeface="Noto Sans Symbols"/>
              <a:buAutoNum type="arabicParenR"/>
            </a:pPr>
            <a:r>
              <a:rPr b="0" i="0" lang="en-US" sz="2000" u="none" cap="none" strike="noStrike">
                <a:solidFill>
                  <a:srgbClr val="000000"/>
                </a:solidFill>
                <a:latin typeface="Arial"/>
                <a:ea typeface="Arial"/>
                <a:cs typeface="Arial"/>
                <a:sym typeface="Arial"/>
              </a:rPr>
              <a:t>Management sets clear expectations.</a:t>
            </a:r>
            <a:endParaRPr/>
          </a:p>
          <a:p>
            <a:pPr indent="-609600" lvl="0" marL="609600" marR="0" rtl="0" algn="l">
              <a:lnSpc>
                <a:spcPct val="110000"/>
              </a:lnSpc>
              <a:spcBef>
                <a:spcPts val="1000"/>
              </a:spcBef>
              <a:spcAft>
                <a:spcPts val="0"/>
              </a:spcAft>
              <a:buClr>
                <a:srgbClr val="000000"/>
              </a:buClr>
              <a:buSzPts val="2000"/>
              <a:buFont typeface="Noto Sans Symbols"/>
              <a:buAutoNum type="arabicParenR"/>
            </a:pPr>
            <a:r>
              <a:rPr b="0" i="0" lang="en-US" sz="2000" u="none" cap="none" strike="noStrike">
                <a:solidFill>
                  <a:srgbClr val="000000"/>
                </a:solidFill>
                <a:latin typeface="Arial"/>
                <a:ea typeface="Arial"/>
                <a:cs typeface="Arial"/>
                <a:sym typeface="Arial"/>
              </a:rPr>
              <a:t>Management is fully committed and is seen to be committed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i.e. management is visible.</a:t>
            </a:r>
            <a:endParaRPr/>
          </a:p>
          <a:p>
            <a:pPr indent="-609600" lvl="0" marL="609600" marR="0" rtl="0" algn="l">
              <a:lnSpc>
                <a:spcPct val="110000"/>
              </a:lnSpc>
              <a:spcBef>
                <a:spcPts val="1000"/>
              </a:spcBef>
              <a:spcAft>
                <a:spcPts val="0"/>
              </a:spcAft>
              <a:buClr>
                <a:srgbClr val="000000"/>
              </a:buClr>
              <a:buSzPts val="2000"/>
              <a:buFont typeface="Noto Sans Symbols"/>
              <a:buAutoNum type="arabicParenR"/>
            </a:pPr>
            <a:r>
              <a:rPr b="0" i="0" lang="en-US" sz="2000" u="none" cap="none" strike="noStrike">
                <a:solidFill>
                  <a:srgbClr val="000000"/>
                </a:solidFill>
                <a:latin typeface="Arial"/>
                <a:ea typeface="Arial"/>
                <a:cs typeface="Arial"/>
                <a:sym typeface="Arial"/>
              </a:rPr>
              <a:t>Management’s actions are always consistent with words.</a:t>
            </a:r>
            <a:endParaRPr/>
          </a:p>
          <a:p>
            <a:pPr indent="-609600" lvl="0" marL="609600" marR="0" rtl="0" algn="l">
              <a:lnSpc>
                <a:spcPct val="110000"/>
              </a:lnSpc>
              <a:spcBef>
                <a:spcPts val="1000"/>
              </a:spcBef>
              <a:spcAft>
                <a:spcPts val="0"/>
              </a:spcAft>
              <a:buClr>
                <a:srgbClr val="000000"/>
              </a:buClr>
              <a:buSzPts val="2000"/>
              <a:buFont typeface="Noto Sans Symbols"/>
              <a:buAutoNum type="arabicParenR"/>
            </a:pPr>
            <a:r>
              <a:rPr b="0" i="0" lang="en-US" sz="2000" u="none" cap="none" strike="noStrike">
                <a:solidFill>
                  <a:srgbClr val="000000"/>
                </a:solidFill>
                <a:latin typeface="Arial"/>
                <a:ea typeface="Arial"/>
                <a:cs typeface="Arial"/>
                <a:sym typeface="Arial"/>
              </a:rPr>
              <a:t>Management views this as a proactive, long-term undertaking that requires constant attention.</a:t>
            </a:r>
            <a:endParaRPr/>
          </a:p>
          <a:p>
            <a:pPr indent="-482600" lvl="0" marL="609600" marR="0" rtl="0" algn="l">
              <a:lnSpc>
                <a:spcPct val="110000"/>
              </a:lnSpc>
              <a:spcBef>
                <a:spcPts val="1000"/>
              </a:spcBef>
              <a:spcAft>
                <a:spcPts val="0"/>
              </a:spcAft>
              <a:buClr>
                <a:schemeClr val="dk1"/>
              </a:buClr>
              <a:buSzPts val="2000"/>
              <a:buFont typeface="Noto Sans Symbols"/>
              <a:buNone/>
            </a:pPr>
            <a:r>
              <a:t/>
            </a:r>
            <a:endParaRPr b="1" i="0" sz="20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Q: So how do leader put these factors into practice?</a:t>
            </a:r>
            <a:endParaRPr/>
          </a:p>
          <a:p>
            <a:pPr indent="0" lvl="0" marL="0" marR="0" rtl="0" algn="l">
              <a:lnSpc>
                <a:spcPct val="110000"/>
              </a:lnSpc>
              <a:spcBef>
                <a:spcPts val="100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 Through their actions. </a:t>
            </a:r>
            <a:endParaRPr b="1" i="0" sz="2000" u="none" cap="none" strike="noStrike">
              <a:solidFill>
                <a:srgbClr val="000000"/>
              </a:solidFill>
              <a:latin typeface="Arial"/>
              <a:ea typeface="Arial"/>
              <a:cs typeface="Arial"/>
              <a:sym typeface="Arial"/>
            </a:endParaRPr>
          </a:p>
        </p:txBody>
      </p:sp>
      <p:sp>
        <p:nvSpPr>
          <p:cNvPr id="162" name="Google Shape;162;p8"/>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Leadership Actions Determines Safety Culture:</a:t>
            </a:r>
            <a:endParaRPr/>
          </a:p>
        </p:txBody>
      </p:sp>
      <p:sp>
        <p:nvSpPr>
          <p:cNvPr id="163" name="Google Shape;163;p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64" name="Google Shape;164;p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9"/>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Setting the “Tone at the Top”- an example:</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Video: Rex Tillerson, Exxon-Mobil CEO,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addresses employees at a Technology Conference,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November 3, 2010; 0:00 – 3:05</a:t>
            </a:r>
            <a:endParaRPr/>
          </a:p>
        </p:txBody>
      </p:sp>
      <p:sp>
        <p:nvSpPr>
          <p:cNvPr id="171" name="Google Shape;171;p9"/>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Leaders Shape Corporate Safety Culture – Tone at the Top:</a:t>
            </a:r>
            <a:endParaRPr/>
          </a:p>
        </p:txBody>
      </p:sp>
      <p:sp>
        <p:nvSpPr>
          <p:cNvPr id="172" name="Google Shape;172;p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73" name="Google Shape;173;p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“Actions Speak Louder than Words”:</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Although Leaders set expectations through communications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(e.g. the “Tone at the Top”), the </a:t>
            </a:r>
            <a:r>
              <a:rPr b="0" i="0" lang="en-US" sz="2000" u="sng" cap="none" strike="noStrike">
                <a:solidFill>
                  <a:srgbClr val="000000"/>
                </a:solidFill>
                <a:latin typeface="Arial"/>
                <a:ea typeface="Arial"/>
                <a:cs typeface="Arial"/>
                <a:sym typeface="Arial"/>
              </a:rPr>
              <a:t>leader’s actions are the strongest form of messaging</a:t>
            </a:r>
            <a:r>
              <a:rPr b="0" i="0" lang="en-US" sz="2000" u="none" cap="none" strike="noStrike">
                <a:solidFill>
                  <a:srgbClr val="000000"/>
                </a:solidFill>
                <a:latin typeface="Arial"/>
                <a:ea typeface="Arial"/>
                <a:cs typeface="Arial"/>
                <a:sym typeface="Arial"/>
              </a:rPr>
              <a:t>.</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Ultimately, the actions of the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leaders in an organization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define / shape / influence /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create the culture. </a:t>
            </a:r>
            <a:endParaRPr/>
          </a:p>
          <a:p>
            <a:pPr indent="-305000" lvl="1" marL="56535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1" marL="56535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Leadership actions (their behaviours</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in their leadership position) must be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consistent with communicated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expectations …</a:t>
            </a:r>
            <a:endParaRPr/>
          </a:p>
          <a:p>
            <a:pPr indent="-432000" lvl="1" marL="56535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“Lead by example!” and “Walk the talk”. </a:t>
            </a:r>
            <a:endParaRPr b="0" i="0" sz="1800" u="none" cap="none" strike="noStrike">
              <a:solidFill>
                <a:srgbClr val="000000"/>
              </a:solidFill>
              <a:latin typeface="Arial"/>
              <a:ea typeface="Arial"/>
              <a:cs typeface="Arial"/>
              <a:sym typeface="Arial"/>
            </a:endParaRPr>
          </a:p>
        </p:txBody>
      </p:sp>
      <p:sp>
        <p:nvSpPr>
          <p:cNvPr id="180" name="Google Shape;180;p10"/>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Leaders Shape Safety Culture Through Their Actions:</a:t>
            </a:r>
            <a:endParaRPr b="0" i="0" sz="2400" u="none" cap="none" strike="noStrike">
              <a:solidFill>
                <a:schemeClr val="accent2"/>
              </a:solidFill>
              <a:latin typeface="Arial"/>
              <a:ea typeface="Arial"/>
              <a:cs typeface="Arial"/>
              <a:sym typeface="Arial"/>
            </a:endParaRPr>
          </a:p>
        </p:txBody>
      </p:sp>
      <p:sp>
        <p:nvSpPr>
          <p:cNvPr id="181" name="Google Shape;181;p1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82" name="Google Shape;182;p1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pic>
        <p:nvPicPr>
          <p:cNvPr id="183" name="Google Shape;183;p10"/>
          <p:cNvPicPr preferRelativeResize="0"/>
          <p:nvPr/>
        </p:nvPicPr>
        <p:blipFill rotWithShape="1">
          <a:blip r:embed="rId3">
            <a:alphaModFix/>
          </a:blip>
          <a:srcRect b="0" l="0" r="0" t="0"/>
          <a:stretch/>
        </p:blipFill>
        <p:spPr>
          <a:xfrm>
            <a:off x="4940108" y="2209800"/>
            <a:ext cx="3907324" cy="3136964"/>
          </a:xfrm>
          <a:prstGeom prst="rect">
            <a:avLst/>
          </a:prstGeom>
          <a:noFill/>
          <a:ln>
            <a:noFill/>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1"/>
          <p:cNvSpPr/>
          <p:nvPr/>
        </p:nvSpPr>
        <p:spPr>
          <a:xfrm>
            <a:off x="180000" y="180000"/>
            <a:ext cx="8640000" cy="5040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8F8F8"/>
              </a:buClr>
              <a:buSzPts val="2400"/>
              <a:buFont typeface="Arial"/>
              <a:buNone/>
            </a:pPr>
            <a:r>
              <a:rPr b="0" i="0" lang="en-US" sz="2400" u="none" cap="none" strike="noStrike">
                <a:solidFill>
                  <a:srgbClr val="F8F8F8"/>
                </a:solidFill>
                <a:latin typeface="Arial"/>
                <a:ea typeface="Arial"/>
                <a:cs typeface="Arial"/>
                <a:sym typeface="Arial"/>
              </a:rPr>
              <a:t>Example: Actions Speak Louder Than Words:</a:t>
            </a:r>
            <a:endParaRPr b="0" i="0" sz="2400" u="none" cap="none" strike="noStrike">
              <a:solidFill>
                <a:srgbClr val="F8F8F8"/>
              </a:solidFill>
              <a:latin typeface="Arial"/>
              <a:ea typeface="Arial"/>
              <a:cs typeface="Arial"/>
              <a:sym typeface="Arial"/>
            </a:endParaRPr>
          </a:p>
        </p:txBody>
      </p:sp>
      <p:sp>
        <p:nvSpPr>
          <p:cNvPr id="193" name="Google Shape;193;p1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94" name="Google Shape;194;p11"/>
          <p:cNvSpPr/>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rgbClr val="F8F8F8"/>
                </a:solidFill>
                <a:latin typeface="Arial"/>
                <a:ea typeface="Arial"/>
                <a:cs typeface="Arial"/>
                <a:sym typeface="Arial"/>
              </a:rPr>
              <a:t>Q: </a:t>
            </a:r>
            <a:r>
              <a:rPr b="0" i="0" lang="en-US" sz="1800" u="none" cap="none" strike="noStrike">
                <a:solidFill>
                  <a:srgbClr val="F8F8F8"/>
                </a:solidFill>
                <a:latin typeface="Arial"/>
                <a:ea typeface="Arial"/>
                <a:cs typeface="Arial"/>
                <a:sym typeface="Arial"/>
              </a:rPr>
              <a:t>How do managers and leaders influence culture?</a:t>
            </a:r>
            <a:endParaRPr/>
          </a:p>
          <a:p>
            <a:pPr indent="-360000" lvl="0" marL="360000" marR="0" rtl="0" algn="l">
              <a:spcBef>
                <a:spcPts val="0"/>
              </a:spcBef>
              <a:spcAft>
                <a:spcPts val="0"/>
              </a:spcAft>
              <a:buClr>
                <a:srgbClr val="F8F8F8"/>
              </a:buClr>
              <a:buSzPts val="1800"/>
              <a:buFont typeface="Noto Sans Symbols"/>
              <a:buChar char="⮚"/>
            </a:pPr>
            <a:r>
              <a:rPr b="1" i="0" lang="en-US" sz="1800" u="none" cap="none" strike="noStrike">
                <a:solidFill>
                  <a:srgbClr val="F8F8F8"/>
                </a:solidFill>
                <a:latin typeface="Arial"/>
                <a:ea typeface="Arial"/>
                <a:cs typeface="Arial"/>
                <a:sym typeface="Arial"/>
              </a:rPr>
              <a:t>Consider the possible decision pathways: </a:t>
            </a:r>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0" lvl="0" marL="0" marR="0" rtl="0" algn="l">
              <a:lnSpc>
                <a:spcPct val="100000"/>
              </a:lnSpc>
              <a:spcBef>
                <a:spcPts val="0"/>
              </a:spcBef>
              <a:spcAft>
                <a:spcPts val="0"/>
              </a:spcAft>
              <a:buNone/>
            </a:pPr>
            <a:r>
              <a:rPr b="1" i="0" lang="en-US" sz="1800" u="none" cap="none" strike="noStrike">
                <a:solidFill>
                  <a:srgbClr val="F8F8F8"/>
                </a:solidFill>
                <a:latin typeface="Arial"/>
                <a:ea typeface="Arial"/>
                <a:cs typeface="Arial"/>
                <a:sym typeface="Arial"/>
              </a:rPr>
              <a:t>A: </a:t>
            </a:r>
            <a:r>
              <a:rPr b="0" i="0" lang="en-US" sz="1800" u="none" cap="none" strike="noStrike">
                <a:solidFill>
                  <a:srgbClr val="F8F8F8"/>
                </a:solidFill>
                <a:latin typeface="Arial"/>
                <a:ea typeface="Arial"/>
                <a:cs typeface="Arial"/>
                <a:sym typeface="Arial"/>
              </a:rPr>
              <a:t>Lead by </a:t>
            </a:r>
            <a:r>
              <a:rPr b="0" i="1" lang="en-US" sz="1800" u="none" cap="none" strike="noStrike">
                <a:solidFill>
                  <a:srgbClr val="F8F8F8"/>
                </a:solidFill>
                <a:latin typeface="Arial"/>
                <a:ea typeface="Arial"/>
                <a:cs typeface="Arial"/>
                <a:sym typeface="Arial"/>
              </a:rPr>
              <a:t>good</a:t>
            </a:r>
            <a:r>
              <a:rPr b="0" i="0" lang="en-US" sz="1800" u="none" cap="none" strike="noStrike">
                <a:solidFill>
                  <a:srgbClr val="F8F8F8"/>
                </a:solidFill>
                <a:latin typeface="Arial"/>
                <a:ea typeface="Arial"/>
                <a:cs typeface="Arial"/>
                <a:sym typeface="Arial"/>
              </a:rPr>
              <a:t> example: “by the way I do work around here.”</a:t>
            </a:r>
            <a:endParaRPr/>
          </a:p>
          <a:p>
            <a:pPr indent="0" lvl="0" marL="0" marR="0" rtl="0" algn="r">
              <a:spcBef>
                <a:spcPts val="0"/>
              </a:spcBef>
              <a:spcAft>
                <a:spcPts val="0"/>
              </a:spcAft>
              <a:buNone/>
            </a:pPr>
            <a:r>
              <a:rPr b="1" i="1" lang="en-US" sz="1800" u="none" cap="none" strike="noStrike">
                <a:solidFill>
                  <a:schemeClr val="lt1"/>
                </a:solidFill>
                <a:latin typeface="Arial"/>
                <a:ea typeface="Arial"/>
                <a:cs typeface="Arial"/>
                <a:sym typeface="Arial"/>
              </a:rPr>
              <a:t>(Read the notes page for this slide.)</a:t>
            </a:r>
            <a:endParaRPr b="0" i="0" sz="1800" u="none" cap="none" strike="noStrike">
              <a:solidFill>
                <a:srgbClr val="F8F8F8"/>
              </a:solidFill>
              <a:latin typeface="Arial"/>
              <a:ea typeface="Arial"/>
              <a:cs typeface="Arial"/>
              <a:sym typeface="Arial"/>
            </a:endParaRPr>
          </a:p>
        </p:txBody>
      </p:sp>
      <p:sp>
        <p:nvSpPr>
          <p:cNvPr id="195" name="Google Shape;195;p11"/>
          <p:cNvSpPr txBox="1"/>
          <p:nvPr/>
        </p:nvSpPr>
        <p:spPr>
          <a:xfrm>
            <a:off x="3040562" y="1589794"/>
            <a:ext cx="2880000" cy="369332"/>
          </a:xfrm>
          <a:prstGeom prst="rect">
            <a:avLst/>
          </a:prstGeom>
          <a:solidFill>
            <a:srgbClr val="FFFFFF"/>
          </a:solidFill>
          <a:ln cap="flat" cmpd="sng" w="38100">
            <a:solidFill>
              <a:srgbClr val="00B0F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wentieth Century"/>
              <a:buNone/>
            </a:pPr>
            <a:r>
              <a:rPr b="0" i="0" lang="en-US" sz="1800" u="none" cap="none" strike="noStrike">
                <a:solidFill>
                  <a:srgbClr val="000000"/>
                </a:solidFill>
                <a:latin typeface="Twentieth Century"/>
                <a:ea typeface="Twentieth Century"/>
                <a:cs typeface="Twentieth Century"/>
                <a:sym typeface="Twentieth Century"/>
              </a:rPr>
              <a:t>ADMINISTRATIVE CONTROLS</a:t>
            </a:r>
            <a:endParaRPr b="0" i="0" sz="1800" u="none" cap="none" strike="noStrike">
              <a:solidFill>
                <a:srgbClr val="000000"/>
              </a:solidFill>
              <a:latin typeface="Twentieth Century"/>
              <a:ea typeface="Twentieth Century"/>
              <a:cs typeface="Twentieth Century"/>
              <a:sym typeface="Twentieth Century"/>
            </a:endParaRPr>
          </a:p>
        </p:txBody>
      </p:sp>
      <p:sp>
        <p:nvSpPr>
          <p:cNvPr id="196" name="Google Shape;196;p11"/>
          <p:cNvSpPr/>
          <p:nvPr/>
        </p:nvSpPr>
        <p:spPr>
          <a:xfrm>
            <a:off x="1610031" y="2225704"/>
            <a:ext cx="5760000" cy="1270895"/>
          </a:xfrm>
          <a:prstGeom prst="flowChartDecision">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Twentieth Century"/>
              <a:buNone/>
            </a:pPr>
            <a:r>
              <a:rPr b="0" i="0" lang="en-US" sz="1800" u="none" cap="none" strike="noStrike">
                <a:solidFill>
                  <a:srgbClr val="000000"/>
                </a:solidFill>
                <a:latin typeface="Twentieth Century"/>
                <a:ea typeface="Twentieth Century"/>
                <a:cs typeface="Twentieth Century"/>
                <a:sym typeface="Twentieth Century"/>
              </a:rPr>
              <a:t>Does the Leader follow the AC’s, and coach workers to follow the AC’s?</a:t>
            </a:r>
            <a:endParaRPr b="0" i="0" sz="1800" u="none" cap="none" strike="noStrike">
              <a:solidFill>
                <a:srgbClr val="000000"/>
              </a:solidFill>
              <a:latin typeface="Twentieth Century"/>
              <a:ea typeface="Twentieth Century"/>
              <a:cs typeface="Twentieth Century"/>
              <a:sym typeface="Twentieth Century"/>
            </a:endParaRPr>
          </a:p>
        </p:txBody>
      </p:sp>
      <p:sp>
        <p:nvSpPr>
          <p:cNvPr id="197" name="Google Shape;197;p11"/>
          <p:cNvSpPr txBox="1"/>
          <p:nvPr/>
        </p:nvSpPr>
        <p:spPr>
          <a:xfrm>
            <a:off x="998142" y="2338431"/>
            <a:ext cx="638759" cy="400110"/>
          </a:xfrm>
          <a:prstGeom prst="rect">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000" u="none" cap="none" strike="noStrike">
                <a:solidFill>
                  <a:srgbClr val="FFFFFF"/>
                </a:solidFill>
                <a:latin typeface="Twentieth Century"/>
                <a:ea typeface="Twentieth Century"/>
                <a:cs typeface="Twentieth Century"/>
                <a:sym typeface="Twentieth Century"/>
              </a:rPr>
              <a:t>NO</a:t>
            </a:r>
            <a:endParaRPr/>
          </a:p>
        </p:txBody>
      </p:sp>
      <p:sp>
        <p:nvSpPr>
          <p:cNvPr id="198" name="Google Shape;198;p11"/>
          <p:cNvSpPr txBox="1"/>
          <p:nvPr/>
        </p:nvSpPr>
        <p:spPr>
          <a:xfrm>
            <a:off x="7210671" y="2308677"/>
            <a:ext cx="906634" cy="461665"/>
          </a:xfrm>
          <a:prstGeom prst="rect">
            <a:avLst/>
          </a:prstGeom>
          <a:solidFill>
            <a:srgbClr val="00FF00"/>
          </a:solidFill>
          <a:ln cap="flat" cmpd="sng" w="9525">
            <a:solidFill>
              <a:srgbClr val="00FF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400" u="none" cap="none" strike="noStrike">
                <a:solidFill>
                  <a:srgbClr val="FFFFFF"/>
                </a:solidFill>
                <a:latin typeface="Twentieth Century"/>
                <a:ea typeface="Twentieth Century"/>
                <a:cs typeface="Twentieth Century"/>
                <a:sym typeface="Twentieth Century"/>
              </a:rPr>
              <a:t>YES</a:t>
            </a:r>
            <a:endParaRPr/>
          </a:p>
        </p:txBody>
      </p:sp>
      <p:sp>
        <p:nvSpPr>
          <p:cNvPr id="199" name="Google Shape;199;p11"/>
          <p:cNvSpPr txBox="1"/>
          <p:nvPr/>
        </p:nvSpPr>
        <p:spPr>
          <a:xfrm>
            <a:off x="246888" y="3500830"/>
            <a:ext cx="3899374" cy="1089529"/>
          </a:xfrm>
          <a:prstGeom prst="rect">
            <a:avLst/>
          </a:prstGeom>
          <a:solidFill>
            <a:srgbClr val="FFFFFF"/>
          </a:solidFill>
          <a:ln cap="flat" cmpd="sng" w="2857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Twentieth Century"/>
              <a:buNone/>
            </a:pPr>
            <a:r>
              <a:rPr b="0" i="0" lang="en-US" sz="1800" u="none" cap="none" strike="noStrike">
                <a:solidFill>
                  <a:srgbClr val="000000"/>
                </a:solidFill>
                <a:latin typeface="Twentieth Century"/>
                <a:ea typeface="Twentieth Century"/>
                <a:cs typeface="Twentieth Century"/>
                <a:sym typeface="Twentieth Century"/>
              </a:rPr>
              <a:t>“The way we do work around here”, but it is NOT a positive culture. The leader has allowed adherence to AC’s to “slide” i.e. complacency sets in.</a:t>
            </a:r>
            <a:endParaRPr b="0" i="0" sz="1800" u="none" cap="none" strike="noStrike">
              <a:solidFill>
                <a:srgbClr val="000000"/>
              </a:solidFill>
              <a:latin typeface="Twentieth Century"/>
              <a:ea typeface="Twentieth Century"/>
              <a:cs typeface="Twentieth Century"/>
              <a:sym typeface="Twentieth Century"/>
            </a:endParaRPr>
          </a:p>
        </p:txBody>
      </p:sp>
      <p:cxnSp>
        <p:nvCxnSpPr>
          <p:cNvPr id="200" name="Google Shape;200;p11"/>
          <p:cNvCxnSpPr>
            <a:stCxn id="196" idx="1"/>
          </p:cNvCxnSpPr>
          <p:nvPr/>
        </p:nvCxnSpPr>
        <p:spPr>
          <a:xfrm flipH="1">
            <a:off x="1316631" y="2861152"/>
            <a:ext cx="293400" cy="661200"/>
          </a:xfrm>
          <a:prstGeom prst="bentConnector2">
            <a:avLst/>
          </a:prstGeom>
          <a:noFill/>
          <a:ln cap="flat" cmpd="sng" w="57150">
            <a:solidFill>
              <a:srgbClr val="FFFFFF"/>
            </a:solidFill>
            <a:prstDash val="solid"/>
            <a:round/>
            <a:headEnd len="sm" w="sm" type="none"/>
            <a:tailEnd len="med" w="med" type="triangle"/>
          </a:ln>
        </p:spPr>
      </p:cxnSp>
      <p:sp>
        <p:nvSpPr>
          <p:cNvPr id="201" name="Google Shape;201;p11"/>
          <p:cNvSpPr txBox="1"/>
          <p:nvPr/>
        </p:nvSpPr>
        <p:spPr>
          <a:xfrm>
            <a:off x="4800600" y="3537406"/>
            <a:ext cx="3877056" cy="1089529"/>
          </a:xfrm>
          <a:prstGeom prst="rect">
            <a:avLst/>
          </a:prstGeom>
          <a:solidFill>
            <a:srgbClr val="FFFFFF"/>
          </a:solidFill>
          <a:ln cap="flat" cmpd="sng" w="28575">
            <a:solidFill>
              <a:srgbClr val="00FF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0" i="0" lang="en-US" sz="1800" u="none" cap="none" strike="noStrike">
                <a:solidFill>
                  <a:srgbClr val="000000"/>
                </a:solidFill>
                <a:latin typeface="Twentieth Century"/>
                <a:ea typeface="Twentieth Century"/>
                <a:cs typeface="Twentieth Century"/>
                <a:sym typeface="Twentieth Century"/>
              </a:rPr>
              <a:t>“The way we do work around here”, but it IS a positive culture. The leader checks adherence to AC’s and acts on deficiencies i.e. combats complacency.</a:t>
            </a:r>
            <a:endParaRPr b="0" i="0" sz="1800" u="none" cap="none" strike="noStrike">
              <a:solidFill>
                <a:srgbClr val="000000"/>
              </a:solidFill>
              <a:latin typeface="Twentieth Century"/>
              <a:ea typeface="Twentieth Century"/>
              <a:cs typeface="Twentieth Century"/>
              <a:sym typeface="Twentieth Century"/>
            </a:endParaRPr>
          </a:p>
        </p:txBody>
      </p:sp>
      <p:cxnSp>
        <p:nvCxnSpPr>
          <p:cNvPr id="202" name="Google Shape;202;p11"/>
          <p:cNvCxnSpPr>
            <a:stCxn id="196" idx="3"/>
          </p:cNvCxnSpPr>
          <p:nvPr/>
        </p:nvCxnSpPr>
        <p:spPr>
          <a:xfrm>
            <a:off x="7370031" y="2861152"/>
            <a:ext cx="612600" cy="676200"/>
          </a:xfrm>
          <a:prstGeom prst="bentConnector2">
            <a:avLst/>
          </a:prstGeom>
          <a:noFill/>
          <a:ln cap="flat" cmpd="sng" w="57150">
            <a:solidFill>
              <a:srgbClr val="FFFFFF"/>
            </a:solidFill>
            <a:prstDash val="solid"/>
            <a:round/>
            <a:headEnd len="sm" w="sm" type="none"/>
            <a:tailEnd len="med" w="med" type="triangle"/>
          </a:ln>
        </p:spPr>
      </p:cxnSp>
      <p:sp>
        <p:nvSpPr>
          <p:cNvPr id="203" name="Google Shape;203;p11"/>
          <p:cNvSpPr txBox="1"/>
          <p:nvPr/>
        </p:nvSpPr>
        <p:spPr>
          <a:xfrm>
            <a:off x="246888" y="4597846"/>
            <a:ext cx="3899374" cy="923330"/>
          </a:xfrm>
          <a:prstGeom prst="rect">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i="1" lang="en-US" sz="2000" u="none" cap="none" strike="noStrike">
                <a:solidFill>
                  <a:srgbClr val="FFFFFF"/>
                </a:solidFill>
                <a:latin typeface="Twentieth Century"/>
                <a:ea typeface="Twentieth Century"/>
                <a:cs typeface="Twentieth Century"/>
                <a:sym typeface="Twentieth Century"/>
              </a:rPr>
              <a:t>Undesirable: The leader has set the </a:t>
            </a:r>
            <a:br>
              <a:rPr b="1" i="1" lang="en-US" sz="2000" u="none" cap="none" strike="noStrike">
                <a:solidFill>
                  <a:srgbClr val="FFFFFF"/>
                </a:solidFill>
                <a:latin typeface="Twentieth Century"/>
                <a:ea typeface="Twentieth Century"/>
                <a:cs typeface="Twentieth Century"/>
                <a:sym typeface="Twentieth Century"/>
              </a:rPr>
            </a:br>
            <a:r>
              <a:rPr b="1" i="1" lang="en-US" sz="2000" u="sng" cap="none" strike="noStrike">
                <a:solidFill>
                  <a:srgbClr val="FFFFFF"/>
                </a:solidFill>
                <a:latin typeface="Twentieth Century"/>
                <a:ea typeface="Twentieth Century"/>
                <a:cs typeface="Twentieth Century"/>
                <a:sym typeface="Twentieth Century"/>
              </a:rPr>
              <a:t>WRONG</a:t>
            </a:r>
            <a:r>
              <a:rPr b="1" i="1" lang="en-US" sz="2000" u="none" cap="none" strike="noStrike">
                <a:solidFill>
                  <a:srgbClr val="FFFFFF"/>
                </a:solidFill>
                <a:latin typeface="Twentieth Century"/>
                <a:ea typeface="Twentieth Century"/>
                <a:cs typeface="Twentieth Century"/>
                <a:sym typeface="Twentieth Century"/>
              </a:rPr>
              <a:t> example. </a:t>
            </a:r>
            <a:br>
              <a:rPr b="1" i="1" lang="en-US" sz="2000" u="none" cap="none" strike="noStrike">
                <a:solidFill>
                  <a:srgbClr val="FFFFFF"/>
                </a:solidFill>
                <a:latin typeface="Twentieth Century"/>
                <a:ea typeface="Twentieth Century"/>
                <a:cs typeface="Twentieth Century"/>
                <a:sym typeface="Twentieth Century"/>
              </a:rPr>
            </a:br>
            <a:r>
              <a:rPr b="1" i="1" lang="en-US" sz="2000" u="none" cap="none" strike="noStrike">
                <a:solidFill>
                  <a:srgbClr val="FFFFFF"/>
                </a:solidFill>
                <a:latin typeface="Twentieth Century"/>
                <a:ea typeface="Twentieth Century"/>
                <a:cs typeface="Twentieth Century"/>
                <a:sym typeface="Twentieth Century"/>
              </a:rPr>
              <a:t>Substandard Practices!</a:t>
            </a:r>
            <a:endParaRPr b="1" i="1" sz="2000" u="none" cap="none" strike="noStrike">
              <a:solidFill>
                <a:srgbClr val="FFFFFF"/>
              </a:solidFill>
              <a:latin typeface="Twentieth Century"/>
              <a:ea typeface="Twentieth Century"/>
              <a:cs typeface="Twentieth Century"/>
              <a:sym typeface="Twentieth Century"/>
            </a:endParaRPr>
          </a:p>
        </p:txBody>
      </p:sp>
      <p:sp>
        <p:nvSpPr>
          <p:cNvPr id="204" name="Google Shape;204;p11"/>
          <p:cNvSpPr txBox="1"/>
          <p:nvPr/>
        </p:nvSpPr>
        <p:spPr>
          <a:xfrm>
            <a:off x="4800602" y="4643566"/>
            <a:ext cx="3877056" cy="923330"/>
          </a:xfrm>
          <a:prstGeom prst="rect">
            <a:avLst/>
          </a:prstGeom>
          <a:solidFill>
            <a:srgbClr val="00FF00"/>
          </a:solidFill>
          <a:ln cap="flat" cmpd="sng" w="9525">
            <a:solidFill>
              <a:srgbClr val="00FF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i="1" lang="en-US" sz="2000" u="none" cap="none" strike="noStrike">
                <a:solidFill>
                  <a:srgbClr val="000000"/>
                </a:solidFill>
                <a:latin typeface="Twentieth Century"/>
                <a:ea typeface="Twentieth Century"/>
                <a:cs typeface="Twentieth Century"/>
                <a:sym typeface="Twentieth Century"/>
              </a:rPr>
              <a:t>Desirable: The leader has set the </a:t>
            </a:r>
            <a:br>
              <a:rPr b="1" i="1" lang="en-US" sz="2000" u="none" cap="none" strike="noStrike">
                <a:solidFill>
                  <a:srgbClr val="000000"/>
                </a:solidFill>
                <a:latin typeface="Twentieth Century"/>
                <a:ea typeface="Twentieth Century"/>
                <a:cs typeface="Twentieth Century"/>
                <a:sym typeface="Twentieth Century"/>
              </a:rPr>
            </a:br>
            <a:r>
              <a:rPr b="1" i="1" lang="en-US" sz="2000" u="sng" cap="none" strike="noStrike">
                <a:solidFill>
                  <a:srgbClr val="000000"/>
                </a:solidFill>
                <a:latin typeface="Twentieth Century"/>
                <a:ea typeface="Twentieth Century"/>
                <a:cs typeface="Twentieth Century"/>
                <a:sym typeface="Twentieth Century"/>
              </a:rPr>
              <a:t>RIGHT</a:t>
            </a:r>
            <a:r>
              <a:rPr b="1" i="1" lang="en-US" sz="2000" u="none" cap="none" strike="noStrike">
                <a:solidFill>
                  <a:srgbClr val="000000"/>
                </a:solidFill>
                <a:latin typeface="Twentieth Century"/>
                <a:ea typeface="Twentieth Century"/>
                <a:cs typeface="Twentieth Century"/>
                <a:sym typeface="Twentieth Century"/>
              </a:rPr>
              <a:t> example. </a:t>
            </a:r>
            <a:br>
              <a:rPr b="1" i="1" lang="en-US" sz="2000" u="none" cap="none" strike="noStrike">
                <a:solidFill>
                  <a:srgbClr val="000000"/>
                </a:solidFill>
                <a:latin typeface="Twentieth Century"/>
                <a:ea typeface="Twentieth Century"/>
                <a:cs typeface="Twentieth Century"/>
                <a:sym typeface="Twentieth Century"/>
              </a:rPr>
            </a:br>
            <a:r>
              <a:rPr b="1" i="1" lang="en-US" sz="2000" u="none" cap="none" strike="noStrike">
                <a:solidFill>
                  <a:srgbClr val="000000"/>
                </a:solidFill>
                <a:latin typeface="Twentieth Century"/>
                <a:ea typeface="Twentieth Century"/>
                <a:cs typeface="Twentieth Century"/>
                <a:sym typeface="Twentieth Century"/>
              </a:rPr>
              <a:t>Acceptable Practices!</a:t>
            </a:r>
            <a:endParaRPr b="1" i="1" sz="2000" u="none" cap="none" strike="noStrike">
              <a:solidFill>
                <a:srgbClr val="000000"/>
              </a:solidFill>
              <a:latin typeface="Twentieth Century"/>
              <a:ea typeface="Twentieth Century"/>
              <a:cs typeface="Twentieth Century"/>
              <a:sym typeface="Twentieth Century"/>
            </a:endParaRPr>
          </a:p>
        </p:txBody>
      </p:sp>
      <p:cxnSp>
        <p:nvCxnSpPr>
          <p:cNvPr id="205" name="Google Shape;205;p11"/>
          <p:cNvCxnSpPr>
            <a:endCxn id="196" idx="0"/>
          </p:cNvCxnSpPr>
          <p:nvPr/>
        </p:nvCxnSpPr>
        <p:spPr>
          <a:xfrm flipH="1" rot="-5400000">
            <a:off x="4356381" y="2092054"/>
            <a:ext cx="266700" cy="600"/>
          </a:xfrm>
          <a:prstGeom prst="bentConnector3">
            <a:avLst>
              <a:gd fmla="val 50023" name="adj1"/>
            </a:avLst>
          </a:prstGeom>
          <a:noFill/>
          <a:ln cap="flat" cmpd="sng" w="57150">
            <a:solidFill>
              <a:srgbClr val="FFFFFF"/>
            </a:solidFill>
            <a:prstDash val="solid"/>
            <a:round/>
            <a:headEnd len="sm" w="sm" type="none"/>
            <a:tailEnd len="med" w="med" type="triangle"/>
          </a:ln>
        </p:spPr>
      </p:cxnSp>
      <p:sp>
        <p:nvSpPr>
          <p:cNvPr id="206" name="Google Shape;206;p1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2"/>
          <p:cNvSpPr/>
          <p:nvPr/>
        </p:nvSpPr>
        <p:spPr>
          <a:xfrm>
            <a:off x="180000" y="180000"/>
            <a:ext cx="8640000" cy="5040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8F8F8"/>
                </a:solidFill>
                <a:latin typeface="Arial"/>
                <a:ea typeface="Arial"/>
                <a:cs typeface="Arial"/>
                <a:sym typeface="Arial"/>
              </a:rPr>
              <a:t>Example: Actions Speak Louder Than Words:</a:t>
            </a:r>
            <a:endParaRPr/>
          </a:p>
        </p:txBody>
      </p:sp>
      <p:sp>
        <p:nvSpPr>
          <p:cNvPr id="216" name="Google Shape;216;p1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17" name="Google Shape;217;p12"/>
          <p:cNvSpPr/>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rgbClr val="F8F8F8"/>
                </a:solidFill>
                <a:latin typeface="Arial"/>
                <a:ea typeface="Arial"/>
                <a:cs typeface="Arial"/>
                <a:sym typeface="Arial"/>
              </a:rPr>
              <a:t>Q: </a:t>
            </a:r>
            <a:r>
              <a:rPr b="0" i="0" lang="en-US" sz="1800" u="none" cap="none" strike="noStrike">
                <a:solidFill>
                  <a:srgbClr val="F8F8F8"/>
                </a:solidFill>
                <a:latin typeface="Arial"/>
                <a:ea typeface="Arial"/>
                <a:cs typeface="Arial"/>
                <a:sym typeface="Arial"/>
              </a:rPr>
              <a:t>How do managers and leaders influence culture?</a:t>
            </a:r>
            <a:endParaRPr/>
          </a:p>
          <a:p>
            <a:pPr indent="-360000" lvl="0" marL="360000" marR="0" rtl="0" algn="l">
              <a:spcBef>
                <a:spcPts val="0"/>
              </a:spcBef>
              <a:spcAft>
                <a:spcPts val="0"/>
              </a:spcAft>
              <a:buClr>
                <a:srgbClr val="F8F8F8"/>
              </a:buClr>
              <a:buSzPts val="1800"/>
              <a:buFont typeface="Noto Sans Symbols"/>
              <a:buChar char="⮚"/>
            </a:pPr>
            <a:r>
              <a:rPr b="1" i="0" lang="en-US" sz="1800" u="none" cap="none" strike="noStrike">
                <a:solidFill>
                  <a:srgbClr val="F8F8F8"/>
                </a:solidFill>
                <a:latin typeface="Arial"/>
                <a:ea typeface="Arial"/>
                <a:cs typeface="Arial"/>
                <a:sym typeface="Arial"/>
              </a:rPr>
              <a:t>Consider the possible decision pathways: </a:t>
            </a:r>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1" i="0" sz="1800" u="none" cap="none" strike="noStrike">
              <a:solidFill>
                <a:srgbClr val="F8F8F8"/>
              </a:solidFill>
              <a:latin typeface="Arial"/>
              <a:ea typeface="Arial"/>
              <a:cs typeface="Arial"/>
              <a:sym typeface="Arial"/>
            </a:endParaRPr>
          </a:p>
          <a:p>
            <a:pPr indent="0" lvl="0" marL="0" marR="0" rtl="0" algn="l">
              <a:lnSpc>
                <a:spcPct val="100000"/>
              </a:lnSpc>
              <a:spcBef>
                <a:spcPts val="0"/>
              </a:spcBef>
              <a:spcAft>
                <a:spcPts val="0"/>
              </a:spcAft>
              <a:buNone/>
            </a:pPr>
            <a:r>
              <a:rPr b="1" i="0" lang="en-US" sz="1800" u="none" cap="none" strike="noStrike">
                <a:solidFill>
                  <a:srgbClr val="F8F8F8"/>
                </a:solidFill>
                <a:latin typeface="Arial"/>
                <a:ea typeface="Arial"/>
                <a:cs typeface="Arial"/>
                <a:sym typeface="Arial"/>
              </a:rPr>
              <a:t>A: </a:t>
            </a:r>
            <a:r>
              <a:rPr b="0" i="0" lang="en-US" sz="1800" u="none" cap="none" strike="noStrike">
                <a:solidFill>
                  <a:srgbClr val="F8F8F8"/>
                </a:solidFill>
                <a:latin typeface="Arial"/>
                <a:ea typeface="Arial"/>
                <a:cs typeface="Arial"/>
                <a:sym typeface="Arial"/>
              </a:rPr>
              <a:t>Lead by </a:t>
            </a:r>
            <a:r>
              <a:rPr b="0" i="1" lang="en-US" sz="1800" u="none" cap="none" strike="noStrike">
                <a:solidFill>
                  <a:srgbClr val="F8F8F8"/>
                </a:solidFill>
                <a:latin typeface="Arial"/>
                <a:ea typeface="Arial"/>
                <a:cs typeface="Arial"/>
                <a:sym typeface="Arial"/>
              </a:rPr>
              <a:t>good</a:t>
            </a:r>
            <a:r>
              <a:rPr b="0" i="0" lang="en-US" sz="1800" u="none" cap="none" strike="noStrike">
                <a:solidFill>
                  <a:srgbClr val="F8F8F8"/>
                </a:solidFill>
                <a:latin typeface="Arial"/>
                <a:ea typeface="Arial"/>
                <a:cs typeface="Arial"/>
                <a:sym typeface="Arial"/>
              </a:rPr>
              <a:t> example: “by the way I do work around here.”</a:t>
            </a:r>
            <a:endParaRPr/>
          </a:p>
          <a:p>
            <a:pPr indent="0" lvl="0" marL="0" marR="0" rtl="0" algn="r">
              <a:spcBef>
                <a:spcPts val="0"/>
              </a:spcBef>
              <a:spcAft>
                <a:spcPts val="0"/>
              </a:spcAft>
              <a:buNone/>
            </a:pPr>
            <a:r>
              <a:rPr b="1" i="1" lang="en-US" sz="1800" u="none" cap="none" strike="noStrike">
                <a:solidFill>
                  <a:schemeClr val="lt1"/>
                </a:solidFill>
                <a:latin typeface="Arial"/>
                <a:ea typeface="Arial"/>
                <a:cs typeface="Arial"/>
                <a:sym typeface="Arial"/>
              </a:rPr>
              <a:t>(Read the notes page for this slide.)</a:t>
            </a:r>
            <a:endParaRPr b="0" i="0" sz="1800" u="none" cap="none" strike="noStrike">
              <a:solidFill>
                <a:srgbClr val="F8F8F8"/>
              </a:solidFill>
              <a:latin typeface="Arial"/>
              <a:ea typeface="Arial"/>
              <a:cs typeface="Arial"/>
              <a:sym typeface="Arial"/>
            </a:endParaRPr>
          </a:p>
        </p:txBody>
      </p:sp>
      <p:sp>
        <p:nvSpPr>
          <p:cNvPr id="218" name="Google Shape;218;p12"/>
          <p:cNvSpPr txBox="1"/>
          <p:nvPr/>
        </p:nvSpPr>
        <p:spPr>
          <a:xfrm>
            <a:off x="3040562" y="1589794"/>
            <a:ext cx="2880000" cy="369332"/>
          </a:xfrm>
          <a:prstGeom prst="rect">
            <a:avLst/>
          </a:prstGeom>
          <a:solidFill>
            <a:srgbClr val="FFFFFF"/>
          </a:solidFill>
          <a:ln cap="flat" cmpd="sng" w="38100">
            <a:solidFill>
              <a:srgbClr val="00B0F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00000"/>
                </a:solidFill>
                <a:latin typeface="Twentieth Century"/>
                <a:ea typeface="Twentieth Century"/>
                <a:cs typeface="Twentieth Century"/>
                <a:sym typeface="Twentieth Century"/>
              </a:rPr>
              <a:t>ENGINEERING CONTROLS</a:t>
            </a:r>
            <a:endParaRPr/>
          </a:p>
        </p:txBody>
      </p:sp>
      <p:sp>
        <p:nvSpPr>
          <p:cNvPr id="219" name="Google Shape;219;p12"/>
          <p:cNvSpPr/>
          <p:nvPr/>
        </p:nvSpPr>
        <p:spPr>
          <a:xfrm>
            <a:off x="1610031" y="2225704"/>
            <a:ext cx="5760000" cy="1270895"/>
          </a:xfrm>
          <a:prstGeom prst="flowChartDecision">
            <a:avLst/>
          </a:prstGeom>
          <a:solidFill>
            <a:srgbClr val="FFFFFF"/>
          </a:solid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1800" u="none" cap="none" strike="noStrike">
                <a:solidFill>
                  <a:srgbClr val="000000"/>
                </a:solidFill>
                <a:latin typeface="Twentieth Century"/>
                <a:ea typeface="Twentieth Century"/>
                <a:cs typeface="Twentieth Century"/>
                <a:sym typeface="Twentieth Century"/>
              </a:rPr>
              <a:t>Does the Leader address deficiencies in EC’s in a timely manner?</a:t>
            </a:r>
            <a:endParaRPr/>
          </a:p>
        </p:txBody>
      </p:sp>
      <p:sp>
        <p:nvSpPr>
          <p:cNvPr id="220" name="Google Shape;220;p12"/>
          <p:cNvSpPr txBox="1"/>
          <p:nvPr/>
        </p:nvSpPr>
        <p:spPr>
          <a:xfrm>
            <a:off x="998142" y="2338431"/>
            <a:ext cx="638759" cy="400110"/>
          </a:xfrm>
          <a:prstGeom prst="rect">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000" u="none" cap="none" strike="noStrike">
                <a:solidFill>
                  <a:srgbClr val="FFFFFF"/>
                </a:solidFill>
                <a:latin typeface="Twentieth Century"/>
                <a:ea typeface="Twentieth Century"/>
                <a:cs typeface="Twentieth Century"/>
                <a:sym typeface="Twentieth Century"/>
              </a:rPr>
              <a:t>NO</a:t>
            </a:r>
            <a:endParaRPr/>
          </a:p>
        </p:txBody>
      </p:sp>
      <p:sp>
        <p:nvSpPr>
          <p:cNvPr id="221" name="Google Shape;221;p12"/>
          <p:cNvSpPr txBox="1"/>
          <p:nvPr/>
        </p:nvSpPr>
        <p:spPr>
          <a:xfrm>
            <a:off x="7210671" y="2308677"/>
            <a:ext cx="906634" cy="461665"/>
          </a:xfrm>
          <a:prstGeom prst="rect">
            <a:avLst/>
          </a:prstGeom>
          <a:solidFill>
            <a:srgbClr val="00FF00"/>
          </a:solidFill>
          <a:ln cap="flat" cmpd="sng" w="9525">
            <a:solidFill>
              <a:srgbClr val="00FF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400" u="none" cap="none" strike="noStrike">
                <a:solidFill>
                  <a:srgbClr val="FFFFFF"/>
                </a:solidFill>
                <a:latin typeface="Twentieth Century"/>
                <a:ea typeface="Twentieth Century"/>
                <a:cs typeface="Twentieth Century"/>
                <a:sym typeface="Twentieth Century"/>
              </a:rPr>
              <a:t>YES</a:t>
            </a:r>
            <a:endParaRPr/>
          </a:p>
        </p:txBody>
      </p:sp>
      <p:sp>
        <p:nvSpPr>
          <p:cNvPr id="222" name="Google Shape;222;p12"/>
          <p:cNvSpPr txBox="1"/>
          <p:nvPr/>
        </p:nvSpPr>
        <p:spPr>
          <a:xfrm>
            <a:off x="246888" y="3500830"/>
            <a:ext cx="3899374" cy="1089529"/>
          </a:xfrm>
          <a:prstGeom prst="rect">
            <a:avLst/>
          </a:prstGeom>
          <a:solidFill>
            <a:srgbClr val="FFFFFF"/>
          </a:solidFill>
          <a:ln cap="flat" cmpd="sng" w="2857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0" i="0" lang="en-US" sz="1800" u="none" cap="none" strike="noStrike">
                <a:solidFill>
                  <a:srgbClr val="000000"/>
                </a:solidFill>
                <a:latin typeface="Twentieth Century"/>
                <a:ea typeface="Twentieth Century"/>
                <a:cs typeface="Twentieth Century"/>
                <a:sym typeface="Twentieth Century"/>
              </a:rPr>
              <a:t>“The way we do work around here”, but it is NOT a positive culture. The leader has allowed the condition of EC’s to degrade i.e. complacency sets in.</a:t>
            </a:r>
            <a:endParaRPr b="0" i="0" sz="1800" u="none" cap="none" strike="noStrike">
              <a:solidFill>
                <a:srgbClr val="000000"/>
              </a:solidFill>
              <a:latin typeface="Twentieth Century"/>
              <a:ea typeface="Twentieth Century"/>
              <a:cs typeface="Twentieth Century"/>
              <a:sym typeface="Twentieth Century"/>
            </a:endParaRPr>
          </a:p>
        </p:txBody>
      </p:sp>
      <p:cxnSp>
        <p:nvCxnSpPr>
          <p:cNvPr id="223" name="Google Shape;223;p12"/>
          <p:cNvCxnSpPr>
            <a:stCxn id="219" idx="1"/>
          </p:cNvCxnSpPr>
          <p:nvPr/>
        </p:nvCxnSpPr>
        <p:spPr>
          <a:xfrm flipH="1">
            <a:off x="1316631" y="2861152"/>
            <a:ext cx="293400" cy="661200"/>
          </a:xfrm>
          <a:prstGeom prst="bentConnector2">
            <a:avLst/>
          </a:prstGeom>
          <a:noFill/>
          <a:ln cap="flat" cmpd="sng" w="57150">
            <a:solidFill>
              <a:srgbClr val="FFFFFF"/>
            </a:solidFill>
            <a:prstDash val="solid"/>
            <a:round/>
            <a:headEnd len="sm" w="sm" type="none"/>
            <a:tailEnd len="med" w="med" type="triangle"/>
          </a:ln>
        </p:spPr>
      </p:cxnSp>
      <p:sp>
        <p:nvSpPr>
          <p:cNvPr id="224" name="Google Shape;224;p12"/>
          <p:cNvSpPr txBox="1"/>
          <p:nvPr/>
        </p:nvSpPr>
        <p:spPr>
          <a:xfrm>
            <a:off x="4800600" y="3537406"/>
            <a:ext cx="3877056" cy="1089529"/>
          </a:xfrm>
          <a:prstGeom prst="rect">
            <a:avLst/>
          </a:prstGeom>
          <a:solidFill>
            <a:srgbClr val="FFFFFF"/>
          </a:solidFill>
          <a:ln cap="flat" cmpd="sng" w="28575">
            <a:solidFill>
              <a:srgbClr val="00FF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0" i="0" lang="en-US" sz="1800" u="none" cap="none" strike="noStrike">
                <a:solidFill>
                  <a:srgbClr val="000000"/>
                </a:solidFill>
                <a:latin typeface="Twentieth Century"/>
                <a:ea typeface="Twentieth Century"/>
                <a:cs typeface="Twentieth Century"/>
                <a:sym typeface="Twentieth Century"/>
              </a:rPr>
              <a:t>“The way we do work around here”, but it IS a positive culture. The leader checks that EC’s are sound, and addresses deficiencies i.e. combats complacency.</a:t>
            </a:r>
            <a:endParaRPr/>
          </a:p>
        </p:txBody>
      </p:sp>
      <p:cxnSp>
        <p:nvCxnSpPr>
          <p:cNvPr id="225" name="Google Shape;225;p12"/>
          <p:cNvCxnSpPr>
            <a:stCxn id="219" idx="3"/>
          </p:cNvCxnSpPr>
          <p:nvPr/>
        </p:nvCxnSpPr>
        <p:spPr>
          <a:xfrm>
            <a:off x="7370031" y="2861152"/>
            <a:ext cx="612600" cy="676200"/>
          </a:xfrm>
          <a:prstGeom prst="bentConnector2">
            <a:avLst/>
          </a:prstGeom>
          <a:noFill/>
          <a:ln cap="flat" cmpd="sng" w="57150">
            <a:solidFill>
              <a:srgbClr val="FFFFFF"/>
            </a:solidFill>
            <a:prstDash val="solid"/>
            <a:round/>
            <a:headEnd len="sm" w="sm" type="none"/>
            <a:tailEnd len="med" w="med" type="triangle"/>
          </a:ln>
        </p:spPr>
      </p:cxnSp>
      <p:sp>
        <p:nvSpPr>
          <p:cNvPr id="226" name="Google Shape;226;p12"/>
          <p:cNvSpPr txBox="1"/>
          <p:nvPr/>
        </p:nvSpPr>
        <p:spPr>
          <a:xfrm>
            <a:off x="246888" y="4597846"/>
            <a:ext cx="3899374" cy="923330"/>
          </a:xfrm>
          <a:prstGeom prst="rect">
            <a:avLst/>
          </a:prstGeom>
          <a:solidFill>
            <a:srgbClr val="FF0000"/>
          </a:solid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i="1" lang="en-US" sz="2000" u="none" cap="none" strike="noStrike">
                <a:solidFill>
                  <a:srgbClr val="FFFFFF"/>
                </a:solidFill>
                <a:latin typeface="Twentieth Century"/>
                <a:ea typeface="Twentieth Century"/>
                <a:cs typeface="Twentieth Century"/>
                <a:sym typeface="Twentieth Century"/>
              </a:rPr>
              <a:t>Undesirable: The leader has set the </a:t>
            </a:r>
            <a:br>
              <a:rPr b="1" i="1" lang="en-US" sz="2000" u="none" cap="none" strike="noStrike">
                <a:solidFill>
                  <a:srgbClr val="FFFFFF"/>
                </a:solidFill>
                <a:latin typeface="Twentieth Century"/>
                <a:ea typeface="Twentieth Century"/>
                <a:cs typeface="Twentieth Century"/>
                <a:sym typeface="Twentieth Century"/>
              </a:rPr>
            </a:br>
            <a:r>
              <a:rPr b="1" i="1" lang="en-US" sz="2000" u="sng" cap="none" strike="noStrike">
                <a:solidFill>
                  <a:srgbClr val="FFFFFF"/>
                </a:solidFill>
                <a:latin typeface="Twentieth Century"/>
                <a:ea typeface="Twentieth Century"/>
                <a:cs typeface="Twentieth Century"/>
                <a:sym typeface="Twentieth Century"/>
              </a:rPr>
              <a:t>WRONG</a:t>
            </a:r>
            <a:r>
              <a:rPr b="1" i="1" lang="en-US" sz="2000" u="none" cap="none" strike="noStrike">
                <a:solidFill>
                  <a:srgbClr val="FFFFFF"/>
                </a:solidFill>
                <a:latin typeface="Twentieth Century"/>
                <a:ea typeface="Twentieth Century"/>
                <a:cs typeface="Twentieth Century"/>
                <a:sym typeface="Twentieth Century"/>
              </a:rPr>
              <a:t> example. </a:t>
            </a:r>
            <a:br>
              <a:rPr b="1" i="1" lang="en-US" sz="2000" u="none" cap="none" strike="noStrike">
                <a:solidFill>
                  <a:srgbClr val="FFFFFF"/>
                </a:solidFill>
                <a:latin typeface="Twentieth Century"/>
                <a:ea typeface="Twentieth Century"/>
                <a:cs typeface="Twentieth Century"/>
                <a:sym typeface="Twentieth Century"/>
              </a:rPr>
            </a:br>
            <a:r>
              <a:rPr b="1" i="1" lang="en-US" sz="2000" u="none" cap="none" strike="noStrike">
                <a:solidFill>
                  <a:srgbClr val="FFFFFF"/>
                </a:solidFill>
                <a:latin typeface="Twentieth Century"/>
                <a:ea typeface="Twentieth Century"/>
                <a:cs typeface="Twentieth Century"/>
                <a:sym typeface="Twentieth Century"/>
              </a:rPr>
              <a:t>Substandard Conditions!</a:t>
            </a:r>
            <a:endParaRPr b="1" i="1" sz="2000" u="none" cap="none" strike="noStrike">
              <a:solidFill>
                <a:srgbClr val="FFFFFF"/>
              </a:solidFill>
              <a:latin typeface="Twentieth Century"/>
              <a:ea typeface="Twentieth Century"/>
              <a:cs typeface="Twentieth Century"/>
              <a:sym typeface="Twentieth Century"/>
            </a:endParaRPr>
          </a:p>
        </p:txBody>
      </p:sp>
      <p:sp>
        <p:nvSpPr>
          <p:cNvPr id="227" name="Google Shape;227;p12"/>
          <p:cNvSpPr txBox="1"/>
          <p:nvPr/>
        </p:nvSpPr>
        <p:spPr>
          <a:xfrm>
            <a:off x="4800602" y="4643566"/>
            <a:ext cx="3877056" cy="923330"/>
          </a:xfrm>
          <a:prstGeom prst="rect">
            <a:avLst/>
          </a:prstGeom>
          <a:solidFill>
            <a:srgbClr val="00FF00"/>
          </a:solidFill>
          <a:ln cap="flat" cmpd="sng" w="9525">
            <a:solidFill>
              <a:srgbClr val="00FF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i="1" lang="en-US" sz="2000" u="none" cap="none" strike="noStrike">
                <a:solidFill>
                  <a:srgbClr val="000000"/>
                </a:solidFill>
                <a:latin typeface="Twentieth Century"/>
                <a:ea typeface="Twentieth Century"/>
                <a:cs typeface="Twentieth Century"/>
                <a:sym typeface="Twentieth Century"/>
              </a:rPr>
              <a:t>Desirable: The leader has set the </a:t>
            </a:r>
            <a:br>
              <a:rPr b="1" i="1" lang="en-US" sz="2000" u="none" cap="none" strike="noStrike">
                <a:solidFill>
                  <a:srgbClr val="000000"/>
                </a:solidFill>
                <a:latin typeface="Twentieth Century"/>
                <a:ea typeface="Twentieth Century"/>
                <a:cs typeface="Twentieth Century"/>
                <a:sym typeface="Twentieth Century"/>
              </a:rPr>
            </a:br>
            <a:r>
              <a:rPr b="1" i="1" lang="en-US" sz="2000" u="sng" cap="none" strike="noStrike">
                <a:solidFill>
                  <a:srgbClr val="000000"/>
                </a:solidFill>
                <a:latin typeface="Twentieth Century"/>
                <a:ea typeface="Twentieth Century"/>
                <a:cs typeface="Twentieth Century"/>
                <a:sym typeface="Twentieth Century"/>
              </a:rPr>
              <a:t>RIGHT</a:t>
            </a:r>
            <a:r>
              <a:rPr b="1" i="1" lang="en-US" sz="2000" u="none" cap="none" strike="noStrike">
                <a:solidFill>
                  <a:srgbClr val="000000"/>
                </a:solidFill>
                <a:latin typeface="Twentieth Century"/>
                <a:ea typeface="Twentieth Century"/>
                <a:cs typeface="Twentieth Century"/>
                <a:sym typeface="Twentieth Century"/>
              </a:rPr>
              <a:t> example. </a:t>
            </a:r>
            <a:br>
              <a:rPr b="1" i="1" lang="en-US" sz="2000" u="none" cap="none" strike="noStrike">
                <a:solidFill>
                  <a:srgbClr val="000000"/>
                </a:solidFill>
                <a:latin typeface="Twentieth Century"/>
                <a:ea typeface="Twentieth Century"/>
                <a:cs typeface="Twentieth Century"/>
                <a:sym typeface="Twentieth Century"/>
              </a:rPr>
            </a:br>
            <a:r>
              <a:rPr b="1" i="1" lang="en-US" sz="2000" u="none" cap="none" strike="noStrike">
                <a:solidFill>
                  <a:srgbClr val="000000"/>
                </a:solidFill>
                <a:latin typeface="Twentieth Century"/>
                <a:ea typeface="Twentieth Century"/>
                <a:cs typeface="Twentieth Century"/>
                <a:sym typeface="Twentieth Century"/>
              </a:rPr>
              <a:t>Acceptable Conditions!</a:t>
            </a:r>
            <a:endParaRPr b="1" i="1" sz="2000" u="none" cap="none" strike="noStrike">
              <a:solidFill>
                <a:srgbClr val="000000"/>
              </a:solidFill>
              <a:latin typeface="Twentieth Century"/>
              <a:ea typeface="Twentieth Century"/>
              <a:cs typeface="Twentieth Century"/>
              <a:sym typeface="Twentieth Century"/>
            </a:endParaRPr>
          </a:p>
        </p:txBody>
      </p:sp>
      <p:cxnSp>
        <p:nvCxnSpPr>
          <p:cNvPr id="228" name="Google Shape;228;p12"/>
          <p:cNvCxnSpPr>
            <a:endCxn id="219" idx="0"/>
          </p:cNvCxnSpPr>
          <p:nvPr/>
        </p:nvCxnSpPr>
        <p:spPr>
          <a:xfrm flipH="1" rot="-5400000">
            <a:off x="4356381" y="2092054"/>
            <a:ext cx="266700" cy="600"/>
          </a:xfrm>
          <a:prstGeom prst="bentConnector3">
            <a:avLst>
              <a:gd fmla="val 50023" name="adj1"/>
            </a:avLst>
          </a:prstGeom>
          <a:noFill/>
          <a:ln cap="flat" cmpd="sng" w="57150">
            <a:solidFill>
              <a:srgbClr val="FFFFFF"/>
            </a:solidFill>
            <a:prstDash val="solid"/>
            <a:round/>
            <a:headEnd len="sm" w="sm" type="none"/>
            <a:tailEnd len="med" w="med" type="triangle"/>
          </a:ln>
        </p:spPr>
      </p:cxnSp>
      <p:sp>
        <p:nvSpPr>
          <p:cNvPr id="229" name="Google Shape;229;p1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a:t>
            </a:r>
            <a:r>
              <a:rPr b="0" i="0" lang="en-US" sz="2000" u="sng" cap="none" strike="noStrike">
                <a:solidFill>
                  <a:srgbClr val="000000"/>
                </a:solidFill>
                <a:latin typeface="Arial"/>
                <a:ea typeface="Arial"/>
                <a:cs typeface="Arial"/>
                <a:sym typeface="Arial"/>
              </a:rPr>
              <a:t>actions of the leader</a:t>
            </a:r>
            <a:r>
              <a:rPr b="0" i="0" lang="en-US" sz="2000" u="none" cap="none" strike="noStrike">
                <a:solidFill>
                  <a:srgbClr val="000000"/>
                </a:solidFill>
                <a:latin typeface="Arial"/>
                <a:ea typeface="Arial"/>
                <a:cs typeface="Arial"/>
                <a:sym typeface="Arial"/>
              </a:rPr>
              <a:t> will </a:t>
            </a:r>
            <a:r>
              <a:rPr b="0" i="0" lang="en-US" sz="2000" u="sng" cap="none" strike="noStrike">
                <a:solidFill>
                  <a:srgbClr val="000000"/>
                </a:solidFill>
                <a:latin typeface="Arial"/>
                <a:ea typeface="Arial"/>
                <a:cs typeface="Arial"/>
                <a:sym typeface="Arial"/>
              </a:rPr>
              <a:t>directly influence the culture</a:t>
            </a:r>
            <a:r>
              <a:rPr b="0" i="0" lang="en-US" sz="2000" u="none" cap="none" strike="noStrike">
                <a:solidFill>
                  <a:srgbClr val="000000"/>
                </a:solidFill>
                <a:latin typeface="Arial"/>
                <a:ea typeface="Arial"/>
                <a:cs typeface="Arial"/>
                <a:sym typeface="Arial"/>
              </a:rPr>
              <a:t> of the organization. </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Good Leaders (and good managers) influence the culture in a desirable manner directly through their positive actions: “Walk the Talk!” </a:t>
            </a:r>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Any negative action can undermine and degrade the desired culture.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“Do as I say, not as I do” is NEVER acceptable for a leader!</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236" name="Google Shape;236;p13"/>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“Actions Speak Louder than Words”:</a:t>
            </a:r>
            <a:endParaRPr/>
          </a:p>
        </p:txBody>
      </p:sp>
      <p:sp>
        <p:nvSpPr>
          <p:cNvPr id="237" name="Google Shape;237;p1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38" name="Google Shape;238;p1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pic>
        <p:nvPicPr>
          <p:cNvPr id="239" name="Google Shape;239;p13"/>
          <p:cNvPicPr preferRelativeResize="0"/>
          <p:nvPr/>
        </p:nvPicPr>
        <p:blipFill rotWithShape="1">
          <a:blip r:embed="rId3">
            <a:alphaModFix/>
          </a:blip>
          <a:srcRect b="0" l="0" r="0" t="0"/>
          <a:stretch/>
        </p:blipFill>
        <p:spPr>
          <a:xfrm>
            <a:off x="535800" y="3096000"/>
            <a:ext cx="3960000" cy="2970000"/>
          </a:xfrm>
          <a:prstGeom prst="rect">
            <a:avLst/>
          </a:prstGeom>
          <a:noFill/>
          <a:ln cap="flat" cmpd="sng" w="9525">
            <a:solidFill>
              <a:schemeClr val="dk1"/>
            </a:solidFill>
            <a:prstDash val="solid"/>
            <a:round/>
            <a:headEnd len="sm" w="sm" type="none"/>
            <a:tailEnd len="sm" w="sm" type="none"/>
          </a:ln>
        </p:spPr>
      </p:pic>
      <p:pic>
        <p:nvPicPr>
          <p:cNvPr id="240" name="Google Shape;240;p13"/>
          <p:cNvPicPr preferRelativeResize="0"/>
          <p:nvPr/>
        </p:nvPicPr>
        <p:blipFill rotWithShape="1">
          <a:blip r:embed="rId4">
            <a:alphaModFix/>
          </a:blip>
          <a:srcRect b="0" l="0" r="0" t="0"/>
          <a:stretch/>
        </p:blipFill>
        <p:spPr>
          <a:xfrm>
            <a:off x="4650600" y="3096000"/>
            <a:ext cx="3960000" cy="2970000"/>
          </a:xfrm>
          <a:prstGeom prst="rect">
            <a:avLst/>
          </a:prstGeom>
          <a:noFill/>
          <a:ln cap="flat" cmpd="sng" w="9525">
            <a:solidFill>
              <a:schemeClr val="dk1"/>
            </a:solidFill>
            <a:prstDash val="solid"/>
            <a:round/>
            <a:headEnd len="sm" w="sm" type="none"/>
            <a:tailEnd len="sm" w="sm" type="none"/>
          </a:ln>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4"/>
          <p:cNvSpPr/>
          <p:nvPr/>
        </p:nvSpPr>
        <p:spPr>
          <a:xfrm>
            <a:off x="180000" y="180000"/>
            <a:ext cx="8640000" cy="504000"/>
          </a:xfrm>
          <a:prstGeom prst="rect">
            <a:avLst/>
          </a:prstGeom>
          <a:solidFill>
            <a:srgbClr val="0000FF"/>
          </a:solidFill>
          <a:ln cap="flat" cmpd="sng" w="9525">
            <a:solidFill>
              <a:srgbClr val="0000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8F8F8"/>
                </a:solidFill>
                <a:latin typeface="Arial"/>
                <a:ea typeface="Arial"/>
                <a:cs typeface="Arial"/>
                <a:sym typeface="Arial"/>
              </a:rPr>
              <a:t>ALE #1: Leadership Actions on SC’s and SP’s</a:t>
            </a:r>
            <a:endParaRPr b="0" i="0" sz="2400" u="none" cap="none" strike="noStrike">
              <a:solidFill>
                <a:srgbClr val="F8F8F8"/>
              </a:solidFill>
              <a:latin typeface="Arial"/>
              <a:ea typeface="Arial"/>
              <a:cs typeface="Arial"/>
              <a:sym typeface="Arial"/>
            </a:endParaRPr>
          </a:p>
        </p:txBody>
      </p:sp>
      <p:sp>
        <p:nvSpPr>
          <p:cNvPr id="250" name="Google Shape;250;p1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51" name="Google Shape;251;p14"/>
          <p:cNvSpPr/>
          <p:nvPr/>
        </p:nvSpPr>
        <p:spPr>
          <a:xfrm>
            <a:off x="180000" y="828000"/>
            <a:ext cx="8640000" cy="5328000"/>
          </a:xfrm>
          <a:prstGeom prst="rect">
            <a:avLst/>
          </a:prstGeom>
          <a:solidFill>
            <a:srgbClr val="0000FF"/>
          </a:solid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spcBef>
                <a:spcPts val="0"/>
              </a:spcBef>
              <a:spcAft>
                <a:spcPts val="0"/>
              </a:spcAft>
              <a:buNone/>
            </a:pPr>
            <a:r>
              <a:rPr b="0" i="1" lang="en-US" sz="2000" u="none" cap="none" strike="noStrike">
                <a:solidFill>
                  <a:srgbClr val="FFFFFF"/>
                </a:solidFill>
                <a:latin typeface="Arial"/>
                <a:ea typeface="Arial"/>
                <a:cs typeface="Arial"/>
                <a:sym typeface="Arial"/>
              </a:rPr>
              <a:t>Please confer and respond (pen-to-paper, MM-Poll):</a:t>
            </a:r>
            <a:endParaRPr/>
          </a:p>
          <a:p>
            <a:pPr indent="-342900" lvl="0" marL="342900" marR="0" rtl="0" algn="l">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You observe these sub-standard conditions and sub-standard practices: </a:t>
            </a:r>
            <a:endParaRPr/>
          </a:p>
          <a:p>
            <a:pPr indent="-457200" lvl="1" marL="914400" marR="0" rtl="0" algn="l">
              <a:spcBef>
                <a:spcPts val="0"/>
              </a:spcBef>
              <a:spcAft>
                <a:spcPts val="0"/>
              </a:spcAft>
              <a:buClr>
                <a:srgbClr val="FFFFFF"/>
              </a:buClr>
              <a:buSzPts val="2000"/>
              <a:buFont typeface="Arial"/>
              <a:buAutoNum type="arabicParenR"/>
            </a:pPr>
            <a:r>
              <a:rPr b="0" i="1" lang="en-US" sz="2000" u="none" cap="none" strike="noStrike">
                <a:solidFill>
                  <a:srgbClr val="FFFFFF"/>
                </a:solidFill>
                <a:latin typeface="Arial"/>
                <a:ea typeface="Arial"/>
                <a:cs typeface="Arial"/>
                <a:sym typeface="Arial"/>
              </a:rPr>
              <a:t>Oil spill on floor.</a:t>
            </a:r>
            <a:endParaRPr/>
          </a:p>
          <a:p>
            <a:pPr indent="-457200" lvl="1" marL="914400" marR="0" rtl="0" algn="l">
              <a:spcBef>
                <a:spcPts val="0"/>
              </a:spcBef>
              <a:spcAft>
                <a:spcPts val="0"/>
              </a:spcAft>
              <a:buClr>
                <a:srgbClr val="FFFFFF"/>
              </a:buClr>
              <a:buSzPts val="2000"/>
              <a:buFont typeface="Arial"/>
              <a:buAutoNum type="arabicParenR"/>
            </a:pPr>
            <a:r>
              <a:rPr b="0" i="1" lang="en-US" sz="2000" u="none" cap="none" strike="noStrike">
                <a:solidFill>
                  <a:srgbClr val="FFFFFF"/>
                </a:solidFill>
                <a:latin typeface="Arial"/>
                <a:ea typeface="Arial"/>
                <a:cs typeface="Arial"/>
                <a:sym typeface="Arial"/>
              </a:rPr>
              <a:t>A worker is not wearing required eye protection in the shop.</a:t>
            </a:r>
            <a:endParaRPr/>
          </a:p>
          <a:p>
            <a:pPr indent="-457200" lvl="1" marL="914400" marR="0" rtl="0" algn="l">
              <a:spcBef>
                <a:spcPts val="0"/>
              </a:spcBef>
              <a:spcAft>
                <a:spcPts val="0"/>
              </a:spcAft>
              <a:buClr>
                <a:srgbClr val="FFFFFF"/>
              </a:buClr>
              <a:buSzPts val="2000"/>
              <a:buFont typeface="Arial"/>
              <a:buAutoNum type="arabicParenR"/>
            </a:pPr>
            <a:r>
              <a:rPr b="0" i="1" lang="en-US" sz="2000" u="none" cap="none" strike="noStrike">
                <a:solidFill>
                  <a:srgbClr val="FFFFFF"/>
                </a:solidFill>
                <a:latin typeface="Arial"/>
                <a:ea typeface="Arial"/>
                <a:cs typeface="Arial"/>
                <a:sym typeface="Arial"/>
              </a:rPr>
              <a:t>A worker is not wearing fall protection when at elevation. </a:t>
            </a:r>
            <a:endParaRPr/>
          </a:p>
          <a:p>
            <a:pPr indent="-457200" lvl="1" marL="914400" marR="0" rtl="0" algn="l">
              <a:spcBef>
                <a:spcPts val="0"/>
              </a:spcBef>
              <a:spcAft>
                <a:spcPts val="0"/>
              </a:spcAft>
              <a:buClr>
                <a:srgbClr val="FFFFFF"/>
              </a:buClr>
              <a:buSzPts val="2000"/>
              <a:buFont typeface="Arial"/>
              <a:buAutoNum type="arabicParenR"/>
            </a:pPr>
            <a:r>
              <a:rPr b="0" i="1" lang="en-US" sz="2000" u="none" cap="none" strike="noStrike">
                <a:solidFill>
                  <a:srgbClr val="FFFFFF"/>
                </a:solidFill>
                <a:latin typeface="Arial"/>
                <a:ea typeface="Arial"/>
                <a:cs typeface="Arial"/>
                <a:sym typeface="Arial"/>
              </a:rPr>
              <a:t>The PTW practices are sub-standard in one of your operations.</a:t>
            </a:r>
            <a:endParaRPr/>
          </a:p>
          <a:p>
            <a:pPr indent="-215900" lvl="0" marL="342900" marR="0" rtl="0" algn="l">
              <a:spcBef>
                <a:spcPts val="0"/>
              </a:spcBef>
              <a:spcAft>
                <a:spcPts val="0"/>
              </a:spcAft>
              <a:buClr>
                <a:schemeClr val="dk1"/>
              </a:buClr>
              <a:buSzPts val="2000"/>
              <a:buFont typeface="Noto Sans Symbols"/>
              <a:buNone/>
            </a:pPr>
            <a:r>
              <a:t/>
            </a:r>
            <a:endParaRPr b="0" i="1" sz="2000" u="none" cap="none" strike="noStrike">
              <a:solidFill>
                <a:srgbClr val="FFFFFF"/>
              </a:solidFill>
              <a:latin typeface="Arial"/>
              <a:ea typeface="Arial"/>
              <a:cs typeface="Arial"/>
              <a:sym typeface="Arial"/>
            </a:endParaRPr>
          </a:p>
          <a:p>
            <a:pPr indent="-342900" lvl="0" marL="342900" marR="0" rtl="0" algn="l">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Your actions as seen by others will influence their actions and ultimately will shape the culture. </a:t>
            </a:r>
            <a:endParaRPr b="0" i="1" sz="2000" u="none" cap="none" strike="noStrike">
              <a:solidFill>
                <a:srgbClr val="FFFFFF"/>
              </a:solidFill>
              <a:latin typeface="Arial"/>
              <a:ea typeface="Arial"/>
              <a:cs typeface="Arial"/>
              <a:sym typeface="Arial"/>
            </a:endParaRPr>
          </a:p>
          <a:p>
            <a:pPr indent="-215900" lvl="0" marL="342900" marR="0" rtl="0" algn="l">
              <a:spcBef>
                <a:spcPts val="0"/>
              </a:spcBef>
              <a:spcAft>
                <a:spcPts val="0"/>
              </a:spcAft>
              <a:buClr>
                <a:schemeClr val="dk1"/>
              </a:buClr>
              <a:buSzPts val="2000"/>
              <a:buFont typeface="Noto Sans Symbols"/>
              <a:buNone/>
            </a:pPr>
            <a:r>
              <a:t/>
            </a:r>
            <a:endParaRPr b="0" i="1" sz="2000" u="none" cap="none" strike="noStrike">
              <a:solidFill>
                <a:srgbClr val="FFFFFF"/>
              </a:solidFill>
              <a:latin typeface="Arial"/>
              <a:ea typeface="Arial"/>
              <a:cs typeface="Arial"/>
              <a:sym typeface="Arial"/>
            </a:endParaRPr>
          </a:p>
          <a:p>
            <a:pPr indent="-342900" lvl="0" marL="342900" marR="0" rtl="0" algn="l">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What happens if you take no action (to clean up the spill, and so on)?</a:t>
            </a:r>
            <a:endParaRPr/>
          </a:p>
          <a:p>
            <a:pPr indent="-457200" lvl="1" marL="914400" marR="0" rtl="0" algn="l">
              <a:spcBef>
                <a:spcPts val="0"/>
              </a:spcBef>
              <a:spcAft>
                <a:spcPts val="0"/>
              </a:spcAft>
              <a:buClr>
                <a:srgbClr val="FFFFFF"/>
              </a:buClr>
              <a:buSzPts val="2000"/>
              <a:buFont typeface="Arial"/>
              <a:buAutoNum type="alphaLcParenR"/>
            </a:pPr>
            <a:r>
              <a:rPr b="0" i="1" lang="en-US" sz="2000" u="none" cap="none" strike="noStrike">
                <a:solidFill>
                  <a:srgbClr val="FFFFFF"/>
                </a:solidFill>
                <a:latin typeface="Arial"/>
                <a:ea typeface="Arial"/>
                <a:cs typeface="Arial"/>
                <a:sym typeface="Arial"/>
              </a:rPr>
              <a:t>The likelihood of an incident happening is not related to any actions you take as a leader. </a:t>
            </a:r>
            <a:endParaRPr/>
          </a:p>
          <a:p>
            <a:pPr indent="-457200" lvl="1" marL="914400" marR="0" rtl="0" algn="l">
              <a:spcBef>
                <a:spcPts val="0"/>
              </a:spcBef>
              <a:spcAft>
                <a:spcPts val="0"/>
              </a:spcAft>
              <a:buClr>
                <a:srgbClr val="FFFFFF"/>
              </a:buClr>
              <a:buSzPts val="2000"/>
              <a:buFont typeface="Arial"/>
              <a:buAutoNum type="alphaLcParenR"/>
            </a:pPr>
            <a:r>
              <a:rPr b="0" i="1" lang="en-US" sz="2000" u="none" cap="none" strike="noStrike">
                <a:solidFill>
                  <a:srgbClr val="FFFFFF"/>
                </a:solidFill>
                <a:latin typeface="Arial"/>
                <a:ea typeface="Arial"/>
                <a:cs typeface="Arial"/>
                <a:sym typeface="Arial"/>
              </a:rPr>
              <a:t>The management of risks will break down and eventually a loss incident will happen. </a:t>
            </a:r>
            <a:endParaRPr/>
          </a:p>
          <a:p>
            <a:pPr indent="-457200" lvl="1" marL="914400" marR="0" rtl="0" algn="l">
              <a:spcBef>
                <a:spcPts val="0"/>
              </a:spcBef>
              <a:spcAft>
                <a:spcPts val="0"/>
              </a:spcAft>
              <a:buClr>
                <a:srgbClr val="FFFFFF"/>
              </a:buClr>
              <a:buSzPts val="2000"/>
              <a:buFont typeface="Arial"/>
              <a:buAutoNum type="alphaLcParenR"/>
            </a:pPr>
            <a:r>
              <a:rPr b="0" i="1" lang="en-US" sz="2000" u="none" cap="none" strike="noStrike">
                <a:solidFill>
                  <a:srgbClr val="FFFFFF"/>
                </a:solidFill>
                <a:latin typeface="Arial"/>
                <a:ea typeface="Arial"/>
                <a:cs typeface="Arial"/>
                <a:sym typeface="Arial"/>
              </a:rPr>
              <a:t>Risk levels don’t change even though control measures break down.</a:t>
            </a:r>
            <a:endParaRPr/>
          </a:p>
        </p:txBody>
      </p:sp>
      <p:sp>
        <p:nvSpPr>
          <p:cNvPr id="252" name="Google Shape;252;p1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5"/>
          <p:cNvSpPr/>
          <p:nvPr/>
        </p:nvSpPr>
        <p:spPr>
          <a:xfrm>
            <a:off x="180000" y="180000"/>
            <a:ext cx="8640000" cy="504000"/>
          </a:xfrm>
          <a:prstGeom prst="rect">
            <a:avLst/>
          </a:prstGeom>
          <a:solidFill>
            <a:schemeClr val="dk2"/>
          </a:solidFill>
          <a:ln cap="flat" cmpd="sng" w="9525">
            <a:solidFill>
              <a:srgbClr val="0000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8F8F8"/>
                </a:solidFill>
                <a:latin typeface="Arial"/>
                <a:ea typeface="Arial"/>
                <a:cs typeface="Arial"/>
                <a:sym typeface="Arial"/>
              </a:rPr>
              <a:t>Leadership Action: Sub-standard Conditions and Practices:</a:t>
            </a:r>
            <a:endParaRPr b="0" i="0" sz="2400" u="none" cap="none" strike="noStrike">
              <a:solidFill>
                <a:srgbClr val="F8F8F8"/>
              </a:solidFill>
              <a:latin typeface="Arial"/>
              <a:ea typeface="Arial"/>
              <a:cs typeface="Arial"/>
              <a:sym typeface="Arial"/>
            </a:endParaRPr>
          </a:p>
        </p:txBody>
      </p:sp>
      <p:sp>
        <p:nvSpPr>
          <p:cNvPr id="262" name="Google Shape;262;p1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63" name="Google Shape;263;p15"/>
          <p:cNvSpPr/>
          <p:nvPr/>
        </p:nvSpPr>
        <p:spPr>
          <a:xfrm>
            <a:off x="180000" y="828000"/>
            <a:ext cx="8640000" cy="5328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You observe these sub-standard conditions and sub-standard practices: </a:t>
            </a:r>
            <a:endParaRPr/>
          </a:p>
          <a:p>
            <a:pPr indent="-359999" lvl="1" marL="72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Oil spill on floor.</a:t>
            </a:r>
            <a:endParaRPr/>
          </a:p>
          <a:p>
            <a:pPr indent="-359999" lvl="1" marL="72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A worker is not wearing required eye protection in the shop.</a:t>
            </a:r>
            <a:endParaRPr/>
          </a:p>
          <a:p>
            <a:pPr indent="-359999" lvl="1" marL="72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A worker is not wearing fall protection when at elevation. </a:t>
            </a:r>
            <a:endParaRPr/>
          </a:p>
          <a:p>
            <a:pPr indent="-359999" lvl="1" marL="72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The PTW practices are sub-standard in one of your operations.</a:t>
            </a:r>
            <a:endParaRPr b="0" i="0" sz="1600" u="none" cap="none" strike="noStrike">
              <a:solidFill>
                <a:schemeClr val="lt1"/>
              </a:solidFill>
              <a:latin typeface="Arial"/>
              <a:ea typeface="Arial"/>
              <a:cs typeface="Arial"/>
              <a:sym typeface="Arial"/>
            </a:endParaRPr>
          </a:p>
          <a:p>
            <a:pPr indent="-241300" lvl="0" marL="342900" marR="0" rtl="0" algn="l">
              <a:lnSpc>
                <a:spcPct val="90000"/>
              </a:lnSpc>
              <a:spcBef>
                <a:spcPts val="0"/>
              </a:spcBef>
              <a:spcAft>
                <a:spcPts val="0"/>
              </a:spcAft>
              <a:buClr>
                <a:schemeClr val="dk1"/>
              </a:buClr>
              <a:buSzPts val="1600"/>
              <a:buFont typeface="Noto Sans Symbols"/>
              <a:buNone/>
            </a:pPr>
            <a:r>
              <a:t/>
            </a:r>
            <a:endParaRPr b="0" i="0" sz="1600" u="none" cap="none" strike="noStrike">
              <a:solidFill>
                <a:schemeClr val="lt1"/>
              </a:solidFill>
              <a:latin typeface="Arial"/>
              <a:ea typeface="Arial"/>
              <a:cs typeface="Arial"/>
              <a:sym typeface="Arial"/>
            </a:endParaRPr>
          </a:p>
          <a:p>
            <a:pPr indent="-342900" lvl="0" marL="3429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Your actions as seen by others will influence their actions and ultimately will shape the culture.</a:t>
            </a:r>
            <a:endParaRPr/>
          </a:p>
          <a:p>
            <a:pPr indent="-241300" lvl="0" marL="342900" marR="0" rtl="0" algn="l">
              <a:lnSpc>
                <a:spcPct val="90000"/>
              </a:lnSpc>
              <a:spcBef>
                <a:spcPts val="0"/>
              </a:spcBef>
              <a:spcAft>
                <a:spcPts val="0"/>
              </a:spcAft>
              <a:buClr>
                <a:schemeClr val="dk1"/>
              </a:buClr>
              <a:buSzPts val="1600"/>
              <a:buFont typeface="Noto Sans Symbols"/>
              <a:buNone/>
            </a:pPr>
            <a:r>
              <a:t/>
            </a:r>
            <a:endParaRPr b="0" i="0" sz="1600" u="none" cap="none" strike="noStrike">
              <a:solidFill>
                <a:schemeClr val="lt1"/>
              </a:solidFill>
              <a:latin typeface="Arial"/>
              <a:ea typeface="Arial"/>
              <a:cs typeface="Arial"/>
              <a:sym typeface="Arial"/>
            </a:endParaRPr>
          </a:p>
          <a:p>
            <a:pPr indent="-342900" lvl="0" marL="3429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If you take no action on any of the previously stated SC’s and SP’s:</a:t>
            </a:r>
            <a:endParaRPr b="0" i="0" sz="1600" u="none" cap="none" strike="noStrike">
              <a:solidFill>
                <a:schemeClr val="lt1"/>
              </a:solidFill>
              <a:latin typeface="Arial"/>
              <a:ea typeface="Arial"/>
              <a:cs typeface="Arial"/>
              <a:sym typeface="Arial"/>
            </a:endParaRPr>
          </a:p>
          <a:p>
            <a:pPr indent="-359999" lvl="1" marL="72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Workers will not attend to and correct SC’s and SP’s.</a:t>
            </a:r>
            <a:endParaRPr/>
          </a:p>
          <a:p>
            <a:pPr indent="-359999" lvl="1" marL="72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Workers will become complacent in all areas of managing risks. </a:t>
            </a:r>
            <a:endParaRPr/>
          </a:p>
          <a:p>
            <a:pPr indent="-359999" lvl="1" marL="72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The control of hazards and the management of risks will break down.</a:t>
            </a:r>
            <a:endParaRPr/>
          </a:p>
          <a:p>
            <a:pPr indent="-359999" lvl="1" marL="7200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Eventually a loss incident will happen. </a:t>
            </a:r>
            <a:endParaRPr/>
          </a:p>
          <a:p>
            <a:pPr indent="-241300" lvl="0" marL="342900" marR="0" rtl="0" algn="l">
              <a:lnSpc>
                <a:spcPct val="90000"/>
              </a:lnSpc>
              <a:spcBef>
                <a:spcPts val="0"/>
              </a:spcBef>
              <a:spcAft>
                <a:spcPts val="0"/>
              </a:spcAft>
              <a:buClr>
                <a:schemeClr val="dk1"/>
              </a:buClr>
              <a:buSzPts val="1600"/>
              <a:buFont typeface="Noto Sans Symbols"/>
              <a:buNone/>
            </a:pPr>
            <a:r>
              <a:t/>
            </a:r>
            <a:endParaRPr b="0" i="0" sz="1600" u="none" cap="none" strike="noStrike">
              <a:solidFill>
                <a:schemeClr val="lt1"/>
              </a:solidFill>
              <a:latin typeface="Arial"/>
              <a:ea typeface="Arial"/>
              <a:cs typeface="Arial"/>
              <a:sym typeface="Arial"/>
            </a:endParaRPr>
          </a:p>
          <a:p>
            <a:pPr indent="-342900" lvl="0" marL="3429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Therefore, as a Leader in Risk Management, and wanting to </a:t>
            </a:r>
            <a:br>
              <a:rPr b="0" i="0" lang="en-US" sz="1600" u="none" cap="none" strike="noStrike">
                <a:solidFill>
                  <a:schemeClr val="lt1"/>
                </a:solidFill>
                <a:latin typeface="Arial"/>
                <a:ea typeface="Arial"/>
                <a:cs typeface="Arial"/>
                <a:sym typeface="Arial"/>
              </a:rPr>
            </a:br>
            <a:r>
              <a:rPr b="0" i="0" lang="en-US" sz="1600" u="none" cap="none" strike="noStrike">
                <a:solidFill>
                  <a:schemeClr val="lt1"/>
                </a:solidFill>
                <a:latin typeface="Arial"/>
                <a:ea typeface="Arial"/>
                <a:cs typeface="Arial"/>
                <a:sym typeface="Arial"/>
              </a:rPr>
              <a:t>“lead by example” or “walk the talk”, you must:</a:t>
            </a:r>
            <a:endParaRPr/>
          </a:p>
          <a:p>
            <a:pPr indent="-457200" lvl="1" marL="914400" marR="0" rtl="0" algn="l">
              <a:lnSpc>
                <a:spcPct val="90000"/>
              </a:lnSpc>
              <a:spcBef>
                <a:spcPts val="0"/>
              </a:spcBef>
              <a:spcAft>
                <a:spcPts val="0"/>
              </a:spcAft>
              <a:buClr>
                <a:schemeClr val="lt1"/>
              </a:buClr>
              <a:buSzPts val="1600"/>
              <a:buFont typeface="Arial"/>
              <a:buAutoNum type="arabicParenR"/>
            </a:pPr>
            <a:r>
              <a:rPr b="0" i="0" lang="en-US" sz="1600" u="none" cap="none" strike="noStrike">
                <a:solidFill>
                  <a:schemeClr val="lt1"/>
                </a:solidFill>
                <a:latin typeface="Arial"/>
                <a:ea typeface="Arial"/>
                <a:cs typeface="Arial"/>
                <a:sym typeface="Arial"/>
              </a:rPr>
              <a:t>Set in place a (temporary) barricade and arrange for clean-up the oil spill. </a:t>
            </a:r>
            <a:endParaRPr/>
          </a:p>
          <a:p>
            <a:pPr indent="-457200" lvl="1" marL="914400" marR="0" rtl="0" algn="l">
              <a:lnSpc>
                <a:spcPct val="90000"/>
              </a:lnSpc>
              <a:spcBef>
                <a:spcPts val="0"/>
              </a:spcBef>
              <a:spcAft>
                <a:spcPts val="0"/>
              </a:spcAft>
              <a:buClr>
                <a:schemeClr val="lt1"/>
              </a:buClr>
              <a:buSzPts val="1600"/>
              <a:buFont typeface="Arial"/>
              <a:buAutoNum type="arabicParenR"/>
            </a:pPr>
            <a:r>
              <a:rPr b="0" i="0" lang="en-US" sz="1600" u="none" cap="none" strike="noStrike">
                <a:solidFill>
                  <a:schemeClr val="lt1"/>
                </a:solidFill>
                <a:latin typeface="Arial"/>
                <a:ea typeface="Arial"/>
                <a:cs typeface="Arial"/>
                <a:sym typeface="Arial"/>
              </a:rPr>
              <a:t>Stop the worker; discuss their lack of eye protection. </a:t>
            </a:r>
            <a:endParaRPr/>
          </a:p>
          <a:p>
            <a:pPr indent="-457200" lvl="1" marL="914400" marR="0" rtl="0" algn="l">
              <a:lnSpc>
                <a:spcPct val="90000"/>
              </a:lnSpc>
              <a:spcBef>
                <a:spcPts val="0"/>
              </a:spcBef>
              <a:spcAft>
                <a:spcPts val="0"/>
              </a:spcAft>
              <a:buClr>
                <a:schemeClr val="lt1"/>
              </a:buClr>
              <a:buSzPts val="1600"/>
              <a:buFont typeface="Arial"/>
              <a:buAutoNum type="arabicParenR"/>
            </a:pPr>
            <a:r>
              <a:rPr b="0" i="0" lang="en-US" sz="1600" u="none" cap="none" strike="noStrike">
                <a:solidFill>
                  <a:schemeClr val="lt1"/>
                </a:solidFill>
                <a:latin typeface="Arial"/>
                <a:ea typeface="Arial"/>
                <a:cs typeface="Arial"/>
                <a:sym typeface="Arial"/>
              </a:rPr>
              <a:t>Stop the worker and ask them to come down. </a:t>
            </a:r>
            <a:endParaRPr/>
          </a:p>
          <a:p>
            <a:pPr indent="-457200" lvl="1" marL="914400" marR="0" rtl="0" algn="l">
              <a:lnSpc>
                <a:spcPct val="90000"/>
              </a:lnSpc>
              <a:spcBef>
                <a:spcPts val="0"/>
              </a:spcBef>
              <a:spcAft>
                <a:spcPts val="0"/>
              </a:spcAft>
              <a:buClr>
                <a:schemeClr val="lt1"/>
              </a:buClr>
              <a:buSzPts val="1600"/>
              <a:buFont typeface="Arial"/>
              <a:buAutoNum type="arabicParenR"/>
            </a:pPr>
            <a:r>
              <a:rPr b="0" i="0" lang="en-US" sz="1600" u="none" cap="none" strike="noStrike">
                <a:solidFill>
                  <a:schemeClr val="lt1"/>
                </a:solidFill>
                <a:latin typeface="Arial"/>
                <a:ea typeface="Arial"/>
                <a:cs typeface="Arial"/>
                <a:sym typeface="Arial"/>
              </a:rPr>
              <a:t>Initiate a strategy (take action) to improve the PTW practices. </a:t>
            </a:r>
            <a:endParaRPr/>
          </a:p>
          <a:p>
            <a:pPr indent="-241300" lvl="1" marL="342900" marR="0" rtl="0" algn="l">
              <a:lnSpc>
                <a:spcPct val="90000"/>
              </a:lnSpc>
              <a:spcBef>
                <a:spcPts val="0"/>
              </a:spcBef>
              <a:spcAft>
                <a:spcPts val="0"/>
              </a:spcAft>
              <a:buClr>
                <a:schemeClr val="dk1"/>
              </a:buClr>
              <a:buSzPts val="1600"/>
              <a:buFont typeface="Noto Sans Symbols"/>
              <a:buNone/>
            </a:pPr>
            <a:r>
              <a:t/>
            </a:r>
            <a:endParaRPr b="0" i="0" sz="1600" u="none" cap="none" strike="noStrike">
              <a:solidFill>
                <a:schemeClr val="lt1"/>
              </a:solidFill>
              <a:latin typeface="Arial"/>
              <a:ea typeface="Arial"/>
              <a:cs typeface="Arial"/>
              <a:sym typeface="Arial"/>
            </a:endParaRPr>
          </a:p>
          <a:p>
            <a:pPr indent="-342900" lvl="1" marL="342900" marR="0" rtl="0" algn="l">
              <a:lnSpc>
                <a:spcPct val="90000"/>
              </a:lnSpc>
              <a:spcBef>
                <a:spcPts val="0"/>
              </a:spcBef>
              <a:spcAft>
                <a:spcPts val="0"/>
              </a:spcAft>
              <a:buClr>
                <a:schemeClr val="lt1"/>
              </a:buClr>
              <a:buSzPts val="1600"/>
              <a:buFont typeface="Noto Sans Symbols"/>
              <a:buChar char="⮚"/>
            </a:pPr>
            <a:r>
              <a:rPr b="0" i="0" lang="en-US" sz="1600" u="none" cap="none" strike="noStrike">
                <a:solidFill>
                  <a:schemeClr val="lt1"/>
                </a:solidFill>
                <a:latin typeface="Arial"/>
                <a:ea typeface="Arial"/>
                <a:cs typeface="Arial"/>
                <a:sym typeface="Arial"/>
              </a:rPr>
              <a:t>These leadership actions - correct SP’s and SC’s, combat complacency, maintain risk control measures – shape the culture and ultimately prevent loss incidents!</a:t>
            </a:r>
            <a:endParaRPr b="0" i="0" sz="1600" u="none" cap="none" strike="noStrike">
              <a:solidFill>
                <a:schemeClr val="lt1"/>
              </a:solidFill>
              <a:latin typeface="Arial"/>
              <a:ea typeface="Arial"/>
              <a:cs typeface="Arial"/>
              <a:sym typeface="Arial"/>
            </a:endParaRPr>
          </a:p>
        </p:txBody>
      </p:sp>
      <p:sp>
        <p:nvSpPr>
          <p:cNvPr id="264" name="Google Shape;264;p1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Can a leader address every sub-standard condition and practice?</a:t>
            </a:r>
            <a:endParaRPr b="0" i="0" sz="1800" u="none" cap="none" strike="noStrike">
              <a:solidFill>
                <a:schemeClr val="dk1"/>
              </a:solidFill>
              <a:latin typeface="Arial"/>
              <a:ea typeface="Arial"/>
              <a:cs typeface="Arial"/>
              <a:sym typeface="Arial"/>
            </a:endParaRPr>
          </a:p>
          <a:p>
            <a:pPr indent="-360000" lvl="0" marL="3600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Recall these: </a:t>
            </a:r>
            <a:endParaRPr b="0" i="0" sz="1800" u="none" cap="none" strike="noStrike">
              <a:solidFill>
                <a:schemeClr val="dk1"/>
              </a:solidFill>
              <a:latin typeface="Arial"/>
              <a:ea typeface="Arial"/>
              <a:cs typeface="Arial"/>
              <a:sym typeface="Arial"/>
            </a:endParaRPr>
          </a:p>
          <a:p>
            <a:pPr indent="-359999" lvl="1" marL="720000" marR="0" rtl="0" algn="l">
              <a:lnSpc>
                <a:spcPct val="100000"/>
              </a:lnSpc>
              <a:spcBef>
                <a:spcPts val="0"/>
              </a:spcBef>
              <a:spcAft>
                <a:spcPts val="0"/>
              </a:spcAft>
              <a:buClr>
                <a:schemeClr val="dk1"/>
              </a:buClr>
              <a:buSzPts val="1800"/>
              <a:buFont typeface="Arial"/>
              <a:buAutoNum type="arabicParenR"/>
            </a:pPr>
            <a:r>
              <a:rPr b="0" i="0" lang="en-US" sz="1800" u="none" cap="none" strike="noStrike">
                <a:solidFill>
                  <a:schemeClr val="dk1"/>
                </a:solidFill>
                <a:latin typeface="Arial"/>
                <a:ea typeface="Arial"/>
                <a:cs typeface="Arial"/>
                <a:sym typeface="Arial"/>
              </a:rPr>
              <a:t>Oil spill on floor.</a:t>
            </a:r>
            <a:endParaRPr/>
          </a:p>
          <a:p>
            <a:pPr indent="-359999" lvl="1" marL="720000" marR="0" rtl="0" algn="l">
              <a:lnSpc>
                <a:spcPct val="100000"/>
              </a:lnSpc>
              <a:spcBef>
                <a:spcPts val="0"/>
              </a:spcBef>
              <a:spcAft>
                <a:spcPts val="0"/>
              </a:spcAft>
              <a:buClr>
                <a:schemeClr val="dk1"/>
              </a:buClr>
              <a:buSzPts val="1800"/>
              <a:buFont typeface="Arial"/>
              <a:buAutoNum type="arabicParenR"/>
            </a:pPr>
            <a:r>
              <a:rPr b="0" i="0" lang="en-US" sz="1800" u="none" cap="none" strike="noStrike">
                <a:solidFill>
                  <a:schemeClr val="dk1"/>
                </a:solidFill>
                <a:latin typeface="Arial"/>
                <a:ea typeface="Arial"/>
                <a:cs typeface="Arial"/>
                <a:sym typeface="Arial"/>
              </a:rPr>
              <a:t>A worker is not wearing required eye protection in the shop.</a:t>
            </a:r>
            <a:endParaRPr/>
          </a:p>
          <a:p>
            <a:pPr indent="-359999" lvl="1" marL="720000" marR="0" rtl="0" algn="l">
              <a:lnSpc>
                <a:spcPct val="100000"/>
              </a:lnSpc>
              <a:spcBef>
                <a:spcPts val="0"/>
              </a:spcBef>
              <a:spcAft>
                <a:spcPts val="0"/>
              </a:spcAft>
              <a:buClr>
                <a:schemeClr val="dk1"/>
              </a:buClr>
              <a:buSzPts val="1800"/>
              <a:buFont typeface="Arial"/>
              <a:buAutoNum type="arabicParenR"/>
            </a:pPr>
            <a:r>
              <a:rPr b="0" i="0" lang="en-US" sz="1800" u="none" cap="none" strike="noStrike">
                <a:solidFill>
                  <a:schemeClr val="dk1"/>
                </a:solidFill>
                <a:latin typeface="Arial"/>
                <a:ea typeface="Arial"/>
                <a:cs typeface="Arial"/>
                <a:sym typeface="Arial"/>
              </a:rPr>
              <a:t>A worker is not wearing fall protection when at elevation. </a:t>
            </a:r>
            <a:endParaRPr/>
          </a:p>
          <a:p>
            <a:pPr indent="-359999" lvl="1" marL="720000" marR="0" rtl="0" algn="l">
              <a:lnSpc>
                <a:spcPct val="100000"/>
              </a:lnSpc>
              <a:spcBef>
                <a:spcPts val="0"/>
              </a:spcBef>
              <a:spcAft>
                <a:spcPts val="0"/>
              </a:spcAft>
              <a:buClr>
                <a:schemeClr val="dk1"/>
              </a:buClr>
              <a:buSzPts val="1800"/>
              <a:buFont typeface="Arial"/>
              <a:buAutoNum type="arabicParenR"/>
            </a:pPr>
            <a:r>
              <a:rPr b="0" i="0" lang="en-US" sz="1800" u="none" cap="none" strike="noStrike">
                <a:solidFill>
                  <a:schemeClr val="dk1"/>
                </a:solidFill>
                <a:latin typeface="Arial"/>
                <a:ea typeface="Arial"/>
                <a:cs typeface="Arial"/>
                <a:sym typeface="Arial"/>
              </a:rPr>
              <a:t>The PTW practices are sub-standard in one of your operations.</a:t>
            </a:r>
            <a:endParaRPr/>
          </a:p>
          <a:p>
            <a:pPr indent="-228600" lvl="0" marL="3429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chemeClr val="dk1"/>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chemeClr val="dk1"/>
                </a:solidFill>
                <a:latin typeface="Arial"/>
                <a:ea typeface="Arial"/>
                <a:cs typeface="Arial"/>
                <a:sym typeface="Arial"/>
              </a:rPr>
              <a:t>Previous leadership practices had us striving to intervene on and address all of these.</a:t>
            </a:r>
            <a:endParaRPr/>
          </a:p>
          <a:p>
            <a:pPr indent="-245700" lvl="0" marL="3600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chemeClr val="dk1"/>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1" i="0" lang="en-US" sz="1800" u="none" cap="none" strike="noStrike">
                <a:solidFill>
                  <a:schemeClr val="dk1"/>
                </a:solidFill>
                <a:latin typeface="Arial"/>
                <a:ea typeface="Arial"/>
                <a:cs typeface="Arial"/>
                <a:sym typeface="Arial"/>
              </a:rPr>
              <a:t>Is this sustainable? Let’s examine this: </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chemeClr val="dk1"/>
                </a:solidFill>
                <a:latin typeface="Arial"/>
                <a:ea typeface="Arial"/>
                <a:cs typeface="Arial"/>
                <a:sym typeface="Arial"/>
              </a:rPr>
              <a:t>By reviewing:</a:t>
            </a:r>
            <a:endParaRPr/>
          </a:p>
          <a:p>
            <a:pPr indent="-359999" lvl="1" marL="108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chemeClr val="dk1"/>
                </a:solidFill>
                <a:latin typeface="Arial"/>
                <a:ea typeface="Arial"/>
                <a:cs typeface="Arial"/>
                <a:sym typeface="Arial"/>
              </a:rPr>
              <a:t> Alberta Workplace Injuries &amp; Disease Rates (2009 to 2018)</a:t>
            </a:r>
            <a:endParaRPr/>
          </a:p>
          <a:p>
            <a:pPr indent="-359999" lvl="1" marL="108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chemeClr val="dk1"/>
                </a:solidFill>
                <a:latin typeface="Arial"/>
                <a:ea typeface="Arial"/>
                <a:cs typeface="Arial"/>
                <a:sym typeface="Arial"/>
              </a:rPr>
              <a:t> Alberta Occupational Fatalities (2009 to 2018)</a:t>
            </a:r>
            <a:endParaRPr/>
          </a:p>
          <a:p>
            <a:pPr indent="-359999" lvl="1" marL="108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chemeClr val="dk1"/>
                </a:solidFill>
                <a:latin typeface="Arial"/>
                <a:ea typeface="Arial"/>
                <a:cs typeface="Arial"/>
                <a:sym typeface="Arial"/>
              </a:rPr>
              <a:t>Injury Rate Trends in Other Jurisdictions:</a:t>
            </a:r>
            <a:endParaRPr/>
          </a:p>
          <a:p>
            <a:pPr indent="-359999" lvl="1" marL="108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chemeClr val="dk1"/>
                </a:solidFill>
                <a:latin typeface="Arial"/>
                <a:ea typeface="Arial"/>
                <a:cs typeface="Arial"/>
                <a:sym typeface="Arial"/>
              </a:rPr>
              <a:t>Heinrich Safety Triangle </a:t>
            </a:r>
            <a:endParaRPr b="0" i="0" sz="1800" u="none" cap="none" strike="noStrike">
              <a:solidFill>
                <a:schemeClr val="dk1"/>
              </a:solidFill>
              <a:latin typeface="Arial"/>
              <a:ea typeface="Arial"/>
              <a:cs typeface="Arial"/>
              <a:sym typeface="Arial"/>
            </a:endParaRPr>
          </a:p>
          <a:p>
            <a:pPr indent="-359999" lvl="1" marL="108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chemeClr val="dk1"/>
                </a:solidFill>
                <a:latin typeface="Arial"/>
                <a:ea typeface="Arial"/>
                <a:cs typeface="Arial"/>
                <a:sym typeface="Arial"/>
              </a:rPr>
              <a:t>High Potential (HiPo) Incidents Model:</a:t>
            </a:r>
            <a:endParaRPr/>
          </a:p>
          <a:p>
            <a:pPr indent="-359999" lvl="1" marL="720000" marR="0" rtl="0" algn="l">
              <a:lnSpc>
                <a:spcPct val="100000"/>
              </a:lnSpc>
              <a:spcBef>
                <a:spcPts val="0"/>
              </a:spcBef>
              <a:spcAft>
                <a:spcPts val="0"/>
              </a:spcAft>
              <a:buClr>
                <a:srgbClr val="000000"/>
              </a:buClr>
              <a:buSzPts val="1800"/>
              <a:buFont typeface="Noto Sans Symbols"/>
              <a:buChar char="⮚"/>
            </a:pPr>
            <a:r>
              <a:rPr b="1" i="0" lang="en-US" sz="1800" u="none" cap="none" strike="noStrike">
                <a:solidFill>
                  <a:schemeClr val="dk1"/>
                </a:solidFill>
                <a:latin typeface="Arial"/>
                <a:ea typeface="Arial"/>
                <a:cs typeface="Arial"/>
                <a:sym typeface="Arial"/>
              </a:rPr>
              <a:t>And by examining on which events leaders should focus.</a:t>
            </a:r>
            <a:endParaRPr b="0" i="0" sz="1800" u="none" cap="none" strike="noStrike">
              <a:solidFill>
                <a:schemeClr val="dk1"/>
              </a:solidFill>
              <a:latin typeface="Arial"/>
              <a:ea typeface="Arial"/>
              <a:cs typeface="Arial"/>
              <a:sym typeface="Arial"/>
            </a:endParaRPr>
          </a:p>
        </p:txBody>
      </p:sp>
      <p:sp>
        <p:nvSpPr>
          <p:cNvPr id="271" name="Google Shape;271;p16"/>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Leaders Need to Be Smart About Managing Risks:</a:t>
            </a:r>
            <a:endParaRPr b="0" i="0" sz="2400" u="none" cap="none" strike="noStrike">
              <a:solidFill>
                <a:schemeClr val="accent2"/>
              </a:solidFill>
              <a:latin typeface="Arial"/>
              <a:ea typeface="Arial"/>
              <a:cs typeface="Arial"/>
              <a:sym typeface="Arial"/>
            </a:endParaRPr>
          </a:p>
        </p:txBody>
      </p:sp>
      <p:sp>
        <p:nvSpPr>
          <p:cNvPr id="272" name="Google Shape;272;p1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73" name="Google Shape;273;p1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7"/>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Alberta Workplace Injuries &amp; Disease Rates (2009 to 2018)</a:t>
            </a:r>
            <a:endParaRPr b="0" i="0" sz="2400" u="none" cap="none" strike="noStrike">
              <a:solidFill>
                <a:schemeClr val="accent2"/>
              </a:solidFill>
              <a:latin typeface="Arial"/>
              <a:ea typeface="Arial"/>
              <a:cs typeface="Arial"/>
              <a:sym typeface="Arial"/>
            </a:endParaRPr>
          </a:p>
        </p:txBody>
      </p:sp>
      <p:sp>
        <p:nvSpPr>
          <p:cNvPr id="280" name="Google Shape;280;p1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81" name="Google Shape;281;p1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pic>
        <p:nvPicPr>
          <p:cNvPr id="282" name="Google Shape;282;p17"/>
          <p:cNvPicPr preferRelativeResize="0"/>
          <p:nvPr/>
        </p:nvPicPr>
        <p:blipFill rotWithShape="1">
          <a:blip r:embed="rId3">
            <a:alphaModFix/>
          </a:blip>
          <a:srcRect b="0" l="0" r="0" t="0"/>
          <a:stretch/>
        </p:blipFill>
        <p:spPr>
          <a:xfrm>
            <a:off x="609600" y="838200"/>
            <a:ext cx="7239000" cy="4013819"/>
          </a:xfrm>
          <a:prstGeom prst="rect">
            <a:avLst/>
          </a:prstGeom>
          <a:noFill/>
          <a:ln>
            <a:noFill/>
          </a:ln>
        </p:spPr>
      </p:pic>
      <p:sp>
        <p:nvSpPr>
          <p:cNvPr id="283" name="Google Shape;283;p17"/>
          <p:cNvSpPr/>
          <p:nvPr/>
        </p:nvSpPr>
        <p:spPr>
          <a:xfrm>
            <a:off x="180000" y="4572000"/>
            <a:ext cx="8640000" cy="16002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chemeClr val="dk1"/>
                </a:solidFill>
                <a:latin typeface="Arial"/>
                <a:ea typeface="Arial"/>
                <a:cs typeface="Arial"/>
                <a:sym typeface="Arial"/>
              </a:rPr>
              <a:t>Two measures used by the Alberta Government for workplace injury and disease risks are LTC (lost time cases) and DI (disabling injury) rates. DIs include LTCs and modified-work claims</a:t>
            </a:r>
            <a:endParaRPr/>
          </a:p>
          <a:p>
            <a:pPr indent="-360000" lvl="0" marL="36000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chemeClr val="dk1"/>
                </a:solidFill>
                <a:latin typeface="Arial"/>
                <a:ea typeface="Arial"/>
                <a:cs typeface="Arial"/>
                <a:sym typeface="Arial"/>
              </a:rPr>
              <a:t>Compared to 2009, the LTC rate </a:t>
            </a:r>
            <a:r>
              <a:rPr b="1" i="0" lang="en-US" sz="1400" u="none" cap="none" strike="noStrike">
                <a:solidFill>
                  <a:schemeClr val="dk1"/>
                </a:solidFill>
                <a:latin typeface="Arial"/>
                <a:ea typeface="Arial"/>
                <a:cs typeface="Arial"/>
                <a:sym typeface="Arial"/>
              </a:rPr>
              <a:t>decreased</a:t>
            </a:r>
            <a:r>
              <a:rPr b="0" i="0" lang="en-US" sz="1400" u="none" cap="none" strike="noStrike">
                <a:solidFill>
                  <a:schemeClr val="dk1"/>
                </a:solidFill>
                <a:latin typeface="Arial"/>
                <a:ea typeface="Arial"/>
                <a:cs typeface="Arial"/>
                <a:sym typeface="Arial"/>
              </a:rPr>
              <a:t> 8.2 per cent (1.59 in 2009 versus 1.46 in 2018); and the DI rate </a:t>
            </a:r>
            <a:r>
              <a:rPr b="1" i="0" lang="en-US" sz="1400" u="none" cap="none" strike="noStrike">
                <a:solidFill>
                  <a:schemeClr val="dk1"/>
                </a:solidFill>
                <a:latin typeface="Arial"/>
                <a:ea typeface="Arial"/>
                <a:cs typeface="Arial"/>
                <a:sym typeface="Arial"/>
              </a:rPr>
              <a:t>decreased</a:t>
            </a:r>
            <a:r>
              <a:rPr b="0" i="0" lang="en-US" sz="1400" u="none" cap="none" strike="noStrike">
                <a:solidFill>
                  <a:schemeClr val="dk1"/>
                </a:solidFill>
                <a:latin typeface="Arial"/>
                <a:ea typeface="Arial"/>
                <a:cs typeface="Arial"/>
                <a:sym typeface="Arial"/>
              </a:rPr>
              <a:t> 4.6 per cent (2.84 in 2009 versus 2.71 in 2018).</a:t>
            </a:r>
            <a:endParaRPr/>
          </a:p>
          <a:p>
            <a:pPr indent="-360000" lvl="0" marL="36000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chemeClr val="dk1"/>
                </a:solidFill>
                <a:latin typeface="Arial"/>
                <a:ea typeface="Arial"/>
                <a:cs typeface="Arial"/>
                <a:sym typeface="Arial"/>
              </a:rPr>
              <a:t>Other organizations report similar improvements in both trends, some at even greater improvements e.g. from LTC/DI = 2.5 in 1999 to LTC/DI = 0.25 in 2020 (a factor of 10X improvement)</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8"/>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Alberta Occupational Fatalities (2009 to 2018)</a:t>
            </a:r>
            <a:endParaRPr b="0" i="0" sz="2400" u="none" cap="none" strike="noStrike">
              <a:solidFill>
                <a:schemeClr val="accent2"/>
              </a:solidFill>
              <a:latin typeface="Arial"/>
              <a:ea typeface="Arial"/>
              <a:cs typeface="Arial"/>
              <a:sym typeface="Arial"/>
            </a:endParaRPr>
          </a:p>
        </p:txBody>
      </p:sp>
      <p:sp>
        <p:nvSpPr>
          <p:cNvPr id="290" name="Google Shape;290;p1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91" name="Google Shape;291;p1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pic>
        <p:nvPicPr>
          <p:cNvPr id="292" name="Google Shape;292;p18"/>
          <p:cNvPicPr preferRelativeResize="0"/>
          <p:nvPr/>
        </p:nvPicPr>
        <p:blipFill rotWithShape="1">
          <a:blip r:embed="rId3">
            <a:alphaModFix/>
          </a:blip>
          <a:srcRect b="0" l="0" r="0" t="0"/>
          <a:stretch/>
        </p:blipFill>
        <p:spPr>
          <a:xfrm>
            <a:off x="714109" y="838200"/>
            <a:ext cx="7591691" cy="4052887"/>
          </a:xfrm>
          <a:prstGeom prst="rect">
            <a:avLst/>
          </a:prstGeom>
          <a:noFill/>
          <a:ln>
            <a:noFill/>
          </a:ln>
        </p:spPr>
      </p:pic>
      <p:sp>
        <p:nvSpPr>
          <p:cNvPr id="293" name="Google Shape;293;p18"/>
          <p:cNvSpPr/>
          <p:nvPr/>
        </p:nvSpPr>
        <p:spPr>
          <a:xfrm>
            <a:off x="180000" y="4648200"/>
            <a:ext cx="8640000" cy="162709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The 2018 fatality rate was up slightly from 2009 (67 in 2018 versus 65 in 2009)</a:t>
            </a:r>
            <a:endParaRPr/>
          </a:p>
          <a:p>
            <a:pPr indent="-360000" lvl="0" marL="36000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The Alberta workplace fatality rate ranges between 64 (low) and 90 (high)</a:t>
            </a:r>
            <a:endParaRPr b="0" i="0" sz="16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Unlike LTC &amp; DI rates, why have we not seen a decrease in the Alberta workplace fatality rate from 2009 to 2018?</a:t>
            </a:r>
            <a:endParaRPr/>
          </a:p>
          <a:p>
            <a:pPr indent="-360000" lvl="0" marL="36000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Similarly, some leading organizations have seen LTC/DI improvements of 10X yet have essentially the same fatality rate. </a:t>
            </a:r>
            <a:endParaRPr b="0" i="0" sz="16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9"/>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609600" lvl="0" marL="6096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This is seen in many different jurisdictions!</a:t>
            </a:r>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609600" lvl="0" marL="6096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injury rate is </a:t>
            </a:r>
            <a:r>
              <a:rPr b="0" i="0" lang="en-US" sz="1800" u="sng" cap="none" strike="noStrike">
                <a:solidFill>
                  <a:srgbClr val="000000"/>
                </a:solidFill>
                <a:latin typeface="Arial"/>
                <a:ea typeface="Arial"/>
                <a:cs typeface="Arial"/>
                <a:sym typeface="Arial"/>
              </a:rPr>
              <a:t>declining</a:t>
            </a:r>
            <a:r>
              <a:rPr b="0" i="0" lang="en-US" sz="1800" u="none" cap="none" strike="noStrike">
                <a:solidFill>
                  <a:srgbClr val="000000"/>
                </a:solidFill>
                <a:latin typeface="Arial"/>
                <a:ea typeface="Arial"/>
                <a:cs typeface="Arial"/>
                <a:sym typeface="Arial"/>
              </a:rPr>
              <a:t> (a good thing) whereas the </a:t>
            </a:r>
            <a:r>
              <a:rPr b="0" i="0" lang="en-US" sz="1800" u="sng" cap="none" strike="noStrike">
                <a:solidFill>
                  <a:srgbClr val="000000"/>
                </a:solidFill>
                <a:latin typeface="Arial"/>
                <a:ea typeface="Arial"/>
                <a:cs typeface="Arial"/>
                <a:sym typeface="Arial"/>
              </a:rPr>
              <a:t>fatality rate is not declining at the same rate</a:t>
            </a:r>
            <a:r>
              <a:rPr b="0" i="0" lang="en-US"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p:txBody>
      </p:sp>
      <p:sp>
        <p:nvSpPr>
          <p:cNvPr id="300" name="Google Shape;300;p19"/>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Injury Rate Trends in Other Jurisdictions:</a:t>
            </a:r>
            <a:endParaRPr b="0" i="0" sz="2400" u="none" cap="none" strike="noStrike">
              <a:solidFill>
                <a:schemeClr val="accent2"/>
              </a:solidFill>
              <a:latin typeface="Arial"/>
              <a:ea typeface="Arial"/>
              <a:cs typeface="Arial"/>
              <a:sym typeface="Arial"/>
            </a:endParaRPr>
          </a:p>
        </p:txBody>
      </p:sp>
      <p:sp>
        <p:nvSpPr>
          <p:cNvPr id="301" name="Google Shape;301;p1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02" name="Google Shape;302;p1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pic>
        <p:nvPicPr>
          <p:cNvPr id="303" name="Google Shape;303;p19"/>
          <p:cNvPicPr preferRelativeResize="0"/>
          <p:nvPr/>
        </p:nvPicPr>
        <p:blipFill rotWithShape="1">
          <a:blip r:embed="rId3">
            <a:alphaModFix/>
          </a:blip>
          <a:srcRect b="0" l="25658" r="20131" t="0"/>
          <a:stretch/>
        </p:blipFill>
        <p:spPr>
          <a:xfrm rot="5400000">
            <a:off x="2207630" y="397411"/>
            <a:ext cx="4285782" cy="5929359"/>
          </a:xfrm>
          <a:prstGeom prst="rect">
            <a:avLst/>
          </a:prstGeom>
          <a:noFill/>
          <a:ln>
            <a:noFill/>
          </a:ln>
        </p:spPr>
      </p:pic>
      <p:sp>
        <p:nvSpPr>
          <p:cNvPr id="304" name="Google Shape;304;p19"/>
          <p:cNvSpPr/>
          <p:nvPr/>
        </p:nvSpPr>
        <p:spPr>
          <a:xfrm>
            <a:off x="2514600" y="3657600"/>
            <a:ext cx="1523160" cy="578882"/>
          </a:xfrm>
          <a:prstGeom prst="wedgeRoundRectCallout">
            <a:avLst>
              <a:gd fmla="val 77196" name="adj1"/>
              <a:gd fmla="val -121453" name="adj2"/>
              <a:gd fmla="val 16667" name="adj3"/>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Fatalities</a:t>
            </a:r>
            <a:endParaRPr/>
          </a:p>
        </p:txBody>
      </p:sp>
      <p:sp>
        <p:nvSpPr>
          <p:cNvPr id="305" name="Google Shape;305;p19"/>
          <p:cNvSpPr/>
          <p:nvPr/>
        </p:nvSpPr>
        <p:spPr>
          <a:xfrm>
            <a:off x="4495800" y="1991380"/>
            <a:ext cx="1314030" cy="578882"/>
          </a:xfrm>
          <a:prstGeom prst="wedgeRoundRectCallout">
            <a:avLst>
              <a:gd fmla="val -136225" name="adj1"/>
              <a:gd fmla="val 34507" name="adj2"/>
              <a:gd fmla="val 16667" name="adj3"/>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Injuries</a:t>
            </a:r>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312" name="Google Shape;312;p20"/>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Compare Two Incidents Model:</a:t>
            </a:r>
            <a:endParaRPr b="0" i="0" sz="2400" u="none" cap="none" strike="noStrike">
              <a:solidFill>
                <a:schemeClr val="accent2"/>
              </a:solidFill>
              <a:latin typeface="Arial"/>
              <a:ea typeface="Arial"/>
              <a:cs typeface="Arial"/>
              <a:sym typeface="Arial"/>
            </a:endParaRPr>
          </a:p>
        </p:txBody>
      </p:sp>
      <p:sp>
        <p:nvSpPr>
          <p:cNvPr id="313" name="Google Shape;313;p2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14" name="Google Shape;314;p2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
        <p:nvSpPr>
          <p:cNvPr id="315" name="Google Shape;315;p20"/>
          <p:cNvSpPr/>
          <p:nvPr/>
        </p:nvSpPr>
        <p:spPr>
          <a:xfrm>
            <a:off x="180000" y="828000"/>
            <a:ext cx="8640000" cy="54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Compare - Bird Study with the Heinrich Safety Triangle</a:t>
            </a:r>
            <a:r>
              <a:rPr b="0" i="0" lang="en-US" sz="2000" u="none" cap="none" strike="noStrike">
                <a:solidFill>
                  <a:srgbClr val="000000"/>
                </a:solidFill>
                <a:latin typeface="Arial"/>
                <a:ea typeface="Arial"/>
                <a:cs typeface="Arial"/>
                <a:sym typeface="Arial"/>
              </a:rPr>
              <a:t> (see notes)</a:t>
            </a:r>
            <a:r>
              <a:rPr b="1" i="0" lang="en-US" sz="2000" u="none" cap="none" strike="noStrike">
                <a:solidFill>
                  <a:srgbClr val="000000"/>
                </a:solidFill>
                <a:latin typeface="Arial"/>
                <a:ea typeface="Arial"/>
                <a:cs typeface="Arial"/>
                <a:sym typeface="Arial"/>
              </a:rPr>
              <a:t>:</a:t>
            </a:r>
            <a:endParaRPr b="1" i="0" sz="2000" u="none" cap="none" strike="noStrike">
              <a:solidFill>
                <a:srgbClr val="000000"/>
              </a:solidFill>
              <a:latin typeface="Arial"/>
              <a:ea typeface="Arial"/>
              <a:cs typeface="Arial"/>
              <a:sym typeface="Arial"/>
            </a:endParaRPr>
          </a:p>
        </p:txBody>
      </p:sp>
      <p:pic>
        <p:nvPicPr>
          <p:cNvPr id="316" name="Google Shape;316;p20"/>
          <p:cNvPicPr preferRelativeResize="0"/>
          <p:nvPr/>
        </p:nvPicPr>
        <p:blipFill rotWithShape="1">
          <a:blip r:embed="rId3">
            <a:alphaModFix/>
          </a:blip>
          <a:srcRect b="0" l="0" r="0" t="0"/>
          <a:stretch/>
        </p:blipFill>
        <p:spPr>
          <a:xfrm>
            <a:off x="381000" y="1991400"/>
            <a:ext cx="6237043" cy="3810000"/>
          </a:xfrm>
          <a:prstGeom prst="rect">
            <a:avLst/>
          </a:prstGeom>
          <a:noFill/>
          <a:ln>
            <a:noFill/>
          </a:ln>
        </p:spPr>
      </p:pic>
      <p:pic>
        <p:nvPicPr>
          <p:cNvPr id="317" name="Google Shape;317;p20"/>
          <p:cNvPicPr preferRelativeResize="0"/>
          <p:nvPr/>
        </p:nvPicPr>
        <p:blipFill rotWithShape="1">
          <a:blip r:embed="rId4">
            <a:alphaModFix/>
          </a:blip>
          <a:srcRect b="0" l="0" r="0" t="0"/>
          <a:stretch/>
        </p:blipFill>
        <p:spPr>
          <a:xfrm>
            <a:off x="3707266" y="1548900"/>
            <a:ext cx="4011755" cy="3886200"/>
          </a:xfrm>
          <a:prstGeom prst="rect">
            <a:avLst/>
          </a:prstGeom>
          <a:solidFill>
            <a:schemeClr val="lt1"/>
          </a:solidFill>
          <a:ln cap="flat" cmpd="sng" w="9525">
            <a:solidFill>
              <a:schemeClr val="dk1"/>
            </a:solidFill>
            <a:prstDash val="solid"/>
            <a:round/>
            <a:headEnd len="sm" w="sm" type="none"/>
            <a:tailEnd len="sm" w="sm" type="none"/>
          </a:ln>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1"/>
          <p:cNvSpPr/>
          <p:nvPr/>
        </p:nvSpPr>
        <p:spPr>
          <a:xfrm>
            <a:off x="180000" y="828000"/>
            <a:ext cx="792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Incorrect Assumptions:</a:t>
            </a:r>
            <a:endParaRPr b="1"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As injuries increase in severity there is a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decrease in frequency.</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All low severity injuries have the same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potential for serious injury.</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Injuries of differing severity have the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same underlying root causes.</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Reducing less serious injuries will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also reduce more serious injuries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i.e. the ratios stay the same.</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These incorrect assumptions also hold for the Bird Incident Ratio Study. These are NOT prediction models!</a:t>
            </a:r>
            <a:endParaRPr b="0" i="1" sz="2000" u="none" cap="none" strike="noStrike">
              <a:solidFill>
                <a:srgbClr val="000000"/>
              </a:solidFill>
              <a:latin typeface="Arial"/>
              <a:ea typeface="Arial"/>
              <a:cs typeface="Arial"/>
              <a:sym typeface="Arial"/>
            </a:endParaRPr>
          </a:p>
        </p:txBody>
      </p:sp>
      <p:sp>
        <p:nvSpPr>
          <p:cNvPr id="324" name="Google Shape;324;p21"/>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Heinrich Safety Triangle:</a:t>
            </a:r>
            <a:endParaRPr b="0" i="0" sz="2400" u="none" cap="none" strike="noStrike">
              <a:solidFill>
                <a:schemeClr val="accent2"/>
              </a:solidFill>
              <a:latin typeface="Arial"/>
              <a:ea typeface="Arial"/>
              <a:cs typeface="Arial"/>
              <a:sym typeface="Arial"/>
            </a:endParaRPr>
          </a:p>
        </p:txBody>
      </p:sp>
      <p:sp>
        <p:nvSpPr>
          <p:cNvPr id="325" name="Google Shape;325;p2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26" name="Google Shape;326;p2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grpSp>
        <p:nvGrpSpPr>
          <p:cNvPr id="327" name="Google Shape;327;p21"/>
          <p:cNvGrpSpPr/>
          <p:nvPr/>
        </p:nvGrpSpPr>
        <p:grpSpPr>
          <a:xfrm>
            <a:off x="4759356" y="1066800"/>
            <a:ext cx="4003644" cy="3849791"/>
            <a:chOff x="4530756" y="1701142"/>
            <a:chExt cx="4003644" cy="3849791"/>
          </a:xfrm>
        </p:grpSpPr>
        <p:sp>
          <p:nvSpPr>
            <p:cNvPr id="328" name="Google Shape;328;p21"/>
            <p:cNvSpPr/>
            <p:nvPr/>
          </p:nvSpPr>
          <p:spPr>
            <a:xfrm>
              <a:off x="6132213" y="1701142"/>
              <a:ext cx="800728" cy="681140"/>
            </a:xfrm>
            <a:custGeom>
              <a:rect b="b" l="l" r="r" t="t"/>
              <a:pathLst>
                <a:path extrusionOk="0" h="681140" w="800728">
                  <a:moveTo>
                    <a:pt x="0" y="681140"/>
                  </a:moveTo>
                  <a:lnTo>
                    <a:pt x="400364" y="0"/>
                  </a:lnTo>
                  <a:lnTo>
                    <a:pt x="400364" y="0"/>
                  </a:lnTo>
                  <a:lnTo>
                    <a:pt x="800728" y="681140"/>
                  </a:lnTo>
                  <a:lnTo>
                    <a:pt x="0" y="681140"/>
                  </a:lnTo>
                  <a:close/>
                </a:path>
              </a:pathLst>
            </a:custGeom>
            <a:gradFill>
              <a:gsLst>
                <a:gs pos="0">
                  <a:srgbClr val="8383FF"/>
                </a:gs>
                <a:gs pos="50000">
                  <a:srgbClr val="B3B3FF"/>
                </a:gs>
                <a:gs pos="100000">
                  <a:srgbClr val="DADAFF"/>
                </a:gs>
              </a:gsLst>
              <a:lin ang="5400000" scaled="0"/>
            </a:gradFill>
            <a:ln>
              <a:noFill/>
            </a:ln>
            <a:effectLst>
              <a:outerShdw blurRad="40000" rotWithShape="0" dir="5400000" dist="23000">
                <a:srgbClr val="000000">
                  <a:alpha val="34901"/>
                </a:srgbClr>
              </a:outerShdw>
            </a:effectLst>
          </p:spPr>
          <p:txBody>
            <a:bodyPr anchorCtr="0" anchor="b" bIns="0" lIns="0" spcFirstLastPara="1" rIns="0" wrap="square" tIns="0">
              <a:noAutofit/>
            </a:bodyPr>
            <a:lstStyle/>
            <a:p>
              <a:pPr indent="0" lvl="0" marL="0" marR="0" rtl="0" algn="ctr">
                <a:lnSpc>
                  <a:spcPct val="90000"/>
                </a:lnSpc>
                <a:spcBef>
                  <a:spcPts val="0"/>
                </a:spcBef>
                <a:spcAft>
                  <a:spcPts val="0"/>
                </a:spcAft>
                <a:buNone/>
              </a:pPr>
              <a:r>
                <a:rPr b="1" i="0" lang="en-US" sz="1800" u="none" cap="none" strike="noStrike">
                  <a:solidFill>
                    <a:schemeClr val="dk1"/>
                  </a:solidFill>
                  <a:latin typeface="Arial"/>
                  <a:ea typeface="Arial"/>
                  <a:cs typeface="Arial"/>
                  <a:sym typeface="Arial"/>
                </a:rPr>
                <a:t>Fatality</a:t>
              </a:r>
              <a:endParaRPr b="1" i="0" sz="1800" u="none" cap="none" strike="noStrike">
                <a:solidFill>
                  <a:schemeClr val="dk1"/>
                </a:solidFill>
                <a:latin typeface="Arial"/>
                <a:ea typeface="Arial"/>
                <a:cs typeface="Arial"/>
                <a:sym typeface="Arial"/>
              </a:endParaRPr>
            </a:p>
          </p:txBody>
        </p:sp>
        <p:sp>
          <p:nvSpPr>
            <p:cNvPr id="329" name="Google Shape;329;p21"/>
            <p:cNvSpPr/>
            <p:nvPr/>
          </p:nvSpPr>
          <p:spPr>
            <a:xfrm>
              <a:off x="5731849" y="2382282"/>
              <a:ext cx="1601457" cy="681140"/>
            </a:xfrm>
            <a:custGeom>
              <a:rect b="b" l="l" r="r" t="t"/>
              <a:pathLst>
                <a:path extrusionOk="0" h="681140" w="1601457">
                  <a:moveTo>
                    <a:pt x="0" y="681140"/>
                  </a:moveTo>
                  <a:lnTo>
                    <a:pt x="400367" y="0"/>
                  </a:lnTo>
                  <a:lnTo>
                    <a:pt x="1201090" y="0"/>
                  </a:lnTo>
                  <a:lnTo>
                    <a:pt x="1601457" y="681140"/>
                  </a:lnTo>
                  <a:lnTo>
                    <a:pt x="0" y="681140"/>
                  </a:lnTo>
                  <a:close/>
                </a:path>
              </a:pathLst>
            </a:custGeom>
            <a:gradFill>
              <a:gsLst>
                <a:gs pos="0">
                  <a:srgbClr val="8383FF"/>
                </a:gs>
                <a:gs pos="50000">
                  <a:srgbClr val="B3B3FF"/>
                </a:gs>
                <a:gs pos="100000">
                  <a:srgbClr val="DADAFF"/>
                </a:gs>
              </a:gsLst>
              <a:lin ang="5400000" scaled="0"/>
            </a:gradFill>
            <a:ln>
              <a:noFill/>
            </a:ln>
            <a:effectLst>
              <a:outerShdw blurRad="40000" rotWithShape="0" dir="5400000" dist="23000">
                <a:srgbClr val="000000">
                  <a:alpha val="34901"/>
                </a:srgbClr>
              </a:outerShdw>
            </a:effectLst>
          </p:spPr>
          <p:txBody>
            <a:bodyPr anchorCtr="0" anchor="ctr" bIns="17775" lIns="298025" spcFirstLastPara="1" rIns="298025" wrap="square" tIns="17775">
              <a:noAutofit/>
            </a:bodyPr>
            <a:lstStyle/>
            <a:p>
              <a:pPr indent="0" lvl="0" marL="0" marR="0" rtl="0" algn="ctr">
                <a:lnSpc>
                  <a:spcPct val="90000"/>
                </a:lnSpc>
                <a:spcBef>
                  <a:spcPts val="0"/>
                </a:spcBef>
                <a:spcAft>
                  <a:spcPts val="0"/>
                </a:spcAft>
                <a:buNone/>
              </a:pPr>
              <a:r>
                <a:rPr b="1" i="0" lang="en-US" sz="1800" u="none" cap="none" strike="noStrike">
                  <a:solidFill>
                    <a:schemeClr val="lt1"/>
                  </a:solidFill>
                  <a:latin typeface="Arial"/>
                  <a:ea typeface="Arial"/>
                  <a:cs typeface="Arial"/>
                  <a:sym typeface="Arial"/>
                </a:rPr>
                <a:t>Lost Time Injury</a:t>
              </a:r>
              <a:endParaRPr/>
            </a:p>
          </p:txBody>
        </p:sp>
        <p:sp>
          <p:nvSpPr>
            <p:cNvPr id="330" name="Google Shape;330;p21"/>
            <p:cNvSpPr/>
            <p:nvPr/>
          </p:nvSpPr>
          <p:spPr>
            <a:xfrm>
              <a:off x="5331484" y="3063422"/>
              <a:ext cx="2402186" cy="681140"/>
            </a:xfrm>
            <a:custGeom>
              <a:rect b="b" l="l" r="r" t="t"/>
              <a:pathLst>
                <a:path extrusionOk="0" h="681140" w="2402186">
                  <a:moveTo>
                    <a:pt x="0" y="681140"/>
                  </a:moveTo>
                  <a:lnTo>
                    <a:pt x="400367" y="0"/>
                  </a:lnTo>
                  <a:lnTo>
                    <a:pt x="2001819" y="0"/>
                  </a:lnTo>
                  <a:lnTo>
                    <a:pt x="2402186" y="681140"/>
                  </a:lnTo>
                  <a:lnTo>
                    <a:pt x="0" y="681140"/>
                  </a:lnTo>
                  <a:close/>
                </a:path>
              </a:pathLst>
            </a:custGeom>
            <a:gradFill>
              <a:gsLst>
                <a:gs pos="0">
                  <a:srgbClr val="8383FF"/>
                </a:gs>
                <a:gs pos="50000">
                  <a:srgbClr val="B3B3FF"/>
                </a:gs>
                <a:gs pos="100000">
                  <a:srgbClr val="DADAFF"/>
                </a:gs>
              </a:gsLst>
              <a:lin ang="5400000" scaled="0"/>
            </a:gradFill>
            <a:ln>
              <a:noFill/>
            </a:ln>
            <a:effectLst>
              <a:outerShdw blurRad="40000" rotWithShape="0" dir="5400000" dist="23000">
                <a:srgbClr val="000000">
                  <a:alpha val="34901"/>
                </a:srgbClr>
              </a:outerShdw>
            </a:effectLst>
          </p:spPr>
          <p:txBody>
            <a:bodyPr anchorCtr="0" anchor="ctr" bIns="17775" lIns="438150" spcFirstLastPara="1" rIns="438150" wrap="square" tIns="17775">
              <a:noAutofit/>
            </a:bodyPr>
            <a:lstStyle/>
            <a:p>
              <a:pPr indent="0" lvl="0" marL="0" marR="0" rtl="0" algn="ctr">
                <a:lnSpc>
                  <a:spcPct val="90000"/>
                </a:lnSpc>
                <a:spcBef>
                  <a:spcPts val="0"/>
                </a:spcBef>
                <a:spcAft>
                  <a:spcPts val="0"/>
                </a:spcAft>
                <a:buNone/>
              </a:pPr>
              <a:r>
                <a:rPr b="1" i="0" lang="en-US" sz="1800" u="none" cap="none" strike="noStrike">
                  <a:solidFill>
                    <a:schemeClr val="lt1"/>
                  </a:solidFill>
                  <a:latin typeface="Arial"/>
                  <a:ea typeface="Arial"/>
                  <a:cs typeface="Arial"/>
                  <a:sym typeface="Arial"/>
                </a:rPr>
                <a:t>Restricted Duty / Work</a:t>
              </a:r>
              <a:endParaRPr b="1" i="0" sz="1800" u="none" cap="none" strike="noStrike">
                <a:solidFill>
                  <a:schemeClr val="lt1"/>
                </a:solidFill>
                <a:latin typeface="Arial"/>
                <a:ea typeface="Arial"/>
                <a:cs typeface="Arial"/>
                <a:sym typeface="Arial"/>
              </a:endParaRPr>
            </a:p>
          </p:txBody>
        </p:sp>
        <p:sp>
          <p:nvSpPr>
            <p:cNvPr id="331" name="Google Shape;331;p21"/>
            <p:cNvSpPr/>
            <p:nvPr/>
          </p:nvSpPr>
          <p:spPr>
            <a:xfrm>
              <a:off x="4931120" y="3744563"/>
              <a:ext cx="3202915" cy="681140"/>
            </a:xfrm>
            <a:custGeom>
              <a:rect b="b" l="l" r="r" t="t"/>
              <a:pathLst>
                <a:path extrusionOk="0" h="681140" w="3202915">
                  <a:moveTo>
                    <a:pt x="0" y="681140"/>
                  </a:moveTo>
                  <a:lnTo>
                    <a:pt x="400367" y="0"/>
                  </a:lnTo>
                  <a:lnTo>
                    <a:pt x="2802548" y="0"/>
                  </a:lnTo>
                  <a:lnTo>
                    <a:pt x="3202915" y="681140"/>
                  </a:lnTo>
                  <a:lnTo>
                    <a:pt x="0" y="681140"/>
                  </a:lnTo>
                  <a:close/>
                </a:path>
              </a:pathLst>
            </a:custGeom>
            <a:gradFill>
              <a:gsLst>
                <a:gs pos="0">
                  <a:srgbClr val="8383FF"/>
                </a:gs>
                <a:gs pos="50000">
                  <a:srgbClr val="B3B3FF"/>
                </a:gs>
                <a:gs pos="100000">
                  <a:srgbClr val="DADAFF"/>
                </a:gs>
              </a:gsLst>
              <a:lin ang="5400000" scaled="0"/>
            </a:gradFill>
            <a:ln>
              <a:noFill/>
            </a:ln>
            <a:effectLst>
              <a:outerShdw blurRad="40000" rotWithShape="0" dir="5400000" dist="23000">
                <a:srgbClr val="000000">
                  <a:alpha val="34901"/>
                </a:srgbClr>
              </a:outerShdw>
            </a:effectLst>
          </p:spPr>
          <p:txBody>
            <a:bodyPr anchorCtr="0" anchor="ctr" bIns="17775" lIns="578275" spcFirstLastPara="1" rIns="578275" wrap="square" tIns="17775">
              <a:noAutofit/>
            </a:bodyPr>
            <a:lstStyle/>
            <a:p>
              <a:pPr indent="0" lvl="0" marL="0" marR="0" rtl="0" algn="ctr">
                <a:lnSpc>
                  <a:spcPct val="90000"/>
                </a:lnSpc>
                <a:spcBef>
                  <a:spcPts val="0"/>
                </a:spcBef>
                <a:spcAft>
                  <a:spcPts val="0"/>
                </a:spcAft>
                <a:buNone/>
              </a:pPr>
              <a:r>
                <a:rPr b="1" i="0" lang="en-US" sz="1800" u="none" cap="none" strike="noStrike">
                  <a:solidFill>
                    <a:schemeClr val="lt1"/>
                  </a:solidFill>
                  <a:latin typeface="Arial"/>
                  <a:ea typeface="Arial"/>
                  <a:cs typeface="Arial"/>
                  <a:sym typeface="Arial"/>
                </a:rPr>
                <a:t>Medical Aid</a:t>
              </a:r>
              <a:endParaRPr b="1" i="0" sz="1800" u="none" cap="none" strike="noStrike">
                <a:solidFill>
                  <a:schemeClr val="lt1"/>
                </a:solidFill>
                <a:latin typeface="Arial"/>
                <a:ea typeface="Arial"/>
                <a:cs typeface="Arial"/>
                <a:sym typeface="Arial"/>
              </a:endParaRPr>
            </a:p>
          </p:txBody>
        </p:sp>
        <p:sp>
          <p:nvSpPr>
            <p:cNvPr id="332" name="Google Shape;332;p21"/>
            <p:cNvSpPr/>
            <p:nvPr/>
          </p:nvSpPr>
          <p:spPr>
            <a:xfrm>
              <a:off x="4530756" y="4425703"/>
              <a:ext cx="4003644" cy="681140"/>
            </a:xfrm>
            <a:custGeom>
              <a:rect b="b" l="l" r="r" t="t"/>
              <a:pathLst>
                <a:path extrusionOk="0" h="681140" w="4003644">
                  <a:moveTo>
                    <a:pt x="0" y="681140"/>
                  </a:moveTo>
                  <a:lnTo>
                    <a:pt x="400367" y="0"/>
                  </a:lnTo>
                  <a:lnTo>
                    <a:pt x="3603277" y="0"/>
                  </a:lnTo>
                  <a:lnTo>
                    <a:pt x="4003644" y="681140"/>
                  </a:lnTo>
                  <a:lnTo>
                    <a:pt x="0" y="681140"/>
                  </a:lnTo>
                  <a:close/>
                </a:path>
              </a:pathLst>
            </a:custGeom>
            <a:gradFill>
              <a:gsLst>
                <a:gs pos="0">
                  <a:srgbClr val="8383FF"/>
                </a:gs>
                <a:gs pos="50000">
                  <a:srgbClr val="B3B3FF"/>
                </a:gs>
                <a:gs pos="100000">
                  <a:srgbClr val="DADAFF"/>
                </a:gs>
              </a:gsLst>
              <a:lin ang="5400000" scaled="0"/>
            </a:gradFill>
            <a:ln>
              <a:noFill/>
            </a:ln>
            <a:effectLst>
              <a:outerShdw blurRad="40000" rotWithShape="0" dir="5400000" dist="23000">
                <a:srgbClr val="000000">
                  <a:alpha val="34901"/>
                </a:srgbClr>
              </a:outerShdw>
            </a:effectLst>
          </p:spPr>
          <p:txBody>
            <a:bodyPr anchorCtr="0" anchor="ctr" bIns="17775" lIns="718400" spcFirstLastPara="1" rIns="718400" wrap="square" tIns="17775">
              <a:noAutofit/>
            </a:bodyPr>
            <a:lstStyle/>
            <a:p>
              <a:pPr indent="0" lvl="0" marL="0" marR="0" rtl="0" algn="ctr">
                <a:lnSpc>
                  <a:spcPct val="90000"/>
                </a:lnSpc>
                <a:spcBef>
                  <a:spcPts val="0"/>
                </a:spcBef>
                <a:spcAft>
                  <a:spcPts val="0"/>
                </a:spcAft>
                <a:buNone/>
              </a:pPr>
              <a:r>
                <a:rPr b="1" i="0" lang="en-US" sz="1800" u="none" cap="none" strike="noStrike">
                  <a:solidFill>
                    <a:schemeClr val="lt1"/>
                  </a:solidFill>
                  <a:latin typeface="Arial"/>
                  <a:ea typeface="Arial"/>
                  <a:cs typeface="Arial"/>
                  <a:sym typeface="Arial"/>
                </a:rPr>
                <a:t>First Aid/Near Miss</a:t>
              </a:r>
              <a:endParaRPr b="1" i="0" sz="1800" u="none" cap="none" strike="noStrike">
                <a:solidFill>
                  <a:schemeClr val="lt1"/>
                </a:solidFill>
                <a:latin typeface="Arial"/>
                <a:ea typeface="Arial"/>
                <a:cs typeface="Arial"/>
                <a:sym typeface="Arial"/>
              </a:endParaRPr>
            </a:p>
          </p:txBody>
        </p:sp>
        <p:sp>
          <p:nvSpPr>
            <p:cNvPr id="333" name="Google Shape;333;p21"/>
            <p:cNvSpPr txBox="1"/>
            <p:nvPr/>
          </p:nvSpPr>
          <p:spPr>
            <a:xfrm>
              <a:off x="4530756" y="5181601"/>
              <a:ext cx="4003644"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Heinrich Safety Triangle</a:t>
              </a:r>
              <a:endParaRPr b="1" i="0" sz="1800" u="none" cap="none" strike="noStrike">
                <a:solidFill>
                  <a:srgbClr val="000000"/>
                </a:solidFill>
                <a:latin typeface="Arial"/>
                <a:ea typeface="Arial"/>
                <a:cs typeface="Arial"/>
                <a:sym typeface="Arial"/>
              </a:endParaRPr>
            </a:p>
          </p:txBody>
        </p:sp>
      </p:gr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The next evolution in applying this model concept (Bird or Heinrich)…</a:t>
            </a:r>
            <a:endParaRPr b="1"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Examine actual outcomes and potential outcomes:</a:t>
            </a:r>
            <a:endParaRPr/>
          </a:p>
        </p:txBody>
      </p:sp>
      <p:sp>
        <p:nvSpPr>
          <p:cNvPr id="340" name="Google Shape;340;p22"/>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A New Paradigm – High Potential (HiPo) Incidents Model:</a:t>
            </a:r>
            <a:endParaRPr b="0" i="0" sz="2400" u="none" cap="none" strike="noStrike">
              <a:solidFill>
                <a:schemeClr val="accent2"/>
              </a:solidFill>
              <a:latin typeface="Arial"/>
              <a:ea typeface="Arial"/>
              <a:cs typeface="Arial"/>
              <a:sym typeface="Arial"/>
            </a:endParaRPr>
          </a:p>
        </p:txBody>
      </p:sp>
      <p:sp>
        <p:nvSpPr>
          <p:cNvPr id="341" name="Google Shape;341;p2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42" name="Google Shape;342;p2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grpSp>
        <p:nvGrpSpPr>
          <p:cNvPr id="343" name="Google Shape;343;p22"/>
          <p:cNvGrpSpPr/>
          <p:nvPr/>
        </p:nvGrpSpPr>
        <p:grpSpPr>
          <a:xfrm>
            <a:off x="304800" y="1662656"/>
            <a:ext cx="8691204" cy="4509544"/>
            <a:chOff x="373661" y="1415532"/>
            <a:chExt cx="8691204" cy="4509544"/>
          </a:xfrm>
        </p:grpSpPr>
        <p:sp>
          <p:nvSpPr>
            <p:cNvPr id="344" name="Google Shape;344;p22"/>
            <p:cNvSpPr/>
            <p:nvPr/>
          </p:nvSpPr>
          <p:spPr>
            <a:xfrm rot="5400000">
              <a:off x="3133118" y="1939321"/>
              <a:ext cx="1811309" cy="4724052"/>
            </a:xfrm>
            <a:prstGeom prst="trapezoid">
              <a:avLst>
                <a:gd fmla="val 20412" name="adj"/>
              </a:avLst>
            </a:prstGeom>
            <a:gradFill>
              <a:gsLst>
                <a:gs pos="0">
                  <a:srgbClr val="CDF1F4"/>
                </a:gs>
                <a:gs pos="50000">
                  <a:srgbClr val="DFF5F7"/>
                </a:gs>
                <a:gs pos="82000">
                  <a:srgbClr val="FFFFFF">
                    <a:alpha val="51764"/>
                  </a:srgbClr>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i="0" sz="2600" u="none" cap="none" strike="noStrike">
                <a:solidFill>
                  <a:srgbClr val="000000"/>
                </a:solidFill>
                <a:latin typeface="Arial"/>
                <a:ea typeface="Arial"/>
                <a:cs typeface="Arial"/>
                <a:sym typeface="Arial"/>
              </a:endParaRPr>
            </a:p>
          </p:txBody>
        </p:sp>
        <p:sp>
          <p:nvSpPr>
            <p:cNvPr id="345" name="Google Shape;345;p22"/>
            <p:cNvSpPr/>
            <p:nvPr/>
          </p:nvSpPr>
          <p:spPr>
            <a:xfrm rot="5400000">
              <a:off x="3327109" y="-414628"/>
              <a:ext cx="1618618" cy="5443166"/>
            </a:xfrm>
            <a:prstGeom prst="trapezoid">
              <a:avLst>
                <a:gd fmla="val 12049" name="adj"/>
              </a:avLst>
            </a:prstGeom>
            <a:gradFill>
              <a:gsLst>
                <a:gs pos="0">
                  <a:srgbClr val="CDF1F4"/>
                </a:gs>
                <a:gs pos="50000">
                  <a:srgbClr val="DFF5F7"/>
                </a:gs>
                <a:gs pos="82000">
                  <a:srgbClr val="FFFFFF">
                    <a:alpha val="51764"/>
                  </a:srgbClr>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i="0" sz="2600" u="none" cap="none" strike="noStrike">
                <a:solidFill>
                  <a:srgbClr val="000000"/>
                </a:solidFill>
                <a:latin typeface="Arial"/>
                <a:ea typeface="Arial"/>
                <a:cs typeface="Arial"/>
                <a:sym typeface="Arial"/>
              </a:endParaRPr>
            </a:p>
          </p:txBody>
        </p:sp>
        <p:sp>
          <p:nvSpPr>
            <p:cNvPr id="346" name="Google Shape;346;p22"/>
            <p:cNvSpPr txBox="1"/>
            <p:nvPr/>
          </p:nvSpPr>
          <p:spPr>
            <a:xfrm>
              <a:off x="2771479" y="1869583"/>
              <a:ext cx="228480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400"/>
                <a:buFont typeface="Verdana"/>
                <a:buNone/>
              </a:pPr>
              <a:r>
                <a:rPr b="1" i="0" lang="en-US" sz="1400" u="none" cap="none" strike="noStrike">
                  <a:solidFill>
                    <a:srgbClr val="44546A"/>
                  </a:solidFill>
                  <a:latin typeface="Verdana"/>
                  <a:ea typeface="Verdana"/>
                  <a:cs typeface="Verdana"/>
                  <a:sym typeface="Verdana"/>
                </a:rPr>
                <a:t>Within the layer, each star represents a lost time incident (</a:t>
              </a:r>
              <a:r>
                <a:rPr b="1" i="0" lang="en-US" sz="1400" u="sng" cap="none" strike="noStrike">
                  <a:solidFill>
                    <a:srgbClr val="44546A"/>
                  </a:solidFill>
                  <a:latin typeface="Verdana"/>
                  <a:ea typeface="Verdana"/>
                  <a:cs typeface="Verdana"/>
                  <a:sym typeface="Verdana"/>
                </a:rPr>
                <a:t>actual</a:t>
              </a:r>
              <a:r>
                <a:rPr b="1" i="0" lang="en-US" sz="1400" u="none" cap="none" strike="noStrike">
                  <a:solidFill>
                    <a:srgbClr val="44546A"/>
                  </a:solidFill>
                  <a:latin typeface="Verdana"/>
                  <a:ea typeface="Verdana"/>
                  <a:cs typeface="Verdana"/>
                  <a:sym typeface="Verdana"/>
                </a:rPr>
                <a:t> outcome)</a:t>
              </a:r>
              <a:endParaRPr b="1" i="0" sz="1400" u="none" cap="none" strike="noStrike">
                <a:solidFill>
                  <a:srgbClr val="44546A"/>
                </a:solidFill>
                <a:latin typeface="Verdana"/>
                <a:ea typeface="Verdana"/>
                <a:cs typeface="Verdana"/>
                <a:sym typeface="Verdana"/>
              </a:endParaRPr>
            </a:p>
          </p:txBody>
        </p:sp>
        <p:sp>
          <p:nvSpPr>
            <p:cNvPr id="347" name="Google Shape;347;p22"/>
            <p:cNvSpPr txBox="1"/>
            <p:nvPr/>
          </p:nvSpPr>
          <p:spPr>
            <a:xfrm>
              <a:off x="2732087" y="3624264"/>
              <a:ext cx="2560253"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400"/>
                <a:buFont typeface="Verdana"/>
                <a:buNone/>
              </a:pPr>
              <a:r>
                <a:rPr b="1" i="0" lang="en-US" sz="1400" u="none" cap="none" strike="noStrike">
                  <a:solidFill>
                    <a:srgbClr val="44546A"/>
                  </a:solidFill>
                  <a:latin typeface="Verdana"/>
                  <a:ea typeface="Verdana"/>
                  <a:cs typeface="Verdana"/>
                  <a:sym typeface="Verdana"/>
                </a:rPr>
                <a:t>We identify a sub-set of incidents (grey area) that, if not for luck, </a:t>
              </a:r>
              <a:br>
                <a:rPr b="1" i="0" lang="en-US" sz="1400" u="none" cap="none" strike="noStrike">
                  <a:solidFill>
                    <a:srgbClr val="44546A"/>
                  </a:solidFill>
                  <a:latin typeface="Verdana"/>
                  <a:ea typeface="Verdana"/>
                  <a:cs typeface="Verdana"/>
                  <a:sym typeface="Verdana"/>
                </a:rPr>
              </a:br>
              <a:r>
                <a:rPr b="1" i="0" lang="en-US" sz="1400" u="none" cap="none" strike="noStrike">
                  <a:solidFill>
                    <a:srgbClr val="44546A"/>
                  </a:solidFill>
                  <a:latin typeface="Verdana"/>
                  <a:ea typeface="Verdana"/>
                  <a:cs typeface="Verdana"/>
                  <a:sym typeface="Verdana"/>
                </a:rPr>
                <a:t>had the </a:t>
              </a:r>
              <a:r>
                <a:rPr b="1" i="0" lang="en-US" sz="1400" u="sng" cap="none" strike="noStrike">
                  <a:solidFill>
                    <a:srgbClr val="44546A"/>
                  </a:solidFill>
                  <a:latin typeface="Verdana"/>
                  <a:ea typeface="Verdana"/>
                  <a:cs typeface="Verdana"/>
                  <a:sym typeface="Verdana"/>
                </a:rPr>
                <a:t>potential</a:t>
              </a:r>
              <a:r>
                <a:rPr b="1" i="0" lang="en-US" sz="1400" u="none" cap="none" strike="noStrike">
                  <a:solidFill>
                    <a:srgbClr val="44546A"/>
                  </a:solidFill>
                  <a:latin typeface="Verdana"/>
                  <a:ea typeface="Verdana"/>
                  <a:cs typeface="Verdana"/>
                  <a:sym typeface="Verdana"/>
                </a:rPr>
                <a:t> for a more severe outcome (fatality)</a:t>
              </a:r>
              <a:endParaRPr b="1" i="0" sz="1400" u="none" cap="none" strike="noStrike">
                <a:solidFill>
                  <a:srgbClr val="44546A"/>
                </a:solidFill>
                <a:latin typeface="Verdana"/>
                <a:ea typeface="Verdana"/>
                <a:cs typeface="Verdana"/>
                <a:sym typeface="Verdana"/>
              </a:endParaRPr>
            </a:p>
          </p:txBody>
        </p:sp>
        <p:grpSp>
          <p:nvGrpSpPr>
            <p:cNvPr id="348" name="Google Shape;348;p22"/>
            <p:cNvGrpSpPr/>
            <p:nvPr/>
          </p:nvGrpSpPr>
          <p:grpSpPr>
            <a:xfrm>
              <a:off x="373661" y="1415532"/>
              <a:ext cx="2279650" cy="1697038"/>
              <a:chOff x="609600" y="895350"/>
              <a:chExt cx="2279862" cy="1696865"/>
            </a:xfrm>
          </p:grpSpPr>
          <p:grpSp>
            <p:nvGrpSpPr>
              <p:cNvPr id="349" name="Google Shape;349;p22"/>
              <p:cNvGrpSpPr/>
              <p:nvPr/>
            </p:nvGrpSpPr>
            <p:grpSpPr>
              <a:xfrm>
                <a:off x="609600" y="895350"/>
                <a:ext cx="2279862" cy="1695277"/>
                <a:chOff x="5486400" y="1295400"/>
                <a:chExt cx="2972283" cy="2209713"/>
              </a:xfrm>
            </p:grpSpPr>
            <p:sp>
              <p:nvSpPr>
                <p:cNvPr id="350" name="Google Shape;350;p22"/>
                <p:cNvSpPr/>
                <p:nvPr/>
              </p:nvSpPr>
              <p:spPr>
                <a:xfrm>
                  <a:off x="5486400" y="1295400"/>
                  <a:ext cx="2972283" cy="2209713"/>
                </a:xfrm>
                <a:prstGeom prst="trapezoid">
                  <a:avLst>
                    <a:gd fmla="val 25000" name="adj"/>
                  </a:avLst>
                </a:prstGeom>
                <a:solidFill>
                  <a:srgbClr val="365860"/>
                </a:solidFill>
                <a:ln cap="flat" cmpd="sng" w="9525">
                  <a:solidFill>
                    <a:schemeClr val="dk1"/>
                  </a:solidFill>
                  <a:prstDash val="solid"/>
                  <a:round/>
                  <a:headEnd len="sm" w="sm" type="none"/>
                  <a:tailEnd len="sm" w="sm" type="none"/>
                </a:ln>
                <a:effectLst>
                  <a:outerShdw blurRad="40000" rotWithShape="0" dir="5400000" dist="20000">
                    <a:srgbClr val="000000">
                      <a:alpha val="37647"/>
                    </a:srgbClr>
                  </a:outerShdw>
                </a:effectLst>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0"/>
                    <a:buFont typeface="Arial"/>
                    <a:buNone/>
                  </a:pPr>
                  <a:r>
                    <a:t/>
                  </a:r>
                  <a:endParaRPr b="1" i="0" sz="4000" u="none" cap="none" strike="noStrike">
                    <a:solidFill>
                      <a:srgbClr val="FFFF00"/>
                    </a:solidFill>
                    <a:latin typeface="Calibri"/>
                    <a:ea typeface="Calibri"/>
                    <a:cs typeface="Calibri"/>
                    <a:sym typeface="Calibri"/>
                  </a:endParaRPr>
                </a:p>
              </p:txBody>
            </p:sp>
            <p:sp>
              <p:nvSpPr>
                <p:cNvPr id="351" name="Google Shape;351;p22"/>
                <p:cNvSpPr txBox="1"/>
                <p:nvPr/>
              </p:nvSpPr>
              <p:spPr>
                <a:xfrm>
                  <a:off x="5811365" y="2451983"/>
                  <a:ext cx="2361681" cy="440700"/>
                </a:xfrm>
                <a:prstGeom prst="rect">
                  <a:avLst/>
                </a:prstGeom>
                <a:noFill/>
                <a:ln>
                  <a:noFill/>
                </a:ln>
              </p:spPr>
              <p:txBody>
                <a:bodyPr anchorCtr="0" anchor="b"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Verdana"/>
                    <a:buNone/>
                  </a:pPr>
                  <a:r>
                    <a:t/>
                  </a:r>
                  <a:endParaRPr b="1" i="0" sz="1600" u="none" cap="none" strike="noStrike">
                    <a:solidFill>
                      <a:srgbClr val="FFFFFF"/>
                    </a:solidFill>
                    <a:latin typeface="Calibri"/>
                    <a:ea typeface="Calibri"/>
                    <a:cs typeface="Calibri"/>
                    <a:sym typeface="Calibri"/>
                  </a:endParaRPr>
                </a:p>
              </p:txBody>
            </p:sp>
          </p:grpSp>
          <p:sp>
            <p:nvSpPr>
              <p:cNvPr id="352" name="Google Shape;352;p22"/>
              <p:cNvSpPr/>
              <p:nvPr/>
            </p:nvSpPr>
            <p:spPr>
              <a:xfrm>
                <a:off x="1756482" y="1343676"/>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53" name="Google Shape;353;p22"/>
              <p:cNvSpPr/>
              <p:nvPr/>
            </p:nvSpPr>
            <p:spPr>
              <a:xfrm>
                <a:off x="1756482" y="1030891"/>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54" name="Google Shape;354;p22"/>
              <p:cNvSpPr/>
              <p:nvPr/>
            </p:nvSpPr>
            <p:spPr>
              <a:xfrm>
                <a:off x="2246513" y="1385381"/>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55" name="Google Shape;355;p22"/>
              <p:cNvSpPr/>
              <p:nvPr/>
            </p:nvSpPr>
            <p:spPr>
              <a:xfrm>
                <a:off x="2173530" y="1093448"/>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56" name="Google Shape;356;p22"/>
              <p:cNvSpPr/>
              <p:nvPr/>
            </p:nvSpPr>
            <p:spPr>
              <a:xfrm>
                <a:off x="1985858" y="1218562"/>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57" name="Google Shape;357;p22"/>
              <p:cNvSpPr/>
              <p:nvPr/>
            </p:nvSpPr>
            <p:spPr>
              <a:xfrm>
                <a:off x="1454122" y="2209051"/>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58" name="Google Shape;358;p22"/>
              <p:cNvSpPr/>
              <p:nvPr/>
            </p:nvSpPr>
            <p:spPr>
              <a:xfrm>
                <a:off x="1829465" y="2136067"/>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59" name="Google Shape;359;p22"/>
              <p:cNvSpPr/>
              <p:nvPr/>
            </p:nvSpPr>
            <p:spPr>
              <a:xfrm>
                <a:off x="1902448" y="1520922"/>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60" name="Google Shape;360;p22"/>
              <p:cNvSpPr/>
              <p:nvPr/>
            </p:nvSpPr>
            <p:spPr>
              <a:xfrm>
                <a:off x="2163103" y="2229903"/>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61" name="Google Shape;361;p22"/>
              <p:cNvSpPr/>
              <p:nvPr/>
            </p:nvSpPr>
            <p:spPr>
              <a:xfrm>
                <a:off x="1829465" y="1771150"/>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62" name="Google Shape;362;p22"/>
              <p:cNvSpPr/>
              <p:nvPr/>
            </p:nvSpPr>
            <p:spPr>
              <a:xfrm>
                <a:off x="1558384" y="1729446"/>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63" name="Google Shape;363;p22"/>
              <p:cNvSpPr/>
              <p:nvPr/>
            </p:nvSpPr>
            <p:spPr>
              <a:xfrm>
                <a:off x="1568810" y="1987494"/>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64" name="Google Shape;364;p22"/>
              <p:cNvSpPr/>
              <p:nvPr/>
            </p:nvSpPr>
            <p:spPr>
              <a:xfrm>
                <a:off x="2225661" y="1971855"/>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65" name="Google Shape;365;p22"/>
              <p:cNvSpPr/>
              <p:nvPr/>
            </p:nvSpPr>
            <p:spPr>
              <a:xfrm>
                <a:off x="2389873" y="1643430"/>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66" name="Google Shape;366;p22"/>
              <p:cNvSpPr/>
              <p:nvPr/>
            </p:nvSpPr>
            <p:spPr>
              <a:xfrm>
                <a:off x="2382054" y="2018773"/>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67" name="Google Shape;367;p22"/>
              <p:cNvSpPr/>
              <p:nvPr/>
            </p:nvSpPr>
            <p:spPr>
              <a:xfrm>
                <a:off x="2593184" y="2175165"/>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68" name="Google Shape;368;p22"/>
              <p:cNvSpPr/>
              <p:nvPr/>
            </p:nvSpPr>
            <p:spPr>
              <a:xfrm>
                <a:off x="1607908" y="2370657"/>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69" name="Google Shape;369;p22"/>
              <p:cNvSpPr/>
              <p:nvPr/>
            </p:nvSpPr>
            <p:spPr>
              <a:xfrm>
                <a:off x="2006710" y="2120428"/>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70" name="Google Shape;370;p22"/>
              <p:cNvSpPr/>
              <p:nvPr/>
            </p:nvSpPr>
            <p:spPr>
              <a:xfrm>
                <a:off x="2006710" y="2339378"/>
                <a:ext cx="135541" cy="13554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nvGrpSpPr>
              <p:cNvPr id="371" name="Google Shape;371;p22"/>
              <p:cNvGrpSpPr/>
              <p:nvPr/>
            </p:nvGrpSpPr>
            <p:grpSpPr>
              <a:xfrm>
                <a:off x="669551" y="1505284"/>
                <a:ext cx="453105" cy="1086931"/>
                <a:chOff x="19650075" y="32651700"/>
                <a:chExt cx="2409825" cy="5781675"/>
              </a:xfrm>
            </p:grpSpPr>
            <p:sp>
              <p:nvSpPr>
                <p:cNvPr id="372" name="Google Shape;372;p22"/>
                <p:cNvSpPr/>
                <p:nvPr/>
              </p:nvSpPr>
              <p:spPr>
                <a:xfrm>
                  <a:off x="21450300" y="328803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73" name="Google Shape;373;p22"/>
                <p:cNvSpPr/>
                <p:nvPr/>
              </p:nvSpPr>
              <p:spPr>
                <a:xfrm>
                  <a:off x="21564600" y="344805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74" name="Google Shape;374;p22"/>
                <p:cNvSpPr/>
                <p:nvPr/>
              </p:nvSpPr>
              <p:spPr>
                <a:xfrm>
                  <a:off x="20307300" y="36652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75" name="Google Shape;375;p22"/>
                <p:cNvSpPr/>
                <p:nvPr/>
              </p:nvSpPr>
              <p:spPr>
                <a:xfrm>
                  <a:off x="21145500" y="37033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76" name="Google Shape;376;p22"/>
                <p:cNvSpPr/>
                <p:nvPr/>
              </p:nvSpPr>
              <p:spPr>
                <a:xfrm>
                  <a:off x="21250275" y="354520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77" name="Google Shape;377;p22"/>
                <p:cNvSpPr/>
                <p:nvPr/>
              </p:nvSpPr>
              <p:spPr>
                <a:xfrm>
                  <a:off x="20564475" y="347091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78" name="Google Shape;378;p22"/>
                <p:cNvSpPr/>
                <p:nvPr/>
              </p:nvSpPr>
              <p:spPr>
                <a:xfrm>
                  <a:off x="21021675" y="3639502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79" name="Google Shape;379;p22"/>
                <p:cNvSpPr/>
                <p:nvPr/>
              </p:nvSpPr>
              <p:spPr>
                <a:xfrm>
                  <a:off x="21478875" y="379380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80" name="Google Shape;380;p22"/>
                <p:cNvSpPr/>
                <p:nvPr/>
              </p:nvSpPr>
              <p:spPr>
                <a:xfrm>
                  <a:off x="19650075" y="37795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81" name="Google Shape;381;p22"/>
                <p:cNvSpPr/>
                <p:nvPr/>
              </p:nvSpPr>
              <p:spPr>
                <a:xfrm>
                  <a:off x="20278725" y="373951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82" name="Google Shape;382;p22"/>
                <p:cNvSpPr/>
                <p:nvPr/>
              </p:nvSpPr>
              <p:spPr>
                <a:xfrm>
                  <a:off x="21078825" y="376809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83" name="Google Shape;383;p22"/>
                <p:cNvSpPr/>
                <p:nvPr/>
              </p:nvSpPr>
              <p:spPr>
                <a:xfrm>
                  <a:off x="20878800" y="326517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84" name="Google Shape;384;p22"/>
                <p:cNvSpPr/>
                <p:nvPr/>
              </p:nvSpPr>
              <p:spPr>
                <a:xfrm>
                  <a:off x="20678775" y="337375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85" name="Google Shape;385;p22"/>
                <p:cNvSpPr/>
                <p:nvPr/>
              </p:nvSpPr>
              <p:spPr>
                <a:xfrm>
                  <a:off x="21107400" y="339090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86" name="Google Shape;386;p22"/>
                <p:cNvSpPr/>
                <p:nvPr/>
              </p:nvSpPr>
              <p:spPr>
                <a:xfrm>
                  <a:off x="20878800" y="344233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87" name="Google Shape;387;p22"/>
                <p:cNvSpPr/>
                <p:nvPr/>
              </p:nvSpPr>
              <p:spPr>
                <a:xfrm>
                  <a:off x="20421600" y="352806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88" name="Google Shape;388;p22"/>
                <p:cNvSpPr/>
                <p:nvPr/>
              </p:nvSpPr>
              <p:spPr>
                <a:xfrm>
                  <a:off x="20878800" y="354234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89" name="Google Shape;389;p22"/>
                <p:cNvSpPr/>
                <p:nvPr/>
              </p:nvSpPr>
              <p:spPr>
                <a:xfrm>
                  <a:off x="20221575" y="357663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90" name="Google Shape;390;p22"/>
                <p:cNvSpPr/>
                <p:nvPr/>
              </p:nvSpPr>
              <p:spPr>
                <a:xfrm>
                  <a:off x="20193000" y="3616642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grpSp>
            <p:nvGrpSpPr>
              <p:cNvPr id="391" name="Google Shape;391;p22"/>
              <p:cNvGrpSpPr/>
              <p:nvPr/>
            </p:nvGrpSpPr>
            <p:grpSpPr>
              <a:xfrm>
                <a:off x="974517" y="1098662"/>
                <a:ext cx="453105" cy="1086931"/>
                <a:chOff x="19650075" y="32651700"/>
                <a:chExt cx="2409825" cy="5781675"/>
              </a:xfrm>
            </p:grpSpPr>
            <p:sp>
              <p:nvSpPr>
                <p:cNvPr id="392" name="Google Shape;392;p22"/>
                <p:cNvSpPr/>
                <p:nvPr/>
              </p:nvSpPr>
              <p:spPr>
                <a:xfrm>
                  <a:off x="21450300" y="328803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93" name="Google Shape;393;p22"/>
                <p:cNvSpPr/>
                <p:nvPr/>
              </p:nvSpPr>
              <p:spPr>
                <a:xfrm>
                  <a:off x="21564600" y="344805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94" name="Google Shape;394;p22"/>
                <p:cNvSpPr/>
                <p:nvPr/>
              </p:nvSpPr>
              <p:spPr>
                <a:xfrm>
                  <a:off x="20307300" y="36652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95" name="Google Shape;395;p22"/>
                <p:cNvSpPr/>
                <p:nvPr/>
              </p:nvSpPr>
              <p:spPr>
                <a:xfrm>
                  <a:off x="21145500" y="37033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96" name="Google Shape;396;p22"/>
                <p:cNvSpPr/>
                <p:nvPr/>
              </p:nvSpPr>
              <p:spPr>
                <a:xfrm>
                  <a:off x="21250275" y="354520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97" name="Google Shape;397;p22"/>
                <p:cNvSpPr/>
                <p:nvPr/>
              </p:nvSpPr>
              <p:spPr>
                <a:xfrm>
                  <a:off x="20564475" y="347091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98" name="Google Shape;398;p22"/>
                <p:cNvSpPr/>
                <p:nvPr/>
              </p:nvSpPr>
              <p:spPr>
                <a:xfrm>
                  <a:off x="21021675" y="3639502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399" name="Google Shape;399;p22"/>
                <p:cNvSpPr/>
                <p:nvPr/>
              </p:nvSpPr>
              <p:spPr>
                <a:xfrm>
                  <a:off x="21478875" y="379380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00" name="Google Shape;400;p22"/>
                <p:cNvSpPr/>
                <p:nvPr/>
              </p:nvSpPr>
              <p:spPr>
                <a:xfrm>
                  <a:off x="19650075" y="37795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01" name="Google Shape;401;p22"/>
                <p:cNvSpPr/>
                <p:nvPr/>
              </p:nvSpPr>
              <p:spPr>
                <a:xfrm>
                  <a:off x="20278725" y="373951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02" name="Google Shape;402;p22"/>
                <p:cNvSpPr/>
                <p:nvPr/>
              </p:nvSpPr>
              <p:spPr>
                <a:xfrm>
                  <a:off x="21078825" y="376809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03" name="Google Shape;403;p22"/>
                <p:cNvSpPr/>
                <p:nvPr/>
              </p:nvSpPr>
              <p:spPr>
                <a:xfrm>
                  <a:off x="20878800" y="326517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04" name="Google Shape;404;p22"/>
                <p:cNvSpPr/>
                <p:nvPr/>
              </p:nvSpPr>
              <p:spPr>
                <a:xfrm>
                  <a:off x="20678775" y="337375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05" name="Google Shape;405;p22"/>
                <p:cNvSpPr/>
                <p:nvPr/>
              </p:nvSpPr>
              <p:spPr>
                <a:xfrm>
                  <a:off x="21107400" y="339090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06" name="Google Shape;406;p22"/>
                <p:cNvSpPr/>
                <p:nvPr/>
              </p:nvSpPr>
              <p:spPr>
                <a:xfrm>
                  <a:off x="20878800" y="344233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07" name="Google Shape;407;p22"/>
                <p:cNvSpPr/>
                <p:nvPr/>
              </p:nvSpPr>
              <p:spPr>
                <a:xfrm>
                  <a:off x="20421600" y="352806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08" name="Google Shape;408;p22"/>
                <p:cNvSpPr/>
                <p:nvPr/>
              </p:nvSpPr>
              <p:spPr>
                <a:xfrm>
                  <a:off x="20878800" y="354234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09" name="Google Shape;409;p22"/>
                <p:cNvSpPr/>
                <p:nvPr/>
              </p:nvSpPr>
              <p:spPr>
                <a:xfrm>
                  <a:off x="20221575" y="357663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10" name="Google Shape;410;p22"/>
                <p:cNvSpPr/>
                <p:nvPr/>
              </p:nvSpPr>
              <p:spPr>
                <a:xfrm>
                  <a:off x="20193000" y="3616642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grpSp>
            <p:nvGrpSpPr>
              <p:cNvPr id="411" name="Google Shape;411;p22"/>
              <p:cNvGrpSpPr/>
              <p:nvPr/>
            </p:nvGrpSpPr>
            <p:grpSpPr>
              <a:xfrm>
                <a:off x="2053628" y="1278514"/>
                <a:ext cx="453105" cy="1086931"/>
                <a:chOff x="19650075" y="32651700"/>
                <a:chExt cx="2409825" cy="5781675"/>
              </a:xfrm>
            </p:grpSpPr>
            <p:sp>
              <p:nvSpPr>
                <p:cNvPr id="412" name="Google Shape;412;p22"/>
                <p:cNvSpPr/>
                <p:nvPr/>
              </p:nvSpPr>
              <p:spPr>
                <a:xfrm>
                  <a:off x="21450300" y="328803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13" name="Google Shape;413;p22"/>
                <p:cNvSpPr/>
                <p:nvPr/>
              </p:nvSpPr>
              <p:spPr>
                <a:xfrm>
                  <a:off x="21564600" y="344805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14" name="Google Shape;414;p22"/>
                <p:cNvSpPr/>
                <p:nvPr/>
              </p:nvSpPr>
              <p:spPr>
                <a:xfrm>
                  <a:off x="20307300" y="36652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15" name="Google Shape;415;p22"/>
                <p:cNvSpPr/>
                <p:nvPr/>
              </p:nvSpPr>
              <p:spPr>
                <a:xfrm>
                  <a:off x="21145500" y="37033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16" name="Google Shape;416;p22"/>
                <p:cNvSpPr/>
                <p:nvPr/>
              </p:nvSpPr>
              <p:spPr>
                <a:xfrm>
                  <a:off x="21250275" y="354520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17" name="Google Shape;417;p22"/>
                <p:cNvSpPr/>
                <p:nvPr/>
              </p:nvSpPr>
              <p:spPr>
                <a:xfrm>
                  <a:off x="20564475" y="347091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18" name="Google Shape;418;p22"/>
                <p:cNvSpPr/>
                <p:nvPr/>
              </p:nvSpPr>
              <p:spPr>
                <a:xfrm>
                  <a:off x="21021675" y="3639502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19" name="Google Shape;419;p22"/>
                <p:cNvSpPr/>
                <p:nvPr/>
              </p:nvSpPr>
              <p:spPr>
                <a:xfrm>
                  <a:off x="21478875" y="379380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20" name="Google Shape;420;p22"/>
                <p:cNvSpPr/>
                <p:nvPr/>
              </p:nvSpPr>
              <p:spPr>
                <a:xfrm>
                  <a:off x="19650075" y="37795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21" name="Google Shape;421;p22"/>
                <p:cNvSpPr/>
                <p:nvPr/>
              </p:nvSpPr>
              <p:spPr>
                <a:xfrm>
                  <a:off x="20278725" y="373951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22" name="Google Shape;422;p22"/>
                <p:cNvSpPr/>
                <p:nvPr/>
              </p:nvSpPr>
              <p:spPr>
                <a:xfrm>
                  <a:off x="21078825" y="376809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23" name="Google Shape;423;p22"/>
                <p:cNvSpPr/>
                <p:nvPr/>
              </p:nvSpPr>
              <p:spPr>
                <a:xfrm>
                  <a:off x="20878800" y="326517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24" name="Google Shape;424;p22"/>
                <p:cNvSpPr/>
                <p:nvPr/>
              </p:nvSpPr>
              <p:spPr>
                <a:xfrm>
                  <a:off x="20678775" y="337375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25" name="Google Shape;425;p22"/>
                <p:cNvSpPr/>
                <p:nvPr/>
              </p:nvSpPr>
              <p:spPr>
                <a:xfrm>
                  <a:off x="21107400" y="339090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26" name="Google Shape;426;p22"/>
                <p:cNvSpPr/>
                <p:nvPr/>
              </p:nvSpPr>
              <p:spPr>
                <a:xfrm>
                  <a:off x="20878800" y="344233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27" name="Google Shape;427;p22"/>
                <p:cNvSpPr/>
                <p:nvPr/>
              </p:nvSpPr>
              <p:spPr>
                <a:xfrm>
                  <a:off x="20421600" y="352806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28" name="Google Shape;428;p22"/>
                <p:cNvSpPr/>
                <p:nvPr/>
              </p:nvSpPr>
              <p:spPr>
                <a:xfrm>
                  <a:off x="20878800" y="354234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29" name="Google Shape;429;p22"/>
                <p:cNvSpPr/>
                <p:nvPr/>
              </p:nvSpPr>
              <p:spPr>
                <a:xfrm>
                  <a:off x="20221575" y="357663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30" name="Google Shape;430;p22"/>
                <p:cNvSpPr/>
                <p:nvPr/>
              </p:nvSpPr>
              <p:spPr>
                <a:xfrm>
                  <a:off x="20193000" y="3616642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grpSp>
            <p:nvGrpSpPr>
              <p:cNvPr id="431" name="Google Shape;431;p22"/>
              <p:cNvGrpSpPr/>
              <p:nvPr/>
            </p:nvGrpSpPr>
            <p:grpSpPr>
              <a:xfrm>
                <a:off x="1991071" y="1043925"/>
                <a:ext cx="453105" cy="1086931"/>
                <a:chOff x="19650075" y="32651700"/>
                <a:chExt cx="2409825" cy="5781675"/>
              </a:xfrm>
            </p:grpSpPr>
            <p:sp>
              <p:nvSpPr>
                <p:cNvPr id="432" name="Google Shape;432;p22"/>
                <p:cNvSpPr/>
                <p:nvPr/>
              </p:nvSpPr>
              <p:spPr>
                <a:xfrm>
                  <a:off x="21450300" y="328803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33" name="Google Shape;433;p22"/>
                <p:cNvSpPr/>
                <p:nvPr/>
              </p:nvSpPr>
              <p:spPr>
                <a:xfrm>
                  <a:off x="21564600" y="344805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34" name="Google Shape;434;p22"/>
                <p:cNvSpPr/>
                <p:nvPr/>
              </p:nvSpPr>
              <p:spPr>
                <a:xfrm>
                  <a:off x="20307300" y="36652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35" name="Google Shape;435;p22"/>
                <p:cNvSpPr/>
                <p:nvPr/>
              </p:nvSpPr>
              <p:spPr>
                <a:xfrm>
                  <a:off x="21145500" y="37033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36" name="Google Shape;436;p22"/>
                <p:cNvSpPr/>
                <p:nvPr/>
              </p:nvSpPr>
              <p:spPr>
                <a:xfrm>
                  <a:off x="21250275" y="354520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37" name="Google Shape;437;p22"/>
                <p:cNvSpPr/>
                <p:nvPr/>
              </p:nvSpPr>
              <p:spPr>
                <a:xfrm>
                  <a:off x="20564475" y="347091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38" name="Google Shape;438;p22"/>
                <p:cNvSpPr/>
                <p:nvPr/>
              </p:nvSpPr>
              <p:spPr>
                <a:xfrm>
                  <a:off x="21021675" y="3639502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39" name="Google Shape;439;p22"/>
                <p:cNvSpPr/>
                <p:nvPr/>
              </p:nvSpPr>
              <p:spPr>
                <a:xfrm>
                  <a:off x="21478875" y="379380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40" name="Google Shape;440;p22"/>
                <p:cNvSpPr/>
                <p:nvPr/>
              </p:nvSpPr>
              <p:spPr>
                <a:xfrm>
                  <a:off x="19650075" y="37795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41" name="Google Shape;441;p22"/>
                <p:cNvSpPr/>
                <p:nvPr/>
              </p:nvSpPr>
              <p:spPr>
                <a:xfrm>
                  <a:off x="20278725" y="373951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42" name="Google Shape;442;p22"/>
                <p:cNvSpPr/>
                <p:nvPr/>
              </p:nvSpPr>
              <p:spPr>
                <a:xfrm>
                  <a:off x="21078825" y="376809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43" name="Google Shape;443;p22"/>
                <p:cNvSpPr/>
                <p:nvPr/>
              </p:nvSpPr>
              <p:spPr>
                <a:xfrm>
                  <a:off x="20878800" y="326517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44" name="Google Shape;444;p22"/>
                <p:cNvSpPr/>
                <p:nvPr/>
              </p:nvSpPr>
              <p:spPr>
                <a:xfrm>
                  <a:off x="20678775" y="337375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45" name="Google Shape;445;p22"/>
                <p:cNvSpPr/>
                <p:nvPr/>
              </p:nvSpPr>
              <p:spPr>
                <a:xfrm>
                  <a:off x="21107400" y="339090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46" name="Google Shape;446;p22"/>
                <p:cNvSpPr/>
                <p:nvPr/>
              </p:nvSpPr>
              <p:spPr>
                <a:xfrm>
                  <a:off x="20878800" y="344233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47" name="Google Shape;447;p22"/>
                <p:cNvSpPr/>
                <p:nvPr/>
              </p:nvSpPr>
              <p:spPr>
                <a:xfrm>
                  <a:off x="20421600" y="352806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48" name="Google Shape;448;p22"/>
                <p:cNvSpPr/>
                <p:nvPr/>
              </p:nvSpPr>
              <p:spPr>
                <a:xfrm>
                  <a:off x="20878800" y="354234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49" name="Google Shape;449;p22"/>
                <p:cNvSpPr/>
                <p:nvPr/>
              </p:nvSpPr>
              <p:spPr>
                <a:xfrm>
                  <a:off x="20221575" y="357663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50" name="Google Shape;450;p22"/>
                <p:cNvSpPr/>
                <p:nvPr/>
              </p:nvSpPr>
              <p:spPr>
                <a:xfrm>
                  <a:off x="20193000" y="3616642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sp>
            <p:nvSpPr>
              <p:cNvPr id="451" name="Google Shape;451;p22"/>
              <p:cNvSpPr/>
              <p:nvPr/>
            </p:nvSpPr>
            <p:spPr>
              <a:xfrm>
                <a:off x="2544528" y="2257272"/>
                <a:ext cx="93401" cy="9340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52" name="Google Shape;452;p22"/>
              <p:cNvSpPr/>
              <p:nvPr/>
            </p:nvSpPr>
            <p:spPr>
              <a:xfrm>
                <a:off x="2702225" y="2328952"/>
                <a:ext cx="92967"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53" name="Google Shape;453;p22"/>
              <p:cNvSpPr/>
              <p:nvPr/>
            </p:nvSpPr>
            <p:spPr>
              <a:xfrm>
                <a:off x="2593184" y="1891921"/>
                <a:ext cx="92967" cy="9340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54" name="Google Shape;454;p22"/>
              <p:cNvSpPr/>
              <p:nvPr/>
            </p:nvSpPr>
            <p:spPr>
              <a:xfrm>
                <a:off x="2679200" y="2209051"/>
                <a:ext cx="92967"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55" name="Google Shape;455;p22"/>
              <p:cNvSpPr/>
              <p:nvPr/>
            </p:nvSpPr>
            <p:spPr>
              <a:xfrm>
                <a:off x="2764782" y="2499246"/>
                <a:ext cx="93401"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56" name="Google Shape;456;p22"/>
              <p:cNvSpPr/>
              <p:nvPr/>
            </p:nvSpPr>
            <p:spPr>
              <a:xfrm>
                <a:off x="2421152" y="2472312"/>
                <a:ext cx="92967"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57" name="Google Shape;457;p22"/>
              <p:cNvSpPr/>
              <p:nvPr/>
            </p:nvSpPr>
            <p:spPr>
              <a:xfrm>
                <a:off x="2539315" y="2397157"/>
                <a:ext cx="92967"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58" name="Google Shape;458;p22"/>
              <p:cNvSpPr/>
              <p:nvPr/>
            </p:nvSpPr>
            <p:spPr>
              <a:xfrm>
                <a:off x="2689626" y="2450591"/>
                <a:ext cx="93401" cy="9340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59" name="Google Shape;459;p22"/>
              <p:cNvSpPr/>
              <p:nvPr/>
            </p:nvSpPr>
            <p:spPr>
              <a:xfrm>
                <a:off x="2614471" y="1709462"/>
                <a:ext cx="93401"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60" name="Google Shape;460;p22"/>
              <p:cNvSpPr/>
              <p:nvPr/>
            </p:nvSpPr>
            <p:spPr>
              <a:xfrm>
                <a:off x="2652266" y="1838486"/>
                <a:ext cx="92967"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61" name="Google Shape;461;p22"/>
              <p:cNvSpPr/>
              <p:nvPr/>
            </p:nvSpPr>
            <p:spPr>
              <a:xfrm>
                <a:off x="2566250" y="1999658"/>
                <a:ext cx="92967"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62" name="Google Shape;462;p22"/>
              <p:cNvSpPr/>
              <p:nvPr/>
            </p:nvSpPr>
            <p:spPr>
              <a:xfrm>
                <a:off x="2652266" y="2026158"/>
                <a:ext cx="92967" cy="9340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63" name="Google Shape;463;p22"/>
              <p:cNvSpPr/>
              <p:nvPr/>
            </p:nvSpPr>
            <p:spPr>
              <a:xfrm>
                <a:off x="2528455" y="2090887"/>
                <a:ext cx="93401"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64" name="Google Shape;464;p22"/>
              <p:cNvSpPr/>
              <p:nvPr/>
            </p:nvSpPr>
            <p:spPr>
              <a:xfrm>
                <a:off x="2523242" y="2166043"/>
                <a:ext cx="92967"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65" name="Google Shape;465;p22"/>
              <p:cNvSpPr/>
              <p:nvPr/>
            </p:nvSpPr>
            <p:spPr>
              <a:xfrm>
                <a:off x="1066615" y="1068686"/>
                <a:ext cx="93401" cy="9340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66" name="Google Shape;466;p22"/>
              <p:cNvSpPr/>
              <p:nvPr/>
            </p:nvSpPr>
            <p:spPr>
              <a:xfrm>
                <a:off x="1224311" y="1140366"/>
                <a:ext cx="92967"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67" name="Google Shape;467;p22"/>
              <p:cNvSpPr/>
              <p:nvPr/>
            </p:nvSpPr>
            <p:spPr>
              <a:xfrm>
                <a:off x="1201287" y="1020464"/>
                <a:ext cx="92967"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68" name="Google Shape;468;p22"/>
              <p:cNvSpPr/>
              <p:nvPr/>
            </p:nvSpPr>
            <p:spPr>
              <a:xfrm>
                <a:off x="1286869" y="1310660"/>
                <a:ext cx="93401"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69" name="Google Shape;469;p22"/>
              <p:cNvSpPr/>
              <p:nvPr/>
            </p:nvSpPr>
            <p:spPr>
              <a:xfrm>
                <a:off x="943238" y="1283726"/>
                <a:ext cx="92967"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70" name="Google Shape;470;p22"/>
              <p:cNvSpPr/>
              <p:nvPr/>
            </p:nvSpPr>
            <p:spPr>
              <a:xfrm>
                <a:off x="1061402" y="1208570"/>
                <a:ext cx="92967"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71" name="Google Shape;471;p22"/>
              <p:cNvSpPr/>
              <p:nvPr/>
            </p:nvSpPr>
            <p:spPr>
              <a:xfrm>
                <a:off x="1211713" y="1262005"/>
                <a:ext cx="93401" cy="93401"/>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nvGrpSpPr>
              <p:cNvPr id="472" name="Google Shape;472;p22"/>
              <p:cNvGrpSpPr/>
              <p:nvPr/>
            </p:nvGrpSpPr>
            <p:grpSpPr>
              <a:xfrm>
                <a:off x="2198716" y="1888452"/>
                <a:ext cx="308007" cy="619490"/>
                <a:chOff x="21180227" y="30118050"/>
                <a:chExt cx="1125488" cy="2264063"/>
              </a:xfrm>
            </p:grpSpPr>
            <p:sp>
              <p:nvSpPr>
                <p:cNvPr id="473" name="Google Shape;473;p22"/>
                <p:cNvSpPr/>
                <p:nvPr/>
              </p:nvSpPr>
              <p:spPr>
                <a:xfrm>
                  <a:off x="21886929" y="30275095"/>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74" name="Google Shape;474;p22"/>
                <p:cNvSpPr/>
                <p:nvPr/>
              </p:nvSpPr>
              <p:spPr>
                <a:xfrm>
                  <a:off x="21965451" y="31374408"/>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75" name="Google Shape;475;p22"/>
                <p:cNvSpPr/>
                <p:nvPr/>
              </p:nvSpPr>
              <p:spPr>
                <a:xfrm>
                  <a:off x="21749515" y="32041849"/>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76" name="Google Shape;476;p22"/>
                <p:cNvSpPr/>
                <p:nvPr/>
              </p:nvSpPr>
              <p:spPr>
                <a:xfrm>
                  <a:off x="21278380" y="31531453"/>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77" name="Google Shape;477;p22"/>
                <p:cNvSpPr/>
                <p:nvPr/>
              </p:nvSpPr>
              <p:spPr>
                <a:xfrm>
                  <a:off x="21494317" y="30118050"/>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78" name="Google Shape;478;p22"/>
                <p:cNvSpPr/>
                <p:nvPr/>
              </p:nvSpPr>
              <p:spPr>
                <a:xfrm>
                  <a:off x="21356903" y="30864013"/>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79" name="Google Shape;479;p22"/>
                <p:cNvSpPr/>
                <p:nvPr/>
              </p:nvSpPr>
              <p:spPr>
                <a:xfrm>
                  <a:off x="21651362" y="30981796"/>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80" name="Google Shape;480;p22"/>
                <p:cNvSpPr/>
                <p:nvPr/>
              </p:nvSpPr>
              <p:spPr>
                <a:xfrm>
                  <a:off x="21494317" y="31335147"/>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81" name="Google Shape;481;p22"/>
                <p:cNvSpPr/>
                <p:nvPr/>
              </p:nvSpPr>
              <p:spPr>
                <a:xfrm>
                  <a:off x="21180227" y="31924065"/>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82" name="Google Shape;482;p22"/>
                <p:cNvSpPr/>
                <p:nvPr/>
              </p:nvSpPr>
              <p:spPr>
                <a:xfrm>
                  <a:off x="21494317" y="32022218"/>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sp>
            <p:nvSpPr>
              <p:cNvPr id="483" name="Google Shape;483;p22"/>
              <p:cNvSpPr/>
              <p:nvPr/>
            </p:nvSpPr>
            <p:spPr>
              <a:xfrm>
                <a:off x="1050541" y="902301"/>
                <a:ext cx="93401"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84" name="Google Shape;484;p22"/>
              <p:cNvSpPr/>
              <p:nvPr/>
            </p:nvSpPr>
            <p:spPr>
              <a:xfrm>
                <a:off x="1045328" y="977456"/>
                <a:ext cx="92967" cy="9296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nvGrpSpPr>
              <p:cNvPr id="485" name="Google Shape;485;p22"/>
              <p:cNvGrpSpPr/>
              <p:nvPr/>
            </p:nvGrpSpPr>
            <p:grpSpPr>
              <a:xfrm>
                <a:off x="1017949" y="1951009"/>
                <a:ext cx="308007" cy="619490"/>
                <a:chOff x="21180227" y="30118050"/>
                <a:chExt cx="1125488" cy="2264063"/>
              </a:xfrm>
            </p:grpSpPr>
            <p:sp>
              <p:nvSpPr>
                <p:cNvPr id="486" name="Google Shape;486;p22"/>
                <p:cNvSpPr/>
                <p:nvPr/>
              </p:nvSpPr>
              <p:spPr>
                <a:xfrm>
                  <a:off x="21886929" y="30275095"/>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87" name="Google Shape;487;p22"/>
                <p:cNvSpPr/>
                <p:nvPr/>
              </p:nvSpPr>
              <p:spPr>
                <a:xfrm>
                  <a:off x="21965451" y="31374408"/>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88" name="Google Shape;488;p22"/>
                <p:cNvSpPr/>
                <p:nvPr/>
              </p:nvSpPr>
              <p:spPr>
                <a:xfrm>
                  <a:off x="21749515" y="32041849"/>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89" name="Google Shape;489;p22"/>
                <p:cNvSpPr/>
                <p:nvPr/>
              </p:nvSpPr>
              <p:spPr>
                <a:xfrm>
                  <a:off x="21278380" y="31531453"/>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90" name="Google Shape;490;p22"/>
                <p:cNvSpPr/>
                <p:nvPr/>
              </p:nvSpPr>
              <p:spPr>
                <a:xfrm>
                  <a:off x="21494317" y="30118050"/>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91" name="Google Shape;491;p22"/>
                <p:cNvSpPr/>
                <p:nvPr/>
              </p:nvSpPr>
              <p:spPr>
                <a:xfrm>
                  <a:off x="21356903" y="30864013"/>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92" name="Google Shape;492;p22"/>
                <p:cNvSpPr/>
                <p:nvPr/>
              </p:nvSpPr>
              <p:spPr>
                <a:xfrm>
                  <a:off x="21651362" y="30981796"/>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93" name="Google Shape;493;p22"/>
                <p:cNvSpPr/>
                <p:nvPr/>
              </p:nvSpPr>
              <p:spPr>
                <a:xfrm>
                  <a:off x="21494317" y="31335147"/>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94" name="Google Shape;494;p22"/>
                <p:cNvSpPr/>
                <p:nvPr/>
              </p:nvSpPr>
              <p:spPr>
                <a:xfrm>
                  <a:off x="21180227" y="31924065"/>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495" name="Google Shape;495;p22"/>
                <p:cNvSpPr/>
                <p:nvPr/>
              </p:nvSpPr>
              <p:spPr>
                <a:xfrm>
                  <a:off x="21494317" y="32022218"/>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grpSp>
        <p:grpSp>
          <p:nvGrpSpPr>
            <p:cNvPr id="496" name="Google Shape;496;p22"/>
            <p:cNvGrpSpPr/>
            <p:nvPr/>
          </p:nvGrpSpPr>
          <p:grpSpPr>
            <a:xfrm>
              <a:off x="381000" y="3629025"/>
              <a:ext cx="2362201" cy="1704976"/>
              <a:chOff x="381000" y="3629025"/>
              <a:chExt cx="2362201" cy="1704976"/>
            </a:xfrm>
          </p:grpSpPr>
          <p:grpSp>
            <p:nvGrpSpPr>
              <p:cNvPr id="497" name="Google Shape;497;p22"/>
              <p:cNvGrpSpPr/>
              <p:nvPr/>
            </p:nvGrpSpPr>
            <p:grpSpPr>
              <a:xfrm>
                <a:off x="381000" y="3636963"/>
                <a:ext cx="2279650" cy="1695450"/>
                <a:chOff x="5486400" y="1295400"/>
                <a:chExt cx="2972283" cy="2209516"/>
              </a:xfrm>
            </p:grpSpPr>
            <p:sp>
              <p:nvSpPr>
                <p:cNvPr id="498" name="Google Shape;498;p22"/>
                <p:cNvSpPr/>
                <p:nvPr/>
              </p:nvSpPr>
              <p:spPr>
                <a:xfrm>
                  <a:off x="5486400" y="1295400"/>
                  <a:ext cx="2972283" cy="2209516"/>
                </a:xfrm>
                <a:prstGeom prst="trapezoid">
                  <a:avLst>
                    <a:gd fmla="val 25000" name="adj"/>
                  </a:avLst>
                </a:prstGeom>
                <a:solidFill>
                  <a:srgbClr val="365860"/>
                </a:solidFill>
                <a:ln cap="flat" cmpd="sng" w="9525">
                  <a:solidFill>
                    <a:schemeClr val="dk1"/>
                  </a:solidFill>
                  <a:prstDash val="solid"/>
                  <a:round/>
                  <a:headEnd len="sm" w="sm" type="none"/>
                  <a:tailEnd len="sm" w="sm" type="none"/>
                </a:ln>
                <a:effectLst>
                  <a:outerShdw blurRad="40000" rotWithShape="0" dir="5400000" dist="20000">
                    <a:srgbClr val="000000">
                      <a:alpha val="37647"/>
                    </a:srgbClr>
                  </a:outerShdw>
                </a:effectLst>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0"/>
                    <a:buFont typeface="Arial"/>
                    <a:buNone/>
                  </a:pPr>
                  <a:r>
                    <a:t/>
                  </a:r>
                  <a:endParaRPr b="1" i="0" sz="4000" u="none" cap="none" strike="noStrike">
                    <a:solidFill>
                      <a:srgbClr val="FFFF00"/>
                    </a:solidFill>
                    <a:latin typeface="Calibri"/>
                    <a:ea typeface="Calibri"/>
                    <a:cs typeface="Calibri"/>
                    <a:sym typeface="Calibri"/>
                  </a:endParaRPr>
                </a:p>
              </p:txBody>
            </p:sp>
            <p:sp>
              <p:nvSpPr>
                <p:cNvPr id="499" name="Google Shape;499;p22"/>
                <p:cNvSpPr txBox="1"/>
                <p:nvPr/>
              </p:nvSpPr>
              <p:spPr>
                <a:xfrm>
                  <a:off x="5811365" y="2451878"/>
                  <a:ext cx="2361681" cy="440663"/>
                </a:xfrm>
                <a:prstGeom prst="rect">
                  <a:avLst/>
                </a:prstGeom>
                <a:noFill/>
                <a:ln>
                  <a:noFill/>
                </a:ln>
              </p:spPr>
              <p:txBody>
                <a:bodyPr anchorCtr="0" anchor="b"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Verdana"/>
                    <a:buNone/>
                  </a:pPr>
                  <a:r>
                    <a:t/>
                  </a:r>
                  <a:endParaRPr b="1" i="0" sz="1600" u="none" cap="none" strike="noStrike">
                    <a:solidFill>
                      <a:srgbClr val="FFFFFF"/>
                    </a:solidFill>
                    <a:latin typeface="Calibri"/>
                    <a:ea typeface="Calibri"/>
                    <a:cs typeface="Calibri"/>
                    <a:sym typeface="Calibri"/>
                  </a:endParaRPr>
                </a:p>
              </p:txBody>
            </p:sp>
          </p:grpSp>
          <p:sp>
            <p:nvSpPr>
              <p:cNvPr id="500" name="Google Shape;500;p22"/>
              <p:cNvSpPr/>
              <p:nvPr/>
            </p:nvSpPr>
            <p:spPr>
              <a:xfrm rot="10800000">
                <a:off x="815975" y="3629025"/>
                <a:ext cx="1403350" cy="1697038"/>
              </a:xfrm>
              <a:prstGeom prst="trapezoid">
                <a:avLst>
                  <a:gd fmla="val 25000" name="adj"/>
                </a:avLst>
              </a:prstGeom>
              <a:solidFill>
                <a:srgbClr val="FFFFFF">
                  <a:alpha val="47450"/>
                </a:srgbClr>
              </a:solidFill>
              <a:ln cap="flat" cmpd="sng" w="9525">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4000"/>
                  <a:buFont typeface="Arial"/>
                  <a:buNone/>
                </a:pPr>
                <a:r>
                  <a:t/>
                </a:r>
                <a:endParaRPr b="1" i="0" sz="4000" u="none" cap="none" strike="noStrike">
                  <a:solidFill>
                    <a:srgbClr val="FFFFFF"/>
                  </a:solidFill>
                  <a:latin typeface="Calibri"/>
                  <a:ea typeface="Calibri"/>
                  <a:cs typeface="Calibri"/>
                  <a:sym typeface="Calibri"/>
                </a:endParaRPr>
              </a:p>
            </p:txBody>
          </p:sp>
          <p:sp>
            <p:nvSpPr>
              <p:cNvPr id="501" name="Google Shape;501;p22"/>
              <p:cNvSpPr/>
              <p:nvPr/>
            </p:nvSpPr>
            <p:spPr>
              <a:xfrm>
                <a:off x="1527176" y="4086225"/>
                <a:ext cx="136525" cy="134938"/>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02" name="Google Shape;502;p22"/>
              <p:cNvSpPr/>
              <p:nvPr/>
            </p:nvSpPr>
            <p:spPr>
              <a:xfrm>
                <a:off x="1184275" y="3771901"/>
                <a:ext cx="134938" cy="13652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03" name="Google Shape;503;p22"/>
              <p:cNvSpPr/>
              <p:nvPr/>
            </p:nvSpPr>
            <p:spPr>
              <a:xfrm>
                <a:off x="2017714" y="4127500"/>
                <a:ext cx="136525" cy="134938"/>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04" name="Google Shape;504;p22"/>
              <p:cNvSpPr/>
              <p:nvPr/>
            </p:nvSpPr>
            <p:spPr>
              <a:xfrm>
                <a:off x="2109789" y="3937000"/>
                <a:ext cx="134937" cy="134938"/>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05" name="Google Shape;505;p22"/>
              <p:cNvSpPr/>
              <p:nvPr/>
            </p:nvSpPr>
            <p:spPr>
              <a:xfrm>
                <a:off x="1757364" y="3960814"/>
                <a:ext cx="134937" cy="13493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06" name="Google Shape;506;p22"/>
              <p:cNvSpPr/>
              <p:nvPr/>
            </p:nvSpPr>
            <p:spPr>
              <a:xfrm>
                <a:off x="1225550" y="4951414"/>
                <a:ext cx="134938" cy="13493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07" name="Google Shape;507;p22"/>
              <p:cNvSpPr/>
              <p:nvPr/>
            </p:nvSpPr>
            <p:spPr>
              <a:xfrm>
                <a:off x="1600201" y="4878389"/>
                <a:ext cx="136525" cy="13493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08" name="Google Shape;508;p22"/>
              <p:cNvSpPr/>
              <p:nvPr/>
            </p:nvSpPr>
            <p:spPr>
              <a:xfrm>
                <a:off x="1673226" y="4262439"/>
                <a:ext cx="136525" cy="13652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09" name="Google Shape;509;p22"/>
              <p:cNvSpPr/>
              <p:nvPr/>
            </p:nvSpPr>
            <p:spPr>
              <a:xfrm>
                <a:off x="1935164" y="4972050"/>
                <a:ext cx="134937" cy="134938"/>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10" name="Google Shape;510;p22"/>
              <p:cNvSpPr/>
              <p:nvPr/>
            </p:nvSpPr>
            <p:spPr>
              <a:xfrm>
                <a:off x="1600201" y="4513264"/>
                <a:ext cx="136525" cy="13493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11" name="Google Shape;511;p22"/>
              <p:cNvSpPr/>
              <p:nvPr/>
            </p:nvSpPr>
            <p:spPr>
              <a:xfrm>
                <a:off x="1330325" y="4471989"/>
                <a:ext cx="134938" cy="13493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12" name="Google Shape;512;p22"/>
              <p:cNvSpPr/>
              <p:nvPr/>
            </p:nvSpPr>
            <p:spPr>
              <a:xfrm>
                <a:off x="1339851" y="4729164"/>
                <a:ext cx="136525" cy="13493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13" name="Google Shape;513;p22"/>
              <p:cNvSpPr/>
              <p:nvPr/>
            </p:nvSpPr>
            <p:spPr>
              <a:xfrm>
                <a:off x="1997075" y="4713289"/>
                <a:ext cx="134938" cy="13652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14" name="Google Shape;514;p22"/>
              <p:cNvSpPr/>
              <p:nvPr/>
            </p:nvSpPr>
            <p:spPr>
              <a:xfrm>
                <a:off x="2160589" y="4384676"/>
                <a:ext cx="136525" cy="13652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15" name="Google Shape;515;p22"/>
              <p:cNvSpPr/>
              <p:nvPr/>
            </p:nvSpPr>
            <p:spPr>
              <a:xfrm>
                <a:off x="2154239" y="4760914"/>
                <a:ext cx="134937" cy="13493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16" name="Google Shape;516;p22"/>
              <p:cNvSpPr/>
              <p:nvPr/>
            </p:nvSpPr>
            <p:spPr>
              <a:xfrm>
                <a:off x="2365375" y="4916489"/>
                <a:ext cx="134938" cy="13652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17" name="Google Shape;517;p22"/>
              <p:cNvSpPr/>
              <p:nvPr/>
            </p:nvSpPr>
            <p:spPr>
              <a:xfrm>
                <a:off x="1379539" y="5111751"/>
                <a:ext cx="134937" cy="13652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18" name="Google Shape;518;p22"/>
              <p:cNvSpPr/>
              <p:nvPr/>
            </p:nvSpPr>
            <p:spPr>
              <a:xfrm>
                <a:off x="1778000" y="4862514"/>
                <a:ext cx="134938" cy="13493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19" name="Google Shape;519;p22"/>
              <p:cNvSpPr/>
              <p:nvPr/>
            </p:nvSpPr>
            <p:spPr>
              <a:xfrm>
                <a:off x="1778000" y="5081589"/>
                <a:ext cx="134938" cy="134937"/>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nvGrpSpPr>
              <p:cNvPr id="520" name="Google Shape;520;p22"/>
              <p:cNvGrpSpPr/>
              <p:nvPr/>
            </p:nvGrpSpPr>
            <p:grpSpPr>
              <a:xfrm>
                <a:off x="441325" y="4246564"/>
                <a:ext cx="452438" cy="1087437"/>
                <a:chOff x="19650075" y="32651700"/>
                <a:chExt cx="2409825" cy="5781675"/>
              </a:xfrm>
            </p:grpSpPr>
            <p:sp>
              <p:nvSpPr>
                <p:cNvPr id="521" name="Google Shape;521;p22"/>
                <p:cNvSpPr/>
                <p:nvPr/>
              </p:nvSpPr>
              <p:spPr>
                <a:xfrm>
                  <a:off x="21450300" y="328803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22" name="Google Shape;522;p22"/>
                <p:cNvSpPr/>
                <p:nvPr/>
              </p:nvSpPr>
              <p:spPr>
                <a:xfrm>
                  <a:off x="21564600" y="344805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23" name="Google Shape;523;p22"/>
                <p:cNvSpPr/>
                <p:nvPr/>
              </p:nvSpPr>
              <p:spPr>
                <a:xfrm>
                  <a:off x="20307300" y="36652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24" name="Google Shape;524;p22"/>
                <p:cNvSpPr/>
                <p:nvPr/>
              </p:nvSpPr>
              <p:spPr>
                <a:xfrm>
                  <a:off x="21145500" y="37033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25" name="Google Shape;525;p22"/>
                <p:cNvSpPr/>
                <p:nvPr/>
              </p:nvSpPr>
              <p:spPr>
                <a:xfrm>
                  <a:off x="21250275" y="354520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26" name="Google Shape;526;p22"/>
                <p:cNvSpPr/>
                <p:nvPr/>
              </p:nvSpPr>
              <p:spPr>
                <a:xfrm>
                  <a:off x="20564475" y="347091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27" name="Google Shape;527;p22"/>
                <p:cNvSpPr/>
                <p:nvPr/>
              </p:nvSpPr>
              <p:spPr>
                <a:xfrm>
                  <a:off x="21021675" y="3639502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28" name="Google Shape;528;p22"/>
                <p:cNvSpPr/>
                <p:nvPr/>
              </p:nvSpPr>
              <p:spPr>
                <a:xfrm>
                  <a:off x="21478875" y="379380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29" name="Google Shape;529;p22"/>
                <p:cNvSpPr/>
                <p:nvPr/>
              </p:nvSpPr>
              <p:spPr>
                <a:xfrm>
                  <a:off x="19650075" y="37795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30" name="Google Shape;530;p22"/>
                <p:cNvSpPr/>
                <p:nvPr/>
              </p:nvSpPr>
              <p:spPr>
                <a:xfrm>
                  <a:off x="20278725" y="373951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31" name="Google Shape;531;p22"/>
                <p:cNvSpPr/>
                <p:nvPr/>
              </p:nvSpPr>
              <p:spPr>
                <a:xfrm>
                  <a:off x="21078825" y="376809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32" name="Google Shape;532;p22"/>
                <p:cNvSpPr/>
                <p:nvPr/>
              </p:nvSpPr>
              <p:spPr>
                <a:xfrm>
                  <a:off x="20878800" y="326517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33" name="Google Shape;533;p22"/>
                <p:cNvSpPr/>
                <p:nvPr/>
              </p:nvSpPr>
              <p:spPr>
                <a:xfrm>
                  <a:off x="20678775" y="337375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34" name="Google Shape;534;p22"/>
                <p:cNvSpPr/>
                <p:nvPr/>
              </p:nvSpPr>
              <p:spPr>
                <a:xfrm>
                  <a:off x="21107400" y="339090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35" name="Google Shape;535;p22"/>
                <p:cNvSpPr/>
                <p:nvPr/>
              </p:nvSpPr>
              <p:spPr>
                <a:xfrm>
                  <a:off x="20878800" y="344233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36" name="Google Shape;536;p22"/>
                <p:cNvSpPr/>
                <p:nvPr/>
              </p:nvSpPr>
              <p:spPr>
                <a:xfrm>
                  <a:off x="20421600" y="352806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37" name="Google Shape;537;p22"/>
                <p:cNvSpPr/>
                <p:nvPr/>
              </p:nvSpPr>
              <p:spPr>
                <a:xfrm>
                  <a:off x="20878800" y="354234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38" name="Google Shape;538;p22"/>
                <p:cNvSpPr/>
                <p:nvPr/>
              </p:nvSpPr>
              <p:spPr>
                <a:xfrm>
                  <a:off x="20221575" y="357663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39" name="Google Shape;539;p22"/>
                <p:cNvSpPr/>
                <p:nvPr/>
              </p:nvSpPr>
              <p:spPr>
                <a:xfrm>
                  <a:off x="20193000" y="3616642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sp>
            <p:nvSpPr>
              <p:cNvPr id="540" name="Google Shape;540;p22"/>
              <p:cNvSpPr/>
              <p:nvPr/>
            </p:nvSpPr>
            <p:spPr>
              <a:xfrm>
                <a:off x="881063" y="3954464"/>
                <a:ext cx="93662"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41" name="Google Shape;541;p22"/>
              <p:cNvSpPr/>
              <p:nvPr/>
            </p:nvSpPr>
            <p:spPr>
              <a:xfrm>
                <a:off x="738188" y="4840288"/>
                <a:ext cx="93662"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42" name="Google Shape;542;p22"/>
              <p:cNvSpPr/>
              <p:nvPr/>
            </p:nvSpPr>
            <p:spPr>
              <a:xfrm>
                <a:off x="744538" y="4592638"/>
                <a:ext cx="93662"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43" name="Google Shape;543;p22"/>
              <p:cNvSpPr/>
              <p:nvPr/>
            </p:nvSpPr>
            <p:spPr>
              <a:xfrm>
                <a:off x="901701" y="4664076"/>
                <a:ext cx="93663"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44" name="Google Shape;544;p22"/>
              <p:cNvSpPr/>
              <p:nvPr/>
            </p:nvSpPr>
            <p:spPr>
              <a:xfrm>
                <a:off x="920751" y="4367214"/>
                <a:ext cx="93663"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45" name="Google Shape;545;p22"/>
              <p:cNvSpPr/>
              <p:nvPr/>
            </p:nvSpPr>
            <p:spPr>
              <a:xfrm>
                <a:off x="792163" y="4227513"/>
                <a:ext cx="93662"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46" name="Google Shape;546;p22"/>
              <p:cNvSpPr/>
              <p:nvPr/>
            </p:nvSpPr>
            <p:spPr>
              <a:xfrm>
                <a:off x="879476" y="4543426"/>
                <a:ext cx="92075"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47" name="Google Shape;547;p22"/>
              <p:cNvSpPr/>
              <p:nvPr/>
            </p:nvSpPr>
            <p:spPr>
              <a:xfrm>
                <a:off x="965201" y="4833938"/>
                <a:ext cx="92075"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48" name="Google Shape;548;p22"/>
              <p:cNvSpPr/>
              <p:nvPr/>
            </p:nvSpPr>
            <p:spPr>
              <a:xfrm>
                <a:off x="620713" y="4806951"/>
                <a:ext cx="93662"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49" name="Google Shape;549;p22"/>
              <p:cNvSpPr/>
              <p:nvPr/>
            </p:nvSpPr>
            <p:spPr>
              <a:xfrm>
                <a:off x="738188" y="4732338"/>
                <a:ext cx="93662"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50" name="Google Shape;550;p22"/>
              <p:cNvSpPr/>
              <p:nvPr/>
            </p:nvSpPr>
            <p:spPr>
              <a:xfrm>
                <a:off x="889001" y="4786314"/>
                <a:ext cx="93663"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51" name="Google Shape;551;p22"/>
              <p:cNvSpPr/>
              <p:nvPr/>
            </p:nvSpPr>
            <p:spPr>
              <a:xfrm>
                <a:off x="852489" y="3840163"/>
                <a:ext cx="92075"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52" name="Google Shape;552;p22"/>
              <p:cNvSpPr/>
              <p:nvPr/>
            </p:nvSpPr>
            <p:spPr>
              <a:xfrm>
                <a:off x="814388" y="4044951"/>
                <a:ext cx="93662"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53" name="Google Shape;553;p22"/>
              <p:cNvSpPr/>
              <p:nvPr/>
            </p:nvSpPr>
            <p:spPr>
              <a:xfrm>
                <a:off x="863601" y="4100514"/>
                <a:ext cx="93663"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54" name="Google Shape;554;p22"/>
              <p:cNvSpPr/>
              <p:nvPr/>
            </p:nvSpPr>
            <p:spPr>
              <a:xfrm>
                <a:off x="852489" y="4173538"/>
                <a:ext cx="92075"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55" name="Google Shape;555;p22"/>
              <p:cNvSpPr/>
              <p:nvPr/>
            </p:nvSpPr>
            <p:spPr>
              <a:xfrm>
                <a:off x="765176" y="4335464"/>
                <a:ext cx="93663"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56" name="Google Shape;556;p22"/>
              <p:cNvSpPr/>
              <p:nvPr/>
            </p:nvSpPr>
            <p:spPr>
              <a:xfrm>
                <a:off x="852489" y="4360863"/>
                <a:ext cx="92075"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57" name="Google Shape;557;p22"/>
              <p:cNvSpPr/>
              <p:nvPr/>
            </p:nvSpPr>
            <p:spPr>
              <a:xfrm>
                <a:off x="728664" y="4425951"/>
                <a:ext cx="92075"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58" name="Google Shape;558;p22"/>
              <p:cNvSpPr/>
              <p:nvPr/>
            </p:nvSpPr>
            <p:spPr>
              <a:xfrm>
                <a:off x="722313" y="4500563"/>
                <a:ext cx="93662"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nvGrpSpPr>
              <p:cNvPr id="559" name="Google Shape;559;p22"/>
              <p:cNvGrpSpPr/>
              <p:nvPr/>
            </p:nvGrpSpPr>
            <p:grpSpPr>
              <a:xfrm>
                <a:off x="1973264" y="4051300"/>
                <a:ext cx="454025" cy="1087438"/>
                <a:chOff x="19650075" y="32651700"/>
                <a:chExt cx="2409825" cy="5781675"/>
              </a:xfrm>
            </p:grpSpPr>
            <p:sp>
              <p:nvSpPr>
                <p:cNvPr id="560" name="Google Shape;560;p22"/>
                <p:cNvSpPr/>
                <p:nvPr/>
              </p:nvSpPr>
              <p:spPr>
                <a:xfrm>
                  <a:off x="21450300" y="328803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61" name="Google Shape;561;p22"/>
                <p:cNvSpPr/>
                <p:nvPr/>
              </p:nvSpPr>
              <p:spPr>
                <a:xfrm>
                  <a:off x="21564600" y="344805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62" name="Google Shape;562;p22"/>
                <p:cNvSpPr/>
                <p:nvPr/>
              </p:nvSpPr>
              <p:spPr>
                <a:xfrm>
                  <a:off x="20307300" y="36652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63" name="Google Shape;563;p22"/>
                <p:cNvSpPr/>
                <p:nvPr/>
              </p:nvSpPr>
              <p:spPr>
                <a:xfrm>
                  <a:off x="21145500" y="37033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64" name="Google Shape;564;p22"/>
                <p:cNvSpPr/>
                <p:nvPr/>
              </p:nvSpPr>
              <p:spPr>
                <a:xfrm>
                  <a:off x="21250275" y="354520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65" name="Google Shape;565;p22"/>
                <p:cNvSpPr/>
                <p:nvPr/>
              </p:nvSpPr>
              <p:spPr>
                <a:xfrm>
                  <a:off x="20564475" y="347091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66" name="Google Shape;566;p22"/>
                <p:cNvSpPr/>
                <p:nvPr/>
              </p:nvSpPr>
              <p:spPr>
                <a:xfrm>
                  <a:off x="21021675" y="3639502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67" name="Google Shape;567;p22"/>
                <p:cNvSpPr/>
                <p:nvPr/>
              </p:nvSpPr>
              <p:spPr>
                <a:xfrm>
                  <a:off x="21478875" y="379380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68" name="Google Shape;568;p22"/>
                <p:cNvSpPr/>
                <p:nvPr/>
              </p:nvSpPr>
              <p:spPr>
                <a:xfrm>
                  <a:off x="19650075" y="377952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69" name="Google Shape;569;p22"/>
                <p:cNvSpPr/>
                <p:nvPr/>
              </p:nvSpPr>
              <p:spPr>
                <a:xfrm>
                  <a:off x="20278725" y="373951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70" name="Google Shape;570;p22"/>
                <p:cNvSpPr/>
                <p:nvPr/>
              </p:nvSpPr>
              <p:spPr>
                <a:xfrm>
                  <a:off x="21078825" y="376809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71" name="Google Shape;571;p22"/>
                <p:cNvSpPr/>
                <p:nvPr/>
              </p:nvSpPr>
              <p:spPr>
                <a:xfrm>
                  <a:off x="20878800" y="326517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72" name="Google Shape;572;p22"/>
                <p:cNvSpPr/>
                <p:nvPr/>
              </p:nvSpPr>
              <p:spPr>
                <a:xfrm>
                  <a:off x="20678775" y="337375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73" name="Google Shape;573;p22"/>
                <p:cNvSpPr/>
                <p:nvPr/>
              </p:nvSpPr>
              <p:spPr>
                <a:xfrm>
                  <a:off x="21107400" y="339090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74" name="Google Shape;574;p22"/>
                <p:cNvSpPr/>
                <p:nvPr/>
              </p:nvSpPr>
              <p:spPr>
                <a:xfrm>
                  <a:off x="20878800" y="3442335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75" name="Google Shape;575;p22"/>
                <p:cNvSpPr/>
                <p:nvPr/>
              </p:nvSpPr>
              <p:spPr>
                <a:xfrm>
                  <a:off x="20421600" y="35280600"/>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76" name="Google Shape;576;p22"/>
                <p:cNvSpPr/>
                <p:nvPr/>
              </p:nvSpPr>
              <p:spPr>
                <a:xfrm>
                  <a:off x="20878800" y="354234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77" name="Google Shape;577;p22"/>
                <p:cNvSpPr/>
                <p:nvPr/>
              </p:nvSpPr>
              <p:spPr>
                <a:xfrm>
                  <a:off x="20221575" y="3576637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78" name="Google Shape;578;p22"/>
                <p:cNvSpPr/>
                <p:nvPr/>
              </p:nvSpPr>
              <p:spPr>
                <a:xfrm>
                  <a:off x="20193000" y="36166425"/>
                  <a:ext cx="495300" cy="495300"/>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sp>
            <p:nvSpPr>
              <p:cNvPr id="579" name="Google Shape;579;p22"/>
              <p:cNvSpPr/>
              <p:nvPr/>
            </p:nvSpPr>
            <p:spPr>
              <a:xfrm>
                <a:off x="2136776" y="4178301"/>
                <a:ext cx="92075"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80" name="Google Shape;580;p22"/>
              <p:cNvSpPr/>
              <p:nvPr/>
            </p:nvSpPr>
            <p:spPr>
              <a:xfrm>
                <a:off x="2293939" y="4249738"/>
                <a:ext cx="92075"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81" name="Google Shape;581;p22"/>
              <p:cNvSpPr/>
              <p:nvPr/>
            </p:nvSpPr>
            <p:spPr>
              <a:xfrm>
                <a:off x="2184401" y="3813176"/>
                <a:ext cx="93663"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82" name="Google Shape;582;p22"/>
              <p:cNvSpPr/>
              <p:nvPr/>
            </p:nvSpPr>
            <p:spPr>
              <a:xfrm>
                <a:off x="2270126" y="4129088"/>
                <a:ext cx="93663"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83" name="Google Shape;583;p22"/>
              <p:cNvSpPr/>
              <p:nvPr/>
            </p:nvSpPr>
            <p:spPr>
              <a:xfrm>
                <a:off x="2355851" y="4419601"/>
                <a:ext cx="93663"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84" name="Google Shape;584;p22"/>
              <p:cNvSpPr/>
              <p:nvPr/>
            </p:nvSpPr>
            <p:spPr>
              <a:xfrm>
                <a:off x="2012951" y="4392613"/>
                <a:ext cx="92075"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85" name="Google Shape;585;p22"/>
              <p:cNvSpPr/>
              <p:nvPr/>
            </p:nvSpPr>
            <p:spPr>
              <a:xfrm>
                <a:off x="2130426" y="4318001"/>
                <a:ext cx="93663"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86" name="Google Shape;586;p22"/>
              <p:cNvSpPr/>
              <p:nvPr/>
            </p:nvSpPr>
            <p:spPr>
              <a:xfrm>
                <a:off x="2281238" y="4371976"/>
                <a:ext cx="93662"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87" name="Google Shape;587;p22"/>
              <p:cNvSpPr/>
              <p:nvPr/>
            </p:nvSpPr>
            <p:spPr>
              <a:xfrm>
                <a:off x="2189163" y="3727451"/>
                <a:ext cx="93662"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88" name="Google Shape;588;p22"/>
              <p:cNvSpPr/>
              <p:nvPr/>
            </p:nvSpPr>
            <p:spPr>
              <a:xfrm>
                <a:off x="2157413" y="3921126"/>
                <a:ext cx="93662"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89" name="Google Shape;589;p22"/>
              <p:cNvSpPr/>
              <p:nvPr/>
            </p:nvSpPr>
            <p:spPr>
              <a:xfrm>
                <a:off x="2243138" y="3946526"/>
                <a:ext cx="93662"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90" name="Google Shape;590;p22"/>
              <p:cNvSpPr/>
              <p:nvPr/>
            </p:nvSpPr>
            <p:spPr>
              <a:xfrm>
                <a:off x="2119313" y="4011613"/>
                <a:ext cx="93662"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91" name="Google Shape;591;p22"/>
              <p:cNvSpPr/>
              <p:nvPr/>
            </p:nvSpPr>
            <p:spPr>
              <a:xfrm>
                <a:off x="2114551" y="4086226"/>
                <a:ext cx="93663"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92" name="Google Shape;592;p22"/>
              <p:cNvSpPr/>
              <p:nvPr/>
            </p:nvSpPr>
            <p:spPr>
              <a:xfrm>
                <a:off x="2316163" y="4999038"/>
                <a:ext cx="93662"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93" name="Google Shape;593;p22"/>
              <p:cNvSpPr/>
              <p:nvPr/>
            </p:nvSpPr>
            <p:spPr>
              <a:xfrm>
                <a:off x="2473326" y="5070476"/>
                <a:ext cx="93663"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94" name="Google Shape;594;p22"/>
              <p:cNvSpPr/>
              <p:nvPr/>
            </p:nvSpPr>
            <p:spPr>
              <a:xfrm>
                <a:off x="2365376" y="4633913"/>
                <a:ext cx="92075"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95" name="Google Shape;595;p22"/>
              <p:cNvSpPr/>
              <p:nvPr/>
            </p:nvSpPr>
            <p:spPr>
              <a:xfrm>
                <a:off x="2451101" y="4951414"/>
                <a:ext cx="92075"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96" name="Google Shape;596;p22"/>
              <p:cNvSpPr/>
              <p:nvPr/>
            </p:nvSpPr>
            <p:spPr>
              <a:xfrm>
                <a:off x="2536826" y="5240338"/>
                <a:ext cx="92075"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97" name="Google Shape;597;p22"/>
              <p:cNvSpPr/>
              <p:nvPr/>
            </p:nvSpPr>
            <p:spPr>
              <a:xfrm>
                <a:off x="2192338" y="5213351"/>
                <a:ext cx="93662"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98" name="Google Shape;598;p22"/>
              <p:cNvSpPr/>
              <p:nvPr/>
            </p:nvSpPr>
            <p:spPr>
              <a:xfrm>
                <a:off x="2311401" y="5138738"/>
                <a:ext cx="92075"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599" name="Google Shape;599;p22"/>
              <p:cNvSpPr/>
              <p:nvPr/>
            </p:nvSpPr>
            <p:spPr>
              <a:xfrm>
                <a:off x="2460626" y="5192713"/>
                <a:ext cx="93663"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00" name="Google Shape;600;p22"/>
              <p:cNvSpPr/>
              <p:nvPr/>
            </p:nvSpPr>
            <p:spPr>
              <a:xfrm>
                <a:off x="2386013" y="4451351"/>
                <a:ext cx="93662"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01" name="Google Shape;601;p22"/>
              <p:cNvSpPr/>
              <p:nvPr/>
            </p:nvSpPr>
            <p:spPr>
              <a:xfrm>
                <a:off x="2424114" y="4579938"/>
                <a:ext cx="92075"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02" name="Google Shape;602;p22"/>
              <p:cNvSpPr/>
              <p:nvPr/>
            </p:nvSpPr>
            <p:spPr>
              <a:xfrm>
                <a:off x="2338389" y="4741864"/>
                <a:ext cx="92075"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03" name="Google Shape;603;p22"/>
              <p:cNvSpPr/>
              <p:nvPr/>
            </p:nvSpPr>
            <p:spPr>
              <a:xfrm>
                <a:off x="2424114" y="4767263"/>
                <a:ext cx="92075"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04" name="Google Shape;604;p22"/>
              <p:cNvSpPr/>
              <p:nvPr/>
            </p:nvSpPr>
            <p:spPr>
              <a:xfrm>
                <a:off x="2300288" y="4832351"/>
                <a:ext cx="93662"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05" name="Google Shape;605;p22"/>
              <p:cNvSpPr/>
              <p:nvPr/>
            </p:nvSpPr>
            <p:spPr>
              <a:xfrm>
                <a:off x="2293938" y="4908551"/>
                <a:ext cx="93662"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06" name="Google Shape;606;p22"/>
              <p:cNvSpPr/>
              <p:nvPr/>
            </p:nvSpPr>
            <p:spPr>
              <a:xfrm>
                <a:off x="744538" y="3857626"/>
                <a:ext cx="93662"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07" name="Google Shape;607;p22"/>
              <p:cNvSpPr/>
              <p:nvPr/>
            </p:nvSpPr>
            <p:spPr>
              <a:xfrm>
                <a:off x="565151" y="4562476"/>
                <a:ext cx="93663"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08" name="Google Shape;608;p22"/>
              <p:cNvSpPr/>
              <p:nvPr/>
            </p:nvSpPr>
            <p:spPr>
              <a:xfrm>
                <a:off x="449264" y="5021263"/>
                <a:ext cx="92075" cy="93662"/>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09" name="Google Shape;609;p22"/>
              <p:cNvSpPr/>
              <p:nvPr/>
            </p:nvSpPr>
            <p:spPr>
              <a:xfrm>
                <a:off x="925513" y="4216401"/>
                <a:ext cx="93662" cy="93663"/>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10" name="Google Shape;610;p22"/>
              <p:cNvSpPr/>
              <p:nvPr/>
            </p:nvSpPr>
            <p:spPr>
              <a:xfrm>
                <a:off x="714376" y="4025901"/>
                <a:ext cx="93663"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11" name="Google Shape;611;p22"/>
              <p:cNvSpPr/>
              <p:nvPr/>
            </p:nvSpPr>
            <p:spPr>
              <a:xfrm>
                <a:off x="700089" y="4114801"/>
                <a:ext cx="92075"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12" name="Google Shape;612;p22"/>
              <p:cNvSpPr/>
              <p:nvPr/>
            </p:nvSpPr>
            <p:spPr>
              <a:xfrm>
                <a:off x="850901" y="4168776"/>
                <a:ext cx="92075"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nvGrpSpPr>
              <p:cNvPr id="613" name="Google Shape;613;p22"/>
              <p:cNvGrpSpPr/>
              <p:nvPr/>
            </p:nvGrpSpPr>
            <p:grpSpPr>
              <a:xfrm>
                <a:off x="1970089" y="4630739"/>
                <a:ext cx="307975" cy="619125"/>
                <a:chOff x="21180227" y="30118050"/>
                <a:chExt cx="1125488" cy="2264063"/>
              </a:xfrm>
            </p:grpSpPr>
            <p:sp>
              <p:nvSpPr>
                <p:cNvPr id="614" name="Google Shape;614;p22"/>
                <p:cNvSpPr/>
                <p:nvPr/>
              </p:nvSpPr>
              <p:spPr>
                <a:xfrm>
                  <a:off x="21886929" y="30275095"/>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15" name="Google Shape;615;p22"/>
                <p:cNvSpPr/>
                <p:nvPr/>
              </p:nvSpPr>
              <p:spPr>
                <a:xfrm>
                  <a:off x="21965451" y="31374408"/>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16" name="Google Shape;616;p22"/>
                <p:cNvSpPr/>
                <p:nvPr/>
              </p:nvSpPr>
              <p:spPr>
                <a:xfrm>
                  <a:off x="21749515" y="32041849"/>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17" name="Google Shape;617;p22"/>
                <p:cNvSpPr/>
                <p:nvPr/>
              </p:nvSpPr>
              <p:spPr>
                <a:xfrm>
                  <a:off x="21278380" y="31531453"/>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18" name="Google Shape;618;p22"/>
                <p:cNvSpPr/>
                <p:nvPr/>
              </p:nvSpPr>
              <p:spPr>
                <a:xfrm>
                  <a:off x="21494317" y="30118050"/>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19" name="Google Shape;619;p22"/>
                <p:cNvSpPr/>
                <p:nvPr/>
              </p:nvSpPr>
              <p:spPr>
                <a:xfrm>
                  <a:off x="21356903" y="30864013"/>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20" name="Google Shape;620;p22"/>
                <p:cNvSpPr/>
                <p:nvPr/>
              </p:nvSpPr>
              <p:spPr>
                <a:xfrm>
                  <a:off x="21651362" y="30981796"/>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21" name="Google Shape;621;p22"/>
                <p:cNvSpPr/>
                <p:nvPr/>
              </p:nvSpPr>
              <p:spPr>
                <a:xfrm>
                  <a:off x="21494317" y="31335147"/>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22" name="Google Shape;622;p22"/>
                <p:cNvSpPr/>
                <p:nvPr/>
              </p:nvSpPr>
              <p:spPr>
                <a:xfrm>
                  <a:off x="21180227" y="31924065"/>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23" name="Google Shape;623;p22"/>
                <p:cNvSpPr/>
                <p:nvPr/>
              </p:nvSpPr>
              <p:spPr>
                <a:xfrm>
                  <a:off x="21494317" y="32022218"/>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sp>
            <p:nvSpPr>
              <p:cNvPr id="624" name="Google Shape;624;p22"/>
              <p:cNvSpPr/>
              <p:nvPr/>
            </p:nvSpPr>
            <p:spPr>
              <a:xfrm>
                <a:off x="838201" y="4441826"/>
                <a:ext cx="92075"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25" name="Google Shape;625;p22"/>
              <p:cNvSpPr/>
              <p:nvPr/>
            </p:nvSpPr>
            <p:spPr>
              <a:xfrm>
                <a:off x="762001" y="3735389"/>
                <a:ext cx="93663" cy="92075"/>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nvGrpSpPr>
              <p:cNvPr id="626" name="Google Shape;626;p22"/>
              <p:cNvGrpSpPr/>
              <p:nvPr/>
            </p:nvGrpSpPr>
            <p:grpSpPr>
              <a:xfrm>
                <a:off x="788989" y="4692651"/>
                <a:ext cx="307975" cy="619125"/>
                <a:chOff x="21180227" y="30118050"/>
                <a:chExt cx="1125488" cy="2264063"/>
              </a:xfrm>
            </p:grpSpPr>
            <p:sp>
              <p:nvSpPr>
                <p:cNvPr id="627" name="Google Shape;627;p22"/>
                <p:cNvSpPr/>
                <p:nvPr/>
              </p:nvSpPr>
              <p:spPr>
                <a:xfrm>
                  <a:off x="21886929" y="30275095"/>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28" name="Google Shape;628;p22"/>
                <p:cNvSpPr/>
                <p:nvPr/>
              </p:nvSpPr>
              <p:spPr>
                <a:xfrm>
                  <a:off x="21965451" y="31374408"/>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29" name="Google Shape;629;p22"/>
                <p:cNvSpPr/>
                <p:nvPr/>
              </p:nvSpPr>
              <p:spPr>
                <a:xfrm>
                  <a:off x="21749515" y="32041849"/>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30" name="Google Shape;630;p22"/>
                <p:cNvSpPr/>
                <p:nvPr/>
              </p:nvSpPr>
              <p:spPr>
                <a:xfrm>
                  <a:off x="21278380" y="31531453"/>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31" name="Google Shape;631;p22"/>
                <p:cNvSpPr/>
                <p:nvPr/>
              </p:nvSpPr>
              <p:spPr>
                <a:xfrm>
                  <a:off x="21494317" y="30118050"/>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32" name="Google Shape;632;p22"/>
                <p:cNvSpPr/>
                <p:nvPr/>
              </p:nvSpPr>
              <p:spPr>
                <a:xfrm>
                  <a:off x="21356903" y="30864013"/>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33" name="Google Shape;633;p22"/>
                <p:cNvSpPr/>
                <p:nvPr/>
              </p:nvSpPr>
              <p:spPr>
                <a:xfrm>
                  <a:off x="21651362" y="30981796"/>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34" name="Google Shape;634;p22"/>
                <p:cNvSpPr/>
                <p:nvPr/>
              </p:nvSpPr>
              <p:spPr>
                <a:xfrm>
                  <a:off x="21494317" y="31335147"/>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35" name="Google Shape;635;p22"/>
                <p:cNvSpPr/>
                <p:nvPr/>
              </p:nvSpPr>
              <p:spPr>
                <a:xfrm>
                  <a:off x="21180227" y="31924065"/>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sp>
              <p:nvSpPr>
                <p:cNvPr id="636" name="Google Shape;636;p22"/>
                <p:cNvSpPr/>
                <p:nvPr/>
              </p:nvSpPr>
              <p:spPr>
                <a:xfrm>
                  <a:off x="21494317" y="32022218"/>
                  <a:ext cx="340264" cy="340264"/>
                </a:xfrm>
                <a:prstGeom prst="irregularSeal1">
                  <a:avLst/>
                </a:prstGeom>
                <a:solidFill>
                  <a:srgbClr val="C5683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0" sz="1200" u="none" cap="none" strike="noStrike">
                    <a:solidFill>
                      <a:srgbClr val="000000"/>
                    </a:solidFill>
                    <a:latin typeface="Verdana"/>
                    <a:ea typeface="Verdana"/>
                    <a:cs typeface="Verdana"/>
                    <a:sym typeface="Verdana"/>
                  </a:endParaRPr>
                </a:p>
              </p:txBody>
            </p:sp>
          </p:grpSp>
          <p:cxnSp>
            <p:nvCxnSpPr>
              <p:cNvPr id="637" name="Google Shape;637;p22"/>
              <p:cNvCxnSpPr/>
              <p:nvPr/>
            </p:nvCxnSpPr>
            <p:spPr>
              <a:xfrm rot="10800000">
                <a:off x="2016126" y="3962400"/>
                <a:ext cx="727075" cy="0"/>
              </a:xfrm>
              <a:prstGeom prst="straightConnector1">
                <a:avLst/>
              </a:prstGeom>
              <a:noFill/>
              <a:ln cap="flat" cmpd="sng" w="57150">
                <a:solidFill>
                  <a:schemeClr val="dk1"/>
                </a:solidFill>
                <a:prstDash val="solid"/>
                <a:round/>
                <a:headEnd len="med" w="med" type="none"/>
                <a:tailEnd len="med" w="med" type="triangle"/>
              </a:ln>
            </p:spPr>
          </p:cxnSp>
          <p:sp>
            <p:nvSpPr>
              <p:cNvPr id="638" name="Google Shape;638;p22"/>
              <p:cNvSpPr txBox="1"/>
              <p:nvPr/>
            </p:nvSpPr>
            <p:spPr>
              <a:xfrm>
                <a:off x="1019176" y="4137025"/>
                <a:ext cx="9620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Verdana"/>
                  <a:buNone/>
                </a:pPr>
                <a:r>
                  <a:rPr b="1" i="0" lang="en-US" sz="1200" u="none" cap="none" strike="noStrike">
                    <a:solidFill>
                      <a:srgbClr val="FFFFFF"/>
                    </a:solidFill>
                    <a:latin typeface="Verdana"/>
                    <a:ea typeface="Verdana"/>
                    <a:cs typeface="Verdana"/>
                    <a:sym typeface="Verdana"/>
                  </a:rPr>
                  <a:t>HiPo incidents</a:t>
                </a:r>
                <a:endParaRPr b="1" i="0" sz="1200" u="none" cap="none" strike="noStrike">
                  <a:solidFill>
                    <a:srgbClr val="FFFFFF"/>
                  </a:solidFill>
                  <a:latin typeface="Verdana"/>
                  <a:ea typeface="Verdana"/>
                  <a:cs typeface="Verdana"/>
                  <a:sym typeface="Verdana"/>
                </a:endParaRPr>
              </a:p>
            </p:txBody>
          </p:sp>
        </p:grpSp>
        <p:cxnSp>
          <p:nvCxnSpPr>
            <p:cNvPr id="639" name="Google Shape;639;p22"/>
            <p:cNvCxnSpPr/>
            <p:nvPr/>
          </p:nvCxnSpPr>
          <p:spPr>
            <a:xfrm rot="10800000">
              <a:off x="2062548" y="2240890"/>
              <a:ext cx="727075" cy="0"/>
            </a:xfrm>
            <a:prstGeom prst="straightConnector1">
              <a:avLst/>
            </a:prstGeom>
            <a:noFill/>
            <a:ln cap="flat" cmpd="sng" w="57150">
              <a:solidFill>
                <a:schemeClr val="dk1"/>
              </a:solidFill>
              <a:prstDash val="solid"/>
              <a:round/>
              <a:headEnd len="med" w="med" type="none"/>
              <a:tailEnd len="med" w="med" type="triangle"/>
            </a:ln>
          </p:spPr>
        </p:cxnSp>
        <p:pic>
          <p:nvPicPr>
            <p:cNvPr id="640" name="Google Shape;640;p22"/>
            <p:cNvPicPr preferRelativeResize="0"/>
            <p:nvPr/>
          </p:nvPicPr>
          <p:blipFill rotWithShape="1">
            <a:blip r:embed="rId3">
              <a:alphaModFix/>
            </a:blip>
            <a:srcRect b="0" l="0" r="0" t="0"/>
            <a:stretch/>
          </p:blipFill>
          <p:spPr>
            <a:xfrm>
              <a:off x="4605298" y="1605076"/>
              <a:ext cx="4459567" cy="4320000"/>
            </a:xfrm>
            <a:prstGeom prst="rect">
              <a:avLst/>
            </a:prstGeom>
            <a:noFill/>
            <a:ln>
              <a:noFill/>
            </a:ln>
          </p:spPr>
        </p:pic>
      </p:gr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2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The “HiPo” Incident Model and the “Diamond Within the Triangle”:</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 subset of the incident triangle data – those critical practices and conditions that are substandard, and near miss events – has the potential for a more severe outcomes i.e. “High Potential Events” for both occupational safety and technical safety.</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This demands the attention of the organization to: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Efficiently prioritize issues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and allocate limited resources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to address deficiencies in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conditions and practices with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higher-than-acceptable risk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levels.</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Influence the culture of an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organization by directing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focused activities on key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metrics i.e. the “HiPo” events.</a:t>
            </a:r>
            <a:endParaRPr b="0" i="0" sz="2000" u="none" cap="none" strike="noStrike">
              <a:solidFill>
                <a:srgbClr val="000000"/>
              </a:solidFill>
              <a:latin typeface="Arial"/>
              <a:ea typeface="Arial"/>
              <a:cs typeface="Arial"/>
              <a:sym typeface="Arial"/>
            </a:endParaRPr>
          </a:p>
        </p:txBody>
      </p:sp>
      <p:sp>
        <p:nvSpPr>
          <p:cNvPr id="647" name="Google Shape;647;p23"/>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HiPo Model - “A Diamond Within The Triangle”:</a:t>
            </a:r>
            <a:endParaRPr b="0" i="0" sz="2400" u="none" cap="none" strike="noStrike">
              <a:solidFill>
                <a:schemeClr val="accent2"/>
              </a:solidFill>
              <a:latin typeface="Arial"/>
              <a:ea typeface="Arial"/>
              <a:cs typeface="Arial"/>
              <a:sym typeface="Arial"/>
            </a:endParaRPr>
          </a:p>
        </p:txBody>
      </p:sp>
      <p:sp>
        <p:nvSpPr>
          <p:cNvPr id="648" name="Google Shape;648;p2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49" name="Google Shape;649;p2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pic>
        <p:nvPicPr>
          <p:cNvPr id="650" name="Google Shape;650;p23"/>
          <p:cNvPicPr preferRelativeResize="0"/>
          <p:nvPr/>
        </p:nvPicPr>
        <p:blipFill rotWithShape="1">
          <a:blip r:embed="rId3">
            <a:alphaModFix/>
          </a:blip>
          <a:srcRect b="0" l="0" r="0" t="0"/>
          <a:stretch/>
        </p:blipFill>
        <p:spPr>
          <a:xfrm>
            <a:off x="4420473" y="2966104"/>
            <a:ext cx="4494927" cy="3053696"/>
          </a:xfrm>
          <a:prstGeom prst="rect">
            <a:avLst/>
          </a:prstGeom>
          <a:noFill/>
          <a:ln>
            <a:noFill/>
          </a:ln>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2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Analyse the data to “find the diamond”:</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By examining each layer in the incident triangle for potential serious incidents / fatalities, we develop the “diamond” within the triangle.</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Common characteristics of “diamond” incidents:</a:t>
            </a:r>
            <a:endParaRPr b="0" i="0" sz="2000" u="none" cap="none" strike="noStrike">
              <a:solidFill>
                <a:srgbClr val="000000"/>
              </a:solidFill>
              <a:latin typeface="Arial"/>
              <a:ea typeface="Arial"/>
              <a:cs typeface="Arial"/>
              <a:sym typeface="Arial"/>
            </a:endParaRPr>
          </a:p>
          <a:p>
            <a:pPr indent="-432000" lvl="2" marL="83205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Unusual and non-routine work</a:t>
            </a:r>
            <a:endParaRPr/>
          </a:p>
          <a:p>
            <a:pPr indent="-432000" lvl="2" marL="83205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Sources of high energy are present</a:t>
            </a:r>
            <a:endParaRPr/>
          </a:p>
          <a:p>
            <a:pPr indent="-432000" lvl="2" marL="83205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Construction</a:t>
            </a:r>
            <a:endParaRPr/>
          </a:p>
          <a:p>
            <a:pPr indent="-432000" lvl="2" marL="83205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(Sub) Contractors</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Then we can prioritize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our efforts to address the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potential incidents with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the highest potential for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severe consequences!</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657" name="Google Shape;657;p24"/>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“HiPo Model” - “A Diamond Within The Triangle”:</a:t>
            </a:r>
            <a:endParaRPr b="0" i="0" sz="2400" u="none" cap="none" strike="noStrike">
              <a:solidFill>
                <a:schemeClr val="accent2"/>
              </a:solidFill>
              <a:latin typeface="Arial"/>
              <a:ea typeface="Arial"/>
              <a:cs typeface="Arial"/>
              <a:sym typeface="Arial"/>
            </a:endParaRPr>
          </a:p>
        </p:txBody>
      </p:sp>
      <p:sp>
        <p:nvSpPr>
          <p:cNvPr id="658" name="Google Shape;658;p2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59" name="Google Shape;659;p2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pic>
        <p:nvPicPr>
          <p:cNvPr id="660" name="Google Shape;660;p24"/>
          <p:cNvPicPr preferRelativeResize="0"/>
          <p:nvPr/>
        </p:nvPicPr>
        <p:blipFill rotWithShape="1">
          <a:blip r:embed="rId3">
            <a:alphaModFix/>
          </a:blip>
          <a:srcRect b="0" l="0" r="0" t="0"/>
          <a:stretch/>
        </p:blipFill>
        <p:spPr>
          <a:xfrm>
            <a:off x="4420473" y="2966104"/>
            <a:ext cx="4494927" cy="3053696"/>
          </a:xfrm>
          <a:prstGeom prst="rect">
            <a:avLst/>
          </a:prstGeom>
          <a:noFill/>
          <a:ln>
            <a:noFill/>
          </a:ln>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25"/>
          <p:cNvSpPr/>
          <p:nvPr/>
        </p:nvSpPr>
        <p:spPr>
          <a:xfrm>
            <a:off x="180000" y="180000"/>
            <a:ext cx="8640000" cy="504000"/>
          </a:xfrm>
          <a:prstGeom prst="rect">
            <a:avLst/>
          </a:prstGeom>
          <a:solidFill>
            <a:srgbClr val="0000CC"/>
          </a:solidFill>
          <a:ln cap="flat" cmpd="sng" w="9525">
            <a:solidFill>
              <a:srgbClr val="0000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8F8F8"/>
                </a:solidFill>
                <a:latin typeface="Arial"/>
                <a:ea typeface="Arial"/>
                <a:cs typeface="Arial"/>
                <a:sym typeface="Arial"/>
              </a:rPr>
              <a:t>ALE #2: Sub-standard Conditions &amp; Practices for HiPo Events:</a:t>
            </a:r>
            <a:endParaRPr b="0" i="0" sz="2400" u="none" cap="none" strike="noStrike">
              <a:solidFill>
                <a:srgbClr val="F8F8F8"/>
              </a:solidFill>
              <a:latin typeface="Arial"/>
              <a:ea typeface="Arial"/>
              <a:cs typeface="Arial"/>
              <a:sym typeface="Arial"/>
            </a:endParaRPr>
          </a:p>
        </p:txBody>
      </p:sp>
      <p:sp>
        <p:nvSpPr>
          <p:cNvPr id="670" name="Google Shape;670;p25"/>
          <p:cNvSpPr/>
          <p:nvPr/>
        </p:nvSpPr>
        <p:spPr>
          <a:xfrm>
            <a:off x="180000" y="828000"/>
            <a:ext cx="8640000" cy="5328000"/>
          </a:xfrm>
          <a:prstGeom prst="rect">
            <a:avLst/>
          </a:prstGeom>
          <a:solidFill>
            <a:srgbClr val="0000CC"/>
          </a:solidFill>
          <a:ln cap="flat" cmpd="sng" w="9525">
            <a:solidFill>
              <a:srgbClr val="0000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2000" u="none" cap="none" strike="noStrike">
                <a:solidFill>
                  <a:srgbClr val="F8F8F8"/>
                </a:solidFill>
                <a:latin typeface="Arial"/>
                <a:ea typeface="Arial"/>
                <a:cs typeface="Arial"/>
                <a:sym typeface="Arial"/>
              </a:rPr>
              <a:t>Please confer and respond (MM-Poll):</a:t>
            </a:r>
            <a:endParaRPr/>
          </a:p>
          <a:p>
            <a:pPr indent="0" lvl="0" marL="0" marR="0" rtl="0" algn="l">
              <a:spcBef>
                <a:spcPts val="0"/>
              </a:spcBef>
              <a:spcAft>
                <a:spcPts val="0"/>
              </a:spcAft>
              <a:buNone/>
            </a:pPr>
            <a:r>
              <a:rPr b="0" i="1" lang="en-US" sz="2000" u="none" cap="none" strike="noStrike">
                <a:solidFill>
                  <a:srgbClr val="F8F8F8"/>
                </a:solidFill>
                <a:latin typeface="Arial"/>
                <a:ea typeface="Arial"/>
                <a:cs typeface="Arial"/>
                <a:sym typeface="Arial"/>
              </a:rPr>
              <a:t>Consider that there is difference between some kinds of SC’s &amp; SP’s and other kinds of SC’s and SP’s. Consider these comparative situations where you see someone: </a:t>
            </a:r>
            <a:endParaRPr/>
          </a:p>
          <a:p>
            <a:pPr indent="0" lvl="0" marL="0" marR="0" rtl="0" algn="l">
              <a:spcBef>
                <a:spcPts val="0"/>
              </a:spcBef>
              <a:spcAft>
                <a:spcPts val="0"/>
              </a:spcAft>
              <a:buNone/>
            </a:pPr>
            <a:r>
              <a:t/>
            </a:r>
            <a:endParaRPr b="0" i="1" sz="2000" u="none" cap="none" strike="noStrike">
              <a:solidFill>
                <a:srgbClr val="F8F8F8"/>
              </a:solidFill>
              <a:latin typeface="Arial"/>
              <a:ea typeface="Arial"/>
              <a:cs typeface="Arial"/>
              <a:sym typeface="Arial"/>
            </a:endParaRPr>
          </a:p>
          <a:p>
            <a:pPr indent="-457200" lvl="0" marL="457200" marR="0" rtl="0" algn="l">
              <a:spcBef>
                <a:spcPts val="0"/>
              </a:spcBef>
              <a:spcAft>
                <a:spcPts val="0"/>
              </a:spcAft>
              <a:buClr>
                <a:srgbClr val="F8F8F8"/>
              </a:buClr>
              <a:buSzPts val="2000"/>
              <a:buFont typeface="Arial"/>
              <a:buAutoNum type="alphaLcParenR"/>
            </a:pPr>
            <a:r>
              <a:rPr b="0" i="1" lang="en-US" sz="2000" u="none" cap="none" strike="noStrike">
                <a:solidFill>
                  <a:srgbClr val="F8F8F8"/>
                </a:solidFill>
                <a:latin typeface="Arial"/>
                <a:ea typeface="Arial"/>
                <a:cs typeface="Arial"/>
                <a:sym typeface="Arial"/>
              </a:rPr>
              <a:t>Walking by an oil spill vs. working in an excavation with no shoring. </a:t>
            </a:r>
            <a:endParaRPr b="0" i="1" sz="2000" u="none" cap="none" strike="noStrike">
              <a:solidFill>
                <a:srgbClr val="F8F8F8"/>
              </a:solidFill>
              <a:latin typeface="Arial"/>
              <a:ea typeface="Arial"/>
              <a:cs typeface="Arial"/>
              <a:sym typeface="Arial"/>
            </a:endParaRPr>
          </a:p>
          <a:p>
            <a:pPr indent="-457200" lvl="0" marL="457200" marR="0" rtl="0" algn="l">
              <a:spcBef>
                <a:spcPts val="0"/>
              </a:spcBef>
              <a:spcAft>
                <a:spcPts val="0"/>
              </a:spcAft>
              <a:buClr>
                <a:srgbClr val="F8F8F8"/>
              </a:buClr>
              <a:buSzPts val="2000"/>
              <a:buFont typeface="Arial"/>
              <a:buAutoNum type="alphaLcParenR"/>
            </a:pPr>
            <a:r>
              <a:rPr b="0" i="1" lang="en-US" sz="2000" u="none" cap="none" strike="noStrike">
                <a:solidFill>
                  <a:srgbClr val="F8F8F8"/>
                </a:solidFill>
                <a:latin typeface="Arial"/>
                <a:ea typeface="Arial"/>
                <a:cs typeface="Arial"/>
                <a:sym typeface="Arial"/>
              </a:rPr>
              <a:t>Not wearing eye protection in the chemical plant vs. </a:t>
            </a:r>
            <a:br>
              <a:rPr b="0" i="1" lang="en-US" sz="2000" u="none" cap="none" strike="noStrike">
                <a:solidFill>
                  <a:srgbClr val="F8F8F8"/>
                </a:solidFill>
                <a:latin typeface="Arial"/>
                <a:ea typeface="Arial"/>
                <a:cs typeface="Arial"/>
                <a:sym typeface="Arial"/>
              </a:rPr>
            </a:br>
            <a:r>
              <a:rPr b="0" i="1" lang="en-US" sz="2000" u="none" cap="none" strike="noStrike">
                <a:solidFill>
                  <a:srgbClr val="F8F8F8"/>
                </a:solidFill>
                <a:latin typeface="Arial"/>
                <a:ea typeface="Arial"/>
                <a:cs typeface="Arial"/>
                <a:sym typeface="Arial"/>
              </a:rPr>
              <a:t>not wearing fall protection when working at elevation.</a:t>
            </a:r>
            <a:endParaRPr/>
          </a:p>
          <a:p>
            <a:pPr indent="-457200" lvl="0" marL="457200" marR="0" rtl="0" algn="l">
              <a:spcBef>
                <a:spcPts val="0"/>
              </a:spcBef>
              <a:spcAft>
                <a:spcPts val="0"/>
              </a:spcAft>
              <a:buClr>
                <a:srgbClr val="F8F8F8"/>
              </a:buClr>
              <a:buSzPts val="2000"/>
              <a:buFont typeface="Arial"/>
              <a:buAutoNum type="alphaLcParenR"/>
            </a:pPr>
            <a:r>
              <a:rPr b="0" i="1" lang="en-US" sz="2000" u="none" cap="none" strike="noStrike">
                <a:solidFill>
                  <a:srgbClr val="F8F8F8"/>
                </a:solidFill>
                <a:latin typeface="Arial"/>
                <a:ea typeface="Arial"/>
                <a:cs typeface="Arial"/>
                <a:sym typeface="Arial"/>
              </a:rPr>
              <a:t>Pressure gauge for indication purposes is found out-of-calibration by 10% vs over-pressure safety relief valve is found defective </a:t>
            </a:r>
            <a:endParaRPr/>
          </a:p>
          <a:p>
            <a:pPr indent="-305000" lvl="1" marL="889200" marR="0" rtl="0" algn="l">
              <a:spcBef>
                <a:spcPts val="0"/>
              </a:spcBef>
              <a:spcAft>
                <a:spcPts val="0"/>
              </a:spcAft>
              <a:buClr>
                <a:schemeClr val="dk1"/>
              </a:buClr>
              <a:buSzPts val="2000"/>
              <a:buFont typeface="Noto Sans Symbols"/>
              <a:buNone/>
            </a:pPr>
            <a:r>
              <a:t/>
            </a:r>
            <a:endParaRPr b="0" i="1" sz="2000" u="none" cap="none" strike="noStrike">
              <a:solidFill>
                <a:srgbClr val="F8F8F8"/>
              </a:solidFill>
              <a:latin typeface="Arial"/>
              <a:ea typeface="Arial"/>
              <a:cs typeface="Arial"/>
              <a:sym typeface="Arial"/>
            </a:endParaRPr>
          </a:p>
          <a:p>
            <a:pPr indent="0" lvl="1" marL="0" marR="0" rtl="0" algn="l">
              <a:spcBef>
                <a:spcPts val="0"/>
              </a:spcBef>
              <a:spcAft>
                <a:spcPts val="0"/>
              </a:spcAft>
              <a:buNone/>
            </a:pPr>
            <a:r>
              <a:rPr b="0" i="1" lang="en-US" sz="2000" u="none" cap="none" strike="noStrike">
                <a:solidFill>
                  <a:srgbClr val="F8F8F8"/>
                </a:solidFill>
                <a:latin typeface="Arial"/>
                <a:ea typeface="Arial"/>
                <a:cs typeface="Arial"/>
                <a:sym typeface="Arial"/>
              </a:rPr>
              <a:t>For each of these comparative situations, which one you would address first? Why? </a:t>
            </a:r>
            <a:endParaRPr/>
          </a:p>
          <a:p>
            <a:pPr indent="-457200" lvl="1" marL="457200" marR="0" rtl="0" algn="l">
              <a:spcBef>
                <a:spcPts val="0"/>
              </a:spcBef>
              <a:spcAft>
                <a:spcPts val="0"/>
              </a:spcAft>
              <a:buClr>
                <a:srgbClr val="F8F8F8"/>
              </a:buClr>
              <a:buSzPts val="2000"/>
              <a:buFont typeface="Arial"/>
              <a:buAutoNum type="alphaLcParenR"/>
            </a:pPr>
            <a:r>
              <a:rPr b="0" i="1" lang="en-US" sz="2000" u="none" cap="none" strike="noStrike">
                <a:solidFill>
                  <a:srgbClr val="F8F8F8"/>
                </a:solidFill>
                <a:latin typeface="Arial"/>
                <a:ea typeface="Arial"/>
                <a:cs typeface="Arial"/>
                <a:sym typeface="Arial"/>
              </a:rPr>
              <a:t>“oil spill vs. excavation shoring”</a:t>
            </a:r>
            <a:endParaRPr/>
          </a:p>
          <a:p>
            <a:pPr indent="-457200" lvl="1" marL="457200" marR="0" rtl="0" algn="l">
              <a:spcBef>
                <a:spcPts val="0"/>
              </a:spcBef>
              <a:spcAft>
                <a:spcPts val="0"/>
              </a:spcAft>
              <a:buClr>
                <a:srgbClr val="F8F8F8"/>
              </a:buClr>
              <a:buSzPts val="2000"/>
              <a:buFont typeface="Arial"/>
              <a:buAutoNum type="alphaLcParenR"/>
            </a:pPr>
            <a:r>
              <a:rPr b="0" i="1" lang="en-US" sz="2000" u="none" cap="none" strike="noStrike">
                <a:solidFill>
                  <a:srgbClr val="F8F8F8"/>
                </a:solidFill>
                <a:latin typeface="Arial"/>
                <a:ea typeface="Arial"/>
                <a:cs typeface="Arial"/>
                <a:sym typeface="Arial"/>
              </a:rPr>
              <a:t>“no eye protection vs. no fall protection”</a:t>
            </a:r>
            <a:endParaRPr/>
          </a:p>
          <a:p>
            <a:pPr indent="-457200" lvl="1" marL="457200" marR="0" rtl="0" algn="l">
              <a:spcBef>
                <a:spcPts val="0"/>
              </a:spcBef>
              <a:spcAft>
                <a:spcPts val="0"/>
              </a:spcAft>
              <a:buClr>
                <a:srgbClr val="F8F8F8"/>
              </a:buClr>
              <a:buSzPts val="2000"/>
              <a:buFont typeface="Arial"/>
              <a:buAutoNum type="alphaLcParenR"/>
            </a:pPr>
            <a:r>
              <a:rPr b="0" i="1" lang="en-US" sz="2000" u="none" cap="none" strike="noStrike">
                <a:solidFill>
                  <a:srgbClr val="F8F8F8"/>
                </a:solidFill>
                <a:latin typeface="Arial"/>
                <a:ea typeface="Arial"/>
                <a:cs typeface="Arial"/>
                <a:sym typeface="Arial"/>
              </a:rPr>
              <a:t>“out-of-cal pressure gauge or defective over-pressure relief valve”</a:t>
            </a:r>
            <a:endParaRPr/>
          </a:p>
        </p:txBody>
      </p:sp>
      <p:sp>
        <p:nvSpPr>
          <p:cNvPr id="671" name="Google Shape;671;p2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72" name="Google Shape;672;p2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26"/>
          <p:cNvSpPr/>
          <p:nvPr/>
        </p:nvSpPr>
        <p:spPr>
          <a:xfrm>
            <a:off x="180000" y="180000"/>
            <a:ext cx="8640000" cy="504000"/>
          </a:xfrm>
          <a:prstGeom prst="rect">
            <a:avLst/>
          </a:prstGeom>
          <a:solidFill>
            <a:schemeClr val="dk2"/>
          </a:solidFill>
          <a:ln cap="flat" cmpd="sng" w="9525">
            <a:solidFill>
              <a:srgbClr val="0000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8F8F8"/>
                </a:solidFill>
                <a:latin typeface="Arial"/>
                <a:ea typeface="Arial"/>
                <a:cs typeface="Arial"/>
                <a:sym typeface="Arial"/>
              </a:rPr>
              <a:t>Ex: Sub-standard Conditions &amp; Practices for HiPo Events:</a:t>
            </a:r>
            <a:endParaRPr b="0" i="0" sz="2400" u="none" cap="none" strike="noStrike">
              <a:solidFill>
                <a:srgbClr val="F8F8F8"/>
              </a:solidFill>
              <a:latin typeface="Arial"/>
              <a:ea typeface="Arial"/>
              <a:cs typeface="Arial"/>
              <a:sym typeface="Arial"/>
            </a:endParaRPr>
          </a:p>
        </p:txBody>
      </p:sp>
      <p:sp>
        <p:nvSpPr>
          <p:cNvPr id="682" name="Google Shape;682;p26"/>
          <p:cNvSpPr/>
          <p:nvPr/>
        </p:nvSpPr>
        <p:spPr>
          <a:xfrm>
            <a:off x="180000" y="828000"/>
            <a:ext cx="8640000" cy="5328000"/>
          </a:xfrm>
          <a:prstGeom prst="rect">
            <a:avLst/>
          </a:prstGeom>
          <a:solidFill>
            <a:schemeClr val="dk2"/>
          </a:solidFill>
          <a:ln cap="flat" cmpd="sng" w="9525">
            <a:solidFill>
              <a:srgbClr val="0000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000" u="none" cap="none" strike="noStrike">
                <a:solidFill>
                  <a:srgbClr val="F8F8F8"/>
                </a:solidFill>
                <a:latin typeface="Arial"/>
                <a:ea typeface="Arial"/>
                <a:cs typeface="Arial"/>
                <a:sym typeface="Arial"/>
              </a:rPr>
              <a:t>Which of these comparative situations would you address first based on consequence, especially when likelihood is similar?</a:t>
            </a:r>
            <a:endParaRPr/>
          </a:p>
          <a:p>
            <a:pPr indent="0" lvl="0" marL="0" marR="0" rtl="0" algn="l">
              <a:spcBef>
                <a:spcPts val="0"/>
              </a:spcBef>
              <a:spcAft>
                <a:spcPts val="0"/>
              </a:spcAft>
              <a:buNone/>
            </a:pPr>
            <a:r>
              <a:t/>
            </a:r>
            <a:endParaRPr b="0" i="0" sz="2000" u="none" cap="none" strike="noStrike">
              <a:solidFill>
                <a:srgbClr val="F8F8F8"/>
              </a:solidFill>
              <a:latin typeface="Arial"/>
              <a:ea typeface="Arial"/>
              <a:cs typeface="Arial"/>
              <a:sym typeface="Arial"/>
            </a:endParaRPr>
          </a:p>
          <a:p>
            <a:pPr indent="0" lvl="0" marL="0" marR="0" rtl="0" algn="l">
              <a:spcBef>
                <a:spcPts val="0"/>
              </a:spcBef>
              <a:spcAft>
                <a:spcPts val="0"/>
              </a:spcAft>
              <a:buNone/>
            </a:pPr>
            <a:r>
              <a:rPr b="1" i="0" lang="en-US" sz="2000" u="none" cap="none" strike="noStrike">
                <a:solidFill>
                  <a:srgbClr val="F8F8F8"/>
                </a:solidFill>
                <a:latin typeface="Arial"/>
                <a:ea typeface="Arial"/>
                <a:cs typeface="Arial"/>
                <a:sym typeface="Arial"/>
              </a:rPr>
              <a:t>a)  1</a:t>
            </a:r>
            <a:r>
              <a:rPr b="1" baseline="30000" i="0" lang="en-US" sz="2000" u="none" cap="none" strike="noStrike">
                <a:solidFill>
                  <a:srgbClr val="F8F8F8"/>
                </a:solidFill>
                <a:latin typeface="Arial"/>
                <a:ea typeface="Arial"/>
                <a:cs typeface="Arial"/>
                <a:sym typeface="Arial"/>
              </a:rPr>
              <a:t>st</a:t>
            </a:r>
            <a:r>
              <a:rPr b="1" i="0" lang="en-US" sz="2000" u="none" cap="none" strike="noStrike">
                <a:solidFill>
                  <a:srgbClr val="F8F8F8"/>
                </a:solidFill>
                <a:latin typeface="Arial"/>
                <a:ea typeface="Arial"/>
                <a:cs typeface="Arial"/>
                <a:sym typeface="Arial"/>
              </a:rPr>
              <a:t>: Working in an excavation with no shoring:</a:t>
            </a:r>
            <a:endParaRPr/>
          </a:p>
          <a:p>
            <a:pPr indent="-359999" lvl="0" marL="720000" marR="0" rtl="0" algn="l">
              <a:spcBef>
                <a:spcPts val="0"/>
              </a:spcBef>
              <a:spcAft>
                <a:spcPts val="0"/>
              </a:spcAft>
              <a:buClr>
                <a:srgbClr val="F8F8F8"/>
              </a:buClr>
              <a:buSzPts val="2000"/>
              <a:buFont typeface="Noto Sans Symbols"/>
              <a:buChar char="⮚"/>
            </a:pPr>
            <a:r>
              <a:rPr b="1" i="0" lang="en-US" sz="2000" u="none" cap="none" strike="noStrike">
                <a:solidFill>
                  <a:srgbClr val="F8F8F8"/>
                </a:solidFill>
                <a:latin typeface="Arial"/>
                <a:ea typeface="Arial"/>
                <a:cs typeface="Arial"/>
                <a:sym typeface="Arial"/>
              </a:rPr>
              <a:t>engulfment and fatality!</a:t>
            </a:r>
            <a:endParaRPr/>
          </a:p>
          <a:p>
            <a:pPr indent="0" lvl="0" marL="360000" marR="0" rtl="0" algn="l">
              <a:spcBef>
                <a:spcPts val="0"/>
              </a:spcBef>
              <a:spcAft>
                <a:spcPts val="0"/>
              </a:spcAft>
              <a:buNone/>
            </a:pPr>
            <a:r>
              <a:rPr b="0" i="0" lang="en-US" sz="2000" u="none" cap="none" strike="noStrike">
                <a:solidFill>
                  <a:srgbClr val="F8F8F8"/>
                </a:solidFill>
                <a:latin typeface="Arial"/>
                <a:ea typeface="Arial"/>
                <a:cs typeface="Arial"/>
                <a:sym typeface="Arial"/>
              </a:rPr>
              <a:t>2</a:t>
            </a:r>
            <a:r>
              <a:rPr b="0" baseline="30000" i="0" lang="en-US" sz="2000" u="none" cap="none" strike="noStrike">
                <a:solidFill>
                  <a:srgbClr val="F8F8F8"/>
                </a:solidFill>
                <a:latin typeface="Arial"/>
                <a:ea typeface="Arial"/>
                <a:cs typeface="Arial"/>
                <a:sym typeface="Arial"/>
              </a:rPr>
              <a:t>nd</a:t>
            </a:r>
            <a:r>
              <a:rPr b="0" i="0" lang="en-US" sz="2000" u="none" cap="none" strike="noStrike">
                <a:solidFill>
                  <a:srgbClr val="F8F8F8"/>
                </a:solidFill>
                <a:latin typeface="Arial"/>
                <a:ea typeface="Arial"/>
                <a:cs typeface="Arial"/>
                <a:sym typeface="Arial"/>
              </a:rPr>
              <a:t>: Walking by an oil spill on floor: </a:t>
            </a:r>
            <a:endParaRPr/>
          </a:p>
          <a:p>
            <a:pPr indent="-359999" lvl="0" marL="720000" marR="0" rtl="0" algn="l">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worse case injury is a joint injury or fracture</a:t>
            </a:r>
            <a:br>
              <a:rPr b="0" i="0" lang="en-US" sz="2000" u="none" cap="none" strike="noStrike">
                <a:solidFill>
                  <a:srgbClr val="F8F8F8"/>
                </a:solidFill>
                <a:latin typeface="Arial"/>
                <a:ea typeface="Arial"/>
                <a:cs typeface="Arial"/>
                <a:sym typeface="Arial"/>
              </a:rPr>
            </a:br>
            <a:endParaRPr b="0" i="0" sz="2000" u="none" cap="none" strike="noStrike">
              <a:solidFill>
                <a:srgbClr val="F8F8F8"/>
              </a:solidFill>
              <a:latin typeface="Arial"/>
              <a:ea typeface="Arial"/>
              <a:cs typeface="Arial"/>
              <a:sym typeface="Arial"/>
            </a:endParaRPr>
          </a:p>
          <a:p>
            <a:pPr indent="0" lvl="0" marL="0" marR="0" rtl="0" algn="l">
              <a:spcBef>
                <a:spcPts val="0"/>
              </a:spcBef>
              <a:spcAft>
                <a:spcPts val="0"/>
              </a:spcAft>
              <a:buNone/>
            </a:pPr>
            <a:r>
              <a:rPr b="1" i="0" lang="en-US" sz="2000" u="none" cap="none" strike="noStrike">
                <a:solidFill>
                  <a:srgbClr val="F8F8F8"/>
                </a:solidFill>
                <a:latin typeface="Arial"/>
                <a:ea typeface="Arial"/>
                <a:cs typeface="Arial"/>
                <a:sym typeface="Arial"/>
              </a:rPr>
              <a:t>b)  1</a:t>
            </a:r>
            <a:r>
              <a:rPr b="1" baseline="30000" i="0" lang="en-US" sz="2000" u="none" cap="none" strike="noStrike">
                <a:solidFill>
                  <a:srgbClr val="F8F8F8"/>
                </a:solidFill>
                <a:latin typeface="Arial"/>
                <a:ea typeface="Arial"/>
                <a:cs typeface="Arial"/>
                <a:sym typeface="Arial"/>
              </a:rPr>
              <a:t>st</a:t>
            </a:r>
            <a:r>
              <a:rPr b="1" i="0" lang="en-US" sz="2000" u="none" cap="none" strike="noStrike">
                <a:solidFill>
                  <a:srgbClr val="F8F8F8"/>
                </a:solidFill>
                <a:latin typeface="Arial"/>
                <a:ea typeface="Arial"/>
                <a:cs typeface="Arial"/>
                <a:sym typeface="Arial"/>
              </a:rPr>
              <a:t>: Not wearing fall protection:</a:t>
            </a:r>
            <a:endParaRPr/>
          </a:p>
          <a:p>
            <a:pPr indent="-359999" lvl="0" marL="720000" marR="0" rtl="0" algn="l">
              <a:spcBef>
                <a:spcPts val="0"/>
              </a:spcBef>
              <a:spcAft>
                <a:spcPts val="0"/>
              </a:spcAft>
              <a:buClr>
                <a:srgbClr val="F8F8F8"/>
              </a:buClr>
              <a:buSzPts val="2000"/>
              <a:buFont typeface="Noto Sans Symbols"/>
              <a:buChar char="⮚"/>
            </a:pPr>
            <a:r>
              <a:rPr b="1" i="0" lang="en-US" sz="2000" u="none" cap="none" strike="noStrike">
                <a:solidFill>
                  <a:srgbClr val="F8F8F8"/>
                </a:solidFill>
                <a:latin typeface="Arial"/>
                <a:ea typeface="Arial"/>
                <a:cs typeface="Arial"/>
                <a:sym typeface="Arial"/>
              </a:rPr>
              <a:t>permanently disabling injury or fatality </a:t>
            </a:r>
            <a:endParaRPr/>
          </a:p>
          <a:p>
            <a:pPr indent="0" lvl="0" marL="360000" marR="0" rtl="0" algn="l">
              <a:spcBef>
                <a:spcPts val="0"/>
              </a:spcBef>
              <a:spcAft>
                <a:spcPts val="0"/>
              </a:spcAft>
              <a:buNone/>
            </a:pPr>
            <a:r>
              <a:rPr b="0" i="0" lang="en-US" sz="2000" u="none" cap="none" strike="noStrike">
                <a:solidFill>
                  <a:srgbClr val="F8F8F8"/>
                </a:solidFill>
                <a:latin typeface="Arial"/>
                <a:ea typeface="Arial"/>
                <a:cs typeface="Arial"/>
                <a:sym typeface="Arial"/>
              </a:rPr>
              <a:t>2nd: Not wearing eye protection: </a:t>
            </a:r>
            <a:endParaRPr/>
          </a:p>
          <a:p>
            <a:pPr indent="-359999" lvl="0" marL="720000" marR="0" rtl="0" algn="l">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infection, minor injury, remote likelihood of loss of sight</a:t>
            </a:r>
            <a:br>
              <a:rPr b="0" i="0" lang="en-US" sz="2000" u="none" cap="none" strike="noStrike">
                <a:solidFill>
                  <a:srgbClr val="F8F8F8"/>
                </a:solidFill>
                <a:latin typeface="Arial"/>
                <a:ea typeface="Arial"/>
                <a:cs typeface="Arial"/>
                <a:sym typeface="Arial"/>
              </a:rPr>
            </a:br>
            <a:endParaRPr b="0" i="0" sz="2000" u="none" cap="none" strike="noStrike">
              <a:solidFill>
                <a:srgbClr val="F8F8F8"/>
              </a:solidFill>
              <a:latin typeface="Arial"/>
              <a:ea typeface="Arial"/>
              <a:cs typeface="Arial"/>
              <a:sym typeface="Arial"/>
            </a:endParaRPr>
          </a:p>
          <a:p>
            <a:pPr indent="0" lvl="0" marL="0" marR="0" rtl="0" algn="l">
              <a:spcBef>
                <a:spcPts val="0"/>
              </a:spcBef>
              <a:spcAft>
                <a:spcPts val="0"/>
              </a:spcAft>
              <a:buNone/>
            </a:pPr>
            <a:r>
              <a:rPr b="1" i="0" lang="en-US" sz="2000" u="none" cap="none" strike="noStrike">
                <a:solidFill>
                  <a:srgbClr val="F8F8F8"/>
                </a:solidFill>
                <a:latin typeface="Arial"/>
                <a:ea typeface="Arial"/>
                <a:cs typeface="Arial"/>
                <a:sym typeface="Arial"/>
              </a:rPr>
              <a:t>c) 1st: Defective PRV:</a:t>
            </a:r>
            <a:endParaRPr/>
          </a:p>
          <a:p>
            <a:pPr indent="-359999" lvl="0" marL="720000" marR="0" rtl="0" algn="l">
              <a:spcBef>
                <a:spcPts val="0"/>
              </a:spcBef>
              <a:spcAft>
                <a:spcPts val="0"/>
              </a:spcAft>
              <a:buClr>
                <a:srgbClr val="F8F8F8"/>
              </a:buClr>
              <a:buSzPts val="2000"/>
              <a:buFont typeface="Noto Sans Symbols"/>
              <a:buChar char="⮚"/>
            </a:pPr>
            <a:r>
              <a:rPr b="1" i="0" lang="en-US" sz="2000" u="none" cap="none" strike="noStrike">
                <a:solidFill>
                  <a:srgbClr val="F8F8F8"/>
                </a:solidFill>
                <a:latin typeface="Arial"/>
                <a:ea typeface="Arial"/>
                <a:cs typeface="Arial"/>
                <a:sym typeface="Arial"/>
              </a:rPr>
              <a:t>over-pressure condition in vessel and rupture </a:t>
            </a:r>
            <a:endParaRPr/>
          </a:p>
          <a:p>
            <a:pPr indent="0" lvl="0" marL="360000" marR="0" rtl="0" algn="l">
              <a:spcBef>
                <a:spcPts val="0"/>
              </a:spcBef>
              <a:spcAft>
                <a:spcPts val="0"/>
              </a:spcAft>
              <a:buNone/>
            </a:pPr>
            <a:r>
              <a:rPr b="0" i="0" lang="en-US" sz="2000" u="none" cap="none" strike="noStrike">
                <a:solidFill>
                  <a:srgbClr val="F8F8F8"/>
                </a:solidFill>
                <a:latin typeface="Arial"/>
                <a:ea typeface="Arial"/>
                <a:cs typeface="Arial"/>
                <a:sym typeface="Arial"/>
              </a:rPr>
              <a:t>2nd: Out-of-cal pressure gauge: </a:t>
            </a:r>
            <a:endParaRPr/>
          </a:p>
          <a:p>
            <a:pPr indent="-359999" lvl="0" marL="720000" marR="0" rtl="0" algn="l">
              <a:spcBef>
                <a:spcPts val="0"/>
              </a:spcBef>
              <a:spcAft>
                <a:spcPts val="0"/>
              </a:spcAft>
              <a:buClr>
                <a:srgbClr val="F8F8F8"/>
              </a:buClr>
              <a:buSzPts val="2000"/>
              <a:buFont typeface="Noto Sans Symbols"/>
              <a:buChar char="⮚"/>
            </a:pPr>
            <a:r>
              <a:rPr b="0" i="0" lang="en-US" sz="2000" u="none" cap="none" strike="noStrike">
                <a:solidFill>
                  <a:srgbClr val="F8F8F8"/>
                </a:solidFill>
                <a:latin typeface="Arial"/>
                <a:ea typeface="Arial"/>
                <a:cs typeface="Arial"/>
                <a:sym typeface="Arial"/>
              </a:rPr>
              <a:t>inefficient operation</a:t>
            </a:r>
            <a:endParaRPr/>
          </a:p>
        </p:txBody>
      </p:sp>
      <p:sp>
        <p:nvSpPr>
          <p:cNvPr id="683" name="Google Shape;683;p2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84" name="Google Shape;684;p2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27"/>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Critical Occupational Activities:</a:t>
            </a:r>
            <a:endParaRPr/>
          </a:p>
          <a:p>
            <a:pPr indent="-432000" lvl="1"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Those few sets of occupational activities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where one error, one mistake, one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mis-step could result in a serious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(permanent, disabling) injury or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 fatality.</a:t>
            </a:r>
            <a:endParaRPr/>
          </a:p>
          <a:p>
            <a:pPr indent="-317700" lvl="1" marL="432000" marR="0" rtl="0" algn="l">
              <a:lnSpc>
                <a:spcPct val="100000"/>
              </a:lnSpc>
              <a:spcBef>
                <a:spcPts val="0"/>
              </a:spcBef>
              <a:spcAft>
                <a:spcPts val="0"/>
              </a:spcAft>
              <a:buClr>
                <a:srgbClr val="000000"/>
              </a:buClr>
              <a:buSzPts val="1800"/>
              <a:buFont typeface="Noto Sans Symbols"/>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Life-Saving Rules:</a:t>
            </a:r>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“Life saving rules” are administrative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controls, and go by many different names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e.g. life-essential rules, life-critical standards. </a:t>
            </a:r>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These rules define the critical control measures and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practices that must be followed in order to manage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the risks to an acceptable level, and to complete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the job without any negative impact.</a:t>
            </a:r>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If there are any deviations from the critical control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measures and practices, the likelihood of a loss incident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increases significantly and is likely to result in a serious injury or fatality. </a:t>
            </a:r>
            <a:endParaRPr/>
          </a:p>
          <a:p>
            <a:pPr indent="-432000" lvl="0" marL="432000" marR="0" rtl="0" algn="l">
              <a:lnSpc>
                <a:spcPct val="100000"/>
              </a:lnSpc>
              <a:spcBef>
                <a:spcPts val="0"/>
              </a:spcBef>
              <a:spcAft>
                <a:spcPts val="0"/>
              </a:spcAft>
              <a:buClr>
                <a:srgbClr val="000000"/>
              </a:buClr>
              <a:buSzPts val="1800"/>
              <a:buFont typeface="Noto Sans Symbols"/>
              <a:buChar char="⮚"/>
            </a:pPr>
            <a:r>
              <a:rPr b="1" i="0" lang="en-US" sz="1800" u="none" cap="none" strike="noStrike">
                <a:solidFill>
                  <a:srgbClr val="000000"/>
                </a:solidFill>
                <a:latin typeface="Arial"/>
                <a:ea typeface="Arial"/>
                <a:cs typeface="Arial"/>
                <a:sym typeface="Arial"/>
              </a:rPr>
              <a:t>Deviations cannot be tolerated!</a:t>
            </a:r>
            <a:endParaRPr/>
          </a:p>
        </p:txBody>
      </p:sp>
      <p:sp>
        <p:nvSpPr>
          <p:cNvPr id="691" name="Google Shape;691;p27"/>
          <p:cNvSpPr/>
          <p:nvPr/>
        </p:nvSpPr>
        <p:spPr>
          <a:xfrm>
            <a:off x="180000" y="216000"/>
            <a:ext cx="8811600" cy="469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HiPo Critical Occupational Activities Require Life-Saving Rules:</a:t>
            </a:r>
            <a:endParaRPr b="0" i="0" sz="2400" u="none" cap="none" strike="noStrike">
              <a:solidFill>
                <a:schemeClr val="accent2"/>
              </a:solidFill>
              <a:latin typeface="Arial"/>
              <a:ea typeface="Arial"/>
              <a:cs typeface="Arial"/>
              <a:sym typeface="Arial"/>
            </a:endParaRPr>
          </a:p>
        </p:txBody>
      </p:sp>
      <p:sp>
        <p:nvSpPr>
          <p:cNvPr id="692" name="Google Shape;692;p2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93" name="Google Shape;693;p2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pic>
        <p:nvPicPr>
          <p:cNvPr id="694" name="Google Shape;694;p27"/>
          <p:cNvPicPr preferRelativeResize="0"/>
          <p:nvPr/>
        </p:nvPicPr>
        <p:blipFill rotWithShape="1">
          <a:blip r:embed="rId3">
            <a:alphaModFix/>
          </a:blip>
          <a:srcRect b="0" l="0" r="0" t="0"/>
          <a:stretch/>
        </p:blipFill>
        <p:spPr>
          <a:xfrm>
            <a:off x="4362124" y="855214"/>
            <a:ext cx="4476203" cy="2994986"/>
          </a:xfrm>
          <a:prstGeom prst="rect">
            <a:avLst/>
          </a:prstGeom>
          <a:noFill/>
          <a:ln>
            <a:noFill/>
          </a:ln>
        </p:spPr>
      </p:pic>
      <p:pic>
        <p:nvPicPr>
          <p:cNvPr id="695" name="Google Shape;695;p27"/>
          <p:cNvPicPr preferRelativeResize="0"/>
          <p:nvPr/>
        </p:nvPicPr>
        <p:blipFill rotWithShape="1">
          <a:blip r:embed="rId4">
            <a:alphaModFix/>
          </a:blip>
          <a:srcRect b="0" l="0" r="0" t="0"/>
          <a:stretch/>
        </p:blipFill>
        <p:spPr>
          <a:xfrm>
            <a:off x="6400800" y="3970629"/>
            <a:ext cx="2243271" cy="1524000"/>
          </a:xfrm>
          <a:prstGeom prst="rect">
            <a:avLst/>
          </a:prstGeom>
          <a:noFill/>
          <a:ln>
            <a:noFill/>
          </a:ln>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28"/>
          <p:cNvSpPr/>
          <p:nvPr/>
        </p:nvSpPr>
        <p:spPr>
          <a:xfrm>
            <a:off x="180000" y="2880000"/>
            <a:ext cx="4140000" cy="295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Potential Risk Exposures</a:t>
            </a:r>
            <a:endParaRPr b="1"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Energized Lines</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Buried utilities</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Collapse/Engulfment</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Flooding</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Worker/Machine Interface</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Access/Egress</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Operator Error</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Barriers/Protection</a:t>
            </a:r>
            <a:endParaRPr b="0" i="0" sz="2000" u="none" cap="none" strike="noStrike">
              <a:solidFill>
                <a:srgbClr val="000000"/>
              </a:solidFill>
              <a:latin typeface="Arial"/>
              <a:ea typeface="Arial"/>
              <a:cs typeface="Arial"/>
              <a:sym typeface="Arial"/>
            </a:endParaRPr>
          </a:p>
        </p:txBody>
      </p:sp>
      <p:sp>
        <p:nvSpPr>
          <p:cNvPr id="702" name="Google Shape;702;p28"/>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Critical Occupational Activity with HiPo: Excavation Activities</a:t>
            </a:r>
            <a:endParaRPr b="0" i="0" sz="2400" u="none" cap="none" strike="noStrike">
              <a:solidFill>
                <a:schemeClr val="accent2"/>
              </a:solidFill>
              <a:latin typeface="Arial"/>
              <a:ea typeface="Arial"/>
              <a:cs typeface="Arial"/>
              <a:sym typeface="Arial"/>
            </a:endParaRPr>
          </a:p>
        </p:txBody>
      </p:sp>
      <p:sp>
        <p:nvSpPr>
          <p:cNvPr id="703" name="Google Shape;703;p28"/>
          <p:cNvSpPr/>
          <p:nvPr/>
        </p:nvSpPr>
        <p:spPr>
          <a:xfrm>
            <a:off x="4699200" y="2880000"/>
            <a:ext cx="4140000" cy="295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Safeguards</a:t>
            </a:r>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First Call (dial before you dig)</a:t>
            </a:r>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As built/red line drawings</a:t>
            </a:r>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Excavation procedures</a:t>
            </a:r>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Work site inspections</a:t>
            </a:r>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Task observation program</a:t>
            </a:r>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Risk Assessments</a:t>
            </a:r>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JSA and pre-task planning</a:t>
            </a:r>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Training</a:t>
            </a:r>
            <a:endParaRPr/>
          </a:p>
        </p:txBody>
      </p:sp>
      <p:grpSp>
        <p:nvGrpSpPr>
          <p:cNvPr id="704" name="Google Shape;704;p28"/>
          <p:cNvGrpSpPr/>
          <p:nvPr/>
        </p:nvGrpSpPr>
        <p:grpSpPr>
          <a:xfrm>
            <a:off x="2438400" y="909637"/>
            <a:ext cx="3306762" cy="2214563"/>
            <a:chOff x="3129" y="709"/>
            <a:chExt cx="1021" cy="2903"/>
          </a:xfrm>
        </p:grpSpPr>
        <p:grpSp>
          <p:nvGrpSpPr>
            <p:cNvPr id="705" name="Google Shape;705;p28"/>
            <p:cNvGrpSpPr/>
            <p:nvPr/>
          </p:nvGrpSpPr>
          <p:grpSpPr>
            <a:xfrm>
              <a:off x="3129" y="709"/>
              <a:ext cx="1021" cy="2903"/>
              <a:chOff x="3129" y="709"/>
              <a:chExt cx="1021" cy="2903"/>
            </a:xfrm>
          </p:grpSpPr>
          <p:grpSp>
            <p:nvGrpSpPr>
              <p:cNvPr id="706" name="Google Shape;706;p28"/>
              <p:cNvGrpSpPr/>
              <p:nvPr/>
            </p:nvGrpSpPr>
            <p:grpSpPr>
              <a:xfrm>
                <a:off x="3129" y="709"/>
                <a:ext cx="1021" cy="2903"/>
                <a:chOff x="3129" y="709"/>
                <a:chExt cx="1021" cy="2903"/>
              </a:xfrm>
            </p:grpSpPr>
            <p:sp>
              <p:nvSpPr>
                <p:cNvPr id="707" name="Google Shape;707;p28"/>
                <p:cNvSpPr/>
                <p:nvPr/>
              </p:nvSpPr>
              <p:spPr>
                <a:xfrm>
                  <a:off x="3129" y="709"/>
                  <a:ext cx="1020" cy="1156"/>
                </a:xfrm>
                <a:prstGeom prst="triangle">
                  <a:avLst>
                    <a:gd fmla="val 50000" name="adj"/>
                  </a:avLst>
                </a:prstGeom>
                <a:gradFill>
                  <a:gsLst>
                    <a:gs pos="0">
                      <a:schemeClr val="lt1"/>
                    </a:gs>
                    <a:gs pos="100000">
                      <a:srgbClr val="CCECFF"/>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t/>
                  </a:r>
                  <a:endParaRPr b="1" i="0" sz="900" u="none" cap="none" strike="noStrike">
                    <a:solidFill>
                      <a:srgbClr val="000000"/>
                    </a:solidFill>
                    <a:latin typeface="Arial"/>
                    <a:ea typeface="Arial"/>
                    <a:cs typeface="Arial"/>
                    <a:sym typeface="Arial"/>
                  </a:endParaRPr>
                </a:p>
              </p:txBody>
            </p:sp>
            <p:sp>
              <p:nvSpPr>
                <p:cNvPr id="708" name="Google Shape;708;p28"/>
                <p:cNvSpPr/>
                <p:nvPr/>
              </p:nvSpPr>
              <p:spPr>
                <a:xfrm rot="10800000">
                  <a:off x="3129" y="1865"/>
                  <a:ext cx="1021" cy="1747"/>
                </a:xfrm>
                <a:prstGeom prst="triangle">
                  <a:avLst>
                    <a:gd fmla="val 50000" name="adj"/>
                  </a:avLst>
                </a:prstGeom>
                <a:gradFill>
                  <a:gsLst>
                    <a:gs pos="0">
                      <a:schemeClr val="lt1"/>
                    </a:gs>
                    <a:gs pos="100000">
                      <a:srgbClr val="CCECFF"/>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t/>
                  </a:r>
                  <a:endParaRPr b="1" i="0" sz="900" u="none" cap="none" strike="noStrike">
                    <a:solidFill>
                      <a:srgbClr val="000000"/>
                    </a:solidFill>
                    <a:latin typeface="Arial"/>
                    <a:ea typeface="Arial"/>
                    <a:cs typeface="Arial"/>
                    <a:sym typeface="Arial"/>
                  </a:endParaRPr>
                </a:p>
              </p:txBody>
            </p:sp>
          </p:grpSp>
          <p:cxnSp>
            <p:nvCxnSpPr>
              <p:cNvPr id="709" name="Google Shape;709;p28"/>
              <p:cNvCxnSpPr/>
              <p:nvPr/>
            </p:nvCxnSpPr>
            <p:spPr>
              <a:xfrm flipH="1">
                <a:off x="3424" y="719"/>
                <a:ext cx="216" cy="1146"/>
              </a:xfrm>
              <a:prstGeom prst="straightConnector1">
                <a:avLst/>
              </a:prstGeom>
              <a:noFill/>
              <a:ln cap="flat" cmpd="sng" w="9525">
                <a:solidFill>
                  <a:schemeClr val="dk1"/>
                </a:solidFill>
                <a:prstDash val="solid"/>
                <a:round/>
                <a:headEnd len="med" w="med" type="none"/>
                <a:tailEnd len="med" w="med" type="none"/>
              </a:ln>
            </p:spPr>
          </p:cxnSp>
          <p:cxnSp>
            <p:nvCxnSpPr>
              <p:cNvPr id="710" name="Google Shape;710;p28"/>
              <p:cNvCxnSpPr/>
              <p:nvPr/>
            </p:nvCxnSpPr>
            <p:spPr>
              <a:xfrm>
                <a:off x="3636" y="713"/>
                <a:ext cx="219" cy="1152"/>
              </a:xfrm>
              <a:prstGeom prst="straightConnector1">
                <a:avLst/>
              </a:prstGeom>
              <a:noFill/>
              <a:ln cap="flat" cmpd="sng" w="9525">
                <a:solidFill>
                  <a:schemeClr val="dk1"/>
                </a:solidFill>
                <a:prstDash val="solid"/>
                <a:round/>
                <a:headEnd len="med" w="med" type="none"/>
                <a:tailEnd len="med" w="med" type="none"/>
              </a:ln>
            </p:spPr>
          </p:cxnSp>
        </p:grpSp>
        <p:cxnSp>
          <p:nvCxnSpPr>
            <p:cNvPr id="711" name="Google Shape;711;p28"/>
            <p:cNvCxnSpPr/>
            <p:nvPr/>
          </p:nvCxnSpPr>
          <p:spPr>
            <a:xfrm>
              <a:off x="3424" y="1865"/>
              <a:ext cx="219" cy="1736"/>
            </a:xfrm>
            <a:prstGeom prst="straightConnector1">
              <a:avLst/>
            </a:prstGeom>
            <a:noFill/>
            <a:ln cap="flat" cmpd="sng" w="9525">
              <a:solidFill>
                <a:schemeClr val="dk1"/>
              </a:solidFill>
              <a:prstDash val="solid"/>
              <a:round/>
              <a:headEnd len="med" w="med" type="none"/>
              <a:tailEnd len="med" w="med" type="none"/>
            </a:ln>
          </p:spPr>
        </p:cxnSp>
        <p:cxnSp>
          <p:nvCxnSpPr>
            <p:cNvPr id="712" name="Google Shape;712;p28"/>
            <p:cNvCxnSpPr/>
            <p:nvPr/>
          </p:nvCxnSpPr>
          <p:spPr>
            <a:xfrm flipH="1">
              <a:off x="3637" y="1865"/>
              <a:ext cx="218" cy="1740"/>
            </a:xfrm>
            <a:prstGeom prst="straightConnector1">
              <a:avLst/>
            </a:prstGeom>
            <a:noFill/>
            <a:ln cap="flat" cmpd="sng" w="9525">
              <a:solidFill>
                <a:schemeClr val="dk1"/>
              </a:solidFill>
              <a:prstDash val="solid"/>
              <a:round/>
              <a:headEnd len="med" w="med" type="none"/>
              <a:tailEnd len="med" w="med" type="none"/>
            </a:ln>
          </p:spPr>
        </p:cxnSp>
      </p:grpSp>
      <p:sp>
        <p:nvSpPr>
          <p:cNvPr id="713" name="Google Shape;713;p28"/>
          <p:cNvSpPr txBox="1"/>
          <p:nvPr/>
        </p:nvSpPr>
        <p:spPr>
          <a:xfrm>
            <a:off x="3590925" y="1911350"/>
            <a:ext cx="974725"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Confined Space</a:t>
            </a:r>
            <a:endParaRPr/>
          </a:p>
        </p:txBody>
      </p:sp>
      <p:sp>
        <p:nvSpPr>
          <p:cNvPr id="714" name="Google Shape;714;p28"/>
          <p:cNvSpPr txBox="1"/>
          <p:nvPr/>
        </p:nvSpPr>
        <p:spPr>
          <a:xfrm>
            <a:off x="2647950" y="1878012"/>
            <a:ext cx="974725"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Energy Isolation</a:t>
            </a:r>
            <a:endParaRPr/>
          </a:p>
        </p:txBody>
      </p:sp>
      <p:sp>
        <p:nvSpPr>
          <p:cNvPr id="715" name="Google Shape;715;p28"/>
          <p:cNvSpPr txBox="1"/>
          <p:nvPr/>
        </p:nvSpPr>
        <p:spPr>
          <a:xfrm>
            <a:off x="4592637" y="1893887"/>
            <a:ext cx="97313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Permitting Work</a:t>
            </a:r>
            <a:endParaRPr b="1" i="0" sz="900" u="none" cap="none" strike="noStrike">
              <a:solidFill>
                <a:srgbClr val="000000"/>
              </a:solidFill>
              <a:latin typeface="Arial"/>
              <a:ea typeface="Arial"/>
              <a:cs typeface="Arial"/>
              <a:sym typeface="Arial"/>
            </a:endParaRPr>
          </a:p>
        </p:txBody>
      </p:sp>
      <p:sp>
        <p:nvSpPr>
          <p:cNvPr id="716" name="Google Shape;716;p28"/>
          <p:cNvSpPr txBox="1"/>
          <p:nvPr/>
        </p:nvSpPr>
        <p:spPr>
          <a:xfrm>
            <a:off x="4416425" y="1435100"/>
            <a:ext cx="974725" cy="276101"/>
          </a:xfrm>
          <a:prstGeom prst="rect">
            <a:avLst/>
          </a:prstGeom>
          <a:noFill/>
          <a:ln>
            <a:noFill/>
          </a:ln>
        </p:spPr>
        <p:txBody>
          <a:bodyPr anchorCtr="0" anchor="t" bIns="45700" lIns="91425" spcFirstLastPara="1" rIns="91425" wrap="square" tIns="45700">
            <a:spAutoFit/>
          </a:bodyPr>
          <a:lstStyle/>
          <a:p>
            <a:pPr indent="0" lvl="0" marL="0" marR="0" rtl="0" algn="ctr">
              <a:lnSpc>
                <a:spcPct val="65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Electrical </a:t>
            </a:r>
            <a:br>
              <a:rPr b="1" i="0" lang="en-US" sz="900" u="none" cap="none" strike="noStrike">
                <a:solidFill>
                  <a:srgbClr val="000000"/>
                </a:solidFill>
                <a:latin typeface="Arial"/>
                <a:ea typeface="Arial"/>
                <a:cs typeface="Arial"/>
                <a:sym typeface="Arial"/>
              </a:rPr>
            </a:br>
            <a:r>
              <a:rPr b="1" i="0" lang="en-US" sz="900" u="none" cap="none" strike="noStrike">
                <a:solidFill>
                  <a:srgbClr val="000000"/>
                </a:solidFill>
                <a:latin typeface="Arial"/>
                <a:ea typeface="Arial"/>
                <a:cs typeface="Arial"/>
                <a:sym typeface="Arial"/>
              </a:rPr>
              <a:t>Work</a:t>
            </a:r>
            <a:endParaRPr b="1" i="0" sz="900" u="none" cap="none" strike="noStrike">
              <a:solidFill>
                <a:srgbClr val="000000"/>
              </a:solidFill>
              <a:latin typeface="Arial"/>
              <a:ea typeface="Arial"/>
              <a:cs typeface="Arial"/>
              <a:sym typeface="Arial"/>
            </a:endParaRPr>
          </a:p>
        </p:txBody>
      </p:sp>
      <p:sp>
        <p:nvSpPr>
          <p:cNvPr id="717" name="Google Shape;717;p28"/>
          <p:cNvSpPr txBox="1"/>
          <p:nvPr/>
        </p:nvSpPr>
        <p:spPr>
          <a:xfrm>
            <a:off x="3584575" y="1414462"/>
            <a:ext cx="974725"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Working at Heights</a:t>
            </a:r>
            <a:endParaRPr/>
          </a:p>
        </p:txBody>
      </p:sp>
      <p:sp>
        <p:nvSpPr>
          <p:cNvPr id="718" name="Google Shape;718;p28"/>
          <p:cNvSpPr txBox="1"/>
          <p:nvPr/>
        </p:nvSpPr>
        <p:spPr>
          <a:xfrm>
            <a:off x="2743200" y="1503362"/>
            <a:ext cx="974725" cy="2308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Excavation</a:t>
            </a:r>
            <a:endParaRPr/>
          </a:p>
        </p:txBody>
      </p:sp>
      <p:sp>
        <p:nvSpPr>
          <p:cNvPr id="719" name="Google Shape;719;p28"/>
          <p:cNvSpPr/>
          <p:nvPr/>
        </p:nvSpPr>
        <p:spPr>
          <a:xfrm>
            <a:off x="2647950" y="1066800"/>
            <a:ext cx="1069975" cy="914400"/>
          </a:xfrm>
          <a:prstGeom prst="ellipse">
            <a:avLst/>
          </a:prstGeom>
          <a:noFill/>
          <a:ln cap="flat" cmpd="sng" w="254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
        <p:nvSpPr>
          <p:cNvPr id="720" name="Google Shape;720;p28"/>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sng" cap="none" strike="noStrike">
                <a:solidFill>
                  <a:srgbClr val="000000"/>
                </a:solidFill>
                <a:latin typeface="Arial"/>
                <a:ea typeface="Arial"/>
                <a:cs typeface="Arial"/>
                <a:sym typeface="Arial"/>
              </a:rPr>
              <a:t>Excavation:</a:t>
            </a:r>
            <a:endParaRPr/>
          </a:p>
        </p:txBody>
      </p:sp>
      <p:sp>
        <p:nvSpPr>
          <p:cNvPr id="721" name="Google Shape;721;p2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22" name="Google Shape;722;p2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29"/>
          <p:cNvSpPr/>
          <p:nvPr/>
        </p:nvSpPr>
        <p:spPr>
          <a:xfrm>
            <a:off x="180000" y="2880000"/>
            <a:ext cx="4140000" cy="344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Potential Risk Exposures</a:t>
            </a:r>
            <a:endParaRPr b="1"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Fall to lower level</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Falling (dropped) Objects</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Improper Scaffolding</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Defective or improperly worn PPE: Tie off, lanyards and harnesses </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Inadequate Access / Egress</a:t>
            </a:r>
            <a:endParaRPr b="0" i="0" sz="2000" u="none" cap="none" strike="noStrike">
              <a:solidFill>
                <a:srgbClr val="000000"/>
              </a:solidFill>
              <a:latin typeface="Arial"/>
              <a:ea typeface="Arial"/>
              <a:cs typeface="Arial"/>
              <a:sym typeface="Arial"/>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Worker / Machine Interface</a:t>
            </a:r>
            <a:endParaRPr/>
          </a:p>
          <a:p>
            <a:pPr indent="-432000" lvl="0" marL="432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Equipment failure</a:t>
            </a:r>
            <a:endParaRPr/>
          </a:p>
        </p:txBody>
      </p:sp>
      <p:sp>
        <p:nvSpPr>
          <p:cNvPr id="729" name="Google Shape;729;p29"/>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Critical Occupational Activity with HiPo: Working at Height</a:t>
            </a:r>
            <a:endParaRPr b="0" i="0" sz="2400" u="none" cap="none" strike="noStrike">
              <a:solidFill>
                <a:schemeClr val="accent2"/>
              </a:solidFill>
              <a:latin typeface="Arial"/>
              <a:ea typeface="Arial"/>
              <a:cs typeface="Arial"/>
              <a:sym typeface="Arial"/>
            </a:endParaRPr>
          </a:p>
        </p:txBody>
      </p:sp>
      <p:sp>
        <p:nvSpPr>
          <p:cNvPr id="730" name="Google Shape;730;p2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31" name="Google Shape;731;p2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
        <p:nvSpPr>
          <p:cNvPr id="732" name="Google Shape;732;p29"/>
          <p:cNvSpPr/>
          <p:nvPr/>
        </p:nvSpPr>
        <p:spPr>
          <a:xfrm>
            <a:off x="4699200" y="2880000"/>
            <a:ext cx="4140000" cy="344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00" u="none" cap="none" strike="noStrike">
                <a:solidFill>
                  <a:srgbClr val="000000"/>
                </a:solidFill>
                <a:latin typeface="Arial"/>
                <a:ea typeface="Arial"/>
                <a:cs typeface="Arial"/>
                <a:sym typeface="Arial"/>
              </a:rPr>
              <a:t>Safeguards</a:t>
            </a:r>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Working at Height: policy, program, procedures, checklists</a:t>
            </a:r>
            <a:endParaRPr b="0" i="0" sz="2000" u="none" cap="none" strike="noStrike">
              <a:solidFill>
                <a:srgbClr val="000000"/>
              </a:solidFill>
              <a:latin typeface="Arial"/>
              <a:ea typeface="Arial"/>
              <a:cs typeface="Arial"/>
              <a:sym typeface="Arial"/>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Physical Barriers (Guardrails)</a:t>
            </a:r>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Housekeeping at Elevations</a:t>
            </a:r>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Work site inspections &amp; audits</a:t>
            </a:r>
            <a:endParaRPr b="0" i="0" sz="2000" u="none" cap="none" strike="noStrike">
              <a:solidFill>
                <a:srgbClr val="000000"/>
              </a:solidFill>
              <a:latin typeface="Arial"/>
              <a:ea typeface="Arial"/>
              <a:cs typeface="Arial"/>
              <a:sym typeface="Arial"/>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Task observation program</a:t>
            </a:r>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Training and Certification</a:t>
            </a:r>
            <a:endParaRPr b="0" i="0" sz="2000" u="none" cap="none" strike="noStrike">
              <a:solidFill>
                <a:srgbClr val="000000"/>
              </a:solidFill>
              <a:latin typeface="Arial"/>
              <a:ea typeface="Arial"/>
              <a:cs typeface="Arial"/>
              <a:sym typeface="Arial"/>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Risk Assessments</a:t>
            </a:r>
            <a:endParaRPr/>
          </a:p>
          <a:p>
            <a:pPr indent="-432000" lvl="1" marL="432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JSA and Pre-Job Planning</a:t>
            </a:r>
            <a:endParaRPr b="0" i="0" sz="2000" u="none" cap="none" strike="noStrike">
              <a:solidFill>
                <a:srgbClr val="000000"/>
              </a:solidFill>
              <a:latin typeface="Arial"/>
              <a:ea typeface="Arial"/>
              <a:cs typeface="Arial"/>
              <a:sym typeface="Arial"/>
            </a:endParaRPr>
          </a:p>
        </p:txBody>
      </p:sp>
      <p:grpSp>
        <p:nvGrpSpPr>
          <p:cNvPr id="733" name="Google Shape;733;p29"/>
          <p:cNvGrpSpPr/>
          <p:nvPr/>
        </p:nvGrpSpPr>
        <p:grpSpPr>
          <a:xfrm>
            <a:off x="2438400" y="909637"/>
            <a:ext cx="3306762" cy="2214563"/>
            <a:chOff x="3129" y="709"/>
            <a:chExt cx="1021" cy="2903"/>
          </a:xfrm>
        </p:grpSpPr>
        <p:grpSp>
          <p:nvGrpSpPr>
            <p:cNvPr id="734" name="Google Shape;734;p29"/>
            <p:cNvGrpSpPr/>
            <p:nvPr/>
          </p:nvGrpSpPr>
          <p:grpSpPr>
            <a:xfrm>
              <a:off x="3129" y="709"/>
              <a:ext cx="1021" cy="2903"/>
              <a:chOff x="3129" y="709"/>
              <a:chExt cx="1021" cy="2903"/>
            </a:xfrm>
          </p:grpSpPr>
          <p:grpSp>
            <p:nvGrpSpPr>
              <p:cNvPr id="735" name="Google Shape;735;p29"/>
              <p:cNvGrpSpPr/>
              <p:nvPr/>
            </p:nvGrpSpPr>
            <p:grpSpPr>
              <a:xfrm>
                <a:off x="3129" y="709"/>
                <a:ext cx="1021" cy="2903"/>
                <a:chOff x="3129" y="709"/>
                <a:chExt cx="1021" cy="2903"/>
              </a:xfrm>
            </p:grpSpPr>
            <p:sp>
              <p:nvSpPr>
                <p:cNvPr id="736" name="Google Shape;736;p29"/>
                <p:cNvSpPr/>
                <p:nvPr/>
              </p:nvSpPr>
              <p:spPr>
                <a:xfrm>
                  <a:off x="3129" y="709"/>
                  <a:ext cx="1020" cy="1156"/>
                </a:xfrm>
                <a:prstGeom prst="triangle">
                  <a:avLst>
                    <a:gd fmla="val 50000" name="adj"/>
                  </a:avLst>
                </a:prstGeom>
                <a:gradFill>
                  <a:gsLst>
                    <a:gs pos="0">
                      <a:schemeClr val="lt1"/>
                    </a:gs>
                    <a:gs pos="100000">
                      <a:srgbClr val="CCECFF"/>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t/>
                  </a:r>
                  <a:endParaRPr b="1" i="0" sz="900" u="none" cap="none" strike="noStrike">
                    <a:solidFill>
                      <a:srgbClr val="000000"/>
                    </a:solidFill>
                    <a:latin typeface="Arial"/>
                    <a:ea typeface="Arial"/>
                    <a:cs typeface="Arial"/>
                    <a:sym typeface="Arial"/>
                  </a:endParaRPr>
                </a:p>
              </p:txBody>
            </p:sp>
            <p:sp>
              <p:nvSpPr>
                <p:cNvPr id="737" name="Google Shape;737;p29"/>
                <p:cNvSpPr/>
                <p:nvPr/>
              </p:nvSpPr>
              <p:spPr>
                <a:xfrm rot="10800000">
                  <a:off x="3129" y="1865"/>
                  <a:ext cx="1021" cy="1747"/>
                </a:xfrm>
                <a:prstGeom prst="triangle">
                  <a:avLst>
                    <a:gd fmla="val 50000" name="adj"/>
                  </a:avLst>
                </a:prstGeom>
                <a:gradFill>
                  <a:gsLst>
                    <a:gs pos="0">
                      <a:schemeClr val="lt1"/>
                    </a:gs>
                    <a:gs pos="100000">
                      <a:srgbClr val="CCECFF"/>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t/>
                  </a:r>
                  <a:endParaRPr b="1" i="0" sz="900" u="none" cap="none" strike="noStrike">
                    <a:solidFill>
                      <a:srgbClr val="000000"/>
                    </a:solidFill>
                    <a:latin typeface="Arial"/>
                    <a:ea typeface="Arial"/>
                    <a:cs typeface="Arial"/>
                    <a:sym typeface="Arial"/>
                  </a:endParaRPr>
                </a:p>
              </p:txBody>
            </p:sp>
          </p:grpSp>
          <p:cxnSp>
            <p:nvCxnSpPr>
              <p:cNvPr id="738" name="Google Shape;738;p29"/>
              <p:cNvCxnSpPr/>
              <p:nvPr/>
            </p:nvCxnSpPr>
            <p:spPr>
              <a:xfrm flipH="1">
                <a:off x="3424" y="719"/>
                <a:ext cx="216" cy="1146"/>
              </a:xfrm>
              <a:prstGeom prst="straightConnector1">
                <a:avLst/>
              </a:prstGeom>
              <a:noFill/>
              <a:ln cap="flat" cmpd="sng" w="9525">
                <a:solidFill>
                  <a:schemeClr val="dk1"/>
                </a:solidFill>
                <a:prstDash val="solid"/>
                <a:round/>
                <a:headEnd len="med" w="med" type="none"/>
                <a:tailEnd len="med" w="med" type="none"/>
              </a:ln>
            </p:spPr>
          </p:cxnSp>
          <p:cxnSp>
            <p:nvCxnSpPr>
              <p:cNvPr id="739" name="Google Shape;739;p29"/>
              <p:cNvCxnSpPr/>
              <p:nvPr/>
            </p:nvCxnSpPr>
            <p:spPr>
              <a:xfrm>
                <a:off x="3636" y="713"/>
                <a:ext cx="219" cy="1152"/>
              </a:xfrm>
              <a:prstGeom prst="straightConnector1">
                <a:avLst/>
              </a:prstGeom>
              <a:noFill/>
              <a:ln cap="flat" cmpd="sng" w="9525">
                <a:solidFill>
                  <a:schemeClr val="dk1"/>
                </a:solidFill>
                <a:prstDash val="solid"/>
                <a:round/>
                <a:headEnd len="med" w="med" type="none"/>
                <a:tailEnd len="med" w="med" type="none"/>
              </a:ln>
            </p:spPr>
          </p:cxnSp>
        </p:grpSp>
        <p:cxnSp>
          <p:nvCxnSpPr>
            <p:cNvPr id="740" name="Google Shape;740;p29"/>
            <p:cNvCxnSpPr/>
            <p:nvPr/>
          </p:nvCxnSpPr>
          <p:spPr>
            <a:xfrm>
              <a:off x="3424" y="1865"/>
              <a:ext cx="219" cy="1736"/>
            </a:xfrm>
            <a:prstGeom prst="straightConnector1">
              <a:avLst/>
            </a:prstGeom>
            <a:noFill/>
            <a:ln cap="flat" cmpd="sng" w="9525">
              <a:solidFill>
                <a:schemeClr val="dk1"/>
              </a:solidFill>
              <a:prstDash val="solid"/>
              <a:round/>
              <a:headEnd len="med" w="med" type="none"/>
              <a:tailEnd len="med" w="med" type="none"/>
            </a:ln>
          </p:spPr>
        </p:cxnSp>
        <p:cxnSp>
          <p:nvCxnSpPr>
            <p:cNvPr id="741" name="Google Shape;741;p29"/>
            <p:cNvCxnSpPr/>
            <p:nvPr/>
          </p:nvCxnSpPr>
          <p:spPr>
            <a:xfrm flipH="1">
              <a:off x="3637" y="1865"/>
              <a:ext cx="218" cy="1740"/>
            </a:xfrm>
            <a:prstGeom prst="straightConnector1">
              <a:avLst/>
            </a:prstGeom>
            <a:noFill/>
            <a:ln cap="flat" cmpd="sng" w="9525">
              <a:solidFill>
                <a:schemeClr val="dk1"/>
              </a:solidFill>
              <a:prstDash val="solid"/>
              <a:round/>
              <a:headEnd len="med" w="med" type="none"/>
              <a:tailEnd len="med" w="med" type="none"/>
            </a:ln>
          </p:spPr>
        </p:cxnSp>
      </p:grpSp>
      <p:sp>
        <p:nvSpPr>
          <p:cNvPr id="742" name="Google Shape;742;p29"/>
          <p:cNvSpPr txBox="1"/>
          <p:nvPr/>
        </p:nvSpPr>
        <p:spPr>
          <a:xfrm>
            <a:off x="3590925" y="1911350"/>
            <a:ext cx="974725"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Confined Space</a:t>
            </a:r>
            <a:endParaRPr/>
          </a:p>
        </p:txBody>
      </p:sp>
      <p:sp>
        <p:nvSpPr>
          <p:cNvPr id="743" name="Google Shape;743;p29"/>
          <p:cNvSpPr txBox="1"/>
          <p:nvPr/>
        </p:nvSpPr>
        <p:spPr>
          <a:xfrm>
            <a:off x="2647950" y="1878012"/>
            <a:ext cx="974725"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Energy Isolation</a:t>
            </a:r>
            <a:endParaRPr/>
          </a:p>
        </p:txBody>
      </p:sp>
      <p:sp>
        <p:nvSpPr>
          <p:cNvPr id="744" name="Google Shape;744;p29"/>
          <p:cNvSpPr txBox="1"/>
          <p:nvPr/>
        </p:nvSpPr>
        <p:spPr>
          <a:xfrm>
            <a:off x="3584575" y="1414462"/>
            <a:ext cx="974725"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Working at Height</a:t>
            </a:r>
            <a:endParaRPr b="1" i="0" sz="900" u="none" cap="none" strike="noStrike">
              <a:solidFill>
                <a:srgbClr val="000000"/>
              </a:solidFill>
              <a:latin typeface="Arial"/>
              <a:ea typeface="Arial"/>
              <a:cs typeface="Arial"/>
              <a:sym typeface="Arial"/>
            </a:endParaRPr>
          </a:p>
        </p:txBody>
      </p:sp>
      <p:sp>
        <p:nvSpPr>
          <p:cNvPr id="745" name="Google Shape;745;p29"/>
          <p:cNvSpPr txBox="1"/>
          <p:nvPr/>
        </p:nvSpPr>
        <p:spPr>
          <a:xfrm>
            <a:off x="2743200" y="1503362"/>
            <a:ext cx="974725" cy="2308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Excavation</a:t>
            </a:r>
            <a:endParaRPr/>
          </a:p>
        </p:txBody>
      </p:sp>
      <p:sp>
        <p:nvSpPr>
          <p:cNvPr id="746" name="Google Shape;746;p29"/>
          <p:cNvSpPr/>
          <p:nvPr/>
        </p:nvSpPr>
        <p:spPr>
          <a:xfrm>
            <a:off x="3502025" y="1066800"/>
            <a:ext cx="1069975" cy="914400"/>
          </a:xfrm>
          <a:prstGeom prst="ellipse">
            <a:avLst/>
          </a:prstGeom>
          <a:noFill/>
          <a:ln cap="flat" cmpd="sng" w="254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
        <p:nvSpPr>
          <p:cNvPr id="747" name="Google Shape;747;p29"/>
          <p:cNvSpPr txBox="1"/>
          <p:nvPr/>
        </p:nvSpPr>
        <p:spPr>
          <a:xfrm>
            <a:off x="4592637" y="1893887"/>
            <a:ext cx="97313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Permitting Work</a:t>
            </a:r>
            <a:endParaRPr b="1" i="0" sz="900" u="none" cap="none" strike="noStrike">
              <a:solidFill>
                <a:srgbClr val="000000"/>
              </a:solidFill>
              <a:latin typeface="Arial"/>
              <a:ea typeface="Arial"/>
              <a:cs typeface="Arial"/>
              <a:sym typeface="Arial"/>
            </a:endParaRPr>
          </a:p>
        </p:txBody>
      </p:sp>
      <p:sp>
        <p:nvSpPr>
          <p:cNvPr id="748" name="Google Shape;748;p29"/>
          <p:cNvSpPr txBox="1"/>
          <p:nvPr/>
        </p:nvSpPr>
        <p:spPr>
          <a:xfrm>
            <a:off x="4416425" y="1435100"/>
            <a:ext cx="974725" cy="276101"/>
          </a:xfrm>
          <a:prstGeom prst="rect">
            <a:avLst/>
          </a:prstGeom>
          <a:noFill/>
          <a:ln>
            <a:noFill/>
          </a:ln>
        </p:spPr>
        <p:txBody>
          <a:bodyPr anchorCtr="0" anchor="t" bIns="45700" lIns="91425" spcFirstLastPara="1" rIns="91425" wrap="square" tIns="45700">
            <a:spAutoFit/>
          </a:bodyPr>
          <a:lstStyle/>
          <a:p>
            <a:pPr indent="0" lvl="0" marL="0" marR="0" rtl="0" algn="ctr">
              <a:lnSpc>
                <a:spcPct val="65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Electrical </a:t>
            </a:r>
            <a:br>
              <a:rPr b="1" i="0" lang="en-US" sz="900" u="none" cap="none" strike="noStrike">
                <a:solidFill>
                  <a:srgbClr val="000000"/>
                </a:solidFill>
                <a:latin typeface="Arial"/>
                <a:ea typeface="Arial"/>
                <a:cs typeface="Arial"/>
                <a:sym typeface="Arial"/>
              </a:rPr>
            </a:br>
            <a:r>
              <a:rPr b="1" i="0" lang="en-US" sz="900" u="none" cap="none" strike="noStrike">
                <a:solidFill>
                  <a:srgbClr val="000000"/>
                </a:solidFill>
                <a:latin typeface="Arial"/>
                <a:ea typeface="Arial"/>
                <a:cs typeface="Arial"/>
                <a:sym typeface="Arial"/>
              </a:rPr>
              <a:t>Work</a:t>
            </a:r>
            <a:endParaRPr b="1" i="0" sz="900" u="none" cap="none" strike="noStrike">
              <a:solidFill>
                <a:srgbClr val="000000"/>
              </a:solidFill>
              <a:latin typeface="Arial"/>
              <a:ea typeface="Arial"/>
              <a:cs typeface="Arial"/>
              <a:sym typeface="Arial"/>
            </a:endParaRPr>
          </a:p>
        </p:txBody>
      </p:sp>
      <p:sp>
        <p:nvSpPr>
          <p:cNvPr id="749" name="Google Shape;749;p29"/>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sng" cap="none" strike="noStrike">
                <a:solidFill>
                  <a:srgbClr val="000000"/>
                </a:solidFill>
                <a:latin typeface="Arial"/>
                <a:ea typeface="Arial"/>
                <a:cs typeface="Arial"/>
                <a:sym typeface="Arial"/>
              </a:rPr>
              <a:t>Working at Height:</a:t>
            </a:r>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30"/>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How to Use “HiPo” Leading Indicators to Influence Culture:</a:t>
            </a:r>
            <a:endParaRPr b="0" i="0" sz="2400" u="none" cap="none" strike="noStrike">
              <a:solidFill>
                <a:schemeClr val="accent2"/>
              </a:solidFill>
              <a:latin typeface="Arial"/>
              <a:ea typeface="Arial"/>
              <a:cs typeface="Arial"/>
              <a:sym typeface="Arial"/>
            </a:endParaRPr>
          </a:p>
        </p:txBody>
      </p:sp>
      <p:sp>
        <p:nvSpPr>
          <p:cNvPr id="756" name="Google Shape;756;p3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57" name="Google Shape;757;p3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
        <p:nvSpPr>
          <p:cNvPr id="758" name="Google Shape;758;p3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Look for “signals” … </a:t>
            </a:r>
            <a:endParaRPr/>
          </a:p>
          <a:p>
            <a:pPr indent="-432000" lvl="0" marL="43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Recall discussion on </a:t>
            </a:r>
            <a:r>
              <a:rPr b="0" i="0" lang="en-US" sz="1800" u="sng" cap="none" strike="noStrike">
                <a:solidFill>
                  <a:srgbClr val="000000"/>
                </a:solidFill>
                <a:latin typeface="Arial"/>
                <a:ea typeface="Arial"/>
                <a:cs typeface="Arial"/>
                <a:sym typeface="Arial"/>
              </a:rPr>
              <a:t>Leading Indicators</a:t>
            </a:r>
            <a:r>
              <a:rPr b="0" i="0" lang="en-US" sz="1800" u="none" cap="none" strike="noStrike">
                <a:solidFill>
                  <a:srgbClr val="000000"/>
                </a:solidFill>
                <a:latin typeface="Arial"/>
                <a:ea typeface="Arial"/>
                <a:cs typeface="Arial"/>
                <a:sym typeface="Arial"/>
              </a:rPr>
              <a:t> from </a:t>
            </a:r>
            <a:r>
              <a:rPr b="1" i="0" lang="en-US" sz="1800" u="none" cap="none" strike="noStrike">
                <a:solidFill>
                  <a:srgbClr val="000000"/>
                </a:solidFill>
                <a:latin typeface="Arial"/>
                <a:ea typeface="Arial"/>
                <a:cs typeface="Arial"/>
                <a:sym typeface="Arial"/>
              </a:rPr>
              <a:t>Chapter 6.2: Safety Metrics:</a:t>
            </a:r>
            <a:endParaRPr/>
          </a:p>
          <a:p>
            <a:pPr indent="0" lvl="0" marL="0" marR="0" rtl="0" algn="l">
              <a:lnSpc>
                <a:spcPct val="100000"/>
              </a:lnSpc>
              <a:spcBef>
                <a:spcPts val="0"/>
              </a:spcBef>
              <a:spcAft>
                <a:spcPts val="0"/>
              </a:spcAft>
              <a:buClr>
                <a:srgbClr val="000000"/>
              </a:buClr>
              <a:buSzPts val="2000"/>
              <a:buFont typeface="Arial"/>
              <a:buNone/>
            </a:pPr>
            <a:r>
              <a:t/>
            </a:r>
            <a:endParaRPr b="1" i="0" sz="2000" u="sng" cap="none" strike="noStrike">
              <a:solidFill>
                <a:srgbClr val="000000"/>
              </a:solidFill>
              <a:latin typeface="Arial"/>
              <a:ea typeface="Arial"/>
              <a:cs typeface="Arial"/>
              <a:sym typeface="Arial"/>
            </a:endParaRPr>
          </a:p>
        </p:txBody>
      </p:sp>
      <p:pic>
        <p:nvPicPr>
          <p:cNvPr id="759" name="Google Shape;759;p30"/>
          <p:cNvPicPr preferRelativeResize="0"/>
          <p:nvPr/>
        </p:nvPicPr>
        <p:blipFill rotWithShape="1">
          <a:blip r:embed="rId3">
            <a:alphaModFix/>
          </a:blip>
          <a:srcRect b="0" l="0" r="0" t="0"/>
          <a:stretch/>
        </p:blipFill>
        <p:spPr>
          <a:xfrm>
            <a:off x="935999" y="1600199"/>
            <a:ext cx="6074401" cy="4555801"/>
          </a:xfrm>
          <a:prstGeom prst="rect">
            <a:avLst/>
          </a:prstGeom>
          <a:noFill/>
          <a:ln cap="flat" cmpd="sng" w="9525">
            <a:solidFill>
              <a:schemeClr val="dk1"/>
            </a:solidFill>
            <a:prstDash val="solid"/>
            <a:round/>
            <a:headEnd len="sm" w="sm" type="none"/>
            <a:tailEnd len="sm" w="sm" type="none"/>
          </a:ln>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31"/>
          <p:cNvSpPr/>
          <p:nvPr/>
        </p:nvSpPr>
        <p:spPr>
          <a:xfrm>
            <a:off x="180000" y="180000"/>
            <a:ext cx="8640000" cy="504000"/>
          </a:xfrm>
          <a:prstGeom prst="rect">
            <a:avLst/>
          </a:prstGeom>
          <a:solidFill>
            <a:srgbClr val="0000CC"/>
          </a:solidFill>
          <a:ln cap="flat" cmpd="sng" w="9525">
            <a:solidFill>
              <a:srgbClr val="0000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8F8F8"/>
                </a:solidFill>
                <a:latin typeface="Arial"/>
                <a:ea typeface="Arial"/>
                <a:cs typeface="Arial"/>
                <a:sym typeface="Arial"/>
              </a:rPr>
              <a:t>ALE #3: Use “HiPo” Leading Indicators to Influence Culture</a:t>
            </a:r>
            <a:endParaRPr b="0" i="0" sz="2400" u="none" cap="none" strike="noStrike">
              <a:solidFill>
                <a:srgbClr val="F8F8F8"/>
              </a:solidFill>
              <a:latin typeface="Arial"/>
              <a:ea typeface="Arial"/>
              <a:cs typeface="Arial"/>
              <a:sym typeface="Arial"/>
            </a:endParaRPr>
          </a:p>
        </p:txBody>
      </p:sp>
      <p:sp>
        <p:nvSpPr>
          <p:cNvPr id="769" name="Google Shape;769;p31"/>
          <p:cNvSpPr/>
          <p:nvPr/>
        </p:nvSpPr>
        <p:spPr>
          <a:xfrm>
            <a:off x="180000" y="828000"/>
            <a:ext cx="8640000" cy="5328000"/>
          </a:xfrm>
          <a:prstGeom prst="rect">
            <a:avLst/>
          </a:prstGeom>
          <a:solidFill>
            <a:srgbClr val="0000CC"/>
          </a:solidFill>
          <a:ln cap="flat" cmpd="sng" w="9525">
            <a:solidFill>
              <a:srgbClr val="0000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0" i="1" lang="en-US" sz="1800" u="none" cap="none" strike="noStrike">
                <a:solidFill>
                  <a:srgbClr val="F8F8F8"/>
                </a:solidFill>
                <a:latin typeface="Arial"/>
                <a:ea typeface="Arial"/>
                <a:cs typeface="Arial"/>
                <a:sym typeface="Arial"/>
              </a:rPr>
              <a:t>Please confer (pen-to-paper, open discussion):</a:t>
            </a:r>
            <a:endParaRPr b="0" i="1" sz="1800" u="none" cap="none" strike="noStrike">
              <a:solidFill>
                <a:srgbClr val="F8F8F8"/>
              </a:solidFill>
              <a:latin typeface="Arial"/>
              <a:ea typeface="Arial"/>
              <a:cs typeface="Arial"/>
              <a:sym typeface="Arial"/>
            </a:endParaRPr>
          </a:p>
          <a:p>
            <a:pPr indent="0" lvl="0" marL="0" marR="0" rtl="0" algn="l">
              <a:lnSpc>
                <a:spcPct val="90000"/>
              </a:lnSpc>
              <a:spcBef>
                <a:spcPts val="0"/>
              </a:spcBef>
              <a:spcAft>
                <a:spcPts val="0"/>
              </a:spcAft>
              <a:buNone/>
            </a:pPr>
            <a:r>
              <a:rPr b="0" i="1" lang="en-US" sz="1800" u="none" cap="none" strike="noStrike">
                <a:solidFill>
                  <a:srgbClr val="F8F8F8"/>
                </a:solidFill>
                <a:latin typeface="Arial"/>
                <a:ea typeface="Arial"/>
                <a:cs typeface="Arial"/>
                <a:sym typeface="Arial"/>
              </a:rPr>
              <a:t>Consider this leading indicator:</a:t>
            </a:r>
            <a:endParaRPr/>
          </a:p>
          <a:p>
            <a:pPr indent="-360000" lvl="0" marL="360000" marR="0" rtl="0" algn="l">
              <a:lnSpc>
                <a:spcPct val="90000"/>
              </a:lnSpc>
              <a:spcBef>
                <a:spcPts val="0"/>
              </a:spcBef>
              <a:spcAft>
                <a:spcPts val="0"/>
              </a:spcAft>
              <a:buClr>
                <a:srgbClr val="F8F8F8"/>
              </a:buClr>
              <a:buSzPts val="1800"/>
              <a:buFont typeface="Noto Sans Symbols"/>
              <a:buChar char="⮚"/>
            </a:pPr>
            <a:r>
              <a:rPr b="0" i="1" lang="en-US" sz="1800" u="none" cap="none" strike="noStrike">
                <a:solidFill>
                  <a:srgbClr val="F8F8F8"/>
                </a:solidFill>
                <a:latin typeface="Arial"/>
                <a:ea typeface="Arial"/>
                <a:cs typeface="Arial"/>
                <a:sym typeface="Arial"/>
              </a:rPr>
              <a:t>Fraction of all reported sub-standard conditions and sub-standard practices that were considered “HiPo” (high potential).</a:t>
            </a:r>
            <a:endParaRPr b="0" i="1" sz="1800" u="none" cap="none" strike="noStrike">
              <a:solidFill>
                <a:srgbClr val="F8F8F8"/>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1" sz="1800" u="none" cap="none" strike="noStrike">
              <a:solidFill>
                <a:srgbClr val="F8F8F8"/>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1800"/>
              <a:buFont typeface="Noto Sans Symbols"/>
              <a:buChar char="⮚"/>
            </a:pPr>
            <a:r>
              <a:rPr b="0" i="1" lang="en-US" sz="1800" u="none" cap="none" strike="noStrike">
                <a:solidFill>
                  <a:srgbClr val="F8F8F8"/>
                </a:solidFill>
                <a:latin typeface="Arial"/>
                <a:ea typeface="Arial"/>
                <a:cs typeface="Arial"/>
                <a:sym typeface="Arial"/>
              </a:rPr>
              <a:t>Example: In the weekly Maintenance Team Meeting, there were a total of 268 SC’s and SP’s observed and reported in the prior week. </a:t>
            </a:r>
            <a:endParaRPr/>
          </a:p>
          <a:p>
            <a:pPr indent="-359999" lvl="0" marL="720000" marR="0" rtl="0" algn="l">
              <a:lnSpc>
                <a:spcPct val="90000"/>
              </a:lnSpc>
              <a:spcBef>
                <a:spcPts val="0"/>
              </a:spcBef>
              <a:spcAft>
                <a:spcPts val="0"/>
              </a:spcAft>
              <a:buClr>
                <a:srgbClr val="F8F8F8"/>
              </a:buClr>
              <a:buSzPts val="1800"/>
              <a:buFont typeface="Noto Sans Symbols"/>
              <a:buChar char="⮚"/>
            </a:pPr>
            <a:r>
              <a:rPr b="0" i="1" lang="en-US" sz="1800" u="none" cap="none" strike="noStrike">
                <a:solidFill>
                  <a:srgbClr val="F8F8F8"/>
                </a:solidFill>
                <a:latin typeface="Arial"/>
                <a:ea typeface="Arial"/>
                <a:cs typeface="Arial"/>
                <a:sym typeface="Arial"/>
              </a:rPr>
              <a:t>Of those, 6 were deemed as “HiPo”: </a:t>
            </a:r>
            <a:endParaRPr/>
          </a:p>
          <a:p>
            <a:pPr indent="-359999" lvl="0" marL="1080000" marR="0" rtl="0" algn="l">
              <a:lnSpc>
                <a:spcPct val="90000"/>
              </a:lnSpc>
              <a:spcBef>
                <a:spcPts val="0"/>
              </a:spcBef>
              <a:spcAft>
                <a:spcPts val="0"/>
              </a:spcAft>
              <a:buClr>
                <a:srgbClr val="F8F8F8"/>
              </a:buClr>
              <a:buSzPts val="1800"/>
              <a:buFont typeface="Noto Sans Symbols"/>
              <a:buChar char="⮚"/>
            </a:pPr>
            <a:r>
              <a:rPr b="0" i="1" lang="en-US" sz="1800" u="none" cap="none" strike="noStrike">
                <a:solidFill>
                  <a:srgbClr val="F8F8F8"/>
                </a:solidFill>
                <a:latin typeface="Arial"/>
                <a:ea typeface="Arial"/>
                <a:cs typeface="Arial"/>
                <a:sym typeface="Arial"/>
              </a:rPr>
              <a:t>Three (3) concern moving heavy equipment into position where the equipment operator continued to back-up when the “spotter” was not visible in the mirrors, a critical work practice (an administrative control was not being followed)</a:t>
            </a:r>
            <a:endParaRPr/>
          </a:p>
          <a:p>
            <a:pPr indent="-359999" lvl="0" marL="1080000" marR="0" rtl="0" algn="l">
              <a:lnSpc>
                <a:spcPct val="90000"/>
              </a:lnSpc>
              <a:spcBef>
                <a:spcPts val="0"/>
              </a:spcBef>
              <a:spcAft>
                <a:spcPts val="0"/>
              </a:spcAft>
              <a:buClr>
                <a:srgbClr val="F8F8F8"/>
              </a:buClr>
              <a:buSzPts val="1800"/>
              <a:buFont typeface="Noto Sans Symbols"/>
              <a:buChar char="⮚"/>
            </a:pPr>
            <a:r>
              <a:rPr b="0" i="1" lang="en-US" sz="1800" u="none" cap="none" strike="noStrike">
                <a:solidFill>
                  <a:srgbClr val="F8F8F8"/>
                </a:solidFill>
                <a:latin typeface="Arial"/>
                <a:ea typeface="Arial"/>
                <a:cs typeface="Arial"/>
                <a:sym typeface="Arial"/>
              </a:rPr>
              <a:t>Three (3) concern imminent failure in critical equipment monitoring systems (an engineering control was defective)</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1" sz="1800" u="none" cap="none" strike="noStrike">
              <a:solidFill>
                <a:srgbClr val="F8F8F8"/>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1800"/>
              <a:buFont typeface="Noto Sans Symbols"/>
              <a:buChar char="⮚"/>
            </a:pPr>
            <a:r>
              <a:rPr b="0" i="1" lang="en-US" sz="1800" u="none" cap="none" strike="noStrike">
                <a:solidFill>
                  <a:srgbClr val="F8F8F8"/>
                </a:solidFill>
                <a:latin typeface="Arial"/>
                <a:ea typeface="Arial"/>
                <a:cs typeface="Arial"/>
                <a:sym typeface="Arial"/>
              </a:rPr>
              <a:t>Obviously, you have limited resources and cannot work on all 268 items; thus, you </a:t>
            </a:r>
            <a:r>
              <a:rPr b="0" i="1" lang="en-US" sz="1800" u="sng" cap="none" strike="noStrike">
                <a:solidFill>
                  <a:srgbClr val="F8F8F8"/>
                </a:solidFill>
                <a:latin typeface="Arial"/>
                <a:ea typeface="Arial"/>
                <a:cs typeface="Arial"/>
                <a:sym typeface="Arial"/>
              </a:rPr>
              <a:t>should focus your efforts (allocate your limited resources)</a:t>
            </a:r>
            <a:r>
              <a:rPr b="0" i="1" lang="en-US" sz="1800" u="none" cap="none" strike="noStrike">
                <a:solidFill>
                  <a:srgbClr val="F8F8F8"/>
                </a:solidFill>
                <a:latin typeface="Arial"/>
                <a:ea typeface="Arial"/>
                <a:cs typeface="Arial"/>
                <a:sym typeface="Arial"/>
              </a:rPr>
              <a:t> on </a:t>
            </a:r>
            <a:r>
              <a:rPr b="1" i="1" lang="en-US" sz="1800" u="none" cap="none" strike="noStrike">
                <a:solidFill>
                  <a:srgbClr val="F8F8F8"/>
                </a:solidFill>
                <a:latin typeface="Arial"/>
                <a:ea typeface="Arial"/>
                <a:cs typeface="Arial"/>
                <a:sym typeface="Arial"/>
              </a:rPr>
              <a:t>heavy equipment movement</a:t>
            </a:r>
            <a:r>
              <a:rPr b="0" i="1" lang="en-US" sz="1800" u="none" cap="none" strike="noStrike">
                <a:solidFill>
                  <a:srgbClr val="F8F8F8"/>
                </a:solidFill>
                <a:latin typeface="Arial"/>
                <a:ea typeface="Arial"/>
                <a:cs typeface="Arial"/>
                <a:sym typeface="Arial"/>
              </a:rPr>
              <a:t> and the </a:t>
            </a:r>
            <a:r>
              <a:rPr b="1" i="1" lang="en-US" sz="1800" u="none" cap="none" strike="noStrike">
                <a:solidFill>
                  <a:srgbClr val="F8F8F8"/>
                </a:solidFill>
                <a:latin typeface="Arial"/>
                <a:ea typeface="Arial"/>
                <a:cs typeface="Arial"/>
                <a:sym typeface="Arial"/>
              </a:rPr>
              <a:t>imminent failure of critical equipment</a:t>
            </a:r>
            <a:r>
              <a:rPr b="0" i="1" lang="en-US" sz="1800" u="none" cap="none" strike="noStrike">
                <a:solidFill>
                  <a:srgbClr val="F8F8F8"/>
                </a:solidFill>
                <a:latin typeface="Arial"/>
                <a:ea typeface="Arial"/>
                <a:cs typeface="Arial"/>
                <a:sym typeface="Arial"/>
              </a:rPr>
              <a:t>.  </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1" sz="1800" u="none" cap="none" strike="noStrike">
              <a:solidFill>
                <a:srgbClr val="F8F8F8"/>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1800"/>
              <a:buFont typeface="Noto Sans Symbols"/>
              <a:buChar char="⮚"/>
            </a:pPr>
            <a:r>
              <a:rPr b="0" i="1" lang="en-US" sz="1800" u="none" cap="none" strike="noStrike">
                <a:solidFill>
                  <a:srgbClr val="F8F8F8"/>
                </a:solidFill>
                <a:latin typeface="Arial"/>
                <a:ea typeface="Arial"/>
                <a:cs typeface="Arial"/>
                <a:sym typeface="Arial"/>
              </a:rPr>
              <a:t>So, </a:t>
            </a:r>
            <a:r>
              <a:rPr b="0" i="1" lang="en-US" sz="1800" u="sng" cap="none" strike="noStrike">
                <a:solidFill>
                  <a:srgbClr val="F8F8F8"/>
                </a:solidFill>
                <a:latin typeface="Arial"/>
                <a:ea typeface="Arial"/>
                <a:cs typeface="Arial"/>
                <a:sym typeface="Arial"/>
              </a:rPr>
              <a:t>what actions</a:t>
            </a:r>
            <a:r>
              <a:rPr b="0" i="1" lang="en-US" sz="1800" u="none" cap="none" strike="noStrike">
                <a:solidFill>
                  <a:srgbClr val="F8F8F8"/>
                </a:solidFill>
                <a:latin typeface="Arial"/>
                <a:ea typeface="Arial"/>
                <a:cs typeface="Arial"/>
                <a:sym typeface="Arial"/>
              </a:rPr>
              <a:t> would you take </a:t>
            </a:r>
            <a:r>
              <a:rPr b="0" i="1" lang="en-US" sz="1800" u="sng" cap="none" strike="noStrike">
                <a:solidFill>
                  <a:srgbClr val="F8F8F8"/>
                </a:solidFill>
                <a:latin typeface="Arial"/>
                <a:ea typeface="Arial"/>
                <a:cs typeface="Arial"/>
                <a:sym typeface="Arial"/>
              </a:rPr>
              <a:t>to reduce risks</a:t>
            </a:r>
            <a:r>
              <a:rPr b="0" i="1" lang="en-US" sz="1800" u="none" cap="none" strike="noStrike">
                <a:solidFill>
                  <a:srgbClr val="F8F8F8"/>
                </a:solidFill>
                <a:latin typeface="Arial"/>
                <a:ea typeface="Arial"/>
                <a:cs typeface="Arial"/>
                <a:sym typeface="Arial"/>
              </a:rPr>
              <a:t> on these HiPo events? </a:t>
            </a:r>
            <a:br>
              <a:rPr b="0" i="1" lang="en-US" sz="1800" u="none" cap="none" strike="noStrike">
                <a:solidFill>
                  <a:srgbClr val="F8F8F8"/>
                </a:solidFill>
                <a:latin typeface="Arial"/>
                <a:ea typeface="Arial"/>
                <a:cs typeface="Arial"/>
                <a:sym typeface="Arial"/>
              </a:rPr>
            </a:br>
            <a:r>
              <a:rPr b="0" i="1" lang="en-US" sz="1800" u="none" cap="none" strike="noStrike">
                <a:solidFill>
                  <a:srgbClr val="F8F8F8"/>
                </a:solidFill>
                <a:latin typeface="Arial"/>
                <a:ea typeface="Arial"/>
                <a:cs typeface="Arial"/>
                <a:sym typeface="Arial"/>
              </a:rPr>
              <a:t>By way of these actions, you positively influence safety culture!</a:t>
            </a:r>
            <a:endParaRPr b="0" i="1" sz="1800" u="none" cap="none" strike="noStrike">
              <a:solidFill>
                <a:srgbClr val="F8F8F8"/>
              </a:solidFill>
              <a:latin typeface="Arial"/>
              <a:ea typeface="Arial"/>
              <a:cs typeface="Arial"/>
              <a:sym typeface="Arial"/>
            </a:endParaRPr>
          </a:p>
        </p:txBody>
      </p:sp>
      <p:sp>
        <p:nvSpPr>
          <p:cNvPr id="770" name="Google Shape;770;p3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71" name="Google Shape;771;p3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32"/>
          <p:cNvSpPr/>
          <p:nvPr/>
        </p:nvSpPr>
        <p:spPr>
          <a:xfrm>
            <a:off x="180000" y="180000"/>
            <a:ext cx="8640000" cy="504000"/>
          </a:xfrm>
          <a:prstGeom prst="rect">
            <a:avLst/>
          </a:prstGeom>
          <a:solidFill>
            <a:schemeClr val="dk1"/>
          </a:solidFill>
          <a:ln cap="flat" cmpd="sng" w="9525">
            <a:solidFill>
              <a:srgbClr val="0000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8F8F8"/>
                </a:solidFill>
                <a:latin typeface="Arial"/>
                <a:ea typeface="Arial"/>
                <a:cs typeface="Arial"/>
                <a:sym typeface="Arial"/>
              </a:rPr>
              <a:t>Example: Use “HiPo” Leading Indicators to Influence Culture</a:t>
            </a:r>
            <a:endParaRPr b="0" i="0" sz="2400" u="none" cap="none" strike="noStrike">
              <a:solidFill>
                <a:srgbClr val="F8F8F8"/>
              </a:solidFill>
              <a:latin typeface="Arial"/>
              <a:ea typeface="Arial"/>
              <a:cs typeface="Arial"/>
              <a:sym typeface="Arial"/>
            </a:endParaRPr>
          </a:p>
        </p:txBody>
      </p:sp>
      <p:sp>
        <p:nvSpPr>
          <p:cNvPr id="781" name="Google Shape;781;p32"/>
          <p:cNvSpPr/>
          <p:nvPr/>
        </p:nvSpPr>
        <p:spPr>
          <a:xfrm>
            <a:off x="180000" y="828000"/>
            <a:ext cx="8640000" cy="5328000"/>
          </a:xfrm>
          <a:prstGeom prst="rect">
            <a:avLst/>
          </a:prstGeom>
          <a:solidFill>
            <a:schemeClr val="dk1"/>
          </a:solidFill>
          <a:ln cap="flat" cmpd="sng" w="9525">
            <a:solidFill>
              <a:srgbClr val="0000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0" i="0" lang="en-US" sz="1800" u="none" cap="none" strike="noStrike">
                <a:solidFill>
                  <a:srgbClr val="F8F8F8"/>
                </a:solidFill>
                <a:latin typeface="Arial"/>
                <a:ea typeface="Arial"/>
                <a:cs typeface="Arial"/>
                <a:sym typeface="Arial"/>
              </a:rPr>
              <a:t>Consider this leading indicator: the fraction of all reported sub-standard conditions and sub-standard practices that were considered “HiPo” (high potential).</a:t>
            </a:r>
            <a:endParaRPr b="0" i="0" sz="1800" u="none" cap="none" strike="noStrike">
              <a:solidFill>
                <a:srgbClr val="F8F8F8"/>
              </a:solidFill>
              <a:latin typeface="Arial"/>
              <a:ea typeface="Arial"/>
              <a:cs typeface="Arial"/>
              <a:sym typeface="Arial"/>
            </a:endParaRPr>
          </a:p>
          <a:p>
            <a:pPr indent="-245700" lvl="0" marL="360000" marR="0" rtl="0" algn="l">
              <a:lnSpc>
                <a:spcPct val="8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8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Example: In the weekly Maintenance Team Meeting, there were a total of 268 SC’s and SP’s observed and reported in the prior week. Of those, 6 were deemed as “HiPo”: 3 concerning moving heavy equipment into position where the equipment operator continued to back-up when the “spotter” was not visible in the mirrors, a critical work practice (an administrative control was not being followed) and 3 concerning imminent failure in critical equipment monitoring systems (an engineering control was defective). </a:t>
            </a:r>
            <a:endParaRPr/>
          </a:p>
          <a:p>
            <a:pPr indent="-245700" lvl="0" marL="360000" marR="0" rtl="0" algn="l">
              <a:lnSpc>
                <a:spcPct val="8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360000" lvl="0" marL="360000" marR="0" rtl="0" algn="l">
              <a:lnSpc>
                <a:spcPct val="8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These data can be used to efficiently allocate limited resources (focus your efforts) to address critical SP’s and SC’s, and positively influence safety culture with these actions:</a:t>
            </a:r>
            <a:endParaRPr/>
          </a:p>
          <a:p>
            <a:pPr indent="-359999" lvl="1" marL="720000" marR="0" rtl="0" algn="l">
              <a:lnSpc>
                <a:spcPct val="80000"/>
              </a:lnSpc>
              <a:spcBef>
                <a:spcPts val="0"/>
              </a:spcBef>
              <a:spcAft>
                <a:spcPts val="0"/>
              </a:spcAft>
              <a:buClr>
                <a:srgbClr val="F8F8F8"/>
              </a:buClr>
              <a:buSzPts val="1800"/>
              <a:buFont typeface="Noto Sans Symbols"/>
              <a:buChar char="⮚"/>
            </a:pPr>
            <a:r>
              <a:rPr b="1" i="0" lang="en-US" sz="1800" u="none" cap="none" strike="noStrike">
                <a:solidFill>
                  <a:srgbClr val="F8F8F8"/>
                </a:solidFill>
                <a:latin typeface="Arial"/>
                <a:ea typeface="Arial"/>
                <a:cs typeface="Arial"/>
                <a:sym typeface="Arial"/>
              </a:rPr>
              <a:t>Heavy Equipment Movement: </a:t>
            </a:r>
            <a:r>
              <a:rPr b="0" i="0" lang="en-US" sz="1800" u="none" cap="none" strike="noStrike">
                <a:solidFill>
                  <a:srgbClr val="F8F8F8"/>
                </a:solidFill>
                <a:latin typeface="Arial"/>
                <a:ea typeface="Arial"/>
                <a:cs typeface="Arial"/>
                <a:sym typeface="Arial"/>
              </a:rPr>
              <a:t>Provide highlight training on using the company’s “Vehicle Driver / Spotter FLRA” in the daily tail-gate meetings; increase manager inspections of the use of the FLRA and the critical practices for heavy equipment movements.</a:t>
            </a:r>
            <a:endParaRPr/>
          </a:p>
          <a:p>
            <a:pPr indent="-359999" lvl="1" marL="720000" marR="0" rtl="0" algn="l">
              <a:lnSpc>
                <a:spcPct val="80000"/>
              </a:lnSpc>
              <a:spcBef>
                <a:spcPts val="0"/>
              </a:spcBef>
              <a:spcAft>
                <a:spcPts val="0"/>
              </a:spcAft>
              <a:buClr>
                <a:srgbClr val="F8F8F8"/>
              </a:buClr>
              <a:buSzPts val="1800"/>
              <a:buFont typeface="Noto Sans Symbols"/>
              <a:buChar char="⮚"/>
            </a:pPr>
            <a:r>
              <a:rPr b="1" i="0" lang="en-US" sz="1800" u="none" cap="none" strike="noStrike">
                <a:solidFill>
                  <a:srgbClr val="F8F8F8"/>
                </a:solidFill>
                <a:latin typeface="Arial"/>
                <a:ea typeface="Arial"/>
                <a:cs typeface="Arial"/>
                <a:sym typeface="Arial"/>
              </a:rPr>
              <a:t>Imminent Failure:</a:t>
            </a:r>
            <a:r>
              <a:rPr b="0" i="0" lang="en-US" sz="1800" u="none" cap="none" strike="noStrike">
                <a:solidFill>
                  <a:srgbClr val="F8F8F8"/>
                </a:solidFill>
                <a:latin typeface="Arial"/>
                <a:ea typeface="Arial"/>
                <a:cs typeface="Arial"/>
                <a:sym typeface="Arial"/>
              </a:rPr>
              <a:t> Assess maintenance resources for addressing the backlog of critical equipment monitoring systems, raise priority on repair.</a:t>
            </a:r>
            <a:endParaRPr/>
          </a:p>
          <a:p>
            <a:pPr indent="-359999" lvl="1" marL="720000" marR="0" rtl="0" algn="l">
              <a:lnSpc>
                <a:spcPct val="8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All other non-HiPo SC’s and SP’s may or may not be addressed!</a:t>
            </a:r>
            <a:endParaRPr/>
          </a:p>
          <a:p>
            <a:pPr indent="-245700" lvl="1" marL="360000" marR="0" rtl="0" algn="l">
              <a:lnSpc>
                <a:spcPct val="80000"/>
              </a:lnSpc>
              <a:spcBef>
                <a:spcPts val="0"/>
              </a:spcBef>
              <a:spcAft>
                <a:spcPts val="0"/>
              </a:spcAft>
              <a:buClr>
                <a:schemeClr val="dk1"/>
              </a:buClr>
              <a:buSzPts val="1800"/>
              <a:buFont typeface="Noto Sans Symbols"/>
              <a:buNone/>
            </a:pPr>
            <a:r>
              <a:t/>
            </a:r>
            <a:endParaRPr b="0" i="0" sz="1800" u="none" cap="none" strike="noStrike">
              <a:solidFill>
                <a:srgbClr val="F8F8F8"/>
              </a:solidFill>
              <a:latin typeface="Arial"/>
              <a:ea typeface="Arial"/>
              <a:cs typeface="Arial"/>
              <a:sym typeface="Arial"/>
            </a:endParaRPr>
          </a:p>
          <a:p>
            <a:pPr indent="-360000" lvl="1" marL="360000" marR="0" rtl="0" algn="l">
              <a:lnSpc>
                <a:spcPct val="80000"/>
              </a:lnSpc>
              <a:spcBef>
                <a:spcPts val="0"/>
              </a:spcBef>
              <a:spcAft>
                <a:spcPts val="0"/>
              </a:spcAft>
              <a:buClr>
                <a:srgbClr val="F8F8F8"/>
              </a:buClr>
              <a:buSzPts val="1800"/>
              <a:buFont typeface="Noto Sans Symbols"/>
              <a:buChar char="⮚"/>
            </a:pPr>
            <a:r>
              <a:rPr b="0" i="0" lang="en-US" sz="1800" u="none" cap="none" strike="noStrike">
                <a:solidFill>
                  <a:srgbClr val="F8F8F8"/>
                </a:solidFill>
                <a:latin typeface="Arial"/>
                <a:ea typeface="Arial"/>
                <a:cs typeface="Arial"/>
                <a:sym typeface="Arial"/>
              </a:rPr>
              <a:t>Management action not only addresses HiPo SC’s and SP’s, but also demonstrates management commitment - “walk the talk”, “lead by example”.</a:t>
            </a:r>
            <a:endParaRPr/>
          </a:p>
        </p:txBody>
      </p:sp>
      <p:sp>
        <p:nvSpPr>
          <p:cNvPr id="782" name="Google Shape;782;p3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83" name="Google Shape;783;p3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33"/>
          <p:cNvSpPr/>
          <p:nvPr/>
        </p:nvSpPr>
        <p:spPr>
          <a:xfrm>
            <a:off x="180000" y="180000"/>
            <a:ext cx="8640000" cy="504000"/>
          </a:xfrm>
          <a:prstGeom prst="rect">
            <a:avLst/>
          </a:prstGeom>
          <a:solidFill>
            <a:srgbClr val="0000CC"/>
          </a:solidFill>
          <a:ln cap="flat" cmpd="sng" w="9525">
            <a:solidFill>
              <a:srgbClr val="0000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8F8F8"/>
                </a:solidFill>
                <a:latin typeface="Arial"/>
                <a:ea typeface="Arial"/>
                <a:cs typeface="Arial"/>
                <a:sym typeface="Arial"/>
              </a:rPr>
              <a:t>ALE #4: Leading Indicators for Technical Safety in your Field?</a:t>
            </a:r>
            <a:endParaRPr b="0" i="0" sz="2400" u="none" cap="none" strike="noStrike">
              <a:solidFill>
                <a:srgbClr val="F8F8F8"/>
              </a:solidFill>
              <a:latin typeface="Arial"/>
              <a:ea typeface="Arial"/>
              <a:cs typeface="Arial"/>
              <a:sym typeface="Arial"/>
            </a:endParaRPr>
          </a:p>
        </p:txBody>
      </p:sp>
      <p:sp>
        <p:nvSpPr>
          <p:cNvPr id="793" name="Google Shape;793;p33"/>
          <p:cNvSpPr/>
          <p:nvPr/>
        </p:nvSpPr>
        <p:spPr>
          <a:xfrm>
            <a:off x="180000" y="828000"/>
            <a:ext cx="8640000" cy="5328000"/>
          </a:xfrm>
          <a:prstGeom prst="rect">
            <a:avLst/>
          </a:prstGeom>
          <a:solidFill>
            <a:srgbClr val="0000CC"/>
          </a:solidFill>
          <a:ln cap="flat" cmpd="sng" w="9525">
            <a:solidFill>
              <a:srgbClr val="0000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0" i="1" lang="en-US" sz="2000" u="none" cap="none" strike="noStrike">
                <a:solidFill>
                  <a:srgbClr val="F8F8F8"/>
                </a:solidFill>
                <a:latin typeface="Arial"/>
                <a:ea typeface="Arial"/>
                <a:cs typeface="Arial"/>
                <a:sym typeface="Arial"/>
              </a:rPr>
              <a:t>Please confer (pen-to-paper, open discussion):</a:t>
            </a:r>
            <a:endParaRPr b="0" i="1" sz="2000" u="none" cap="none" strike="noStrike">
              <a:solidFill>
                <a:srgbClr val="F8F8F8"/>
              </a:solidFill>
              <a:latin typeface="Arial"/>
              <a:ea typeface="Arial"/>
              <a:cs typeface="Arial"/>
              <a:sym typeface="Arial"/>
            </a:endParaRPr>
          </a:p>
          <a:p>
            <a:pPr indent="0" lvl="0" marL="0" marR="0" rtl="0" algn="l">
              <a:lnSpc>
                <a:spcPct val="90000"/>
              </a:lnSpc>
              <a:spcBef>
                <a:spcPts val="0"/>
              </a:spcBef>
              <a:spcAft>
                <a:spcPts val="0"/>
              </a:spcAft>
              <a:buNone/>
            </a:pPr>
            <a:r>
              <a:rPr b="0" i="1" lang="en-US" sz="2000" u="none" cap="none" strike="noStrike">
                <a:solidFill>
                  <a:srgbClr val="F8F8F8"/>
                </a:solidFill>
                <a:latin typeface="Arial"/>
                <a:ea typeface="Arial"/>
                <a:cs typeface="Arial"/>
                <a:sym typeface="Arial"/>
              </a:rPr>
              <a:t>What would be some </a:t>
            </a:r>
            <a:r>
              <a:rPr b="0" i="1" lang="en-US" sz="2000" u="sng" cap="none" strike="noStrike">
                <a:solidFill>
                  <a:srgbClr val="F8F8F8"/>
                </a:solidFill>
                <a:latin typeface="Arial"/>
                <a:ea typeface="Arial"/>
                <a:cs typeface="Arial"/>
                <a:sym typeface="Arial"/>
              </a:rPr>
              <a:t>Leading Indicators for Technical Safety</a:t>
            </a:r>
            <a:r>
              <a:rPr b="0" i="1" lang="en-US" sz="2000" u="none" cap="none" strike="noStrike">
                <a:solidFill>
                  <a:srgbClr val="F8F8F8"/>
                </a:solidFill>
                <a:latin typeface="Arial"/>
                <a:ea typeface="Arial"/>
                <a:cs typeface="Arial"/>
                <a:sym typeface="Arial"/>
              </a:rPr>
              <a:t> in your field of study and design expertise?</a:t>
            </a:r>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Aerospace</a:t>
            </a:r>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Chemical</a:t>
            </a:r>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Civil</a:t>
            </a:r>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Computer Science </a:t>
            </a:r>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Electrical</a:t>
            </a:r>
            <a:endParaRPr b="0" i="1" sz="2000" u="none" cap="none" strike="noStrike">
              <a:solidFill>
                <a:srgbClr val="F8F8F8"/>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Electronics</a:t>
            </a:r>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Materials</a:t>
            </a:r>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Management / Industrial</a:t>
            </a:r>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Mechanical</a:t>
            </a:r>
            <a:endParaRPr b="0" i="1" sz="2000" u="none" cap="none" strike="noStrike">
              <a:solidFill>
                <a:srgbClr val="F8F8F8"/>
              </a:solidFill>
              <a:latin typeface="Arial"/>
              <a:ea typeface="Arial"/>
              <a:cs typeface="Arial"/>
              <a:sym typeface="Arial"/>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Mining</a:t>
            </a:r>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Petroleum</a:t>
            </a:r>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Process Control </a:t>
            </a:r>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Nano-engineering</a:t>
            </a:r>
            <a:endParaRPr/>
          </a:p>
          <a:p>
            <a:pPr indent="0" lvl="0" marL="0" marR="0" rtl="0" algn="l">
              <a:lnSpc>
                <a:spcPct val="90000"/>
              </a:lnSpc>
              <a:spcBef>
                <a:spcPts val="0"/>
              </a:spcBef>
              <a:spcAft>
                <a:spcPts val="0"/>
              </a:spcAft>
              <a:buNone/>
            </a:pPr>
            <a:r>
              <a:t/>
            </a:r>
            <a:endParaRPr b="0" i="1" sz="2000" u="none" cap="none" strike="noStrike">
              <a:solidFill>
                <a:srgbClr val="F8F8F8"/>
              </a:solidFill>
              <a:latin typeface="Arial"/>
              <a:ea typeface="Arial"/>
              <a:cs typeface="Arial"/>
              <a:sym typeface="Arial"/>
            </a:endParaRPr>
          </a:p>
          <a:p>
            <a:pPr indent="0" lvl="0" marL="0" marR="0" rtl="0" algn="l">
              <a:lnSpc>
                <a:spcPct val="90000"/>
              </a:lnSpc>
              <a:spcBef>
                <a:spcPts val="0"/>
              </a:spcBef>
              <a:spcAft>
                <a:spcPts val="0"/>
              </a:spcAft>
              <a:buNone/>
            </a:pPr>
            <a:r>
              <a:rPr b="0" i="1" lang="en-US" sz="2000" u="none" cap="none" strike="noStrike">
                <a:solidFill>
                  <a:srgbClr val="F8F8F8"/>
                </a:solidFill>
                <a:latin typeface="Arial"/>
                <a:ea typeface="Arial"/>
                <a:cs typeface="Arial"/>
                <a:sym typeface="Arial"/>
              </a:rPr>
              <a:t>One way to approach this: What is a catastrophic event, and what could you measure that is intended to prevent such a catastrophic event?</a:t>
            </a:r>
            <a:endParaRPr b="0" i="1" sz="2000" u="none" cap="none" strike="noStrike">
              <a:solidFill>
                <a:srgbClr val="F8F8F8"/>
              </a:solidFill>
              <a:latin typeface="Arial"/>
              <a:ea typeface="Arial"/>
              <a:cs typeface="Arial"/>
              <a:sym typeface="Arial"/>
            </a:endParaRPr>
          </a:p>
        </p:txBody>
      </p:sp>
      <p:sp>
        <p:nvSpPr>
          <p:cNvPr id="794" name="Google Shape;794;p3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95" name="Google Shape;795;p3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3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High Potential Impact Events in Cyber Security:</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Comparative situation:</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Network firewall is disabled on financial database (bank account numbers, access codes, SIN, etc.) vs </a:t>
            </a:r>
            <a:endParaRPr b="0" i="0"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Network firewall is disabled on email database (username, email address, and phone number)?</a:t>
            </a:r>
            <a:endParaRPr b="0" i="0" sz="2000" u="none" cap="none" strike="noStrike">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first situation can result in greater harm (greater impacts on PEAP) and therefore requires action before acting on the second situation:</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Disabled firewall on financial database: ransom, identity theft of clients, damage to reputation to company, restitution to clients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Disabled firewall email database: inconvenience / nuisance to change password on or username and address, although potential for future phishing attacks</a:t>
            </a:r>
            <a:endParaRPr/>
          </a:p>
          <a:p>
            <a:pPr indent="0" lvl="1"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Bonus discussion point: What are the “early signals”?</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802" name="Google Shape;802;p3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Not Just the Typical Occupational or Process Safety “HiPo’s”:</a:t>
            </a:r>
            <a:endParaRPr b="0" i="0" sz="2400" u="none" cap="none" strike="noStrike">
              <a:solidFill>
                <a:schemeClr val="accent2"/>
              </a:solidFill>
              <a:latin typeface="Arial"/>
              <a:ea typeface="Arial"/>
              <a:cs typeface="Arial"/>
              <a:sym typeface="Arial"/>
            </a:endParaRPr>
          </a:p>
        </p:txBody>
      </p:sp>
      <p:sp>
        <p:nvSpPr>
          <p:cNvPr id="803" name="Google Shape;803;p3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04" name="Google Shape;804;p3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3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This depiction illustrates the relationship between:</a:t>
            </a:r>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leadership actions in addressing HiPo events and culture, </a:t>
            </a:r>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culture and performance.</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811" name="Google Shape;811;p35"/>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Relationship: Leadership Actions, Culture, and Performance:</a:t>
            </a:r>
            <a:endParaRPr b="0" i="0" sz="2400" u="none" cap="none" strike="noStrike">
              <a:solidFill>
                <a:schemeClr val="accent2"/>
              </a:solidFill>
              <a:latin typeface="Arial"/>
              <a:ea typeface="Arial"/>
              <a:cs typeface="Arial"/>
              <a:sym typeface="Arial"/>
            </a:endParaRPr>
          </a:p>
        </p:txBody>
      </p:sp>
      <p:sp>
        <p:nvSpPr>
          <p:cNvPr id="812" name="Google Shape;812;p3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13" name="Google Shape;813;p3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pic>
        <p:nvPicPr>
          <p:cNvPr id="814" name="Google Shape;814;p35"/>
          <p:cNvPicPr preferRelativeResize="0"/>
          <p:nvPr/>
        </p:nvPicPr>
        <p:blipFill rotWithShape="1">
          <a:blip r:embed="rId3">
            <a:alphaModFix/>
          </a:blip>
          <a:srcRect b="0" l="0" r="0" t="0"/>
          <a:stretch/>
        </p:blipFill>
        <p:spPr>
          <a:xfrm>
            <a:off x="1865384" y="2040304"/>
            <a:ext cx="1802605" cy="1351954"/>
          </a:xfrm>
          <a:prstGeom prst="rect">
            <a:avLst/>
          </a:prstGeom>
          <a:noFill/>
          <a:ln cap="flat" cmpd="sng" w="9525">
            <a:solidFill>
              <a:schemeClr val="dk1"/>
            </a:solidFill>
            <a:prstDash val="solid"/>
            <a:round/>
            <a:headEnd len="sm" w="sm" type="none"/>
            <a:tailEnd len="sm" w="sm" type="none"/>
          </a:ln>
        </p:spPr>
      </p:pic>
      <p:sp>
        <p:nvSpPr>
          <p:cNvPr id="815" name="Google Shape;815;p35"/>
          <p:cNvSpPr/>
          <p:nvPr/>
        </p:nvSpPr>
        <p:spPr>
          <a:xfrm>
            <a:off x="5442857" y="1579639"/>
            <a:ext cx="2286472" cy="1954792"/>
          </a:xfrm>
          <a:prstGeom prst="triangle">
            <a:avLst>
              <a:gd fmla="val 50697" name="adj"/>
            </a:avLst>
          </a:prstGeom>
          <a:solidFill>
            <a:schemeClr val="accent1"/>
          </a:solidFill>
          <a:ln cap="flat" cmpd="sng" w="25400">
            <a:solidFill>
              <a:schemeClr val="dk1"/>
            </a:solidFill>
            <a:prstDash val="solid"/>
            <a:round/>
            <a:headEnd len="sm" w="sm" type="none"/>
            <a:tailEnd len="sm" w="sm" type="none"/>
          </a:ln>
        </p:spPr>
        <p:txBody>
          <a:bodyPr anchorCtr="0" anchor="b" bIns="0" lIns="0" spcFirstLastPara="1" rIns="0" wrap="square" tIns="0">
            <a:noAutofit/>
          </a:bodyPr>
          <a:lstStyle/>
          <a:p>
            <a:pPr indent="0" lvl="0" marL="0" marR="0" rtl="0" algn="ctr">
              <a:spcBef>
                <a:spcPts val="0"/>
              </a:spcBef>
              <a:spcAft>
                <a:spcPts val="0"/>
              </a:spcAft>
              <a:buNone/>
            </a:pPr>
            <a:r>
              <a:t/>
            </a:r>
            <a:endParaRPr b="1" i="0" sz="1600" u="none" cap="none" strike="noStrike">
              <a:solidFill>
                <a:schemeClr val="dk1"/>
              </a:solidFill>
              <a:latin typeface="Arial"/>
              <a:ea typeface="Arial"/>
              <a:cs typeface="Arial"/>
              <a:sym typeface="Arial"/>
            </a:endParaRPr>
          </a:p>
        </p:txBody>
      </p:sp>
      <p:sp>
        <p:nvSpPr>
          <p:cNvPr id="816" name="Google Shape;816;p35"/>
          <p:cNvSpPr/>
          <p:nvPr/>
        </p:nvSpPr>
        <p:spPr>
          <a:xfrm>
            <a:off x="4800599" y="4038600"/>
            <a:ext cx="3528000" cy="828000"/>
          </a:xfrm>
          <a:prstGeom prst="trapezoid">
            <a:avLst>
              <a:gd fmla="val 58631" name="adj"/>
            </a:avLst>
          </a:prstGeom>
          <a:solidFill>
            <a:schemeClr val="accent1"/>
          </a:solidFill>
          <a:ln cap="flat" cmpd="sng" w="25400">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Culture</a:t>
            </a:r>
            <a:endParaRPr/>
          </a:p>
        </p:txBody>
      </p:sp>
      <p:sp>
        <p:nvSpPr>
          <p:cNvPr id="817" name="Google Shape;817;p35"/>
          <p:cNvSpPr/>
          <p:nvPr/>
        </p:nvSpPr>
        <p:spPr>
          <a:xfrm>
            <a:off x="4191000" y="5370769"/>
            <a:ext cx="4752000" cy="828000"/>
          </a:xfrm>
          <a:prstGeom prst="trapezoid">
            <a:avLst>
              <a:gd fmla="val 59680" name="adj"/>
            </a:avLst>
          </a:prstGeom>
          <a:solidFill>
            <a:schemeClr val="accent1"/>
          </a:solidFill>
          <a:ln cap="flat" cmpd="sng" w="25400">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Leadership Actions</a:t>
            </a:r>
            <a:endParaRPr b="1" i="0" sz="1800" u="none" cap="none" strike="noStrike">
              <a:solidFill>
                <a:schemeClr val="dk1"/>
              </a:solidFill>
              <a:latin typeface="Arial"/>
              <a:ea typeface="Arial"/>
              <a:cs typeface="Arial"/>
              <a:sym typeface="Arial"/>
            </a:endParaRPr>
          </a:p>
        </p:txBody>
      </p:sp>
      <p:sp>
        <p:nvSpPr>
          <p:cNvPr id="818" name="Google Shape;818;p35"/>
          <p:cNvSpPr/>
          <p:nvPr/>
        </p:nvSpPr>
        <p:spPr>
          <a:xfrm>
            <a:off x="5442858" y="2590800"/>
            <a:ext cx="2286472" cy="778631"/>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Performance</a:t>
            </a:r>
            <a:endParaRPr b="1" i="0" sz="1800" u="none" cap="none" strike="noStrike">
              <a:solidFill>
                <a:schemeClr val="dk1"/>
              </a:solidFill>
              <a:latin typeface="Arial"/>
              <a:ea typeface="Arial"/>
              <a:cs typeface="Arial"/>
              <a:sym typeface="Arial"/>
            </a:endParaRPr>
          </a:p>
        </p:txBody>
      </p:sp>
      <p:sp>
        <p:nvSpPr>
          <p:cNvPr id="819" name="Google Shape;819;p35"/>
          <p:cNvSpPr/>
          <p:nvPr/>
        </p:nvSpPr>
        <p:spPr>
          <a:xfrm>
            <a:off x="5780999" y="4707768"/>
            <a:ext cx="1534200" cy="828001"/>
          </a:xfrm>
          <a:prstGeom prst="upArrow">
            <a:avLst>
              <a:gd fmla="val 50000" name="adj1"/>
              <a:gd fmla="val 50000" name="adj2"/>
            </a:avLst>
          </a:prstGeom>
          <a:solidFill>
            <a:srgbClr val="00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
        <p:nvSpPr>
          <p:cNvPr id="820" name="Google Shape;820;p35"/>
          <p:cNvSpPr/>
          <p:nvPr/>
        </p:nvSpPr>
        <p:spPr>
          <a:xfrm>
            <a:off x="5840699" y="3369431"/>
            <a:ext cx="1534200" cy="834168"/>
          </a:xfrm>
          <a:prstGeom prst="upArrow">
            <a:avLst>
              <a:gd fmla="val 50000" name="adj1"/>
              <a:gd fmla="val 50000" name="adj2"/>
            </a:avLst>
          </a:prstGeom>
          <a:solidFill>
            <a:srgbClr val="00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Arial"/>
              <a:ea typeface="Arial"/>
              <a:cs typeface="Arial"/>
              <a:sym typeface="Arial"/>
            </a:endParaRPr>
          </a:p>
        </p:txBody>
      </p:sp>
      <p:pic>
        <p:nvPicPr>
          <p:cNvPr id="821" name="Google Shape;821;p35"/>
          <p:cNvPicPr preferRelativeResize="0"/>
          <p:nvPr/>
        </p:nvPicPr>
        <p:blipFill rotWithShape="1">
          <a:blip r:embed="rId4">
            <a:alphaModFix/>
          </a:blip>
          <a:srcRect b="0" l="0" r="0" t="0"/>
          <a:stretch/>
        </p:blipFill>
        <p:spPr>
          <a:xfrm>
            <a:off x="180001" y="5133859"/>
            <a:ext cx="2586686" cy="963491"/>
          </a:xfrm>
          <a:prstGeom prst="rect">
            <a:avLst/>
          </a:prstGeom>
          <a:noFill/>
          <a:ln cap="flat" cmpd="sng" w="9525">
            <a:solidFill>
              <a:schemeClr val="dk1"/>
            </a:solidFill>
            <a:prstDash val="solid"/>
            <a:round/>
            <a:headEnd len="sm" w="sm" type="none"/>
            <a:tailEnd len="sm" w="sm" type="none"/>
          </a:ln>
        </p:spPr>
      </p:pic>
      <p:pic>
        <p:nvPicPr>
          <p:cNvPr id="822" name="Google Shape;822;p35"/>
          <p:cNvPicPr preferRelativeResize="0"/>
          <p:nvPr/>
        </p:nvPicPr>
        <p:blipFill rotWithShape="1">
          <a:blip r:embed="rId5">
            <a:alphaModFix/>
          </a:blip>
          <a:srcRect b="0" l="0" r="0" t="0"/>
          <a:stretch/>
        </p:blipFill>
        <p:spPr>
          <a:xfrm>
            <a:off x="2832032" y="5116940"/>
            <a:ext cx="1444166" cy="980410"/>
          </a:xfrm>
          <a:prstGeom prst="rect">
            <a:avLst/>
          </a:prstGeom>
          <a:noFill/>
          <a:ln cap="flat" cmpd="sng" w="9525">
            <a:solidFill>
              <a:schemeClr val="dk1"/>
            </a:solidFill>
            <a:prstDash val="solid"/>
            <a:round/>
            <a:headEnd len="sm" w="sm" type="none"/>
            <a:tailEnd len="sm" w="sm" type="none"/>
          </a:ln>
        </p:spPr>
      </p:pic>
      <p:pic>
        <p:nvPicPr>
          <p:cNvPr id="823" name="Google Shape;823;p35"/>
          <p:cNvPicPr preferRelativeResize="0"/>
          <p:nvPr/>
        </p:nvPicPr>
        <p:blipFill rotWithShape="1">
          <a:blip r:embed="rId6">
            <a:alphaModFix/>
          </a:blip>
          <a:srcRect b="0" l="0" r="0" t="0"/>
          <a:stretch/>
        </p:blipFill>
        <p:spPr>
          <a:xfrm>
            <a:off x="1871329" y="3494586"/>
            <a:ext cx="1880199" cy="1509502"/>
          </a:xfrm>
          <a:prstGeom prst="rect">
            <a:avLst/>
          </a:prstGeom>
          <a:noFill/>
          <a:ln>
            <a:noFill/>
          </a:ln>
        </p:spPr>
      </p:pic>
    </p:spTree>
  </p:cSld>
  <p:clrMapOvr>
    <a:masterClrMapping/>
  </p:clrMapOvr>
  <p:transition>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3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Performance in Response to the Evolution of Culture:</a:t>
            </a:r>
            <a:endParaRPr b="0" i="0" sz="2400" u="none" cap="none" strike="noStrike">
              <a:solidFill>
                <a:srgbClr val="333399"/>
              </a:solidFill>
              <a:latin typeface="Arial"/>
              <a:ea typeface="Arial"/>
              <a:cs typeface="Arial"/>
              <a:sym typeface="Arial"/>
            </a:endParaRPr>
          </a:p>
        </p:txBody>
      </p:sp>
      <p:pic>
        <p:nvPicPr>
          <p:cNvPr id="830" name="Google Shape;830;p36"/>
          <p:cNvPicPr preferRelativeResize="0"/>
          <p:nvPr/>
        </p:nvPicPr>
        <p:blipFill rotWithShape="1">
          <a:blip r:embed="rId3">
            <a:alphaModFix/>
          </a:blip>
          <a:srcRect b="0" l="0" r="0" t="0"/>
          <a:stretch/>
        </p:blipFill>
        <p:spPr>
          <a:xfrm>
            <a:off x="2872244" y="1566482"/>
            <a:ext cx="6119356" cy="4589518"/>
          </a:xfrm>
          <a:prstGeom prst="rect">
            <a:avLst/>
          </a:prstGeom>
          <a:noFill/>
          <a:ln>
            <a:noFill/>
          </a:ln>
        </p:spPr>
      </p:pic>
      <p:sp>
        <p:nvSpPr>
          <p:cNvPr id="831" name="Google Shape;831;p36"/>
          <p:cNvSpPr txBox="1"/>
          <p:nvPr/>
        </p:nvSpPr>
        <p:spPr>
          <a:xfrm>
            <a:off x="6526131" y="4114800"/>
            <a:ext cx="2144514" cy="1200329"/>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Twentieth Century"/>
              <a:buNone/>
            </a:pPr>
            <a:r>
              <a:rPr b="1" i="0" lang="en-US" sz="1200" u="none" cap="none" strike="noStrike">
                <a:solidFill>
                  <a:srgbClr val="000000"/>
                </a:solidFill>
                <a:latin typeface="Twentieth Century"/>
                <a:ea typeface="Twentieth Century"/>
                <a:cs typeface="Twentieth Century"/>
                <a:sym typeface="Twentieth Century"/>
              </a:rPr>
              <a:t>Modernized Approaches: </a:t>
            </a:r>
            <a:br>
              <a:rPr b="1" i="0" lang="en-US" sz="1200" u="none" cap="none" strike="noStrike">
                <a:solidFill>
                  <a:srgbClr val="000000"/>
                </a:solidFill>
                <a:latin typeface="Twentieth Century"/>
                <a:ea typeface="Twentieth Century"/>
                <a:cs typeface="Twentieth Century"/>
                <a:sym typeface="Twentieth Century"/>
              </a:rPr>
            </a:br>
            <a:r>
              <a:rPr b="0" i="0" lang="en-US" sz="1200" u="none" cap="none" strike="noStrike">
                <a:solidFill>
                  <a:srgbClr val="000000"/>
                </a:solidFill>
                <a:latin typeface="Twentieth Century"/>
                <a:ea typeface="Twentieth Century"/>
                <a:cs typeface="Twentieth Century"/>
                <a:sym typeface="Twentieth Century"/>
              </a:rPr>
              <a:t>human factors, behavioral-based safety approaches, engagement, cultural alignment, balance, influencing human behaviours</a:t>
            </a:r>
            <a:endParaRPr b="0" i="0" sz="1200" u="none" cap="none" strike="noStrike">
              <a:solidFill>
                <a:srgbClr val="000000"/>
              </a:solidFill>
              <a:latin typeface="Twentieth Century"/>
              <a:ea typeface="Twentieth Century"/>
              <a:cs typeface="Twentieth Century"/>
              <a:sym typeface="Twentieth Century"/>
            </a:endParaRPr>
          </a:p>
        </p:txBody>
      </p:sp>
      <p:sp>
        <p:nvSpPr>
          <p:cNvPr id="832" name="Google Shape;832;p36"/>
          <p:cNvSpPr/>
          <p:nvPr/>
        </p:nvSpPr>
        <p:spPr>
          <a:xfrm>
            <a:off x="5763859" y="5137944"/>
            <a:ext cx="2213785" cy="602039"/>
          </a:xfrm>
          <a:prstGeom prst="stripedRightArrow">
            <a:avLst>
              <a:gd fmla="val 50000" name="adj1"/>
              <a:gd fmla="val 50000" name="adj2"/>
            </a:avLst>
          </a:prstGeom>
          <a:solidFill>
            <a:srgbClr val="FF0000"/>
          </a:solidFill>
          <a:ln cap="flat" cmpd="sng" w="15875">
            <a:solidFill>
              <a:srgbClr val="00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wentieth Century"/>
              <a:buNone/>
            </a:pPr>
            <a:r>
              <a:rPr b="0" i="0" lang="en-US" sz="1800" u="none" cap="none" strike="noStrike">
                <a:solidFill>
                  <a:srgbClr val="FFFFFF"/>
                </a:solidFill>
                <a:latin typeface="Twentieth Century"/>
                <a:ea typeface="Twentieth Century"/>
                <a:cs typeface="Twentieth Century"/>
                <a:sym typeface="Twentieth Century"/>
              </a:rPr>
              <a:t>Target: Zero</a:t>
            </a:r>
            <a:endParaRPr/>
          </a:p>
        </p:txBody>
      </p:sp>
      <p:pic>
        <p:nvPicPr>
          <p:cNvPr descr="The IPKat: Ownership and control of IP: report 3" id="833" name="Google Shape;833;p36"/>
          <p:cNvPicPr preferRelativeResize="0"/>
          <p:nvPr/>
        </p:nvPicPr>
        <p:blipFill rotWithShape="1">
          <a:blip r:embed="rId4">
            <a:alphaModFix/>
          </a:blip>
          <a:srcRect b="0" l="0" r="0" t="0"/>
          <a:stretch/>
        </p:blipFill>
        <p:spPr>
          <a:xfrm>
            <a:off x="7955362" y="5024701"/>
            <a:ext cx="715283" cy="715283"/>
          </a:xfrm>
          <a:prstGeom prst="rect">
            <a:avLst/>
          </a:prstGeom>
          <a:noFill/>
          <a:ln>
            <a:noFill/>
          </a:ln>
        </p:spPr>
      </p:pic>
      <p:sp>
        <p:nvSpPr>
          <p:cNvPr id="834" name="Google Shape;834;p36"/>
          <p:cNvSpPr/>
          <p:nvPr/>
        </p:nvSpPr>
        <p:spPr>
          <a:xfrm>
            <a:off x="6526131" y="4078393"/>
            <a:ext cx="2166060" cy="1245059"/>
          </a:xfrm>
          <a:prstGeom prst="roundRect">
            <a:avLst>
              <a:gd fmla="val 16667" name="adj"/>
            </a:avLst>
          </a:prstGeom>
          <a:noFill/>
          <a:ln cap="flat" cmpd="sng" w="381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Twentieth Century"/>
              <a:ea typeface="Twentieth Century"/>
              <a:cs typeface="Twentieth Century"/>
              <a:sym typeface="Twentieth Century"/>
            </a:endParaRPr>
          </a:p>
        </p:txBody>
      </p:sp>
      <p:sp>
        <p:nvSpPr>
          <p:cNvPr id="835" name="Google Shape;835;p3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Performance improves in response to the evolution (sequential and layering) of the organization’s safety approaches i.e. its safety culture: </a:t>
            </a:r>
            <a:endParaRPr/>
          </a:p>
          <a:p>
            <a:pPr indent="-65700" lvl="0" marL="18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65700" lvl="0" marL="18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180000" lvl="0" marL="18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From prescribed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and leader-directed</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at the left side,</a:t>
            </a:r>
            <a:endParaRPr/>
          </a:p>
          <a:p>
            <a:pPr indent="-65700" lvl="0" marL="18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180000" lvl="0" marL="18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Through building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commitment and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involvement,</a:t>
            </a:r>
            <a:endParaRPr b="0" i="0" sz="1800" u="none" cap="none" strike="noStrike">
              <a:solidFill>
                <a:srgbClr val="000000"/>
              </a:solidFill>
              <a:latin typeface="Arial"/>
              <a:ea typeface="Arial"/>
              <a:cs typeface="Arial"/>
              <a:sym typeface="Arial"/>
            </a:endParaRPr>
          </a:p>
          <a:p>
            <a:pPr indent="-65700" lvl="0" marL="18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180000" lvl="0" marL="18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To advanced and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modernized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approaches to engage</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and empower workers</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in reaching and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sustaining the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desired culture.</a:t>
            </a:r>
            <a:endParaRPr b="0" i="0" sz="1800" u="none" cap="none" strike="noStrike">
              <a:solidFill>
                <a:srgbClr val="000000"/>
              </a:solidFill>
              <a:latin typeface="Arial"/>
              <a:ea typeface="Arial"/>
              <a:cs typeface="Arial"/>
              <a:sym typeface="Arial"/>
            </a:endParaRPr>
          </a:p>
        </p:txBody>
      </p:sp>
      <p:sp>
        <p:nvSpPr>
          <p:cNvPr id="836" name="Google Shape;836;p3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37" name="Google Shape;837;p3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37"/>
          <p:cNvSpPr/>
          <p:nvPr/>
        </p:nvSpPr>
        <p:spPr>
          <a:xfrm>
            <a:off x="180000" y="180000"/>
            <a:ext cx="8640000" cy="54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Organizational Analysis and The DuPont-Bradley Curve:</a:t>
            </a:r>
            <a:endParaRPr b="0" i="0" sz="2400" u="none" cap="none" strike="noStrike">
              <a:solidFill>
                <a:srgbClr val="333399"/>
              </a:solidFill>
              <a:latin typeface="Arial"/>
              <a:ea typeface="Arial"/>
              <a:cs typeface="Arial"/>
              <a:sym typeface="Arial"/>
            </a:endParaRPr>
          </a:p>
        </p:txBody>
      </p:sp>
      <p:sp>
        <p:nvSpPr>
          <p:cNvPr id="846" name="Google Shape;846;p37"/>
          <p:cNvSpPr txBox="1"/>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609600" lvl="0" marL="609600" marR="0" rtl="0" algn="l">
              <a:lnSpc>
                <a:spcPct val="100000"/>
              </a:lnSpc>
              <a:spcBef>
                <a:spcPts val="0"/>
              </a:spcBef>
              <a:spcAft>
                <a:spcPts val="0"/>
              </a:spcAft>
              <a:buClr>
                <a:srgbClr val="000000"/>
              </a:buClr>
              <a:buSzPts val="2000"/>
              <a:buFont typeface="Noto Sans Symbols"/>
              <a:buChar char="⮚"/>
            </a:pPr>
            <a:r>
              <a:rPr b="0" i="0" lang="en-US" sz="1800" u="none" cap="none" strike="noStrike">
                <a:solidFill>
                  <a:schemeClr val="dk1"/>
                </a:solidFill>
                <a:latin typeface="Arial"/>
                <a:ea typeface="Arial"/>
                <a:cs typeface="Arial"/>
                <a:sym typeface="Arial"/>
              </a:rPr>
              <a:t>A method to benchmark progress toward an ideal safety culture</a:t>
            </a:r>
            <a:endParaRPr/>
          </a:p>
          <a:p>
            <a:pPr indent="-609600" lvl="0" marL="609600" marR="0" rtl="0" algn="l">
              <a:lnSpc>
                <a:spcPct val="100000"/>
              </a:lnSpc>
              <a:spcBef>
                <a:spcPts val="0"/>
              </a:spcBef>
              <a:spcAft>
                <a:spcPts val="0"/>
              </a:spcAft>
              <a:buClr>
                <a:srgbClr val="000000"/>
              </a:buClr>
              <a:buSzPts val="2000"/>
              <a:buFont typeface="Noto Sans Symbols"/>
              <a:buChar char="⮚"/>
            </a:pPr>
            <a:r>
              <a:rPr b="0" i="0" lang="en-US" sz="1800" u="none" cap="none" strike="noStrike">
                <a:solidFill>
                  <a:schemeClr val="dk1"/>
                </a:solidFill>
                <a:latin typeface="Arial"/>
                <a:ea typeface="Arial"/>
                <a:cs typeface="Arial"/>
                <a:sym typeface="Arial"/>
              </a:rPr>
              <a:t>Injury rates (losses) fall as you proceed through the phases</a:t>
            </a:r>
            <a:endParaRPr/>
          </a:p>
          <a:p>
            <a:pPr indent="-609600" lvl="0" marL="609600" marR="0" rtl="0" algn="l">
              <a:lnSpc>
                <a:spcPct val="100000"/>
              </a:lnSpc>
              <a:spcBef>
                <a:spcPts val="0"/>
              </a:spcBef>
              <a:spcAft>
                <a:spcPts val="0"/>
              </a:spcAft>
              <a:buClr>
                <a:srgbClr val="000000"/>
              </a:buClr>
              <a:buSzPts val="2000"/>
              <a:buFont typeface="Noto Sans Symbols"/>
              <a:buChar char="⮚"/>
            </a:pPr>
            <a:r>
              <a:rPr b="0" i="0" lang="en-US" sz="1800" u="none" cap="none" strike="noStrike">
                <a:solidFill>
                  <a:schemeClr val="dk1"/>
                </a:solidFill>
                <a:latin typeface="Arial"/>
                <a:ea typeface="Arial"/>
                <a:cs typeface="Arial"/>
                <a:sym typeface="Arial"/>
              </a:rPr>
              <a:t>Video 1:35 m:ss DuPont-Bradley Curve: </a:t>
            </a:r>
            <a:r>
              <a:rPr b="0" i="0" lang="en-US" sz="1200" u="sng" cap="none" strike="noStrike">
                <a:solidFill>
                  <a:schemeClr val="dk1"/>
                </a:solidFill>
                <a:latin typeface="Arial"/>
                <a:ea typeface="Arial"/>
                <a:cs typeface="Arial"/>
                <a:sym typeface="Arial"/>
                <a:hlinkClick r:id="rId3">
                  <a:extLst>
                    <a:ext uri="{A12FA001-AC4F-418D-AE19-62706E023703}">
                      <ahyp:hlinkClr val="tx"/>
                    </a:ext>
                  </a:extLst>
                </a:hlinkClick>
              </a:rPr>
              <a:t>https://www.consultdss.com/bradley-curve-video/</a:t>
            </a:r>
            <a:r>
              <a:rPr b="0" i="0" lang="en-US" sz="12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2000"/>
              <a:buFont typeface="Times New Roman"/>
              <a:buNone/>
            </a:pPr>
            <a:r>
              <a:t/>
            </a:r>
            <a:endParaRPr b="0" i="0" sz="1800" u="none" cap="none" strike="noStrike">
              <a:solidFill>
                <a:schemeClr val="dk1"/>
              </a:solidFill>
              <a:latin typeface="Arial"/>
              <a:ea typeface="Arial"/>
              <a:cs typeface="Arial"/>
              <a:sym typeface="Arial"/>
            </a:endParaRPr>
          </a:p>
        </p:txBody>
      </p:sp>
      <p:sp>
        <p:nvSpPr>
          <p:cNvPr id="847" name="Google Shape;847;p37"/>
          <p:cNvSpPr txBox="1"/>
          <p:nvPr/>
        </p:nvSpPr>
        <p:spPr>
          <a:xfrm>
            <a:off x="180000" y="1752600"/>
            <a:ext cx="8639999" cy="418200"/>
          </a:xfrm>
          <a:prstGeom prst="rect">
            <a:avLst/>
          </a:prstGeom>
          <a:solidFill>
            <a:schemeClr val="lt1"/>
          </a:solidFill>
          <a:ln>
            <a:noFill/>
          </a:ln>
        </p:spPr>
        <p:txBody>
          <a:bodyPr anchorCtr="1" anchor="ctr" bIns="36000" lIns="36000" spcFirstLastPara="1" rIns="36000" wrap="square" tIns="36000">
            <a:noAutofit/>
          </a:bodyPr>
          <a:lstStyle/>
          <a:p>
            <a:pPr indent="0" lvl="0" marL="0" marR="0" rtl="0" algn="ctr">
              <a:spcBef>
                <a:spcPts val="0"/>
              </a:spcBef>
              <a:spcAft>
                <a:spcPts val="0"/>
              </a:spcAft>
              <a:buNone/>
            </a:pPr>
            <a:r>
              <a:rPr b="1" i="0" lang="en-US" sz="1600" u="sng" cap="none" strike="noStrike">
                <a:solidFill>
                  <a:schemeClr val="dk1"/>
                </a:solidFill>
                <a:latin typeface="Arial"/>
                <a:ea typeface="Arial"/>
                <a:cs typeface="Arial"/>
                <a:sym typeface="Arial"/>
              </a:rPr>
              <a:t>The DuPont-Bradley Curve and the Four Different Phases of Cultural Development</a:t>
            </a:r>
            <a:endParaRPr b="1" i="0" sz="1600" u="sng" cap="none" strike="noStrike">
              <a:solidFill>
                <a:schemeClr val="dk1"/>
              </a:solidFill>
              <a:latin typeface="Arial"/>
              <a:ea typeface="Arial"/>
              <a:cs typeface="Arial"/>
              <a:sym typeface="Arial"/>
            </a:endParaRPr>
          </a:p>
        </p:txBody>
      </p:sp>
      <p:sp>
        <p:nvSpPr>
          <p:cNvPr id="848" name="Google Shape;848;p3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49" name="Google Shape;849;p3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pic>
        <p:nvPicPr>
          <p:cNvPr descr="https://i.pinimg.com/736x/04/ae/ae/04aeae4d66e3927101d880a171bdd41f--dupont-project-management.jpg" id="850" name="Google Shape;850;p37"/>
          <p:cNvPicPr preferRelativeResize="0"/>
          <p:nvPr/>
        </p:nvPicPr>
        <p:blipFill rotWithShape="1">
          <a:blip r:embed="rId4">
            <a:alphaModFix/>
          </a:blip>
          <a:srcRect b="0" l="0" r="0" t="0"/>
          <a:stretch/>
        </p:blipFill>
        <p:spPr>
          <a:xfrm>
            <a:off x="1412854" y="2170800"/>
            <a:ext cx="6091490" cy="3985200"/>
          </a:xfrm>
          <a:prstGeom prst="rect">
            <a:avLst/>
          </a:prstGeom>
          <a:noFill/>
          <a:ln>
            <a:noFill/>
          </a:ln>
        </p:spPr>
      </p:pic>
    </p:spTree>
  </p:cSld>
  <p:clrMapOvr>
    <a:masterClrMapping/>
  </p:clrMapOvr>
  <p:transition>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38"/>
          <p:cNvSpPr txBox="1"/>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90000"/>
              </a:lnSpc>
              <a:spcBef>
                <a:spcPts val="0"/>
              </a:spcBef>
              <a:spcAft>
                <a:spcPts val="0"/>
              </a:spcAft>
              <a:buClr>
                <a:srgbClr val="000000"/>
              </a:buClr>
              <a:buSzPts val="2000"/>
              <a:buFont typeface="Noto Sans Symbols"/>
              <a:buChar char="⮚"/>
            </a:pPr>
            <a:r>
              <a:rPr b="0" i="0" lang="en-US" sz="1600" u="none" cap="none" strike="noStrike">
                <a:solidFill>
                  <a:srgbClr val="000000"/>
                </a:solidFill>
                <a:latin typeface="Arial"/>
                <a:ea typeface="Arial"/>
                <a:cs typeface="Arial"/>
                <a:sym typeface="Arial"/>
              </a:rPr>
              <a:t>Phase 1 (Reactive): lowest level; reactive to incidents; reliance on safety manager from the safety department (not the organizational manager e.g. plant  manager) to make changes after an incident, OHS regulatory citation or new regulation; workers tend to resist compliance; workers take on (unacceptable) risks; work environment is generally negative with high stress level for workers </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i="0" sz="16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1600" u="none" cap="none" strike="noStrike">
                <a:solidFill>
                  <a:srgbClr val="000000"/>
                </a:solidFill>
                <a:latin typeface="Arial"/>
                <a:ea typeface="Arial"/>
                <a:cs typeface="Arial"/>
                <a:sym typeface="Arial"/>
              </a:rPr>
              <a:t>Phase 2 (Dependent): slightly better with good training &amp; safety rules; fewer losses but stress can still be high; workers comply because they feel have to, not because they want to; put safety manager in role of “the safety cop” who has to check on workers to make sure they are working safely; workers generally comply but still “take short-cuts”; safety manager hired to “fix safety”; safety manager “owns the loss incident”, leads investigation and “owns results”, not the organizational manager i.e. the safety manager is responsible and accountable.</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i="0" sz="1600" u="none" cap="none" strike="noStrike">
              <a:solidFill>
                <a:srgbClr val="000000"/>
              </a:solidFill>
              <a:latin typeface="Arial"/>
              <a:ea typeface="Arial"/>
              <a:cs typeface="Arial"/>
              <a:sym typeface="Arial"/>
            </a:endParaRPr>
          </a:p>
        </p:txBody>
      </p:sp>
      <p:sp>
        <p:nvSpPr>
          <p:cNvPr id="859" name="Google Shape;859;p38"/>
          <p:cNvSpPr/>
          <p:nvPr/>
        </p:nvSpPr>
        <p:spPr>
          <a:xfrm>
            <a:off x="180000" y="180000"/>
            <a:ext cx="8640000" cy="54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The Phases of The DuPont-Bradley Curve:</a:t>
            </a:r>
            <a:endParaRPr b="0" i="0" sz="2400" u="none" cap="none" strike="noStrike">
              <a:solidFill>
                <a:srgbClr val="333399"/>
              </a:solidFill>
              <a:latin typeface="Arial"/>
              <a:ea typeface="Arial"/>
              <a:cs typeface="Arial"/>
              <a:sym typeface="Arial"/>
            </a:endParaRPr>
          </a:p>
        </p:txBody>
      </p:sp>
      <p:sp>
        <p:nvSpPr>
          <p:cNvPr id="860" name="Google Shape;860;p3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61" name="Google Shape;861;p3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pic>
        <p:nvPicPr>
          <p:cNvPr descr="https://i.pinimg.com/736x/04/ae/ae/04aeae4d66e3927101d880a171bdd41f--dupont-project-management.jpg" id="862" name="Google Shape;862;p38"/>
          <p:cNvPicPr preferRelativeResize="0"/>
          <p:nvPr/>
        </p:nvPicPr>
        <p:blipFill rotWithShape="1">
          <a:blip r:embed="rId3">
            <a:alphaModFix/>
          </a:blip>
          <a:srcRect b="0" l="0" r="0" t="0"/>
          <a:stretch/>
        </p:blipFill>
        <p:spPr>
          <a:xfrm>
            <a:off x="2566143" y="3625649"/>
            <a:ext cx="3867713" cy="2530351"/>
          </a:xfrm>
          <a:prstGeom prst="rect">
            <a:avLst/>
          </a:prstGeom>
          <a:noFill/>
          <a:ln>
            <a:noFill/>
          </a:ln>
        </p:spPr>
      </p:pic>
    </p:spTree>
  </p:cSld>
  <p:clrMapOvr>
    <a:masterClrMapping/>
  </p:clrMapOvr>
  <p:transition>
    <p:fade/>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39"/>
          <p:cNvSpPr txBox="1"/>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90000"/>
              </a:lnSpc>
              <a:spcBef>
                <a:spcPts val="0"/>
              </a:spcBef>
              <a:spcAft>
                <a:spcPts val="0"/>
              </a:spcAft>
              <a:buClr>
                <a:srgbClr val="000000"/>
              </a:buClr>
              <a:buSzPts val="2000"/>
              <a:buFont typeface="Noto Sans Symbols"/>
              <a:buChar char="⮚"/>
            </a:pPr>
            <a:r>
              <a:rPr b="0" i="0" lang="en-US" sz="1600" u="none" cap="none" strike="noStrike">
                <a:solidFill>
                  <a:srgbClr val="000000"/>
                </a:solidFill>
                <a:latin typeface="Arial"/>
                <a:ea typeface="Arial"/>
                <a:cs typeface="Arial"/>
                <a:sym typeface="Arial"/>
              </a:rPr>
              <a:t>Phase 3 (Independent): even better; workplace is proactive; workers have internalized safety requirements, and understand why they are important &amp; know their efforts will be recognized; culture still has room to improve as workers tend to focus more on looking out for themselves; workers begin to stop taking unacceptable risks; evolution of transfer of ownership of loss incidents and investigations from the safety manager to the organizational manager. </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i="0" sz="16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1600" u="none" cap="none" strike="noStrike">
                <a:solidFill>
                  <a:srgbClr val="000000"/>
                </a:solidFill>
                <a:latin typeface="Arial"/>
                <a:ea typeface="Arial"/>
                <a:cs typeface="Arial"/>
                <a:sym typeface="Arial"/>
              </a:rPr>
              <a:t>Phase 4 (Interdependent): gold standard; workers are proactive &amp; engaged; workers take pride in their work &amp; safety record; they do not hesitate to look out for each other &amp; remind fellow workers if they see them cutting safety corners; workers “own their safety”, do not take unacceptable risks i.e. they stop;  transfer of ownership is complete – organizational manager own the loss incident, the investigation, and the results i.e. the organizational manager.</a:t>
            </a:r>
            <a:endParaRPr/>
          </a:p>
        </p:txBody>
      </p:sp>
      <p:sp>
        <p:nvSpPr>
          <p:cNvPr id="871" name="Google Shape;871;p39"/>
          <p:cNvSpPr/>
          <p:nvPr/>
        </p:nvSpPr>
        <p:spPr>
          <a:xfrm>
            <a:off x="180000" y="180000"/>
            <a:ext cx="8640000" cy="54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The Phases of The DuPont-Bradley Curve:</a:t>
            </a:r>
            <a:endParaRPr b="0" i="0" sz="2400" u="none" cap="none" strike="noStrike">
              <a:solidFill>
                <a:srgbClr val="333399"/>
              </a:solidFill>
              <a:latin typeface="Arial"/>
              <a:ea typeface="Arial"/>
              <a:cs typeface="Arial"/>
              <a:sym typeface="Arial"/>
            </a:endParaRPr>
          </a:p>
        </p:txBody>
      </p:sp>
      <p:sp>
        <p:nvSpPr>
          <p:cNvPr id="872" name="Google Shape;872;p3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73" name="Google Shape;873;p3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pic>
        <p:nvPicPr>
          <p:cNvPr descr="https://i.pinimg.com/736x/04/ae/ae/04aeae4d66e3927101d880a171bdd41f--dupont-project-management.jpg" id="874" name="Google Shape;874;p39"/>
          <p:cNvPicPr preferRelativeResize="0"/>
          <p:nvPr/>
        </p:nvPicPr>
        <p:blipFill rotWithShape="1">
          <a:blip r:embed="rId3">
            <a:alphaModFix/>
          </a:blip>
          <a:srcRect b="0" l="0" r="0" t="0"/>
          <a:stretch/>
        </p:blipFill>
        <p:spPr>
          <a:xfrm>
            <a:off x="2566143" y="3625649"/>
            <a:ext cx="3867713" cy="2530351"/>
          </a:xfrm>
          <a:prstGeom prst="rect">
            <a:avLst/>
          </a:prstGeom>
          <a:noFill/>
          <a:ln>
            <a:noFill/>
          </a:ln>
        </p:spPr>
      </p:pic>
    </p:spTree>
  </p:cSld>
  <p:clrMapOvr>
    <a:masterClrMapping/>
  </p:clrMapOvr>
  <p:transition>
    <p:fade/>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40"/>
          <p:cNvSpPr txBox="1"/>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None/>
            </a:pPr>
            <a:r>
              <a:rPr b="1" i="0" lang="en-US" sz="1600" u="none" cap="none" strike="noStrike">
                <a:solidFill>
                  <a:srgbClr val="000000"/>
                </a:solidFill>
                <a:latin typeface="Arial"/>
                <a:ea typeface="Arial"/>
                <a:cs typeface="Arial"/>
                <a:sym typeface="Arial"/>
              </a:rPr>
              <a:t>Our Tenet: Culture drives performance!</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1600" u="none" cap="none" strike="noStrike">
                <a:solidFill>
                  <a:srgbClr val="000000"/>
                </a:solidFill>
                <a:latin typeface="Arial"/>
                <a:ea typeface="Arial"/>
                <a:cs typeface="Arial"/>
                <a:sym typeface="Arial"/>
              </a:rPr>
              <a:t>So, to improve performance, leaders need to influence culture. </a:t>
            </a:r>
            <a:endParaRPr b="0" i="0" sz="16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1600" u="none" cap="none" strike="noStrike">
                <a:solidFill>
                  <a:srgbClr val="000000"/>
                </a:solidFill>
                <a:latin typeface="Arial"/>
                <a:ea typeface="Arial"/>
                <a:cs typeface="Arial"/>
                <a:sym typeface="Arial"/>
              </a:rPr>
              <a:t>Many organizations think they are well developed into Phase 3, even Phase 4, but in reality the organization is not there.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1600" u="none" cap="none" strike="noStrike">
                <a:solidFill>
                  <a:srgbClr val="000000"/>
                </a:solidFill>
                <a:latin typeface="Arial"/>
                <a:ea typeface="Arial"/>
                <a:cs typeface="Arial"/>
                <a:sym typeface="Arial"/>
              </a:rPr>
              <a:t>As a leader you need to know where your organization is i.e. in which phase of the Bradley Curve is your organization?</a:t>
            </a:r>
            <a:endParaRPr/>
          </a:p>
          <a:p>
            <a:pPr indent="-360000" lvl="1" marL="360000" marR="0" rtl="0" algn="l">
              <a:lnSpc>
                <a:spcPct val="100000"/>
              </a:lnSpc>
              <a:spcBef>
                <a:spcPts val="0"/>
              </a:spcBef>
              <a:spcAft>
                <a:spcPts val="0"/>
              </a:spcAft>
              <a:buClr>
                <a:srgbClr val="000000"/>
              </a:buClr>
              <a:buSzPts val="2000"/>
              <a:buFont typeface="Times New Roman"/>
              <a:buNone/>
            </a:pPr>
            <a:r>
              <a:t/>
            </a:r>
            <a:endParaRPr b="1" i="0" sz="16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2000"/>
              <a:buFont typeface="Times New Roman"/>
              <a:buNone/>
            </a:pPr>
            <a:r>
              <a:rPr b="1" i="0" lang="en-US" sz="1600" u="none" cap="none" strike="noStrike">
                <a:solidFill>
                  <a:srgbClr val="000000"/>
                </a:solidFill>
                <a:latin typeface="Arial"/>
                <a:ea typeface="Arial"/>
                <a:cs typeface="Arial"/>
                <a:sym typeface="Arial"/>
              </a:rPr>
              <a:t>An organization can be analyzed to determine its development along The D-B Curve:</a:t>
            </a:r>
            <a:endParaRPr b="0" i="0" sz="1600" u="none" cap="none" strike="noStrike">
              <a:solidFill>
                <a:srgbClr val="000000"/>
              </a:solidFill>
              <a:latin typeface="Arial"/>
              <a:ea typeface="Arial"/>
              <a:cs typeface="Arial"/>
              <a:sym typeface="Arial"/>
            </a:endParaRPr>
          </a:p>
          <a:p>
            <a:pPr indent="-360000" lvl="1" marL="360000" marR="0" rtl="0" algn="l">
              <a:lnSpc>
                <a:spcPct val="100000"/>
              </a:lnSpc>
              <a:spcBef>
                <a:spcPts val="0"/>
              </a:spcBef>
              <a:spcAft>
                <a:spcPts val="0"/>
              </a:spcAft>
              <a:buClr>
                <a:srgbClr val="000000"/>
              </a:buClr>
              <a:buSzPts val="2000"/>
              <a:buFont typeface="Noto Sans Symbols"/>
              <a:buChar char="⮚"/>
            </a:pPr>
            <a:r>
              <a:rPr b="0" i="0" lang="en-US" sz="1600" u="none" cap="none" strike="noStrike">
                <a:solidFill>
                  <a:srgbClr val="000000"/>
                </a:solidFill>
                <a:latin typeface="Arial"/>
                <a:ea typeface="Arial"/>
                <a:cs typeface="Arial"/>
                <a:sym typeface="Arial"/>
              </a:rPr>
              <a:t>You can determine which phase by analysing your organization:</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1600" u="none" cap="none" strike="noStrike">
                <a:solidFill>
                  <a:srgbClr val="000000"/>
                </a:solidFill>
                <a:latin typeface="Arial"/>
                <a:ea typeface="Arial"/>
                <a:cs typeface="Arial"/>
                <a:sym typeface="Arial"/>
              </a:rPr>
              <a:t>Compare characteristics of each phase in the D-B Curve with the characteristics in your organization.</a:t>
            </a:r>
            <a:endParaRPr b="0" i="0" sz="16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1600" u="none" cap="none" strike="noStrike">
                <a:solidFill>
                  <a:srgbClr val="000000"/>
                </a:solidFill>
                <a:latin typeface="Arial"/>
                <a:ea typeface="Arial"/>
                <a:cs typeface="Arial"/>
                <a:sym typeface="Arial"/>
              </a:rPr>
              <a:t>Compare the implementation of various risk management system elements and programs. For example on RME #5 IRIAA: </a:t>
            </a:r>
            <a:endParaRPr/>
          </a:p>
          <a:p>
            <a:pPr indent="-359999" lvl="1" marL="1080000" marR="0" rtl="0" algn="l">
              <a:lnSpc>
                <a:spcPct val="100000"/>
              </a:lnSpc>
              <a:spcBef>
                <a:spcPts val="0"/>
              </a:spcBef>
              <a:spcAft>
                <a:spcPts val="0"/>
              </a:spcAft>
              <a:buClr>
                <a:srgbClr val="000000"/>
              </a:buClr>
              <a:buSzPts val="2000"/>
              <a:buFont typeface="Noto Sans Symbols"/>
              <a:buChar char="⮚"/>
            </a:pPr>
            <a:r>
              <a:rPr b="0" i="0" lang="en-US" sz="1600" u="none" cap="none" strike="noStrike">
                <a:solidFill>
                  <a:srgbClr val="000000"/>
                </a:solidFill>
                <a:latin typeface="Arial"/>
                <a:ea typeface="Arial"/>
                <a:cs typeface="Arial"/>
                <a:sym typeface="Arial"/>
              </a:rPr>
              <a:t>Advanced safety cultures are proactive e.g. reporting and investigating near miss events with high potential; whereas</a:t>
            </a:r>
            <a:endParaRPr/>
          </a:p>
          <a:p>
            <a:pPr indent="-359999" lvl="1" marL="1080000" marR="0" rtl="0" algn="l">
              <a:lnSpc>
                <a:spcPct val="100000"/>
              </a:lnSpc>
              <a:spcBef>
                <a:spcPts val="0"/>
              </a:spcBef>
              <a:spcAft>
                <a:spcPts val="0"/>
              </a:spcAft>
              <a:buClr>
                <a:srgbClr val="000000"/>
              </a:buClr>
              <a:buSzPts val="2000"/>
              <a:buFont typeface="Noto Sans Symbols"/>
              <a:buChar char="⮚"/>
            </a:pPr>
            <a:r>
              <a:rPr b="0" i="0" lang="en-US" sz="1600" u="none" cap="none" strike="noStrike">
                <a:solidFill>
                  <a:srgbClr val="000000"/>
                </a:solidFill>
                <a:latin typeface="Arial"/>
                <a:ea typeface="Arial"/>
                <a:cs typeface="Arial"/>
                <a:sym typeface="Arial"/>
              </a:rPr>
              <a:t>Cultures at a lower-phase of maturity have more of a reactive approach </a:t>
            </a:r>
            <a:br>
              <a:rPr b="0" i="0" lang="en-US" sz="16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e.g. reporting only the most significant events as required by law, and may not even be investigation those events.</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16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1600" u="none" cap="none" strike="noStrike">
                <a:solidFill>
                  <a:srgbClr val="000000"/>
                </a:solidFill>
                <a:latin typeface="Arial"/>
                <a:ea typeface="Arial"/>
                <a:cs typeface="Arial"/>
                <a:sym typeface="Arial"/>
              </a:rPr>
              <a:t>This same approach can be done on any other RM element and program. </a:t>
            </a:r>
            <a:endParaRPr/>
          </a:p>
        </p:txBody>
      </p:sp>
      <p:sp>
        <p:nvSpPr>
          <p:cNvPr id="883" name="Google Shape;883;p40"/>
          <p:cNvSpPr/>
          <p:nvPr/>
        </p:nvSpPr>
        <p:spPr>
          <a:xfrm>
            <a:off x="180000" y="180000"/>
            <a:ext cx="8640000" cy="54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How to Apply The DuPont-Bradley Curve:</a:t>
            </a:r>
            <a:endParaRPr b="0" i="0" sz="2400" u="none" cap="none" strike="noStrike">
              <a:solidFill>
                <a:srgbClr val="333399"/>
              </a:solidFill>
              <a:latin typeface="Arial"/>
              <a:ea typeface="Arial"/>
              <a:cs typeface="Arial"/>
              <a:sym typeface="Arial"/>
            </a:endParaRPr>
          </a:p>
        </p:txBody>
      </p:sp>
      <p:sp>
        <p:nvSpPr>
          <p:cNvPr id="884" name="Google Shape;884;p4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85" name="Google Shape;885;p4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41"/>
          <p:cNvSpPr/>
          <p:nvPr/>
        </p:nvSpPr>
        <p:spPr>
          <a:xfrm>
            <a:off x="180000" y="180000"/>
            <a:ext cx="8640000" cy="504000"/>
          </a:xfrm>
          <a:prstGeom prst="rect">
            <a:avLst/>
          </a:prstGeom>
          <a:solidFill>
            <a:srgbClr val="0000CC"/>
          </a:solidFill>
          <a:ln cap="flat" cmpd="sng" w="9525">
            <a:solidFill>
              <a:srgbClr val="0000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8F8F8"/>
                </a:solidFill>
                <a:latin typeface="Arial"/>
                <a:ea typeface="Arial"/>
                <a:cs typeface="Arial"/>
                <a:sym typeface="Arial"/>
              </a:rPr>
              <a:t>ALE #5: Apply The DuPont-Bradley Curve to RME #4 MOC</a:t>
            </a:r>
            <a:endParaRPr b="0" i="0" sz="2400" u="none" cap="none" strike="noStrike">
              <a:solidFill>
                <a:srgbClr val="F8F8F8"/>
              </a:solidFill>
              <a:latin typeface="Arial"/>
              <a:ea typeface="Arial"/>
              <a:cs typeface="Arial"/>
              <a:sym typeface="Arial"/>
            </a:endParaRPr>
          </a:p>
        </p:txBody>
      </p:sp>
      <p:sp>
        <p:nvSpPr>
          <p:cNvPr id="895" name="Google Shape;895;p41"/>
          <p:cNvSpPr/>
          <p:nvPr/>
        </p:nvSpPr>
        <p:spPr>
          <a:xfrm>
            <a:off x="180000" y="828000"/>
            <a:ext cx="8640000" cy="5328000"/>
          </a:xfrm>
          <a:prstGeom prst="rect">
            <a:avLst/>
          </a:prstGeom>
          <a:solidFill>
            <a:srgbClr val="0000CC"/>
          </a:solidFill>
          <a:ln cap="flat" cmpd="sng" w="9525">
            <a:solidFill>
              <a:srgbClr val="0000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0" i="1" lang="en-US" sz="2000" u="none" cap="none" strike="noStrike">
                <a:solidFill>
                  <a:srgbClr val="F8F8F8"/>
                </a:solidFill>
                <a:latin typeface="Arial"/>
                <a:ea typeface="Arial"/>
                <a:cs typeface="Arial"/>
                <a:sym typeface="Arial"/>
              </a:rPr>
              <a:t>Please confer (pen-to-paper, open discussion):</a:t>
            </a:r>
            <a:endParaRPr b="0" i="1" sz="2000" u="none" cap="none" strike="noStrike">
              <a:solidFill>
                <a:srgbClr val="F8F8F8"/>
              </a:solidFill>
              <a:latin typeface="Arial"/>
              <a:ea typeface="Arial"/>
              <a:cs typeface="Arial"/>
              <a:sym typeface="Arial"/>
            </a:endParaRPr>
          </a:p>
          <a:p>
            <a:pPr indent="0" lvl="0" marL="0" marR="0" rtl="0" algn="l">
              <a:lnSpc>
                <a:spcPct val="90000"/>
              </a:lnSpc>
              <a:spcBef>
                <a:spcPts val="0"/>
              </a:spcBef>
              <a:spcAft>
                <a:spcPts val="0"/>
              </a:spcAft>
              <a:buNone/>
            </a:pPr>
            <a:r>
              <a:t/>
            </a:r>
            <a:endParaRPr b="0" i="1" sz="2000" u="none" cap="none" strike="noStrike">
              <a:solidFill>
                <a:srgbClr val="F8F8F8"/>
              </a:solidFill>
              <a:latin typeface="Arial"/>
              <a:ea typeface="Arial"/>
              <a:cs typeface="Arial"/>
              <a:sym typeface="Arial"/>
            </a:endParaRPr>
          </a:p>
          <a:p>
            <a:pPr indent="0" lvl="0" marL="0" marR="0" rtl="0" algn="l">
              <a:lnSpc>
                <a:spcPct val="90000"/>
              </a:lnSpc>
              <a:spcBef>
                <a:spcPts val="0"/>
              </a:spcBef>
              <a:spcAft>
                <a:spcPts val="0"/>
              </a:spcAft>
              <a:buNone/>
            </a:pPr>
            <a:r>
              <a:rPr b="1" i="1" lang="en-US" sz="2000" u="none" cap="none" strike="noStrike">
                <a:solidFill>
                  <a:srgbClr val="F8F8F8"/>
                </a:solidFill>
                <a:latin typeface="Arial"/>
                <a:ea typeface="Arial"/>
                <a:cs typeface="Arial"/>
                <a:sym typeface="Arial"/>
              </a:rPr>
              <a:t>RME #4 Management of Change:</a:t>
            </a:r>
            <a:endParaRPr/>
          </a:p>
          <a:p>
            <a:pPr indent="0" lvl="0" marL="0" marR="0" rtl="0" algn="l">
              <a:lnSpc>
                <a:spcPct val="90000"/>
              </a:lnSpc>
              <a:spcBef>
                <a:spcPts val="0"/>
              </a:spcBef>
              <a:spcAft>
                <a:spcPts val="0"/>
              </a:spcAft>
              <a:buNone/>
            </a:pPr>
            <a:r>
              <a:rPr b="0" i="1" lang="en-US" sz="2000" u="none" cap="none" strike="noStrike">
                <a:solidFill>
                  <a:srgbClr val="F8F8F8"/>
                </a:solidFill>
                <a:latin typeface="Arial"/>
                <a:ea typeface="Arial"/>
                <a:cs typeface="Arial"/>
                <a:sym typeface="Arial"/>
              </a:rPr>
              <a:t>This element is about “managing change” within the organization. Key points:</a:t>
            </a:r>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A change from what has usually or normally been done or used e.g. procedure, or a change in the organization (people and processes)</a:t>
            </a:r>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“Change” introduces or causes a change in: a) risk level, or</a:t>
            </a:r>
            <a:br>
              <a:rPr b="0" i="1" lang="en-US" sz="2000" u="none" cap="none" strike="noStrike">
                <a:solidFill>
                  <a:srgbClr val="F8F8F8"/>
                </a:solidFill>
                <a:latin typeface="Arial"/>
                <a:ea typeface="Arial"/>
                <a:cs typeface="Arial"/>
                <a:sym typeface="Arial"/>
              </a:rPr>
            </a:br>
            <a:r>
              <a:rPr b="0" i="1" lang="en-US" sz="2000" u="none" cap="none" strike="noStrike">
                <a:solidFill>
                  <a:srgbClr val="F8F8F8"/>
                </a:solidFill>
                <a:latin typeface="Arial"/>
                <a:ea typeface="Arial"/>
                <a:cs typeface="Arial"/>
                <a:sym typeface="Arial"/>
              </a:rPr>
              <a:t>b) the effectiveness in risk control measures, or c) new risks!</a:t>
            </a:r>
            <a:endParaRPr/>
          </a:p>
          <a:p>
            <a:pPr indent="-360000" lvl="0" marL="360000" marR="0" rtl="0" algn="l">
              <a:lnSpc>
                <a:spcPct val="90000"/>
              </a:lnSpc>
              <a:spcBef>
                <a:spcPts val="0"/>
              </a:spcBef>
              <a:spcAft>
                <a:spcPts val="0"/>
              </a:spcAft>
              <a:buClr>
                <a:srgbClr val="F8F8F8"/>
              </a:buClr>
              <a:buSzPts val="2000"/>
              <a:buFont typeface="Noto Sans Symbols"/>
              <a:buChar char="⮚"/>
            </a:pPr>
            <a:r>
              <a:rPr b="0" i="1" lang="en-US" sz="2000" u="none" cap="none" strike="noStrike">
                <a:solidFill>
                  <a:srgbClr val="F8F8F8"/>
                </a:solidFill>
                <a:latin typeface="Arial"/>
                <a:ea typeface="Arial"/>
                <a:cs typeface="Arial"/>
                <a:sym typeface="Arial"/>
              </a:rPr>
              <a:t>Management must clearly communicate the definition of change, and reinforce the processes for managing change.</a:t>
            </a:r>
            <a:endParaRPr/>
          </a:p>
          <a:p>
            <a:pPr indent="0" lvl="0" marL="0" marR="0" rtl="0" algn="l">
              <a:lnSpc>
                <a:spcPct val="90000"/>
              </a:lnSpc>
              <a:spcBef>
                <a:spcPts val="0"/>
              </a:spcBef>
              <a:spcAft>
                <a:spcPts val="0"/>
              </a:spcAft>
              <a:buNone/>
            </a:pPr>
            <a:r>
              <a:t/>
            </a:r>
            <a:endParaRPr b="0" i="1" sz="2000" u="none" cap="none" strike="noStrike">
              <a:solidFill>
                <a:srgbClr val="F8F8F8"/>
              </a:solidFill>
              <a:latin typeface="Arial"/>
              <a:ea typeface="Arial"/>
              <a:cs typeface="Arial"/>
              <a:sym typeface="Arial"/>
            </a:endParaRPr>
          </a:p>
          <a:p>
            <a:pPr indent="0" lvl="0" marL="0" marR="0" rtl="0" algn="l">
              <a:lnSpc>
                <a:spcPct val="90000"/>
              </a:lnSpc>
              <a:spcBef>
                <a:spcPts val="0"/>
              </a:spcBef>
              <a:spcAft>
                <a:spcPts val="0"/>
              </a:spcAft>
              <a:buNone/>
            </a:pPr>
            <a:r>
              <a:t/>
            </a:r>
            <a:endParaRPr b="0" i="1" sz="2000" u="none" cap="none" strike="noStrike">
              <a:solidFill>
                <a:srgbClr val="F8F8F8"/>
              </a:solidFill>
              <a:latin typeface="Arial"/>
              <a:ea typeface="Arial"/>
              <a:cs typeface="Arial"/>
              <a:sym typeface="Arial"/>
            </a:endParaRPr>
          </a:p>
          <a:p>
            <a:pPr indent="0" lvl="0" marL="0" marR="0" rtl="0" algn="l">
              <a:lnSpc>
                <a:spcPct val="90000"/>
              </a:lnSpc>
              <a:spcBef>
                <a:spcPts val="0"/>
              </a:spcBef>
              <a:spcAft>
                <a:spcPts val="0"/>
              </a:spcAft>
              <a:buNone/>
            </a:pPr>
            <a:r>
              <a:rPr b="0" i="1" lang="en-US" sz="2000" u="none" cap="none" strike="noStrike">
                <a:solidFill>
                  <a:srgbClr val="F8F8F8"/>
                </a:solidFill>
                <a:latin typeface="Arial"/>
                <a:ea typeface="Arial"/>
                <a:cs typeface="Arial"/>
                <a:sym typeface="Arial"/>
              </a:rPr>
              <a:t>Using RME #4 MOC as the point for analyzing how an organization has developed along the DuPont-Bradley Curve, what would be some positive or desirable characteristics of an organization in an advanced safety culture (in Phase 4) versus the negative or undesirable characteristics of an organization in an early phase?</a:t>
            </a:r>
            <a:endParaRPr/>
          </a:p>
        </p:txBody>
      </p:sp>
      <p:sp>
        <p:nvSpPr>
          <p:cNvPr id="896" name="Google Shape;896;p4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97" name="Google Shape;897;p4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42"/>
          <p:cNvSpPr/>
          <p:nvPr/>
        </p:nvSpPr>
        <p:spPr>
          <a:xfrm>
            <a:off x="180000" y="180000"/>
            <a:ext cx="8640000" cy="54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Integration of PDCA, RME #6, PECI, &amp; The Bradley Curve:</a:t>
            </a:r>
            <a:endParaRPr b="0" i="0" sz="2400" u="none" cap="none" strike="noStrike">
              <a:solidFill>
                <a:srgbClr val="333399"/>
              </a:solidFill>
              <a:latin typeface="Arial"/>
              <a:ea typeface="Arial"/>
              <a:cs typeface="Arial"/>
              <a:sym typeface="Arial"/>
            </a:endParaRPr>
          </a:p>
        </p:txBody>
      </p:sp>
      <p:sp>
        <p:nvSpPr>
          <p:cNvPr id="906" name="Google Shape;906;p4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907" name="Google Shape;907;p4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pic>
        <p:nvPicPr>
          <p:cNvPr id="908" name="Google Shape;908;p42"/>
          <p:cNvPicPr preferRelativeResize="0"/>
          <p:nvPr/>
        </p:nvPicPr>
        <p:blipFill rotWithShape="1">
          <a:blip r:embed="rId3">
            <a:alphaModFix/>
          </a:blip>
          <a:srcRect b="0" l="0" r="0" t="0"/>
          <a:stretch/>
        </p:blipFill>
        <p:spPr>
          <a:xfrm>
            <a:off x="6267000" y="4248000"/>
            <a:ext cx="2496000" cy="1872000"/>
          </a:xfrm>
          <a:prstGeom prst="rect">
            <a:avLst/>
          </a:prstGeom>
          <a:noFill/>
          <a:ln cap="flat" cmpd="sng" w="9525">
            <a:solidFill>
              <a:schemeClr val="dk1"/>
            </a:solidFill>
            <a:prstDash val="solid"/>
            <a:round/>
            <a:headEnd len="sm" w="sm" type="none"/>
            <a:tailEnd len="sm" w="sm" type="none"/>
          </a:ln>
        </p:spPr>
      </p:pic>
      <p:pic>
        <p:nvPicPr>
          <p:cNvPr id="909" name="Google Shape;909;p42"/>
          <p:cNvPicPr preferRelativeResize="0"/>
          <p:nvPr/>
        </p:nvPicPr>
        <p:blipFill rotWithShape="1">
          <a:blip r:embed="rId4">
            <a:alphaModFix/>
          </a:blip>
          <a:srcRect b="0" l="0" r="0" t="0"/>
          <a:stretch/>
        </p:blipFill>
        <p:spPr>
          <a:xfrm>
            <a:off x="3655560" y="3995400"/>
            <a:ext cx="2495999" cy="1872000"/>
          </a:xfrm>
          <a:prstGeom prst="rect">
            <a:avLst/>
          </a:prstGeom>
          <a:noFill/>
          <a:ln cap="flat" cmpd="sng" w="9525">
            <a:solidFill>
              <a:schemeClr val="dk1"/>
            </a:solidFill>
            <a:prstDash val="solid"/>
            <a:round/>
            <a:headEnd len="sm" w="sm" type="none"/>
            <a:tailEnd len="sm" w="sm" type="none"/>
          </a:ln>
        </p:spPr>
      </p:pic>
      <p:sp>
        <p:nvSpPr>
          <p:cNvPr id="910" name="Google Shape;910;p4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analysis of an organization using the DuPont-Bradley Curve can essentially examine the sub-culture of an organization; for example,  how it “does work” relating to any risk management system element.</a:t>
            </a:r>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obvious goal is to improve – advance along the Curve. </a:t>
            </a:r>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programs under RME #6 PECI are exactly intended to do this!</a:t>
            </a:r>
            <a:endParaRPr/>
          </a:p>
          <a:p>
            <a:pPr indent="-359999" lvl="0"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And the application of #6 PECI is the application of Plan-Do-Check-Act at the organizational (system / program) level. </a:t>
            </a:r>
            <a:endParaRPr/>
          </a:p>
        </p:txBody>
      </p:sp>
      <p:pic>
        <p:nvPicPr>
          <p:cNvPr descr="https://i.pinimg.com/736x/04/ae/ae/04aeae4d66e3927101d880a171bdd41f--dupont-project-management.jpg" id="911" name="Google Shape;911;p42"/>
          <p:cNvPicPr preferRelativeResize="0"/>
          <p:nvPr/>
        </p:nvPicPr>
        <p:blipFill rotWithShape="1">
          <a:blip r:embed="rId5">
            <a:alphaModFix/>
          </a:blip>
          <a:srcRect b="0" l="0" r="0" t="0"/>
          <a:stretch/>
        </p:blipFill>
        <p:spPr>
          <a:xfrm>
            <a:off x="407711" y="3124200"/>
            <a:ext cx="3132408" cy="2049297"/>
          </a:xfrm>
          <a:prstGeom prst="rect">
            <a:avLst/>
          </a:prstGeom>
          <a:noFill/>
          <a:ln>
            <a:noFill/>
          </a:ln>
        </p:spPr>
      </p:pic>
    </p:spTree>
  </p:cSld>
  <p:clrMapOvr>
    <a:masterClrMapping/>
  </p:clrMapOvr>
  <p:transition>
    <p:fade/>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4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918" name="Google Shape;918;p43"/>
          <p:cNvSpPr/>
          <p:nvPr/>
        </p:nvSpPr>
        <p:spPr>
          <a:xfrm>
            <a:off x="180000" y="216000"/>
            <a:ext cx="8640000" cy="504000"/>
          </a:xfrm>
          <a:prstGeom prst="rect">
            <a:avLst/>
          </a:prstGeom>
          <a:solidFill>
            <a:srgbClr val="FFFFFF">
              <a:alpha val="6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Summary: Leadership, Culture, and Performance</a:t>
            </a:r>
            <a:endParaRPr b="0" i="0" sz="2400" u="none" cap="none" strike="noStrike">
              <a:solidFill>
                <a:schemeClr val="accent2"/>
              </a:solidFill>
              <a:latin typeface="Arial"/>
              <a:ea typeface="Arial"/>
              <a:cs typeface="Arial"/>
              <a:sym typeface="Arial"/>
            </a:endParaRPr>
          </a:p>
        </p:txBody>
      </p:sp>
      <p:sp>
        <p:nvSpPr>
          <p:cNvPr id="919" name="Google Shape;919;p4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920" name="Google Shape;920;p4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
        <p:nvSpPr>
          <p:cNvPr id="921" name="Google Shape;921;p43"/>
          <p:cNvSpPr/>
          <p:nvPr/>
        </p:nvSpPr>
        <p:spPr>
          <a:xfrm>
            <a:off x="3309257" y="838200"/>
            <a:ext cx="2286472" cy="1954792"/>
          </a:xfrm>
          <a:prstGeom prst="triangle">
            <a:avLst>
              <a:gd fmla="val 50697" name="adj"/>
            </a:avLst>
          </a:prstGeom>
          <a:solidFill>
            <a:schemeClr val="accent1"/>
          </a:solidFill>
          <a:ln cap="flat" cmpd="sng" w="25400">
            <a:solidFill>
              <a:schemeClr val="dk1"/>
            </a:solidFill>
            <a:prstDash val="solid"/>
            <a:round/>
            <a:headEnd len="sm" w="sm" type="none"/>
            <a:tailEnd len="sm" w="sm" type="none"/>
          </a:ln>
        </p:spPr>
        <p:txBody>
          <a:bodyPr anchorCtr="0" anchor="b" bIns="0" lIns="0" spcFirstLastPara="1" rIns="0" wrap="square" tIns="0">
            <a:noAutofit/>
          </a:bodyPr>
          <a:lstStyle/>
          <a:p>
            <a:pPr indent="0" lvl="0" marL="0" marR="0" rtl="0" algn="ctr">
              <a:spcBef>
                <a:spcPts val="0"/>
              </a:spcBef>
              <a:spcAft>
                <a:spcPts val="0"/>
              </a:spcAft>
              <a:buNone/>
            </a:pPr>
            <a:r>
              <a:t/>
            </a:r>
            <a:endParaRPr b="1" i="0" sz="1600" u="none" cap="none" strike="noStrike">
              <a:solidFill>
                <a:schemeClr val="dk1"/>
              </a:solidFill>
              <a:latin typeface="Arial"/>
              <a:ea typeface="Arial"/>
              <a:cs typeface="Arial"/>
              <a:sym typeface="Arial"/>
            </a:endParaRPr>
          </a:p>
        </p:txBody>
      </p:sp>
      <p:sp>
        <p:nvSpPr>
          <p:cNvPr id="922" name="Google Shape;922;p43"/>
          <p:cNvSpPr/>
          <p:nvPr/>
        </p:nvSpPr>
        <p:spPr>
          <a:xfrm>
            <a:off x="2666999" y="3297161"/>
            <a:ext cx="3528000" cy="828000"/>
          </a:xfrm>
          <a:prstGeom prst="trapezoid">
            <a:avLst>
              <a:gd fmla="val 58631" name="adj"/>
            </a:avLst>
          </a:prstGeom>
          <a:solidFill>
            <a:schemeClr val="accent1"/>
          </a:solidFill>
          <a:ln cap="flat" cmpd="sng" w="25400">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Culture</a:t>
            </a:r>
            <a:endParaRPr/>
          </a:p>
        </p:txBody>
      </p:sp>
      <p:sp>
        <p:nvSpPr>
          <p:cNvPr id="923" name="Google Shape;923;p43"/>
          <p:cNvSpPr/>
          <p:nvPr/>
        </p:nvSpPr>
        <p:spPr>
          <a:xfrm>
            <a:off x="2057400" y="4629330"/>
            <a:ext cx="4752000" cy="828000"/>
          </a:xfrm>
          <a:prstGeom prst="trapezoid">
            <a:avLst>
              <a:gd fmla="val 59680" name="adj"/>
            </a:avLst>
          </a:prstGeom>
          <a:solidFill>
            <a:schemeClr val="accent1"/>
          </a:solidFill>
          <a:ln cap="flat" cmpd="sng" w="25400">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Leadership Actions</a:t>
            </a:r>
            <a:endParaRPr b="1" i="0" sz="1800" u="none" cap="none" strike="noStrike">
              <a:solidFill>
                <a:schemeClr val="dk1"/>
              </a:solidFill>
              <a:latin typeface="Arial"/>
              <a:ea typeface="Arial"/>
              <a:cs typeface="Arial"/>
              <a:sym typeface="Arial"/>
            </a:endParaRPr>
          </a:p>
        </p:txBody>
      </p:sp>
      <p:sp>
        <p:nvSpPr>
          <p:cNvPr id="924" name="Google Shape;924;p43"/>
          <p:cNvSpPr/>
          <p:nvPr/>
        </p:nvSpPr>
        <p:spPr>
          <a:xfrm>
            <a:off x="3352328" y="1735969"/>
            <a:ext cx="2286472" cy="778631"/>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Performance</a:t>
            </a:r>
            <a:endParaRPr b="1" i="0" sz="1800" u="none" cap="none" strike="noStrike">
              <a:solidFill>
                <a:schemeClr val="dk1"/>
              </a:solidFill>
              <a:latin typeface="Arial"/>
              <a:ea typeface="Arial"/>
              <a:cs typeface="Arial"/>
              <a:sym typeface="Arial"/>
            </a:endParaRPr>
          </a:p>
        </p:txBody>
      </p:sp>
      <p:sp>
        <p:nvSpPr>
          <p:cNvPr id="925" name="Google Shape;925;p43"/>
          <p:cNvSpPr/>
          <p:nvPr/>
        </p:nvSpPr>
        <p:spPr>
          <a:xfrm>
            <a:off x="3647399" y="3966329"/>
            <a:ext cx="1534200" cy="828001"/>
          </a:xfrm>
          <a:prstGeom prst="upArrow">
            <a:avLst>
              <a:gd fmla="val 50000" name="adj1"/>
              <a:gd fmla="val 50000" name="adj2"/>
            </a:avLst>
          </a:prstGeom>
          <a:solidFill>
            <a:srgbClr val="00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
        <p:nvSpPr>
          <p:cNvPr id="926" name="Google Shape;926;p43"/>
          <p:cNvSpPr/>
          <p:nvPr/>
        </p:nvSpPr>
        <p:spPr>
          <a:xfrm>
            <a:off x="3707099" y="2627992"/>
            <a:ext cx="1534200" cy="834168"/>
          </a:xfrm>
          <a:prstGeom prst="upArrow">
            <a:avLst>
              <a:gd fmla="val 50000" name="adj1"/>
              <a:gd fmla="val 50000" name="adj2"/>
            </a:avLst>
          </a:prstGeom>
          <a:solidFill>
            <a:srgbClr val="00FF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Arial"/>
              <a:ea typeface="Arial"/>
              <a:cs typeface="Arial"/>
              <a:sym typeface="Arial"/>
            </a:endParaRPr>
          </a:p>
        </p:txBody>
      </p:sp>
      <p:pic>
        <p:nvPicPr>
          <p:cNvPr descr="&lt;strong&gt;Shark&lt;/strong&gt; by Ironfruit on DeviantArt" id="927" name="Google Shape;927;p43"/>
          <p:cNvPicPr preferRelativeResize="0"/>
          <p:nvPr/>
        </p:nvPicPr>
        <p:blipFill rotWithShape="1">
          <a:blip r:embed="rId3">
            <a:alphaModFix/>
          </a:blip>
          <a:srcRect b="0" l="0" r="0" t="0"/>
          <a:stretch/>
        </p:blipFill>
        <p:spPr>
          <a:xfrm flipH="1" rot="-7448858">
            <a:off x="2215753" y="2139502"/>
            <a:ext cx="4559622" cy="3653651"/>
          </a:xfrm>
          <a:prstGeom prst="rect">
            <a:avLst/>
          </a:prstGeom>
          <a:noFill/>
          <a:ln>
            <a:noFill/>
          </a:ln>
        </p:spPr>
      </p:pic>
    </p:spTree>
  </p:cSld>
  <p:clrMapOvr>
    <a:masterClrMapping/>
  </p:clrMapOvr>
  <p:transition>
    <p:fade/>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44"/>
          <p:cNvSpPr/>
          <p:nvPr/>
        </p:nvSpPr>
        <p:spPr>
          <a:xfrm>
            <a:off x="180000" y="828000"/>
            <a:ext cx="8640000" cy="5328000"/>
          </a:xfrm>
          <a:prstGeom prst="rect">
            <a:avLst/>
          </a:prstGeom>
          <a:solidFill>
            <a:schemeClr val="lt1"/>
          </a:solid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Safety performance is determined by the culture of the organization.</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When corporate culture is improved, safety performance improves.</a:t>
            </a:r>
            <a:endParaRPr/>
          </a:p>
          <a:p>
            <a:pPr indent="-305000" lvl="0" marL="432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Safety culture is determined by the actions of leaders!</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Leaders set expectations through communication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and actions (e.g. the “Tone at the Top” … RME #1)</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leaders actions (practices, behaviours –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whether positive or negative) are the strongest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form of messaging.</a:t>
            </a:r>
            <a:endParaRPr b="0" i="0" sz="2000" u="none" cap="none" strike="noStrike">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Leaders can efficiently improve culture, and thereby improve safety performance, by carefully reviewing SC/SP/near miss/incident reports, and screening for those with “HiPo” impacts, and focusing limited intervention resources on these.</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Leaders can assess the development of an organization using the integration of PDCA, #6 PECI, and The DuPont-Bradley Curve.</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934" name="Google Shape;934;p4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Summary &amp; Key Lesson: “Actions Speak Louder than Words”</a:t>
            </a:r>
            <a:endParaRPr b="0" i="0" sz="2400" u="none" cap="none" strike="noStrike">
              <a:solidFill>
                <a:srgbClr val="333399"/>
              </a:solidFill>
              <a:latin typeface="Arial"/>
              <a:ea typeface="Arial"/>
              <a:cs typeface="Arial"/>
              <a:sym typeface="Arial"/>
            </a:endParaRPr>
          </a:p>
        </p:txBody>
      </p:sp>
      <p:pic>
        <p:nvPicPr>
          <p:cNvPr id="935" name="Google Shape;935;p44"/>
          <p:cNvPicPr preferRelativeResize="0"/>
          <p:nvPr/>
        </p:nvPicPr>
        <p:blipFill rotWithShape="1">
          <a:blip r:embed="rId3">
            <a:alphaModFix/>
          </a:blip>
          <a:srcRect b="0" l="0" r="0" t="0"/>
          <a:stretch/>
        </p:blipFill>
        <p:spPr>
          <a:xfrm>
            <a:off x="6477000" y="1600200"/>
            <a:ext cx="2158191" cy="2100309"/>
          </a:xfrm>
          <a:prstGeom prst="rect">
            <a:avLst/>
          </a:prstGeom>
          <a:noFill/>
          <a:ln>
            <a:noFill/>
          </a:ln>
        </p:spPr>
      </p:pic>
      <p:sp>
        <p:nvSpPr>
          <p:cNvPr id="936" name="Google Shape;936;p4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937" name="Google Shape;937;p4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7.5: The Importance of Leadership and Links</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45"/>
          <p:cNvSpPr/>
          <p:nvPr/>
        </p:nvSpPr>
        <p:spPr>
          <a:xfrm>
            <a:off x="180000" y="180000"/>
            <a:ext cx="8640000" cy="504000"/>
          </a:xfrm>
          <a:prstGeom prst="rect">
            <a:avLst/>
          </a:prstGeom>
          <a:solidFill>
            <a:srgbClr val="0000FF"/>
          </a:solidFill>
          <a:ln cap="flat" cmpd="sng" w="9525">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Any questions?</a:t>
            </a:r>
            <a:endParaRPr b="0" i="0" sz="2400" u="none" cap="none" strike="noStrike">
              <a:solidFill>
                <a:schemeClr val="lt1"/>
              </a:solidFill>
              <a:latin typeface="Arial"/>
              <a:ea typeface="Arial"/>
              <a:cs typeface="Arial"/>
              <a:sym typeface="Arial"/>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2007-03-28T16:18:47Z</dcterms:created>
  <dc:creator>MSB</dc:creator>
</cp:coreProperties>
</file>