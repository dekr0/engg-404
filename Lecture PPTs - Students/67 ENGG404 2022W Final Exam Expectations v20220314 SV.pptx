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30" roundtripDataSignature="AMtx7mg6lPLnlf8CWGvHo3ZhIB3gyMTv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F183AD-9F18-455C-A601-D2A1FDD6967F}">
  <a:tblStyle styleId="{25F183AD-9F18-455C-A601-D2A1FDD696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 name="Google Shape;30;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3" name="Google Shape;53;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4" name="Google Shape;64;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5" name="Google Shape;75;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5" name="Google Shape;85;p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4" name="Google Shape;94;p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4" name="Google Shape;104;p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3" name="Google Shape;113;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3" name="Google Shape;123;p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3" name="Google Shape;133;p1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4" name="Google Shape;144;p1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1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3" name="Google Shape;153;p1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2" name="Google Shape;162;p1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1" name="Google Shape;171;p1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0" name="Google Shape;180;p1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0" name="Google Shape;190;p1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0" name="Google Shape;200;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9" name="Google Shape;209;p1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8" name="Google Shape;218;p1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1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7" name="Google Shape;227;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2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8" name="Google Shape;238;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2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52" name="Google Shape;252;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2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61" name="Google Shape;261;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2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5"/>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25"/>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2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2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27"/>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28"/>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28"/>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28"/>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24"/>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24"/>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24"/>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mailto:Cocchio@ualberta.c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support.ctl.ualberta.ca/index.php?/Knowledgebase/Article/View/371/10/quiz-tools-and-tips-for-students" TargetMode="External"/><Relationship Id="rId4" Type="http://schemas.openxmlformats.org/officeDocument/2006/relationships/image" Target="../media/image9.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about:blank" TargetMode="Externa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
          <p:cNvSpPr txBox="1"/>
          <p:nvPr/>
        </p:nvSpPr>
        <p:spPr>
          <a:xfrm>
            <a:off x="228600" y="838200"/>
            <a:ext cx="8610600" cy="16621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a:p>
          <a:p>
            <a:pPr indent="0" lvl="0" marL="0" marR="0" rtl="0" algn="ctr">
              <a:spcBef>
                <a:spcPts val="0"/>
              </a:spcBef>
              <a:spcAft>
                <a:spcPts val="0"/>
              </a:spcAft>
              <a:buNone/>
            </a:pPr>
            <a:r>
              <a:rPr b="1" i="0" lang="en-US" sz="3200" u="none" cap="none" strike="noStrike">
                <a:solidFill>
                  <a:srgbClr val="000000"/>
                </a:solidFill>
                <a:latin typeface="Arial"/>
                <a:ea typeface="Arial"/>
                <a:cs typeface="Arial"/>
                <a:sym typeface="Arial"/>
              </a:rPr>
              <a:t>ENGG404 - Lecture</a:t>
            </a:r>
            <a:endParaRPr b="1" i="1" sz="3600" u="none" cap="none" strike="noStrike">
              <a:solidFill>
                <a:srgbClr val="000099"/>
              </a:solidFill>
              <a:latin typeface="Calibri"/>
              <a:ea typeface="Calibri"/>
              <a:cs typeface="Calibri"/>
              <a:sym typeface="Calibri"/>
            </a:endParaRPr>
          </a:p>
        </p:txBody>
      </p:sp>
      <p:sp>
        <p:nvSpPr>
          <p:cNvPr id="33" name="Google Shape;33;p1"/>
          <p:cNvSpPr txBox="1"/>
          <p:nvPr>
            <p:ph idx="1" type="subTitle"/>
          </p:nvPr>
        </p:nvSpPr>
        <p:spPr>
          <a:xfrm>
            <a:off x="838200" y="2500342"/>
            <a:ext cx="7315201" cy="222405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Expectations, Preparation, and Instructions For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Writing the Final Exam</a:t>
            </a:r>
            <a:endParaRPr/>
          </a:p>
        </p:txBody>
      </p:sp>
      <p:sp>
        <p:nvSpPr>
          <p:cNvPr id="34" name="Google Shape;34;p1"/>
          <p:cNvSpPr txBox="1"/>
          <p:nvPr/>
        </p:nvSpPr>
        <p:spPr>
          <a:xfrm>
            <a:off x="152402" y="176015"/>
            <a:ext cx="1176817"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35" name="Google Shape;35;p1"/>
          <p:cNvSpPr txBox="1"/>
          <p:nvPr/>
        </p:nvSpPr>
        <p:spPr>
          <a:xfrm>
            <a:off x="1481037" y="169908"/>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36" name="Google Shape;36;p1"/>
          <p:cNvSpPr txBox="1"/>
          <p:nvPr/>
        </p:nvSpPr>
        <p:spPr>
          <a:xfrm>
            <a:off x="7874130" y="169908"/>
            <a:ext cx="1155550"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37" name="Google Shape;37;p1"/>
          <p:cNvSpPr txBox="1"/>
          <p:nvPr/>
        </p:nvSpPr>
        <p:spPr>
          <a:xfrm>
            <a:off x="7051217" y="169908"/>
            <a:ext cx="671096"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38" name="Google Shape;38;p1"/>
          <p:cNvSpPr txBox="1"/>
          <p:nvPr/>
        </p:nvSpPr>
        <p:spPr>
          <a:xfrm>
            <a:off x="3834670" y="169908"/>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39" name="Google Shape;39;p1"/>
          <p:cNvSpPr txBox="1"/>
          <p:nvPr/>
        </p:nvSpPr>
        <p:spPr>
          <a:xfrm>
            <a:off x="5011486" y="169908"/>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40" name="Google Shape;40;p1"/>
          <p:cNvSpPr txBox="1"/>
          <p:nvPr/>
        </p:nvSpPr>
        <p:spPr>
          <a:xfrm>
            <a:off x="2657853" y="170432"/>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41" name="Google Shape;41;p1"/>
          <p:cNvCxnSpPr>
            <a:stCxn id="34" idx="3"/>
            <a:endCxn id="35" idx="1"/>
          </p:cNvCxnSpPr>
          <p:nvPr/>
        </p:nvCxnSpPr>
        <p:spPr>
          <a:xfrm flipH="1" rot="10800000">
            <a:off x="1329219" y="400848"/>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42" name="Google Shape;42;p1"/>
          <p:cNvCxnSpPr>
            <a:stCxn id="35" idx="3"/>
            <a:endCxn id="40" idx="1"/>
          </p:cNvCxnSpPr>
          <p:nvPr/>
        </p:nvCxnSpPr>
        <p:spPr>
          <a:xfrm>
            <a:off x="2506036" y="400741"/>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3" name="Google Shape;43;p1"/>
          <p:cNvCxnSpPr>
            <a:stCxn id="40" idx="3"/>
            <a:endCxn id="38" idx="1"/>
          </p:cNvCxnSpPr>
          <p:nvPr/>
        </p:nvCxnSpPr>
        <p:spPr>
          <a:xfrm flipH="1" rot="10800000">
            <a:off x="3682852" y="400665"/>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4" name="Google Shape;44;p1"/>
          <p:cNvCxnSpPr>
            <a:stCxn id="38" idx="3"/>
            <a:endCxn id="39" idx="1"/>
          </p:cNvCxnSpPr>
          <p:nvPr/>
        </p:nvCxnSpPr>
        <p:spPr>
          <a:xfrm>
            <a:off x="4859669"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5" name="Google Shape;45;p1"/>
          <p:cNvCxnSpPr>
            <a:stCxn id="39" idx="3"/>
          </p:cNvCxnSpPr>
          <p:nvPr/>
        </p:nvCxnSpPr>
        <p:spPr>
          <a:xfrm>
            <a:off x="6036485"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6" name="Google Shape;46;p1"/>
          <p:cNvCxnSpPr>
            <a:endCxn id="37" idx="1"/>
          </p:cNvCxnSpPr>
          <p:nvPr/>
        </p:nvCxnSpPr>
        <p:spPr>
          <a:xfrm>
            <a:off x="6899417"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7" name="Google Shape;47;p1"/>
          <p:cNvCxnSpPr>
            <a:stCxn id="37" idx="3"/>
            <a:endCxn id="36" idx="1"/>
          </p:cNvCxnSpPr>
          <p:nvPr/>
        </p:nvCxnSpPr>
        <p:spPr>
          <a:xfrm>
            <a:off x="7722313" y="400741"/>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48" name="Google Shape;48;p1"/>
          <p:cNvSpPr txBox="1"/>
          <p:nvPr/>
        </p:nvSpPr>
        <p:spPr>
          <a:xfrm>
            <a:off x="6188301" y="169907"/>
            <a:ext cx="692362"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49" name="Google Shape;49;p1"/>
          <p:cNvPicPr preferRelativeResize="0"/>
          <p:nvPr/>
        </p:nvPicPr>
        <p:blipFill rotWithShape="1">
          <a:blip r:embed="rId3">
            <a:alphaModFix/>
          </a:blip>
          <a:srcRect b="0" l="0" r="0" t="0"/>
          <a:stretch/>
        </p:blipFill>
        <p:spPr>
          <a:xfrm>
            <a:off x="891182" y="4405529"/>
            <a:ext cx="1766671" cy="1766671"/>
          </a:xfrm>
          <a:prstGeom prst="rect">
            <a:avLst/>
          </a:prstGeom>
          <a:noFill/>
          <a:ln>
            <a:noFill/>
          </a:ln>
        </p:spPr>
      </p:pic>
      <p:pic>
        <p:nvPicPr>
          <p:cNvPr descr="Introduction to Sociology - 2013 - The Collaboratory" id="50" name="Google Shape;50;p1"/>
          <p:cNvPicPr preferRelativeResize="0"/>
          <p:nvPr/>
        </p:nvPicPr>
        <p:blipFill rotWithShape="1">
          <a:blip r:embed="rId4">
            <a:alphaModFix/>
          </a:blip>
          <a:srcRect b="0" l="0" r="0" t="0"/>
          <a:stretch/>
        </p:blipFill>
        <p:spPr>
          <a:xfrm>
            <a:off x="6096500" y="4405342"/>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REMINDER – </a:t>
            </a:r>
            <a:r>
              <a:rPr b="1" i="0" lang="en-US" sz="2400" u="none" cap="none" strike="noStrike">
                <a:solidFill>
                  <a:srgbClr val="333399"/>
                </a:solidFill>
                <a:latin typeface="Arial"/>
                <a:ea typeface="Arial"/>
                <a:cs typeface="Arial"/>
                <a:sym typeface="Arial"/>
              </a:rPr>
              <a:t>USRI Survey is OPEN</a:t>
            </a:r>
            <a:r>
              <a:rPr b="0" i="0" lang="en-US" sz="2400" u="none" cap="none" strike="noStrike">
                <a:solidFill>
                  <a:srgbClr val="333399"/>
                </a:solidFill>
                <a:latin typeface="Arial"/>
                <a:ea typeface="Arial"/>
                <a:cs typeface="Arial"/>
                <a:sym typeface="Arial"/>
              </a:rPr>
              <a:t>!</a:t>
            </a:r>
            <a:endParaRPr b="0" i="0" sz="2400" u="none" cap="none" strike="noStrike">
              <a:solidFill>
                <a:srgbClr val="333399"/>
              </a:solidFill>
              <a:latin typeface="Arial"/>
              <a:ea typeface="Arial"/>
              <a:cs typeface="Arial"/>
              <a:sym typeface="Arial"/>
            </a:endParaRPr>
          </a:p>
        </p:txBody>
      </p:sp>
      <p:sp>
        <p:nvSpPr>
          <p:cNvPr id="57" name="Google Shape;57;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8" name="Google Shape;58;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descr="&lt;strong&gt;Check&lt;/strong&gt; Mark &lt;strong&gt;Box&lt;/strong&gt; Green · Free vector graphic on Pixabay" id="59" name="Google Shape;59;p2"/>
          <p:cNvPicPr preferRelativeResize="0"/>
          <p:nvPr/>
        </p:nvPicPr>
        <p:blipFill rotWithShape="1">
          <a:blip r:embed="rId3">
            <a:alphaModFix/>
          </a:blip>
          <a:srcRect b="0" l="0" r="0" t="0"/>
          <a:stretch/>
        </p:blipFill>
        <p:spPr>
          <a:xfrm>
            <a:off x="7543800" y="533400"/>
            <a:ext cx="1572697" cy="1600200"/>
          </a:xfrm>
          <a:prstGeom prst="rect">
            <a:avLst/>
          </a:prstGeom>
          <a:noFill/>
          <a:ln>
            <a:noFill/>
          </a:ln>
        </p:spPr>
      </p:pic>
      <p:sp>
        <p:nvSpPr>
          <p:cNvPr id="60" name="Google Shape;60;p2"/>
          <p:cNvSpPr/>
          <p:nvPr/>
        </p:nvSpPr>
        <p:spPr>
          <a:xfrm>
            <a:off x="180000" y="828000"/>
            <a:ext cx="8640000" cy="53280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We know it is a very busy time of year for you … but in the spirit of program evaluation and continuous improvement, we ask you to take the time to respond on USRI.</a:t>
            </a:r>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Your comments and constructive feedback guide us in making improvement to the course.</a:t>
            </a:r>
            <a:endParaRPr/>
          </a:p>
          <a:p>
            <a:pPr indent="0" lvl="0" marL="0" marR="0" rtl="0" algn="l">
              <a:lnSpc>
                <a:spcPct val="90000"/>
              </a:lnSpc>
              <a:spcBef>
                <a:spcPts val="0"/>
              </a:spcBef>
              <a:spcAft>
                <a:spcPts val="0"/>
              </a:spcAft>
              <a:buClr>
                <a:schemeClr val="dk1"/>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Thank you!</a:t>
            </a:r>
            <a:endParaRPr b="0" i="0" sz="1400" u="none" cap="none" strike="noStrike">
              <a:solidFill>
                <a:schemeClr val="dk1"/>
              </a:solidFill>
              <a:latin typeface="Arial"/>
              <a:ea typeface="Arial"/>
              <a:cs typeface="Arial"/>
              <a:sym typeface="Arial"/>
            </a:endParaRPr>
          </a:p>
        </p:txBody>
      </p:sp>
      <p:pic>
        <p:nvPicPr>
          <p:cNvPr id="61" name="Google Shape;61;p2"/>
          <p:cNvPicPr preferRelativeResize="0"/>
          <p:nvPr/>
        </p:nvPicPr>
        <p:blipFill rotWithShape="1">
          <a:blip r:embed="rId4">
            <a:alphaModFix/>
          </a:blip>
          <a:srcRect b="11889" l="7149" r="6689" t="11145"/>
          <a:stretch/>
        </p:blipFill>
        <p:spPr>
          <a:xfrm>
            <a:off x="1066800" y="1066800"/>
            <a:ext cx="6096000" cy="3505201"/>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Purpose: </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Communicate the expectations for academic integrity. </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Communicate details about the Final Exam. </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Help you prepare to write the Final Exam.</a:t>
            </a:r>
            <a:endParaRPr/>
          </a:p>
          <a:p>
            <a:pPr indent="0" lvl="0" marL="0" marR="0" rtl="0" algn="l">
              <a:lnSpc>
                <a:spcPct val="90000"/>
              </a:lnSpc>
              <a:spcBef>
                <a:spcPts val="0"/>
              </a:spcBef>
              <a:spcAft>
                <a:spcPts val="0"/>
              </a:spcAft>
              <a:buClr>
                <a:schemeClr val="dk1"/>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Sections in this Presentation:</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Reduce Exam Anxiety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Academic Integrity and Ethical Conduct</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Final Exam Day, Time, and Location</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Final Exam Parameters and Format</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Final Exam Content and Your Preparation</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Key Points about Writing the Exam:</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Learning Outcomes – At the end of this topic, you will be able to: </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Explain the academic integrity expectations and what it means to you.</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State and explain details about the Final Exam.</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Find answers to your questions about the Final Exam.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PPT posted on ENGG404 Student Resources Shared Drive.</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As such, minimal time will be spent on the slides except as noted. </a:t>
            </a:r>
            <a:endParaRPr b="0" i="0" sz="1800" u="none" cap="none" strike="noStrike">
              <a:solidFill>
                <a:srgbClr val="000000"/>
              </a:solidFill>
              <a:latin typeface="Arial"/>
              <a:ea typeface="Arial"/>
              <a:cs typeface="Arial"/>
              <a:sym typeface="Arial"/>
            </a:endParaRPr>
          </a:p>
          <a:p>
            <a:pPr indent="-232999" lvl="0" marL="72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68" name="Google Shape;68;p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Purpose and Learning Outcomes:</a:t>
            </a:r>
            <a:endParaRPr b="0" i="0" sz="2400" u="none" cap="none" strike="noStrike">
              <a:solidFill>
                <a:srgbClr val="333399"/>
              </a:solidFill>
              <a:latin typeface="Arial"/>
              <a:ea typeface="Arial"/>
              <a:cs typeface="Arial"/>
              <a:sym typeface="Arial"/>
            </a:endParaRPr>
          </a:p>
        </p:txBody>
      </p:sp>
      <p:sp>
        <p:nvSpPr>
          <p:cNvPr id="69" name="Google Shape;69;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0" name="Google Shape;70;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
        <p:nvSpPr>
          <p:cNvPr id="71" name="Google Shape;71;p3"/>
          <p:cNvSpPr txBox="1"/>
          <p:nvPr/>
        </p:nvSpPr>
        <p:spPr>
          <a:xfrm>
            <a:off x="1400376" y="5905368"/>
            <a:ext cx="6410124"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1" lang="en-US" sz="1100" u="none" cap="none" strike="noStrike">
                <a:solidFill>
                  <a:schemeClr val="dk1"/>
                </a:solidFill>
                <a:latin typeface="Arial"/>
                <a:ea typeface="Arial"/>
                <a:cs typeface="Arial"/>
                <a:sym typeface="Arial"/>
              </a:rPr>
              <a:t>A slide with a check – spend time on this; otherwise all other slides are for reference.</a:t>
            </a:r>
            <a:endParaRPr b="1" i="1" sz="1100" u="none" cap="none" strike="noStrike">
              <a:solidFill>
                <a:schemeClr val="dk1"/>
              </a:solidFill>
              <a:latin typeface="Arial"/>
              <a:ea typeface="Arial"/>
              <a:cs typeface="Arial"/>
              <a:sym typeface="Arial"/>
            </a:endParaRPr>
          </a:p>
        </p:txBody>
      </p:sp>
      <p:pic>
        <p:nvPicPr>
          <p:cNvPr descr="&lt;strong&gt;Check&lt;/strong&gt; Mark &lt;strong&gt;Box&lt;/strong&gt; Green · Free vector graphic on Pixabay" id="72" name="Google Shape;72;p3"/>
          <p:cNvPicPr preferRelativeResize="0"/>
          <p:nvPr/>
        </p:nvPicPr>
        <p:blipFill rotWithShape="1">
          <a:blip r:embed="rId3">
            <a:alphaModFix/>
          </a:blip>
          <a:srcRect b="0" l="0" r="0" t="0"/>
          <a:stretch/>
        </p:blipFill>
        <p:spPr>
          <a:xfrm>
            <a:off x="7810500" y="5417276"/>
            <a:ext cx="704449" cy="716768"/>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Reduce Exam Anxiety!</a:t>
            </a:r>
            <a:endParaRPr b="0" i="0" sz="2400" u="none" cap="none" strike="noStrike">
              <a:solidFill>
                <a:srgbClr val="333399"/>
              </a:solidFill>
              <a:latin typeface="Arial"/>
              <a:ea typeface="Arial"/>
              <a:cs typeface="Arial"/>
              <a:sym typeface="Arial"/>
            </a:endParaRPr>
          </a:p>
        </p:txBody>
      </p:sp>
      <p:sp>
        <p:nvSpPr>
          <p:cNvPr id="79" name="Google Shape;79;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0" name="Google Shape;80;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descr="&lt;strong&gt;Check&lt;/strong&gt; Mark &lt;strong&gt;Box&lt;/strong&gt; Green · Free vector graphic on Pixabay" id="81" name="Google Shape;81;p4"/>
          <p:cNvPicPr preferRelativeResize="0"/>
          <p:nvPr/>
        </p:nvPicPr>
        <p:blipFill rotWithShape="1">
          <a:blip r:embed="rId3">
            <a:alphaModFix/>
          </a:blip>
          <a:srcRect b="0" l="0" r="0" t="0"/>
          <a:stretch/>
        </p:blipFill>
        <p:spPr>
          <a:xfrm>
            <a:off x="7543800" y="533400"/>
            <a:ext cx="1572697" cy="1600200"/>
          </a:xfrm>
          <a:prstGeom prst="rect">
            <a:avLst/>
          </a:prstGeom>
          <a:noFill/>
          <a:ln>
            <a:noFill/>
          </a:ln>
        </p:spPr>
      </p:pic>
      <p:sp>
        <p:nvSpPr>
          <p:cNvPr id="82" name="Google Shape;82;p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We know that:</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Students face anxiety in preparing for and writing a </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final exam …</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And this anxiety may tempt students to “cheat” on the final exam</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So, to reduce anxiety:</a:t>
            </a:r>
            <a:endParaRPr/>
          </a:p>
          <a:p>
            <a:pPr indent="-360000" lvl="0" marL="3600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We communicate as much as possible about the final exam: the format and mechanisms, and to an extent, the content.</a:t>
            </a:r>
            <a:endParaRPr b="0" i="0" sz="20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We format the exam to make it challenging to “share” (cheating through collusion by communicating with each other during the exam) i.e. “level the playing field for all” and knowing it is difficult for everyone, this removes further temptation to cheat.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The outcome of these actions:</a:t>
            </a:r>
            <a:endParaRPr/>
          </a:p>
          <a:p>
            <a:pPr indent="-360000" lvl="0" marL="3600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Reduces student anxiety;</a:t>
            </a:r>
            <a:endParaRPr/>
          </a:p>
          <a:p>
            <a:pPr indent="-360000" lvl="0" marL="3600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Eliminates the temptation to cheat;</a:t>
            </a:r>
            <a:endParaRPr/>
          </a:p>
          <a:p>
            <a:pPr indent="-360000" lvl="0" marL="3600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Sets the foundation for academic integrity. </a:t>
            </a:r>
            <a:endParaRPr b="0" i="0" sz="20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Location for Writing:</a:t>
            </a:r>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 previous years, the final exam was written at LAC (proctored, authorized materials only).</a:t>
            </a:r>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term, as was the case for 2020S, 2020F, 2021W, 2021S, and 2021F terms, the final exam will not be on-campus at LAC, so essentially this means that you, the students, will be able to write the exam </a:t>
            </a:r>
            <a:r>
              <a:rPr b="0" i="0" lang="en-US" sz="2000" u="sng" cap="none" strike="noStrike">
                <a:solidFill>
                  <a:srgbClr val="000000"/>
                </a:solidFill>
                <a:latin typeface="Arial"/>
                <a:ea typeface="Arial"/>
                <a:cs typeface="Arial"/>
                <a:sym typeface="Arial"/>
              </a:rPr>
              <a:t>at any location of your choosing</a:t>
            </a:r>
            <a:r>
              <a:rPr b="0" i="0" lang="en-US" sz="2000" u="none" cap="none" strike="noStrike">
                <a:solidFill>
                  <a:srgbClr val="000000"/>
                </a:solidFill>
                <a:latin typeface="Arial"/>
                <a:ea typeface="Arial"/>
                <a:cs typeface="Arial"/>
                <a:sym typeface="Arial"/>
              </a:rPr>
              <a:t> and use any materials available to you: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Comfortable space – light, temperature, seating, accessibility</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Set-up for no interruptions (let your family members know)</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Reliability: computer power supply and internet access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ExamLock will NOT be used</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No on-line proctoring system will be used</a:t>
            </a:r>
            <a:endParaRPr b="0" i="0" sz="2000" u="none" cap="none" strike="noStrike">
              <a:solidFill>
                <a:srgbClr val="000000"/>
              </a:solidFill>
              <a:latin typeface="Arial"/>
              <a:ea typeface="Arial"/>
              <a:cs typeface="Arial"/>
              <a:sym typeface="Arial"/>
            </a:endParaRPr>
          </a:p>
        </p:txBody>
      </p:sp>
      <p:sp>
        <p:nvSpPr>
          <p:cNvPr id="89" name="Google Shape;89;p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Location:</a:t>
            </a:r>
            <a:endParaRPr b="0" i="0" sz="2400" u="none" cap="none" strike="noStrike">
              <a:solidFill>
                <a:srgbClr val="333399"/>
              </a:solidFill>
              <a:latin typeface="Arial"/>
              <a:ea typeface="Arial"/>
              <a:cs typeface="Arial"/>
              <a:sym typeface="Arial"/>
            </a:endParaRPr>
          </a:p>
        </p:txBody>
      </p:sp>
      <p:sp>
        <p:nvSpPr>
          <p:cNvPr id="90" name="Google Shape;90;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1" name="Google Shape;91;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 Message from Professor Winkel, Director, Chair, ESRM School:</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1"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Thank you for your continued study and efforts on your journey to becoming a </a:t>
            </a:r>
            <a:br>
              <a:rPr b="0" i="1" lang="en-US" sz="1600" u="none" cap="none" strike="noStrike">
                <a:solidFill>
                  <a:srgbClr val="000000"/>
                </a:solidFill>
                <a:latin typeface="Arial"/>
                <a:ea typeface="Arial"/>
                <a:cs typeface="Arial"/>
                <a:sym typeface="Arial"/>
              </a:rPr>
            </a:br>
            <a:r>
              <a:rPr b="0" i="1" lang="en-US" sz="1600" u="none" cap="none" strike="noStrike">
                <a:solidFill>
                  <a:srgbClr val="000000"/>
                </a:solidFill>
                <a:latin typeface="Arial"/>
                <a:ea typeface="Arial"/>
                <a:cs typeface="Arial"/>
                <a:sym typeface="Arial"/>
              </a:rPr>
              <a:t>professional engineer, a journey where we have provided a framework in risk </a:t>
            </a:r>
            <a:br>
              <a:rPr b="0" i="1" lang="en-US" sz="1600" u="none" cap="none" strike="noStrike">
                <a:solidFill>
                  <a:srgbClr val="000000"/>
                </a:solidFill>
                <a:latin typeface="Arial"/>
                <a:ea typeface="Arial"/>
                <a:cs typeface="Arial"/>
                <a:sym typeface="Arial"/>
              </a:rPr>
            </a:br>
            <a:r>
              <a:rPr b="0" i="1" lang="en-US" sz="1600" u="none" cap="none" strike="noStrike">
                <a:solidFill>
                  <a:srgbClr val="000000"/>
                </a:solidFill>
                <a:latin typeface="Arial"/>
                <a:ea typeface="Arial"/>
                <a:cs typeface="Arial"/>
                <a:sym typeface="Arial"/>
              </a:rPr>
              <a:t>management and leadership to support you in your future career. Working as a </a:t>
            </a:r>
            <a:br>
              <a:rPr b="0" i="1" lang="en-US" sz="1600" u="none" cap="none" strike="noStrike">
                <a:solidFill>
                  <a:srgbClr val="000000"/>
                </a:solidFill>
                <a:latin typeface="Arial"/>
                <a:ea typeface="Arial"/>
                <a:cs typeface="Arial"/>
                <a:sym typeface="Arial"/>
              </a:rPr>
            </a:br>
            <a:r>
              <a:rPr b="0" i="1" lang="en-US" sz="1600" u="none" cap="none" strike="noStrike">
                <a:solidFill>
                  <a:srgbClr val="000000"/>
                </a:solidFill>
                <a:latin typeface="Arial"/>
                <a:ea typeface="Arial"/>
                <a:cs typeface="Arial"/>
                <a:sym typeface="Arial"/>
              </a:rPr>
              <a:t>professional engineer, </a:t>
            </a:r>
            <a:r>
              <a:rPr b="0" i="1" lang="en-US" sz="1600" u="sng" cap="none" strike="noStrike">
                <a:solidFill>
                  <a:srgbClr val="000000"/>
                </a:solidFill>
                <a:latin typeface="Arial"/>
                <a:ea typeface="Arial"/>
                <a:cs typeface="Arial"/>
                <a:sym typeface="Arial"/>
              </a:rPr>
              <a:t>society trusts and respects</a:t>
            </a:r>
            <a:r>
              <a:rPr b="0" i="1" lang="en-US" sz="1600" u="none" cap="none" strike="noStrike">
                <a:solidFill>
                  <a:srgbClr val="000000"/>
                </a:solidFill>
                <a:latin typeface="Arial"/>
                <a:ea typeface="Arial"/>
                <a:cs typeface="Arial"/>
                <a:sym typeface="Arial"/>
              </a:rPr>
              <a:t> that your contributions are </a:t>
            </a:r>
            <a:br>
              <a:rPr b="0" i="1" lang="en-US" sz="1600" u="none" cap="none" strike="noStrike">
                <a:solidFill>
                  <a:srgbClr val="000000"/>
                </a:solidFill>
                <a:latin typeface="Arial"/>
                <a:ea typeface="Arial"/>
                <a:cs typeface="Arial"/>
                <a:sym typeface="Arial"/>
              </a:rPr>
            </a:br>
            <a:r>
              <a:rPr b="0" i="1" lang="en-US" sz="1600" u="none" cap="none" strike="noStrike">
                <a:solidFill>
                  <a:srgbClr val="000000"/>
                </a:solidFill>
                <a:latin typeface="Arial"/>
                <a:ea typeface="Arial"/>
                <a:cs typeface="Arial"/>
                <a:sym typeface="Arial"/>
              </a:rPr>
              <a:t>grounded in </a:t>
            </a:r>
            <a:r>
              <a:rPr b="0" i="1" lang="en-US" sz="1600" u="sng" cap="none" strike="noStrike">
                <a:solidFill>
                  <a:srgbClr val="000000"/>
                </a:solidFill>
                <a:latin typeface="Arial"/>
                <a:ea typeface="Arial"/>
                <a:cs typeface="Arial"/>
                <a:sym typeface="Arial"/>
              </a:rPr>
              <a:t>high standards not only of technical expertise but also of ethical conduct</a:t>
            </a:r>
            <a:r>
              <a:rPr b="0" i="1" lang="en-US" sz="1600" u="none" cap="none" strike="noStrike">
                <a:solidFill>
                  <a:srgbClr val="000000"/>
                </a:solidFill>
                <a:latin typeface="Arial"/>
                <a:ea typeface="Arial"/>
                <a:cs typeface="Arial"/>
                <a:sym typeface="Arial"/>
              </a:rPr>
              <a:t>. As you have learned in this course, one of these standards is that all of our endeavours are carried out with a full regard for safety and risk management to protect society from harm and loss.</a:t>
            </a:r>
            <a:endParaRPr/>
          </a:p>
          <a:p>
            <a:pPr indent="0" lvl="0" marL="0" marR="0" rtl="0" algn="l">
              <a:lnSpc>
                <a:spcPct val="100000"/>
              </a:lnSpc>
              <a:spcBef>
                <a:spcPts val="0"/>
              </a:spcBef>
              <a:spcAft>
                <a:spcPts val="0"/>
              </a:spcAft>
              <a:buClr>
                <a:schemeClr val="dk1"/>
              </a:buClr>
              <a:buSzPts val="1600"/>
              <a:buFont typeface="Arial"/>
              <a:buNone/>
            </a:pPr>
            <a:r>
              <a:t/>
            </a:r>
            <a:endParaRPr b="0" i="1"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Another ethical standard concerns </a:t>
            </a:r>
            <a:r>
              <a:rPr b="0" i="1" lang="en-US" sz="1600" u="sng" cap="none" strike="noStrike">
                <a:solidFill>
                  <a:srgbClr val="000000"/>
                </a:solidFill>
                <a:latin typeface="Arial"/>
                <a:ea typeface="Arial"/>
                <a:cs typeface="Arial"/>
                <a:sym typeface="Arial"/>
              </a:rPr>
              <a:t>honesty and integrity</a:t>
            </a:r>
            <a:r>
              <a:rPr b="0" i="1" lang="en-US" sz="1600" u="none" cap="none" strike="noStrike">
                <a:solidFill>
                  <a:srgbClr val="000000"/>
                </a:solidFill>
                <a:latin typeface="Arial"/>
                <a:ea typeface="Arial"/>
                <a:cs typeface="Arial"/>
                <a:sym typeface="Arial"/>
              </a:rPr>
              <a:t> in our efforts. As engineers, we are credited with conducting our affairs so that our representations are a true reflection of our knowledge and capability. We expect the same high standards from you as you prepare to demonstrate your learning in risk management through writing the final exam. As a future engineer now working through your studies, the expectation for honesty and integrity in your conduct also applies here.</a:t>
            </a:r>
            <a:endParaRPr/>
          </a:p>
          <a:p>
            <a:pPr indent="0" lvl="0" marL="0" marR="0" rtl="0" algn="l">
              <a:lnSpc>
                <a:spcPct val="100000"/>
              </a:lnSpc>
              <a:spcBef>
                <a:spcPts val="0"/>
              </a:spcBef>
              <a:spcAft>
                <a:spcPts val="0"/>
              </a:spcAft>
              <a:buClr>
                <a:schemeClr val="dk1"/>
              </a:buClr>
              <a:buSzPts val="1600"/>
              <a:buFont typeface="Arial"/>
              <a:buNone/>
            </a:pPr>
            <a:r>
              <a:t/>
            </a:r>
            <a:endParaRPr b="0" i="1"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We are committed to supporting your success as a professional engineer, and you have the opportunity to demonstrate integrity in this exam activity.</a:t>
            </a:r>
            <a:endParaRPr b="0" i="1"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1"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All the best.</a:t>
            </a:r>
            <a:endParaRPr/>
          </a:p>
          <a:p>
            <a:pPr indent="-330400" lvl="0" marL="432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0" lvl="0" marL="360000" marR="0" rtl="0" algn="l">
              <a:lnSpc>
                <a:spcPct val="100000"/>
              </a:lnSpc>
              <a:spcBef>
                <a:spcPts val="0"/>
              </a:spcBef>
              <a:spcAft>
                <a:spcPts val="0"/>
              </a:spcAft>
              <a:buClr>
                <a:schemeClr val="dk1"/>
              </a:buClr>
              <a:buSzPts val="1600"/>
              <a:buFont typeface="Arial"/>
              <a:buNone/>
            </a:pPr>
            <a:r>
              <a:t/>
            </a:r>
            <a:endParaRPr b="0" i="1" sz="1600" u="none" cap="none" strike="noStrike">
              <a:solidFill>
                <a:srgbClr val="000000"/>
              </a:solidFill>
              <a:latin typeface="Arial"/>
              <a:ea typeface="Arial"/>
              <a:cs typeface="Arial"/>
              <a:sym typeface="Arial"/>
            </a:endParaRPr>
          </a:p>
          <a:p>
            <a:pPr indent="-258399" lvl="0" marL="72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258399" lvl="0" marL="72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p:txBody>
      </p:sp>
      <p:sp>
        <p:nvSpPr>
          <p:cNvPr id="98" name="Google Shape;98;p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Academic Integrity and Ethical Conduct:</a:t>
            </a:r>
            <a:endParaRPr/>
          </a:p>
        </p:txBody>
      </p:sp>
      <p:sp>
        <p:nvSpPr>
          <p:cNvPr id="99" name="Google Shape;99;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00" name="Google Shape;100;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descr="&lt;strong&gt;Check&lt;/strong&gt; Mark &lt;strong&gt;Box&lt;/strong&gt; Green · Free vector graphic on Pixabay" id="101" name="Google Shape;101;p6"/>
          <p:cNvPicPr preferRelativeResize="0"/>
          <p:nvPr/>
        </p:nvPicPr>
        <p:blipFill rotWithShape="1">
          <a:blip r:embed="rId3">
            <a:alphaModFix/>
          </a:blip>
          <a:srcRect b="0" l="0" r="0" t="0"/>
          <a:stretch/>
        </p:blipFill>
        <p:spPr>
          <a:xfrm>
            <a:off x="7543800" y="533400"/>
            <a:ext cx="1572697" cy="1600200"/>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Final Exam paper is: </a:t>
            </a:r>
            <a:br>
              <a:rPr b="0" i="0" lang="en-US" sz="1800" u="none" cap="none" strike="noStrike">
                <a:solidFill>
                  <a:srgbClr val="000000"/>
                </a:solidFill>
                <a:latin typeface="Arial"/>
                <a:ea typeface="Arial"/>
                <a:cs typeface="Arial"/>
                <a:sym typeface="Arial"/>
              </a:rPr>
            </a:br>
            <a:r>
              <a:rPr b="0" i="1" lang="en-US" sz="1800" u="none" cap="none" strike="noStrike">
                <a:solidFill>
                  <a:srgbClr val="000000"/>
                </a:solidFill>
                <a:latin typeface="Arial"/>
                <a:ea typeface="Arial"/>
                <a:cs typeface="Arial"/>
                <a:sym typeface="Arial"/>
              </a:rPr>
              <a:t>“Confidential and Copyright Protected – Do NOT Share”.</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will be asked to confirm your understanding of the academic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honesty statement:</a:t>
            </a:r>
            <a:endParaRPr/>
          </a:p>
          <a:p>
            <a:pPr indent="0" lvl="0" marL="360000" marR="0" rtl="0" algn="l">
              <a:lnSpc>
                <a:spcPct val="100000"/>
              </a:lnSpc>
              <a:spcBef>
                <a:spcPts val="0"/>
              </a:spcBef>
              <a:spcAft>
                <a:spcPts val="0"/>
              </a:spcAft>
              <a:buClr>
                <a:schemeClr val="dk1"/>
              </a:buClr>
              <a:buSzPts val="1800"/>
              <a:buFont typeface="Arial"/>
              <a:buNone/>
            </a:pPr>
            <a:r>
              <a:t/>
            </a:r>
            <a:endParaRPr b="0" i="1" sz="1800" u="none" cap="none" strike="noStrike">
              <a:solidFill>
                <a:srgbClr val="000000"/>
              </a:solidFill>
              <a:latin typeface="Arial"/>
              <a:ea typeface="Arial"/>
              <a:cs typeface="Arial"/>
              <a:sym typeface="Arial"/>
            </a:endParaRPr>
          </a:p>
          <a:p>
            <a:pPr indent="0" lvl="0" marL="36000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I understand that it is important that the quiz (final exam) attempt I am about to make is all my own work. I understand what constitutes plagiarism or cheating, and I will not undertake such activities. The University of Alberta is committed to the highest standards of academic integrity and honesty. I understand the Code of Student Behaviour and am aware that all forms of academic misconduct will be addressed.</a:t>
            </a:r>
            <a:endParaRPr b="0" i="0" sz="1800" u="none" cap="none" strike="noStrike">
              <a:solidFill>
                <a:srgbClr val="000000"/>
              </a:solidFill>
              <a:latin typeface="Arial"/>
              <a:ea typeface="Arial"/>
              <a:cs typeface="Arial"/>
              <a:sym typeface="Arial"/>
            </a:endParaRPr>
          </a:p>
          <a:p>
            <a:pPr indent="-245699" lvl="0" marL="72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are expected to abide by the University Academic Integrity Policies and maintain academic integrity and honesty within these “Acceptable” and “Not Acceptable” boundaries: (next page) </a:t>
            </a:r>
            <a:endParaRPr b="0" i="0" sz="1800" u="none" cap="none" strike="noStrike">
              <a:solidFill>
                <a:srgbClr val="000000"/>
              </a:solidFill>
              <a:latin typeface="Arial"/>
              <a:ea typeface="Arial"/>
              <a:cs typeface="Arial"/>
              <a:sym typeface="Arial"/>
            </a:endParaRPr>
          </a:p>
          <a:p>
            <a:pPr indent="-245699" lvl="0" marL="72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108" name="Google Shape;108;p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Academic Integrity and Ethical Conduct:</a:t>
            </a:r>
            <a:endParaRPr/>
          </a:p>
        </p:txBody>
      </p:sp>
      <p:sp>
        <p:nvSpPr>
          <p:cNvPr id="109" name="Google Shape;109;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10" name="Google Shape;110;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ACCEPTABLE DURING THE FINAL EXAM: </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Using your lecture notes, ENGG404 Student Resources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shared drive, ENGG404 eClass content, the course textbook.</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NOT ACCEPTABLE : </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Sharing or discussing your final exam questions and answers with others during the final exam time frame or after you have written the final exam.</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Taking images (screenshots, photographs, videos) of the Final Exam.</a:t>
            </a:r>
            <a:endParaRPr b="0"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Posting any final exam questions and answers with the intent to make these available in the private domain or public domain, during or after the final exam time frame.</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Accessing any content from the Final Exam that is posted on-line.</a:t>
            </a:r>
            <a:endParaRPr b="0"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Working with others, students or any other person, during the final exam time frame.</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All unacceptable actions are </a:t>
            </a:r>
            <a:r>
              <a:rPr b="1" i="0" lang="en-US" sz="1800" u="none" cap="none" strike="noStrike">
                <a:solidFill>
                  <a:srgbClr val="000000"/>
                </a:solidFill>
                <a:latin typeface="Arial"/>
                <a:ea typeface="Arial"/>
                <a:cs typeface="Arial"/>
                <a:sym typeface="Arial"/>
              </a:rPr>
              <a:t>acts of academic dishonesty (cheating)</a:t>
            </a:r>
            <a:r>
              <a:rPr b="0" i="0" lang="en-US" sz="1800" u="none" cap="none" strike="noStrike">
                <a:solidFill>
                  <a:srgbClr val="000000"/>
                </a:solidFill>
                <a:latin typeface="Arial"/>
                <a:ea typeface="Arial"/>
                <a:cs typeface="Arial"/>
                <a:sym typeface="Arial"/>
              </a:rPr>
              <a:t>,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 serious academic offence that can result in suspension or expulsion from the University.</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117" name="Google Shape;117;p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Academic Integrity and Ethical Conduct:</a:t>
            </a:r>
            <a:endParaRPr/>
          </a:p>
        </p:txBody>
      </p:sp>
      <p:sp>
        <p:nvSpPr>
          <p:cNvPr id="118" name="Google Shape;118;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19" name="Google Shape;119;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descr="&lt;strong&gt;Check&lt;/strong&gt; Mark &lt;strong&gt;Box&lt;/strong&gt; Green · Free vector graphic on Pixabay" id="120" name="Google Shape;120;p8"/>
          <p:cNvPicPr preferRelativeResize="0"/>
          <p:nvPr/>
        </p:nvPicPr>
        <p:blipFill rotWithShape="1">
          <a:blip r:embed="rId3">
            <a:alphaModFix/>
          </a:blip>
          <a:srcRect b="0" l="0" r="0" t="0"/>
          <a:stretch/>
        </p:blipFill>
        <p:spPr>
          <a:xfrm>
            <a:off x="7543800" y="533400"/>
            <a:ext cx="1572697" cy="1600200"/>
          </a:xfrm>
          <a:prstGeom prst="rect">
            <a:avLst/>
          </a:prstGeom>
          <a:noFill/>
          <a:ln>
            <a:noFill/>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Q: </a:t>
            </a:r>
            <a:r>
              <a:rPr b="0" i="0" lang="en-US" sz="1800" u="none" cap="none" strike="noStrike">
                <a:solidFill>
                  <a:srgbClr val="000000"/>
                </a:solidFill>
                <a:latin typeface="Arial"/>
                <a:ea typeface="Arial"/>
                <a:cs typeface="Arial"/>
                <a:sym typeface="Arial"/>
              </a:rPr>
              <a:t>Are you thinking about </a:t>
            </a:r>
            <a:r>
              <a:rPr b="1" i="0" lang="en-US" sz="1800" u="none" cap="none" strike="noStrike">
                <a:solidFill>
                  <a:srgbClr val="000000"/>
                </a:solidFill>
                <a:latin typeface="Arial"/>
                <a:ea typeface="Arial"/>
                <a:cs typeface="Arial"/>
                <a:sym typeface="Arial"/>
              </a:rPr>
              <a:t>asking for help</a:t>
            </a:r>
            <a:r>
              <a:rPr b="0" i="0" lang="en-US" sz="1800" u="none" cap="none" strike="noStrike">
                <a:solidFill>
                  <a:srgbClr val="000000"/>
                </a:solidFill>
                <a:latin typeface="Arial"/>
                <a:ea typeface="Arial"/>
                <a:cs typeface="Arial"/>
                <a:sym typeface="Arial"/>
              </a:rPr>
              <a:t> from a class-mate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or from any other person?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Q: </a:t>
            </a:r>
            <a:r>
              <a:rPr b="0" i="0" lang="en-US" sz="1800" u="none" cap="none" strike="noStrike">
                <a:solidFill>
                  <a:srgbClr val="000000"/>
                </a:solidFill>
                <a:latin typeface="Arial"/>
                <a:ea typeface="Arial"/>
                <a:cs typeface="Arial"/>
                <a:sym typeface="Arial"/>
              </a:rPr>
              <a:t>Are you thinking about </a:t>
            </a:r>
            <a:r>
              <a:rPr b="1" i="0" lang="en-US" sz="1800" u="none" cap="none" strike="noStrike">
                <a:solidFill>
                  <a:srgbClr val="000000"/>
                </a:solidFill>
                <a:latin typeface="Arial"/>
                <a:ea typeface="Arial"/>
                <a:cs typeface="Arial"/>
                <a:sym typeface="Arial"/>
              </a:rPr>
              <a:t>offering to help by sharing</a:t>
            </a:r>
            <a:r>
              <a:rPr b="0" i="0" lang="en-US" sz="1800" u="none" cap="none" strike="noStrike">
                <a:solidFill>
                  <a:srgbClr val="000000"/>
                </a:solidFill>
                <a:latin typeface="Arial"/>
                <a:ea typeface="Arial"/>
                <a:cs typeface="Arial"/>
                <a:sym typeface="Arial"/>
              </a:rPr>
              <a:t> questions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and your responses to help a class-mate?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A: DON’T!</a:t>
            </a:r>
            <a:r>
              <a:rPr b="0" i="0" lang="en-US" sz="1800" u="none" cap="none" strike="noStrike">
                <a:solidFill>
                  <a:srgbClr val="000000"/>
                </a:solidFill>
                <a:latin typeface="Arial"/>
                <a:ea typeface="Arial"/>
                <a:cs typeface="Arial"/>
                <a:sym typeface="Arial"/>
              </a:rPr>
              <a:t> Let me explain what this means to you …</a:t>
            </a:r>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sng" cap="none" strike="noStrike">
                <a:solidFill>
                  <a:srgbClr val="000000"/>
                </a:solidFill>
                <a:latin typeface="Arial"/>
                <a:ea typeface="Arial"/>
                <a:cs typeface="Arial"/>
                <a:sym typeface="Arial"/>
              </a:rPr>
              <a:t>Ethical conduct</a:t>
            </a:r>
            <a:r>
              <a:rPr b="0" i="0" lang="en-US" sz="1800" u="none" cap="none" strike="noStrike">
                <a:solidFill>
                  <a:srgbClr val="000000"/>
                </a:solidFill>
                <a:latin typeface="Arial"/>
                <a:ea typeface="Arial"/>
                <a:cs typeface="Arial"/>
                <a:sym typeface="Arial"/>
              </a:rPr>
              <a:t> in the profession and our </a:t>
            </a:r>
            <a:r>
              <a:rPr b="0" i="0" lang="en-US" sz="1800" u="sng" cap="none" strike="noStrike">
                <a:solidFill>
                  <a:srgbClr val="000000"/>
                </a:solidFill>
                <a:latin typeface="Arial"/>
                <a:ea typeface="Arial"/>
                <a:cs typeface="Arial"/>
                <a:sym typeface="Arial"/>
              </a:rPr>
              <a:t>academic integrity</a:t>
            </a:r>
            <a:r>
              <a:rPr b="0" i="0" lang="en-US" sz="1800" u="none" cap="none" strike="noStrike">
                <a:solidFill>
                  <a:srgbClr val="000000"/>
                </a:solidFill>
                <a:latin typeface="Arial"/>
                <a:ea typeface="Arial"/>
                <a:cs typeface="Arial"/>
                <a:sym typeface="Arial"/>
              </a:rPr>
              <a:t>.</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Both “asking” or “offering” to help are unacceptable actions that violate the Student Code of Conduct, and are contrary to both our ethical conduct in the engineering profession and our academic integrity. </a:t>
            </a:r>
            <a:endParaRPr/>
          </a:p>
          <a:p>
            <a:pPr indent="-359999" lvl="1" marL="720000" marR="0" rtl="0" algn="l">
              <a:lnSpc>
                <a:spcPct val="100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Arial"/>
                <a:ea typeface="Arial"/>
                <a:cs typeface="Arial"/>
                <a:sym typeface="Arial"/>
              </a:rPr>
              <a:t>Both acts are cheating.  </a:t>
            </a:r>
            <a:endParaRPr/>
          </a:p>
          <a:p>
            <a:pPr indent="-317700" lvl="0" marL="432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sng" cap="none" strike="noStrike">
                <a:solidFill>
                  <a:srgbClr val="000000"/>
                </a:solidFill>
                <a:latin typeface="Arial"/>
                <a:ea typeface="Arial"/>
                <a:cs typeface="Arial"/>
                <a:sym typeface="Arial"/>
              </a:rPr>
              <a:t>You may be helping your friend at your expense!</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separation between two letter grades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is minimal!</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Your “help” may push that other person up a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couple of percentage points, and </a:t>
            </a:r>
            <a:r>
              <a:rPr b="0" i="0" lang="en-US" sz="1800" u="sng" cap="none" strike="noStrike">
                <a:solidFill>
                  <a:srgbClr val="000000"/>
                </a:solidFill>
                <a:latin typeface="Arial"/>
                <a:ea typeface="Arial"/>
                <a:cs typeface="Arial"/>
                <a:sym typeface="Arial"/>
              </a:rPr>
              <a:t>push your</a:t>
            </a:r>
            <a:br>
              <a:rPr b="0" i="0" lang="en-US" sz="1800" u="sng"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letter grade lower</a:t>
            </a: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127" name="Google Shape;127;p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Academic Integrity and Ethical Conduct:</a:t>
            </a:r>
            <a:endParaRPr/>
          </a:p>
        </p:txBody>
      </p:sp>
      <p:sp>
        <p:nvSpPr>
          <p:cNvPr id="128" name="Google Shape;128;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29" name="Google Shape;129;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descr="&lt;strong&gt;Check&lt;/strong&gt; Mark &lt;strong&gt;Box&lt;/strong&gt; Green · Free vector graphic on Pixabay" id="130" name="Google Shape;130;p9"/>
          <p:cNvPicPr preferRelativeResize="0"/>
          <p:nvPr/>
        </p:nvPicPr>
        <p:blipFill rotWithShape="1">
          <a:blip r:embed="rId3">
            <a:alphaModFix/>
          </a:blip>
          <a:srcRect b="0" l="0" r="0" t="0"/>
          <a:stretch/>
        </p:blipFill>
        <p:spPr>
          <a:xfrm>
            <a:off x="7543800" y="533400"/>
            <a:ext cx="1572697" cy="1600200"/>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Day and Time for Writing:</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final exam will be administered on-line through eClass, much the same manner as the quizzes and assignments,  at the fixed day and time of </a:t>
            </a:r>
            <a:r>
              <a:rPr b="1" i="0" lang="en-US" sz="1800" u="none" cap="none" strike="noStrike">
                <a:solidFill>
                  <a:srgbClr val="000000"/>
                </a:solidFill>
                <a:latin typeface="Arial"/>
                <a:ea typeface="Arial"/>
                <a:cs typeface="Arial"/>
                <a:sym typeface="Arial"/>
              </a:rPr>
              <a:t>Wednesday 27-April-2022.</a:t>
            </a:r>
            <a:endParaRPr b="1" i="0" sz="18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Opens at 9:00AM MT (University Time)</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Closes at 12:00PM NOON MT (University Time) </a:t>
            </a:r>
            <a:endParaRPr/>
          </a:p>
          <a:p>
            <a:pPr indent="-245699" lvl="1" marL="72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1"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Those with conflicts have been notified. If you have </a:t>
            </a:r>
            <a:r>
              <a:rPr b="1" i="0" lang="en-US" sz="1800" u="none" cap="none" strike="noStrike">
                <a:solidFill>
                  <a:srgbClr val="000000"/>
                </a:solidFill>
                <a:latin typeface="Arial"/>
                <a:ea typeface="Arial"/>
                <a:cs typeface="Arial"/>
                <a:sym typeface="Arial"/>
              </a:rPr>
              <a:t>NOT confirmed </a:t>
            </a:r>
            <a:br>
              <a:rPr b="1" i="0" lang="en-US" sz="1800" u="none" cap="none" strike="noStrike">
                <a:solidFill>
                  <a:srgbClr val="000000"/>
                </a:solidFill>
                <a:latin typeface="Arial"/>
                <a:ea typeface="Arial"/>
                <a:cs typeface="Arial"/>
                <a:sym typeface="Arial"/>
              </a:rPr>
            </a:br>
            <a:r>
              <a:rPr b="1" i="0" lang="en-US" sz="1800" u="none" cap="none" strike="noStrike">
                <a:solidFill>
                  <a:srgbClr val="000000"/>
                </a:solidFill>
                <a:latin typeface="Arial"/>
                <a:ea typeface="Arial"/>
                <a:cs typeface="Arial"/>
                <a:sym typeface="Arial"/>
              </a:rPr>
              <a:t>the alternate day and time, or have NOT been notified</a:t>
            </a:r>
            <a:r>
              <a:rPr b="0" i="0" lang="en-US" sz="1800" u="none" cap="none" strike="noStrike">
                <a:solidFill>
                  <a:srgbClr val="000000"/>
                </a:solidFill>
                <a:latin typeface="Arial"/>
                <a:ea typeface="Arial"/>
                <a:cs typeface="Arial"/>
                <a:sym typeface="Arial"/>
              </a:rPr>
              <a:t>,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please contact Professor Cocchio immediately.</a:t>
            </a:r>
            <a:endParaRPr/>
          </a:p>
          <a:p>
            <a:pPr indent="-245700" lvl="1"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1"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Those with accommodations have been notified. If you have </a:t>
            </a:r>
            <a:r>
              <a:rPr b="1" i="0" lang="en-US" sz="1800" u="none" cap="none" strike="noStrike">
                <a:solidFill>
                  <a:srgbClr val="000000"/>
                </a:solidFill>
                <a:latin typeface="Arial"/>
                <a:ea typeface="Arial"/>
                <a:cs typeface="Arial"/>
                <a:sym typeface="Arial"/>
              </a:rPr>
              <a:t>NOT received confirmation</a:t>
            </a:r>
            <a:r>
              <a:rPr b="0" i="0" lang="en-US" sz="1800" u="none" cap="none" strike="noStrike">
                <a:solidFill>
                  <a:srgbClr val="000000"/>
                </a:solidFill>
                <a:latin typeface="Arial"/>
                <a:ea typeface="Arial"/>
                <a:cs typeface="Arial"/>
                <a:sym typeface="Arial"/>
              </a:rPr>
              <a:t> of</a:t>
            </a:r>
            <a:r>
              <a:rPr b="1" i="0" lang="en-US" sz="1800" u="none" cap="none" strike="noStrike">
                <a:solidFill>
                  <a:srgbClr val="000000"/>
                </a:solidFill>
                <a:latin typeface="Arial"/>
                <a:ea typeface="Arial"/>
                <a:cs typeface="Arial"/>
                <a:sym typeface="Arial"/>
              </a:rPr>
              <a:t> </a:t>
            </a:r>
            <a:r>
              <a:rPr b="0" i="0" lang="en-US" sz="1800" u="none" cap="none" strike="noStrike">
                <a:solidFill>
                  <a:srgbClr val="000000"/>
                </a:solidFill>
                <a:latin typeface="Arial"/>
                <a:ea typeface="Arial"/>
                <a:cs typeface="Arial"/>
                <a:sym typeface="Arial"/>
              </a:rPr>
              <a:t>your accommodations, please contact Professor Cocchio.</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sng" cap="none" strike="noStrike">
                <a:solidFill>
                  <a:srgbClr val="000000"/>
                </a:solidFill>
                <a:latin typeface="Arial"/>
                <a:ea typeface="Arial"/>
                <a:cs typeface="Arial"/>
                <a:sym typeface="Arial"/>
                <a:hlinkClick r:id="rId3">
                  <a:extLst>
                    <a:ext uri="{A12FA001-AC4F-418D-AE19-62706E023703}">
                      <ahyp:hlinkClr val="tx"/>
                    </a:ext>
                  </a:extLst>
                </a:hlinkClick>
              </a:rPr>
              <a:t>Cocchio@ualberta.ca</a:t>
            </a:r>
            <a:r>
              <a:rPr b="1" i="0" lang="en-US" sz="2400" u="none" cap="none" strike="noStrike">
                <a:solidFill>
                  <a:srgbClr val="000000"/>
                </a:solidFill>
                <a:latin typeface="Arial"/>
                <a:ea typeface="Arial"/>
                <a:cs typeface="Arial"/>
                <a:sym typeface="Arial"/>
              </a:rPr>
              <a:t> </a:t>
            </a:r>
            <a:endParaRPr/>
          </a:p>
          <a:p>
            <a:pPr indent="-245700" lvl="1"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1"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University is </a:t>
            </a:r>
            <a:r>
              <a:rPr b="0" i="0" lang="en-US" sz="1800" u="sng" cap="none" strike="noStrike">
                <a:solidFill>
                  <a:srgbClr val="000000"/>
                </a:solidFill>
                <a:latin typeface="Arial"/>
                <a:ea typeface="Arial"/>
                <a:cs typeface="Arial"/>
                <a:sym typeface="Arial"/>
              </a:rPr>
              <a:t>not offering</a:t>
            </a:r>
            <a:r>
              <a:rPr b="0" i="0" lang="en-US" sz="1800" u="none" cap="none" strike="noStrike">
                <a:solidFill>
                  <a:srgbClr val="000000"/>
                </a:solidFill>
                <a:latin typeface="Arial"/>
                <a:ea typeface="Arial"/>
                <a:cs typeface="Arial"/>
                <a:sym typeface="Arial"/>
              </a:rPr>
              <a:t> an accommodation for students (in vastly different time zones) to complete their final exams during daylight hours no matter their location. </a:t>
            </a:r>
            <a:endParaRPr/>
          </a:p>
        </p:txBody>
      </p:sp>
      <p:sp>
        <p:nvSpPr>
          <p:cNvPr id="137" name="Google Shape;137;p1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Day and Time:</a:t>
            </a:r>
            <a:endParaRPr b="0" i="0" sz="2400" u="none" cap="none" strike="noStrike">
              <a:solidFill>
                <a:srgbClr val="333399"/>
              </a:solidFill>
              <a:latin typeface="Arial"/>
              <a:ea typeface="Arial"/>
              <a:cs typeface="Arial"/>
              <a:sym typeface="Arial"/>
            </a:endParaRPr>
          </a:p>
        </p:txBody>
      </p:sp>
      <p:sp>
        <p:nvSpPr>
          <p:cNvPr id="138" name="Google Shape;138;p1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39" name="Google Shape;139;p1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
        <p:nvSpPr>
          <p:cNvPr id="140" name="Google Shape;140;p10"/>
          <p:cNvSpPr/>
          <p:nvPr/>
        </p:nvSpPr>
        <p:spPr>
          <a:xfrm rot="2731180">
            <a:off x="6445048" y="1655676"/>
            <a:ext cx="946117" cy="1375356"/>
          </a:xfrm>
          <a:prstGeom prst="downArrow">
            <a:avLst>
              <a:gd fmla="val 50000" name="adj1"/>
              <a:gd fmla="val 50000" name="adj2"/>
            </a:avLst>
          </a:prstGeom>
          <a:solidFill>
            <a:srgbClr val="FF0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141" name="Google Shape;141;p10"/>
          <p:cNvSpPr/>
          <p:nvPr/>
        </p:nvSpPr>
        <p:spPr>
          <a:xfrm rot="2731180">
            <a:off x="7442142" y="2722477"/>
            <a:ext cx="946117" cy="1375356"/>
          </a:xfrm>
          <a:prstGeom prst="downArrow">
            <a:avLst>
              <a:gd fmla="val 50000" name="adj1"/>
              <a:gd fmla="val 50000" name="adj2"/>
            </a:avLst>
          </a:prstGeom>
          <a:solidFill>
            <a:srgbClr val="FF0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The Final Exam will be administered in three (3) segments.</a:t>
            </a:r>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Before Each Segment Starts and After Each Segment Ends:</a:t>
            </a:r>
            <a:endParaRPr b="0"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Segments will NOT be accessible until the “OPENS AT” time.</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Each segment will end at the “CLOSES AT” time.</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All responses will be logged when you “FINISH ATTEMPT” or automatically logged at the “CLOSES AT” time.</a:t>
            </a:r>
            <a:endParaRPr/>
          </a:p>
          <a:p>
            <a:pPr indent="-232999" lvl="1"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1"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Time not used in a previous segment will NOT be carried forward to a subsequent segment. </a:t>
            </a:r>
            <a:endParaRPr/>
          </a:p>
          <a:p>
            <a:pPr indent="-233000" lvl="1"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1"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After the Final Exam finishes, congratulate yourself on your efforts, and take some time to relax and enjoy!</a:t>
            </a:r>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148" name="Google Shape;148;p1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Parameters and Format:</a:t>
            </a:r>
            <a:endParaRPr b="0" i="0" sz="2400" u="none" cap="none" strike="noStrike">
              <a:solidFill>
                <a:srgbClr val="333399"/>
              </a:solidFill>
              <a:latin typeface="Arial"/>
              <a:ea typeface="Arial"/>
              <a:cs typeface="Arial"/>
              <a:sym typeface="Arial"/>
            </a:endParaRPr>
          </a:p>
        </p:txBody>
      </p:sp>
      <p:sp>
        <p:nvSpPr>
          <p:cNvPr id="149" name="Google Shape;149;p1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0" name="Google Shape;150;p1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Final Exam Format:</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The duration of the three (3) segments are based on marks allocated (likely unequal duration, per Assignments #3 and #4). </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Overlap of 5 minutes allows for sign-off / sign-on to each segment.</a:t>
            </a:r>
            <a:endParaRPr/>
          </a:p>
          <a:p>
            <a:pPr indent="-232999" lvl="0"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 will be allowed a full 180 minutes + 5 minutes in total </a:t>
            </a:r>
            <a:endParaRPr b="0" i="0" sz="20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Exception: If you start a segment too late after it opens because each segment has a hard “CLOSES AT” time.</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Note that eClass will automatically log any and all responses at the close of each segment.</a:t>
            </a:r>
            <a:endParaRPr b="0" i="0" sz="2000" u="none" cap="none" strike="noStrike">
              <a:solidFill>
                <a:srgbClr val="000000"/>
              </a:solidFill>
              <a:latin typeface="Arial"/>
              <a:ea typeface="Arial"/>
              <a:cs typeface="Arial"/>
              <a:sym typeface="Arial"/>
            </a:endParaRPr>
          </a:p>
        </p:txBody>
      </p:sp>
      <p:sp>
        <p:nvSpPr>
          <p:cNvPr id="157" name="Google Shape;157;p1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Parameters and Format:</a:t>
            </a:r>
            <a:endParaRPr/>
          </a:p>
        </p:txBody>
      </p:sp>
      <p:sp>
        <p:nvSpPr>
          <p:cNvPr id="158" name="Google Shape;158;p1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9" name="Google Shape;159;p1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Exam Parameters Common to All Segments:</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time expires: Open attempts are submitted automatically</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Attempts allowed: 2</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 have two (2) attempts within the OPEN-CLOSE time-frame:</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Helpful in event of any internet connectivity interruption. If you are interrupted, then go into the exam to start a second attempt.</a:t>
            </a:r>
            <a:endParaRPr b="0" i="0" sz="2000" u="none" cap="none" strike="noStrike">
              <a:solidFill>
                <a:srgbClr val="000000"/>
              </a:solidFill>
              <a:latin typeface="Arial"/>
              <a:ea typeface="Arial"/>
              <a:cs typeface="Arial"/>
              <a:sym typeface="Arial"/>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Your previous work (most / all of it) will be there. </a:t>
            </a:r>
            <a:endParaRPr b="0" i="0" sz="2000" u="none" cap="none" strike="noStrike">
              <a:solidFill>
                <a:srgbClr val="000000"/>
              </a:solidFill>
              <a:latin typeface="Arial"/>
              <a:ea typeface="Arial"/>
              <a:cs typeface="Arial"/>
              <a:sym typeface="Arial"/>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Instructions for additional contact help will be given on the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day of the final exam.</a:t>
            </a:r>
            <a:endParaRPr b="0" i="0" sz="20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Each attempt builds on the last: Yes</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Graded on: “Last Attempt”</a:t>
            </a:r>
            <a:endParaRPr b="0" i="0" sz="20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Require students to accept academic honesty statement: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Yes, students must acknowledge the academic honesty statement.</a:t>
            </a:r>
            <a:endParaRPr b="0" i="0" sz="2000" u="none" cap="none" strike="noStrike">
              <a:solidFill>
                <a:srgbClr val="000000"/>
              </a:solidFill>
              <a:latin typeface="Arial"/>
              <a:ea typeface="Arial"/>
              <a:cs typeface="Arial"/>
              <a:sym typeface="Arial"/>
            </a:endParaRPr>
          </a:p>
        </p:txBody>
      </p:sp>
      <p:sp>
        <p:nvSpPr>
          <p:cNvPr id="166" name="Google Shape;166;p1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Parameters and Format:</a:t>
            </a:r>
            <a:endParaRPr/>
          </a:p>
        </p:txBody>
      </p:sp>
      <p:sp>
        <p:nvSpPr>
          <p:cNvPr id="167" name="Google Shape;167;p1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68" name="Google Shape;168;p1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Exam Parameters Specific to Each Segment </a:t>
            </a:r>
            <a:br>
              <a:rPr b="1"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(knowing these parameters in advance helps you manage your time)</a:t>
            </a: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Segment #</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Opens at (time) </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Closes at (time)</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“Free Navigation” (select any question) or “Sequential” (no going back)</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Total Marks</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Weight on Final Grade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(Total = 55% for all segments)</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Planned duration</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List of Question #’s and Marks for each question</a:t>
            </a:r>
            <a:endParaRPr/>
          </a:p>
          <a:p>
            <a:pPr indent="-305000" lvl="0" marL="432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175" name="Google Shape;175;p1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Parameters and Format:</a:t>
            </a:r>
            <a:endParaRPr/>
          </a:p>
        </p:txBody>
      </p:sp>
      <p:sp>
        <p:nvSpPr>
          <p:cNvPr id="176" name="Google Shape;176;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7" name="Google Shape;177;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Exam Parameters Specific to Each Segment:</a:t>
            </a:r>
            <a:endParaRPr b="0" i="0" sz="1800" u="none" cap="none" strike="noStrike">
              <a:solidFill>
                <a:srgbClr val="000000"/>
              </a:solidFill>
              <a:latin typeface="Arial"/>
              <a:ea typeface="Arial"/>
              <a:cs typeface="Arial"/>
              <a:sym typeface="Arial"/>
            </a:endParaRPr>
          </a:p>
          <a:p>
            <a:pPr indent="-432000" lvl="0" marL="432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final exam consists of these timed segments.</a:t>
            </a:r>
            <a:endParaRPr b="0" i="0" sz="1800" u="none" cap="none" strike="noStrike">
              <a:solidFill>
                <a:srgbClr val="000000"/>
              </a:solidFill>
              <a:latin typeface="Arial"/>
              <a:ea typeface="Arial"/>
              <a:cs typeface="Arial"/>
              <a:sym typeface="Arial"/>
            </a:endParaRPr>
          </a:p>
          <a:p>
            <a:pPr indent="-432000" lvl="0" marL="432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Note that there is a 5-minute overlap between the segments.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This is to allow for your sign-off and sign-on, and any brief break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you may wish to take.</a:t>
            </a:r>
            <a:endParaRPr/>
          </a:p>
          <a:p>
            <a:pPr indent="-317700" lvl="0" marL="432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32000" lvl="0" marL="432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Table of Parameters listed below is for the </a:t>
            </a:r>
            <a:r>
              <a:rPr b="1" i="0" lang="en-US" sz="1800" u="none" cap="none" strike="noStrike">
                <a:solidFill>
                  <a:srgbClr val="FF0000"/>
                </a:solidFill>
                <a:latin typeface="Arial"/>
                <a:ea typeface="Arial"/>
                <a:cs typeface="Arial"/>
                <a:sym typeface="Arial"/>
              </a:rPr>
              <a:t>2021F</a:t>
            </a:r>
            <a:r>
              <a:rPr b="1" i="0" lang="en-US" sz="1800" u="none" cap="none" strike="noStrike">
                <a:solidFill>
                  <a:srgbClr val="000000"/>
                </a:solidFill>
                <a:latin typeface="Arial"/>
                <a:ea typeface="Arial"/>
                <a:cs typeface="Arial"/>
                <a:sym typeface="Arial"/>
              </a:rPr>
              <a:t> Final Exam and may change for this Final Exam</a:t>
            </a: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317700" lvl="0" marL="432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17700" lvl="0" marL="432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17700" lvl="0" marL="432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17700" lvl="0" marL="432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184" name="Google Shape;184;p1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Parameters and Format:</a:t>
            </a:r>
            <a:endParaRPr/>
          </a:p>
        </p:txBody>
      </p:sp>
      <p:sp>
        <p:nvSpPr>
          <p:cNvPr id="185" name="Google Shape;185;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86" name="Google Shape;186;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graphicFrame>
        <p:nvGraphicFramePr>
          <p:cNvPr id="187" name="Google Shape;187;p15"/>
          <p:cNvGraphicFramePr/>
          <p:nvPr/>
        </p:nvGraphicFramePr>
        <p:xfrm>
          <a:off x="457201" y="3302952"/>
          <a:ext cx="3000000" cy="3000000"/>
        </p:xfrm>
        <a:graphic>
          <a:graphicData uri="http://schemas.openxmlformats.org/drawingml/2006/table">
            <a:tbl>
              <a:tblPr>
                <a:noFill/>
                <a:tableStyleId>{25F183AD-9F18-455C-A601-D2A1FDD6967F}</a:tableStyleId>
              </a:tblPr>
              <a:tblGrid>
                <a:gridCol w="990600"/>
                <a:gridCol w="961250"/>
                <a:gridCol w="975925"/>
                <a:gridCol w="978250"/>
                <a:gridCol w="733300"/>
                <a:gridCol w="979025"/>
                <a:gridCol w="991475"/>
                <a:gridCol w="1543575"/>
              </a:tblGrid>
              <a:tr h="635000">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Segment</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Opens</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Closes</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Number of Questions</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Total Marks</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Final Grade Weight</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Allotted Time (mins)</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Navigation Method</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317500">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9:00AM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10:12M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22</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97</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20.5%</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67</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FREE</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317500">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2</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10:07AM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11:20AM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25</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97</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20.5%</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68</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FREE</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317500">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3</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11:15AM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12:05PM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22</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66</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14.0%</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45</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SEQUENTIAL</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317500">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TOTAL</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9:00AM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12:05PM</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69</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259</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50.0%</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180</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7000"/>
                        </a:lnSpc>
                        <a:spcBef>
                          <a:spcPts val="0"/>
                        </a:spcBef>
                        <a:spcAft>
                          <a:spcPts val="0"/>
                        </a:spcAft>
                        <a:buNone/>
                      </a:pPr>
                      <a:r>
                        <a:rPr lang="en-US" sz="1400" u="none" cap="none" strike="noStrike">
                          <a:latin typeface="Arial"/>
                          <a:ea typeface="Arial"/>
                          <a:cs typeface="Arial"/>
                          <a:sym typeface="Arial"/>
                        </a:rPr>
                        <a:t>-</a:t>
                      </a:r>
                      <a:endParaRPr sz="20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bl>
          </a:graphicData>
        </a:graphic>
      </p:graphicFrame>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p:nvPr/>
        </p:nvSpPr>
        <p:spPr>
          <a:xfrm>
            <a:off x="180000" y="828000"/>
            <a:ext cx="43158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Questions and Marks for Each Segment:</a:t>
            </a:r>
            <a:endParaRPr b="0" i="0" sz="1400" u="none" cap="none" strike="noStrike">
              <a:solidFill>
                <a:schemeClr val="dk1"/>
              </a:solidFill>
              <a:latin typeface="Arial"/>
              <a:ea typeface="Arial"/>
              <a:cs typeface="Arial"/>
              <a:sym typeface="Arial"/>
            </a:endParaRPr>
          </a:p>
          <a:p>
            <a:pPr indent="-343100" lvl="0" marL="432000" marR="0" rtl="0" algn="l">
              <a:lnSpc>
                <a:spcPct val="90000"/>
              </a:lnSpc>
              <a:spcBef>
                <a:spcPts val="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Arial"/>
                <a:ea typeface="Arial"/>
                <a:cs typeface="Arial"/>
                <a:sym typeface="Arial"/>
              </a:rPr>
              <a:t>The Table listed to the right is for the </a:t>
            </a:r>
            <a:r>
              <a:rPr b="1" i="0" lang="en-US" sz="1400" u="none" cap="none" strike="noStrike">
                <a:solidFill>
                  <a:srgbClr val="FF0000"/>
                </a:solidFill>
                <a:latin typeface="Arial"/>
                <a:ea typeface="Arial"/>
                <a:cs typeface="Arial"/>
                <a:sym typeface="Arial"/>
              </a:rPr>
              <a:t>2021S</a:t>
            </a:r>
            <a:r>
              <a:rPr b="1" i="0" lang="en-US" sz="1400" u="none" cap="none" strike="noStrike">
                <a:solidFill>
                  <a:schemeClr val="dk1"/>
                </a:solidFill>
                <a:latin typeface="Arial"/>
                <a:ea typeface="Arial"/>
                <a:cs typeface="Arial"/>
                <a:sym typeface="Arial"/>
              </a:rPr>
              <a:t> Final Exam and may change for this Final Exam.</a:t>
            </a:r>
            <a:endParaRPr b="0" i="0" sz="1400" u="none" cap="none" strike="noStrike">
              <a:solidFill>
                <a:schemeClr val="dk1"/>
              </a:solidFill>
              <a:latin typeface="Arial"/>
              <a:ea typeface="Arial"/>
              <a:cs typeface="Arial"/>
              <a:sym typeface="Arial"/>
            </a:endParaRPr>
          </a:p>
          <a:p>
            <a:pPr indent="-271100" lvl="0" marL="360000" marR="0" rtl="0" algn="l">
              <a:lnSpc>
                <a:spcPct val="90000"/>
              </a:lnSpc>
              <a:spcBef>
                <a:spcPts val="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Arial"/>
                <a:ea typeface="Arial"/>
                <a:cs typeface="Arial"/>
                <a:sym typeface="Arial"/>
              </a:rPr>
              <a:t>This information will be made available when you begin each segment of the final exam on eClass.</a:t>
            </a:r>
            <a:endParaRPr/>
          </a:p>
          <a:p>
            <a:pPr indent="-271100" lvl="0" marL="360000" marR="0" rtl="0" algn="l">
              <a:lnSpc>
                <a:spcPct val="90000"/>
              </a:lnSpc>
              <a:spcBef>
                <a:spcPts val="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Arial"/>
                <a:ea typeface="Arial"/>
                <a:cs typeface="Arial"/>
                <a:sym typeface="Arial"/>
              </a:rPr>
              <a:t>Questions are NOT worth ALL the same marks. Some questions are worth 1 mark, other questions are worth 12 marks. The allotted time and grade weight are based on the total marks in each segment, NOT on the number of questions.</a:t>
            </a:r>
            <a:endParaRPr/>
          </a:p>
          <a:p>
            <a:pPr indent="-271100" lvl="0" marL="360000" marR="0" rtl="0" algn="l">
              <a:lnSpc>
                <a:spcPct val="90000"/>
              </a:lnSpc>
              <a:spcBef>
                <a:spcPts val="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Arial"/>
                <a:ea typeface="Arial"/>
                <a:cs typeface="Arial"/>
                <a:sym typeface="Arial"/>
              </a:rPr>
              <a:t>For the three segments, the question labels do NOT appear and the order of questions will be different than listed here. </a:t>
            </a:r>
            <a:br>
              <a:rPr b="0" i="0" lang="en-US" sz="1400" u="none" cap="none" strike="noStrike">
                <a:solidFill>
                  <a:schemeClr val="dk1"/>
                </a:solidFill>
                <a:latin typeface="Arial"/>
                <a:ea typeface="Arial"/>
                <a:cs typeface="Arial"/>
                <a:sym typeface="Arial"/>
              </a:rPr>
            </a:br>
            <a:r>
              <a:rPr b="0" i="0" lang="en-US" sz="1400" u="none" cap="none" strike="noStrike">
                <a:solidFill>
                  <a:schemeClr val="dk1"/>
                </a:solidFill>
                <a:latin typeface="Arial"/>
                <a:ea typeface="Arial"/>
                <a:cs typeface="Arial"/>
                <a:sym typeface="Arial"/>
              </a:rPr>
              <a:t>The questions as listed are ranked by marks, highest to lowest. </a:t>
            </a:r>
            <a:endParaRPr/>
          </a:p>
        </p:txBody>
      </p:sp>
      <p:sp>
        <p:nvSpPr>
          <p:cNvPr id="194" name="Google Shape;194;p1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Parameters and Format:</a:t>
            </a:r>
            <a:endParaRPr/>
          </a:p>
        </p:txBody>
      </p:sp>
      <p:sp>
        <p:nvSpPr>
          <p:cNvPr id="195" name="Google Shape;195;p1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96" name="Google Shape;196;p1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id="197" name="Google Shape;197;p16"/>
          <p:cNvPicPr preferRelativeResize="0"/>
          <p:nvPr/>
        </p:nvPicPr>
        <p:blipFill rotWithShape="1">
          <a:blip r:embed="rId3">
            <a:alphaModFix/>
          </a:blip>
          <a:srcRect b="0" l="0" r="0" t="0"/>
          <a:stretch/>
        </p:blipFill>
        <p:spPr>
          <a:xfrm>
            <a:off x="4724400" y="846288"/>
            <a:ext cx="3810000" cy="5263422"/>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Studying:</a:t>
            </a:r>
            <a:endParaRPr/>
          </a:p>
          <a:p>
            <a:pPr indent="-360000" lvl="0" marL="360000" marR="0" rtl="0" algn="l">
              <a:lnSpc>
                <a:spcPct val="100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Arial"/>
                <a:ea typeface="Arial"/>
                <a:cs typeface="Arial"/>
                <a:sym typeface="Arial"/>
              </a:rPr>
              <a:t>Study as though you have no access to any resources </a:t>
            </a:r>
            <a:br>
              <a:rPr b="1" i="0" lang="en-US" sz="1800" u="none" cap="none" strike="noStrike">
                <a:solidFill>
                  <a:srgbClr val="000000"/>
                </a:solidFill>
                <a:latin typeface="Arial"/>
                <a:ea typeface="Arial"/>
                <a:cs typeface="Arial"/>
                <a:sym typeface="Arial"/>
              </a:rPr>
            </a:br>
            <a:r>
              <a:rPr b="1" i="0" lang="en-US" sz="1800" u="none" cap="none" strike="noStrike">
                <a:solidFill>
                  <a:srgbClr val="000000"/>
                </a:solidFill>
                <a:latin typeface="Arial"/>
                <a:ea typeface="Arial"/>
                <a:cs typeface="Arial"/>
                <a:sym typeface="Arial"/>
              </a:rPr>
              <a:t>during the Final Exam i.e. as though it were “closed book”.</a:t>
            </a:r>
            <a:endParaRPr b="1" i="0" sz="18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Anyone who does not study and intends to rely on using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available resources to find information in response to the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questions will be woefully unprepared and will not perform well.</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Prepare for the final exam as efficiency will be required to complete it in the allotted time.</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Precious time can be consumed “searching for the answer”. </a:t>
            </a:r>
            <a:endParaRPr/>
          </a:p>
          <a:p>
            <a:pPr indent="-245699" lvl="0" marL="72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Case Studies:</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Know details about the course case studies as well as your team project case study.</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 will not ask specific details about course case studies </a:t>
            </a:r>
            <a:endParaRPr b="0" i="0" sz="18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i.e. I won’t ask “When did the Loss Incident occur?” </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But you will be expected to apply key principles, practices, and lessons of risk management and as derived from those case studies, or any short case study presented in the final exam. </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 name="Google Shape;204;p1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Content and Your Preparation:</a:t>
            </a:r>
            <a:endParaRPr b="0" i="0" sz="2400" u="none" cap="none" strike="noStrike">
              <a:solidFill>
                <a:srgbClr val="333399"/>
              </a:solidFill>
              <a:latin typeface="Arial"/>
              <a:ea typeface="Arial"/>
              <a:cs typeface="Arial"/>
              <a:sym typeface="Arial"/>
            </a:endParaRPr>
          </a:p>
        </p:txBody>
      </p:sp>
      <p:sp>
        <p:nvSpPr>
          <p:cNvPr id="205" name="Google Shape;205;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06" name="Google Shape;206;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Calculations:</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Have a calculator (or spreadsheet) for basic arithmetic calculations (+-x/).</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There are several questions with calculations presented in lectures. </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Memorize:</a:t>
            </a:r>
            <a:endParaRPr b="1"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There is very little to memorize. </a:t>
            </a:r>
            <a:endParaRPr b="0"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Example: “What are the four key points of the Engineer’s Survival Guide?”</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Critical Thinking and Application: </a:t>
            </a:r>
            <a:endParaRPr b="1"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will be expected to apply the knowledge you know AND your critical thinking skills to answer the questions.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The final exam is cumulative: </a:t>
            </a:r>
            <a:endParaRPr b="1"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 order to master lecture content in the latter part of the term, one should be competent in the content covered prior it. The final exam draws on content from the entire term.  </a:t>
            </a:r>
            <a:endParaRPr/>
          </a:p>
          <a:p>
            <a:pPr indent="-432000" lvl="0" marL="432000" marR="0" rtl="0" algn="l">
              <a:lnSpc>
                <a:spcPct val="100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Arial"/>
                <a:ea typeface="Arial"/>
                <a:cs typeface="Arial"/>
                <a:sym typeface="Arial"/>
              </a:rPr>
              <a:t>IF</a:t>
            </a:r>
            <a:r>
              <a:rPr b="0" i="0" lang="en-US" sz="1800" u="none" cap="none" strike="noStrike">
                <a:solidFill>
                  <a:srgbClr val="000000"/>
                </a:solidFill>
                <a:latin typeface="Arial"/>
                <a:ea typeface="Arial"/>
                <a:cs typeface="Arial"/>
                <a:sym typeface="Arial"/>
              </a:rPr>
              <a:t> you are regularly attending and engaging yourself, </a:t>
            </a:r>
            <a:r>
              <a:rPr b="1" i="0" lang="en-US" sz="1800" u="none" cap="none" strike="noStrike">
                <a:solidFill>
                  <a:srgbClr val="000000"/>
                </a:solidFill>
                <a:latin typeface="Arial"/>
                <a:ea typeface="Arial"/>
                <a:cs typeface="Arial"/>
                <a:sym typeface="Arial"/>
              </a:rPr>
              <a:t>THEN</a:t>
            </a:r>
            <a:r>
              <a:rPr b="0" i="0" lang="en-US" sz="1800" u="none" cap="none" strike="noStrike">
                <a:solidFill>
                  <a:srgbClr val="000000"/>
                </a:solidFill>
                <a:latin typeface="Arial"/>
                <a:ea typeface="Arial"/>
                <a:cs typeface="Arial"/>
                <a:sym typeface="Arial"/>
              </a:rPr>
              <a:t> there will be no surprises!</a:t>
            </a:r>
            <a:endParaRPr b="0" i="0" sz="1800" u="none" cap="none" strike="noStrike">
              <a:solidFill>
                <a:srgbClr val="000000"/>
              </a:solidFill>
              <a:latin typeface="Arial"/>
              <a:ea typeface="Arial"/>
              <a:cs typeface="Arial"/>
              <a:sym typeface="Arial"/>
            </a:endParaRPr>
          </a:p>
        </p:txBody>
      </p:sp>
      <p:sp>
        <p:nvSpPr>
          <p:cNvPr id="213" name="Google Shape;213;p1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Content and Your Preparation:</a:t>
            </a:r>
            <a:endParaRPr/>
          </a:p>
        </p:txBody>
      </p:sp>
      <p:sp>
        <p:nvSpPr>
          <p:cNvPr id="214" name="Google Shape;214;p1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15" name="Google Shape;215;p1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Final Exam Questions:</a:t>
            </a:r>
            <a:endParaRPr b="1"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Similar in nature to the assignments: </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Written responses (open text boxes) if any – spelling is not graded</a:t>
            </a:r>
            <a:endParaRPr b="0" i="0" sz="18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Numerical responses – observe number format as described in the question</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Multiple choice letters / drop-down / pick-list</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What you enter is what you are graded on – rough work not counted so photos or scans of your work are NOT needed</a:t>
            </a:r>
            <a:endParaRPr b="0" i="0" sz="1800" u="none" cap="none" strike="noStrike">
              <a:solidFill>
                <a:srgbClr val="000000"/>
              </a:solidFill>
              <a:latin typeface="Arial"/>
              <a:ea typeface="Arial"/>
              <a:cs typeface="Arial"/>
              <a:sym typeface="Arial"/>
            </a:endParaRPr>
          </a:p>
          <a:p>
            <a:pPr indent="-245700" lvl="2"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2"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For </a:t>
            </a:r>
            <a:r>
              <a:rPr b="0" i="0" lang="en-US" sz="1800" u="sng" cap="none" strike="noStrike">
                <a:solidFill>
                  <a:srgbClr val="000000"/>
                </a:solidFill>
                <a:latin typeface="Arial"/>
                <a:ea typeface="Arial"/>
                <a:cs typeface="Arial"/>
                <a:sym typeface="Arial"/>
              </a:rPr>
              <a:t>MOST</a:t>
            </a:r>
            <a:r>
              <a:rPr b="0" i="0" lang="en-US" sz="1800" u="none" cap="none" strike="noStrike">
                <a:solidFill>
                  <a:srgbClr val="000000"/>
                </a:solidFill>
                <a:latin typeface="Arial"/>
                <a:ea typeface="Arial"/>
                <a:cs typeface="Arial"/>
                <a:sym typeface="Arial"/>
              </a:rPr>
              <a:t> questions, there is </a:t>
            </a:r>
            <a:r>
              <a:rPr b="0" i="0" lang="en-US" sz="1800" u="sng" cap="none" strike="noStrike">
                <a:solidFill>
                  <a:srgbClr val="000000"/>
                </a:solidFill>
                <a:latin typeface="Arial"/>
                <a:ea typeface="Arial"/>
                <a:cs typeface="Arial"/>
                <a:sym typeface="Arial"/>
              </a:rPr>
              <a:t>no penalty</a:t>
            </a:r>
            <a:r>
              <a:rPr b="0" i="0" lang="en-US" sz="1800" u="none" cap="none" strike="noStrike">
                <a:solidFill>
                  <a:srgbClr val="000000"/>
                </a:solidFill>
                <a:latin typeface="Arial"/>
                <a:ea typeface="Arial"/>
                <a:cs typeface="Arial"/>
                <a:sym typeface="Arial"/>
              </a:rPr>
              <a:t> for an incorrect response.</a:t>
            </a:r>
            <a:endParaRPr/>
          </a:p>
          <a:p>
            <a:pPr indent="-360000" lvl="2"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Please be aware that </a:t>
            </a:r>
            <a:r>
              <a:rPr b="0" i="0" lang="en-US" sz="1800" u="sng" cap="none" strike="noStrike">
                <a:solidFill>
                  <a:srgbClr val="000000"/>
                </a:solidFill>
                <a:latin typeface="Arial"/>
                <a:ea typeface="Arial"/>
                <a:cs typeface="Arial"/>
                <a:sym typeface="Arial"/>
              </a:rPr>
              <a:t>a penalty does apply</a:t>
            </a:r>
            <a:r>
              <a:rPr b="0" i="0" lang="en-US" sz="1800" u="none" cap="none" strike="noStrike">
                <a:solidFill>
                  <a:srgbClr val="000000"/>
                </a:solidFill>
                <a:latin typeface="Arial"/>
                <a:ea typeface="Arial"/>
                <a:cs typeface="Arial"/>
                <a:sym typeface="Arial"/>
              </a:rPr>
              <a:t> for incorrect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responses </a:t>
            </a:r>
            <a:r>
              <a:rPr b="0" i="0" lang="en-US" sz="1800" u="sng" cap="none" strike="noStrike">
                <a:solidFill>
                  <a:srgbClr val="000000"/>
                </a:solidFill>
                <a:latin typeface="Arial"/>
                <a:ea typeface="Arial"/>
                <a:cs typeface="Arial"/>
                <a:sym typeface="Arial"/>
              </a:rPr>
              <a:t>on some</a:t>
            </a:r>
            <a:r>
              <a:rPr b="0" i="0" lang="en-US" sz="1800" u="none" cap="none" strike="noStrike">
                <a:solidFill>
                  <a:srgbClr val="000000"/>
                </a:solidFill>
                <a:latin typeface="Arial"/>
                <a:ea typeface="Arial"/>
                <a:cs typeface="Arial"/>
                <a:sym typeface="Arial"/>
              </a:rPr>
              <a:t> multiple-choice questions. </a:t>
            </a:r>
            <a:endParaRPr b="0" i="0" sz="18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These are specifically noted on each question. </a:t>
            </a:r>
            <a:endParaRPr/>
          </a:p>
          <a:p>
            <a:pPr indent="-359999" lvl="2"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No response = no marks earned, no penalty</a:t>
            </a:r>
            <a:endParaRPr/>
          </a:p>
          <a:p>
            <a:pPr indent="-245699" lvl="2" marL="72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2"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number of questions on the exam is immaterial. </a:t>
            </a:r>
            <a:endParaRPr/>
          </a:p>
          <a:p>
            <a:pPr indent="-359999" lvl="2"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What is important … the exam is 180 minutes in duration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at ~1.4 marks earned per minute, for about 260 marks +/- total. </a:t>
            </a:r>
            <a:endParaRPr b="0" i="0" sz="1400" u="none" cap="none" strike="noStrike">
              <a:solidFill>
                <a:srgbClr val="000000"/>
              </a:solidFill>
              <a:latin typeface="Arial"/>
              <a:ea typeface="Arial"/>
              <a:cs typeface="Arial"/>
              <a:sym typeface="Arial"/>
            </a:endParaRPr>
          </a:p>
        </p:txBody>
      </p:sp>
      <p:sp>
        <p:nvSpPr>
          <p:cNvPr id="222" name="Google Shape;222;p1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Final Exam Content and Your Preparation:</a:t>
            </a:r>
            <a:endParaRPr/>
          </a:p>
        </p:txBody>
      </p:sp>
      <p:sp>
        <p:nvSpPr>
          <p:cNvPr id="223" name="Google Shape;223;p1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24" name="Google Shape;224;p1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Quiz Tools and Tips for Students – see  eClass page:</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sng" cap="none" strike="noStrike">
                <a:solidFill>
                  <a:srgbClr val="000000"/>
                </a:solidFill>
                <a:latin typeface="Arial"/>
                <a:ea typeface="Arial"/>
                <a:cs typeface="Arial"/>
                <a:sym typeface="Arial"/>
                <a:hlinkClick r:id="rId3">
                  <a:extLst>
                    <a:ext uri="{A12FA001-AC4F-418D-AE19-62706E023703}">
                      <ahyp:hlinkClr val="tx"/>
                    </a:ext>
                  </a:extLst>
                </a:hlinkClick>
              </a:rPr>
              <a:t>https://support.ctl.ualberta.ca/index.php?/Knowledgebase/Article/View/371/10/quiz-tools-and-tips-for-students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Quiz Navigation and Summary of Attempt:</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To navigate within the exam, look in the upper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left corner for the “Quiz Navigation” grid:</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“Free Navigation” allows you to move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to any question.</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“Sequential” segments allow you to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advance to the next question ONLY if you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have responded to the current question.</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Select “Finish attempt” to submit. Before it</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submits, the “Summary of attempt” lists the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responses to all questions on the exam:</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“Incomplete answer” </a:t>
            </a:r>
            <a:r>
              <a:rPr b="0" i="0" lang="en-US" sz="1800" u="sng" cap="none" strike="noStrike">
                <a:solidFill>
                  <a:srgbClr val="000000"/>
                </a:solidFill>
                <a:latin typeface="Arial"/>
                <a:ea typeface="Arial"/>
                <a:cs typeface="Arial"/>
                <a:sym typeface="Arial"/>
              </a:rPr>
              <a:t>means</a:t>
            </a:r>
            <a:r>
              <a:rPr b="0" i="0" lang="en-US" sz="1800" u="none" cap="none" strike="noStrike">
                <a:solidFill>
                  <a:srgbClr val="000000"/>
                </a:solidFill>
                <a:latin typeface="Arial"/>
                <a:ea typeface="Arial"/>
                <a:cs typeface="Arial"/>
                <a:sym typeface="Arial"/>
              </a:rPr>
              <a:t> that you have </a:t>
            </a:r>
            <a:br>
              <a:rPr b="0" i="0" lang="en-US" sz="1800" u="none"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not yet attempted</a:t>
            </a:r>
            <a:r>
              <a:rPr b="0" i="0" lang="en-US" sz="1800" u="none" cap="none" strike="noStrike">
                <a:solidFill>
                  <a:srgbClr val="000000"/>
                </a:solidFill>
                <a:latin typeface="Arial"/>
                <a:ea typeface="Arial"/>
                <a:cs typeface="Arial"/>
                <a:sym typeface="Arial"/>
              </a:rPr>
              <a:t> that question.</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“Answer saved” </a:t>
            </a:r>
            <a:r>
              <a:rPr b="0" i="0" lang="en-US" sz="1800" u="sng" cap="none" strike="noStrike">
                <a:solidFill>
                  <a:srgbClr val="000000"/>
                </a:solidFill>
                <a:latin typeface="Arial"/>
                <a:ea typeface="Arial"/>
                <a:cs typeface="Arial"/>
                <a:sym typeface="Arial"/>
              </a:rPr>
              <a:t>does not mean</a:t>
            </a:r>
            <a:r>
              <a:rPr b="0" i="0" lang="en-US" sz="1800" u="none" cap="none" strike="noStrike">
                <a:solidFill>
                  <a:srgbClr val="000000"/>
                </a:solidFill>
                <a:latin typeface="Arial"/>
                <a:ea typeface="Arial"/>
                <a:cs typeface="Arial"/>
                <a:sym typeface="Arial"/>
              </a:rPr>
              <a:t> that it is </a:t>
            </a:r>
            <a:br>
              <a:rPr b="0" i="0" lang="en-US" sz="1800" u="none"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correct</a:t>
            </a:r>
            <a:r>
              <a:rPr b="0" i="0" lang="en-US" sz="1800" u="none" cap="none" strike="noStrike">
                <a:solidFill>
                  <a:srgbClr val="000000"/>
                </a:solidFill>
                <a:latin typeface="Arial"/>
                <a:ea typeface="Arial"/>
                <a:cs typeface="Arial"/>
                <a:sym typeface="Arial"/>
              </a:rPr>
              <a:t> or </a:t>
            </a:r>
            <a:r>
              <a:rPr b="0" i="0" lang="en-US" sz="1800" u="sng" cap="none" strike="noStrike">
                <a:solidFill>
                  <a:srgbClr val="000000"/>
                </a:solidFill>
                <a:latin typeface="Arial"/>
                <a:ea typeface="Arial"/>
                <a:cs typeface="Arial"/>
                <a:sym typeface="Arial"/>
              </a:rPr>
              <a:t>complete</a:t>
            </a:r>
            <a:r>
              <a:rPr b="0" i="0" lang="en-US" sz="1800" u="none" cap="none" strike="noStrike">
                <a:solidFill>
                  <a:srgbClr val="000000"/>
                </a:solidFill>
                <a:latin typeface="Arial"/>
                <a:ea typeface="Arial"/>
                <a:cs typeface="Arial"/>
                <a:sym typeface="Arial"/>
              </a:rPr>
              <a:t> in all respects.</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can either “Return to attempt” or</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“Submit all and finish”</a:t>
            </a:r>
            <a:endParaRPr b="0" i="0" sz="1800" u="none" cap="none" strike="noStrike">
              <a:solidFill>
                <a:srgbClr val="000000"/>
              </a:solidFill>
              <a:latin typeface="Arial"/>
              <a:ea typeface="Arial"/>
              <a:cs typeface="Arial"/>
              <a:sym typeface="Arial"/>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31" name="Google Shape;231;p2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Key Points about Writing the Exam:</a:t>
            </a:r>
            <a:endParaRPr/>
          </a:p>
        </p:txBody>
      </p:sp>
      <p:sp>
        <p:nvSpPr>
          <p:cNvPr id="232" name="Google Shape;232;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3" name="Google Shape;233;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id="234" name="Google Shape;234;p20"/>
          <p:cNvPicPr preferRelativeResize="0"/>
          <p:nvPr/>
        </p:nvPicPr>
        <p:blipFill rotWithShape="1">
          <a:blip r:embed="rId4">
            <a:alphaModFix/>
          </a:blip>
          <a:srcRect b="0" l="0" r="0" t="0"/>
          <a:stretch/>
        </p:blipFill>
        <p:spPr>
          <a:xfrm>
            <a:off x="6092279" y="3416844"/>
            <a:ext cx="2699785" cy="2739156"/>
          </a:xfrm>
          <a:prstGeom prst="rect">
            <a:avLst/>
          </a:prstGeom>
          <a:noFill/>
          <a:ln cap="flat" cmpd="sng" w="9525">
            <a:solidFill>
              <a:schemeClr val="dk1"/>
            </a:solidFill>
            <a:prstDash val="solid"/>
            <a:round/>
            <a:headEnd len="sm" w="sm" type="none"/>
            <a:tailEnd len="sm" w="sm" type="none"/>
          </a:ln>
        </p:spPr>
      </p:pic>
      <p:pic>
        <p:nvPicPr>
          <p:cNvPr id="235" name="Google Shape;235;p20"/>
          <p:cNvPicPr preferRelativeResize="0"/>
          <p:nvPr/>
        </p:nvPicPr>
        <p:blipFill rotWithShape="1">
          <a:blip r:embed="rId5">
            <a:alphaModFix/>
          </a:blip>
          <a:srcRect b="0" l="0" r="0" t="0"/>
          <a:stretch/>
        </p:blipFill>
        <p:spPr>
          <a:xfrm>
            <a:off x="6677664" y="1744791"/>
            <a:ext cx="2114400" cy="1528053"/>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Managing Your Time:</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Use the “clear my choice”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and  “cross out” features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to help you choose your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response on multiple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choice questions:</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 list of question numbers and the marks</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will be provided prior to the Final Exam.</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Check eClass </a:t>
            </a:r>
            <a:r>
              <a:rPr b="1" i="0" lang="en-US" sz="1800" u="none" cap="none" strike="noStrike">
                <a:solidFill>
                  <a:srgbClr val="000000"/>
                </a:solidFill>
                <a:latin typeface="Arial"/>
                <a:ea typeface="Arial"/>
                <a:cs typeface="Arial"/>
                <a:sym typeface="Arial"/>
              </a:rPr>
              <a:t>Final Exam </a:t>
            </a:r>
            <a:r>
              <a:rPr b="0" i="0" lang="en-US" sz="1800" u="none" cap="none" strike="noStrike">
                <a:solidFill>
                  <a:srgbClr val="000000"/>
                </a:solidFill>
                <a:latin typeface="Arial"/>
                <a:ea typeface="Arial"/>
                <a:cs typeface="Arial"/>
                <a:sym typeface="Arial"/>
              </a:rPr>
              <a:t>section</a:t>
            </a:r>
            <a:endParaRPr b="0" i="0" sz="1800" u="none" cap="none" strike="noStrike">
              <a:solidFill>
                <a:srgbClr val="000000"/>
              </a:solidFill>
              <a:latin typeface="Arial"/>
              <a:ea typeface="Arial"/>
              <a:cs typeface="Arial"/>
              <a:sym typeface="Arial"/>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may wish to “risk rank” and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prioritize your questions:</a:t>
            </a:r>
            <a:endParaRPr/>
          </a:p>
        </p:txBody>
      </p:sp>
      <p:sp>
        <p:nvSpPr>
          <p:cNvPr id="242" name="Google Shape;242;p2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Key Points about Writing the Exam:</a:t>
            </a:r>
            <a:endParaRPr/>
          </a:p>
        </p:txBody>
      </p:sp>
      <p:sp>
        <p:nvSpPr>
          <p:cNvPr id="243" name="Google Shape;243;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44" name="Google Shape;244;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id="245" name="Google Shape;245;p21"/>
          <p:cNvPicPr preferRelativeResize="0"/>
          <p:nvPr/>
        </p:nvPicPr>
        <p:blipFill rotWithShape="1">
          <a:blip r:embed="rId3">
            <a:alphaModFix/>
          </a:blip>
          <a:srcRect b="0" l="0" r="0" t="0"/>
          <a:stretch/>
        </p:blipFill>
        <p:spPr>
          <a:xfrm>
            <a:off x="4338256" y="1488696"/>
            <a:ext cx="4577144" cy="1080000"/>
          </a:xfrm>
          <a:prstGeom prst="rect">
            <a:avLst/>
          </a:prstGeom>
          <a:noFill/>
          <a:ln cap="flat" cmpd="sng" w="9525">
            <a:solidFill>
              <a:schemeClr val="dk1"/>
            </a:solidFill>
            <a:prstDash val="solid"/>
            <a:round/>
            <a:headEnd len="sm" w="sm" type="none"/>
            <a:tailEnd len="sm" w="sm" type="none"/>
          </a:ln>
        </p:spPr>
      </p:pic>
      <p:sp>
        <p:nvSpPr>
          <p:cNvPr id="246" name="Google Shape;246;p21"/>
          <p:cNvSpPr txBox="1"/>
          <p:nvPr/>
        </p:nvSpPr>
        <p:spPr>
          <a:xfrm>
            <a:off x="1333164" y="4648200"/>
            <a:ext cx="3238836" cy="1523494"/>
          </a:xfrm>
          <a:prstGeom prst="rect">
            <a:avLst/>
          </a:prstGeom>
          <a:noFill/>
          <a:ln>
            <a:noFill/>
          </a:ln>
        </p:spPr>
        <p:txBody>
          <a:bodyPr anchorCtr="0" anchor="t" bIns="45700" lIns="91425" spcFirstLastPara="1" rIns="91425" wrap="square" tIns="45700">
            <a:spAutoFit/>
          </a:bodyPr>
          <a:lstStyle/>
          <a:p>
            <a:pPr indent="0" lvl="1" marL="0" marR="0" rtl="0" algn="ctr">
              <a:spcBef>
                <a:spcPts val="0"/>
              </a:spcBef>
              <a:spcAft>
                <a:spcPts val="0"/>
              </a:spcAft>
              <a:buNone/>
            </a:pPr>
            <a:r>
              <a:rPr b="1" i="0" lang="en-US" sz="4400" u="none" cap="none" strike="noStrike">
                <a:solidFill>
                  <a:srgbClr val="00B050"/>
                </a:solidFill>
                <a:latin typeface="Noto Sans Symbols"/>
                <a:ea typeface="Noto Sans Symbols"/>
                <a:cs typeface="Noto Sans Symbols"/>
                <a:sym typeface="Noto Sans Symbols"/>
              </a:rPr>
              <a:t>👍</a:t>
            </a:r>
            <a:r>
              <a:rPr b="1" i="0" lang="en-US" sz="4400" u="none" cap="none" strike="noStrike">
                <a:solidFill>
                  <a:srgbClr val="00FF00"/>
                </a:solidFill>
                <a:latin typeface="Noto Sans Symbols"/>
                <a:ea typeface="Noto Sans Symbols"/>
                <a:cs typeface="Noto Sans Symbols"/>
                <a:sym typeface="Noto Sans Symbols"/>
              </a:rPr>
              <a:t> </a:t>
            </a:r>
            <a:r>
              <a:rPr b="1" i="0" lang="en-US" sz="4400" u="none" cap="none" strike="noStrike">
                <a:solidFill>
                  <a:srgbClr val="FF0000"/>
                </a:solidFill>
                <a:latin typeface="Noto Sans Symbols"/>
                <a:ea typeface="Noto Sans Symbols"/>
                <a:cs typeface="Noto Sans Symbols"/>
                <a:sym typeface="Noto Sans Symbols"/>
              </a:rPr>
              <a:t>👎</a:t>
            </a:r>
            <a:r>
              <a:rPr b="1" i="0" lang="en-US" sz="4400" u="none" cap="none" strike="noStrike">
                <a:solidFill>
                  <a:srgbClr val="00B050"/>
                </a:solidFill>
                <a:latin typeface="Noto Sans Symbols"/>
                <a:ea typeface="Noto Sans Symbols"/>
                <a:cs typeface="Noto Sans Symbols"/>
                <a:sym typeface="Noto Sans Symbols"/>
              </a:rPr>
              <a:t> </a:t>
            </a:r>
            <a:r>
              <a:rPr b="1" i="0" lang="en-US" sz="4400" u="none" cap="none" strike="noStrike">
                <a:solidFill>
                  <a:srgbClr val="0000FF"/>
                </a:solidFill>
                <a:latin typeface="Noto Sans Symbols"/>
                <a:ea typeface="Noto Sans Symbols"/>
                <a:cs typeface="Noto Sans Symbols"/>
                <a:sym typeface="Noto Sans Symbols"/>
              </a:rPr>
              <a:t>☞</a:t>
            </a:r>
            <a:endParaRPr/>
          </a:p>
          <a:p>
            <a:pPr indent="0" lvl="1" marL="0" marR="0" rtl="0" algn="ctr">
              <a:spcBef>
                <a:spcPts val="600"/>
              </a:spcBef>
              <a:spcAft>
                <a:spcPts val="0"/>
              </a:spcAft>
              <a:buNone/>
            </a:pPr>
            <a:r>
              <a:rPr b="1" i="0" lang="en-US" sz="4400" u="none" cap="none" strike="noStrike">
                <a:solidFill>
                  <a:srgbClr val="00B050"/>
                </a:solidFill>
                <a:latin typeface="Noto Sans Symbols"/>
                <a:ea typeface="Noto Sans Symbols"/>
                <a:cs typeface="Noto Sans Symbols"/>
                <a:sym typeface="Noto Sans Symbols"/>
              </a:rPr>
              <a:t>☑ </a:t>
            </a:r>
            <a:r>
              <a:rPr b="1" i="0" lang="en-US" sz="4400" u="none" cap="none" strike="noStrike">
                <a:solidFill>
                  <a:srgbClr val="FF0000"/>
                </a:solidFill>
                <a:latin typeface="Noto Sans Symbols"/>
                <a:ea typeface="Noto Sans Symbols"/>
                <a:cs typeface="Noto Sans Symbols"/>
                <a:sym typeface="Noto Sans Symbols"/>
              </a:rPr>
              <a:t>☒</a:t>
            </a:r>
            <a:r>
              <a:rPr b="1" i="0" lang="en-US" sz="4400" u="none" cap="none" strike="noStrike">
                <a:solidFill>
                  <a:srgbClr val="000000"/>
                </a:solidFill>
                <a:latin typeface="Arial"/>
                <a:ea typeface="Arial"/>
                <a:cs typeface="Arial"/>
                <a:sym typeface="Arial"/>
              </a:rPr>
              <a:t>  ?</a:t>
            </a:r>
            <a:endParaRPr b="1" i="0" sz="4400" u="none" cap="none" strike="noStrike">
              <a:solidFill>
                <a:schemeClr val="dk1"/>
              </a:solidFill>
              <a:latin typeface="Arial"/>
              <a:ea typeface="Arial"/>
              <a:cs typeface="Arial"/>
              <a:sym typeface="Arial"/>
            </a:endParaRPr>
          </a:p>
        </p:txBody>
      </p:sp>
      <p:pic>
        <p:nvPicPr>
          <p:cNvPr id="247" name="Google Shape;247;p21"/>
          <p:cNvPicPr preferRelativeResize="0"/>
          <p:nvPr/>
        </p:nvPicPr>
        <p:blipFill rotWithShape="1">
          <a:blip r:embed="rId4">
            <a:alphaModFix/>
          </a:blip>
          <a:srcRect b="0" l="0" r="0" t="0"/>
          <a:stretch/>
        </p:blipFill>
        <p:spPr>
          <a:xfrm>
            <a:off x="4575251" y="4566159"/>
            <a:ext cx="2621298" cy="1578104"/>
          </a:xfrm>
          <a:prstGeom prst="rect">
            <a:avLst/>
          </a:prstGeom>
          <a:noFill/>
          <a:ln>
            <a:noFill/>
          </a:ln>
        </p:spPr>
      </p:pic>
      <p:pic>
        <p:nvPicPr>
          <p:cNvPr id="248" name="Google Shape;248;p21"/>
          <p:cNvPicPr preferRelativeResize="0"/>
          <p:nvPr/>
        </p:nvPicPr>
        <p:blipFill rotWithShape="1">
          <a:blip r:embed="rId5">
            <a:alphaModFix/>
          </a:blip>
          <a:srcRect b="0" l="0" r="0" t="0"/>
          <a:stretch/>
        </p:blipFill>
        <p:spPr>
          <a:xfrm>
            <a:off x="5257800" y="2743200"/>
            <a:ext cx="2927500" cy="1644735"/>
          </a:xfrm>
          <a:prstGeom prst="rect">
            <a:avLst/>
          </a:prstGeom>
          <a:noFill/>
          <a:ln cap="flat" cmpd="sng" w="9525">
            <a:solidFill>
              <a:schemeClr val="dk1"/>
            </a:solidFill>
            <a:prstDash val="solid"/>
            <a:round/>
            <a:headEnd len="sm" w="sm" type="none"/>
            <a:tailEnd len="sm" w="sm" type="none"/>
          </a:ln>
        </p:spPr>
      </p:pic>
      <p:pic>
        <p:nvPicPr>
          <p:cNvPr id="249" name="Google Shape;249;p21"/>
          <p:cNvPicPr preferRelativeResize="0"/>
          <p:nvPr/>
        </p:nvPicPr>
        <p:blipFill rotWithShape="1">
          <a:blip r:embed="rId6">
            <a:alphaModFix/>
          </a:blip>
          <a:srcRect b="0" l="0" r="0" t="0"/>
          <a:stretch/>
        </p:blipFill>
        <p:spPr>
          <a:xfrm>
            <a:off x="3276600" y="1488697"/>
            <a:ext cx="1148068" cy="1080000"/>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2"/>
          <p:cNvSpPr txBox="1"/>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chemeClr val="lt1"/>
                </a:solidFill>
                <a:latin typeface="Arial"/>
                <a:ea typeface="Arial"/>
                <a:cs typeface="Arial"/>
                <a:sym typeface="Arial"/>
              </a:rPr>
              <a:t>Q: When should you start studying for the Final Exam?</a:t>
            </a:r>
            <a:endParaRPr/>
          </a:p>
          <a:p>
            <a:pPr indent="0" lvl="0" marL="0" marR="0" rtl="0" algn="l">
              <a:spcBef>
                <a:spcPts val="0"/>
              </a:spcBef>
              <a:spcAft>
                <a:spcPts val="0"/>
              </a:spcAft>
              <a:buNone/>
            </a:pPr>
            <a:r>
              <a:t/>
            </a:r>
            <a:endParaRPr b="1" sz="1800">
              <a:solidFill>
                <a:schemeClr val="lt1"/>
              </a:solidFill>
              <a:latin typeface="Arial"/>
              <a:ea typeface="Arial"/>
              <a:cs typeface="Arial"/>
              <a:sym typeface="Arial"/>
            </a:endParaRPr>
          </a:p>
          <a:p>
            <a:pPr indent="-342900" lvl="0" marL="342900" marR="0" rtl="0" algn="l">
              <a:spcBef>
                <a:spcPts val="0"/>
              </a:spcBef>
              <a:spcAft>
                <a:spcPts val="0"/>
              </a:spcAft>
              <a:buClr>
                <a:srgbClr val="FFFF00"/>
              </a:buClr>
              <a:buSzPts val="1800"/>
              <a:buFont typeface="Arial"/>
              <a:buAutoNum type="alphaLcParenR"/>
            </a:pPr>
            <a:r>
              <a:rPr b="1" lang="en-US" sz="1800">
                <a:solidFill>
                  <a:srgbClr val="FFFF00"/>
                </a:solidFill>
                <a:latin typeface="Arial"/>
                <a:ea typeface="Arial"/>
                <a:cs typeface="Arial"/>
                <a:sym typeface="Arial"/>
              </a:rPr>
              <a:t>Most of this content comes naturally to me through work-term experience, so I plan to spot-study a few days before the final exam.</a:t>
            </a:r>
            <a:endParaRPr b="1" sz="1800">
              <a:solidFill>
                <a:srgbClr val="FFFF00"/>
              </a:solidFill>
              <a:latin typeface="Arial"/>
              <a:ea typeface="Arial"/>
              <a:cs typeface="Arial"/>
              <a:sym typeface="Arial"/>
            </a:endParaRPr>
          </a:p>
          <a:p>
            <a:pPr indent="-228600" lvl="0" marL="342900" marR="0" rtl="0" algn="l">
              <a:spcBef>
                <a:spcPts val="0"/>
              </a:spcBef>
              <a:spcAft>
                <a:spcPts val="0"/>
              </a:spcAft>
              <a:buClr>
                <a:schemeClr val="dk1"/>
              </a:buClr>
              <a:buSzPts val="1800"/>
              <a:buFont typeface="Arial"/>
              <a:buNone/>
            </a:pPr>
            <a:r>
              <a:t/>
            </a:r>
            <a:endParaRPr b="1" sz="1800">
              <a:solidFill>
                <a:srgbClr val="99FFCC"/>
              </a:solidFill>
              <a:latin typeface="Arial"/>
              <a:ea typeface="Arial"/>
              <a:cs typeface="Arial"/>
              <a:sym typeface="Arial"/>
            </a:endParaRPr>
          </a:p>
          <a:p>
            <a:pPr indent="-342900" lvl="0" marL="342900" marR="0" rtl="0" algn="l">
              <a:spcBef>
                <a:spcPts val="0"/>
              </a:spcBef>
              <a:spcAft>
                <a:spcPts val="0"/>
              </a:spcAft>
              <a:buClr>
                <a:srgbClr val="99FFCC"/>
              </a:buClr>
              <a:buSzPts val="1800"/>
              <a:buFont typeface="Arial"/>
              <a:buAutoNum type="alphaLcParenR"/>
            </a:pPr>
            <a:r>
              <a:rPr b="1" lang="en-US" sz="1800">
                <a:solidFill>
                  <a:srgbClr val="99FFCC"/>
                </a:solidFill>
                <a:latin typeface="Arial"/>
                <a:ea typeface="Arial"/>
                <a:cs typeface="Arial"/>
                <a:sym typeface="Arial"/>
              </a:rPr>
              <a:t>This is new content to me, so I need to study perhaps 1 to 3 hours per week throughout the course in order to learn and apply the content. </a:t>
            </a:r>
            <a:endParaRPr/>
          </a:p>
          <a:p>
            <a:pPr indent="-228600" lvl="0" marL="342900" marR="0" rtl="0" algn="l">
              <a:spcBef>
                <a:spcPts val="0"/>
              </a:spcBef>
              <a:spcAft>
                <a:spcPts val="0"/>
              </a:spcAft>
              <a:buClr>
                <a:schemeClr val="dk1"/>
              </a:buClr>
              <a:buSzPts val="1800"/>
              <a:buFont typeface="Arial"/>
              <a:buNone/>
            </a:pPr>
            <a:r>
              <a:t/>
            </a:r>
            <a:endParaRPr b="1" sz="1800">
              <a:solidFill>
                <a:srgbClr val="99FFCC"/>
              </a:solidFill>
              <a:latin typeface="Arial"/>
              <a:ea typeface="Arial"/>
              <a:cs typeface="Arial"/>
              <a:sym typeface="Arial"/>
            </a:endParaRPr>
          </a:p>
          <a:p>
            <a:pPr indent="-342900" lvl="0" marL="342900" marR="0" rtl="0" algn="l">
              <a:spcBef>
                <a:spcPts val="0"/>
              </a:spcBef>
              <a:spcAft>
                <a:spcPts val="0"/>
              </a:spcAft>
              <a:buClr>
                <a:srgbClr val="99FFCC"/>
              </a:buClr>
              <a:buSzPts val="1800"/>
              <a:buFont typeface="Arial"/>
              <a:buAutoNum type="alphaLcParenR"/>
            </a:pPr>
            <a:r>
              <a:rPr b="1" lang="en-US" sz="1800">
                <a:solidFill>
                  <a:srgbClr val="99FFCC"/>
                </a:solidFill>
                <a:latin typeface="Arial"/>
                <a:ea typeface="Arial"/>
                <a:cs typeface="Arial"/>
                <a:sym typeface="Arial"/>
              </a:rPr>
              <a:t>Most of this content comes naturally to me through work-term experience, so I plan to spot-study a couple of hours each week throughout the term.</a:t>
            </a:r>
            <a:endParaRPr b="1" sz="1800">
              <a:solidFill>
                <a:srgbClr val="99FFCC"/>
              </a:solidFill>
              <a:latin typeface="Arial"/>
              <a:ea typeface="Arial"/>
              <a:cs typeface="Arial"/>
              <a:sym typeface="Arial"/>
            </a:endParaRPr>
          </a:p>
          <a:p>
            <a:pPr indent="-228600" lvl="0" marL="342900" marR="0" rtl="0" algn="l">
              <a:spcBef>
                <a:spcPts val="0"/>
              </a:spcBef>
              <a:spcAft>
                <a:spcPts val="0"/>
              </a:spcAft>
              <a:buClr>
                <a:schemeClr val="dk1"/>
              </a:buClr>
              <a:buSzPts val="1800"/>
              <a:buFont typeface="Arial"/>
              <a:buNone/>
            </a:pPr>
            <a:r>
              <a:t/>
            </a:r>
            <a:endParaRPr b="1" sz="1800">
              <a:solidFill>
                <a:schemeClr val="lt1"/>
              </a:solidFill>
              <a:latin typeface="Arial"/>
              <a:ea typeface="Arial"/>
              <a:cs typeface="Arial"/>
              <a:sym typeface="Arial"/>
            </a:endParaRPr>
          </a:p>
          <a:p>
            <a:pPr indent="-342900" lvl="0" marL="342900" marR="0" rtl="0" algn="l">
              <a:spcBef>
                <a:spcPts val="0"/>
              </a:spcBef>
              <a:spcAft>
                <a:spcPts val="0"/>
              </a:spcAft>
              <a:buClr>
                <a:srgbClr val="FF0000"/>
              </a:buClr>
              <a:buSzPts val="1800"/>
              <a:buFont typeface="Arial"/>
              <a:buAutoNum type="alphaLcParenR"/>
            </a:pPr>
            <a:r>
              <a:rPr b="1" lang="en-US" sz="1800">
                <a:solidFill>
                  <a:srgbClr val="FF0000"/>
                </a:solidFill>
                <a:latin typeface="Arial"/>
                <a:ea typeface="Arial"/>
                <a:cs typeface="Arial"/>
                <a:sym typeface="Arial"/>
              </a:rPr>
              <a:t>I plan to cram the night before. </a:t>
            </a:r>
            <a:endParaRPr/>
          </a:p>
          <a:p>
            <a:pPr indent="-228600" lvl="0" marL="342900" marR="0" rtl="0" algn="l">
              <a:spcBef>
                <a:spcPts val="0"/>
              </a:spcBef>
              <a:spcAft>
                <a:spcPts val="0"/>
              </a:spcAft>
              <a:buClr>
                <a:schemeClr val="dk1"/>
              </a:buClr>
              <a:buSzPts val="1800"/>
              <a:buFont typeface="Arial"/>
              <a:buNone/>
            </a:pPr>
            <a:r>
              <a:t/>
            </a:r>
            <a:endParaRPr b="1" sz="1800">
              <a:solidFill>
                <a:srgbClr val="FF0000"/>
              </a:solidFill>
              <a:latin typeface="Arial"/>
              <a:ea typeface="Arial"/>
              <a:cs typeface="Arial"/>
              <a:sym typeface="Arial"/>
            </a:endParaRPr>
          </a:p>
          <a:p>
            <a:pPr indent="-342900" lvl="0" marL="342900" marR="0" rtl="0" algn="l">
              <a:spcBef>
                <a:spcPts val="0"/>
              </a:spcBef>
              <a:spcAft>
                <a:spcPts val="0"/>
              </a:spcAft>
              <a:buClr>
                <a:srgbClr val="FF0000"/>
              </a:buClr>
              <a:buSzPts val="1800"/>
              <a:buFont typeface="Arial"/>
              <a:buAutoNum type="alphaLcParenR"/>
            </a:pPr>
            <a:r>
              <a:rPr b="1" lang="en-US" sz="1800">
                <a:solidFill>
                  <a:srgbClr val="FF0000"/>
                </a:solidFill>
                <a:latin typeface="Arial"/>
                <a:ea typeface="Arial"/>
                <a:cs typeface="Arial"/>
                <a:sym typeface="Arial"/>
              </a:rPr>
              <a:t>It’s “open book” so I don’t need to study. </a:t>
            </a:r>
            <a:endParaRPr b="1" sz="1800">
              <a:solidFill>
                <a:srgbClr val="FF0000"/>
              </a:solidFill>
              <a:latin typeface="Arial"/>
              <a:ea typeface="Arial"/>
              <a:cs typeface="Arial"/>
              <a:sym typeface="Arial"/>
            </a:endParaRPr>
          </a:p>
        </p:txBody>
      </p:sp>
      <p:sp>
        <p:nvSpPr>
          <p:cNvPr id="256" name="Google Shape;256;p22"/>
          <p:cNvSpPr/>
          <p:nvPr/>
        </p:nvSpPr>
        <p:spPr>
          <a:xfrm>
            <a:off x="180000" y="216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lang="en-US" sz="2400" u="none">
                <a:solidFill>
                  <a:schemeClr val="lt1"/>
                </a:solidFill>
                <a:latin typeface="Arial"/>
                <a:ea typeface="Arial"/>
                <a:cs typeface="Arial"/>
                <a:sym typeface="Arial"/>
              </a:rPr>
              <a:t>Self-Reflection: Final Exam Content and Your Preparation:</a:t>
            </a:r>
            <a:endParaRPr/>
          </a:p>
        </p:txBody>
      </p:sp>
      <p:sp>
        <p:nvSpPr>
          <p:cNvPr id="257" name="Google Shape;257;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58" name="Google Shape;258;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This presentation contains many details about the final exam.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Questions of a general nature about the form and format of, or </a:t>
            </a: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content covered in the Final Exam can be answered from the </a:t>
            </a: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content of this presentation, so please review this before asking </a:t>
            </a: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questions. </a:t>
            </a:r>
            <a:endParaRPr b="0" sz="1800">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Those with conflicts or accommodations have been notified. </a:t>
            </a:r>
            <a:r>
              <a:rPr b="1" lang="en-US" sz="2000">
                <a:solidFill>
                  <a:srgbClr val="000000"/>
                </a:solidFill>
                <a:latin typeface="Arial"/>
                <a:ea typeface="Arial"/>
                <a:cs typeface="Arial"/>
                <a:sym typeface="Arial"/>
              </a:rPr>
              <a:t>If you have NOT been notified</a:t>
            </a:r>
            <a:r>
              <a:rPr b="0" lang="en-US" sz="2000">
                <a:solidFill>
                  <a:srgbClr val="000000"/>
                </a:solidFill>
                <a:latin typeface="Arial"/>
                <a:ea typeface="Arial"/>
                <a:cs typeface="Arial"/>
                <a:sym typeface="Arial"/>
              </a:rPr>
              <a:t>, please contact Professor Cocchio immediately. </a:t>
            </a:r>
            <a:r>
              <a:rPr b="0" lang="en-US" sz="2000" u="sng">
                <a:solidFill>
                  <a:srgbClr val="000000"/>
                </a:solidFill>
                <a:latin typeface="Arial"/>
                <a:ea typeface="Arial"/>
                <a:cs typeface="Arial"/>
                <a:sym typeface="Arial"/>
                <a:hlinkClick r:id="rId3">
                  <a:extLst>
                    <a:ext uri="{A12FA001-AC4F-418D-AE19-62706E023703}">
                      <ahyp:hlinkClr val="tx"/>
                    </a:ext>
                  </a:extLst>
                </a:hlinkClick>
              </a:rPr>
              <a:t>Cocchio@ualberta.ca</a:t>
            </a:r>
            <a:r>
              <a:rPr b="0" lang="en-US" sz="2000">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1800"/>
              <a:buFont typeface="Arial"/>
              <a:buNone/>
            </a:pPr>
            <a:r>
              <a:t/>
            </a:r>
            <a:endParaRPr b="1" sz="18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If you have a question of a personal nature e.g. “I have not yet resolved the conflict with another final exam”, please send an email to your instructor and cc Professor Cocchio; ensure the subject line starts with:</a:t>
            </a:r>
            <a:endParaRPr/>
          </a:p>
          <a:p>
            <a:pPr indent="0" lvl="0" marL="0" marR="0" rtl="0" algn="l">
              <a:lnSpc>
                <a:spcPct val="100000"/>
              </a:lnSpc>
              <a:spcBef>
                <a:spcPts val="0"/>
              </a:spcBef>
              <a:spcAft>
                <a:spcPts val="0"/>
              </a:spcAft>
              <a:buClr>
                <a:srgbClr val="000000"/>
              </a:buClr>
              <a:buSzPts val="1800"/>
              <a:buFont typeface="Arial"/>
              <a:buNone/>
            </a:pPr>
            <a:r>
              <a:t/>
            </a:r>
            <a:endParaRPr b="1" sz="18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“ENGG404 2022S – Question on Final Exam / Resolve Conflict”</a:t>
            </a:r>
            <a:endParaRPr b="1" sz="1800">
              <a:solidFill>
                <a:srgbClr val="000000"/>
              </a:solidFill>
              <a:latin typeface="Arial"/>
              <a:ea typeface="Arial"/>
              <a:cs typeface="Arial"/>
              <a:sym typeface="Arial"/>
            </a:endParaRPr>
          </a:p>
        </p:txBody>
      </p:sp>
      <p:sp>
        <p:nvSpPr>
          <p:cNvPr id="265" name="Google Shape;265;p2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Do You Have Questions?</a:t>
            </a:r>
            <a:endParaRPr b="0" sz="2400">
              <a:solidFill>
                <a:srgbClr val="333399"/>
              </a:solidFill>
              <a:latin typeface="Arial"/>
              <a:ea typeface="Arial"/>
              <a:cs typeface="Arial"/>
              <a:sym typeface="Arial"/>
            </a:endParaRPr>
          </a:p>
        </p:txBody>
      </p:sp>
      <p:sp>
        <p:nvSpPr>
          <p:cNvPr id="266" name="Google Shape;266;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67" name="Google Shape;267;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Expectations and Instructions For Writing the Final Exam</a:t>
            </a:r>
            <a:endParaRPr b="1" i="1" sz="1200" u="none" cap="none" strike="noStrike">
              <a:solidFill>
                <a:srgbClr val="000000"/>
              </a:solidFill>
              <a:latin typeface="Arial"/>
              <a:ea typeface="Arial"/>
              <a:cs typeface="Arial"/>
              <a:sym typeface="Arial"/>
            </a:endParaRPr>
          </a:p>
        </p:txBody>
      </p:sp>
      <p:pic>
        <p:nvPicPr>
          <p:cNvPr descr="&lt;strong&gt;Check&lt;/strong&gt; Mark &lt;strong&gt;Box&lt;/strong&gt; Green · Free vector graphic on Pixabay" id="268" name="Google Shape;268;p23"/>
          <p:cNvPicPr preferRelativeResize="0"/>
          <p:nvPr/>
        </p:nvPicPr>
        <p:blipFill rotWithShape="1">
          <a:blip r:embed="rId4">
            <a:alphaModFix/>
          </a:blip>
          <a:srcRect b="0" l="0" r="0" t="0"/>
          <a:stretch/>
        </p:blipFill>
        <p:spPr>
          <a:xfrm>
            <a:off x="7543800" y="533400"/>
            <a:ext cx="1572697" cy="1600200"/>
          </a:xfrm>
          <a:prstGeom prst="rect">
            <a:avLst/>
          </a:prstGeom>
          <a:noFill/>
          <a:ln>
            <a:noFill/>
          </a:ln>
        </p:spPr>
      </p:pic>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