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950" r:id="rId2"/>
    <p:sldId id="951" r:id="rId3"/>
    <p:sldId id="952" r:id="rId4"/>
    <p:sldId id="978" r:id="rId5"/>
    <p:sldId id="960" r:id="rId6"/>
    <p:sldId id="965" r:id="rId7"/>
    <p:sldId id="982" r:id="rId8"/>
    <p:sldId id="953" r:id="rId9"/>
    <p:sldId id="954" r:id="rId10"/>
    <p:sldId id="961" r:id="rId11"/>
    <p:sldId id="962" r:id="rId12"/>
    <p:sldId id="979" r:id="rId13"/>
    <p:sldId id="981" r:id="rId14"/>
    <p:sldId id="983" r:id="rId15"/>
    <p:sldId id="959" r:id="rId16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9" roundtripDataSignature="AMtx7mggrr8jSQxZ+5+tpFC61ubFGFahC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er Coles" initials="CC" lastIdx="5" clrIdx="0">
    <p:extLst>
      <p:ext uri="{19B8F6BF-5375-455C-9EA6-DF929625EA0E}">
        <p15:presenceInfo xmlns:p15="http://schemas.microsoft.com/office/powerpoint/2012/main" userId="Christopher Co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66FFFF"/>
    <a:srgbClr val="3399FF"/>
    <a:srgbClr val="FFFF00"/>
    <a:srgbClr val="33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2B0D30-6337-4A17-AE85-70FA403E741C}">
  <a:tblStyle styleId="{4A2B0D30-6337-4A17-AE85-70FA403E7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70" autoAdjust="0"/>
    <p:restoredTop sz="85090" autoAdjust="0"/>
  </p:normalViewPr>
  <p:slideViewPr>
    <p:cSldViewPr snapToGrid="0">
      <p:cViewPr varScale="1">
        <p:scale>
          <a:sx n="59" d="100"/>
          <a:sy n="59" d="100"/>
        </p:scale>
        <p:origin x="1164" y="64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2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2641" y="2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2688" y="696913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686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2641" y="8831686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00920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362006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20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6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Incident versus accident – make the distinction here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66357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27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It can be both – a hazard </a:t>
            </a:r>
            <a:r>
              <a:rPr lang="en-CA" dirty="0" err="1"/>
              <a:t>ie</a:t>
            </a:r>
            <a:r>
              <a:rPr lang="en-CA" dirty="0"/>
              <a:t> corrosive substance in a pipe or a consequence </a:t>
            </a:r>
            <a:r>
              <a:rPr lang="en-CA" dirty="0" err="1"/>
              <a:t>ie</a:t>
            </a:r>
            <a:r>
              <a:rPr lang="en-CA" dirty="0"/>
              <a:t> corrosion of rebar due to water penetration</a:t>
            </a:r>
          </a:p>
        </p:txBody>
      </p:sp>
    </p:spTree>
    <p:extLst>
      <p:ext uri="{BB962C8B-B14F-4D97-AF65-F5344CB8AC3E}">
        <p14:creationId xmlns:p14="http://schemas.microsoft.com/office/powerpoint/2010/main" val="1420147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790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7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61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27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04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490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968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419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959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254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6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8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94902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6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2.2:</a:t>
            </a:r>
            <a:endParaRPr lang="en-CA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Recognition and </a:t>
            </a:r>
            <a:b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Energy Wheel</a:t>
            </a:r>
            <a:endParaRPr lang="en-CA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0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55296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importance of hazard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recognition.</a:t>
            </a: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Differentiate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between a hazard, the severity of hazard, and consequences (impact on PEAP).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Differentiate 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Safety and Technical Safety: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and apply </a:t>
            </a:r>
            <a:r>
              <a:rPr kumimoji="0" lang="en-CA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Energy Wheel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hazard recognition, and e</a:t>
            </a:r>
            <a:r>
              <a:rPr lang="en-CA" altLang="en-US" kern="120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xplain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role of energy sources in relation to incidents.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445300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Inadequate hazard recognition is associated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with about half of incidents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 often dismissed as complacency during investigations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with low cognitive effort usually easily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identified e.g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gravity,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motion, sharp edges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with higher cognitive effort are often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missed e.g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mechanical, pressure,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follows, then, that developing skills to recognize (and address) hazards will prevent incidents. </a:t>
            </a: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we will see,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Wheel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a key tool to improving hazard recognition.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Importance of Hazard Recognition: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21758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a situation where things are being done.  Activities are often associated with hazards. An activity can describe: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task or job being performed by a person.</a:t>
            </a:r>
            <a:endParaRPr lang="en-CA" dirty="0"/>
          </a:p>
          <a:p>
            <a:pPr marL="62865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ascending a ladder, operating a crane, driving a truck.</a:t>
            </a:r>
            <a:endParaRPr lang="en-CA" sz="2000"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CA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 at 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industrial facility. </a:t>
            </a:r>
            <a:endParaRPr lang="en-CA" dirty="0"/>
          </a:p>
          <a:p>
            <a:pPr marL="62865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 tank used for storing materials; a mine; a drilling rig; a rail-car loading facility. </a:t>
            </a:r>
            <a:endParaRPr lang="en-CA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“things” that can do </a:t>
            </a:r>
            <a:r>
              <a:rPr lang="en-CA" dirty="0">
                <a:solidFill>
                  <a:srgbClr val="000000"/>
                </a:solidFill>
                <a:latin typeface="Arial"/>
              </a:rPr>
              <a:t>harm(often associated with energy</a:t>
            </a:r>
            <a:r>
              <a:rPr lang="en-CA" dirty="0" smtClean="0">
                <a:solidFill>
                  <a:srgbClr val="000000"/>
                </a:solidFill>
                <a:latin typeface="Arial"/>
              </a:rPr>
              <a:t>), 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help inform us about </a:t>
            </a:r>
            <a:r>
              <a:rPr lang="en-CA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can go wrong”</a:t>
            </a:r>
            <a:endParaRPr lang="en-CA" dirty="0"/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“</a:t>
            </a:r>
            <a:r>
              <a:rPr lang="en-CA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bad it can be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if something goes wrong (described as the negative impacts on PEAP, or losses)</a:t>
            </a:r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Incident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unplanned, undesired event that resulted in a loss.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Activity, Hazards, Consequences, and Loss Incident: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600"/>
              <a:defRPr/>
            </a:pPr>
            <a:r>
              <a:rPr lang="en-US" sz="1200" b="1" i="1" dirty="0"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</a:p>
        </p:txBody>
      </p:sp>
    </p:spTree>
    <p:extLst>
      <p:ext uri="{BB962C8B-B14F-4D97-AF65-F5344CB8AC3E}">
        <p14:creationId xmlns:p14="http://schemas.microsoft.com/office/powerpoint/2010/main" val="380323021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#1: An Activity, its Hazards, and </a:t>
            </a:r>
            <a:r>
              <a:rPr lang="en-CA" altLang="en-US" sz="2400" dirty="0">
                <a:solidFill>
                  <a:srgbClr val="FFFFFF"/>
                </a:solidFill>
              </a:rPr>
              <a:t>Consequences: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600"/>
              <a:defRPr/>
            </a:pPr>
            <a:r>
              <a:rPr lang="en-US" sz="1200" b="1" i="1" dirty="0"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confer</a:t>
            </a:r>
            <a:r>
              <a:rPr kumimoji="0" lang="en-US" sz="2000" b="0" i="1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(MM not intended):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Activity: The worker is using a concrete saw to cut the bell off the pipe.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Q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: </a:t>
            </a:r>
            <a:r>
              <a:rPr lang="en-US" sz="2000" i="1" dirty="0">
                <a:solidFill>
                  <a:srgbClr val="FFFFFF"/>
                </a:solidFill>
              </a:rPr>
              <a:t>W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hat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are some </a:t>
            </a:r>
            <a:r>
              <a:rPr lang="en-US" sz="2000" i="1" dirty="0" smtClean="0">
                <a:solidFill>
                  <a:srgbClr val="FFFFFF"/>
                </a:solidFill>
              </a:rPr>
              <a:t>hazards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? Some consequences?</a:t>
            </a:r>
            <a:endParaRPr kumimoji="0" lang="en-US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68" y="2033497"/>
            <a:ext cx="5121063" cy="41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6441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Differentiate Hazards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and Consequences: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Google Shape;151;p4">
            <a:extLst>
              <a:ext uri="{FF2B5EF4-FFF2-40B4-BE49-F238E27FC236}">
                <a16:creationId xmlns:a16="http://schemas.microsoft.com/office/drawing/2014/main" id="{63BE24B5-4D34-4BFB-A062-9B34CF12FAE0}"/>
              </a:ext>
            </a:extLst>
          </p:cNvPr>
          <p:cNvSpPr txBox="1">
            <a:spLocks/>
          </p:cNvSpPr>
          <p:nvPr/>
        </p:nvSpPr>
        <p:spPr>
          <a:xfrm>
            <a:off x="183174" y="864000"/>
            <a:ext cx="8631843" cy="451704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06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Noto Sans Symbols"/>
              <a:buChar char="❖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60000" lvl="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the </a:t>
            </a:r>
            <a:r>
              <a:rPr lang="en-US" sz="20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you managed in your work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experiences. 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000" lvl="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Were these exclusively occupational, or something else?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Most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hazards are seen 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as occupational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safety issues</a:t>
            </a: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6000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Workers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successfully manage their exposures on a daily basis. </a:t>
            </a:r>
            <a:endParaRPr kumimoji="0" lang="en-CA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72000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they don’t, they may be injured i.e. a </a:t>
            </a:r>
            <a:r>
              <a:rPr lang="en-CA" sz="2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consequence.</a:t>
            </a:r>
            <a:endParaRPr kumimoji="0" lang="en-CA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" name="Google Shape;155;p4">
            <a:extLst>
              <a:ext uri="{FF2B5EF4-FFF2-40B4-BE49-F238E27FC236}">
                <a16:creationId xmlns:a16="http://schemas.microsoft.com/office/drawing/2014/main" id="{9224491B-5CAC-43D5-AB11-5285E5A68D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978794"/>
              </p:ext>
            </p:extLst>
          </p:nvPr>
        </p:nvGraphicFramePr>
        <p:xfrm>
          <a:off x="176575" y="2617470"/>
          <a:ext cx="8636825" cy="23773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6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7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Corrosive Substance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Toxicity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Inert Gas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Oxygen Deficiency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1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Radiation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Moving Equipment / Machinery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 smtClean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Cryogenic Temperature</a:t>
                      </a:r>
                      <a:endParaRPr lang="en-US" sz="16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Pressure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Vibration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Unstable Materials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Temperature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Slippery Surfaces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1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Flammability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Noise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Combustible Dust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Elevations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Voltage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Vacuum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Pressure Cycling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Liquefied Gases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Google Shape;157;p4">
            <a:extLst>
              <a:ext uri="{FF2B5EF4-FFF2-40B4-BE49-F238E27FC236}">
                <a16:creationId xmlns:a16="http://schemas.microsoft.com/office/drawing/2014/main" id="{2D796D31-C07F-47E4-A430-621CE3B43057}"/>
              </a:ext>
            </a:extLst>
          </p:cNvPr>
          <p:cNvSpPr txBox="1"/>
          <p:nvPr/>
        </p:nvSpPr>
        <p:spPr>
          <a:xfrm>
            <a:off x="178227" y="5138796"/>
            <a:ext cx="8635173" cy="1053204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Context is important. Consider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corrosion: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it is can be a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hazard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and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consequence</a:t>
            </a:r>
            <a:r>
              <a:rPr lang="en-US" sz="2000" i="1" dirty="0">
                <a:solidFill>
                  <a:srgbClr val="FFFFFF"/>
                </a:solidFill>
              </a:rPr>
              <a:t> </a:t>
            </a:r>
            <a:r>
              <a:rPr lang="en-US" sz="2000" i="1" dirty="0" smtClean="0">
                <a:solidFill>
                  <a:srgbClr val="FFFFFF"/>
                </a:solidFill>
              </a:rPr>
              <a:t>e.g. steel-work is degraded from exposure to acid gases (consequence); steel-work could collapse (hazard).</a:t>
            </a: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264527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examining the concrete cutting job, we used our knowledge!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identified based on knowledge of the person looking for the hazards (inspector) and/or documented.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b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BUT … what</a:t>
            </a:r>
            <a:r>
              <a:rPr kumimoji="0" lang="en-CA" altLang="en-US" b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if we do not possess that knowledge?</a:t>
            </a:r>
          </a:p>
          <a:p>
            <a:pPr marL="360000" lvl="0" indent="-36000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can ask others who have different expertise.</a:t>
            </a:r>
          </a:p>
          <a:p>
            <a:pPr marL="360000" lvl="0" indent="-36000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u="sng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</a:t>
            </a:r>
            <a:endParaRPr lang="en-CA" altLang="en-US" u="sng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can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analyse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i.e. higher cognitive effort.</a:t>
            </a:r>
          </a:p>
          <a:p>
            <a:pPr marL="360000" lvl="0" indent="-36000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Energy Wheel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support that effort.</a:t>
            </a: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 Use Our Knowledge &amp; Experience to Identify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Hazards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85397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Haddon Energy Theory: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Based on observation that all injuries are the result of some undesirable contact between a person and one or more energy sources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 this theory, a hazard is a source of energy that sound cause injury, illness, or death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Conceptualize hazards according to the type of energy they represent (e.g. gravity, motion, mechanical, electrical, pressure)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Energy </a:t>
            </a:r>
            <a:r>
              <a:rPr lang="en-CA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Wheel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– a simple set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search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</a:t>
            </a:r>
            <a:endParaRPr kumimoji="0" lang="en-CA" altLang="en-US" sz="20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Energy Theory: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22045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Energy Wheel: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1" y="828000"/>
            <a:ext cx="4860000" cy="5328000"/>
          </a:xfrm>
          <a:prstGeom prst="rect">
            <a:avLst/>
          </a:prstGeom>
        </p:spPr>
      </p:pic>
      <p:pic>
        <p:nvPicPr>
          <p:cNvPr id="3" name="Picture 2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84000" y="828000"/>
            <a:ext cx="3024000" cy="53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7713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#2: Apply the Energy Wheel – Occupational Safety</a:t>
            </a:r>
            <a:endParaRPr lang="en-CA" altLang="en-US" sz="2400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confer: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Q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: </a:t>
            </a:r>
            <a:r>
              <a:rPr lang="en-US" sz="2000" dirty="0">
                <a:solidFill>
                  <a:srgbClr val="FFFFFF"/>
                </a:solidFill>
              </a:rPr>
              <a:t>W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hat 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are 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the energy sources? 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4" y="1695169"/>
            <a:ext cx="5121063" cy="4122503"/>
          </a:xfrm>
          <a:prstGeom prst="rect">
            <a:avLst/>
          </a:prstGeom>
        </p:spPr>
      </p:pic>
      <p:pic>
        <p:nvPicPr>
          <p:cNvPr id="4" name="Picture 3"/>
          <p:cNvPicPr preferRelativeResize="0">
            <a:picLocks noChangeAspect="1"/>
          </p:cNvPicPr>
          <p:nvPr/>
        </p:nvPicPr>
        <p:blipFill rotWithShape="1">
          <a:blip r:embed="rId4"/>
          <a:srcRect l="7582" r="8532"/>
          <a:stretch/>
        </p:blipFill>
        <p:spPr>
          <a:xfrm>
            <a:off x="5522611" y="2025648"/>
            <a:ext cx="3240000" cy="324000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089686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CA" altLang="en-US" sz="2400" kern="1200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Example: Apply the Energy Wheel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tabLst/>
              <a:defRPr/>
            </a:pPr>
            <a:r>
              <a:rPr kumimoji="0" lang="en-US" sz="2000" b="1" u="none" strike="noStrike" kern="0" cap="none" spc="0" noProof="0" dirty="0" smtClean="0">
                <a:ln>
                  <a:noFill/>
                </a:ln>
                <a:solidFill>
                  <a:schemeClr val="tx1"/>
                </a:solidFill>
                <a:uLnTx/>
                <a:uFillTx/>
              </a:rPr>
              <a:t>Energy Sources: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Rolling </a:t>
            </a:r>
            <a:r>
              <a:rPr lang="en-US" sz="2000" dirty="0">
                <a:solidFill>
                  <a:schemeClr val="tx1"/>
                </a:solidFill>
              </a:rPr>
              <a:t>pipe (motion)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Dust, flying debris (motion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Traffic (motion)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Uneven surface (gravity)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Excavator bucket (motion)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Dozer (motion)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Cable tension (mechanical)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Rotating saw blade (mechanical)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Kick-back (motion)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Hot </a:t>
            </a:r>
            <a:r>
              <a:rPr lang="en-US" sz="2000" dirty="0">
                <a:solidFill>
                  <a:schemeClr val="tx1"/>
                </a:solidFill>
              </a:rPr>
              <a:t>saw blade (temperature</a:t>
            </a:r>
            <a:r>
              <a:rPr lang="en-US" sz="2000" dirty="0" smtClean="0">
                <a:solidFill>
                  <a:schemeClr val="tx1"/>
                </a:solidFill>
              </a:rPr>
              <a:t>)</a:t>
            </a:r>
          </a:p>
          <a:p>
            <a:pPr marL="342900" lvl="0" indent="-342900">
              <a:spcBef>
                <a:spcPts val="6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Cutting Saw (sound)</a:t>
            </a:r>
            <a:endParaRPr lang="en-US" sz="2000" dirty="0">
              <a:solidFill>
                <a:schemeClr val="tx1"/>
              </a:solidFill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u="none" strike="noStrike" kern="0" cap="none" spc="0" noProof="0" dirty="0">
              <a:ln>
                <a:noFill/>
              </a:ln>
              <a:solidFill>
                <a:schemeClr val="tx1"/>
              </a:solidFill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387" y="1558009"/>
            <a:ext cx="4471013" cy="3599207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723632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</a:t>
            </a:r>
            <a:r>
              <a:rPr lang="en-CA" altLang="en-US" kern="1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 include </a:t>
            </a:r>
            <a:r>
              <a:rPr lang="en-US" altLang="en-US" kern="1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broad categories: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(Workplace): worker injuries, such as cuts, trips, slips, and falls, or generically “struck by”, “struck against”.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Technical Safety: loss of control or an unintentional release of some form of energy. </a:t>
            </a:r>
          </a:p>
          <a:p>
            <a:pPr marL="108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Sub-sets: Chemical </a:t>
            </a:r>
            <a:r>
              <a:rPr lang="en-US" altLang="en-US" kern="12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(Sunrise Propane</a:t>
            </a:r>
            <a:r>
              <a:rPr lang="en-US" altLang="en-US" kern="12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), structural collapses, regional black-outs …</a:t>
            </a:r>
            <a:endParaRPr lang="en-CA" altLang="en-US" kern="12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kern="1200" dirty="0" smtClean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Differentiate Occupational Safety and Technical Safety:</a:t>
            </a:r>
            <a:endParaRPr lang="en-US" altLang="en-US" sz="2400" kern="1200" dirty="0">
              <a:solidFill>
                <a:srgbClr val="33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47" y="3391295"/>
            <a:ext cx="3434377" cy="27647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386" y="3391296"/>
            <a:ext cx="4942614" cy="27647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19673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#3: Apply the Energy Wheel – Technical Safety</a:t>
            </a:r>
            <a:endParaRPr lang="en-CA" altLang="en-US" sz="2400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Thinking back to Sunrise Propane</a:t>
            </a:r>
            <a:r>
              <a:rPr kumimoji="0" lang="en-US" sz="2000" b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and this tank-to-truck loading operation, p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lease confer on this question: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Q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: </a:t>
            </a:r>
            <a:r>
              <a:rPr lang="en-US" sz="2000" dirty="0">
                <a:solidFill>
                  <a:srgbClr val="FFFFFF"/>
                </a:solidFill>
              </a:rPr>
              <a:t>W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hat 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are 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the energy sources? 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 preferRelativeResize="0">
            <a:picLocks noChangeAspect="1"/>
          </p:cNvPicPr>
          <p:nvPr/>
        </p:nvPicPr>
        <p:blipFill rotWithShape="1">
          <a:blip r:embed="rId3"/>
          <a:srcRect l="7582" r="8532"/>
          <a:stretch/>
        </p:blipFill>
        <p:spPr>
          <a:xfrm>
            <a:off x="5522611" y="2025648"/>
            <a:ext cx="3240000" cy="324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99" y="2263296"/>
            <a:ext cx="5058282" cy="28294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557913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activities have associated hazards; uncontrolled hazards lead to consequences.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recognition is a key concept for</a:t>
            </a:r>
            <a:r>
              <a:rPr kumimoji="0" lang="en-US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preventing incidents.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Context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important where there is a need to differentiate between a hazard, severity of hazard, and a consequence</a:t>
            </a: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Wheel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is: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useful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 for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improving hazard recognition, specifically the nature of the energy sources because it aids us in applying higher cognitive effort, and 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can be used for analyzing both occupational and technical safety.</a:t>
            </a: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3"/>
          <a:srcRect l="7582" r="8532"/>
          <a:stretch/>
        </p:blipFill>
        <p:spPr>
          <a:xfrm>
            <a:off x="3341465" y="4205465"/>
            <a:ext cx="2058535" cy="2058535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2.2: Hazard Recognition and The Energy Wheel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425509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2271345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</TotalTime>
  <Words>1143</Words>
  <Application>Microsoft Office PowerPoint</Application>
  <PresentationFormat>On-screen Show (4:3)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ＭＳ Ｐゴシック</vt:lpstr>
      <vt:lpstr>Arial</vt:lpstr>
      <vt:lpstr>Calibri</vt:lpstr>
      <vt:lpstr>Noto Sans Symbols</vt:lpstr>
      <vt:lpstr>Times New Roman</vt:lpstr>
      <vt:lpstr>Tw Cen MT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Becoming a Leader in Risk Management</dc:title>
  <dc:creator>JR Cocchio</dc:creator>
  <cp:lastModifiedBy>John Cocchio</cp:lastModifiedBy>
  <cp:revision>108</cp:revision>
  <dcterms:created xsi:type="dcterms:W3CDTF">2011-09-07T03:22:54Z</dcterms:created>
  <dcterms:modified xsi:type="dcterms:W3CDTF">2022-05-11T18:02:19Z</dcterms:modified>
</cp:coreProperties>
</file>