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43"/>
  </p:notesMasterIdLst>
  <p:handoutMasterIdLst>
    <p:handoutMasterId r:id="rId44"/>
  </p:handoutMasterIdLst>
  <p:sldIdLst>
    <p:sldId id="926" r:id="rId3"/>
    <p:sldId id="895" r:id="rId4"/>
    <p:sldId id="927" r:id="rId5"/>
    <p:sldId id="928" r:id="rId6"/>
    <p:sldId id="929" r:id="rId7"/>
    <p:sldId id="930" r:id="rId8"/>
    <p:sldId id="931" r:id="rId9"/>
    <p:sldId id="944" r:id="rId10"/>
    <p:sldId id="932" r:id="rId11"/>
    <p:sldId id="933" r:id="rId12"/>
    <p:sldId id="934" r:id="rId13"/>
    <p:sldId id="935" r:id="rId14"/>
    <p:sldId id="936" r:id="rId15"/>
    <p:sldId id="937" r:id="rId16"/>
    <p:sldId id="938" r:id="rId17"/>
    <p:sldId id="939" r:id="rId18"/>
    <p:sldId id="901" r:id="rId19"/>
    <p:sldId id="940" r:id="rId20"/>
    <p:sldId id="941" r:id="rId21"/>
    <p:sldId id="942" r:id="rId22"/>
    <p:sldId id="943" r:id="rId23"/>
    <p:sldId id="952" r:id="rId24"/>
    <p:sldId id="959" r:id="rId25"/>
    <p:sldId id="960" r:id="rId26"/>
    <p:sldId id="947" r:id="rId27"/>
    <p:sldId id="957" r:id="rId28"/>
    <p:sldId id="948" r:id="rId29"/>
    <p:sldId id="953" r:id="rId30"/>
    <p:sldId id="949" r:id="rId31"/>
    <p:sldId id="962" r:id="rId32"/>
    <p:sldId id="961" r:id="rId33"/>
    <p:sldId id="954" r:id="rId34"/>
    <p:sldId id="963" r:id="rId35"/>
    <p:sldId id="968" r:id="rId36"/>
    <p:sldId id="966" r:id="rId37"/>
    <p:sldId id="967" r:id="rId38"/>
    <p:sldId id="958" r:id="rId39"/>
    <p:sldId id="900" r:id="rId40"/>
    <p:sldId id="955" r:id="rId41"/>
    <p:sldId id="956" r:id="rId42"/>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6"/>
            <p14:sldId id="895"/>
            <p14:sldId id="927"/>
            <p14:sldId id="928"/>
            <p14:sldId id="929"/>
            <p14:sldId id="930"/>
            <p14:sldId id="931"/>
            <p14:sldId id="944"/>
            <p14:sldId id="932"/>
            <p14:sldId id="933"/>
            <p14:sldId id="934"/>
            <p14:sldId id="935"/>
            <p14:sldId id="936"/>
            <p14:sldId id="937"/>
            <p14:sldId id="938"/>
            <p14:sldId id="939"/>
            <p14:sldId id="901"/>
            <p14:sldId id="940"/>
            <p14:sldId id="941"/>
            <p14:sldId id="942"/>
            <p14:sldId id="943"/>
            <p14:sldId id="952"/>
            <p14:sldId id="959"/>
            <p14:sldId id="960"/>
            <p14:sldId id="947"/>
            <p14:sldId id="957"/>
            <p14:sldId id="948"/>
            <p14:sldId id="953"/>
            <p14:sldId id="949"/>
            <p14:sldId id="962"/>
            <p14:sldId id="961"/>
            <p14:sldId id="954"/>
            <p14:sldId id="963"/>
            <p14:sldId id="968"/>
            <p14:sldId id="966"/>
            <p14:sldId id="967"/>
            <p14:sldId id="958"/>
            <p14:sldId id="900"/>
            <p14:sldId id="955"/>
            <p14:sldId id="956"/>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0000CC"/>
    <a:srgbClr val="008000"/>
    <a:srgbClr val="000000"/>
    <a:srgbClr val="0000FF"/>
    <a:srgbClr val="F8F8F8"/>
    <a:srgbClr val="F5D7F1"/>
    <a:srgbClr val="5F5F5F"/>
    <a:srgbClr val="DDDDDD"/>
    <a:srgbClr val="FBA3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1" autoAdjust="0"/>
    <p:restoredTop sz="89460" autoAdjust="0"/>
  </p:normalViewPr>
  <p:slideViewPr>
    <p:cSldViewPr>
      <p:cViewPr varScale="1">
        <p:scale>
          <a:sx n="73" d="100"/>
          <a:sy n="73" d="100"/>
        </p:scale>
        <p:origin x="948" y="40"/>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61052"/>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6/22/2022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6/22/2022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0594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7739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6835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1149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755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1381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9290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7316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7827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6698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3379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5890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4315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518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204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17</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17</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650747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21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3044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0381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177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025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741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8269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25845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0156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63061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586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14525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60176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75675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76126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77059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84740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9021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9155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0208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38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38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64387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40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0369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6/22/2022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436650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54602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4796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53118CC2-884A-4430-8B4F-9976F3C29C24}" type="datetimeFigureOut">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6/22/2022</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91823322-A425-42F9-B4E6-DE1BA6748FF3}"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8587107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796509"/>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ZZ-XEAmCmT0&amp;t=2s"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lumMod val="65000"/>
              <a:lumOff val="35000"/>
            </a:schemeClr>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Special instruction to the Professor:</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Milgram Experiment is discussed in this lecture.</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start of the lecture, simply instruct all of the students to stand up, and give no other greeting or direction.  Do not start with your normal greeting, etc. </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Simply say, “Please stand up.” You may repeat the exact same phrase if some students are non-responsive.</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 all students are standing, simple say, “Please sit down.”</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begin the lecture in the usual manner. </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was a mini-experiment to demonstrate the “position of authority” that a person has over others, as will be explored in this module.  </a:t>
            </a: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text colour closely matches the background so as to keep the content hidden if inadvertently displayed on the class screen.</a:t>
            </a: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Tee-up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Video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mm:ss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00:37- 06:19</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Milgram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Experiments”</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www.youtube.com/watch?v=ZZ-XEAmCmT0&amp;t=2s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endParaRPr lang="en-US" altLang="en-US" b="0" dirty="0" smtClean="0">
              <a:solidFill>
                <a:srgbClr val="FFFF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90000"/>
              </a:lnSpc>
              <a:spcBef>
                <a:spcPts val="0"/>
              </a:spcBef>
              <a:buClr>
                <a:srgbClr val="000000"/>
              </a:buClr>
              <a:buSzPct val="100000"/>
              <a:buFont typeface="Wingdings" panose="05000000000000000000" pitchFamily="2" charset="2"/>
              <a:buChar char="Ø"/>
            </a:pPr>
            <a:r>
              <a:rPr lang="en-US" altLang="en-US" b="0" dirty="0" smtClean="0">
                <a:solidFill>
                  <a:srgbClr val="FFFF00"/>
                </a:solidFill>
                <a:latin typeface="Arial" panose="020B0604020202020204" pitchFamily="34" charset="0"/>
                <a:ea typeface="ＭＳ Ｐゴシック" panose="020B0600070205080204" pitchFamily="34" charset="-128"/>
                <a:cs typeface="Arial" panose="020B0604020202020204" pitchFamily="34" charset="0"/>
              </a:rPr>
              <a:t>Note</a:t>
            </a:r>
            <a:r>
              <a:rPr lang="en-US" altLang="en-US" b="0" dirty="0">
                <a:solidFill>
                  <a:srgbClr val="FFFF00"/>
                </a:solidFill>
                <a:latin typeface="Arial" panose="020B0604020202020204" pitchFamily="34" charset="0"/>
                <a:ea typeface="ＭＳ Ｐゴシック" panose="020B0600070205080204" pitchFamily="34" charset="-128"/>
                <a:cs typeface="Arial" panose="020B0604020202020204" pitchFamily="34" charset="0"/>
              </a:rPr>
              <a:t>: The Milgram Video is part of the </a:t>
            </a:r>
            <a:r>
              <a:rPr lang="en-US" altLang="en-US" b="0" dirty="0" err="1">
                <a:solidFill>
                  <a:srgbClr val="FFFF00"/>
                </a:solidFill>
                <a:latin typeface="Arial" panose="020B0604020202020204" pitchFamily="34" charset="0"/>
                <a:ea typeface="ＭＳ Ｐゴシック" panose="020B0600070205080204" pitchFamily="34" charset="-128"/>
                <a:cs typeface="Arial" panose="020B0604020202020204" pitchFamily="34" charset="0"/>
              </a:rPr>
              <a:t>eClass</a:t>
            </a:r>
            <a:r>
              <a:rPr lang="en-US" altLang="en-US" b="0" dirty="0">
                <a:solidFill>
                  <a:srgbClr val="FFFF00"/>
                </a:solidFill>
                <a:latin typeface="Arial" panose="020B0604020202020204" pitchFamily="34" charset="0"/>
                <a:ea typeface="ＭＳ Ｐゴシック" panose="020B0600070205080204" pitchFamily="34" charset="-128"/>
                <a:cs typeface="Arial" panose="020B0604020202020204" pitchFamily="34" charset="0"/>
              </a:rPr>
              <a:t> On-line </a:t>
            </a:r>
            <a:r>
              <a:rPr lang="en-US" altLang="en-US" b="0" dirty="0" smtClean="0">
                <a:solidFill>
                  <a:srgbClr val="FFFF00"/>
                </a:solidFill>
                <a:latin typeface="Arial" panose="020B0604020202020204" pitchFamily="34" charset="0"/>
                <a:ea typeface="ＭＳ Ｐゴシック" panose="020B0600070205080204" pitchFamily="34" charset="-128"/>
                <a:cs typeface="Arial" panose="020B0604020202020204" pitchFamily="34" charset="0"/>
              </a:rPr>
              <a:t>Study with a quiz; so, there </a:t>
            </a:r>
            <a:r>
              <a:rPr lang="en-US" altLang="en-US" b="0" dirty="0">
                <a:solidFill>
                  <a:srgbClr val="FFFF00"/>
                </a:solidFill>
                <a:latin typeface="Arial" panose="020B0604020202020204" pitchFamily="34" charset="0"/>
                <a:ea typeface="ＭＳ Ｐゴシック" panose="020B0600070205080204" pitchFamily="34" charset="-128"/>
                <a:cs typeface="Arial" panose="020B0604020202020204" pitchFamily="34" charset="0"/>
              </a:rPr>
              <a:t>is no need to watch the video in class.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Skip this slide. Do not show in the lecture.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230430684"/>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838200" y="2105520"/>
            <a:ext cx="7315201" cy="216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7.6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Power of Leaders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to Influence Behaviour</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Critique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relationships between you and: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supervisor,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peers,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subordinates.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Recognize challenges in those relationships.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how to and be able to adjust your interpersonal practices to ensure clear and consistent communication of expectations within those relationships.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03258711"/>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must provide an organizational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that holds “excellence in safety”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 value.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Behaviours </a:t>
            </a:r>
          </a:p>
          <a:p>
            <a:pPr marL="72000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 on behaviours to achieve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desirable outcomes: </a:t>
            </a:r>
          </a:p>
          <a:p>
            <a:pPr marL="72000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Reduces the occurrence of </a:t>
            </a:r>
            <a:b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at-risk behaviours …</a:t>
            </a:r>
          </a:p>
          <a:p>
            <a:pPr marL="72000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Improves safety performance.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leader, as an influencer,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in a position of authority!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Introduction: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448241" y="2594861"/>
            <a:ext cx="1805945" cy="1694678"/>
          </a:xfrm>
          <a:prstGeom prst="rect">
            <a:avLst/>
          </a:prstGeom>
        </p:spPr>
      </p:pic>
      <p:pic>
        <p:nvPicPr>
          <p:cNvPr id="7" name="Picture 6"/>
          <p:cNvPicPr>
            <a:picLocks noChangeAspect="1"/>
          </p:cNvPicPr>
          <p:nvPr/>
        </p:nvPicPr>
        <p:blipFill>
          <a:blip r:embed="rId4"/>
          <a:stretch>
            <a:fillRect/>
          </a:stretch>
        </p:blipFill>
        <p:spPr>
          <a:xfrm>
            <a:off x="4436398" y="4724400"/>
            <a:ext cx="1946106" cy="1296000"/>
          </a:xfrm>
          <a:prstGeom prst="rect">
            <a:avLst/>
          </a:prstGeom>
          <a:ln>
            <a:solidFill>
              <a:schemeClr val="tx1"/>
            </a:solidFill>
          </a:ln>
        </p:spPr>
      </p:pic>
      <p:pic>
        <p:nvPicPr>
          <p:cNvPr id="2" name="Picture 1"/>
          <p:cNvPicPr>
            <a:picLocks noChangeAspect="1"/>
          </p:cNvPicPr>
          <p:nvPr/>
        </p:nvPicPr>
        <p:blipFill>
          <a:blip r:embed="rId5"/>
          <a:stretch>
            <a:fillRect/>
          </a:stretch>
        </p:blipFill>
        <p:spPr>
          <a:xfrm>
            <a:off x="6566559" y="4724400"/>
            <a:ext cx="2044041" cy="1296000"/>
          </a:xfrm>
          <a:prstGeom prst="rect">
            <a:avLst/>
          </a:prstGeom>
          <a:ln>
            <a:solidFill>
              <a:schemeClr val="tx1"/>
            </a:solidFill>
          </a:ln>
        </p:spPr>
      </p:pic>
      <p:pic>
        <p:nvPicPr>
          <p:cNvPr id="3" name="Picture 2"/>
          <p:cNvPicPr>
            <a:picLocks noChangeAspect="1"/>
          </p:cNvPicPr>
          <p:nvPr/>
        </p:nvPicPr>
        <p:blipFill>
          <a:blip r:embed="rId6"/>
          <a:stretch>
            <a:fillRect/>
          </a:stretch>
        </p:blipFill>
        <p:spPr>
          <a:xfrm>
            <a:off x="5473225" y="864000"/>
            <a:ext cx="1725614" cy="1296000"/>
          </a:xfrm>
          <a:prstGeom prst="rect">
            <a:avLst/>
          </a:prstGeom>
        </p:spPr>
      </p:pic>
      <p:pic>
        <p:nvPicPr>
          <p:cNvPr id="4" name="Picture 3"/>
          <p:cNvPicPr>
            <a:picLocks noChangeAspect="1"/>
          </p:cNvPicPr>
          <p:nvPr/>
        </p:nvPicPr>
        <p:blipFill>
          <a:blip r:embed="rId7"/>
          <a:stretch>
            <a:fillRect/>
          </a:stretch>
        </p:blipFill>
        <p:spPr>
          <a:xfrm>
            <a:off x="7302903" y="864000"/>
            <a:ext cx="1331716" cy="1296000"/>
          </a:xfrm>
          <a:prstGeom prst="rect">
            <a:avLst/>
          </a:prstGeom>
        </p:spPr>
      </p:pic>
    </p:spTree>
    <p:extLst>
      <p:ext uri="{BB962C8B-B14F-4D97-AF65-F5344CB8AC3E}">
        <p14:creationId xmlns:p14="http://schemas.microsoft.com/office/powerpoint/2010/main" val="262935585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Key Finding from the Milgram Experiments: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7" name="Group 18"/>
          <p:cNvGrpSpPr>
            <a:grpSpLocks/>
          </p:cNvGrpSpPr>
          <p:nvPr/>
        </p:nvGrpSpPr>
        <p:grpSpPr bwMode="auto">
          <a:xfrm>
            <a:off x="590550" y="1219200"/>
            <a:ext cx="2838450" cy="4667250"/>
            <a:chOff x="1968" y="816"/>
            <a:chExt cx="1788" cy="2940"/>
          </a:xfrm>
          <a:solidFill>
            <a:srgbClr val="009900"/>
          </a:solidFill>
        </p:grpSpPr>
        <p:sp>
          <p:nvSpPr>
            <p:cNvPr id="10" name="Text Box 10"/>
            <p:cNvSpPr txBox="1">
              <a:spLocks noChangeArrowheads="1"/>
            </p:cNvSpPr>
            <p:nvPr/>
          </p:nvSpPr>
          <p:spPr bwMode="auto">
            <a:xfrm>
              <a:off x="2216" y="816"/>
              <a:ext cx="1288"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continue”</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unseen voice)</a:t>
              </a:r>
            </a:p>
          </p:txBody>
        </p:sp>
        <p:sp>
          <p:nvSpPr>
            <p:cNvPr id="11" name="Text Box 11"/>
            <p:cNvSpPr txBox="1">
              <a:spLocks noChangeArrowheads="1"/>
            </p:cNvSpPr>
            <p:nvPr/>
          </p:nvSpPr>
          <p:spPr bwMode="auto">
            <a:xfrm>
              <a:off x="2256" y="1920"/>
              <a:ext cx="1211"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Questioner /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Punisher</a:t>
              </a:r>
            </a:p>
          </p:txBody>
        </p:sp>
        <p:sp>
          <p:nvSpPr>
            <p:cNvPr id="14" name="Text Box 13"/>
            <p:cNvSpPr txBox="1">
              <a:spLocks noChangeArrowheads="1"/>
            </p:cNvSpPr>
            <p:nvPr/>
          </p:nvSpPr>
          <p:spPr bwMode="auto">
            <a:xfrm>
              <a:off x="1968" y="3082"/>
              <a:ext cx="1788" cy="674"/>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Responder</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(inside the booth,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giving staged answers and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getting “staged” shocks)</a:t>
              </a:r>
            </a:p>
          </p:txBody>
        </p:sp>
        <p:cxnSp>
          <p:nvCxnSpPr>
            <p:cNvPr id="15" name="AutoShape 15"/>
            <p:cNvCxnSpPr>
              <a:cxnSpLocks noChangeShapeType="1"/>
              <a:stCxn id="11" idx="2"/>
              <a:endCxn id="14" idx="0"/>
            </p:cNvCxnSpPr>
            <p:nvPr/>
          </p:nvCxnSpPr>
          <p:spPr bwMode="auto">
            <a:xfrm>
              <a:off x="2862" y="2286"/>
              <a:ext cx="0" cy="796"/>
            </a:xfrm>
            <a:prstGeom prst="straightConnector1">
              <a:avLst/>
            </a:prstGeom>
            <a:grpFill/>
            <a:ln w="25400">
              <a:solidFill>
                <a:srgbClr val="000000"/>
              </a:solidFill>
              <a:round/>
              <a:headEnd/>
              <a:tailEnd/>
            </a:ln>
            <a:extLst/>
          </p:spPr>
        </p:cxnSp>
        <p:cxnSp>
          <p:nvCxnSpPr>
            <p:cNvPr id="16" name="AutoShape 18"/>
            <p:cNvCxnSpPr>
              <a:cxnSpLocks noChangeShapeType="1"/>
              <a:stCxn id="10" idx="2"/>
              <a:endCxn id="11" idx="0"/>
            </p:cNvCxnSpPr>
            <p:nvPr/>
          </p:nvCxnSpPr>
          <p:spPr bwMode="auto">
            <a:xfrm>
              <a:off x="2860" y="1182"/>
              <a:ext cx="2" cy="738"/>
            </a:xfrm>
            <a:prstGeom prst="straightConnector1">
              <a:avLst/>
            </a:prstGeom>
            <a:grpFill/>
            <a:ln w="25400">
              <a:solidFill>
                <a:srgbClr val="000000"/>
              </a:solidFill>
              <a:round/>
              <a:headEnd/>
              <a:tailEnd/>
            </a:ln>
            <a:extLst/>
          </p:spPr>
        </p:cxnSp>
      </p:grpSp>
      <p:pic>
        <p:nvPicPr>
          <p:cNvPr id="17" name="Picture 16"/>
          <p:cNvPicPr>
            <a:picLocks noChangeAspect="1"/>
          </p:cNvPicPr>
          <p:nvPr/>
        </p:nvPicPr>
        <p:blipFill>
          <a:blip r:embed="rId3"/>
          <a:stretch>
            <a:fillRect/>
          </a:stretch>
        </p:blipFill>
        <p:spPr>
          <a:xfrm>
            <a:off x="4247451" y="2983992"/>
            <a:ext cx="3852549" cy="2939163"/>
          </a:xfrm>
          <a:prstGeom prst="rect">
            <a:avLst/>
          </a:prstGeom>
        </p:spPr>
      </p:pic>
      <p:sp>
        <p:nvSpPr>
          <p:cNvPr id="18" name="Rectangle 3"/>
          <p:cNvSpPr txBox="1">
            <a:spLocks noChangeArrowheads="1"/>
          </p:cNvSpPr>
          <p:nvPr/>
        </p:nvSpPr>
        <p:spPr>
          <a:xfrm>
            <a:off x="3755136" y="760413"/>
            <a:ext cx="4926902" cy="5454650"/>
          </a:xfrm>
          <a:solidFill>
            <a:schemeClr val="accent1">
              <a:alpha val="70195"/>
            </a:schemeClr>
          </a:solidFill>
          <a:ln>
            <a:solidFill>
              <a:srgbClr val="000000"/>
            </a:solidFill>
            <a:miter lim="800000"/>
            <a:headEnd/>
            <a:tailEnd/>
          </a:ln>
        </p:spPr>
        <p:txBody>
          <a:bodyPr>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a:lnSpc>
                <a:spcPct val="90000"/>
              </a:lnSpc>
              <a:buClr>
                <a:srgbClr val="000000"/>
              </a:buClr>
              <a:buFont typeface="Wingdings" pitchFamily="2" charset="2"/>
              <a:buNone/>
            </a:pPr>
            <a:r>
              <a:rPr lang="en-US" altLang="en-US" sz="2000" b="1" kern="0" dirty="0" smtClean="0">
                <a:solidFill>
                  <a:srgbClr val="000000"/>
                </a:solidFill>
                <a:latin typeface="Arial" panose="020B0604020202020204" pitchFamily="34" charset="0"/>
              </a:rPr>
              <a:t>Position of Authority:</a:t>
            </a:r>
          </a:p>
          <a:p>
            <a:pPr>
              <a:lnSpc>
                <a:spcPct val="90000"/>
              </a:lnSpc>
              <a:buClr>
                <a:srgbClr val="000000"/>
              </a:buClr>
              <a:buFont typeface="Wingdings" pitchFamily="2" charset="2"/>
              <a:buChar char="Ø"/>
            </a:pPr>
            <a:endParaRPr lang="en-US" altLang="en-US" sz="2000" b="0" kern="0" dirty="0" smtClean="0">
              <a:solidFill>
                <a:srgbClr val="000000"/>
              </a:solidFill>
              <a:latin typeface="Arial" panose="020B0604020202020204" pitchFamily="34" charset="0"/>
            </a:endParaRPr>
          </a:p>
          <a:p>
            <a:pPr>
              <a:lnSpc>
                <a:spcPct val="90000"/>
              </a:lnSpc>
              <a:buClr>
                <a:srgbClr val="000000"/>
              </a:buClr>
              <a:buFont typeface="Wingdings" pitchFamily="2" charset="2"/>
              <a:buChar char="Ø"/>
            </a:pPr>
            <a:r>
              <a:rPr lang="en-US" altLang="en-US" sz="2000" b="0" kern="0" dirty="0" smtClean="0">
                <a:solidFill>
                  <a:srgbClr val="000000"/>
                </a:solidFill>
                <a:latin typeface="Arial" panose="020B0604020202020204" pitchFamily="34" charset="0"/>
              </a:rPr>
              <a:t>“… under what conditions would a person obey authority, who commanded actions that went against conscience?” Stanley </a:t>
            </a:r>
            <a:r>
              <a:rPr lang="en-US" altLang="en-US" sz="2000" b="0" kern="0" dirty="0">
                <a:solidFill>
                  <a:srgbClr val="000000"/>
                </a:solidFill>
                <a:latin typeface="Arial" panose="020B0604020202020204" pitchFamily="34" charset="0"/>
              </a:rPr>
              <a:t>Milgram </a:t>
            </a:r>
            <a:br>
              <a:rPr lang="en-US" altLang="en-US" sz="2000" b="0" kern="0" dirty="0">
                <a:solidFill>
                  <a:srgbClr val="000000"/>
                </a:solidFill>
                <a:latin typeface="Arial" panose="020B0604020202020204" pitchFamily="34" charset="0"/>
              </a:rPr>
            </a:br>
            <a:r>
              <a:rPr lang="en-US" altLang="en-US" sz="1200" b="0" kern="0" dirty="0" smtClean="0">
                <a:solidFill>
                  <a:srgbClr val="000000"/>
                </a:solidFill>
                <a:latin typeface="Arial" panose="020B0604020202020204" pitchFamily="34" charset="0"/>
              </a:rPr>
              <a:t>(Video 00:36-00:48)</a:t>
            </a:r>
            <a:endParaRPr lang="en-US" altLang="en-US" sz="1200" b="0" kern="0" dirty="0">
              <a:solidFill>
                <a:srgbClr val="000000"/>
              </a:solidFill>
              <a:latin typeface="Arial" panose="020B0604020202020204" pitchFamily="34" charset="0"/>
            </a:endParaRPr>
          </a:p>
        </p:txBody>
      </p:sp>
    </p:spTree>
    <p:extLst>
      <p:ext uri="{BB962C8B-B14F-4D97-AF65-F5344CB8AC3E}">
        <p14:creationId xmlns:p14="http://schemas.microsoft.com/office/powerpoint/2010/main" val="2152024934"/>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Key Finding from the Milgram Experiments: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18"/>
          <p:cNvGrpSpPr>
            <a:grpSpLocks/>
          </p:cNvGrpSpPr>
          <p:nvPr/>
        </p:nvGrpSpPr>
        <p:grpSpPr bwMode="auto">
          <a:xfrm>
            <a:off x="590550" y="1219200"/>
            <a:ext cx="2838450" cy="4667250"/>
            <a:chOff x="1968" y="816"/>
            <a:chExt cx="1788" cy="2940"/>
          </a:xfrm>
          <a:solidFill>
            <a:srgbClr val="009900"/>
          </a:solidFill>
        </p:grpSpPr>
        <p:sp>
          <p:nvSpPr>
            <p:cNvPr id="7" name="Text Box 10"/>
            <p:cNvSpPr txBox="1">
              <a:spLocks noChangeArrowheads="1"/>
            </p:cNvSpPr>
            <p:nvPr/>
          </p:nvSpPr>
          <p:spPr bwMode="auto">
            <a:xfrm>
              <a:off x="2216" y="816"/>
              <a:ext cx="1288"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continue”</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unseen voice)</a:t>
              </a:r>
            </a:p>
          </p:txBody>
        </p:sp>
        <p:sp>
          <p:nvSpPr>
            <p:cNvPr id="10" name="Text Box 11"/>
            <p:cNvSpPr txBox="1">
              <a:spLocks noChangeArrowheads="1"/>
            </p:cNvSpPr>
            <p:nvPr/>
          </p:nvSpPr>
          <p:spPr bwMode="auto">
            <a:xfrm>
              <a:off x="2256" y="1920"/>
              <a:ext cx="1211"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Questioner /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Punisher</a:t>
              </a:r>
            </a:p>
          </p:txBody>
        </p:sp>
        <p:sp>
          <p:nvSpPr>
            <p:cNvPr id="11" name="Text Box 13"/>
            <p:cNvSpPr txBox="1">
              <a:spLocks noChangeArrowheads="1"/>
            </p:cNvSpPr>
            <p:nvPr/>
          </p:nvSpPr>
          <p:spPr bwMode="auto">
            <a:xfrm>
              <a:off x="1968" y="3082"/>
              <a:ext cx="1788" cy="674"/>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Responder</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(inside the booth,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giving staged answers and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getting “staged” shocks)</a:t>
              </a:r>
            </a:p>
          </p:txBody>
        </p:sp>
        <p:cxnSp>
          <p:nvCxnSpPr>
            <p:cNvPr id="14" name="AutoShape 15"/>
            <p:cNvCxnSpPr>
              <a:cxnSpLocks noChangeShapeType="1"/>
              <a:stCxn id="10" idx="2"/>
              <a:endCxn id="11" idx="0"/>
            </p:cNvCxnSpPr>
            <p:nvPr/>
          </p:nvCxnSpPr>
          <p:spPr bwMode="auto">
            <a:xfrm>
              <a:off x="2862" y="2286"/>
              <a:ext cx="0" cy="796"/>
            </a:xfrm>
            <a:prstGeom prst="straightConnector1">
              <a:avLst/>
            </a:prstGeom>
            <a:grpFill/>
            <a:ln w="25400">
              <a:solidFill>
                <a:srgbClr val="000000"/>
              </a:solidFill>
              <a:round/>
              <a:headEnd/>
              <a:tailEnd/>
            </a:ln>
            <a:extLst/>
          </p:spPr>
        </p:cxnSp>
        <p:cxnSp>
          <p:nvCxnSpPr>
            <p:cNvPr id="15" name="AutoShape 18"/>
            <p:cNvCxnSpPr>
              <a:cxnSpLocks noChangeShapeType="1"/>
              <a:stCxn id="7" idx="2"/>
              <a:endCxn id="10" idx="0"/>
            </p:cNvCxnSpPr>
            <p:nvPr/>
          </p:nvCxnSpPr>
          <p:spPr bwMode="auto">
            <a:xfrm>
              <a:off x="2860" y="1182"/>
              <a:ext cx="2" cy="738"/>
            </a:xfrm>
            <a:prstGeom prst="straightConnector1">
              <a:avLst/>
            </a:prstGeom>
            <a:grpFill/>
            <a:ln w="25400">
              <a:solidFill>
                <a:srgbClr val="000000"/>
              </a:solidFill>
              <a:round/>
              <a:headEnd/>
              <a:tailEnd/>
            </a:ln>
            <a:extLst/>
          </p:spPr>
        </p:cxnSp>
      </p:grpSp>
      <p:sp>
        <p:nvSpPr>
          <p:cNvPr id="16" name="Rectangle 3"/>
          <p:cNvSpPr txBox="1">
            <a:spLocks noChangeArrowheads="1"/>
          </p:cNvSpPr>
          <p:nvPr/>
        </p:nvSpPr>
        <p:spPr>
          <a:xfrm>
            <a:off x="3755136" y="760413"/>
            <a:ext cx="4926902" cy="5454650"/>
          </a:xfrm>
          <a:solidFill>
            <a:schemeClr val="accent1">
              <a:alpha val="70195"/>
            </a:schemeClr>
          </a:solidFill>
          <a:ln>
            <a:solidFill>
              <a:srgbClr val="000000"/>
            </a:solidFill>
            <a:miter lim="800000"/>
            <a:headEnd/>
            <a:tailEnd/>
          </a:ln>
        </p:spPr>
        <p:txBody>
          <a:bodyPr>
            <a:noAutofit/>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a:lnSpc>
                <a:spcPct val="90000"/>
              </a:lnSpc>
              <a:buClr>
                <a:srgbClr val="000000"/>
              </a:buClr>
              <a:buFont typeface="Wingdings" pitchFamily="2" charset="2"/>
              <a:buNone/>
            </a:pPr>
            <a:r>
              <a:rPr lang="en-US" altLang="en-US" sz="2000" b="1" kern="0" dirty="0" smtClean="0">
                <a:solidFill>
                  <a:srgbClr val="000000"/>
                </a:solidFill>
                <a:latin typeface="Arial" panose="020B0604020202020204" pitchFamily="34" charset="0"/>
              </a:rPr>
              <a:t>Position of Authority:</a:t>
            </a:r>
          </a:p>
          <a:p>
            <a:pPr>
              <a:lnSpc>
                <a:spcPct val="90000"/>
              </a:lnSpc>
              <a:buClr>
                <a:srgbClr val="000000"/>
              </a:buClr>
              <a:buFont typeface="Wingdings" pitchFamily="2" charset="2"/>
              <a:buChar char="Ø"/>
            </a:pPr>
            <a:endParaRPr lang="en-US" altLang="en-US" sz="2000" b="0" kern="0" dirty="0" smtClean="0">
              <a:solidFill>
                <a:srgbClr val="000000"/>
              </a:solidFill>
              <a:latin typeface="Arial" panose="020B0604020202020204" pitchFamily="34" charset="0"/>
            </a:endParaRPr>
          </a:p>
          <a:p>
            <a:pPr>
              <a:lnSpc>
                <a:spcPct val="90000"/>
              </a:lnSpc>
              <a:buClr>
                <a:srgbClr val="000000"/>
              </a:buClr>
              <a:buFont typeface="Wingdings" pitchFamily="2" charset="2"/>
              <a:buChar char="Ø"/>
            </a:pPr>
            <a:r>
              <a:rPr lang="en-US" altLang="en-US" sz="2000" b="0" kern="0" dirty="0" smtClean="0">
                <a:solidFill>
                  <a:srgbClr val="000000"/>
                </a:solidFill>
                <a:latin typeface="Arial" panose="020B0604020202020204" pitchFamily="34" charset="0"/>
              </a:rPr>
              <a:t>“… under what conditions would a person obey authority, who commanded actions that went against conscience?” Stanley </a:t>
            </a:r>
            <a:r>
              <a:rPr lang="en-US" altLang="en-US" sz="2000" b="0" kern="0" dirty="0">
                <a:solidFill>
                  <a:srgbClr val="000000"/>
                </a:solidFill>
                <a:latin typeface="Arial" panose="020B0604020202020204" pitchFamily="34" charset="0"/>
              </a:rPr>
              <a:t>Milgram </a:t>
            </a:r>
            <a:br>
              <a:rPr lang="en-US" altLang="en-US" sz="2000" b="0" kern="0" dirty="0">
                <a:solidFill>
                  <a:srgbClr val="000000"/>
                </a:solidFill>
                <a:latin typeface="Arial" panose="020B0604020202020204" pitchFamily="34" charset="0"/>
              </a:rPr>
            </a:br>
            <a:r>
              <a:rPr lang="en-US" altLang="en-US" sz="1200" b="0" kern="0" dirty="0" smtClean="0">
                <a:solidFill>
                  <a:srgbClr val="000000"/>
                </a:solidFill>
                <a:latin typeface="Arial" panose="020B0604020202020204" pitchFamily="34" charset="0"/>
              </a:rPr>
              <a:t>(Video 00:36-00:48)</a:t>
            </a:r>
            <a:endParaRPr lang="en-US" altLang="en-US" sz="1200" b="0" kern="0" dirty="0">
              <a:solidFill>
                <a:srgbClr val="000000"/>
              </a:solidFill>
              <a:latin typeface="Arial" panose="020B0604020202020204" pitchFamily="34" charset="0"/>
            </a:endParaRPr>
          </a:p>
          <a:p>
            <a:pPr>
              <a:lnSpc>
                <a:spcPct val="90000"/>
              </a:lnSpc>
              <a:buClr>
                <a:srgbClr val="000000"/>
              </a:buClr>
              <a:buFont typeface="Wingdings" pitchFamily="2" charset="2"/>
              <a:buChar char="Ø"/>
            </a:pPr>
            <a:endParaRPr lang="en-US" altLang="en-US" sz="2000" b="0" kern="0" dirty="0" smtClean="0">
              <a:solidFill>
                <a:srgbClr val="000000"/>
              </a:solidFill>
              <a:latin typeface="Arial" panose="020B0604020202020204" pitchFamily="34" charset="0"/>
            </a:endParaRPr>
          </a:p>
          <a:p>
            <a:pPr>
              <a:lnSpc>
                <a:spcPct val="90000"/>
              </a:lnSpc>
              <a:buClr>
                <a:srgbClr val="000000"/>
              </a:buClr>
              <a:buFont typeface="Wingdings" pitchFamily="2" charset="2"/>
              <a:buChar char="Ø"/>
            </a:pPr>
            <a:r>
              <a:rPr lang="en-US" altLang="en-US" sz="2000" b="0" kern="0" dirty="0" smtClean="0">
                <a:solidFill>
                  <a:srgbClr val="000000"/>
                </a:solidFill>
                <a:latin typeface="Arial" panose="020B0604020202020204" pitchFamily="34" charset="0"/>
              </a:rPr>
              <a:t>People will do things despite conscience, ethics, values, policies …</a:t>
            </a:r>
          </a:p>
          <a:p>
            <a:pPr>
              <a:lnSpc>
                <a:spcPct val="90000"/>
              </a:lnSpc>
              <a:buClr>
                <a:srgbClr val="000000"/>
              </a:buClr>
              <a:buFont typeface="Wingdings" pitchFamily="2" charset="2"/>
              <a:buChar char="Ø"/>
            </a:pPr>
            <a:endParaRPr lang="en-US" altLang="en-US" sz="2000" b="0" kern="0" dirty="0" smtClean="0">
              <a:solidFill>
                <a:srgbClr val="000000"/>
              </a:solidFill>
              <a:latin typeface="Arial" panose="020B0604020202020204" pitchFamily="34" charset="0"/>
            </a:endParaRPr>
          </a:p>
          <a:p>
            <a:pPr>
              <a:lnSpc>
                <a:spcPct val="90000"/>
              </a:lnSpc>
              <a:buClr>
                <a:srgbClr val="000000"/>
              </a:buClr>
              <a:buFont typeface="Wingdings" pitchFamily="2" charset="2"/>
              <a:buChar char="Ø"/>
            </a:pPr>
            <a:r>
              <a:rPr lang="en-US" altLang="en-US" sz="2000" b="0" kern="0" dirty="0" smtClean="0">
                <a:solidFill>
                  <a:srgbClr val="000000"/>
                </a:solidFill>
                <a:latin typeface="Arial" panose="020B0604020202020204" pitchFamily="34" charset="0"/>
              </a:rPr>
              <a:t>… a “state of conflict” that they can excuse themselves of …</a:t>
            </a:r>
          </a:p>
          <a:p>
            <a:pPr>
              <a:lnSpc>
                <a:spcPct val="90000"/>
              </a:lnSpc>
              <a:buClr>
                <a:srgbClr val="000000"/>
              </a:buClr>
              <a:buFont typeface="Wingdings" pitchFamily="2" charset="2"/>
              <a:buChar char="Ø"/>
            </a:pPr>
            <a:endParaRPr lang="en-US" altLang="en-US" sz="2000" b="0" kern="0" dirty="0" smtClean="0">
              <a:solidFill>
                <a:srgbClr val="000000"/>
              </a:solidFill>
              <a:latin typeface="Arial" panose="020B0604020202020204" pitchFamily="34" charset="0"/>
            </a:endParaRPr>
          </a:p>
          <a:p>
            <a:pPr>
              <a:lnSpc>
                <a:spcPct val="90000"/>
              </a:lnSpc>
              <a:buClr>
                <a:srgbClr val="000000"/>
              </a:buClr>
              <a:buFont typeface="Wingdings" pitchFamily="2" charset="2"/>
              <a:buChar char="Ø"/>
            </a:pPr>
            <a:r>
              <a:rPr lang="en-US" altLang="en-US" sz="2000" b="0" kern="0" dirty="0" smtClean="0">
                <a:solidFill>
                  <a:srgbClr val="000000"/>
                </a:solidFill>
                <a:latin typeface="Arial" panose="020B0604020202020204" pitchFamily="34" charset="0"/>
              </a:rPr>
              <a:t>… by deferring to the higher authority and a diffusion of responsibility.”</a:t>
            </a:r>
          </a:p>
        </p:txBody>
      </p:sp>
    </p:spTree>
    <p:extLst>
      <p:ext uri="{BB962C8B-B14F-4D97-AF65-F5344CB8AC3E}">
        <p14:creationId xmlns:p14="http://schemas.microsoft.com/office/powerpoint/2010/main" val="67417731"/>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Key Finding from the Milgram Experiments: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18"/>
          <p:cNvGrpSpPr>
            <a:grpSpLocks/>
          </p:cNvGrpSpPr>
          <p:nvPr/>
        </p:nvGrpSpPr>
        <p:grpSpPr bwMode="auto">
          <a:xfrm>
            <a:off x="590550" y="1219200"/>
            <a:ext cx="2838450" cy="4667250"/>
            <a:chOff x="1968" y="816"/>
            <a:chExt cx="1788" cy="2940"/>
          </a:xfrm>
          <a:solidFill>
            <a:srgbClr val="009900"/>
          </a:solidFill>
        </p:grpSpPr>
        <p:sp>
          <p:nvSpPr>
            <p:cNvPr id="7" name="Text Box 10"/>
            <p:cNvSpPr txBox="1">
              <a:spLocks noChangeArrowheads="1"/>
            </p:cNvSpPr>
            <p:nvPr/>
          </p:nvSpPr>
          <p:spPr bwMode="auto">
            <a:xfrm>
              <a:off x="2216" y="816"/>
              <a:ext cx="1288"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continue”</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unseen voice)</a:t>
              </a:r>
            </a:p>
          </p:txBody>
        </p:sp>
        <p:sp>
          <p:nvSpPr>
            <p:cNvPr id="10" name="Text Box 11"/>
            <p:cNvSpPr txBox="1">
              <a:spLocks noChangeArrowheads="1"/>
            </p:cNvSpPr>
            <p:nvPr/>
          </p:nvSpPr>
          <p:spPr bwMode="auto">
            <a:xfrm>
              <a:off x="2256" y="1920"/>
              <a:ext cx="1211"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Questioner / </a:t>
              </a:r>
              <a:b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Punisher</a:t>
              </a:r>
            </a:p>
          </p:txBody>
        </p:sp>
        <p:sp>
          <p:nvSpPr>
            <p:cNvPr id="11" name="Text Box 13"/>
            <p:cNvSpPr txBox="1">
              <a:spLocks noChangeArrowheads="1"/>
            </p:cNvSpPr>
            <p:nvPr/>
          </p:nvSpPr>
          <p:spPr bwMode="auto">
            <a:xfrm>
              <a:off x="1968" y="3082"/>
              <a:ext cx="1788" cy="674"/>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Responder</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(inside the booth,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giving staged answers and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getting “staged” shocks)</a:t>
              </a:r>
            </a:p>
          </p:txBody>
        </p:sp>
        <p:cxnSp>
          <p:nvCxnSpPr>
            <p:cNvPr id="14" name="AutoShape 15"/>
            <p:cNvCxnSpPr>
              <a:cxnSpLocks noChangeShapeType="1"/>
              <a:stCxn id="10" idx="2"/>
              <a:endCxn id="11" idx="0"/>
            </p:cNvCxnSpPr>
            <p:nvPr/>
          </p:nvCxnSpPr>
          <p:spPr bwMode="auto">
            <a:xfrm>
              <a:off x="2862" y="2286"/>
              <a:ext cx="0" cy="796"/>
            </a:xfrm>
            <a:prstGeom prst="straightConnector1">
              <a:avLst/>
            </a:prstGeom>
            <a:grpFill/>
            <a:ln w="25400">
              <a:solidFill>
                <a:srgbClr val="000000"/>
              </a:solidFill>
              <a:round/>
              <a:headEnd/>
              <a:tailEnd/>
            </a:ln>
            <a:extLst/>
          </p:spPr>
        </p:cxnSp>
        <p:cxnSp>
          <p:nvCxnSpPr>
            <p:cNvPr id="15" name="AutoShape 18"/>
            <p:cNvCxnSpPr>
              <a:cxnSpLocks noChangeShapeType="1"/>
              <a:stCxn id="7" idx="2"/>
              <a:endCxn id="10" idx="0"/>
            </p:cNvCxnSpPr>
            <p:nvPr/>
          </p:nvCxnSpPr>
          <p:spPr bwMode="auto">
            <a:xfrm>
              <a:off x="2860" y="1182"/>
              <a:ext cx="2" cy="738"/>
            </a:xfrm>
            <a:prstGeom prst="straightConnector1">
              <a:avLst/>
            </a:prstGeom>
            <a:grpFill/>
            <a:ln w="25400">
              <a:solidFill>
                <a:srgbClr val="000000"/>
              </a:solidFill>
              <a:round/>
              <a:headEnd/>
              <a:tailEnd/>
            </a:ln>
            <a:extLst/>
          </p:spPr>
        </p:cxnSp>
      </p:grpSp>
      <p:sp>
        <p:nvSpPr>
          <p:cNvPr id="16" name="Rectangle 3"/>
          <p:cNvSpPr txBox="1">
            <a:spLocks noChangeArrowheads="1"/>
          </p:cNvSpPr>
          <p:nvPr/>
        </p:nvSpPr>
        <p:spPr>
          <a:xfrm>
            <a:off x="3557586" y="3243072"/>
            <a:ext cx="5053013" cy="2865119"/>
          </a:xfrm>
          <a:prstGeom prst="rect">
            <a:avLst/>
          </a:prstGeom>
          <a:solidFill>
            <a:srgbClr val="000000"/>
          </a:solidFill>
          <a:ln>
            <a:solidFill>
              <a:schemeClr val="tx1"/>
            </a:solidFill>
            <a:miter lim="800000"/>
            <a:headEnd/>
            <a:tailEnd/>
          </a:ln>
        </p:spPr>
        <p:txBody>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a:lnSpc>
                <a:spcPct val="90000"/>
              </a:lnSpc>
              <a:buClr>
                <a:srgbClr val="000000"/>
              </a:buClr>
              <a:buFont typeface="Wingdings" pitchFamily="2" charset="2"/>
              <a:buNone/>
            </a:pPr>
            <a:r>
              <a:rPr lang="en-US" altLang="en-US" sz="2000" b="1" kern="0" dirty="0" smtClean="0">
                <a:solidFill>
                  <a:schemeClr val="bg1"/>
                </a:solidFill>
                <a:latin typeface="Arial" panose="020B0604020202020204" pitchFamily="34" charset="0"/>
              </a:rPr>
              <a:t>Position of Authority:</a:t>
            </a:r>
          </a:p>
          <a:p>
            <a:pPr marL="360000" indent="-360000">
              <a:lnSpc>
                <a:spcPct val="90000"/>
              </a:lnSpc>
              <a:spcBef>
                <a:spcPts val="0"/>
              </a:spcBef>
              <a:buClrTx/>
              <a:buFont typeface="Wingdings" panose="05000000000000000000" pitchFamily="2" charset="2"/>
              <a:buChar char="Ø"/>
            </a:pPr>
            <a:r>
              <a:rPr lang="en-US" altLang="en-US" sz="2000" b="1" kern="0" dirty="0" smtClean="0">
                <a:solidFill>
                  <a:schemeClr val="bg1"/>
                </a:solidFill>
                <a:latin typeface="Arial" panose="020B0604020202020204" pitchFamily="34" charset="0"/>
              </a:rPr>
              <a:t>In the context of the model of the Line Management so typical for almost every organization, what is the one main finding (conclusion) that we can draw from The Milgram Experiment?</a:t>
            </a:r>
          </a:p>
        </p:txBody>
      </p:sp>
      <p:sp>
        <p:nvSpPr>
          <p:cNvPr id="17" name="Rectangle 3"/>
          <p:cNvSpPr txBox="1">
            <a:spLocks noChangeArrowheads="1"/>
          </p:cNvSpPr>
          <p:nvPr/>
        </p:nvSpPr>
        <p:spPr>
          <a:xfrm>
            <a:off x="3557586" y="826008"/>
            <a:ext cx="5053014" cy="2310192"/>
          </a:xfrm>
          <a:prstGeom prst="rect">
            <a:avLst/>
          </a:prstGeom>
          <a:solidFill>
            <a:schemeClr val="bg1">
              <a:alpha val="70195"/>
            </a:schemeClr>
          </a:solidFill>
          <a:ln>
            <a:solidFill>
              <a:srgbClr val="000000"/>
            </a:solidFill>
            <a:miter lim="800000"/>
            <a:headEnd/>
            <a:tailEnd/>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lnSpc>
                <a:spcPct val="90000"/>
              </a:lnSpc>
              <a:buClr>
                <a:srgbClr val="000000"/>
              </a:buClr>
              <a:buFont typeface="Wingdings" panose="05000000000000000000" pitchFamily="2" charset="2"/>
              <a:buNone/>
            </a:pPr>
            <a:r>
              <a:rPr lang="en-US" altLang="en-US" sz="1400" b="1" cap="none" dirty="0" smtClean="0">
                <a:solidFill>
                  <a:srgbClr val="1C1C1C"/>
                </a:solidFill>
                <a:latin typeface="Arial" panose="020B0604020202020204" pitchFamily="34" charset="0"/>
              </a:rPr>
              <a:t>Position of Authority:</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under what conditions would a person obey authority, who commanded actions that went against conscience?” Stanley Milgram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People will do things despite conscience, ethics, values, policies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a “state of conflict” that they can excuse themselves of by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 deferring to the higher authority and a diffusion of responsibility.</a:t>
            </a:r>
          </a:p>
        </p:txBody>
      </p:sp>
    </p:spTree>
    <p:extLst>
      <p:ext uri="{BB962C8B-B14F-4D97-AF65-F5344CB8AC3E}">
        <p14:creationId xmlns:p14="http://schemas.microsoft.com/office/powerpoint/2010/main" val="153894811"/>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The Key Finding from the Milgram Experiments: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18"/>
          <p:cNvGrpSpPr>
            <a:grpSpLocks/>
          </p:cNvGrpSpPr>
          <p:nvPr/>
        </p:nvGrpSpPr>
        <p:grpSpPr bwMode="auto">
          <a:xfrm>
            <a:off x="590550" y="1219200"/>
            <a:ext cx="2838450" cy="4667250"/>
            <a:chOff x="1968" y="816"/>
            <a:chExt cx="1788" cy="2940"/>
          </a:xfrm>
          <a:solidFill>
            <a:srgbClr val="009900"/>
          </a:solidFill>
        </p:grpSpPr>
        <p:sp>
          <p:nvSpPr>
            <p:cNvPr id="7" name="Text Box 10"/>
            <p:cNvSpPr txBox="1">
              <a:spLocks noChangeArrowheads="1"/>
            </p:cNvSpPr>
            <p:nvPr/>
          </p:nvSpPr>
          <p:spPr bwMode="auto">
            <a:xfrm>
              <a:off x="2216" y="816"/>
              <a:ext cx="1288"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continue”</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unseen voice)</a:t>
              </a:r>
            </a:p>
          </p:txBody>
        </p:sp>
        <p:sp>
          <p:nvSpPr>
            <p:cNvPr id="10" name="Text Box 11"/>
            <p:cNvSpPr txBox="1">
              <a:spLocks noChangeArrowheads="1"/>
            </p:cNvSpPr>
            <p:nvPr/>
          </p:nvSpPr>
          <p:spPr bwMode="auto">
            <a:xfrm>
              <a:off x="2256" y="1920"/>
              <a:ext cx="1211" cy="366"/>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Questioner / </a:t>
              </a:r>
              <a:b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Punisher</a:t>
              </a:r>
            </a:p>
          </p:txBody>
        </p:sp>
        <p:sp>
          <p:nvSpPr>
            <p:cNvPr id="11" name="Text Box 13"/>
            <p:cNvSpPr txBox="1">
              <a:spLocks noChangeArrowheads="1"/>
            </p:cNvSpPr>
            <p:nvPr/>
          </p:nvSpPr>
          <p:spPr bwMode="auto">
            <a:xfrm>
              <a:off x="1968" y="3082"/>
              <a:ext cx="1788" cy="674"/>
            </a:xfrm>
            <a:prstGeom prst="rect">
              <a:avLst/>
            </a:prstGeom>
            <a:grpFill/>
            <a:ln>
              <a:noFill/>
            </a:ln>
            <a:effectLst>
              <a:outerShdw dist="107763" dir="2700000" algn="ctr" rotWithShape="0">
                <a:srgbClr val="80808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Responder</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(inside the booth,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giving staged answers and </a:t>
              </a:r>
              <a:b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600" b="1" i="0" u="none" strike="noStrike" kern="1200" cap="none" spc="0" normalizeH="0" baseline="0" noProof="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getting “staged” shocks)</a:t>
              </a:r>
            </a:p>
          </p:txBody>
        </p:sp>
        <p:cxnSp>
          <p:nvCxnSpPr>
            <p:cNvPr id="14" name="AutoShape 15"/>
            <p:cNvCxnSpPr>
              <a:cxnSpLocks noChangeShapeType="1"/>
              <a:stCxn id="10" idx="2"/>
              <a:endCxn id="11" idx="0"/>
            </p:cNvCxnSpPr>
            <p:nvPr/>
          </p:nvCxnSpPr>
          <p:spPr bwMode="auto">
            <a:xfrm>
              <a:off x="2862" y="2286"/>
              <a:ext cx="0" cy="796"/>
            </a:xfrm>
            <a:prstGeom prst="straightConnector1">
              <a:avLst/>
            </a:prstGeom>
            <a:grpFill/>
            <a:ln w="25400">
              <a:solidFill>
                <a:srgbClr val="000000"/>
              </a:solidFill>
              <a:round/>
              <a:headEnd/>
              <a:tailEnd/>
            </a:ln>
            <a:extLst/>
          </p:spPr>
        </p:cxnSp>
        <p:cxnSp>
          <p:nvCxnSpPr>
            <p:cNvPr id="15" name="AutoShape 18"/>
            <p:cNvCxnSpPr>
              <a:cxnSpLocks noChangeShapeType="1"/>
              <a:stCxn id="7" idx="2"/>
              <a:endCxn id="10" idx="0"/>
            </p:cNvCxnSpPr>
            <p:nvPr/>
          </p:nvCxnSpPr>
          <p:spPr bwMode="auto">
            <a:xfrm>
              <a:off x="2860" y="1182"/>
              <a:ext cx="2" cy="738"/>
            </a:xfrm>
            <a:prstGeom prst="straightConnector1">
              <a:avLst/>
            </a:prstGeom>
            <a:grpFill/>
            <a:ln w="25400">
              <a:solidFill>
                <a:srgbClr val="000000"/>
              </a:solidFill>
              <a:round/>
              <a:headEnd/>
              <a:tailEnd/>
            </a:ln>
            <a:extLst/>
          </p:spPr>
        </p:cxnSp>
      </p:grpSp>
      <p:sp>
        <p:nvSpPr>
          <p:cNvPr id="16" name="Rectangle 3"/>
          <p:cNvSpPr txBox="1">
            <a:spLocks noChangeArrowheads="1"/>
          </p:cNvSpPr>
          <p:nvPr/>
        </p:nvSpPr>
        <p:spPr>
          <a:xfrm>
            <a:off x="3557586" y="3243072"/>
            <a:ext cx="5053013" cy="2865119"/>
          </a:xfrm>
          <a:prstGeom prst="rect">
            <a:avLst/>
          </a:prstGeom>
          <a:solidFill>
            <a:srgbClr val="000000"/>
          </a:solidFill>
          <a:ln>
            <a:solidFill>
              <a:srgbClr val="000000"/>
            </a:solidFill>
            <a:miter lim="800000"/>
            <a:headEnd/>
            <a:tailEnd/>
          </a:ln>
        </p:spPr>
        <p:txBody>
          <a:bodyPr/>
          <a:lst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a:lstStyle>
          <a:p>
            <a:pPr>
              <a:lnSpc>
                <a:spcPct val="90000"/>
              </a:lnSpc>
              <a:buClr>
                <a:srgbClr val="000000"/>
              </a:buClr>
              <a:buFont typeface="Wingdings" pitchFamily="2" charset="2"/>
              <a:buNone/>
            </a:pPr>
            <a:r>
              <a:rPr lang="en-US" altLang="en-US" sz="2000" b="1" kern="0" dirty="0" smtClean="0">
                <a:solidFill>
                  <a:schemeClr val="bg1"/>
                </a:solidFill>
                <a:latin typeface="Arial" panose="020B0604020202020204" pitchFamily="34" charset="0"/>
              </a:rPr>
              <a:t>Position of Authority:</a:t>
            </a:r>
          </a:p>
          <a:p>
            <a:pPr>
              <a:lnSpc>
                <a:spcPct val="90000"/>
              </a:lnSpc>
              <a:buClr>
                <a:srgbClr val="000000"/>
              </a:buClr>
              <a:buFont typeface="Wingdings" pitchFamily="2" charset="2"/>
              <a:buNone/>
            </a:pPr>
            <a:r>
              <a:rPr lang="en-US" altLang="en-US" sz="2000" b="1" kern="0" dirty="0" smtClean="0">
                <a:solidFill>
                  <a:schemeClr val="bg1"/>
                </a:solidFill>
                <a:latin typeface="Arial" panose="020B0604020202020204" pitchFamily="34" charset="0"/>
              </a:rPr>
              <a:t>We find and conclude that … </a:t>
            </a:r>
          </a:p>
          <a:p>
            <a:pPr>
              <a:lnSpc>
                <a:spcPct val="90000"/>
              </a:lnSpc>
              <a:buClrTx/>
              <a:buFont typeface="Wingdings" pitchFamily="2" charset="2"/>
              <a:buChar char="Ø"/>
            </a:pPr>
            <a:r>
              <a:rPr lang="en-US" altLang="en-US" sz="2000" b="0" kern="0" dirty="0" smtClean="0">
                <a:solidFill>
                  <a:schemeClr val="bg1"/>
                </a:solidFill>
                <a:latin typeface="Arial" panose="020B0604020202020204" pitchFamily="34" charset="0"/>
              </a:rPr>
              <a:t>Position of authority leads to</a:t>
            </a:r>
            <a:br>
              <a:rPr lang="en-US" altLang="en-US" sz="2000" b="0" kern="0" dirty="0" smtClean="0">
                <a:solidFill>
                  <a:schemeClr val="bg1"/>
                </a:solidFill>
                <a:latin typeface="Arial" panose="020B0604020202020204" pitchFamily="34" charset="0"/>
              </a:rPr>
            </a:br>
            <a:r>
              <a:rPr lang="en-US" altLang="en-US" sz="2000" b="0" kern="0" dirty="0" smtClean="0">
                <a:solidFill>
                  <a:schemeClr val="bg1"/>
                </a:solidFill>
                <a:latin typeface="Arial" panose="020B0604020202020204" pitchFamily="34" charset="0"/>
              </a:rPr>
              <a:t>“obedience to authority” ...</a:t>
            </a:r>
          </a:p>
          <a:p>
            <a:pPr>
              <a:lnSpc>
                <a:spcPct val="90000"/>
              </a:lnSpc>
              <a:buClrTx/>
              <a:buFont typeface="Wingdings" pitchFamily="2" charset="2"/>
              <a:buChar char="Ø"/>
            </a:pPr>
            <a:r>
              <a:rPr lang="en-US" altLang="en-US" sz="2000" b="0" kern="0" dirty="0" smtClean="0">
                <a:solidFill>
                  <a:schemeClr val="bg1"/>
                </a:solidFill>
                <a:latin typeface="Arial" panose="020B0604020202020204" pitchFamily="34" charset="0"/>
              </a:rPr>
              <a:t>The KEY LESSON for you …</a:t>
            </a:r>
            <a:br>
              <a:rPr lang="en-US" altLang="en-US" sz="2000" b="0" kern="0" dirty="0" smtClean="0">
                <a:solidFill>
                  <a:schemeClr val="bg1"/>
                </a:solidFill>
                <a:latin typeface="Arial" panose="020B0604020202020204" pitchFamily="34" charset="0"/>
              </a:rPr>
            </a:br>
            <a:r>
              <a:rPr lang="en-US" altLang="en-US" sz="2000" b="0" kern="0" dirty="0" smtClean="0">
                <a:solidFill>
                  <a:schemeClr val="bg1"/>
                </a:solidFill>
                <a:latin typeface="Arial" panose="020B0604020202020204" pitchFamily="34" charset="0"/>
              </a:rPr>
              <a:t/>
            </a:r>
            <a:br>
              <a:rPr lang="en-US" altLang="en-US" sz="2000" b="0" kern="0" dirty="0" smtClean="0">
                <a:solidFill>
                  <a:schemeClr val="bg1"/>
                </a:solidFill>
                <a:latin typeface="Arial" panose="020B0604020202020204" pitchFamily="34" charset="0"/>
              </a:rPr>
            </a:br>
            <a:r>
              <a:rPr lang="en-US" altLang="en-US" sz="2000" b="1" kern="0" dirty="0" smtClean="0">
                <a:solidFill>
                  <a:schemeClr val="bg1"/>
                </a:solidFill>
                <a:latin typeface="Arial" panose="020B0604020202020204" pitchFamily="34" charset="0"/>
              </a:rPr>
              <a:t>A supervisor carries an incredible amount of influence, something that must be exercised </a:t>
            </a:r>
            <a:r>
              <a:rPr lang="en-US" altLang="en-US" sz="2000" b="1" u="sng" kern="0" dirty="0" smtClean="0">
                <a:solidFill>
                  <a:schemeClr val="bg1"/>
                </a:solidFill>
                <a:latin typeface="Arial" panose="020B0604020202020204" pitchFamily="34" charset="0"/>
              </a:rPr>
              <a:t>very responsibly</a:t>
            </a:r>
            <a:r>
              <a:rPr lang="en-US" altLang="en-US" sz="2000" b="1" kern="0" dirty="0" smtClean="0">
                <a:solidFill>
                  <a:schemeClr val="bg1"/>
                </a:solidFill>
                <a:latin typeface="Arial" panose="020B0604020202020204" pitchFamily="34" charset="0"/>
              </a:rPr>
              <a:t>. </a:t>
            </a:r>
          </a:p>
        </p:txBody>
      </p:sp>
      <p:sp>
        <p:nvSpPr>
          <p:cNvPr id="17" name="Rectangle 3"/>
          <p:cNvSpPr txBox="1">
            <a:spLocks noChangeArrowheads="1"/>
          </p:cNvSpPr>
          <p:nvPr/>
        </p:nvSpPr>
        <p:spPr>
          <a:xfrm>
            <a:off x="3557586" y="826008"/>
            <a:ext cx="5053014" cy="2310192"/>
          </a:xfrm>
          <a:prstGeom prst="rect">
            <a:avLst/>
          </a:prstGeom>
          <a:solidFill>
            <a:schemeClr val="bg1">
              <a:alpha val="70195"/>
            </a:schemeClr>
          </a:solidFill>
          <a:ln>
            <a:solidFill>
              <a:srgbClr val="000000"/>
            </a:solidFill>
            <a:miter lim="800000"/>
            <a:headEnd/>
            <a:tailEnd/>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lnSpc>
                <a:spcPct val="90000"/>
              </a:lnSpc>
              <a:buClr>
                <a:srgbClr val="000000"/>
              </a:buClr>
              <a:buFont typeface="Wingdings" panose="05000000000000000000" pitchFamily="2" charset="2"/>
              <a:buNone/>
            </a:pPr>
            <a:r>
              <a:rPr lang="en-US" altLang="en-US" sz="1400" b="1" cap="none" dirty="0" smtClean="0">
                <a:solidFill>
                  <a:srgbClr val="1C1C1C"/>
                </a:solidFill>
                <a:latin typeface="Arial" panose="020B0604020202020204" pitchFamily="34" charset="0"/>
              </a:rPr>
              <a:t>Position of Authority:</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under what conditions would a person obey authority, who commanded actions that went against conscience?” Stanley Milgram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People will do things despite conscience, ethics, values, policies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a “state of conflict” that they can excuse themselves of by …</a:t>
            </a:r>
          </a:p>
          <a:p>
            <a:pPr>
              <a:lnSpc>
                <a:spcPct val="90000"/>
              </a:lnSpc>
              <a:buClr>
                <a:srgbClr val="000000"/>
              </a:buClr>
              <a:buFont typeface="Wingdings" panose="05000000000000000000" pitchFamily="2" charset="2"/>
              <a:buChar char="Ø"/>
            </a:pPr>
            <a:r>
              <a:rPr lang="en-US" altLang="en-US" sz="1400" cap="none" dirty="0" smtClean="0">
                <a:solidFill>
                  <a:srgbClr val="1C1C1C"/>
                </a:solidFill>
                <a:latin typeface="Arial" panose="020B0604020202020204" pitchFamily="34" charset="0"/>
              </a:rPr>
              <a:t> … deferring to the higher authority and a diffusion of responsibility.</a:t>
            </a:r>
          </a:p>
        </p:txBody>
      </p:sp>
    </p:spTree>
    <p:extLst>
      <p:ext uri="{BB962C8B-B14F-4D97-AF65-F5344CB8AC3E}">
        <p14:creationId xmlns:p14="http://schemas.microsoft.com/office/powerpoint/2010/main" val="182943899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Three Key Relationships In Your Career</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Relative Positions 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Authority as defined by the Line Management Model:</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Your Three Key Relationships In Your </a:t>
            </a:r>
            <a:r>
              <a:rPr lang="en-US" altLang="en-US" sz="2400" b="0" dirty="0" smtClean="0">
                <a:solidFill>
                  <a:schemeClr val="accent2"/>
                </a:solidFill>
                <a:latin typeface="Arial" panose="020B0604020202020204" pitchFamily="34" charset="0"/>
                <a:ea typeface="+mj-ea"/>
                <a:cs typeface="Arial" panose="020B0604020202020204" pitchFamily="34" charset="0"/>
              </a:rPr>
              <a:t>Career:</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5"/>
          <p:cNvGrpSpPr/>
          <p:nvPr/>
        </p:nvGrpSpPr>
        <p:grpSpPr>
          <a:xfrm>
            <a:off x="3057525" y="2133600"/>
            <a:ext cx="5324475" cy="3295650"/>
            <a:chOff x="3184525" y="2047875"/>
            <a:chExt cx="5324475" cy="3295650"/>
          </a:xfrm>
        </p:grpSpPr>
        <p:grpSp>
          <p:nvGrpSpPr>
            <p:cNvPr id="7" name="Group 7"/>
            <p:cNvGrpSpPr>
              <a:grpSpLocks/>
            </p:cNvGrpSpPr>
            <p:nvPr/>
          </p:nvGrpSpPr>
          <p:grpSpPr bwMode="auto">
            <a:xfrm>
              <a:off x="3184525" y="2047875"/>
              <a:ext cx="5324475" cy="3295650"/>
              <a:chOff x="2006" y="1290"/>
              <a:chExt cx="3354" cy="2076"/>
            </a:xfrm>
          </p:grpSpPr>
          <p:sp>
            <p:nvSpPr>
              <p:cNvPr id="15" name="Rectangle 8"/>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6" name="Rectangle 9"/>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sp>
            <p:nvSpPr>
              <p:cNvPr id="17" name="Rectangle 10"/>
              <p:cNvSpPr>
                <a:spLocks noChangeArrowheads="1"/>
              </p:cNvSpPr>
              <p:nvPr/>
            </p:nvSpPr>
            <p:spPr bwMode="auto">
              <a:xfrm>
                <a:off x="4224" y="2160"/>
                <a:ext cx="113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Peers</a:t>
                </a:r>
              </a:p>
            </p:txBody>
          </p:sp>
          <p:cxnSp>
            <p:nvCxnSpPr>
              <p:cNvPr id="18" name="AutoShape 11"/>
              <p:cNvCxnSpPr>
                <a:cxnSpLocks noChangeShapeType="1"/>
                <a:stCxn id="15" idx="2"/>
                <a:endCxn id="16"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9" name="AutoShape 12"/>
              <p:cNvCxnSpPr>
                <a:cxnSpLocks noChangeShapeType="1"/>
                <a:stCxn id="16" idx="2"/>
                <a:endCxn id="23"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0" name="AutoShape 13"/>
              <p:cNvCxnSpPr>
                <a:cxnSpLocks noChangeShapeType="1"/>
                <a:stCxn id="16" idx="2"/>
                <a:endCxn id="23"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1" name="AutoShape 14"/>
              <p:cNvCxnSpPr>
                <a:cxnSpLocks noChangeShapeType="1"/>
                <a:stCxn id="16" idx="2"/>
                <a:endCxn id="23"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2" name="AutoShape 15"/>
              <p:cNvCxnSpPr>
                <a:cxnSpLocks noChangeShapeType="1"/>
                <a:stCxn id="17" idx="1"/>
                <a:endCxn id="16" idx="3"/>
              </p:cNvCxnSpPr>
              <p:nvPr/>
            </p:nvCxnSpPr>
            <p:spPr bwMode="auto">
              <a:xfrm flipH="1">
                <a:off x="3806" y="2307"/>
                <a:ext cx="418" cy="0"/>
              </a:xfrm>
              <a:prstGeom prst="straightConnector1">
                <a:avLst/>
              </a:prstGeom>
              <a:noFill/>
              <a:ln w="508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23" name="Rectangle 16"/>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The People That Work For You</a:t>
                </a:r>
              </a:p>
            </p:txBody>
          </p:sp>
        </p:grpSp>
        <p:sp>
          <p:nvSpPr>
            <p:cNvPr id="10" name="AutoShape 18"/>
            <p:cNvSpPr>
              <a:spLocks noChangeArrowheads="1"/>
            </p:cNvSpPr>
            <p:nvPr/>
          </p:nvSpPr>
          <p:spPr bwMode="auto">
            <a:xfrm>
              <a:off x="5307013" y="2590800"/>
              <a:ext cx="381000" cy="762000"/>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11" name="AutoShape 20"/>
            <p:cNvSpPr>
              <a:spLocks noChangeArrowheads="1"/>
            </p:cNvSpPr>
            <p:nvPr/>
          </p:nvSpPr>
          <p:spPr bwMode="auto">
            <a:xfrm>
              <a:off x="5307013" y="4038600"/>
              <a:ext cx="381000" cy="762000"/>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14" name="AutoShape 17"/>
            <p:cNvSpPr>
              <a:spLocks noChangeArrowheads="1"/>
            </p:cNvSpPr>
            <p:nvPr/>
          </p:nvSpPr>
          <p:spPr bwMode="auto">
            <a:xfrm rot="5400000">
              <a:off x="6134229" y="3334545"/>
              <a:ext cx="479165" cy="663576"/>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grpSp>
      <p:pic>
        <p:nvPicPr>
          <p:cNvPr id="2" name="Picture 1"/>
          <p:cNvPicPr>
            <a:picLocks noChangeAspect="1"/>
          </p:cNvPicPr>
          <p:nvPr/>
        </p:nvPicPr>
        <p:blipFill>
          <a:blip r:embed="rId3"/>
          <a:stretch>
            <a:fillRect/>
          </a:stretch>
        </p:blipFill>
        <p:spPr>
          <a:xfrm>
            <a:off x="372672" y="2952328"/>
            <a:ext cx="2345616" cy="1591520"/>
          </a:xfrm>
          <a:prstGeom prst="rect">
            <a:avLst/>
          </a:prstGeom>
        </p:spPr>
      </p:pic>
      <p:sp>
        <p:nvSpPr>
          <p:cNvPr id="3" name="Double Brace 2"/>
          <p:cNvSpPr/>
          <p:nvPr/>
        </p:nvSpPr>
        <p:spPr>
          <a:xfrm>
            <a:off x="2700000" y="1828800"/>
            <a:ext cx="6113400" cy="3733800"/>
          </a:xfrm>
          <a:prstGeom prst="bracePair">
            <a:avLst>
              <a:gd name="adj" fmla="val 6129"/>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08328572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7"/>
          <p:cNvGrpSpPr>
            <a:grpSpLocks/>
          </p:cNvGrpSpPr>
          <p:nvPr/>
        </p:nvGrpSpPr>
        <p:grpSpPr bwMode="auto">
          <a:xfrm>
            <a:off x="3184525" y="2495550"/>
            <a:ext cx="5324475" cy="3295650"/>
            <a:chOff x="2006" y="1290"/>
            <a:chExt cx="3354" cy="2076"/>
          </a:xfrm>
        </p:grpSpPr>
        <p:sp>
          <p:nvSpPr>
            <p:cNvPr id="7" name="Rectangle 8"/>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0" name="Rectangle 9"/>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sp>
          <p:nvSpPr>
            <p:cNvPr id="11" name="Rectangle 10"/>
            <p:cNvSpPr>
              <a:spLocks noChangeArrowheads="1"/>
            </p:cNvSpPr>
            <p:nvPr/>
          </p:nvSpPr>
          <p:spPr bwMode="auto">
            <a:xfrm>
              <a:off x="4224" y="2160"/>
              <a:ext cx="113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Peers</a:t>
              </a:r>
            </a:p>
          </p:txBody>
        </p:sp>
        <p:cxnSp>
          <p:nvCxnSpPr>
            <p:cNvPr id="14" name="AutoShape 11"/>
            <p:cNvCxnSpPr>
              <a:cxnSpLocks noChangeShapeType="1"/>
              <a:stCxn id="7" idx="2"/>
              <a:endCxn id="10"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5" name="AutoShape 12"/>
            <p:cNvCxnSpPr>
              <a:cxnSpLocks noChangeShapeType="1"/>
              <a:stCxn id="10" idx="2"/>
              <a:endCxn id="19"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6" name="AutoShape 13"/>
            <p:cNvCxnSpPr>
              <a:cxnSpLocks noChangeShapeType="1"/>
              <a:stCxn id="10" idx="2"/>
              <a:endCxn id="19"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7" name="AutoShape 14"/>
            <p:cNvCxnSpPr>
              <a:cxnSpLocks noChangeShapeType="1"/>
              <a:stCxn id="10" idx="2"/>
              <a:endCxn id="19"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8" name="AutoShape 15"/>
            <p:cNvCxnSpPr>
              <a:cxnSpLocks noChangeShapeType="1"/>
              <a:stCxn id="11" idx="1"/>
              <a:endCxn id="10" idx="3"/>
            </p:cNvCxnSpPr>
            <p:nvPr/>
          </p:nvCxnSpPr>
          <p:spPr bwMode="auto">
            <a:xfrm flipH="1">
              <a:off x="3806" y="2307"/>
              <a:ext cx="418" cy="0"/>
            </a:xfrm>
            <a:prstGeom prst="straightConnector1">
              <a:avLst/>
            </a:prstGeom>
            <a:noFill/>
            <a:ln w="508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19" name="Rectangle 16"/>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The People That Work For You</a:t>
              </a:r>
            </a:p>
          </p:txBody>
        </p:sp>
      </p:grpSp>
      <p:sp>
        <p:nvSpPr>
          <p:cNvPr id="20" name="Text Box 32"/>
          <p:cNvSpPr txBox="1">
            <a:spLocks noChangeArrowheads="1"/>
          </p:cNvSpPr>
          <p:nvPr/>
        </p:nvSpPr>
        <p:spPr bwMode="auto">
          <a:xfrm>
            <a:off x="455612" y="1178972"/>
            <a:ext cx="8226425" cy="1207231"/>
          </a:xfrm>
          <a:prstGeom prst="rect">
            <a:avLst/>
          </a:prstGeom>
          <a:solidFill>
            <a:schemeClr val="tx1"/>
          </a:solidFill>
          <a:ln>
            <a:solidFill>
              <a:schemeClr val="tx1"/>
            </a:solidFill>
            <a:miter lim="800000"/>
            <a:headEnd/>
            <a:tailEnd/>
          </a:ln>
        </p:spPr>
        <p:txBody>
          <a:bodyPr vert="horz" lIns="91440" tIns="45720" rIns="91440" bIns="45720" rtlCol="0">
            <a:normAutofit/>
          </a:bodyPr>
          <a:lstStyle>
            <a:defPPr>
              <a:defRPr lang="en-US"/>
            </a:defPPr>
            <a:lvl1pPr indent="0" defTabSz="914400">
              <a:lnSpc>
                <a:spcPct val="90000"/>
              </a:lnSpc>
              <a:spcBef>
                <a:spcPts val="1000"/>
              </a:spcBef>
              <a:buClr>
                <a:srgbClr val="000000"/>
              </a:buClr>
              <a:buSzTx/>
              <a:buFont typeface="Wingdings" panose="05000000000000000000" pitchFamily="2" charset="2"/>
              <a:buNone/>
              <a:defRPr sz="2000" b="0" i="1" cap="none" baseline="0">
                <a:solidFill>
                  <a:schemeClr val="bg1"/>
                </a:solidFill>
                <a:effectLst/>
                <a:latin typeface="Arial" panose="020B0604020202020204" pitchFamily="34" charset="0"/>
              </a:defRPr>
            </a:lvl1pPr>
            <a:lvl2pPr marL="685800" indent="-228600" defTabSz="914400">
              <a:lnSpc>
                <a:spcPct val="120000"/>
              </a:lnSpc>
              <a:spcBef>
                <a:spcPts val="500"/>
              </a:spcBef>
              <a:buClr>
                <a:schemeClr val="tx1"/>
              </a:buClr>
              <a:buFont typeface="Arial" panose="020B0604020202020204" pitchFamily="34" charset="0"/>
              <a:buChar char="•"/>
              <a:defRPr cap="all" baseline="0">
                <a:effectLst/>
              </a:defRPr>
            </a:lvl2pPr>
            <a:lvl3pPr marL="1143000" indent="-228600" defTabSz="914400">
              <a:lnSpc>
                <a:spcPct val="120000"/>
              </a:lnSpc>
              <a:spcBef>
                <a:spcPts val="500"/>
              </a:spcBef>
              <a:buClr>
                <a:schemeClr val="tx1"/>
              </a:buClr>
              <a:buFont typeface="Arial" panose="020B0604020202020204" pitchFamily="34" charset="0"/>
              <a:buChar char="•"/>
              <a:defRPr sz="1600" cap="all" baseline="0">
                <a:effectLst/>
              </a:defRPr>
            </a:lvl3pPr>
            <a:lvl4pPr marL="1600200" indent="-228600" defTabSz="914400">
              <a:lnSpc>
                <a:spcPct val="120000"/>
              </a:lnSpc>
              <a:spcBef>
                <a:spcPts val="500"/>
              </a:spcBef>
              <a:buClr>
                <a:schemeClr val="tx1"/>
              </a:buClr>
              <a:buFont typeface="Arial" panose="020B0604020202020204" pitchFamily="34" charset="0"/>
              <a:buChar char="•"/>
              <a:defRPr sz="1400" cap="all" baseline="0">
                <a:effectLst/>
              </a:defRPr>
            </a:lvl4pPr>
            <a:lvl5pPr marL="2057400" indent="-228600" defTabSz="914400">
              <a:lnSpc>
                <a:spcPct val="120000"/>
              </a:lnSpc>
              <a:spcBef>
                <a:spcPts val="500"/>
              </a:spcBef>
              <a:buClr>
                <a:schemeClr val="tx1"/>
              </a:buClr>
              <a:buFont typeface="Arial" panose="020B0604020202020204" pitchFamily="34" charset="0"/>
              <a:buChar char="•"/>
              <a:defRPr sz="1400" cap="all" baseline="0">
                <a:effectLst/>
              </a:defRPr>
            </a:lvl5pPr>
            <a:lvl6pPr marL="2514600" indent="-228600" defTabSz="914400">
              <a:lnSpc>
                <a:spcPct val="120000"/>
              </a:lnSpc>
              <a:spcBef>
                <a:spcPts val="500"/>
              </a:spcBef>
              <a:buClr>
                <a:schemeClr val="tx1"/>
              </a:buClr>
              <a:buFont typeface="Arial" panose="020B0604020202020204" pitchFamily="34" charset="0"/>
              <a:buChar char="•"/>
              <a:defRPr sz="1400" cap="all" baseline="0">
                <a:effectLst/>
              </a:defRPr>
            </a:lvl6pPr>
            <a:lvl7pPr marL="2971800" indent="-228600" defTabSz="914400">
              <a:lnSpc>
                <a:spcPct val="120000"/>
              </a:lnSpc>
              <a:spcBef>
                <a:spcPts val="500"/>
              </a:spcBef>
              <a:buClr>
                <a:schemeClr val="tx1"/>
              </a:buClr>
              <a:buFont typeface="Arial" panose="020B0604020202020204" pitchFamily="34" charset="0"/>
              <a:buChar char="•"/>
              <a:defRPr sz="1400" cap="all" baseline="0">
                <a:effectLst/>
              </a:defRPr>
            </a:lvl7pPr>
            <a:lvl8pPr marL="3429000" indent="-228600" defTabSz="914400">
              <a:lnSpc>
                <a:spcPct val="120000"/>
              </a:lnSpc>
              <a:spcBef>
                <a:spcPts val="500"/>
              </a:spcBef>
              <a:buClr>
                <a:schemeClr val="tx1"/>
              </a:buClr>
              <a:buFont typeface="Arial" panose="020B0604020202020204" pitchFamily="34" charset="0"/>
              <a:buChar char="•"/>
              <a:defRPr sz="1400" cap="all" baseline="0">
                <a:effectLst/>
              </a:defRPr>
            </a:lvl8pPr>
            <a:lvl9pPr marL="3886200" indent="-228600" defTabSz="914400">
              <a:lnSpc>
                <a:spcPct val="120000"/>
              </a:lnSpc>
              <a:spcBef>
                <a:spcPts val="500"/>
              </a:spcBef>
              <a:buClr>
                <a:schemeClr val="tx1"/>
              </a:buClr>
              <a:buFont typeface="Arial" panose="020B0604020202020204" pitchFamily="34" charset="0"/>
              <a:buChar char="•"/>
              <a:defRPr sz="1400" cap="all" baseline="0">
                <a:effectLst/>
              </a:defRPr>
            </a:lvl9pPr>
          </a:lstStyle>
          <a:p>
            <a:r>
              <a:rPr lang="en-US" altLang="en-US" dirty="0" smtClean="0"/>
              <a:t>The first </a:t>
            </a:r>
            <a:r>
              <a:rPr lang="en-US" altLang="en-US" dirty="0"/>
              <a:t>relationship in your Role </a:t>
            </a:r>
            <a:r>
              <a:rPr lang="en-US" altLang="en-US" dirty="0" smtClean="0"/>
              <a:t>… you and your supervisor. </a:t>
            </a:r>
            <a:endParaRPr lang="en-US" altLang="en-US" dirty="0"/>
          </a:p>
          <a:p>
            <a:r>
              <a:rPr lang="en-CA" altLang="en-US" dirty="0" smtClean="0"/>
              <a:t>Why </a:t>
            </a:r>
            <a:r>
              <a:rPr lang="en-CA" altLang="en-US" dirty="0"/>
              <a:t>is this relationship important to you? </a:t>
            </a:r>
            <a:r>
              <a:rPr lang="en-US" altLang="en-US" dirty="0" smtClean="0"/>
              <a:t>What are the expectations of you in this role? </a:t>
            </a:r>
            <a:r>
              <a:rPr lang="en-CA" altLang="en-US" dirty="0" smtClean="0"/>
              <a:t>What challenges can you expect?</a:t>
            </a:r>
            <a:endParaRPr lang="en-CA" altLang="en-US" dirty="0"/>
          </a:p>
        </p:txBody>
      </p:sp>
      <p:sp>
        <p:nvSpPr>
          <p:cNvPr id="21" name="Rounded Rectangular Callout 20"/>
          <p:cNvSpPr/>
          <p:nvPr/>
        </p:nvSpPr>
        <p:spPr>
          <a:xfrm>
            <a:off x="579566" y="3042631"/>
            <a:ext cx="2736289" cy="757844"/>
          </a:xfrm>
          <a:prstGeom prst="wedgeRoundRectCallout">
            <a:avLst>
              <a:gd name="adj1" fmla="val 125403"/>
              <a:gd name="adj2" fmla="val 8788"/>
              <a:gd name="adj3" fmla="val 16667"/>
            </a:avLst>
          </a:prstGeom>
          <a:solidFill>
            <a:srgbClr val="FF0000"/>
          </a:solidFill>
          <a:ln>
            <a:solidFill>
              <a:srgbClr val="000099"/>
            </a:solidFill>
            <a:miter lim="800000"/>
            <a:headEnd/>
            <a:tailEnd/>
          </a:ln>
        </p:spPr>
        <p:txBody>
          <a:bodyPr vert="horz" lIns="91440" tIns="45720" rIns="91440" bIns="45720" rtlCol="0" anchor="ctr">
            <a:noAutofit/>
          </a:bodyPr>
          <a:lstStyle/>
          <a:p>
            <a:pPr marL="228600" indent="-228600" algn="ctr" defTabSz="914400">
              <a:lnSpc>
                <a:spcPct val="90000"/>
              </a:lnSpc>
              <a:spcBef>
                <a:spcPts val="1000"/>
              </a:spcBef>
              <a:buClr>
                <a:srgbClr val="000000"/>
              </a:buClr>
              <a:buFont typeface="Wingdings" panose="05000000000000000000" pitchFamily="2" charset="2"/>
              <a:buNone/>
            </a:pPr>
            <a:r>
              <a:rPr lang="en-US" altLang="en-US" dirty="0" smtClean="0">
                <a:solidFill>
                  <a:schemeClr val="bg1"/>
                </a:solidFill>
                <a:latin typeface="Arial" panose="020B0604020202020204" pitchFamily="34" charset="0"/>
              </a:rPr>
              <a:t>Position </a:t>
            </a:r>
            <a:r>
              <a:rPr lang="en-US" altLang="en-US" dirty="0">
                <a:solidFill>
                  <a:schemeClr val="bg1"/>
                </a:solidFill>
                <a:latin typeface="Arial" panose="020B0604020202020204" pitchFamily="34" charset="0"/>
              </a:rPr>
              <a:t>of </a:t>
            </a:r>
            <a:r>
              <a:rPr lang="en-US" altLang="en-US" dirty="0" smtClean="0">
                <a:solidFill>
                  <a:schemeClr val="bg1"/>
                </a:solidFill>
                <a:latin typeface="Arial" panose="020B0604020202020204" pitchFamily="34" charset="0"/>
              </a:rPr>
              <a:t>Authority:</a:t>
            </a:r>
          </a:p>
          <a:p>
            <a:pPr marL="228600" indent="-228600" algn="ctr" defTabSz="914400">
              <a:lnSpc>
                <a:spcPct val="90000"/>
              </a:lnSpc>
              <a:spcBef>
                <a:spcPts val="1000"/>
              </a:spcBef>
              <a:buClr>
                <a:srgbClr val="000000"/>
              </a:buClr>
              <a:buFont typeface="Wingdings" panose="05000000000000000000" pitchFamily="2" charset="2"/>
              <a:buNone/>
            </a:pPr>
            <a:r>
              <a:rPr lang="en-US" dirty="0" smtClean="0">
                <a:solidFill>
                  <a:schemeClr val="bg1"/>
                </a:solidFill>
                <a:latin typeface="Arial" panose="020B0604020202020204" pitchFamily="34" charset="0"/>
              </a:rPr>
              <a:t>You &amp; Your Supervisor</a:t>
            </a:r>
            <a:endParaRPr lang="en-US" dirty="0">
              <a:solidFill>
                <a:schemeClr val="bg1"/>
              </a:solidFill>
              <a:latin typeface="Arial" panose="020B0604020202020204" pitchFamily="34" charset="0"/>
            </a:endParaRPr>
          </a:p>
        </p:txBody>
      </p:sp>
      <p:sp>
        <p:nvSpPr>
          <p:cNvPr id="22" name="AutoShape 17"/>
          <p:cNvSpPr>
            <a:spLocks noChangeArrowheads="1"/>
          </p:cNvSpPr>
          <p:nvPr/>
        </p:nvSpPr>
        <p:spPr bwMode="auto">
          <a:xfrm>
            <a:off x="5307013" y="3048000"/>
            <a:ext cx="381000" cy="762000"/>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Tree>
    <p:extLst>
      <p:ext uri="{BB962C8B-B14F-4D97-AF65-F5344CB8AC3E}">
        <p14:creationId xmlns:p14="http://schemas.microsoft.com/office/powerpoint/2010/main" val="1140850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anim calcmode="lin" valueType="num">
                                      <p:cBhvr>
                                        <p:cTn id="9" dur="1000" fill="hold"/>
                                        <p:tgtEl>
                                          <p:spTgt spid="22"/>
                                        </p:tgtEl>
                                        <p:attrNameLst>
                                          <p:attrName>style.rotation</p:attrName>
                                        </p:attrNameLst>
                                      </p:cBhvr>
                                      <p:tavLst>
                                        <p:tav tm="0">
                                          <p:val>
                                            <p:fltVal val="90"/>
                                          </p:val>
                                        </p:tav>
                                        <p:tav tm="100000">
                                          <p:val>
                                            <p:fltVal val="0"/>
                                          </p:val>
                                        </p:tav>
                                      </p:tavLst>
                                    </p:anim>
                                    <p:animEffect transition="in" filter="fade">
                                      <p:cBhvr>
                                        <p:cTn id="10"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Importance</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Supervising, coaching, mentorship towards development of you.</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Career development and advancement.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are not around “forever”: managers are always looking for good talent to develop, test, and advance to grow the organization – keep it competitive.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Expectations that Your Supervisor has of You: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Area of responsibility – ESG KP#2 “Understand Your Program”</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Objectives and goals,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Policies and procedures,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Directions on tasks, jobs and projects,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“unwritten rules”.</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50569213"/>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Challenges </a:t>
            </a:r>
            <a:r>
              <a:rPr lang="en-US" altLang="en-US" dirty="0">
                <a:latin typeface="Arial" panose="020B0604020202020204" pitchFamily="34" charset="0"/>
                <a:ea typeface="ＭＳ Ｐゴシック" panose="020B0600070205080204" pitchFamily="34" charset="-128"/>
                <a:cs typeface="Arial" panose="020B0604020202020204" pitchFamily="34" charset="0"/>
              </a:rPr>
              <a:t>to expect: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Too often the new employee, you, will not ask questions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a:latin typeface="Arial" panose="020B0604020202020204" pitchFamily="34" charset="0"/>
                <a:ea typeface="ＭＳ Ｐゴシック" panose="020B0600070205080204" pitchFamily="34" charset="-128"/>
                <a:cs typeface="Arial" panose="020B0604020202020204" pitchFamily="34" charset="0"/>
              </a:rPr>
              <a:t>fear of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“looking stupid”. </a:t>
            </a:r>
            <a:r>
              <a:rPr lang="en-US" altLang="en-US" b="0" dirty="0">
                <a:latin typeface="Arial" panose="020B0604020202020204" pitchFamily="34" charset="0"/>
                <a:ea typeface="ＭＳ Ｐゴシック" panose="020B0600070205080204" pitchFamily="34" charset="-128"/>
                <a:cs typeface="Arial" panose="020B0604020202020204" pitchFamily="34" charset="0"/>
              </a:rPr>
              <a:t/>
            </a:r>
            <a:br>
              <a:rPr lang="en-US" altLang="en-US" b="0" dirty="0">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br>
            <a:r>
              <a:rPr lang="en-US" altLang="en-US" b="0" dirty="0">
                <a:latin typeface="Arial" panose="020B0604020202020204" pitchFamily="34" charset="0"/>
                <a:ea typeface="ＭＳ Ｐゴシック" panose="020B0600070205080204" pitchFamily="34" charset="-128"/>
                <a:cs typeface="Arial" panose="020B0604020202020204" pitchFamily="34" charset="0"/>
              </a:rPr>
              <a:t/>
            </a:r>
            <a:br>
              <a:rPr lang="en-US" altLang="en-US" b="0" dirty="0">
                <a:latin typeface="Arial" panose="020B0604020202020204" pitchFamily="34" charset="0"/>
                <a:ea typeface="ＭＳ Ｐゴシック" panose="020B0600070205080204" pitchFamily="34" charset="-128"/>
                <a:cs typeface="Arial" panose="020B0604020202020204" pitchFamily="34" charset="0"/>
              </a:rPr>
            </a:b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Too often the supervisor is not a skilled communicator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and </a:t>
            </a:r>
            <a:r>
              <a:rPr lang="en-US" altLang="en-US" b="0" dirty="0">
                <a:latin typeface="Arial" panose="020B0604020202020204" pitchFamily="34" charset="0"/>
                <a:ea typeface="ＭＳ Ｐゴシック" panose="020B0600070205080204" pitchFamily="34" charset="-128"/>
                <a:cs typeface="Arial" panose="020B0604020202020204" pitchFamily="34" charset="0"/>
              </a:rPr>
              <a:t>the message they give is not clear. </a:t>
            </a:r>
            <a:br>
              <a:rPr lang="en-US" altLang="en-US" b="0" dirty="0">
                <a:latin typeface="Arial" panose="020B0604020202020204" pitchFamily="34" charset="0"/>
                <a:ea typeface="ＭＳ Ｐゴシック" panose="020B0600070205080204" pitchFamily="34" charset="-128"/>
                <a:cs typeface="Arial" panose="020B0604020202020204" pitchFamily="34" charset="0"/>
              </a:rPr>
            </a:br>
            <a:r>
              <a:rPr lang="en-US" altLang="en-US" b="0" dirty="0">
                <a:latin typeface="Arial" panose="020B0604020202020204" pitchFamily="34" charset="0"/>
                <a:ea typeface="ＭＳ Ｐゴシック" panose="020B0600070205080204" pitchFamily="34" charset="-128"/>
                <a:cs typeface="Arial" panose="020B0604020202020204" pitchFamily="34" charset="0"/>
              </a:rPr>
              <a:t/>
            </a:r>
            <a:br>
              <a:rPr lang="en-US" altLang="en-US" b="0" dirty="0">
                <a:latin typeface="Arial" panose="020B0604020202020204" pitchFamily="34" charset="0"/>
                <a:ea typeface="ＭＳ Ｐゴシック" panose="020B0600070205080204" pitchFamily="34" charset="-128"/>
                <a:cs typeface="Arial" panose="020B0604020202020204" pitchFamily="34" charset="0"/>
              </a:rPr>
            </a:br>
            <a:r>
              <a:rPr lang="en-US" altLang="en-US" b="0" dirty="0">
                <a:latin typeface="Arial" panose="020B0604020202020204" pitchFamily="34" charset="0"/>
                <a:ea typeface="ＭＳ Ｐゴシック" panose="020B0600070205080204" pitchFamily="34" charset="-128"/>
                <a:cs typeface="Arial" panose="020B0604020202020204" pitchFamily="34" charset="0"/>
              </a:rPr>
              <a:t/>
            </a:r>
            <a:br>
              <a:rPr lang="en-US" altLang="en-US" b="0" dirty="0">
                <a:latin typeface="Arial" panose="020B0604020202020204" pitchFamily="34" charset="0"/>
                <a:ea typeface="ＭＳ Ｐゴシック" panose="020B0600070205080204" pitchFamily="34" charset="-128"/>
                <a:cs typeface="Arial" panose="020B0604020202020204" pitchFamily="34" charset="0"/>
              </a:rPr>
            </a:b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latin typeface="Arial" panose="020B0604020202020204" pitchFamily="34" charset="0"/>
                <a:ea typeface="ＭＳ Ｐゴシック" panose="020B0600070205080204" pitchFamily="34" charset="-128"/>
                <a:cs typeface="Arial" panose="020B0604020202020204" pitchFamily="34" charset="0"/>
              </a:rPr>
              <a:t>Too often the supervisor is busy with other duties and finds it difficult to have enough time to spend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with you </a:t>
            </a:r>
            <a:r>
              <a:rPr lang="en-US" altLang="en-US" b="0" dirty="0">
                <a:latin typeface="Arial" panose="020B0604020202020204" pitchFamily="34" charset="0"/>
                <a:ea typeface="ＭＳ Ｐゴシック" panose="020B0600070205080204" pitchFamily="34" charset="-128"/>
                <a:cs typeface="Arial" panose="020B0604020202020204" pitchFamily="34" charset="0"/>
              </a:rPr>
              <a:t>and does not see the </a:t>
            </a:r>
            <a:r>
              <a:rPr lang="en-US" altLang="en-US" b="0" dirty="0" smtClean="0">
                <a:latin typeface="Arial" panose="020B0604020202020204" pitchFamily="34" charset="0"/>
                <a:ea typeface="ＭＳ Ｐゴシック" panose="020B0600070205080204" pitchFamily="34" charset="-128"/>
                <a:cs typeface="Arial" panose="020B0604020202020204" pitchFamily="34" charset="0"/>
              </a:rPr>
              <a:t>benefit.</a:t>
            </a: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98811018"/>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how to deal with those challenges: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often the new employee, you, will not ask questions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fear of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“looking stupid”.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rapport early in the relationship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overcome this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 “There are no dumb questions.”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supervisor is not a skilled communicator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message they give is not clear.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time and make the effort to understand your supervisor’s expectations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what they want from you, want you to do.</a:t>
            </a:r>
            <a:endPar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Too often the supervisor is busy with other duties and finds it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difficult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have enough time to spend with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does not see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benefit.</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the time and make the effort to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briefly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review with your supervisor to seek confirmation of your understanding.</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24783378"/>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the Milgram experiments were about: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power of a position of authority –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supervisor over you!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do not want to do something under direction of your supervisor, that your supervisor did NOT want you to do!</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seeking direction and clarifying expectations,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especially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directions clash</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be open and ask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questions to verify your understanding.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might at first seem to be conflicting directions,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not at all be that!</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498341005"/>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practical advice to work with your direct supervisor:</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Strive (work hard) to meet expectations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responsibilities such that there are “no surprises”!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the initiative to communicate. </a:t>
            </a:r>
            <a:endPar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Seek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clarity when directions clash with ethics, values, policies, etc.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Keep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supervisor informed especially when things are not going per the plan.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1)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Your Direct Supervisor:</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
        <p:nvSpPr>
          <p:cNvPr id="6" name="Text Box 7"/>
          <p:cNvSpPr txBox="1">
            <a:spLocks noChangeArrowheads="1"/>
          </p:cNvSpPr>
          <p:nvPr/>
        </p:nvSpPr>
        <p:spPr bwMode="auto">
          <a:xfrm>
            <a:off x="304800" y="3908425"/>
            <a:ext cx="8515200" cy="2111375"/>
          </a:xfrm>
          <a:prstGeom prst="rect">
            <a:avLst/>
          </a:prstGeom>
          <a:solidFill>
            <a:srgbClr val="FFFFFF"/>
          </a:solidFill>
          <a:ln w="9525">
            <a:solidFill>
              <a:srgbClr val="FF0000"/>
            </a:solidFill>
            <a:miter lim="800000"/>
            <a:headEnd/>
            <a:tailEnd/>
          </a:ln>
          <a:effectLst>
            <a:prstShdw prst="shdw17" dist="17961" dir="2700000">
              <a:srgbClr val="990000"/>
            </a:prstShdw>
          </a:effectLst>
        </p:spPr>
        <p:txBody>
          <a:bodyPr wrap="square">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50000"/>
              </a:spcBef>
              <a:buClrTx/>
              <a:buSzTx/>
              <a:buFontTx/>
              <a:buNone/>
            </a:pPr>
            <a:r>
              <a:rPr lang="en-US" altLang="en-US" sz="4400" b="1" dirty="0">
                <a:solidFill>
                  <a:srgbClr val="CC3300"/>
                </a:solidFill>
                <a:latin typeface="Calibri" panose="020F0502020204030204" pitchFamily="34" charset="0"/>
              </a:rPr>
              <a:t>FYI: </a:t>
            </a:r>
            <a:r>
              <a:rPr lang="en-US" altLang="en-US" sz="4400" dirty="0" smtClean="0">
                <a:solidFill>
                  <a:srgbClr val="CC3300"/>
                </a:solidFill>
                <a:latin typeface="Calibri" panose="020F0502020204030204" pitchFamily="34" charset="0"/>
              </a:rPr>
              <a:t>Supervisors</a:t>
            </a:r>
            <a:r>
              <a:rPr lang="en-US" altLang="en-US" sz="4400" b="1" dirty="0" smtClean="0">
                <a:solidFill>
                  <a:srgbClr val="CC3300"/>
                </a:solidFill>
                <a:latin typeface="Calibri" panose="020F0502020204030204" pitchFamily="34" charset="0"/>
              </a:rPr>
              <a:t> </a:t>
            </a:r>
            <a:r>
              <a:rPr lang="en-US" altLang="en-US" sz="4400" b="1" dirty="0">
                <a:solidFill>
                  <a:srgbClr val="CC3300"/>
                </a:solidFill>
                <a:latin typeface="Calibri" panose="020F0502020204030204" pitchFamily="34" charset="0"/>
              </a:rPr>
              <a:t>want solutions! NOT excuses and </a:t>
            </a:r>
            <a:br>
              <a:rPr lang="en-US" altLang="en-US" sz="4400" b="1" dirty="0">
                <a:solidFill>
                  <a:srgbClr val="CC3300"/>
                </a:solidFill>
                <a:latin typeface="Calibri" panose="020F0502020204030204" pitchFamily="34" charset="0"/>
              </a:rPr>
            </a:br>
            <a:r>
              <a:rPr lang="en-US" altLang="en-US" sz="4400" b="1" dirty="0">
                <a:solidFill>
                  <a:srgbClr val="CC3300"/>
                </a:solidFill>
                <a:latin typeface="Calibri" panose="020F0502020204030204" pitchFamily="34" charset="0"/>
              </a:rPr>
              <a:t>NOT more problems!</a:t>
            </a:r>
          </a:p>
        </p:txBody>
      </p:sp>
    </p:spTree>
    <p:extLst>
      <p:ext uri="{BB962C8B-B14F-4D97-AF65-F5344CB8AC3E}">
        <p14:creationId xmlns:p14="http://schemas.microsoft.com/office/powerpoint/2010/main" val="1305195708"/>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2) You and The People That Work For You:</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6"/>
          <p:cNvGrpSpPr>
            <a:grpSpLocks/>
          </p:cNvGrpSpPr>
          <p:nvPr/>
        </p:nvGrpSpPr>
        <p:grpSpPr bwMode="auto">
          <a:xfrm>
            <a:off x="3184525" y="2419350"/>
            <a:ext cx="5324475" cy="3295650"/>
            <a:chOff x="2006" y="1290"/>
            <a:chExt cx="3354" cy="2076"/>
          </a:xfrm>
        </p:grpSpPr>
        <p:sp>
          <p:nvSpPr>
            <p:cNvPr id="7" name="Rectangle 7"/>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0" name="Rectangle 8"/>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sp>
          <p:nvSpPr>
            <p:cNvPr id="11" name="Rectangle 9"/>
            <p:cNvSpPr>
              <a:spLocks noChangeArrowheads="1"/>
            </p:cNvSpPr>
            <p:nvPr/>
          </p:nvSpPr>
          <p:spPr bwMode="auto">
            <a:xfrm>
              <a:off x="4224" y="2160"/>
              <a:ext cx="113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Peers</a:t>
              </a:r>
            </a:p>
          </p:txBody>
        </p:sp>
        <p:cxnSp>
          <p:nvCxnSpPr>
            <p:cNvPr id="14" name="AutoShape 10"/>
            <p:cNvCxnSpPr>
              <a:cxnSpLocks noChangeShapeType="1"/>
              <a:stCxn id="7" idx="2"/>
              <a:endCxn id="10"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5" name="AutoShape 11"/>
            <p:cNvCxnSpPr>
              <a:cxnSpLocks noChangeShapeType="1"/>
              <a:stCxn id="10" idx="2"/>
              <a:endCxn id="19"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6" name="AutoShape 12"/>
            <p:cNvCxnSpPr>
              <a:cxnSpLocks noChangeShapeType="1"/>
              <a:stCxn id="10" idx="2"/>
              <a:endCxn id="19"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7" name="AutoShape 13"/>
            <p:cNvCxnSpPr>
              <a:cxnSpLocks noChangeShapeType="1"/>
              <a:stCxn id="10" idx="2"/>
              <a:endCxn id="19"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8" name="AutoShape 14"/>
            <p:cNvCxnSpPr>
              <a:cxnSpLocks noChangeShapeType="1"/>
              <a:stCxn id="11" idx="1"/>
              <a:endCxn id="10" idx="3"/>
            </p:cNvCxnSpPr>
            <p:nvPr/>
          </p:nvCxnSpPr>
          <p:spPr bwMode="auto">
            <a:xfrm flipH="1">
              <a:off x="3806" y="2307"/>
              <a:ext cx="418" cy="0"/>
            </a:xfrm>
            <a:prstGeom prst="straightConnector1">
              <a:avLst/>
            </a:prstGeom>
            <a:noFill/>
            <a:ln w="508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19" name="Rectangle 15"/>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The People That Work For You</a:t>
              </a:r>
            </a:p>
          </p:txBody>
        </p:sp>
      </p:grpSp>
      <p:sp>
        <p:nvSpPr>
          <p:cNvPr id="20" name="AutoShape 16"/>
          <p:cNvSpPr>
            <a:spLocks noChangeArrowheads="1"/>
          </p:cNvSpPr>
          <p:nvPr/>
        </p:nvSpPr>
        <p:spPr bwMode="auto">
          <a:xfrm>
            <a:off x="5307013" y="4410075"/>
            <a:ext cx="381000" cy="762000"/>
          </a:xfrm>
          <a:prstGeom prst="upDownArrow">
            <a:avLst>
              <a:gd name="adj1" fmla="val 50000"/>
              <a:gd name="adj2" fmla="val 40000"/>
            </a:avLst>
          </a:prstGeom>
          <a:solidFill>
            <a:srgbClr val="FF0000"/>
          </a:solidFill>
          <a:ln w="9525">
            <a:solidFill>
              <a:srgbClr val="FF0000"/>
            </a:solidFill>
            <a:miter lim="800000"/>
            <a:headEnd/>
            <a:tailEnd/>
          </a:ln>
          <a:effectLst>
            <a:prstShdw prst="shdw17" dist="17961" dir="2700000">
              <a:srgbClr val="990000"/>
            </a:prstShdw>
          </a:effec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21" name="Text Box 32"/>
          <p:cNvSpPr txBox="1">
            <a:spLocks noChangeArrowheads="1"/>
          </p:cNvSpPr>
          <p:nvPr/>
        </p:nvSpPr>
        <p:spPr bwMode="auto">
          <a:xfrm>
            <a:off x="455612" y="1102772"/>
            <a:ext cx="8226425" cy="1207231"/>
          </a:xfrm>
          <a:prstGeom prst="rect">
            <a:avLst/>
          </a:prstGeom>
          <a:solidFill>
            <a:schemeClr val="tx1"/>
          </a:solidFill>
          <a:ln>
            <a:solidFill>
              <a:schemeClr val="tx1"/>
            </a:solidFill>
            <a:miter lim="800000"/>
            <a:headEnd/>
            <a:tailEnd/>
          </a:ln>
        </p:spPr>
        <p:txBody>
          <a:bodyPr vert="horz" lIns="91440" tIns="45720" rIns="91440" bIns="45720" rtlCol="0">
            <a:normAutofit/>
          </a:bodyPr>
          <a:lstStyle>
            <a:defPPr>
              <a:defRPr lang="en-US"/>
            </a:defPPr>
            <a:lvl1pPr indent="0" defTabSz="914400">
              <a:lnSpc>
                <a:spcPct val="90000"/>
              </a:lnSpc>
              <a:spcBef>
                <a:spcPts val="1000"/>
              </a:spcBef>
              <a:buClr>
                <a:srgbClr val="000000"/>
              </a:buClr>
              <a:buSzTx/>
              <a:buFont typeface="Wingdings" panose="05000000000000000000" pitchFamily="2" charset="2"/>
              <a:buNone/>
              <a:defRPr sz="2000" b="0" i="1" cap="none" baseline="0">
                <a:solidFill>
                  <a:schemeClr val="bg1"/>
                </a:solidFill>
                <a:effectLst/>
                <a:latin typeface="Arial" panose="020B0604020202020204" pitchFamily="34" charset="0"/>
              </a:defRPr>
            </a:lvl1pPr>
            <a:lvl2pPr marL="685800" indent="-228600" defTabSz="914400">
              <a:lnSpc>
                <a:spcPct val="120000"/>
              </a:lnSpc>
              <a:spcBef>
                <a:spcPts val="500"/>
              </a:spcBef>
              <a:buClr>
                <a:schemeClr val="tx1"/>
              </a:buClr>
              <a:buFont typeface="Arial" panose="020B0604020202020204" pitchFamily="34" charset="0"/>
              <a:buChar char="•"/>
              <a:defRPr cap="all" baseline="0">
                <a:effectLst/>
              </a:defRPr>
            </a:lvl2pPr>
            <a:lvl3pPr marL="1143000" indent="-228600" defTabSz="914400">
              <a:lnSpc>
                <a:spcPct val="120000"/>
              </a:lnSpc>
              <a:spcBef>
                <a:spcPts val="500"/>
              </a:spcBef>
              <a:buClr>
                <a:schemeClr val="tx1"/>
              </a:buClr>
              <a:buFont typeface="Arial" panose="020B0604020202020204" pitchFamily="34" charset="0"/>
              <a:buChar char="•"/>
              <a:defRPr sz="1600" cap="all" baseline="0">
                <a:effectLst/>
              </a:defRPr>
            </a:lvl3pPr>
            <a:lvl4pPr marL="1600200" indent="-228600" defTabSz="914400">
              <a:lnSpc>
                <a:spcPct val="120000"/>
              </a:lnSpc>
              <a:spcBef>
                <a:spcPts val="500"/>
              </a:spcBef>
              <a:buClr>
                <a:schemeClr val="tx1"/>
              </a:buClr>
              <a:buFont typeface="Arial" panose="020B0604020202020204" pitchFamily="34" charset="0"/>
              <a:buChar char="•"/>
              <a:defRPr sz="1400" cap="all" baseline="0">
                <a:effectLst/>
              </a:defRPr>
            </a:lvl4pPr>
            <a:lvl5pPr marL="2057400" indent="-228600" defTabSz="914400">
              <a:lnSpc>
                <a:spcPct val="120000"/>
              </a:lnSpc>
              <a:spcBef>
                <a:spcPts val="500"/>
              </a:spcBef>
              <a:buClr>
                <a:schemeClr val="tx1"/>
              </a:buClr>
              <a:buFont typeface="Arial" panose="020B0604020202020204" pitchFamily="34" charset="0"/>
              <a:buChar char="•"/>
              <a:defRPr sz="1400" cap="all" baseline="0">
                <a:effectLst/>
              </a:defRPr>
            </a:lvl5pPr>
            <a:lvl6pPr marL="2514600" indent="-228600" defTabSz="914400">
              <a:lnSpc>
                <a:spcPct val="120000"/>
              </a:lnSpc>
              <a:spcBef>
                <a:spcPts val="500"/>
              </a:spcBef>
              <a:buClr>
                <a:schemeClr val="tx1"/>
              </a:buClr>
              <a:buFont typeface="Arial" panose="020B0604020202020204" pitchFamily="34" charset="0"/>
              <a:buChar char="•"/>
              <a:defRPr sz="1400" cap="all" baseline="0">
                <a:effectLst/>
              </a:defRPr>
            </a:lvl6pPr>
            <a:lvl7pPr marL="2971800" indent="-228600" defTabSz="914400">
              <a:lnSpc>
                <a:spcPct val="120000"/>
              </a:lnSpc>
              <a:spcBef>
                <a:spcPts val="500"/>
              </a:spcBef>
              <a:buClr>
                <a:schemeClr val="tx1"/>
              </a:buClr>
              <a:buFont typeface="Arial" panose="020B0604020202020204" pitchFamily="34" charset="0"/>
              <a:buChar char="•"/>
              <a:defRPr sz="1400" cap="all" baseline="0">
                <a:effectLst/>
              </a:defRPr>
            </a:lvl7pPr>
            <a:lvl8pPr marL="3429000" indent="-228600" defTabSz="914400">
              <a:lnSpc>
                <a:spcPct val="120000"/>
              </a:lnSpc>
              <a:spcBef>
                <a:spcPts val="500"/>
              </a:spcBef>
              <a:buClr>
                <a:schemeClr val="tx1"/>
              </a:buClr>
              <a:buFont typeface="Arial" panose="020B0604020202020204" pitchFamily="34" charset="0"/>
              <a:buChar char="•"/>
              <a:defRPr sz="1400" cap="all" baseline="0">
                <a:effectLst/>
              </a:defRPr>
            </a:lvl8pPr>
            <a:lvl9pPr marL="3886200" indent="-228600" defTabSz="914400">
              <a:lnSpc>
                <a:spcPct val="120000"/>
              </a:lnSpc>
              <a:spcBef>
                <a:spcPts val="500"/>
              </a:spcBef>
              <a:buClr>
                <a:schemeClr val="tx1"/>
              </a:buClr>
              <a:buFont typeface="Arial" panose="020B0604020202020204" pitchFamily="34" charset="0"/>
              <a:buChar char="•"/>
              <a:defRPr sz="1400" cap="all" baseline="0">
                <a:effectLst/>
              </a:defRPr>
            </a:lvl9pPr>
          </a:lstStyle>
          <a:p>
            <a:r>
              <a:rPr lang="en-US" altLang="en-US" dirty="0" smtClean="0"/>
              <a:t>The second </a:t>
            </a:r>
            <a:r>
              <a:rPr lang="en-US" altLang="en-US" dirty="0"/>
              <a:t>relationship in your Role </a:t>
            </a:r>
            <a:r>
              <a:rPr lang="en-US" altLang="en-US" dirty="0" smtClean="0"/>
              <a:t>… you and your subordinates, </a:t>
            </a:r>
            <a:br>
              <a:rPr lang="en-US" altLang="en-US" dirty="0" smtClean="0"/>
            </a:br>
            <a:r>
              <a:rPr lang="en-US" altLang="en-US" dirty="0" smtClean="0"/>
              <a:t>the people that work for you. </a:t>
            </a:r>
            <a:endParaRPr lang="en-US" altLang="en-US" dirty="0"/>
          </a:p>
          <a:p>
            <a:r>
              <a:rPr lang="en-CA" altLang="en-US" dirty="0" smtClean="0"/>
              <a:t>Why </a:t>
            </a:r>
            <a:r>
              <a:rPr lang="en-CA" altLang="en-US" dirty="0"/>
              <a:t>is this relationship important to you? </a:t>
            </a:r>
            <a:r>
              <a:rPr lang="en-CA" altLang="en-US" dirty="0" smtClean="0"/>
              <a:t>Expectations? Challenges?</a:t>
            </a:r>
            <a:endParaRPr lang="en-CA" altLang="en-US" dirty="0"/>
          </a:p>
        </p:txBody>
      </p:sp>
      <p:sp>
        <p:nvSpPr>
          <p:cNvPr id="22" name="Rounded Rectangular Callout 21"/>
          <p:cNvSpPr/>
          <p:nvPr/>
        </p:nvSpPr>
        <p:spPr>
          <a:xfrm>
            <a:off x="580581" y="3962400"/>
            <a:ext cx="3261746" cy="828675"/>
          </a:xfrm>
          <a:prstGeom prst="wedgeRoundRectCallout">
            <a:avLst>
              <a:gd name="adj1" fmla="val 98141"/>
              <a:gd name="adj2" fmla="val 50759"/>
              <a:gd name="adj3" fmla="val 16667"/>
            </a:avLst>
          </a:prstGeom>
          <a:solidFill>
            <a:srgbClr val="FF0000"/>
          </a:solidFill>
          <a:ln>
            <a:solidFill>
              <a:srgbClr val="000099"/>
            </a:solidFill>
            <a:miter lim="800000"/>
            <a:headEnd/>
            <a:tailEnd/>
          </a:ln>
        </p:spPr>
        <p:txBody>
          <a:bodyPr vert="horz" lIns="91440" tIns="45720" rIns="91440" bIns="45720" rtlCol="0" anchor="ctr">
            <a:noAutofit/>
          </a:bodyPr>
          <a:lstStyle/>
          <a:p>
            <a:pPr marL="228600" indent="-228600" algn="ctr" defTabSz="914400">
              <a:lnSpc>
                <a:spcPct val="90000"/>
              </a:lnSpc>
              <a:spcBef>
                <a:spcPts val="1000"/>
              </a:spcBef>
              <a:buClr>
                <a:srgbClr val="000000"/>
              </a:buClr>
              <a:buFont typeface="Wingdings" panose="05000000000000000000" pitchFamily="2" charset="2"/>
              <a:buNone/>
            </a:pPr>
            <a:r>
              <a:rPr lang="en-US" altLang="en-US" dirty="0">
                <a:solidFill>
                  <a:schemeClr val="bg1"/>
                </a:solidFill>
                <a:latin typeface="Arial" panose="020B0604020202020204" pitchFamily="34" charset="0"/>
              </a:rPr>
              <a:t>Position of </a:t>
            </a:r>
            <a:r>
              <a:rPr lang="en-US" altLang="en-US" dirty="0" smtClean="0">
                <a:solidFill>
                  <a:schemeClr val="bg1"/>
                </a:solidFill>
                <a:latin typeface="Arial" panose="020B0604020202020204" pitchFamily="34" charset="0"/>
              </a:rPr>
              <a:t>Authority:</a:t>
            </a:r>
            <a:br>
              <a:rPr lang="en-US" altLang="en-US" dirty="0" smtClean="0">
                <a:solidFill>
                  <a:schemeClr val="bg1"/>
                </a:solidFill>
                <a:latin typeface="Arial" panose="020B0604020202020204" pitchFamily="34" charset="0"/>
              </a:rPr>
            </a:br>
            <a:r>
              <a:rPr lang="en-US" altLang="en-US" dirty="0" smtClean="0">
                <a:solidFill>
                  <a:schemeClr val="bg1"/>
                </a:solidFill>
                <a:latin typeface="Arial" panose="020B0604020202020204" pitchFamily="34" charset="0"/>
              </a:rPr>
              <a:t>You are Your Subordinates</a:t>
            </a:r>
            <a:endParaRPr lang="en-US" dirty="0">
              <a:solidFill>
                <a:schemeClr val="bg1"/>
              </a:solidFill>
              <a:latin typeface="Arial" panose="020B0604020202020204" pitchFamily="34" charset="0"/>
            </a:endParaRPr>
          </a:p>
        </p:txBody>
      </p:sp>
    </p:spTree>
    <p:extLst>
      <p:ext uri="{BB962C8B-B14F-4D97-AF65-F5344CB8AC3E}">
        <p14:creationId xmlns:p14="http://schemas.microsoft.com/office/powerpoint/2010/main" val="3545346051"/>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(pen-to-paper, MM-Poll):</a:t>
            </a:r>
          </a:p>
          <a:p>
            <a:pPr marL="36000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challenges can you expect in these relationships?</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spcBef>
                <a:spcPts val="0"/>
              </a:spcBef>
              <a:spcAft>
                <a:spcPts val="0"/>
              </a:spcAft>
              <a:buFont typeface="Wingdings" panose="05000000000000000000" pitchFamily="2" charset="2"/>
              <a:buChar char="Ø"/>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can you do to overcome these challenges?</a:t>
            </a: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3" name="Rectangle 2"/>
          <p:cNvSpPr/>
          <p:nvPr/>
        </p:nvSpPr>
        <p:spPr>
          <a:xfrm>
            <a:off x="1905000" y="2286000"/>
            <a:ext cx="4800600" cy="3505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Challenges - You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and The People That Work For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You</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6"/>
          <p:cNvGrpSpPr>
            <a:grpSpLocks/>
          </p:cNvGrpSpPr>
          <p:nvPr/>
        </p:nvGrpSpPr>
        <p:grpSpPr bwMode="auto">
          <a:xfrm>
            <a:off x="1965325" y="2419351"/>
            <a:ext cx="4624388" cy="3295651"/>
            <a:chOff x="2006" y="1290"/>
            <a:chExt cx="2913" cy="2076"/>
          </a:xfrm>
        </p:grpSpPr>
        <p:sp>
          <p:nvSpPr>
            <p:cNvPr id="7" name="Rectangle 7"/>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0" name="Rectangle 8"/>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cxnSp>
          <p:nvCxnSpPr>
            <p:cNvPr id="12" name="AutoShape 10"/>
            <p:cNvCxnSpPr>
              <a:cxnSpLocks noChangeShapeType="1"/>
              <a:stCxn id="7" idx="2"/>
              <a:endCxn id="10"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3" name="AutoShape 11"/>
            <p:cNvCxnSpPr>
              <a:cxnSpLocks noChangeShapeType="1"/>
              <a:stCxn id="10" idx="2"/>
              <a:endCxn id="17"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4" name="AutoShape 12"/>
            <p:cNvCxnSpPr>
              <a:cxnSpLocks noChangeShapeType="1"/>
              <a:stCxn id="10" idx="2"/>
              <a:endCxn id="17"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5" name="AutoShape 13"/>
            <p:cNvCxnSpPr>
              <a:cxnSpLocks noChangeShapeType="1"/>
              <a:stCxn id="10" idx="2"/>
              <a:endCxn id="17"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17" name="Rectangle 15"/>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The People That Work For You</a:t>
              </a:r>
            </a:p>
          </p:txBody>
        </p:sp>
      </p:grpSp>
      <p:sp>
        <p:nvSpPr>
          <p:cNvPr id="18" name="AutoShape 16"/>
          <p:cNvSpPr>
            <a:spLocks noChangeArrowheads="1"/>
          </p:cNvSpPr>
          <p:nvPr/>
        </p:nvSpPr>
        <p:spPr bwMode="auto">
          <a:xfrm>
            <a:off x="4087813" y="4410075"/>
            <a:ext cx="381000" cy="762000"/>
          </a:xfrm>
          <a:prstGeom prst="upDownArrow">
            <a:avLst>
              <a:gd name="adj1" fmla="val 50000"/>
              <a:gd name="adj2" fmla="val 40000"/>
            </a:avLst>
          </a:prstGeom>
          <a:solidFill>
            <a:srgbClr val="FF0000"/>
          </a:solidFill>
          <a:ln w="9525">
            <a:solidFill>
              <a:srgbClr val="FF0000"/>
            </a:solidFill>
            <a:miter lim="800000"/>
            <a:headEnd/>
            <a:tailEnd/>
          </a:ln>
          <a:effectLst>
            <a:prstShdw prst="shdw17" dist="17961" dir="2700000">
              <a:srgbClr val="990000"/>
            </a:prstShdw>
          </a:effec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Tree>
    <p:extLst>
      <p:ext uri="{BB962C8B-B14F-4D97-AF65-F5344CB8AC3E}">
        <p14:creationId xmlns:p14="http://schemas.microsoft.com/office/powerpoint/2010/main" val="3554942070"/>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relative position as you to your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supervisor:</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don’t want to ask questions </a:t>
            </a:r>
            <a:b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fear of “looking dumb”.</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may not have the communications </a:t>
            </a:r>
            <a:b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skills to search or probe for clarity.</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may not take the initiative to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schedule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time with you.</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Everything you do to create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successful relationship with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supervisor, you should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coach and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expect the same in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work for you. </a:t>
            </a: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 rapport early in the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relationship.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Take the time and make the effort to </a:t>
            </a: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confirm that they understand your expectations.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addition, be </a:t>
            </a: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sure to recognize and reward them … </a:t>
            </a:r>
            <a:b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reinforce their (desirable) behaviours!</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2) You and The People That Work For You:</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5387632" y="1357630"/>
            <a:ext cx="3146768" cy="1995170"/>
          </a:xfrm>
          <a:prstGeom prst="rect">
            <a:avLst/>
          </a:prstGeom>
        </p:spPr>
      </p:pic>
    </p:spTree>
    <p:extLst>
      <p:ext uri="{BB962C8B-B14F-4D97-AF65-F5344CB8AC3E}">
        <p14:creationId xmlns:p14="http://schemas.microsoft.com/office/powerpoint/2010/main" val="427917536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the Milgram experiments were about: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power of a position of authority – you over them!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Let your people know what you expect.</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Don’t assume they do! Check for understanding.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If and when your expectations are confusing or conflicting,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be open and welcoming to their questions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Respect</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person who comes to you seeking clarity. </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Set realistic expectations and uphold those expectations!</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“Walk the talk”.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 by example.”</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Never compromise your expectations.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080000" lvl="2"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adjust as work progresses and realities emerge …</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2) You </a:t>
            </a:r>
            <a:r>
              <a:rPr lang="en-US" altLang="en-US" sz="2400" b="0" dirty="0" smtClean="0">
                <a:solidFill>
                  <a:schemeClr val="accent2"/>
                </a:solidFill>
                <a:latin typeface="Arial" panose="020B0604020202020204" pitchFamily="34" charset="0"/>
                <a:ea typeface="+mj-ea"/>
                <a:cs typeface="Arial" panose="020B0604020202020204" pitchFamily="34" charset="0"/>
              </a:rPr>
              <a:t>and </a:t>
            </a:r>
            <a:r>
              <a:rPr lang="en-US" altLang="en-US" sz="2400" b="0" dirty="0">
                <a:solidFill>
                  <a:schemeClr val="accent2"/>
                </a:solidFill>
                <a:latin typeface="Arial" panose="020B0604020202020204" pitchFamily="34" charset="0"/>
                <a:ea typeface="+mj-ea"/>
                <a:cs typeface="Arial" panose="020B0604020202020204" pitchFamily="34" charset="0"/>
              </a:rPr>
              <a:t>The People That Work For You:</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87716771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3) You and Your Peers: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6"/>
          <p:cNvGrpSpPr>
            <a:grpSpLocks/>
          </p:cNvGrpSpPr>
          <p:nvPr/>
        </p:nvGrpSpPr>
        <p:grpSpPr bwMode="auto">
          <a:xfrm>
            <a:off x="3184525" y="2495550"/>
            <a:ext cx="5324475" cy="3295650"/>
            <a:chOff x="2006" y="1290"/>
            <a:chExt cx="3354" cy="2076"/>
          </a:xfrm>
        </p:grpSpPr>
        <p:sp>
          <p:nvSpPr>
            <p:cNvPr id="7" name="Rectangle 7"/>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0" name="Rectangle 8"/>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sp>
          <p:nvSpPr>
            <p:cNvPr id="11" name="Rectangle 9"/>
            <p:cNvSpPr>
              <a:spLocks noChangeArrowheads="1"/>
            </p:cNvSpPr>
            <p:nvPr/>
          </p:nvSpPr>
          <p:spPr bwMode="auto">
            <a:xfrm>
              <a:off x="4224" y="2160"/>
              <a:ext cx="113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Peers</a:t>
              </a:r>
            </a:p>
          </p:txBody>
        </p:sp>
        <p:cxnSp>
          <p:nvCxnSpPr>
            <p:cNvPr id="14" name="AutoShape 10"/>
            <p:cNvCxnSpPr>
              <a:cxnSpLocks noChangeShapeType="1"/>
              <a:stCxn id="7" idx="2"/>
              <a:endCxn id="10"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5" name="AutoShape 11"/>
            <p:cNvCxnSpPr>
              <a:cxnSpLocks noChangeShapeType="1"/>
              <a:stCxn id="10" idx="2"/>
              <a:endCxn id="19"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6" name="AutoShape 12"/>
            <p:cNvCxnSpPr>
              <a:cxnSpLocks noChangeShapeType="1"/>
              <a:stCxn id="10" idx="2"/>
              <a:endCxn id="19"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7" name="AutoShape 13"/>
            <p:cNvCxnSpPr>
              <a:cxnSpLocks noChangeShapeType="1"/>
              <a:stCxn id="10" idx="2"/>
              <a:endCxn id="19"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8" name="AutoShape 14"/>
            <p:cNvCxnSpPr>
              <a:cxnSpLocks noChangeShapeType="1"/>
              <a:stCxn id="11" idx="1"/>
              <a:endCxn id="10" idx="3"/>
            </p:cNvCxnSpPr>
            <p:nvPr/>
          </p:nvCxnSpPr>
          <p:spPr bwMode="auto">
            <a:xfrm flipH="1">
              <a:off x="3806" y="2307"/>
              <a:ext cx="418" cy="0"/>
            </a:xfrm>
            <a:prstGeom prst="straightConnector1">
              <a:avLst/>
            </a:prstGeom>
            <a:noFill/>
            <a:ln w="508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19" name="Rectangle 15"/>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dirty="0">
                  <a:solidFill>
                    <a:srgbClr val="FFFFFF"/>
                  </a:solidFill>
                  <a:latin typeface="Arial" panose="020B0604020202020204" pitchFamily="34" charset="0"/>
                </a:rPr>
                <a:t>The People That Work For You</a:t>
              </a:r>
            </a:p>
          </p:txBody>
        </p:sp>
      </p:grpSp>
      <p:sp>
        <p:nvSpPr>
          <p:cNvPr id="20" name="AutoShape 16"/>
          <p:cNvSpPr>
            <a:spLocks noChangeArrowheads="1"/>
          </p:cNvSpPr>
          <p:nvPr/>
        </p:nvSpPr>
        <p:spPr bwMode="auto">
          <a:xfrm rot="-5400000">
            <a:off x="6180138" y="3749675"/>
            <a:ext cx="381000" cy="762000"/>
          </a:xfrm>
          <a:prstGeom prst="upDownArrow">
            <a:avLst>
              <a:gd name="adj1" fmla="val 50000"/>
              <a:gd name="adj2" fmla="val 40000"/>
            </a:avLst>
          </a:prstGeom>
          <a:solidFill>
            <a:srgbClr val="FF0000"/>
          </a:solidFill>
          <a:ln w="9525">
            <a:solidFill>
              <a:srgbClr val="FF0000"/>
            </a:solidFill>
            <a:miter lim="800000"/>
            <a:headEnd/>
            <a:tailEnd/>
          </a:ln>
          <a:effectLst>
            <a:prstShdw prst="shdw17" dist="17961" dir="2700000">
              <a:srgbClr val="990000"/>
            </a:prstShdw>
          </a:effec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21" name="Text Box 32"/>
          <p:cNvSpPr txBox="1">
            <a:spLocks noChangeArrowheads="1"/>
          </p:cNvSpPr>
          <p:nvPr/>
        </p:nvSpPr>
        <p:spPr bwMode="auto">
          <a:xfrm>
            <a:off x="455612" y="1178972"/>
            <a:ext cx="8226425" cy="1207231"/>
          </a:xfrm>
          <a:prstGeom prst="rect">
            <a:avLst/>
          </a:prstGeom>
          <a:solidFill>
            <a:schemeClr val="tx1"/>
          </a:solidFill>
          <a:ln>
            <a:solidFill>
              <a:schemeClr val="tx1"/>
            </a:solidFill>
            <a:miter lim="800000"/>
            <a:headEnd/>
            <a:tailEnd/>
          </a:ln>
        </p:spPr>
        <p:txBody>
          <a:bodyPr vert="horz" lIns="91440" tIns="45720" rIns="91440" bIns="45720" rtlCol="0">
            <a:normAutofit/>
          </a:bodyPr>
          <a:lstStyle>
            <a:defPPr>
              <a:defRPr lang="en-US"/>
            </a:defPPr>
            <a:lvl1pPr indent="0" defTabSz="914400">
              <a:lnSpc>
                <a:spcPct val="90000"/>
              </a:lnSpc>
              <a:spcBef>
                <a:spcPts val="1000"/>
              </a:spcBef>
              <a:buClr>
                <a:srgbClr val="000000"/>
              </a:buClr>
              <a:buSzTx/>
              <a:buFont typeface="Wingdings" panose="05000000000000000000" pitchFamily="2" charset="2"/>
              <a:buNone/>
              <a:defRPr sz="2000" b="0" i="1" cap="none" baseline="0">
                <a:solidFill>
                  <a:schemeClr val="bg1"/>
                </a:solidFill>
                <a:effectLst/>
                <a:latin typeface="Arial" panose="020B0604020202020204" pitchFamily="34" charset="0"/>
              </a:defRPr>
            </a:lvl1pPr>
            <a:lvl2pPr marL="685800" indent="-228600" defTabSz="914400">
              <a:lnSpc>
                <a:spcPct val="120000"/>
              </a:lnSpc>
              <a:spcBef>
                <a:spcPts val="500"/>
              </a:spcBef>
              <a:buClr>
                <a:schemeClr val="tx1"/>
              </a:buClr>
              <a:buFont typeface="Arial" panose="020B0604020202020204" pitchFamily="34" charset="0"/>
              <a:buChar char="•"/>
              <a:defRPr cap="all" baseline="0">
                <a:effectLst/>
              </a:defRPr>
            </a:lvl2pPr>
            <a:lvl3pPr marL="1143000" indent="-228600" defTabSz="914400">
              <a:lnSpc>
                <a:spcPct val="120000"/>
              </a:lnSpc>
              <a:spcBef>
                <a:spcPts val="500"/>
              </a:spcBef>
              <a:buClr>
                <a:schemeClr val="tx1"/>
              </a:buClr>
              <a:buFont typeface="Arial" panose="020B0604020202020204" pitchFamily="34" charset="0"/>
              <a:buChar char="•"/>
              <a:defRPr sz="1600" cap="all" baseline="0">
                <a:effectLst/>
              </a:defRPr>
            </a:lvl3pPr>
            <a:lvl4pPr marL="1600200" indent="-228600" defTabSz="914400">
              <a:lnSpc>
                <a:spcPct val="120000"/>
              </a:lnSpc>
              <a:spcBef>
                <a:spcPts val="500"/>
              </a:spcBef>
              <a:buClr>
                <a:schemeClr val="tx1"/>
              </a:buClr>
              <a:buFont typeface="Arial" panose="020B0604020202020204" pitchFamily="34" charset="0"/>
              <a:buChar char="•"/>
              <a:defRPr sz="1400" cap="all" baseline="0">
                <a:effectLst/>
              </a:defRPr>
            </a:lvl4pPr>
            <a:lvl5pPr marL="2057400" indent="-228600" defTabSz="914400">
              <a:lnSpc>
                <a:spcPct val="120000"/>
              </a:lnSpc>
              <a:spcBef>
                <a:spcPts val="500"/>
              </a:spcBef>
              <a:buClr>
                <a:schemeClr val="tx1"/>
              </a:buClr>
              <a:buFont typeface="Arial" panose="020B0604020202020204" pitchFamily="34" charset="0"/>
              <a:buChar char="•"/>
              <a:defRPr sz="1400" cap="all" baseline="0">
                <a:effectLst/>
              </a:defRPr>
            </a:lvl5pPr>
            <a:lvl6pPr marL="2514600" indent="-228600" defTabSz="914400">
              <a:lnSpc>
                <a:spcPct val="120000"/>
              </a:lnSpc>
              <a:spcBef>
                <a:spcPts val="500"/>
              </a:spcBef>
              <a:buClr>
                <a:schemeClr val="tx1"/>
              </a:buClr>
              <a:buFont typeface="Arial" panose="020B0604020202020204" pitchFamily="34" charset="0"/>
              <a:buChar char="•"/>
              <a:defRPr sz="1400" cap="all" baseline="0">
                <a:effectLst/>
              </a:defRPr>
            </a:lvl6pPr>
            <a:lvl7pPr marL="2971800" indent="-228600" defTabSz="914400">
              <a:lnSpc>
                <a:spcPct val="120000"/>
              </a:lnSpc>
              <a:spcBef>
                <a:spcPts val="500"/>
              </a:spcBef>
              <a:buClr>
                <a:schemeClr val="tx1"/>
              </a:buClr>
              <a:buFont typeface="Arial" panose="020B0604020202020204" pitchFamily="34" charset="0"/>
              <a:buChar char="•"/>
              <a:defRPr sz="1400" cap="all" baseline="0">
                <a:effectLst/>
              </a:defRPr>
            </a:lvl7pPr>
            <a:lvl8pPr marL="3429000" indent="-228600" defTabSz="914400">
              <a:lnSpc>
                <a:spcPct val="120000"/>
              </a:lnSpc>
              <a:spcBef>
                <a:spcPts val="500"/>
              </a:spcBef>
              <a:buClr>
                <a:schemeClr val="tx1"/>
              </a:buClr>
              <a:buFont typeface="Arial" panose="020B0604020202020204" pitchFamily="34" charset="0"/>
              <a:buChar char="•"/>
              <a:defRPr sz="1400" cap="all" baseline="0">
                <a:effectLst/>
              </a:defRPr>
            </a:lvl8pPr>
            <a:lvl9pPr marL="3886200" indent="-228600" defTabSz="914400">
              <a:lnSpc>
                <a:spcPct val="120000"/>
              </a:lnSpc>
              <a:spcBef>
                <a:spcPts val="500"/>
              </a:spcBef>
              <a:buClr>
                <a:schemeClr val="tx1"/>
              </a:buClr>
              <a:buFont typeface="Arial" panose="020B0604020202020204" pitchFamily="34" charset="0"/>
              <a:buChar char="•"/>
              <a:defRPr sz="1400" cap="all" baseline="0">
                <a:effectLst/>
              </a:defRPr>
            </a:lvl9pPr>
          </a:lstStyle>
          <a:p>
            <a:r>
              <a:rPr lang="en-US" altLang="en-US" dirty="0" smtClean="0"/>
              <a:t>The </a:t>
            </a:r>
            <a:r>
              <a:rPr lang="en-US" altLang="en-US" dirty="0"/>
              <a:t>third relationship in your Role </a:t>
            </a:r>
            <a:r>
              <a:rPr lang="en-US" altLang="en-US" dirty="0" smtClean="0"/>
              <a:t>… you and your peers</a:t>
            </a:r>
            <a:endParaRPr lang="en-US" altLang="en-US" dirty="0"/>
          </a:p>
          <a:p>
            <a:r>
              <a:rPr lang="en-US" altLang="en-US" dirty="0"/>
              <a:t>Why is this relationship important to you? Expectations? Challenges?</a:t>
            </a:r>
          </a:p>
        </p:txBody>
      </p:sp>
      <p:sp>
        <p:nvSpPr>
          <p:cNvPr id="22" name="Rounded Rectangular Callout 21"/>
          <p:cNvSpPr/>
          <p:nvPr/>
        </p:nvSpPr>
        <p:spPr>
          <a:xfrm>
            <a:off x="609880" y="2786363"/>
            <a:ext cx="2895320" cy="757844"/>
          </a:xfrm>
          <a:prstGeom prst="wedgeRoundRectCallout">
            <a:avLst>
              <a:gd name="adj1" fmla="val 146377"/>
              <a:gd name="adj2" fmla="val 120476"/>
              <a:gd name="adj3" fmla="val 16667"/>
            </a:avLst>
          </a:prstGeom>
          <a:solidFill>
            <a:srgbClr val="FFFF00"/>
          </a:solidFill>
          <a:ln>
            <a:solidFill>
              <a:schemeClr val="tx1"/>
            </a:solidFill>
            <a:miter lim="800000"/>
            <a:headEnd/>
            <a:tailEnd/>
          </a:ln>
        </p:spPr>
        <p:txBody>
          <a:bodyPr vert="horz" lIns="91440" tIns="45720" rIns="91440" bIns="45720" rtlCol="0" anchor="ctr">
            <a:noAutofit/>
          </a:bodyPr>
          <a:lstStyle/>
          <a:p>
            <a:pPr marL="228600" indent="-228600" algn="ctr" defTabSz="914400">
              <a:lnSpc>
                <a:spcPct val="90000"/>
              </a:lnSpc>
              <a:spcBef>
                <a:spcPts val="1000"/>
              </a:spcBef>
              <a:buClr>
                <a:srgbClr val="000000"/>
              </a:buClr>
              <a:buFont typeface="Wingdings" panose="05000000000000000000" pitchFamily="2" charset="2"/>
              <a:buNone/>
            </a:pPr>
            <a:r>
              <a:rPr lang="en-US" altLang="en-US" dirty="0" smtClean="0">
                <a:latin typeface="Arial" panose="020B0604020202020204" pitchFamily="34" charset="0"/>
              </a:rPr>
              <a:t>Is there a </a:t>
            </a:r>
            <a:br>
              <a:rPr lang="en-US" altLang="en-US" dirty="0" smtClean="0">
                <a:latin typeface="Arial" panose="020B0604020202020204" pitchFamily="34" charset="0"/>
              </a:rPr>
            </a:br>
            <a:r>
              <a:rPr lang="en-US" altLang="en-US" dirty="0" smtClean="0">
                <a:latin typeface="Arial" panose="020B0604020202020204" pitchFamily="34" charset="0"/>
              </a:rPr>
              <a:t>Position </a:t>
            </a:r>
            <a:r>
              <a:rPr lang="en-US" altLang="en-US" dirty="0">
                <a:latin typeface="Arial" panose="020B0604020202020204" pitchFamily="34" charset="0"/>
              </a:rPr>
              <a:t>of </a:t>
            </a:r>
            <a:r>
              <a:rPr lang="en-US" altLang="en-US" dirty="0" smtClean="0">
                <a:latin typeface="Arial" panose="020B0604020202020204" pitchFamily="34" charset="0"/>
              </a:rPr>
              <a:t>Authority?</a:t>
            </a:r>
            <a:endParaRPr lang="en-US" dirty="0">
              <a:latin typeface="Arial" panose="020B0604020202020204" pitchFamily="34" charset="0"/>
            </a:endParaRPr>
          </a:p>
        </p:txBody>
      </p:sp>
    </p:spTree>
    <p:extLst>
      <p:ext uri="{BB962C8B-B14F-4D97-AF65-F5344CB8AC3E}">
        <p14:creationId xmlns:p14="http://schemas.microsoft.com/office/powerpoint/2010/main" val="3031543435"/>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Peers</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is no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practical “position of authority” but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there most likely will be in the future.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Yet there could be a “position of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authority” based on one’s stature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an “influencer”.</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are building associations and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relationships for the future with your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future  peers, your future supervisors,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with your future subordinates. </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Career paths will cross, and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careers will advance. </a:t>
            </a:r>
          </a:p>
          <a:p>
            <a:pPr marL="360000" lvl="1"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Interdependence on working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towards the same goal: </a:t>
            </a:r>
            <a:b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successful organization.</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3) You and Your Peers: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4332354" y="1981200"/>
            <a:ext cx="4487646" cy="2845337"/>
          </a:xfrm>
          <a:prstGeom prst="rect">
            <a:avLst/>
          </a:prstGeom>
        </p:spPr>
      </p:pic>
    </p:spTree>
    <p:extLst>
      <p:ext uri="{BB962C8B-B14F-4D97-AF65-F5344CB8AC3E}">
        <p14:creationId xmlns:p14="http://schemas.microsoft.com/office/powerpoint/2010/main" val="3208053276"/>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Line Management Model</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&amp;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3)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Relationships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0" indent="0" eaLnBrk="0" hangingPunct="0">
              <a:lnSpc>
                <a:spcPct val="90000"/>
              </a:lnSpc>
              <a:spcBef>
                <a:spcPts val="0"/>
              </a:spcBef>
              <a:buClr>
                <a:srgbClr val="000000"/>
              </a:buClr>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Relative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Positions of Authority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Models: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Between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Direct Supervisor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Between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&amp;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People that Work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is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is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smtClean="0">
                <a:solidFill>
                  <a:schemeClr val="accent2"/>
                </a:solidFill>
                <a:latin typeface="Arial" panose="020B0604020202020204" pitchFamily="34" charset="0"/>
                <a:ea typeface="+mj-ea"/>
                <a:cs typeface="Arial" panose="020B0604020202020204" pitchFamily="34" charset="0"/>
              </a:rPr>
              <a:t>Responsible, Accountable, Line Management and Two Key Relationships:</a:t>
            </a:r>
            <a:endParaRPr lang="en-US" altLang="en-US"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15" name="Picture 14"/>
          <p:cNvPicPr preferRelativeResize="0">
            <a:picLocks/>
          </p:cNvPicPr>
          <p:nvPr/>
        </p:nvPicPr>
        <p:blipFill>
          <a:blip r:embed="rId3"/>
          <a:stretch>
            <a:fillRect/>
          </a:stretch>
        </p:blipFill>
        <p:spPr>
          <a:xfrm>
            <a:off x="701179" y="3324762"/>
            <a:ext cx="3997642" cy="2771238"/>
          </a:xfrm>
          <a:prstGeom prst="rect">
            <a:avLst/>
          </a:prstGeom>
          <a:ln>
            <a:solidFill>
              <a:schemeClr val="tx1"/>
            </a:solidFill>
          </a:ln>
        </p:spPr>
      </p:pic>
      <p:sp>
        <p:nvSpPr>
          <p:cNvPr id="11" name="TextBox 10"/>
          <p:cNvSpPr txBox="1"/>
          <p:nvPr/>
        </p:nvSpPr>
        <p:spPr>
          <a:xfrm>
            <a:off x="5770200" y="2036056"/>
            <a:ext cx="2880000" cy="396000"/>
          </a:xfrm>
          <a:prstGeom prst="rect">
            <a:avLst/>
          </a:prstGeom>
          <a:solidFill>
            <a:schemeClr val="bg1"/>
          </a:solidFill>
          <a:ln>
            <a:solidFill>
              <a:schemeClr val="tx1"/>
            </a:solidFill>
          </a:ln>
        </p:spPr>
        <p:txBody>
          <a:bodyPr wrap="square" rtlCol="0">
            <a:spAutoFit/>
          </a:bodyPr>
          <a:lstStyle/>
          <a:p>
            <a:pPr algn="ctr"/>
            <a:r>
              <a:rPr lang="en-US" dirty="0" smtClean="0"/>
              <a:t>Stockholders / Owners</a:t>
            </a:r>
            <a:endParaRPr lang="en-US" dirty="0"/>
          </a:p>
        </p:txBody>
      </p:sp>
      <p:sp>
        <p:nvSpPr>
          <p:cNvPr id="16" name="TextBox 15"/>
          <p:cNvSpPr txBox="1"/>
          <p:nvPr/>
        </p:nvSpPr>
        <p:spPr>
          <a:xfrm>
            <a:off x="5770200" y="2651158"/>
            <a:ext cx="2880000" cy="396000"/>
          </a:xfrm>
          <a:prstGeom prst="rect">
            <a:avLst/>
          </a:prstGeom>
          <a:solidFill>
            <a:schemeClr val="bg1"/>
          </a:solidFill>
          <a:ln>
            <a:solidFill>
              <a:schemeClr val="tx1"/>
            </a:solidFill>
          </a:ln>
        </p:spPr>
        <p:txBody>
          <a:bodyPr wrap="square" rtlCol="0">
            <a:spAutoFit/>
          </a:bodyPr>
          <a:lstStyle/>
          <a:p>
            <a:pPr algn="ctr"/>
            <a:r>
              <a:rPr lang="en-US" dirty="0" smtClean="0"/>
              <a:t>Board of Directors</a:t>
            </a:r>
            <a:endParaRPr lang="en-US" dirty="0"/>
          </a:p>
        </p:txBody>
      </p:sp>
      <p:sp>
        <p:nvSpPr>
          <p:cNvPr id="17" name="TextBox 16"/>
          <p:cNvSpPr txBox="1"/>
          <p:nvPr/>
        </p:nvSpPr>
        <p:spPr>
          <a:xfrm>
            <a:off x="5770200" y="3266260"/>
            <a:ext cx="2880000" cy="369332"/>
          </a:xfrm>
          <a:prstGeom prst="rect">
            <a:avLst/>
          </a:prstGeom>
          <a:solidFill>
            <a:schemeClr val="bg1"/>
          </a:solidFill>
          <a:ln>
            <a:solidFill>
              <a:schemeClr val="tx1"/>
            </a:solidFill>
          </a:ln>
        </p:spPr>
        <p:txBody>
          <a:bodyPr wrap="square" rtlCol="0">
            <a:spAutoFit/>
          </a:bodyPr>
          <a:lstStyle/>
          <a:p>
            <a:pPr algn="ctr"/>
            <a:r>
              <a:rPr lang="en-US" dirty="0" smtClean="0"/>
              <a:t>Directors / Executives</a:t>
            </a:r>
            <a:endParaRPr lang="en-US" dirty="0"/>
          </a:p>
        </p:txBody>
      </p:sp>
      <p:sp>
        <p:nvSpPr>
          <p:cNvPr id="18" name="TextBox 17"/>
          <p:cNvSpPr txBox="1"/>
          <p:nvPr/>
        </p:nvSpPr>
        <p:spPr>
          <a:xfrm>
            <a:off x="5770200" y="3881362"/>
            <a:ext cx="2880000" cy="396000"/>
          </a:xfrm>
          <a:prstGeom prst="rect">
            <a:avLst/>
          </a:prstGeom>
          <a:solidFill>
            <a:schemeClr val="bg1"/>
          </a:solidFill>
          <a:ln>
            <a:solidFill>
              <a:schemeClr val="tx1"/>
            </a:solidFill>
          </a:ln>
        </p:spPr>
        <p:txBody>
          <a:bodyPr wrap="square" rtlCol="0">
            <a:spAutoFit/>
          </a:bodyPr>
          <a:lstStyle/>
          <a:p>
            <a:pPr algn="ctr"/>
            <a:r>
              <a:rPr lang="en-US" dirty="0" smtClean="0"/>
              <a:t>Managers</a:t>
            </a:r>
            <a:endParaRPr lang="en-US" dirty="0"/>
          </a:p>
        </p:txBody>
      </p:sp>
      <p:sp>
        <p:nvSpPr>
          <p:cNvPr id="19" name="TextBox 18"/>
          <p:cNvSpPr txBox="1"/>
          <p:nvPr/>
        </p:nvSpPr>
        <p:spPr>
          <a:xfrm>
            <a:off x="5770200" y="4496464"/>
            <a:ext cx="2880000" cy="369332"/>
          </a:xfrm>
          <a:prstGeom prst="rect">
            <a:avLst/>
          </a:prstGeom>
          <a:solidFill>
            <a:schemeClr val="bg1"/>
          </a:solidFill>
          <a:ln>
            <a:solidFill>
              <a:schemeClr val="tx1"/>
            </a:solidFill>
          </a:ln>
        </p:spPr>
        <p:txBody>
          <a:bodyPr wrap="square" rtlCol="0">
            <a:spAutoFit/>
          </a:bodyPr>
          <a:lstStyle>
            <a:defPPr>
              <a:defRPr lang="en-US"/>
            </a:defPPr>
            <a:lvl1pPr algn="ctr"/>
          </a:lstStyle>
          <a:p>
            <a:r>
              <a:rPr lang="en-US" dirty="0"/>
              <a:t>Supervisors</a:t>
            </a:r>
          </a:p>
        </p:txBody>
      </p:sp>
      <p:sp>
        <p:nvSpPr>
          <p:cNvPr id="20" name="TextBox 19"/>
          <p:cNvSpPr txBox="1"/>
          <p:nvPr/>
        </p:nvSpPr>
        <p:spPr>
          <a:xfrm>
            <a:off x="5770200" y="5111566"/>
            <a:ext cx="2880000" cy="369332"/>
          </a:xfrm>
          <a:prstGeom prst="rect">
            <a:avLst/>
          </a:prstGeom>
          <a:solidFill>
            <a:schemeClr val="bg1"/>
          </a:solidFill>
          <a:ln>
            <a:solidFill>
              <a:schemeClr val="tx1"/>
            </a:solidFill>
          </a:ln>
        </p:spPr>
        <p:txBody>
          <a:bodyPr wrap="square" rtlCol="0">
            <a:spAutoFit/>
          </a:bodyPr>
          <a:lstStyle>
            <a:defPPr>
              <a:defRPr lang="en-US"/>
            </a:defPPr>
            <a:lvl1pPr algn="ctr"/>
          </a:lstStyle>
          <a:p>
            <a:r>
              <a:rPr lang="en-US" dirty="0"/>
              <a:t>Workers</a:t>
            </a:r>
          </a:p>
        </p:txBody>
      </p:sp>
      <p:sp>
        <p:nvSpPr>
          <p:cNvPr id="21" name="TextBox 20"/>
          <p:cNvSpPr txBox="1"/>
          <p:nvPr/>
        </p:nvSpPr>
        <p:spPr>
          <a:xfrm>
            <a:off x="5770200" y="5726668"/>
            <a:ext cx="2880000" cy="369332"/>
          </a:xfrm>
          <a:prstGeom prst="rect">
            <a:avLst/>
          </a:prstGeom>
          <a:solidFill>
            <a:srgbClr val="008000"/>
          </a:solidFill>
          <a:ln>
            <a:solidFill>
              <a:schemeClr val="tx1"/>
            </a:solidFill>
          </a:ln>
        </p:spPr>
        <p:txBody>
          <a:bodyPr wrap="square" rtlCol="0">
            <a:spAutoFit/>
          </a:bodyPr>
          <a:lstStyle/>
          <a:p>
            <a:pPr algn="ctr"/>
            <a:r>
              <a:rPr lang="en-US" dirty="0" smtClean="0">
                <a:solidFill>
                  <a:schemeClr val="bg1"/>
                </a:solidFill>
              </a:rPr>
              <a:t>Effective Action</a:t>
            </a:r>
            <a:endParaRPr lang="en-US" dirty="0">
              <a:solidFill>
                <a:schemeClr val="bg1"/>
              </a:solidFill>
            </a:endParaRPr>
          </a:p>
        </p:txBody>
      </p:sp>
      <p:sp>
        <p:nvSpPr>
          <p:cNvPr id="22" name="Rectangle 3"/>
          <p:cNvSpPr>
            <a:spLocks noChangeArrowheads="1"/>
          </p:cNvSpPr>
          <p:nvPr/>
        </p:nvSpPr>
        <p:spPr bwMode="auto">
          <a:xfrm>
            <a:off x="5590200" y="1676400"/>
            <a:ext cx="3325200" cy="4495800"/>
          </a:xfrm>
          <a:prstGeom prst="rect">
            <a:avLst/>
          </a:prstGeom>
          <a:no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a:t>
            </a:r>
            <a:r>
              <a:rPr kumimoji="0" lang="en-US" altLang="en-US" sz="18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Line Management</a:t>
            </a:r>
            <a:r>
              <a:rPr kumimoji="0" lang="en-US" altLang="en-US" sz="1800" b="1" i="0" u="sng"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Model:</a:t>
            </a:r>
            <a:endParaRPr kumimoji="0" lang="en-US"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Font typeface="Arial" panose="020B0604020202020204"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cxnSp>
        <p:nvCxnSpPr>
          <p:cNvPr id="23" name="Straight Arrow Connector 22"/>
          <p:cNvCxnSpPr>
            <a:stCxn id="11" idx="2"/>
            <a:endCxn id="16" idx="0"/>
          </p:cNvCxnSpPr>
          <p:nvPr/>
        </p:nvCxnSpPr>
        <p:spPr>
          <a:xfrm>
            <a:off x="7210200" y="2432056"/>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6" idx="2"/>
            <a:endCxn id="17" idx="0"/>
          </p:cNvCxnSpPr>
          <p:nvPr/>
        </p:nvCxnSpPr>
        <p:spPr>
          <a:xfrm>
            <a:off x="7210200" y="3047158"/>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7" idx="2"/>
            <a:endCxn id="18" idx="0"/>
          </p:cNvCxnSpPr>
          <p:nvPr/>
        </p:nvCxnSpPr>
        <p:spPr>
          <a:xfrm>
            <a:off x="7210200" y="3635592"/>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2"/>
            <a:endCxn id="19" idx="0"/>
          </p:cNvCxnSpPr>
          <p:nvPr/>
        </p:nvCxnSpPr>
        <p:spPr>
          <a:xfrm>
            <a:off x="7210200" y="4277362"/>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9" idx="2"/>
            <a:endCxn id="20" idx="0"/>
          </p:cNvCxnSpPr>
          <p:nvPr/>
        </p:nvCxnSpPr>
        <p:spPr>
          <a:xfrm>
            <a:off x="7210200" y="4865796"/>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0" idx="2"/>
            <a:endCxn id="21" idx="0"/>
          </p:cNvCxnSpPr>
          <p:nvPr/>
        </p:nvCxnSpPr>
        <p:spPr>
          <a:xfrm>
            <a:off x="7210200" y="5480898"/>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286995"/>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New Concept - RACI:</a:t>
            </a: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US" altLang="en-US"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When clarifying roles, responsibilities, and making decisions within organizations, the acronym “RACI” is sometimes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used</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I</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 the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understanding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of who is responsible,</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who is accountable, etc.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is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lacking, there is confusion within the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organization</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0" eaLnBrk="0" hangingPunct="0">
              <a:lnSpc>
                <a:spcPct val="90000"/>
              </a:lnSpc>
              <a:spcBef>
                <a:spcPts val="0"/>
              </a:spcBef>
              <a:buClrTx/>
              <a:buSzPct val="100000"/>
              <a:buNone/>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Responsible Person</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person who has a duty</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to perform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“is the doer of a task”, and that person is responsible 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fulfilling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those duties</a:t>
            </a:r>
          </a:p>
          <a:p>
            <a:pPr marL="360000" marR="0" lvl="0" indent="0" algn="l" defTabSz="914400" rtl="0" eaLnBrk="0" fontAlgn="base" latinLnBrk="0" hangingPunct="0">
              <a:lnSpc>
                <a:spcPct val="90000"/>
              </a:lnSpc>
              <a:spcBef>
                <a:spcPts val="0"/>
              </a:spcBef>
              <a:spcAft>
                <a:spcPct val="0"/>
              </a:spcAft>
              <a:buClrTx/>
              <a:buSzPct val="100000"/>
              <a:buNone/>
              <a:tabLst/>
              <a:defRPr/>
            </a:pPr>
            <a:endPar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0" eaLnBrk="0" hangingPunct="0">
              <a:lnSpc>
                <a:spcPct val="90000"/>
              </a:lnSpc>
              <a:spcBef>
                <a:spcPts val="0"/>
              </a:spcBef>
              <a:buClrTx/>
              <a:buSzPct val="100000"/>
              <a:buNone/>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 Accountable Person</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person who makes sure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 requirement is being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       met, makes sure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duty is being performed</a:t>
            </a:r>
          </a:p>
          <a:p>
            <a:pPr marL="360000" marR="0" lvl="0" indent="0" algn="l" defTabSz="914400" rtl="0" eaLnBrk="0" fontAlgn="base" latinLnBrk="0" hangingPunct="0">
              <a:lnSpc>
                <a:spcPct val="90000"/>
              </a:lnSpc>
              <a:spcBef>
                <a:spcPts val="0"/>
              </a:spcBef>
              <a:spcAft>
                <a:spcPct val="0"/>
              </a:spcAft>
              <a:buClrTx/>
              <a:buSzPct val="100000"/>
              <a:buNone/>
              <a:tabLst/>
              <a:defRPr/>
            </a:pPr>
            <a:endPar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0" algn="l" defTabSz="914400" rtl="0" eaLnBrk="0" fontAlgn="base" latinLnBrk="0" hangingPunct="0">
              <a:lnSpc>
                <a:spcPct val="90000"/>
              </a:lnSpc>
              <a:spcBef>
                <a:spcPts val="0"/>
              </a:spcBef>
              <a:spcAft>
                <a:spcPct val="0"/>
              </a:spcAft>
              <a:buClrTx/>
              <a:buSzPct val="100000"/>
              <a:buNone/>
              <a:tabLst/>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 = Consulted</a:t>
            </a: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person(s)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with whom you consult for input or </a:t>
            </a:r>
            <a:b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feedback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to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reach or make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decisions</a:t>
            </a:r>
          </a:p>
          <a:p>
            <a:pPr marL="360000" marR="0" lvl="0" indent="0" algn="l" defTabSz="914400" rtl="0" eaLnBrk="0" fontAlgn="base" latinLnBrk="0" hangingPunct="0">
              <a:lnSpc>
                <a:spcPct val="90000"/>
              </a:lnSpc>
              <a:spcBef>
                <a:spcPts val="0"/>
              </a:spcBef>
              <a:spcAft>
                <a:spcPct val="0"/>
              </a:spcAft>
              <a:buClrTx/>
              <a:buSzPct val="100000"/>
              <a:buNone/>
              <a:tabLst/>
              <a:defRPr/>
            </a:pPr>
            <a:endPar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0" algn="l" defTabSz="914400" rtl="0" eaLnBrk="0" fontAlgn="base" latinLnBrk="0" hangingPunct="0">
              <a:lnSpc>
                <a:spcPct val="90000"/>
              </a:lnSpc>
              <a:spcBef>
                <a:spcPts val="0"/>
              </a:spcBef>
              <a:spcAft>
                <a:spcPct val="0"/>
              </a:spcAft>
              <a:buClrTx/>
              <a:buSzPct val="100000"/>
              <a:buNone/>
              <a:tabLst/>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Informed</a:t>
            </a:r>
            <a:r>
              <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whom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you inform about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decisions being made</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 your careers, you may find yourself in all of these roles as you progress</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RACI: Responsible – Accountable – Consulted - Informed:</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62072260"/>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Line Management and RACI:</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0" name="Rectangle 3"/>
          <p:cNvSpPr>
            <a:spLocks noChangeArrowheads="1"/>
          </p:cNvSpPr>
          <p:nvPr/>
        </p:nvSpPr>
        <p:spPr bwMode="auto">
          <a:xfrm>
            <a:off x="3657600" y="828000"/>
            <a:ext cx="5162400" cy="5328000"/>
          </a:xfrm>
          <a:prstGeom prst="rect">
            <a:avLst/>
          </a:prstGeom>
          <a:no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6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Responsible</a:t>
            </a:r>
            <a:r>
              <a:rPr kumimoji="0" lang="en-US" altLang="en-US" sz="16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 </a:t>
            </a:r>
            <a:r>
              <a:rPr kumimoji="0" lang="en-US" altLang="en-US" sz="16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Accountable in RACI:</a:t>
            </a:r>
            <a:endPar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kumimoji="0" lang="en-CA" altLang="en-US" sz="16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 = Responsible Person:</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Each role has a set of responsibilities </a:t>
            </a:r>
            <a:b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br>
            <a:endPar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kumimoji="0" lang="en-CA" altLang="en-US" sz="16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 Accountable Person: </a:t>
            </a: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This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person holds the responsible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person accountable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for their work, and is normally the supervisor of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responsible person</a:t>
            </a:r>
          </a:p>
          <a:p>
            <a:pPr marL="360000" lvl="0" indent="-360000" eaLnBrk="0" hangingPunct="0">
              <a:lnSpc>
                <a:spcPct val="90000"/>
              </a:lnSpc>
              <a:spcBef>
                <a:spcPts val="0"/>
              </a:spcBef>
              <a:buClrTx/>
              <a:buSzPct val="100000"/>
              <a:buFont typeface="Wingdings" panose="05000000000000000000" pitchFamily="2" charset="2"/>
              <a:buChar char="Ø"/>
              <a:defRPr/>
            </a:pPr>
            <a:r>
              <a:rPr lang="en-CA"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All roles above “Workers” hold those below </a:t>
            </a:r>
            <a:r>
              <a:rPr kumimoji="0" lang="en-CA" altLang="en-US" sz="16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them accountable for their work</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kumimoji="0" lang="en-CA" altLang="en-US" sz="16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Example: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 worker is responsible for operating heavy equipment per operating procedures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 supervisor is accountable for the people working for them i.e. the supervisor checks that the worker is fulfilling their duties i.e. the worker follows the operating procedures, AND holds the worker accountable for their work</a:t>
            </a:r>
            <a:endParaRPr kumimoji="0" lang="en-CA"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grpSp>
        <p:nvGrpSpPr>
          <p:cNvPr id="42" name="Group 41"/>
          <p:cNvGrpSpPr/>
          <p:nvPr/>
        </p:nvGrpSpPr>
        <p:grpSpPr>
          <a:xfrm>
            <a:off x="180000" y="828000"/>
            <a:ext cx="3401400" cy="5328000"/>
            <a:chOff x="180000" y="828000"/>
            <a:chExt cx="3401400" cy="5328000"/>
          </a:xfrm>
        </p:grpSpPr>
        <p:sp>
          <p:nvSpPr>
            <p:cNvPr id="2" name="TextBox 1"/>
            <p:cNvSpPr txBox="1"/>
            <p:nvPr/>
          </p:nvSpPr>
          <p:spPr>
            <a:xfrm>
              <a:off x="360000" y="1600200"/>
              <a:ext cx="2880000" cy="396000"/>
            </a:xfrm>
            <a:prstGeom prst="rect">
              <a:avLst/>
            </a:prstGeom>
            <a:solidFill>
              <a:schemeClr val="bg1"/>
            </a:solidFill>
            <a:ln>
              <a:solidFill>
                <a:schemeClr val="tx1"/>
              </a:solidFill>
            </a:ln>
          </p:spPr>
          <p:txBody>
            <a:bodyPr wrap="square" rtlCol="0">
              <a:spAutoFit/>
            </a:bodyPr>
            <a:lstStyle/>
            <a:p>
              <a:pPr algn="ctr"/>
              <a:r>
                <a:rPr lang="en-US" dirty="0" smtClean="0"/>
                <a:t>Stockholders / Owners</a:t>
              </a:r>
              <a:endParaRPr lang="en-US" dirty="0"/>
            </a:p>
          </p:txBody>
        </p:sp>
        <p:sp>
          <p:nvSpPr>
            <p:cNvPr id="13" name="TextBox 12"/>
            <p:cNvSpPr txBox="1"/>
            <p:nvPr/>
          </p:nvSpPr>
          <p:spPr>
            <a:xfrm>
              <a:off x="360000" y="2215302"/>
              <a:ext cx="2880000" cy="396000"/>
            </a:xfrm>
            <a:prstGeom prst="rect">
              <a:avLst/>
            </a:prstGeom>
            <a:solidFill>
              <a:schemeClr val="bg1"/>
            </a:solidFill>
            <a:ln>
              <a:solidFill>
                <a:schemeClr val="tx1"/>
              </a:solidFill>
            </a:ln>
          </p:spPr>
          <p:txBody>
            <a:bodyPr wrap="square" rtlCol="0">
              <a:spAutoFit/>
            </a:bodyPr>
            <a:lstStyle/>
            <a:p>
              <a:pPr algn="ctr"/>
              <a:r>
                <a:rPr lang="en-US" dirty="0" smtClean="0"/>
                <a:t>Board of Directors</a:t>
              </a:r>
              <a:endParaRPr lang="en-US" dirty="0"/>
            </a:p>
          </p:txBody>
        </p:sp>
        <p:sp>
          <p:nvSpPr>
            <p:cNvPr id="18" name="TextBox 17"/>
            <p:cNvSpPr txBox="1"/>
            <p:nvPr/>
          </p:nvSpPr>
          <p:spPr>
            <a:xfrm>
              <a:off x="360000" y="2830404"/>
              <a:ext cx="2880000" cy="369332"/>
            </a:xfrm>
            <a:prstGeom prst="rect">
              <a:avLst/>
            </a:prstGeom>
            <a:solidFill>
              <a:schemeClr val="bg1"/>
            </a:solidFill>
            <a:ln>
              <a:solidFill>
                <a:schemeClr val="tx1"/>
              </a:solidFill>
            </a:ln>
          </p:spPr>
          <p:txBody>
            <a:bodyPr wrap="square" rtlCol="0">
              <a:spAutoFit/>
            </a:bodyPr>
            <a:lstStyle/>
            <a:p>
              <a:pPr algn="ctr"/>
              <a:r>
                <a:rPr lang="en-US" dirty="0" smtClean="0"/>
                <a:t>Directors / Executives</a:t>
              </a:r>
              <a:endParaRPr lang="en-US" dirty="0"/>
            </a:p>
          </p:txBody>
        </p:sp>
        <p:sp>
          <p:nvSpPr>
            <p:cNvPr id="19" name="TextBox 18"/>
            <p:cNvSpPr txBox="1"/>
            <p:nvPr/>
          </p:nvSpPr>
          <p:spPr>
            <a:xfrm>
              <a:off x="360000" y="3445506"/>
              <a:ext cx="2880000" cy="396000"/>
            </a:xfrm>
            <a:prstGeom prst="rect">
              <a:avLst/>
            </a:prstGeom>
            <a:solidFill>
              <a:schemeClr val="bg1"/>
            </a:solidFill>
            <a:ln>
              <a:solidFill>
                <a:schemeClr val="tx1"/>
              </a:solidFill>
            </a:ln>
          </p:spPr>
          <p:txBody>
            <a:bodyPr wrap="square" rtlCol="0">
              <a:spAutoFit/>
            </a:bodyPr>
            <a:lstStyle/>
            <a:p>
              <a:pPr algn="ctr"/>
              <a:r>
                <a:rPr lang="en-US" dirty="0" smtClean="0"/>
                <a:t>Managers</a:t>
              </a:r>
              <a:endParaRPr lang="en-US" dirty="0"/>
            </a:p>
          </p:txBody>
        </p:sp>
        <p:sp>
          <p:nvSpPr>
            <p:cNvPr id="20" name="TextBox 19"/>
            <p:cNvSpPr txBox="1"/>
            <p:nvPr/>
          </p:nvSpPr>
          <p:spPr>
            <a:xfrm>
              <a:off x="360000" y="4060608"/>
              <a:ext cx="2880000" cy="396000"/>
            </a:xfrm>
            <a:prstGeom prst="rect">
              <a:avLst/>
            </a:prstGeom>
            <a:solidFill>
              <a:srgbClr val="FFC000"/>
            </a:solidFill>
            <a:ln>
              <a:solidFill>
                <a:schemeClr val="tx1"/>
              </a:solidFill>
            </a:ln>
          </p:spPr>
          <p:txBody>
            <a:bodyPr wrap="square" rtlCol="0">
              <a:spAutoFit/>
            </a:bodyPr>
            <a:lstStyle/>
            <a:p>
              <a:pPr algn="ctr"/>
              <a:r>
                <a:rPr lang="en-US" dirty="0" smtClean="0"/>
                <a:t>Supervisors</a:t>
              </a:r>
              <a:endParaRPr lang="en-US" dirty="0"/>
            </a:p>
          </p:txBody>
        </p:sp>
        <p:sp>
          <p:nvSpPr>
            <p:cNvPr id="21" name="TextBox 20"/>
            <p:cNvSpPr txBox="1"/>
            <p:nvPr/>
          </p:nvSpPr>
          <p:spPr>
            <a:xfrm>
              <a:off x="360000" y="4675710"/>
              <a:ext cx="2880000" cy="369332"/>
            </a:xfrm>
            <a:prstGeom prst="rect">
              <a:avLst/>
            </a:prstGeom>
            <a:solidFill>
              <a:srgbClr val="0000CC"/>
            </a:solidFill>
            <a:ln>
              <a:solidFill>
                <a:srgbClr val="0000CC"/>
              </a:solidFill>
            </a:ln>
          </p:spPr>
          <p:txBody>
            <a:bodyPr wrap="square" rtlCol="0">
              <a:spAutoFit/>
            </a:bodyPr>
            <a:lstStyle/>
            <a:p>
              <a:pPr algn="ctr"/>
              <a:r>
                <a:rPr lang="en-US" dirty="0" smtClean="0">
                  <a:solidFill>
                    <a:schemeClr val="bg1"/>
                  </a:solidFill>
                </a:rPr>
                <a:t>Workers</a:t>
              </a:r>
              <a:endParaRPr lang="en-US" dirty="0">
                <a:solidFill>
                  <a:schemeClr val="bg1"/>
                </a:solidFill>
              </a:endParaRPr>
            </a:p>
          </p:txBody>
        </p:sp>
        <p:sp>
          <p:nvSpPr>
            <p:cNvPr id="22" name="TextBox 21"/>
            <p:cNvSpPr txBox="1"/>
            <p:nvPr/>
          </p:nvSpPr>
          <p:spPr>
            <a:xfrm>
              <a:off x="360000" y="5290812"/>
              <a:ext cx="2880000" cy="369332"/>
            </a:xfrm>
            <a:prstGeom prst="rect">
              <a:avLst/>
            </a:prstGeom>
            <a:solidFill>
              <a:srgbClr val="008000"/>
            </a:solidFill>
            <a:ln>
              <a:solidFill>
                <a:schemeClr val="tx1"/>
              </a:solidFill>
            </a:ln>
          </p:spPr>
          <p:txBody>
            <a:bodyPr wrap="square" rtlCol="0">
              <a:spAutoFit/>
            </a:bodyPr>
            <a:lstStyle/>
            <a:p>
              <a:pPr algn="ctr"/>
              <a:r>
                <a:rPr lang="en-US" dirty="0" smtClean="0">
                  <a:solidFill>
                    <a:schemeClr val="bg1"/>
                  </a:solidFill>
                </a:rPr>
                <a:t>Effective Action</a:t>
              </a:r>
              <a:endParaRPr lang="en-US" dirty="0">
                <a:solidFill>
                  <a:schemeClr val="bg1"/>
                </a:solidFill>
              </a:endParaRPr>
            </a:p>
          </p:txBody>
        </p:sp>
        <p:sp>
          <p:nvSpPr>
            <p:cNvPr id="23" name="Rectangle 3"/>
            <p:cNvSpPr>
              <a:spLocks noChangeArrowheads="1"/>
            </p:cNvSpPr>
            <p:nvPr/>
          </p:nvSpPr>
          <p:spPr bwMode="auto">
            <a:xfrm>
              <a:off x="180000" y="828000"/>
              <a:ext cx="3401400" cy="5328000"/>
            </a:xfrm>
            <a:prstGeom prst="rect">
              <a:avLst/>
            </a:prstGeom>
            <a:no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Line Management</a:t>
              </a:r>
              <a:r>
                <a:rPr kumimoji="0" lang="en-US"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Model:</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Font typeface="Arial" panose="020B0604020202020204"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cxnSp>
          <p:nvCxnSpPr>
            <p:cNvPr id="6" name="Straight Arrow Connector 5"/>
            <p:cNvCxnSpPr>
              <a:stCxn id="2" idx="2"/>
              <a:endCxn id="13" idx="0"/>
            </p:cNvCxnSpPr>
            <p:nvPr/>
          </p:nvCxnSpPr>
          <p:spPr>
            <a:xfrm>
              <a:off x="1800000" y="1996200"/>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3" idx="2"/>
              <a:endCxn id="18" idx="0"/>
            </p:cNvCxnSpPr>
            <p:nvPr/>
          </p:nvCxnSpPr>
          <p:spPr>
            <a:xfrm>
              <a:off x="1800000" y="2611302"/>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8" idx="2"/>
              <a:endCxn id="19" idx="0"/>
            </p:cNvCxnSpPr>
            <p:nvPr/>
          </p:nvCxnSpPr>
          <p:spPr>
            <a:xfrm>
              <a:off x="1800000" y="3199736"/>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9" idx="2"/>
              <a:endCxn id="20" idx="0"/>
            </p:cNvCxnSpPr>
            <p:nvPr/>
          </p:nvCxnSpPr>
          <p:spPr>
            <a:xfrm>
              <a:off x="1800000" y="3841506"/>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0" idx="2"/>
              <a:endCxn id="21" idx="0"/>
            </p:cNvCxnSpPr>
            <p:nvPr/>
          </p:nvCxnSpPr>
          <p:spPr>
            <a:xfrm>
              <a:off x="1800000" y="4456608"/>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2"/>
              <a:endCxn id="22" idx="0"/>
            </p:cNvCxnSpPr>
            <p:nvPr/>
          </p:nvCxnSpPr>
          <p:spPr>
            <a:xfrm>
              <a:off x="1800000" y="5045042"/>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ounded Rectangle 40"/>
            <p:cNvSpPr/>
            <p:nvPr/>
          </p:nvSpPr>
          <p:spPr bwMode="auto">
            <a:xfrm>
              <a:off x="228600" y="3962400"/>
              <a:ext cx="3124200" cy="1219200"/>
            </a:xfrm>
            <a:prstGeom prst="roundRect">
              <a:avLst/>
            </a:prstGeom>
            <a:noFill/>
            <a:ln w="38100">
              <a:solidFill>
                <a:srgbClr val="7030A0"/>
              </a:solidFill>
              <a:miter lim="800000"/>
              <a:headEnd/>
              <a:tailEnd/>
            </a:ln>
          </p:spPr>
          <p:txBody>
            <a:bodyPr rtlCol="0" anchor="ctr"/>
            <a:lstStyle/>
            <a:p>
              <a:pPr marL="0" marR="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pPr>
              <a:endParaRPr kumimoji="0" 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grpSp>
      <p:sp>
        <p:nvSpPr>
          <p:cNvPr id="2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3211789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4277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Let’s examine the meanings of these words: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meanings sound like they are the same, but they are not!</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Responsibility</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 expectation or obligation (i.e. a set of duties, tasks, or goals) that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imposed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assigned to a person</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person:</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person who is expected to do something (i.e. is assigned a set of duties, tasks, or goals), and is charged with (must fulfil) meeting or exceeding those expectations; in other words, one is responsible for their work, AND</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person who either enjoys the positive consequences for meeting or exceeding those expectations, or suffers the negative consequences for failing to do so; in other words, one is accountable for the performance of their work</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Accountability</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application of consequences, either </a:t>
            </a:r>
            <a:r>
              <a:rPr lang="en-US" altLang="en-US" sz="16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positive for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meeting or exceeding those expectations, or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ii) negative for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failing to do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the consequences are commensurate with the performance (quality, quantity, timing, etc.) of the work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 person</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person who </a:t>
            </a:r>
            <a:r>
              <a:rPr lang="en-US" altLang="en-US" sz="16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applies the consequences</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to the responsible person.</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Who is </a:t>
            </a:r>
            <a:r>
              <a:rPr lang="en-US" altLang="en-US" sz="2400" b="0" u="sng" dirty="0" smtClean="0">
                <a:solidFill>
                  <a:schemeClr val="accent2"/>
                </a:solidFill>
                <a:latin typeface="Arial" panose="020B0604020202020204" pitchFamily="34" charset="0"/>
                <a:ea typeface="+mj-ea"/>
                <a:cs typeface="Arial" panose="020B0604020202020204" pitchFamily="34" charset="0"/>
              </a:rPr>
              <a:t>Responsible</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2400" b="0" dirty="0">
                <a:solidFill>
                  <a:schemeClr val="accent2"/>
                </a:solidFill>
                <a:latin typeface="Arial" panose="020B0604020202020204" pitchFamily="34" charset="0"/>
                <a:ea typeface="+mj-ea"/>
                <a:cs typeface="Arial" panose="020B0604020202020204" pitchFamily="34" charset="0"/>
              </a:rPr>
              <a:t>and </a:t>
            </a:r>
            <a:r>
              <a:rPr lang="en-US" altLang="en-US" sz="2400" b="0" dirty="0" smtClean="0">
                <a:solidFill>
                  <a:schemeClr val="accent2"/>
                </a:solidFill>
                <a:latin typeface="Arial" panose="020B0604020202020204" pitchFamily="34" charset="0"/>
                <a:ea typeface="+mj-ea"/>
                <a:cs typeface="Arial" panose="020B0604020202020204" pitchFamily="34" charset="0"/>
              </a:rPr>
              <a:t>Who is </a:t>
            </a:r>
            <a:r>
              <a:rPr lang="en-US" altLang="en-US" sz="2400" b="0" u="sng" dirty="0" smtClean="0">
                <a:solidFill>
                  <a:schemeClr val="accent2"/>
                </a:solidFill>
                <a:latin typeface="Arial" panose="020B0604020202020204" pitchFamily="34" charset="0"/>
                <a:ea typeface="+mj-ea"/>
                <a:cs typeface="Arial" panose="020B0604020202020204" pitchFamily="34" charset="0"/>
              </a:rPr>
              <a:t>Accountable</a:t>
            </a:r>
            <a:r>
              <a:rPr lang="en-US" altLang="en-US" sz="2400" b="0" dirty="0" smtClean="0">
                <a:solidFill>
                  <a:schemeClr val="accent2"/>
                </a:solidFill>
                <a:latin typeface="Arial" panose="020B0604020202020204" pitchFamily="34" charset="0"/>
                <a:ea typeface="+mj-ea"/>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5105400"/>
            <a:ext cx="8640000" cy="10506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6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Simply</a:t>
            </a:r>
            <a:r>
              <a:rPr lang="en-US" altLang="en-US" sz="16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responsible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person is “the doer</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accountable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person “checks that the doer has done their job, and </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applies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appropriate consequences</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09074942"/>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3)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Relationships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Relative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Positions of Authority</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as defined by 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Models: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Between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and Your Direct Supervisor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Between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and The People that Work for You</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in the context of the two models:</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work for you are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a:t>
            </a:r>
            <a:b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 they do</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supervisor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are accountable for your people and</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hold your people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the performance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work.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Moving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up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Models,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supervisor, are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supervising </a:t>
            </a:r>
            <a:b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people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e.g. directing their work and holding them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 for the performance of their work.</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direct supervisor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hold you 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performance in supervising the people that work for you.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smtClean="0">
                <a:solidFill>
                  <a:schemeClr val="accent2"/>
                </a:solidFill>
                <a:latin typeface="Arial" panose="020B0604020202020204" pitchFamily="34" charset="0"/>
                <a:ea typeface="+mj-ea"/>
                <a:cs typeface="Arial" panose="020B0604020202020204" pitchFamily="34" charset="0"/>
              </a:rPr>
              <a:t>Responsible, Accountable, Line Management and Two Key Relationships:</a:t>
            </a:r>
            <a:endParaRPr lang="en-US" altLang="en-US"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15" name="Picture 14"/>
          <p:cNvPicPr preferRelativeResize="0">
            <a:picLocks/>
          </p:cNvPicPr>
          <p:nvPr/>
        </p:nvPicPr>
        <p:blipFill>
          <a:blip r:embed="rId3"/>
          <a:stretch>
            <a:fillRect/>
          </a:stretch>
        </p:blipFill>
        <p:spPr>
          <a:xfrm>
            <a:off x="7121670" y="3492000"/>
            <a:ext cx="1869930" cy="1613400"/>
          </a:xfrm>
          <a:prstGeom prst="rect">
            <a:avLst/>
          </a:prstGeom>
          <a:ln>
            <a:solidFill>
              <a:schemeClr val="tx1"/>
            </a:solidFill>
          </a:ln>
        </p:spPr>
      </p:pic>
      <p:pic>
        <p:nvPicPr>
          <p:cNvPr id="2" name="Picture 1"/>
          <p:cNvPicPr>
            <a:picLocks noChangeAspect="1"/>
          </p:cNvPicPr>
          <p:nvPr/>
        </p:nvPicPr>
        <p:blipFill>
          <a:blip r:embed="rId4"/>
          <a:stretch>
            <a:fillRect/>
          </a:stretch>
        </p:blipFill>
        <p:spPr>
          <a:xfrm>
            <a:off x="7106949" y="864000"/>
            <a:ext cx="1884651" cy="2511750"/>
          </a:xfrm>
          <a:prstGeom prst="rect">
            <a:avLst/>
          </a:prstGeom>
        </p:spPr>
      </p:pic>
    </p:spTree>
    <p:extLst>
      <p:ext uri="{BB962C8B-B14F-4D97-AF65-F5344CB8AC3E}">
        <p14:creationId xmlns:p14="http://schemas.microsoft.com/office/powerpoint/2010/main" val="2876497896"/>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People that Work for You</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 an explanation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more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detail:</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work for you</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workers) are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the duties that they perform.</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supervisor of the workers, are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that work for you</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direct them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their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 i.e. you assign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 to them, and</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hold</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that work for you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p>
          <a:p>
            <a:pPr marL="108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on their performance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a:t>
            </a:r>
          </a:p>
          <a:p>
            <a:pPr marL="108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consequences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based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performance:</a:t>
            </a:r>
          </a:p>
          <a:p>
            <a:pPr marL="144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Positive: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commend 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for their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meets or exceeds expectations;</a:t>
            </a:r>
          </a:p>
          <a:p>
            <a:pPr marL="144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Negative: you “coach your workers to be successful ”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re-train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mentor, correct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behaviours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perhaps reprimand or demote or terminate, for work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does not meet expectations.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a:solidFill>
                  <a:schemeClr val="accent2"/>
                </a:solidFill>
                <a:latin typeface="Arial" panose="020B0604020202020204" pitchFamily="34" charset="0"/>
                <a:ea typeface="+mj-ea"/>
                <a:cs typeface="Arial" panose="020B0604020202020204" pitchFamily="34" charset="0"/>
              </a:rPr>
              <a:t>Responsible, Accountable, Line Management and Two Key Relationships: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preferRelativeResize="0">
            <a:picLocks/>
          </p:cNvPicPr>
          <p:nvPr/>
        </p:nvPicPr>
        <p:blipFill>
          <a:blip r:embed="rId3"/>
          <a:stretch>
            <a:fillRect/>
          </a:stretch>
        </p:blipFill>
        <p:spPr>
          <a:xfrm>
            <a:off x="5940000" y="1260000"/>
            <a:ext cx="2880000" cy="1980000"/>
          </a:xfrm>
          <a:prstGeom prst="rect">
            <a:avLst/>
          </a:prstGeom>
        </p:spPr>
      </p:pic>
    </p:spTree>
    <p:extLst>
      <p:ext uri="{BB962C8B-B14F-4D97-AF65-F5344CB8AC3E}">
        <p14:creationId xmlns:p14="http://schemas.microsoft.com/office/powerpoint/2010/main" val="1160200756"/>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sz="180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Direct Supervisor</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explanation in more detail:</a:t>
            </a: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direct supervisor</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responsible for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supervising you</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p>
          <a:p>
            <a:pPr marL="72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hold you 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supervise the people that work for you.</a:t>
            </a:r>
          </a:p>
          <a:p>
            <a:pPr marL="72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direct supervisor MUST hold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 </a:t>
            </a:r>
            <a:b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in order to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fulfil their duties. 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other words:</a:t>
            </a:r>
          </a:p>
          <a:p>
            <a:pPr marL="72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 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performance,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a:t>
            </a:r>
          </a:p>
          <a:p>
            <a:pPr marL="720000" lvl="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apply consequences based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 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a:t>
            </a:r>
          </a:p>
          <a:p>
            <a:pPr marL="108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Positive: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direct supervisor commends you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that meets or exceeds expectations</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OR</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08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Negative: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they “coach you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be successful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re-train, mentor, correct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behaviours,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perhaps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reprimand or demote or terminate, for </a:t>
            </a:r>
            <a:b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 that does not meet expectations.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a:solidFill>
                  <a:schemeClr val="accent2"/>
                </a:solidFill>
                <a:latin typeface="Arial" panose="020B0604020202020204" pitchFamily="34" charset="0"/>
                <a:ea typeface="+mj-ea"/>
                <a:cs typeface="Arial" panose="020B0604020202020204" pitchFamily="34" charset="0"/>
              </a:rPr>
              <a:t>Responsible, Accountable, Line Management and Two Key Relationships: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preferRelativeResize="0">
            <a:picLocks/>
          </p:cNvPicPr>
          <p:nvPr/>
        </p:nvPicPr>
        <p:blipFill>
          <a:blip r:embed="rId3"/>
          <a:stretch>
            <a:fillRect/>
          </a:stretch>
        </p:blipFill>
        <p:spPr>
          <a:xfrm>
            <a:off x="5940000" y="1260000"/>
            <a:ext cx="2880000" cy="1980000"/>
          </a:xfrm>
          <a:prstGeom prst="rect">
            <a:avLst/>
          </a:prstGeom>
        </p:spPr>
      </p:pic>
    </p:spTree>
    <p:extLst>
      <p:ext uri="{BB962C8B-B14F-4D97-AF65-F5344CB8AC3E}">
        <p14:creationId xmlns:p14="http://schemas.microsoft.com/office/powerpoint/2010/main" val="2199782331"/>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any organization, people are assigned responsibilities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held accountable for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performance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their responsibilities.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interconnection</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responsibilities and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accountabilities</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Moves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up through the Models …</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Drives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individuals and the organization towards successful achievement of mutual goals.</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b="0" dirty="0">
                <a:solidFill>
                  <a:schemeClr val="accent2"/>
                </a:solidFill>
                <a:latin typeface="Arial" panose="020B0604020202020204" pitchFamily="34" charset="0"/>
                <a:ea typeface="+mj-ea"/>
                <a:cs typeface="Arial" panose="020B0604020202020204" pitchFamily="34" charset="0"/>
              </a:rPr>
              <a:t>Responsible, Accountable, Line Management and Two Key Relationships: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15" name="Picture 14"/>
          <p:cNvPicPr preferRelativeResize="0">
            <a:picLocks/>
          </p:cNvPicPr>
          <p:nvPr/>
        </p:nvPicPr>
        <p:blipFill>
          <a:blip r:embed="rId3"/>
          <a:stretch>
            <a:fillRect/>
          </a:stretch>
        </p:blipFill>
        <p:spPr>
          <a:xfrm>
            <a:off x="4953000" y="2590800"/>
            <a:ext cx="3327000" cy="2370600"/>
          </a:xfrm>
          <a:prstGeom prst="rect">
            <a:avLst/>
          </a:prstGeom>
          <a:ln>
            <a:solidFill>
              <a:schemeClr val="tx1"/>
            </a:solidFill>
          </a:ln>
        </p:spPr>
      </p:pic>
      <p:cxnSp>
        <p:nvCxnSpPr>
          <p:cNvPr id="16" name="Straight Arrow Connector 15"/>
          <p:cNvCxnSpPr/>
          <p:nvPr/>
        </p:nvCxnSpPr>
        <p:spPr>
          <a:xfrm flipV="1">
            <a:off x="6172200" y="2971800"/>
            <a:ext cx="0" cy="1447800"/>
          </a:xfrm>
          <a:prstGeom prst="straightConnector1">
            <a:avLst/>
          </a:prstGeom>
          <a:ln w="76200">
            <a:solidFill>
              <a:srgbClr val="0000CC"/>
            </a:solidFill>
            <a:prstDash val="sysDash"/>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3"/>
          <p:cNvSpPr>
            <a:spLocks noChangeArrowheads="1"/>
          </p:cNvSpPr>
          <p:nvPr/>
        </p:nvSpPr>
        <p:spPr bwMode="auto">
          <a:xfrm>
            <a:off x="180000" y="5105400"/>
            <a:ext cx="8640000" cy="10506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6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Does an example of this model come to mind?</a:t>
            </a:r>
            <a:endParaRPr lang="en-US" altLang="en-US" sz="160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responsible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person is “the doer</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accountable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person “checks that the doer has done their job, and </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applies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appropriate consequences</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4"/>
          <a:stretch>
            <a:fillRect/>
          </a:stretch>
        </p:blipFill>
        <p:spPr>
          <a:xfrm>
            <a:off x="981585" y="2590800"/>
            <a:ext cx="1805753" cy="2406600"/>
          </a:xfrm>
          <a:prstGeom prst="rect">
            <a:avLst/>
          </a:prstGeom>
        </p:spPr>
      </p:pic>
      <p:cxnSp>
        <p:nvCxnSpPr>
          <p:cNvPr id="3" name="Straight Arrow Connector 2"/>
          <p:cNvCxnSpPr/>
          <p:nvPr/>
        </p:nvCxnSpPr>
        <p:spPr>
          <a:xfrm flipV="1">
            <a:off x="1219200" y="2971800"/>
            <a:ext cx="0" cy="1524000"/>
          </a:xfrm>
          <a:prstGeom prst="straightConnector1">
            <a:avLst/>
          </a:prstGeom>
          <a:ln w="76200">
            <a:solidFill>
              <a:srgbClr val="0000CC"/>
            </a:solidFill>
            <a:prstDash val="sysDash"/>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790006"/>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CC"/>
          </a:solidFill>
          <a:ln>
            <a:solidFill>
              <a:srgbClr val="0000CC"/>
            </a:solidFill>
          </a:ln>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#2: Line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RACI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TextBox 1"/>
          <p:cNvSpPr txBox="1"/>
          <p:nvPr/>
        </p:nvSpPr>
        <p:spPr>
          <a:xfrm>
            <a:off x="360000" y="1600200"/>
            <a:ext cx="2880000" cy="396000"/>
          </a:xfrm>
          <a:prstGeom prst="rect">
            <a:avLst/>
          </a:prstGeom>
          <a:solidFill>
            <a:schemeClr val="bg1"/>
          </a:solidFill>
          <a:ln>
            <a:solidFill>
              <a:schemeClr val="tx1"/>
            </a:solidFill>
          </a:ln>
        </p:spPr>
        <p:txBody>
          <a:bodyPr wrap="square" rtlCol="0">
            <a:spAutoFit/>
          </a:bodyPr>
          <a:lstStyle/>
          <a:p>
            <a:pPr algn="ctr"/>
            <a:r>
              <a:rPr lang="en-US" dirty="0" smtClean="0"/>
              <a:t>Stockholders / Owners</a:t>
            </a:r>
            <a:endParaRPr lang="en-US" dirty="0"/>
          </a:p>
        </p:txBody>
      </p:sp>
      <p:sp>
        <p:nvSpPr>
          <p:cNvPr id="13" name="TextBox 12"/>
          <p:cNvSpPr txBox="1"/>
          <p:nvPr/>
        </p:nvSpPr>
        <p:spPr>
          <a:xfrm>
            <a:off x="360000" y="2215302"/>
            <a:ext cx="2880000" cy="396000"/>
          </a:xfrm>
          <a:prstGeom prst="rect">
            <a:avLst/>
          </a:prstGeom>
          <a:solidFill>
            <a:schemeClr val="bg1"/>
          </a:solidFill>
          <a:ln>
            <a:solidFill>
              <a:schemeClr val="tx1"/>
            </a:solidFill>
          </a:ln>
        </p:spPr>
        <p:txBody>
          <a:bodyPr wrap="square" rtlCol="0">
            <a:spAutoFit/>
          </a:bodyPr>
          <a:lstStyle/>
          <a:p>
            <a:pPr algn="ctr"/>
            <a:r>
              <a:rPr lang="en-US" dirty="0" smtClean="0"/>
              <a:t>Board of Directors</a:t>
            </a:r>
            <a:endParaRPr lang="en-US" dirty="0"/>
          </a:p>
        </p:txBody>
      </p:sp>
      <p:sp>
        <p:nvSpPr>
          <p:cNvPr id="18" name="TextBox 17"/>
          <p:cNvSpPr txBox="1"/>
          <p:nvPr/>
        </p:nvSpPr>
        <p:spPr>
          <a:xfrm>
            <a:off x="360000" y="2830404"/>
            <a:ext cx="2880000" cy="396000"/>
          </a:xfrm>
          <a:prstGeom prst="rect">
            <a:avLst/>
          </a:prstGeom>
          <a:solidFill>
            <a:schemeClr val="bg1"/>
          </a:solidFill>
          <a:ln>
            <a:solidFill>
              <a:schemeClr val="tx1"/>
            </a:solidFill>
          </a:ln>
        </p:spPr>
        <p:txBody>
          <a:bodyPr wrap="square" rtlCol="0">
            <a:spAutoFit/>
          </a:bodyPr>
          <a:lstStyle/>
          <a:p>
            <a:pPr algn="ctr"/>
            <a:r>
              <a:rPr lang="en-US" dirty="0" smtClean="0"/>
              <a:t>Directors Executives</a:t>
            </a:r>
            <a:endParaRPr lang="en-US" dirty="0"/>
          </a:p>
        </p:txBody>
      </p:sp>
      <p:sp>
        <p:nvSpPr>
          <p:cNvPr id="19" name="TextBox 18"/>
          <p:cNvSpPr txBox="1"/>
          <p:nvPr/>
        </p:nvSpPr>
        <p:spPr>
          <a:xfrm>
            <a:off x="360000" y="3445506"/>
            <a:ext cx="2880000" cy="369332"/>
          </a:xfrm>
          <a:prstGeom prst="rect">
            <a:avLst/>
          </a:prstGeom>
          <a:solidFill>
            <a:srgbClr val="FFC000"/>
          </a:solidFill>
          <a:ln>
            <a:solidFill>
              <a:schemeClr val="tx1"/>
            </a:solidFill>
          </a:ln>
        </p:spPr>
        <p:txBody>
          <a:bodyPr wrap="square" rtlCol="0">
            <a:spAutoFit/>
          </a:bodyPr>
          <a:lstStyle>
            <a:defPPr>
              <a:defRPr lang="en-US"/>
            </a:defPPr>
            <a:lvl1pPr algn="ctr"/>
          </a:lstStyle>
          <a:p>
            <a:r>
              <a:rPr lang="en-US" dirty="0"/>
              <a:t>Managers</a:t>
            </a:r>
          </a:p>
        </p:txBody>
      </p:sp>
      <p:sp>
        <p:nvSpPr>
          <p:cNvPr id="20" name="TextBox 19"/>
          <p:cNvSpPr txBox="1"/>
          <p:nvPr/>
        </p:nvSpPr>
        <p:spPr>
          <a:xfrm>
            <a:off x="360000" y="4060608"/>
            <a:ext cx="2880000" cy="369332"/>
          </a:xfrm>
          <a:prstGeom prst="rect">
            <a:avLst/>
          </a:prstGeom>
          <a:solidFill>
            <a:srgbClr val="0000CC"/>
          </a:solidFill>
          <a:ln>
            <a:solidFill>
              <a:srgbClr val="0000CC"/>
            </a:solidFill>
          </a:ln>
        </p:spPr>
        <p:txBody>
          <a:bodyPr wrap="square" rtlCol="0">
            <a:spAutoFit/>
          </a:bodyPr>
          <a:lstStyle>
            <a:defPPr>
              <a:defRPr lang="en-US"/>
            </a:defPPr>
            <a:lvl1pPr algn="ctr">
              <a:defRPr>
                <a:solidFill>
                  <a:schemeClr val="bg1"/>
                </a:solidFill>
              </a:defRPr>
            </a:lvl1pPr>
          </a:lstStyle>
          <a:p>
            <a:r>
              <a:rPr lang="en-US" dirty="0"/>
              <a:t>Supervisors</a:t>
            </a:r>
          </a:p>
        </p:txBody>
      </p:sp>
      <p:sp>
        <p:nvSpPr>
          <p:cNvPr id="21" name="TextBox 20"/>
          <p:cNvSpPr txBox="1"/>
          <p:nvPr/>
        </p:nvSpPr>
        <p:spPr>
          <a:xfrm>
            <a:off x="360000" y="4675710"/>
            <a:ext cx="2880000" cy="369332"/>
          </a:xfrm>
          <a:prstGeom prst="rect">
            <a:avLst/>
          </a:prstGeom>
          <a:solidFill>
            <a:schemeClr val="bg1"/>
          </a:solidFill>
          <a:ln>
            <a:solidFill>
              <a:schemeClr val="tx1"/>
            </a:solidFill>
          </a:ln>
        </p:spPr>
        <p:txBody>
          <a:bodyPr wrap="square" rtlCol="0">
            <a:spAutoFit/>
          </a:bodyPr>
          <a:lstStyle>
            <a:defPPr>
              <a:defRPr lang="en-US"/>
            </a:defPPr>
            <a:lvl1pPr algn="ctr"/>
          </a:lstStyle>
          <a:p>
            <a:r>
              <a:rPr lang="en-US" dirty="0"/>
              <a:t>Workers</a:t>
            </a:r>
          </a:p>
        </p:txBody>
      </p:sp>
      <p:sp>
        <p:nvSpPr>
          <p:cNvPr id="22" name="TextBox 21"/>
          <p:cNvSpPr txBox="1"/>
          <p:nvPr/>
        </p:nvSpPr>
        <p:spPr>
          <a:xfrm>
            <a:off x="360000" y="5290812"/>
            <a:ext cx="2880000" cy="369332"/>
          </a:xfrm>
          <a:prstGeom prst="rect">
            <a:avLst/>
          </a:prstGeom>
          <a:solidFill>
            <a:srgbClr val="008000"/>
          </a:solidFill>
          <a:ln>
            <a:solidFill>
              <a:schemeClr val="tx1"/>
            </a:solidFill>
          </a:ln>
        </p:spPr>
        <p:txBody>
          <a:bodyPr wrap="square" rtlCol="0">
            <a:spAutoFit/>
          </a:bodyPr>
          <a:lstStyle/>
          <a:p>
            <a:pPr algn="ctr"/>
            <a:r>
              <a:rPr lang="en-US" dirty="0" smtClean="0">
                <a:solidFill>
                  <a:schemeClr val="bg1"/>
                </a:solidFill>
              </a:rPr>
              <a:t>Effective Action</a:t>
            </a:r>
            <a:endParaRPr lang="en-US" dirty="0">
              <a:solidFill>
                <a:schemeClr val="bg1"/>
              </a:solidFill>
            </a:endParaRPr>
          </a:p>
        </p:txBody>
      </p:sp>
      <p:sp>
        <p:nvSpPr>
          <p:cNvPr id="23" name="Rectangle 3"/>
          <p:cNvSpPr>
            <a:spLocks noChangeArrowheads="1"/>
          </p:cNvSpPr>
          <p:nvPr/>
        </p:nvSpPr>
        <p:spPr bwMode="auto">
          <a:xfrm>
            <a:off x="180000" y="828000"/>
            <a:ext cx="3401400" cy="5328000"/>
          </a:xfrm>
          <a:prstGeom prst="rect">
            <a:avLst/>
          </a:prstGeom>
          <a:no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Line Management</a:t>
            </a:r>
            <a:r>
              <a:rPr kumimoji="0" lang="en-US"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Model:</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Font typeface="Arial" panose="020B0604020202020204"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cxnSp>
        <p:nvCxnSpPr>
          <p:cNvPr id="6" name="Straight Arrow Connector 5"/>
          <p:cNvCxnSpPr>
            <a:stCxn id="2" idx="2"/>
            <a:endCxn id="13" idx="0"/>
          </p:cNvCxnSpPr>
          <p:nvPr/>
        </p:nvCxnSpPr>
        <p:spPr>
          <a:xfrm>
            <a:off x="1800000" y="1996200"/>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3" idx="2"/>
            <a:endCxn id="18" idx="0"/>
          </p:cNvCxnSpPr>
          <p:nvPr/>
        </p:nvCxnSpPr>
        <p:spPr>
          <a:xfrm>
            <a:off x="1800000" y="2611302"/>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8" idx="2"/>
            <a:endCxn id="19" idx="0"/>
          </p:cNvCxnSpPr>
          <p:nvPr/>
        </p:nvCxnSpPr>
        <p:spPr>
          <a:xfrm>
            <a:off x="1800000" y="3226404"/>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9" idx="2"/>
            <a:endCxn id="20" idx="0"/>
          </p:cNvCxnSpPr>
          <p:nvPr/>
        </p:nvCxnSpPr>
        <p:spPr>
          <a:xfrm>
            <a:off x="1800000" y="3841506"/>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0" idx="2"/>
            <a:endCxn id="21" idx="0"/>
          </p:cNvCxnSpPr>
          <p:nvPr/>
        </p:nvCxnSpPr>
        <p:spPr>
          <a:xfrm>
            <a:off x="1800000" y="4456608"/>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2"/>
            <a:endCxn id="22" idx="0"/>
          </p:cNvCxnSpPr>
          <p:nvPr/>
        </p:nvCxnSpPr>
        <p:spPr>
          <a:xfrm>
            <a:off x="1800000" y="5045042"/>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
          <p:cNvSpPr>
            <a:spLocks noChangeArrowheads="1"/>
          </p:cNvSpPr>
          <p:nvPr/>
        </p:nvSpPr>
        <p:spPr bwMode="auto">
          <a:xfrm>
            <a:off x="3657600" y="828000"/>
            <a:ext cx="5162400" cy="5328000"/>
          </a:xfrm>
          <a:prstGeom prst="rect">
            <a:avLst/>
          </a:prstGeom>
          <a:solidFill>
            <a:srgbClr val="0000CC"/>
          </a:solidFill>
          <a:ln w="9525">
            <a:solidFill>
              <a:srgbClr val="0000CC"/>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hangingPunct="0">
              <a:lnSpc>
                <a:spcPct val="90000"/>
              </a:lnSpc>
              <a:spcBef>
                <a:spcPts val="0"/>
              </a:spcBef>
              <a:buClr>
                <a:srgbClr val="000000"/>
              </a:buClr>
              <a:buSzPct val="100000"/>
              <a:buNone/>
              <a:defRPr/>
            </a:pPr>
            <a:r>
              <a:rPr lang="en-US" altLang="en-US" sz="18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 and Accountable:</a:t>
            </a: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8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Please confer</a:t>
            </a:r>
            <a:r>
              <a:rPr kumimoji="0" lang="en-US" altLang="en-US" sz="180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(MM-Poll)</a:t>
            </a:r>
            <a:r>
              <a:rPr kumimoji="0" lang="en-US" altLang="en-US" sz="18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lang="en-US" altLang="en-US" sz="18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hangingPunct="0">
              <a:lnSpc>
                <a:spcPct val="90000"/>
              </a:lnSpc>
              <a:spcBef>
                <a:spcPts val="0"/>
              </a:spcBef>
              <a:buClr>
                <a:srgbClr val="000000"/>
              </a:buClr>
              <a:buSzPct val="100000"/>
              <a:buNone/>
              <a:defRPr/>
            </a:pP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In the model depicted, given that the </a:t>
            </a:r>
            <a:r>
              <a:rPr lang="en-CA" altLang="en-US" sz="18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Supervisor</a:t>
            </a:r>
            <a:r>
              <a:rPr lang="en-CA"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is:</a:t>
            </a: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800" b="0" u="sng"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a:t>
            </a: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for checking that the worker is fulfilling their duties AND </a:t>
            </a: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800" b="0" u="sng"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a:t>
            </a: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for holding the worker accountable for their work, </a:t>
            </a:r>
            <a:endPar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indent="0" eaLnBrk="0" hangingPunct="0">
              <a:lnSpc>
                <a:spcPct val="90000"/>
              </a:lnSpc>
              <a:spcBef>
                <a:spcPts val="0"/>
              </a:spcBef>
              <a:buClrTx/>
              <a:buSzPct val="100000"/>
              <a:buNone/>
              <a:defRPr/>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indent="0" eaLnBrk="0" hangingPunct="0">
              <a:lnSpc>
                <a:spcPct val="90000"/>
              </a:lnSpc>
              <a:spcBef>
                <a:spcPts val="0"/>
              </a:spcBef>
              <a:buClrTx/>
              <a:buSzPct val="100000"/>
              <a:buNone/>
              <a:defRPr/>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What is </a:t>
            </a: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a:t>
            </a:r>
            <a:r>
              <a:rPr lang="en-CA" altLang="en-US" sz="18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Manager’s role</a:t>
            </a: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Manager is the person accountable for:</a:t>
            </a:r>
            <a:b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b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(choices are noted on </a:t>
            </a:r>
            <a:r>
              <a:rPr lang="en-CA" altLang="en-US" sz="1800" b="0" dirty="0" err="1"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Mentimeter</a:t>
            </a:r>
            <a:r>
              <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kumimoji="0" lang="en-CA" altLang="en-US" sz="18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29" name="Rounded Rectangle 28"/>
          <p:cNvSpPr/>
          <p:nvPr/>
        </p:nvSpPr>
        <p:spPr bwMode="auto">
          <a:xfrm>
            <a:off x="228600" y="3352800"/>
            <a:ext cx="3124200" cy="1219200"/>
          </a:xfrm>
          <a:prstGeom prst="roundRect">
            <a:avLst/>
          </a:prstGeom>
          <a:noFill/>
          <a:ln w="38100">
            <a:solidFill>
              <a:srgbClr val="7030A0"/>
            </a:solidFill>
            <a:miter lim="800000"/>
            <a:headEnd/>
            <a:tailEnd/>
          </a:ln>
        </p:spPr>
        <p:txBody>
          <a:bodyPr rtlCol="0" anchor="ctr"/>
          <a:lstStyle/>
          <a:p>
            <a:pPr marL="0" marR="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pPr>
            <a:endParaRPr kumimoji="0" 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3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768818096"/>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Line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RACI</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TextBox 1"/>
          <p:cNvSpPr txBox="1"/>
          <p:nvPr/>
        </p:nvSpPr>
        <p:spPr>
          <a:xfrm>
            <a:off x="360000" y="1600200"/>
            <a:ext cx="2880000" cy="396000"/>
          </a:xfrm>
          <a:prstGeom prst="rect">
            <a:avLst/>
          </a:prstGeom>
          <a:solidFill>
            <a:schemeClr val="bg1"/>
          </a:solidFill>
          <a:ln>
            <a:solidFill>
              <a:schemeClr val="tx1"/>
            </a:solidFill>
          </a:ln>
        </p:spPr>
        <p:txBody>
          <a:bodyPr wrap="square" rtlCol="0">
            <a:spAutoFit/>
          </a:bodyPr>
          <a:lstStyle/>
          <a:p>
            <a:pPr algn="ctr"/>
            <a:r>
              <a:rPr lang="en-US" dirty="0" smtClean="0"/>
              <a:t>Stockholders / Owners</a:t>
            </a:r>
            <a:endParaRPr lang="en-US" dirty="0"/>
          </a:p>
        </p:txBody>
      </p:sp>
      <p:sp>
        <p:nvSpPr>
          <p:cNvPr id="13" name="TextBox 12"/>
          <p:cNvSpPr txBox="1"/>
          <p:nvPr/>
        </p:nvSpPr>
        <p:spPr>
          <a:xfrm>
            <a:off x="360000" y="2215302"/>
            <a:ext cx="2880000" cy="396000"/>
          </a:xfrm>
          <a:prstGeom prst="rect">
            <a:avLst/>
          </a:prstGeom>
          <a:solidFill>
            <a:schemeClr val="bg1"/>
          </a:solidFill>
          <a:ln>
            <a:solidFill>
              <a:schemeClr val="tx1"/>
            </a:solidFill>
          </a:ln>
        </p:spPr>
        <p:txBody>
          <a:bodyPr wrap="square" rtlCol="0">
            <a:spAutoFit/>
          </a:bodyPr>
          <a:lstStyle/>
          <a:p>
            <a:pPr algn="ctr"/>
            <a:r>
              <a:rPr lang="en-US" dirty="0" smtClean="0"/>
              <a:t>Board of Directors</a:t>
            </a:r>
            <a:endParaRPr lang="en-US" dirty="0"/>
          </a:p>
        </p:txBody>
      </p:sp>
      <p:sp>
        <p:nvSpPr>
          <p:cNvPr id="18" name="TextBox 17"/>
          <p:cNvSpPr txBox="1"/>
          <p:nvPr/>
        </p:nvSpPr>
        <p:spPr>
          <a:xfrm>
            <a:off x="360000" y="2830404"/>
            <a:ext cx="2880000" cy="396000"/>
          </a:xfrm>
          <a:prstGeom prst="rect">
            <a:avLst/>
          </a:prstGeom>
          <a:solidFill>
            <a:schemeClr val="bg1"/>
          </a:solidFill>
          <a:ln>
            <a:solidFill>
              <a:schemeClr val="tx1"/>
            </a:solidFill>
          </a:ln>
        </p:spPr>
        <p:txBody>
          <a:bodyPr wrap="square" rtlCol="0">
            <a:spAutoFit/>
          </a:bodyPr>
          <a:lstStyle/>
          <a:p>
            <a:pPr algn="ctr"/>
            <a:r>
              <a:rPr lang="en-US" dirty="0" smtClean="0"/>
              <a:t>Directors Executives</a:t>
            </a:r>
            <a:endParaRPr lang="en-US" dirty="0"/>
          </a:p>
        </p:txBody>
      </p:sp>
      <p:sp>
        <p:nvSpPr>
          <p:cNvPr id="19" name="TextBox 18"/>
          <p:cNvSpPr txBox="1"/>
          <p:nvPr/>
        </p:nvSpPr>
        <p:spPr>
          <a:xfrm>
            <a:off x="360000" y="3445506"/>
            <a:ext cx="2880000" cy="369332"/>
          </a:xfrm>
          <a:prstGeom prst="rect">
            <a:avLst/>
          </a:prstGeom>
          <a:solidFill>
            <a:srgbClr val="FFC000"/>
          </a:solidFill>
          <a:ln>
            <a:solidFill>
              <a:schemeClr val="tx1"/>
            </a:solidFill>
          </a:ln>
        </p:spPr>
        <p:txBody>
          <a:bodyPr wrap="square" rtlCol="0">
            <a:spAutoFit/>
          </a:bodyPr>
          <a:lstStyle>
            <a:defPPr>
              <a:defRPr lang="en-US"/>
            </a:defPPr>
            <a:lvl1pPr algn="ctr"/>
          </a:lstStyle>
          <a:p>
            <a:r>
              <a:rPr lang="en-US" dirty="0"/>
              <a:t>Managers</a:t>
            </a:r>
          </a:p>
        </p:txBody>
      </p:sp>
      <p:sp>
        <p:nvSpPr>
          <p:cNvPr id="20" name="TextBox 19"/>
          <p:cNvSpPr txBox="1"/>
          <p:nvPr/>
        </p:nvSpPr>
        <p:spPr>
          <a:xfrm>
            <a:off x="360000" y="4060608"/>
            <a:ext cx="2880000" cy="369332"/>
          </a:xfrm>
          <a:prstGeom prst="rect">
            <a:avLst/>
          </a:prstGeom>
          <a:solidFill>
            <a:srgbClr val="0000CC"/>
          </a:solidFill>
          <a:ln>
            <a:solidFill>
              <a:srgbClr val="0000CC"/>
            </a:solidFill>
          </a:ln>
        </p:spPr>
        <p:txBody>
          <a:bodyPr wrap="square" rtlCol="0">
            <a:spAutoFit/>
          </a:bodyPr>
          <a:lstStyle>
            <a:defPPr>
              <a:defRPr lang="en-US"/>
            </a:defPPr>
            <a:lvl1pPr algn="ctr">
              <a:defRPr>
                <a:solidFill>
                  <a:schemeClr val="bg1"/>
                </a:solidFill>
              </a:defRPr>
            </a:lvl1pPr>
          </a:lstStyle>
          <a:p>
            <a:r>
              <a:rPr lang="en-US" dirty="0"/>
              <a:t>Supervisors</a:t>
            </a:r>
          </a:p>
        </p:txBody>
      </p:sp>
      <p:sp>
        <p:nvSpPr>
          <p:cNvPr id="21" name="TextBox 20"/>
          <p:cNvSpPr txBox="1"/>
          <p:nvPr/>
        </p:nvSpPr>
        <p:spPr>
          <a:xfrm>
            <a:off x="360000" y="4675710"/>
            <a:ext cx="2880000" cy="369332"/>
          </a:xfrm>
          <a:prstGeom prst="rect">
            <a:avLst/>
          </a:prstGeom>
          <a:solidFill>
            <a:schemeClr val="bg1"/>
          </a:solidFill>
          <a:ln>
            <a:solidFill>
              <a:schemeClr val="tx1"/>
            </a:solidFill>
          </a:ln>
        </p:spPr>
        <p:txBody>
          <a:bodyPr wrap="square" rtlCol="0">
            <a:spAutoFit/>
          </a:bodyPr>
          <a:lstStyle>
            <a:defPPr>
              <a:defRPr lang="en-US"/>
            </a:defPPr>
            <a:lvl1pPr algn="ctr"/>
          </a:lstStyle>
          <a:p>
            <a:r>
              <a:rPr lang="en-US" dirty="0"/>
              <a:t>Workers</a:t>
            </a:r>
          </a:p>
        </p:txBody>
      </p:sp>
      <p:sp>
        <p:nvSpPr>
          <p:cNvPr id="22" name="TextBox 21"/>
          <p:cNvSpPr txBox="1"/>
          <p:nvPr/>
        </p:nvSpPr>
        <p:spPr>
          <a:xfrm>
            <a:off x="360000" y="5290812"/>
            <a:ext cx="2880000" cy="369332"/>
          </a:xfrm>
          <a:prstGeom prst="rect">
            <a:avLst/>
          </a:prstGeom>
          <a:solidFill>
            <a:srgbClr val="008000"/>
          </a:solidFill>
          <a:ln>
            <a:solidFill>
              <a:schemeClr val="tx1"/>
            </a:solidFill>
          </a:ln>
        </p:spPr>
        <p:txBody>
          <a:bodyPr wrap="square" rtlCol="0">
            <a:spAutoFit/>
          </a:bodyPr>
          <a:lstStyle/>
          <a:p>
            <a:pPr algn="ctr"/>
            <a:r>
              <a:rPr lang="en-US" dirty="0" smtClean="0">
                <a:solidFill>
                  <a:schemeClr val="bg1"/>
                </a:solidFill>
              </a:rPr>
              <a:t>Effective Action</a:t>
            </a:r>
            <a:endParaRPr lang="en-US" dirty="0">
              <a:solidFill>
                <a:schemeClr val="bg1"/>
              </a:solidFill>
            </a:endParaRPr>
          </a:p>
        </p:txBody>
      </p:sp>
      <p:sp>
        <p:nvSpPr>
          <p:cNvPr id="23" name="Rectangle 3"/>
          <p:cNvSpPr>
            <a:spLocks noChangeArrowheads="1"/>
          </p:cNvSpPr>
          <p:nvPr/>
        </p:nvSpPr>
        <p:spPr bwMode="auto">
          <a:xfrm>
            <a:off x="180000" y="828000"/>
            <a:ext cx="3401400" cy="5328000"/>
          </a:xfrm>
          <a:prstGeom prst="rect">
            <a:avLst/>
          </a:prstGeom>
          <a:no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sym typeface="Arial"/>
              </a:rPr>
              <a:t>The</a:t>
            </a: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Line Management</a:t>
            </a:r>
            <a:r>
              <a:rPr kumimoji="0" lang="en-US"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Model:</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Font typeface="Arial" panose="020B0604020202020204" pitchFamily="34" charset="0"/>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cxnSp>
        <p:nvCxnSpPr>
          <p:cNvPr id="6" name="Straight Arrow Connector 5"/>
          <p:cNvCxnSpPr>
            <a:stCxn id="2" idx="2"/>
            <a:endCxn id="13" idx="0"/>
          </p:cNvCxnSpPr>
          <p:nvPr/>
        </p:nvCxnSpPr>
        <p:spPr>
          <a:xfrm>
            <a:off x="1800000" y="1996200"/>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3" idx="2"/>
            <a:endCxn id="18" idx="0"/>
          </p:cNvCxnSpPr>
          <p:nvPr/>
        </p:nvCxnSpPr>
        <p:spPr>
          <a:xfrm>
            <a:off x="1800000" y="2611302"/>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8" idx="2"/>
            <a:endCxn id="19" idx="0"/>
          </p:cNvCxnSpPr>
          <p:nvPr/>
        </p:nvCxnSpPr>
        <p:spPr>
          <a:xfrm>
            <a:off x="1800000" y="3226404"/>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9" idx="2"/>
            <a:endCxn id="20" idx="0"/>
          </p:cNvCxnSpPr>
          <p:nvPr/>
        </p:nvCxnSpPr>
        <p:spPr>
          <a:xfrm>
            <a:off x="1800000" y="3841506"/>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0" idx="2"/>
            <a:endCxn id="21" idx="0"/>
          </p:cNvCxnSpPr>
          <p:nvPr/>
        </p:nvCxnSpPr>
        <p:spPr>
          <a:xfrm>
            <a:off x="1800000" y="4456608"/>
            <a:ext cx="0" cy="2191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1" idx="2"/>
            <a:endCxn id="22" idx="0"/>
          </p:cNvCxnSpPr>
          <p:nvPr/>
        </p:nvCxnSpPr>
        <p:spPr>
          <a:xfrm>
            <a:off x="1800000" y="5045042"/>
            <a:ext cx="0" cy="24577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
          <p:cNvSpPr>
            <a:spLocks noChangeArrowheads="1"/>
          </p:cNvSpPr>
          <p:nvPr/>
        </p:nvSpPr>
        <p:spPr bwMode="auto">
          <a:xfrm>
            <a:off x="3657600" y="828000"/>
            <a:ext cx="51624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lang="en-US" altLang="en-US" sz="16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 and Accountable:</a:t>
            </a:r>
            <a:endParaRPr lang="en-US" altLang="en-US" sz="16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CA"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hangingPunct="0">
              <a:lnSpc>
                <a:spcPct val="90000"/>
              </a:lnSpc>
              <a:spcBef>
                <a:spcPts val="0"/>
              </a:spcBef>
              <a:buClr>
                <a:srgbClr val="000000"/>
              </a:buClr>
              <a:buSzPct val="100000"/>
              <a:buNone/>
              <a:defRPr/>
            </a:pP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In the model depicted, given that the </a:t>
            </a:r>
            <a:r>
              <a:rPr lang="en-CA" altLang="en-US" sz="16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Supervisor</a:t>
            </a:r>
            <a:r>
              <a:rPr lang="en-CA"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is:</a:t>
            </a: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600" b="0" u="sng"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for checking that the worker is fulfilling their duties AND </a:t>
            </a:r>
            <a:endPar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hangingPunct="0">
              <a:lnSpc>
                <a:spcPct val="90000"/>
              </a:lnSpc>
              <a:spcBef>
                <a:spcPts val="0"/>
              </a:spcBef>
              <a:buClrTx/>
              <a:buSzPct val="100000"/>
              <a:buFont typeface="Wingdings" panose="05000000000000000000" pitchFamily="2" charset="2"/>
              <a:buChar char="Ø"/>
              <a:defRPr/>
            </a:pPr>
            <a:r>
              <a:rPr lang="en-US" altLang="en-US" sz="1600" b="0" u="sng"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responsible</a:t>
            </a:r>
            <a:r>
              <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a:t>
            </a:r>
            <a:r>
              <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for holding the worker accountable for their work, </a:t>
            </a:r>
            <a:endParaRPr lang="en-US"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indent="0" eaLnBrk="0" hangingPunct="0">
              <a:lnSpc>
                <a:spcPct val="90000"/>
              </a:lnSpc>
              <a:spcBef>
                <a:spcPts val="0"/>
              </a:spcBef>
              <a:buClrTx/>
              <a:buSzPct val="100000"/>
              <a:buNone/>
              <a:defRPr/>
            </a:pPr>
            <a:endParaRPr lang="en-US"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Manager is the person accountable for:</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supervisor’s</a:t>
            </a:r>
            <a:r>
              <a:rPr kumimoji="0" lang="en-CA" altLang="en-US" sz="16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performance.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600" b="0" baseline="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Checking that</a:t>
            </a: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 the Supervisor has fulfilled their duties and holds the Supervisor accountable for their work.</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overall performance of the organization based on the performance of the workers and their supervisor.</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Directing on a daily basis the activities of the workers.   </a:t>
            </a:r>
            <a:r>
              <a:rPr kumimoji="0" lang="en-CA" altLang="en-US" sz="2400" b="0" i="0"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X</a:t>
            </a:r>
            <a:endParaRPr kumimoji="0" lang="en-CA" altLang="en-US" sz="1600" b="0" i="0" u="none" strike="noStrike" kern="1200" cap="none" spc="0" normalizeH="0" baseline="0" noProof="0" dirty="0" smtClean="0">
              <a:ln>
                <a:noFill/>
              </a:ln>
              <a:solidFill>
                <a:srgbClr val="FF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Checking on the daily basis the activities of the workers.   </a:t>
            </a:r>
            <a:r>
              <a:rPr lang="en-CA" altLang="en-US" sz="2400"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sym typeface="Arial"/>
              </a:rPr>
              <a:t>X</a:t>
            </a:r>
            <a:endParaRPr lang="en-CA" altLang="en-US" sz="1600" b="0" dirty="0" smtClean="0">
              <a:solidFill>
                <a:srgbClr val="FF0000"/>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hangingPunct="0">
              <a:lnSpc>
                <a:spcPct val="90000"/>
              </a:lnSpc>
              <a:spcBef>
                <a:spcPts val="0"/>
              </a:spcBef>
              <a:buClrTx/>
              <a:buSzPct val="100000"/>
              <a:buNone/>
              <a:defRPr/>
            </a:pP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a:t>
            </a:r>
            <a:r>
              <a:rPr lang="en-CA" altLang="en-US" sz="16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last two are the responsibilities of the </a:t>
            </a:r>
            <a:r>
              <a:rPr lang="en-CA" altLang="en-US" sz="16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Supervisor!</a:t>
            </a:r>
            <a:endParaRPr kumimoji="0" lang="en-CA" altLang="en-US" sz="16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29" name="Rounded Rectangle 28"/>
          <p:cNvSpPr/>
          <p:nvPr/>
        </p:nvSpPr>
        <p:spPr bwMode="auto">
          <a:xfrm>
            <a:off x="228600" y="3352800"/>
            <a:ext cx="3124200" cy="1219200"/>
          </a:xfrm>
          <a:prstGeom prst="roundRect">
            <a:avLst/>
          </a:prstGeom>
          <a:noFill/>
          <a:ln w="38100">
            <a:solidFill>
              <a:srgbClr val="7030A0"/>
            </a:solidFill>
            <a:miter lim="800000"/>
            <a:headEnd/>
            <a:tailEnd/>
          </a:ln>
        </p:spPr>
        <p:txBody>
          <a:bodyPr rtlCol="0" anchor="ctr"/>
          <a:lstStyle/>
          <a:p>
            <a:pPr marL="0" marR="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pPr>
            <a:endParaRPr kumimoji="0" 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3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637738249"/>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80000"/>
              </a:lnSpc>
              <a:spcBef>
                <a:spcPts val="0"/>
              </a:spcBef>
              <a:spcAft>
                <a:spcPct val="0"/>
              </a:spcAft>
              <a:buClr>
                <a:srgbClr val="000000"/>
              </a:buClr>
              <a:buSzPct val="100000"/>
              <a:buFont typeface="Arial" panose="020B0604020202020204" pitchFamily="34" charset="0"/>
              <a:buNone/>
              <a:tabLst/>
              <a:defRPr/>
            </a:pPr>
            <a:r>
              <a:rPr kumimoji="0" lang="en-US" altLang="en-US" sz="14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Case Study: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 and your team are responsible for undertaking and completing a </a:t>
            </a:r>
            <a:r>
              <a:rPr kumimoji="0" lang="en-US" altLang="en-US" sz="14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Team Project Report</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for your course term work. Let’s </a:t>
            </a:r>
            <a:r>
              <a:rPr lang="en-US" altLang="en-US" sz="140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apply the Two Models</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in terms of responsibilities</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and accountabilities</a:t>
            </a:r>
            <a:r>
              <a:rPr lang="en-US" altLang="en-US" sz="140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 centric to You, the workers:</a:t>
            </a:r>
            <a:endPar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80000"/>
              </a:lnSpc>
              <a:spcBef>
                <a:spcPts val="0"/>
              </a:spcBef>
              <a:spcAft>
                <a:spcPct val="0"/>
              </a:spcAft>
              <a:buClr>
                <a:srgbClr val="000000"/>
              </a:buClr>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Each of you (the “workers”)</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is responsible:</a:t>
            </a:r>
            <a:endPar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lvl="0" indent="-360000" eaLnBrk="0" hangingPunct="0">
              <a:lnSpc>
                <a:spcPct val="80000"/>
              </a:lnSpc>
              <a:spcBef>
                <a:spcPts val="0"/>
              </a:spcBef>
              <a:buClrTx/>
              <a:buSzPct val="100000"/>
              <a:buFont typeface="Wingdings" panose="05000000000000000000" pitchFamily="2" charset="2"/>
              <a:buChar char="Ø"/>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 engage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with your team-mates, and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complete your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work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on</a:t>
            </a: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400" b="0"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Team Project </a:t>
            </a: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Report to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which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agreed;</a:t>
            </a:r>
            <a:endPar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 receive the consequences for your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level of engagement, and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quality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or quantity of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your assigned work; in other words, </a:t>
            </a:r>
            <a:b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1400" b="0" i="0" u="sng"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feedback,</a:t>
            </a:r>
            <a:r>
              <a:rPr kumimoji="0" lang="en-US" altLang="en-US" sz="1400" b="0" i="0" u="sng"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400" b="0" i="0" u="sng"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mark, and any allowable</a:t>
            </a:r>
            <a:r>
              <a:rPr kumimoji="0" lang="en-US" altLang="en-US" sz="1400" b="0" i="0" u="sng"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deductions you get</a:t>
            </a:r>
            <a:r>
              <a:rPr kumimoji="0" lang="en-US" altLang="en-US" sz="1400" b="0" i="0" u="sng"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1400" b="0" i="0" u="sng"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endPar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Your professor (your “supervisor”) is responsible:</a:t>
            </a: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Teaches (directs)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on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requirements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team project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report;  </a:t>
            </a: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Assesses you a grade (applies the consequences / holds you </a:t>
            </a:r>
            <a:b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accountable) on your Team Project Report;</a:t>
            </a: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lang="en-US" altLang="en-US" sz="1400" b="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Receives the consequences of their performance.</a:t>
            </a: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endPar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Your professor’s supervisor (the Chair</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of the Department</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is responsible:</a:t>
            </a:r>
            <a:endPar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Directs the professors on their academic activities</a:t>
            </a:r>
            <a:r>
              <a:rPr lang="en-US" altLang="en-US" sz="1400" b="0" noProof="0"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400" b="0" noProof="0" dirty="0" smtClean="0">
                <a:solidFill>
                  <a:srgbClr val="FFFFFF"/>
                </a:solidFill>
                <a:latin typeface="Arial" panose="020B0604020202020204" pitchFamily="34" charset="0"/>
                <a:ea typeface="ＭＳ Ｐゴシック" panose="020B0600070205080204" pitchFamily="34" charset="-128"/>
                <a:cs typeface="Arial" panose="020B0604020202020204" pitchFamily="34" charset="0"/>
              </a:rPr>
              <a:t>i.e. assignments for teaching, etc. </a:t>
            </a:r>
            <a:endPar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Assesses the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 of the professor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(e.g. how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well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they: teach, assess / grade students in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 fair and equitable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manner; and how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well the students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do),</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72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Holds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professor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accountable for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professor’s performance, and:</a:t>
            </a:r>
          </a:p>
          <a:p>
            <a:pPr marL="108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Commends </a:t>
            </a:r>
            <a:r>
              <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the professor for performance that meets or exceeds </a:t>
            </a: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expectations</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(pay raise?), or</a:t>
            </a:r>
            <a:endParaRPr kumimoji="0" lang="en-US" altLang="en-US" sz="14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108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Coaches the professor how to</a:t>
            </a:r>
            <a:r>
              <a:rPr kumimoji="0" lang="en-US" altLang="en-US" sz="1400" b="0" i="0" u="none" strike="noStrike" kern="1200" cap="none" spc="0" normalizeH="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 improve, to become more successful</a:t>
            </a:r>
          </a:p>
          <a:p>
            <a:pPr marL="108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endPar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80000"/>
              </a:lnSpc>
              <a:spcBef>
                <a:spcPts val="0"/>
              </a:spcBef>
              <a:spcAft>
                <a:spcPct val="0"/>
              </a:spcAft>
              <a:buClrTx/>
              <a:buSzPct val="100000"/>
              <a:buFont typeface="Wingdings" panose="05000000000000000000" pitchFamily="2" charset="2"/>
              <a:buChar char="Ø"/>
              <a:tabLst/>
              <a:defRPr/>
            </a:pPr>
            <a:r>
              <a:rPr kumimoji="0" lang="en-US" alt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Arial" panose="020B0604020202020204" pitchFamily="34" charset="0"/>
              </a:rPr>
              <a:t>As demonstrated, this interconnection of responsibilities and accountabilities </a:t>
            </a:r>
          </a:p>
          <a:p>
            <a:pPr marL="720000" indent="-360000" eaLnBrk="0" hangingPunct="0">
              <a:lnSpc>
                <a:spcPct val="80000"/>
              </a:lnSpc>
              <a:spcBef>
                <a:spcPts val="0"/>
              </a:spcBef>
              <a:buClrTx/>
              <a:buSzPct val="100000"/>
              <a:buFont typeface="Wingdings" panose="05000000000000000000" pitchFamily="2" charset="2"/>
              <a:buChar char="Ø"/>
              <a:defRPr/>
            </a:pPr>
            <a:r>
              <a:rPr lang="en-US" altLang="en-US" sz="1400" b="0"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Moves up through the organization</a:t>
            </a:r>
          </a:p>
          <a:p>
            <a:pPr marL="720000" indent="-360000" eaLnBrk="0" hangingPunct="0">
              <a:lnSpc>
                <a:spcPct val="80000"/>
              </a:lnSpc>
              <a:spcBef>
                <a:spcPts val="0"/>
              </a:spcBef>
              <a:buClrTx/>
              <a:buSzPct val="100000"/>
              <a:buFont typeface="Wingdings" panose="05000000000000000000" pitchFamily="2" charset="2"/>
              <a:buChar char="Ø"/>
              <a:defRPr/>
            </a:pPr>
            <a:r>
              <a:rPr lang="en-US" altLang="en-US" sz="1400" b="0" dirty="0">
                <a:solidFill>
                  <a:srgbClr val="FFFFFF"/>
                </a:solidFill>
                <a:latin typeface="Arial" panose="020B0604020202020204" pitchFamily="34" charset="0"/>
                <a:ea typeface="ＭＳ Ｐゴシック" panose="020B0600070205080204" pitchFamily="34" charset="-128"/>
                <a:cs typeface="Arial" panose="020B0604020202020204" pitchFamily="34" charset="0"/>
              </a:rPr>
              <a:t>Drives individuals and the organization towards successful achievement of mutual goals, in this case, an exceptional education.</a:t>
            </a:r>
          </a:p>
        </p:txBody>
      </p:sp>
      <p:sp>
        <p:nvSpPr>
          <p:cNvPr id="9" name="Rectangle 2"/>
          <p:cNvSpPr>
            <a:spLocks noChangeArrowheads="1"/>
          </p:cNvSpPr>
          <p:nvPr/>
        </p:nvSpPr>
        <p:spPr bwMode="auto">
          <a:xfrm>
            <a:off x="180000" y="216000"/>
            <a:ext cx="8640000" cy="504000"/>
          </a:xfrm>
          <a:prstGeom prst="rect">
            <a:avLst/>
          </a:prstGeom>
          <a:solidFill>
            <a:schemeClr val="tx1"/>
          </a:solidFill>
          <a:ln w="9525">
            <a:solidFill>
              <a:srgbClr val="000000"/>
            </a:solidFill>
            <a:miter lim="800000"/>
            <a:headEnd/>
            <a:tailEnd/>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pPr>
            <a:r>
              <a:rPr kumimoji="0" lang="en-US" altLang="en-US" b="0" i="0" u="none" strike="noStrike" kern="120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Example</a:t>
            </a:r>
            <a:r>
              <a:rPr lang="en-US" altLang="en-US" dirty="0">
                <a:solidFill>
                  <a:srgbClr val="FFFFFF"/>
                </a:solidFill>
                <a:latin typeface="Arial" panose="020B0604020202020204" pitchFamily="34" charset="0"/>
                <a:cs typeface="Arial" panose="020B0604020202020204" pitchFamily="34" charset="0"/>
              </a:rPr>
              <a:t>: Responsible, Accountable, </a:t>
            </a:r>
            <a:r>
              <a:rPr lang="en-US" altLang="en-US" dirty="0" smtClean="0">
                <a:solidFill>
                  <a:srgbClr val="FFFFFF"/>
                </a:solidFill>
                <a:latin typeface="Arial" panose="020B0604020202020204" pitchFamily="34" charset="0"/>
                <a:cs typeface="Arial" panose="020B0604020202020204" pitchFamily="34" charset="0"/>
              </a:rPr>
              <a:t>and the Two Models:</a:t>
            </a:r>
            <a:endParaRPr kumimoji="0" lang="en-US" altLang="en-US"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7.6 The Power of Leaders to Influence Behaviour</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grpSp>
        <p:nvGrpSpPr>
          <p:cNvPr id="3" name="Group 2"/>
          <p:cNvGrpSpPr/>
          <p:nvPr/>
        </p:nvGrpSpPr>
        <p:grpSpPr>
          <a:xfrm>
            <a:off x="6287940" y="1288999"/>
            <a:ext cx="2258760" cy="1731398"/>
            <a:chOff x="9736719" y="1697213"/>
            <a:chExt cx="2258760" cy="1731398"/>
          </a:xfrm>
        </p:grpSpPr>
        <p:sp>
          <p:nvSpPr>
            <p:cNvPr id="15" name="Rectangle 8"/>
            <p:cNvSpPr>
              <a:spLocks noChangeArrowheads="1"/>
            </p:cNvSpPr>
            <p:nvPr/>
          </p:nvSpPr>
          <p:spPr bwMode="auto">
            <a:xfrm>
              <a:off x="9736719" y="1697213"/>
              <a:ext cx="2258760" cy="461665"/>
            </a:xfrm>
            <a:prstGeom prst="rect">
              <a:avLst/>
            </a:prstGeom>
            <a:solidFill>
              <a:srgbClr val="FFC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200" b="1" dirty="0">
                  <a:latin typeface="Arial" panose="020B0604020202020204" pitchFamily="34" charset="0"/>
                  <a:cs typeface="Arial" panose="020B0604020202020204" pitchFamily="34" charset="0"/>
                </a:rPr>
                <a:t>Your </a:t>
              </a:r>
              <a:r>
                <a:rPr lang="en-CA" altLang="en-US" sz="1200" b="1" dirty="0" smtClean="0">
                  <a:latin typeface="Arial" panose="020B0604020202020204" pitchFamily="34" charset="0"/>
                  <a:cs typeface="Arial" panose="020B0604020202020204" pitchFamily="34" charset="0"/>
                </a:rPr>
                <a:t>Professor’s Supervisor</a:t>
              </a:r>
              <a:br>
                <a:rPr lang="en-CA" altLang="en-US" sz="1200" b="1" dirty="0" smtClean="0">
                  <a:latin typeface="Arial" panose="020B0604020202020204" pitchFamily="34" charset="0"/>
                  <a:cs typeface="Arial" panose="020B0604020202020204" pitchFamily="34" charset="0"/>
                </a:rPr>
              </a:br>
              <a:r>
                <a:rPr lang="en-CA" altLang="en-US" sz="1200" b="1" dirty="0" smtClean="0">
                  <a:latin typeface="Arial" panose="020B0604020202020204" pitchFamily="34" charset="0"/>
                  <a:cs typeface="Arial" panose="020B0604020202020204" pitchFamily="34" charset="0"/>
                </a:rPr>
                <a:t>(Department Chair)</a:t>
              </a:r>
              <a:endParaRPr lang="en-CA" altLang="en-US" sz="1200" b="1" dirty="0">
                <a:latin typeface="Arial" panose="020B0604020202020204" pitchFamily="34" charset="0"/>
                <a:cs typeface="Arial" panose="020B0604020202020204" pitchFamily="34" charset="0"/>
              </a:endParaRPr>
            </a:p>
          </p:txBody>
        </p:sp>
        <p:sp>
          <p:nvSpPr>
            <p:cNvPr id="16" name="Rectangle 9"/>
            <p:cNvSpPr>
              <a:spLocks noChangeArrowheads="1"/>
            </p:cNvSpPr>
            <p:nvPr/>
          </p:nvSpPr>
          <p:spPr bwMode="auto">
            <a:xfrm>
              <a:off x="10135675" y="2485417"/>
              <a:ext cx="1454501" cy="276999"/>
            </a:xfrm>
            <a:prstGeom prst="rect">
              <a:avLst/>
            </a:prstGeom>
            <a:solidFill>
              <a:srgbClr val="FFC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200" b="1" dirty="0">
                  <a:latin typeface="Arial" panose="020B0604020202020204" pitchFamily="34" charset="0"/>
                  <a:cs typeface="Arial" panose="020B0604020202020204" pitchFamily="34" charset="0"/>
                </a:rPr>
                <a:t>  </a:t>
              </a:r>
              <a:r>
                <a:rPr lang="en-CA" altLang="en-US" sz="1200" b="1" dirty="0" smtClean="0">
                  <a:latin typeface="Arial" panose="020B0604020202020204" pitchFamily="34" charset="0"/>
                  <a:cs typeface="Arial" panose="020B0604020202020204" pitchFamily="34" charset="0"/>
                </a:rPr>
                <a:t>Your Professor  </a:t>
              </a:r>
              <a:endParaRPr lang="en-CA" altLang="en-US" sz="1200" b="1" dirty="0">
                <a:latin typeface="Arial" panose="020B0604020202020204" pitchFamily="34" charset="0"/>
                <a:cs typeface="Arial" panose="020B0604020202020204" pitchFamily="34" charset="0"/>
              </a:endParaRPr>
            </a:p>
          </p:txBody>
        </p:sp>
        <p:cxnSp>
          <p:nvCxnSpPr>
            <p:cNvPr id="18" name="AutoShape 11"/>
            <p:cNvCxnSpPr>
              <a:cxnSpLocks noChangeShapeType="1"/>
              <a:stCxn id="15" idx="2"/>
              <a:endCxn id="16" idx="0"/>
            </p:cNvCxnSpPr>
            <p:nvPr/>
          </p:nvCxnSpPr>
          <p:spPr bwMode="auto">
            <a:xfrm flipH="1">
              <a:off x="10862926" y="2158878"/>
              <a:ext cx="3173" cy="326539"/>
            </a:xfrm>
            <a:prstGeom prst="straightConnector1">
              <a:avLst/>
            </a:prstGeom>
            <a:solidFill>
              <a:srgbClr val="FFC000"/>
            </a:solidFill>
            <a:ln w="50800">
              <a:solidFill>
                <a:srgbClr val="000000"/>
              </a:solidFill>
              <a:round/>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9" name="AutoShape 12"/>
            <p:cNvCxnSpPr>
              <a:cxnSpLocks noChangeShapeType="1"/>
              <a:stCxn id="16" idx="2"/>
              <a:endCxn id="23" idx="0"/>
            </p:cNvCxnSpPr>
            <p:nvPr/>
          </p:nvCxnSpPr>
          <p:spPr bwMode="auto">
            <a:xfrm>
              <a:off x="10862926" y="2762416"/>
              <a:ext cx="7937" cy="389196"/>
            </a:xfrm>
            <a:prstGeom prst="straightConnector1">
              <a:avLst/>
            </a:prstGeom>
            <a:solidFill>
              <a:srgbClr val="FFC000"/>
            </a:solidFill>
            <a:ln w="50800">
              <a:solidFill>
                <a:srgbClr val="000000"/>
              </a:solidFill>
              <a:round/>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0" name="AutoShape 13"/>
            <p:cNvCxnSpPr>
              <a:cxnSpLocks noChangeShapeType="1"/>
              <a:stCxn id="16" idx="2"/>
              <a:endCxn id="23" idx="1"/>
            </p:cNvCxnSpPr>
            <p:nvPr/>
          </p:nvCxnSpPr>
          <p:spPr bwMode="auto">
            <a:xfrm flipH="1">
              <a:off x="10128608" y="2762416"/>
              <a:ext cx="734318" cy="527696"/>
            </a:xfrm>
            <a:prstGeom prst="straightConnector1">
              <a:avLst/>
            </a:prstGeom>
            <a:solidFill>
              <a:srgbClr val="FFC000"/>
            </a:solidFill>
            <a:ln w="50800">
              <a:solidFill>
                <a:srgbClr val="000000"/>
              </a:solidFill>
              <a:round/>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1" name="AutoShape 14"/>
            <p:cNvCxnSpPr>
              <a:cxnSpLocks noChangeShapeType="1"/>
              <a:stCxn id="16" idx="2"/>
              <a:endCxn id="23" idx="3"/>
            </p:cNvCxnSpPr>
            <p:nvPr/>
          </p:nvCxnSpPr>
          <p:spPr bwMode="auto">
            <a:xfrm>
              <a:off x="10862926" y="2762416"/>
              <a:ext cx="750191" cy="527696"/>
            </a:xfrm>
            <a:prstGeom prst="straightConnector1">
              <a:avLst/>
            </a:prstGeom>
            <a:solidFill>
              <a:srgbClr val="FFC000"/>
            </a:solidFill>
            <a:ln w="50800">
              <a:solidFill>
                <a:srgbClr val="000000"/>
              </a:solidFill>
              <a:round/>
              <a:headEnd/>
              <a:tailEnd/>
            </a:ln>
            <a:effectLst/>
            <a:extLs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23" name="Rectangle 16"/>
            <p:cNvSpPr>
              <a:spLocks noChangeArrowheads="1"/>
            </p:cNvSpPr>
            <p:nvPr/>
          </p:nvSpPr>
          <p:spPr bwMode="auto">
            <a:xfrm>
              <a:off x="10128608" y="3151612"/>
              <a:ext cx="1484509" cy="276999"/>
            </a:xfrm>
            <a:prstGeom prst="rect">
              <a:avLst/>
            </a:prstGeom>
            <a:solidFill>
              <a:srgbClr val="FFC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200" b="1" dirty="0" smtClean="0">
                  <a:latin typeface="Arial" panose="020B0604020202020204" pitchFamily="34" charset="0"/>
                  <a:cs typeface="Arial" panose="020B0604020202020204" pitchFamily="34" charset="0"/>
                </a:rPr>
                <a:t>You, the Students</a:t>
              </a:r>
              <a:endParaRPr lang="en-CA" altLang="en-US" sz="1200" b="1" dirty="0">
                <a:latin typeface="Arial" panose="020B0604020202020204" pitchFamily="34" charset="0"/>
                <a:cs typeface="Arial" panose="020B0604020202020204" pitchFamily="34" charset="0"/>
              </a:endParaRPr>
            </a:p>
          </p:txBody>
        </p:sp>
        <p:sp>
          <p:nvSpPr>
            <p:cNvPr id="10" name="AutoShape 18"/>
            <p:cNvSpPr>
              <a:spLocks noChangeArrowheads="1"/>
            </p:cNvSpPr>
            <p:nvPr/>
          </p:nvSpPr>
          <p:spPr bwMode="auto">
            <a:xfrm>
              <a:off x="10688525" y="2110875"/>
              <a:ext cx="364674" cy="419306"/>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1200">
                <a:latin typeface="Arial" panose="020B0604020202020204" pitchFamily="34" charset="0"/>
                <a:cs typeface="Arial" panose="020B0604020202020204" pitchFamily="34" charset="0"/>
              </a:endParaRPr>
            </a:p>
          </p:txBody>
        </p:sp>
        <p:sp>
          <p:nvSpPr>
            <p:cNvPr id="25" name="AutoShape 18"/>
            <p:cNvSpPr>
              <a:spLocks noChangeArrowheads="1"/>
            </p:cNvSpPr>
            <p:nvPr/>
          </p:nvSpPr>
          <p:spPr bwMode="auto">
            <a:xfrm>
              <a:off x="10692060" y="2747361"/>
              <a:ext cx="364674" cy="419306"/>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12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76849713"/>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Relate An Individuals’ Responsibility And Accountability To </a:t>
            </a:r>
            <a:b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Loss Incident and Latencies in a RM System / Program</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dealing with a person(s) involved in a loss incident within the field of risk management, it is WRONG to immediately assign blame to the worker and punish the worker i.e. to terminate or “fire” the worker.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Instead, leaders must first search for latent causes:</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hat in the risk management system and its programs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allowed the worker(s) to “do something wrong”?</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the RMS/RMP give “only bad choices” to the worker?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RME #1 MLCA and Responsibility </a:t>
            </a:r>
            <a:r>
              <a:rPr lang="en-US" altLang="en-US" sz="2400" b="0" dirty="0">
                <a:solidFill>
                  <a:schemeClr val="accent2"/>
                </a:solidFill>
                <a:latin typeface="Arial" panose="020B0604020202020204" pitchFamily="34" charset="0"/>
                <a:ea typeface="+mj-ea"/>
                <a:cs typeface="Arial" panose="020B0604020202020204" pitchFamily="34" charset="0"/>
              </a:rPr>
              <a:t>and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10" name="Picture 9"/>
          <p:cNvPicPr>
            <a:picLocks noChangeAspect="1"/>
          </p:cNvPicPr>
          <p:nvPr/>
        </p:nvPicPr>
        <p:blipFill>
          <a:blip r:embed="rId3"/>
          <a:stretch>
            <a:fillRect/>
          </a:stretch>
        </p:blipFill>
        <p:spPr>
          <a:xfrm>
            <a:off x="6851112" y="2133600"/>
            <a:ext cx="2118992" cy="1539925"/>
          </a:xfrm>
          <a:prstGeom prst="rect">
            <a:avLst/>
          </a:prstGeom>
        </p:spPr>
      </p:pic>
      <p:pic>
        <p:nvPicPr>
          <p:cNvPr id="11" name="Picture 10"/>
          <p:cNvPicPr>
            <a:picLocks noChangeAspect="1"/>
          </p:cNvPicPr>
          <p:nvPr/>
        </p:nvPicPr>
        <p:blipFill>
          <a:blip r:embed="rId4"/>
          <a:stretch>
            <a:fillRect/>
          </a:stretch>
        </p:blipFill>
        <p:spPr>
          <a:xfrm>
            <a:off x="6851112" y="3826002"/>
            <a:ext cx="2118992" cy="1544535"/>
          </a:xfrm>
          <a:prstGeom prst="rect">
            <a:avLst/>
          </a:prstGeom>
          <a:ln>
            <a:solidFill>
              <a:schemeClr val="tx1"/>
            </a:solidFill>
          </a:ln>
        </p:spPr>
      </p:pic>
      <p:pic>
        <p:nvPicPr>
          <p:cNvPr id="7" name="Picture 6"/>
          <p:cNvPicPr>
            <a:picLocks noChangeAspect="1"/>
          </p:cNvPicPr>
          <p:nvPr/>
        </p:nvPicPr>
        <p:blipFill rotWithShape="1">
          <a:blip r:embed="rId5"/>
          <a:srcRect l="7522"/>
          <a:stretch/>
        </p:blipFill>
        <p:spPr>
          <a:xfrm>
            <a:off x="533400" y="3581400"/>
            <a:ext cx="5867400" cy="2733795"/>
          </a:xfrm>
          <a:prstGeom prst="rect">
            <a:avLst/>
          </a:prstGeom>
        </p:spPr>
      </p:pic>
    </p:spTree>
    <p:extLst>
      <p:ext uri="{BB962C8B-B14F-4D97-AF65-F5344CB8AC3E}">
        <p14:creationId xmlns:p14="http://schemas.microsoft.com/office/powerpoint/2010/main" val="3623001598"/>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0000CC"/>
          </a:solidFill>
          <a:ln>
            <a:solidFill>
              <a:srgbClr val="0000CC"/>
            </a:solidFill>
          </a:ln>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#3: RME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#1 MLCA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Responsibility and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Accountability</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40" name="Rectangle 3"/>
          <p:cNvSpPr>
            <a:spLocks noChangeArrowheads="1"/>
          </p:cNvSpPr>
          <p:nvPr/>
        </p:nvSpPr>
        <p:spPr bwMode="auto">
          <a:xfrm>
            <a:off x="180000" y="828000"/>
            <a:ext cx="8640000" cy="5328000"/>
          </a:xfrm>
          <a:prstGeom prst="rect">
            <a:avLst/>
          </a:prstGeom>
          <a:solidFill>
            <a:srgbClr val="0000CC"/>
          </a:solidFill>
          <a:ln w="9525">
            <a:solidFill>
              <a:srgbClr val="0000CC"/>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US" altLang="en-US" sz="18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Please confer</a:t>
            </a:r>
            <a:r>
              <a:rPr kumimoji="0" lang="en-US" altLang="en-US" sz="180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and respond </a:t>
            </a:r>
            <a:r>
              <a:rPr lang="en-US" altLang="en-US" sz="18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a:t>
            </a:r>
            <a:r>
              <a:rPr lang="en-US" altLang="en-US" sz="18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o</a:t>
            </a:r>
            <a:r>
              <a:rPr kumimoji="0" lang="en-US" altLang="en-US" sz="180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pen discussion)</a:t>
            </a:r>
            <a:r>
              <a:rPr kumimoji="0" lang="en-US" altLang="en-US" sz="180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t>
            </a:r>
            <a:endParaRPr lang="en-US" altLang="en-US" sz="180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endParaRPr kumimoji="0" lang="en-CA" altLang="en-US" sz="18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hangingPunct="0">
              <a:lnSpc>
                <a:spcPct val="90000"/>
              </a:lnSpc>
              <a:spcBef>
                <a:spcPts val="0"/>
              </a:spcBef>
              <a:buClr>
                <a:srgbClr val="000000"/>
              </a:buClr>
              <a:buSzPct val="100000"/>
              <a:buNone/>
              <a:defRPr/>
            </a:pP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In response to the question, “What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in the risk management system and its programs </a:t>
            </a: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allowed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the worker(s) to </a:t>
            </a: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‘do </a:t>
            </a: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something </a:t>
            </a:r>
            <a:r>
              <a:rPr lang="en-US"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rPr>
              <a:t>wrong’?”, what questions should cause the leader to ask through an RCA to find the LC’s in the RME”s? </a:t>
            </a:r>
            <a:endParaRPr lang="en-CA" altLang="en-US" sz="1800" b="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3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386387" y="2496534"/>
            <a:ext cx="4627226" cy="2377880"/>
          </a:xfrm>
          <a:prstGeom prst="rect">
            <a:avLst/>
          </a:prstGeom>
        </p:spPr>
      </p:pic>
      <p:pic>
        <p:nvPicPr>
          <p:cNvPr id="4" name="Picture 3"/>
          <p:cNvPicPr>
            <a:picLocks noChangeAspect="1"/>
          </p:cNvPicPr>
          <p:nvPr/>
        </p:nvPicPr>
        <p:blipFill>
          <a:blip r:embed="rId4">
            <a:extLst>
              <a:ext uri="{BEBA8EAE-BF5A-486C-A8C5-ECC9F3942E4B}">
                <a14:imgProps xmlns:a14="http://schemas.microsoft.com/office/drawing/2010/main">
                  <a14:imgLayer r:embed="rId5">
                    <a14:imgEffect>
                      <a14:artisticMarker/>
                    </a14:imgEffect>
                  </a14:imgLayer>
                </a14:imgProps>
              </a:ext>
            </a:extLst>
          </a:blip>
          <a:stretch>
            <a:fillRect/>
          </a:stretch>
        </p:blipFill>
        <p:spPr>
          <a:xfrm>
            <a:off x="4548061" y="2895600"/>
            <a:ext cx="4125190" cy="3122403"/>
          </a:xfrm>
          <a:prstGeom prst="rect">
            <a:avLst/>
          </a:prstGeom>
        </p:spPr>
      </p:pic>
    </p:spTree>
    <p:extLst>
      <p:ext uri="{BB962C8B-B14F-4D97-AF65-F5344CB8AC3E}">
        <p14:creationId xmlns:p14="http://schemas.microsoft.com/office/powerpoint/2010/main" val="1892126141"/>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extLst>
              <a:ext uri="{BEBA8EAE-BF5A-486C-A8C5-ECC9F3942E4B}">
                <a14:imgProps xmlns:a14="http://schemas.microsoft.com/office/drawing/2010/main">
                  <a14:imgLayer r:embed="rId4">
                    <a14:imgEffect>
                      <a14:artisticMarker/>
                    </a14:imgEffect>
                  </a14:imgLayer>
                </a14:imgProps>
              </a:ext>
            </a:extLst>
          </a:blip>
          <a:stretch>
            <a:fillRect/>
          </a:stretch>
        </p:blipFill>
        <p:spPr>
          <a:xfrm>
            <a:off x="1981200" y="1676400"/>
            <a:ext cx="5711374" cy="4323004"/>
          </a:xfrm>
          <a:prstGeom prst="rect">
            <a:avLst/>
          </a:prstGeom>
        </p:spPr>
      </p:pic>
      <p:sp>
        <p:nvSpPr>
          <p:cNvPr id="8" name="Rectangle 3"/>
          <p:cNvSpPr>
            <a:spLocks noChangeArrowheads="1"/>
          </p:cNvSpPr>
          <p:nvPr/>
        </p:nvSpPr>
        <p:spPr bwMode="auto">
          <a:xfrm>
            <a:off x="180000" y="828000"/>
            <a:ext cx="8640000" cy="5328000"/>
          </a:xfrm>
          <a:prstGeom prst="rect">
            <a:avLst/>
          </a:prstGeom>
          <a:solidFill>
            <a:srgbClr val="FFFFFF">
              <a:alpha val="69804"/>
            </a:srgbClr>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question</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“What in the risk management system and its programs allowed the worker(s) to ‘do something wrong’?”,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may cause – should cause – the </a:t>
            </a:r>
            <a:r>
              <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 to ask through an RCA to find the LC’s in the </a:t>
            </a:r>
            <a:r>
              <a:rPr lang="en-US" altLang="en-US" sz="16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RME”s, any question such as: </a:t>
            </a:r>
            <a:endParaRPr lang="en-US" altLang="en-US" sz="16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the hazards of the activities adequately assessed and were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measures adequately implemented? LC’s in #2 RAMR</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worker adequately prepared (communications, training) for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changes that were made? LC’s in #4 MOC</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any previous incidents, near misses, or sub-standard conditions / practices reported, investigated, analyzed, and corrected? LC’s in #5 IRIAA</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management oversight checked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(audited, verified) for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adequacy and were actions taken to correct or improve on any of the risk management programs and standards of the system elements? LC’s in #6 PECI</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design and/or construction and/or startup (commissioning) of the equipment / process / materials suitable for human interfaces? #7 DCSU</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equipment / process / materials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operated / maintained to standards? #8 OM </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worker properly trained in the activity, the risks associated with the activity, and the control measures for those risks? LC’s in #9 EC&amp;T</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the contractor (as a worker or as a company) adequately screened for competencies, and suitably integrated into the organization’s RMP/RMS to perform work at an acceptable level? #10 CCI</a:t>
            </a:r>
          </a:p>
          <a:p>
            <a:pPr marL="360000" indent="-360000" eaLnBrk="0" hangingPunct="0">
              <a:lnSpc>
                <a:spcPct val="90000"/>
              </a:lnSpc>
              <a:spcBef>
                <a:spcPts val="0"/>
              </a:spcBef>
              <a:buClr>
                <a:srgbClr val="000000"/>
              </a:buClr>
              <a:buSzPct val="100000"/>
              <a:buFont typeface="Wingdings" panose="05000000000000000000" pitchFamily="2" charset="2"/>
              <a:buChar char="Ø"/>
            </a:pP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Was all information up-to-date, and readily and easily available and accessible to the workers? #11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OFID</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RME #1 MLCA </a:t>
            </a:r>
            <a:r>
              <a:rPr lang="en-US" altLang="en-US" sz="2400" b="0" dirty="0" smtClean="0">
                <a:solidFill>
                  <a:schemeClr val="accent2"/>
                </a:solidFill>
                <a:latin typeface="Arial" panose="020B0604020202020204" pitchFamily="34" charset="0"/>
                <a:ea typeface="+mj-ea"/>
                <a:cs typeface="Arial" panose="020B0604020202020204" pitchFamily="34" charset="0"/>
              </a:rPr>
              <a:t>- </a:t>
            </a:r>
            <a:r>
              <a:rPr lang="en-US" altLang="en-US" sz="2400" b="0" dirty="0">
                <a:solidFill>
                  <a:schemeClr val="accent2"/>
                </a:solidFill>
                <a:latin typeface="Arial" panose="020B0604020202020204" pitchFamily="34" charset="0"/>
                <a:ea typeface="+mj-ea"/>
                <a:cs typeface="Arial" panose="020B0604020202020204" pitchFamily="34" charset="0"/>
              </a:rPr>
              <a:t>Responsibility and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922634045"/>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Finally, if all LC’s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relating to management system elements and their programs and program standards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been resolved, then LC’s in #1 MLCA become evident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relate to lack of compliance with program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standards of all other elements.</a:t>
            </a:r>
          </a:p>
          <a:p>
            <a:pPr marL="0" indent="0" eaLnBrk="0" hangingPunct="0">
              <a:lnSpc>
                <a:spcPct val="90000"/>
              </a:lnSpc>
              <a:spcBef>
                <a:spcPts val="0"/>
              </a:spcBef>
              <a:buClr>
                <a:srgbClr val="000000"/>
              </a:buClr>
              <a:buSzPct val="100000"/>
              <a:buNone/>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is now the time to “fire” the worker i.e. apply severe consequences)?</a:t>
            </a:r>
          </a:p>
          <a:p>
            <a:pPr marL="0" indent="0" eaLnBrk="0" hangingPunct="0">
              <a:lnSpc>
                <a:spcPct val="90000"/>
              </a:lnSpc>
              <a:spcBef>
                <a:spcPts val="0"/>
              </a:spcBef>
              <a:buClr>
                <a:srgbClr val="000000"/>
              </a:buClr>
              <a:buSzPct val="100000"/>
              <a:buNone/>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not yet!</a:t>
            </a:r>
          </a:p>
          <a:p>
            <a:pPr marL="0" indent="0" eaLnBrk="0" hangingPunct="0">
              <a:lnSpc>
                <a:spcPct val="90000"/>
              </a:lnSpc>
              <a:spcBef>
                <a:spcPts val="0"/>
              </a:spcBef>
              <a:buClr>
                <a:srgbClr val="000000"/>
              </a:buClr>
              <a:buSzPct val="100000"/>
              <a:buNone/>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Two questions now arise:</a:t>
            </a:r>
          </a:p>
          <a:p>
            <a:pPr marL="360000" indent="-360000" eaLnBrk="0" hangingPunct="0">
              <a:lnSpc>
                <a:spcPct val="9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Has Leadership set expectations, and does the leader demonstrate commitment to those expectations?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
                <a:srgbClr val="000000"/>
              </a:buClr>
              <a:buSzPct val="100000"/>
              <a:buFont typeface="+mj-lt"/>
              <a:buAutoNum type="arabicParen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it clear that the worker knowingly, or purposefully, or repeatedly, disregarded those standards and put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themself</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others (or environment, assets, or productive output) at risk of harm? </a:t>
            </a:r>
          </a:p>
          <a:p>
            <a:pPr marL="0" indent="0" eaLnBrk="0" hangingPunct="0">
              <a:lnSpc>
                <a:spcPct val="90000"/>
              </a:lnSpc>
              <a:spcBef>
                <a:spcPts val="0"/>
              </a:spcBef>
              <a:buClr>
                <a:srgbClr val="000000"/>
              </a:buClr>
              <a:buSzPct val="100000"/>
              <a:buNone/>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90000"/>
              </a:lnSpc>
              <a:spcBef>
                <a:spcPts val="0"/>
              </a:spcBef>
              <a:buClr>
                <a:srgbClr val="000000"/>
              </a:buClr>
              <a:buSzPct val="100000"/>
              <a:buNone/>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 responses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“yes” to both</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then the leader moves into a situation where the leader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hold the worker accountable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putting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themself</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others (or E, A, or P) at risk, and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terminate the worker</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RME #1 MLCA - Responsibility </a:t>
            </a:r>
            <a:r>
              <a:rPr lang="en-US" altLang="en-US" sz="2400" b="0" dirty="0">
                <a:solidFill>
                  <a:schemeClr val="accent2"/>
                </a:solidFill>
                <a:latin typeface="Arial" panose="020B0604020202020204" pitchFamily="34" charset="0"/>
                <a:ea typeface="+mj-ea"/>
                <a:cs typeface="Arial" panose="020B0604020202020204" pitchFamily="34" charset="0"/>
              </a:rPr>
              <a:t>and Accountability: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85866628"/>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Position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authority leads to “obedience to authority”:  </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KEY LESSON for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supervisor carries an incredible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amount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influence,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something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 exercised very responsibly. </a:t>
            </a: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three key relationships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your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career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have challenges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 managed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successful career. </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position and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exercising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authority,</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is an interconnection of responsibilities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accountabilities which drives individuals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organizations towards achieving mutual goals. </a:t>
            </a: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95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Effective leadership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includes not only commitment,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also accountability. #1 MLCA!</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Summary and Key Lessons: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7.6 The Power of Leaders to Influence Behaviour</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5791200" y="1189217"/>
            <a:ext cx="3121259" cy="1981200"/>
          </a:xfrm>
          <a:prstGeom prst="rect">
            <a:avLst/>
          </a:prstGeom>
        </p:spPr>
      </p:pic>
      <p:pic>
        <p:nvPicPr>
          <p:cNvPr id="10" name="Picture 9"/>
          <p:cNvPicPr>
            <a:picLocks noChangeAspect="1"/>
          </p:cNvPicPr>
          <p:nvPr/>
        </p:nvPicPr>
        <p:blipFill>
          <a:blip r:embed="rId4"/>
          <a:stretch>
            <a:fillRect/>
          </a:stretch>
        </p:blipFill>
        <p:spPr>
          <a:xfrm>
            <a:off x="7004159" y="3159907"/>
            <a:ext cx="1805753" cy="2406600"/>
          </a:xfrm>
          <a:prstGeom prst="rect">
            <a:avLst/>
          </a:prstGeom>
        </p:spPr>
      </p:pic>
    </p:spTree>
    <p:extLst>
      <p:ext uri="{BB962C8B-B14F-4D97-AF65-F5344CB8AC3E}">
        <p14:creationId xmlns:p14="http://schemas.microsoft.com/office/powerpoint/2010/main" val="3460108524"/>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bg1"/>
                </a:solidFill>
                <a:latin typeface="Arial" panose="020B0604020202020204" pitchFamily="34" charset="0"/>
                <a:ea typeface="+mj-ea"/>
                <a:cs typeface="Arial" panose="020B0604020202020204" pitchFamily="34" charset="0"/>
              </a:rPr>
              <a:t>Any questions?</a:t>
            </a:r>
            <a:endParaRPr lang="en-US" altLang="en-US" sz="2400" b="0" dirty="0">
              <a:solidFill>
                <a:schemeClr val="bg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407795351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Working slide – not for presentation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5"/>
          <p:cNvGrpSpPr/>
          <p:nvPr/>
        </p:nvGrpSpPr>
        <p:grpSpPr>
          <a:xfrm>
            <a:off x="1881525" y="1524000"/>
            <a:ext cx="5324475" cy="3295650"/>
            <a:chOff x="3184525" y="2047875"/>
            <a:chExt cx="5324475" cy="3295650"/>
          </a:xfrm>
        </p:grpSpPr>
        <p:grpSp>
          <p:nvGrpSpPr>
            <p:cNvPr id="7" name="Group 7"/>
            <p:cNvGrpSpPr>
              <a:grpSpLocks/>
            </p:cNvGrpSpPr>
            <p:nvPr/>
          </p:nvGrpSpPr>
          <p:grpSpPr bwMode="auto">
            <a:xfrm>
              <a:off x="3184525" y="2047875"/>
              <a:ext cx="5324475" cy="3295650"/>
              <a:chOff x="2006" y="1290"/>
              <a:chExt cx="3354" cy="2076"/>
            </a:xfrm>
          </p:grpSpPr>
          <p:sp>
            <p:nvSpPr>
              <p:cNvPr id="15" name="Rectangle 8"/>
              <p:cNvSpPr>
                <a:spLocks noChangeArrowheads="1"/>
              </p:cNvSpPr>
              <p:nvPr/>
            </p:nvSpPr>
            <p:spPr bwMode="auto">
              <a:xfrm>
                <a:off x="2352" y="1290"/>
                <a:ext cx="22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Direct Supervisor</a:t>
                </a:r>
              </a:p>
            </p:txBody>
          </p:sp>
          <p:sp>
            <p:nvSpPr>
              <p:cNvPr id="16" name="Rectangle 9"/>
              <p:cNvSpPr>
                <a:spLocks noChangeArrowheads="1"/>
              </p:cNvSpPr>
              <p:nvPr/>
            </p:nvSpPr>
            <p:spPr bwMode="auto">
              <a:xfrm>
                <a:off x="3110" y="2160"/>
                <a:ext cx="69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  You  </a:t>
                </a:r>
              </a:p>
            </p:txBody>
          </p:sp>
          <p:sp>
            <p:nvSpPr>
              <p:cNvPr id="17" name="Rectangle 10"/>
              <p:cNvSpPr>
                <a:spLocks noChangeArrowheads="1"/>
              </p:cNvSpPr>
              <p:nvPr/>
            </p:nvSpPr>
            <p:spPr bwMode="auto">
              <a:xfrm>
                <a:off x="4224" y="2160"/>
                <a:ext cx="1136"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Your Peers</a:t>
                </a:r>
              </a:p>
            </p:txBody>
          </p:sp>
          <p:cxnSp>
            <p:nvCxnSpPr>
              <p:cNvPr id="18" name="AutoShape 11"/>
              <p:cNvCxnSpPr>
                <a:cxnSpLocks noChangeShapeType="1"/>
                <a:stCxn id="15" idx="2"/>
                <a:endCxn id="16" idx="0"/>
              </p:cNvCxnSpPr>
              <p:nvPr/>
            </p:nvCxnSpPr>
            <p:spPr bwMode="auto">
              <a:xfrm flipH="1">
                <a:off x="3458" y="1584"/>
                <a:ext cx="1" cy="576"/>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19" name="AutoShape 12"/>
              <p:cNvCxnSpPr>
                <a:cxnSpLocks noChangeShapeType="1"/>
                <a:stCxn id="16" idx="2"/>
                <a:endCxn id="23" idx="0"/>
              </p:cNvCxnSpPr>
              <p:nvPr/>
            </p:nvCxnSpPr>
            <p:spPr bwMode="auto">
              <a:xfrm>
                <a:off x="3458" y="2454"/>
                <a:ext cx="5" cy="618"/>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0" name="AutoShape 13"/>
              <p:cNvCxnSpPr>
                <a:cxnSpLocks noChangeShapeType="1"/>
                <a:stCxn id="16" idx="2"/>
                <a:endCxn id="23" idx="1"/>
              </p:cNvCxnSpPr>
              <p:nvPr/>
            </p:nvCxnSpPr>
            <p:spPr bwMode="auto">
              <a:xfrm flipH="1">
                <a:off x="2006" y="2454"/>
                <a:ext cx="1452"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1" name="AutoShape 14"/>
              <p:cNvCxnSpPr>
                <a:cxnSpLocks noChangeShapeType="1"/>
                <a:stCxn id="16" idx="2"/>
                <a:endCxn id="23" idx="3"/>
              </p:cNvCxnSpPr>
              <p:nvPr/>
            </p:nvCxnSpPr>
            <p:spPr bwMode="auto">
              <a:xfrm>
                <a:off x="3458" y="2454"/>
                <a:ext cx="1461" cy="76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22" name="AutoShape 15"/>
              <p:cNvCxnSpPr>
                <a:cxnSpLocks noChangeShapeType="1"/>
                <a:stCxn id="17" idx="1"/>
                <a:endCxn id="16" idx="3"/>
              </p:cNvCxnSpPr>
              <p:nvPr/>
            </p:nvCxnSpPr>
            <p:spPr bwMode="auto">
              <a:xfrm flipH="1">
                <a:off x="3806" y="2307"/>
                <a:ext cx="418" cy="0"/>
              </a:xfrm>
              <a:prstGeom prst="straightConnector1">
                <a:avLst/>
              </a:prstGeom>
              <a:noFill/>
              <a:ln w="508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23" name="Rectangle 16"/>
              <p:cNvSpPr>
                <a:spLocks noChangeArrowheads="1"/>
              </p:cNvSpPr>
              <p:nvPr/>
            </p:nvSpPr>
            <p:spPr bwMode="auto">
              <a:xfrm>
                <a:off x="2006" y="3072"/>
                <a:ext cx="2913" cy="294"/>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2400" b="1">
                    <a:solidFill>
                      <a:srgbClr val="FFFFFF"/>
                    </a:solidFill>
                    <a:latin typeface="Arial" panose="020B0604020202020204" pitchFamily="34" charset="0"/>
                  </a:rPr>
                  <a:t>The People That Work For You</a:t>
                </a:r>
              </a:p>
            </p:txBody>
          </p:sp>
        </p:grpSp>
        <p:sp>
          <p:nvSpPr>
            <p:cNvPr id="10" name="AutoShape 18"/>
            <p:cNvSpPr>
              <a:spLocks noChangeArrowheads="1"/>
            </p:cNvSpPr>
            <p:nvPr/>
          </p:nvSpPr>
          <p:spPr bwMode="auto">
            <a:xfrm>
              <a:off x="5307013" y="2590800"/>
              <a:ext cx="381000" cy="762000"/>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11" name="AutoShape 20"/>
            <p:cNvSpPr>
              <a:spLocks noChangeArrowheads="1"/>
            </p:cNvSpPr>
            <p:nvPr/>
          </p:nvSpPr>
          <p:spPr bwMode="auto">
            <a:xfrm>
              <a:off x="5307013" y="4038600"/>
              <a:ext cx="381000" cy="762000"/>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sp>
          <p:nvSpPr>
            <p:cNvPr id="14" name="AutoShape 17"/>
            <p:cNvSpPr>
              <a:spLocks noChangeArrowheads="1"/>
            </p:cNvSpPr>
            <p:nvPr/>
          </p:nvSpPr>
          <p:spPr bwMode="auto">
            <a:xfrm rot="5400000">
              <a:off x="6134229" y="3334545"/>
              <a:ext cx="479165" cy="663576"/>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grpSp>
      <p:sp>
        <p:nvSpPr>
          <p:cNvPr id="3" name="Double Brace 2"/>
          <p:cNvSpPr/>
          <p:nvPr/>
        </p:nvSpPr>
        <p:spPr>
          <a:xfrm>
            <a:off x="1524000" y="1219200"/>
            <a:ext cx="6113400" cy="3733800"/>
          </a:xfrm>
          <a:prstGeom prst="bracePair">
            <a:avLst>
              <a:gd name="adj" fmla="val 6129"/>
            </a:avLst>
          </a:prstGeom>
          <a:ln w="762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20791910"/>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Working slide – not for presentation</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7.6 The Power of Leaders to Influence Behaviour</a:t>
            </a:r>
            <a:endParaRPr lang="en-US" sz="1200" i="1" kern="0" dirty="0">
              <a:solidFill>
                <a:srgbClr val="000000"/>
              </a:solidFill>
              <a:ea typeface="Times New Roman"/>
              <a:cs typeface="Arial" panose="020B0604020202020204" pitchFamily="34" charset="0"/>
              <a:sym typeface="Times New Roman"/>
            </a:endParaRPr>
          </a:p>
        </p:txBody>
      </p:sp>
      <p:grpSp>
        <p:nvGrpSpPr>
          <p:cNvPr id="50" name="Group 49"/>
          <p:cNvGrpSpPr/>
          <p:nvPr/>
        </p:nvGrpSpPr>
        <p:grpSpPr>
          <a:xfrm>
            <a:off x="4350175" y="1902023"/>
            <a:ext cx="2769669" cy="1852640"/>
            <a:chOff x="4350175" y="1902023"/>
            <a:chExt cx="2769669" cy="1852640"/>
          </a:xfrm>
        </p:grpSpPr>
        <p:sp>
          <p:nvSpPr>
            <p:cNvPr id="32" name="Rectangle 8"/>
            <p:cNvSpPr>
              <a:spLocks noChangeArrowheads="1"/>
            </p:cNvSpPr>
            <p:nvPr/>
          </p:nvSpPr>
          <p:spPr bwMode="auto">
            <a:xfrm>
              <a:off x="4673116" y="1902023"/>
              <a:ext cx="2123787"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a:solidFill>
                    <a:srgbClr val="FFFFFF"/>
                  </a:solidFill>
                  <a:latin typeface="Arial" panose="020B0604020202020204" pitchFamily="34" charset="0"/>
                </a:rPr>
                <a:t>Your Direct Supervisor</a:t>
              </a:r>
            </a:p>
          </p:txBody>
        </p:sp>
        <p:sp>
          <p:nvSpPr>
            <p:cNvPr id="33" name="Rectangle 9"/>
            <p:cNvSpPr>
              <a:spLocks noChangeArrowheads="1"/>
            </p:cNvSpPr>
            <p:nvPr/>
          </p:nvSpPr>
          <p:spPr bwMode="auto">
            <a:xfrm>
              <a:off x="5382478" y="2666974"/>
              <a:ext cx="705065"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dirty="0">
                  <a:solidFill>
                    <a:srgbClr val="FFFFFF"/>
                  </a:solidFill>
                  <a:latin typeface="Arial" panose="020B0604020202020204" pitchFamily="34" charset="0"/>
                </a:rPr>
                <a:t>  You  </a:t>
              </a:r>
            </a:p>
          </p:txBody>
        </p:sp>
        <p:cxnSp>
          <p:nvCxnSpPr>
            <p:cNvPr id="34" name="AutoShape 11"/>
            <p:cNvCxnSpPr>
              <a:cxnSpLocks noChangeShapeType="1"/>
              <a:stCxn id="32" idx="2"/>
              <a:endCxn id="33" idx="0"/>
            </p:cNvCxnSpPr>
            <p:nvPr/>
          </p:nvCxnSpPr>
          <p:spPr bwMode="auto">
            <a:xfrm>
              <a:off x="5735010" y="2209800"/>
              <a:ext cx="1" cy="45717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5" name="AutoShape 12"/>
            <p:cNvCxnSpPr>
              <a:cxnSpLocks noChangeShapeType="1"/>
              <a:stCxn id="33" idx="2"/>
              <a:endCxn id="38" idx="0"/>
            </p:cNvCxnSpPr>
            <p:nvPr/>
          </p:nvCxnSpPr>
          <p:spPr bwMode="auto">
            <a:xfrm flipH="1">
              <a:off x="5735010" y="2974751"/>
              <a:ext cx="1" cy="47213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6" name="AutoShape 13"/>
            <p:cNvCxnSpPr>
              <a:cxnSpLocks noChangeShapeType="1"/>
              <a:stCxn id="33" idx="2"/>
              <a:endCxn id="38" idx="1"/>
            </p:cNvCxnSpPr>
            <p:nvPr/>
          </p:nvCxnSpPr>
          <p:spPr bwMode="auto">
            <a:xfrm flipH="1">
              <a:off x="4350175" y="2974751"/>
              <a:ext cx="1384836" cy="62602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37" name="AutoShape 14"/>
            <p:cNvCxnSpPr>
              <a:cxnSpLocks noChangeShapeType="1"/>
              <a:stCxn id="33" idx="2"/>
              <a:endCxn id="38" idx="3"/>
            </p:cNvCxnSpPr>
            <p:nvPr/>
          </p:nvCxnSpPr>
          <p:spPr bwMode="auto">
            <a:xfrm>
              <a:off x="5735011" y="2974751"/>
              <a:ext cx="1384833" cy="62602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38" name="Rectangle 16"/>
            <p:cNvSpPr>
              <a:spLocks noChangeArrowheads="1"/>
            </p:cNvSpPr>
            <p:nvPr/>
          </p:nvSpPr>
          <p:spPr bwMode="auto">
            <a:xfrm>
              <a:off x="4350175" y="3446886"/>
              <a:ext cx="2769669"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dirty="0">
                  <a:solidFill>
                    <a:srgbClr val="FFFFFF"/>
                  </a:solidFill>
                  <a:latin typeface="Arial" panose="020B0604020202020204" pitchFamily="34" charset="0"/>
                </a:rPr>
                <a:t>The People That Work For You</a:t>
              </a:r>
            </a:p>
          </p:txBody>
        </p:sp>
        <p:sp>
          <p:nvSpPr>
            <p:cNvPr id="39" name="AutoShape 18"/>
            <p:cNvSpPr>
              <a:spLocks noChangeArrowheads="1"/>
            </p:cNvSpPr>
            <p:nvPr/>
          </p:nvSpPr>
          <p:spPr bwMode="auto">
            <a:xfrm>
              <a:off x="5538049" y="2194839"/>
              <a:ext cx="405551" cy="554315"/>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grpSp>
      <p:grpSp>
        <p:nvGrpSpPr>
          <p:cNvPr id="49" name="Group 48"/>
          <p:cNvGrpSpPr/>
          <p:nvPr/>
        </p:nvGrpSpPr>
        <p:grpSpPr>
          <a:xfrm>
            <a:off x="762000" y="1905000"/>
            <a:ext cx="2769669" cy="1852640"/>
            <a:chOff x="762000" y="1905000"/>
            <a:chExt cx="2769669" cy="1852640"/>
          </a:xfrm>
        </p:grpSpPr>
        <p:sp>
          <p:nvSpPr>
            <p:cNvPr id="41" name="Rectangle 8"/>
            <p:cNvSpPr>
              <a:spLocks noChangeArrowheads="1"/>
            </p:cNvSpPr>
            <p:nvPr/>
          </p:nvSpPr>
          <p:spPr bwMode="auto">
            <a:xfrm>
              <a:off x="1084941" y="1905000"/>
              <a:ext cx="2123787"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a:solidFill>
                    <a:srgbClr val="FFFFFF"/>
                  </a:solidFill>
                  <a:latin typeface="Arial" panose="020B0604020202020204" pitchFamily="34" charset="0"/>
                </a:rPr>
                <a:t>Your Direct Supervisor</a:t>
              </a:r>
            </a:p>
          </p:txBody>
        </p:sp>
        <p:sp>
          <p:nvSpPr>
            <p:cNvPr id="42" name="Rectangle 9"/>
            <p:cNvSpPr>
              <a:spLocks noChangeArrowheads="1"/>
            </p:cNvSpPr>
            <p:nvPr/>
          </p:nvSpPr>
          <p:spPr bwMode="auto">
            <a:xfrm>
              <a:off x="1794303" y="2669951"/>
              <a:ext cx="705065"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dirty="0">
                  <a:solidFill>
                    <a:srgbClr val="FFFFFF"/>
                  </a:solidFill>
                  <a:latin typeface="Arial" panose="020B0604020202020204" pitchFamily="34" charset="0"/>
                </a:rPr>
                <a:t>  You  </a:t>
              </a:r>
            </a:p>
          </p:txBody>
        </p:sp>
        <p:cxnSp>
          <p:nvCxnSpPr>
            <p:cNvPr id="43" name="AutoShape 11"/>
            <p:cNvCxnSpPr>
              <a:cxnSpLocks noChangeShapeType="1"/>
              <a:stCxn id="41" idx="2"/>
              <a:endCxn id="42" idx="0"/>
            </p:cNvCxnSpPr>
            <p:nvPr/>
          </p:nvCxnSpPr>
          <p:spPr bwMode="auto">
            <a:xfrm>
              <a:off x="2146835" y="2212777"/>
              <a:ext cx="1" cy="45717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44" name="AutoShape 12"/>
            <p:cNvCxnSpPr>
              <a:cxnSpLocks noChangeShapeType="1"/>
              <a:stCxn id="42" idx="2"/>
              <a:endCxn id="47" idx="0"/>
            </p:cNvCxnSpPr>
            <p:nvPr/>
          </p:nvCxnSpPr>
          <p:spPr bwMode="auto">
            <a:xfrm flipH="1">
              <a:off x="2146835" y="2977728"/>
              <a:ext cx="1" cy="472135"/>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45" name="AutoShape 13"/>
            <p:cNvCxnSpPr>
              <a:cxnSpLocks noChangeShapeType="1"/>
              <a:stCxn id="42" idx="2"/>
              <a:endCxn id="47" idx="1"/>
            </p:cNvCxnSpPr>
            <p:nvPr/>
          </p:nvCxnSpPr>
          <p:spPr bwMode="auto">
            <a:xfrm flipH="1">
              <a:off x="762000" y="2977728"/>
              <a:ext cx="1384836" cy="62602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cxnSp>
          <p:nvCxnSpPr>
            <p:cNvPr id="46" name="AutoShape 14"/>
            <p:cNvCxnSpPr>
              <a:cxnSpLocks noChangeShapeType="1"/>
              <a:stCxn id="42" idx="2"/>
              <a:endCxn id="47" idx="3"/>
            </p:cNvCxnSpPr>
            <p:nvPr/>
          </p:nvCxnSpPr>
          <p:spPr bwMode="auto">
            <a:xfrm>
              <a:off x="2146836" y="2977728"/>
              <a:ext cx="1384833" cy="626024"/>
            </a:xfrm>
            <a:prstGeom prst="straightConnector1">
              <a:avLst/>
            </a:prstGeom>
            <a:noFill/>
            <a:ln w="508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cxnSp>
        <p:sp>
          <p:nvSpPr>
            <p:cNvPr id="47" name="Rectangle 16"/>
            <p:cNvSpPr>
              <a:spLocks noChangeArrowheads="1"/>
            </p:cNvSpPr>
            <p:nvPr/>
          </p:nvSpPr>
          <p:spPr bwMode="auto">
            <a:xfrm>
              <a:off x="762000" y="3449863"/>
              <a:ext cx="2769669" cy="307777"/>
            </a:xfrm>
            <a:prstGeom prst="rect">
              <a:avLst/>
            </a:prstGeom>
            <a:solidFill>
              <a:srgbClr val="000000"/>
            </a:solidFill>
            <a:ln w="9525">
              <a:solidFill>
                <a:srgbClr val="000000"/>
              </a:solidFill>
              <a:miter lim="800000"/>
              <a:headEnd/>
              <a:tailEnd/>
            </a:ln>
            <a:effectLst>
              <a:prstShdw prst="shdw17" dist="17961" dir="2700000">
                <a:srgbClr val="000000"/>
              </a:prstShdw>
            </a:effectLst>
          </p:spPr>
          <p:txBody>
            <a:bodyPr wrap="non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ClrTx/>
                <a:buSzTx/>
                <a:buFontTx/>
                <a:buNone/>
              </a:pPr>
              <a:r>
                <a:rPr lang="en-CA" altLang="en-US" sz="1400" b="1" dirty="0">
                  <a:solidFill>
                    <a:srgbClr val="FFFFFF"/>
                  </a:solidFill>
                  <a:latin typeface="Arial" panose="020B0604020202020204" pitchFamily="34" charset="0"/>
                </a:rPr>
                <a:t>The People That Work For You</a:t>
              </a:r>
            </a:p>
          </p:txBody>
        </p:sp>
        <p:sp>
          <p:nvSpPr>
            <p:cNvPr id="48" name="AutoShape 18"/>
            <p:cNvSpPr>
              <a:spLocks noChangeArrowheads="1"/>
            </p:cNvSpPr>
            <p:nvPr/>
          </p:nvSpPr>
          <p:spPr bwMode="auto">
            <a:xfrm>
              <a:off x="1949874" y="2950885"/>
              <a:ext cx="405551" cy="554315"/>
            </a:xfrm>
            <a:prstGeom prst="upDownArrow">
              <a:avLst>
                <a:gd name="adj1" fmla="val 50000"/>
                <a:gd name="adj2" fmla="val 40000"/>
              </a:avLst>
            </a:prstGeom>
            <a:solidFill>
              <a:srgbClr val="FF0000"/>
            </a:solidFill>
            <a:ln w="9525">
              <a:solidFill>
                <a:srgbClr val="FF0000"/>
              </a:solidFill>
              <a:miter lim="800000"/>
              <a:headEnd/>
              <a:tailEnd/>
            </a:ln>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ClrTx/>
                <a:buSzTx/>
                <a:buFontTx/>
                <a:buNone/>
              </a:pPr>
              <a:endParaRPr lang="en-CA" altLang="en-US" sz="2400"/>
            </a:p>
          </p:txBody>
        </p:sp>
      </p:grpSp>
    </p:spTree>
    <p:extLst>
      <p:ext uri="{BB962C8B-B14F-4D97-AF65-F5344CB8AC3E}">
        <p14:creationId xmlns:p14="http://schemas.microsoft.com/office/powerpoint/2010/main" val="3441761524"/>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headEnd/>
          <a:tailEnd/>
        </a:ln>
      </a:spPr>
      <a:bodyPr/>
      <a:lstStyle>
        <a:defPPr marL="0" marR="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kumimoji="0"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defRPr>
        </a:defPPr>
      </a:lstStyle>
    </a:sp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71126</TotalTime>
  <Words>3497</Words>
  <Application>Microsoft Office PowerPoint</Application>
  <PresentationFormat>On-screen Show (4:3)</PresentationFormat>
  <Paragraphs>588</Paragraphs>
  <Slides>40</Slides>
  <Notes>40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2003</cp:revision>
  <cp:lastPrinted>2018-12-17T22:21:47Z</cp:lastPrinted>
  <dcterms:created xsi:type="dcterms:W3CDTF">2007-03-28T16:18:47Z</dcterms:created>
  <dcterms:modified xsi:type="dcterms:W3CDTF">2022-06-22T22:15:23Z</dcterms:modified>
</cp:coreProperties>
</file>