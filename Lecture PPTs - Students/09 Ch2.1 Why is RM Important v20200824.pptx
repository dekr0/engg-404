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895" r:id="rId2"/>
    <p:sldId id="880" r:id="rId3"/>
    <p:sldId id="928" r:id="rId4"/>
    <p:sldId id="929" r:id="rId5"/>
    <p:sldId id="930" r:id="rId6"/>
    <p:sldId id="931" r:id="rId7"/>
    <p:sldId id="932" r:id="rId8"/>
    <p:sldId id="933" r:id="rId9"/>
    <p:sldId id="927" r:id="rId10"/>
    <p:sldId id="926" r:id="rId11"/>
    <p:sldId id="934" r:id="rId12"/>
    <p:sldId id="923" r:id="rId13"/>
    <p:sldId id="900" r:id="rId14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UnXqhHPpegfYomGaOPlACo99I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70" autoAdjust="0"/>
  </p:normalViewPr>
  <p:slideViewPr>
    <p:cSldViewPr snapToGrid="0">
      <p:cViewPr varScale="1">
        <p:scale>
          <a:sx n="70" d="100"/>
          <a:sy n="70" d="100"/>
        </p:scale>
        <p:origin x="1180" y="56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504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191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5325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142" y="4418435"/>
            <a:ext cx="5140117" cy="418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191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8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Manager’s responsibility to minimize and control hazards </a:t>
            </a:r>
            <a:endParaRPr lang="en-CA" dirty="0"/>
          </a:p>
          <a:p>
            <a:pPr marL="457200" lvl="1" indent="-1016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CA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actions and plans in order to manage the residual risks to ensure company activities keep risks under control, all with the goal to ensure an incident does not happen</a:t>
            </a:r>
            <a:endParaRPr lang="en-CA" dirty="0"/>
          </a:p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You, as the owner, must:</a:t>
            </a:r>
            <a:endParaRPr lang="en-CA" dirty="0"/>
          </a:p>
          <a:p>
            <a:pPr marL="457200" lvl="1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a solid risk management process in place</a:t>
            </a:r>
            <a:endParaRPr lang="en-CA" dirty="0"/>
          </a:p>
          <a:p>
            <a:pPr marL="457200" lvl="1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Communicate clearly the levels of acceptable risk</a:t>
            </a:r>
            <a:endParaRPr lang="en-CA" dirty="0"/>
          </a:p>
          <a:p>
            <a:pPr marL="457200" lvl="1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your involvement in decision-making!</a:t>
            </a:r>
            <a:endParaRPr lang="en-CA" dirty="0"/>
          </a:p>
          <a:p>
            <a:pPr marL="457200" lvl="1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all employees (core and contractor) understand: </a:t>
            </a:r>
            <a:endParaRPr lang="en-CA" dirty="0"/>
          </a:p>
          <a:p>
            <a:pPr marL="914400" lvl="2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responsibility and accountability for managing risk </a:t>
            </a:r>
            <a:endParaRPr lang="en-CA" dirty="0"/>
          </a:p>
          <a:p>
            <a:pPr marL="914400" lvl="2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they need to ask for additional input to the decision making process</a:t>
            </a:r>
            <a:endParaRPr lang="en-CA" dirty="0"/>
          </a:p>
          <a:p>
            <a:pPr marL="914400" lvl="2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when they deviate from the requirements for managing risk, that they are putting themselves, the company, the community, and the environment at risk</a:t>
            </a:r>
            <a:endParaRPr lang="en-CA" dirty="0"/>
          </a:p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incidents are decisions made without proper management involvement!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20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33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16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24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85206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64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2.1: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is Risk Management Important?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Discuss and defend why risk management is important.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Calculate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Injury Frequency Rate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 the results of a good risk management program.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Historically, deaths and injuries were just accepted as ‘part of the job’.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Current practice evolved to match our current belief that all unwanted events can be prevented or mitigated.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 to do this, we need to evaluate the risk that an activity presents.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Background: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Remember our PEAP Lecture!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avoid losses and prevent negative impacts on PEAP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It’s a good investment!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loaf of bread example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create sustainability for the business/industry in the future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TBL – The Triple Bottom Line: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Environment, Social, Economic Interests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Why Do We Evaluate Risk?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53277463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Why is this important to you?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21EE88-7B9B-4433-9BEE-FC08772E8274}"/>
              </a:ext>
            </a:extLst>
          </p:cNvPr>
          <p:cNvGrpSpPr/>
          <p:nvPr/>
        </p:nvGrpSpPr>
        <p:grpSpPr>
          <a:xfrm>
            <a:off x="3608446" y="889823"/>
            <a:ext cx="5078354" cy="5189846"/>
            <a:chOff x="3608446" y="889823"/>
            <a:chExt cx="5078354" cy="5189846"/>
          </a:xfrm>
        </p:grpSpPr>
        <p:sp>
          <p:nvSpPr>
            <p:cNvPr id="15" name="Google Shape;147;p5">
              <a:extLst>
                <a:ext uri="{FF2B5EF4-FFF2-40B4-BE49-F238E27FC236}">
                  <a16:creationId xmlns:a16="http://schemas.microsoft.com/office/drawing/2014/main" id="{CFDF331B-02C2-4423-8325-B08F6EE2D8CB}"/>
                </a:ext>
              </a:extLst>
            </p:cNvPr>
            <p:cNvSpPr/>
            <p:nvPr/>
          </p:nvSpPr>
          <p:spPr>
            <a:xfrm>
              <a:off x="3608446" y="889823"/>
              <a:ext cx="5078354" cy="5078354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rgbClr val="0000CC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Google Shape;148;p5">
              <a:extLst>
                <a:ext uri="{FF2B5EF4-FFF2-40B4-BE49-F238E27FC236}">
                  <a16:creationId xmlns:a16="http://schemas.microsoft.com/office/drawing/2014/main" id="{25266E21-F2A9-4815-AFDB-2A2AC96EF768}"/>
                </a:ext>
              </a:extLst>
            </p:cNvPr>
            <p:cNvSpPr txBox="1"/>
            <p:nvPr/>
          </p:nvSpPr>
          <p:spPr>
            <a:xfrm>
              <a:off x="5383580" y="1113067"/>
              <a:ext cx="1717389" cy="761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99550" rIns="99550" bIns="995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Have a Solid Risk Management Program</a:t>
              </a:r>
              <a:endParaRPr kumimoji="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Google Shape;149;p5">
              <a:extLst>
                <a:ext uri="{FF2B5EF4-FFF2-40B4-BE49-F238E27FC236}">
                  <a16:creationId xmlns:a16="http://schemas.microsoft.com/office/drawing/2014/main" id="{7EB1152E-42C6-4617-8868-906CEA15B7A3}"/>
                </a:ext>
              </a:extLst>
            </p:cNvPr>
            <p:cNvSpPr/>
            <p:nvPr/>
          </p:nvSpPr>
          <p:spPr>
            <a:xfrm>
              <a:off x="4228779" y="1972991"/>
              <a:ext cx="4062683" cy="4062683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rgbClr val="0000CC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Google Shape;150;p5">
              <a:extLst>
                <a:ext uri="{FF2B5EF4-FFF2-40B4-BE49-F238E27FC236}">
                  <a16:creationId xmlns:a16="http://schemas.microsoft.com/office/drawing/2014/main" id="{735ED318-85CF-4EB1-B4B6-3492483B1215}"/>
                </a:ext>
              </a:extLst>
            </p:cNvPr>
            <p:cNvSpPr txBox="1"/>
            <p:nvPr/>
          </p:nvSpPr>
          <p:spPr>
            <a:xfrm>
              <a:off x="5595409" y="2180972"/>
              <a:ext cx="1419907" cy="731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99550" rIns="99550" bIns="995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Clearly Communicate Risk to Others</a:t>
              </a:r>
              <a:endParaRPr kumimoji="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Google Shape;151;p5">
              <a:extLst>
                <a:ext uri="{FF2B5EF4-FFF2-40B4-BE49-F238E27FC236}">
                  <a16:creationId xmlns:a16="http://schemas.microsoft.com/office/drawing/2014/main" id="{FBC65F2D-BB11-4F59-AC7F-D0F8D0F7BF6B}"/>
                </a:ext>
              </a:extLst>
            </p:cNvPr>
            <p:cNvSpPr/>
            <p:nvPr/>
          </p:nvSpPr>
          <p:spPr>
            <a:xfrm>
              <a:off x="4741534" y="3024851"/>
              <a:ext cx="3047012" cy="3047012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rgbClr val="0000CC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Google Shape;152;p5">
              <a:extLst>
                <a:ext uri="{FF2B5EF4-FFF2-40B4-BE49-F238E27FC236}">
                  <a16:creationId xmlns:a16="http://schemas.microsoft.com/office/drawing/2014/main" id="{4EA9839F-7517-4C17-AF46-00FE6CB57EAB}"/>
                </a:ext>
              </a:extLst>
            </p:cNvPr>
            <p:cNvSpPr txBox="1"/>
            <p:nvPr/>
          </p:nvSpPr>
          <p:spPr>
            <a:xfrm>
              <a:off x="5532322" y="3301348"/>
              <a:ext cx="1419907" cy="6855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99550" rIns="99550" bIns="995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Be Involved in Decision-Making</a:t>
              </a:r>
              <a:endParaRPr kumimoji="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Google Shape;153;p5">
              <a:extLst>
                <a:ext uri="{FF2B5EF4-FFF2-40B4-BE49-F238E27FC236}">
                  <a16:creationId xmlns:a16="http://schemas.microsoft.com/office/drawing/2014/main" id="{F5313E3B-C81B-4F4C-9658-4F84CB182DB0}"/>
                </a:ext>
              </a:extLst>
            </p:cNvPr>
            <p:cNvSpPr/>
            <p:nvPr/>
          </p:nvSpPr>
          <p:spPr>
            <a:xfrm>
              <a:off x="5226607" y="4048328"/>
              <a:ext cx="2031341" cy="2031341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rgbClr val="0000CC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Google Shape;154;p5">
              <a:extLst>
                <a:ext uri="{FF2B5EF4-FFF2-40B4-BE49-F238E27FC236}">
                  <a16:creationId xmlns:a16="http://schemas.microsoft.com/office/drawing/2014/main" id="{8CF41DB4-F25A-457F-9D8A-054C191338B6}"/>
                </a:ext>
              </a:extLst>
            </p:cNvPr>
            <p:cNvSpPr txBox="1"/>
            <p:nvPr/>
          </p:nvSpPr>
          <p:spPr>
            <a:xfrm>
              <a:off x="5524089" y="4574259"/>
              <a:ext cx="1436375" cy="101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99550" rIns="99550" bIns="995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Encourage Questions Regarding Change</a:t>
              </a:r>
              <a:endParaRPr kumimoji="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" name="Google Shape;157;p5">
            <a:extLst>
              <a:ext uri="{FF2B5EF4-FFF2-40B4-BE49-F238E27FC236}">
                <a16:creationId xmlns:a16="http://schemas.microsoft.com/office/drawing/2014/main" id="{AA8C7BDA-F007-4208-9B22-B836B5BCFFFB}"/>
              </a:ext>
            </a:extLst>
          </p:cNvPr>
          <p:cNvSpPr txBox="1"/>
          <p:nvPr/>
        </p:nvSpPr>
        <p:spPr>
          <a:xfrm>
            <a:off x="165316" y="1157383"/>
            <a:ext cx="3926735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tx1"/>
                </a:solidFill>
                <a:sym typeface="Arial"/>
              </a:rPr>
              <a:t>1) CRITICAL to Success! 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sym typeface="Arial"/>
              </a:rPr>
              <a:t>On your projects / jobs and in your career, your job as an Engineer will be to manage </a:t>
            </a:r>
            <a:br>
              <a:rPr lang="en-US" sz="2000" i="1" dirty="0">
                <a:solidFill>
                  <a:schemeClr val="tx1"/>
                </a:solidFill>
                <a:sym typeface="Arial"/>
              </a:rPr>
            </a:br>
            <a:r>
              <a:rPr lang="en-US" sz="2000" i="1" dirty="0">
                <a:solidFill>
                  <a:schemeClr val="tx1"/>
                </a:solidFill>
                <a:sym typeface="Arial"/>
              </a:rPr>
              <a:t>and control risks!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Google Shape;156;p5">
            <a:extLst>
              <a:ext uri="{FF2B5EF4-FFF2-40B4-BE49-F238E27FC236}">
                <a16:creationId xmlns:a16="http://schemas.microsoft.com/office/drawing/2014/main" id="{B95BC290-AC35-4FDC-99E4-722A9D791B90}"/>
              </a:ext>
            </a:extLst>
          </p:cNvPr>
          <p:cNvSpPr txBox="1"/>
          <p:nvPr/>
        </p:nvSpPr>
        <p:spPr>
          <a:xfrm>
            <a:off x="165316" y="3912539"/>
            <a:ext cx="394366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2) Avoid Loss Incidents: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Many incidents result from decisions made without proper risk management engagement! 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922566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Success hinges on sustainably managing risk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confirming control measures are in place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must implement a proactive, systematic, and comprehensive risk management program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management activities: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action tracking follow up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investigations (including near miss/hits – “free gifts”)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and audits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= Pro-Active Management: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003095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Example: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Global petrochemical company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Major capital expansion approaching $1 Billion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Wanted to be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global leader in safety performance.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EPC (Engineer-Procure-Construct) company indicated that there would be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to 5 fatalities for a project of this size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given the state of risk management at the time!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Project Manager at the global petrochemical company could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level of risk, or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reject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it.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FYI: Would NOT accept!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project did ultimately proceed.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Good Proactive RM Program is a Good Investment: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7360951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95% completion, about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million worker-hours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accumulated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8 injuries over the course of the project, counting both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medical treatment cases (MTC) and lost time injuries (LTI)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stated expectation of 4 to 5 fatalities for a project of this size without additional risk reduction solutions!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Actual Injury Frequency Rate: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0.40 including both MTCs and LTIs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our purposes here, assume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IFR Major Project = 0.40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Good Proactive RM Program is a Good Investment: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  <p:pic>
        <p:nvPicPr>
          <p:cNvPr id="6" name="Google Shape;196;p8">
            <a:extLst>
              <a:ext uri="{FF2B5EF4-FFF2-40B4-BE49-F238E27FC236}">
                <a16:creationId xmlns:a16="http://schemas.microsoft.com/office/drawing/2014/main" id="{6A338507-D992-475C-98EB-CDEAE2C146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612" y="1092993"/>
            <a:ext cx="8231188" cy="10144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63634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" name="Google Shape;198;p8">
            <a:extLst>
              <a:ext uri="{FF2B5EF4-FFF2-40B4-BE49-F238E27FC236}">
                <a16:creationId xmlns:a16="http://schemas.microsoft.com/office/drawing/2014/main" id="{D4F209F4-3787-46BC-832C-AD88499B17ED}"/>
              </a:ext>
            </a:extLst>
          </p:cNvPr>
          <p:cNvSpPr/>
          <p:nvPr/>
        </p:nvSpPr>
        <p:spPr>
          <a:xfrm>
            <a:off x="838200" y="1009226"/>
            <a:ext cx="1981200" cy="381000"/>
          </a:xfrm>
          <a:prstGeom prst="roundRect">
            <a:avLst>
              <a:gd name="adj" fmla="val 50000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97;p8">
            <a:extLst>
              <a:ext uri="{FF2B5EF4-FFF2-40B4-BE49-F238E27FC236}">
                <a16:creationId xmlns:a16="http://schemas.microsoft.com/office/drawing/2014/main" id="{7BA05AC0-F4E5-413E-87BD-8F7CFFE7FEC9}"/>
              </a:ext>
            </a:extLst>
          </p:cNvPr>
          <p:cNvSpPr/>
          <p:nvPr/>
        </p:nvSpPr>
        <p:spPr>
          <a:xfrm>
            <a:off x="508105" y="2372399"/>
            <a:ext cx="7315200" cy="381000"/>
          </a:xfrm>
          <a:prstGeom prst="roundRect">
            <a:avLst>
              <a:gd name="adj" fmla="val 45662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548459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Good Proactive RM Program is a Good Investment: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Given this data … Please confer. 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the Glossary: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IFR = (number of injuries x 200,000 hours) / (Total exposure hours)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+mj-lt"/>
              <a:buAutoNum type="arabicParenR"/>
            </a:pPr>
            <a:r>
              <a:rPr lang="en-CA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IFR (for the project) = 0.4 and worker-hours = 4 million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were the number of Lost Time </a:t>
            </a:r>
            <a:r>
              <a:rPr lang="en-CA" sz="2000" dirty="0">
                <a:solidFill>
                  <a:srgbClr val="FFFFFF"/>
                </a:solidFill>
              </a:rPr>
              <a:t>I</a:t>
            </a: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njuries on this Major Project?</a:t>
            </a:r>
            <a:endParaRPr lang="en-CA" sz="2000" dirty="0"/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endParaRPr lang="en-CA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AutoNum type="arabicParenR"/>
            </a:pPr>
            <a:r>
              <a:rPr lang="en-CA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IFR (in AB), 2010 = 1.41 and Lost Time Injuries (LTIs) = 24,343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would be the number of LTIs in Alberta if the IFR-AB were the same as for the Major Project?  </a:t>
            </a:r>
            <a:endParaRPr lang="en-CA" sz="2000" dirty="0"/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endParaRPr lang="en-CA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buClr>
                <a:srgbClr val="FFFFFF"/>
              </a:buClr>
              <a:buSzPts val="1800"/>
              <a:buFont typeface="Times New Roman"/>
              <a:buAutoNum type="arabicParenR"/>
            </a:pPr>
            <a:r>
              <a:rPr lang="en-CA" sz="2000" dirty="0">
                <a:solidFill>
                  <a:srgbClr val="FFFFFF"/>
                </a:solidFill>
              </a:rPr>
              <a:t>How many people would NOT have been hurt if the Alberta-wide industries had superior safety performance the same as the Major Project?</a:t>
            </a:r>
          </a:p>
          <a:p>
            <a:pPr marL="457200" indent="-457200">
              <a:buClr>
                <a:srgbClr val="FFFFFF"/>
              </a:buClr>
              <a:buSzPts val="1800"/>
              <a:buFont typeface="Times New Roman"/>
              <a:buAutoNum type="arabicParenR"/>
            </a:pPr>
            <a:endParaRPr lang="en-CA" sz="2000" dirty="0">
              <a:solidFill>
                <a:srgbClr val="FFFFFF"/>
              </a:solidFill>
            </a:endParaRPr>
          </a:p>
          <a:p>
            <a:pPr>
              <a:buClr>
                <a:srgbClr val="FFFFFF"/>
              </a:buClr>
              <a:buSzPts val="1800"/>
            </a:pPr>
            <a:r>
              <a:rPr lang="en-CA" sz="2000" dirty="0" smtClean="0">
                <a:solidFill>
                  <a:srgbClr val="FFFFFF"/>
                </a:solidFill>
              </a:rPr>
              <a:t>Please respond on the MM-Polls for 1, 2) and 3). </a:t>
            </a:r>
            <a:endParaRPr lang="en-CA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97498807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Good Proactive RM Program is a Good Investment: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lang="en-CA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Let’s work through some questions. </a:t>
            </a:r>
            <a:endParaRPr lang="en-CA"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endParaRPr lang="en-CA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AutoNum type="arabicParenR"/>
            </a:pPr>
            <a:r>
              <a:rPr lang="en-CA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were the number of lost time injuries on this Major Project?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IFR = (number of injuries x 200,000 hours) / (Total exposure hours) </a:t>
            </a: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IFR = 0.4 and total worker-hours = 4 million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LTIs = 0.4 * 4,000,000 / 200,000 = 8</a:t>
            </a:r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endParaRPr lang="en-CA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>
              <a:buClr>
                <a:srgbClr val="FFFFFF"/>
              </a:buClr>
              <a:buSzPts val="1800"/>
              <a:buFont typeface="Times New Roman"/>
              <a:buAutoNum type="arabicParenR"/>
            </a:pPr>
            <a:r>
              <a:rPr lang="en-CA" sz="2000" dirty="0">
                <a:solidFill>
                  <a:srgbClr val="FFFFFF"/>
                </a:solidFill>
              </a:rPr>
              <a:t>What would be the number of LTIs in Alberta if the IFR-AB were the same as for the Major Project? </a:t>
            </a:r>
            <a:endParaRPr lang="en-CA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Alberta in 2010, the IFR = 1.41 and LTIs = 24,343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LTIs = ? at IFR = 0.4</a:t>
            </a:r>
            <a:endParaRPr lang="en-CA" sz="2000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LTI = 24,343 * 0.4 / 1.41 = 6,917</a:t>
            </a:r>
            <a:endParaRPr lang="en-CA" sz="2000" dirty="0"/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endParaRPr lang="en-CA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AutoNum type="arabicParenR" startAt="3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many people would NOT have been hurt at IFR = 0.4 </a:t>
            </a:r>
            <a:endParaRPr lang="en-CA" sz="2000" dirty="0"/>
          </a:p>
          <a:p>
            <a:pPr marL="68580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24,343 – 6,917 = 17,426</a:t>
            </a:r>
          </a:p>
          <a:p>
            <a:pPr marL="68580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⮚"/>
            </a:pPr>
            <a:endParaRPr lang="en-CA" sz="2000" dirty="0">
              <a:solidFill>
                <a:srgbClr val="FFFFFF"/>
              </a:solidFill>
            </a:endParaRPr>
          </a:p>
          <a:p>
            <a:pPr marL="400050" lvl="2">
              <a:buClr>
                <a:srgbClr val="FFFFFF"/>
              </a:buClr>
              <a:buSzPts val="1800"/>
            </a:pPr>
            <a:r>
              <a:rPr lang="en-CA" sz="2000" dirty="0">
                <a:solidFill>
                  <a:srgbClr val="FFFFFF"/>
                </a:solidFill>
              </a:rPr>
              <a:t>"a) LTIs = 8; b) LTIs = 6,917; c) Not hurt = 17,426”</a:t>
            </a:r>
            <a:endParaRPr lang="en-CA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049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programs were expanded across Alberta today …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Imagine that this risk management effort were extended all across Alberta, with the same improvement in safety performance …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Although a count of 6,900 is still too many, it could mean that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17,400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others would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have been seriously hurt</a:t>
            </a:r>
            <a:r>
              <a:rPr kumimoji="0" lang="en-CA" altLang="en-US" sz="2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the job!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Good Proactive RM Program is a Good Investment: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  <p:pic>
        <p:nvPicPr>
          <p:cNvPr id="6" name="Google Shape;243;p11">
            <a:extLst>
              <a:ext uri="{FF2B5EF4-FFF2-40B4-BE49-F238E27FC236}">
                <a16:creationId xmlns:a16="http://schemas.microsoft.com/office/drawing/2014/main" id="{B201A023-3E91-46DA-A002-639C8524B0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00" y="2266082"/>
            <a:ext cx="8153400" cy="85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" name="Google Shape;245;p11">
            <a:extLst>
              <a:ext uri="{FF2B5EF4-FFF2-40B4-BE49-F238E27FC236}">
                <a16:creationId xmlns:a16="http://schemas.microsoft.com/office/drawing/2014/main" id="{50FAC636-6FBE-4DCA-8D9E-546E4D8B913C}"/>
              </a:ext>
            </a:extLst>
          </p:cNvPr>
          <p:cNvSpPr/>
          <p:nvPr/>
        </p:nvSpPr>
        <p:spPr>
          <a:xfrm>
            <a:off x="2724300" y="2245126"/>
            <a:ext cx="2209800" cy="6096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246;p11">
            <a:extLst>
              <a:ext uri="{FF2B5EF4-FFF2-40B4-BE49-F238E27FC236}">
                <a16:creationId xmlns:a16="http://schemas.microsoft.com/office/drawing/2014/main" id="{3B887B62-51F2-423C-ABAA-9853D068E2FF}"/>
              </a:ext>
            </a:extLst>
          </p:cNvPr>
          <p:cNvSpPr/>
          <p:nvPr/>
        </p:nvSpPr>
        <p:spPr>
          <a:xfrm>
            <a:off x="4934100" y="2229886"/>
            <a:ext cx="1600200" cy="6096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44;p11">
            <a:extLst>
              <a:ext uri="{FF2B5EF4-FFF2-40B4-BE49-F238E27FC236}">
                <a16:creationId xmlns:a16="http://schemas.microsoft.com/office/drawing/2014/main" id="{C521408A-06A7-4AAD-928D-745C4B18F8E1}"/>
              </a:ext>
            </a:extLst>
          </p:cNvPr>
          <p:cNvSpPr/>
          <p:nvPr/>
        </p:nvSpPr>
        <p:spPr>
          <a:xfrm>
            <a:off x="564585" y="3492000"/>
            <a:ext cx="7086600" cy="8382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1761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dirty="0">
                <a:latin typeface="Arial"/>
                <a:sym typeface="Arial"/>
              </a:rPr>
              <a:t>Risk Management is this important to you because:</a:t>
            </a:r>
            <a:endParaRPr lang="en-CA" dirty="0"/>
          </a:p>
          <a:p>
            <a:pPr marL="742950" marR="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arenR"/>
            </a:pPr>
            <a:r>
              <a:rPr lang="en-CA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CRITICAL to Success! </a:t>
            </a:r>
          </a:p>
          <a:p>
            <a:pPr marL="742950" marR="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arenR"/>
            </a:pPr>
            <a:r>
              <a:rPr lang="en-CA" sz="2000" b="0" i="0" u="none" strike="noStrike" cap="none" dirty="0">
                <a:latin typeface="Arial"/>
                <a:sym typeface="Arial"/>
              </a:rPr>
              <a:t>Avoid Loss Incidents:</a:t>
            </a:r>
            <a:endParaRPr lang="en-CA" dirty="0"/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your projects / jobs and in your career, your job as an Engineer will be to manage and control risk!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Good Proactive Risk Management Program is a Good Investment.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 of the formula to calculate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Injury Frequency Rate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2.1: The Importance of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914</Words>
  <Application>Microsoft Office PowerPoint</Application>
  <PresentationFormat>On-screen Show (4:3)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ＭＳ Ｐゴシック</vt:lpstr>
      <vt:lpstr>Arial</vt:lpstr>
      <vt:lpstr>Calibri</vt:lpstr>
      <vt:lpstr>Noto Sans Symbols</vt:lpstr>
      <vt:lpstr>Times New Roman</vt:lpstr>
      <vt:lpstr>Tw Cen MT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34</cp:revision>
  <dcterms:created xsi:type="dcterms:W3CDTF">2011-09-07T03:22:54Z</dcterms:created>
  <dcterms:modified xsi:type="dcterms:W3CDTF">2022-05-02T17:39:47Z</dcterms:modified>
</cp:coreProperties>
</file>