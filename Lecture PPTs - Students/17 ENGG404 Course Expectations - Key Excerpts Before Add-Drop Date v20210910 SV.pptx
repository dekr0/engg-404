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174" r:id="rId2"/>
  </p:sldMasterIdLst>
  <p:notesMasterIdLst>
    <p:notesMasterId r:id="rId9"/>
  </p:notesMasterIdLst>
  <p:handoutMasterIdLst>
    <p:handoutMasterId r:id="rId10"/>
  </p:handoutMasterIdLst>
  <p:sldIdLst>
    <p:sldId id="1007" r:id="rId3"/>
    <p:sldId id="1015" r:id="rId4"/>
    <p:sldId id="1012" r:id="rId5"/>
    <p:sldId id="1014" r:id="rId6"/>
    <p:sldId id="1009" r:id="rId7"/>
    <p:sldId id="1016" r:id="rId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1007"/>
            <p14:sldId id="1015"/>
            <p14:sldId id="1012"/>
            <p14:sldId id="1014"/>
            <p14:sldId id="1009"/>
            <p14:sldId id="101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8F8F8"/>
    <a:srgbClr val="0000CC"/>
    <a:srgbClr val="0000FF"/>
    <a:srgbClr val="000000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92931" autoAdjust="0"/>
  </p:normalViewPr>
  <p:slideViewPr>
    <p:cSldViewPr>
      <p:cViewPr varScale="1">
        <p:scale>
          <a:sx n="65" d="100"/>
          <a:sy n="65" d="100"/>
        </p:scale>
        <p:origin x="1360" y="52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9212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11/14/2021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11/14/2021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368946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7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748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420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068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599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11/14/2021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81806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418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478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266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5" r:id="rId1"/>
    <p:sldLayoutId id="2147484176" r:id="rId2"/>
    <p:sldLayoutId id="2147484177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kumimoji="0" lang="en-US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57200" y="2500342"/>
            <a:ext cx="8229600" cy="3367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Review - Key Excerpts </a:t>
            </a:r>
            <a:b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 Course Expectations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i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(present before the Add/Drop Date)</a:t>
            </a:r>
            <a:endParaRPr lang="en-US" altLang="en-US" sz="1200" i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2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/>
            </a:pPr>
            <a:r>
              <a:rPr lang="en-US" sz="18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 to Take This Course </a:t>
            </a: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(complete details in the Syllabus)</a:t>
            </a:r>
            <a:r>
              <a:rPr lang="en-US" sz="18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  <a:p>
            <a:pPr marL="36000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Ø"/>
              <a:defRPr/>
            </a:pP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you taking ENGG404 </a:t>
            </a:r>
            <a:r>
              <a:rPr lang="en-US" sz="18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out-of-sequence</a:t>
            </a: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(i.e. not taking this course per your program / plan / year schedule)? </a:t>
            </a:r>
          </a:p>
          <a:p>
            <a:pPr marL="36000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Wingdings" panose="05000000000000000000" pitchFamily="2" charset="2"/>
              <a:buChar char="Ø"/>
              <a:defRPr/>
            </a:pPr>
            <a:r>
              <a:rPr lang="en-US" sz="18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Think again! Consider these points:</a:t>
            </a:r>
          </a:p>
          <a:p>
            <a:pPr marL="72000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400-Level / 4th </a:t>
            </a:r>
            <a:r>
              <a:rPr lang="en-US" sz="1800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heavily-weighted </a:t>
            </a: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course: Weighting = 3.8</a:t>
            </a:r>
            <a:endParaRPr lang="en-US" sz="1800" b="0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20000" lvl="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</a:t>
            </a:r>
            <a:r>
              <a:rPr lang="en-US" sz="1800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</a:t>
            </a:r>
            <a:r>
              <a:rPr lang="en-US" sz="1800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cohort is </a:t>
            </a:r>
            <a:r>
              <a:rPr lang="en-US" sz="1800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beneficial; on a work-term is a hindrance!</a:t>
            </a:r>
            <a:endParaRPr lang="en-US" sz="1800" b="0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00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In-sequence with Program/Plan and Year: </a:t>
            </a:r>
            <a:r>
              <a:rPr lang="en-US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Project 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 is </a:t>
            </a:r>
            <a:r>
              <a:rPr lang="en-US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work on 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team project with specific relevance to </a:t>
            </a:r>
            <a:r>
              <a:rPr lang="en-US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engineering discipline 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enhance your learning experience in this course.</a:t>
            </a:r>
          </a:p>
          <a:p>
            <a:pPr marL="36000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r>
              <a:rPr lang="en-US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 work </a:t>
            </a:r>
            <a:r>
              <a:rPr lang="en-US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term? </a:t>
            </a:r>
            <a:r>
              <a:rPr lang="en-US" b="0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course uses blended learning techniques and requires attendance, participation, and engagement in real-time</a:t>
            </a:r>
            <a:r>
              <a:rPr lang="en-US" b="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Your work-term commitments will create conflicts and are barriers to success.</a:t>
            </a:r>
            <a:endParaRPr lang="en-US" b="0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0000" lvl="0" indent="-3600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  <a:defRPr/>
            </a:pPr>
            <a:endParaRPr lang="en-US" b="0" kern="0" dirty="0" smtClean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  <a:defRPr/>
            </a:pPr>
            <a:r>
              <a:rPr lang="en-US" sz="2400" kern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should NOT take this course out-of-sequence, or as an “add-on” while on your work term.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Syllabus: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ENGG404 Expectations, Course Syllabus, Course Plan, and Exam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485376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en-US" sz="2400" b="0" noProof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Snap-shots of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Expectations: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ENGG404 - Leadership is for All Engineers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67" y="828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0" y="828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067" y="3600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0000" y="3600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7741628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Key Differences!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i="0" u="none" strike="noStrike" kern="1200" cap="none" spc="0" normalizeH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Case Study Methodology</a:t>
            </a:r>
          </a:p>
          <a:p>
            <a:pPr marL="540000" lvl="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No complex formula - any calculations are basic arithmetic.</a:t>
            </a:r>
          </a:p>
          <a:p>
            <a:pPr marL="54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0" baseline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No absolute right or wrong answer.</a:t>
            </a:r>
          </a:p>
          <a:p>
            <a:pPr marL="54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Apply sound principles, practices, and rationale of engineering, and leadership in risk management to support your position</a:t>
            </a:r>
          </a:p>
          <a:p>
            <a:pPr marL="54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Lots of examples to work through in this course</a:t>
            </a:r>
            <a:endParaRPr kumimoji="0" lang="en-US" altLang="en-US" sz="1800" b="0" i="0" u="none" strike="noStrike" kern="1200" cap="none" spc="0" normalizeH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1800" b="0" baseline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Blended Learning Format: </a:t>
            </a:r>
          </a:p>
          <a:p>
            <a:pPr marL="54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Requires students to prepare ahead of lectures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Review lecture PPTs and/or textbook, review videos or readings</a:t>
            </a:r>
          </a:p>
          <a:p>
            <a:pPr marL="54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Respond to on-line </a:t>
            </a:r>
            <a:r>
              <a:rPr lang="en-US" altLang="en-US" sz="1800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eClass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quizzes BEFORE the lectures</a:t>
            </a:r>
          </a:p>
          <a:p>
            <a:pPr marL="720000" indent="-360000" ea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Designed to motivate the student to prepare ahead of lectures, NOT assess after lectures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Active Learning Exercises</a:t>
            </a:r>
          </a:p>
          <a:p>
            <a:pPr marL="720000" marR="0" lvl="0" indent="-360000" defTabSz="914400" eaLnBrk="0" latin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In-class, designed to engage students and to self-assess (not graded) </a:t>
            </a:r>
            <a:endParaRPr lang="en-US" altLang="en-US" sz="18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This Course is Different – Case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 Study and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Blended Learning!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ENGG404 Expectations, Course Syllabus, Course Plan, and Exam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436196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en-US" sz="2400" b="0" noProof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Snap-shots of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Expectations: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ENGG404 - Leadership is for All Engineers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3" name="Picture 2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828000"/>
            <a:ext cx="3600000" cy="27000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00" y="3600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000" y="828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97526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en-US" sz="2400" b="0" noProof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Brief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Snap-shots of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Expectations: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ENGG404 - Leadership is for All Engineers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828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0" y="828000"/>
            <a:ext cx="3600000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86388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69874</TotalTime>
  <Words>379</Words>
  <Application>Microsoft Office PowerPoint</Application>
  <PresentationFormat>On-screen Show (4:3)</PresentationFormat>
  <Paragraphs>58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1_Default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1989</cp:revision>
  <cp:lastPrinted>2018-12-17T22:21:47Z</cp:lastPrinted>
  <dcterms:created xsi:type="dcterms:W3CDTF">2007-03-28T16:18:47Z</dcterms:created>
  <dcterms:modified xsi:type="dcterms:W3CDTF">2021-11-14T16:32:53Z</dcterms:modified>
</cp:coreProperties>
</file>