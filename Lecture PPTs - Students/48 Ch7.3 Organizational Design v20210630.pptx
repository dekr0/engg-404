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59" r:id="rId1"/>
  </p:sldMasterIdLst>
  <p:notesMasterIdLst>
    <p:notesMasterId r:id="rId21"/>
  </p:notesMasterIdLst>
  <p:handoutMasterIdLst>
    <p:handoutMasterId r:id="rId22"/>
  </p:handoutMasterIdLst>
  <p:sldIdLst>
    <p:sldId id="895" r:id="rId2"/>
    <p:sldId id="880" r:id="rId3"/>
    <p:sldId id="948" r:id="rId4"/>
    <p:sldId id="928" r:id="rId5"/>
    <p:sldId id="929" r:id="rId6"/>
    <p:sldId id="937" r:id="rId7"/>
    <p:sldId id="930" r:id="rId8"/>
    <p:sldId id="931" r:id="rId9"/>
    <p:sldId id="946" r:id="rId10"/>
    <p:sldId id="932" r:id="rId11"/>
    <p:sldId id="933" r:id="rId12"/>
    <p:sldId id="934" r:id="rId13"/>
    <p:sldId id="950" r:id="rId14"/>
    <p:sldId id="935" r:id="rId15"/>
    <p:sldId id="951" r:id="rId16"/>
    <p:sldId id="926" r:id="rId17"/>
    <p:sldId id="949" r:id="rId18"/>
    <p:sldId id="923" r:id="rId19"/>
    <p:sldId id="900" r:id="rId20"/>
  </p:sldIdLst>
  <p:sldSz cx="9144000" cy="6858000" type="screen4x3"/>
  <p:notesSz cx="6954838" cy="93091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06699"/>
    <a:srgbClr val="CCFFFF"/>
    <a:srgbClr val="00FF00"/>
    <a:srgbClr val="3333FF"/>
    <a:srgbClr val="0033CC"/>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21" autoAdjust="0"/>
    <p:restoredTop sz="92422" autoAdjust="0"/>
  </p:normalViewPr>
  <p:slideViewPr>
    <p:cSldViewPr snapToGrid="0">
      <p:cViewPr varScale="1">
        <p:scale>
          <a:sx n="75" d="100"/>
          <a:sy n="75" d="100"/>
        </p:scale>
        <p:origin x="1040" y="52"/>
      </p:cViewPr>
      <p:guideLst/>
    </p:cSldViewPr>
  </p:slideViewPr>
  <p:notesTextViewPr>
    <p:cViewPr>
      <p:scale>
        <a:sx n="1" d="1"/>
        <a:sy n="1" d="1"/>
      </p:scale>
      <p:origin x="0" y="0"/>
    </p:cViewPr>
  </p:notesTextViewPr>
  <p:sorterViewPr>
    <p:cViewPr>
      <p:scale>
        <a:sx n="100" d="100"/>
        <a:sy n="100" d="100"/>
      </p:scale>
      <p:origin x="0" y="-8020"/>
    </p:cViewPr>
  </p:sorterViewPr>
  <p:notesViewPr>
    <p:cSldViewPr snapToGrid="0">
      <p:cViewPr varScale="1">
        <p:scale>
          <a:sx n="51" d="100"/>
          <a:sy n="51" d="100"/>
        </p:scale>
        <p:origin x="2680" y="5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3763" cy="467072"/>
          </a:xfrm>
          <a:prstGeom prst="rect">
            <a:avLst/>
          </a:prstGeom>
        </p:spPr>
        <p:txBody>
          <a:bodyPr vert="horz" lIns="92930" tIns="46465" rIns="92930" bIns="46465" rtlCol="0"/>
          <a:lstStyle>
            <a:lvl1pPr algn="l">
              <a:defRPr sz="1200"/>
            </a:lvl1pPr>
          </a:lstStyle>
          <a:p>
            <a:r>
              <a:rPr lang="en-US" dirty="0"/>
              <a:t>2017-2018</a:t>
            </a:r>
          </a:p>
        </p:txBody>
      </p:sp>
      <p:sp>
        <p:nvSpPr>
          <p:cNvPr id="3" name="Date Placeholder 2"/>
          <p:cNvSpPr>
            <a:spLocks noGrp="1"/>
          </p:cNvSpPr>
          <p:nvPr>
            <p:ph type="dt" sz="quarter" idx="1"/>
          </p:nvPr>
        </p:nvSpPr>
        <p:spPr>
          <a:xfrm>
            <a:off x="3939466" y="0"/>
            <a:ext cx="3013763" cy="467072"/>
          </a:xfrm>
          <a:prstGeom prst="rect">
            <a:avLst/>
          </a:prstGeom>
        </p:spPr>
        <p:txBody>
          <a:bodyPr vert="horz" lIns="92930" tIns="46465" rIns="92930" bIns="46465" rtlCol="0"/>
          <a:lstStyle>
            <a:lvl1pPr algn="r">
              <a:defRPr sz="1200"/>
            </a:lvl1pPr>
          </a:lstStyle>
          <a:p>
            <a:fld id="{55EAD04F-FD92-4E2B-A6C4-86A88C834C21}" type="datetimeFigureOut">
              <a:rPr lang="en-US" smtClean="0"/>
              <a:t>6/20/2022</a:t>
            </a:fld>
            <a:endParaRPr lang="en-US"/>
          </a:p>
        </p:txBody>
      </p:sp>
      <p:sp>
        <p:nvSpPr>
          <p:cNvPr id="4" name="Footer Placeholder 3"/>
          <p:cNvSpPr>
            <a:spLocks noGrp="1"/>
          </p:cNvSpPr>
          <p:nvPr>
            <p:ph type="ftr" sz="quarter" idx="2"/>
          </p:nvPr>
        </p:nvSpPr>
        <p:spPr>
          <a:xfrm>
            <a:off x="0" y="8842030"/>
            <a:ext cx="3013763" cy="467071"/>
          </a:xfrm>
          <a:prstGeom prst="rect">
            <a:avLst/>
          </a:prstGeom>
        </p:spPr>
        <p:txBody>
          <a:bodyPr vert="horz" lIns="92930" tIns="46465" rIns="92930" bIns="46465" rtlCol="0" anchor="b"/>
          <a:lstStyle>
            <a:lvl1pPr algn="l">
              <a:defRPr sz="1200"/>
            </a:lvl1pPr>
          </a:lstStyle>
          <a:p>
            <a:endParaRPr lang="en-US"/>
          </a:p>
        </p:txBody>
      </p:sp>
      <p:sp>
        <p:nvSpPr>
          <p:cNvPr id="5" name="Slide Number Placeholder 4"/>
          <p:cNvSpPr>
            <a:spLocks noGrp="1"/>
          </p:cNvSpPr>
          <p:nvPr>
            <p:ph type="sldNum" sz="quarter" idx="3"/>
          </p:nvPr>
        </p:nvSpPr>
        <p:spPr>
          <a:xfrm>
            <a:off x="3939466" y="8842030"/>
            <a:ext cx="3013763" cy="467071"/>
          </a:xfrm>
          <a:prstGeom prst="rect">
            <a:avLst/>
          </a:prstGeom>
        </p:spPr>
        <p:txBody>
          <a:bodyPr vert="horz" lIns="92930" tIns="46465" rIns="92930" bIns="46465" rtlCol="0" anchor="b"/>
          <a:lstStyle>
            <a:lvl1pPr algn="r">
              <a:defRPr sz="1200"/>
            </a:lvl1pPr>
          </a:lstStyle>
          <a:p>
            <a:fld id="{3101AC80-9859-42E8-970F-6731D5ED4DFD}" type="slidenum">
              <a:rPr lang="en-US" smtClean="0"/>
              <a:t>‹#›</a:t>
            </a:fld>
            <a:endParaRPr lang="en-US"/>
          </a:p>
        </p:txBody>
      </p:sp>
    </p:spTree>
    <p:extLst>
      <p:ext uri="{BB962C8B-B14F-4D97-AF65-F5344CB8AC3E}">
        <p14:creationId xmlns:p14="http://schemas.microsoft.com/office/powerpoint/2010/main" val="10381610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3763" cy="467072"/>
          </a:xfrm>
          <a:prstGeom prst="rect">
            <a:avLst/>
          </a:prstGeom>
        </p:spPr>
        <p:txBody>
          <a:bodyPr vert="horz" lIns="92930" tIns="46465" rIns="92930" bIns="46465" rtlCol="0"/>
          <a:lstStyle>
            <a:lvl1pPr algn="l">
              <a:defRPr sz="1200"/>
            </a:lvl1pPr>
          </a:lstStyle>
          <a:p>
            <a:endParaRPr lang="en-US"/>
          </a:p>
        </p:txBody>
      </p:sp>
      <p:sp>
        <p:nvSpPr>
          <p:cNvPr id="3" name="Date Placeholder 2"/>
          <p:cNvSpPr>
            <a:spLocks noGrp="1"/>
          </p:cNvSpPr>
          <p:nvPr>
            <p:ph type="dt" idx="1"/>
          </p:nvPr>
        </p:nvSpPr>
        <p:spPr>
          <a:xfrm>
            <a:off x="3939466" y="0"/>
            <a:ext cx="3013763" cy="467072"/>
          </a:xfrm>
          <a:prstGeom prst="rect">
            <a:avLst/>
          </a:prstGeom>
        </p:spPr>
        <p:txBody>
          <a:bodyPr vert="horz" lIns="92930" tIns="46465" rIns="92930" bIns="46465" rtlCol="0"/>
          <a:lstStyle>
            <a:lvl1pPr algn="r">
              <a:defRPr sz="1200"/>
            </a:lvl1pPr>
          </a:lstStyle>
          <a:p>
            <a:fld id="{91283A88-A3A2-4A9D-B781-0B5CCFB9C6EB}" type="datetimeFigureOut">
              <a:rPr lang="en-US" smtClean="0"/>
              <a:t>6/20/2022</a:t>
            </a:fld>
            <a:endParaRPr lang="en-US"/>
          </a:p>
        </p:txBody>
      </p:sp>
      <p:sp>
        <p:nvSpPr>
          <p:cNvPr id="4" name="Slide Image Placeholder 3"/>
          <p:cNvSpPr>
            <a:spLocks noGrp="1" noRot="1" noChangeAspect="1"/>
          </p:cNvSpPr>
          <p:nvPr>
            <p:ph type="sldImg" idx="2"/>
          </p:nvPr>
        </p:nvSpPr>
        <p:spPr>
          <a:xfrm>
            <a:off x="1384300" y="1165225"/>
            <a:ext cx="4186238" cy="3140075"/>
          </a:xfrm>
          <a:prstGeom prst="rect">
            <a:avLst/>
          </a:prstGeom>
          <a:noFill/>
          <a:ln w="12700">
            <a:solidFill>
              <a:prstClr val="black"/>
            </a:solidFill>
          </a:ln>
        </p:spPr>
        <p:txBody>
          <a:bodyPr vert="horz" lIns="92930" tIns="46465" rIns="92930" bIns="46465" rtlCol="0" anchor="ctr"/>
          <a:lstStyle/>
          <a:p>
            <a:endParaRPr lang="en-US"/>
          </a:p>
        </p:txBody>
      </p:sp>
      <p:sp>
        <p:nvSpPr>
          <p:cNvPr id="5" name="Notes Placeholder 4"/>
          <p:cNvSpPr>
            <a:spLocks noGrp="1"/>
          </p:cNvSpPr>
          <p:nvPr>
            <p:ph type="body" sz="quarter" idx="3"/>
          </p:nvPr>
        </p:nvSpPr>
        <p:spPr>
          <a:xfrm>
            <a:off x="695484" y="4480003"/>
            <a:ext cx="5563870" cy="3665459"/>
          </a:xfrm>
          <a:prstGeom prst="rect">
            <a:avLst/>
          </a:prstGeom>
        </p:spPr>
        <p:txBody>
          <a:bodyPr vert="horz" lIns="92930" tIns="46465" rIns="92930" bIns="46465"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42030"/>
            <a:ext cx="3013763" cy="467071"/>
          </a:xfrm>
          <a:prstGeom prst="rect">
            <a:avLst/>
          </a:prstGeom>
        </p:spPr>
        <p:txBody>
          <a:bodyPr vert="horz" lIns="92930" tIns="46465" rIns="92930" bIns="46465" rtlCol="0" anchor="b"/>
          <a:lstStyle>
            <a:lvl1pPr algn="l">
              <a:defRPr sz="1200"/>
            </a:lvl1pPr>
          </a:lstStyle>
          <a:p>
            <a:endParaRPr lang="en-US"/>
          </a:p>
        </p:txBody>
      </p:sp>
      <p:sp>
        <p:nvSpPr>
          <p:cNvPr id="7" name="Slide Number Placeholder 6"/>
          <p:cNvSpPr>
            <a:spLocks noGrp="1"/>
          </p:cNvSpPr>
          <p:nvPr>
            <p:ph type="sldNum" sz="quarter" idx="5"/>
          </p:nvPr>
        </p:nvSpPr>
        <p:spPr>
          <a:xfrm>
            <a:off x="3939466" y="8842030"/>
            <a:ext cx="3013763" cy="467071"/>
          </a:xfrm>
          <a:prstGeom prst="rect">
            <a:avLst/>
          </a:prstGeom>
        </p:spPr>
        <p:txBody>
          <a:bodyPr vert="horz" lIns="92930" tIns="46465" rIns="92930" bIns="46465" rtlCol="0" anchor="b"/>
          <a:lstStyle>
            <a:lvl1pPr algn="r">
              <a:defRPr sz="1200"/>
            </a:lvl1pPr>
          </a:lstStyle>
          <a:p>
            <a:fld id="{08AD1E8B-481E-4480-A349-A9B8B8C6169B}" type="slidenum">
              <a:rPr lang="en-US" smtClean="0"/>
              <a:t>‹#›</a:t>
            </a:fld>
            <a:endParaRPr lang="en-US"/>
          </a:p>
        </p:txBody>
      </p:sp>
    </p:spTree>
    <p:extLst>
      <p:ext uri="{BB962C8B-B14F-4D97-AF65-F5344CB8AC3E}">
        <p14:creationId xmlns:p14="http://schemas.microsoft.com/office/powerpoint/2010/main" val="18828333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baseline="0" dirty="0"/>
          </a:p>
        </p:txBody>
      </p:sp>
    </p:spTree>
    <p:extLst>
      <p:ext uri="{BB962C8B-B14F-4D97-AF65-F5344CB8AC3E}">
        <p14:creationId xmlns:p14="http://schemas.microsoft.com/office/powerpoint/2010/main" val="18007670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63931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167125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r>
              <a:rPr lang="en-CA" dirty="0"/>
              <a:t>Structure: A student project team delivering a project, Assembly line workers in a manufacturing facility</a:t>
            </a:r>
          </a:p>
          <a:p>
            <a:r>
              <a:rPr lang="en-CA" dirty="0"/>
              <a:t>Resource and Knowledge:</a:t>
            </a:r>
            <a:r>
              <a:rPr lang="en-CA" baseline="0" dirty="0"/>
              <a:t> Reading the assignment, asking questions, sharing input; Parts for each station, training programs, payroll</a:t>
            </a:r>
          </a:p>
          <a:p>
            <a:r>
              <a:rPr lang="en-CA" baseline="0" dirty="0"/>
              <a:t>Relationships and Power: Reinforce teacher-student relationship; Supervisor jobs, people assigned to “good jobs” through seniority</a:t>
            </a:r>
          </a:p>
          <a:p>
            <a:r>
              <a:rPr lang="en-CA" baseline="0" dirty="0"/>
              <a:t>Security and Safety: Group membership, safe work conditions, fair pay</a:t>
            </a:r>
          </a:p>
        </p:txBody>
      </p:sp>
    </p:spTree>
    <p:extLst>
      <p:ext uri="{BB962C8B-B14F-4D97-AF65-F5344CB8AC3E}">
        <p14:creationId xmlns:p14="http://schemas.microsoft.com/office/powerpoint/2010/main" val="36381514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381514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r>
              <a:rPr lang="en-CA" dirty="0"/>
              <a:t>There is a chain of command in every organization</a:t>
            </a:r>
          </a:p>
          <a:p>
            <a:r>
              <a:rPr lang="en-CA" dirty="0"/>
              <a:t>Line management is responsible and accountable for managing risk of their activities and their operations not the persons in the functional expertise roles</a:t>
            </a:r>
          </a:p>
          <a:p>
            <a:r>
              <a:rPr lang="en-CA" dirty="0"/>
              <a:t>The functional experts are responsible for providing input to all levels of line mgmt. and are often shared amongst different levels of operations</a:t>
            </a:r>
          </a:p>
          <a:p>
            <a:pPr eaLnBrk="1" hangingPunct="1"/>
            <a:endParaRPr lang="en-US"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816817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7</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223956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232246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10</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850701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11</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687081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12</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88096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13</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360798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14</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256623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15</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9351493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27152" rtl="0" eaLnBrk="1" fontAlgn="base" latinLnBrk="0" hangingPunct="1">
              <a:lnSpc>
                <a:spcPct val="100000"/>
              </a:lnSpc>
              <a:spcBef>
                <a:spcPct val="0"/>
              </a:spcBef>
              <a:spcAft>
                <a:spcPct val="0"/>
              </a:spcAft>
              <a:buClrTx/>
              <a:buSzTx/>
              <a:buFontTx/>
              <a:buNone/>
              <a:tabLst/>
              <a:defRPr/>
            </a:pPr>
            <a:fld id="{E2E0E8D8-AE63-4BAB-AE10-86197CF9CB04}" type="slidenum">
              <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27152" rtl="0" eaLnBrk="1" fontAlgn="base" latinLnBrk="0" hangingPunct="1">
                <a:lnSpc>
                  <a:spcPct val="100000"/>
                </a:lnSpc>
                <a:spcBef>
                  <a:spcPct val="0"/>
                </a:spcBef>
                <a:spcAft>
                  <a:spcPct val="0"/>
                </a:spcAft>
                <a:buClrTx/>
                <a:buSzTx/>
                <a:buFontTx/>
                <a:buNone/>
                <a:tabLst/>
                <a:defRPr/>
              </a:pPr>
              <a:t>16</a:t>
            </a:fld>
            <a:endPar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B6B2B90-B612-42CC-80D2-4870E63A5117}" type="slidenum">
              <a:rPr kumimoji="0" lang="en-US" altLang="en-US" sz="1200" b="1"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16</a:t>
            </a:fld>
            <a:endParaRPr kumimoji="0" lang="en-US"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257885248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27152" rtl="0" eaLnBrk="1" fontAlgn="base" latinLnBrk="0" hangingPunct="1">
              <a:lnSpc>
                <a:spcPct val="100000"/>
              </a:lnSpc>
              <a:spcBef>
                <a:spcPct val="0"/>
              </a:spcBef>
              <a:spcAft>
                <a:spcPct val="0"/>
              </a:spcAft>
              <a:buClrTx/>
              <a:buSzTx/>
              <a:buFontTx/>
              <a:buNone/>
              <a:tabLst/>
              <a:defRPr/>
            </a:pPr>
            <a:fld id="{E2E0E8D8-AE63-4BAB-AE10-86197CF9CB04}" type="slidenum">
              <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27152" rtl="0" eaLnBrk="1" fontAlgn="base" latinLnBrk="0" hangingPunct="1">
                <a:lnSpc>
                  <a:spcPct val="100000"/>
                </a:lnSpc>
                <a:spcBef>
                  <a:spcPct val="0"/>
                </a:spcBef>
                <a:spcAft>
                  <a:spcPct val="0"/>
                </a:spcAft>
                <a:buClrTx/>
                <a:buSzTx/>
                <a:buFontTx/>
                <a:buNone/>
                <a:tabLst/>
                <a:defRPr/>
              </a:pPr>
              <a:t>17</a:t>
            </a:fld>
            <a:endPar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B6B2B90-B612-42CC-80D2-4870E63A5117}" type="slidenum">
              <a:rPr kumimoji="0" lang="en-US" altLang="en-US" sz="1200" b="1"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17</a:t>
            </a:fld>
            <a:endParaRPr kumimoji="0" lang="en-US"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151501130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18</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7914116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27152" rtl="0" eaLnBrk="1" fontAlgn="base" latinLnBrk="0" hangingPunct="1">
              <a:lnSpc>
                <a:spcPct val="100000"/>
              </a:lnSpc>
              <a:spcBef>
                <a:spcPct val="0"/>
              </a:spcBef>
              <a:spcAft>
                <a:spcPct val="0"/>
              </a:spcAft>
              <a:buClrTx/>
              <a:buSzTx/>
              <a:buFontTx/>
              <a:buNone/>
              <a:tabLst/>
              <a:defRPr/>
            </a:pPr>
            <a:fld id="{E2E0E8D8-AE63-4BAB-AE10-86197CF9CB04}" type="slidenum">
              <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27152" rtl="0" eaLnBrk="1" fontAlgn="base" latinLnBrk="0" hangingPunct="1">
                <a:lnSpc>
                  <a:spcPct val="100000"/>
                </a:lnSpc>
                <a:spcBef>
                  <a:spcPct val="0"/>
                </a:spcBef>
                <a:spcAft>
                  <a:spcPct val="0"/>
                </a:spcAft>
                <a:buClrTx/>
                <a:buSzTx/>
                <a:buFontTx/>
                <a:buNone/>
                <a:tabLst/>
                <a:defRPr/>
              </a:pPr>
              <a:t>19</a:t>
            </a:fld>
            <a:endPar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B6B2B90-B612-42CC-80D2-4870E63A5117}" type="slidenum">
              <a:rPr kumimoji="0" lang="en-US" altLang="en-US" sz="1200" b="1"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19</a:t>
            </a:fld>
            <a:endParaRPr kumimoji="0" lang="en-US"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16302351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6066" name="Rectangle 2"/>
          <p:cNvSpPr>
            <a:spLocks noGrp="1" noChangeArrowheads="1"/>
          </p:cNvSpPr>
          <p:nvPr>
            <p:ph type="ctrTitle"/>
          </p:nvPr>
        </p:nvSpPr>
        <p:spPr>
          <a:xfrm>
            <a:off x="685800" y="1905000"/>
            <a:ext cx="7772400" cy="1470025"/>
          </a:xfrm>
        </p:spPr>
        <p:txBody>
          <a:bodyPr/>
          <a:lstStyle>
            <a:lvl1pPr>
              <a:spcBef>
                <a:spcPct val="20000"/>
              </a:spcBef>
              <a:defRPr sz="3600" smtClean="0"/>
            </a:lvl1pPr>
          </a:lstStyle>
          <a:p>
            <a:r>
              <a:rPr lang="en-US" dirty="0"/>
              <a:t>Click to edit Master title style</a:t>
            </a:r>
          </a:p>
        </p:txBody>
      </p:sp>
      <p:sp>
        <p:nvSpPr>
          <p:cNvPr id="216067" name="Rectangle 3"/>
          <p:cNvSpPr>
            <a:spLocks noGrp="1" noChangeArrowheads="1"/>
          </p:cNvSpPr>
          <p:nvPr>
            <p:ph type="subTitle" idx="1"/>
          </p:nvPr>
        </p:nvSpPr>
        <p:spPr>
          <a:xfrm>
            <a:off x="1371600" y="4114800"/>
            <a:ext cx="6400800" cy="1752600"/>
          </a:xfrm>
          <a:prstGeom prst="rect">
            <a:avLst/>
          </a:prstGeom>
        </p:spPr>
        <p:txBody>
          <a:bodyPr/>
          <a:lstStyle>
            <a:lvl1pPr marL="0" indent="0" algn="ctr">
              <a:buFont typeface="Wingdings" pitchFamily="2" charset="2"/>
              <a:buNone/>
              <a:defRPr smtClean="0"/>
            </a:lvl1pPr>
          </a:lstStyle>
          <a:p>
            <a:r>
              <a:rPr lang="en-US"/>
              <a:t>Click to edit Master subtitle style</a:t>
            </a:r>
          </a:p>
        </p:txBody>
      </p:sp>
    </p:spTree>
    <p:extLst>
      <p:ext uri="{BB962C8B-B14F-4D97-AF65-F5344CB8AC3E}">
        <p14:creationId xmlns:p14="http://schemas.microsoft.com/office/powerpoint/2010/main" val="40195465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200"/>
            </a:lvl1pPr>
          </a:lstStyle>
          <a:p>
            <a:r>
              <a:rPr lang="en-US" dirty="0"/>
              <a:t>Click to edit Master title style</a:t>
            </a:r>
          </a:p>
        </p:txBody>
      </p:sp>
      <p:sp>
        <p:nvSpPr>
          <p:cNvPr id="3" name="Content Placeholder 2"/>
          <p:cNvSpPr>
            <a:spLocks noGrp="1"/>
          </p:cNvSpPr>
          <p:nvPr>
            <p:ph idx="1"/>
          </p:nvPr>
        </p:nvSpPr>
        <p:spPr>
          <a:xfrm>
            <a:off x="663389" y="1120588"/>
            <a:ext cx="8153400" cy="5105400"/>
          </a:xfrm>
          <a:prstGeom prst="rect">
            <a:avLst/>
          </a:prstGeom>
        </p:spPr>
        <p:txBody>
          <a:bodyPr/>
          <a:lstStyle>
            <a:lvl1pPr marL="342900" indent="-342900">
              <a:buClrTx/>
              <a:buFont typeface="Wingdings" charset="2"/>
              <a:buChar char="§"/>
              <a:defRPr sz="2400">
                <a:solidFill>
                  <a:schemeClr val="tx1"/>
                </a:solidFill>
              </a:defRPr>
            </a:lvl1pPr>
            <a:lvl2pPr marL="742950" indent="-285750">
              <a:buClrTx/>
              <a:buFont typeface="Arial"/>
              <a:buChar char="•"/>
              <a:defRPr sz="2200">
                <a:solidFill>
                  <a:schemeClr val="tx1"/>
                </a:solidFill>
              </a:defRPr>
            </a:lvl2pPr>
            <a:lvl3pPr marL="1143000" indent="-228600">
              <a:buClrTx/>
              <a:buFont typeface="Arial"/>
              <a:buChar char="•"/>
              <a:defRPr sz="2000">
                <a:solidFill>
                  <a:schemeClr val="tx1"/>
                </a:solidFill>
              </a:defRPr>
            </a:lvl3pPr>
            <a:lvl4pPr marL="1600200" indent="-228600">
              <a:buClrTx/>
              <a:buFont typeface="Arial"/>
              <a:buChar char="•"/>
              <a:defRPr>
                <a:solidFill>
                  <a:schemeClr val="tx1"/>
                </a:solidFill>
              </a:defRPr>
            </a:lvl4pPr>
            <a:lvl5pPr marL="2057400" indent="-228600">
              <a:buClrTx/>
              <a:buFont typeface="Arial"/>
              <a:buChar cha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130343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77850" y="168275"/>
            <a:ext cx="8229600" cy="563563"/>
          </a:xfrm>
        </p:spPr>
        <p:txBody>
          <a:bodyPr/>
          <a:lstStyle/>
          <a:p>
            <a:r>
              <a:rPr lang="en-US"/>
              <a:t>Click to edit Master title style</a:t>
            </a:r>
          </a:p>
        </p:txBody>
      </p:sp>
      <p:sp>
        <p:nvSpPr>
          <p:cNvPr id="3" name="Text Placeholder 2"/>
          <p:cNvSpPr>
            <a:spLocks noGrp="1"/>
          </p:cNvSpPr>
          <p:nvPr>
            <p:ph type="body" sz="half" idx="1"/>
          </p:nvPr>
        </p:nvSpPr>
        <p:spPr>
          <a:xfrm>
            <a:off x="577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68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905426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1028"/>
          <p:cNvSpPr>
            <a:spLocks noGrp="1" noChangeArrowheads="1"/>
          </p:cNvSpPr>
          <p:nvPr>
            <p:ph type="dt" sz="half" idx="10"/>
          </p:nvPr>
        </p:nvSpPr>
        <p:spPr>
          <a:xfrm>
            <a:off x="685800" y="6248400"/>
            <a:ext cx="1905000" cy="457200"/>
          </a:xfrm>
          <a:prstGeom prst="rect">
            <a:avLst/>
          </a:prstGeom>
          <a:ln/>
        </p:spPr>
        <p:txBody>
          <a:bodyPr/>
          <a:lstStyle>
            <a:lvl1pPr>
              <a:defRPr/>
            </a:lvl1pPr>
          </a:lstStyle>
          <a:p>
            <a:pPr>
              <a:defRPr/>
            </a:pPr>
            <a:fld id="{53118CC2-884A-4430-8B4F-9976F3C29C24}" type="datetimeFigureOut">
              <a:rPr lang="en-US"/>
              <a:pPr>
                <a:defRPr/>
              </a:pPr>
              <a:t>6/20/2022</a:t>
            </a:fld>
            <a:endParaRPr lang="en-US"/>
          </a:p>
        </p:txBody>
      </p:sp>
      <p:sp>
        <p:nvSpPr>
          <p:cNvPr id="3" name="Rectangle 1029"/>
          <p:cNvSpPr>
            <a:spLocks noGrp="1" noChangeArrowheads="1"/>
          </p:cNvSpPr>
          <p:nvPr>
            <p:ph type="ftr" sz="quarter" idx="11"/>
          </p:nvPr>
        </p:nvSpPr>
        <p:spPr>
          <a:xfrm>
            <a:off x="3124200" y="6248400"/>
            <a:ext cx="2895600" cy="457200"/>
          </a:xfrm>
          <a:prstGeom prst="rect">
            <a:avLst/>
          </a:prstGeom>
          <a:ln/>
        </p:spPr>
        <p:txBody>
          <a:bodyPr/>
          <a:lstStyle>
            <a:lvl1pPr>
              <a:defRPr/>
            </a:lvl1pPr>
          </a:lstStyle>
          <a:p>
            <a:pPr>
              <a:defRPr/>
            </a:pPr>
            <a:endParaRPr lang="en-US" altLang="en-US"/>
          </a:p>
        </p:txBody>
      </p:sp>
      <p:sp>
        <p:nvSpPr>
          <p:cNvPr id="4" name="Rectangle 1030"/>
          <p:cNvSpPr>
            <a:spLocks noGrp="1" noChangeArrowheads="1"/>
          </p:cNvSpPr>
          <p:nvPr>
            <p:ph type="sldNum" sz="quarter" idx="12"/>
          </p:nvPr>
        </p:nvSpPr>
        <p:spPr>
          <a:xfrm>
            <a:off x="6553200" y="6248400"/>
            <a:ext cx="1905000" cy="457200"/>
          </a:xfrm>
          <a:prstGeom prst="rect">
            <a:avLst/>
          </a:prstGeom>
          <a:ln/>
        </p:spPr>
        <p:txBody>
          <a:bodyPr/>
          <a:lstStyle>
            <a:lvl1pPr>
              <a:defRPr/>
            </a:lvl1pPr>
          </a:lstStyle>
          <a:p>
            <a:pPr>
              <a:defRPr/>
            </a:pPr>
            <a:fld id="{91823322-A425-42F9-B4E6-DE1BA6748FF3}" type="slidenum">
              <a:rPr lang="en-US" altLang="en-US"/>
              <a:pPr>
                <a:defRPr/>
              </a:pPr>
              <a:t>‹#›</a:t>
            </a:fld>
            <a:endParaRPr lang="en-US" altLang="en-US"/>
          </a:p>
        </p:txBody>
      </p:sp>
    </p:spTree>
    <p:extLst>
      <p:ext uri="{BB962C8B-B14F-4D97-AF65-F5344CB8AC3E}">
        <p14:creationId xmlns:p14="http://schemas.microsoft.com/office/powerpoint/2010/main" val="1007505778"/>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jpe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168275"/>
            <a:ext cx="8153400"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dirty="0"/>
              <a:t>Click to enter page Title</a:t>
            </a:r>
          </a:p>
        </p:txBody>
      </p:sp>
      <p:cxnSp>
        <p:nvCxnSpPr>
          <p:cNvPr id="10" name="Straight Connector 9"/>
          <p:cNvCxnSpPr/>
          <p:nvPr/>
        </p:nvCxnSpPr>
        <p:spPr>
          <a:xfrm>
            <a:off x="76200" y="7620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cxnSp>
        <p:nvCxnSpPr>
          <p:cNvPr id="7" name="Straight Connector 4"/>
          <p:cNvCxnSpPr/>
          <p:nvPr/>
        </p:nvCxnSpPr>
        <p:spPr>
          <a:xfrm>
            <a:off x="76200" y="62484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pic>
        <p:nvPicPr>
          <p:cNvPr id="4" name="Picture 2" descr="http://www.nanobridge.ca/Portals/0/Images/eng-logo.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61999" y="6307038"/>
            <a:ext cx="1838325" cy="5524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60606100"/>
      </p:ext>
    </p:extLst>
  </p:cSld>
  <p:clrMap bg1="lt1" tx1="dk1" bg2="lt2" tx2="dk2" accent1="accent1" accent2="accent2" accent3="accent3" accent4="accent4" accent5="accent5" accent6="accent6" hlink="hlink" folHlink="folHlink"/>
  <p:sldLayoutIdLst>
    <p:sldLayoutId id="2147483760" r:id="rId1"/>
    <p:sldLayoutId id="2147483761" r:id="rId2"/>
    <p:sldLayoutId id="2147483762" r:id="rId3"/>
    <p:sldLayoutId id="2147483763" r:id="rId4"/>
  </p:sldLayoutIdLst>
  <p:hf hdr="0" ftr="0" dt="0"/>
  <p:txStyles>
    <p:titleStyle>
      <a:lvl1pPr algn="ctr" rtl="0" eaLnBrk="0" fontAlgn="base" hangingPunct="0">
        <a:spcBef>
          <a:spcPct val="0"/>
        </a:spcBef>
        <a:spcAft>
          <a:spcPct val="0"/>
        </a:spcAft>
        <a:defRPr sz="3600" b="1">
          <a:solidFill>
            <a:schemeClr val="accent2"/>
          </a:solidFill>
          <a:latin typeface="Calibri" pitchFamily="34" charset="0"/>
          <a:ea typeface="+mj-ea"/>
          <a:cs typeface="+mj-cs"/>
        </a:defRPr>
      </a:lvl1pPr>
      <a:lvl2pPr algn="ctr" rtl="0" eaLnBrk="0" fontAlgn="base" hangingPunct="0">
        <a:spcBef>
          <a:spcPct val="0"/>
        </a:spcBef>
        <a:spcAft>
          <a:spcPct val="0"/>
        </a:spcAft>
        <a:defRPr sz="3600">
          <a:solidFill>
            <a:srgbClr val="002C5F"/>
          </a:solidFill>
          <a:latin typeface="Calibri" pitchFamily="34" charset="0"/>
        </a:defRPr>
      </a:lvl2pPr>
      <a:lvl3pPr algn="ctr" rtl="0" eaLnBrk="0" fontAlgn="base" hangingPunct="0">
        <a:spcBef>
          <a:spcPct val="0"/>
        </a:spcBef>
        <a:spcAft>
          <a:spcPct val="0"/>
        </a:spcAft>
        <a:defRPr sz="3600">
          <a:solidFill>
            <a:srgbClr val="002C5F"/>
          </a:solidFill>
          <a:latin typeface="Calibri" pitchFamily="34" charset="0"/>
        </a:defRPr>
      </a:lvl3pPr>
      <a:lvl4pPr algn="ctr" rtl="0" eaLnBrk="0" fontAlgn="base" hangingPunct="0">
        <a:spcBef>
          <a:spcPct val="0"/>
        </a:spcBef>
        <a:spcAft>
          <a:spcPct val="0"/>
        </a:spcAft>
        <a:defRPr sz="3600">
          <a:solidFill>
            <a:srgbClr val="002C5F"/>
          </a:solidFill>
          <a:latin typeface="Calibri" pitchFamily="34" charset="0"/>
        </a:defRPr>
      </a:lvl4pPr>
      <a:lvl5pPr algn="ctr" rtl="0" eaLnBrk="0" fontAlgn="base" hangingPunct="0">
        <a:spcBef>
          <a:spcPct val="0"/>
        </a:spcBef>
        <a:spcAft>
          <a:spcPct val="0"/>
        </a:spcAft>
        <a:defRPr sz="3600">
          <a:solidFill>
            <a:srgbClr val="002C5F"/>
          </a:solidFill>
          <a:latin typeface="Calibri" pitchFamily="34" charset="0"/>
        </a:defRPr>
      </a:lvl5pPr>
      <a:lvl6pPr marL="457200" algn="ctr" rtl="0" fontAlgn="base">
        <a:spcBef>
          <a:spcPct val="0"/>
        </a:spcBef>
        <a:spcAft>
          <a:spcPct val="0"/>
        </a:spcAft>
        <a:defRPr sz="3600" b="1">
          <a:solidFill>
            <a:srgbClr val="002C5F"/>
          </a:solidFill>
          <a:latin typeface="Arial" charset="0"/>
        </a:defRPr>
      </a:lvl6pPr>
      <a:lvl7pPr marL="914400" algn="ctr" rtl="0" fontAlgn="base">
        <a:spcBef>
          <a:spcPct val="0"/>
        </a:spcBef>
        <a:spcAft>
          <a:spcPct val="0"/>
        </a:spcAft>
        <a:defRPr sz="3600" b="1">
          <a:solidFill>
            <a:srgbClr val="002C5F"/>
          </a:solidFill>
          <a:latin typeface="Arial" charset="0"/>
        </a:defRPr>
      </a:lvl7pPr>
      <a:lvl8pPr marL="1371600" algn="ctr" rtl="0" fontAlgn="base">
        <a:spcBef>
          <a:spcPct val="0"/>
        </a:spcBef>
        <a:spcAft>
          <a:spcPct val="0"/>
        </a:spcAft>
        <a:defRPr sz="3600" b="1">
          <a:solidFill>
            <a:srgbClr val="002C5F"/>
          </a:solidFill>
          <a:latin typeface="Arial" charset="0"/>
        </a:defRPr>
      </a:lvl8pPr>
      <a:lvl9pPr marL="1828800" algn="ctr" rtl="0" fontAlgn="base">
        <a:spcBef>
          <a:spcPct val="0"/>
        </a:spcBef>
        <a:spcAft>
          <a:spcPct val="0"/>
        </a:spcAft>
        <a:defRPr sz="3600" b="1">
          <a:solidFill>
            <a:srgbClr val="002C5F"/>
          </a:solidFill>
          <a:latin typeface="Arial" charset="0"/>
        </a:defRPr>
      </a:lvl9pPr>
    </p:titleStyle>
    <p:bodyStyle>
      <a:lvl1pPr marL="342900" indent="-342900" algn="l" rtl="0" eaLnBrk="0" fontAlgn="base" hangingPunct="0">
        <a:spcBef>
          <a:spcPct val="20000"/>
        </a:spcBef>
        <a:spcAft>
          <a:spcPct val="0"/>
        </a:spcAft>
        <a:buClr>
          <a:srgbClr val="AA9C8F"/>
        </a:buClr>
        <a:buFont typeface="Wingdings" pitchFamily="2" charset="2"/>
        <a:buChar char="§"/>
        <a:defRPr sz="2800">
          <a:solidFill>
            <a:srgbClr val="4D4D4D"/>
          </a:solidFill>
          <a:latin typeface="Calibri" pitchFamily="34" charset="0"/>
          <a:ea typeface="+mn-ea"/>
          <a:cs typeface="+mn-cs"/>
        </a:defRPr>
      </a:lvl1pPr>
      <a:lvl2pPr marL="742950" indent="-285750" algn="l" rtl="0" eaLnBrk="0" fontAlgn="base" hangingPunct="0">
        <a:spcBef>
          <a:spcPct val="20000"/>
        </a:spcBef>
        <a:spcAft>
          <a:spcPct val="0"/>
        </a:spcAft>
        <a:buClr>
          <a:srgbClr val="C75B12"/>
        </a:buClr>
        <a:buFont typeface="Wingdings" pitchFamily="2" charset="2"/>
        <a:buChar char="§"/>
        <a:defRPr sz="2600">
          <a:solidFill>
            <a:schemeClr val="tx1"/>
          </a:solidFill>
          <a:latin typeface="Calibri" pitchFamily="34" charset="0"/>
        </a:defRPr>
      </a:lvl2pPr>
      <a:lvl3pPr marL="1143000" indent="-228600" algn="l" rtl="0" eaLnBrk="0" fontAlgn="base" hangingPunct="0">
        <a:spcBef>
          <a:spcPct val="20000"/>
        </a:spcBef>
        <a:spcAft>
          <a:spcPct val="0"/>
        </a:spcAft>
        <a:buClr>
          <a:srgbClr val="C75B12"/>
        </a:buClr>
        <a:buFont typeface="Wingdings" pitchFamily="2" charset="2"/>
        <a:buChar char="§"/>
        <a:defRPr sz="2400">
          <a:solidFill>
            <a:schemeClr val="tx1"/>
          </a:solidFill>
          <a:latin typeface="Calibri" pitchFamily="34" charset="0"/>
        </a:defRPr>
      </a:lvl3pPr>
      <a:lvl4pPr marL="16002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4pPr>
      <a:lvl5pPr marL="20574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5pPr>
      <a:lvl6pPr marL="25146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6pPr>
      <a:lvl7pPr marL="29718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7pPr>
      <a:lvl8pPr marL="34290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8pPr>
      <a:lvl9pPr marL="38862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hyperlink" Target="https://hbr.org/2014/09/your-companys-purpose-is-not-its-vision-mission-or-values" TargetMode="Externa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txBox="1">
            <a:spLocks noChangeArrowheads="1"/>
          </p:cNvSpPr>
          <p:nvPr/>
        </p:nvSpPr>
        <p:spPr bwMode="auto">
          <a:xfrm>
            <a:off x="228600" y="838200"/>
            <a:ext cx="8610600" cy="1662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ctr" rtl="0" eaLnBrk="0" fontAlgn="base" hangingPunct="0">
              <a:spcBef>
                <a:spcPct val="0"/>
              </a:spcBef>
              <a:spcAft>
                <a:spcPct val="0"/>
              </a:spcAft>
              <a:defRPr sz="3600" b="1">
                <a:solidFill>
                  <a:schemeClr val="accent2"/>
                </a:solidFill>
                <a:latin typeface="Calibri" pitchFamily="34" charset="0"/>
                <a:ea typeface="+mj-ea"/>
                <a:cs typeface="+mj-cs"/>
              </a:defRPr>
            </a:lvl1pPr>
            <a:lvl2pPr algn="ctr" rtl="0" eaLnBrk="0" fontAlgn="base" hangingPunct="0">
              <a:spcBef>
                <a:spcPct val="0"/>
              </a:spcBef>
              <a:spcAft>
                <a:spcPct val="0"/>
              </a:spcAft>
              <a:defRPr sz="3600">
                <a:solidFill>
                  <a:srgbClr val="002C5F"/>
                </a:solidFill>
                <a:latin typeface="Calibri" pitchFamily="34" charset="0"/>
              </a:defRPr>
            </a:lvl2pPr>
            <a:lvl3pPr algn="ctr" rtl="0" eaLnBrk="0" fontAlgn="base" hangingPunct="0">
              <a:spcBef>
                <a:spcPct val="0"/>
              </a:spcBef>
              <a:spcAft>
                <a:spcPct val="0"/>
              </a:spcAft>
              <a:defRPr sz="3600">
                <a:solidFill>
                  <a:srgbClr val="002C5F"/>
                </a:solidFill>
                <a:latin typeface="Calibri" pitchFamily="34" charset="0"/>
              </a:defRPr>
            </a:lvl3pPr>
            <a:lvl4pPr algn="ctr" rtl="0" eaLnBrk="0" fontAlgn="base" hangingPunct="0">
              <a:spcBef>
                <a:spcPct val="0"/>
              </a:spcBef>
              <a:spcAft>
                <a:spcPct val="0"/>
              </a:spcAft>
              <a:defRPr sz="3600">
                <a:solidFill>
                  <a:srgbClr val="002C5F"/>
                </a:solidFill>
                <a:latin typeface="Calibri" pitchFamily="34" charset="0"/>
              </a:defRPr>
            </a:lvl4pPr>
            <a:lvl5pPr algn="ctr" rtl="0" eaLnBrk="0" fontAlgn="base" hangingPunct="0">
              <a:spcBef>
                <a:spcPct val="0"/>
              </a:spcBef>
              <a:spcAft>
                <a:spcPct val="0"/>
              </a:spcAft>
              <a:defRPr sz="3600">
                <a:solidFill>
                  <a:srgbClr val="002C5F"/>
                </a:solidFill>
                <a:latin typeface="Calibri" pitchFamily="34" charset="0"/>
              </a:defRPr>
            </a:lvl5pPr>
            <a:lvl6pPr marL="457200" algn="ctr" rtl="0" fontAlgn="base">
              <a:spcBef>
                <a:spcPct val="0"/>
              </a:spcBef>
              <a:spcAft>
                <a:spcPct val="0"/>
              </a:spcAft>
              <a:defRPr sz="3600" b="1">
                <a:solidFill>
                  <a:srgbClr val="002C5F"/>
                </a:solidFill>
                <a:latin typeface="Arial" charset="0"/>
              </a:defRPr>
            </a:lvl6pPr>
            <a:lvl7pPr marL="914400" algn="ctr" rtl="0" fontAlgn="base">
              <a:spcBef>
                <a:spcPct val="0"/>
              </a:spcBef>
              <a:spcAft>
                <a:spcPct val="0"/>
              </a:spcAft>
              <a:defRPr sz="3600" b="1">
                <a:solidFill>
                  <a:srgbClr val="002C5F"/>
                </a:solidFill>
                <a:latin typeface="Arial" charset="0"/>
              </a:defRPr>
            </a:lvl7pPr>
            <a:lvl8pPr marL="1371600" algn="ctr" rtl="0" fontAlgn="base">
              <a:spcBef>
                <a:spcPct val="0"/>
              </a:spcBef>
              <a:spcAft>
                <a:spcPct val="0"/>
              </a:spcAft>
              <a:defRPr sz="3600" b="1">
                <a:solidFill>
                  <a:srgbClr val="002C5F"/>
                </a:solidFill>
                <a:latin typeface="Arial" charset="0"/>
              </a:defRPr>
            </a:lvl8pPr>
            <a:lvl9pPr marL="1828800" algn="ctr" rtl="0" fontAlgn="base">
              <a:spcBef>
                <a:spcPct val="0"/>
              </a:spcBef>
              <a:spcAft>
                <a:spcPct val="0"/>
              </a:spcAft>
              <a:defRPr sz="3600" b="1">
                <a:solidFill>
                  <a:srgbClr val="002C5F"/>
                </a:solidFill>
                <a:latin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CA" altLang="en-US" sz="3600" b="1" i="1" u="none" strike="noStrike" kern="0" cap="none" spc="0" normalizeH="0" baseline="0" noProof="0" dirty="0">
                <a:ln>
                  <a:noFill/>
                </a:ln>
                <a:solidFill>
                  <a:srgbClr val="000099"/>
                </a:solidFill>
                <a:effectLst/>
                <a:uLnTx/>
                <a:uFillTx/>
                <a:latin typeface="Calibri" pitchFamily="34" charset="0"/>
                <a:ea typeface="ＭＳ Ｐゴシック" panose="020B0600070205080204" pitchFamily="34" charset="-128"/>
                <a:cs typeface="+mj-cs"/>
              </a:rPr>
              <a:t>On Becoming a </a:t>
            </a:r>
            <a:br>
              <a:rPr kumimoji="0" lang="en-CA" altLang="en-US" sz="3600" b="1" i="1" u="none" strike="noStrike" kern="0" cap="none" spc="0" normalizeH="0" baseline="0" noProof="0" dirty="0">
                <a:ln>
                  <a:noFill/>
                </a:ln>
                <a:solidFill>
                  <a:srgbClr val="000099"/>
                </a:solidFill>
                <a:effectLst/>
                <a:uLnTx/>
                <a:uFillTx/>
                <a:latin typeface="Calibri" pitchFamily="34" charset="0"/>
                <a:ea typeface="ＭＳ Ｐゴシック" panose="020B0600070205080204" pitchFamily="34" charset="-128"/>
                <a:cs typeface="+mj-cs"/>
              </a:rPr>
            </a:br>
            <a:r>
              <a:rPr kumimoji="0" lang="en-CA" altLang="en-US" sz="3600" b="1" i="1" u="none" strike="noStrike" kern="0" cap="none" spc="0" normalizeH="0" baseline="0" noProof="0" dirty="0">
                <a:ln>
                  <a:noFill/>
                </a:ln>
                <a:solidFill>
                  <a:srgbClr val="000099"/>
                </a:solidFill>
                <a:effectLst/>
                <a:uLnTx/>
                <a:uFillTx/>
                <a:latin typeface="Calibri" pitchFamily="34" charset="0"/>
                <a:ea typeface="ＭＳ Ｐゴシック" panose="020B0600070205080204" pitchFamily="34" charset="-128"/>
                <a:cs typeface="+mj-cs"/>
              </a:rPr>
              <a:t>Leader in Risk Management</a:t>
            </a:r>
          </a:p>
          <a:p>
            <a:pPr marL="0" marR="0" lvl="0" indent="0" algn="ctr" defTabSz="914400" rtl="0" eaLnBrk="1" fontAlgn="base" latinLnBrk="0" hangingPunct="1">
              <a:lnSpc>
                <a:spcPct val="100000"/>
              </a:lnSpc>
              <a:spcBef>
                <a:spcPct val="0"/>
              </a:spcBef>
              <a:spcAft>
                <a:spcPct val="0"/>
              </a:spcAft>
              <a:buClr>
                <a:srgbClr val="AA9C8F"/>
              </a:buClr>
              <a:buSzTx/>
              <a:buFontTx/>
              <a:buNone/>
              <a:tabLst/>
              <a:defRPr/>
            </a:pPr>
            <a:r>
              <a:rPr kumimoji="0" lang="en-US" altLang="en-US" sz="3200" b="1"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ENGG404 - Lecture</a:t>
            </a:r>
            <a:endParaRPr kumimoji="0" lang="en-US" altLang="en-US" sz="3600" b="1" i="1" u="none" strike="noStrike" kern="0" cap="none" spc="0" normalizeH="0" baseline="0" noProof="0" dirty="0">
              <a:ln>
                <a:noFill/>
              </a:ln>
              <a:solidFill>
                <a:srgbClr val="000099"/>
              </a:solidFill>
              <a:effectLst/>
              <a:uLnTx/>
              <a:uFillTx/>
              <a:latin typeface="Calibri" pitchFamily="34" charset="0"/>
              <a:ea typeface="ＭＳ Ｐゴシック" panose="020B0600070205080204" pitchFamily="34" charset="-128"/>
              <a:cs typeface="+mj-cs"/>
            </a:endParaRPr>
          </a:p>
        </p:txBody>
      </p:sp>
      <p:sp>
        <p:nvSpPr>
          <p:cNvPr id="8" name="Rectangle 3"/>
          <p:cNvSpPr>
            <a:spLocks noGrp="1" noChangeArrowheads="1"/>
          </p:cNvSpPr>
          <p:nvPr>
            <p:ph type="subTitle" idx="4294967295"/>
          </p:nvPr>
        </p:nvSpPr>
        <p:spPr>
          <a:xfrm>
            <a:off x="228600" y="2500342"/>
            <a:ext cx="8610600" cy="22240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indent="0" algn="ctr" eaLnBrk="1" hangingPunct="1">
              <a:spcBef>
                <a:spcPct val="0"/>
              </a:spcBef>
              <a:buNone/>
            </a:pPr>
            <a:r>
              <a:rPr lang="en-CA" altLang="en-US" sz="3200" b="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rPr>
              <a:t>Chapter 7.3: </a:t>
            </a:r>
            <a:r>
              <a:rPr lang="en-US" altLang="en-US" sz="3200" b="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rPr>
              <a:t>Organizational Design and the Relationships Between Leadership, Culture, and Performance</a:t>
            </a:r>
            <a:endParaRPr lang="en-US"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TextBox 8">
            <a:extLst>
              <a:ext uri="{FF2B5EF4-FFF2-40B4-BE49-F238E27FC236}">
                <a16:creationId xmlns:a16="http://schemas.microsoft.com/office/drawing/2014/main" id="{45837290-7F22-4D42-BFDD-D5AD4C09C01F}"/>
              </a:ext>
            </a:extLst>
          </p:cNvPr>
          <p:cNvSpPr txBox="1"/>
          <p:nvPr/>
        </p:nvSpPr>
        <p:spPr>
          <a:xfrm>
            <a:off x="152402" y="176015"/>
            <a:ext cx="1176817" cy="461665"/>
          </a:xfrm>
          <a:prstGeom prst="rect">
            <a:avLst/>
          </a:prstGeom>
          <a:no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solidFill>
                  <a:srgbClr val="000000"/>
                </a:solidFill>
                <a:effectLst/>
                <a:uLnTx/>
                <a:uFillTx/>
                <a:latin typeface="Calibri" panose="020F0502020204030204"/>
                <a:ea typeface="ＭＳ Ｐゴシック" panose="020B0600070205080204" pitchFamily="34" charset="-128"/>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Fundamentals of RM</a:t>
            </a:r>
          </a:p>
        </p:txBody>
      </p:sp>
      <p:sp>
        <p:nvSpPr>
          <p:cNvPr id="10" name="TextBox 9">
            <a:extLst>
              <a:ext uri="{FF2B5EF4-FFF2-40B4-BE49-F238E27FC236}">
                <a16:creationId xmlns:a16="http://schemas.microsoft.com/office/drawing/2014/main" id="{7618FDCA-D6EA-3540-8AE2-F6CD31336ABE}"/>
              </a:ext>
            </a:extLst>
          </p:cNvPr>
          <p:cNvSpPr txBox="1"/>
          <p:nvPr/>
        </p:nvSpPr>
        <p:spPr>
          <a:xfrm>
            <a:off x="1481037" y="169908"/>
            <a:ext cx="1024999" cy="461665"/>
          </a:xfrm>
          <a:prstGeom prst="rect">
            <a:avLst/>
          </a:prstGeom>
          <a:solidFill>
            <a:sysClr val="window" lastClr="FFFFFF"/>
          </a:solidFill>
          <a:ln w="12700" cap="flat" cmpd="sng" algn="ctr">
            <a:solidFill>
              <a:schemeClr val="tx1"/>
            </a:solidFill>
            <a:prstDash val="solid"/>
            <a:miter lim="800000"/>
          </a:ln>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RM System and Process</a:t>
            </a:r>
          </a:p>
        </p:txBody>
      </p:sp>
      <p:sp>
        <p:nvSpPr>
          <p:cNvPr id="11" name="TextBox 10">
            <a:extLst>
              <a:ext uri="{FF2B5EF4-FFF2-40B4-BE49-F238E27FC236}">
                <a16:creationId xmlns:a16="http://schemas.microsoft.com/office/drawing/2014/main" id="{45BC740A-AE56-7744-84D0-32724BDFA21D}"/>
              </a:ext>
            </a:extLst>
          </p:cNvPr>
          <p:cNvSpPr txBox="1"/>
          <p:nvPr/>
        </p:nvSpPr>
        <p:spPr>
          <a:xfrm>
            <a:off x="7874130" y="169908"/>
            <a:ext cx="1155550" cy="461665"/>
          </a:xfrm>
          <a:prstGeom prst="rect">
            <a:avLst/>
          </a:prstGeom>
          <a:no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Application and Perspectives</a:t>
            </a:r>
          </a:p>
        </p:txBody>
      </p:sp>
      <p:sp>
        <p:nvSpPr>
          <p:cNvPr id="12" name="TextBox 11">
            <a:extLst>
              <a:ext uri="{FF2B5EF4-FFF2-40B4-BE49-F238E27FC236}">
                <a16:creationId xmlns:a16="http://schemas.microsoft.com/office/drawing/2014/main" id="{0A7D91E5-FF6E-C346-BD54-1494F0C62548}"/>
              </a:ext>
            </a:extLst>
          </p:cNvPr>
          <p:cNvSpPr txBox="1"/>
          <p:nvPr/>
        </p:nvSpPr>
        <p:spPr>
          <a:xfrm>
            <a:off x="7051217" y="169908"/>
            <a:ext cx="671096" cy="461665"/>
          </a:xfrm>
          <a:prstGeom prst="rect">
            <a:avLst/>
          </a:prstGeom>
          <a:solidFill>
            <a:srgbClr val="FFFF00"/>
          </a:solidFill>
          <a:ln w="12700" cap="flat" cmpd="sng" algn="ctr">
            <a:solidFill>
              <a:schemeClr val="tx1"/>
            </a:solidFill>
            <a:prstDash val="solid"/>
            <a:miter lim="800000"/>
          </a:ln>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People &amp; Org.</a:t>
            </a:r>
          </a:p>
        </p:txBody>
      </p:sp>
      <p:sp>
        <p:nvSpPr>
          <p:cNvPr id="13" name="TextBox 12">
            <a:extLst>
              <a:ext uri="{FF2B5EF4-FFF2-40B4-BE49-F238E27FC236}">
                <a16:creationId xmlns:a16="http://schemas.microsoft.com/office/drawing/2014/main" id="{00457A8C-8AD1-BC48-A393-2CA6461462C7}"/>
              </a:ext>
            </a:extLst>
          </p:cNvPr>
          <p:cNvSpPr txBox="1"/>
          <p:nvPr/>
        </p:nvSpPr>
        <p:spPr>
          <a:xfrm>
            <a:off x="3834670" y="169908"/>
            <a:ext cx="1024999" cy="461665"/>
          </a:xfrm>
          <a:prstGeom prst="rect">
            <a:avLst/>
          </a:prstGeom>
          <a:solidFill>
            <a:srgbClr val="FFFFFF"/>
          </a:solidFill>
          <a:ln w="12700" cap="flat" cmpd="sng" algn="ctr">
            <a:solidFill>
              <a:schemeClr val="tx1"/>
            </a:solidFill>
            <a:prstDash val="solid"/>
            <a:miter lim="800000"/>
          </a:ln>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Incident Investigation</a:t>
            </a:r>
          </a:p>
        </p:txBody>
      </p:sp>
      <p:sp>
        <p:nvSpPr>
          <p:cNvPr id="14" name="TextBox 13">
            <a:extLst>
              <a:ext uri="{FF2B5EF4-FFF2-40B4-BE49-F238E27FC236}">
                <a16:creationId xmlns:a16="http://schemas.microsoft.com/office/drawing/2014/main" id="{D7E14612-2C60-CA49-88DC-A40274E52BE8}"/>
              </a:ext>
            </a:extLst>
          </p:cNvPr>
          <p:cNvSpPr txBox="1"/>
          <p:nvPr/>
        </p:nvSpPr>
        <p:spPr>
          <a:xfrm>
            <a:off x="5011486" y="169908"/>
            <a:ext cx="1024999" cy="461665"/>
          </a:xfrm>
          <a:prstGeom prst="rect">
            <a:avLst/>
          </a:prstGeom>
          <a:solidFill>
            <a:srgbClr val="FFFFFF"/>
          </a:solid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RM Tools &amp; Challenges</a:t>
            </a:r>
          </a:p>
        </p:txBody>
      </p:sp>
      <p:sp>
        <p:nvSpPr>
          <p:cNvPr id="15" name="TextBox 14">
            <a:extLst>
              <a:ext uri="{FF2B5EF4-FFF2-40B4-BE49-F238E27FC236}">
                <a16:creationId xmlns:a16="http://schemas.microsoft.com/office/drawing/2014/main" id="{F48AF929-DEC8-B045-BD5C-00378213E2AE}"/>
              </a:ext>
            </a:extLst>
          </p:cNvPr>
          <p:cNvSpPr txBox="1"/>
          <p:nvPr/>
        </p:nvSpPr>
        <p:spPr>
          <a:xfrm>
            <a:off x="2657853" y="170432"/>
            <a:ext cx="1024999" cy="461665"/>
          </a:xfrm>
          <a:prstGeom prst="rect">
            <a:avLst/>
          </a:prstGeom>
          <a:no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Leadership in RM</a:t>
            </a:r>
          </a:p>
        </p:txBody>
      </p:sp>
      <p:cxnSp>
        <p:nvCxnSpPr>
          <p:cNvPr id="16" name="Straight Arrow Connector 15">
            <a:extLst>
              <a:ext uri="{FF2B5EF4-FFF2-40B4-BE49-F238E27FC236}">
                <a16:creationId xmlns:a16="http://schemas.microsoft.com/office/drawing/2014/main" id="{194E84B9-8682-8C4B-A72E-1FFEAF78256B}"/>
              </a:ext>
            </a:extLst>
          </p:cNvPr>
          <p:cNvCxnSpPr>
            <a:cxnSpLocks/>
            <a:stCxn id="9" idx="3"/>
            <a:endCxn id="10" idx="1"/>
          </p:cNvCxnSpPr>
          <p:nvPr/>
        </p:nvCxnSpPr>
        <p:spPr>
          <a:xfrm flipV="1">
            <a:off x="1329217" y="400741"/>
            <a:ext cx="151818" cy="6107"/>
          </a:xfrm>
          <a:prstGeom prst="straightConnector1">
            <a:avLst/>
          </a:prstGeom>
          <a:noFill/>
          <a:ln w="6350" cap="flat" cmpd="sng" algn="ctr">
            <a:solidFill>
              <a:schemeClr val="tx1"/>
            </a:solidFill>
            <a:prstDash val="solid"/>
            <a:miter lim="800000"/>
            <a:tailEnd type="triangle"/>
          </a:ln>
          <a:effectLst/>
        </p:spPr>
      </p:cxnSp>
      <p:cxnSp>
        <p:nvCxnSpPr>
          <p:cNvPr id="17" name="Straight Arrow Connector 16">
            <a:extLst>
              <a:ext uri="{FF2B5EF4-FFF2-40B4-BE49-F238E27FC236}">
                <a16:creationId xmlns:a16="http://schemas.microsoft.com/office/drawing/2014/main" id="{BCED6320-D6B4-374B-AE59-18735BF60E66}"/>
              </a:ext>
            </a:extLst>
          </p:cNvPr>
          <p:cNvCxnSpPr>
            <a:stCxn id="10" idx="3"/>
            <a:endCxn id="15" idx="1"/>
          </p:cNvCxnSpPr>
          <p:nvPr/>
        </p:nvCxnSpPr>
        <p:spPr>
          <a:xfrm>
            <a:off x="2506036" y="400739"/>
            <a:ext cx="151817" cy="524"/>
          </a:xfrm>
          <a:prstGeom prst="straightConnector1">
            <a:avLst/>
          </a:prstGeom>
          <a:noFill/>
          <a:ln w="6350" cap="flat" cmpd="sng" algn="ctr">
            <a:solidFill>
              <a:schemeClr val="tx1"/>
            </a:solidFill>
            <a:prstDash val="solid"/>
            <a:miter lim="800000"/>
            <a:tailEnd type="triangle"/>
          </a:ln>
          <a:effectLst/>
        </p:spPr>
      </p:cxnSp>
      <p:cxnSp>
        <p:nvCxnSpPr>
          <p:cNvPr id="18" name="Straight Arrow Connector 17">
            <a:extLst>
              <a:ext uri="{FF2B5EF4-FFF2-40B4-BE49-F238E27FC236}">
                <a16:creationId xmlns:a16="http://schemas.microsoft.com/office/drawing/2014/main" id="{BA27112B-E9F0-2348-9B20-FB76B2277E3D}"/>
              </a:ext>
            </a:extLst>
          </p:cNvPr>
          <p:cNvCxnSpPr>
            <a:stCxn id="15" idx="3"/>
            <a:endCxn id="13" idx="1"/>
          </p:cNvCxnSpPr>
          <p:nvPr/>
        </p:nvCxnSpPr>
        <p:spPr>
          <a:xfrm flipV="1">
            <a:off x="3682853" y="400739"/>
            <a:ext cx="151817" cy="524"/>
          </a:xfrm>
          <a:prstGeom prst="straightConnector1">
            <a:avLst/>
          </a:prstGeom>
          <a:noFill/>
          <a:ln w="6350" cap="flat" cmpd="sng" algn="ctr">
            <a:solidFill>
              <a:schemeClr val="tx1"/>
            </a:solidFill>
            <a:prstDash val="solid"/>
            <a:miter lim="800000"/>
            <a:tailEnd type="triangle"/>
          </a:ln>
          <a:effectLst/>
        </p:spPr>
      </p:cxnSp>
      <p:cxnSp>
        <p:nvCxnSpPr>
          <p:cNvPr id="19" name="Straight Arrow Connector 18">
            <a:extLst>
              <a:ext uri="{FF2B5EF4-FFF2-40B4-BE49-F238E27FC236}">
                <a16:creationId xmlns:a16="http://schemas.microsoft.com/office/drawing/2014/main" id="{D6FCC88D-6DFA-474E-80EC-662B2D4B909B}"/>
              </a:ext>
            </a:extLst>
          </p:cNvPr>
          <p:cNvCxnSpPr>
            <a:stCxn id="13" idx="3"/>
            <a:endCxn id="14" idx="1"/>
          </p:cNvCxnSpPr>
          <p:nvPr/>
        </p:nvCxnSpPr>
        <p:spPr>
          <a:xfrm>
            <a:off x="4859669" y="400741"/>
            <a:ext cx="151817" cy="0"/>
          </a:xfrm>
          <a:prstGeom prst="straightConnector1">
            <a:avLst/>
          </a:prstGeom>
          <a:noFill/>
          <a:ln w="6350" cap="flat" cmpd="sng" algn="ctr">
            <a:solidFill>
              <a:schemeClr val="tx1"/>
            </a:solidFill>
            <a:prstDash val="solid"/>
            <a:miter lim="800000"/>
            <a:tailEnd type="triangle"/>
          </a:ln>
          <a:effectLst/>
        </p:spPr>
      </p:cxnSp>
      <p:cxnSp>
        <p:nvCxnSpPr>
          <p:cNvPr id="20" name="Straight Arrow Connector 19">
            <a:extLst>
              <a:ext uri="{FF2B5EF4-FFF2-40B4-BE49-F238E27FC236}">
                <a16:creationId xmlns:a16="http://schemas.microsoft.com/office/drawing/2014/main" id="{5CA7384E-C04D-ED41-9740-B0199EA1890A}"/>
              </a:ext>
            </a:extLst>
          </p:cNvPr>
          <p:cNvCxnSpPr>
            <a:cxnSpLocks/>
            <a:stCxn id="14" idx="3"/>
          </p:cNvCxnSpPr>
          <p:nvPr/>
        </p:nvCxnSpPr>
        <p:spPr>
          <a:xfrm flipV="1">
            <a:off x="6036485" y="400740"/>
            <a:ext cx="151816" cy="1"/>
          </a:xfrm>
          <a:prstGeom prst="straightConnector1">
            <a:avLst/>
          </a:prstGeom>
          <a:noFill/>
          <a:ln w="6350" cap="flat" cmpd="sng" algn="ctr">
            <a:solidFill>
              <a:schemeClr val="tx1"/>
            </a:solidFill>
            <a:prstDash val="solid"/>
            <a:miter lim="800000"/>
            <a:tailEnd type="triangle"/>
          </a:ln>
          <a:effectLst/>
        </p:spPr>
      </p:cxnSp>
      <p:cxnSp>
        <p:nvCxnSpPr>
          <p:cNvPr id="21" name="Straight Arrow Connector 20">
            <a:extLst>
              <a:ext uri="{FF2B5EF4-FFF2-40B4-BE49-F238E27FC236}">
                <a16:creationId xmlns:a16="http://schemas.microsoft.com/office/drawing/2014/main" id="{F37C1AD4-35C5-B84F-A011-FC352A9DC134}"/>
              </a:ext>
            </a:extLst>
          </p:cNvPr>
          <p:cNvCxnSpPr>
            <a:cxnSpLocks/>
            <a:endCxn id="12" idx="1"/>
          </p:cNvCxnSpPr>
          <p:nvPr/>
        </p:nvCxnSpPr>
        <p:spPr>
          <a:xfrm flipV="1">
            <a:off x="6899402" y="400741"/>
            <a:ext cx="151817" cy="1"/>
          </a:xfrm>
          <a:prstGeom prst="straightConnector1">
            <a:avLst/>
          </a:prstGeom>
          <a:noFill/>
          <a:ln w="6350" cap="flat" cmpd="sng" algn="ctr">
            <a:solidFill>
              <a:schemeClr val="tx1"/>
            </a:solidFill>
            <a:prstDash val="solid"/>
            <a:miter lim="800000"/>
            <a:tailEnd type="triangle"/>
          </a:ln>
          <a:effectLst/>
        </p:spPr>
      </p:cxnSp>
      <p:cxnSp>
        <p:nvCxnSpPr>
          <p:cNvPr id="22" name="Straight Arrow Connector 21">
            <a:extLst>
              <a:ext uri="{FF2B5EF4-FFF2-40B4-BE49-F238E27FC236}">
                <a16:creationId xmlns:a16="http://schemas.microsoft.com/office/drawing/2014/main" id="{A40B8989-9D9A-DE41-B118-0BB225CC7043}"/>
              </a:ext>
            </a:extLst>
          </p:cNvPr>
          <p:cNvCxnSpPr>
            <a:stCxn id="12" idx="3"/>
            <a:endCxn id="11" idx="1"/>
          </p:cNvCxnSpPr>
          <p:nvPr/>
        </p:nvCxnSpPr>
        <p:spPr>
          <a:xfrm>
            <a:off x="7722315" y="400739"/>
            <a:ext cx="151817" cy="0"/>
          </a:xfrm>
          <a:prstGeom prst="straightConnector1">
            <a:avLst/>
          </a:prstGeom>
          <a:noFill/>
          <a:ln w="6350" cap="flat" cmpd="sng" algn="ctr">
            <a:solidFill>
              <a:schemeClr val="tx1"/>
            </a:solidFill>
            <a:prstDash val="solid"/>
            <a:miter lim="800000"/>
            <a:tailEnd type="triangle"/>
          </a:ln>
          <a:effectLst/>
        </p:spPr>
      </p:cxnSp>
      <p:sp>
        <p:nvSpPr>
          <p:cNvPr id="23" name="TextBox 22">
            <a:extLst>
              <a:ext uri="{FF2B5EF4-FFF2-40B4-BE49-F238E27FC236}">
                <a16:creationId xmlns:a16="http://schemas.microsoft.com/office/drawing/2014/main" id="{E97011C2-9A0B-664B-83CB-DE2410B86B87}"/>
              </a:ext>
            </a:extLst>
          </p:cNvPr>
          <p:cNvSpPr txBox="1"/>
          <p:nvPr/>
        </p:nvSpPr>
        <p:spPr>
          <a:xfrm>
            <a:off x="6188301" y="169907"/>
            <a:ext cx="692362" cy="461665"/>
          </a:xfrm>
          <a:prstGeom prst="rect">
            <a:avLst/>
          </a:prstGeom>
          <a:no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RM in Industry</a:t>
            </a:r>
          </a:p>
        </p:txBody>
      </p:sp>
      <p:pic>
        <p:nvPicPr>
          <p:cNvPr id="24" name="Picture 2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1182" y="4405529"/>
            <a:ext cx="1766671" cy="1766671"/>
          </a:xfrm>
          <a:prstGeom prst="rect">
            <a:avLst/>
          </a:prstGeom>
        </p:spPr>
      </p:pic>
      <p:pic>
        <p:nvPicPr>
          <p:cNvPr id="25" name="Picture 24" descr="Introduction to Sociology - 2013 - The Collaboratory"/>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500" y="4405342"/>
            <a:ext cx="2590300" cy="1766857"/>
          </a:xfrm>
          <a:prstGeom prst="rect">
            <a:avLst/>
          </a:prstGeom>
        </p:spPr>
      </p:pic>
    </p:spTree>
    <p:extLst>
      <p:ext uri="{BB962C8B-B14F-4D97-AF65-F5344CB8AC3E}">
        <p14:creationId xmlns:p14="http://schemas.microsoft.com/office/powerpoint/2010/main" val="33949375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432000" marR="0" lvl="0" indent="-432000" algn="l" defTabSz="914400" rtl="0" eaLnBrk="0" fontAlgn="base" latinLnBrk="0" hangingPunct="0">
              <a:lnSpc>
                <a:spcPct val="100000"/>
              </a:lnSpc>
              <a:spcBef>
                <a:spcPts val="0"/>
              </a:spcBef>
              <a:spcAft>
                <a:spcPct val="0"/>
              </a:spcAft>
              <a:buClr>
                <a:srgbClr val="000000"/>
              </a:buClr>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Differentiate and explain the terms vision, values, guiding principles, mission statement, and policies. </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Explain how any organization can be modelled. </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Explain the relationship between the culture of the organization and the (safety) performance of organizations.</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Learning Outcomes: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458387" y="6300000"/>
            <a:ext cx="5821613"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7.3: Organizational Design and Leadership : Culture : Performance</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27341274"/>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50000"/>
              </a:lnSpc>
              <a:spcBef>
                <a:spcPts val="0"/>
              </a:spcBef>
              <a:spcAft>
                <a:spcPct val="0"/>
              </a:spcAft>
              <a:buClrTx/>
              <a:buSzPct val="100000"/>
              <a:buNone/>
              <a:tabLst/>
              <a:defRPr/>
            </a:pP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This topic explores </a:t>
            </a: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t>
            </a:r>
            <a:endParaRPr kumimoji="0" lang="en-US"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50000"/>
              </a:lnSpc>
              <a:spcBef>
                <a:spcPts val="0"/>
              </a:spcBef>
              <a:spcAft>
                <a:spcPct val="0"/>
              </a:spcAft>
              <a:buClrTx/>
              <a:buSzPct val="100000"/>
              <a:buFont typeface="Wingdings" panose="05000000000000000000" pitchFamily="2" charset="2"/>
              <a:buChar char="Ø"/>
              <a:tabLst/>
              <a:defRPr/>
            </a:pP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four components of an organization and their importance.</a:t>
            </a:r>
          </a:p>
          <a:p>
            <a:pPr marL="360000" marR="0" lvl="0" indent="-360000" algn="l" defTabSz="914400" rtl="0" eaLnBrk="0" fontAlgn="base" latinLnBrk="0" hangingPunct="0">
              <a:lnSpc>
                <a:spcPct val="15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 Line Management Model</a:t>
            </a: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fontAlgn="base" hangingPunct="0">
              <a:lnSpc>
                <a:spcPct val="150000"/>
              </a:lnSpc>
              <a:spcBef>
                <a:spcPts val="0"/>
              </a:spcBef>
              <a:spcAft>
                <a:spcPct val="0"/>
              </a:spcAft>
              <a:buClrTx/>
              <a:buSzPct val="100000"/>
              <a:buFont typeface="Wingdings" panose="05000000000000000000" pitchFamily="2" charset="2"/>
              <a:buChar char="Ø"/>
              <a:defRPr/>
            </a:pP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 Model of Corporate </a:t>
            </a: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Mechanisms and Supporting Documents</a:t>
            </a:r>
          </a:p>
          <a:p>
            <a:pPr marL="360000" lvl="0" indent="-360000" eaLnBrk="0" fontAlgn="base" hangingPunct="0">
              <a:lnSpc>
                <a:spcPct val="150000"/>
              </a:lnSpc>
              <a:spcBef>
                <a:spcPts val="0"/>
              </a:spcBef>
              <a:spcAft>
                <a:spcPct val="0"/>
              </a:spcAft>
              <a:buClrTx/>
              <a:buSzPct val="100000"/>
              <a:buFont typeface="Wingdings" panose="05000000000000000000" pitchFamily="2" charset="2"/>
              <a:buChar char="Ø"/>
              <a:defRPr/>
            </a:pPr>
            <a:r>
              <a:rPr lang="en-CA"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Definitions </a:t>
            </a:r>
            <a:r>
              <a:rPr lang="en-CA"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of Vision, Mission, etc. </a:t>
            </a:r>
            <a:endParaRPr lang="en-CA"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fontAlgn="base" hangingPunct="0">
              <a:lnSpc>
                <a:spcPct val="150000"/>
              </a:lnSpc>
              <a:spcBef>
                <a:spcPts val="0"/>
              </a:spcBef>
              <a:spcAft>
                <a:spcPct val="0"/>
              </a:spcAft>
              <a:buClrTx/>
              <a:buSzPct val="100000"/>
              <a:buFont typeface="Wingdings" panose="05000000000000000000" pitchFamily="2" charset="2"/>
              <a:buChar char="Ø"/>
              <a:defRPr/>
            </a:pPr>
            <a:r>
              <a:rPr lang="en-CA"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Alignment of </a:t>
            </a: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a:t>
            </a: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Vision, Mission, Values </a:t>
            </a: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with </a:t>
            </a: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Actual </a:t>
            </a: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Culture</a:t>
            </a:r>
          </a:p>
          <a:p>
            <a:pPr marL="360000" lvl="0" indent="-360000" eaLnBrk="0" fontAlgn="base" hangingPunct="0">
              <a:lnSpc>
                <a:spcPct val="150000"/>
              </a:lnSpc>
              <a:spcBef>
                <a:spcPts val="0"/>
              </a:spcBef>
              <a:spcAft>
                <a:spcPct val="0"/>
              </a:spcAft>
              <a:buClrTx/>
              <a:buSzPct val="100000"/>
              <a:buFont typeface="Wingdings" panose="05000000000000000000" pitchFamily="2" charset="2"/>
              <a:buChar char="Ø"/>
              <a:defRPr/>
            </a:pP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An </a:t>
            </a: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Exploration of Organizational </a:t>
            </a: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Culture</a:t>
            </a:r>
          </a:p>
          <a:p>
            <a:pPr marL="360000" lvl="0" indent="-360000" eaLnBrk="0" fontAlgn="base" hangingPunct="0">
              <a:lnSpc>
                <a:spcPct val="150000"/>
              </a:lnSpc>
              <a:spcBef>
                <a:spcPts val="0"/>
              </a:spcBef>
              <a:spcAft>
                <a:spcPct val="0"/>
              </a:spcAft>
              <a:buClrTx/>
              <a:buSzPct val="100000"/>
              <a:buFont typeface="Wingdings" panose="05000000000000000000" pitchFamily="2" charset="2"/>
              <a:buChar char="Ø"/>
              <a:defRPr/>
            </a:pP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a:t>
            </a: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Model of Corporate Mechanisms, Administrative Controls, Culture, and </a:t>
            </a: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Results</a:t>
            </a:r>
            <a:endPar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fontAlgn="base" hangingPunct="0">
              <a:lnSpc>
                <a:spcPct val="150000"/>
              </a:lnSpc>
              <a:spcBef>
                <a:spcPts val="0"/>
              </a:spcBef>
              <a:spcAft>
                <a:spcPct val="0"/>
              </a:spcAft>
              <a:buClrTx/>
              <a:buSzPct val="100000"/>
              <a:buFont typeface="Wingdings" panose="05000000000000000000" pitchFamily="2" charset="2"/>
              <a:buChar char="Ø"/>
              <a:defRPr/>
            </a:pPr>
            <a:endPar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fontAlgn="base" hangingPunct="0">
              <a:lnSpc>
                <a:spcPct val="150000"/>
              </a:lnSpc>
              <a:spcBef>
                <a:spcPts val="0"/>
              </a:spcBef>
              <a:spcAft>
                <a:spcPct val="0"/>
              </a:spcAft>
              <a:buClrTx/>
              <a:buSzPct val="100000"/>
              <a:buFont typeface="Wingdings" panose="05000000000000000000" pitchFamily="2" charset="2"/>
              <a:buChar char="Ø"/>
              <a:defRPr/>
            </a:pPr>
            <a:endPar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fontAlgn="base" hangingPunct="0">
              <a:lnSpc>
                <a:spcPct val="150000"/>
              </a:lnSpc>
              <a:spcBef>
                <a:spcPts val="0"/>
              </a:spcBef>
              <a:spcAft>
                <a:spcPct val="0"/>
              </a:spcAft>
              <a:buClrTx/>
              <a:buSzPct val="100000"/>
              <a:buFont typeface="Wingdings" panose="05000000000000000000" pitchFamily="2" charset="2"/>
              <a:buChar char="Ø"/>
              <a:defRPr/>
            </a:pPr>
            <a:endPar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fontAlgn="base" hangingPunct="0">
              <a:lnSpc>
                <a:spcPct val="150000"/>
              </a:lnSpc>
              <a:spcBef>
                <a:spcPts val="0"/>
              </a:spcBef>
              <a:spcAft>
                <a:spcPct val="0"/>
              </a:spcAft>
              <a:buClrTx/>
              <a:buSzPct val="100000"/>
              <a:buFont typeface="Wingdings" panose="05000000000000000000" pitchFamily="2" charset="2"/>
              <a:buChar char="Ø"/>
              <a:defRPr/>
            </a:pPr>
            <a:endParaRPr lang="en-CA"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smtClean="0">
                <a:ln>
                  <a:noFill/>
                </a:ln>
                <a:solidFill>
                  <a:srgbClr val="333399"/>
                </a:solidFill>
                <a:effectLst/>
                <a:uLnTx/>
                <a:uFillTx/>
                <a:latin typeface="Arial" panose="020B0604020202020204" pitchFamily="34" charset="0"/>
                <a:ea typeface="+mn-ea"/>
                <a:cs typeface="Arial" panose="020B0604020202020204" pitchFamily="34" charset="0"/>
              </a:rPr>
              <a:t>Introduction:</a:t>
            </a:r>
            <a:endPar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458387" y="6300000"/>
            <a:ext cx="5821613"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7.3: Organizational Design and Leadership : Culture : Performance</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4053419023"/>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smtClean="0">
                <a:ln>
                  <a:noFill/>
                </a:ln>
                <a:solidFill>
                  <a:srgbClr val="333399"/>
                </a:solidFill>
                <a:effectLst/>
                <a:uLnTx/>
                <a:uFillTx/>
                <a:latin typeface="Arial" panose="020B0604020202020204" pitchFamily="34" charset="0"/>
                <a:ea typeface="+mn-ea"/>
                <a:cs typeface="Arial" panose="020B0604020202020204" pitchFamily="34" charset="0"/>
              </a:rPr>
              <a:t>The Four Components of an Organization:</a:t>
            </a:r>
            <a:endPar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pic>
        <p:nvPicPr>
          <p:cNvPr id="6" name="Picture 5">
            <a:extLst>
              <a:ext uri="{FF2B5EF4-FFF2-40B4-BE49-F238E27FC236}">
                <a16:creationId xmlns:a16="http://schemas.microsoft.com/office/drawing/2014/main" id="{32F133AD-8344-415D-8CD6-F0C07F95ABDA}"/>
              </a:ext>
            </a:extLst>
          </p:cNvPr>
          <p:cNvPicPr>
            <a:picLocks noChangeAspect="1"/>
          </p:cNvPicPr>
          <p:nvPr/>
        </p:nvPicPr>
        <p:blipFill>
          <a:blip r:embed="rId3"/>
          <a:stretch>
            <a:fillRect/>
          </a:stretch>
        </p:blipFill>
        <p:spPr>
          <a:xfrm>
            <a:off x="425407" y="1390650"/>
            <a:ext cx="8426458" cy="3487482"/>
          </a:xfrm>
          <a:prstGeom prst="rect">
            <a:avLst/>
          </a:prstGeom>
        </p:spPr>
      </p:pic>
      <p:sp>
        <p:nvSpPr>
          <p:cNvPr id="7" name="Google Shape;125;p2"/>
          <p:cNvSpPr/>
          <p:nvPr/>
        </p:nvSpPr>
        <p:spPr>
          <a:xfrm>
            <a:off x="2458387" y="6300000"/>
            <a:ext cx="5821613"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7.3: Organizational Design and Leadership : Culture : Performance</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1285170058"/>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432000" marR="0" lvl="0" indent="-432000" algn="l" defTabSz="914400" rtl="0" eaLnBrk="0" fontAlgn="base" latinLnBrk="0" hangingPunct="0">
              <a:lnSpc>
                <a:spcPct val="100000"/>
              </a:lnSpc>
              <a:spcBef>
                <a:spcPts val="0"/>
              </a:spcBef>
              <a:spcAft>
                <a:spcPct val="0"/>
              </a:spcAft>
              <a:buClr>
                <a:srgbClr val="000000"/>
              </a:buClr>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You’ll be working soon…by understanding and being able to explain how an organization is structured, you </a:t>
            </a: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can more readily adapt to it, and as you progress, you can </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influence it.</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 values of an organization influence all four </a:t>
            </a: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components:</a:t>
            </a: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72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 values translate into the day to day activities of people </a:t>
            </a: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i.e. the decisions that they make</a:t>
            </a:r>
          </a:p>
          <a:p>
            <a:pPr marL="72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And</a:t>
            </a:r>
            <a:r>
              <a:rPr kumimoji="0" lang="en-CA" altLang="en-US" sz="2000"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that leads to </a:t>
            </a: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culture</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how we do work around </a:t>
            </a: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here!</a:t>
            </a: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72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 best organizations consider safety and risk management in all four quadrants</a:t>
            </a: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defTabSz="914400" fontAlgn="base">
              <a:lnSpc>
                <a:spcPct val="100000"/>
              </a:lnSpc>
              <a:spcBef>
                <a:spcPct val="0"/>
              </a:spcBef>
              <a:spcAft>
                <a:spcPct val="0"/>
              </a:spcAft>
              <a:buClrTx/>
              <a:buNone/>
              <a:defRPr/>
            </a:pPr>
            <a:r>
              <a:rPr kumimoji="0" lang="en-CA" altLang="en-US" sz="2400" b="0" i="0" u="none" strike="noStrike" kern="1200" cap="none" spc="0" normalizeH="0" baseline="0" noProof="0" dirty="0" smtClean="0">
                <a:ln>
                  <a:noFill/>
                </a:ln>
                <a:solidFill>
                  <a:srgbClr val="333399"/>
                </a:solidFill>
                <a:effectLst/>
                <a:uLnTx/>
                <a:uFillTx/>
                <a:latin typeface="Arial" panose="020B0604020202020204" pitchFamily="34" charset="0"/>
                <a:ea typeface="+mn-ea"/>
                <a:cs typeface="Arial" panose="020B0604020202020204" pitchFamily="34" charset="0"/>
              </a:rPr>
              <a:t>The Importance of </a:t>
            </a:r>
            <a:r>
              <a:rPr lang="en-US" altLang="en-US" sz="2400" dirty="0" smtClean="0">
                <a:solidFill>
                  <a:srgbClr val="333399"/>
                </a:solidFill>
                <a:latin typeface="Arial" panose="020B0604020202020204" pitchFamily="34" charset="0"/>
                <a:cs typeface="Arial" panose="020B0604020202020204" pitchFamily="34" charset="0"/>
              </a:rPr>
              <a:t>The </a:t>
            </a:r>
            <a:r>
              <a:rPr lang="en-US" altLang="en-US" sz="2400" dirty="0">
                <a:solidFill>
                  <a:srgbClr val="333399"/>
                </a:solidFill>
                <a:latin typeface="Arial" panose="020B0604020202020204" pitchFamily="34" charset="0"/>
                <a:cs typeface="Arial" panose="020B0604020202020204" pitchFamily="34" charset="0"/>
              </a:rPr>
              <a:t>Four Components </a:t>
            </a:r>
            <a:r>
              <a:rPr lang="en-US" altLang="en-US" sz="2400" dirty="0" smtClean="0">
                <a:solidFill>
                  <a:srgbClr val="333399"/>
                </a:solidFill>
                <a:latin typeface="Arial" panose="020B0604020202020204" pitchFamily="34" charset="0"/>
                <a:cs typeface="Arial" panose="020B0604020202020204" pitchFamily="34" charset="0"/>
              </a:rPr>
              <a:t>to You:</a:t>
            </a:r>
            <a:r>
              <a:rPr kumimoji="0" lang="en-CA" altLang="en-US" sz="2400" b="0" i="0" u="none" strike="noStrike" kern="1200" cap="none" spc="0" normalizeH="0" baseline="0" noProof="0" dirty="0" smtClean="0">
                <a:ln>
                  <a:noFill/>
                </a:ln>
                <a:solidFill>
                  <a:srgbClr val="333399"/>
                </a:solidFill>
                <a:effectLst/>
                <a:uLnTx/>
                <a:uFillTx/>
                <a:latin typeface="Arial" panose="020B0604020202020204" pitchFamily="34" charset="0"/>
                <a:ea typeface="+mn-ea"/>
                <a:cs typeface="Arial" panose="020B0604020202020204" pitchFamily="34" charset="0"/>
              </a:rPr>
              <a:t> </a:t>
            </a:r>
            <a:endPar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6" name="Google Shape;125;p2"/>
          <p:cNvSpPr/>
          <p:nvPr/>
        </p:nvSpPr>
        <p:spPr>
          <a:xfrm>
            <a:off x="2458387" y="6300000"/>
            <a:ext cx="5821613"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7.3: Organizational Design and Leadership : Culture : Performance</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1590547926"/>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Every organization is structured like this!</a:t>
            </a: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The Line Management </a:t>
            </a:r>
            <a:r>
              <a:rPr kumimoji="0" lang="en-US" altLang="en-US" sz="2400" b="0" i="0" u="none" strike="noStrike" kern="1200" cap="none" spc="0" normalizeH="0" baseline="0" noProof="0" dirty="0" smtClean="0">
                <a:ln>
                  <a:noFill/>
                </a:ln>
                <a:solidFill>
                  <a:srgbClr val="333399"/>
                </a:solidFill>
                <a:effectLst/>
                <a:uLnTx/>
                <a:uFillTx/>
                <a:latin typeface="Arial" panose="020B0604020202020204" pitchFamily="34" charset="0"/>
                <a:ea typeface="+mn-ea"/>
                <a:cs typeface="Arial" panose="020B0604020202020204" pitchFamily="34" charset="0"/>
              </a:rPr>
              <a:t>Model:</a:t>
            </a:r>
            <a:endPar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pic>
        <p:nvPicPr>
          <p:cNvPr id="7" name="Picture 7">
            <a:extLst>
              <a:ext uri="{FF2B5EF4-FFF2-40B4-BE49-F238E27FC236}">
                <a16:creationId xmlns:a16="http://schemas.microsoft.com/office/drawing/2014/main" id="{E28DF334-959E-4932-8EDD-CCC477F7C2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4380" y="1234286"/>
            <a:ext cx="7313612" cy="4951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Oval 9">
            <a:extLst>
              <a:ext uri="{FF2B5EF4-FFF2-40B4-BE49-F238E27FC236}">
                <a16:creationId xmlns:a16="http://schemas.microsoft.com/office/drawing/2014/main" id="{28BC86FE-52BC-42C7-95CC-EF41AFB3B774}"/>
              </a:ext>
            </a:extLst>
          </p:cNvPr>
          <p:cNvSpPr/>
          <p:nvPr/>
        </p:nvSpPr>
        <p:spPr>
          <a:xfrm>
            <a:off x="2132899" y="3531061"/>
            <a:ext cx="1151467" cy="383823"/>
          </a:xfrm>
          <a:prstGeom prst="ellipse">
            <a:avLst/>
          </a:prstGeom>
          <a:noFill/>
          <a:ln w="28575" cap="flat" cmpd="sng" algn="ctr">
            <a:solidFill>
              <a:srgbClr val="FF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CA" sz="1800" b="0" i="0" u="none" strike="noStrike" kern="0" cap="none" spc="0" normalizeH="0" baseline="0" noProof="0">
              <a:ln>
                <a:noFill/>
              </a:ln>
              <a:solidFill>
                <a:prstClr val="white"/>
              </a:solidFill>
              <a:effectLst/>
              <a:uLnTx/>
              <a:uFillTx/>
              <a:latin typeface="Tw Cen MT" panose="020B0602020104020603"/>
              <a:ea typeface="+mn-ea"/>
              <a:cs typeface="+mn-cs"/>
            </a:endParaRPr>
          </a:p>
        </p:txBody>
      </p:sp>
      <p:sp>
        <p:nvSpPr>
          <p:cNvPr id="11" name="TextBox 10">
            <a:extLst>
              <a:ext uri="{FF2B5EF4-FFF2-40B4-BE49-F238E27FC236}">
                <a16:creationId xmlns:a16="http://schemas.microsoft.com/office/drawing/2014/main" id="{3F6527AB-4450-4B27-B1AC-7046925F8246}"/>
              </a:ext>
            </a:extLst>
          </p:cNvPr>
          <p:cNvSpPr txBox="1"/>
          <p:nvPr/>
        </p:nvSpPr>
        <p:spPr>
          <a:xfrm>
            <a:off x="3877733" y="1554525"/>
            <a:ext cx="4199467" cy="2585323"/>
          </a:xfrm>
          <a:prstGeom prst="rect">
            <a:avLst/>
          </a:prstGeom>
          <a:solidFill>
            <a:sysClr val="window" lastClr="FFFFFF"/>
          </a:solid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CA" sz="1800" b="0" i="0" u="none" strike="noStrike" kern="0" cap="none" spc="0" normalizeH="0" baseline="0" noProof="0" dirty="0">
              <a:ln>
                <a:noFill/>
              </a:ln>
              <a:solidFill>
                <a:prstClr val="black"/>
              </a:solidFill>
              <a:effectLst/>
              <a:uLnTx/>
              <a:uFillTx/>
              <a:latin typeface="Tw Cen MT" panose="020B0602020104020603"/>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CA" sz="1800" b="0" i="0" u="none" strike="noStrike" kern="0" cap="none" spc="0" normalizeH="0" baseline="0" noProof="0" dirty="0">
              <a:ln>
                <a:noFill/>
              </a:ln>
              <a:solidFill>
                <a:prstClr val="black"/>
              </a:solidFill>
              <a:effectLst/>
              <a:uLnTx/>
              <a:uFillTx/>
              <a:latin typeface="Tw Cen MT" panose="020B0602020104020603"/>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CA" sz="1800" b="0" i="0" u="none" strike="noStrike" kern="0" cap="none" spc="0" normalizeH="0" baseline="0" noProof="0" dirty="0">
              <a:ln>
                <a:noFill/>
              </a:ln>
              <a:solidFill>
                <a:prstClr val="black"/>
              </a:solidFill>
              <a:effectLst/>
              <a:uLnTx/>
              <a:uFillTx/>
              <a:latin typeface="Tw Cen MT" panose="020B0602020104020603"/>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CA" sz="1800" b="0" i="0" u="none" strike="noStrike" kern="0" cap="none" spc="0" normalizeH="0" baseline="0" noProof="0" dirty="0">
                <a:ln>
                  <a:noFill/>
                </a:ln>
                <a:solidFill>
                  <a:prstClr val="black"/>
                </a:solidFill>
                <a:effectLst/>
                <a:uLnTx/>
                <a:uFillTx/>
                <a:latin typeface="Tw Cen MT" panose="020B0602020104020603"/>
              </a:rPr>
              <a:t>Leaders Exist at All Levels of an Organization</a:t>
            </a:r>
          </a:p>
          <a:p>
            <a:pPr marL="0" marR="0" lvl="0" indent="0" defTabSz="914400" eaLnBrk="1" fontAlgn="auto" latinLnBrk="0" hangingPunct="1">
              <a:lnSpc>
                <a:spcPct val="100000"/>
              </a:lnSpc>
              <a:spcBef>
                <a:spcPts val="0"/>
              </a:spcBef>
              <a:spcAft>
                <a:spcPts val="0"/>
              </a:spcAft>
              <a:buClrTx/>
              <a:buSzTx/>
              <a:buFontTx/>
              <a:buNone/>
              <a:tabLst/>
              <a:defRPr/>
            </a:pPr>
            <a:endParaRPr kumimoji="0" lang="en-CA" sz="1800" b="0" i="0" u="none" strike="noStrike" kern="0" cap="none" spc="0" normalizeH="0" baseline="0" noProof="0" dirty="0">
              <a:ln>
                <a:noFill/>
              </a:ln>
              <a:solidFill>
                <a:prstClr val="black"/>
              </a:solidFill>
              <a:effectLst/>
              <a:uLnTx/>
              <a:uFillTx/>
              <a:latin typeface="Tw Cen MT" panose="020B0602020104020603"/>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CA" sz="1800" b="0" i="0" u="none" strike="noStrike" kern="0" cap="none" spc="0" normalizeH="0" baseline="0" noProof="0" dirty="0">
              <a:ln>
                <a:noFill/>
              </a:ln>
              <a:solidFill>
                <a:prstClr val="black"/>
              </a:solidFill>
              <a:effectLst/>
              <a:uLnTx/>
              <a:uFillTx/>
              <a:latin typeface="Tw Cen MT" panose="020B0602020104020603"/>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CA" sz="1800" b="0" i="0" u="none" strike="noStrike" kern="0" cap="none" spc="0" normalizeH="0" baseline="0" noProof="0" dirty="0">
              <a:ln>
                <a:noFill/>
              </a:ln>
              <a:solidFill>
                <a:prstClr val="black"/>
              </a:solidFill>
              <a:effectLst/>
              <a:uLnTx/>
              <a:uFillTx/>
              <a:latin typeface="Tw Cen MT" panose="020B0602020104020603"/>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CA" sz="1800" b="0" i="0" u="none" strike="noStrike" kern="0" cap="none" spc="0" normalizeH="0" baseline="0" noProof="0" dirty="0">
              <a:ln>
                <a:noFill/>
              </a:ln>
              <a:solidFill>
                <a:prstClr val="black"/>
              </a:solidFill>
              <a:effectLst/>
              <a:uLnTx/>
              <a:uFillTx/>
              <a:latin typeface="Tw Cen MT" panose="020B0602020104020603"/>
            </a:endParaRPr>
          </a:p>
        </p:txBody>
      </p:sp>
      <p:sp>
        <p:nvSpPr>
          <p:cNvPr id="14" name="TextBox 13">
            <a:extLst>
              <a:ext uri="{FF2B5EF4-FFF2-40B4-BE49-F238E27FC236}">
                <a16:creationId xmlns:a16="http://schemas.microsoft.com/office/drawing/2014/main" id="{4304BC1A-F3A2-4DB6-BA93-488DF46F3B4F}"/>
              </a:ext>
            </a:extLst>
          </p:cNvPr>
          <p:cNvSpPr txBox="1"/>
          <p:nvPr/>
        </p:nvSpPr>
        <p:spPr>
          <a:xfrm>
            <a:off x="4383622" y="3464793"/>
            <a:ext cx="3470568" cy="369332"/>
          </a:xfrm>
          <a:prstGeom prst="rect">
            <a:avLst/>
          </a:prstGeom>
          <a:noFill/>
        </p:spPr>
        <p:txBody>
          <a:bodyPr wrap="square" rtlCol="0">
            <a:spAutoFit/>
          </a:bodyPr>
          <a:lstStyle/>
          <a:p>
            <a:pPr>
              <a:defRPr/>
            </a:pPr>
            <a:r>
              <a:rPr lang="en-CA" dirty="0">
                <a:solidFill>
                  <a:prstClr val="black"/>
                </a:solidFill>
                <a:latin typeface="Tw Cen MT" panose="020B0602020104020603"/>
              </a:rPr>
              <a:t>This may be you in the future!</a:t>
            </a:r>
          </a:p>
        </p:txBody>
      </p:sp>
      <p:sp>
        <p:nvSpPr>
          <p:cNvPr id="15" name="Left Arrow 10">
            <a:extLst>
              <a:ext uri="{FF2B5EF4-FFF2-40B4-BE49-F238E27FC236}">
                <a16:creationId xmlns:a16="http://schemas.microsoft.com/office/drawing/2014/main" id="{45B4F2A6-D7AB-4E49-8CC8-987E0ABD21BD}"/>
              </a:ext>
            </a:extLst>
          </p:cNvPr>
          <p:cNvSpPr/>
          <p:nvPr/>
        </p:nvSpPr>
        <p:spPr>
          <a:xfrm>
            <a:off x="3491800" y="3529325"/>
            <a:ext cx="891822" cy="304800"/>
          </a:xfrm>
          <a:prstGeom prst="leftArrow">
            <a:avLst/>
          </a:prstGeom>
          <a:solidFill>
            <a:srgbClr val="FF0000"/>
          </a:solidFill>
          <a:ln w="15875" cap="flat" cmpd="sng" algn="ctr">
            <a:solidFill>
              <a:srgbClr val="2FA3EE">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CA" sz="1800" b="0" i="0" u="none" strike="noStrike" kern="0" cap="none" spc="0" normalizeH="0" baseline="0" noProof="0">
              <a:ln>
                <a:noFill/>
              </a:ln>
              <a:solidFill>
                <a:prstClr val="white"/>
              </a:solidFill>
              <a:effectLst/>
              <a:uLnTx/>
              <a:uFillTx/>
              <a:latin typeface="Tw Cen MT" panose="020B0602020104020603"/>
              <a:ea typeface="+mn-ea"/>
              <a:cs typeface="+mn-cs"/>
            </a:endParaRPr>
          </a:p>
        </p:txBody>
      </p:sp>
      <p:sp>
        <p:nvSpPr>
          <p:cNvPr id="16" name="TextBox 15">
            <a:extLst>
              <a:ext uri="{FF2B5EF4-FFF2-40B4-BE49-F238E27FC236}">
                <a16:creationId xmlns:a16="http://schemas.microsoft.com/office/drawing/2014/main" id="{1A81C1A9-42A7-408B-932D-DF4940F99F4D}"/>
              </a:ext>
            </a:extLst>
          </p:cNvPr>
          <p:cNvSpPr txBox="1"/>
          <p:nvPr/>
        </p:nvSpPr>
        <p:spPr>
          <a:xfrm>
            <a:off x="3615831" y="3881214"/>
            <a:ext cx="4562168" cy="923330"/>
          </a:xfrm>
          <a:prstGeom prst="rect">
            <a:avLst/>
          </a:prstGeom>
          <a:noFill/>
        </p:spPr>
        <p:txBody>
          <a:bodyPr wrap="square" rtlCol="0">
            <a:spAutoFit/>
          </a:bodyPr>
          <a:lstStyle/>
          <a:p>
            <a:pPr>
              <a:defRPr/>
            </a:pPr>
            <a:r>
              <a:rPr lang="en-CA" dirty="0">
                <a:solidFill>
                  <a:prstClr val="black"/>
                </a:solidFill>
                <a:latin typeface="Tw Cen MT" panose="020B0602020104020603"/>
              </a:rPr>
              <a:t>Managers have a large leadership role: they are responsible for those under them, and they influence how their people do work.</a:t>
            </a:r>
          </a:p>
        </p:txBody>
      </p:sp>
      <p:sp>
        <p:nvSpPr>
          <p:cNvPr id="17" name="Google Shape;125;p2"/>
          <p:cNvSpPr/>
          <p:nvPr/>
        </p:nvSpPr>
        <p:spPr>
          <a:xfrm>
            <a:off x="2458387" y="6300000"/>
            <a:ext cx="5821613"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7.3: Organizational Design and Leadership : Culture : Performance</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224738916"/>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Box 21">
            <a:extLst>
              <a:ext uri="{FF2B5EF4-FFF2-40B4-BE49-F238E27FC236}">
                <a16:creationId xmlns:a16="http://schemas.microsoft.com/office/drawing/2014/main" id="{B8A3267A-9C44-4D2D-8C12-0514010E5014}"/>
              </a:ext>
            </a:extLst>
          </p:cNvPr>
          <p:cNvSpPr txBox="1"/>
          <p:nvPr/>
        </p:nvSpPr>
        <p:spPr>
          <a:xfrm>
            <a:off x="5040000" y="4045296"/>
            <a:ext cx="3240000" cy="688256"/>
          </a:xfrm>
          <a:prstGeom prst="rect">
            <a:avLst/>
          </a:prstGeom>
          <a:solidFill>
            <a:srgbClr val="2FA3EE">
              <a:lumMod val="20000"/>
              <a:lumOff val="80000"/>
            </a:srgbClr>
          </a:solidFill>
          <a:ln>
            <a:solidFill>
              <a:sysClr val="windowText" lastClr="000000"/>
            </a:solidFill>
          </a:ln>
        </p:spPr>
        <p:txBody>
          <a:bodyPr wrap="square" lIns="36000" tIns="36000" rIns="36000" bIns="36000" rtlCol="0" anchor="ctr" anchorCtr="1">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smtClean="0">
                <a:ln>
                  <a:noFill/>
                </a:ln>
                <a:solidFill>
                  <a:prstClr val="black"/>
                </a:solidFill>
                <a:effectLst/>
                <a:uLnTx/>
                <a:uFillTx/>
                <a:latin typeface="Tw Cen MT" panose="020B0602020104020603"/>
              </a:rPr>
              <a:t>Associate Chairs</a:t>
            </a:r>
            <a:r>
              <a:rPr kumimoji="0" lang="en-US" sz="2000" b="0" i="0" u="none" strike="noStrike" kern="0" cap="none" spc="0" normalizeH="0" noProof="0" dirty="0" smtClean="0">
                <a:ln>
                  <a:noFill/>
                </a:ln>
                <a:solidFill>
                  <a:prstClr val="black"/>
                </a:solidFill>
                <a:effectLst/>
                <a:uLnTx/>
                <a:uFillTx/>
                <a:latin typeface="Tw Cen MT" panose="020B0602020104020603"/>
              </a:rPr>
              <a:t> &amp; Associate School Directors</a:t>
            </a:r>
            <a:endParaRPr kumimoji="0" lang="en-US" sz="2000" b="0" i="0" u="none" strike="noStrike" kern="0" cap="none" spc="0" normalizeH="0" baseline="0" noProof="0" dirty="0">
              <a:ln>
                <a:noFill/>
              </a:ln>
              <a:solidFill>
                <a:prstClr val="black"/>
              </a:solidFill>
              <a:effectLst/>
              <a:uLnTx/>
              <a:uFillTx/>
              <a:latin typeface="Tw Cen MT" panose="020B0602020104020603"/>
            </a:endParaRPr>
          </a:p>
        </p:txBody>
      </p:sp>
      <p:sp>
        <p:nvSpPr>
          <p:cNvPr id="6" name="TextBox 5">
            <a:extLst>
              <a:ext uri="{FF2B5EF4-FFF2-40B4-BE49-F238E27FC236}">
                <a16:creationId xmlns:a16="http://schemas.microsoft.com/office/drawing/2014/main" id="{9E7B1B88-D337-4BC2-B995-4BDAE7F711D6}"/>
              </a:ext>
            </a:extLst>
          </p:cNvPr>
          <p:cNvSpPr txBox="1"/>
          <p:nvPr/>
        </p:nvSpPr>
        <p:spPr>
          <a:xfrm>
            <a:off x="5040000" y="857520"/>
            <a:ext cx="3240000" cy="380480"/>
          </a:xfrm>
          <a:prstGeom prst="rect">
            <a:avLst/>
          </a:prstGeom>
          <a:solidFill>
            <a:srgbClr val="2FA3EE">
              <a:lumMod val="20000"/>
              <a:lumOff val="80000"/>
            </a:srgbClr>
          </a:solidFill>
          <a:ln>
            <a:solidFill>
              <a:sysClr val="windowText" lastClr="000000"/>
            </a:solidFill>
          </a:ln>
        </p:spPr>
        <p:txBody>
          <a:bodyPr wrap="square" lIns="36000" tIns="36000" rIns="36000" bIns="36000" rtlCol="0" anchor="ctr" anchorCtr="1">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black"/>
                </a:solidFill>
                <a:effectLst/>
                <a:uLnTx/>
                <a:uFillTx/>
                <a:latin typeface="Tw Cen MT" panose="020B0602020104020603"/>
              </a:rPr>
              <a:t>Board of Governors</a:t>
            </a:r>
          </a:p>
        </p:txBody>
      </p:sp>
      <p:sp>
        <p:nvSpPr>
          <p:cNvPr id="7" name="TextBox 6">
            <a:extLst>
              <a:ext uri="{FF2B5EF4-FFF2-40B4-BE49-F238E27FC236}">
                <a16:creationId xmlns:a16="http://schemas.microsoft.com/office/drawing/2014/main" id="{5D965AC4-A003-4EB5-ACDE-C9952346F7A6}"/>
              </a:ext>
            </a:extLst>
          </p:cNvPr>
          <p:cNvSpPr txBox="1"/>
          <p:nvPr/>
        </p:nvSpPr>
        <p:spPr>
          <a:xfrm>
            <a:off x="5040000" y="1577520"/>
            <a:ext cx="3240000" cy="380480"/>
          </a:xfrm>
          <a:prstGeom prst="rect">
            <a:avLst/>
          </a:prstGeom>
          <a:solidFill>
            <a:srgbClr val="2FA3EE">
              <a:lumMod val="20000"/>
              <a:lumOff val="80000"/>
            </a:srgbClr>
          </a:solidFill>
          <a:ln>
            <a:solidFill>
              <a:sysClr val="windowText" lastClr="000000"/>
            </a:solidFill>
          </a:ln>
        </p:spPr>
        <p:txBody>
          <a:bodyPr wrap="square" lIns="36000" tIns="36000" rIns="36000" bIns="36000" rtlCol="0" anchor="ctr" anchorCtr="1">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black"/>
                </a:solidFill>
                <a:effectLst/>
                <a:uLnTx/>
                <a:uFillTx/>
                <a:latin typeface="Tw Cen MT" panose="020B0602020104020603"/>
              </a:rPr>
              <a:t>President</a:t>
            </a:r>
          </a:p>
        </p:txBody>
      </p:sp>
      <p:sp>
        <p:nvSpPr>
          <p:cNvPr id="10" name="TextBox 9">
            <a:extLst>
              <a:ext uri="{FF2B5EF4-FFF2-40B4-BE49-F238E27FC236}">
                <a16:creationId xmlns:a16="http://schemas.microsoft.com/office/drawing/2014/main" id="{4BA53526-88F0-436D-B645-D60A7E2D462E}"/>
              </a:ext>
            </a:extLst>
          </p:cNvPr>
          <p:cNvSpPr txBox="1"/>
          <p:nvPr/>
        </p:nvSpPr>
        <p:spPr>
          <a:xfrm>
            <a:off x="5040000" y="2297520"/>
            <a:ext cx="3240000" cy="380480"/>
          </a:xfrm>
          <a:prstGeom prst="rect">
            <a:avLst/>
          </a:prstGeom>
          <a:solidFill>
            <a:srgbClr val="2FA3EE">
              <a:lumMod val="20000"/>
              <a:lumOff val="80000"/>
            </a:srgbClr>
          </a:solidFill>
          <a:ln>
            <a:solidFill>
              <a:sysClr val="windowText" lastClr="000000"/>
            </a:solidFill>
          </a:ln>
        </p:spPr>
        <p:txBody>
          <a:bodyPr wrap="square" lIns="36000" tIns="36000" rIns="36000" bIns="36000" rtlCol="0" anchor="ctr" anchorCtr="1">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black"/>
                </a:solidFill>
                <a:effectLst/>
                <a:uLnTx/>
                <a:uFillTx/>
                <a:latin typeface="Tw Cen MT" panose="020B0602020104020603"/>
              </a:rPr>
              <a:t>Deans</a:t>
            </a:r>
          </a:p>
        </p:txBody>
      </p:sp>
      <p:sp>
        <p:nvSpPr>
          <p:cNvPr id="11" name="TextBox 10">
            <a:extLst>
              <a:ext uri="{FF2B5EF4-FFF2-40B4-BE49-F238E27FC236}">
                <a16:creationId xmlns:a16="http://schemas.microsoft.com/office/drawing/2014/main" id="{0BA16321-497E-4562-B618-2DAED8852992}"/>
              </a:ext>
            </a:extLst>
          </p:cNvPr>
          <p:cNvSpPr txBox="1"/>
          <p:nvPr/>
        </p:nvSpPr>
        <p:spPr>
          <a:xfrm>
            <a:off x="5040000" y="3017520"/>
            <a:ext cx="3240000" cy="688256"/>
          </a:xfrm>
          <a:prstGeom prst="rect">
            <a:avLst/>
          </a:prstGeom>
          <a:solidFill>
            <a:srgbClr val="2FA3EE">
              <a:lumMod val="20000"/>
              <a:lumOff val="80000"/>
            </a:srgbClr>
          </a:solidFill>
          <a:ln>
            <a:solidFill>
              <a:sysClr val="windowText" lastClr="000000"/>
            </a:solidFill>
          </a:ln>
        </p:spPr>
        <p:txBody>
          <a:bodyPr wrap="square" lIns="36000" tIns="36000" rIns="36000" bIns="36000" rtlCol="0" anchor="ctr" anchorCtr="1">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smtClean="0">
                <a:ln>
                  <a:noFill/>
                </a:ln>
                <a:solidFill>
                  <a:prstClr val="black"/>
                </a:solidFill>
                <a:effectLst/>
                <a:uLnTx/>
                <a:uFillTx/>
                <a:latin typeface="Tw Cen MT" panose="020B0602020104020603"/>
              </a:rPr>
              <a:t>Associate  Deans, Department </a:t>
            </a:r>
            <a:r>
              <a:rPr kumimoji="0" lang="en-US" sz="2000" b="0" i="0" u="none" strike="noStrike" kern="0" cap="none" spc="0" normalizeH="0" baseline="0" noProof="0" dirty="0">
                <a:ln>
                  <a:noFill/>
                </a:ln>
                <a:solidFill>
                  <a:prstClr val="black"/>
                </a:solidFill>
                <a:effectLst/>
                <a:uLnTx/>
                <a:uFillTx/>
                <a:latin typeface="Tw Cen MT" panose="020B0602020104020603"/>
              </a:rPr>
              <a:t>Chairs &amp; School Directors</a:t>
            </a:r>
          </a:p>
        </p:txBody>
      </p:sp>
      <p:sp>
        <p:nvSpPr>
          <p:cNvPr id="14" name="TextBox 13">
            <a:extLst>
              <a:ext uri="{FF2B5EF4-FFF2-40B4-BE49-F238E27FC236}">
                <a16:creationId xmlns:a16="http://schemas.microsoft.com/office/drawing/2014/main" id="{B8A3267A-9C44-4D2D-8C12-0514010E5014}"/>
              </a:ext>
            </a:extLst>
          </p:cNvPr>
          <p:cNvSpPr txBox="1"/>
          <p:nvPr/>
        </p:nvSpPr>
        <p:spPr>
          <a:xfrm>
            <a:off x="5040000" y="5073072"/>
            <a:ext cx="3240000" cy="380480"/>
          </a:xfrm>
          <a:prstGeom prst="rect">
            <a:avLst/>
          </a:prstGeom>
          <a:solidFill>
            <a:srgbClr val="2FA3EE">
              <a:lumMod val="20000"/>
              <a:lumOff val="80000"/>
            </a:srgbClr>
          </a:solidFill>
          <a:ln>
            <a:solidFill>
              <a:sysClr val="windowText" lastClr="000000"/>
            </a:solidFill>
          </a:ln>
        </p:spPr>
        <p:txBody>
          <a:bodyPr wrap="square" lIns="36000" tIns="36000" rIns="36000" bIns="36000" rtlCol="0" anchor="ctr" anchorCtr="1">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black"/>
                </a:solidFill>
                <a:effectLst/>
                <a:uLnTx/>
                <a:uFillTx/>
                <a:latin typeface="Tw Cen MT" panose="020B0602020104020603"/>
              </a:rPr>
              <a:t>Professors</a:t>
            </a:r>
          </a:p>
        </p:txBody>
      </p:sp>
      <p:cxnSp>
        <p:nvCxnSpPr>
          <p:cNvPr id="18" name="Straight Arrow Connector 17">
            <a:extLst>
              <a:ext uri="{FF2B5EF4-FFF2-40B4-BE49-F238E27FC236}">
                <a16:creationId xmlns:a16="http://schemas.microsoft.com/office/drawing/2014/main" id="{4DC8C954-9F0D-4CED-A2C2-C8CFABAF130D}"/>
              </a:ext>
            </a:extLst>
          </p:cNvPr>
          <p:cNvCxnSpPr>
            <a:stCxn id="22" idx="2"/>
            <a:endCxn id="14" idx="0"/>
          </p:cNvCxnSpPr>
          <p:nvPr/>
        </p:nvCxnSpPr>
        <p:spPr>
          <a:xfrm>
            <a:off x="6660000" y="4733552"/>
            <a:ext cx="0" cy="339520"/>
          </a:xfrm>
          <a:prstGeom prst="straightConnector1">
            <a:avLst/>
          </a:prstGeom>
          <a:noFill/>
          <a:ln w="38100" cap="flat" cmpd="sng" algn="ctr">
            <a:solidFill>
              <a:sysClr val="windowText" lastClr="000000"/>
            </a:solidFill>
            <a:prstDash val="solid"/>
            <a:headEnd type="triangle" w="med" len="med"/>
            <a:tailEnd type="none" w="med" len="med"/>
          </a:ln>
          <a:effectLst/>
        </p:spPr>
      </p:cxnSp>
      <p:sp>
        <p:nvSpPr>
          <p:cNvPr id="19" name="TextBox 18">
            <a:extLst>
              <a:ext uri="{FF2B5EF4-FFF2-40B4-BE49-F238E27FC236}">
                <a16:creationId xmlns:a16="http://schemas.microsoft.com/office/drawing/2014/main" id="{745C7ED5-BB80-4F8C-A2DE-6F0C435FBCFD}"/>
              </a:ext>
            </a:extLst>
          </p:cNvPr>
          <p:cNvSpPr txBox="1"/>
          <p:nvPr/>
        </p:nvSpPr>
        <p:spPr>
          <a:xfrm>
            <a:off x="5040000" y="5793072"/>
            <a:ext cx="3240000" cy="380480"/>
          </a:xfrm>
          <a:prstGeom prst="rect">
            <a:avLst/>
          </a:prstGeom>
          <a:solidFill>
            <a:srgbClr val="2FA3EE">
              <a:lumMod val="20000"/>
              <a:lumOff val="80000"/>
            </a:srgbClr>
          </a:solidFill>
          <a:ln>
            <a:solidFill>
              <a:sysClr val="windowText" lastClr="000000"/>
            </a:solidFill>
          </a:ln>
        </p:spPr>
        <p:txBody>
          <a:bodyPr wrap="square" lIns="36000" tIns="36000" rIns="36000" bIns="36000" rtlCol="0" anchor="ctr" anchorCtr="1">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black"/>
                </a:solidFill>
                <a:effectLst/>
                <a:uLnTx/>
                <a:uFillTx/>
                <a:latin typeface="Tw Cen MT" panose="020B0602020104020603"/>
              </a:rPr>
              <a:t>Students</a:t>
            </a:r>
          </a:p>
        </p:txBody>
      </p:sp>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432000" marR="0" lvl="0" indent="-432000" algn="l" defTabSz="914400" rtl="0" eaLnBrk="0" fontAlgn="base" latinLnBrk="0" hangingPunct="0">
              <a:lnSpc>
                <a:spcPct val="100000"/>
              </a:lnSpc>
              <a:spcBef>
                <a:spcPts val="0"/>
              </a:spcBef>
              <a:spcAft>
                <a:spcPct val="0"/>
              </a:spcAft>
              <a:buClr>
                <a:srgbClr val="000000"/>
              </a:buClr>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Line Management – The U of </a:t>
            </a: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 on </a:t>
            </a:r>
            <a:b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 academic organization.</a:t>
            </a: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defTabSz="914400" fontAlgn="base">
              <a:lnSpc>
                <a:spcPct val="100000"/>
              </a:lnSpc>
              <a:spcBef>
                <a:spcPct val="0"/>
              </a:spcBef>
              <a:spcAft>
                <a:spcPct val="0"/>
              </a:spcAft>
              <a:buClrTx/>
              <a:buNone/>
              <a:defRPr/>
            </a:pPr>
            <a:r>
              <a:rPr lang="en-US" altLang="en-US" sz="2400" dirty="0">
                <a:solidFill>
                  <a:srgbClr val="333399"/>
                </a:solidFill>
                <a:latin typeface="Arial" panose="020B0604020202020204" pitchFamily="34" charset="0"/>
                <a:cs typeface="Arial" panose="020B0604020202020204" pitchFamily="34" charset="0"/>
              </a:rPr>
              <a:t>The Line Management </a:t>
            </a:r>
            <a:r>
              <a:rPr lang="en-US" altLang="en-US" sz="2400" dirty="0" smtClean="0">
                <a:solidFill>
                  <a:srgbClr val="333399"/>
                </a:solidFill>
                <a:latin typeface="Arial" panose="020B0604020202020204" pitchFamily="34" charset="0"/>
                <a:cs typeface="Arial" panose="020B0604020202020204" pitchFamily="34" charset="0"/>
              </a:rPr>
              <a:t>Model:</a:t>
            </a:r>
            <a:endParaRPr lang="en-US" altLang="en-US" sz="2400" dirty="0">
              <a:solidFill>
                <a:srgbClr val="333399"/>
              </a:solidFill>
              <a:latin typeface="Arial" panose="020B0604020202020204" pitchFamily="34" charset="0"/>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7</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21" name="Google Shape;125;p2"/>
          <p:cNvSpPr/>
          <p:nvPr/>
        </p:nvSpPr>
        <p:spPr>
          <a:xfrm>
            <a:off x="2458387" y="6300000"/>
            <a:ext cx="5821613"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7.3: Organizational Design and Leadership : Culture : Performance</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pic>
        <p:nvPicPr>
          <p:cNvPr id="2" name="Picture 1"/>
          <p:cNvPicPr>
            <a:picLocks noChangeAspect="1"/>
          </p:cNvPicPr>
          <p:nvPr/>
        </p:nvPicPr>
        <p:blipFill>
          <a:blip r:embed="rId3"/>
          <a:stretch>
            <a:fillRect/>
          </a:stretch>
        </p:blipFill>
        <p:spPr>
          <a:xfrm>
            <a:off x="797367" y="1958000"/>
            <a:ext cx="3432633" cy="2325609"/>
          </a:xfrm>
          <a:prstGeom prst="rect">
            <a:avLst/>
          </a:prstGeom>
        </p:spPr>
      </p:pic>
      <p:cxnSp>
        <p:nvCxnSpPr>
          <p:cNvPr id="23" name="Straight Arrow Connector 22">
            <a:extLst>
              <a:ext uri="{FF2B5EF4-FFF2-40B4-BE49-F238E27FC236}">
                <a16:creationId xmlns:a16="http://schemas.microsoft.com/office/drawing/2014/main" id="{4DC8C954-9F0D-4CED-A2C2-C8CFABAF130D}"/>
              </a:ext>
            </a:extLst>
          </p:cNvPr>
          <p:cNvCxnSpPr>
            <a:stCxn id="11" idx="2"/>
            <a:endCxn id="22" idx="0"/>
          </p:cNvCxnSpPr>
          <p:nvPr/>
        </p:nvCxnSpPr>
        <p:spPr>
          <a:xfrm>
            <a:off x="6660000" y="3705776"/>
            <a:ext cx="0" cy="339520"/>
          </a:xfrm>
          <a:prstGeom prst="straightConnector1">
            <a:avLst/>
          </a:prstGeom>
          <a:noFill/>
          <a:ln w="38100" cap="flat" cmpd="sng" algn="ctr">
            <a:solidFill>
              <a:sysClr val="windowText" lastClr="000000"/>
            </a:solidFill>
            <a:prstDash val="solid"/>
            <a:headEnd type="triangle" w="med" len="med"/>
            <a:tailEnd type="none" w="med" len="med"/>
          </a:ln>
          <a:effectLst/>
        </p:spPr>
      </p:cxnSp>
      <p:cxnSp>
        <p:nvCxnSpPr>
          <p:cNvPr id="24" name="Straight Arrow Connector 23">
            <a:extLst>
              <a:ext uri="{FF2B5EF4-FFF2-40B4-BE49-F238E27FC236}">
                <a16:creationId xmlns:a16="http://schemas.microsoft.com/office/drawing/2014/main" id="{4DC8C954-9F0D-4CED-A2C2-C8CFABAF130D}"/>
              </a:ext>
            </a:extLst>
          </p:cNvPr>
          <p:cNvCxnSpPr>
            <a:stCxn id="10" idx="2"/>
            <a:endCxn id="11" idx="0"/>
          </p:cNvCxnSpPr>
          <p:nvPr/>
        </p:nvCxnSpPr>
        <p:spPr>
          <a:xfrm>
            <a:off x="6660000" y="2678000"/>
            <a:ext cx="0" cy="339520"/>
          </a:xfrm>
          <a:prstGeom prst="straightConnector1">
            <a:avLst/>
          </a:prstGeom>
          <a:noFill/>
          <a:ln w="38100" cap="flat" cmpd="sng" algn="ctr">
            <a:solidFill>
              <a:sysClr val="windowText" lastClr="000000"/>
            </a:solidFill>
            <a:prstDash val="solid"/>
            <a:headEnd type="triangle" w="med" len="med"/>
            <a:tailEnd type="none" w="med" len="med"/>
          </a:ln>
          <a:effectLst/>
        </p:spPr>
      </p:cxnSp>
      <p:cxnSp>
        <p:nvCxnSpPr>
          <p:cNvPr id="25" name="Straight Arrow Connector 24">
            <a:extLst>
              <a:ext uri="{FF2B5EF4-FFF2-40B4-BE49-F238E27FC236}">
                <a16:creationId xmlns:a16="http://schemas.microsoft.com/office/drawing/2014/main" id="{4DC8C954-9F0D-4CED-A2C2-C8CFABAF130D}"/>
              </a:ext>
            </a:extLst>
          </p:cNvPr>
          <p:cNvCxnSpPr>
            <a:stCxn id="7" idx="2"/>
            <a:endCxn id="10" idx="0"/>
          </p:cNvCxnSpPr>
          <p:nvPr/>
        </p:nvCxnSpPr>
        <p:spPr>
          <a:xfrm>
            <a:off x="6660000" y="1958000"/>
            <a:ext cx="0" cy="339520"/>
          </a:xfrm>
          <a:prstGeom prst="straightConnector1">
            <a:avLst/>
          </a:prstGeom>
          <a:noFill/>
          <a:ln w="38100" cap="flat" cmpd="sng" algn="ctr">
            <a:solidFill>
              <a:sysClr val="windowText" lastClr="000000"/>
            </a:solidFill>
            <a:prstDash val="solid"/>
            <a:headEnd type="triangle" w="med" len="med"/>
            <a:tailEnd type="none" w="med" len="med"/>
          </a:ln>
          <a:effectLst/>
        </p:spPr>
      </p:cxnSp>
      <p:cxnSp>
        <p:nvCxnSpPr>
          <p:cNvPr id="26" name="Straight Arrow Connector 25">
            <a:extLst>
              <a:ext uri="{FF2B5EF4-FFF2-40B4-BE49-F238E27FC236}">
                <a16:creationId xmlns:a16="http://schemas.microsoft.com/office/drawing/2014/main" id="{4DC8C954-9F0D-4CED-A2C2-C8CFABAF130D}"/>
              </a:ext>
            </a:extLst>
          </p:cNvPr>
          <p:cNvCxnSpPr>
            <a:stCxn id="6" idx="2"/>
            <a:endCxn id="7" idx="0"/>
          </p:cNvCxnSpPr>
          <p:nvPr/>
        </p:nvCxnSpPr>
        <p:spPr>
          <a:xfrm>
            <a:off x="6660000" y="1238000"/>
            <a:ext cx="0" cy="339520"/>
          </a:xfrm>
          <a:prstGeom prst="straightConnector1">
            <a:avLst/>
          </a:prstGeom>
          <a:noFill/>
          <a:ln w="38100" cap="flat" cmpd="sng" algn="ctr">
            <a:solidFill>
              <a:sysClr val="windowText" lastClr="000000"/>
            </a:solidFill>
            <a:prstDash val="solid"/>
            <a:headEnd type="triangle" w="med" len="med"/>
            <a:tailEnd type="none" w="med" len="med"/>
          </a:ln>
          <a:effectLst/>
        </p:spPr>
      </p:cxnSp>
      <p:cxnSp>
        <p:nvCxnSpPr>
          <p:cNvPr id="34" name="Straight Arrow Connector 33">
            <a:extLst>
              <a:ext uri="{FF2B5EF4-FFF2-40B4-BE49-F238E27FC236}">
                <a16:creationId xmlns:a16="http://schemas.microsoft.com/office/drawing/2014/main" id="{4DC8C954-9F0D-4CED-A2C2-C8CFABAF130D}"/>
              </a:ext>
            </a:extLst>
          </p:cNvPr>
          <p:cNvCxnSpPr>
            <a:stCxn id="14" idx="2"/>
            <a:endCxn id="19" idx="0"/>
          </p:cNvCxnSpPr>
          <p:nvPr/>
        </p:nvCxnSpPr>
        <p:spPr>
          <a:xfrm>
            <a:off x="6660000" y="5453552"/>
            <a:ext cx="0" cy="339520"/>
          </a:xfrm>
          <a:prstGeom prst="straightConnector1">
            <a:avLst/>
          </a:prstGeom>
          <a:noFill/>
          <a:ln w="38100" cap="flat" cmpd="sng" algn="ctr">
            <a:solidFill>
              <a:sysClr val="windowText" lastClr="000000"/>
            </a:solidFill>
            <a:prstDash val="solid"/>
            <a:headEnd type="triangle" w="med" len="med"/>
            <a:tailEnd type="none" w="med" len="med"/>
          </a:ln>
          <a:effectLst/>
        </p:spPr>
      </p:cxnSp>
      <p:sp>
        <p:nvSpPr>
          <p:cNvPr id="3" name="TextBox 2"/>
          <p:cNvSpPr txBox="1"/>
          <p:nvPr/>
        </p:nvSpPr>
        <p:spPr>
          <a:xfrm>
            <a:off x="294968" y="4410057"/>
            <a:ext cx="4601497" cy="1631216"/>
          </a:xfrm>
          <a:prstGeom prst="rect">
            <a:avLst/>
          </a:prstGeom>
          <a:solidFill>
            <a:schemeClr val="tx1"/>
          </a:solidFill>
          <a:ln>
            <a:solidFill>
              <a:schemeClr val="tx1"/>
            </a:solidFill>
          </a:ln>
        </p:spPr>
        <p:txBody>
          <a:bodyPr wrap="square" rtlCol="0">
            <a:spAutoFit/>
          </a:bodyPr>
          <a:lstStyle/>
          <a:p>
            <a:r>
              <a:rPr lang="en-US" sz="2000" i="1" dirty="0" smtClean="0">
                <a:solidFill>
                  <a:schemeClr val="bg1"/>
                </a:solidFill>
                <a:latin typeface="Arial" panose="020B0604020202020204" pitchFamily="34" charset="0"/>
                <a:cs typeface="Arial" panose="020B0604020202020204" pitchFamily="34" charset="0"/>
              </a:rPr>
              <a:t>Questions for thought: </a:t>
            </a:r>
          </a:p>
          <a:p>
            <a:pPr marL="342900" indent="-342900">
              <a:buFont typeface="+mj-lt"/>
              <a:buAutoNum type="arabicParenR"/>
            </a:pPr>
            <a:r>
              <a:rPr lang="en-US" sz="2000" i="1" dirty="0" smtClean="0">
                <a:solidFill>
                  <a:schemeClr val="bg1"/>
                </a:solidFill>
                <a:latin typeface="Arial" panose="020B0604020202020204" pitchFamily="34" charset="0"/>
                <a:cs typeface="Arial" panose="020B0604020202020204" pitchFamily="34" charset="0"/>
              </a:rPr>
              <a:t>Where are you when you start in your career after graduation?</a:t>
            </a:r>
          </a:p>
          <a:p>
            <a:pPr marL="342900" indent="-342900">
              <a:buFont typeface="+mj-lt"/>
              <a:buAutoNum type="arabicParenR"/>
            </a:pPr>
            <a:r>
              <a:rPr lang="en-US" sz="2000" i="1" dirty="0" smtClean="0">
                <a:solidFill>
                  <a:schemeClr val="bg1"/>
                </a:solidFill>
                <a:latin typeface="Arial" panose="020B0604020202020204" pitchFamily="34" charset="0"/>
                <a:cs typeface="Arial" panose="020B0604020202020204" pitchFamily="34" charset="0"/>
              </a:rPr>
              <a:t>Where do you want to be in 10 years? 20 years? </a:t>
            </a:r>
            <a:endParaRPr lang="en-US" sz="2000" i="1"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08249572"/>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CA" altLang="en-US" sz="2400" b="0" i="0" u="none" strike="noStrike" kern="1200" cap="none" spc="0" normalizeH="0" baseline="0" noProof="0" dirty="0" smtClean="0">
                <a:ln>
                  <a:noFill/>
                </a:ln>
                <a:solidFill>
                  <a:srgbClr val="333399"/>
                </a:solidFill>
                <a:effectLst/>
                <a:uLnTx/>
                <a:uFillTx/>
                <a:latin typeface="Arial" panose="020B0604020202020204" pitchFamily="34" charset="0"/>
                <a:ea typeface="+mn-ea"/>
                <a:cs typeface="Arial" panose="020B0604020202020204" pitchFamily="34" charset="0"/>
              </a:rPr>
              <a:t>A Model of Corporate </a:t>
            </a:r>
            <a:r>
              <a:rPr kumimoji="0" lang="en-CA"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Mechanisms </a:t>
            </a:r>
            <a:r>
              <a:rPr kumimoji="0" lang="en-CA" altLang="en-US" sz="2400" b="0" i="0" u="none" strike="noStrike" kern="1200" cap="none" spc="0" normalizeH="0" baseline="0" noProof="0" dirty="0" smtClean="0">
                <a:ln>
                  <a:noFill/>
                </a:ln>
                <a:solidFill>
                  <a:srgbClr val="333399"/>
                </a:solidFill>
                <a:effectLst/>
                <a:uLnTx/>
                <a:uFillTx/>
                <a:latin typeface="Arial" panose="020B0604020202020204" pitchFamily="34" charset="0"/>
                <a:ea typeface="+mn-ea"/>
                <a:cs typeface="Arial" panose="020B0604020202020204" pitchFamily="34" charset="0"/>
              </a:rPr>
              <a:t>&amp; </a:t>
            </a:r>
            <a:r>
              <a:rPr kumimoji="0" lang="en-CA"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Supporting </a:t>
            </a:r>
            <a:r>
              <a:rPr kumimoji="0" lang="en-CA" altLang="en-US" sz="2400" b="0" i="0" u="none" strike="noStrike" kern="1200" cap="none" spc="0" normalizeH="0" baseline="0" noProof="0" dirty="0" smtClean="0">
                <a:ln>
                  <a:noFill/>
                </a:ln>
                <a:solidFill>
                  <a:srgbClr val="333399"/>
                </a:solidFill>
                <a:effectLst/>
                <a:uLnTx/>
                <a:uFillTx/>
                <a:latin typeface="Arial" panose="020B0604020202020204" pitchFamily="34" charset="0"/>
                <a:ea typeface="+mn-ea"/>
                <a:cs typeface="Arial" panose="020B0604020202020204" pitchFamily="34" charset="0"/>
              </a:rPr>
              <a:t>Documents:</a:t>
            </a:r>
            <a:endPar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6" name="TextBox 5">
            <a:extLst>
              <a:ext uri="{FF2B5EF4-FFF2-40B4-BE49-F238E27FC236}">
                <a16:creationId xmlns:a16="http://schemas.microsoft.com/office/drawing/2014/main" id="{952F2364-457A-44D9-9AA8-130AB0A188F3}"/>
              </a:ext>
            </a:extLst>
          </p:cNvPr>
          <p:cNvSpPr txBox="1"/>
          <p:nvPr/>
        </p:nvSpPr>
        <p:spPr>
          <a:xfrm>
            <a:off x="180000" y="810835"/>
            <a:ext cx="8100000" cy="1031704"/>
          </a:xfrm>
          <a:prstGeom prst="rect">
            <a:avLst/>
          </a:prstGeom>
          <a:solidFill>
            <a:sysClr val="windowText" lastClr="000000"/>
          </a:solidFill>
          <a:ln>
            <a:solidFill>
              <a:sysClr val="windowText" lastClr="000000"/>
            </a:solidFill>
          </a:ln>
        </p:spPr>
        <p:txBody>
          <a:bodyPr wrap="square" rtlCol="0">
            <a:noAutofit/>
          </a:bodyPr>
          <a:lstStyle>
            <a:defPPr>
              <a:defRPr lang="en-US"/>
            </a:defPPr>
            <a:lvl1pPr>
              <a:defRPr sz="2000" i="1">
                <a:solidFill>
                  <a:schemeClr val="bg1"/>
                </a:solidFill>
                <a:latin typeface="Arial" panose="020B0604020202020204" pitchFamily="34" charset="0"/>
                <a:cs typeface="Arial" panose="020B0604020202020204" pitchFamily="34" charset="0"/>
              </a:defRPr>
            </a:lvl1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b="0" i="1" u="none" strike="noStrike" kern="0" cap="none" spc="0" normalizeH="0" baseline="0" noProof="0" dirty="0">
                <a:ln>
                  <a:noFill/>
                </a:ln>
                <a:solidFill>
                  <a:prstClr val="white"/>
                </a:solidFill>
                <a:effectLst/>
                <a:uLnTx/>
                <a:uFillTx/>
                <a:latin typeface="Arial" panose="020B0604020202020204" pitchFamily="34" charset="0"/>
                <a:cs typeface="Arial" panose="020B0604020202020204" pitchFamily="34" charset="0"/>
              </a:rPr>
              <a:t>Leading organizations document their aspirations in their “Vision &amp; Values” statements (Vision Statement, Mission Statement, Code of Ethics, Corporate slogans, etc.)</a:t>
            </a:r>
          </a:p>
        </p:txBody>
      </p:sp>
      <p:grpSp>
        <p:nvGrpSpPr>
          <p:cNvPr id="7" name="Group 6">
            <a:extLst>
              <a:ext uri="{FF2B5EF4-FFF2-40B4-BE49-F238E27FC236}">
                <a16:creationId xmlns:a16="http://schemas.microsoft.com/office/drawing/2014/main" id="{AB04017E-A42B-458F-83B5-160325EB3613}"/>
              </a:ext>
            </a:extLst>
          </p:cNvPr>
          <p:cNvGrpSpPr/>
          <p:nvPr/>
        </p:nvGrpSpPr>
        <p:grpSpPr>
          <a:xfrm>
            <a:off x="1564210" y="1928031"/>
            <a:ext cx="5871579" cy="4210804"/>
            <a:chOff x="1486514" y="1358261"/>
            <a:chExt cx="6170500" cy="4958131"/>
          </a:xfrm>
        </p:grpSpPr>
        <p:pic>
          <p:nvPicPr>
            <p:cNvPr id="10" name="Picture 9">
              <a:extLst>
                <a:ext uri="{FF2B5EF4-FFF2-40B4-BE49-F238E27FC236}">
                  <a16:creationId xmlns:a16="http://schemas.microsoft.com/office/drawing/2014/main" id="{9AF7493E-1BBF-4044-8167-22B3B1F4AFED}"/>
                </a:ext>
              </a:extLst>
            </p:cNvPr>
            <p:cNvPicPr>
              <a:picLocks noChangeAspect="1"/>
            </p:cNvPicPr>
            <p:nvPr/>
          </p:nvPicPr>
          <p:blipFill>
            <a:blip r:embed="rId3"/>
            <a:stretch>
              <a:fillRect/>
            </a:stretch>
          </p:blipFill>
          <p:spPr>
            <a:xfrm>
              <a:off x="1486514" y="1358261"/>
              <a:ext cx="6170500" cy="4958131"/>
            </a:xfrm>
            <a:prstGeom prst="rect">
              <a:avLst/>
            </a:prstGeom>
          </p:spPr>
        </p:pic>
        <p:sp>
          <p:nvSpPr>
            <p:cNvPr id="11" name="TextBox 10">
              <a:extLst>
                <a:ext uri="{FF2B5EF4-FFF2-40B4-BE49-F238E27FC236}">
                  <a16:creationId xmlns:a16="http://schemas.microsoft.com/office/drawing/2014/main" id="{D05D1BB0-B0E0-47CD-892C-4D1516D86B58}"/>
                </a:ext>
              </a:extLst>
            </p:cNvPr>
            <p:cNvSpPr txBox="1"/>
            <p:nvPr/>
          </p:nvSpPr>
          <p:spPr>
            <a:xfrm>
              <a:off x="5623035" y="1565716"/>
              <a:ext cx="1923393" cy="370680"/>
            </a:xfrm>
            <a:prstGeom prst="rect">
              <a:avLst/>
            </a:prstGeom>
            <a:solidFill>
              <a:sysClr val="window" lastClr="FFFFFF"/>
            </a:solidFill>
            <a:ln>
              <a:solidFill>
                <a:sysClr val="windowText" lastClr="000000"/>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Tw Cen MT" panose="020B0602020104020603"/>
                </a:rPr>
                <a:t>Mission Statement</a:t>
              </a:r>
            </a:p>
          </p:txBody>
        </p:sp>
        <p:sp>
          <p:nvSpPr>
            <p:cNvPr id="14" name="Left-Right Arrow 9">
              <a:extLst>
                <a:ext uri="{FF2B5EF4-FFF2-40B4-BE49-F238E27FC236}">
                  <a16:creationId xmlns:a16="http://schemas.microsoft.com/office/drawing/2014/main" id="{BF9C30F9-3E53-4948-AD34-A0ABF459E56F}"/>
                </a:ext>
              </a:extLst>
            </p:cNvPr>
            <p:cNvSpPr/>
            <p:nvPr/>
          </p:nvSpPr>
          <p:spPr>
            <a:xfrm>
              <a:off x="4593249" y="1554878"/>
              <a:ext cx="1029785" cy="381841"/>
            </a:xfrm>
            <a:prstGeom prst="leftRightArrow">
              <a:avLst/>
            </a:prstGeom>
            <a:solidFill>
              <a:sysClr val="window" lastClr="FFFFFF">
                <a:lumMod val="50000"/>
              </a:sysClr>
            </a:solidFill>
            <a:ln w="15875"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Tw Cen MT" panose="020B0602020104020603"/>
                <a:ea typeface="+mn-ea"/>
                <a:cs typeface="+mn-cs"/>
              </a:endParaRPr>
            </a:p>
          </p:txBody>
        </p:sp>
      </p:grpSp>
      <p:sp>
        <p:nvSpPr>
          <p:cNvPr id="15" name="Google Shape;125;p2"/>
          <p:cNvSpPr/>
          <p:nvPr/>
        </p:nvSpPr>
        <p:spPr>
          <a:xfrm>
            <a:off x="2458387" y="6300000"/>
            <a:ext cx="5821613"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7.3: Organizational Design and Leadership : Culture : Performance</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3865025691"/>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defTabSz="914400" fontAlgn="base">
              <a:lnSpc>
                <a:spcPct val="100000"/>
              </a:lnSpc>
              <a:spcBef>
                <a:spcPct val="0"/>
              </a:spcBef>
              <a:spcAft>
                <a:spcPct val="0"/>
              </a:spcAft>
              <a:buClrTx/>
              <a:buNone/>
              <a:defRPr/>
            </a:pPr>
            <a:r>
              <a:rPr kumimoji="0" lang="en-CA" altLang="en-US" sz="2400" b="0" i="0" u="none" strike="noStrike" kern="1200" cap="none" spc="0" normalizeH="0" baseline="0" noProof="0" dirty="0" smtClean="0">
                <a:ln>
                  <a:noFill/>
                </a:ln>
                <a:solidFill>
                  <a:srgbClr val="333399"/>
                </a:solidFill>
                <a:effectLst/>
                <a:uLnTx/>
                <a:uFillTx/>
                <a:latin typeface="Arial" panose="020B0604020202020204" pitchFamily="34" charset="0"/>
                <a:ea typeface="+mn-ea"/>
                <a:cs typeface="Arial" panose="020B0604020202020204" pitchFamily="34" charset="0"/>
              </a:rPr>
              <a:t>Definitions of Vision,</a:t>
            </a:r>
            <a:r>
              <a:rPr kumimoji="0" lang="en-CA" altLang="en-US" sz="2400" b="0" i="0" u="none" strike="noStrike" kern="1200" cap="none" spc="0" normalizeH="0" noProof="0" dirty="0" smtClean="0">
                <a:ln>
                  <a:noFill/>
                </a:ln>
                <a:solidFill>
                  <a:srgbClr val="333399"/>
                </a:solidFill>
                <a:effectLst/>
                <a:uLnTx/>
                <a:uFillTx/>
                <a:latin typeface="Arial" panose="020B0604020202020204" pitchFamily="34" charset="0"/>
                <a:ea typeface="+mn-ea"/>
                <a:cs typeface="Arial" panose="020B0604020202020204" pitchFamily="34" charset="0"/>
              </a:rPr>
              <a:t> </a:t>
            </a:r>
            <a:r>
              <a:rPr lang="en-CA" altLang="en-US" sz="2400" dirty="0" smtClean="0">
                <a:solidFill>
                  <a:srgbClr val="333399"/>
                </a:solidFill>
                <a:latin typeface="Arial" panose="020B0604020202020204" pitchFamily="34" charset="0"/>
                <a:cs typeface="Arial" panose="020B0604020202020204" pitchFamily="34" charset="0"/>
              </a:rPr>
              <a:t>Mission, etc. </a:t>
            </a:r>
            <a:endPar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endParaRPr>
          </a:p>
        </p:txBody>
      </p:sp>
      <p:sp>
        <p:nvSpPr>
          <p:cNvPr id="4"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indent="-360000" defTabSz="914400" eaLnBrk="0" fontAlgn="base" hangingPunct="0">
              <a:lnSpc>
                <a:spcPct val="90000"/>
              </a:lnSpc>
              <a:spcBef>
                <a:spcPts val="0"/>
              </a:spcBef>
              <a:spcAft>
                <a:spcPct val="0"/>
              </a:spcAft>
              <a:buClrTx/>
              <a:buSzPct val="100000"/>
              <a:buFont typeface="Wingdings" panose="05000000000000000000" pitchFamily="2" charset="2"/>
              <a:buChar char="Ø"/>
              <a:defRPr/>
            </a:pPr>
            <a:endParaRPr lang="en-CA"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defTabSz="914400" eaLnBrk="0" fontAlgn="base" hangingPunct="0">
              <a:lnSpc>
                <a:spcPct val="90000"/>
              </a:lnSpc>
              <a:spcBef>
                <a:spcPts val="0"/>
              </a:spcBef>
              <a:spcAft>
                <a:spcPct val="0"/>
              </a:spcAft>
              <a:buClrTx/>
              <a:buSzPct val="100000"/>
              <a:buFont typeface="Wingdings" panose="05000000000000000000" pitchFamily="2" charset="2"/>
              <a:buChar char="Ø"/>
              <a:defRPr/>
            </a:pPr>
            <a:r>
              <a:rPr lang="en-CA" altLang="en-US" sz="1800" b="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Vision:</a:t>
            </a:r>
            <a:r>
              <a:rPr lang="en-CA"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The vision statement captures the desired future state of the organization. “</a:t>
            </a: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 </a:t>
            </a:r>
            <a:r>
              <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vision statement says what the organization wishes to be like in some years’ time</a:t>
            </a: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It is “forward thinking”, usually by senior management, on strategic planning and focus on how to achieve that desired future state. </a:t>
            </a:r>
          </a:p>
          <a:p>
            <a:pPr marL="360000" indent="-360000" defTabSz="914400" eaLnBrk="0" fontAlgn="base" hangingPunct="0">
              <a:lnSpc>
                <a:spcPct val="90000"/>
              </a:lnSpc>
              <a:spcBef>
                <a:spcPts val="0"/>
              </a:spcBef>
              <a:spcAft>
                <a:spcPct val="0"/>
              </a:spcAft>
              <a:buClrTx/>
              <a:buSzPct val="100000"/>
              <a:buFont typeface="Wingdings" panose="05000000000000000000" pitchFamily="2" charset="2"/>
              <a:buChar char="Ø"/>
              <a:defRPr/>
            </a:pPr>
            <a:endParaRPr lang="en-CA"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defTabSz="914400" eaLnBrk="0" fontAlgn="base" hangingPunct="0">
              <a:lnSpc>
                <a:spcPct val="90000"/>
              </a:lnSpc>
              <a:spcBef>
                <a:spcPts val="0"/>
              </a:spcBef>
              <a:spcAft>
                <a:spcPct val="0"/>
              </a:spcAft>
              <a:buClrTx/>
              <a:buSzPct val="100000"/>
              <a:buFont typeface="Wingdings" panose="05000000000000000000" pitchFamily="2" charset="2"/>
              <a:buChar char="Ø"/>
              <a:defRPr/>
            </a:pPr>
            <a:r>
              <a:rPr lang="en-CA" altLang="en-US" sz="1800" b="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Mission:</a:t>
            </a:r>
            <a:r>
              <a:rPr lang="en-CA"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 “mission statement</a:t>
            </a:r>
            <a:r>
              <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describes what business the organization is in (and what it isn’t) both now and projecting into the future. Its aim is to provide focus for management and staff” not only on the short-term but also on the longer term. It is congruent with and supports the vision.</a:t>
            </a:r>
          </a:p>
          <a:p>
            <a:pPr marL="360000" indent="-360000" defTabSz="914400" eaLnBrk="0" fontAlgn="base" hangingPunct="0">
              <a:lnSpc>
                <a:spcPct val="90000"/>
              </a:lnSpc>
              <a:spcBef>
                <a:spcPts val="0"/>
              </a:spcBef>
              <a:spcAft>
                <a:spcPct val="0"/>
              </a:spcAft>
              <a:buClrTx/>
              <a:buSzPct val="100000"/>
              <a:buFont typeface="Wingdings" panose="05000000000000000000" pitchFamily="2" charset="2"/>
              <a:buChar char="Ø"/>
              <a:defRPr/>
            </a:pPr>
            <a:endPar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defTabSz="914400" eaLnBrk="0" fontAlgn="base" hangingPunct="0">
              <a:lnSpc>
                <a:spcPct val="90000"/>
              </a:lnSpc>
              <a:spcBef>
                <a:spcPts val="0"/>
              </a:spcBef>
              <a:spcAft>
                <a:spcPct val="0"/>
              </a:spcAft>
              <a:buClrTx/>
              <a:buSzPct val="100000"/>
              <a:buFont typeface="Wingdings" panose="05000000000000000000" pitchFamily="2" charset="2"/>
              <a:buChar char="Ø"/>
              <a:defRPr/>
            </a:pPr>
            <a:r>
              <a:rPr lang="en-CA" altLang="en-US" sz="1800" b="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Organizational Values: </a:t>
            </a:r>
            <a:r>
              <a:rPr lang="en-CA"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set of “values</a:t>
            </a: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describes </a:t>
            </a:r>
            <a:r>
              <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desired </a:t>
            </a: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culture” of the organization i.e. the compass or benchmark on which decisions are based. These are fairly high level.</a:t>
            </a:r>
          </a:p>
          <a:p>
            <a:pPr marL="360000" indent="-360000" defTabSz="914400" eaLnBrk="0" fontAlgn="base" hangingPunct="0">
              <a:lnSpc>
                <a:spcPct val="90000"/>
              </a:lnSpc>
              <a:spcBef>
                <a:spcPts val="0"/>
              </a:spcBef>
              <a:spcAft>
                <a:spcPct val="0"/>
              </a:spcAft>
              <a:buClrTx/>
              <a:buSzPct val="100000"/>
              <a:buFont typeface="Wingdings" panose="05000000000000000000" pitchFamily="2" charset="2"/>
              <a:buChar char="Ø"/>
              <a:defRPr/>
            </a:pPr>
            <a:endPar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defTabSz="914400" eaLnBrk="0" fontAlgn="base" hangingPunct="0">
              <a:lnSpc>
                <a:spcPct val="90000"/>
              </a:lnSpc>
              <a:spcBef>
                <a:spcPts val="0"/>
              </a:spcBef>
              <a:spcAft>
                <a:spcPct val="0"/>
              </a:spcAft>
              <a:buClrTx/>
              <a:buSzPct val="100000"/>
              <a:buFont typeface="Wingdings" panose="05000000000000000000" pitchFamily="2" charset="2"/>
              <a:buChar char="Ø"/>
              <a:defRPr/>
            </a:pPr>
            <a:r>
              <a:rPr lang="en-CA" altLang="en-US" sz="1800" b="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Organizational</a:t>
            </a:r>
            <a:r>
              <a:rPr lang="en-US" altLang="en-US" sz="1800" b="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Principles: </a:t>
            </a: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set of principles “gives employees a set of directions”. These are more descriptive, but not to the point of the details in policies, procedures, and so on. </a:t>
            </a:r>
          </a:p>
          <a:p>
            <a:pPr marL="360000" indent="-360000" defTabSz="914400" eaLnBrk="0" fontAlgn="base" hangingPunct="0">
              <a:lnSpc>
                <a:spcPct val="90000"/>
              </a:lnSpc>
              <a:spcBef>
                <a:spcPts val="0"/>
              </a:spcBef>
              <a:spcAft>
                <a:spcPct val="0"/>
              </a:spcAft>
              <a:buClrTx/>
              <a:buSzPct val="100000"/>
              <a:buFont typeface="Wingdings" panose="05000000000000000000" pitchFamily="2" charset="2"/>
              <a:buChar char="Ø"/>
              <a:defRPr/>
            </a:pPr>
            <a:endPar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indent="0" defTabSz="914400" eaLnBrk="0" fontAlgn="base" hangingPunct="0">
              <a:lnSpc>
                <a:spcPct val="100000"/>
              </a:lnSpc>
              <a:spcBef>
                <a:spcPts val="0"/>
              </a:spcBef>
              <a:spcAft>
                <a:spcPct val="0"/>
              </a:spcAft>
              <a:buClrTx/>
              <a:buSzPct val="100000"/>
              <a:buNone/>
              <a:defRPr/>
            </a:pPr>
            <a:r>
              <a:rPr lang="en-US" altLang="en-US" sz="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STRATEGIC </a:t>
            </a:r>
            <a:r>
              <a:rPr lang="en-US" altLang="en-US" sz="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PLANNING: Your </a:t>
            </a:r>
            <a:r>
              <a:rPr lang="en-US" altLang="en-US" sz="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Company’s Purpose Is Not Its Vision, Mission, or </a:t>
            </a:r>
            <a:r>
              <a:rPr lang="en-US" altLang="en-US" sz="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Values; by </a:t>
            </a:r>
            <a:r>
              <a:rPr lang="en-US" altLang="en-US" sz="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Graham </a:t>
            </a:r>
            <a:r>
              <a:rPr lang="en-US" altLang="en-US" sz="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Kenny; September </a:t>
            </a:r>
            <a:r>
              <a:rPr lang="en-US" altLang="en-US" sz="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03, </a:t>
            </a:r>
            <a:r>
              <a:rPr lang="en-US" altLang="en-US" sz="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2014; HBR; accessed 20-Oct-2020; </a:t>
            </a:r>
            <a:r>
              <a:rPr lang="en-CA" altLang="en-US" sz="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hlinkClick r:id="rId2"/>
              </a:rPr>
              <a:t>https</a:t>
            </a:r>
            <a:r>
              <a:rPr lang="en-CA" altLang="en-US" sz="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hlinkClick r:id="rId2"/>
              </a:rPr>
              <a:t>://</a:t>
            </a:r>
            <a:r>
              <a:rPr lang="en-CA" altLang="en-US" sz="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hlinkClick r:id="rId2"/>
              </a:rPr>
              <a:t>hbr.org/2014/09/your-companys-purpose-is-not-its-vision-mission-or-values</a:t>
            </a:r>
            <a:r>
              <a:rPr lang="en-CA" altLang="en-US" sz="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p>
          <a:p>
            <a:pPr marL="360000" indent="-360000" defTabSz="914400" eaLnBrk="0" fontAlgn="base" hangingPunct="0">
              <a:lnSpc>
                <a:spcPct val="100000"/>
              </a:lnSpc>
              <a:spcBef>
                <a:spcPts val="0"/>
              </a:spcBef>
              <a:spcAft>
                <a:spcPct val="0"/>
              </a:spcAft>
              <a:buClrTx/>
              <a:buSzPct val="100000"/>
              <a:buFont typeface="Wingdings" panose="05000000000000000000" pitchFamily="2" charset="2"/>
              <a:buChar char="Ø"/>
              <a:defRPr/>
            </a:pPr>
            <a:endParaRPr lang="en-CA"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defTabSz="914400" eaLnBrk="0" fontAlgn="base" hangingPunct="0">
              <a:lnSpc>
                <a:spcPct val="100000"/>
              </a:lnSpc>
              <a:spcBef>
                <a:spcPts val="0"/>
              </a:spcBef>
              <a:spcAft>
                <a:spcPct val="0"/>
              </a:spcAft>
              <a:buClrTx/>
              <a:buSzPct val="100000"/>
              <a:buFont typeface="Wingdings" panose="05000000000000000000" pitchFamily="2" charset="2"/>
              <a:buChar char="Ø"/>
              <a:defRPr/>
            </a:pPr>
            <a:endParaRPr lang="en-CA"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5"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9</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6" name="Google Shape;125;p2"/>
          <p:cNvSpPr/>
          <p:nvPr/>
        </p:nvSpPr>
        <p:spPr>
          <a:xfrm>
            <a:off x="2458387" y="6300000"/>
            <a:ext cx="5821613"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7.3: Organizational Design and Leadership : Culture : Performance</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4026267557"/>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4619879"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r>
              <a:rPr kumimoji="0" lang="en-US" altLang="en-US" sz="20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 University of Alberta</a:t>
            </a:r>
            <a:r>
              <a:rPr kumimoji="0" lang="en-US" altLang="en-US" sz="2000" b="1"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t>
            </a: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kumimoji="0" lang="en-US"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lvl="0" indent="0" defTabSz="914400" eaLnBrk="0" fontAlgn="base" hangingPunct="0">
              <a:lnSpc>
                <a:spcPct val="100000"/>
              </a:lnSpc>
              <a:spcBef>
                <a:spcPts val="0"/>
              </a:spcBef>
              <a:spcAft>
                <a:spcPct val="0"/>
              </a:spcAft>
              <a:buClr>
                <a:srgbClr val="000000"/>
              </a:buClr>
              <a:buSzPct val="100000"/>
              <a:buNone/>
              <a:defRPr/>
            </a:pPr>
            <a:r>
              <a:rPr lang="en-US" altLang="en-US" sz="11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https</a:t>
            </a:r>
            <a:r>
              <a:rPr lang="en-US" altLang="en-US" sz="11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r>
              <a:rPr lang="en-US" altLang="en-US" sz="11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www.ualberta.ca/strategic-plan/overview/our-vision-mission-and-values.html</a:t>
            </a:r>
            <a:endParaRPr lang="en-US" altLang="en-US" sz="11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11" name="Rectangle 3"/>
          <p:cNvSpPr>
            <a:spLocks noChangeArrowheads="1"/>
          </p:cNvSpPr>
          <p:nvPr/>
        </p:nvSpPr>
        <p:spPr bwMode="auto">
          <a:xfrm>
            <a:off x="4754823" y="980400"/>
            <a:ext cx="4217577"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ctr"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lang="en-US" altLang="en-US" b="1"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marR="0" lvl="0" indent="0" algn="ctr"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lang="en-US" altLang="en-US" b="1"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marR="0" lvl="0" indent="0" algn="ctr"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kumimoji="0" lang="en-US" altLang="en-US" sz="20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marR="0" lvl="0" indent="0" algn="ctr"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r>
              <a:rPr kumimoji="0" lang="en-US" altLang="en-US" sz="20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Jacobs Industrial Services:</a:t>
            </a:r>
          </a:p>
          <a:p>
            <a:pPr marL="0" marR="0" lvl="0" indent="0" algn="ctr"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kumimoji="0" lang="en-US" altLang="en-US" sz="20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marR="0" lvl="0" indent="0" algn="ctr"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marR="0" lvl="0" indent="0" algn="ctr"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marR="0" lvl="0" indent="0" algn="ctr"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marR="0" lvl="0" indent="0" algn="ctr"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marR="0" lvl="0" indent="0" algn="ctr"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marR="0" lvl="0" indent="0" algn="ctr"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marR="0" lvl="0" indent="0" algn="ctr"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kumimoji="0" lang="en-US"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marR="0" lvl="0" indent="0" algn="ctr"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kumimoji="0" lang="en-US" altLang="en-US" sz="11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marR="0" lvl="0" indent="0" algn="ctr"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lang="en-US" altLang="en-US" sz="11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marR="0" lvl="0" indent="0" algn="ctr"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kumimoji="0" lang="en-US" altLang="en-US" sz="11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marR="0" lvl="0" indent="0" algn="ctr"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lang="en-US" altLang="en-US" sz="11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marR="0" lvl="0" indent="0" algn="ctr"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r>
              <a:rPr kumimoji="0" lang="en-US" altLang="en-US" sz="11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http</a:t>
            </a:r>
            <a:r>
              <a:rPr kumimoji="0" lang="en-US" altLang="en-US" sz="11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://www.jacobs.com/about#vision-mission-and-values</a:t>
            </a:r>
          </a:p>
          <a:p>
            <a:pPr marL="0" marR="0" lvl="0" indent="0" algn="ctr"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kumimoji="0" lang="en-US" altLang="en-US" sz="11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pic>
        <p:nvPicPr>
          <p:cNvPr id="7" name="Picture 6">
            <a:extLst>
              <a:ext uri="{FF2B5EF4-FFF2-40B4-BE49-F238E27FC236}">
                <a16:creationId xmlns:a16="http://schemas.microsoft.com/office/drawing/2014/main" id="{3063F0DA-FABE-4BC1-8FF3-796F843488B1}"/>
              </a:ext>
            </a:extLst>
          </p:cNvPr>
          <p:cNvPicPr>
            <a:picLocks noChangeAspect="1"/>
          </p:cNvPicPr>
          <p:nvPr/>
        </p:nvPicPr>
        <p:blipFill>
          <a:blip r:embed="rId3"/>
          <a:stretch>
            <a:fillRect/>
          </a:stretch>
        </p:blipFill>
        <p:spPr>
          <a:xfrm>
            <a:off x="4799879" y="2218744"/>
            <a:ext cx="4013521" cy="3115256"/>
          </a:xfrm>
          <a:prstGeom prst="rect">
            <a:avLst/>
          </a:prstGeom>
        </p:spPr>
      </p:pic>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lang="en-CA" altLang="en-US" sz="2400" dirty="0" smtClean="0">
                <a:solidFill>
                  <a:srgbClr val="333399"/>
                </a:solidFill>
                <a:latin typeface="Arial" panose="020B0604020202020204" pitchFamily="34" charset="0"/>
                <a:cs typeface="Arial" panose="020B0604020202020204" pitchFamily="34" charset="0"/>
              </a:rPr>
              <a:t>Vision, Mission, Values – Examples:</a:t>
            </a:r>
            <a:endPar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10</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pic>
        <p:nvPicPr>
          <p:cNvPr id="6" name="Picture 5">
            <a:extLst>
              <a:ext uri="{FF2B5EF4-FFF2-40B4-BE49-F238E27FC236}">
                <a16:creationId xmlns:a16="http://schemas.microsoft.com/office/drawing/2014/main" id="{5FDC5D56-19FE-43C0-AB6B-C0B4ACB607BD}"/>
              </a:ext>
            </a:extLst>
          </p:cNvPr>
          <p:cNvPicPr>
            <a:picLocks noChangeAspect="1"/>
          </p:cNvPicPr>
          <p:nvPr/>
        </p:nvPicPr>
        <p:blipFill>
          <a:blip r:embed="rId4"/>
          <a:stretch>
            <a:fillRect/>
          </a:stretch>
        </p:blipFill>
        <p:spPr>
          <a:xfrm>
            <a:off x="324000" y="1186414"/>
            <a:ext cx="4430823" cy="3942528"/>
          </a:xfrm>
          <a:prstGeom prst="rect">
            <a:avLst/>
          </a:prstGeom>
        </p:spPr>
      </p:pic>
      <p:sp>
        <p:nvSpPr>
          <p:cNvPr id="10" name="Google Shape;125;p2"/>
          <p:cNvSpPr/>
          <p:nvPr/>
        </p:nvSpPr>
        <p:spPr>
          <a:xfrm>
            <a:off x="2458387" y="6300000"/>
            <a:ext cx="5821613"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7.3: Organizational Design and Leadership : Culture : Performance</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721969445"/>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7999"/>
            <a:ext cx="8640000" cy="5328000"/>
          </a:xfrm>
          <a:prstGeom prst="rect">
            <a:avLst/>
          </a:prstGeom>
          <a:solidFill>
            <a:schemeClr val="tx1"/>
          </a:solidFill>
          <a:ln>
            <a:solidFill>
              <a:schemeClr val="tx1"/>
            </a:solidFill>
          </a:ln>
        </p:spPr>
        <p:txBody>
          <a:bodyPr wrap="square" rtlCol="0">
            <a:noAutofit/>
          </a:bodyPr>
          <a:lstStyle/>
          <a:p>
            <a:r>
              <a:rPr lang="en-US" altLang="en-US" sz="2000" b="1" i="1" dirty="0">
                <a:solidFill>
                  <a:schemeClr val="bg1"/>
                </a:solidFill>
                <a:latin typeface="Arial" panose="020B0604020202020204" pitchFamily="34" charset="0"/>
                <a:cs typeface="Arial" panose="020B0604020202020204" pitchFamily="34" charset="0"/>
              </a:rPr>
              <a:t>Is an Organization “Living” Its Values?</a:t>
            </a:r>
          </a:p>
          <a:p>
            <a:r>
              <a:rPr lang="en-CA" altLang="en-US" sz="2000" i="1" dirty="0">
                <a:solidFill>
                  <a:schemeClr val="bg1"/>
                </a:solidFill>
                <a:latin typeface="Arial" panose="020B0604020202020204" pitchFamily="34" charset="0"/>
                <a:cs typeface="Arial" panose="020B0604020202020204" pitchFamily="34" charset="0"/>
              </a:rPr>
              <a:t>Think back on your work experience. Did those organizations “live” their corporate statements on vision, mission, values, ethics, corporate responsibility, etc.? </a:t>
            </a:r>
          </a:p>
          <a:p>
            <a:pPr marL="342900" indent="-342900">
              <a:buFont typeface="Wingdings" panose="05000000000000000000" pitchFamily="2" charset="2"/>
              <a:buChar char="Ø"/>
            </a:pPr>
            <a:r>
              <a:rPr lang="en-CA" altLang="en-US" sz="2000" i="1" dirty="0">
                <a:solidFill>
                  <a:schemeClr val="bg1"/>
                </a:solidFill>
                <a:latin typeface="Arial" panose="020B0604020202020204" pitchFamily="34" charset="0"/>
                <a:cs typeface="Arial" panose="020B0604020202020204" pitchFamily="34" charset="0"/>
              </a:rPr>
              <a:t>Do they live their values or is it just ‘words on the wall’?</a:t>
            </a:r>
          </a:p>
          <a:p>
            <a:pPr marL="342900" indent="-342900">
              <a:buFont typeface="Wingdings" panose="05000000000000000000" pitchFamily="2" charset="2"/>
              <a:buChar char="Ø"/>
            </a:pPr>
            <a:r>
              <a:rPr lang="en-CA" altLang="en-US" sz="2000" i="1" dirty="0">
                <a:solidFill>
                  <a:schemeClr val="bg1"/>
                </a:solidFill>
                <a:latin typeface="Arial" panose="020B0604020202020204" pitchFamily="34" charset="0"/>
                <a:cs typeface="Arial" panose="020B0604020202020204" pitchFamily="34" charset="0"/>
              </a:rPr>
              <a:t>Was the culture </a:t>
            </a:r>
            <a:r>
              <a:rPr lang="en-CA" altLang="en-US" sz="2000" i="1" dirty="0" smtClean="0">
                <a:solidFill>
                  <a:schemeClr val="bg1"/>
                </a:solidFill>
                <a:latin typeface="Arial" panose="020B0604020202020204" pitchFamily="34" charset="0"/>
                <a:cs typeface="Arial" panose="020B0604020202020204" pitchFamily="34" charset="0"/>
              </a:rPr>
              <a:t>aligned with </a:t>
            </a:r>
            <a:r>
              <a:rPr lang="en-CA" altLang="en-US" sz="2000" i="1" dirty="0">
                <a:solidFill>
                  <a:schemeClr val="bg1"/>
                </a:solidFill>
                <a:latin typeface="Arial" panose="020B0604020202020204" pitchFamily="34" charset="0"/>
                <a:cs typeface="Arial" panose="020B0604020202020204" pitchFamily="34" charset="0"/>
              </a:rPr>
              <a:t>their values?</a:t>
            </a:r>
          </a:p>
          <a:p>
            <a:endParaRPr lang="en-CA" altLang="en-US" sz="2000" i="1" dirty="0">
              <a:solidFill>
                <a:schemeClr val="bg1"/>
              </a:solidFill>
              <a:latin typeface="Arial" panose="020B0604020202020204" pitchFamily="34" charset="0"/>
              <a:cs typeface="Arial" panose="020B0604020202020204" pitchFamily="34" charset="0"/>
            </a:endParaRPr>
          </a:p>
          <a:p>
            <a:endParaRPr lang="en-CA" altLang="en-US" sz="2000" i="1" dirty="0">
              <a:solidFill>
                <a:schemeClr val="bg1"/>
              </a:solidFill>
              <a:latin typeface="Arial" panose="020B0604020202020204" pitchFamily="34" charset="0"/>
              <a:cs typeface="Arial" panose="020B0604020202020204" pitchFamily="34" charset="0"/>
            </a:endParaRPr>
          </a:p>
          <a:p>
            <a:r>
              <a:rPr lang="en-CA" altLang="en-US" sz="2000" i="1" dirty="0">
                <a:solidFill>
                  <a:schemeClr val="bg1"/>
                </a:solidFill>
                <a:latin typeface="Arial" panose="020B0604020202020204" pitchFamily="34" charset="0"/>
                <a:cs typeface="Arial" panose="020B0604020202020204" pitchFamily="34" charset="0"/>
              </a:rPr>
              <a:t>For employees </a:t>
            </a:r>
            <a:r>
              <a:rPr lang="en-CA" altLang="en-US" sz="2000" i="1" dirty="0" smtClean="0">
                <a:solidFill>
                  <a:schemeClr val="bg1"/>
                </a:solidFill>
                <a:latin typeface="Arial" panose="020B0604020202020204" pitchFamily="34" charset="0"/>
                <a:cs typeface="Arial" panose="020B0604020202020204" pitchFamily="34" charset="0"/>
              </a:rPr>
              <a:t>working within </a:t>
            </a:r>
            <a:br>
              <a:rPr lang="en-CA" altLang="en-US" sz="2000" i="1" dirty="0" smtClean="0">
                <a:solidFill>
                  <a:schemeClr val="bg1"/>
                </a:solidFill>
                <a:latin typeface="Arial" panose="020B0604020202020204" pitchFamily="34" charset="0"/>
                <a:cs typeface="Arial" panose="020B0604020202020204" pitchFamily="34" charset="0"/>
              </a:rPr>
            </a:br>
            <a:r>
              <a:rPr lang="en-CA" altLang="en-US" sz="2000" i="1" dirty="0" smtClean="0">
                <a:solidFill>
                  <a:schemeClr val="bg1"/>
                </a:solidFill>
                <a:latin typeface="Arial" panose="020B0604020202020204" pitchFamily="34" charset="0"/>
                <a:cs typeface="Arial" panose="020B0604020202020204" pitchFamily="34" charset="0"/>
              </a:rPr>
              <a:t>and </a:t>
            </a:r>
            <a:r>
              <a:rPr lang="en-CA" altLang="en-US" sz="2000" i="1" dirty="0">
                <a:solidFill>
                  <a:schemeClr val="bg1"/>
                </a:solidFill>
                <a:latin typeface="Arial" panose="020B0604020202020204" pitchFamily="34" charset="0"/>
                <a:cs typeface="Arial" panose="020B0604020202020204" pitchFamily="34" charset="0"/>
              </a:rPr>
              <a:t>for leading </a:t>
            </a:r>
            <a:r>
              <a:rPr lang="en-CA" altLang="en-US" sz="2000" i="1" dirty="0" smtClean="0">
                <a:solidFill>
                  <a:schemeClr val="bg1"/>
                </a:solidFill>
                <a:latin typeface="Arial" panose="020B0604020202020204" pitchFamily="34" charset="0"/>
                <a:cs typeface="Arial" panose="020B0604020202020204" pitchFamily="34" charset="0"/>
              </a:rPr>
              <a:t>organizations</a:t>
            </a:r>
            <a:r>
              <a:rPr lang="en-CA" altLang="en-US" sz="2000" i="1" dirty="0">
                <a:solidFill>
                  <a:schemeClr val="bg1"/>
                </a:solidFill>
                <a:latin typeface="Arial" panose="020B0604020202020204" pitchFamily="34" charset="0"/>
                <a:cs typeface="Arial" panose="020B0604020202020204" pitchFamily="34" charset="0"/>
              </a:rPr>
              <a:t>, </a:t>
            </a:r>
            <a:r>
              <a:rPr lang="en-CA" altLang="en-US" sz="2000" i="1" dirty="0" smtClean="0">
                <a:solidFill>
                  <a:schemeClr val="bg1"/>
                </a:solidFill>
                <a:latin typeface="Arial" panose="020B0604020202020204" pitchFamily="34" charset="0"/>
                <a:cs typeface="Arial" panose="020B0604020202020204" pitchFamily="34" charset="0"/>
              </a:rPr>
              <a:t/>
            </a:r>
            <a:br>
              <a:rPr lang="en-CA" altLang="en-US" sz="2000" i="1" dirty="0" smtClean="0">
                <a:solidFill>
                  <a:schemeClr val="bg1"/>
                </a:solidFill>
                <a:latin typeface="Arial" panose="020B0604020202020204" pitchFamily="34" charset="0"/>
                <a:cs typeface="Arial" panose="020B0604020202020204" pitchFamily="34" charset="0"/>
              </a:rPr>
            </a:br>
            <a:r>
              <a:rPr lang="en-CA" altLang="en-US" sz="2000" i="1" dirty="0" smtClean="0">
                <a:solidFill>
                  <a:schemeClr val="bg1"/>
                </a:solidFill>
                <a:latin typeface="Arial" panose="020B0604020202020204" pitchFamily="34" charset="0"/>
                <a:cs typeface="Arial" panose="020B0604020202020204" pitchFamily="34" charset="0"/>
              </a:rPr>
              <a:t>the culture is </a:t>
            </a:r>
            <a:r>
              <a:rPr lang="en-CA" altLang="en-US" sz="2000" i="1" dirty="0">
                <a:solidFill>
                  <a:schemeClr val="bg1"/>
                </a:solidFill>
                <a:latin typeface="Arial" panose="020B0604020202020204" pitchFamily="34" charset="0"/>
                <a:cs typeface="Arial" panose="020B0604020202020204" pitchFamily="34" charset="0"/>
              </a:rPr>
              <a:t>most definitely, </a:t>
            </a:r>
            <a:r>
              <a:rPr lang="en-CA" altLang="en-US" sz="2000" i="1" dirty="0" smtClean="0">
                <a:solidFill>
                  <a:schemeClr val="bg1"/>
                </a:solidFill>
                <a:latin typeface="Arial" panose="020B0604020202020204" pitchFamily="34" charset="0"/>
                <a:cs typeface="Arial" panose="020B0604020202020204" pitchFamily="34" charset="0"/>
              </a:rPr>
              <a:t/>
            </a:r>
            <a:br>
              <a:rPr lang="en-CA" altLang="en-US" sz="2000" i="1" dirty="0" smtClean="0">
                <a:solidFill>
                  <a:schemeClr val="bg1"/>
                </a:solidFill>
                <a:latin typeface="Arial" panose="020B0604020202020204" pitchFamily="34" charset="0"/>
                <a:cs typeface="Arial" panose="020B0604020202020204" pitchFamily="34" charset="0"/>
              </a:rPr>
            </a:br>
            <a:r>
              <a:rPr lang="en-CA" altLang="en-US" sz="2000" i="1" dirty="0" smtClean="0">
                <a:solidFill>
                  <a:schemeClr val="bg1"/>
                </a:solidFill>
                <a:latin typeface="Arial" panose="020B0604020202020204" pitchFamily="34" charset="0"/>
                <a:cs typeface="Arial" panose="020B0604020202020204" pitchFamily="34" charset="0"/>
              </a:rPr>
              <a:t>most of the </a:t>
            </a:r>
            <a:r>
              <a:rPr lang="en-CA" altLang="en-US" sz="2000" i="1" dirty="0">
                <a:solidFill>
                  <a:schemeClr val="bg1"/>
                </a:solidFill>
                <a:latin typeface="Arial" panose="020B0604020202020204" pitchFamily="34" charset="0"/>
                <a:cs typeface="Arial" panose="020B0604020202020204" pitchFamily="34" charset="0"/>
              </a:rPr>
              <a:t>time, aligned with </a:t>
            </a:r>
            <a:r>
              <a:rPr lang="en-CA" altLang="en-US" sz="2000" i="1" dirty="0" smtClean="0">
                <a:solidFill>
                  <a:schemeClr val="bg1"/>
                </a:solidFill>
                <a:latin typeface="Arial" panose="020B0604020202020204" pitchFamily="34" charset="0"/>
                <a:cs typeface="Arial" panose="020B0604020202020204" pitchFamily="34" charset="0"/>
              </a:rPr>
              <a:t/>
            </a:r>
            <a:br>
              <a:rPr lang="en-CA" altLang="en-US" sz="2000" i="1" dirty="0" smtClean="0">
                <a:solidFill>
                  <a:schemeClr val="bg1"/>
                </a:solidFill>
                <a:latin typeface="Arial" panose="020B0604020202020204" pitchFamily="34" charset="0"/>
                <a:cs typeface="Arial" panose="020B0604020202020204" pitchFamily="34" charset="0"/>
              </a:rPr>
            </a:br>
            <a:r>
              <a:rPr lang="en-CA" altLang="en-US" sz="2000" i="1" dirty="0" smtClean="0">
                <a:solidFill>
                  <a:schemeClr val="bg1"/>
                </a:solidFill>
                <a:latin typeface="Arial" panose="020B0604020202020204" pitchFamily="34" charset="0"/>
                <a:cs typeface="Arial" panose="020B0604020202020204" pitchFamily="34" charset="0"/>
              </a:rPr>
              <a:t>the corporate </a:t>
            </a:r>
            <a:r>
              <a:rPr lang="en-CA" altLang="en-US" sz="2000" i="1" dirty="0">
                <a:solidFill>
                  <a:schemeClr val="bg1"/>
                </a:solidFill>
                <a:latin typeface="Arial" panose="020B0604020202020204" pitchFamily="34" charset="0"/>
                <a:cs typeface="Arial" panose="020B0604020202020204" pitchFamily="34" charset="0"/>
              </a:rPr>
              <a:t>vision, values,</a:t>
            </a:r>
            <a:br>
              <a:rPr lang="en-CA" altLang="en-US" sz="2000" i="1" dirty="0">
                <a:solidFill>
                  <a:schemeClr val="bg1"/>
                </a:solidFill>
                <a:latin typeface="Arial" panose="020B0604020202020204" pitchFamily="34" charset="0"/>
                <a:cs typeface="Arial" panose="020B0604020202020204" pitchFamily="34" charset="0"/>
              </a:rPr>
            </a:br>
            <a:r>
              <a:rPr lang="en-CA" altLang="en-US" sz="2000" i="1" dirty="0">
                <a:solidFill>
                  <a:schemeClr val="bg1"/>
                </a:solidFill>
                <a:latin typeface="Arial" panose="020B0604020202020204" pitchFamily="34" charset="0"/>
                <a:cs typeface="Arial" panose="020B0604020202020204" pitchFamily="34" charset="0"/>
              </a:rPr>
              <a:t>and so on.   </a:t>
            </a: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smtClean="0">
                <a:ln>
                  <a:noFill/>
                </a:ln>
                <a:solidFill>
                  <a:srgbClr val="333399"/>
                </a:solidFill>
                <a:effectLst/>
                <a:uLnTx/>
                <a:uFillTx/>
                <a:latin typeface="Arial" panose="020B0604020202020204" pitchFamily="34" charset="0"/>
                <a:ea typeface="+mn-ea"/>
                <a:cs typeface="Arial" panose="020B0604020202020204" pitchFamily="34" charset="0"/>
              </a:rPr>
              <a:t>Are Vision, Mission,</a:t>
            </a:r>
            <a:r>
              <a:rPr kumimoji="0" lang="en-US" altLang="en-US" sz="2400" b="0" i="0" u="none" strike="noStrike" kern="1200" cap="none" spc="0" normalizeH="0" noProof="0" dirty="0" smtClean="0">
                <a:ln>
                  <a:noFill/>
                </a:ln>
                <a:solidFill>
                  <a:srgbClr val="333399"/>
                </a:solidFill>
                <a:effectLst/>
                <a:uLnTx/>
                <a:uFillTx/>
                <a:latin typeface="Arial" panose="020B0604020202020204" pitchFamily="34" charset="0"/>
                <a:ea typeface="+mn-ea"/>
                <a:cs typeface="Arial" panose="020B0604020202020204" pitchFamily="34" charset="0"/>
              </a:rPr>
              <a:t> Values</a:t>
            </a:r>
            <a:r>
              <a:rPr kumimoji="0" lang="en-US" altLang="en-US" sz="2400" b="0" i="0" u="none" strike="noStrike" kern="1200" cap="none" spc="0" normalizeH="0" baseline="0" noProof="0" dirty="0" smtClean="0">
                <a:ln>
                  <a:noFill/>
                </a:ln>
                <a:solidFill>
                  <a:srgbClr val="333399"/>
                </a:solidFill>
                <a:effectLst/>
                <a:uLnTx/>
                <a:uFillTx/>
                <a:latin typeface="Arial" panose="020B0604020202020204" pitchFamily="34" charset="0"/>
                <a:ea typeface="+mn-ea"/>
                <a:cs typeface="Arial" panose="020B0604020202020204" pitchFamily="34" charset="0"/>
              </a:rPr>
              <a:t> Aligned </a:t>
            </a:r>
            <a:r>
              <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with </a:t>
            </a:r>
            <a:r>
              <a:rPr kumimoji="0" lang="en-US" altLang="en-US" sz="2400" b="0" i="0" u="none" strike="noStrike" kern="1200" cap="none" spc="0" normalizeH="0" baseline="0" noProof="0" dirty="0" smtClean="0">
                <a:ln>
                  <a:noFill/>
                </a:ln>
                <a:solidFill>
                  <a:srgbClr val="333399"/>
                </a:solidFill>
                <a:effectLst/>
                <a:uLnTx/>
                <a:uFillTx/>
                <a:latin typeface="Arial" panose="020B0604020202020204" pitchFamily="34" charset="0"/>
                <a:ea typeface="+mn-ea"/>
                <a:cs typeface="Arial" panose="020B0604020202020204" pitchFamily="34" charset="0"/>
              </a:rPr>
              <a:t>the Actual Culture</a:t>
            </a:r>
            <a:r>
              <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11</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pic>
        <p:nvPicPr>
          <p:cNvPr id="6" name="Picture 5">
            <a:extLst>
              <a:ext uri="{FF2B5EF4-FFF2-40B4-BE49-F238E27FC236}">
                <a16:creationId xmlns:a16="http://schemas.microsoft.com/office/drawing/2014/main" id="{A6628CAD-B3E8-4C62-ADBF-EA3809CBEF6F}"/>
              </a:ext>
            </a:extLst>
          </p:cNvPr>
          <p:cNvPicPr preferRelativeResize="0">
            <a:picLocks/>
          </p:cNvPicPr>
          <p:nvPr/>
        </p:nvPicPr>
        <p:blipFill>
          <a:blip r:embed="rId3"/>
          <a:stretch>
            <a:fillRect/>
          </a:stretch>
        </p:blipFill>
        <p:spPr>
          <a:xfrm>
            <a:off x="4261064" y="2836652"/>
            <a:ext cx="4552336" cy="3319347"/>
          </a:xfrm>
          <a:prstGeom prst="rect">
            <a:avLst/>
          </a:prstGeom>
        </p:spPr>
      </p:pic>
      <p:sp>
        <p:nvSpPr>
          <p:cNvPr id="7" name="Up-Down Arrow 6">
            <a:extLst>
              <a:ext uri="{FF2B5EF4-FFF2-40B4-BE49-F238E27FC236}">
                <a16:creationId xmlns:a16="http://schemas.microsoft.com/office/drawing/2014/main" id="{CD8D00BE-3771-429C-B26E-CA75CB9A7359}"/>
              </a:ext>
            </a:extLst>
          </p:cNvPr>
          <p:cNvSpPr/>
          <p:nvPr/>
        </p:nvSpPr>
        <p:spPr>
          <a:xfrm>
            <a:off x="5869140" y="3313471"/>
            <a:ext cx="760576" cy="2179105"/>
          </a:xfrm>
          <a:prstGeom prst="upDownArrow">
            <a:avLst/>
          </a:prstGeom>
          <a:solidFill>
            <a:srgbClr val="FFFF00"/>
          </a:solidFill>
          <a:ln w="15875"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CA" sz="3600" b="1" i="0" u="none" strike="noStrike" kern="0" cap="none" spc="0" normalizeH="0" baseline="0" noProof="0" dirty="0">
                <a:ln>
                  <a:noFill/>
                </a:ln>
                <a:solidFill>
                  <a:prstClr val="black"/>
                </a:solidFill>
                <a:effectLst/>
                <a:uLnTx/>
                <a:uFillTx/>
                <a:latin typeface="Tw Cen MT" panose="020B0602020104020603"/>
                <a:ea typeface="+mn-ea"/>
                <a:cs typeface="Arial" panose="020B0604020202020204" pitchFamily="34" charset="0"/>
              </a:rPr>
              <a:t>?</a:t>
            </a:r>
          </a:p>
        </p:txBody>
      </p:sp>
      <p:sp>
        <p:nvSpPr>
          <p:cNvPr id="10" name="Google Shape;125;p2"/>
          <p:cNvSpPr/>
          <p:nvPr/>
        </p:nvSpPr>
        <p:spPr>
          <a:xfrm>
            <a:off x="2458387" y="6300000"/>
            <a:ext cx="5821613"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7.3: Organizational Design and Leadership : Culture : Performance</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3654758799"/>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defTabSz="914400" eaLnBrk="0" fontAlgn="base" hangingPunct="0">
              <a:lnSpc>
                <a:spcPct val="90000"/>
              </a:lnSpc>
              <a:spcBef>
                <a:spcPts val="0"/>
              </a:spcBef>
              <a:spcAft>
                <a:spcPct val="0"/>
              </a:spcAft>
              <a:buClrTx/>
              <a:buSzPct val="100000"/>
              <a:buNone/>
              <a:defRPr/>
            </a:pPr>
            <a:r>
              <a:rPr lang="en-CA" altLang="en-US" sz="1800" b="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Culture, an </a:t>
            </a:r>
            <a:r>
              <a:rPr lang="en-CA" altLang="en-US" sz="1800" b="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expressive </a:t>
            </a:r>
            <a:r>
              <a:rPr lang="en-CA" altLang="en-US" sz="1800" b="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definition: </a:t>
            </a:r>
            <a:r>
              <a:rPr lang="en-CA" altLang="en-US" sz="1800" b="1"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way we do work around here.”</a:t>
            </a:r>
          </a:p>
          <a:p>
            <a:pPr marL="360000" indent="-360000" defTabSz="914400" eaLnBrk="0" fontAlgn="base" hangingPunct="0">
              <a:lnSpc>
                <a:spcPct val="90000"/>
              </a:lnSpc>
              <a:spcBef>
                <a:spcPts val="0"/>
              </a:spcBef>
              <a:spcAft>
                <a:spcPct val="0"/>
              </a:spcAft>
              <a:buClrTx/>
              <a:buSzPct val="100000"/>
              <a:buFont typeface="Wingdings" panose="05000000000000000000" pitchFamily="2" charset="2"/>
              <a:buChar char="Ø"/>
              <a:defRPr/>
            </a:pPr>
            <a:r>
              <a:rPr lang="en-CA"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Different </a:t>
            </a:r>
            <a:r>
              <a:rPr lang="en-CA"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performance objectives </a:t>
            </a:r>
            <a:r>
              <a:rPr lang="en-CA"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(vision, etc. leading to the desired results) require </a:t>
            </a:r>
            <a:r>
              <a:rPr lang="en-CA"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different cultures.</a:t>
            </a:r>
          </a:p>
          <a:p>
            <a:pPr marL="360000" marR="0" lvl="0" indent="-360000" algn="l" defTabSz="914400" rtl="0" eaLnBrk="0" fontAlgn="base" latinLnBrk="0" hangingPunct="0">
              <a:lnSpc>
                <a:spcPct val="90000"/>
              </a:lnSpc>
              <a:spcBef>
                <a:spcPts val="0"/>
              </a:spcBef>
              <a:spcAft>
                <a:spcPct val="0"/>
              </a:spcAft>
              <a:buClrTx/>
              <a:buSzPct val="100000"/>
              <a:buFont typeface="Wingdings" panose="05000000000000000000" pitchFamily="2" charset="2"/>
              <a:buChar char="Ø"/>
              <a:tabLst/>
              <a:defRPr/>
            </a:pPr>
            <a:r>
              <a:rPr kumimoji="0" lang="en-CA"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 effectiveness of the</a:t>
            </a:r>
            <a:r>
              <a:rPr kumimoji="0" lang="en-CA" altLang="en-US" sz="1800"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t>
            </a:r>
            <a:r>
              <a:rPr kumimoji="0" lang="en-CA" altLang="en-US" sz="1800" b="0" i="0" u="sng"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culture</a:t>
            </a:r>
            <a:r>
              <a:rPr kumimoji="0" lang="en-CA"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t>
            </a:r>
            <a:r>
              <a:rPr kumimoji="0" lang="en-CA"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of the organization </a:t>
            </a:r>
            <a:r>
              <a:rPr kumimoji="0" lang="en-CA" altLang="en-US" sz="1800" b="0" i="0" u="sng"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determines performance</a:t>
            </a:r>
            <a:r>
              <a:rPr kumimoji="0" lang="en-CA"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of the organization. </a:t>
            </a:r>
          </a:p>
          <a:p>
            <a:pPr marL="360000" indent="-360000" defTabSz="914400" eaLnBrk="0" fontAlgn="base" hangingPunct="0">
              <a:lnSpc>
                <a:spcPct val="90000"/>
              </a:lnSpc>
              <a:spcBef>
                <a:spcPts val="0"/>
              </a:spcBef>
              <a:spcAft>
                <a:spcPct val="0"/>
              </a:spcAft>
              <a:buClrTx/>
              <a:buSzPct val="100000"/>
              <a:buFont typeface="Wingdings" panose="05000000000000000000" pitchFamily="2" charset="2"/>
              <a:buChar char="Ø"/>
              <a:defRPr/>
            </a:pPr>
            <a:endParaRPr lang="en-CA"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defTabSz="914400" eaLnBrk="0" fontAlgn="base" hangingPunct="0">
              <a:lnSpc>
                <a:spcPct val="90000"/>
              </a:lnSpc>
              <a:spcBef>
                <a:spcPts val="0"/>
              </a:spcBef>
              <a:spcAft>
                <a:spcPct val="0"/>
              </a:spcAft>
              <a:buClrTx/>
              <a:buSzPct val="100000"/>
              <a:buFont typeface="Wingdings" panose="05000000000000000000" pitchFamily="2" charset="2"/>
              <a:buChar char="Ø"/>
              <a:defRPr/>
            </a:pPr>
            <a:r>
              <a:rPr lang="en-CA"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Examples:</a:t>
            </a:r>
          </a:p>
          <a:p>
            <a:pPr marL="720000" indent="-360000" defTabSz="914400" eaLnBrk="0" fontAlgn="base" hangingPunct="0">
              <a:lnSpc>
                <a:spcPct val="90000"/>
              </a:lnSpc>
              <a:spcBef>
                <a:spcPts val="0"/>
              </a:spcBef>
              <a:spcAft>
                <a:spcPct val="0"/>
              </a:spcAft>
              <a:buClrTx/>
              <a:buSzPct val="100000"/>
              <a:buFont typeface="Wingdings" panose="05000000000000000000" pitchFamily="2" charset="2"/>
              <a:buChar char="Ø"/>
              <a:defRPr/>
            </a:pPr>
            <a:r>
              <a:rPr lang="en-CA"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Bottom-line </a:t>
            </a:r>
            <a:r>
              <a:rPr lang="en-CA"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results </a:t>
            </a:r>
            <a:r>
              <a:rPr lang="en-CA"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r>
            <a:br>
              <a:rPr lang="en-CA"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CA"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r>
              <a:rPr lang="en-CA"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profitability) </a:t>
            </a:r>
            <a:r>
              <a:rPr lang="en-CA"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 </a:t>
            </a:r>
            <a:br>
              <a:rPr lang="en-CA"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CA"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for-profit business. </a:t>
            </a:r>
          </a:p>
          <a:p>
            <a:pPr marL="720000" indent="-360000" defTabSz="914400" eaLnBrk="0" fontAlgn="base" hangingPunct="0">
              <a:lnSpc>
                <a:spcPct val="90000"/>
              </a:lnSpc>
              <a:spcBef>
                <a:spcPts val="0"/>
              </a:spcBef>
              <a:spcAft>
                <a:spcPct val="0"/>
              </a:spcAft>
              <a:buClrTx/>
              <a:buSzPct val="100000"/>
              <a:buFont typeface="Wingdings" panose="05000000000000000000" pitchFamily="2" charset="2"/>
              <a:buChar char="Ø"/>
              <a:defRPr/>
            </a:pPr>
            <a:r>
              <a:rPr lang="en-CA"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Create a safe and </a:t>
            </a:r>
            <a:br>
              <a:rPr lang="en-CA"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CA"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accepting learning</a:t>
            </a:r>
            <a:br>
              <a:rPr lang="en-CA"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CA"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environment … an </a:t>
            </a:r>
            <a:br>
              <a:rPr lang="en-CA"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CA"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institution of higher</a:t>
            </a:r>
            <a:br>
              <a:rPr lang="en-CA"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CA"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learning.</a:t>
            </a:r>
          </a:p>
          <a:p>
            <a:pPr marL="720000" indent="-360000" defTabSz="914400" eaLnBrk="0" fontAlgn="base" hangingPunct="0">
              <a:lnSpc>
                <a:spcPct val="90000"/>
              </a:lnSpc>
              <a:spcBef>
                <a:spcPts val="0"/>
              </a:spcBef>
              <a:spcAft>
                <a:spcPct val="0"/>
              </a:spcAft>
              <a:buClrTx/>
              <a:buSzPct val="100000"/>
              <a:buFont typeface="Wingdings" panose="05000000000000000000" pitchFamily="2" charset="2"/>
              <a:buChar char="Ø"/>
              <a:defRPr/>
            </a:pPr>
            <a:r>
              <a:rPr lang="en-CA"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Stewardship (care for)</a:t>
            </a:r>
            <a:br>
              <a:rPr lang="en-CA"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CA"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of the environment …</a:t>
            </a:r>
            <a:br>
              <a:rPr lang="en-CA"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CA"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an organization </a:t>
            </a:r>
            <a:br>
              <a:rPr lang="en-CA"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CA"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committed to protecting</a:t>
            </a:r>
            <a:br>
              <a:rPr lang="en-CA"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CA"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environment.</a:t>
            </a:r>
          </a:p>
          <a:p>
            <a:pPr marL="360000" marR="0" lvl="0" indent="-360000" algn="l" defTabSz="914400" rtl="0" eaLnBrk="0" fontAlgn="base" latinLnBrk="0" hangingPunct="0">
              <a:lnSpc>
                <a:spcPct val="90000"/>
              </a:lnSpc>
              <a:spcBef>
                <a:spcPts val="0"/>
              </a:spcBef>
              <a:spcAft>
                <a:spcPct val="0"/>
              </a:spcAft>
              <a:buClrTx/>
              <a:buSzPct val="100000"/>
              <a:buFont typeface="Wingdings" panose="05000000000000000000" pitchFamily="2" charset="2"/>
              <a:buChar char="Ø"/>
              <a:tabLst/>
              <a:defRPr/>
            </a:pPr>
            <a:endParaRPr kumimoji="0" lang="en-CA" altLang="en-US" sz="1800" b="0" i="1"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smtClean="0">
                <a:ln>
                  <a:noFill/>
                </a:ln>
                <a:solidFill>
                  <a:srgbClr val="333399"/>
                </a:solidFill>
                <a:effectLst/>
                <a:uLnTx/>
                <a:uFillTx/>
                <a:latin typeface="Arial" panose="020B0604020202020204" pitchFamily="34" charset="0"/>
                <a:ea typeface="+mn-ea"/>
                <a:cs typeface="Arial" panose="020B0604020202020204" pitchFamily="34" charset="0"/>
              </a:rPr>
              <a:t>A Further Exploration of Organizational Culture:</a:t>
            </a:r>
            <a:endPar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12</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pic>
        <p:nvPicPr>
          <p:cNvPr id="7" name="Picture 6">
            <a:extLst>
              <a:ext uri="{FF2B5EF4-FFF2-40B4-BE49-F238E27FC236}">
                <a16:creationId xmlns:a16="http://schemas.microsoft.com/office/drawing/2014/main" id="{75CA948F-83CF-44E9-BC63-9A20D4C0691B}"/>
              </a:ext>
            </a:extLst>
          </p:cNvPr>
          <p:cNvPicPr>
            <a:picLocks noChangeAspect="1"/>
          </p:cNvPicPr>
          <p:nvPr/>
        </p:nvPicPr>
        <p:blipFill>
          <a:blip r:embed="rId3"/>
          <a:stretch>
            <a:fillRect/>
          </a:stretch>
        </p:blipFill>
        <p:spPr>
          <a:xfrm>
            <a:off x="3807906" y="2117206"/>
            <a:ext cx="5040000" cy="3528000"/>
          </a:xfrm>
          <a:prstGeom prst="rect">
            <a:avLst/>
          </a:prstGeom>
        </p:spPr>
      </p:pic>
      <p:sp>
        <p:nvSpPr>
          <p:cNvPr id="10" name="AutoShape 8">
            <a:extLst>
              <a:ext uri="{FF2B5EF4-FFF2-40B4-BE49-F238E27FC236}">
                <a16:creationId xmlns:a16="http://schemas.microsoft.com/office/drawing/2014/main" id="{01B075F1-37F9-4891-B261-01487ECF0A4C}"/>
              </a:ext>
            </a:extLst>
          </p:cNvPr>
          <p:cNvSpPr>
            <a:spLocks noChangeArrowheads="1"/>
          </p:cNvSpPr>
          <p:nvPr/>
        </p:nvSpPr>
        <p:spPr bwMode="auto">
          <a:xfrm flipH="1">
            <a:off x="4489070" y="4448198"/>
            <a:ext cx="1318767" cy="872454"/>
          </a:xfrm>
          <a:custGeom>
            <a:avLst/>
            <a:gdLst>
              <a:gd name="T0" fmla="*/ 80524953 w 21600"/>
              <a:gd name="T1" fmla="*/ 0 h 21600"/>
              <a:gd name="T2" fmla="*/ 42496200 w 21600"/>
              <a:gd name="T3" fmla="*/ 18887200 h 21600"/>
              <a:gd name="T4" fmla="*/ 0 w 21600"/>
              <a:gd name="T5" fmla="*/ 44284794 h 21600"/>
              <a:gd name="T6" fmla="*/ 47902209 w 21600"/>
              <a:gd name="T7" fmla="*/ 52688067 h 21600"/>
              <a:gd name="T8" fmla="*/ 95804493 w 21600"/>
              <a:gd name="T9" fmla="*/ 38030531 h 21600"/>
              <a:gd name="T10" fmla="*/ 118548150 w 21600"/>
              <a:gd name="T11" fmla="*/ 18887200 h 21600"/>
              <a:gd name="T12" fmla="*/ 17694720 60000 65536"/>
              <a:gd name="T13" fmla="*/ 11796480 60000 65536"/>
              <a:gd name="T14" fmla="*/ 11796480 60000 65536"/>
              <a:gd name="T15" fmla="*/ 5898240 60000 65536"/>
              <a:gd name="T16" fmla="*/ 0 60000 65536"/>
              <a:gd name="T17" fmla="*/ 0 60000 65536"/>
              <a:gd name="T18" fmla="*/ 0 w 21600"/>
              <a:gd name="T19" fmla="*/ 14709 h 21600"/>
              <a:gd name="T20" fmla="*/ 17456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4672" y="0"/>
                </a:moveTo>
                <a:lnTo>
                  <a:pt x="7743" y="7743"/>
                </a:lnTo>
                <a:lnTo>
                  <a:pt x="11887" y="7743"/>
                </a:lnTo>
                <a:lnTo>
                  <a:pt x="11887" y="14709"/>
                </a:lnTo>
                <a:lnTo>
                  <a:pt x="0" y="14709"/>
                </a:lnTo>
                <a:lnTo>
                  <a:pt x="0" y="21600"/>
                </a:lnTo>
                <a:lnTo>
                  <a:pt x="17456" y="21600"/>
                </a:lnTo>
                <a:lnTo>
                  <a:pt x="17456" y="7743"/>
                </a:lnTo>
                <a:lnTo>
                  <a:pt x="21600" y="7743"/>
                </a:lnTo>
                <a:lnTo>
                  <a:pt x="14672" y="0"/>
                </a:lnTo>
                <a:close/>
              </a:path>
            </a:pathLst>
          </a:custGeom>
          <a:solidFill>
            <a:srgbClr val="FF0000"/>
          </a:solidFill>
          <a:ln w="38100">
            <a:solidFill>
              <a:sysClr val="windowText" lastClr="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Tw Cen MT" panose="020B0602020104020603"/>
            </a:endParaRPr>
          </a:p>
        </p:txBody>
      </p:sp>
      <p:sp>
        <p:nvSpPr>
          <p:cNvPr id="14" name="Google Shape;125;p2"/>
          <p:cNvSpPr/>
          <p:nvPr/>
        </p:nvSpPr>
        <p:spPr>
          <a:xfrm>
            <a:off x="2458387" y="6300000"/>
            <a:ext cx="5821613"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7.3: Organizational Design and Leadership : Culture : Performance</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
        <p:nvSpPr>
          <p:cNvPr id="13" name="AutoShape 8">
            <a:extLst>
              <a:ext uri="{FF2B5EF4-FFF2-40B4-BE49-F238E27FC236}">
                <a16:creationId xmlns:a16="http://schemas.microsoft.com/office/drawing/2014/main" id="{01B075F1-37F9-4891-B261-01487ECF0A4C}"/>
              </a:ext>
            </a:extLst>
          </p:cNvPr>
          <p:cNvSpPr>
            <a:spLocks noChangeArrowheads="1"/>
          </p:cNvSpPr>
          <p:nvPr/>
        </p:nvSpPr>
        <p:spPr bwMode="auto">
          <a:xfrm rot="16200000" flipH="1">
            <a:off x="7038066" y="4429669"/>
            <a:ext cx="878569" cy="1307857"/>
          </a:xfrm>
          <a:custGeom>
            <a:avLst/>
            <a:gdLst>
              <a:gd name="T0" fmla="*/ 80524953 w 21600"/>
              <a:gd name="T1" fmla="*/ 0 h 21600"/>
              <a:gd name="T2" fmla="*/ 42496200 w 21600"/>
              <a:gd name="T3" fmla="*/ 18887200 h 21600"/>
              <a:gd name="T4" fmla="*/ 0 w 21600"/>
              <a:gd name="T5" fmla="*/ 44284794 h 21600"/>
              <a:gd name="T6" fmla="*/ 47902209 w 21600"/>
              <a:gd name="T7" fmla="*/ 52688067 h 21600"/>
              <a:gd name="T8" fmla="*/ 95804493 w 21600"/>
              <a:gd name="T9" fmla="*/ 38030531 h 21600"/>
              <a:gd name="T10" fmla="*/ 118548150 w 21600"/>
              <a:gd name="T11" fmla="*/ 18887200 h 21600"/>
              <a:gd name="T12" fmla="*/ 17694720 60000 65536"/>
              <a:gd name="T13" fmla="*/ 11796480 60000 65536"/>
              <a:gd name="T14" fmla="*/ 11796480 60000 65536"/>
              <a:gd name="T15" fmla="*/ 5898240 60000 65536"/>
              <a:gd name="T16" fmla="*/ 0 60000 65536"/>
              <a:gd name="T17" fmla="*/ 0 60000 65536"/>
              <a:gd name="T18" fmla="*/ 0 w 21600"/>
              <a:gd name="T19" fmla="*/ 14709 h 21600"/>
              <a:gd name="T20" fmla="*/ 17456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4672" y="0"/>
                </a:moveTo>
                <a:lnTo>
                  <a:pt x="7743" y="7743"/>
                </a:lnTo>
                <a:lnTo>
                  <a:pt x="11887" y="7743"/>
                </a:lnTo>
                <a:lnTo>
                  <a:pt x="11887" y="14709"/>
                </a:lnTo>
                <a:lnTo>
                  <a:pt x="0" y="14709"/>
                </a:lnTo>
                <a:lnTo>
                  <a:pt x="0" y="21600"/>
                </a:lnTo>
                <a:lnTo>
                  <a:pt x="17456" y="21600"/>
                </a:lnTo>
                <a:lnTo>
                  <a:pt x="17456" y="7743"/>
                </a:lnTo>
                <a:lnTo>
                  <a:pt x="21600" y="7743"/>
                </a:lnTo>
                <a:lnTo>
                  <a:pt x="14672" y="0"/>
                </a:lnTo>
                <a:close/>
              </a:path>
            </a:pathLst>
          </a:custGeom>
          <a:solidFill>
            <a:srgbClr val="FF0000"/>
          </a:solidFill>
          <a:ln w="38100">
            <a:solidFill>
              <a:sysClr val="windowText" lastClr="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Tw Cen MT" panose="020B0602020104020603"/>
            </a:endParaRPr>
          </a:p>
        </p:txBody>
      </p:sp>
    </p:spTree>
    <p:extLst>
      <p:ext uri="{BB962C8B-B14F-4D97-AF65-F5344CB8AC3E}">
        <p14:creationId xmlns:p14="http://schemas.microsoft.com/office/powerpoint/2010/main" val="3296709067"/>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defTabSz="914400" fontAlgn="base">
              <a:lnSpc>
                <a:spcPct val="100000"/>
              </a:lnSpc>
              <a:spcBef>
                <a:spcPct val="0"/>
              </a:spcBef>
              <a:spcAft>
                <a:spcPct val="0"/>
              </a:spcAft>
              <a:buClrTx/>
              <a:buNone/>
              <a:defRPr/>
            </a:pPr>
            <a:r>
              <a:rPr lang="en-US" altLang="en-US" sz="2400" dirty="0">
                <a:solidFill>
                  <a:srgbClr val="333399"/>
                </a:solidFill>
                <a:latin typeface="Arial" panose="020B0604020202020204" pitchFamily="34" charset="0"/>
                <a:cs typeface="Arial" panose="020B0604020202020204" pitchFamily="34" charset="0"/>
              </a:rPr>
              <a:t>We Can </a:t>
            </a:r>
            <a:r>
              <a:rPr lang="en-US" altLang="en-US" sz="2400" dirty="0" smtClean="0">
                <a:solidFill>
                  <a:srgbClr val="333399"/>
                </a:solidFill>
                <a:latin typeface="Arial" panose="020B0604020202020204" pitchFamily="34" charset="0"/>
                <a:cs typeface="Arial" panose="020B0604020202020204" pitchFamily="34" charset="0"/>
              </a:rPr>
              <a:t>Explain This Model in Terms We Already know:</a:t>
            </a:r>
            <a:endPar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13</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pic>
        <p:nvPicPr>
          <p:cNvPr id="7" name="Picture 6">
            <a:extLst>
              <a:ext uri="{FF2B5EF4-FFF2-40B4-BE49-F238E27FC236}">
                <a16:creationId xmlns:a16="http://schemas.microsoft.com/office/drawing/2014/main" id="{AB93719E-5056-4A33-9A46-12B554B5F7FC}"/>
              </a:ext>
            </a:extLst>
          </p:cNvPr>
          <p:cNvPicPr>
            <a:picLocks/>
          </p:cNvPicPr>
          <p:nvPr/>
        </p:nvPicPr>
        <p:blipFill>
          <a:blip r:embed="rId3"/>
          <a:stretch>
            <a:fillRect/>
          </a:stretch>
        </p:blipFill>
        <p:spPr>
          <a:xfrm>
            <a:off x="540000" y="864000"/>
            <a:ext cx="7920000" cy="4500000"/>
          </a:xfrm>
          <a:prstGeom prst="rect">
            <a:avLst/>
          </a:prstGeom>
        </p:spPr>
      </p:pic>
      <p:sp>
        <p:nvSpPr>
          <p:cNvPr id="14" name="Google Shape;125;p2"/>
          <p:cNvSpPr/>
          <p:nvPr/>
        </p:nvSpPr>
        <p:spPr>
          <a:xfrm>
            <a:off x="2458387" y="6300000"/>
            <a:ext cx="5821613"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7.3: Organizational Design and Leadership : Culture : Performance</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
        <p:nvSpPr>
          <p:cNvPr id="2" name="Right Arrow 1"/>
          <p:cNvSpPr/>
          <p:nvPr/>
        </p:nvSpPr>
        <p:spPr>
          <a:xfrm>
            <a:off x="4036142" y="3038168"/>
            <a:ext cx="1981200" cy="1189704"/>
          </a:xfrm>
          <a:prstGeom prst="rightArrow">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Administrative Controls</a:t>
            </a:r>
            <a:endParaRPr lang="en-US" dirty="0">
              <a:solidFill>
                <a:schemeClr val="tx1"/>
              </a:solidFill>
            </a:endParaRPr>
          </a:p>
        </p:txBody>
      </p:sp>
      <p:sp>
        <p:nvSpPr>
          <p:cNvPr id="13" name="Up Arrow 12"/>
          <p:cNvSpPr/>
          <p:nvPr/>
        </p:nvSpPr>
        <p:spPr>
          <a:xfrm>
            <a:off x="1935522" y="5057728"/>
            <a:ext cx="4709652" cy="1134272"/>
          </a:xfrm>
          <a:prstGeom prst="upArrow">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Work Practices</a:t>
            </a:r>
            <a:br>
              <a:rPr lang="en-US" dirty="0" smtClean="0">
                <a:solidFill>
                  <a:schemeClr val="tx1"/>
                </a:solidFill>
              </a:rPr>
            </a:br>
            <a:r>
              <a:rPr lang="en-US" i="1" dirty="0" smtClean="0">
                <a:solidFill>
                  <a:schemeClr val="tx1"/>
                </a:solidFill>
              </a:rPr>
              <a:t>“The way we do work around here”</a:t>
            </a:r>
            <a:endParaRPr lang="en-US" i="1" dirty="0">
              <a:solidFill>
                <a:schemeClr val="tx1"/>
              </a:solidFill>
            </a:endParaRPr>
          </a:p>
        </p:txBody>
      </p:sp>
    </p:spTree>
    <p:extLst>
      <p:ext uri="{BB962C8B-B14F-4D97-AF65-F5344CB8AC3E}">
        <p14:creationId xmlns:p14="http://schemas.microsoft.com/office/powerpoint/2010/main" val="699799043"/>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lvl="0" indent="0" defTabSz="914400" eaLnBrk="0" fontAlgn="base" hangingPunct="0">
              <a:lnSpc>
                <a:spcPct val="100000"/>
              </a:lnSpc>
              <a:spcBef>
                <a:spcPts val="0"/>
              </a:spcBef>
              <a:spcAft>
                <a:spcPct val="0"/>
              </a:spcAft>
              <a:buClrTx/>
              <a:buSzPct val="100000"/>
              <a:buNone/>
              <a:defRPr/>
            </a:pPr>
            <a:r>
              <a:rPr kumimoji="0" lang="en-CA" altLang="en-US" sz="2000" b="1"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Administrative</a:t>
            </a:r>
            <a:r>
              <a:rPr kumimoji="0" lang="en-CA" altLang="en-US" sz="2000" b="1"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t>
            </a:r>
            <a:r>
              <a:rPr lang="en-CA" altLang="en-US" b="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Controls</a:t>
            </a:r>
            <a:r>
              <a:rPr kumimoji="0" lang="en-CA" altLang="en-US" sz="2000" b="1"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t>
            </a:r>
          </a:p>
          <a:p>
            <a:pPr marL="360000" lvl="0" indent="-360000" defTabSz="914400" eaLnBrk="0" fontAlgn="base" hangingPunct="0">
              <a:lnSpc>
                <a:spcPct val="100000"/>
              </a:lnSpc>
              <a:spcBef>
                <a:spcPts val="0"/>
              </a:spcBef>
              <a:spcAft>
                <a:spcPct val="0"/>
              </a:spcAft>
              <a:buClrTx/>
              <a:buSzPct val="100000"/>
              <a:buFont typeface="Wingdings" panose="05000000000000000000" pitchFamily="2" charset="2"/>
              <a:buChar char="Ø"/>
              <a:defRPr/>
            </a:pPr>
            <a:r>
              <a:rPr kumimoji="0" lang="en-CA" altLang="en-US" sz="2000"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Aka “standards” i.e. documents</a:t>
            </a:r>
            <a:r>
              <a:rPr lang="en-CA"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r>
              <a:rPr kumimoji="0" lang="en-CA" altLang="en-US" sz="2000"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such as </a:t>
            </a: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policies</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t>
            </a: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work processes, procedures</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t>
            </a: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specifications, etc. that establish </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(set the standard for) and reflect the organization’s culture, and capture their aspirational goals.</a:t>
            </a: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defTabSz="914400" fontAlgn="base">
              <a:lnSpc>
                <a:spcPct val="100000"/>
              </a:lnSpc>
              <a:spcBef>
                <a:spcPct val="0"/>
              </a:spcBef>
              <a:spcAft>
                <a:spcPct val="0"/>
              </a:spcAft>
              <a:buClrTx/>
              <a:buNone/>
              <a:defRPr/>
            </a:pPr>
            <a:r>
              <a:rPr kumimoji="0" lang="en-US" altLang="en-US" sz="2400" b="0" i="0" u="none" strike="noStrike" kern="1200" cap="none" spc="0" normalizeH="0" baseline="0" noProof="0" dirty="0" smtClean="0">
                <a:ln>
                  <a:noFill/>
                </a:ln>
                <a:solidFill>
                  <a:srgbClr val="333399"/>
                </a:solidFill>
                <a:effectLst/>
                <a:uLnTx/>
                <a:uFillTx/>
                <a:latin typeface="Arial" panose="020B0604020202020204" pitchFamily="34" charset="0"/>
                <a:ea typeface="+mn-ea"/>
                <a:cs typeface="Arial" panose="020B0604020202020204" pitchFamily="34" charset="0"/>
              </a:rPr>
              <a:t>The Supporting </a:t>
            </a:r>
            <a:r>
              <a:rPr lang="en-US" altLang="en-US" sz="2400" dirty="0" smtClean="0">
                <a:solidFill>
                  <a:srgbClr val="333399"/>
                </a:solidFill>
                <a:latin typeface="Arial" panose="020B0604020202020204" pitchFamily="34" charset="0"/>
                <a:cs typeface="Arial" panose="020B0604020202020204" pitchFamily="34" charset="0"/>
              </a:rPr>
              <a:t>Administrative Controls:</a:t>
            </a:r>
            <a:endPar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14</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4" name="Google Shape;125;p2"/>
          <p:cNvSpPr/>
          <p:nvPr/>
        </p:nvSpPr>
        <p:spPr>
          <a:xfrm>
            <a:off x="2458387" y="6300000"/>
            <a:ext cx="5821613"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7.3: Organizational Design and Leadership : Culture : Performance</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pic>
        <p:nvPicPr>
          <p:cNvPr id="13" name="Picture 12">
            <a:extLst>
              <a:ext uri="{FF2B5EF4-FFF2-40B4-BE49-F238E27FC236}">
                <a16:creationId xmlns:a16="http://schemas.microsoft.com/office/drawing/2014/main" id="{75CA948F-83CF-44E9-BC63-9A20D4C0691B}"/>
              </a:ext>
            </a:extLst>
          </p:cNvPr>
          <p:cNvPicPr>
            <a:picLocks noChangeAspect="1"/>
          </p:cNvPicPr>
          <p:nvPr/>
        </p:nvPicPr>
        <p:blipFill>
          <a:blip r:embed="rId3"/>
          <a:stretch>
            <a:fillRect/>
          </a:stretch>
        </p:blipFill>
        <p:spPr>
          <a:xfrm>
            <a:off x="3807906" y="2117206"/>
            <a:ext cx="5040000" cy="3528000"/>
          </a:xfrm>
          <a:prstGeom prst="rect">
            <a:avLst/>
          </a:prstGeom>
        </p:spPr>
      </p:pic>
      <p:sp>
        <p:nvSpPr>
          <p:cNvPr id="17" name="Right Arrow 16"/>
          <p:cNvSpPr/>
          <p:nvPr/>
        </p:nvSpPr>
        <p:spPr>
          <a:xfrm>
            <a:off x="5614218" y="3512170"/>
            <a:ext cx="1622323" cy="1066518"/>
          </a:xfrm>
          <a:prstGeom prst="rightArrow">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solidFill>
                  <a:schemeClr val="tx1"/>
                </a:solidFill>
              </a:rPr>
              <a:t>Administrative Controls</a:t>
            </a:r>
            <a:endParaRPr lang="en-US" sz="1400" dirty="0">
              <a:solidFill>
                <a:schemeClr val="tx1"/>
              </a:solidFill>
            </a:endParaRPr>
          </a:p>
        </p:txBody>
      </p:sp>
    </p:spTree>
    <p:extLst>
      <p:ext uri="{BB962C8B-B14F-4D97-AF65-F5344CB8AC3E}">
        <p14:creationId xmlns:p14="http://schemas.microsoft.com/office/powerpoint/2010/main" val="3075927787"/>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lvl="0" indent="0" defTabSz="914400" eaLnBrk="0" fontAlgn="base" hangingPunct="0">
              <a:lnSpc>
                <a:spcPct val="100000"/>
              </a:lnSpc>
              <a:spcBef>
                <a:spcPts val="0"/>
              </a:spcBef>
              <a:spcAft>
                <a:spcPct val="0"/>
              </a:spcAft>
              <a:buClrTx/>
              <a:buSzPct val="100000"/>
              <a:buNone/>
              <a:defRPr/>
            </a:pPr>
            <a:r>
              <a:rPr kumimoji="0" lang="en-CA" altLang="en-US" sz="2000" b="1"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Work Practices: </a:t>
            </a:r>
          </a:p>
          <a:p>
            <a:pPr marL="360000" lvl="0" indent="-360000" defTabSz="914400" eaLnBrk="0" fontAlgn="base" hangingPunct="0">
              <a:lnSpc>
                <a:spcPct val="100000"/>
              </a:lnSpc>
              <a:spcBef>
                <a:spcPts val="0"/>
              </a:spcBef>
              <a:spcAft>
                <a:spcPct val="0"/>
              </a:spcAft>
              <a:buClrTx/>
              <a:buSzPct val="100000"/>
              <a:buFont typeface="Wingdings" panose="05000000000000000000" pitchFamily="2" charset="2"/>
              <a:buChar char="Ø"/>
              <a:defRPr/>
            </a:pP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 </a:t>
            </a:r>
            <a:r>
              <a:rPr kumimoji="0" lang="en-CA" altLang="en-US" sz="2000" b="0" i="0" u="sng"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actual execution of those administrative controls</a:t>
            </a: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t>
            </a:r>
            <a:r>
              <a:rPr kumimoji="0" lang="en-CA" altLang="en-US" sz="2000"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in other words, “how we do work around here”, and </a:t>
            </a:r>
          </a:p>
          <a:p>
            <a:pPr marL="360000" lvl="0" indent="-360000" defTabSz="914400" eaLnBrk="0" fontAlgn="base" hangingPunct="0">
              <a:lnSpc>
                <a:spcPct val="100000"/>
              </a:lnSpc>
              <a:spcBef>
                <a:spcPts val="0"/>
              </a:spcBef>
              <a:spcAft>
                <a:spcPct val="0"/>
              </a:spcAft>
              <a:buClrTx/>
              <a:buSzPct val="100000"/>
              <a:buFont typeface="Wingdings" panose="05000000000000000000" pitchFamily="2" charset="2"/>
              <a:buChar char="Ø"/>
              <a:defRPr/>
            </a:pPr>
            <a:r>
              <a:rPr lang="en-CA"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M</a:t>
            </a:r>
            <a:r>
              <a:rPr kumimoji="0" lang="en-CA" altLang="en-US" sz="2000"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ore truly reflect the culture of the organization</a:t>
            </a: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t>
            </a: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defTabSz="914400" fontAlgn="base">
              <a:lnSpc>
                <a:spcPct val="100000"/>
              </a:lnSpc>
              <a:spcBef>
                <a:spcPct val="0"/>
              </a:spcBef>
              <a:spcAft>
                <a:spcPct val="0"/>
              </a:spcAft>
              <a:buClrTx/>
              <a:buNone/>
              <a:defRPr/>
            </a:pPr>
            <a:r>
              <a:rPr kumimoji="0" lang="en-US" altLang="en-US" sz="2400" b="0" i="0" u="none" strike="noStrike" kern="1200" cap="none" spc="0" normalizeH="0" baseline="0" noProof="0" dirty="0" smtClean="0">
                <a:ln>
                  <a:noFill/>
                </a:ln>
                <a:solidFill>
                  <a:srgbClr val="333399"/>
                </a:solidFill>
                <a:effectLst/>
                <a:uLnTx/>
                <a:uFillTx/>
                <a:latin typeface="Arial" panose="020B0604020202020204" pitchFamily="34" charset="0"/>
                <a:ea typeface="+mn-ea"/>
                <a:cs typeface="Arial" panose="020B0604020202020204" pitchFamily="34" charset="0"/>
              </a:rPr>
              <a:t>The Work Practices</a:t>
            </a:r>
            <a:r>
              <a:rPr lang="en-US" altLang="en-US" sz="2400" dirty="0" smtClean="0">
                <a:solidFill>
                  <a:srgbClr val="333399"/>
                </a:solidFill>
                <a:latin typeface="Arial" panose="020B0604020202020204" pitchFamily="34" charset="0"/>
                <a:cs typeface="Arial" panose="020B0604020202020204" pitchFamily="34" charset="0"/>
              </a:rPr>
              <a:t>:</a:t>
            </a:r>
            <a:endPar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15</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4" name="Google Shape;125;p2"/>
          <p:cNvSpPr/>
          <p:nvPr/>
        </p:nvSpPr>
        <p:spPr>
          <a:xfrm>
            <a:off x="2458387" y="6300000"/>
            <a:ext cx="5821613"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7.3: Organizational Design and Leadership : Culture : Performance</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pic>
        <p:nvPicPr>
          <p:cNvPr id="13" name="Picture 12">
            <a:extLst>
              <a:ext uri="{FF2B5EF4-FFF2-40B4-BE49-F238E27FC236}">
                <a16:creationId xmlns:a16="http://schemas.microsoft.com/office/drawing/2014/main" id="{75CA948F-83CF-44E9-BC63-9A20D4C0691B}"/>
              </a:ext>
            </a:extLst>
          </p:cNvPr>
          <p:cNvPicPr>
            <a:picLocks noChangeAspect="1"/>
          </p:cNvPicPr>
          <p:nvPr/>
        </p:nvPicPr>
        <p:blipFill>
          <a:blip r:embed="rId3"/>
          <a:stretch>
            <a:fillRect/>
          </a:stretch>
        </p:blipFill>
        <p:spPr>
          <a:xfrm>
            <a:off x="3807906" y="2117206"/>
            <a:ext cx="5040000" cy="3528000"/>
          </a:xfrm>
          <a:prstGeom prst="rect">
            <a:avLst/>
          </a:prstGeom>
        </p:spPr>
      </p:pic>
      <p:sp>
        <p:nvSpPr>
          <p:cNvPr id="15" name="AutoShape 8">
            <a:extLst>
              <a:ext uri="{FF2B5EF4-FFF2-40B4-BE49-F238E27FC236}">
                <a16:creationId xmlns:a16="http://schemas.microsoft.com/office/drawing/2014/main" id="{01B075F1-37F9-4891-B261-01487ECF0A4C}"/>
              </a:ext>
            </a:extLst>
          </p:cNvPr>
          <p:cNvSpPr>
            <a:spLocks noChangeArrowheads="1"/>
          </p:cNvSpPr>
          <p:nvPr/>
        </p:nvSpPr>
        <p:spPr bwMode="auto">
          <a:xfrm rot="16200000" flipH="1">
            <a:off x="7038066" y="4429669"/>
            <a:ext cx="878569" cy="1307857"/>
          </a:xfrm>
          <a:custGeom>
            <a:avLst/>
            <a:gdLst>
              <a:gd name="T0" fmla="*/ 80524953 w 21600"/>
              <a:gd name="T1" fmla="*/ 0 h 21600"/>
              <a:gd name="T2" fmla="*/ 42496200 w 21600"/>
              <a:gd name="T3" fmla="*/ 18887200 h 21600"/>
              <a:gd name="T4" fmla="*/ 0 w 21600"/>
              <a:gd name="T5" fmla="*/ 44284794 h 21600"/>
              <a:gd name="T6" fmla="*/ 47902209 w 21600"/>
              <a:gd name="T7" fmla="*/ 52688067 h 21600"/>
              <a:gd name="T8" fmla="*/ 95804493 w 21600"/>
              <a:gd name="T9" fmla="*/ 38030531 h 21600"/>
              <a:gd name="T10" fmla="*/ 118548150 w 21600"/>
              <a:gd name="T11" fmla="*/ 18887200 h 21600"/>
              <a:gd name="T12" fmla="*/ 17694720 60000 65536"/>
              <a:gd name="T13" fmla="*/ 11796480 60000 65536"/>
              <a:gd name="T14" fmla="*/ 11796480 60000 65536"/>
              <a:gd name="T15" fmla="*/ 5898240 60000 65536"/>
              <a:gd name="T16" fmla="*/ 0 60000 65536"/>
              <a:gd name="T17" fmla="*/ 0 60000 65536"/>
              <a:gd name="T18" fmla="*/ 0 w 21600"/>
              <a:gd name="T19" fmla="*/ 14709 h 21600"/>
              <a:gd name="T20" fmla="*/ 17456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4672" y="0"/>
                </a:moveTo>
                <a:lnTo>
                  <a:pt x="7743" y="7743"/>
                </a:lnTo>
                <a:lnTo>
                  <a:pt x="11887" y="7743"/>
                </a:lnTo>
                <a:lnTo>
                  <a:pt x="11887" y="14709"/>
                </a:lnTo>
                <a:lnTo>
                  <a:pt x="0" y="14709"/>
                </a:lnTo>
                <a:lnTo>
                  <a:pt x="0" y="21600"/>
                </a:lnTo>
                <a:lnTo>
                  <a:pt x="17456" y="21600"/>
                </a:lnTo>
                <a:lnTo>
                  <a:pt x="17456" y="7743"/>
                </a:lnTo>
                <a:lnTo>
                  <a:pt x="21600" y="7743"/>
                </a:lnTo>
                <a:lnTo>
                  <a:pt x="14672" y="0"/>
                </a:lnTo>
                <a:close/>
              </a:path>
            </a:pathLst>
          </a:custGeom>
          <a:solidFill>
            <a:srgbClr val="FF0000"/>
          </a:solidFill>
          <a:ln w="38100">
            <a:solidFill>
              <a:sysClr val="windowText" lastClr="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Tw Cen MT" panose="020B0602020104020603"/>
            </a:endParaRPr>
          </a:p>
        </p:txBody>
      </p:sp>
      <p:sp>
        <p:nvSpPr>
          <p:cNvPr id="17" name="Right Arrow 16"/>
          <p:cNvSpPr/>
          <p:nvPr/>
        </p:nvSpPr>
        <p:spPr>
          <a:xfrm>
            <a:off x="5614218" y="3512170"/>
            <a:ext cx="1622323" cy="1066518"/>
          </a:xfrm>
          <a:prstGeom prst="rightArrow">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solidFill>
                  <a:schemeClr val="tx1"/>
                </a:solidFill>
              </a:rPr>
              <a:t>Administrative Controls</a:t>
            </a:r>
            <a:endParaRPr lang="en-US" sz="1400" dirty="0">
              <a:solidFill>
                <a:schemeClr val="tx1"/>
              </a:solidFill>
            </a:endParaRPr>
          </a:p>
        </p:txBody>
      </p:sp>
      <p:sp>
        <p:nvSpPr>
          <p:cNvPr id="10" name="Up Arrow 9"/>
          <p:cNvSpPr/>
          <p:nvPr/>
        </p:nvSpPr>
        <p:spPr>
          <a:xfrm>
            <a:off x="4295264" y="5345045"/>
            <a:ext cx="3678696" cy="833419"/>
          </a:xfrm>
          <a:prstGeom prst="upArrow">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solidFill>
                  <a:schemeClr val="tx1"/>
                </a:solidFill>
              </a:rPr>
              <a:t>Work Practices</a:t>
            </a:r>
            <a:br>
              <a:rPr lang="en-US" sz="1400" dirty="0" smtClean="0">
                <a:solidFill>
                  <a:schemeClr val="tx1"/>
                </a:solidFill>
              </a:rPr>
            </a:br>
            <a:r>
              <a:rPr lang="en-US" sz="1400" i="1" dirty="0" smtClean="0">
                <a:solidFill>
                  <a:schemeClr val="tx1"/>
                </a:solidFill>
              </a:rPr>
              <a:t>“The way we do work around here”</a:t>
            </a:r>
            <a:endParaRPr lang="en-US" sz="1400" i="1" dirty="0">
              <a:solidFill>
                <a:schemeClr val="tx1"/>
              </a:solidFill>
            </a:endParaRPr>
          </a:p>
        </p:txBody>
      </p:sp>
    </p:spTree>
    <p:extLst>
      <p:ext uri="{BB962C8B-B14F-4D97-AF65-F5344CB8AC3E}">
        <p14:creationId xmlns:p14="http://schemas.microsoft.com/office/powerpoint/2010/main" val="2612408469"/>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Rectangle 2"/>
          <p:cNvSpPr>
            <a:spLocks noChangeArrowheads="1"/>
          </p:cNvSpPr>
          <p:nvPr/>
        </p:nvSpPr>
        <p:spPr bwMode="auto">
          <a:xfrm>
            <a:off x="180000" y="180000"/>
            <a:ext cx="8640000" cy="504000"/>
          </a:xfrm>
          <a:prstGeom prst="rect">
            <a:avLst/>
          </a:prstGeom>
          <a:solidFill>
            <a:srgbClr val="0000FF"/>
          </a:solidFill>
          <a:ln>
            <a:solidFill>
              <a:srgbClr val="0000FF"/>
            </a:solidFill>
          </a:ln>
        </p:spPr>
        <p:txBody>
          <a:bodyPr wrap="square" anchor="ctr" anchorCtr="0">
            <a:noAutofit/>
          </a:bodyPr>
          <a:lstStyle/>
          <a:p>
            <a:pPr lvl="0" defTabSz="914400" fontAlgn="base">
              <a:defRPr/>
            </a:pPr>
            <a:r>
              <a:rPr kumimoji="0" lang="en-CA" altLang="en-US" sz="2000" b="0" i="0" u="none" strike="noStrike" kern="1200" cap="none" spc="0" normalizeH="0" baseline="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ALE #1: The Model of Corp </a:t>
            </a:r>
            <a:r>
              <a:rPr kumimoji="0" lang="en-CA" altLang="en-US" sz="2000" b="0" i="0" u="none" strike="noStrike" kern="1200" cap="none" spc="0" normalizeH="0" baseline="0" noProof="0" dirty="0" err="1"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Mech’s</a:t>
            </a:r>
            <a:r>
              <a:rPr kumimoji="0" lang="en-CA" altLang="en-US" sz="2000" b="0" i="0" u="none" strike="noStrike" kern="1200" cap="none" spc="0" normalizeH="0" baseline="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 </a:t>
            </a:r>
            <a:r>
              <a:rPr lang="en-CA" altLang="en-US" sz="200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Adm. </a:t>
            </a:r>
            <a:r>
              <a:rPr lang="en-CA" altLang="en-US" sz="2000" dirty="0" err="1"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Ctrls</a:t>
            </a:r>
            <a:r>
              <a:rPr lang="en-CA" altLang="en-US" sz="200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 Culture, and </a:t>
            </a:r>
            <a:r>
              <a:rPr lang="en-CA" altLang="en-US" sz="2000" u="sng"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Results</a:t>
            </a:r>
            <a:r>
              <a:rPr lang="en-CA" altLang="en-US" sz="200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a:t>
            </a:r>
            <a:endParaRPr kumimoji="0" lang="en-US"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16</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6" name="Rectangle 3"/>
          <p:cNvSpPr>
            <a:spLocks noChangeArrowheads="1"/>
          </p:cNvSpPr>
          <p:nvPr/>
        </p:nvSpPr>
        <p:spPr bwMode="auto">
          <a:xfrm>
            <a:off x="180000" y="828000"/>
            <a:ext cx="8640000" cy="5328000"/>
          </a:xfrm>
          <a:prstGeom prst="rect">
            <a:avLst/>
          </a:prstGeom>
          <a:solidFill>
            <a:srgbClr val="0000FF"/>
          </a:solidFill>
          <a:ln w="9525" algn="ctr">
            <a:solidFill>
              <a:srgbClr val="0000FF"/>
            </a:solidFill>
            <a:miter lim="800000"/>
            <a:headEnd/>
            <a:tailEnd/>
          </a:ln>
          <a:effectLst/>
        </p:spPr>
        <p:txBody>
          <a:bodyPr/>
          <a:lstStyle/>
          <a:p>
            <a:pPr lvl="0" defTabSz="914400" eaLnBrk="0" fontAlgn="base" hangingPunct="0">
              <a:spcAft>
                <a:spcPct val="0"/>
              </a:spcAft>
              <a:buSzPct val="100000"/>
              <a:defRPr/>
            </a:pPr>
            <a:r>
              <a:rPr lang="en-CA" altLang="en-US" sz="2000" i="1"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Results (the “bottom-line”): In an academic sense, you could equate “the bottom-line” to your grades. Please confer </a:t>
            </a:r>
            <a:r>
              <a:rPr lang="en-CA" altLang="en-US" sz="2000" i="1"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(Open discussion):</a:t>
            </a:r>
            <a:endParaRPr lang="en-CA" altLang="en-US" sz="2000" i="1"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endParaRPr>
          </a:p>
          <a:p>
            <a:pPr lvl="0" defTabSz="914400" eaLnBrk="0" fontAlgn="base" hangingPunct="0">
              <a:spcAft>
                <a:spcPct val="0"/>
              </a:spcAft>
              <a:buSzPct val="100000"/>
              <a:defRPr/>
            </a:pPr>
            <a:r>
              <a:rPr kumimoji="0" lang="en-CA" altLang="en-US" sz="2000" i="1" u="none" strike="noStrike" kern="1200" cap="none" spc="0" normalizeH="0" baseline="0" noProof="0" dirty="0" smtClean="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rPr>
              <a:t>Consider</a:t>
            </a:r>
            <a:r>
              <a:rPr kumimoji="0" lang="en-CA" altLang="en-US" sz="2000" i="1" u="none" strike="noStrike" kern="1200" cap="none" spc="0" normalizeH="0" noProof="0" dirty="0" smtClean="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rPr>
              <a:t> these questions:</a:t>
            </a:r>
          </a:p>
          <a:p>
            <a:pPr marL="360000" lvl="0" indent="-360000" defTabSz="914400" eaLnBrk="0" fontAlgn="base" hangingPunct="0">
              <a:spcAft>
                <a:spcPct val="0"/>
              </a:spcAft>
              <a:buSzPct val="100000"/>
              <a:buFont typeface="Wingdings" panose="05000000000000000000" pitchFamily="2" charset="2"/>
              <a:buChar char="Ø"/>
              <a:defRPr/>
            </a:pPr>
            <a:r>
              <a:rPr lang="en-CA" altLang="en-US" sz="2000" i="1"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How are desired results </a:t>
            </a:r>
            <a:r>
              <a:rPr lang="en-CA" altLang="en-US" sz="2000" i="1"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(superior, met or exceeded goals) achieved</a:t>
            </a:r>
            <a:r>
              <a:rPr lang="en-CA" altLang="en-US" sz="2000" i="1"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a:t>
            </a:r>
          </a:p>
          <a:p>
            <a:pPr marL="360000" indent="-360000" defTabSz="914400" eaLnBrk="0" fontAlgn="base" hangingPunct="0">
              <a:spcAft>
                <a:spcPct val="0"/>
              </a:spcAft>
              <a:buSzPct val="100000"/>
              <a:buFont typeface="Wingdings" panose="05000000000000000000" pitchFamily="2" charset="2"/>
              <a:buChar char="Ø"/>
              <a:defRPr/>
            </a:pPr>
            <a:r>
              <a:rPr lang="en-US" altLang="en-US" sz="2000" i="1"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How are </a:t>
            </a:r>
            <a:r>
              <a:rPr lang="en-US" altLang="en-US" sz="2000" i="1"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less-than-desired results (inferior, did not meet goals) achieved?</a:t>
            </a:r>
            <a:endParaRPr lang="en-US" altLang="en-US" sz="2000" i="1" dirty="0">
              <a:solidFill>
                <a:schemeClr val="bg1"/>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11" name="Google Shape;125;p2"/>
          <p:cNvSpPr/>
          <p:nvPr/>
        </p:nvSpPr>
        <p:spPr>
          <a:xfrm>
            <a:off x="2458387" y="6300000"/>
            <a:ext cx="5821613"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7.3: Organizational Design and Leadership : Culture : Performance</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pic>
        <p:nvPicPr>
          <p:cNvPr id="9" name="Picture 8">
            <a:extLst>
              <a:ext uri="{FF2B5EF4-FFF2-40B4-BE49-F238E27FC236}">
                <a16:creationId xmlns:a16="http://schemas.microsoft.com/office/drawing/2014/main" id="{75CA948F-83CF-44E9-BC63-9A20D4C0691B}"/>
              </a:ext>
            </a:extLst>
          </p:cNvPr>
          <p:cNvPicPr>
            <a:picLocks noChangeAspect="1"/>
          </p:cNvPicPr>
          <p:nvPr/>
        </p:nvPicPr>
        <p:blipFill>
          <a:blip r:embed="rId3"/>
          <a:stretch>
            <a:fillRect/>
          </a:stretch>
        </p:blipFill>
        <p:spPr>
          <a:xfrm>
            <a:off x="1998770" y="2621183"/>
            <a:ext cx="5040000" cy="3528000"/>
          </a:xfrm>
          <a:prstGeom prst="rect">
            <a:avLst/>
          </a:prstGeom>
        </p:spPr>
      </p:pic>
      <p:sp>
        <p:nvSpPr>
          <p:cNvPr id="12" name="AutoShape 8">
            <a:extLst>
              <a:ext uri="{FF2B5EF4-FFF2-40B4-BE49-F238E27FC236}">
                <a16:creationId xmlns:a16="http://schemas.microsoft.com/office/drawing/2014/main" id="{01B075F1-37F9-4891-B261-01487ECF0A4C}"/>
              </a:ext>
            </a:extLst>
          </p:cNvPr>
          <p:cNvSpPr>
            <a:spLocks noChangeArrowheads="1"/>
          </p:cNvSpPr>
          <p:nvPr/>
        </p:nvSpPr>
        <p:spPr bwMode="auto">
          <a:xfrm flipH="1">
            <a:off x="2679934" y="4952175"/>
            <a:ext cx="1318767" cy="872454"/>
          </a:xfrm>
          <a:custGeom>
            <a:avLst/>
            <a:gdLst>
              <a:gd name="T0" fmla="*/ 80524953 w 21600"/>
              <a:gd name="T1" fmla="*/ 0 h 21600"/>
              <a:gd name="T2" fmla="*/ 42496200 w 21600"/>
              <a:gd name="T3" fmla="*/ 18887200 h 21600"/>
              <a:gd name="T4" fmla="*/ 0 w 21600"/>
              <a:gd name="T5" fmla="*/ 44284794 h 21600"/>
              <a:gd name="T6" fmla="*/ 47902209 w 21600"/>
              <a:gd name="T7" fmla="*/ 52688067 h 21600"/>
              <a:gd name="T8" fmla="*/ 95804493 w 21600"/>
              <a:gd name="T9" fmla="*/ 38030531 h 21600"/>
              <a:gd name="T10" fmla="*/ 118548150 w 21600"/>
              <a:gd name="T11" fmla="*/ 18887200 h 21600"/>
              <a:gd name="T12" fmla="*/ 17694720 60000 65536"/>
              <a:gd name="T13" fmla="*/ 11796480 60000 65536"/>
              <a:gd name="T14" fmla="*/ 11796480 60000 65536"/>
              <a:gd name="T15" fmla="*/ 5898240 60000 65536"/>
              <a:gd name="T16" fmla="*/ 0 60000 65536"/>
              <a:gd name="T17" fmla="*/ 0 60000 65536"/>
              <a:gd name="T18" fmla="*/ 0 w 21600"/>
              <a:gd name="T19" fmla="*/ 14709 h 21600"/>
              <a:gd name="T20" fmla="*/ 17456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4672" y="0"/>
                </a:moveTo>
                <a:lnTo>
                  <a:pt x="7743" y="7743"/>
                </a:lnTo>
                <a:lnTo>
                  <a:pt x="11887" y="7743"/>
                </a:lnTo>
                <a:lnTo>
                  <a:pt x="11887" y="14709"/>
                </a:lnTo>
                <a:lnTo>
                  <a:pt x="0" y="14709"/>
                </a:lnTo>
                <a:lnTo>
                  <a:pt x="0" y="21600"/>
                </a:lnTo>
                <a:lnTo>
                  <a:pt x="17456" y="21600"/>
                </a:lnTo>
                <a:lnTo>
                  <a:pt x="17456" y="7743"/>
                </a:lnTo>
                <a:lnTo>
                  <a:pt x="21600" y="7743"/>
                </a:lnTo>
                <a:lnTo>
                  <a:pt x="14672" y="0"/>
                </a:lnTo>
                <a:close/>
              </a:path>
            </a:pathLst>
          </a:custGeom>
          <a:solidFill>
            <a:srgbClr val="FF0000"/>
          </a:solidFill>
          <a:ln w="38100">
            <a:solidFill>
              <a:sysClr val="windowText" lastClr="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Tw Cen MT" panose="020B0602020104020603"/>
            </a:endParaRPr>
          </a:p>
        </p:txBody>
      </p:sp>
      <p:sp>
        <p:nvSpPr>
          <p:cNvPr id="13" name="AutoShape 8">
            <a:extLst>
              <a:ext uri="{FF2B5EF4-FFF2-40B4-BE49-F238E27FC236}">
                <a16:creationId xmlns:a16="http://schemas.microsoft.com/office/drawing/2014/main" id="{01B075F1-37F9-4891-B261-01487ECF0A4C}"/>
              </a:ext>
            </a:extLst>
          </p:cNvPr>
          <p:cNvSpPr>
            <a:spLocks noChangeArrowheads="1"/>
          </p:cNvSpPr>
          <p:nvPr/>
        </p:nvSpPr>
        <p:spPr bwMode="auto">
          <a:xfrm rot="16200000" flipH="1">
            <a:off x="5228930" y="4933646"/>
            <a:ext cx="878569" cy="1307857"/>
          </a:xfrm>
          <a:custGeom>
            <a:avLst/>
            <a:gdLst>
              <a:gd name="T0" fmla="*/ 80524953 w 21600"/>
              <a:gd name="T1" fmla="*/ 0 h 21600"/>
              <a:gd name="T2" fmla="*/ 42496200 w 21600"/>
              <a:gd name="T3" fmla="*/ 18887200 h 21600"/>
              <a:gd name="T4" fmla="*/ 0 w 21600"/>
              <a:gd name="T5" fmla="*/ 44284794 h 21600"/>
              <a:gd name="T6" fmla="*/ 47902209 w 21600"/>
              <a:gd name="T7" fmla="*/ 52688067 h 21600"/>
              <a:gd name="T8" fmla="*/ 95804493 w 21600"/>
              <a:gd name="T9" fmla="*/ 38030531 h 21600"/>
              <a:gd name="T10" fmla="*/ 118548150 w 21600"/>
              <a:gd name="T11" fmla="*/ 18887200 h 21600"/>
              <a:gd name="T12" fmla="*/ 17694720 60000 65536"/>
              <a:gd name="T13" fmla="*/ 11796480 60000 65536"/>
              <a:gd name="T14" fmla="*/ 11796480 60000 65536"/>
              <a:gd name="T15" fmla="*/ 5898240 60000 65536"/>
              <a:gd name="T16" fmla="*/ 0 60000 65536"/>
              <a:gd name="T17" fmla="*/ 0 60000 65536"/>
              <a:gd name="T18" fmla="*/ 0 w 21600"/>
              <a:gd name="T19" fmla="*/ 14709 h 21600"/>
              <a:gd name="T20" fmla="*/ 17456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4672" y="0"/>
                </a:moveTo>
                <a:lnTo>
                  <a:pt x="7743" y="7743"/>
                </a:lnTo>
                <a:lnTo>
                  <a:pt x="11887" y="7743"/>
                </a:lnTo>
                <a:lnTo>
                  <a:pt x="11887" y="14709"/>
                </a:lnTo>
                <a:lnTo>
                  <a:pt x="0" y="14709"/>
                </a:lnTo>
                <a:lnTo>
                  <a:pt x="0" y="21600"/>
                </a:lnTo>
                <a:lnTo>
                  <a:pt x="17456" y="21600"/>
                </a:lnTo>
                <a:lnTo>
                  <a:pt x="17456" y="7743"/>
                </a:lnTo>
                <a:lnTo>
                  <a:pt x="21600" y="7743"/>
                </a:lnTo>
                <a:lnTo>
                  <a:pt x="14672" y="0"/>
                </a:lnTo>
                <a:close/>
              </a:path>
            </a:pathLst>
          </a:custGeom>
          <a:solidFill>
            <a:srgbClr val="FF0000"/>
          </a:solidFill>
          <a:ln w="38100">
            <a:solidFill>
              <a:sysClr val="windowText" lastClr="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Tw Cen MT" panose="020B0602020104020603"/>
            </a:endParaRPr>
          </a:p>
        </p:txBody>
      </p:sp>
      <p:sp>
        <p:nvSpPr>
          <p:cNvPr id="10" name="Rounded Rectangle 6">
            <a:extLst>
              <a:ext uri="{FF2B5EF4-FFF2-40B4-BE49-F238E27FC236}">
                <a16:creationId xmlns:a16="http://schemas.microsoft.com/office/drawing/2014/main" id="{E7C42B41-CC6E-48E8-81B0-0CD0A12D4778}"/>
              </a:ext>
            </a:extLst>
          </p:cNvPr>
          <p:cNvSpPr/>
          <p:nvPr/>
        </p:nvSpPr>
        <p:spPr>
          <a:xfrm>
            <a:off x="2115341" y="4119713"/>
            <a:ext cx="4923430" cy="1926810"/>
          </a:xfrm>
          <a:prstGeom prst="roundRect">
            <a:avLst/>
          </a:prstGeom>
          <a:noFill/>
          <a:ln w="57150" cap="flat" cmpd="sng" algn="ctr">
            <a:solidFill>
              <a:srgbClr val="FF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Tw Cen MT" panose="020B0602020104020603"/>
              <a:ea typeface="+mn-ea"/>
              <a:cs typeface="+mn-cs"/>
            </a:endParaRPr>
          </a:p>
        </p:txBody>
      </p:sp>
    </p:spTree>
    <p:extLst>
      <p:ext uri="{BB962C8B-B14F-4D97-AF65-F5344CB8AC3E}">
        <p14:creationId xmlns:p14="http://schemas.microsoft.com/office/powerpoint/2010/main" val="2797504979"/>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Rectangle 2"/>
          <p:cNvSpPr>
            <a:spLocks noChangeArrowheads="1"/>
          </p:cNvSpPr>
          <p:nvPr/>
        </p:nvSpPr>
        <p:spPr bwMode="auto">
          <a:xfrm>
            <a:off x="180000" y="180000"/>
            <a:ext cx="8640000" cy="504000"/>
          </a:xfrm>
          <a:prstGeom prst="rect">
            <a:avLst/>
          </a:prstGeom>
          <a:solidFill>
            <a:srgbClr val="000000"/>
          </a:solidFill>
          <a:ln>
            <a:solidFill>
              <a:srgbClr val="000000"/>
            </a:solidFill>
          </a:ln>
        </p:spPr>
        <p:txBody>
          <a:bodyPr wrap="square" anchor="ctr" anchorCtr="0">
            <a:noAutofit/>
          </a:bodyPr>
          <a:lstStyle/>
          <a:p>
            <a:pPr lvl="0" defTabSz="914400" fontAlgn="base">
              <a:defRPr/>
            </a:pPr>
            <a:r>
              <a:rPr kumimoji="0" lang="en-CA" altLang="en-US" sz="1600" b="0" i="0" u="none" strike="noStrike" kern="1200" cap="none" spc="0" normalizeH="0" baseline="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The Model of Corporate Mechanisms, </a:t>
            </a:r>
            <a:r>
              <a:rPr lang="en-CA" altLang="en-US" sz="160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Administrative Controls, Culture, and Results:</a:t>
            </a:r>
            <a:endParaRPr kumimoji="0" lang="en-US" altLang="en-US" sz="16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17</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6" name="Rectangle 3"/>
          <p:cNvSpPr>
            <a:spLocks noChangeArrowheads="1"/>
          </p:cNvSpPr>
          <p:nvPr/>
        </p:nvSpPr>
        <p:spPr bwMode="auto">
          <a:xfrm>
            <a:off x="180000" y="828000"/>
            <a:ext cx="8640000" cy="5328000"/>
          </a:xfrm>
          <a:prstGeom prst="rect">
            <a:avLst/>
          </a:prstGeom>
          <a:solidFill>
            <a:schemeClr val="tx1"/>
          </a:solidFill>
          <a:ln w="9525" algn="ctr">
            <a:solidFill>
              <a:schemeClr val="tx1"/>
            </a:solidFill>
            <a:miter lim="800000"/>
            <a:headEnd/>
            <a:tailEnd/>
          </a:ln>
          <a:effectLst/>
        </p:spPr>
        <p:txBody>
          <a:bodyPr/>
          <a:lstStyle/>
          <a:p>
            <a:pPr lvl="0" defTabSz="914400" eaLnBrk="0" fontAlgn="base" hangingPunct="0">
              <a:spcAft>
                <a:spcPct val="0"/>
              </a:spcAft>
              <a:buSzPct val="100000"/>
              <a:defRPr/>
            </a:pPr>
            <a:r>
              <a:rPr kumimoji="0" lang="en-CA" altLang="en-US" sz="2000" b="1" i="0" u="none" strike="noStrike" kern="1200" cap="none" spc="0" normalizeH="0" baseline="0" noProof="0" dirty="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rPr>
              <a:t>Q: </a:t>
            </a:r>
            <a:r>
              <a:rPr kumimoji="0" lang="en-CA" altLang="en-US" sz="2000" b="0" i="0" u="none" strike="noStrike" kern="1200" cap="none" spc="0" normalizeH="0" baseline="0" noProof="0" dirty="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rPr>
              <a:t>How are </a:t>
            </a:r>
            <a:r>
              <a:rPr kumimoji="0" lang="en-CA" altLang="en-US" sz="2000" b="0" i="0" u="none" strike="noStrike" kern="1200" cap="none" spc="0" normalizeH="0" baseline="0" noProof="0" dirty="0" smtClean="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rPr>
              <a:t>results achieved?</a:t>
            </a:r>
          </a:p>
          <a:p>
            <a:pPr lvl="0" defTabSz="914400" eaLnBrk="0" fontAlgn="base" hangingPunct="0">
              <a:spcAft>
                <a:spcPct val="0"/>
              </a:spcAft>
              <a:buSzPct val="100000"/>
              <a:defRPr/>
            </a:pPr>
            <a:r>
              <a:rPr lang="en-CA" altLang="en-US" sz="2000" b="1"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A: </a:t>
            </a:r>
            <a:r>
              <a:rPr lang="en-CA" altLang="en-US" sz="2000"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The organization follows (abides by or complies with) or does not follow the administrative controls in the execution of work i.e. </a:t>
            </a:r>
            <a:r>
              <a:rPr kumimoji="0" lang="en-CA" altLang="en-US" sz="2000" b="0" i="0" u="none" strike="noStrike" kern="1200" cap="none" spc="0" normalizeH="0" baseline="0" noProof="0" dirty="0" smtClean="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rPr>
              <a:t>the administrative</a:t>
            </a:r>
            <a:r>
              <a:rPr lang="en-CA" altLang="en-US" sz="2000"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 controls are “brought </a:t>
            </a:r>
            <a:r>
              <a:rPr kumimoji="0" lang="en-CA" altLang="en-US" sz="2000" b="0" i="0" u="none" strike="noStrike" kern="1200" cap="none" spc="0" normalizeH="0" baseline="0" noProof="0" dirty="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rPr>
              <a:t>to </a:t>
            </a:r>
            <a:r>
              <a:rPr kumimoji="0" lang="en-CA" altLang="en-US" sz="2000" b="0" i="0" u="none" strike="noStrike" kern="1200" cap="none" spc="0" normalizeH="0" baseline="0" noProof="0" dirty="0" smtClean="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rPr>
              <a:t>life” (or not) by</a:t>
            </a:r>
            <a:r>
              <a:rPr kumimoji="0" lang="en-CA" altLang="en-US" sz="2000" b="0" i="0" u="none" strike="noStrike" kern="1200" cap="none" spc="0" normalizeH="0" noProof="0" dirty="0" smtClean="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rPr>
              <a:t> the c</a:t>
            </a:r>
            <a:r>
              <a:rPr kumimoji="0" lang="en-CA" altLang="en-US" sz="2000" b="0" i="0" u="none" strike="noStrike" kern="1200" cap="none" spc="0" normalizeH="0" baseline="0" noProof="0" dirty="0" smtClean="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rPr>
              <a:t>ulture of the organization.</a:t>
            </a:r>
          </a:p>
          <a:p>
            <a:pPr marL="360000" indent="-360000" defTabSz="914400" eaLnBrk="0" fontAlgn="base" hangingPunct="0">
              <a:spcAft>
                <a:spcPct val="0"/>
              </a:spcAft>
              <a:buSzPct val="100000"/>
              <a:buFont typeface="Wingdings" panose="05000000000000000000" pitchFamily="2" charset="2"/>
              <a:buChar char="Ø"/>
              <a:defRPr/>
            </a:pPr>
            <a:endParaRPr lang="en-CA" altLang="en-US" sz="2000"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defTabSz="914400" eaLnBrk="0" fontAlgn="base" hangingPunct="0">
              <a:spcAft>
                <a:spcPct val="0"/>
              </a:spcAft>
              <a:buSzPct val="100000"/>
              <a:buFont typeface="Wingdings" panose="05000000000000000000" pitchFamily="2" charset="2"/>
              <a:buChar char="Ø"/>
              <a:defRPr/>
            </a:pPr>
            <a:r>
              <a:rPr lang="en-CA" altLang="en-US" sz="2000"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Recall that “culture” is “the </a:t>
            </a:r>
            <a:br>
              <a:rPr lang="en-CA" altLang="en-US" sz="2000"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br>
            <a:r>
              <a:rPr lang="en-CA" altLang="en-US" sz="2000"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way we </a:t>
            </a:r>
            <a:r>
              <a:rPr lang="en-CA" altLang="en-US" sz="2000"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do work around here</a:t>
            </a:r>
            <a:r>
              <a:rPr lang="en-CA" altLang="en-US" sz="2000"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a:t>
            </a:r>
          </a:p>
          <a:p>
            <a:pPr marL="360000" indent="-360000" defTabSz="914400" eaLnBrk="0" fontAlgn="base" hangingPunct="0">
              <a:spcAft>
                <a:spcPct val="0"/>
              </a:spcAft>
              <a:buSzPct val="100000"/>
              <a:buFont typeface="Wingdings" panose="05000000000000000000" pitchFamily="2" charset="2"/>
              <a:buChar char="Ø"/>
              <a:defRPr/>
            </a:pPr>
            <a:endParaRPr lang="en-CA" altLang="en-US" sz="2000"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defTabSz="914400" eaLnBrk="0" fontAlgn="base" hangingPunct="0">
              <a:spcAft>
                <a:spcPct val="0"/>
              </a:spcAft>
              <a:buSzPct val="100000"/>
              <a:buFont typeface="Wingdings" panose="05000000000000000000" pitchFamily="2" charset="2"/>
              <a:buChar char="Ø"/>
              <a:defRPr/>
            </a:pPr>
            <a:r>
              <a:rPr kumimoji="0" lang="en-CA" altLang="en-US" sz="2000" b="0" i="0" u="none" strike="noStrike" kern="1200" cap="none" spc="0" normalizeH="0" baseline="0" noProof="0" dirty="0" smtClean="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rPr>
              <a:t>A</a:t>
            </a:r>
            <a:r>
              <a:rPr kumimoji="0" lang="en-CA" altLang="en-US" sz="2000" b="0" i="0" u="none" strike="noStrike" kern="1200" cap="none" spc="0" normalizeH="0" noProof="0" dirty="0" smtClean="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rPr>
              <a:t> “good” or “i</a:t>
            </a:r>
            <a:r>
              <a:rPr kumimoji="0" lang="en-CA" altLang="en-US" sz="2000" b="0" i="0" u="none" strike="noStrike" kern="1200" cap="none" spc="0" normalizeH="0" baseline="0" noProof="0" dirty="0" smtClean="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rPr>
              <a:t>deal” culture</a:t>
            </a:r>
            <a:r>
              <a:rPr kumimoji="0" lang="en-CA" altLang="en-US" sz="2000" b="0" i="0" u="none" strike="noStrike" kern="1200" cap="none" spc="0" normalizeH="0" noProof="0" dirty="0" smtClean="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rPr>
              <a:t> </a:t>
            </a:r>
            <a:br>
              <a:rPr kumimoji="0" lang="en-CA" altLang="en-US" sz="2000" b="0" i="0" u="none" strike="noStrike" kern="1200" cap="none" spc="0" normalizeH="0" noProof="0" dirty="0" smtClean="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CA" altLang="en-US" sz="2000" b="0" i="0" u="none" strike="noStrike" kern="1200" cap="none" spc="0" normalizeH="0" noProof="0" dirty="0" smtClean="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rPr>
              <a:t>=&gt; desired results!</a:t>
            </a:r>
          </a:p>
          <a:p>
            <a:pPr marL="360000" indent="-360000" defTabSz="914400" eaLnBrk="0" fontAlgn="base" hangingPunct="0">
              <a:spcAft>
                <a:spcPct val="0"/>
              </a:spcAft>
              <a:buSzPct val="100000"/>
              <a:buFont typeface="Wingdings" panose="05000000000000000000" pitchFamily="2" charset="2"/>
              <a:buChar char="Ø"/>
              <a:defRPr/>
            </a:pPr>
            <a:endParaRPr lang="en-CA" altLang="en-US" sz="2000" baseline="0" dirty="0">
              <a:solidFill>
                <a:schemeClr val="bg1"/>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defTabSz="914400" eaLnBrk="0" fontAlgn="base" hangingPunct="0">
              <a:spcAft>
                <a:spcPct val="0"/>
              </a:spcAft>
              <a:buSzPct val="100000"/>
              <a:buFont typeface="Wingdings" panose="05000000000000000000" pitchFamily="2" charset="2"/>
              <a:buChar char="Ø"/>
              <a:defRPr/>
            </a:pPr>
            <a:r>
              <a:rPr kumimoji="0" lang="en-US" altLang="en-US" sz="2000" b="0" i="0" u="none" strike="noStrike" kern="1200" cap="none" spc="0" normalizeH="0" baseline="0" noProof="0" dirty="0" smtClean="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rPr>
              <a:t>Non-ideal culture</a:t>
            </a:r>
            <a:br>
              <a:rPr kumimoji="0" lang="en-US" altLang="en-US" sz="2000" b="0" i="0" u="none" strike="noStrike" kern="1200" cap="none" spc="0" normalizeH="0" baseline="0" noProof="0" dirty="0" smtClean="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US" altLang="en-US" sz="2000" b="0" i="0" u="none" strike="noStrike" kern="1200" cap="none" spc="0" normalizeH="0" baseline="0" noProof="0" dirty="0" smtClean="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rPr>
              <a:t>=&gt;</a:t>
            </a:r>
            <a:r>
              <a:rPr kumimoji="0" lang="en-US" altLang="en-US" sz="2000" b="0" i="0" u="none" strike="noStrike" kern="1200" cap="none" spc="0" normalizeH="0" noProof="0" dirty="0" smtClean="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rPr>
              <a:t> less-than-desired results. </a:t>
            </a:r>
          </a:p>
          <a:p>
            <a:pPr marL="360000" indent="-360000" defTabSz="914400" eaLnBrk="0" fontAlgn="base" hangingPunct="0">
              <a:spcAft>
                <a:spcPct val="0"/>
              </a:spcAft>
              <a:buSzPct val="100000"/>
              <a:buFont typeface="Wingdings" panose="05000000000000000000" pitchFamily="2" charset="2"/>
              <a:buChar char="Ø"/>
              <a:defRPr/>
            </a:pPr>
            <a:endParaRPr lang="en-US" altLang="en-US" sz="2000" baseline="0" dirty="0">
              <a:solidFill>
                <a:schemeClr val="bg1"/>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defTabSz="914400" eaLnBrk="0" fontAlgn="base" hangingPunct="0">
              <a:spcAft>
                <a:spcPct val="0"/>
              </a:spcAft>
              <a:buSzPct val="100000"/>
              <a:buFont typeface="Wingdings" panose="05000000000000000000" pitchFamily="2" charset="2"/>
              <a:buChar char="Ø"/>
              <a:defRPr/>
            </a:pPr>
            <a:r>
              <a:rPr kumimoji="0" lang="en-US" altLang="en-US" sz="2000" b="0" i="0" u="none" strike="noStrike" kern="1200" cap="none" spc="0" normalizeH="0" noProof="0" dirty="0" smtClean="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rPr>
              <a:t>This is especially true in </a:t>
            </a:r>
            <a:br>
              <a:rPr kumimoji="0" lang="en-US" altLang="en-US" sz="2000" b="0" i="0" u="none" strike="noStrike" kern="1200" cap="none" spc="0" normalizeH="0" noProof="0" dirty="0" smtClean="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US" altLang="en-US" sz="2000" b="0" i="0" u="none" strike="noStrike" kern="1200" cap="none" spc="0" normalizeH="0" noProof="0" dirty="0" smtClean="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rPr>
              <a:t>risk management!</a:t>
            </a:r>
            <a:endParaRPr kumimoji="0" lang="en-US" altLang="en-US" sz="2000" b="0" i="0" u="none" strike="noStrike" kern="1200" cap="none" spc="0" normalizeH="0" baseline="0" noProof="0" dirty="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pic>
        <p:nvPicPr>
          <p:cNvPr id="7" name="Picture 6">
            <a:extLst>
              <a:ext uri="{FF2B5EF4-FFF2-40B4-BE49-F238E27FC236}">
                <a16:creationId xmlns:a16="http://schemas.microsoft.com/office/drawing/2014/main" id="{1D3DC410-8756-4CF9-89E7-C9717683E84F}"/>
              </a:ext>
            </a:extLst>
          </p:cNvPr>
          <p:cNvPicPr>
            <a:picLocks noChangeAspect="1"/>
          </p:cNvPicPr>
          <p:nvPr/>
        </p:nvPicPr>
        <p:blipFill>
          <a:blip r:embed="rId3"/>
          <a:stretch>
            <a:fillRect/>
          </a:stretch>
        </p:blipFill>
        <p:spPr>
          <a:xfrm>
            <a:off x="4111288" y="2439005"/>
            <a:ext cx="4491937" cy="3612193"/>
          </a:xfrm>
          <a:prstGeom prst="rect">
            <a:avLst/>
          </a:prstGeom>
        </p:spPr>
      </p:pic>
      <p:sp>
        <p:nvSpPr>
          <p:cNvPr id="10" name="Rounded Rectangle 6">
            <a:extLst>
              <a:ext uri="{FF2B5EF4-FFF2-40B4-BE49-F238E27FC236}">
                <a16:creationId xmlns:a16="http://schemas.microsoft.com/office/drawing/2014/main" id="{E7C42B41-CC6E-48E8-81B0-0CD0A12D4778}"/>
              </a:ext>
            </a:extLst>
          </p:cNvPr>
          <p:cNvSpPr/>
          <p:nvPr/>
        </p:nvSpPr>
        <p:spPr>
          <a:xfrm>
            <a:off x="4111288" y="4011561"/>
            <a:ext cx="4491937" cy="1983682"/>
          </a:xfrm>
          <a:prstGeom prst="roundRect">
            <a:avLst/>
          </a:prstGeom>
          <a:noFill/>
          <a:ln w="57150" cap="flat" cmpd="sng" algn="ctr">
            <a:solidFill>
              <a:srgbClr val="FF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Tw Cen MT" panose="020B0602020104020603"/>
              <a:ea typeface="+mn-ea"/>
              <a:cs typeface="+mn-cs"/>
            </a:endParaRPr>
          </a:p>
        </p:txBody>
      </p:sp>
      <p:sp>
        <p:nvSpPr>
          <p:cNvPr id="11" name="Google Shape;125;p2"/>
          <p:cNvSpPr/>
          <p:nvPr/>
        </p:nvSpPr>
        <p:spPr>
          <a:xfrm>
            <a:off x="2458387" y="6300000"/>
            <a:ext cx="5821613"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7.3: Organizational Design and Leadership : Culture : Performance</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4016149891"/>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
                <a:srgbClr val="000000"/>
              </a:buClr>
              <a:buSzPct val="100000"/>
              <a:buNone/>
              <a:tabLst/>
              <a:defRPr/>
            </a:pPr>
            <a:r>
              <a:rPr kumimoji="0" lang="en-US" altLang="en-US" sz="2000" b="1"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Summary:</a:t>
            </a: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Basic constructs of</a:t>
            </a:r>
            <a:r>
              <a:rPr kumimoji="0" lang="en-CA" altLang="en-US" sz="2000"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organizations.</a:t>
            </a:r>
          </a:p>
          <a:p>
            <a:pPr marL="72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lang="en-CA"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Line Management</a:t>
            </a:r>
          </a:p>
          <a:p>
            <a:pPr marL="72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lang="en-CA"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Vision, Mission, Values, Principles</a:t>
            </a:r>
            <a:endParaRPr kumimoji="0" lang="en-CA" altLang="en-US" sz="2000"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lang="en-CA" altLang="en-US" baseline="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lang="en-CA"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administrative controls are “brought to life” by the culture of the organization.</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lang="en-CA" altLang="en-US" baseline="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indent="0" defTabSz="914400" eaLnBrk="0" fontAlgn="base" hangingPunct="0">
              <a:lnSpc>
                <a:spcPct val="100000"/>
              </a:lnSpc>
              <a:spcBef>
                <a:spcPts val="0"/>
              </a:spcBef>
              <a:spcAft>
                <a:spcPct val="0"/>
              </a:spcAft>
              <a:buClr>
                <a:srgbClr val="000000"/>
              </a:buClr>
              <a:buSzPct val="100000"/>
              <a:buNone/>
              <a:defRPr/>
            </a:pPr>
            <a:r>
              <a:rPr lang="en-CA" altLang="en-US" b="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Key Lessons:</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There </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is a relationship between “results” and “culture”: </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72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 </a:t>
            </a: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vision, mission, values,</a:t>
            </a:r>
            <a:r>
              <a:rPr kumimoji="0" lang="en-CA" altLang="en-US" sz="2000"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etc. describe the desired organization and culture in order to achieve the desired results.</a:t>
            </a:r>
          </a:p>
          <a:p>
            <a:pPr marL="72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72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lang="en-CA"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results (the </a:t>
            </a: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performance)</a:t>
            </a:r>
            <a:r>
              <a:rPr kumimoji="0" lang="en-CA" altLang="en-US" sz="2000"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t>
            </a: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of </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 organization depends on its culture.</a:t>
            </a: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Tx/>
              <a:buSzPct val="100000"/>
              <a:buNone/>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Summary and Key Lessons: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18</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6" name="Google Shape;125;p2"/>
          <p:cNvSpPr/>
          <p:nvPr/>
        </p:nvSpPr>
        <p:spPr>
          <a:xfrm>
            <a:off x="2458387" y="6300000"/>
            <a:ext cx="5821613"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7.3: Organizational Design and Leadership : Culture : Performance</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4187505649"/>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ChangeArrowheads="1"/>
          </p:cNvSpPr>
          <p:nvPr/>
        </p:nvSpPr>
        <p:spPr bwMode="auto">
          <a:xfrm>
            <a:off x="180000" y="180000"/>
            <a:ext cx="8640000" cy="504000"/>
          </a:xfrm>
          <a:prstGeom prst="rect">
            <a:avLst/>
          </a:prstGeom>
          <a:solidFill>
            <a:srgbClr val="0000FF"/>
          </a:solidFill>
          <a:ln>
            <a:solidFill>
              <a:srgbClr val="0000FF"/>
            </a:solid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Any questions?</a:t>
            </a:r>
          </a:p>
        </p:txBody>
      </p:sp>
    </p:spTree>
    <p:extLst>
      <p:ext uri="{BB962C8B-B14F-4D97-AF65-F5344CB8AC3E}">
        <p14:creationId xmlns:p14="http://schemas.microsoft.com/office/powerpoint/2010/main" val="4077953517"/>
      </p:ext>
    </p:extLst>
  </p:cSld>
  <p:clrMapOvr>
    <a:masterClrMapping/>
  </p:clrMapOvr>
  <p:transition>
    <p:fade/>
  </p:transition>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TM04033925[[fn=Droplet]]</Template>
  <TotalTime>1455</TotalTime>
  <Words>1518</Words>
  <Application>Microsoft Office PowerPoint</Application>
  <PresentationFormat>On-screen Show (4:3)</PresentationFormat>
  <Paragraphs>238</Paragraphs>
  <Slides>19</Slides>
  <Notes>18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ＭＳ Ｐゴシック</vt:lpstr>
      <vt:lpstr>Arial</vt:lpstr>
      <vt:lpstr>Calibri</vt:lpstr>
      <vt:lpstr>Times New Roman</vt:lpstr>
      <vt:lpstr>Tw Cen MT</vt:lpstr>
      <vt:lpstr>Wingdings</vt:lpstr>
      <vt:lpstr>Default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ENGG404 – Lecture 33 Module xxx</dc:title>
  <dc:creator>User</dc:creator>
  <cp:lastModifiedBy>John Cocchio</cp:lastModifiedBy>
  <cp:revision>159</cp:revision>
  <cp:lastPrinted>2017-09-11T20:57:58Z</cp:lastPrinted>
  <dcterms:created xsi:type="dcterms:W3CDTF">2016-09-07T02:58:00Z</dcterms:created>
  <dcterms:modified xsi:type="dcterms:W3CDTF">2022-06-20T15:26:22Z</dcterms:modified>
</cp:coreProperties>
</file>