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895" r:id="rId2"/>
    <p:sldId id="946" r:id="rId3"/>
    <p:sldId id="962" r:id="rId4"/>
    <p:sldId id="947" r:id="rId5"/>
    <p:sldId id="960" r:id="rId6"/>
    <p:sldId id="949" r:id="rId7"/>
    <p:sldId id="950" r:id="rId8"/>
    <p:sldId id="951" r:id="rId9"/>
    <p:sldId id="961" r:id="rId10"/>
    <p:sldId id="956" r:id="rId11"/>
    <p:sldId id="957" r:id="rId12"/>
    <p:sldId id="959" r:id="rId13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946"/>
            <p14:sldId id="962"/>
            <p14:sldId id="947"/>
            <p14:sldId id="960"/>
            <p14:sldId id="949"/>
            <p14:sldId id="950"/>
            <p14:sldId id="951"/>
            <p14:sldId id="961"/>
            <p14:sldId id="956"/>
            <p14:sldId id="957"/>
            <p14:sldId id="9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8F8F8"/>
    <a:srgbClr val="000000"/>
    <a:srgbClr val="F5D7F1"/>
    <a:srgbClr val="5F5F5F"/>
    <a:srgbClr val="DDDDDD"/>
    <a:srgbClr val="FBA3E8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11" autoAdjust="0"/>
    <p:restoredTop sz="98116" autoAdjust="0"/>
  </p:normalViewPr>
  <p:slideViewPr>
    <p:cSldViewPr>
      <p:cViewPr varScale="1">
        <p:scale>
          <a:sx n="77" d="100"/>
          <a:sy n="77" d="100"/>
        </p:scale>
        <p:origin x="1048" y="64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396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5/17/2021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5/17/2021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723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342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266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201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741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643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957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7197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790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35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224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5/17/2021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</a:t>
            </a:r>
            <a:b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Leader in Risk Management</a:t>
            </a:r>
          </a:p>
          <a:p>
            <a:pPr lvl="0" eaLnBrk="1" hangingPunct="1">
              <a:buClr>
                <a:srgbClr val="AA9C8F"/>
              </a:buClr>
            </a:pPr>
            <a:r>
              <a:rPr lang="en-US" altLang="en-US" sz="32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lang="en-US" altLang="en-US" sz="320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50034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2.4 </a:t>
            </a:r>
            <a:b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a Function of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Likelihood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Consequence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risk as an estimated outcome of two components: consequence and likelihood, and explain each of the components. 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Analyze the risks of a typical industrial installation (a high-pressure natural gas transmission pipe-line in operation through a city), and determine the factors that increase the risk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Outcomes</a:t>
            </a: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83492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Everything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we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involves the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acceptance of risk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…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we make a decision …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Intuitively, we know what “risk” is …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Let’s think of ourselves as …</a:t>
            </a:r>
            <a:b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jumping out of a plane, a parachutist, a sky-diver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49620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you “feel” the risk?</a:t>
            </a:r>
            <a:endParaRPr lang="en-US" altLang="en-US" sz="240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6" name="Google Shape;144;p4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000" y="828000"/>
            <a:ext cx="8460000" cy="532800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7" name="Google Shape;146;p4"/>
          <p:cNvSpPr txBox="1"/>
          <p:nvPr/>
        </p:nvSpPr>
        <p:spPr>
          <a:xfrm>
            <a:off x="2209800" y="4191000"/>
            <a:ext cx="36576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800" i="1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Consequences?</a:t>
            </a:r>
            <a:endParaRPr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800" i="1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Likelihood?</a:t>
            </a:r>
            <a:endParaRPr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795732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58;p5" descr="20140924_190418a"/>
          <p:cNvPicPr preferRelativeResize="0"/>
          <p:nvPr/>
        </p:nvPicPr>
        <p:blipFill rotWithShape="1">
          <a:blip r:embed="rId3">
            <a:alphaModFix/>
          </a:blip>
          <a:srcRect l="5836" b="19248"/>
          <a:stretch/>
        </p:blipFill>
        <p:spPr>
          <a:xfrm>
            <a:off x="288000" y="828000"/>
            <a:ext cx="8460000" cy="532800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about now?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" name="Google Shape;146;p4"/>
          <p:cNvSpPr txBox="1"/>
          <p:nvPr/>
        </p:nvSpPr>
        <p:spPr>
          <a:xfrm>
            <a:off x="2209800" y="4191000"/>
            <a:ext cx="36576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800" i="1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Consequences?</a:t>
            </a:r>
            <a:endParaRPr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800" i="1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Likelihood?</a:t>
            </a:r>
            <a:endParaRPr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22906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a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function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</a:t>
            </a:r>
            <a:r>
              <a:rPr lang="en-US" altLang="en-US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</a:t>
            </a:r>
            <a:r>
              <a:rPr lang="en-US" altLang="en-US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Likelihood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lvl="0" indent="-457200"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Hazards help inform us about </a:t>
            </a:r>
            <a:r>
              <a:rPr lang="en-US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“What can go wrong”</a:t>
            </a:r>
            <a:endParaRPr lang="en-US"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57200" lvl="0" indent="-457200"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Consequence is “</a:t>
            </a:r>
            <a:r>
              <a:rPr lang="en-US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bad it can be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</a:t>
            </a:r>
            <a:endParaRPr lang="en-US"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57200" lvl="0" indent="-457200"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Likelihood is “</a:t>
            </a:r>
            <a:r>
              <a:rPr lang="en-US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likely </a:t>
            </a:r>
            <a:r>
              <a:rPr lang="en-US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it is to occur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lang="en-US"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57200" lvl="0" indent="-457200"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</a:t>
            </a:r>
            <a:r>
              <a:rPr lang="en-US" b="0" u="sng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estimate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both </a:t>
            </a:r>
            <a:r>
              <a:rPr lang="en-US" b="0" u="sng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consequence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b="0" u="sng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likelihood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to determine “R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isk”</a:t>
            </a:r>
            <a:endParaRPr lang="en-US"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Concept of Risk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9" name="Google Shape;174;p6"/>
          <p:cNvSpPr/>
          <p:nvPr/>
        </p:nvSpPr>
        <p:spPr>
          <a:xfrm>
            <a:off x="3574573" y="4261243"/>
            <a:ext cx="1920240" cy="66632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3634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Risk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175;p6"/>
          <p:cNvSpPr/>
          <p:nvPr/>
        </p:nvSpPr>
        <p:spPr>
          <a:xfrm>
            <a:off x="762001" y="3200400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How bad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can it be?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176;p6"/>
          <p:cNvSpPr/>
          <p:nvPr/>
        </p:nvSpPr>
        <p:spPr>
          <a:xfrm>
            <a:off x="6411686" y="3200401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How likely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/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is it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 occur?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177;p6"/>
          <p:cNvSpPr/>
          <p:nvPr/>
        </p:nvSpPr>
        <p:spPr>
          <a:xfrm>
            <a:off x="3574573" y="3200401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What can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/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go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wrong?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3" name="Google Shape;178;p6"/>
          <p:cNvCxnSpPr>
            <a:stCxn id="20" idx="3"/>
            <a:endCxn id="22" idx="1"/>
          </p:cNvCxnSpPr>
          <p:nvPr/>
        </p:nvCxnSpPr>
        <p:spPr>
          <a:xfrm>
            <a:off x="2682241" y="3566160"/>
            <a:ext cx="892332" cy="1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" name="Google Shape;179;p6"/>
          <p:cNvCxnSpPr>
            <a:stCxn id="22" idx="3"/>
            <a:endCxn id="21" idx="1"/>
          </p:cNvCxnSpPr>
          <p:nvPr/>
        </p:nvCxnSpPr>
        <p:spPr>
          <a:xfrm>
            <a:off x="5494813" y="3566161"/>
            <a:ext cx="916873" cy="0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" name="Google Shape;180;p6"/>
          <p:cNvCxnSpPr>
            <a:stCxn id="22" idx="2"/>
            <a:endCxn id="19" idx="0"/>
          </p:cNvCxnSpPr>
          <p:nvPr/>
        </p:nvCxnSpPr>
        <p:spPr>
          <a:xfrm>
            <a:off x="4534693" y="3931921"/>
            <a:ext cx="0" cy="329322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81;p6"/>
          <p:cNvCxnSpPr>
            <a:stCxn id="20" idx="2"/>
            <a:endCxn id="19" idx="2"/>
          </p:cNvCxnSpPr>
          <p:nvPr/>
        </p:nvCxnSpPr>
        <p:spPr>
          <a:xfrm>
            <a:off x="1722121" y="3931920"/>
            <a:ext cx="1852452" cy="662483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7" name="Google Shape;182;p6"/>
          <p:cNvCxnSpPr>
            <a:stCxn id="21" idx="2"/>
            <a:endCxn id="19" idx="6"/>
          </p:cNvCxnSpPr>
          <p:nvPr/>
        </p:nvCxnSpPr>
        <p:spPr>
          <a:xfrm flipH="1">
            <a:off x="5494813" y="3931921"/>
            <a:ext cx="1876993" cy="662482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41929593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the </a:t>
            </a:r>
            <a:r>
              <a:rPr lang="en-US" altLang="en-US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Level of Risk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 us to do the activity, or not?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lvl="0" indent="-457200"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 that we have estimated the “risk” we decide whether we want to do the activity or not. </a:t>
            </a:r>
            <a:endParaRPr lang="en-US"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57200" lvl="0" indent="-457200"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Another way of saying it, “Something is “safe” if its risks are judged to be acceptable.”</a:t>
            </a:r>
            <a:endParaRPr lang="en-US"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Concept of </a:t>
            </a: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7" name="Google Shape;174;p6"/>
          <p:cNvSpPr/>
          <p:nvPr/>
        </p:nvSpPr>
        <p:spPr>
          <a:xfrm>
            <a:off x="3574573" y="4261243"/>
            <a:ext cx="1920240" cy="66632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3634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Risk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175;p6"/>
          <p:cNvSpPr/>
          <p:nvPr/>
        </p:nvSpPr>
        <p:spPr>
          <a:xfrm>
            <a:off x="762001" y="3200400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How bad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can it be?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176;p6"/>
          <p:cNvSpPr/>
          <p:nvPr/>
        </p:nvSpPr>
        <p:spPr>
          <a:xfrm>
            <a:off x="6411686" y="3200401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How likely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/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is it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 occur?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177;p6"/>
          <p:cNvSpPr/>
          <p:nvPr/>
        </p:nvSpPr>
        <p:spPr>
          <a:xfrm>
            <a:off x="3574573" y="3200401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What can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/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go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wrong?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1" name="Google Shape;178;p6"/>
          <p:cNvCxnSpPr>
            <a:stCxn id="28" idx="3"/>
            <a:endCxn id="30" idx="1"/>
          </p:cNvCxnSpPr>
          <p:nvPr/>
        </p:nvCxnSpPr>
        <p:spPr>
          <a:xfrm>
            <a:off x="2682241" y="3566160"/>
            <a:ext cx="892332" cy="1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" name="Google Shape;179;p6"/>
          <p:cNvCxnSpPr>
            <a:stCxn id="30" idx="3"/>
            <a:endCxn id="29" idx="1"/>
          </p:cNvCxnSpPr>
          <p:nvPr/>
        </p:nvCxnSpPr>
        <p:spPr>
          <a:xfrm>
            <a:off x="5494813" y="3566161"/>
            <a:ext cx="916873" cy="0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" name="Google Shape;180;p6"/>
          <p:cNvCxnSpPr>
            <a:stCxn id="30" idx="2"/>
            <a:endCxn id="27" idx="0"/>
          </p:cNvCxnSpPr>
          <p:nvPr/>
        </p:nvCxnSpPr>
        <p:spPr>
          <a:xfrm>
            <a:off x="4534693" y="3931921"/>
            <a:ext cx="0" cy="329322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4" name="Google Shape;181;p6"/>
          <p:cNvCxnSpPr>
            <a:stCxn id="28" idx="2"/>
            <a:endCxn id="27" idx="2"/>
          </p:cNvCxnSpPr>
          <p:nvPr/>
        </p:nvCxnSpPr>
        <p:spPr>
          <a:xfrm>
            <a:off x="1722121" y="3931920"/>
            <a:ext cx="1852452" cy="662483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5" name="Google Shape;182;p6"/>
          <p:cNvCxnSpPr>
            <a:stCxn id="29" idx="2"/>
            <a:endCxn id="27" idx="6"/>
          </p:cNvCxnSpPr>
          <p:nvPr/>
        </p:nvCxnSpPr>
        <p:spPr>
          <a:xfrm flipH="1">
            <a:off x="5494813" y="3931921"/>
            <a:ext cx="1876993" cy="662482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6" name="Diamond 35"/>
          <p:cNvSpPr/>
          <p:nvPr/>
        </p:nvSpPr>
        <p:spPr>
          <a:xfrm>
            <a:off x="2873532" y="5271302"/>
            <a:ext cx="3322321" cy="893813"/>
          </a:xfrm>
          <a:prstGeom prst="diamond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3634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Is Risk Acceptable?</a:t>
            </a:r>
          </a:p>
        </p:txBody>
      </p:sp>
      <p:sp>
        <p:nvSpPr>
          <p:cNvPr id="37" name="Google Shape;175;p6"/>
          <p:cNvSpPr/>
          <p:nvPr/>
        </p:nvSpPr>
        <p:spPr>
          <a:xfrm>
            <a:off x="575699" y="5256885"/>
            <a:ext cx="1920240" cy="9114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Do NOT do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(or stop doing)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 activity.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8" name="Google Shape;180;p6"/>
          <p:cNvCxnSpPr>
            <a:stCxn id="27" idx="4"/>
            <a:endCxn id="36" idx="0"/>
          </p:cNvCxnSpPr>
          <p:nvPr/>
        </p:nvCxnSpPr>
        <p:spPr>
          <a:xfrm>
            <a:off x="4534693" y="4927563"/>
            <a:ext cx="0" cy="343739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9" name="Google Shape;175;p6"/>
          <p:cNvSpPr/>
          <p:nvPr/>
        </p:nvSpPr>
        <p:spPr>
          <a:xfrm>
            <a:off x="6637020" y="5256885"/>
            <a:ext cx="1920240" cy="9114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Do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(or keep doing)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 activity.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40" name="Google Shape;182;p6"/>
          <p:cNvCxnSpPr>
            <a:stCxn id="36" idx="3"/>
            <a:endCxn id="39" idx="1"/>
          </p:cNvCxnSpPr>
          <p:nvPr/>
        </p:nvCxnSpPr>
        <p:spPr>
          <a:xfrm flipV="1">
            <a:off x="6195853" y="5712592"/>
            <a:ext cx="441167" cy="5617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1" name="Google Shape;182;p6"/>
          <p:cNvCxnSpPr>
            <a:stCxn id="36" idx="1"/>
            <a:endCxn id="37" idx="3"/>
          </p:cNvCxnSpPr>
          <p:nvPr/>
        </p:nvCxnSpPr>
        <p:spPr>
          <a:xfrm flipH="1" flipV="1">
            <a:off x="2495939" y="5712592"/>
            <a:ext cx="377593" cy="5617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2" name="TextBox 41"/>
          <p:cNvSpPr txBox="1"/>
          <p:nvPr/>
        </p:nvSpPr>
        <p:spPr>
          <a:xfrm>
            <a:off x="2409941" y="5307452"/>
            <a:ext cx="6662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NO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970814" y="5322670"/>
            <a:ext cx="6662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YES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85411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the </a:t>
            </a:r>
            <a:r>
              <a:rPr lang="en-US" altLang="en-US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Level of Risk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NOT acceptable, what can we do to reduce it?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lvl="0" indent="-457200"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the likelihood, reduce the consequence, or </a:t>
            </a:r>
            <a:b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eliminate the hazard …</a:t>
            </a:r>
            <a:endParaRPr lang="en-US"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Concept of </a:t>
            </a: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Google Shape;174;p6"/>
          <p:cNvSpPr/>
          <p:nvPr/>
        </p:nvSpPr>
        <p:spPr>
          <a:xfrm>
            <a:off x="3574573" y="4261243"/>
            <a:ext cx="1920240" cy="66632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3634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Risk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Google Shape;175;p6"/>
          <p:cNvSpPr/>
          <p:nvPr/>
        </p:nvSpPr>
        <p:spPr>
          <a:xfrm>
            <a:off x="762001" y="3200400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How bad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can it be?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Google Shape;176;p6"/>
          <p:cNvSpPr/>
          <p:nvPr/>
        </p:nvSpPr>
        <p:spPr>
          <a:xfrm>
            <a:off x="6411686" y="3200401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How likely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/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is it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 occur?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177;p6"/>
          <p:cNvSpPr/>
          <p:nvPr/>
        </p:nvSpPr>
        <p:spPr>
          <a:xfrm>
            <a:off x="3574573" y="3200401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What can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/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go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wrong?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4" name="Google Shape;178;p6"/>
          <p:cNvCxnSpPr>
            <a:stCxn id="7" idx="3"/>
            <a:endCxn id="11" idx="1"/>
          </p:cNvCxnSpPr>
          <p:nvPr/>
        </p:nvCxnSpPr>
        <p:spPr>
          <a:xfrm>
            <a:off x="2682241" y="3566160"/>
            <a:ext cx="892332" cy="1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" name="Google Shape;179;p6"/>
          <p:cNvCxnSpPr>
            <a:stCxn id="11" idx="3"/>
            <a:endCxn id="10" idx="1"/>
          </p:cNvCxnSpPr>
          <p:nvPr/>
        </p:nvCxnSpPr>
        <p:spPr>
          <a:xfrm>
            <a:off x="5494813" y="3566161"/>
            <a:ext cx="916873" cy="0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" name="Google Shape;180;p6"/>
          <p:cNvCxnSpPr>
            <a:stCxn id="11" idx="2"/>
            <a:endCxn id="6" idx="0"/>
          </p:cNvCxnSpPr>
          <p:nvPr/>
        </p:nvCxnSpPr>
        <p:spPr>
          <a:xfrm>
            <a:off x="4534693" y="3931921"/>
            <a:ext cx="0" cy="329322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" name="Google Shape;181;p6"/>
          <p:cNvCxnSpPr>
            <a:stCxn id="7" idx="2"/>
            <a:endCxn id="6" idx="2"/>
          </p:cNvCxnSpPr>
          <p:nvPr/>
        </p:nvCxnSpPr>
        <p:spPr>
          <a:xfrm>
            <a:off x="1722121" y="3931920"/>
            <a:ext cx="1852452" cy="662483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8" name="Google Shape;182;p6"/>
          <p:cNvCxnSpPr>
            <a:stCxn id="10" idx="2"/>
            <a:endCxn id="6" idx="6"/>
          </p:cNvCxnSpPr>
          <p:nvPr/>
        </p:nvCxnSpPr>
        <p:spPr>
          <a:xfrm flipH="1">
            <a:off x="5494813" y="3931921"/>
            <a:ext cx="1876993" cy="662482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9" name="Diamond 18"/>
          <p:cNvSpPr/>
          <p:nvPr/>
        </p:nvSpPr>
        <p:spPr>
          <a:xfrm>
            <a:off x="2873532" y="5271302"/>
            <a:ext cx="3322321" cy="893813"/>
          </a:xfrm>
          <a:prstGeom prst="diamond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3634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Is Risk Acceptable?</a:t>
            </a:r>
          </a:p>
        </p:txBody>
      </p:sp>
      <p:sp>
        <p:nvSpPr>
          <p:cNvPr id="20" name="Google Shape;175;p6"/>
          <p:cNvSpPr/>
          <p:nvPr/>
        </p:nvSpPr>
        <p:spPr>
          <a:xfrm>
            <a:off x="575699" y="5256885"/>
            <a:ext cx="1920240" cy="9114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Do NOT do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(or stop doing)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 activity.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1" name="Google Shape;180;p6"/>
          <p:cNvCxnSpPr>
            <a:stCxn id="6" idx="4"/>
            <a:endCxn id="19" idx="0"/>
          </p:cNvCxnSpPr>
          <p:nvPr/>
        </p:nvCxnSpPr>
        <p:spPr>
          <a:xfrm>
            <a:off x="4534693" y="4927563"/>
            <a:ext cx="0" cy="343739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2" name="Google Shape;175;p6"/>
          <p:cNvSpPr/>
          <p:nvPr/>
        </p:nvSpPr>
        <p:spPr>
          <a:xfrm>
            <a:off x="6637020" y="5256885"/>
            <a:ext cx="1920240" cy="9114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Do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(or keep doing)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 activity.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3" name="Google Shape;182;p6"/>
          <p:cNvCxnSpPr>
            <a:stCxn id="19" idx="3"/>
            <a:endCxn id="22" idx="1"/>
          </p:cNvCxnSpPr>
          <p:nvPr/>
        </p:nvCxnSpPr>
        <p:spPr>
          <a:xfrm flipV="1">
            <a:off x="6195853" y="5712592"/>
            <a:ext cx="441167" cy="5617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182;p6"/>
          <p:cNvCxnSpPr>
            <a:stCxn id="19" idx="1"/>
            <a:endCxn id="20" idx="3"/>
          </p:cNvCxnSpPr>
          <p:nvPr/>
        </p:nvCxnSpPr>
        <p:spPr>
          <a:xfrm flipH="1" flipV="1">
            <a:off x="2495939" y="5712592"/>
            <a:ext cx="377593" cy="5617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2409941" y="5307452"/>
            <a:ext cx="6662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NO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70814" y="5322670"/>
            <a:ext cx="6662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YES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175;p6"/>
          <p:cNvSpPr/>
          <p:nvPr/>
        </p:nvSpPr>
        <p:spPr>
          <a:xfrm>
            <a:off x="641680" y="2285953"/>
            <a:ext cx="2111531" cy="914446"/>
          </a:xfrm>
          <a:prstGeom prst="downArrow">
            <a:avLst>
              <a:gd name="adj1" fmla="val 81328"/>
              <a:gd name="adj2" fmla="val 50000"/>
            </a:avLst>
          </a:prstGeom>
          <a:solidFill>
            <a:srgbClr val="00B0F0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Reduce the consequence</a:t>
            </a:r>
            <a:endParaRPr kumimoji="0" sz="18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176;p6"/>
          <p:cNvSpPr/>
          <p:nvPr/>
        </p:nvSpPr>
        <p:spPr>
          <a:xfrm>
            <a:off x="6291365" y="2285954"/>
            <a:ext cx="2111531" cy="914446"/>
          </a:xfrm>
          <a:prstGeom prst="downArrow">
            <a:avLst>
              <a:gd name="adj1" fmla="val 80075"/>
              <a:gd name="adj2" fmla="val 50000"/>
            </a:avLst>
          </a:prstGeom>
          <a:solidFill>
            <a:srgbClr val="00B0F0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Reduce the likelihood</a:t>
            </a:r>
          </a:p>
        </p:txBody>
      </p:sp>
      <p:sp>
        <p:nvSpPr>
          <p:cNvPr id="34" name="Google Shape;177;p6"/>
          <p:cNvSpPr/>
          <p:nvPr/>
        </p:nvSpPr>
        <p:spPr>
          <a:xfrm>
            <a:off x="3454252" y="2285954"/>
            <a:ext cx="2111531" cy="914446"/>
          </a:xfrm>
          <a:prstGeom prst="downArrow">
            <a:avLst>
              <a:gd name="adj1" fmla="val 82582"/>
              <a:gd name="adj2" fmla="val 50000"/>
            </a:avLst>
          </a:prstGeom>
          <a:solidFill>
            <a:srgbClr val="00B0F0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Eliminate the hazard</a:t>
            </a:r>
            <a:endParaRPr kumimoji="0" sz="18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87442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Example of Risk in an Industrial </a:t>
            </a: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Operation:</a:t>
            </a:r>
            <a:endParaRPr lang="en-US" altLang="en-US" sz="24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defRPr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/>
          <a:lstStyle/>
          <a:p>
            <a:pPr lvl="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defRPr/>
            </a:pPr>
            <a:r>
              <a:rPr lang="en-US" sz="2000" b="0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“</a:t>
            </a:r>
            <a:r>
              <a:rPr lang="en-US" sz="2000" b="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Operating a high-pressure natural gas transmission pipe-line through a city. (Not construction or maintenance.)”</a:t>
            </a:r>
          </a:p>
          <a:p>
            <a:pPr marL="457200" lvl="0" indent="-45720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Char char="⮚"/>
              <a:defRPr/>
            </a:pPr>
            <a:r>
              <a:rPr lang="en-US" sz="2000" b="0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What </a:t>
            </a:r>
            <a:r>
              <a:rPr lang="en-US" sz="2000" b="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are the </a:t>
            </a:r>
            <a:r>
              <a:rPr lang="en-US" sz="2000" b="0" u="sng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Sources of Energy</a:t>
            </a:r>
            <a:r>
              <a:rPr lang="en-US" sz="2000" b="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?  </a:t>
            </a:r>
            <a:endParaRPr lang="en-US" sz="2000" b="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457200" lvl="0" indent="-45720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Char char="⮚"/>
              <a:defRPr/>
            </a:pPr>
            <a:r>
              <a:rPr lang="en-US" sz="2000" b="0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What </a:t>
            </a:r>
            <a:r>
              <a:rPr lang="en-US" sz="2000" b="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is one main risk (one of very few risks) posed by a pipeline? </a:t>
            </a:r>
            <a:endParaRPr lang="en-US" sz="2000" b="0" kern="0" dirty="0" smtClea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457200" lvl="0" indent="-45720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Char char="⮚"/>
              <a:defRPr/>
            </a:pPr>
            <a:endParaRPr lang="en-US" sz="2000" b="0" kern="0" dirty="0" smtClean="0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Arial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defRPr/>
            </a:pPr>
            <a:r>
              <a:rPr lang="en-US" sz="2000" b="0" kern="0" dirty="0" smtClean="0">
                <a:solidFill>
                  <a:srgbClr val="FFFFFF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Arial"/>
              </a:rPr>
              <a:t>Acceptable Analysis:</a:t>
            </a:r>
            <a:endParaRPr lang="en-US" sz="2000" b="0" kern="0" dirty="0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Arial"/>
            </a:endParaRPr>
          </a:p>
          <a:p>
            <a:pPr marL="457200" lvl="0" indent="-457200" fontAlgn="auto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b="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Energy sources: flammable gas and pressure.  </a:t>
            </a:r>
          </a:p>
          <a:p>
            <a:pPr marL="457200" lvl="0" indent="-457200" fontAlgn="auto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b="0" kern="0" dirty="0" smtClea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One </a:t>
            </a:r>
            <a:r>
              <a:rPr lang="en-US" sz="2000" b="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main risk in simplest of terms, is a leak. </a:t>
            </a:r>
          </a:p>
          <a:p>
            <a:pPr marL="457200" lvl="0" indent="-457200" fontAlgn="auto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b="0" kern="0" dirty="0" smtClea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A </a:t>
            </a:r>
            <a:r>
              <a:rPr lang="en-US" sz="2000" b="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leak originates with a breach in the integrity of the pipe wall by any number of causes. </a:t>
            </a:r>
          </a:p>
          <a:p>
            <a:pPr marL="457200" lvl="0" indent="-457200" fontAlgn="auto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b="0" kern="0" dirty="0" smtClea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The </a:t>
            </a:r>
            <a:r>
              <a:rPr lang="en-US" sz="2000" b="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leak can result in many other possible outcomes:</a:t>
            </a:r>
          </a:p>
          <a:p>
            <a:pPr marL="742950" lvl="1" indent="-285750" fontAlgn="auto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ct val="100000"/>
              <a:buFont typeface="Noto Sans Symbols"/>
              <a:buChar char="⮚"/>
              <a:defRPr/>
            </a:pPr>
            <a:r>
              <a:rPr lang="en-US" sz="2000" b="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no ignition and dispersal, </a:t>
            </a:r>
          </a:p>
          <a:p>
            <a:pPr marL="742950" lvl="1" indent="-285750" fontAlgn="auto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ct val="100000"/>
              <a:buFont typeface="Noto Sans Symbols"/>
              <a:buChar char="⮚"/>
              <a:defRPr/>
            </a:pPr>
            <a:r>
              <a:rPr lang="en-US" sz="2000" b="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immediate ignition and a fire, or </a:t>
            </a:r>
          </a:p>
          <a:p>
            <a:pPr marL="742950" lvl="1" indent="-285750" fontAlgn="auto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ct val="100000"/>
              <a:buFont typeface="Noto Sans Symbols"/>
              <a:buChar char="⮚"/>
              <a:defRPr/>
            </a:pPr>
            <a:r>
              <a:rPr lang="en-US" sz="2000" b="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delayed ignition and a </a:t>
            </a:r>
            <a:r>
              <a:rPr lang="en-US" sz="2000" b="0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vapour</a:t>
            </a:r>
            <a:r>
              <a:rPr lang="en-US" sz="2000" b="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 cloud explosion</a:t>
            </a:r>
            <a:r>
              <a:rPr lang="en-US" sz="2000" b="0" kern="0" dirty="0" smtClea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.</a:t>
            </a:r>
            <a:endParaRPr kumimoji="0" lang="en-US" altLang="en-US" sz="2000" b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9988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Factors Increasing </a:t>
            </a:r>
            <a:r>
              <a:rPr lang="en-US" altLang="en-US" sz="2400" b="0" u="sng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Likelihood</a:t>
            </a: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graphicFrame>
        <p:nvGraphicFramePr>
          <p:cNvPr id="6" name="Google Shape;230;p10"/>
          <p:cNvGraphicFramePr/>
          <p:nvPr>
            <p:extLst>
              <p:ext uri="{D42A27DB-BD31-4B8C-83A1-F6EECF244321}">
                <p14:modId xmlns:p14="http://schemas.microsoft.com/office/powerpoint/2010/main" val="3061212367"/>
              </p:ext>
            </p:extLst>
          </p:nvPr>
        </p:nvGraphicFramePr>
        <p:xfrm>
          <a:off x="180000" y="828000"/>
          <a:ext cx="8640000" cy="4963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6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862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Pipeline Integrity – </a:t>
                      </a:r>
                      <a:r>
                        <a:rPr lang="en-US" sz="2000" b="0" i="0" u="sng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Initial</a:t>
                      </a: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</a:t>
                      </a:r>
                      <a:endParaRPr sz="2000"/>
                    </a:p>
                    <a:p>
                      <a:pPr marL="0" marR="0" lvl="0" indent="-101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Char char="⮚"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Sub-standard condition of pipeline</a:t>
                      </a: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poor choice or quality of materials of construction; defects during manufacturing or fabrication; damaged during installation</a:t>
                      </a:r>
                      <a:endParaRPr sz="20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9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Pipeline Integrity - </a:t>
                      </a:r>
                      <a:r>
                        <a:rPr lang="en-US" sz="2000" b="0" i="0" u="sng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On-going in Operation</a:t>
                      </a: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</a:t>
                      </a:r>
                      <a:endParaRPr sz="2000" dirty="0"/>
                    </a:p>
                    <a:p>
                      <a:pPr marL="0" marR="0" lvl="0" indent="-101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Char char="⮚"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Substandard maintenance practices</a:t>
                      </a: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lack of planned preventative maintenance, lack of inspection, lack of follow-up on inspection results; </a:t>
                      </a:r>
                      <a:endParaRPr sz="20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-101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Char char="⮚"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Substandard operating practices</a:t>
                      </a: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excessive pressure, excessive flow-rate, internal erosion, poor controls on impurities; poor </a:t>
                      </a:r>
                      <a:r>
                        <a:rPr lang="en-US" sz="20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cathodic</a:t>
                      </a: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protection, pitting corrosion, gas acidity and humidity; </a:t>
                      </a:r>
                      <a:endParaRPr sz="20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-101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Char char="⮚"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Proximity of activities to the pipeline </a:t>
                      </a: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 non-intended contact and breach of pipeline wall integrity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6216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Factors Increasing </a:t>
            </a:r>
            <a:r>
              <a:rPr lang="en-US" altLang="en-US" sz="2400" b="0" u="sng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Consequence:</a:t>
            </a:r>
            <a:endParaRPr lang="en-US" altLang="en-US" sz="2400" b="0" u="sng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graphicFrame>
        <p:nvGraphicFramePr>
          <p:cNvPr id="7" name="Google Shape;242;p11"/>
          <p:cNvGraphicFramePr/>
          <p:nvPr>
            <p:extLst>
              <p:ext uri="{D42A27DB-BD31-4B8C-83A1-F6EECF244321}">
                <p14:modId xmlns:p14="http://schemas.microsoft.com/office/powerpoint/2010/main" val="3628183806"/>
              </p:ext>
            </p:extLst>
          </p:nvPr>
        </p:nvGraphicFramePr>
        <p:xfrm>
          <a:off x="180000" y="828000"/>
          <a:ext cx="8640000" cy="1524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6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Proximity to high-user areas (residences, schools, etc.) and other facilities.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potential quantity released in event of a loss of containment.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presence of a potential ignition source.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8069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is a function of consequence</a:t>
            </a:r>
            <a:r>
              <a:rPr kumimoji="0" lang="en-US" altLang="en-US" sz="20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likelihood.</a:t>
            </a:r>
            <a:endParaRPr kumimoji="0" lang="en-US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 derive risks from hazards.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 combine consequence &amp; likelihood to estimate the risk levels.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 focus on hazards, consequences, and/or likelihood factors to understand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explain the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levels … 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THEN we can determine possible ways and means to reduce the Level of Risk.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262704"/>
            <a:ext cx="5691162" cy="289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130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69169</TotalTime>
  <Words>782</Words>
  <Application>Microsoft Office PowerPoint</Application>
  <PresentationFormat>On-screen Show (4:3)</PresentationFormat>
  <Paragraphs>142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ＭＳ Ｐゴシック</vt:lpstr>
      <vt:lpstr>Arial</vt:lpstr>
      <vt:lpstr>Calibri</vt:lpstr>
      <vt:lpstr>Noto Sans Symbols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JR Cocchio</cp:lastModifiedBy>
  <cp:revision>1944</cp:revision>
  <cp:lastPrinted>2018-12-17T22:21:47Z</cp:lastPrinted>
  <dcterms:created xsi:type="dcterms:W3CDTF">2007-03-28T16:18:47Z</dcterms:created>
  <dcterms:modified xsi:type="dcterms:W3CDTF">2021-05-17T15:12:01Z</dcterms:modified>
</cp:coreProperties>
</file>