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77" r:id="rId2"/>
    <p:sldMasterId id="2147483682" r:id="rId3"/>
  </p:sldMasterIdLst>
  <p:notesMasterIdLst>
    <p:notesMasterId r:id="rId30"/>
  </p:notesMasterIdLst>
  <p:sldIdLst>
    <p:sldId id="936" r:id="rId4"/>
    <p:sldId id="964" r:id="rId5"/>
    <p:sldId id="970" r:id="rId6"/>
    <p:sldId id="995" r:id="rId7"/>
    <p:sldId id="967" r:id="rId8"/>
    <p:sldId id="968" r:id="rId9"/>
    <p:sldId id="991" r:id="rId10"/>
    <p:sldId id="941" r:id="rId11"/>
    <p:sldId id="957" r:id="rId12"/>
    <p:sldId id="994" r:id="rId13"/>
    <p:sldId id="956" r:id="rId14"/>
    <p:sldId id="963" r:id="rId15"/>
    <p:sldId id="989" r:id="rId16"/>
    <p:sldId id="996" r:id="rId17"/>
    <p:sldId id="975" r:id="rId18"/>
    <p:sldId id="976" r:id="rId19"/>
    <p:sldId id="998" r:id="rId20"/>
    <p:sldId id="999" r:id="rId21"/>
    <p:sldId id="980" r:id="rId22"/>
    <p:sldId id="981" r:id="rId23"/>
    <p:sldId id="982" r:id="rId24"/>
    <p:sldId id="985" r:id="rId25"/>
    <p:sldId id="984" r:id="rId26"/>
    <p:sldId id="986" r:id="rId27"/>
    <p:sldId id="1000" r:id="rId28"/>
    <p:sldId id="1001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66FFFF"/>
    <a:srgbClr val="00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3" autoAdjust="0"/>
    <p:restoredTop sz="82365" autoAdjust="0"/>
  </p:normalViewPr>
  <p:slideViewPr>
    <p:cSldViewPr snapToGrid="0">
      <p:cViewPr varScale="1">
        <p:scale>
          <a:sx n="58" d="100"/>
          <a:sy n="58" d="100"/>
        </p:scale>
        <p:origin x="154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-43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D01605-9933-414D-AAEA-A731BC5BC7A0}" type="datetimeFigureOut">
              <a:rPr lang="en-US" smtClean="0"/>
              <a:t>9/29/2021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23C8-CA35-437B-A178-6A5CC5604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61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7651" name="Rectangle 3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baseline="0" dirty="0"/>
          </a:p>
        </p:txBody>
      </p:sp>
    </p:spTree>
    <p:extLst>
      <p:ext uri="{BB962C8B-B14F-4D97-AF65-F5344CB8AC3E}">
        <p14:creationId xmlns:p14="http://schemas.microsoft.com/office/powerpoint/2010/main" val="1800767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957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3429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905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Use your risk matrix and risk criteria table</a:t>
            </a:r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23603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6816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053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ENGG406 2015W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3-March-2015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2715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E0E8D8-AE63-4BAB-AE10-86197CF9CB04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2715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09" name="Rectangle 7"/>
          <p:cNvSpPr txBox="1">
            <a:spLocks noGrp="1" noChangeArrowheads="1"/>
          </p:cNvSpPr>
          <p:nvPr/>
        </p:nvSpPr>
        <p:spPr bwMode="auto">
          <a:xfrm>
            <a:off x="3974250" y="8831898"/>
            <a:ext cx="3036150" cy="464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122" tIns="46561" rIns="93122" bIns="46561" anchor="b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6B2B90-B612-42CC-80D2-4870E63A5117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b="1" dirty="0"/>
              <a:t>Make sure to point out </a:t>
            </a:r>
            <a:r>
              <a:rPr lang="en-CA" dirty="0"/>
              <a:t>the difference between implementing control measures to decrease the likelihood versus those employed to decrease consequence</a:t>
            </a: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CA" dirty="0"/>
              <a:t>Also point out the fact that you can have a control measure that decreases the L, the C, or both</a:t>
            </a: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CA" dirty="0"/>
              <a:t>Speak to midterm exam question regarding training for workers on SOPs (preventing the degradation of safety systems) – will reduce the likelihood, but only to M because mgmt. would need to do inspections and follow up to decrease to L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788524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04605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3275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242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ENGG406 2015W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3-March-2015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2715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E0E8D8-AE63-4BAB-AE10-86197CF9CB04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2715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09" name="Rectangle 7"/>
          <p:cNvSpPr txBox="1">
            <a:spLocks noGrp="1" noChangeArrowheads="1"/>
          </p:cNvSpPr>
          <p:nvPr/>
        </p:nvSpPr>
        <p:spPr bwMode="auto">
          <a:xfrm>
            <a:off x="3974250" y="8831898"/>
            <a:ext cx="3036150" cy="464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122" tIns="46561" rIns="93122" bIns="46561" anchor="b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6B2B90-B612-42CC-80D2-4870E63A5117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89167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9084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267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11649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13141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7613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9537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Use your risk matrix and risk criteria table</a:t>
            </a:r>
          </a:p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4085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715591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6872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ENGG406 2015W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30321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30321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30321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t>3-March-2015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1721" indent="-285277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1110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597553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3997" indent="-228222" defTabSz="927152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0440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66884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3328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79772" indent="-228222" defTabSz="927152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2715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E0E8D8-AE63-4BAB-AE10-86197CF9CB04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2715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09" name="Rectangle 7"/>
          <p:cNvSpPr txBox="1">
            <a:spLocks noGrp="1" noChangeArrowheads="1"/>
          </p:cNvSpPr>
          <p:nvPr/>
        </p:nvSpPr>
        <p:spPr bwMode="auto">
          <a:xfrm>
            <a:off x="3974250" y="8831898"/>
            <a:ext cx="3036150" cy="4645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3122" tIns="46561" rIns="93122" bIns="46561" anchor="b"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B6B2B90-B612-42CC-80D2-4870E63A5117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  <p:sp>
        <p:nvSpPr>
          <p:cNvPr id="727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b="1" dirty="0"/>
              <a:t>Make sure to point out </a:t>
            </a:r>
            <a:r>
              <a:rPr lang="en-CA" dirty="0"/>
              <a:t>the difference between implementing control measures to decrease the likelihood versus those employed to decrease consequence</a:t>
            </a: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CA" dirty="0"/>
              <a:t>Also point out the fact that you can have a control measure that decreases the L, the C, or both</a:t>
            </a:r>
          </a:p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r>
              <a:rPr lang="en-CA" dirty="0"/>
              <a:t>Speak to midterm exam question regarding training for workers on SOPs (preventing the degradation of safety systems) – will reduce the likelihood, but only to M because mgmt. would need to do inspections and follow up to decrease to L</a:t>
            </a:r>
          </a:p>
          <a:p>
            <a:endParaRPr lang="en-US" altLang="en-US" dirty="0"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271155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1413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4446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7821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 txBox="1">
            <a:spLocks noGrp="1" noChangeArrowheads="1"/>
          </p:cNvSpPr>
          <p:nvPr/>
        </p:nvSpPr>
        <p:spPr bwMode="auto">
          <a:xfrm>
            <a:off x="3970250" y="8829564"/>
            <a:ext cx="3038956" cy="46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511" tIns="46256" rIns="92511" bIns="46256" anchor="b"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41DADFD-3BE4-4AB0-B910-544CAFF0BCC2}" type="slidenum">
              <a:rPr kumimoji="0" lang="en-US" altLang="en-US" sz="1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altLang="en-US" sz="12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880" y="4415844"/>
            <a:ext cx="5140641" cy="4182424"/>
          </a:xfrm>
          <a:noFill/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5030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905000"/>
            <a:ext cx="7772400" cy="1470025"/>
          </a:xfrm>
        </p:spPr>
        <p:txBody>
          <a:bodyPr/>
          <a:lstStyle>
            <a:lvl1pPr>
              <a:spcBef>
                <a:spcPct val="20000"/>
              </a:spcBef>
              <a:defRPr sz="3600" smtClean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60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8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itchFamily="2" charset="2"/>
              <a:buNone/>
              <a:defRPr smtClean="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19422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389" y="1120588"/>
            <a:ext cx="8153400" cy="5105400"/>
          </a:xfrm>
          <a:prstGeom prst="rect">
            <a:avLst/>
          </a:prstGeom>
        </p:spPr>
        <p:txBody>
          <a:bodyPr/>
          <a:lstStyle>
            <a:lvl1pPr marL="342900" indent="-342900">
              <a:buClrTx/>
              <a:buFont typeface="Wingdings" charset="2"/>
              <a:buChar char="§"/>
              <a:defRPr sz="2400">
                <a:solidFill>
                  <a:schemeClr val="tx1"/>
                </a:solidFill>
              </a:defRPr>
            </a:lvl1pPr>
            <a:lvl2pPr marL="742950" indent="-285750">
              <a:buClrTx/>
              <a:buFont typeface="Arial"/>
              <a:buChar char="•"/>
              <a:defRPr sz="2200">
                <a:solidFill>
                  <a:schemeClr val="tx1"/>
                </a:solidFill>
              </a:defRPr>
            </a:lvl2pPr>
            <a:lvl3pPr marL="1143000" indent="-228600">
              <a:buClrTx/>
              <a:buFont typeface="Arial"/>
              <a:buChar char="•"/>
              <a:defRPr sz="2000">
                <a:solidFill>
                  <a:schemeClr val="tx1"/>
                </a:solidFill>
              </a:defRPr>
            </a:lvl3pPr>
            <a:lvl4pPr marL="16002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4pPr>
            <a:lvl5pPr marL="20574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3686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168275"/>
            <a:ext cx="8229600" cy="563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77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8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5117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905000"/>
            <a:ext cx="7772400" cy="1470025"/>
          </a:xfrm>
        </p:spPr>
        <p:txBody>
          <a:bodyPr/>
          <a:lstStyle>
            <a:lvl1pPr>
              <a:spcBef>
                <a:spcPct val="20000"/>
              </a:spcBef>
              <a:defRPr sz="3600" smtClean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60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8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itchFamily="2" charset="2"/>
              <a:buNone/>
              <a:defRPr smtClean="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48577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389" y="1120588"/>
            <a:ext cx="8153400" cy="5105400"/>
          </a:xfrm>
          <a:prstGeom prst="rect">
            <a:avLst/>
          </a:prstGeom>
        </p:spPr>
        <p:txBody>
          <a:bodyPr/>
          <a:lstStyle>
            <a:lvl1pPr marL="342900" indent="-342900">
              <a:buClrTx/>
              <a:buFont typeface="Wingdings" charset="2"/>
              <a:buChar char="§"/>
              <a:defRPr sz="2400">
                <a:solidFill>
                  <a:schemeClr val="tx1"/>
                </a:solidFill>
              </a:defRPr>
            </a:lvl1pPr>
            <a:lvl2pPr marL="742950" indent="-285750">
              <a:buClrTx/>
              <a:buFont typeface="Arial"/>
              <a:buChar char="•"/>
              <a:defRPr sz="2200">
                <a:solidFill>
                  <a:schemeClr val="tx1"/>
                </a:solidFill>
              </a:defRPr>
            </a:lvl2pPr>
            <a:lvl3pPr marL="1143000" indent="-228600">
              <a:buClrTx/>
              <a:buFont typeface="Arial"/>
              <a:buChar char="•"/>
              <a:defRPr sz="2000">
                <a:solidFill>
                  <a:schemeClr val="tx1"/>
                </a:solidFill>
              </a:defRPr>
            </a:lvl3pPr>
            <a:lvl4pPr marL="16002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4pPr>
            <a:lvl5pPr marL="20574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1580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168275"/>
            <a:ext cx="8229600" cy="563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77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8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45349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8"/>
          <p:cNvSpPr>
            <a:spLocks noGrp="1" noChangeArrowheads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118CC2-884A-4430-8B4F-9976F3C29C24}" type="datetimeFigureOut">
              <a:rPr lang="en-US"/>
              <a:pPr>
                <a:defRPr/>
              </a:pPr>
              <a:t>9/29/2021</a:t>
            </a:fld>
            <a:endParaRPr lang="en-US"/>
          </a:p>
        </p:txBody>
      </p:sp>
      <p:sp>
        <p:nvSpPr>
          <p:cNvPr id="3" name="Rectangle 1029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1030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823322-A425-42F9-B4E6-DE1BA6748F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80385829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6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905000"/>
            <a:ext cx="7772400" cy="1470025"/>
          </a:xfrm>
        </p:spPr>
        <p:txBody>
          <a:bodyPr/>
          <a:lstStyle>
            <a:lvl1pPr>
              <a:spcBef>
                <a:spcPct val="20000"/>
              </a:spcBef>
              <a:defRPr sz="3600" smtClean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60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1148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pitchFamily="2" charset="2"/>
              <a:buNone/>
              <a:defRPr smtClean="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461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389" y="1120588"/>
            <a:ext cx="8153400" cy="5105400"/>
          </a:xfrm>
          <a:prstGeom prst="rect">
            <a:avLst/>
          </a:prstGeom>
        </p:spPr>
        <p:txBody>
          <a:bodyPr/>
          <a:lstStyle>
            <a:lvl1pPr marL="342900" indent="-342900">
              <a:buClrTx/>
              <a:buFont typeface="Wingdings" charset="2"/>
              <a:buChar char="§"/>
              <a:defRPr sz="2400">
                <a:solidFill>
                  <a:schemeClr val="tx1"/>
                </a:solidFill>
              </a:defRPr>
            </a:lvl1pPr>
            <a:lvl2pPr marL="742950" indent="-285750">
              <a:buClrTx/>
              <a:buFont typeface="Arial"/>
              <a:buChar char="•"/>
              <a:defRPr sz="2200">
                <a:solidFill>
                  <a:schemeClr val="tx1"/>
                </a:solidFill>
              </a:defRPr>
            </a:lvl2pPr>
            <a:lvl3pPr marL="1143000" indent="-228600">
              <a:buClrTx/>
              <a:buFont typeface="Arial"/>
              <a:buChar char="•"/>
              <a:defRPr sz="2000">
                <a:solidFill>
                  <a:schemeClr val="tx1"/>
                </a:solidFill>
              </a:defRPr>
            </a:lvl3pPr>
            <a:lvl4pPr marL="16002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4pPr>
            <a:lvl5pPr marL="2057400" indent="-228600">
              <a:buClrTx/>
              <a:buFont typeface="Arial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9462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850" y="168275"/>
            <a:ext cx="8229600" cy="563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77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8850" y="758825"/>
            <a:ext cx="4038600" cy="5718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5624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28"/>
          <p:cNvSpPr>
            <a:spLocks noGrp="1" noChangeArrowheads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53118CC2-884A-4430-8B4F-9976F3C29C24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9/29/2021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Rectangle 1029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Rectangle 1030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823322-A425-42F9-B4E6-DE1BA6748FF3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394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.jpeg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68275"/>
            <a:ext cx="81534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enter page Title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76200" y="7620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/>
          <p:cNvCxnSpPr/>
          <p:nvPr/>
        </p:nvCxnSpPr>
        <p:spPr>
          <a:xfrm>
            <a:off x="76200" y="62484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http://www.nanobridge.ca/Portals/0/Images/eng-logo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9" y="6307038"/>
            <a:ext cx="1838325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274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AA9C8F"/>
        </a:buClr>
        <a:buFont typeface="Wingdings" pitchFamily="2" charset="2"/>
        <a:buChar char="§"/>
        <a:defRPr sz="2800">
          <a:solidFill>
            <a:srgbClr val="4D4D4D"/>
          </a:solidFill>
          <a:latin typeface="Calibri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600">
          <a:solidFill>
            <a:schemeClr val="tx1"/>
          </a:solidFill>
          <a:latin typeface="Calibri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400">
          <a:solidFill>
            <a:schemeClr val="tx1"/>
          </a:solidFill>
          <a:latin typeface="Calibri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68275"/>
            <a:ext cx="81534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enter page Title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76200" y="7620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/>
          <p:cNvCxnSpPr/>
          <p:nvPr/>
        </p:nvCxnSpPr>
        <p:spPr>
          <a:xfrm>
            <a:off x="76200" y="62484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http://www.nanobridge.ca/Portals/0/Images/eng-logo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9" y="6307038"/>
            <a:ext cx="1838325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1003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AA9C8F"/>
        </a:buClr>
        <a:buFont typeface="Wingdings" pitchFamily="2" charset="2"/>
        <a:buChar char="§"/>
        <a:defRPr sz="2800">
          <a:solidFill>
            <a:srgbClr val="4D4D4D"/>
          </a:solidFill>
          <a:latin typeface="Calibri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600">
          <a:solidFill>
            <a:schemeClr val="tx1"/>
          </a:solidFill>
          <a:latin typeface="Calibri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400">
          <a:solidFill>
            <a:schemeClr val="tx1"/>
          </a:solidFill>
          <a:latin typeface="Calibri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68275"/>
            <a:ext cx="8153400" cy="56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enter page Title</a:t>
            </a:r>
          </a:p>
        </p:txBody>
      </p:sp>
      <p:cxnSp>
        <p:nvCxnSpPr>
          <p:cNvPr id="10" name="Straight Connector 9"/>
          <p:cNvCxnSpPr/>
          <p:nvPr/>
        </p:nvCxnSpPr>
        <p:spPr>
          <a:xfrm>
            <a:off x="76200" y="7620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/>
          <p:cNvCxnSpPr/>
          <p:nvPr/>
        </p:nvCxnSpPr>
        <p:spPr>
          <a:xfrm>
            <a:off x="76200" y="6248400"/>
            <a:ext cx="8763000" cy="1588"/>
          </a:xfrm>
          <a:prstGeom prst="line">
            <a:avLst/>
          </a:prstGeom>
          <a:ln w="9525">
            <a:solidFill>
              <a:srgbClr val="AA9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http://www.nanobridge.ca/Portals/0/Images/eng-logo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9" y="6307038"/>
            <a:ext cx="1838325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8719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>
          <a:solidFill>
            <a:srgbClr val="002C5F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 b="1">
          <a:solidFill>
            <a:srgbClr val="002C5F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AA9C8F"/>
        </a:buClr>
        <a:buFont typeface="Wingdings" pitchFamily="2" charset="2"/>
        <a:buChar char="§"/>
        <a:defRPr sz="2800">
          <a:solidFill>
            <a:srgbClr val="4D4D4D"/>
          </a:solidFill>
          <a:latin typeface="Calibri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600">
          <a:solidFill>
            <a:schemeClr val="tx1"/>
          </a:solidFill>
          <a:latin typeface="Calibri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400">
          <a:solidFill>
            <a:schemeClr val="tx1"/>
          </a:solidFill>
          <a:latin typeface="Calibri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Calibri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rgbClr val="C75B1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28600" y="838200"/>
            <a:ext cx="8610600" cy="1662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accent2"/>
                </a:solidFill>
                <a:latin typeface="Calibri" pitchFamily="34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rgbClr val="002C5F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2C5F"/>
                </a:solidFill>
                <a:latin typeface="Arial" charset="0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altLang="en-US" sz="3600" b="1" i="1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itchFamily="34" charset="0"/>
                <a:ea typeface="ＭＳ Ｐゴシック" panose="020B0600070205080204" pitchFamily="34" charset="-128"/>
                <a:cs typeface="+mj-cs"/>
              </a:rPr>
              <a:t>On Becoming a </a:t>
            </a:r>
            <a:br>
              <a:rPr kumimoji="0" lang="en-CA" altLang="en-US" sz="3600" b="1" i="1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itchFamily="34" charset="0"/>
                <a:ea typeface="ＭＳ Ｐゴシック" panose="020B0600070205080204" pitchFamily="34" charset="-128"/>
                <a:cs typeface="+mj-cs"/>
              </a:rPr>
            </a:br>
            <a:r>
              <a:rPr kumimoji="0" lang="en-CA" altLang="en-US" sz="3600" b="1" i="1" u="none" strike="noStrike" kern="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Calibri" pitchFamily="34" charset="0"/>
                <a:ea typeface="ＭＳ Ｐゴシック" panose="020B0600070205080204" pitchFamily="34" charset="-128"/>
                <a:cs typeface="+mj-cs"/>
              </a:rPr>
              <a:t>Leader in Risk Management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AA9C8F"/>
              </a:buClr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ENGG404 - Lecture</a:t>
            </a:r>
            <a:endParaRPr kumimoji="0" lang="en-US" altLang="en-US" sz="3600" b="1" i="1" u="none" strike="noStrike" kern="0" cap="none" spc="0" normalizeH="0" baseline="0" noProof="0" dirty="0">
              <a:ln>
                <a:noFill/>
              </a:ln>
              <a:solidFill>
                <a:srgbClr val="000099"/>
              </a:solidFill>
              <a:effectLst/>
              <a:uLnTx/>
              <a:uFillTx/>
              <a:latin typeface="Calibri" pitchFamily="34" charset="0"/>
              <a:ea typeface="ＭＳ Ｐゴシック" panose="020B0600070205080204" pitchFamily="34" charset="-128"/>
              <a:cs typeface="+mj-cs"/>
            </a:endParaRPr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4294967295"/>
          </p:nvPr>
        </p:nvSpPr>
        <p:spPr>
          <a:xfrm>
            <a:off x="152402" y="2500342"/>
            <a:ext cx="8686798" cy="2224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 algn="ctr" eaLnBrk="1" hangingPunct="1">
              <a:spcBef>
                <a:spcPct val="0"/>
              </a:spcBef>
              <a:buNone/>
            </a:pPr>
            <a: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Chapter 5.4:</a:t>
            </a:r>
          </a:p>
          <a:p>
            <a:pPr marL="0" indent="0" algn="ctr" eaLnBrk="1" hangingPunct="1">
              <a:spcBef>
                <a:spcPct val="0"/>
              </a:spcBef>
              <a:buNone/>
            </a:pPr>
            <a:r>
              <a:rPr lang="en-US" altLang="en-US" sz="3200" b="1" dirty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Semi-Quantitative Risk </a:t>
            </a:r>
            <a:r>
              <a:rPr lang="en-US" altLang="en-US" sz="3200" b="1" dirty="0" smtClean="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Assessment (SQRA) and Its Integration in the RM Work Process</a:t>
            </a:r>
            <a:endParaRPr lang="en-US" altLang="en-US" sz="3200" b="1" dirty="0">
              <a:solidFill>
                <a:schemeClr val="tx2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37290-7F22-4D42-BFDD-D5AD4C09C01F}"/>
              </a:ext>
            </a:extLst>
          </p:cNvPr>
          <p:cNvSpPr txBox="1"/>
          <p:nvPr/>
        </p:nvSpPr>
        <p:spPr>
          <a:xfrm>
            <a:off x="152402" y="176015"/>
            <a:ext cx="1176817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Fundamentals of RM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18FDCA-D6EA-3540-8AE2-F6CD31336ABE}"/>
              </a:ext>
            </a:extLst>
          </p:cNvPr>
          <p:cNvSpPr txBox="1"/>
          <p:nvPr/>
        </p:nvSpPr>
        <p:spPr>
          <a:xfrm>
            <a:off x="1481037" y="169908"/>
            <a:ext cx="1024999" cy="46166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r>
              <a:rPr lang="en-US" dirty="0"/>
              <a:t>RM System and Process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BC740A-AE56-7744-84D0-32724BDFA21D}"/>
              </a:ext>
            </a:extLst>
          </p:cNvPr>
          <p:cNvSpPr txBox="1"/>
          <p:nvPr/>
        </p:nvSpPr>
        <p:spPr>
          <a:xfrm>
            <a:off x="7874130" y="169908"/>
            <a:ext cx="1155550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Application and Perspectives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7D91E5-FF6E-C346-BD54-1494F0C62548}"/>
              </a:ext>
            </a:extLst>
          </p:cNvPr>
          <p:cNvSpPr txBox="1"/>
          <p:nvPr/>
        </p:nvSpPr>
        <p:spPr>
          <a:xfrm>
            <a:off x="7051217" y="169908"/>
            <a:ext cx="671096" cy="4616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People &amp; Org.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457A8C-8AD1-BC48-A393-2CA6461462C7}"/>
              </a:ext>
            </a:extLst>
          </p:cNvPr>
          <p:cNvSpPr txBox="1"/>
          <p:nvPr/>
        </p:nvSpPr>
        <p:spPr>
          <a:xfrm>
            <a:off x="3834670" y="169908"/>
            <a:ext cx="1024999" cy="46166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Incident Investigation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E14612-2C60-CA49-88DC-A40274E52BE8}"/>
              </a:ext>
            </a:extLst>
          </p:cNvPr>
          <p:cNvSpPr txBox="1"/>
          <p:nvPr/>
        </p:nvSpPr>
        <p:spPr>
          <a:xfrm>
            <a:off x="5011486" y="169908"/>
            <a:ext cx="1024999" cy="46166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Tools &amp; Challenges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8AF929-DEC8-B045-BD5C-00378213E2AE}"/>
              </a:ext>
            </a:extLst>
          </p:cNvPr>
          <p:cNvSpPr txBox="1"/>
          <p:nvPr/>
        </p:nvSpPr>
        <p:spPr>
          <a:xfrm>
            <a:off x="2657853" y="170432"/>
            <a:ext cx="1024999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Leadership in RM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94E84B9-8682-8C4B-A72E-1FFEAF78256B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1329217" y="400741"/>
            <a:ext cx="151818" cy="6107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ED6320-D6B4-374B-AE59-18735BF60E66}"/>
              </a:ext>
            </a:extLst>
          </p:cNvPr>
          <p:cNvCxnSpPr>
            <a:stCxn id="10" idx="3"/>
            <a:endCxn id="15" idx="1"/>
          </p:cNvCxnSpPr>
          <p:nvPr/>
        </p:nvCxnSpPr>
        <p:spPr>
          <a:xfrm>
            <a:off x="2506036" y="400739"/>
            <a:ext cx="151817" cy="524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27112B-E9F0-2348-9B20-FB76B2277E3D}"/>
              </a:ext>
            </a:extLst>
          </p:cNvPr>
          <p:cNvCxnSpPr>
            <a:stCxn id="15" idx="3"/>
            <a:endCxn id="13" idx="1"/>
          </p:cNvCxnSpPr>
          <p:nvPr/>
        </p:nvCxnSpPr>
        <p:spPr>
          <a:xfrm flipV="1">
            <a:off x="3682853" y="400739"/>
            <a:ext cx="151817" cy="524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FCC88D-6DFA-474E-80EC-662B2D4B909B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4859669" y="400741"/>
            <a:ext cx="151817" cy="0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CA7384E-C04D-ED41-9740-B0199EA1890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6036485" y="400740"/>
            <a:ext cx="151816" cy="1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7C1AD4-35C5-B84F-A011-FC352A9DC134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6899402" y="400741"/>
            <a:ext cx="151817" cy="1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40B8989-9D9A-DE41-B118-0BB225CC7043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7722315" y="400739"/>
            <a:ext cx="151817" cy="0"/>
          </a:xfrm>
          <a:prstGeom prst="straightConnector1">
            <a:avLst/>
          </a:prstGeom>
          <a:noFill/>
          <a:ln w="6350" cap="flat" cmpd="sng" algn="ctr">
            <a:solidFill>
              <a:schemeClr val="tx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97011C2-9A0B-664B-83CB-DE2410B86B87}"/>
              </a:ext>
            </a:extLst>
          </p:cNvPr>
          <p:cNvSpPr txBox="1"/>
          <p:nvPr/>
        </p:nvSpPr>
        <p:spPr>
          <a:xfrm>
            <a:off x="6188301" y="169907"/>
            <a:ext cx="692362" cy="461665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txBody>
          <a:bodyPr wrap="square" rtlCol="0">
            <a:spAutoFit/>
          </a:bodyPr>
          <a:lstStyle>
            <a:defPPr>
              <a:defRPr lang="en-US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kern="0" cap="none" spc="0" normalizeH="0" baseline="0">
                <a:ln>
                  <a:noFill/>
                </a:ln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n-cs"/>
              </a:rPr>
              <a:t>RM in Industry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182" y="4405529"/>
            <a:ext cx="1766671" cy="1766671"/>
          </a:xfrm>
          <a:prstGeom prst="rect">
            <a:avLst/>
          </a:prstGeom>
        </p:spPr>
      </p:pic>
      <p:pic>
        <p:nvPicPr>
          <p:cNvPr id="25" name="Picture 24" descr="Introduction to Sociology - 2013 - The Collaboratory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500" y="4405342"/>
            <a:ext cx="2590300" cy="176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64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Explain the purpose of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Semi-Quantitative Risk Assessment (SQRA) Tool,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a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Management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tool,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manner in which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it is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used, and the benefits for planning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work using the SQRA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.</a:t>
            </a: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lvl="0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Demonstrate the integration of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SQRA (and similar 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Assessment </a:t>
            </a: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Tools such as FLRA, What-If Analysis, JSA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) with the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Management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Work 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Process and its tools (Matrix, Criteria Table, Management Directions), the RM System, and 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Measures.</a:t>
            </a: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 this tool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 a rudimentary skill of leadership to observe, interact,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commend,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or intervene / coach employees in the work-place.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Learning Outcomes: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9368087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RM Work Process</a:t>
            </a:r>
            <a:r>
              <a:rPr kumimoji="0" lang="en-CA" altLang="en-US" sz="1800" b="1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Function:</a:t>
            </a:r>
            <a:endParaRPr kumimoji="0" lang="en-CA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lang="en-CA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Analyzes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risks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PEAP</a:t>
            </a: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Systematically assesses risks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/>
            </a:r>
            <a:b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opposite what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 acceptable level</a:t>
            </a: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RMWP uses tools such as: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Matrices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Criteria Tables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Management Directions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lang="en-US" altLang="en-US" sz="1800" b="1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SQRA</a:t>
            </a:r>
            <a:endParaRPr kumimoji="0" lang="en-US" altLang="en-US" sz="1800" b="1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kumimoji="0" lang="en-US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448000" lvl="3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None/>
              <a:defRPr/>
            </a:pPr>
            <a:r>
              <a:rPr kumimoji="0" lang="en-US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Measures:</a:t>
            </a: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kumimoji="0" lang="en-US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SQRA </a:t>
            </a:r>
            <a:r>
              <a:rPr lang="en-US" altLang="en-US" sz="1800" noProof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u</a:t>
            </a:r>
            <a:r>
              <a:rPr lang="en-US" altLang="en-US" sz="1800" dirty="0" err="1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sed</a:t>
            </a: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define and </a:t>
            </a: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implement the </a:t>
            </a:r>
            <a:r>
              <a:rPr lang="en-US" altLang="en-US" sz="1800" b="1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CM’s</a:t>
            </a:r>
            <a:r>
              <a:rPr kumimoji="0" lang="en-US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reduce and control risks to an acceptable level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020" y="1532317"/>
            <a:ext cx="3340493" cy="3202314"/>
          </a:xfrm>
          <a:prstGeom prst="rect">
            <a:avLst/>
          </a:prstGeom>
        </p:spPr>
      </p:pic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altLang="en-US" sz="2400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</a:t>
            </a: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 The RM </a:t>
            </a:r>
            <a:r>
              <a:rPr lang="en-US" altLang="en-US" sz="2400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 </a:t>
            </a: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 &amp; Control Measures: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373" y="967199"/>
            <a:ext cx="1827910" cy="297376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07" y="3695699"/>
            <a:ext cx="2195387" cy="2460301"/>
          </a:xfrm>
          <a:prstGeom prst="rect">
            <a:avLst/>
          </a:prstGeom>
        </p:spPr>
      </p:pic>
      <p:sp>
        <p:nvSpPr>
          <p:cNvPr id="29" name="Striped Right Arrow 28"/>
          <p:cNvSpPr/>
          <p:nvPr/>
        </p:nvSpPr>
        <p:spPr>
          <a:xfrm rot="9421759">
            <a:off x="2404461" y="4102871"/>
            <a:ext cx="818780" cy="720000"/>
          </a:xfrm>
          <a:prstGeom prst="stripedRightArrow">
            <a:avLst/>
          </a:prstGeom>
          <a:gradFill>
            <a:gsLst>
              <a:gs pos="0">
                <a:srgbClr val="0000FF"/>
              </a:gs>
              <a:gs pos="50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rgbClr val="002060"/>
              </a:gs>
            </a:gsLst>
            <a:lin ang="16200000" scaled="1"/>
          </a:gra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triped Right Arrow 29"/>
          <p:cNvSpPr/>
          <p:nvPr/>
        </p:nvSpPr>
        <p:spPr>
          <a:xfrm>
            <a:off x="4946573" y="1824547"/>
            <a:ext cx="1747170" cy="720000"/>
          </a:xfrm>
          <a:prstGeom prst="stripedRightArrow">
            <a:avLst/>
          </a:prstGeom>
          <a:gradFill>
            <a:gsLst>
              <a:gs pos="0">
                <a:srgbClr val="0000FF"/>
              </a:gs>
              <a:gs pos="50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rgbClr val="002060"/>
              </a:gs>
            </a:gsLst>
            <a:lin ang="16200000" scaled="1"/>
          </a:gra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triped Right Arrow 12"/>
          <p:cNvSpPr/>
          <p:nvPr/>
        </p:nvSpPr>
        <p:spPr>
          <a:xfrm rot="1275672">
            <a:off x="5853183" y="4331216"/>
            <a:ext cx="1060276" cy="720000"/>
          </a:xfrm>
          <a:prstGeom prst="stripedRightArrow">
            <a:avLst/>
          </a:prstGeom>
          <a:gradFill>
            <a:gsLst>
              <a:gs pos="0">
                <a:srgbClr val="0000FF"/>
              </a:gs>
              <a:gs pos="50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rgbClr val="002060"/>
              </a:gs>
            </a:gsLst>
            <a:lin ang="16200000" scaled="1"/>
          </a:gra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941390" y="4373457"/>
            <a:ext cx="19610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RME #2 RA&amp;MR</a:t>
            </a:r>
          </a:p>
          <a:p>
            <a:pPr marL="360000" indent="-360000" eaLnBrk="0" fontAlgn="base" hangingPunct="0">
              <a:spcAft>
                <a:spcPct val="0"/>
              </a:spcAft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SQRA is a “standard”</a:t>
            </a:r>
            <a:endParaRPr 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716986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Integration of The RMWP, CM’s, &amp; RA Tools: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80000" y="828000"/>
            <a:ext cx="8640000" cy="5328000"/>
            <a:chOff x="180000" y="828000"/>
            <a:chExt cx="8640000" cy="5328000"/>
          </a:xfrm>
        </p:grpSpPr>
        <p:sp>
          <p:nvSpPr>
            <p:cNvPr id="5" name="Bent Arrow 4"/>
            <p:cNvSpPr/>
            <p:nvPr/>
          </p:nvSpPr>
          <p:spPr>
            <a:xfrm rot="5400000">
              <a:off x="4522490" y="-754182"/>
              <a:ext cx="1727664" cy="6320756"/>
            </a:xfrm>
            <a:prstGeom prst="bentArrow">
              <a:avLst/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" name="Rectangle 3"/>
            <p:cNvSpPr>
              <a:spLocks noChangeArrowheads="1"/>
            </p:cNvSpPr>
            <p:nvPr/>
          </p:nvSpPr>
          <p:spPr bwMode="auto">
            <a:xfrm>
              <a:off x="180000" y="828000"/>
              <a:ext cx="8640000" cy="5328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>
              <a:lvl1pPr marL="609600" indent="-609600">
                <a:lnSpc>
                  <a:spcPct val="120000"/>
                </a:lnSpc>
                <a:spcBef>
                  <a:spcPts val="10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Tw Cen MT" panose="020B0602020104020603" pitchFamily="34" charset="0"/>
                </a:defRPr>
              </a:lvl1pPr>
              <a:lvl2pPr marL="742950" indent="-28575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Tw Cen MT" panose="020B0602020104020603" pitchFamily="34" charset="0"/>
                </a:defRPr>
              </a:lvl2pPr>
              <a:lvl3pPr marL="11430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Tw Cen MT" panose="020B0602020104020603" pitchFamily="34" charset="0"/>
                </a:defRPr>
              </a:lvl3pPr>
              <a:lvl4pPr marL="16002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4pPr>
              <a:lvl5pPr marL="20574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5pPr>
              <a:lvl6pPr marL="25146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6pPr>
              <a:lvl7pPr marL="29718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7pPr>
              <a:lvl8pPr marL="34290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8pPr>
              <a:lvl9pPr marL="38862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9pPr>
            </a:lstStyle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r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1305" y="986568"/>
              <a:ext cx="1403595" cy="2283460"/>
            </a:xfrm>
            <a:prstGeom prst="rect">
              <a:avLst/>
            </a:prstGeom>
          </p:spPr>
        </p:pic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7717" y="3434598"/>
              <a:ext cx="4425683" cy="2721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Bent Arrow 13"/>
            <p:cNvSpPr/>
            <p:nvPr/>
          </p:nvSpPr>
          <p:spPr>
            <a:xfrm rot="10800000" flipH="1">
              <a:off x="661012" y="3635999"/>
              <a:ext cx="3624549" cy="2423277"/>
            </a:xfrm>
            <a:prstGeom prst="bentArrow">
              <a:avLst>
                <a:gd name="adj1" fmla="val 18490"/>
                <a:gd name="adj2" fmla="val 19631"/>
                <a:gd name="adj3" fmla="val 25000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5" name="Google Shape;200;p7">
              <a:extLst>
                <a:ext uri="{FF2B5EF4-FFF2-40B4-BE49-F238E27FC236}">
                  <a16:creationId xmlns:a16="http://schemas.microsoft.com/office/drawing/2014/main" id="{24FB57AC-E823-40CB-A670-DDBD1EB18673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909012" y="1124879"/>
              <a:ext cx="865127" cy="7519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202;p7">
              <a:extLst>
                <a:ext uri="{FF2B5EF4-FFF2-40B4-BE49-F238E27FC236}">
                  <a16:creationId xmlns:a16="http://schemas.microsoft.com/office/drawing/2014/main" id="{00FBE9E5-E152-442F-AA9B-2D806A6C6183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774139" y="1207937"/>
              <a:ext cx="763873" cy="6688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53883" y="2080701"/>
              <a:ext cx="1840512" cy="86835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1132" y="911276"/>
              <a:ext cx="2741396" cy="2627999"/>
            </a:xfrm>
            <a:prstGeom prst="rect">
              <a:avLst/>
            </a:prstGeom>
          </p:spPr>
        </p:pic>
        <p:sp>
          <p:nvSpPr>
            <p:cNvPr id="20" name="Bent Arrow 19"/>
            <p:cNvSpPr/>
            <p:nvPr/>
          </p:nvSpPr>
          <p:spPr>
            <a:xfrm rot="10800000" flipH="1">
              <a:off x="2060154" y="3553511"/>
              <a:ext cx="2225407" cy="1084589"/>
            </a:xfrm>
            <a:prstGeom prst="bentArrow">
              <a:avLst>
                <a:gd name="adj1" fmla="val 44544"/>
                <a:gd name="adj2" fmla="val 37678"/>
                <a:gd name="adj3" fmla="val 31375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16436" y="4652336"/>
              <a:ext cx="1156850" cy="142117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21"/>
            <p:cNvSpPr txBox="1"/>
            <p:nvPr/>
          </p:nvSpPr>
          <p:spPr>
            <a:xfrm>
              <a:off x="2300791" y="3923517"/>
              <a:ext cx="137433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RME #2 RA&amp;MR</a:t>
              </a:r>
            </a:p>
            <a:p>
              <a:pPr marL="360000" indent="-360000" eaLnBrk="0" fontAlgn="base" hangingPunct="0">
                <a:spcAft>
                  <a:spcPct val="0"/>
                </a:spcAft>
                <a:buSzPct val="100000"/>
                <a:buFont typeface="Wingdings" panose="05000000000000000000" pitchFamily="2" charset="2"/>
                <a:buChar char="Ø"/>
                <a:defRPr/>
              </a:pPr>
              <a:r>
                <a:rPr lang="en-US" sz="1200" dirty="0">
                  <a:solidFill>
                    <a:srgbClr val="000000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SQRA is a “standard”</a:t>
              </a:r>
              <a:endParaRPr lang="en-US" sz="12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593731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267113"/>
              </p:ext>
            </p:extLst>
          </p:nvPr>
        </p:nvGraphicFramePr>
        <p:xfrm>
          <a:off x="88652" y="4255725"/>
          <a:ext cx="8868340" cy="1869025"/>
        </p:xfrm>
        <a:graphic>
          <a:graphicData uri="http://schemas.openxmlformats.org/drawingml/2006/table">
            <a:tbl>
              <a:tblPr/>
              <a:tblGrid>
                <a:gridCol w="899844">
                  <a:extLst>
                    <a:ext uri="{9D8B030D-6E8A-4147-A177-3AD203B41FA5}">
                      <a16:colId xmlns:a16="http://schemas.microsoft.com/office/drawing/2014/main" val="3350495733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788624471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1126100611"/>
                    </a:ext>
                  </a:extLst>
                </a:gridCol>
                <a:gridCol w="563757">
                  <a:extLst>
                    <a:ext uri="{9D8B030D-6E8A-4147-A177-3AD203B41FA5}">
                      <a16:colId xmlns:a16="http://schemas.microsoft.com/office/drawing/2014/main" val="894614678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43681062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1862085159"/>
                    </a:ext>
                  </a:extLst>
                </a:gridCol>
                <a:gridCol w="1040783">
                  <a:extLst>
                    <a:ext uri="{9D8B030D-6E8A-4147-A177-3AD203B41FA5}">
                      <a16:colId xmlns:a16="http://schemas.microsoft.com/office/drawing/2014/main" val="255328048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2438800930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126472793"/>
                    </a:ext>
                  </a:extLst>
                </a:gridCol>
                <a:gridCol w="726380">
                  <a:extLst>
                    <a:ext uri="{9D8B030D-6E8A-4147-A177-3AD203B41FA5}">
                      <a16:colId xmlns:a16="http://schemas.microsoft.com/office/drawing/2014/main" val="2176342193"/>
                    </a:ext>
                  </a:extLst>
                </a:gridCol>
              </a:tblGrid>
              <a:tr h="284046">
                <a:tc gridSpan="10">
                  <a:txBody>
                    <a:bodyPr/>
                    <a:lstStyle/>
                    <a:p>
                      <a:pPr algn="ctr" fontAlgn="ctr"/>
                      <a:r>
                        <a:rPr lang="en-US" sz="1100" b="1" i="0" u="sng" strike="noStrike">
                          <a:effectLst/>
                          <a:latin typeface="Arial" panose="020B0604020202020204" pitchFamily="34" charset="0"/>
                        </a:rPr>
                        <a:t>SEMI-QUANTITATVE RISK ASSESSMENT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011942"/>
                  </a:ext>
                </a:extLst>
              </a:tr>
              <a:tr h="8180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effectLst/>
                          <a:latin typeface="Arial" panose="020B0604020202020204" pitchFamily="34" charset="0"/>
                        </a:rPr>
                        <a:t>Activity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Deviations and Concerns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Before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 with or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 with or after Control Measures 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Proceed? Y/N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524930"/>
                  </a:ext>
                </a:extLst>
              </a:tr>
              <a:tr h="76692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182498"/>
                  </a:ext>
                </a:extLst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0" y="900000"/>
            <a:ext cx="4223999" cy="316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991" y="900000"/>
            <a:ext cx="4223999" cy="316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786485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Use </a:t>
            </a:r>
            <a:r>
              <a:rPr kumimoji="0" lang="en-CA" altLang="en-US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Risk Matrix and Risk Criteria </a:t>
            </a:r>
            <a:r>
              <a:rPr lang="en-CA" altLang="en-US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 the SQRA</a:t>
            </a:r>
            <a:r>
              <a:rPr kumimoji="0" lang="en-CA" altLang="en-US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  <a:endParaRPr kumimoji="0" lang="en-CA" altLang="en-US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Google Shape;1673;p24">
            <a:extLst>
              <a:ext uri="{FF2B5EF4-FFF2-40B4-BE49-F238E27FC236}">
                <a16:creationId xmlns:a16="http://schemas.microsoft.com/office/drawing/2014/main" id="{E6D15343-29FA-467F-B725-6F9EAD86FEBC}"/>
              </a:ext>
            </a:extLst>
          </p:cNvPr>
          <p:cNvSpPr>
            <a:spLocks noChangeAspect="1"/>
          </p:cNvSpPr>
          <p:nvPr/>
        </p:nvSpPr>
        <p:spPr>
          <a:xfrm>
            <a:off x="3891839" y="1751143"/>
            <a:ext cx="1212669" cy="1212669"/>
          </a:xfrm>
          <a:prstGeom prst="plus">
            <a:avLst>
              <a:gd name="adj" fmla="val 36361"/>
            </a:avLst>
          </a:prstGeom>
          <a:solidFill>
            <a:srgbClr val="0099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" name="Google Shape;1674;p24">
            <a:extLst>
              <a:ext uri="{FF2B5EF4-FFF2-40B4-BE49-F238E27FC236}">
                <a16:creationId xmlns:a16="http://schemas.microsoft.com/office/drawing/2014/main" id="{19F1F05F-F76F-48DD-A2B8-5A11D1B04C9B}"/>
              </a:ext>
            </a:extLst>
          </p:cNvPr>
          <p:cNvSpPr/>
          <p:nvPr/>
        </p:nvSpPr>
        <p:spPr>
          <a:xfrm rot="5400000">
            <a:off x="3808297" y="3226949"/>
            <a:ext cx="1379752" cy="1228928"/>
          </a:xfrm>
          <a:prstGeom prst="stripedRightArrow">
            <a:avLst>
              <a:gd name="adj1" fmla="val 42340"/>
              <a:gd name="adj2" fmla="val 41540"/>
            </a:avLst>
          </a:prstGeom>
          <a:solidFill>
            <a:srgbClr val="0099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291357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6000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87675" y="5663086"/>
            <a:ext cx="3898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i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</a:p>
        </p:txBody>
      </p:sp>
      <p:cxnSp>
        <p:nvCxnSpPr>
          <p:cNvPr id="62" name="Curved Connector 61"/>
          <p:cNvCxnSpPr>
            <a:stCxn id="36" idx="0"/>
            <a:endCxn id="37" idx="0"/>
          </p:cNvCxnSpPr>
          <p:nvPr/>
        </p:nvCxnSpPr>
        <p:spPr>
          <a:xfrm rot="5400000" flipH="1" flipV="1">
            <a:off x="5749678" y="3679679"/>
            <a:ext cx="12700" cy="3944643"/>
          </a:xfrm>
          <a:prstGeom prst="curvedConnector3">
            <a:avLst>
              <a:gd name="adj1" fmla="val 2580724"/>
            </a:avLst>
          </a:prstGeom>
          <a:ln w="762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04601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42900" marR="0" lvl="0" indent="-25717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A9C8F"/>
              </a:buClr>
              <a:buSzPts val="2000"/>
              <a:buFont typeface="Noto Sans Symbols"/>
              <a:buNone/>
              <a:tabLst/>
              <a:defRPr/>
            </a:pPr>
            <a:r>
              <a:rPr kumimoji="0" lang="en-CA" b="1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Key purposes </a:t>
            </a:r>
            <a:r>
              <a:rPr kumimoji="0" lang="en-CA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of the </a:t>
            </a:r>
            <a:r>
              <a:rPr kumimoji="0" lang="en-CA" b="1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SQRA, and when it is applied:</a:t>
            </a:r>
            <a:endParaRPr kumimoji="0" lang="en-CA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342900" marR="0" lvl="0" indent="-25717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A9C8F"/>
              </a:buClr>
              <a:buSzPts val="2000"/>
              <a:buFont typeface="Noto Sans Symbols"/>
              <a:buNone/>
              <a:tabLst/>
              <a:defRPr/>
            </a:pPr>
            <a:endParaRPr kumimoji="0" lang="en-CA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r>
              <a:rPr kumimoji="0" lang="en-CA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It is </a:t>
            </a: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used to </a:t>
            </a:r>
            <a:r>
              <a:rPr kumimoji="0" lang="en-CA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assess hazards </a:t>
            </a: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of an</a:t>
            </a:r>
            <a:r>
              <a:rPr kumimoji="0" lang="en-CA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activity, job, or task, or installation or facility, to determine appropriate control measures in order to </a:t>
            </a: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eliminate </a:t>
            </a:r>
            <a:r>
              <a:rPr kumimoji="0" lang="en-CA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or control those </a:t>
            </a: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hazards. </a:t>
            </a: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endParaRPr lang="en-CA" kern="0" dirty="0">
              <a:solidFill>
                <a:srgbClr val="000000"/>
              </a:solidFill>
              <a:latin typeface="+mn-lt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It is used during</a:t>
            </a:r>
            <a:r>
              <a:rPr kumimoji="0" lang="en-CA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the planning stages of the activity, job, or task, or during the design and construction of the installation or facility. </a:t>
            </a:r>
            <a:endParaRPr kumimoji="0" lang="en-CA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endParaRPr kumimoji="0" lang="en-CA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It </a:t>
            </a:r>
            <a:r>
              <a:rPr kumimoji="0" lang="en-CA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is used to ensure understanding of the control measures </a:t>
            </a: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(to </a:t>
            </a:r>
            <a:r>
              <a:rPr kumimoji="0" lang="en-CA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eliminate or mitigate the </a:t>
            </a:r>
            <a:r>
              <a:rPr kumimoji="0" lang="en-CA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hazards)</a:t>
            </a:r>
            <a:r>
              <a:rPr kumimoji="0" lang="en-CA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by the personnel preparing job plans, procedures, designs packages, and construction packages. </a:t>
            </a:r>
            <a:endParaRPr kumimoji="0" lang="en-CA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Purposes and Applications of the SQRA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3985006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Basic Steps to Create an 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SQRA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243876"/>
              </p:ext>
            </p:extLst>
          </p:nvPr>
        </p:nvGraphicFramePr>
        <p:xfrm>
          <a:off x="88652" y="4332844"/>
          <a:ext cx="8868340" cy="1869025"/>
        </p:xfrm>
        <a:graphic>
          <a:graphicData uri="http://schemas.openxmlformats.org/drawingml/2006/table">
            <a:tbl>
              <a:tblPr/>
              <a:tblGrid>
                <a:gridCol w="899844">
                  <a:extLst>
                    <a:ext uri="{9D8B030D-6E8A-4147-A177-3AD203B41FA5}">
                      <a16:colId xmlns:a16="http://schemas.microsoft.com/office/drawing/2014/main" val="3350495733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788624471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1126100611"/>
                    </a:ext>
                  </a:extLst>
                </a:gridCol>
                <a:gridCol w="563757">
                  <a:extLst>
                    <a:ext uri="{9D8B030D-6E8A-4147-A177-3AD203B41FA5}">
                      <a16:colId xmlns:a16="http://schemas.microsoft.com/office/drawing/2014/main" val="894614678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43681062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1862085159"/>
                    </a:ext>
                  </a:extLst>
                </a:gridCol>
                <a:gridCol w="1040783">
                  <a:extLst>
                    <a:ext uri="{9D8B030D-6E8A-4147-A177-3AD203B41FA5}">
                      <a16:colId xmlns:a16="http://schemas.microsoft.com/office/drawing/2014/main" val="255328048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2438800930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126472793"/>
                    </a:ext>
                  </a:extLst>
                </a:gridCol>
                <a:gridCol w="726380">
                  <a:extLst>
                    <a:ext uri="{9D8B030D-6E8A-4147-A177-3AD203B41FA5}">
                      <a16:colId xmlns:a16="http://schemas.microsoft.com/office/drawing/2014/main" val="2176342193"/>
                    </a:ext>
                  </a:extLst>
                </a:gridCol>
              </a:tblGrid>
              <a:tr h="284046">
                <a:tc gridSpan="10">
                  <a:txBody>
                    <a:bodyPr/>
                    <a:lstStyle/>
                    <a:p>
                      <a:pPr algn="ctr" fontAlgn="ctr"/>
                      <a:r>
                        <a:rPr lang="en-US" sz="1100" b="1" i="0" u="sng" strike="noStrike">
                          <a:effectLst/>
                          <a:latin typeface="Arial" panose="020B0604020202020204" pitchFamily="34" charset="0"/>
                        </a:rPr>
                        <a:t>SEMI-QUANTITATVE RISK ASSESSMENT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011942"/>
                  </a:ext>
                </a:extLst>
              </a:tr>
              <a:tr h="8180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effectLst/>
                          <a:latin typeface="Arial" panose="020B0604020202020204" pitchFamily="34" charset="0"/>
                        </a:rPr>
                        <a:t>Activity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Deviations and Concerns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Before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 with or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 with or after Control Measures 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effectLst/>
                          <a:latin typeface="Arial" panose="020B0604020202020204" pitchFamily="34" charset="0"/>
                        </a:rPr>
                        <a:t>Risk Level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Proceed? Y/N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524930"/>
                  </a:ext>
                </a:extLst>
              </a:tr>
              <a:tr h="76692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18249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91357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6000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7675" y="5663086"/>
            <a:ext cx="3898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Y</a:t>
            </a:r>
          </a:p>
        </p:txBody>
      </p:sp>
      <p:cxnSp>
        <p:nvCxnSpPr>
          <p:cNvPr id="14" name="Curved Connector 13"/>
          <p:cNvCxnSpPr>
            <a:stCxn id="7" idx="0"/>
            <a:endCxn id="10" idx="0"/>
          </p:cNvCxnSpPr>
          <p:nvPr/>
        </p:nvCxnSpPr>
        <p:spPr>
          <a:xfrm rot="5400000" flipH="1" flipV="1">
            <a:off x="5749678" y="3679679"/>
            <a:ext cx="12700" cy="3944643"/>
          </a:xfrm>
          <a:prstGeom prst="curvedConnector3">
            <a:avLst>
              <a:gd name="adj1" fmla="val 2580724"/>
            </a:avLst>
          </a:prstGeom>
          <a:ln w="762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Identify </a:t>
            </a: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job and scope. 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</a:t>
            </a:r>
            <a:r>
              <a:rPr kumimoji="0" lang="en-CA" sz="18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key activities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en-CA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Identify </a:t>
            </a:r>
            <a:r>
              <a:rPr kumimoji="0" lang="en-CA" sz="18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deviations and concerns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associated 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 each key activity. </a:t>
            </a:r>
            <a:b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Use the </a:t>
            </a:r>
            <a:r>
              <a:rPr kumimoji="0" lang="en-CA" sz="1800" b="1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“What-If Analysis”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to determine any deviations and concerns!</a:t>
            </a:r>
            <a:endParaRPr kumimoji="0" lang="en-CA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</a:t>
            </a:r>
            <a:r>
              <a:rPr kumimoji="0" lang="en-CA" sz="18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likelihood, impact, and risk level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posed by each 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deviation / concern without or </a:t>
            </a:r>
            <a:r>
              <a:rPr kumimoji="0" lang="en-CA" sz="18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before control measures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en-CA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Identify suitable </a:t>
            </a:r>
            <a:r>
              <a:rPr kumimoji="0" lang="en-CA" sz="18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control measures</a:t>
            </a:r>
            <a:r>
              <a:rPr kumimoji="0" lang="en-CA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for each </a:t>
            </a: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deviation / concern.</a:t>
            </a:r>
            <a:endParaRPr kumimoji="0" lang="en-CA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likelihood, impact, and risk level posed 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with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 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after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control 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measures.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whether to proceed with the activity or not.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Incorporate or integrate the control measures in the job plan or engineering / design / construction package. </a:t>
            </a:r>
            <a:endParaRPr kumimoji="0" lang="en-CA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During or after the job plan is being executed, or after engineering / design / construction, determine the effectiveness of the control measures.</a:t>
            </a:r>
            <a:endParaRPr kumimoji="0" lang="en-CA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64197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5" name="Rectangle 2"/>
          <p:cNvSpPr>
            <a:spLocks noChangeArrowheads="1"/>
          </p:cNvSpPr>
          <p:nvPr/>
        </p:nvSpPr>
        <p:spPr bwMode="auto">
          <a:xfrm>
            <a:off x="180000" y="180000"/>
            <a:ext cx="8640000" cy="504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anchor="ctr" anchorCtr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Example: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Semi-Quantitative Risk Assessment:</a:t>
            </a:r>
          </a:p>
        </p:txBody>
      </p:sp>
      <p:sp>
        <p:nvSpPr>
          <p:cNvPr id="8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lang="en-US" altLang="en-US" sz="200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lang="en-US" altLang="en-US" sz="200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lang="en-US" altLang="en-US" sz="200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lang="en-US" altLang="en-US" sz="200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lang="en-US" altLang="en-US" sz="200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lang="en-US" altLang="en-US" sz="2000" dirty="0">
              <a:solidFill>
                <a:srgbClr val="F8F8F8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Remember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that a control measure is typically designed to result in a reduction of likelihood or a reduction I consequence, usually not both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!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7" name="Google Shape;1438;p20">
            <a:extLst>
              <a:ext uri="{FF2B5EF4-FFF2-40B4-BE49-F238E27FC236}">
                <a16:creationId xmlns:a16="http://schemas.microsoft.com/office/drawing/2014/main" id="{43764B5F-4CC9-4236-92B4-213564AB30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61873203"/>
              </p:ext>
            </p:extLst>
          </p:nvPr>
        </p:nvGraphicFramePr>
        <p:xfrm>
          <a:off x="180000" y="3574459"/>
          <a:ext cx="8633401" cy="162318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6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13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4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3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7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63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2318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Operator operating within the exclusion zone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Debris from slope failure injures operator and damages machine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per </a:t>
                      </a:r>
                      <a:r>
                        <a:rPr lang="en-US" sz="11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observed at other facilities)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(Disabling injury or loss of life)</a:t>
                      </a:r>
                      <a:endParaRPr dirty="0"/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Install protective metal cage around cab of machine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per </a:t>
                      </a:r>
                      <a:r>
                        <a:rPr lang="en-US" sz="11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observed at other facilities)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(First Aid injury)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Google Shape;1430;p20">
            <a:extLst>
              <a:ext uri="{FF2B5EF4-FFF2-40B4-BE49-F238E27FC236}">
                <a16:creationId xmlns:a16="http://schemas.microsoft.com/office/drawing/2014/main" id="{AA187C55-56E0-41E2-8D45-628C0D67C0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502871"/>
              </p:ext>
            </p:extLst>
          </p:nvPr>
        </p:nvGraphicFramePr>
        <p:xfrm>
          <a:off x="180000" y="865208"/>
          <a:ext cx="8633402" cy="268407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6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9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49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8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3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7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63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0402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Activity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Deviation/</a:t>
                      </a:r>
                      <a:endParaRPr sz="110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Concern</a:t>
                      </a:r>
                      <a:endParaRPr sz="1100" b="0" i="0" u="none" strike="noStrike" cap="none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Likelihood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 err="1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Conse-quence</a:t>
                      </a:r>
                      <a:r>
                        <a:rPr lang="en-US" sz="1100" b="1" i="0" u="none" strike="noStrike" cap="none" dirty="0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Risk Before Control Measures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Control Measures / Safeguards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 err="1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Likeli</a:t>
                      </a:r>
                      <a:r>
                        <a:rPr lang="en-US" sz="1100" b="1" i="0" u="none" strike="noStrike" cap="none" dirty="0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-hood After Control Measure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 err="1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Conse-quence</a:t>
                      </a:r>
                      <a:r>
                        <a:rPr lang="en-US" sz="1100" b="1" i="0" u="none" strike="noStrike" cap="none" dirty="0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After Control Measure 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Residual Risk After Control Measures</a:t>
                      </a:r>
                      <a:endParaRPr sz="1100" b="0" i="0" u="none" strike="noStrike" cap="none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Operator operating within the exclusion zone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Debris from slope failure injures operator and damages machine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per </a:t>
                      </a:r>
                      <a:r>
                        <a:rPr lang="en-US" sz="11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observed at other facilities)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(Disabling injury or loss of life)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Institute an auditory alarm trigger for the slope monitoring system</a:t>
                      </a:r>
                      <a:endParaRPr sz="1100" dirty="0"/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in 10 </a:t>
                      </a:r>
                      <a:r>
                        <a:rPr lang="en-US" sz="1100" b="1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yrs</a:t>
                      </a: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(Disabling injury or loss of life)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" name="Google Shape;1433;p20">
            <a:extLst>
              <a:ext uri="{FF2B5EF4-FFF2-40B4-BE49-F238E27FC236}">
                <a16:creationId xmlns:a16="http://schemas.microsoft.com/office/drawing/2014/main" id="{851C500C-A916-48A2-874B-0C1E13057784}"/>
              </a:ext>
            </a:extLst>
          </p:cNvPr>
          <p:cNvSpPr/>
          <p:nvPr/>
        </p:nvSpPr>
        <p:spPr>
          <a:xfrm>
            <a:off x="4273100" y="2291555"/>
            <a:ext cx="381800" cy="351614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" name="Google Shape;1434;p20">
            <a:extLst>
              <a:ext uri="{FF2B5EF4-FFF2-40B4-BE49-F238E27FC236}">
                <a16:creationId xmlns:a16="http://schemas.microsoft.com/office/drawing/2014/main" id="{87203649-5571-4174-A53E-1648E140F275}"/>
              </a:ext>
            </a:extLst>
          </p:cNvPr>
          <p:cNvSpPr txBox="1"/>
          <p:nvPr/>
        </p:nvSpPr>
        <p:spPr>
          <a:xfrm>
            <a:off x="2166440" y="1098139"/>
            <a:ext cx="684145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From Risk Criteria Table</a:t>
            </a:r>
            <a:endParaRPr sz="1100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1435;p20">
            <a:extLst>
              <a:ext uri="{FF2B5EF4-FFF2-40B4-BE49-F238E27FC236}">
                <a16:creationId xmlns:a16="http://schemas.microsoft.com/office/drawing/2014/main" id="{71773569-8D1D-4594-A59D-20852F2C0500}"/>
              </a:ext>
            </a:extLst>
          </p:cNvPr>
          <p:cNvSpPr txBox="1"/>
          <p:nvPr/>
        </p:nvSpPr>
        <p:spPr>
          <a:xfrm>
            <a:off x="3093040" y="1236394"/>
            <a:ext cx="838200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From Risk Criteria Table</a:t>
            </a:r>
            <a:endParaRPr sz="1100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1436;p20">
            <a:extLst>
              <a:ext uri="{FF2B5EF4-FFF2-40B4-BE49-F238E27FC236}">
                <a16:creationId xmlns:a16="http://schemas.microsoft.com/office/drawing/2014/main" id="{8608DB26-491A-477C-82B0-EB3F285823BE}"/>
              </a:ext>
            </a:extLst>
          </p:cNvPr>
          <p:cNvSpPr txBox="1"/>
          <p:nvPr/>
        </p:nvSpPr>
        <p:spPr>
          <a:xfrm>
            <a:off x="4044900" y="2750780"/>
            <a:ext cx="8382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From Risk Matrix</a:t>
            </a:r>
            <a:endParaRPr sz="1100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1433;p20">
            <a:extLst>
              <a:ext uri="{FF2B5EF4-FFF2-40B4-BE49-F238E27FC236}">
                <a16:creationId xmlns:a16="http://schemas.microsoft.com/office/drawing/2014/main" id="{9D6018AC-931D-406E-B27D-E02C393DE194}"/>
              </a:ext>
            </a:extLst>
          </p:cNvPr>
          <p:cNvSpPr/>
          <p:nvPr/>
        </p:nvSpPr>
        <p:spPr>
          <a:xfrm>
            <a:off x="2353074" y="1875321"/>
            <a:ext cx="427606" cy="452748"/>
          </a:xfrm>
          <a:prstGeom prst="downArrow">
            <a:avLst/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" name="Google Shape;1433;p20">
            <a:extLst>
              <a:ext uri="{FF2B5EF4-FFF2-40B4-BE49-F238E27FC236}">
                <a16:creationId xmlns:a16="http://schemas.microsoft.com/office/drawing/2014/main" id="{17F4D95A-A7BE-4A75-A153-1FC5430E645F}"/>
              </a:ext>
            </a:extLst>
          </p:cNvPr>
          <p:cNvSpPr/>
          <p:nvPr/>
        </p:nvSpPr>
        <p:spPr>
          <a:xfrm>
            <a:off x="3337247" y="1857994"/>
            <a:ext cx="427606" cy="452748"/>
          </a:xfrm>
          <a:prstGeom prst="downArrow">
            <a:avLst/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ular Callout 2"/>
          <p:cNvSpPr/>
          <p:nvPr/>
        </p:nvSpPr>
        <p:spPr>
          <a:xfrm>
            <a:off x="5046385" y="2882536"/>
            <a:ext cx="1178066" cy="598261"/>
          </a:xfrm>
          <a:prstGeom prst="wedgeRectCallout">
            <a:avLst>
              <a:gd name="adj1" fmla="val 75118"/>
              <a:gd name="adj2" fmla="val -172483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1"/>
                </a:solidFill>
              </a:rPr>
              <a:t>This CM reduces L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6" name="Rectangular Callout 15"/>
          <p:cNvSpPr/>
          <p:nvPr/>
        </p:nvSpPr>
        <p:spPr>
          <a:xfrm>
            <a:off x="5046385" y="4553510"/>
            <a:ext cx="1178066" cy="598261"/>
          </a:xfrm>
          <a:prstGeom prst="wedgeRectCallout">
            <a:avLst>
              <a:gd name="adj1" fmla="val 139985"/>
              <a:gd name="adj2" fmla="val -162658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chemeClr val="tx1"/>
                </a:solidFill>
              </a:rPr>
              <a:t>This CM reduces C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1838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endParaRPr kumimoji="0" lang="en-US" alt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r>
              <a:rPr kumimoji="0" lang="en-US" alt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SQRA to reduce risks</a:t>
            </a:r>
            <a:r>
              <a:rPr kumimoji="0" lang="en-US" altLang="en-US" sz="20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to acceptable levels</a:t>
            </a:r>
            <a:r>
              <a:rPr kumimoji="0" lang="en-US" altLang="en-US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 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endParaRPr kumimoji="0" lang="en-US" alt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r>
              <a:rPr kumimoji="0" lang="en-US" alt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Coach and mentor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others in </a:t>
            </a:r>
            <a:r>
              <a:rPr kumimoji="0" lang="en-US" altLang="en-US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its 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effective use.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SQRA as a Leadership Tool: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08D308-443E-4056-AF5E-AEFC5B070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117" y="2273820"/>
            <a:ext cx="3985902" cy="3656791"/>
          </a:xfrm>
          <a:prstGeom prst="rect">
            <a:avLst/>
          </a:prstGeom>
        </p:spPr>
      </p:pic>
      <p:sp>
        <p:nvSpPr>
          <p:cNvPr id="24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597742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Integration of The RMWP, CM’s, &amp; RA Tools: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80000" y="828000"/>
            <a:ext cx="8640000" cy="5328000"/>
            <a:chOff x="180000" y="828000"/>
            <a:chExt cx="8640000" cy="5328000"/>
          </a:xfrm>
        </p:grpSpPr>
        <p:sp>
          <p:nvSpPr>
            <p:cNvPr id="5" name="Bent Arrow 4"/>
            <p:cNvSpPr/>
            <p:nvPr/>
          </p:nvSpPr>
          <p:spPr>
            <a:xfrm rot="5400000">
              <a:off x="4522490" y="-754182"/>
              <a:ext cx="1727664" cy="6320756"/>
            </a:xfrm>
            <a:prstGeom prst="bentArrow">
              <a:avLst/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" name="Rectangle 3"/>
            <p:cNvSpPr>
              <a:spLocks noChangeArrowheads="1"/>
            </p:cNvSpPr>
            <p:nvPr/>
          </p:nvSpPr>
          <p:spPr bwMode="auto">
            <a:xfrm>
              <a:off x="180000" y="828000"/>
              <a:ext cx="8640000" cy="5328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>
              <a:lvl1pPr marL="609600" indent="-609600">
                <a:lnSpc>
                  <a:spcPct val="120000"/>
                </a:lnSpc>
                <a:spcBef>
                  <a:spcPts val="10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Tw Cen MT" panose="020B0602020104020603" pitchFamily="34" charset="0"/>
                </a:defRPr>
              </a:lvl1pPr>
              <a:lvl2pPr marL="742950" indent="-28575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Tw Cen MT" panose="020B0602020104020603" pitchFamily="34" charset="0"/>
                </a:defRPr>
              </a:lvl2pPr>
              <a:lvl3pPr marL="11430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Tw Cen MT" panose="020B0602020104020603" pitchFamily="34" charset="0"/>
                </a:defRPr>
              </a:lvl3pPr>
              <a:lvl4pPr marL="16002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4pPr>
              <a:lvl5pPr marL="20574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5pPr>
              <a:lvl6pPr marL="25146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6pPr>
              <a:lvl7pPr marL="29718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7pPr>
              <a:lvl8pPr marL="34290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8pPr>
              <a:lvl9pPr marL="38862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9pPr>
            </a:lstStyle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r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1305" y="986568"/>
              <a:ext cx="1403595" cy="2283460"/>
            </a:xfrm>
            <a:prstGeom prst="rect">
              <a:avLst/>
            </a:prstGeom>
          </p:spPr>
        </p:pic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7717" y="3434598"/>
              <a:ext cx="4425683" cy="2721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Bent Arrow 13"/>
            <p:cNvSpPr/>
            <p:nvPr/>
          </p:nvSpPr>
          <p:spPr>
            <a:xfrm rot="10800000" flipH="1">
              <a:off x="661012" y="3635999"/>
              <a:ext cx="3624549" cy="2423277"/>
            </a:xfrm>
            <a:prstGeom prst="bentArrow">
              <a:avLst>
                <a:gd name="adj1" fmla="val 18490"/>
                <a:gd name="adj2" fmla="val 19631"/>
                <a:gd name="adj3" fmla="val 25000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5" name="Google Shape;200;p7">
              <a:extLst>
                <a:ext uri="{FF2B5EF4-FFF2-40B4-BE49-F238E27FC236}">
                  <a16:creationId xmlns:a16="http://schemas.microsoft.com/office/drawing/2014/main" id="{24FB57AC-E823-40CB-A670-DDBD1EB18673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909012" y="1124879"/>
              <a:ext cx="865127" cy="7519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202;p7">
              <a:extLst>
                <a:ext uri="{FF2B5EF4-FFF2-40B4-BE49-F238E27FC236}">
                  <a16:creationId xmlns:a16="http://schemas.microsoft.com/office/drawing/2014/main" id="{00FBE9E5-E152-442F-AA9B-2D806A6C6183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774139" y="1207937"/>
              <a:ext cx="763873" cy="6688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53883" y="2080701"/>
              <a:ext cx="1840512" cy="86835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1132" y="911276"/>
              <a:ext cx="2741396" cy="2627999"/>
            </a:xfrm>
            <a:prstGeom prst="rect">
              <a:avLst/>
            </a:prstGeom>
          </p:spPr>
        </p:pic>
        <p:sp>
          <p:nvSpPr>
            <p:cNvPr id="20" name="Bent Arrow 19"/>
            <p:cNvSpPr/>
            <p:nvPr/>
          </p:nvSpPr>
          <p:spPr>
            <a:xfrm rot="10800000" flipH="1">
              <a:off x="2060154" y="3553511"/>
              <a:ext cx="2225407" cy="1084589"/>
            </a:xfrm>
            <a:prstGeom prst="bentArrow">
              <a:avLst>
                <a:gd name="adj1" fmla="val 44544"/>
                <a:gd name="adj2" fmla="val 37678"/>
                <a:gd name="adj3" fmla="val 31375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16436" y="4652336"/>
              <a:ext cx="1156850" cy="142117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21"/>
            <p:cNvSpPr txBox="1"/>
            <p:nvPr/>
          </p:nvSpPr>
          <p:spPr>
            <a:xfrm>
              <a:off x="2300791" y="3923517"/>
              <a:ext cx="137433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RME #2 RA&amp;MR</a:t>
              </a:r>
            </a:p>
            <a:p>
              <a:pPr marL="360000" indent="-360000" eaLnBrk="0" fontAlgn="base" hangingPunct="0">
                <a:spcAft>
                  <a:spcPct val="0"/>
                </a:spcAft>
                <a:buSzPct val="100000"/>
                <a:buFont typeface="Wingdings" panose="05000000000000000000" pitchFamily="2" charset="2"/>
                <a:buChar char="Ø"/>
                <a:defRPr/>
              </a:pPr>
              <a:r>
                <a:rPr lang="en-US" sz="1200" dirty="0">
                  <a:solidFill>
                    <a:srgbClr val="000000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SQRA is a “standard”</a:t>
              </a:r>
              <a:endParaRPr lang="en-US" sz="12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382079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and Key</a:t>
            </a:r>
            <a:r>
              <a:rPr kumimoji="0" lang="en-US" altLang="en-US" sz="2400" b="0" i="0" u="none" strike="noStrike" kern="1200" cap="none" spc="0" normalizeH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Lessons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None/>
              <a:tabLst/>
              <a:defRPr/>
            </a:pPr>
            <a:r>
              <a:rPr lang="en-CA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SQ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RA:</a:t>
            </a:r>
          </a:p>
          <a:p>
            <a:pPr marL="360000" lvl="0" indent="-360000" eaLnBrk="0" fontAlgn="base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Used well in advance of and part of the planning process for work activities, or during the engineering / design / construction of installations and facilities.</a:t>
            </a:r>
          </a:p>
          <a:p>
            <a:pPr marL="360000" lvl="0" indent="-360000" eaLnBrk="0" fontAlgn="base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One </a:t>
            </a:r>
            <a:r>
              <a:rPr lang="en-US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of many different risk assessment tool; 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Systematically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identifies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hazards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 specifies appropriate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measures.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be complemented with the application of incident models i.e. knowledge-based and discovery-based approaches for hazard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identification.</a:t>
            </a:r>
          </a:p>
          <a:p>
            <a:pPr marL="360000" lvl="0" indent="-360000" eaLnBrk="0" fontAlgn="base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Use your expertise to coach others!</a:t>
            </a: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8D308-443E-4056-AF5E-AEFC5B070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077" y="2951244"/>
            <a:ext cx="1798589" cy="165008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852" y="5109748"/>
            <a:ext cx="4876269" cy="1202568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509" y="2787269"/>
            <a:ext cx="4012478" cy="2478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58347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80000" y="180000"/>
            <a:ext cx="8640000" cy="50400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66342543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  <a:extLst/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Complete Slide Deck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follows with details. 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5144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Explain the purpose of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Semi-Quantitative Risk Assessment (SQRA) Tool,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a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Management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tool,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manner in which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it is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used, and the benefits for planning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work using the SQRA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.</a:t>
            </a: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lvl="0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Demonstrate the integration of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SQRA (and similar </a:t>
            </a:r>
            <a:r>
              <a:rPr lang="en-CA" alt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Assessment </a:t>
            </a:r>
            <a:r>
              <a:rPr lang="en-CA" altLang="en-US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Tools such as FLRA, What-If Analysis, JSA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) with the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Management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Work 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Process and its tools (Matrix, Criteria Table, Management Directions), the RM System, and </a:t>
            </a:r>
            <a:r>
              <a:rPr kumimoji="0" lang="en-CA" altLang="en-US" sz="2000" b="0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Measures.</a:t>
            </a: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CA" alt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 this tool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 a rudimentary skill of leadership to observe, interact,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commend,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or intervene / coach employees in the work-place.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Learning Outcomes: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7362093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Recall our </a:t>
            </a:r>
            <a:r>
              <a:rPr kumimoji="0" lang="en-CA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“Discovery Model” for identifying hazards! </a:t>
            </a:r>
            <a:endParaRPr kumimoji="0" lang="en-CA" altLang="en-US" sz="2000" b="1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Look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for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think about the following:</a:t>
            </a: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Find the </a:t>
            </a:r>
            <a:r>
              <a:rPr kumimoji="0" lang="en-CA" alt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energy sources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: </a:t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mechanical, electrical, chemical, etc. 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Look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for lack of or </a:t>
            </a:r>
            <a:r>
              <a:rPr kumimoji="0" lang="en-CA" alt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substandard safeguards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/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(inadequate, ineffective, deficient, </a:t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defective control measures)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Find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circumstances or mechanisms that </a:t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will cause or </a:t>
            </a:r>
            <a:r>
              <a:rPr kumimoji="0" lang="en-CA" alt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trigger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an unwanted, unintended, </a:t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and/or uncontrolled release of energy.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Look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for bodies, objects and environment that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are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in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/>
            </a:r>
            <a:b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kumimoji="0" lang="en-CA" altLang="en-US" sz="2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line-of-fire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and could be harmed by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unwanted,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/>
            </a:r>
            <a:b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unintended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and/or uncontrolled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release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of energy.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Recall … The Discovery Model: How To Identify </a:t>
            </a:r>
            <a:r>
              <a:rPr kumimoji="0" lang="en-CA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Hazards: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Google Shape;200;p7">
            <a:extLst>
              <a:ext uri="{FF2B5EF4-FFF2-40B4-BE49-F238E27FC236}">
                <a16:creationId xmlns:a16="http://schemas.microsoft.com/office/drawing/2014/main" id="{24FB57AC-E823-40CB-A670-DDBD1EB186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53741" y="1304192"/>
            <a:ext cx="2606620" cy="207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02;p7">
            <a:extLst>
              <a:ext uri="{FF2B5EF4-FFF2-40B4-BE49-F238E27FC236}">
                <a16:creationId xmlns:a16="http://schemas.microsoft.com/office/drawing/2014/main" id="{00FBE9E5-E152-442F-AA9B-2D806A6C618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53374" y="3448490"/>
            <a:ext cx="2301543" cy="184672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470475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kumimoji="0" lang="en-CA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fundamental approach for any risk assessment methodology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/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answers these questions: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are you doing?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(Activity)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could go wrong?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(Hazard)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How bad could it be?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(Consequence)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How likely is it to happen?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(Likelihood)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it acceptable?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(Risk)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can I do about it?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</a:t>
            </a:r>
            <a:r>
              <a:rPr kumimoji="0" lang="en-CA" altLang="en-US" sz="2000" b="0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 </a:t>
            </a: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– Admin or Eng’g)</a:t>
            </a: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How does the control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measure change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L and C? </a:t>
            </a:r>
            <a:b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(Reduce, remain unchanged, or increase?)</a:t>
            </a: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Recall 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… Fundamental Approach for Any RM Methodology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6147" y="1434754"/>
            <a:ext cx="3777253" cy="1782103"/>
          </a:xfrm>
          <a:prstGeom prst="rect">
            <a:avLst/>
          </a:prstGeom>
        </p:spPr>
      </p:pic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81184355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RM Work Process</a:t>
            </a:r>
            <a:r>
              <a:rPr kumimoji="0" lang="en-CA" altLang="en-US" sz="1800" b="1" i="0" u="none" strike="noStrike" kern="120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Function:</a:t>
            </a:r>
            <a:endParaRPr kumimoji="0" lang="en-CA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lang="en-CA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Analyzes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risks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PEAP</a:t>
            </a: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Systematically assesses risks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/>
            </a:r>
            <a:b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</a:b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opposite what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 acceptable level</a:t>
            </a: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RMWP uses tools such as: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Matrices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Risk Criteria Tables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en-US" sz="1800" b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Management Directions</a:t>
            </a:r>
          </a:p>
          <a:p>
            <a:pPr marL="72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lang="en-US" altLang="en-US" sz="1800" b="1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SQRA</a:t>
            </a:r>
            <a:endParaRPr kumimoji="0" lang="en-US" altLang="en-US" sz="1800" b="1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kumimoji="0" lang="en-US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2448000" lvl="3" indent="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None/>
              <a:defRPr/>
            </a:pPr>
            <a:r>
              <a:rPr kumimoji="0" lang="en-US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Measures:</a:t>
            </a:r>
          </a:p>
          <a:p>
            <a:pPr marL="2880000" lvl="3" indent="-432000" eaLnBrk="0" fontAlgn="base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kumimoji="0" lang="en-US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SQRA </a:t>
            </a:r>
            <a:r>
              <a:rPr lang="en-US" altLang="en-US" sz="1800" noProof="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u</a:t>
            </a:r>
            <a:r>
              <a:rPr lang="en-US" altLang="en-US" sz="1800" dirty="0" err="1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sed</a:t>
            </a: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define and </a:t>
            </a: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implement the </a:t>
            </a:r>
            <a:r>
              <a:rPr lang="en-US" altLang="en-US" sz="1800" b="1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CM’s</a:t>
            </a:r>
            <a:r>
              <a:rPr kumimoji="0" lang="en-US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reduce and control risks to an acceptable level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020" y="1532317"/>
            <a:ext cx="3340493" cy="3202314"/>
          </a:xfrm>
          <a:prstGeom prst="rect">
            <a:avLst/>
          </a:prstGeom>
        </p:spPr>
      </p:pic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 </a:t>
            </a:r>
            <a:r>
              <a:rPr lang="en-US" altLang="en-US" sz="2400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 </a:t>
            </a: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 The RM </a:t>
            </a:r>
            <a:r>
              <a:rPr lang="en-US" altLang="en-US" sz="2400" dirty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 </a:t>
            </a:r>
            <a:r>
              <a:rPr lang="en-US" altLang="en-US" sz="2400" dirty="0" smtClean="0">
                <a:solidFill>
                  <a:srgbClr val="3333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 &amp; Control Measures: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373" y="967199"/>
            <a:ext cx="1827910" cy="297376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07" y="3695699"/>
            <a:ext cx="2195387" cy="2460301"/>
          </a:xfrm>
          <a:prstGeom prst="rect">
            <a:avLst/>
          </a:prstGeom>
        </p:spPr>
      </p:pic>
      <p:sp>
        <p:nvSpPr>
          <p:cNvPr id="29" name="Striped Right Arrow 28"/>
          <p:cNvSpPr/>
          <p:nvPr/>
        </p:nvSpPr>
        <p:spPr>
          <a:xfrm rot="9421759">
            <a:off x="2404461" y="4102871"/>
            <a:ext cx="818780" cy="720000"/>
          </a:xfrm>
          <a:prstGeom prst="stripedRightArrow">
            <a:avLst/>
          </a:prstGeom>
          <a:gradFill>
            <a:gsLst>
              <a:gs pos="0">
                <a:srgbClr val="0000FF"/>
              </a:gs>
              <a:gs pos="50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rgbClr val="002060"/>
              </a:gs>
            </a:gsLst>
            <a:lin ang="16200000" scaled="1"/>
          </a:gra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triped Right Arrow 29"/>
          <p:cNvSpPr/>
          <p:nvPr/>
        </p:nvSpPr>
        <p:spPr>
          <a:xfrm>
            <a:off x="4946573" y="1824547"/>
            <a:ext cx="1747170" cy="720000"/>
          </a:xfrm>
          <a:prstGeom prst="stripedRightArrow">
            <a:avLst/>
          </a:prstGeom>
          <a:gradFill>
            <a:gsLst>
              <a:gs pos="0">
                <a:srgbClr val="0000FF"/>
              </a:gs>
              <a:gs pos="50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rgbClr val="002060"/>
              </a:gs>
            </a:gsLst>
            <a:lin ang="16200000" scaled="1"/>
          </a:gra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triped Right Arrow 12"/>
          <p:cNvSpPr/>
          <p:nvPr/>
        </p:nvSpPr>
        <p:spPr>
          <a:xfrm rot="1275672">
            <a:off x="5853183" y="4331216"/>
            <a:ext cx="1060276" cy="720000"/>
          </a:xfrm>
          <a:prstGeom prst="stripedRightArrow">
            <a:avLst/>
          </a:prstGeom>
          <a:gradFill>
            <a:gsLst>
              <a:gs pos="0">
                <a:srgbClr val="0000FF"/>
              </a:gs>
              <a:gs pos="50000">
                <a:schemeClr val="accent1">
                  <a:hueOff val="0"/>
                  <a:satOff val="0"/>
                  <a:lumOff val="0"/>
                  <a:alphaOff val="0"/>
                  <a:tint val="37000"/>
                  <a:satMod val="300000"/>
                </a:schemeClr>
              </a:gs>
              <a:gs pos="100000">
                <a:srgbClr val="002060"/>
              </a:gs>
            </a:gsLst>
            <a:lin ang="16200000" scaled="1"/>
          </a:gra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941390" y="4373457"/>
            <a:ext cx="19610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RME #2 RA&amp;MR</a:t>
            </a:r>
          </a:p>
          <a:p>
            <a:pPr marL="360000" indent="-360000" eaLnBrk="0" fontAlgn="base" hangingPunct="0">
              <a:spcAft>
                <a:spcPct val="0"/>
              </a:spcAft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SQRA is a “standard”</a:t>
            </a:r>
            <a:endParaRPr lang="en-US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78855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Integration of The RMWP, CM’s, &amp; RA Tools: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80000" y="828000"/>
            <a:ext cx="8640000" cy="5328000"/>
            <a:chOff x="180000" y="828000"/>
            <a:chExt cx="8640000" cy="5328000"/>
          </a:xfrm>
        </p:grpSpPr>
        <p:sp>
          <p:nvSpPr>
            <p:cNvPr id="5" name="Bent Arrow 4"/>
            <p:cNvSpPr/>
            <p:nvPr/>
          </p:nvSpPr>
          <p:spPr>
            <a:xfrm rot="5400000">
              <a:off x="4522490" y="-754182"/>
              <a:ext cx="1727664" cy="6320756"/>
            </a:xfrm>
            <a:prstGeom prst="bentArrow">
              <a:avLst/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" name="Rectangle 3"/>
            <p:cNvSpPr>
              <a:spLocks noChangeArrowheads="1"/>
            </p:cNvSpPr>
            <p:nvPr/>
          </p:nvSpPr>
          <p:spPr bwMode="auto">
            <a:xfrm>
              <a:off x="180000" y="828000"/>
              <a:ext cx="8640000" cy="5328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>
              <a:lvl1pPr marL="609600" indent="-609600">
                <a:lnSpc>
                  <a:spcPct val="120000"/>
                </a:lnSpc>
                <a:spcBef>
                  <a:spcPts val="10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Tw Cen MT" panose="020B0602020104020603" pitchFamily="34" charset="0"/>
                </a:defRPr>
              </a:lvl1pPr>
              <a:lvl2pPr marL="742950" indent="-28575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Tw Cen MT" panose="020B0602020104020603" pitchFamily="34" charset="0"/>
                </a:defRPr>
              </a:lvl2pPr>
              <a:lvl3pPr marL="11430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Tw Cen MT" panose="020B0602020104020603" pitchFamily="34" charset="0"/>
                </a:defRPr>
              </a:lvl3pPr>
              <a:lvl4pPr marL="16002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4pPr>
              <a:lvl5pPr marL="20574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5pPr>
              <a:lvl6pPr marL="25146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6pPr>
              <a:lvl7pPr marL="29718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7pPr>
              <a:lvl8pPr marL="34290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8pPr>
              <a:lvl9pPr marL="38862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9pPr>
            </a:lstStyle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r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1305" y="986568"/>
              <a:ext cx="1403595" cy="2283460"/>
            </a:xfrm>
            <a:prstGeom prst="rect">
              <a:avLst/>
            </a:prstGeom>
          </p:spPr>
        </p:pic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7717" y="3434598"/>
              <a:ext cx="4425683" cy="2721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Bent Arrow 13"/>
            <p:cNvSpPr/>
            <p:nvPr/>
          </p:nvSpPr>
          <p:spPr>
            <a:xfrm rot="10800000" flipH="1">
              <a:off x="661012" y="3635999"/>
              <a:ext cx="3624549" cy="2423277"/>
            </a:xfrm>
            <a:prstGeom prst="bentArrow">
              <a:avLst>
                <a:gd name="adj1" fmla="val 18490"/>
                <a:gd name="adj2" fmla="val 19631"/>
                <a:gd name="adj3" fmla="val 25000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5" name="Google Shape;200;p7">
              <a:extLst>
                <a:ext uri="{FF2B5EF4-FFF2-40B4-BE49-F238E27FC236}">
                  <a16:creationId xmlns:a16="http://schemas.microsoft.com/office/drawing/2014/main" id="{24FB57AC-E823-40CB-A670-DDBD1EB18673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909012" y="1124879"/>
              <a:ext cx="865127" cy="7519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202;p7">
              <a:extLst>
                <a:ext uri="{FF2B5EF4-FFF2-40B4-BE49-F238E27FC236}">
                  <a16:creationId xmlns:a16="http://schemas.microsoft.com/office/drawing/2014/main" id="{00FBE9E5-E152-442F-AA9B-2D806A6C6183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774139" y="1207937"/>
              <a:ext cx="763873" cy="6688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53883" y="2080701"/>
              <a:ext cx="1840512" cy="86835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1132" y="911276"/>
              <a:ext cx="2741396" cy="2627999"/>
            </a:xfrm>
            <a:prstGeom prst="rect">
              <a:avLst/>
            </a:prstGeom>
          </p:spPr>
        </p:pic>
        <p:sp>
          <p:nvSpPr>
            <p:cNvPr id="20" name="Bent Arrow 19"/>
            <p:cNvSpPr/>
            <p:nvPr/>
          </p:nvSpPr>
          <p:spPr>
            <a:xfrm rot="10800000" flipH="1">
              <a:off x="2060154" y="3553511"/>
              <a:ext cx="2225407" cy="1084589"/>
            </a:xfrm>
            <a:prstGeom prst="bentArrow">
              <a:avLst>
                <a:gd name="adj1" fmla="val 44544"/>
                <a:gd name="adj2" fmla="val 37678"/>
                <a:gd name="adj3" fmla="val 31375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16436" y="4652336"/>
              <a:ext cx="1156850" cy="142117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21"/>
            <p:cNvSpPr txBox="1"/>
            <p:nvPr/>
          </p:nvSpPr>
          <p:spPr>
            <a:xfrm>
              <a:off x="2300791" y="3923517"/>
              <a:ext cx="137433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RME #2 RA&amp;MR</a:t>
              </a:r>
            </a:p>
            <a:p>
              <a:pPr marL="360000" indent="-360000" eaLnBrk="0" fontAlgn="base" hangingPunct="0">
                <a:spcAft>
                  <a:spcPct val="0"/>
                </a:spcAft>
                <a:buSzPct val="100000"/>
                <a:buFont typeface="Wingdings" panose="05000000000000000000" pitchFamily="2" charset="2"/>
                <a:buChar char="Ø"/>
                <a:defRPr/>
              </a:pPr>
              <a:r>
                <a:rPr lang="en-US" sz="1200" dirty="0">
                  <a:solidFill>
                    <a:srgbClr val="000000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SQRA is a “standard”</a:t>
              </a:r>
              <a:endParaRPr lang="en-US" sz="12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9735690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/>
          </p:nvPr>
        </p:nvGraphicFramePr>
        <p:xfrm>
          <a:off x="88652" y="4255725"/>
          <a:ext cx="8868340" cy="1869025"/>
        </p:xfrm>
        <a:graphic>
          <a:graphicData uri="http://schemas.openxmlformats.org/drawingml/2006/table">
            <a:tbl>
              <a:tblPr/>
              <a:tblGrid>
                <a:gridCol w="899844">
                  <a:extLst>
                    <a:ext uri="{9D8B030D-6E8A-4147-A177-3AD203B41FA5}">
                      <a16:colId xmlns:a16="http://schemas.microsoft.com/office/drawing/2014/main" val="3350495733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788624471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1126100611"/>
                    </a:ext>
                  </a:extLst>
                </a:gridCol>
                <a:gridCol w="563757">
                  <a:extLst>
                    <a:ext uri="{9D8B030D-6E8A-4147-A177-3AD203B41FA5}">
                      <a16:colId xmlns:a16="http://schemas.microsoft.com/office/drawing/2014/main" val="894614678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43681062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1862085159"/>
                    </a:ext>
                  </a:extLst>
                </a:gridCol>
                <a:gridCol w="1040783">
                  <a:extLst>
                    <a:ext uri="{9D8B030D-6E8A-4147-A177-3AD203B41FA5}">
                      <a16:colId xmlns:a16="http://schemas.microsoft.com/office/drawing/2014/main" val="255328048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2438800930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126472793"/>
                    </a:ext>
                  </a:extLst>
                </a:gridCol>
                <a:gridCol w="726380">
                  <a:extLst>
                    <a:ext uri="{9D8B030D-6E8A-4147-A177-3AD203B41FA5}">
                      <a16:colId xmlns:a16="http://schemas.microsoft.com/office/drawing/2014/main" val="2176342193"/>
                    </a:ext>
                  </a:extLst>
                </a:gridCol>
              </a:tblGrid>
              <a:tr h="284046">
                <a:tc gridSpan="10">
                  <a:txBody>
                    <a:bodyPr/>
                    <a:lstStyle/>
                    <a:p>
                      <a:pPr algn="ctr" fontAlgn="ctr"/>
                      <a:r>
                        <a:rPr lang="en-US" sz="1100" b="1" i="0" u="sng" strike="noStrike">
                          <a:effectLst/>
                          <a:latin typeface="Arial" panose="020B0604020202020204" pitchFamily="34" charset="0"/>
                        </a:rPr>
                        <a:t>SEMI-QUANTITATVE RISK ASSESSMENT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011942"/>
                  </a:ext>
                </a:extLst>
              </a:tr>
              <a:tr h="8180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effectLst/>
                          <a:latin typeface="Arial" panose="020B0604020202020204" pitchFamily="34" charset="0"/>
                        </a:rPr>
                        <a:t>Activity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Deviations and Concerns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Before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 with or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 with or after Control Measures 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Proceed? Y/N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524930"/>
                  </a:ext>
                </a:extLst>
              </a:tr>
              <a:tr h="76692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182498"/>
                  </a:ext>
                </a:extLst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0" y="900000"/>
            <a:ext cx="4223999" cy="3168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991" y="900000"/>
            <a:ext cx="4223999" cy="3168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786485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Use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Risk Matrix and Risk Criteria 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with the SQRA:</a:t>
            </a:r>
            <a:endParaRPr kumimoji="0" lang="en-CA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1" name="Google Shape;1673;p24">
            <a:extLst>
              <a:ext uri="{FF2B5EF4-FFF2-40B4-BE49-F238E27FC236}">
                <a16:creationId xmlns:a16="http://schemas.microsoft.com/office/drawing/2014/main" id="{E6D15343-29FA-467F-B725-6F9EAD86FEBC}"/>
              </a:ext>
            </a:extLst>
          </p:cNvPr>
          <p:cNvSpPr>
            <a:spLocks noChangeAspect="1"/>
          </p:cNvSpPr>
          <p:nvPr/>
        </p:nvSpPr>
        <p:spPr>
          <a:xfrm>
            <a:off x="3891839" y="1751143"/>
            <a:ext cx="1212669" cy="1212669"/>
          </a:xfrm>
          <a:prstGeom prst="plus">
            <a:avLst>
              <a:gd name="adj" fmla="val 36361"/>
            </a:avLst>
          </a:prstGeom>
          <a:solidFill>
            <a:srgbClr val="0099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Noto Sans Symbols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" name="Google Shape;1674;p24">
            <a:extLst>
              <a:ext uri="{FF2B5EF4-FFF2-40B4-BE49-F238E27FC236}">
                <a16:creationId xmlns:a16="http://schemas.microsoft.com/office/drawing/2014/main" id="{19F1F05F-F76F-48DD-A2B8-5A11D1B04C9B}"/>
              </a:ext>
            </a:extLst>
          </p:cNvPr>
          <p:cNvSpPr/>
          <p:nvPr/>
        </p:nvSpPr>
        <p:spPr>
          <a:xfrm rot="5400000">
            <a:off x="3808297" y="3226949"/>
            <a:ext cx="1379752" cy="1228928"/>
          </a:xfrm>
          <a:prstGeom prst="stripedRightArrow">
            <a:avLst>
              <a:gd name="adj1" fmla="val 42340"/>
              <a:gd name="adj2" fmla="val 41540"/>
            </a:avLst>
          </a:prstGeom>
          <a:solidFill>
            <a:srgbClr val="0099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291357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6000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87675" y="5663086"/>
            <a:ext cx="3898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Y</a:t>
            </a:r>
          </a:p>
        </p:txBody>
      </p:sp>
      <p:cxnSp>
        <p:nvCxnSpPr>
          <p:cNvPr id="62" name="Curved Connector 61"/>
          <p:cNvCxnSpPr>
            <a:stCxn id="36" idx="0"/>
            <a:endCxn id="37" idx="0"/>
          </p:cNvCxnSpPr>
          <p:nvPr/>
        </p:nvCxnSpPr>
        <p:spPr>
          <a:xfrm rot="5400000" flipH="1" flipV="1">
            <a:off x="5749678" y="3679679"/>
            <a:ext cx="12700" cy="3944643"/>
          </a:xfrm>
          <a:prstGeom prst="curvedConnector3">
            <a:avLst>
              <a:gd name="adj1" fmla="val 2580724"/>
            </a:avLst>
          </a:prstGeom>
          <a:ln w="762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197457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42900" marR="0" lvl="0" indent="-25717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A9C8F"/>
              </a:buClr>
              <a:buSzPts val="2000"/>
              <a:buFont typeface="Noto Sans Symbols"/>
              <a:buNone/>
              <a:tabLst/>
              <a:defRPr/>
            </a:pPr>
            <a:r>
              <a:rPr kumimoji="0" lang="en-CA" sz="2000" b="1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Key purposes </a:t>
            </a:r>
            <a:r>
              <a:rPr kumimoji="0" lang="en-CA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of the </a:t>
            </a:r>
            <a:r>
              <a:rPr kumimoji="0" lang="en-CA" sz="2000" b="1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SQRA, and when it is applied:</a:t>
            </a:r>
            <a:endParaRPr kumimoji="0" lang="en-CA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342900" marR="0" lvl="0" indent="-25717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A9C8F"/>
              </a:buClr>
              <a:buSzPts val="2000"/>
              <a:buFont typeface="Noto Sans Symbols"/>
              <a:buNone/>
              <a:tabLst/>
              <a:defRPr/>
            </a:pP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It is </a:t>
            </a: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used to </a:t>
            </a: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assess hazards </a:t>
            </a: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of an activity, job, or task, or installation or facility, to determine appropriate control measures in order to eliminate </a:t>
            </a: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 control those </a:t>
            </a: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hazards. </a:t>
            </a: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It is used during the planning stages of the activity, job, or task, or during the design and construction of the installation or facility. 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457200" marR="0" lvl="0" indent="-327025" algn="l" defTabSz="914400" rtl="0" eaLnBrk="0" fontAlgn="base" latinLnBrk="0" hangingPunc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AutoNum type="arabicParenR"/>
              <a:tabLst/>
              <a:defRPr/>
            </a:pP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It </a:t>
            </a: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is used to ensure understanding of the control measures </a:t>
            </a: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(to </a:t>
            </a:r>
            <a:r>
              <a:rPr kumimoji="0" lang="en-CA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eliminate or mitigate the </a:t>
            </a:r>
            <a:r>
              <a:rPr kumimoji="0" lang="en-CA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hazards) by the personnel preparing job plans, procedures, designs packages, and construction packages. </a:t>
            </a:r>
            <a:endParaRPr kumimoji="0" lang="en-CA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Purposes and Applications of the SQRA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6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874804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Basic Steps to Create an 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SQRA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3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/>
          </p:nvPr>
        </p:nvGraphicFramePr>
        <p:xfrm>
          <a:off x="88652" y="4255725"/>
          <a:ext cx="8868340" cy="1869025"/>
        </p:xfrm>
        <a:graphic>
          <a:graphicData uri="http://schemas.openxmlformats.org/drawingml/2006/table">
            <a:tbl>
              <a:tblPr/>
              <a:tblGrid>
                <a:gridCol w="899844">
                  <a:extLst>
                    <a:ext uri="{9D8B030D-6E8A-4147-A177-3AD203B41FA5}">
                      <a16:colId xmlns:a16="http://schemas.microsoft.com/office/drawing/2014/main" val="3350495733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788624471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1126100611"/>
                    </a:ext>
                  </a:extLst>
                </a:gridCol>
                <a:gridCol w="563757">
                  <a:extLst>
                    <a:ext uri="{9D8B030D-6E8A-4147-A177-3AD203B41FA5}">
                      <a16:colId xmlns:a16="http://schemas.microsoft.com/office/drawing/2014/main" val="894614678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43681062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1862085159"/>
                    </a:ext>
                  </a:extLst>
                </a:gridCol>
                <a:gridCol w="1040783">
                  <a:extLst>
                    <a:ext uri="{9D8B030D-6E8A-4147-A177-3AD203B41FA5}">
                      <a16:colId xmlns:a16="http://schemas.microsoft.com/office/drawing/2014/main" val="255328048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2438800930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126472793"/>
                    </a:ext>
                  </a:extLst>
                </a:gridCol>
                <a:gridCol w="726380">
                  <a:extLst>
                    <a:ext uri="{9D8B030D-6E8A-4147-A177-3AD203B41FA5}">
                      <a16:colId xmlns:a16="http://schemas.microsoft.com/office/drawing/2014/main" val="2176342193"/>
                    </a:ext>
                  </a:extLst>
                </a:gridCol>
              </a:tblGrid>
              <a:tr h="284046">
                <a:tc gridSpan="10">
                  <a:txBody>
                    <a:bodyPr/>
                    <a:lstStyle/>
                    <a:p>
                      <a:pPr algn="ctr" fontAlgn="ctr"/>
                      <a:r>
                        <a:rPr lang="en-US" sz="1100" b="1" i="0" u="sng" strike="noStrike">
                          <a:effectLst/>
                          <a:latin typeface="Arial" panose="020B0604020202020204" pitchFamily="34" charset="0"/>
                        </a:rPr>
                        <a:t>SEMI-QUANTITATVE RISK ASSESSMENT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011942"/>
                  </a:ext>
                </a:extLst>
              </a:tr>
              <a:tr h="8180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effectLst/>
                          <a:latin typeface="Arial" panose="020B0604020202020204" pitchFamily="34" charset="0"/>
                        </a:rPr>
                        <a:t>Activity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Deviations and Concerns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Before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 with or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 with or after Control Measures 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Proceed? Y/N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524930"/>
                  </a:ext>
                </a:extLst>
              </a:tr>
              <a:tr h="76692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18249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91357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6000" y="5652000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7675" y="5663086"/>
            <a:ext cx="3898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Y</a:t>
            </a:r>
          </a:p>
        </p:txBody>
      </p:sp>
      <p:cxnSp>
        <p:nvCxnSpPr>
          <p:cNvPr id="14" name="Curved Connector 13"/>
          <p:cNvCxnSpPr>
            <a:stCxn id="7" idx="0"/>
            <a:endCxn id="10" idx="0"/>
          </p:cNvCxnSpPr>
          <p:nvPr/>
        </p:nvCxnSpPr>
        <p:spPr>
          <a:xfrm rot="5400000" flipH="1" flipV="1">
            <a:off x="5749678" y="3679679"/>
            <a:ext cx="12700" cy="3944643"/>
          </a:xfrm>
          <a:prstGeom prst="curvedConnector3">
            <a:avLst>
              <a:gd name="adj1" fmla="val 2580724"/>
            </a:avLst>
          </a:prstGeom>
          <a:ln w="762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endParaRPr kumimoji="0" lang="en-CA" sz="16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Identify </a:t>
            </a: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job and scope. 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</a:t>
            </a:r>
            <a:r>
              <a:rPr kumimoji="0" lang="en-CA" sz="16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key activities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Identify </a:t>
            </a:r>
            <a:r>
              <a:rPr kumimoji="0" lang="en-CA" sz="16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deviations and concerns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associated 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 each key activity. </a:t>
            </a:r>
            <a:b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Use the </a:t>
            </a:r>
            <a:r>
              <a:rPr kumimoji="0" lang="en-CA" sz="1600" b="1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“What-If Analysis”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to determine any deviations and concerns!</a:t>
            </a: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</a:t>
            </a:r>
            <a:r>
              <a:rPr kumimoji="0" lang="en-CA" sz="16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likelihood, impact, and risk level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posed by each 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deviation / concern without or </a:t>
            </a:r>
            <a:r>
              <a:rPr kumimoji="0" lang="en-CA" sz="1600" b="0" i="0" u="sng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before control measures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Identify suitable </a:t>
            </a:r>
            <a:r>
              <a:rPr kumimoji="0" lang="en-CA" sz="16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control measures</a:t>
            </a:r>
            <a:r>
              <a:rPr kumimoji="0" lang="en-CA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for each </a:t>
            </a: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deviation / concern.</a:t>
            </a: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likelihood, impact, and risk level posed </a:t>
            </a: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with 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 </a:t>
            </a: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after 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control </a:t>
            </a: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measures.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Determine whether to proceed with the activity or not.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Incorporate or integrate the control measures in the job plan or engineering / design / construction package. </a:t>
            </a: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+mj-lt"/>
              <a:buAutoNum type="arabicParenR"/>
              <a:tabLst/>
              <a:defRPr/>
            </a:pPr>
            <a:r>
              <a:rPr kumimoji="0" lang="en-CA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During or after the job plan is being executed, or after engineering / design / construction, determine the effectiveness of the control measures.</a:t>
            </a:r>
            <a:endParaRPr kumimoji="0" lang="en-CA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790685" y="864000"/>
            <a:ext cx="3668617" cy="830997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r>
              <a:rPr kumimoji="0" lang="en-US" sz="1600" b="0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What are you doing?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r>
              <a:rPr kumimoji="0" lang="en-US" sz="1600" b="0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What can go wrong?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arenR"/>
              <a:tabLst/>
              <a:defRPr/>
            </a:pPr>
            <a:r>
              <a:rPr kumimoji="0" lang="en-US" sz="1600" b="0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What are you going to do about it?</a:t>
            </a:r>
            <a:endParaRPr kumimoji="0" lang="en-US" sz="16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911130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5" name="Rectangle 2"/>
          <p:cNvSpPr>
            <a:spLocks noChangeArrowheads="1"/>
          </p:cNvSpPr>
          <p:nvPr/>
        </p:nvSpPr>
        <p:spPr bwMode="auto">
          <a:xfrm>
            <a:off x="180000" y="180000"/>
            <a:ext cx="8640000" cy="504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anchor="ctr" anchorCtr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Example: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Semi-Quantitative Risk Assessment:</a:t>
            </a:r>
          </a:p>
        </p:txBody>
      </p:sp>
      <p:sp>
        <p:nvSpPr>
          <p:cNvPr id="8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Tx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2000" b="0" i="0" u="none" strike="noStrike" kern="1200" cap="none" spc="0" normalizeH="0" baseline="0" noProof="0" dirty="0" smtClean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Remember </a:t>
            </a:r>
            <a:r>
              <a:rPr kumimoji="0" lang="en-CA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that a control measure is typically designed to result in a reduction of likelihood or a reduction I consequence, usually not both</a:t>
            </a:r>
            <a:r>
              <a:rPr kumimoji="0" lang="en-CA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!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8F8F8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27" name="Google Shape;1438;p20">
            <a:extLst>
              <a:ext uri="{FF2B5EF4-FFF2-40B4-BE49-F238E27FC236}">
                <a16:creationId xmlns:a16="http://schemas.microsoft.com/office/drawing/2014/main" id="{43764B5F-4CC9-4236-92B4-213564AB3073}"/>
              </a:ext>
            </a:extLst>
          </p:cNvPr>
          <p:cNvGraphicFramePr/>
          <p:nvPr>
            <p:extLst/>
          </p:nvPr>
        </p:nvGraphicFramePr>
        <p:xfrm>
          <a:off x="180000" y="3574459"/>
          <a:ext cx="8633401" cy="162318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6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13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4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3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7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63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2318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Operator operating within the exclusion zone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Debris from slope failure injures operator and damages machine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per </a:t>
                      </a:r>
                      <a:r>
                        <a:rPr lang="en-US" sz="11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observed at other facilities)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(Disabling injury or loss of life)</a:t>
                      </a:r>
                      <a:endParaRPr dirty="0"/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Install protective metal cage around cab of machine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per </a:t>
                      </a:r>
                      <a:r>
                        <a:rPr lang="en-US" sz="11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observed at other facilities)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(First Aid injury)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Google Shape;1430;p20">
            <a:extLst>
              <a:ext uri="{FF2B5EF4-FFF2-40B4-BE49-F238E27FC236}">
                <a16:creationId xmlns:a16="http://schemas.microsoft.com/office/drawing/2014/main" id="{AA187C55-56E0-41E2-8D45-628C0D67C0A0}"/>
              </a:ext>
            </a:extLst>
          </p:cNvPr>
          <p:cNvGraphicFramePr/>
          <p:nvPr>
            <p:extLst/>
          </p:nvPr>
        </p:nvGraphicFramePr>
        <p:xfrm>
          <a:off x="180000" y="865208"/>
          <a:ext cx="8633402" cy="268407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6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9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3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49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8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33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7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63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0402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Activity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Deviation/</a:t>
                      </a:r>
                      <a:endParaRPr sz="110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Concern</a:t>
                      </a:r>
                      <a:endParaRPr sz="1100" b="0" i="0" u="none" strike="noStrike" cap="none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Likelihood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 err="1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Conse-quence</a:t>
                      </a:r>
                      <a:r>
                        <a:rPr lang="en-US" sz="1100" b="1" i="0" u="none" strike="noStrike" cap="none" dirty="0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Risk Before Control Measures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Control Measures / Safeguards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 err="1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Likeli</a:t>
                      </a:r>
                      <a:r>
                        <a:rPr lang="en-US" sz="1100" b="1" i="0" u="none" strike="noStrike" cap="none" dirty="0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-hood After Control Measure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 dirty="0" err="1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Conse-quence</a:t>
                      </a:r>
                      <a:r>
                        <a:rPr lang="en-US" sz="1100" b="1" i="0" u="none" strike="noStrike" cap="none" dirty="0" smtClean="0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After Control Measure </a:t>
                      </a:r>
                      <a:endParaRPr sz="1100" b="0" i="0" u="none" strike="noStrike" cap="none" dirty="0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33CC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100" b="1" i="0" u="none" strike="noStrike" cap="none">
                          <a:solidFill>
                            <a:srgbClr val="0033C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Residual Risk After Control Measures</a:t>
                      </a:r>
                      <a:endParaRPr sz="1100" b="0" i="0" u="none" strike="noStrike" cap="none">
                        <a:solidFill>
                          <a:srgbClr val="0033CC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3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Operator operating within the exclusion zone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Debris from slope failure injures operator and damages machine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per </a:t>
                      </a:r>
                      <a:r>
                        <a:rPr lang="en-US" sz="11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observed at other facilities)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lang="en-US"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(Disabling injury or loss of life)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11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Institute an auditory alarm trigger for the slope monitoring system</a:t>
                      </a:r>
                      <a:endParaRPr sz="1100" dirty="0"/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(Occurs &lt;1x in 10 </a:t>
                      </a:r>
                      <a:r>
                        <a:rPr lang="en-US" sz="1100" b="1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yrs</a:t>
                      </a: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</a:t>
                      </a:r>
                      <a:endParaRPr sz="1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22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(Disabling injury or loss of life)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715"/>
                        <a:buFont typeface="Noto Sans Symbols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00" marB="457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" name="Google Shape;1433;p20">
            <a:extLst>
              <a:ext uri="{FF2B5EF4-FFF2-40B4-BE49-F238E27FC236}">
                <a16:creationId xmlns:a16="http://schemas.microsoft.com/office/drawing/2014/main" id="{851C500C-A916-48A2-874B-0C1E13057784}"/>
              </a:ext>
            </a:extLst>
          </p:cNvPr>
          <p:cNvSpPr/>
          <p:nvPr/>
        </p:nvSpPr>
        <p:spPr>
          <a:xfrm>
            <a:off x="4273100" y="2291555"/>
            <a:ext cx="381800" cy="351614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" name="Google Shape;1434;p20">
            <a:extLst>
              <a:ext uri="{FF2B5EF4-FFF2-40B4-BE49-F238E27FC236}">
                <a16:creationId xmlns:a16="http://schemas.microsoft.com/office/drawing/2014/main" id="{87203649-5571-4174-A53E-1648E140F275}"/>
              </a:ext>
            </a:extLst>
          </p:cNvPr>
          <p:cNvSpPr txBox="1"/>
          <p:nvPr/>
        </p:nvSpPr>
        <p:spPr>
          <a:xfrm>
            <a:off x="2166440" y="1098139"/>
            <a:ext cx="684145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From Risk Criteria Table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1435;p20">
            <a:extLst>
              <a:ext uri="{FF2B5EF4-FFF2-40B4-BE49-F238E27FC236}">
                <a16:creationId xmlns:a16="http://schemas.microsoft.com/office/drawing/2014/main" id="{71773569-8D1D-4594-A59D-20852F2C0500}"/>
              </a:ext>
            </a:extLst>
          </p:cNvPr>
          <p:cNvSpPr txBox="1"/>
          <p:nvPr/>
        </p:nvSpPr>
        <p:spPr>
          <a:xfrm>
            <a:off x="3093040" y="1236394"/>
            <a:ext cx="838200" cy="600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From Risk Criteria Table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1436;p20">
            <a:extLst>
              <a:ext uri="{FF2B5EF4-FFF2-40B4-BE49-F238E27FC236}">
                <a16:creationId xmlns:a16="http://schemas.microsoft.com/office/drawing/2014/main" id="{8608DB26-491A-477C-82B0-EB3F285823BE}"/>
              </a:ext>
            </a:extLst>
          </p:cNvPr>
          <p:cNvSpPr txBox="1"/>
          <p:nvPr/>
        </p:nvSpPr>
        <p:spPr>
          <a:xfrm>
            <a:off x="4044900" y="2750780"/>
            <a:ext cx="8382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From Risk Matrix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1433;p20">
            <a:extLst>
              <a:ext uri="{FF2B5EF4-FFF2-40B4-BE49-F238E27FC236}">
                <a16:creationId xmlns:a16="http://schemas.microsoft.com/office/drawing/2014/main" id="{9D6018AC-931D-406E-B27D-E02C393DE194}"/>
              </a:ext>
            </a:extLst>
          </p:cNvPr>
          <p:cNvSpPr/>
          <p:nvPr/>
        </p:nvSpPr>
        <p:spPr>
          <a:xfrm>
            <a:off x="2353074" y="1875321"/>
            <a:ext cx="427606" cy="452748"/>
          </a:xfrm>
          <a:prstGeom prst="downArrow">
            <a:avLst/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" name="Google Shape;1433;p20">
            <a:extLst>
              <a:ext uri="{FF2B5EF4-FFF2-40B4-BE49-F238E27FC236}">
                <a16:creationId xmlns:a16="http://schemas.microsoft.com/office/drawing/2014/main" id="{17F4D95A-A7BE-4A75-A153-1FC5430E645F}"/>
              </a:ext>
            </a:extLst>
          </p:cNvPr>
          <p:cNvSpPr/>
          <p:nvPr/>
        </p:nvSpPr>
        <p:spPr>
          <a:xfrm>
            <a:off x="3337247" y="1857994"/>
            <a:ext cx="427606" cy="452748"/>
          </a:xfrm>
          <a:prstGeom prst="downArrow">
            <a:avLst/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tabLst/>
              <a:defRPr/>
            </a:pP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ular Callout 2"/>
          <p:cNvSpPr/>
          <p:nvPr/>
        </p:nvSpPr>
        <p:spPr>
          <a:xfrm>
            <a:off x="5046385" y="2882536"/>
            <a:ext cx="1178066" cy="598261"/>
          </a:xfrm>
          <a:prstGeom prst="wedgeRectCallout">
            <a:avLst>
              <a:gd name="adj1" fmla="val 75118"/>
              <a:gd name="adj2" fmla="val -172483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This CM reduces L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Rectangular Callout 15"/>
          <p:cNvSpPr/>
          <p:nvPr/>
        </p:nvSpPr>
        <p:spPr>
          <a:xfrm>
            <a:off x="5046385" y="4553510"/>
            <a:ext cx="1178066" cy="598261"/>
          </a:xfrm>
          <a:prstGeom prst="wedgeRectCallout">
            <a:avLst>
              <a:gd name="adj1" fmla="val 139985"/>
              <a:gd name="adj2" fmla="val -162658"/>
            </a:avLst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This CM reduces C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55241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32000" marR="0" lvl="0" indent="-4320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1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 Practical Application:</a:t>
            </a:r>
            <a:endParaRPr kumimoji="0" lang="en-CA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For each Activity, there may be one or more Deviations / Concerns.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Assess the Likelihood, Impact (Consequences), and Risk Before Control Measures are implemented.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Define (and implement) the Control Measures.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Assess the Likelihood with or after Control Measures have been implemented.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Assess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Impact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with or after Control Measures have been implemented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Determine the Risk Level with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or after Control Measures have been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implemented, sometimes called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Residual Risk.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+mj-lt"/>
              <a:buAutoNum type="alphaLcParenR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Is this Residual Risk acceptable to Proceed?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In all cases,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if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the control measures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are effective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then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the residual risk level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should decrease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!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If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the control measures are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NOT effective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then </a:t>
            </a:r>
            <a:r>
              <a:rPr kumimoji="0" lang="en-CA" altLang="en-US" sz="1800" b="1" i="1" u="sng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no change</a:t>
            </a:r>
            <a:r>
              <a:rPr kumimoji="0" lang="en-CA" altLang="en-US" sz="1800" b="1" i="1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!</a:t>
            </a:r>
            <a:endParaRPr kumimoji="0" lang="en-CA" altLang="en-US" sz="1800" b="1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786485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None/>
              <a:tabLst/>
              <a:defRPr/>
            </a:pP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180000" y="180000"/>
            <a:ext cx="8640000" cy="5040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anchor="ctr" anchorCtr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Example: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8F8F8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Semi-Quantitative Risk Assessment: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/>
          </p:nvPr>
        </p:nvGraphicFramePr>
        <p:xfrm>
          <a:off x="88652" y="840490"/>
          <a:ext cx="8868340" cy="1869025"/>
        </p:xfrm>
        <a:graphic>
          <a:graphicData uri="http://schemas.openxmlformats.org/drawingml/2006/table">
            <a:tbl>
              <a:tblPr/>
              <a:tblGrid>
                <a:gridCol w="899844">
                  <a:extLst>
                    <a:ext uri="{9D8B030D-6E8A-4147-A177-3AD203B41FA5}">
                      <a16:colId xmlns:a16="http://schemas.microsoft.com/office/drawing/2014/main" val="3350495733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788624471"/>
                    </a:ext>
                  </a:extLst>
                </a:gridCol>
                <a:gridCol w="899844">
                  <a:extLst>
                    <a:ext uri="{9D8B030D-6E8A-4147-A177-3AD203B41FA5}">
                      <a16:colId xmlns:a16="http://schemas.microsoft.com/office/drawing/2014/main" val="1126100611"/>
                    </a:ext>
                  </a:extLst>
                </a:gridCol>
                <a:gridCol w="563757">
                  <a:extLst>
                    <a:ext uri="{9D8B030D-6E8A-4147-A177-3AD203B41FA5}">
                      <a16:colId xmlns:a16="http://schemas.microsoft.com/office/drawing/2014/main" val="894614678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43681062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1862085159"/>
                    </a:ext>
                  </a:extLst>
                </a:gridCol>
                <a:gridCol w="1040783">
                  <a:extLst>
                    <a:ext uri="{9D8B030D-6E8A-4147-A177-3AD203B41FA5}">
                      <a16:colId xmlns:a16="http://schemas.microsoft.com/office/drawing/2014/main" val="2553280483"/>
                    </a:ext>
                  </a:extLst>
                </a:gridCol>
                <a:gridCol w="1008259">
                  <a:extLst>
                    <a:ext uri="{9D8B030D-6E8A-4147-A177-3AD203B41FA5}">
                      <a16:colId xmlns:a16="http://schemas.microsoft.com/office/drawing/2014/main" val="2438800930"/>
                    </a:ext>
                  </a:extLst>
                </a:gridCol>
                <a:gridCol w="910685">
                  <a:extLst>
                    <a:ext uri="{9D8B030D-6E8A-4147-A177-3AD203B41FA5}">
                      <a16:colId xmlns:a16="http://schemas.microsoft.com/office/drawing/2014/main" val="1126472793"/>
                    </a:ext>
                  </a:extLst>
                </a:gridCol>
                <a:gridCol w="726380">
                  <a:extLst>
                    <a:ext uri="{9D8B030D-6E8A-4147-A177-3AD203B41FA5}">
                      <a16:colId xmlns:a16="http://schemas.microsoft.com/office/drawing/2014/main" val="2176342193"/>
                    </a:ext>
                  </a:extLst>
                </a:gridCol>
              </a:tblGrid>
              <a:tr h="284046">
                <a:tc gridSpan="10">
                  <a:txBody>
                    <a:bodyPr/>
                    <a:lstStyle/>
                    <a:p>
                      <a:pPr algn="ctr" fontAlgn="ctr"/>
                      <a:r>
                        <a:rPr lang="en-US" sz="1100" b="1" i="0" u="sng" strike="noStrike">
                          <a:effectLst/>
                          <a:latin typeface="Arial" panose="020B0604020202020204" pitchFamily="34" charset="0"/>
                        </a:rPr>
                        <a:t>SEMI-QUANTITATVE RISK ASSESSMENT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011942"/>
                  </a:ext>
                </a:extLst>
              </a:tr>
              <a:tr h="81805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 dirty="0">
                          <a:effectLst/>
                          <a:latin typeface="Arial" panose="020B0604020202020204" pitchFamily="34" charset="0"/>
                        </a:rPr>
                        <a:t>Activity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Deviations and Concerns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Before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Likelihood with or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Impact with or after Control Measures 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Risk Level After Control Measures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i="0" u="none" strike="noStrike">
                          <a:effectLst/>
                          <a:latin typeface="Arial" panose="020B0604020202020204" pitchFamily="34" charset="0"/>
                        </a:rPr>
                        <a:t>Proceed? Y/N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524930"/>
                  </a:ext>
                </a:extLst>
              </a:tr>
              <a:tr h="76692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4821" marR="4821" marT="48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182498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91357" y="2236765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6000" y="2236765"/>
            <a:ext cx="972000" cy="46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87675" y="2247851"/>
            <a:ext cx="3898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Y</a:t>
            </a:r>
          </a:p>
        </p:txBody>
      </p:sp>
      <p:cxnSp>
        <p:nvCxnSpPr>
          <p:cNvPr id="21" name="Curved Connector 20"/>
          <p:cNvCxnSpPr>
            <a:stCxn id="18" idx="0"/>
            <a:endCxn id="19" idx="0"/>
          </p:cNvCxnSpPr>
          <p:nvPr/>
        </p:nvCxnSpPr>
        <p:spPr>
          <a:xfrm rot="5400000" flipH="1" flipV="1">
            <a:off x="5749678" y="264444"/>
            <a:ext cx="12700" cy="3944643"/>
          </a:xfrm>
          <a:prstGeom prst="curvedConnector3">
            <a:avLst>
              <a:gd name="adj1" fmla="val 2580724"/>
            </a:avLst>
          </a:prstGeom>
          <a:ln w="762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7969651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endParaRPr kumimoji="0" lang="en-US" alt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r>
              <a:rPr kumimoji="0" lang="en-US" alt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Apply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the SQRA to reduce risks to acceptable levels, 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 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endParaRPr kumimoji="0" lang="en-US" alt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+mj-lt"/>
              <a:buAutoNum type="arabicParenR"/>
              <a:tabLst/>
              <a:defRPr/>
            </a:pPr>
            <a:r>
              <a:rPr kumimoji="0" lang="en-US" alt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Coach and mentor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others in </a:t>
            </a:r>
            <a:r>
              <a:rPr kumimoji="0" lang="en-US" altLang="en-US" sz="20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its </a:t>
            </a:r>
            <a:r>
              <a:rPr kumimoji="0" lang="en-US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effective use.</a:t>
            </a:r>
            <a:endParaRPr kumimoji="0" lang="en-US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SQRA as a Leadership Tool: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08D308-443E-4056-AF5E-AEFC5B070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117" y="2273820"/>
            <a:ext cx="3985902" cy="3656791"/>
          </a:xfrm>
          <a:prstGeom prst="rect">
            <a:avLst/>
          </a:prstGeom>
        </p:spPr>
      </p:pic>
      <p:sp>
        <p:nvSpPr>
          <p:cNvPr id="24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62295887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Integration of The RMWP, CM’s, &amp; RA Tools: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180000" y="828000"/>
            <a:ext cx="8640000" cy="5328000"/>
            <a:chOff x="180000" y="828000"/>
            <a:chExt cx="8640000" cy="5328000"/>
          </a:xfrm>
        </p:grpSpPr>
        <p:sp>
          <p:nvSpPr>
            <p:cNvPr id="5" name="Bent Arrow 4"/>
            <p:cNvSpPr/>
            <p:nvPr/>
          </p:nvSpPr>
          <p:spPr>
            <a:xfrm rot="5400000">
              <a:off x="4522490" y="-754182"/>
              <a:ext cx="1727664" cy="6320756"/>
            </a:xfrm>
            <a:prstGeom prst="bentArrow">
              <a:avLst/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6" name="Rectangle 3"/>
            <p:cNvSpPr>
              <a:spLocks noChangeArrowheads="1"/>
            </p:cNvSpPr>
            <p:nvPr/>
          </p:nvSpPr>
          <p:spPr bwMode="auto">
            <a:xfrm>
              <a:off x="180000" y="828000"/>
              <a:ext cx="8640000" cy="5328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/>
            <a:lstStyle>
              <a:lvl1pPr marL="609600" indent="-609600">
                <a:lnSpc>
                  <a:spcPct val="120000"/>
                </a:lnSpc>
                <a:spcBef>
                  <a:spcPts val="10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Tw Cen MT" panose="020B0602020104020603" pitchFamily="34" charset="0"/>
                </a:defRPr>
              </a:lvl1pPr>
              <a:lvl2pPr marL="742950" indent="-28575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>
                  <a:solidFill>
                    <a:schemeClr val="tx1"/>
                  </a:solidFill>
                  <a:latin typeface="Tw Cen MT" panose="020B0602020104020603" pitchFamily="34" charset="0"/>
                </a:defRPr>
              </a:lvl2pPr>
              <a:lvl3pPr marL="11430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600">
                  <a:solidFill>
                    <a:schemeClr val="tx1"/>
                  </a:solidFill>
                  <a:latin typeface="Tw Cen MT" panose="020B0602020104020603" pitchFamily="34" charset="0"/>
                </a:defRPr>
              </a:lvl3pPr>
              <a:lvl4pPr marL="16002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4pPr>
              <a:lvl5pPr marL="2057400" indent="-228600">
                <a:lnSpc>
                  <a:spcPct val="120000"/>
                </a:lnSpc>
                <a:spcBef>
                  <a:spcPts val="500"/>
                </a:spcBef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5pPr>
              <a:lvl6pPr marL="25146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6pPr>
              <a:lvl7pPr marL="29718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7pPr>
              <a:lvl8pPr marL="34290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8pPr>
              <a:lvl9pPr marL="3886200" indent="-228600" eaLnBrk="0" fontAlgn="base" hangingPunct="0">
                <a:lnSpc>
                  <a:spcPct val="120000"/>
                </a:lnSpc>
                <a:spcBef>
                  <a:spcPts val="500"/>
                </a:spcBef>
                <a:spcAft>
                  <a:spcPct val="0"/>
                </a:spcAft>
                <a:buClr>
                  <a:schemeClr val="tx1"/>
                </a:buClr>
                <a:buFont typeface="Arial" panose="020B0604020202020204" pitchFamily="34" charset="0"/>
                <a:buChar char="•"/>
                <a:defRPr sz="1400">
                  <a:solidFill>
                    <a:schemeClr val="tx1"/>
                  </a:solidFill>
                  <a:latin typeface="Tw Cen MT" panose="020B0602020104020603" pitchFamily="34" charset="0"/>
                </a:defRPr>
              </a:lvl9pPr>
            </a:lstStyle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l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  <a:p>
              <a:pPr marL="432000" marR="0" lvl="0" indent="-432000" algn="r" defTabSz="914400" rtl="0" eaLnBrk="0" fontAlgn="base" latinLnBrk="0" hangingPunct="0">
                <a:lnSpc>
                  <a:spcPct val="100000"/>
                </a:lnSpc>
                <a:spcBef>
                  <a:spcPts val="0"/>
                </a:spcBef>
                <a:spcAft>
                  <a:spcPct val="0"/>
                </a:spcAft>
                <a:buClrTx/>
                <a:buSzPct val="100000"/>
                <a:buFont typeface="Wingdings" panose="05000000000000000000" pitchFamily="2" charset="2"/>
                <a:buChar char="Ø"/>
                <a:tabLst/>
                <a:defRPr/>
              </a:pPr>
              <a:endParaRPr kumimoji="0" lang="en-US" alt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1305" y="986568"/>
              <a:ext cx="1403595" cy="2283460"/>
            </a:xfrm>
            <a:prstGeom prst="rect">
              <a:avLst/>
            </a:prstGeom>
          </p:spPr>
        </p:pic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7717" y="3434598"/>
              <a:ext cx="4425683" cy="2721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Bent Arrow 13"/>
            <p:cNvSpPr/>
            <p:nvPr/>
          </p:nvSpPr>
          <p:spPr>
            <a:xfrm rot="10800000" flipH="1">
              <a:off x="661012" y="3635999"/>
              <a:ext cx="3624549" cy="2423277"/>
            </a:xfrm>
            <a:prstGeom prst="bentArrow">
              <a:avLst>
                <a:gd name="adj1" fmla="val 18490"/>
                <a:gd name="adj2" fmla="val 19631"/>
                <a:gd name="adj3" fmla="val 25000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5" name="Google Shape;200;p7">
              <a:extLst>
                <a:ext uri="{FF2B5EF4-FFF2-40B4-BE49-F238E27FC236}">
                  <a16:creationId xmlns:a16="http://schemas.microsoft.com/office/drawing/2014/main" id="{24FB57AC-E823-40CB-A670-DDBD1EB18673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909012" y="1124879"/>
              <a:ext cx="865127" cy="7519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" name="Google Shape;202;p7">
              <a:extLst>
                <a:ext uri="{FF2B5EF4-FFF2-40B4-BE49-F238E27FC236}">
                  <a16:creationId xmlns:a16="http://schemas.microsoft.com/office/drawing/2014/main" id="{00FBE9E5-E152-442F-AA9B-2D806A6C6183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774139" y="1207937"/>
              <a:ext cx="763873" cy="6688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853883" y="2080701"/>
              <a:ext cx="1840512" cy="86835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1132" y="911276"/>
              <a:ext cx="2741396" cy="2627999"/>
            </a:xfrm>
            <a:prstGeom prst="rect">
              <a:avLst/>
            </a:prstGeom>
          </p:spPr>
        </p:pic>
        <p:sp>
          <p:nvSpPr>
            <p:cNvPr id="20" name="Bent Arrow 19"/>
            <p:cNvSpPr/>
            <p:nvPr/>
          </p:nvSpPr>
          <p:spPr>
            <a:xfrm rot="10800000" flipH="1">
              <a:off x="2060154" y="3553511"/>
              <a:ext cx="2225407" cy="1084589"/>
            </a:xfrm>
            <a:prstGeom prst="bentArrow">
              <a:avLst>
                <a:gd name="adj1" fmla="val 44544"/>
                <a:gd name="adj2" fmla="val 37678"/>
                <a:gd name="adj3" fmla="val 31375"/>
                <a:gd name="adj4" fmla="val 43750"/>
              </a:avLst>
            </a:prstGeom>
            <a:gradFill>
              <a:gsLst>
                <a:gs pos="0">
                  <a:srgbClr val="0000FF"/>
                </a:gs>
                <a:gs pos="50000">
                  <a:schemeClr val="accent1">
                    <a:hueOff val="0"/>
                    <a:satOff val="0"/>
                    <a:lumOff val="0"/>
                    <a:alphaOff val="0"/>
                    <a:tint val="37000"/>
                    <a:satMod val="300000"/>
                  </a:schemeClr>
                </a:gs>
                <a:gs pos="100000">
                  <a:srgbClr val="002060"/>
                </a:gs>
              </a:gsLst>
              <a:lin ang="16200000" scaled="1"/>
            </a:gra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21" name="Picture 2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16436" y="4652336"/>
              <a:ext cx="1156850" cy="142117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2" name="TextBox 21"/>
            <p:cNvSpPr txBox="1"/>
            <p:nvPr/>
          </p:nvSpPr>
          <p:spPr>
            <a:xfrm>
              <a:off x="2300791" y="3923517"/>
              <a:ext cx="1374332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latin typeface="Arial" panose="020B0604020202020204" pitchFamily="34" charset="0"/>
                  <a:cs typeface="Arial" panose="020B0604020202020204" pitchFamily="34" charset="0"/>
                </a:rPr>
                <a:t>RME #2 RA&amp;MR</a:t>
              </a:r>
            </a:p>
            <a:p>
              <a:pPr marL="360000" indent="-360000" eaLnBrk="0" fontAlgn="base" hangingPunct="0">
                <a:spcAft>
                  <a:spcPct val="0"/>
                </a:spcAft>
                <a:buSzPct val="100000"/>
                <a:buFont typeface="Wingdings" panose="05000000000000000000" pitchFamily="2" charset="2"/>
                <a:buChar char="Ø"/>
                <a:defRPr/>
              </a:pPr>
              <a:r>
                <a:rPr lang="en-US" sz="1200" dirty="0">
                  <a:solidFill>
                    <a:srgbClr val="000000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SQRA is a “standard”</a:t>
              </a:r>
              <a:endParaRPr lang="en-US" sz="12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2651061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180000" y="216000"/>
            <a:ext cx="8640000" cy="50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Summary and Key</a:t>
            </a:r>
            <a:r>
              <a:rPr kumimoji="0" lang="en-US" altLang="en-US" sz="2400" b="0" i="0" u="none" strike="noStrike" kern="1200" cap="none" spc="0" normalizeH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Lessons</a:t>
            </a:r>
            <a:r>
              <a:rPr kumimoji="0" lang="en-US" altLang="en-US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33339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:</a:t>
            </a:r>
            <a:endParaRPr kumimoji="0" lang="en-US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33339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Slide Number Placeholder 1"/>
          <p:cNvSpPr txBox="1">
            <a:spLocks noGrp="1"/>
          </p:cNvSpPr>
          <p:nvPr/>
        </p:nvSpPr>
        <p:spPr bwMode="auto">
          <a:xfrm>
            <a:off x="8280000" y="6300000"/>
            <a:ext cx="5334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6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65000"/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9AAC074-F6B9-4EA4-AE59-9F9DB0D8944F}" type="slidenum">
              <a:rPr kumimoji="0" lang="en-US" altLang="en-US" sz="12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altLang="en-US" sz="1200" b="1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6" name="Rectangle 3"/>
          <p:cNvSpPr>
            <a:spLocks noChangeArrowheads="1"/>
          </p:cNvSpPr>
          <p:nvPr/>
        </p:nvSpPr>
        <p:spPr bwMode="auto">
          <a:xfrm>
            <a:off x="180000" y="828000"/>
            <a:ext cx="8640000" cy="532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609600" indent="-6096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Tw Cen MT" panose="020B0602020104020603" pitchFamily="34" charset="0"/>
              </a:defRPr>
            </a:lvl1pPr>
            <a:lvl2pPr marL="742950" indent="-28575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Tw Cen MT" panose="020B0602020104020603" pitchFamily="34" charset="0"/>
              </a:defRPr>
            </a:lvl2pPr>
            <a:lvl3pPr marL="11430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Tw Cen MT" panose="020B0602020104020603" pitchFamily="34" charset="0"/>
              </a:defRPr>
            </a:lvl3pPr>
            <a:lvl4pPr marL="16002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4pPr>
            <a:lvl5pPr marL="2057400" indent="-228600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ts val="5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Tw Cen MT" panose="020B0602020104020603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None/>
              <a:tabLst/>
              <a:defRPr/>
            </a:pPr>
            <a:r>
              <a:rPr lang="en-CA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SQ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RA:</a:t>
            </a:r>
          </a:p>
          <a:p>
            <a:pPr marL="360000" lvl="0" indent="-360000" eaLnBrk="0" fontAlgn="base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Used well in advance of and part of the planning process for work activities, or during the engineering / design / construction of installations and facilities.</a:t>
            </a:r>
          </a:p>
          <a:p>
            <a:pPr marL="360000" lvl="0" indent="-360000" eaLnBrk="0" fontAlgn="base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One </a:t>
            </a:r>
            <a:r>
              <a:rPr lang="en-US" altLang="en-US" sz="180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of many different risk assessment tool; 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Systematically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identifies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hazards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and specifies appropriate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control measures.</a:t>
            </a: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</a:t>
            </a:r>
            <a:r>
              <a:rPr kumimoji="0" lang="en-CA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be complemented with the application of incident models i.e. knowledge-based and discovery-based approaches for hazard </a:t>
            </a:r>
            <a:r>
              <a:rPr kumimoji="0" lang="en-CA" altLang="en-US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identification.</a:t>
            </a:r>
          </a:p>
          <a:p>
            <a:pPr marL="360000" lvl="0" indent="-360000" eaLnBrk="0" fontAlgn="base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/>
            </a:pPr>
            <a:r>
              <a:rPr lang="en-US" altLang="en-US" sz="1800" dirty="0" smtClean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Use your expertise to coach others!</a:t>
            </a:r>
            <a:endParaRPr lang="en-US" altLang="en-US" sz="1800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360000" marR="0" lvl="0" indent="-360000" algn="l" defTabSz="914400" rtl="0" eaLnBrk="0" fontAlgn="base" latinLnBrk="0" hangingPunct="0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tabLst/>
              <a:defRPr/>
            </a:pPr>
            <a:endParaRPr kumimoji="0" lang="en-CA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17" name="Google Shape;125;p2"/>
          <p:cNvSpPr/>
          <p:nvPr/>
        </p:nvSpPr>
        <p:spPr>
          <a:xfrm>
            <a:off x="270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Tx/>
              <a:buNone/>
              <a:tabLst/>
              <a:defRPr/>
            </a:pPr>
            <a:r>
              <a:rPr kumimoji="0" lang="en-US" sz="1200" b="1" i="1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Times New Roman"/>
                <a:cs typeface="Arial" panose="020B0604020202020204" pitchFamily="34" charset="0"/>
                <a:sym typeface="Times New Roman"/>
              </a:rPr>
              <a:t>Chapter 5.4 Semi-Quantitative Risk Assessment and Its Integration</a:t>
            </a:r>
            <a:endParaRPr kumimoji="0" lang="en-US" sz="12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Times New Roman"/>
              <a:cs typeface="Arial" panose="020B0604020202020204" pitchFamily="34" charset="0"/>
              <a:sym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8D308-443E-4056-AF5E-AEFC5B070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077" y="2951244"/>
            <a:ext cx="1798589" cy="165008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852" y="5109748"/>
            <a:ext cx="4876269" cy="1202568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509" y="2787269"/>
            <a:ext cx="4012478" cy="2478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1825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1208</TotalTime>
  <Words>2192</Words>
  <Application>Microsoft Office PowerPoint</Application>
  <PresentationFormat>On-screen Show (4:3)</PresentationFormat>
  <Paragraphs>543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ＭＳ Ｐゴシック</vt:lpstr>
      <vt:lpstr>Arial</vt:lpstr>
      <vt:lpstr>Calibri</vt:lpstr>
      <vt:lpstr>Noto Sans Symbols</vt:lpstr>
      <vt:lpstr>Times New Roman</vt:lpstr>
      <vt:lpstr>Wingdings</vt:lpstr>
      <vt:lpstr>Default Design</vt:lpstr>
      <vt:lpstr>1_Default Design</vt:lpstr>
      <vt:lpstr>2_Default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Faculty of engineering, University of Alberta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JR Cocchio</dc:creator>
  <cp:lastModifiedBy>JR Cocchio</cp:lastModifiedBy>
  <cp:revision>93</cp:revision>
  <dcterms:created xsi:type="dcterms:W3CDTF">2020-05-24T15:55:07Z</dcterms:created>
  <dcterms:modified xsi:type="dcterms:W3CDTF">2021-09-29T16:21:10Z</dcterms:modified>
</cp:coreProperties>
</file>