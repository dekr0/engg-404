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77" r:id="rId2"/>
    <p:sldMasterId id="2147483682" r:id="rId3"/>
  </p:sldMasterIdLst>
  <p:notesMasterIdLst>
    <p:notesMasterId r:id="rId28"/>
  </p:notesMasterIdLst>
  <p:sldIdLst>
    <p:sldId id="936" r:id="rId4"/>
    <p:sldId id="964" r:id="rId5"/>
    <p:sldId id="970" r:id="rId6"/>
    <p:sldId id="995" r:id="rId7"/>
    <p:sldId id="967" r:id="rId8"/>
    <p:sldId id="968" r:id="rId9"/>
    <p:sldId id="991" r:id="rId10"/>
    <p:sldId id="941" r:id="rId11"/>
    <p:sldId id="957" r:id="rId12"/>
    <p:sldId id="994" r:id="rId13"/>
    <p:sldId id="956" r:id="rId14"/>
    <p:sldId id="996" r:id="rId15"/>
    <p:sldId id="975" r:id="rId16"/>
    <p:sldId id="976" r:id="rId17"/>
    <p:sldId id="998" r:id="rId18"/>
    <p:sldId id="999" r:id="rId19"/>
    <p:sldId id="980" r:id="rId20"/>
    <p:sldId id="981" r:id="rId21"/>
    <p:sldId id="982" r:id="rId22"/>
    <p:sldId id="985" r:id="rId23"/>
    <p:sldId id="984" r:id="rId24"/>
    <p:sldId id="986" r:id="rId25"/>
    <p:sldId id="1000" r:id="rId26"/>
    <p:sldId id="1001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66FFFF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82360" autoAdjust="0"/>
  </p:normalViewPr>
  <p:slideViewPr>
    <p:cSldViewPr snapToGrid="0">
      <p:cViewPr>
        <p:scale>
          <a:sx n="100" d="100"/>
          <a:sy n="100" d="100"/>
        </p:scale>
        <p:origin x="17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-43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D01605-9933-414D-AAEA-A731BC5BC7A0}" type="datetimeFigureOut">
              <a:rPr lang="en-US" smtClean="0"/>
              <a:t>6/1/2022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23C8-CA35-437B-A178-6A5CC5604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661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9576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429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09053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Use your risk matrix and risk criteria table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360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868167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0539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b="1" dirty="0"/>
              <a:t>Make sure to point out </a:t>
            </a:r>
            <a:r>
              <a:rPr lang="en-CA" dirty="0"/>
              <a:t>the </a:t>
            </a:r>
            <a:r>
              <a:rPr lang="en-CA" i="0" u="sng" dirty="0"/>
              <a:t>difference</a:t>
            </a:r>
            <a:r>
              <a:rPr lang="en-CA" dirty="0"/>
              <a:t> between implementing control measures to </a:t>
            </a:r>
            <a:r>
              <a:rPr lang="en-CA" u="sng" dirty="0"/>
              <a:t>decrease</a:t>
            </a:r>
            <a:r>
              <a:rPr lang="en-CA" dirty="0"/>
              <a:t> the </a:t>
            </a:r>
            <a:r>
              <a:rPr lang="en-CA" u="sng" dirty="0"/>
              <a:t>likelihood</a:t>
            </a:r>
            <a:r>
              <a:rPr lang="en-CA" dirty="0"/>
              <a:t> versus those employed to </a:t>
            </a:r>
            <a:r>
              <a:rPr lang="en-CA" u="sng" dirty="0"/>
              <a:t>decrease consequence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lang="en-CA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/>
              <a:t>Also point out the fact that you can have a control measure that decreases the L, the C, or both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lang="en-CA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/>
              <a:t>Speak to midterm exam question regarding training for workers on SOPs (preventing the degradation of safety systems) – will reduce the likelihood, but only to M because mgmt. would need to do inspections and follow up to decrease to L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788524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4605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13275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2424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2674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1649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3141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7613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9537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Use your risk matrix and risk criteria table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4085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715591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6872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b="1" dirty="0"/>
              <a:t>Make sure to point out </a:t>
            </a:r>
            <a:r>
              <a:rPr lang="en-CA" dirty="0"/>
              <a:t>the difference between implementing control measures to decrease the likelihood versus those employed to decrease consequence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/>
              <a:t>Also point out the fact that you can have a control measure that decreases the L, the C, or both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/>
              <a:t>Speak to midterm exam question regarding training for workers on SOPs (preventing the degradation of safety systems) – will reduce the likelihood, but only to M because mgmt. would need to do inspections and follow up to decrease to L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271155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1413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4446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7821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030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19422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368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51171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48577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1580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45349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6/1/2022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0385829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60461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9462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5624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118CC2-884A-4430-8B4F-9976F3C29C24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6/1/2022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823322-A425-42F9-B4E6-DE1BA6748FF3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394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.jpe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274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1003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8719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66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On Becoming a </a:t>
            </a:r>
            <a:b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</a:b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Leader in Risk Management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A9C8F"/>
              </a:buClr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Lecture</a:t>
            </a:r>
            <a:endParaRPr kumimoji="0" lang="en-US" altLang="en-US" sz="3600" b="1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itchFamily="34" charset="0"/>
              <a:ea typeface="ＭＳ Ｐゴシック" panose="020B0600070205080204" pitchFamily="34" charset="-128"/>
              <a:cs typeface="+mj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152402" y="2500342"/>
            <a:ext cx="8686798" cy="222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5.4: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Semi-Quantitative Risk Assessment (SQRA) and Its Integration in the RM Work Process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405529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405342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642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the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purpose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the Semi-Quantitative Risk Assessment (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SQRA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 Tool,</a:t>
            </a:r>
            <a:r>
              <a:rPr kumimoji="0" lang="en-CA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Management tool, the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manner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in which it is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used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and the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benefits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for planning work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using the SQRA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lvl="0" indent="-432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Demonstrate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the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integration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the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SQRA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(and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similar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Assessment </a:t>
            </a:r>
            <a:r>
              <a:rPr lang="en-CA" altLang="en-US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Tools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such as </a:t>
            </a:r>
            <a:r>
              <a:rPr lang="en-CA" altLang="en-US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FLRA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</a:t>
            </a:r>
            <a:r>
              <a:rPr lang="en-CA" altLang="en-US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What-If Analysis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</a:t>
            </a:r>
            <a:r>
              <a:rPr lang="en-CA" altLang="en-US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JSA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 with the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Management</a:t>
            </a:r>
            <a:r>
              <a:rPr kumimoji="0" lang="en-CA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Work Process</a:t>
            </a:r>
            <a:r>
              <a:rPr kumimoji="0" lang="en-CA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and its </a:t>
            </a:r>
            <a:r>
              <a:rPr kumimoji="0" lang="en-CA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tools</a:t>
            </a:r>
            <a:r>
              <a:rPr kumimoji="0" lang="en-CA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(</a:t>
            </a:r>
            <a:r>
              <a:rPr kumimoji="0" lang="en-CA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Matrix</a:t>
            </a:r>
            <a:r>
              <a:rPr kumimoji="0" lang="en-CA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</a:t>
            </a:r>
            <a:r>
              <a:rPr kumimoji="0" lang="en-CA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Criteria Table</a:t>
            </a:r>
            <a:r>
              <a:rPr kumimoji="0" lang="en-CA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Management Directions), the </a:t>
            </a:r>
            <a:r>
              <a:rPr kumimoji="0" lang="en-CA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 System</a:t>
            </a:r>
            <a:r>
              <a:rPr kumimoji="0" lang="en-CA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and </a:t>
            </a:r>
            <a:r>
              <a:rPr kumimoji="0" lang="en-CA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 Measures</a:t>
            </a:r>
            <a:r>
              <a:rPr kumimoji="0" lang="en-CA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this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tool as a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rudimentary skill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leadership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to observe, interact, commend, or intervene / coach employees in the work-place.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Learning Outcomes: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5.4 Semi-Quantitative Risk Assessment and Its Integration</a:t>
            </a:r>
          </a:p>
        </p:txBody>
      </p:sp>
    </p:spTree>
    <p:extLst>
      <p:ext uri="{BB962C8B-B14F-4D97-AF65-F5344CB8AC3E}">
        <p14:creationId xmlns:p14="http://schemas.microsoft.com/office/powerpoint/2010/main" val="159368087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 Work Process</a:t>
            </a:r>
            <a:r>
              <a:rPr kumimoji="0" lang="en-CA" altLang="en-US" sz="18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Function</a:t>
            </a:r>
            <a:r>
              <a:rPr kumimoji="0" lang="en-CA" altLang="en-US" sz="18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  <a:endParaRPr kumimoji="0" lang="en-CA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Analyzes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risks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to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PEAP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Systematically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assesses risks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b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opposite what is </a:t>
            </a:r>
            <a:r>
              <a:rPr kumimoji="0" lang="en-CA" altLang="en-US" sz="180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 </a:t>
            </a:r>
            <a:r>
              <a:rPr kumimoji="0" lang="en-CA" altLang="en-US" sz="1800" i="1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acceptable level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8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RMWP uses tools such as: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8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Matrices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8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Criteria Tables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8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Directions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SQRA</a:t>
            </a:r>
            <a:endParaRPr kumimoji="0" lang="en-US" altLang="en-US" sz="1800" b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2880000" lvl="3" indent="-432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2880000" lvl="3" indent="-432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2880000" lvl="3" indent="-432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2448000" lvl="3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 Measures:</a:t>
            </a:r>
          </a:p>
          <a:p>
            <a:pPr marL="2880000" lvl="3" indent="-432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SQRA </a:t>
            </a:r>
            <a:r>
              <a:rPr lang="en-US" altLang="en-US" sz="1800" noProof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is u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sed to </a:t>
            </a:r>
            <a:r>
              <a:rPr lang="en-US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define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and </a:t>
            </a:r>
            <a:r>
              <a:rPr lang="en-US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implement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the </a:t>
            </a:r>
            <a:r>
              <a:rPr lang="en-US" alt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CMs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to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reduce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and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 risks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to an </a:t>
            </a:r>
            <a:r>
              <a:rPr kumimoji="0" lang="en-US" alt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acceptable level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0020" y="1532317"/>
            <a:ext cx="3340493" cy="3202314"/>
          </a:xfrm>
          <a:prstGeom prst="rect">
            <a:avLst/>
          </a:prstGeom>
        </p:spPr>
      </p:pic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altLang="en-US" sz="240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 Integration of The RM Work Process &amp; Control Measures: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5.4 Semi-Quantitative Risk Assessment and Its Integration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373" y="967199"/>
            <a:ext cx="1827910" cy="297376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07" y="3695699"/>
            <a:ext cx="2195387" cy="2460301"/>
          </a:xfrm>
          <a:prstGeom prst="rect">
            <a:avLst/>
          </a:prstGeom>
        </p:spPr>
      </p:pic>
      <p:sp>
        <p:nvSpPr>
          <p:cNvPr id="29" name="Striped Right Arrow 28"/>
          <p:cNvSpPr/>
          <p:nvPr/>
        </p:nvSpPr>
        <p:spPr>
          <a:xfrm rot="9421759">
            <a:off x="2404461" y="4102871"/>
            <a:ext cx="818780" cy="720000"/>
          </a:xfrm>
          <a:prstGeom prst="stripedRightArrow">
            <a:avLst/>
          </a:prstGeom>
          <a:gradFill>
            <a:gsLst>
              <a:gs pos="0">
                <a:srgbClr val="0000FF"/>
              </a:gs>
              <a:gs pos="50000">
                <a:schemeClr val="accent1">
                  <a:hueOff val="0"/>
                  <a:satOff val="0"/>
                  <a:lumOff val="0"/>
                  <a:alphaOff val="0"/>
                  <a:tint val="37000"/>
                  <a:satMod val="300000"/>
                </a:schemeClr>
              </a:gs>
              <a:gs pos="100000">
                <a:srgbClr val="002060"/>
              </a:gs>
            </a:gsLst>
            <a:lin ang="16200000" scaled="1"/>
          </a:gra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Striped Right Arrow 29"/>
          <p:cNvSpPr/>
          <p:nvPr/>
        </p:nvSpPr>
        <p:spPr>
          <a:xfrm>
            <a:off x="4946573" y="1824547"/>
            <a:ext cx="1747170" cy="720000"/>
          </a:xfrm>
          <a:prstGeom prst="stripedRightArrow">
            <a:avLst/>
          </a:prstGeom>
          <a:gradFill>
            <a:gsLst>
              <a:gs pos="0">
                <a:srgbClr val="0000FF"/>
              </a:gs>
              <a:gs pos="50000">
                <a:schemeClr val="accent1">
                  <a:hueOff val="0"/>
                  <a:satOff val="0"/>
                  <a:lumOff val="0"/>
                  <a:alphaOff val="0"/>
                  <a:tint val="37000"/>
                  <a:satMod val="300000"/>
                </a:schemeClr>
              </a:gs>
              <a:gs pos="100000">
                <a:srgbClr val="002060"/>
              </a:gs>
            </a:gsLst>
            <a:lin ang="16200000" scaled="1"/>
          </a:gra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triped Right Arrow 12"/>
          <p:cNvSpPr/>
          <p:nvPr/>
        </p:nvSpPr>
        <p:spPr>
          <a:xfrm rot="1275672">
            <a:off x="5853183" y="4331216"/>
            <a:ext cx="1060276" cy="720000"/>
          </a:xfrm>
          <a:prstGeom prst="stripedRightArrow">
            <a:avLst/>
          </a:prstGeom>
          <a:gradFill>
            <a:gsLst>
              <a:gs pos="0">
                <a:srgbClr val="0000FF"/>
              </a:gs>
              <a:gs pos="50000">
                <a:schemeClr val="accent1">
                  <a:hueOff val="0"/>
                  <a:satOff val="0"/>
                  <a:lumOff val="0"/>
                  <a:alphaOff val="0"/>
                  <a:tint val="37000"/>
                  <a:satMod val="300000"/>
                </a:schemeClr>
              </a:gs>
              <a:gs pos="100000">
                <a:srgbClr val="002060"/>
              </a:gs>
            </a:gsLst>
            <a:lin ang="16200000" scaled="1"/>
          </a:gra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941390" y="4373457"/>
            <a:ext cx="19610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RME #2 RA&amp;MR</a:t>
            </a: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i="1" u="sng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SQRA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is a “</a:t>
            </a:r>
            <a:r>
              <a:rPr lang="en-US" b="1" i="1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standard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716986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Integration of The RMWP, CM’s, &amp; RA Tools: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5.4 Semi-Quantitative Risk Assessment and Its Integration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80000" y="828000"/>
            <a:ext cx="8640000" cy="5328000"/>
            <a:chOff x="180000" y="828000"/>
            <a:chExt cx="8640000" cy="5328000"/>
          </a:xfrm>
        </p:grpSpPr>
        <p:sp>
          <p:nvSpPr>
            <p:cNvPr id="5" name="Bent Arrow 4"/>
            <p:cNvSpPr/>
            <p:nvPr/>
          </p:nvSpPr>
          <p:spPr>
            <a:xfrm rot="5400000">
              <a:off x="4522490" y="-754182"/>
              <a:ext cx="1727664" cy="6320756"/>
            </a:xfrm>
            <a:prstGeom prst="bentArrow">
              <a:avLst/>
            </a:prstGeom>
            <a:gradFill>
              <a:gsLst>
                <a:gs pos="0">
                  <a:srgbClr val="0000FF"/>
                </a:gs>
                <a:gs pos="50000">
                  <a:schemeClr val="accent1">
                    <a:hueOff val="0"/>
                    <a:satOff val="0"/>
                    <a:lumOff val="0"/>
                    <a:alphaOff val="0"/>
                    <a:tint val="37000"/>
                    <a:satMod val="300000"/>
                  </a:schemeClr>
                </a:gs>
                <a:gs pos="100000">
                  <a:srgbClr val="002060"/>
                </a:gs>
              </a:gsLst>
              <a:lin ang="16200000" scaled="1"/>
            </a:gra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" name="Rectangle 3"/>
            <p:cNvSpPr>
              <a:spLocks noChangeArrowheads="1"/>
            </p:cNvSpPr>
            <p:nvPr/>
          </p:nvSpPr>
          <p:spPr bwMode="auto">
            <a:xfrm>
              <a:off x="180000" y="828000"/>
              <a:ext cx="8640000" cy="532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lvl1pPr marL="609600" indent="-609600"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marL="432000" marR="0" lvl="0" indent="-4320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  <a:p>
              <a:pPr marL="432000" marR="0" lvl="0" indent="-4320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  <a:p>
              <a:pPr marL="432000" marR="0" lvl="0" indent="-4320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  <a:p>
              <a:pPr marL="432000" marR="0" lvl="0" indent="-4320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  <a:p>
              <a:pPr marL="432000" marR="0" lvl="0" indent="-4320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  <a:p>
              <a:pPr marL="432000" marR="0" lvl="0" indent="-4320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  <a:p>
              <a:pPr marL="432000" marR="0" lvl="0" indent="-432000" algn="r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41305" y="986568"/>
              <a:ext cx="1403595" cy="2283460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87717" y="3434598"/>
              <a:ext cx="4425683" cy="272140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4" name="Bent Arrow 13"/>
            <p:cNvSpPr/>
            <p:nvPr/>
          </p:nvSpPr>
          <p:spPr>
            <a:xfrm rot="10800000" flipH="1">
              <a:off x="661012" y="3635999"/>
              <a:ext cx="3624549" cy="2423277"/>
            </a:xfrm>
            <a:prstGeom prst="bentArrow">
              <a:avLst>
                <a:gd name="adj1" fmla="val 18490"/>
                <a:gd name="adj2" fmla="val 19631"/>
                <a:gd name="adj3" fmla="val 25000"/>
                <a:gd name="adj4" fmla="val 43750"/>
              </a:avLst>
            </a:prstGeom>
            <a:gradFill>
              <a:gsLst>
                <a:gs pos="0">
                  <a:srgbClr val="0000FF"/>
                </a:gs>
                <a:gs pos="50000">
                  <a:schemeClr val="accent1">
                    <a:hueOff val="0"/>
                    <a:satOff val="0"/>
                    <a:lumOff val="0"/>
                    <a:alphaOff val="0"/>
                    <a:tint val="37000"/>
                    <a:satMod val="300000"/>
                  </a:schemeClr>
                </a:gs>
                <a:gs pos="100000">
                  <a:srgbClr val="002060"/>
                </a:gs>
              </a:gsLst>
              <a:lin ang="16200000" scaled="1"/>
            </a:gra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15" name="Google Shape;200;p7">
              <a:extLst>
                <a:ext uri="{FF2B5EF4-FFF2-40B4-BE49-F238E27FC236}">
                  <a16:creationId xmlns:a16="http://schemas.microsoft.com/office/drawing/2014/main" id="{24FB57AC-E823-40CB-A670-DDBD1EB18673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909012" y="1124879"/>
              <a:ext cx="865127" cy="7519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202;p7">
              <a:extLst>
                <a:ext uri="{FF2B5EF4-FFF2-40B4-BE49-F238E27FC236}">
                  <a16:creationId xmlns:a16="http://schemas.microsoft.com/office/drawing/2014/main" id="{00FBE9E5-E152-442F-AA9B-2D806A6C6183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74139" y="1207937"/>
              <a:ext cx="763873" cy="668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53883" y="2080701"/>
              <a:ext cx="1840512" cy="8683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1132" y="911276"/>
              <a:ext cx="2741396" cy="2627999"/>
            </a:xfrm>
            <a:prstGeom prst="rect">
              <a:avLst/>
            </a:prstGeom>
          </p:spPr>
        </p:pic>
        <p:sp>
          <p:nvSpPr>
            <p:cNvPr id="20" name="Bent Arrow 19"/>
            <p:cNvSpPr/>
            <p:nvPr/>
          </p:nvSpPr>
          <p:spPr>
            <a:xfrm rot="10800000" flipH="1">
              <a:off x="2060154" y="3553511"/>
              <a:ext cx="2225407" cy="1084589"/>
            </a:xfrm>
            <a:prstGeom prst="bentArrow">
              <a:avLst>
                <a:gd name="adj1" fmla="val 44544"/>
                <a:gd name="adj2" fmla="val 37678"/>
                <a:gd name="adj3" fmla="val 31375"/>
                <a:gd name="adj4" fmla="val 43750"/>
              </a:avLst>
            </a:prstGeom>
            <a:gradFill>
              <a:gsLst>
                <a:gs pos="0">
                  <a:srgbClr val="0000FF"/>
                </a:gs>
                <a:gs pos="50000">
                  <a:schemeClr val="accent1">
                    <a:hueOff val="0"/>
                    <a:satOff val="0"/>
                    <a:lumOff val="0"/>
                    <a:alphaOff val="0"/>
                    <a:tint val="37000"/>
                    <a:satMod val="300000"/>
                  </a:schemeClr>
                </a:gs>
                <a:gs pos="100000">
                  <a:srgbClr val="002060"/>
                </a:gs>
              </a:gsLst>
              <a:lin ang="16200000" scaled="1"/>
            </a:gra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316436" y="4652336"/>
              <a:ext cx="1156850" cy="142117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2" name="TextBox 21"/>
            <p:cNvSpPr txBox="1"/>
            <p:nvPr/>
          </p:nvSpPr>
          <p:spPr>
            <a:xfrm>
              <a:off x="2300791" y="3923517"/>
              <a:ext cx="1374332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RME #2 RA&amp;MR</a:t>
              </a:r>
            </a:p>
            <a:p>
              <a:pPr marL="360000" indent="-360000" eaLnBrk="0" fontAlgn="base" hangingPunct="0"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SQRA is a “standard”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593731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267113"/>
              </p:ext>
            </p:extLst>
          </p:nvPr>
        </p:nvGraphicFramePr>
        <p:xfrm>
          <a:off x="88652" y="4255725"/>
          <a:ext cx="8868340" cy="1869025"/>
        </p:xfrm>
        <a:graphic>
          <a:graphicData uri="http://schemas.openxmlformats.org/drawingml/2006/table">
            <a:tbl>
              <a:tblPr/>
              <a:tblGrid>
                <a:gridCol w="899844">
                  <a:extLst>
                    <a:ext uri="{9D8B030D-6E8A-4147-A177-3AD203B41FA5}">
                      <a16:colId xmlns:a16="http://schemas.microsoft.com/office/drawing/2014/main" val="3350495733"/>
                    </a:ext>
                  </a:extLst>
                </a:gridCol>
                <a:gridCol w="899844">
                  <a:extLst>
                    <a:ext uri="{9D8B030D-6E8A-4147-A177-3AD203B41FA5}">
                      <a16:colId xmlns:a16="http://schemas.microsoft.com/office/drawing/2014/main" val="788624471"/>
                    </a:ext>
                  </a:extLst>
                </a:gridCol>
                <a:gridCol w="899844">
                  <a:extLst>
                    <a:ext uri="{9D8B030D-6E8A-4147-A177-3AD203B41FA5}">
                      <a16:colId xmlns:a16="http://schemas.microsoft.com/office/drawing/2014/main" val="1126100611"/>
                    </a:ext>
                  </a:extLst>
                </a:gridCol>
                <a:gridCol w="563757">
                  <a:extLst>
                    <a:ext uri="{9D8B030D-6E8A-4147-A177-3AD203B41FA5}">
                      <a16:colId xmlns:a16="http://schemas.microsoft.com/office/drawing/2014/main" val="894614678"/>
                    </a:ext>
                  </a:extLst>
                </a:gridCol>
                <a:gridCol w="910685">
                  <a:extLst>
                    <a:ext uri="{9D8B030D-6E8A-4147-A177-3AD203B41FA5}">
                      <a16:colId xmlns:a16="http://schemas.microsoft.com/office/drawing/2014/main" val="1436810623"/>
                    </a:ext>
                  </a:extLst>
                </a:gridCol>
                <a:gridCol w="1008259">
                  <a:extLst>
                    <a:ext uri="{9D8B030D-6E8A-4147-A177-3AD203B41FA5}">
                      <a16:colId xmlns:a16="http://schemas.microsoft.com/office/drawing/2014/main" val="1862085159"/>
                    </a:ext>
                  </a:extLst>
                </a:gridCol>
                <a:gridCol w="1040783">
                  <a:extLst>
                    <a:ext uri="{9D8B030D-6E8A-4147-A177-3AD203B41FA5}">
                      <a16:colId xmlns:a16="http://schemas.microsoft.com/office/drawing/2014/main" val="2553280483"/>
                    </a:ext>
                  </a:extLst>
                </a:gridCol>
                <a:gridCol w="1008259">
                  <a:extLst>
                    <a:ext uri="{9D8B030D-6E8A-4147-A177-3AD203B41FA5}">
                      <a16:colId xmlns:a16="http://schemas.microsoft.com/office/drawing/2014/main" val="2438800930"/>
                    </a:ext>
                  </a:extLst>
                </a:gridCol>
                <a:gridCol w="910685">
                  <a:extLst>
                    <a:ext uri="{9D8B030D-6E8A-4147-A177-3AD203B41FA5}">
                      <a16:colId xmlns:a16="http://schemas.microsoft.com/office/drawing/2014/main" val="1126472793"/>
                    </a:ext>
                  </a:extLst>
                </a:gridCol>
                <a:gridCol w="726380">
                  <a:extLst>
                    <a:ext uri="{9D8B030D-6E8A-4147-A177-3AD203B41FA5}">
                      <a16:colId xmlns:a16="http://schemas.microsoft.com/office/drawing/2014/main" val="2176342193"/>
                    </a:ext>
                  </a:extLst>
                </a:gridCol>
              </a:tblGrid>
              <a:tr h="284046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1100" b="1" i="0" u="sng" strike="noStrike">
                          <a:effectLst/>
                          <a:latin typeface="Arial" panose="020B0604020202020204" pitchFamily="34" charset="0"/>
                        </a:rPr>
                        <a:t>SEMI-QUANTITATVE RISK ASSESSMENT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011942"/>
                  </a:ext>
                </a:extLst>
              </a:tr>
              <a:tr h="8180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 panose="020B0604020202020204" pitchFamily="34" charset="0"/>
                        </a:rPr>
                        <a:t>Activity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Deviations and Concerns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Likelihood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Impact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Risk Level Before Control Measures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Control Measures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Likelihood with or after Control Measures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Impact with or after Control Measures 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Risk Level After Control Measures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Proceed? Y/N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524930"/>
                  </a:ext>
                </a:extLst>
              </a:tr>
              <a:tr h="7669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182498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0" y="900000"/>
            <a:ext cx="4223999" cy="3168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991" y="900000"/>
            <a:ext cx="4223999" cy="316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786485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Use the Risk Matrix and Risk Criteria </a:t>
            </a:r>
            <a:r>
              <a:rPr lang="en-CA" altLang="en-US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the SQRA</a:t>
            </a: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1" name="Google Shape;1673;p24">
            <a:extLst>
              <a:ext uri="{FF2B5EF4-FFF2-40B4-BE49-F238E27FC236}">
                <a16:creationId xmlns:a16="http://schemas.microsoft.com/office/drawing/2014/main" id="{E6D15343-29FA-467F-B725-6F9EAD86FEBC}"/>
              </a:ext>
            </a:extLst>
          </p:cNvPr>
          <p:cNvSpPr>
            <a:spLocks noChangeAspect="1"/>
          </p:cNvSpPr>
          <p:nvPr/>
        </p:nvSpPr>
        <p:spPr>
          <a:xfrm>
            <a:off x="3891839" y="1751143"/>
            <a:ext cx="1212669" cy="1212669"/>
          </a:xfrm>
          <a:prstGeom prst="plus">
            <a:avLst>
              <a:gd name="adj" fmla="val 36361"/>
            </a:avLst>
          </a:prstGeom>
          <a:solidFill>
            <a:srgbClr val="0099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674;p24">
            <a:extLst>
              <a:ext uri="{FF2B5EF4-FFF2-40B4-BE49-F238E27FC236}">
                <a16:creationId xmlns:a16="http://schemas.microsoft.com/office/drawing/2014/main" id="{19F1F05F-F76F-48DD-A2B8-5A11D1B04C9B}"/>
              </a:ext>
            </a:extLst>
          </p:cNvPr>
          <p:cNvSpPr/>
          <p:nvPr/>
        </p:nvSpPr>
        <p:spPr>
          <a:xfrm rot="5400000">
            <a:off x="3808297" y="3226949"/>
            <a:ext cx="1379752" cy="1228928"/>
          </a:xfrm>
          <a:prstGeom prst="stripedRightArrow">
            <a:avLst>
              <a:gd name="adj1" fmla="val 42340"/>
              <a:gd name="adj2" fmla="val 41540"/>
            </a:avLst>
          </a:prstGeom>
          <a:solidFill>
            <a:srgbClr val="0099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291357" y="5652000"/>
            <a:ext cx="972000" cy="46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36000" y="5652000"/>
            <a:ext cx="972000" cy="46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87675" y="5663086"/>
            <a:ext cx="3898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</p:txBody>
      </p:sp>
      <p:cxnSp>
        <p:nvCxnSpPr>
          <p:cNvPr id="62" name="Curved Connector 61"/>
          <p:cNvCxnSpPr>
            <a:stCxn id="36" idx="0"/>
            <a:endCxn id="37" idx="0"/>
          </p:cNvCxnSpPr>
          <p:nvPr/>
        </p:nvCxnSpPr>
        <p:spPr>
          <a:xfrm rot="5400000" flipH="1" flipV="1">
            <a:off x="5749678" y="3679679"/>
            <a:ext cx="12700" cy="3944643"/>
          </a:xfrm>
          <a:prstGeom prst="curvedConnector3">
            <a:avLst>
              <a:gd name="adj1" fmla="val 2580724"/>
            </a:avLst>
          </a:prstGeom>
          <a:ln w="762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5.4 Semi-Quantitative Risk Assessment and Its Integration</a:t>
            </a:r>
          </a:p>
        </p:txBody>
      </p:sp>
    </p:spTree>
    <p:extLst>
      <p:ext uri="{BB962C8B-B14F-4D97-AF65-F5344CB8AC3E}">
        <p14:creationId xmlns:p14="http://schemas.microsoft.com/office/powerpoint/2010/main" val="40404601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42900" marR="0" lvl="0" indent="-257175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A9C8F"/>
              </a:buClr>
              <a:buSzPts val="2000"/>
              <a:buFont typeface="Noto Sans Symbols"/>
              <a:buNone/>
              <a:tabLst/>
              <a:defRPr/>
            </a:pPr>
            <a:r>
              <a:rPr kumimoji="0" lang="en-CA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Key purposes</a:t>
            </a:r>
            <a:r>
              <a:rPr kumimoji="0" lang="en-CA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of the SQRA, and when it is applied:</a:t>
            </a:r>
          </a:p>
          <a:p>
            <a:pPr marL="342900" marR="0" lvl="0" indent="-257175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A9C8F"/>
              </a:buClr>
              <a:buSzPts val="2000"/>
              <a:buFont typeface="Noto Sans Symbols"/>
              <a:buNone/>
              <a:tabLst/>
              <a:defRPr/>
            </a:pPr>
            <a:endParaRPr kumimoji="0" lang="en-CA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327025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arenR"/>
              <a:tabLst/>
              <a:defRPr/>
            </a:pP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 is used to </a:t>
            </a:r>
            <a:r>
              <a:rPr kumimoji="0" lang="en-CA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assess hazards</a:t>
            </a: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of an</a:t>
            </a:r>
            <a:r>
              <a:rPr kumimoji="0" lang="en-CA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CA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activity</a:t>
            </a:r>
            <a:r>
              <a:rPr kumimoji="0" lang="en-CA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CA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job</a:t>
            </a:r>
            <a:r>
              <a:rPr kumimoji="0" lang="en-CA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or </a:t>
            </a:r>
            <a:r>
              <a:rPr kumimoji="0" lang="en-CA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task</a:t>
            </a:r>
            <a:r>
              <a:rPr kumimoji="0" lang="en-CA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or </a:t>
            </a:r>
            <a:r>
              <a:rPr kumimoji="0" lang="en-CA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installation</a:t>
            </a:r>
            <a:r>
              <a:rPr kumimoji="0" lang="en-CA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or </a:t>
            </a:r>
            <a:r>
              <a:rPr kumimoji="0" lang="en-CA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facility</a:t>
            </a:r>
            <a:r>
              <a:rPr kumimoji="0" lang="en-CA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to </a:t>
            </a:r>
            <a:r>
              <a:rPr kumimoji="0" lang="en-CA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determine</a:t>
            </a:r>
            <a:r>
              <a:rPr kumimoji="0" lang="en-CA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appropriate </a:t>
            </a:r>
            <a:r>
              <a:rPr kumimoji="0" lang="en-CA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control measures</a:t>
            </a:r>
            <a:r>
              <a:rPr kumimoji="0" lang="en-CA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in order to </a:t>
            </a: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eliminate</a:t>
            </a: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or </a:t>
            </a: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control</a:t>
            </a: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those </a:t>
            </a: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hazards</a:t>
            </a: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</a:p>
          <a:p>
            <a:pPr marL="457200" marR="0" lvl="0" indent="-327025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arenR"/>
              <a:tabLst/>
              <a:defRPr/>
            </a:pPr>
            <a:endParaRPr lang="en-CA" kern="0" dirty="0">
              <a:solidFill>
                <a:srgbClr val="000000"/>
              </a:solidFill>
              <a:latin typeface="+mn-lt"/>
            </a:endParaRPr>
          </a:p>
          <a:p>
            <a:pPr marL="457200" marR="0" lvl="0" indent="-327025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arenR"/>
              <a:tabLst/>
              <a:defRPr/>
            </a:pP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 is used </a:t>
            </a: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during</a:t>
            </a:r>
            <a:r>
              <a:rPr kumimoji="0" lang="en-CA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the </a:t>
            </a:r>
            <a:r>
              <a:rPr kumimoji="0" lang="en-CA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planning stages</a:t>
            </a:r>
            <a:r>
              <a:rPr kumimoji="0" lang="en-CA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of the activity, job, or task, or </a:t>
            </a:r>
            <a:r>
              <a:rPr kumimoji="0" lang="en-CA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during</a:t>
            </a:r>
            <a:r>
              <a:rPr kumimoji="0" lang="en-CA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the </a:t>
            </a:r>
            <a:r>
              <a:rPr kumimoji="0" lang="en-CA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design</a:t>
            </a:r>
            <a:r>
              <a:rPr kumimoji="0" lang="en-CA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</a:t>
            </a:r>
            <a:r>
              <a:rPr kumimoji="0" lang="en-CA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construction</a:t>
            </a:r>
            <a:r>
              <a:rPr kumimoji="0" lang="en-CA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of the installation or facility. </a:t>
            </a:r>
            <a:endParaRPr kumimoji="0" lang="en-CA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327025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arenR"/>
              <a:tabLst/>
              <a:defRPr/>
            </a:pPr>
            <a:endParaRPr kumimoji="0" lang="en-CA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327025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arenR"/>
              <a:tabLst/>
              <a:defRPr/>
            </a:pP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 is used to </a:t>
            </a: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ensure understanding</a:t>
            </a: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of the </a:t>
            </a: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control measures</a:t>
            </a: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(to </a:t>
            </a: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eliminate</a:t>
            </a: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or </a:t>
            </a: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mitigate</a:t>
            </a: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the hazards)</a:t>
            </a:r>
            <a:r>
              <a:rPr kumimoji="0" lang="en-CA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by the personnel preparing job plans, procedures, designs packages, and construction packages. </a:t>
            </a:r>
            <a:endParaRPr kumimoji="0" lang="en-CA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Purposes and Applications of the SQRA: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5.4 Semi-Quantitative Risk Assessment and Its Integration</a:t>
            </a:r>
          </a:p>
        </p:txBody>
      </p:sp>
    </p:spTree>
    <p:extLst>
      <p:ext uri="{BB962C8B-B14F-4D97-AF65-F5344CB8AC3E}">
        <p14:creationId xmlns:p14="http://schemas.microsoft.com/office/powerpoint/2010/main" val="293985006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Basic Steps to Create an SQRA: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5.4 Semi-Quantitative Risk Assessment and Its Integration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243876"/>
              </p:ext>
            </p:extLst>
          </p:nvPr>
        </p:nvGraphicFramePr>
        <p:xfrm>
          <a:off x="88652" y="4332844"/>
          <a:ext cx="8868340" cy="1869025"/>
        </p:xfrm>
        <a:graphic>
          <a:graphicData uri="http://schemas.openxmlformats.org/drawingml/2006/table">
            <a:tbl>
              <a:tblPr/>
              <a:tblGrid>
                <a:gridCol w="899844">
                  <a:extLst>
                    <a:ext uri="{9D8B030D-6E8A-4147-A177-3AD203B41FA5}">
                      <a16:colId xmlns:a16="http://schemas.microsoft.com/office/drawing/2014/main" val="3350495733"/>
                    </a:ext>
                  </a:extLst>
                </a:gridCol>
                <a:gridCol w="899844">
                  <a:extLst>
                    <a:ext uri="{9D8B030D-6E8A-4147-A177-3AD203B41FA5}">
                      <a16:colId xmlns:a16="http://schemas.microsoft.com/office/drawing/2014/main" val="788624471"/>
                    </a:ext>
                  </a:extLst>
                </a:gridCol>
                <a:gridCol w="899844">
                  <a:extLst>
                    <a:ext uri="{9D8B030D-6E8A-4147-A177-3AD203B41FA5}">
                      <a16:colId xmlns:a16="http://schemas.microsoft.com/office/drawing/2014/main" val="1126100611"/>
                    </a:ext>
                  </a:extLst>
                </a:gridCol>
                <a:gridCol w="563757">
                  <a:extLst>
                    <a:ext uri="{9D8B030D-6E8A-4147-A177-3AD203B41FA5}">
                      <a16:colId xmlns:a16="http://schemas.microsoft.com/office/drawing/2014/main" val="894614678"/>
                    </a:ext>
                  </a:extLst>
                </a:gridCol>
                <a:gridCol w="910685">
                  <a:extLst>
                    <a:ext uri="{9D8B030D-6E8A-4147-A177-3AD203B41FA5}">
                      <a16:colId xmlns:a16="http://schemas.microsoft.com/office/drawing/2014/main" val="1436810623"/>
                    </a:ext>
                  </a:extLst>
                </a:gridCol>
                <a:gridCol w="1008259">
                  <a:extLst>
                    <a:ext uri="{9D8B030D-6E8A-4147-A177-3AD203B41FA5}">
                      <a16:colId xmlns:a16="http://schemas.microsoft.com/office/drawing/2014/main" val="1862085159"/>
                    </a:ext>
                  </a:extLst>
                </a:gridCol>
                <a:gridCol w="1040783">
                  <a:extLst>
                    <a:ext uri="{9D8B030D-6E8A-4147-A177-3AD203B41FA5}">
                      <a16:colId xmlns:a16="http://schemas.microsoft.com/office/drawing/2014/main" val="2553280483"/>
                    </a:ext>
                  </a:extLst>
                </a:gridCol>
                <a:gridCol w="1008259">
                  <a:extLst>
                    <a:ext uri="{9D8B030D-6E8A-4147-A177-3AD203B41FA5}">
                      <a16:colId xmlns:a16="http://schemas.microsoft.com/office/drawing/2014/main" val="2438800930"/>
                    </a:ext>
                  </a:extLst>
                </a:gridCol>
                <a:gridCol w="910685">
                  <a:extLst>
                    <a:ext uri="{9D8B030D-6E8A-4147-A177-3AD203B41FA5}">
                      <a16:colId xmlns:a16="http://schemas.microsoft.com/office/drawing/2014/main" val="1126472793"/>
                    </a:ext>
                  </a:extLst>
                </a:gridCol>
                <a:gridCol w="726380">
                  <a:extLst>
                    <a:ext uri="{9D8B030D-6E8A-4147-A177-3AD203B41FA5}">
                      <a16:colId xmlns:a16="http://schemas.microsoft.com/office/drawing/2014/main" val="2176342193"/>
                    </a:ext>
                  </a:extLst>
                </a:gridCol>
              </a:tblGrid>
              <a:tr h="284046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1100" b="1" i="0" u="sng" strike="noStrike">
                          <a:effectLst/>
                          <a:latin typeface="Arial" panose="020B0604020202020204" pitchFamily="34" charset="0"/>
                        </a:rPr>
                        <a:t>SEMI-QUANTITATVE RISK ASSESSMENT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011942"/>
                  </a:ext>
                </a:extLst>
              </a:tr>
              <a:tr h="8180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 panose="020B0604020202020204" pitchFamily="34" charset="0"/>
                        </a:rPr>
                        <a:t>Activity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Deviations and Concerns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Likelihood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Impact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Risk Level Before Control Measures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Control Measures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Likelihood with or after Control Measures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Impact with or after Control Measures 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 panose="020B0604020202020204" pitchFamily="34" charset="0"/>
                        </a:rPr>
                        <a:t>Risk Level After Control Measures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Proceed? Y/N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524930"/>
                  </a:ext>
                </a:extLst>
              </a:tr>
              <a:tr h="7669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18249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91357" y="5652000"/>
            <a:ext cx="972000" cy="46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6000" y="5652000"/>
            <a:ext cx="972000" cy="46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87675" y="5663086"/>
            <a:ext cx="3898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</a:t>
            </a:r>
          </a:p>
        </p:txBody>
      </p:sp>
      <p:cxnSp>
        <p:nvCxnSpPr>
          <p:cNvPr id="14" name="Curved Connector 13"/>
          <p:cNvCxnSpPr>
            <a:stCxn id="7" idx="0"/>
            <a:endCxn id="10" idx="0"/>
          </p:cNvCxnSpPr>
          <p:nvPr/>
        </p:nvCxnSpPr>
        <p:spPr>
          <a:xfrm rot="5400000" flipH="1" flipV="1">
            <a:off x="5749678" y="3679679"/>
            <a:ext cx="12700" cy="3944643"/>
          </a:xfrm>
          <a:prstGeom prst="curvedConnector3">
            <a:avLst>
              <a:gd name="adj1" fmla="val 2580724"/>
            </a:avLst>
          </a:prstGeom>
          <a:ln w="762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arenR"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Identify job and scope. 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arenR"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Determine</a:t>
            </a: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CA" sz="18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key activities</a:t>
            </a: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arenR"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Identify </a:t>
            </a:r>
            <a:r>
              <a:rPr kumimoji="0" lang="en-CA" sz="18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deviations</a:t>
            </a:r>
            <a:r>
              <a:rPr kumimoji="0" lang="en-CA" sz="18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and </a:t>
            </a:r>
            <a:r>
              <a:rPr kumimoji="0" lang="en-CA" sz="18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concerns</a:t>
            </a: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associated for </a:t>
            </a: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each key activity</a:t>
            </a: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</a:t>
            </a:r>
            <a:b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Use the </a:t>
            </a:r>
            <a:r>
              <a:rPr kumimoji="0" lang="en-CA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“</a:t>
            </a:r>
            <a:r>
              <a:rPr kumimoji="0" lang="en-CA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What-If Analysis</a:t>
            </a:r>
            <a:r>
              <a:rPr kumimoji="0" lang="en-CA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”</a:t>
            </a: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to determine any deviations and concerns!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arenR"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Determine </a:t>
            </a:r>
            <a:r>
              <a:rPr kumimoji="0" lang="en-CA" sz="18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likelihood</a:t>
            </a:r>
            <a:r>
              <a:rPr kumimoji="0" lang="en-CA" sz="18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i</a:t>
            </a:r>
            <a:r>
              <a:rPr kumimoji="0" lang="en-CA" sz="18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mpact</a:t>
            </a:r>
            <a:r>
              <a:rPr kumimoji="0" lang="en-CA" sz="18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and </a:t>
            </a:r>
            <a:r>
              <a:rPr kumimoji="0" lang="en-CA" sz="18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risk level</a:t>
            </a: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posed by each deviation / concern </a:t>
            </a: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without</a:t>
            </a: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or </a:t>
            </a:r>
            <a:r>
              <a:rPr kumimoji="0" lang="en-CA" sz="18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before control measures</a:t>
            </a: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arenR"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Identify suitable </a:t>
            </a:r>
            <a:r>
              <a:rPr kumimoji="0" lang="en-CA" sz="18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control measures</a:t>
            </a: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for </a:t>
            </a: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each deviation</a:t>
            </a: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/ </a:t>
            </a: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concern</a:t>
            </a: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arenR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Determine likelihood, impact, and risk level posed with or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after control measures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arenR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Determine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whether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to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proceed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with the activity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or not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arenR"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Incorporate</a:t>
            </a: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or </a:t>
            </a: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integrate</a:t>
            </a: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the </a:t>
            </a: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control measures</a:t>
            </a: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 the job plan or engineering / design / construction package. 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arenR"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During or after the job plan is being executed, or after engineering / design / construction, determine the effectiveness of the control measures.</a:t>
            </a:r>
          </a:p>
        </p:txBody>
      </p:sp>
    </p:spTree>
    <p:extLst>
      <p:ext uri="{BB962C8B-B14F-4D97-AF65-F5344CB8AC3E}">
        <p14:creationId xmlns:p14="http://schemas.microsoft.com/office/powerpoint/2010/main" val="330264197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Example: Semi-Quantitative Risk Assessment:</a:t>
            </a: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5.4 Semi-Quantitative Risk Assessment and Its Integration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lang="en-US" altLang="en-US" sz="200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lang="en-US" altLang="en-US" sz="200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lang="en-US" altLang="en-US" sz="200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lang="en-US" altLang="en-US" sz="200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lang="en-US" altLang="en-US" sz="200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lang="en-US" altLang="en-US" sz="200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Remember that a control measure is typically designed to result in a reduction of likelihood or a reduction I consequence, usually not both!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aphicFrame>
        <p:nvGraphicFramePr>
          <p:cNvPr id="27" name="Google Shape;1438;p20">
            <a:extLst>
              <a:ext uri="{FF2B5EF4-FFF2-40B4-BE49-F238E27FC236}">
                <a16:creationId xmlns:a16="http://schemas.microsoft.com/office/drawing/2014/main" id="{43764B5F-4CC9-4236-92B4-213564AB30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1873203"/>
              </p:ext>
            </p:extLst>
          </p:nvPr>
        </p:nvGraphicFramePr>
        <p:xfrm>
          <a:off x="180000" y="3574459"/>
          <a:ext cx="8633401" cy="162318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66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9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36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3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4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53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73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63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62318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Operator operating within the exclusion zone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Debris from slope failure injures operator and damages machine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 sz="1800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(Occurs &lt;1X per yr, observed at other facilities)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 sz="1800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(Disabling injury or loss of life)</a:t>
                      </a:r>
                      <a:endParaRPr dirty="0"/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Install protective metal cage around cab of machine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 sz="1800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(Occurs &lt;1X per yr, observed at other facilities)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 sz="1800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(First Aid injury)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Google Shape;1430;p20">
            <a:extLst>
              <a:ext uri="{FF2B5EF4-FFF2-40B4-BE49-F238E27FC236}">
                <a16:creationId xmlns:a16="http://schemas.microsoft.com/office/drawing/2014/main" id="{AA187C55-56E0-41E2-8D45-628C0D67C0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8472890"/>
              </p:ext>
            </p:extLst>
          </p:nvPr>
        </p:nvGraphicFramePr>
        <p:xfrm>
          <a:off x="180000" y="865208"/>
          <a:ext cx="8633402" cy="268407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66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9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36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49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68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53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73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63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0402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CC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Activity</a:t>
                      </a:r>
                      <a:endParaRPr sz="1100" b="0" i="0" u="none" strike="noStrike" cap="none" dirty="0">
                        <a:solidFill>
                          <a:srgbClr val="0033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CC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Deviation/</a:t>
                      </a:r>
                      <a:endParaRPr sz="110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CC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Concern</a:t>
                      </a:r>
                      <a:endParaRPr sz="1100" b="0" i="0" u="none" strike="noStrike" cap="none">
                        <a:solidFill>
                          <a:srgbClr val="0033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CC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Likelihood</a:t>
                      </a:r>
                      <a:endParaRPr sz="1100" b="0" i="0" u="none" strike="noStrike" cap="none" dirty="0">
                        <a:solidFill>
                          <a:srgbClr val="0033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CC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Conse-quence </a:t>
                      </a:r>
                      <a:endParaRPr sz="1100" b="0" i="0" u="none" strike="noStrike" cap="none" dirty="0">
                        <a:solidFill>
                          <a:srgbClr val="0033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CC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Risk Before Control Measures</a:t>
                      </a:r>
                      <a:endParaRPr sz="1100" b="0" i="0" u="none" strike="noStrike" cap="none" dirty="0">
                        <a:solidFill>
                          <a:srgbClr val="0033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CC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Control Measures / Safeguards</a:t>
                      </a:r>
                      <a:endParaRPr sz="1100" b="0" i="0" u="none" strike="noStrike" cap="none" dirty="0">
                        <a:solidFill>
                          <a:srgbClr val="0033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CC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Likeli-hood After Control Measure</a:t>
                      </a:r>
                      <a:endParaRPr sz="1100" b="0" i="0" u="none" strike="noStrike" cap="none" dirty="0">
                        <a:solidFill>
                          <a:srgbClr val="0033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CC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Conse-quence After Control Measure </a:t>
                      </a:r>
                      <a:endParaRPr sz="1100" b="0" i="0" u="none" strike="noStrike" cap="none" dirty="0">
                        <a:solidFill>
                          <a:srgbClr val="0033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CC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Residual Risk After Control Measures</a:t>
                      </a:r>
                      <a:endParaRPr sz="1100" b="0" i="0" u="none" strike="noStrike" cap="none">
                        <a:solidFill>
                          <a:srgbClr val="0033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38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Operator operating within the exclusion zone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Debris from slope failure injures operator and damages machine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endParaRPr lang="en-US"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endParaRPr lang="en-US"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 sz="1100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(Occurs &lt;1X per yr, observed at other facilities)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endParaRPr lang="en-US"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endParaRPr lang="en-US"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 sz="1800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(Disabling injury or loss of life)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100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Institute an auditory alarm trigger for the slope monitoring system</a:t>
                      </a:r>
                      <a:endParaRPr sz="1100" dirty="0"/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 sz="1800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(Occurs &lt;1x in 10 yrs)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 sz="1800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(Disabling injury or loss of life)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" name="Google Shape;1433;p20">
            <a:extLst>
              <a:ext uri="{FF2B5EF4-FFF2-40B4-BE49-F238E27FC236}">
                <a16:creationId xmlns:a16="http://schemas.microsoft.com/office/drawing/2014/main" id="{851C500C-A916-48A2-874B-0C1E13057784}"/>
              </a:ext>
            </a:extLst>
          </p:cNvPr>
          <p:cNvSpPr/>
          <p:nvPr/>
        </p:nvSpPr>
        <p:spPr>
          <a:xfrm>
            <a:off x="4273100" y="2291555"/>
            <a:ext cx="381800" cy="351614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1434;p20">
            <a:extLst>
              <a:ext uri="{FF2B5EF4-FFF2-40B4-BE49-F238E27FC236}">
                <a16:creationId xmlns:a16="http://schemas.microsoft.com/office/drawing/2014/main" id="{87203649-5571-4174-A53E-1648E140F275}"/>
              </a:ext>
            </a:extLst>
          </p:cNvPr>
          <p:cNvSpPr txBox="1"/>
          <p:nvPr/>
        </p:nvSpPr>
        <p:spPr>
          <a:xfrm>
            <a:off x="2166440" y="1098139"/>
            <a:ext cx="684145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From Risk Criteria Table</a:t>
            </a:r>
            <a:endParaRPr sz="1100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1435;p20">
            <a:extLst>
              <a:ext uri="{FF2B5EF4-FFF2-40B4-BE49-F238E27FC236}">
                <a16:creationId xmlns:a16="http://schemas.microsoft.com/office/drawing/2014/main" id="{71773569-8D1D-4594-A59D-20852F2C0500}"/>
              </a:ext>
            </a:extLst>
          </p:cNvPr>
          <p:cNvSpPr txBox="1"/>
          <p:nvPr/>
        </p:nvSpPr>
        <p:spPr>
          <a:xfrm>
            <a:off x="3093040" y="1236394"/>
            <a:ext cx="83820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From Risk Criteria Table</a:t>
            </a:r>
            <a:endParaRPr sz="1100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1436;p20">
            <a:extLst>
              <a:ext uri="{FF2B5EF4-FFF2-40B4-BE49-F238E27FC236}">
                <a16:creationId xmlns:a16="http://schemas.microsoft.com/office/drawing/2014/main" id="{8608DB26-491A-477C-82B0-EB3F285823BE}"/>
              </a:ext>
            </a:extLst>
          </p:cNvPr>
          <p:cNvSpPr txBox="1"/>
          <p:nvPr/>
        </p:nvSpPr>
        <p:spPr>
          <a:xfrm>
            <a:off x="4044900" y="2750780"/>
            <a:ext cx="8382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From Risk Matrix</a:t>
            </a:r>
            <a:endParaRPr sz="1100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433;p20">
            <a:extLst>
              <a:ext uri="{FF2B5EF4-FFF2-40B4-BE49-F238E27FC236}">
                <a16:creationId xmlns:a16="http://schemas.microsoft.com/office/drawing/2014/main" id="{9D6018AC-931D-406E-B27D-E02C393DE194}"/>
              </a:ext>
            </a:extLst>
          </p:cNvPr>
          <p:cNvSpPr/>
          <p:nvPr/>
        </p:nvSpPr>
        <p:spPr>
          <a:xfrm>
            <a:off x="2353074" y="1875321"/>
            <a:ext cx="427606" cy="452748"/>
          </a:xfrm>
          <a:prstGeom prst="downArrow">
            <a:avLst/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" name="Google Shape;1433;p20">
            <a:extLst>
              <a:ext uri="{FF2B5EF4-FFF2-40B4-BE49-F238E27FC236}">
                <a16:creationId xmlns:a16="http://schemas.microsoft.com/office/drawing/2014/main" id="{17F4D95A-A7BE-4A75-A153-1FC5430E645F}"/>
              </a:ext>
            </a:extLst>
          </p:cNvPr>
          <p:cNvSpPr/>
          <p:nvPr/>
        </p:nvSpPr>
        <p:spPr>
          <a:xfrm>
            <a:off x="3337247" y="1857994"/>
            <a:ext cx="427606" cy="452748"/>
          </a:xfrm>
          <a:prstGeom prst="downArrow">
            <a:avLst/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ular Callout 2"/>
          <p:cNvSpPr/>
          <p:nvPr/>
        </p:nvSpPr>
        <p:spPr>
          <a:xfrm>
            <a:off x="5046385" y="2882536"/>
            <a:ext cx="1178066" cy="598261"/>
          </a:xfrm>
          <a:prstGeom prst="wedgeRectCallout">
            <a:avLst>
              <a:gd name="adj1" fmla="val 75118"/>
              <a:gd name="adj2" fmla="val -172483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This CM reduces L</a:t>
            </a:r>
          </a:p>
        </p:txBody>
      </p:sp>
      <p:sp>
        <p:nvSpPr>
          <p:cNvPr id="16" name="Rectangular Callout 15"/>
          <p:cNvSpPr/>
          <p:nvPr/>
        </p:nvSpPr>
        <p:spPr>
          <a:xfrm>
            <a:off x="5179735" y="4535020"/>
            <a:ext cx="1178066" cy="598261"/>
          </a:xfrm>
          <a:prstGeom prst="wedgeRectCallout">
            <a:avLst>
              <a:gd name="adj1" fmla="val 139985"/>
              <a:gd name="adj2" fmla="val -162658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This CM reduces C</a:t>
            </a:r>
          </a:p>
        </p:txBody>
      </p:sp>
    </p:spTree>
    <p:extLst>
      <p:ext uri="{BB962C8B-B14F-4D97-AF65-F5344CB8AC3E}">
        <p14:creationId xmlns:p14="http://schemas.microsoft.com/office/powerpoint/2010/main" val="9251838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arenR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arenR"/>
              <a:tabLst/>
              <a:defRPr/>
            </a:pPr>
            <a:r>
              <a:rPr kumimoji="0" lang="en-US" altLang="en-US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the SQRA to reduce risks</a:t>
            </a:r>
            <a:r>
              <a:rPr kumimoji="0" lang="en-US" altLang="en-US" sz="20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to acceptable levels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and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arenR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arenR"/>
              <a:tabLst/>
              <a:defRPr/>
            </a:pPr>
            <a:r>
              <a:rPr kumimoji="0" lang="en-US" altLang="en-US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Coach and mentor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others in its effective use.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SQRA as a Leadership Tool: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08D308-443E-4056-AF5E-AEFC5B070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117" y="2273820"/>
            <a:ext cx="3985902" cy="3656791"/>
          </a:xfrm>
          <a:prstGeom prst="rect">
            <a:avLst/>
          </a:prstGeom>
        </p:spPr>
      </p:pic>
      <p:sp>
        <p:nvSpPr>
          <p:cNvPr id="24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5.4 Semi-Quantitative Risk Assessment and Its Integration</a:t>
            </a:r>
          </a:p>
        </p:txBody>
      </p:sp>
    </p:spTree>
    <p:extLst>
      <p:ext uri="{BB962C8B-B14F-4D97-AF65-F5344CB8AC3E}">
        <p14:creationId xmlns:p14="http://schemas.microsoft.com/office/powerpoint/2010/main" val="335597742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Integration of The RMWP, CM’s, &amp; RA Tools: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5.4 Semi-Quantitative Risk Assessment and Its Integration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80000" y="828000"/>
            <a:ext cx="8640000" cy="5328000"/>
            <a:chOff x="180000" y="828000"/>
            <a:chExt cx="8640000" cy="5328000"/>
          </a:xfrm>
        </p:grpSpPr>
        <p:sp>
          <p:nvSpPr>
            <p:cNvPr id="5" name="Bent Arrow 4"/>
            <p:cNvSpPr/>
            <p:nvPr/>
          </p:nvSpPr>
          <p:spPr>
            <a:xfrm rot="5400000">
              <a:off x="4522490" y="-754182"/>
              <a:ext cx="1727664" cy="6320756"/>
            </a:xfrm>
            <a:prstGeom prst="bentArrow">
              <a:avLst/>
            </a:prstGeom>
            <a:gradFill>
              <a:gsLst>
                <a:gs pos="0">
                  <a:srgbClr val="0000FF"/>
                </a:gs>
                <a:gs pos="50000">
                  <a:schemeClr val="accent1">
                    <a:hueOff val="0"/>
                    <a:satOff val="0"/>
                    <a:lumOff val="0"/>
                    <a:alphaOff val="0"/>
                    <a:tint val="37000"/>
                    <a:satMod val="300000"/>
                  </a:schemeClr>
                </a:gs>
                <a:gs pos="100000">
                  <a:srgbClr val="002060"/>
                </a:gs>
              </a:gsLst>
              <a:lin ang="16200000" scaled="1"/>
            </a:gra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" name="Rectangle 3"/>
            <p:cNvSpPr>
              <a:spLocks noChangeArrowheads="1"/>
            </p:cNvSpPr>
            <p:nvPr/>
          </p:nvSpPr>
          <p:spPr bwMode="auto">
            <a:xfrm>
              <a:off x="180000" y="828000"/>
              <a:ext cx="8640000" cy="532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lvl1pPr marL="609600" indent="-609600"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marL="432000" marR="0" lvl="0" indent="-4320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  <a:p>
              <a:pPr marL="432000" marR="0" lvl="0" indent="-4320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  <a:p>
              <a:pPr marL="432000" marR="0" lvl="0" indent="-4320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  <a:p>
              <a:pPr marL="432000" marR="0" lvl="0" indent="-4320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  <a:p>
              <a:pPr marL="432000" marR="0" lvl="0" indent="-4320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  <a:p>
              <a:pPr marL="432000" marR="0" lvl="0" indent="-4320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  <a:p>
              <a:pPr marL="432000" marR="0" lvl="0" indent="-432000" algn="r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41305" y="986568"/>
              <a:ext cx="1403595" cy="2283460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87717" y="3434598"/>
              <a:ext cx="4425683" cy="272140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4" name="Bent Arrow 13"/>
            <p:cNvSpPr/>
            <p:nvPr/>
          </p:nvSpPr>
          <p:spPr>
            <a:xfrm rot="10800000" flipH="1">
              <a:off x="661012" y="3635999"/>
              <a:ext cx="3624549" cy="2423277"/>
            </a:xfrm>
            <a:prstGeom prst="bentArrow">
              <a:avLst>
                <a:gd name="adj1" fmla="val 18490"/>
                <a:gd name="adj2" fmla="val 19631"/>
                <a:gd name="adj3" fmla="val 25000"/>
                <a:gd name="adj4" fmla="val 43750"/>
              </a:avLst>
            </a:prstGeom>
            <a:gradFill>
              <a:gsLst>
                <a:gs pos="0">
                  <a:srgbClr val="0000FF"/>
                </a:gs>
                <a:gs pos="50000">
                  <a:schemeClr val="accent1">
                    <a:hueOff val="0"/>
                    <a:satOff val="0"/>
                    <a:lumOff val="0"/>
                    <a:alphaOff val="0"/>
                    <a:tint val="37000"/>
                    <a:satMod val="300000"/>
                  </a:schemeClr>
                </a:gs>
                <a:gs pos="100000">
                  <a:srgbClr val="002060"/>
                </a:gs>
              </a:gsLst>
              <a:lin ang="16200000" scaled="1"/>
            </a:gra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15" name="Google Shape;200;p7">
              <a:extLst>
                <a:ext uri="{FF2B5EF4-FFF2-40B4-BE49-F238E27FC236}">
                  <a16:creationId xmlns:a16="http://schemas.microsoft.com/office/drawing/2014/main" id="{24FB57AC-E823-40CB-A670-DDBD1EB18673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909012" y="1124879"/>
              <a:ext cx="865127" cy="7519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202;p7">
              <a:extLst>
                <a:ext uri="{FF2B5EF4-FFF2-40B4-BE49-F238E27FC236}">
                  <a16:creationId xmlns:a16="http://schemas.microsoft.com/office/drawing/2014/main" id="{00FBE9E5-E152-442F-AA9B-2D806A6C6183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74139" y="1207937"/>
              <a:ext cx="763873" cy="668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53883" y="2080701"/>
              <a:ext cx="1840512" cy="8683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1132" y="911276"/>
              <a:ext cx="2741396" cy="2627999"/>
            </a:xfrm>
            <a:prstGeom prst="rect">
              <a:avLst/>
            </a:prstGeom>
          </p:spPr>
        </p:pic>
        <p:sp>
          <p:nvSpPr>
            <p:cNvPr id="20" name="Bent Arrow 19"/>
            <p:cNvSpPr/>
            <p:nvPr/>
          </p:nvSpPr>
          <p:spPr>
            <a:xfrm rot="10800000" flipH="1">
              <a:off x="2060154" y="3553511"/>
              <a:ext cx="2225407" cy="1084589"/>
            </a:xfrm>
            <a:prstGeom prst="bentArrow">
              <a:avLst>
                <a:gd name="adj1" fmla="val 44544"/>
                <a:gd name="adj2" fmla="val 37678"/>
                <a:gd name="adj3" fmla="val 31375"/>
                <a:gd name="adj4" fmla="val 43750"/>
              </a:avLst>
            </a:prstGeom>
            <a:gradFill>
              <a:gsLst>
                <a:gs pos="0">
                  <a:srgbClr val="0000FF"/>
                </a:gs>
                <a:gs pos="50000">
                  <a:schemeClr val="accent1">
                    <a:hueOff val="0"/>
                    <a:satOff val="0"/>
                    <a:lumOff val="0"/>
                    <a:alphaOff val="0"/>
                    <a:tint val="37000"/>
                    <a:satMod val="300000"/>
                  </a:schemeClr>
                </a:gs>
                <a:gs pos="100000">
                  <a:srgbClr val="002060"/>
                </a:gs>
              </a:gsLst>
              <a:lin ang="16200000" scaled="1"/>
            </a:gra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316436" y="4652336"/>
              <a:ext cx="1156850" cy="142117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2" name="TextBox 21"/>
            <p:cNvSpPr txBox="1"/>
            <p:nvPr/>
          </p:nvSpPr>
          <p:spPr>
            <a:xfrm>
              <a:off x="2300791" y="3923517"/>
              <a:ext cx="1374332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RME #2 RA&amp;MR</a:t>
              </a:r>
            </a:p>
            <a:p>
              <a:pPr marL="360000" indent="-360000" eaLnBrk="0" fontAlgn="base" hangingPunct="0"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SQRA is a “standard”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3820792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Summary and Key</a:t>
            </a:r>
            <a:r>
              <a:rPr kumimoji="0" lang="en-US" altLang="en-US" sz="2400" b="0" i="0" u="none" strike="noStrike" kern="1200" cap="none" spc="0" normalizeH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Lessons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SQ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RA:</a:t>
            </a: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Used well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in </a:t>
            </a:r>
            <a:r>
              <a:rPr lang="en-US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advance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and </a:t>
            </a:r>
            <a:r>
              <a:rPr lang="en-US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part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the </a:t>
            </a:r>
            <a:r>
              <a:rPr lang="en-US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planning process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for </a:t>
            </a:r>
            <a:r>
              <a:rPr lang="en-US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 activities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or </a:t>
            </a:r>
            <a:r>
              <a:rPr lang="en-US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during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the </a:t>
            </a:r>
            <a:r>
              <a:rPr lang="en-US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engineering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/ </a:t>
            </a:r>
            <a:r>
              <a:rPr lang="en-US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design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/ </a:t>
            </a:r>
            <a:r>
              <a:rPr lang="en-US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construction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installations and facilities.</a:t>
            </a: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One of many different risk assessment tool; 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Systematically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identifies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hazards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and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specifies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appropriate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 measures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be complemented with the application of incident models i.e. knowledge-based and discovery-based approaches for hazard identification.</a:t>
            </a: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 your expertise to coach others!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5.4 Semi-Quantitative Risk Assessment and Its Integration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108D308-443E-4056-AF5E-AEFC5B070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077" y="2951244"/>
            <a:ext cx="1798589" cy="165008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7852" y="5109748"/>
            <a:ext cx="4876269" cy="120256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509" y="2787269"/>
            <a:ext cx="4012478" cy="2478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583471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the purpose of the Semi-Quantitative Risk Assessment (SQRA) Tool,</a:t>
            </a:r>
            <a:r>
              <a:rPr kumimoji="0" lang="en-CA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Management tool, the manner in which it is used, and the benefits for planning work using the SQRA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lvl="0" indent="-432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Demonstrate the integration of the SQRA (and similar 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Assessment Tools such as FLRA, What-If Analysis, JSA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 with the Risk Management</a:t>
            </a:r>
            <a:r>
              <a:rPr kumimoji="0" lang="en-CA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Work Process and its tools (Matrix, Criteria Table, Management Directions), the RM System, and Control Measures.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this tool as a rudimentary skill of leadership to observe, interact, commend, or intervene / coach employees in the work-place.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Complete Slide Deck follows with details 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5.4 Semi-Quantitative Risk Assessment and Its Integration</a:t>
            </a:r>
          </a:p>
        </p:txBody>
      </p:sp>
    </p:spTree>
    <p:extLst>
      <p:ext uri="{BB962C8B-B14F-4D97-AF65-F5344CB8AC3E}">
        <p14:creationId xmlns:p14="http://schemas.microsoft.com/office/powerpoint/2010/main" val="673620930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Recall our “Discovery Model” for identifying hazards!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Look for and think about the following: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Find the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 sources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mechanical, electrical, chemical, etc. 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Look for lack of or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substandard safeguards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(inadequate, ineffective, deficient,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defective control measures)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Find the circumstances or mechanisms that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will cause or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trigger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an unwanted, unintended,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and/or uncontrolled release of energy.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Look for bodies, objects and environment that are in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line-of-fire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and could be harmed by an unwanted,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unintended, and/or uncontrolled release of energy.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Recall … The Discovery Model: How To Identify Hazards: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2" name="Google Shape;200;p7">
            <a:extLst>
              <a:ext uri="{FF2B5EF4-FFF2-40B4-BE49-F238E27FC236}">
                <a16:creationId xmlns:a16="http://schemas.microsoft.com/office/drawing/2014/main" id="{24FB57AC-E823-40CB-A670-DDBD1EB186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3741" y="1304192"/>
            <a:ext cx="2606620" cy="207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02;p7">
            <a:extLst>
              <a:ext uri="{FF2B5EF4-FFF2-40B4-BE49-F238E27FC236}">
                <a16:creationId xmlns:a16="http://schemas.microsoft.com/office/drawing/2014/main" id="{00FBE9E5-E152-442F-AA9B-2D806A6C618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53374" y="3448490"/>
            <a:ext cx="2301543" cy="184672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5.4 Semi-Quantitative Risk Assessment and Its Integration</a:t>
            </a:r>
          </a:p>
        </p:txBody>
      </p:sp>
    </p:spTree>
    <p:extLst>
      <p:ext uri="{BB962C8B-B14F-4D97-AF65-F5344CB8AC3E}">
        <p14:creationId xmlns:p14="http://schemas.microsoft.com/office/powerpoint/2010/main" val="3324704751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fundamental approach for any risk assessment methodology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answers these questions: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are you doing?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(Activity)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could go wrong?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(Hazard)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bad could it be?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(Consequence)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likely is it to happen?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(Likelihood)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Is it acceptable?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(Risk)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can I do about it? </a:t>
            </a: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(Control Measures – Admin or Eng’g)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does the control measure change the L and C?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(Reduce, remain unchanged, or increase?)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Recall … Fundamental Approach for Any RM Methodology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147" y="1434754"/>
            <a:ext cx="3777253" cy="1782103"/>
          </a:xfrm>
          <a:prstGeom prst="rect">
            <a:avLst/>
          </a:prstGeom>
        </p:spPr>
      </p:pic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5.4 Semi-Quantitative Risk Assessment and Its Integration</a:t>
            </a:r>
          </a:p>
        </p:txBody>
      </p:sp>
    </p:spTree>
    <p:extLst>
      <p:ext uri="{BB962C8B-B14F-4D97-AF65-F5344CB8AC3E}">
        <p14:creationId xmlns:p14="http://schemas.microsoft.com/office/powerpoint/2010/main" val="3781184355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 Work Process</a:t>
            </a:r>
            <a:r>
              <a:rPr kumimoji="0" lang="en-CA" altLang="en-US" sz="18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Function:</a:t>
            </a:r>
            <a:endParaRPr kumimoji="0" lang="en-CA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Analyzes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risks to PEAP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Systematically assesses risks </a:t>
            </a:r>
            <a:b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opposite what is an acceptable level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8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RMWP uses tools such as: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8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Matrices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8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Criteria Tables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8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Directions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SQRA</a:t>
            </a:r>
            <a:endParaRPr kumimoji="0" lang="en-US" altLang="en-US" sz="1800" b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2880000" lvl="3" indent="-432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2880000" lvl="3" indent="-432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2880000" lvl="3" indent="-432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2448000" lvl="3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 Measures:</a:t>
            </a:r>
          </a:p>
          <a:p>
            <a:pPr marL="2880000" lvl="3" indent="-432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SQRA </a:t>
            </a:r>
            <a:r>
              <a:rPr lang="en-US" altLang="en-US" sz="1800" noProof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is u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sed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to define and implement the </a:t>
            </a:r>
            <a:r>
              <a:rPr lang="en-US" alt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CM’s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to reduce and control risks to an acceptable level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0020" y="1532317"/>
            <a:ext cx="3340493" cy="3202314"/>
          </a:xfrm>
          <a:prstGeom prst="rect">
            <a:avLst/>
          </a:prstGeom>
        </p:spPr>
      </p:pic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altLang="en-US" sz="240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 Integration of The RM Work Process &amp; Control Measures: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5.4 Semi-Quantitative Risk Assessment and Its Integration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373" y="967199"/>
            <a:ext cx="1827910" cy="297376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07" y="3695699"/>
            <a:ext cx="2195387" cy="2460301"/>
          </a:xfrm>
          <a:prstGeom prst="rect">
            <a:avLst/>
          </a:prstGeom>
        </p:spPr>
      </p:pic>
      <p:sp>
        <p:nvSpPr>
          <p:cNvPr id="29" name="Striped Right Arrow 28"/>
          <p:cNvSpPr/>
          <p:nvPr/>
        </p:nvSpPr>
        <p:spPr>
          <a:xfrm rot="9421759">
            <a:off x="2404461" y="4102871"/>
            <a:ext cx="818780" cy="720000"/>
          </a:xfrm>
          <a:prstGeom prst="stripedRightArrow">
            <a:avLst/>
          </a:prstGeom>
          <a:gradFill>
            <a:gsLst>
              <a:gs pos="0">
                <a:srgbClr val="0000FF"/>
              </a:gs>
              <a:gs pos="50000">
                <a:schemeClr val="accent1">
                  <a:hueOff val="0"/>
                  <a:satOff val="0"/>
                  <a:lumOff val="0"/>
                  <a:alphaOff val="0"/>
                  <a:tint val="37000"/>
                  <a:satMod val="300000"/>
                </a:schemeClr>
              </a:gs>
              <a:gs pos="100000">
                <a:srgbClr val="002060"/>
              </a:gs>
            </a:gsLst>
            <a:lin ang="16200000" scaled="1"/>
          </a:gra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Striped Right Arrow 29"/>
          <p:cNvSpPr/>
          <p:nvPr/>
        </p:nvSpPr>
        <p:spPr>
          <a:xfrm>
            <a:off x="4946573" y="1824547"/>
            <a:ext cx="1747170" cy="720000"/>
          </a:xfrm>
          <a:prstGeom prst="stripedRightArrow">
            <a:avLst/>
          </a:prstGeom>
          <a:gradFill>
            <a:gsLst>
              <a:gs pos="0">
                <a:srgbClr val="0000FF"/>
              </a:gs>
              <a:gs pos="50000">
                <a:schemeClr val="accent1">
                  <a:hueOff val="0"/>
                  <a:satOff val="0"/>
                  <a:lumOff val="0"/>
                  <a:alphaOff val="0"/>
                  <a:tint val="37000"/>
                  <a:satMod val="300000"/>
                </a:schemeClr>
              </a:gs>
              <a:gs pos="100000">
                <a:srgbClr val="002060"/>
              </a:gs>
            </a:gsLst>
            <a:lin ang="16200000" scaled="1"/>
          </a:gra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triped Right Arrow 12"/>
          <p:cNvSpPr/>
          <p:nvPr/>
        </p:nvSpPr>
        <p:spPr>
          <a:xfrm rot="1275672">
            <a:off x="5853183" y="4331216"/>
            <a:ext cx="1060276" cy="720000"/>
          </a:xfrm>
          <a:prstGeom prst="stripedRightArrow">
            <a:avLst/>
          </a:prstGeom>
          <a:gradFill>
            <a:gsLst>
              <a:gs pos="0">
                <a:srgbClr val="0000FF"/>
              </a:gs>
              <a:gs pos="50000">
                <a:schemeClr val="accent1">
                  <a:hueOff val="0"/>
                  <a:satOff val="0"/>
                  <a:lumOff val="0"/>
                  <a:alphaOff val="0"/>
                  <a:tint val="37000"/>
                  <a:satMod val="300000"/>
                </a:schemeClr>
              </a:gs>
              <a:gs pos="100000">
                <a:srgbClr val="002060"/>
              </a:gs>
            </a:gsLst>
            <a:lin ang="16200000" scaled="1"/>
          </a:gra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941390" y="4373457"/>
            <a:ext cx="19610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RME #2 RA&amp;MR</a:t>
            </a:r>
          </a:p>
          <a:p>
            <a:pPr marL="360000" indent="-360000" eaLnBrk="0" fontAlgn="base" hangingPunct="0"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SQRA is a “standard”</a:t>
            </a:r>
          </a:p>
        </p:txBody>
      </p:sp>
    </p:spTree>
    <p:extLst>
      <p:ext uri="{BB962C8B-B14F-4D97-AF65-F5344CB8AC3E}">
        <p14:creationId xmlns:p14="http://schemas.microsoft.com/office/powerpoint/2010/main" val="2632788554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Integration of The RMWP, CM’s, &amp; RA Tools: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5.4 Semi-Quantitative Risk Assessment and Its Integration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80000" y="828000"/>
            <a:ext cx="8640000" cy="5328000"/>
            <a:chOff x="180000" y="828000"/>
            <a:chExt cx="8640000" cy="5328000"/>
          </a:xfrm>
        </p:grpSpPr>
        <p:sp>
          <p:nvSpPr>
            <p:cNvPr id="5" name="Bent Arrow 4"/>
            <p:cNvSpPr/>
            <p:nvPr/>
          </p:nvSpPr>
          <p:spPr>
            <a:xfrm rot="5400000">
              <a:off x="4522490" y="-754182"/>
              <a:ext cx="1727664" cy="6320756"/>
            </a:xfrm>
            <a:prstGeom prst="bentArrow">
              <a:avLst/>
            </a:prstGeom>
            <a:gradFill>
              <a:gsLst>
                <a:gs pos="0">
                  <a:srgbClr val="0000FF"/>
                </a:gs>
                <a:gs pos="50000">
                  <a:schemeClr val="accent1">
                    <a:hueOff val="0"/>
                    <a:satOff val="0"/>
                    <a:lumOff val="0"/>
                    <a:alphaOff val="0"/>
                    <a:tint val="37000"/>
                    <a:satMod val="300000"/>
                  </a:schemeClr>
                </a:gs>
                <a:gs pos="100000">
                  <a:srgbClr val="002060"/>
                </a:gs>
              </a:gsLst>
              <a:lin ang="16200000" scaled="1"/>
            </a:gra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" name="Rectangle 3"/>
            <p:cNvSpPr>
              <a:spLocks noChangeArrowheads="1"/>
            </p:cNvSpPr>
            <p:nvPr/>
          </p:nvSpPr>
          <p:spPr bwMode="auto">
            <a:xfrm>
              <a:off x="180000" y="828000"/>
              <a:ext cx="8640000" cy="532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lvl1pPr marL="609600" indent="-609600"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marL="432000" marR="0" lvl="0" indent="-4320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  <a:p>
              <a:pPr marL="432000" marR="0" lvl="0" indent="-4320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  <a:p>
              <a:pPr marL="432000" marR="0" lvl="0" indent="-4320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  <a:p>
              <a:pPr marL="432000" marR="0" lvl="0" indent="-4320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  <a:p>
              <a:pPr marL="432000" marR="0" lvl="0" indent="-4320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  <a:p>
              <a:pPr marL="432000" marR="0" lvl="0" indent="-4320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  <a:p>
              <a:pPr marL="432000" marR="0" lvl="0" indent="-432000" algn="r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41305" y="986568"/>
              <a:ext cx="1403595" cy="2283460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87717" y="3434598"/>
              <a:ext cx="4425683" cy="272140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4" name="Bent Arrow 13"/>
            <p:cNvSpPr/>
            <p:nvPr/>
          </p:nvSpPr>
          <p:spPr>
            <a:xfrm rot="10800000" flipH="1">
              <a:off x="661012" y="3635999"/>
              <a:ext cx="3624549" cy="2423277"/>
            </a:xfrm>
            <a:prstGeom prst="bentArrow">
              <a:avLst>
                <a:gd name="adj1" fmla="val 18490"/>
                <a:gd name="adj2" fmla="val 19631"/>
                <a:gd name="adj3" fmla="val 25000"/>
                <a:gd name="adj4" fmla="val 43750"/>
              </a:avLst>
            </a:prstGeom>
            <a:gradFill>
              <a:gsLst>
                <a:gs pos="0">
                  <a:srgbClr val="0000FF"/>
                </a:gs>
                <a:gs pos="50000">
                  <a:schemeClr val="accent1">
                    <a:hueOff val="0"/>
                    <a:satOff val="0"/>
                    <a:lumOff val="0"/>
                    <a:alphaOff val="0"/>
                    <a:tint val="37000"/>
                    <a:satMod val="300000"/>
                  </a:schemeClr>
                </a:gs>
                <a:gs pos="100000">
                  <a:srgbClr val="002060"/>
                </a:gs>
              </a:gsLst>
              <a:lin ang="16200000" scaled="1"/>
            </a:gra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15" name="Google Shape;200;p7">
              <a:extLst>
                <a:ext uri="{FF2B5EF4-FFF2-40B4-BE49-F238E27FC236}">
                  <a16:creationId xmlns:a16="http://schemas.microsoft.com/office/drawing/2014/main" id="{24FB57AC-E823-40CB-A670-DDBD1EB18673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909012" y="1124879"/>
              <a:ext cx="865127" cy="7519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202;p7">
              <a:extLst>
                <a:ext uri="{FF2B5EF4-FFF2-40B4-BE49-F238E27FC236}">
                  <a16:creationId xmlns:a16="http://schemas.microsoft.com/office/drawing/2014/main" id="{00FBE9E5-E152-442F-AA9B-2D806A6C6183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74139" y="1207937"/>
              <a:ext cx="763873" cy="668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53883" y="2080701"/>
              <a:ext cx="1840512" cy="8683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1132" y="911276"/>
              <a:ext cx="2741396" cy="2627999"/>
            </a:xfrm>
            <a:prstGeom prst="rect">
              <a:avLst/>
            </a:prstGeom>
          </p:spPr>
        </p:pic>
        <p:sp>
          <p:nvSpPr>
            <p:cNvPr id="20" name="Bent Arrow 19"/>
            <p:cNvSpPr/>
            <p:nvPr/>
          </p:nvSpPr>
          <p:spPr>
            <a:xfrm rot="10800000" flipH="1">
              <a:off x="2060154" y="3553511"/>
              <a:ext cx="2225407" cy="1084589"/>
            </a:xfrm>
            <a:prstGeom prst="bentArrow">
              <a:avLst>
                <a:gd name="adj1" fmla="val 44544"/>
                <a:gd name="adj2" fmla="val 37678"/>
                <a:gd name="adj3" fmla="val 31375"/>
                <a:gd name="adj4" fmla="val 43750"/>
              </a:avLst>
            </a:prstGeom>
            <a:gradFill>
              <a:gsLst>
                <a:gs pos="0">
                  <a:srgbClr val="0000FF"/>
                </a:gs>
                <a:gs pos="50000">
                  <a:schemeClr val="accent1">
                    <a:hueOff val="0"/>
                    <a:satOff val="0"/>
                    <a:lumOff val="0"/>
                    <a:alphaOff val="0"/>
                    <a:tint val="37000"/>
                    <a:satMod val="300000"/>
                  </a:schemeClr>
                </a:gs>
                <a:gs pos="100000">
                  <a:srgbClr val="002060"/>
                </a:gs>
              </a:gsLst>
              <a:lin ang="16200000" scaled="1"/>
            </a:gra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316436" y="4652336"/>
              <a:ext cx="1156850" cy="142117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2" name="TextBox 21"/>
            <p:cNvSpPr txBox="1"/>
            <p:nvPr/>
          </p:nvSpPr>
          <p:spPr>
            <a:xfrm>
              <a:off x="2300791" y="3923517"/>
              <a:ext cx="1374332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RME #2 RA&amp;MR</a:t>
              </a:r>
            </a:p>
            <a:p>
              <a:pPr marL="360000" indent="-360000" eaLnBrk="0" fontAlgn="base" hangingPunct="0"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SQRA is a “standard”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9735690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8652" y="4255725"/>
          <a:ext cx="8868340" cy="1869025"/>
        </p:xfrm>
        <a:graphic>
          <a:graphicData uri="http://schemas.openxmlformats.org/drawingml/2006/table">
            <a:tbl>
              <a:tblPr/>
              <a:tblGrid>
                <a:gridCol w="899844">
                  <a:extLst>
                    <a:ext uri="{9D8B030D-6E8A-4147-A177-3AD203B41FA5}">
                      <a16:colId xmlns:a16="http://schemas.microsoft.com/office/drawing/2014/main" val="3350495733"/>
                    </a:ext>
                  </a:extLst>
                </a:gridCol>
                <a:gridCol w="899844">
                  <a:extLst>
                    <a:ext uri="{9D8B030D-6E8A-4147-A177-3AD203B41FA5}">
                      <a16:colId xmlns:a16="http://schemas.microsoft.com/office/drawing/2014/main" val="788624471"/>
                    </a:ext>
                  </a:extLst>
                </a:gridCol>
                <a:gridCol w="899844">
                  <a:extLst>
                    <a:ext uri="{9D8B030D-6E8A-4147-A177-3AD203B41FA5}">
                      <a16:colId xmlns:a16="http://schemas.microsoft.com/office/drawing/2014/main" val="1126100611"/>
                    </a:ext>
                  </a:extLst>
                </a:gridCol>
                <a:gridCol w="563757">
                  <a:extLst>
                    <a:ext uri="{9D8B030D-6E8A-4147-A177-3AD203B41FA5}">
                      <a16:colId xmlns:a16="http://schemas.microsoft.com/office/drawing/2014/main" val="894614678"/>
                    </a:ext>
                  </a:extLst>
                </a:gridCol>
                <a:gridCol w="910685">
                  <a:extLst>
                    <a:ext uri="{9D8B030D-6E8A-4147-A177-3AD203B41FA5}">
                      <a16:colId xmlns:a16="http://schemas.microsoft.com/office/drawing/2014/main" val="1436810623"/>
                    </a:ext>
                  </a:extLst>
                </a:gridCol>
                <a:gridCol w="1008259">
                  <a:extLst>
                    <a:ext uri="{9D8B030D-6E8A-4147-A177-3AD203B41FA5}">
                      <a16:colId xmlns:a16="http://schemas.microsoft.com/office/drawing/2014/main" val="1862085159"/>
                    </a:ext>
                  </a:extLst>
                </a:gridCol>
                <a:gridCol w="1040783">
                  <a:extLst>
                    <a:ext uri="{9D8B030D-6E8A-4147-A177-3AD203B41FA5}">
                      <a16:colId xmlns:a16="http://schemas.microsoft.com/office/drawing/2014/main" val="2553280483"/>
                    </a:ext>
                  </a:extLst>
                </a:gridCol>
                <a:gridCol w="1008259">
                  <a:extLst>
                    <a:ext uri="{9D8B030D-6E8A-4147-A177-3AD203B41FA5}">
                      <a16:colId xmlns:a16="http://schemas.microsoft.com/office/drawing/2014/main" val="2438800930"/>
                    </a:ext>
                  </a:extLst>
                </a:gridCol>
                <a:gridCol w="910685">
                  <a:extLst>
                    <a:ext uri="{9D8B030D-6E8A-4147-A177-3AD203B41FA5}">
                      <a16:colId xmlns:a16="http://schemas.microsoft.com/office/drawing/2014/main" val="1126472793"/>
                    </a:ext>
                  </a:extLst>
                </a:gridCol>
                <a:gridCol w="726380">
                  <a:extLst>
                    <a:ext uri="{9D8B030D-6E8A-4147-A177-3AD203B41FA5}">
                      <a16:colId xmlns:a16="http://schemas.microsoft.com/office/drawing/2014/main" val="2176342193"/>
                    </a:ext>
                  </a:extLst>
                </a:gridCol>
              </a:tblGrid>
              <a:tr h="284046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1100" b="1" i="0" u="sng" strike="noStrike">
                          <a:effectLst/>
                          <a:latin typeface="Arial" panose="020B0604020202020204" pitchFamily="34" charset="0"/>
                        </a:rPr>
                        <a:t>SEMI-QUANTITATVE RISK ASSESSMENT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011942"/>
                  </a:ext>
                </a:extLst>
              </a:tr>
              <a:tr h="8180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 panose="020B0604020202020204" pitchFamily="34" charset="0"/>
                        </a:rPr>
                        <a:t>Activity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Deviations and Concerns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Likelihood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Impact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Risk Level Before Control Measures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Control Measures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Likelihood with or after Control Measures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Impact with or after Control Measures 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Risk Level After Control Measures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Proceed? Y/N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524930"/>
                  </a:ext>
                </a:extLst>
              </a:tr>
              <a:tr h="7669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182498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0" y="900000"/>
            <a:ext cx="4223999" cy="3168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991" y="900000"/>
            <a:ext cx="4223999" cy="316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786485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Use the Risk Matrix and Risk Criteria with the SQRA: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1" name="Google Shape;1673;p24">
            <a:extLst>
              <a:ext uri="{FF2B5EF4-FFF2-40B4-BE49-F238E27FC236}">
                <a16:creationId xmlns:a16="http://schemas.microsoft.com/office/drawing/2014/main" id="{E6D15343-29FA-467F-B725-6F9EAD86FEBC}"/>
              </a:ext>
            </a:extLst>
          </p:cNvPr>
          <p:cNvSpPr>
            <a:spLocks noChangeAspect="1"/>
          </p:cNvSpPr>
          <p:nvPr/>
        </p:nvSpPr>
        <p:spPr>
          <a:xfrm>
            <a:off x="3891839" y="1751143"/>
            <a:ext cx="1212669" cy="1212669"/>
          </a:xfrm>
          <a:prstGeom prst="plus">
            <a:avLst>
              <a:gd name="adj" fmla="val 36361"/>
            </a:avLst>
          </a:prstGeom>
          <a:solidFill>
            <a:srgbClr val="0099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674;p24">
            <a:extLst>
              <a:ext uri="{FF2B5EF4-FFF2-40B4-BE49-F238E27FC236}">
                <a16:creationId xmlns:a16="http://schemas.microsoft.com/office/drawing/2014/main" id="{19F1F05F-F76F-48DD-A2B8-5A11D1B04C9B}"/>
              </a:ext>
            </a:extLst>
          </p:cNvPr>
          <p:cNvSpPr/>
          <p:nvPr/>
        </p:nvSpPr>
        <p:spPr>
          <a:xfrm rot="5400000">
            <a:off x="3808297" y="3226949"/>
            <a:ext cx="1379752" cy="1228928"/>
          </a:xfrm>
          <a:prstGeom prst="stripedRightArrow">
            <a:avLst>
              <a:gd name="adj1" fmla="val 42340"/>
              <a:gd name="adj2" fmla="val 41540"/>
            </a:avLst>
          </a:prstGeom>
          <a:solidFill>
            <a:srgbClr val="0099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291357" y="5652000"/>
            <a:ext cx="972000" cy="46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36000" y="5652000"/>
            <a:ext cx="972000" cy="46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87675" y="5663086"/>
            <a:ext cx="3898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</a:t>
            </a:r>
          </a:p>
        </p:txBody>
      </p:sp>
      <p:cxnSp>
        <p:nvCxnSpPr>
          <p:cNvPr id="62" name="Curved Connector 61"/>
          <p:cNvCxnSpPr>
            <a:stCxn id="36" idx="0"/>
            <a:endCxn id="37" idx="0"/>
          </p:cNvCxnSpPr>
          <p:nvPr/>
        </p:nvCxnSpPr>
        <p:spPr>
          <a:xfrm rot="5400000" flipH="1" flipV="1">
            <a:off x="5749678" y="3679679"/>
            <a:ext cx="12700" cy="3944643"/>
          </a:xfrm>
          <a:prstGeom prst="curvedConnector3">
            <a:avLst>
              <a:gd name="adj1" fmla="val 2580724"/>
            </a:avLst>
          </a:prstGeom>
          <a:ln w="762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5.4 Semi-Quantitative Risk Assessment and Its Integration</a:t>
            </a:r>
          </a:p>
        </p:txBody>
      </p:sp>
    </p:spTree>
    <p:extLst>
      <p:ext uri="{BB962C8B-B14F-4D97-AF65-F5344CB8AC3E}">
        <p14:creationId xmlns:p14="http://schemas.microsoft.com/office/powerpoint/2010/main" val="24219745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42900" marR="0" lvl="0" indent="-257175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A9C8F"/>
              </a:buClr>
              <a:buSzPts val="2000"/>
              <a:buFont typeface="Noto Sans Symbols"/>
              <a:buNone/>
              <a:tabLst/>
              <a:defRPr/>
            </a:pPr>
            <a:r>
              <a:rPr kumimoji="0" lang="en-CA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Key purposes of the SQRA, and when it is applied:</a:t>
            </a:r>
          </a:p>
          <a:p>
            <a:pPr marL="342900" marR="0" lvl="0" indent="-257175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A9C8F"/>
              </a:buClr>
              <a:buSzPts val="2000"/>
              <a:buFont typeface="Noto Sans Symbols"/>
              <a:buNone/>
              <a:tabLst/>
              <a:defRPr/>
            </a:pP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57200" marR="0" lvl="0" indent="-327025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arenR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It is used to assess hazards of an activity, job, or task, or installation or facility, to determine appropriate control measures in order to eliminate or control those hazards. </a:t>
            </a:r>
          </a:p>
          <a:p>
            <a:pPr marL="457200" marR="0" lvl="0" indent="-327025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arenR"/>
              <a:tabLst/>
              <a:defRPr/>
            </a:pP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57200" marR="0" lvl="0" indent="-327025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arenR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It is used during the planning stages of the activity, job, or task, or during the design and construction of the installation or facility. </a:t>
            </a:r>
          </a:p>
          <a:p>
            <a:pPr marL="457200" marR="0" lvl="0" indent="-327025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arenR"/>
              <a:tabLst/>
              <a:defRPr/>
            </a:pP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57200" marR="0" lvl="0" indent="-327025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arenR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It is used to ensure understanding of the control measures (to eliminate or mitigate the hazards) by the personnel preparing job plans, procedures, designs packages, and construction packages.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Purposes and Applications of the SQRA: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5.4 Semi-Quantitative Risk Assessment and Its Integration</a:t>
            </a:r>
          </a:p>
        </p:txBody>
      </p:sp>
    </p:spTree>
    <p:extLst>
      <p:ext uri="{BB962C8B-B14F-4D97-AF65-F5344CB8AC3E}">
        <p14:creationId xmlns:p14="http://schemas.microsoft.com/office/powerpoint/2010/main" val="2168748047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Basic Steps to Create an SQRA: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5.4 Semi-Quantitative Risk Assessment and Its Integration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8652" y="4255725"/>
          <a:ext cx="8868340" cy="1869025"/>
        </p:xfrm>
        <a:graphic>
          <a:graphicData uri="http://schemas.openxmlformats.org/drawingml/2006/table">
            <a:tbl>
              <a:tblPr/>
              <a:tblGrid>
                <a:gridCol w="899844">
                  <a:extLst>
                    <a:ext uri="{9D8B030D-6E8A-4147-A177-3AD203B41FA5}">
                      <a16:colId xmlns:a16="http://schemas.microsoft.com/office/drawing/2014/main" val="3350495733"/>
                    </a:ext>
                  </a:extLst>
                </a:gridCol>
                <a:gridCol w="899844">
                  <a:extLst>
                    <a:ext uri="{9D8B030D-6E8A-4147-A177-3AD203B41FA5}">
                      <a16:colId xmlns:a16="http://schemas.microsoft.com/office/drawing/2014/main" val="788624471"/>
                    </a:ext>
                  </a:extLst>
                </a:gridCol>
                <a:gridCol w="899844">
                  <a:extLst>
                    <a:ext uri="{9D8B030D-6E8A-4147-A177-3AD203B41FA5}">
                      <a16:colId xmlns:a16="http://schemas.microsoft.com/office/drawing/2014/main" val="1126100611"/>
                    </a:ext>
                  </a:extLst>
                </a:gridCol>
                <a:gridCol w="563757">
                  <a:extLst>
                    <a:ext uri="{9D8B030D-6E8A-4147-A177-3AD203B41FA5}">
                      <a16:colId xmlns:a16="http://schemas.microsoft.com/office/drawing/2014/main" val="894614678"/>
                    </a:ext>
                  </a:extLst>
                </a:gridCol>
                <a:gridCol w="910685">
                  <a:extLst>
                    <a:ext uri="{9D8B030D-6E8A-4147-A177-3AD203B41FA5}">
                      <a16:colId xmlns:a16="http://schemas.microsoft.com/office/drawing/2014/main" val="1436810623"/>
                    </a:ext>
                  </a:extLst>
                </a:gridCol>
                <a:gridCol w="1008259">
                  <a:extLst>
                    <a:ext uri="{9D8B030D-6E8A-4147-A177-3AD203B41FA5}">
                      <a16:colId xmlns:a16="http://schemas.microsoft.com/office/drawing/2014/main" val="1862085159"/>
                    </a:ext>
                  </a:extLst>
                </a:gridCol>
                <a:gridCol w="1040783">
                  <a:extLst>
                    <a:ext uri="{9D8B030D-6E8A-4147-A177-3AD203B41FA5}">
                      <a16:colId xmlns:a16="http://schemas.microsoft.com/office/drawing/2014/main" val="2553280483"/>
                    </a:ext>
                  </a:extLst>
                </a:gridCol>
                <a:gridCol w="1008259">
                  <a:extLst>
                    <a:ext uri="{9D8B030D-6E8A-4147-A177-3AD203B41FA5}">
                      <a16:colId xmlns:a16="http://schemas.microsoft.com/office/drawing/2014/main" val="2438800930"/>
                    </a:ext>
                  </a:extLst>
                </a:gridCol>
                <a:gridCol w="910685">
                  <a:extLst>
                    <a:ext uri="{9D8B030D-6E8A-4147-A177-3AD203B41FA5}">
                      <a16:colId xmlns:a16="http://schemas.microsoft.com/office/drawing/2014/main" val="1126472793"/>
                    </a:ext>
                  </a:extLst>
                </a:gridCol>
                <a:gridCol w="726380">
                  <a:extLst>
                    <a:ext uri="{9D8B030D-6E8A-4147-A177-3AD203B41FA5}">
                      <a16:colId xmlns:a16="http://schemas.microsoft.com/office/drawing/2014/main" val="2176342193"/>
                    </a:ext>
                  </a:extLst>
                </a:gridCol>
              </a:tblGrid>
              <a:tr h="284046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1100" b="1" i="0" u="sng" strike="noStrike">
                          <a:effectLst/>
                          <a:latin typeface="Arial" panose="020B0604020202020204" pitchFamily="34" charset="0"/>
                        </a:rPr>
                        <a:t>SEMI-QUANTITATVE RISK ASSESSMENT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011942"/>
                  </a:ext>
                </a:extLst>
              </a:tr>
              <a:tr h="8180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 panose="020B0604020202020204" pitchFamily="34" charset="0"/>
                        </a:rPr>
                        <a:t>Activity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Deviations and Concerns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Likelihood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Impact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Risk Level Before Control Measures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Control Measures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Likelihood with or after Control Measures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Impact with or after Control Measures 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Risk Level After Control Measures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Proceed? Y/N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524930"/>
                  </a:ext>
                </a:extLst>
              </a:tr>
              <a:tr h="7669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18249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91357" y="5652000"/>
            <a:ext cx="972000" cy="46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6000" y="5652000"/>
            <a:ext cx="972000" cy="46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87675" y="5663086"/>
            <a:ext cx="3898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</a:t>
            </a:r>
          </a:p>
        </p:txBody>
      </p:sp>
      <p:cxnSp>
        <p:nvCxnSpPr>
          <p:cNvPr id="14" name="Curved Connector 13"/>
          <p:cNvCxnSpPr>
            <a:stCxn id="7" idx="0"/>
            <a:endCxn id="10" idx="0"/>
          </p:cNvCxnSpPr>
          <p:nvPr/>
        </p:nvCxnSpPr>
        <p:spPr>
          <a:xfrm rot="5400000" flipH="1" flipV="1">
            <a:off x="5749678" y="3679679"/>
            <a:ext cx="12700" cy="3944643"/>
          </a:xfrm>
          <a:prstGeom prst="curvedConnector3">
            <a:avLst>
              <a:gd name="adj1" fmla="val 2580724"/>
            </a:avLst>
          </a:prstGeom>
          <a:ln w="762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arenR"/>
              <a:tabLst/>
              <a:defRPr/>
            </a:pPr>
            <a:endParaRPr kumimoji="0" lang="en-CA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arenR"/>
              <a:tabLst/>
              <a:defRPr/>
            </a:pPr>
            <a:endParaRPr kumimoji="0" lang="en-CA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arenR"/>
              <a:tabLst/>
              <a:defRPr/>
            </a:pP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Identify job and scope. 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arenR"/>
              <a:tabLst/>
              <a:defRPr/>
            </a:pP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Determine </a:t>
            </a:r>
            <a:r>
              <a:rPr kumimoji="0" lang="en-CA" sz="16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key activities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arenR"/>
              <a:tabLst/>
              <a:defRPr/>
            </a:pP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Identify </a:t>
            </a:r>
            <a:r>
              <a:rPr kumimoji="0" lang="en-CA" sz="16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deviations and concerns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associated for each key activity. </a:t>
            </a:r>
            <a:b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Use the </a:t>
            </a:r>
            <a:r>
              <a:rPr kumimoji="0" lang="en-CA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“What-If Analysis”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to determine any deviations and concerns!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arenR"/>
              <a:tabLst/>
              <a:defRPr/>
            </a:pP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Determine </a:t>
            </a:r>
            <a:r>
              <a:rPr kumimoji="0" lang="en-CA" sz="16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likelihood, impact, and risk level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posed by each deviation / concern without or </a:t>
            </a:r>
            <a:r>
              <a:rPr kumimoji="0" lang="en-CA" sz="16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before control measures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arenR"/>
              <a:tabLst/>
              <a:defRPr/>
            </a:pP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Identify suitable </a:t>
            </a:r>
            <a:r>
              <a:rPr kumimoji="0" lang="en-CA" sz="16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control measures</a:t>
            </a: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for each deviation / concern.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arenR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Determine likelihood, impact, and risk level posed with or after control measures.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arenR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Determine whether to proceed with the activity or not.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arenR"/>
              <a:tabLst/>
              <a:defRPr/>
            </a:pP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Incorporate or integrate the control measures in the job plan or engineering / design / construction package. 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arenR"/>
              <a:tabLst/>
              <a:defRPr/>
            </a:pPr>
            <a:r>
              <a:rPr kumimoji="0" lang="en-CA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During or after the job plan is being executed, or after engineering / design / construction, determine the effectiveness of the control measures.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790685" y="864000"/>
            <a:ext cx="366861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+mn-ea"/>
                <a:cs typeface="+mn-cs"/>
              </a:rPr>
              <a:t>What are you doing?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+mn-ea"/>
                <a:cs typeface="+mn-cs"/>
              </a:rPr>
              <a:t>What can go wrong?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+mn-ea"/>
                <a:cs typeface="+mn-cs"/>
              </a:rPr>
              <a:t>What are you going to do about it?</a:t>
            </a:r>
          </a:p>
        </p:txBody>
      </p:sp>
    </p:spTree>
    <p:extLst>
      <p:ext uri="{BB962C8B-B14F-4D97-AF65-F5344CB8AC3E}">
        <p14:creationId xmlns:p14="http://schemas.microsoft.com/office/powerpoint/2010/main" val="384911130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Example: Semi-Quantitative Risk Assessment:</a:t>
            </a: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5.4 Semi-Quantitative Risk Assessment and Its Integration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Remember that a control measure is typically designed to result in a reduction of likelihood or a reduction I consequence, usually not both!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aphicFrame>
        <p:nvGraphicFramePr>
          <p:cNvPr id="27" name="Google Shape;1438;p20">
            <a:extLst>
              <a:ext uri="{FF2B5EF4-FFF2-40B4-BE49-F238E27FC236}">
                <a16:creationId xmlns:a16="http://schemas.microsoft.com/office/drawing/2014/main" id="{43764B5F-4CC9-4236-92B4-213564AB3073}"/>
              </a:ext>
            </a:extLst>
          </p:cNvPr>
          <p:cNvGraphicFramePr/>
          <p:nvPr/>
        </p:nvGraphicFramePr>
        <p:xfrm>
          <a:off x="180000" y="3574459"/>
          <a:ext cx="8633401" cy="162318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66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9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36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3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4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53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73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63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62318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Operator operating within the exclusion zone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Debris from slope failure injures operator and damages machine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 sz="1800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(Occurs &lt;1X per yr, observed at other facilities)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 sz="1800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(Disabling injury or loss of life)</a:t>
                      </a:r>
                      <a:endParaRPr dirty="0"/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Install protective metal cage around cab of machine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 sz="1800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(Occurs &lt;1X per yr, observed at other facilities)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 sz="1800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(First Aid injury)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Google Shape;1430;p20">
            <a:extLst>
              <a:ext uri="{FF2B5EF4-FFF2-40B4-BE49-F238E27FC236}">
                <a16:creationId xmlns:a16="http://schemas.microsoft.com/office/drawing/2014/main" id="{AA187C55-56E0-41E2-8D45-628C0D67C0A0}"/>
              </a:ext>
            </a:extLst>
          </p:cNvPr>
          <p:cNvGraphicFramePr/>
          <p:nvPr/>
        </p:nvGraphicFramePr>
        <p:xfrm>
          <a:off x="180000" y="865208"/>
          <a:ext cx="8633402" cy="268407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66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9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36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49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68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53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73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63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0402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CC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Activity</a:t>
                      </a:r>
                      <a:endParaRPr sz="1100" b="0" i="0" u="none" strike="noStrike" cap="none" dirty="0">
                        <a:solidFill>
                          <a:srgbClr val="0033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CC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Deviation/</a:t>
                      </a:r>
                      <a:endParaRPr sz="110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CC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Concern</a:t>
                      </a:r>
                      <a:endParaRPr sz="1100" b="0" i="0" u="none" strike="noStrike" cap="none">
                        <a:solidFill>
                          <a:srgbClr val="0033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CC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Likelihood</a:t>
                      </a:r>
                      <a:endParaRPr sz="1100" b="0" i="0" u="none" strike="noStrike" cap="none" dirty="0">
                        <a:solidFill>
                          <a:srgbClr val="0033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CC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Conse-quence </a:t>
                      </a:r>
                      <a:endParaRPr sz="1100" b="0" i="0" u="none" strike="noStrike" cap="none" dirty="0">
                        <a:solidFill>
                          <a:srgbClr val="0033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CC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Risk Before Control Measures</a:t>
                      </a:r>
                      <a:endParaRPr sz="1100" b="0" i="0" u="none" strike="noStrike" cap="none" dirty="0">
                        <a:solidFill>
                          <a:srgbClr val="0033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CC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Control Measures / Safeguards</a:t>
                      </a:r>
                      <a:endParaRPr sz="1100" b="0" i="0" u="none" strike="noStrike" cap="none" dirty="0">
                        <a:solidFill>
                          <a:srgbClr val="0033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CC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100" b="1" i="0" u="none" strike="noStrike" cap="none" dirty="0" err="1">
                          <a:solidFill>
                            <a:srgbClr val="00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Likeli</a:t>
                      </a:r>
                      <a:r>
                        <a:rPr lang="en-US" sz="1100" b="1" i="0" u="none" strike="noStrike" cap="none" dirty="0">
                          <a:solidFill>
                            <a:srgbClr val="00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-hood After Control Measure</a:t>
                      </a:r>
                      <a:endParaRPr sz="1100" b="0" i="0" u="none" strike="noStrike" cap="none" dirty="0">
                        <a:solidFill>
                          <a:srgbClr val="0033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CC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Conse-quence After Control Measure </a:t>
                      </a:r>
                      <a:endParaRPr sz="1100" b="0" i="0" u="none" strike="noStrike" cap="none" dirty="0">
                        <a:solidFill>
                          <a:srgbClr val="0033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CC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Residual Risk After Control Measures</a:t>
                      </a:r>
                      <a:endParaRPr sz="1100" b="0" i="0" u="none" strike="noStrike" cap="none">
                        <a:solidFill>
                          <a:srgbClr val="0033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38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Operator operating within the exclusion zone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Debris from slope failure injures operator and damages machine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endParaRPr lang="en-US"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endParaRPr lang="en-US"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 sz="1100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(Occurs &lt;1X per yr, observed at other facilities)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endParaRPr lang="en-US"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endParaRPr lang="en-US"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 sz="1800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(Disabling injury or loss of life)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100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Institute an auditory alarm trigger for the slope monitoring system</a:t>
                      </a:r>
                      <a:endParaRPr sz="1100" dirty="0"/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 sz="1800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(Occurs &lt;1x in 10 yrs)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 sz="1800"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(Disabling injury or loss of life)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715"/>
                        <a:buFont typeface="Noto Sans Symbols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" name="Google Shape;1433;p20">
            <a:extLst>
              <a:ext uri="{FF2B5EF4-FFF2-40B4-BE49-F238E27FC236}">
                <a16:creationId xmlns:a16="http://schemas.microsoft.com/office/drawing/2014/main" id="{851C500C-A916-48A2-874B-0C1E13057784}"/>
              </a:ext>
            </a:extLst>
          </p:cNvPr>
          <p:cNvSpPr/>
          <p:nvPr/>
        </p:nvSpPr>
        <p:spPr>
          <a:xfrm>
            <a:off x="4273100" y="2291555"/>
            <a:ext cx="381800" cy="351614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1434;p20">
            <a:extLst>
              <a:ext uri="{FF2B5EF4-FFF2-40B4-BE49-F238E27FC236}">
                <a16:creationId xmlns:a16="http://schemas.microsoft.com/office/drawing/2014/main" id="{87203649-5571-4174-A53E-1648E140F275}"/>
              </a:ext>
            </a:extLst>
          </p:cNvPr>
          <p:cNvSpPr txBox="1"/>
          <p:nvPr/>
        </p:nvSpPr>
        <p:spPr>
          <a:xfrm>
            <a:off x="2166440" y="1098139"/>
            <a:ext cx="684145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From Risk Criteria Table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1435;p20">
            <a:extLst>
              <a:ext uri="{FF2B5EF4-FFF2-40B4-BE49-F238E27FC236}">
                <a16:creationId xmlns:a16="http://schemas.microsoft.com/office/drawing/2014/main" id="{71773569-8D1D-4594-A59D-20852F2C0500}"/>
              </a:ext>
            </a:extLst>
          </p:cNvPr>
          <p:cNvSpPr txBox="1"/>
          <p:nvPr/>
        </p:nvSpPr>
        <p:spPr>
          <a:xfrm>
            <a:off x="3093040" y="1236394"/>
            <a:ext cx="83820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From Risk Criteria Table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1436;p20">
            <a:extLst>
              <a:ext uri="{FF2B5EF4-FFF2-40B4-BE49-F238E27FC236}">
                <a16:creationId xmlns:a16="http://schemas.microsoft.com/office/drawing/2014/main" id="{8608DB26-491A-477C-82B0-EB3F285823BE}"/>
              </a:ext>
            </a:extLst>
          </p:cNvPr>
          <p:cNvSpPr txBox="1"/>
          <p:nvPr/>
        </p:nvSpPr>
        <p:spPr>
          <a:xfrm>
            <a:off x="4044900" y="2750780"/>
            <a:ext cx="8382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From Risk Matrix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433;p20">
            <a:extLst>
              <a:ext uri="{FF2B5EF4-FFF2-40B4-BE49-F238E27FC236}">
                <a16:creationId xmlns:a16="http://schemas.microsoft.com/office/drawing/2014/main" id="{9D6018AC-931D-406E-B27D-E02C393DE194}"/>
              </a:ext>
            </a:extLst>
          </p:cNvPr>
          <p:cNvSpPr/>
          <p:nvPr/>
        </p:nvSpPr>
        <p:spPr>
          <a:xfrm>
            <a:off x="2353074" y="1875321"/>
            <a:ext cx="427606" cy="452748"/>
          </a:xfrm>
          <a:prstGeom prst="downArrow">
            <a:avLst/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" name="Google Shape;1433;p20">
            <a:extLst>
              <a:ext uri="{FF2B5EF4-FFF2-40B4-BE49-F238E27FC236}">
                <a16:creationId xmlns:a16="http://schemas.microsoft.com/office/drawing/2014/main" id="{17F4D95A-A7BE-4A75-A153-1FC5430E645F}"/>
              </a:ext>
            </a:extLst>
          </p:cNvPr>
          <p:cNvSpPr/>
          <p:nvPr/>
        </p:nvSpPr>
        <p:spPr>
          <a:xfrm>
            <a:off x="3337247" y="1857994"/>
            <a:ext cx="427606" cy="452748"/>
          </a:xfrm>
          <a:prstGeom prst="downArrow">
            <a:avLst/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ular Callout 2"/>
          <p:cNvSpPr/>
          <p:nvPr/>
        </p:nvSpPr>
        <p:spPr>
          <a:xfrm>
            <a:off x="5046385" y="2882536"/>
            <a:ext cx="1178066" cy="598261"/>
          </a:xfrm>
          <a:prstGeom prst="wedgeRectCallout">
            <a:avLst>
              <a:gd name="adj1" fmla="val 75118"/>
              <a:gd name="adj2" fmla="val -172483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This CM reduces L</a:t>
            </a:r>
          </a:p>
        </p:txBody>
      </p:sp>
      <p:sp>
        <p:nvSpPr>
          <p:cNvPr id="16" name="Rectangular Callout 15"/>
          <p:cNvSpPr/>
          <p:nvPr/>
        </p:nvSpPr>
        <p:spPr>
          <a:xfrm>
            <a:off x="5046385" y="4553510"/>
            <a:ext cx="1178066" cy="598261"/>
          </a:xfrm>
          <a:prstGeom prst="wedgeRectCallout">
            <a:avLst>
              <a:gd name="adj1" fmla="val 139985"/>
              <a:gd name="adj2" fmla="val -162658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This CM reduces C</a:t>
            </a:r>
          </a:p>
        </p:txBody>
      </p:sp>
    </p:spTree>
    <p:extLst>
      <p:ext uri="{BB962C8B-B14F-4D97-AF65-F5344CB8AC3E}">
        <p14:creationId xmlns:p14="http://schemas.microsoft.com/office/powerpoint/2010/main" val="153552417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CA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Practical Application: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+mj-lt"/>
              <a:buAutoNum type="alphaLcParenR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each Activity, there may be one or more Deviations / Concerns.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+mj-lt"/>
              <a:buAutoNum type="alphaLcParenR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Assess the Likelihood, Impact (Consequences), and Risk Before Control Measures are implemented.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+mj-lt"/>
              <a:buAutoNum type="alphaLcParenR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Define (and implement) the Control Measures.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+mj-lt"/>
              <a:buAutoNum type="alphaLcParenR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Assess the Likelihood with or after Control Measures have been implemented.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+mj-lt"/>
              <a:buAutoNum type="alphaLcParenR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Assess the Impact with or after Control Measures have been implemented.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+mj-lt"/>
              <a:buAutoNum type="alphaLcParenR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Determine the Risk Level with or after Control Measures have been implemented, sometimes called the Residual Risk.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+mj-lt"/>
              <a:buAutoNum type="alphaLcParenR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Is this Residual Risk acceptable to Proceed?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all cases, </a:t>
            </a:r>
            <a:r>
              <a:rPr kumimoji="0" lang="en-CA" altLang="en-US" sz="1800" b="1" i="1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if</a:t>
            </a:r>
            <a:r>
              <a:rPr kumimoji="0" lang="en-CA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the control measures </a:t>
            </a:r>
            <a:r>
              <a:rPr kumimoji="0" lang="en-CA" altLang="en-US" sz="1800" b="1" i="1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are effective</a:t>
            </a:r>
            <a:r>
              <a:rPr kumimoji="0" lang="en-CA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</a:t>
            </a:r>
            <a:r>
              <a:rPr kumimoji="0" lang="en-CA" altLang="en-US" sz="1800" b="1" i="1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then</a:t>
            </a:r>
            <a:r>
              <a:rPr kumimoji="0" lang="en-CA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the residual risk level </a:t>
            </a:r>
            <a:r>
              <a:rPr kumimoji="0" lang="en-CA" altLang="en-US" sz="1800" b="1" i="1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should decrease</a:t>
            </a:r>
            <a:r>
              <a:rPr kumimoji="0" lang="en-CA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! </a:t>
            </a:r>
            <a:r>
              <a:rPr kumimoji="0" lang="en-CA" altLang="en-US" sz="1800" b="1" i="1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If</a:t>
            </a:r>
            <a:r>
              <a:rPr kumimoji="0" lang="en-CA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the control measures are </a:t>
            </a:r>
            <a:r>
              <a:rPr kumimoji="0" lang="en-CA" altLang="en-US" sz="1800" b="1" i="1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NOT effective</a:t>
            </a:r>
            <a:r>
              <a:rPr kumimoji="0" lang="en-CA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then </a:t>
            </a:r>
            <a:r>
              <a:rPr kumimoji="0" lang="en-CA" altLang="en-US" sz="1800" b="1" i="1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 change</a:t>
            </a:r>
            <a:r>
              <a:rPr kumimoji="0" lang="en-CA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786485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Example: Semi-Quantitative Risk Assessment: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88652" y="840490"/>
          <a:ext cx="8868340" cy="1869025"/>
        </p:xfrm>
        <a:graphic>
          <a:graphicData uri="http://schemas.openxmlformats.org/drawingml/2006/table">
            <a:tbl>
              <a:tblPr/>
              <a:tblGrid>
                <a:gridCol w="899844">
                  <a:extLst>
                    <a:ext uri="{9D8B030D-6E8A-4147-A177-3AD203B41FA5}">
                      <a16:colId xmlns:a16="http://schemas.microsoft.com/office/drawing/2014/main" val="3350495733"/>
                    </a:ext>
                  </a:extLst>
                </a:gridCol>
                <a:gridCol w="899844">
                  <a:extLst>
                    <a:ext uri="{9D8B030D-6E8A-4147-A177-3AD203B41FA5}">
                      <a16:colId xmlns:a16="http://schemas.microsoft.com/office/drawing/2014/main" val="788624471"/>
                    </a:ext>
                  </a:extLst>
                </a:gridCol>
                <a:gridCol w="899844">
                  <a:extLst>
                    <a:ext uri="{9D8B030D-6E8A-4147-A177-3AD203B41FA5}">
                      <a16:colId xmlns:a16="http://schemas.microsoft.com/office/drawing/2014/main" val="1126100611"/>
                    </a:ext>
                  </a:extLst>
                </a:gridCol>
                <a:gridCol w="563757">
                  <a:extLst>
                    <a:ext uri="{9D8B030D-6E8A-4147-A177-3AD203B41FA5}">
                      <a16:colId xmlns:a16="http://schemas.microsoft.com/office/drawing/2014/main" val="894614678"/>
                    </a:ext>
                  </a:extLst>
                </a:gridCol>
                <a:gridCol w="910685">
                  <a:extLst>
                    <a:ext uri="{9D8B030D-6E8A-4147-A177-3AD203B41FA5}">
                      <a16:colId xmlns:a16="http://schemas.microsoft.com/office/drawing/2014/main" val="1436810623"/>
                    </a:ext>
                  </a:extLst>
                </a:gridCol>
                <a:gridCol w="1008259">
                  <a:extLst>
                    <a:ext uri="{9D8B030D-6E8A-4147-A177-3AD203B41FA5}">
                      <a16:colId xmlns:a16="http://schemas.microsoft.com/office/drawing/2014/main" val="1862085159"/>
                    </a:ext>
                  </a:extLst>
                </a:gridCol>
                <a:gridCol w="1040783">
                  <a:extLst>
                    <a:ext uri="{9D8B030D-6E8A-4147-A177-3AD203B41FA5}">
                      <a16:colId xmlns:a16="http://schemas.microsoft.com/office/drawing/2014/main" val="2553280483"/>
                    </a:ext>
                  </a:extLst>
                </a:gridCol>
                <a:gridCol w="1008259">
                  <a:extLst>
                    <a:ext uri="{9D8B030D-6E8A-4147-A177-3AD203B41FA5}">
                      <a16:colId xmlns:a16="http://schemas.microsoft.com/office/drawing/2014/main" val="2438800930"/>
                    </a:ext>
                  </a:extLst>
                </a:gridCol>
                <a:gridCol w="910685">
                  <a:extLst>
                    <a:ext uri="{9D8B030D-6E8A-4147-A177-3AD203B41FA5}">
                      <a16:colId xmlns:a16="http://schemas.microsoft.com/office/drawing/2014/main" val="1126472793"/>
                    </a:ext>
                  </a:extLst>
                </a:gridCol>
                <a:gridCol w="726380">
                  <a:extLst>
                    <a:ext uri="{9D8B030D-6E8A-4147-A177-3AD203B41FA5}">
                      <a16:colId xmlns:a16="http://schemas.microsoft.com/office/drawing/2014/main" val="2176342193"/>
                    </a:ext>
                  </a:extLst>
                </a:gridCol>
              </a:tblGrid>
              <a:tr h="284046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1100" b="1" i="0" u="sng" strike="noStrike">
                          <a:effectLst/>
                          <a:latin typeface="Arial" panose="020B0604020202020204" pitchFamily="34" charset="0"/>
                        </a:rPr>
                        <a:t>SEMI-QUANTITATVE RISK ASSESSMENT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011942"/>
                  </a:ext>
                </a:extLst>
              </a:tr>
              <a:tr h="8180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 panose="020B0604020202020204" pitchFamily="34" charset="0"/>
                        </a:rPr>
                        <a:t>Activity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Deviations and Concerns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Likelihood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Impact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Risk Level Before Control Measures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Control Measures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Likelihood with or after Control Measures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Impact with or after Control Measures 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Risk Level After Control Measures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Proceed? Y/N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524930"/>
                  </a:ext>
                </a:extLst>
              </a:tr>
              <a:tr h="7669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821" marR="4821" marT="48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182498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91357" y="2236765"/>
            <a:ext cx="972000" cy="46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6000" y="2236765"/>
            <a:ext cx="972000" cy="46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87675" y="2247851"/>
            <a:ext cx="3898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</a:t>
            </a:r>
          </a:p>
        </p:txBody>
      </p:sp>
      <p:cxnSp>
        <p:nvCxnSpPr>
          <p:cNvPr id="21" name="Curved Connector 20"/>
          <p:cNvCxnSpPr>
            <a:stCxn id="18" idx="0"/>
            <a:endCxn id="19" idx="0"/>
          </p:cNvCxnSpPr>
          <p:nvPr/>
        </p:nvCxnSpPr>
        <p:spPr>
          <a:xfrm rot="5400000" flipH="1" flipV="1">
            <a:off x="5749678" y="264444"/>
            <a:ext cx="12700" cy="3944643"/>
          </a:xfrm>
          <a:prstGeom prst="curvedConnector3">
            <a:avLst>
              <a:gd name="adj1" fmla="val 2580724"/>
            </a:avLst>
          </a:prstGeom>
          <a:ln w="762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5.4 Semi-Quantitative Risk Assessment and Its Integration</a:t>
            </a:r>
          </a:p>
        </p:txBody>
      </p:sp>
    </p:spTree>
    <p:extLst>
      <p:ext uri="{BB962C8B-B14F-4D97-AF65-F5344CB8AC3E}">
        <p14:creationId xmlns:p14="http://schemas.microsoft.com/office/powerpoint/2010/main" val="579696519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arenR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arenR"/>
              <a:tabLst/>
              <a:defRPr/>
            </a:pPr>
            <a:r>
              <a:rPr kumimoji="0" lang="en-US" altLang="en-US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the SQRA to reduce risks to acceptable levels, and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arenR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arenR"/>
              <a:tabLst/>
              <a:defRPr/>
            </a:pPr>
            <a:r>
              <a:rPr kumimoji="0" lang="en-US" altLang="en-US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Coach and mentor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others in its effective use.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SQRA as a Leadership Tool: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08D308-443E-4056-AF5E-AEFC5B070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117" y="2273820"/>
            <a:ext cx="3985902" cy="3656791"/>
          </a:xfrm>
          <a:prstGeom prst="rect">
            <a:avLst/>
          </a:prstGeom>
        </p:spPr>
      </p:pic>
      <p:sp>
        <p:nvSpPr>
          <p:cNvPr id="24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5.4 Semi-Quantitative Risk Assessment and Its Integration</a:t>
            </a:r>
          </a:p>
        </p:txBody>
      </p:sp>
    </p:spTree>
    <p:extLst>
      <p:ext uri="{BB962C8B-B14F-4D97-AF65-F5344CB8AC3E}">
        <p14:creationId xmlns:p14="http://schemas.microsoft.com/office/powerpoint/2010/main" val="2262295887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Integration of The RMWP, CM’s, &amp; RA Tools: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5.4 Semi-Quantitative Risk Assessment and Its Integration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80000" y="828000"/>
            <a:ext cx="8640000" cy="5328000"/>
            <a:chOff x="180000" y="828000"/>
            <a:chExt cx="8640000" cy="5328000"/>
          </a:xfrm>
        </p:grpSpPr>
        <p:sp>
          <p:nvSpPr>
            <p:cNvPr id="5" name="Bent Arrow 4"/>
            <p:cNvSpPr/>
            <p:nvPr/>
          </p:nvSpPr>
          <p:spPr>
            <a:xfrm rot="5400000">
              <a:off x="4522490" y="-754182"/>
              <a:ext cx="1727664" cy="6320756"/>
            </a:xfrm>
            <a:prstGeom prst="bentArrow">
              <a:avLst/>
            </a:prstGeom>
            <a:gradFill>
              <a:gsLst>
                <a:gs pos="0">
                  <a:srgbClr val="0000FF"/>
                </a:gs>
                <a:gs pos="50000">
                  <a:schemeClr val="accent1">
                    <a:hueOff val="0"/>
                    <a:satOff val="0"/>
                    <a:lumOff val="0"/>
                    <a:alphaOff val="0"/>
                    <a:tint val="37000"/>
                    <a:satMod val="300000"/>
                  </a:schemeClr>
                </a:gs>
                <a:gs pos="100000">
                  <a:srgbClr val="002060"/>
                </a:gs>
              </a:gsLst>
              <a:lin ang="16200000" scaled="1"/>
            </a:gra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" name="Rectangle 3"/>
            <p:cNvSpPr>
              <a:spLocks noChangeArrowheads="1"/>
            </p:cNvSpPr>
            <p:nvPr/>
          </p:nvSpPr>
          <p:spPr bwMode="auto">
            <a:xfrm>
              <a:off x="180000" y="828000"/>
              <a:ext cx="8640000" cy="532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lvl1pPr marL="609600" indent="-609600">
                <a:lnSpc>
                  <a:spcPct val="12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marL="432000" marR="0" lvl="0" indent="-4320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  <a:p>
              <a:pPr marL="432000" marR="0" lvl="0" indent="-4320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  <a:p>
              <a:pPr marL="432000" marR="0" lvl="0" indent="-4320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  <a:p>
              <a:pPr marL="432000" marR="0" lvl="0" indent="-4320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  <a:p>
              <a:pPr marL="432000" marR="0" lvl="0" indent="-4320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  <a:p>
              <a:pPr marL="432000" marR="0" lvl="0" indent="-43200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  <a:p>
              <a:pPr marL="432000" marR="0" lvl="0" indent="-432000" algn="r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41305" y="986568"/>
              <a:ext cx="1403595" cy="2283460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87717" y="3434598"/>
              <a:ext cx="4425683" cy="272140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4" name="Bent Arrow 13"/>
            <p:cNvSpPr/>
            <p:nvPr/>
          </p:nvSpPr>
          <p:spPr>
            <a:xfrm rot="10800000" flipH="1">
              <a:off x="661012" y="3635999"/>
              <a:ext cx="3624549" cy="2423277"/>
            </a:xfrm>
            <a:prstGeom prst="bentArrow">
              <a:avLst>
                <a:gd name="adj1" fmla="val 18490"/>
                <a:gd name="adj2" fmla="val 19631"/>
                <a:gd name="adj3" fmla="val 25000"/>
                <a:gd name="adj4" fmla="val 43750"/>
              </a:avLst>
            </a:prstGeom>
            <a:gradFill>
              <a:gsLst>
                <a:gs pos="0">
                  <a:srgbClr val="0000FF"/>
                </a:gs>
                <a:gs pos="50000">
                  <a:schemeClr val="accent1">
                    <a:hueOff val="0"/>
                    <a:satOff val="0"/>
                    <a:lumOff val="0"/>
                    <a:alphaOff val="0"/>
                    <a:tint val="37000"/>
                    <a:satMod val="300000"/>
                  </a:schemeClr>
                </a:gs>
                <a:gs pos="100000">
                  <a:srgbClr val="002060"/>
                </a:gs>
              </a:gsLst>
              <a:lin ang="16200000" scaled="1"/>
            </a:gra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15" name="Google Shape;200;p7">
              <a:extLst>
                <a:ext uri="{FF2B5EF4-FFF2-40B4-BE49-F238E27FC236}">
                  <a16:creationId xmlns:a16="http://schemas.microsoft.com/office/drawing/2014/main" id="{24FB57AC-E823-40CB-A670-DDBD1EB18673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909012" y="1124879"/>
              <a:ext cx="865127" cy="7519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202;p7">
              <a:extLst>
                <a:ext uri="{FF2B5EF4-FFF2-40B4-BE49-F238E27FC236}">
                  <a16:creationId xmlns:a16="http://schemas.microsoft.com/office/drawing/2014/main" id="{00FBE9E5-E152-442F-AA9B-2D806A6C6183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74139" y="1207937"/>
              <a:ext cx="763873" cy="668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53883" y="2080701"/>
              <a:ext cx="1840512" cy="8683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1132" y="911276"/>
              <a:ext cx="2741396" cy="2627999"/>
            </a:xfrm>
            <a:prstGeom prst="rect">
              <a:avLst/>
            </a:prstGeom>
          </p:spPr>
        </p:pic>
        <p:sp>
          <p:nvSpPr>
            <p:cNvPr id="20" name="Bent Arrow 19"/>
            <p:cNvSpPr/>
            <p:nvPr/>
          </p:nvSpPr>
          <p:spPr>
            <a:xfrm rot="10800000" flipH="1">
              <a:off x="2060154" y="3553511"/>
              <a:ext cx="2225407" cy="1084589"/>
            </a:xfrm>
            <a:prstGeom prst="bentArrow">
              <a:avLst>
                <a:gd name="adj1" fmla="val 44544"/>
                <a:gd name="adj2" fmla="val 37678"/>
                <a:gd name="adj3" fmla="val 31375"/>
                <a:gd name="adj4" fmla="val 43750"/>
              </a:avLst>
            </a:prstGeom>
            <a:gradFill>
              <a:gsLst>
                <a:gs pos="0">
                  <a:srgbClr val="0000FF"/>
                </a:gs>
                <a:gs pos="50000">
                  <a:schemeClr val="accent1">
                    <a:hueOff val="0"/>
                    <a:satOff val="0"/>
                    <a:lumOff val="0"/>
                    <a:alphaOff val="0"/>
                    <a:tint val="37000"/>
                    <a:satMod val="300000"/>
                  </a:schemeClr>
                </a:gs>
                <a:gs pos="100000">
                  <a:srgbClr val="002060"/>
                </a:gs>
              </a:gsLst>
              <a:lin ang="16200000" scaled="1"/>
            </a:gra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316436" y="4652336"/>
              <a:ext cx="1156850" cy="142117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2" name="TextBox 21"/>
            <p:cNvSpPr txBox="1"/>
            <p:nvPr/>
          </p:nvSpPr>
          <p:spPr>
            <a:xfrm>
              <a:off x="2300791" y="3923517"/>
              <a:ext cx="1374332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RME #2 RA&amp;MR</a:t>
              </a:r>
            </a:p>
            <a:p>
              <a:pPr marL="360000" indent="-360000" eaLnBrk="0" fontAlgn="base" hangingPunct="0">
                <a:spcAft>
                  <a:spcPct val="0"/>
                </a:spcAft>
                <a:buSzPct val="100000"/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SQRA is a “standard”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02651061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Summary and Key</a:t>
            </a:r>
            <a:r>
              <a:rPr kumimoji="0" lang="en-US" altLang="en-US" sz="2400" b="0" i="0" u="none" strike="noStrike" kern="1200" cap="none" spc="0" normalizeH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Lessons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SQ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RA:</a:t>
            </a: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Used well in advance of and part of the planning process for work activities, or during the engineering / design / construction of installations and facilities.</a:t>
            </a: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One of many different risk assessment tool; 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Systematically identifies hazards and specifies appropriate control measures.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be complemented with the application of incident models i.e. knowledge-based and discovery-based approaches for hazard identification.</a:t>
            </a: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 your expertise to coach others!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5.4 Semi-Quantitative Risk Assessment and Its Integration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108D308-443E-4056-AF5E-AEFC5B070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077" y="2951244"/>
            <a:ext cx="1798589" cy="165008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7852" y="5109748"/>
            <a:ext cx="4876269" cy="120256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509" y="2787269"/>
            <a:ext cx="4012478" cy="2478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1825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1296</TotalTime>
  <Words>2743</Words>
  <Application>Microsoft Office PowerPoint</Application>
  <PresentationFormat>On-screen Show (4:3)</PresentationFormat>
  <Paragraphs>536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Noto Sans Symbols</vt:lpstr>
      <vt:lpstr>Arial</vt:lpstr>
      <vt:lpstr>Calibri</vt:lpstr>
      <vt:lpstr>Times New Roman</vt:lpstr>
      <vt:lpstr>Wingdings</vt:lpstr>
      <vt:lpstr>Default Design</vt:lpstr>
      <vt:lpstr>1_Default Design</vt:lpstr>
      <vt:lpstr>2_Default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Faculty of engineering, University of Alberta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JR Cocchio</dc:creator>
  <cp:lastModifiedBy>Li Dekr0</cp:lastModifiedBy>
  <cp:revision>100</cp:revision>
  <cp:lastPrinted>2022-06-02T03:45:41Z</cp:lastPrinted>
  <dcterms:created xsi:type="dcterms:W3CDTF">2020-05-24T15:55:07Z</dcterms:created>
  <dcterms:modified xsi:type="dcterms:W3CDTF">2022-06-02T03:45:43Z</dcterms:modified>
</cp:coreProperties>
</file>