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Lst>
  <p:notesMasterIdLst>
    <p:notesMasterId r:id="rId24"/>
  </p:notesMasterIdLst>
  <p:handoutMasterIdLst>
    <p:handoutMasterId r:id="rId25"/>
  </p:handoutMasterIdLst>
  <p:sldIdLst>
    <p:sldId id="935" r:id="rId3"/>
    <p:sldId id="880" r:id="rId4"/>
    <p:sldId id="951" r:id="rId5"/>
    <p:sldId id="952" r:id="rId6"/>
    <p:sldId id="925" r:id="rId7"/>
    <p:sldId id="926" r:id="rId8"/>
    <p:sldId id="927" r:id="rId9"/>
    <p:sldId id="934" r:id="rId10"/>
    <p:sldId id="933" r:id="rId11"/>
    <p:sldId id="928" r:id="rId12"/>
    <p:sldId id="932" r:id="rId13"/>
    <p:sldId id="937" r:id="rId14"/>
    <p:sldId id="939" r:id="rId15"/>
    <p:sldId id="922" r:id="rId16"/>
    <p:sldId id="923" r:id="rId17"/>
    <p:sldId id="945" r:id="rId18"/>
    <p:sldId id="953" r:id="rId19"/>
    <p:sldId id="954" r:id="rId20"/>
    <p:sldId id="955" r:id="rId21"/>
    <p:sldId id="956" r:id="rId22"/>
    <p:sldId id="957" r:id="rId23"/>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935"/>
            <p14:sldId id="880"/>
            <p14:sldId id="951"/>
            <p14:sldId id="952"/>
            <p14:sldId id="925"/>
            <p14:sldId id="926"/>
            <p14:sldId id="927"/>
            <p14:sldId id="934"/>
            <p14:sldId id="933"/>
            <p14:sldId id="928"/>
            <p14:sldId id="932"/>
            <p14:sldId id="937"/>
            <p14:sldId id="939"/>
            <p14:sldId id="922"/>
            <p14:sldId id="923"/>
            <p14:sldId id="945"/>
            <p14:sldId id="953"/>
            <p14:sldId id="954"/>
            <p14:sldId id="955"/>
            <p14:sldId id="956"/>
            <p14:sldId id="957"/>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0000CC"/>
    <a:srgbClr val="F8F8F8"/>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9" autoAdjust="0"/>
    <p:restoredTop sz="98116" autoAdjust="0"/>
  </p:normalViewPr>
  <p:slideViewPr>
    <p:cSldViewPr>
      <p:cViewPr varScale="1">
        <p:scale>
          <a:sx n="43" d="100"/>
          <a:sy n="43" d="100"/>
        </p:scale>
        <p:origin x="1044" y="48"/>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0" d="100"/>
        <a:sy n="140" d="100"/>
      </p:scale>
      <p:origin x="0" y="-3944"/>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2/18/2022</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2/18/2022</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xfrm>
            <a:off x="1181100" y="698500"/>
            <a:ext cx="4648200"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78930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0869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90774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9802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08857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39922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965457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93141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5117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20446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0771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ct val="0"/>
              </a:spcBef>
              <a:spcAft>
                <a:spcPts val="0"/>
              </a:spcAft>
              <a:buClr>
                <a:srgbClr val="000000"/>
              </a:buClr>
              <a:buSzTx/>
              <a:buFont typeface="Arial"/>
              <a:buNone/>
              <a:tabLst/>
              <a:defRPr/>
            </a:pPr>
            <a:fld id="{C41DADFD-3BE4-4AB0-B910-544CAFF0BCC2}" type="slidenum">
              <a:rPr kumimoji="0" lang="en-US" altLang="en-US" sz="12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auto" latinLnBrk="0" hangingPunct="1">
                <a:lnSpc>
                  <a:spcPct val="100000"/>
                </a:lnSpc>
                <a:spcBef>
                  <a:spcPct val="0"/>
                </a:spcBef>
                <a:spcAft>
                  <a:spcPts val="0"/>
                </a:spcAft>
                <a:buClr>
                  <a:srgbClr val="000000"/>
                </a:buClr>
                <a:buSzTx/>
                <a:buFont typeface="Arial"/>
                <a:buNone/>
                <a:tabLst/>
                <a:defRPr/>
              </a:pPr>
              <a:t>13</a:t>
            </a:fld>
            <a:endParaRPr kumimoji="0" lang="en-US" altLang="en-US" sz="12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32222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344248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84419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54447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28568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62849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54947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3047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7564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2/18/2022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630666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89222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2575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53118CC2-884A-4430-8B4F-9976F3C29C24}" type="datetimeFigureOut">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2/18/2022</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91823322-A425-42F9-B4E6-DE1BA6748FF3}" type="slidenum">
              <a:rPr kumimoji="0" lang="en-US" alt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lang="en-US" altLang="en-US"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00961469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944354"/>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80000" y="864000"/>
            <a:ext cx="882000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180000" y="2412000"/>
            <a:ext cx="8820000"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marL="0" indent="0" algn="ctr" eaLnBrk="1" hangingPunct="1">
              <a:spcBef>
                <a:spcPct val="0"/>
              </a:spcBef>
              <a:buNone/>
            </a:pPr>
            <a:r>
              <a:rPr lang="en-CA" altLang="en-US"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a:t>
            </a:r>
            <a:r>
              <a:rPr lang="fr-FR" altLang="en-US"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t>
            </a:r>
            <a:r>
              <a:rPr lang="fr-FR" altLang="en-US"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3.3: RME #6 PECI</a:t>
            </a:r>
            <a:br>
              <a:rPr lang="fr-FR" altLang="en-US"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fr-FR" altLang="en-US"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(Program Evaluation &amp; </a:t>
            </a:r>
            <a:r>
              <a:rPr lang="en-CA" altLang="en-US"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Continuous</a:t>
            </a:r>
            <a:r>
              <a:rPr lang="fr-FR" altLang="en-US"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t>
            </a:r>
            <a:r>
              <a:rPr lang="en-CA" altLang="en-US"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Improvement</a:t>
            </a:r>
            <a:r>
              <a:rPr lang="fr-FR" altLang="en-US"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a:t>
            </a:r>
            <a:endParaRPr lang="fr-FR" altLang="en-US"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35000" y="108000"/>
            <a:ext cx="9918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Fundamentals of Risk Management</a:t>
            </a:r>
          </a:p>
        </p:txBody>
      </p:sp>
      <p:sp>
        <p:nvSpPr>
          <p:cNvPr id="10" name="TextBox 9">
            <a:extLst>
              <a:ext uri="{FF2B5EF4-FFF2-40B4-BE49-F238E27FC236}">
                <a16:creationId xmlns:a16="http://schemas.microsoft.com/office/drawing/2014/main" id="{7618FDCA-D6EA-3540-8AE2-F6CD31336ABE}"/>
              </a:ext>
            </a:extLst>
          </p:cNvPr>
          <p:cNvSpPr txBox="1"/>
          <p:nvPr/>
        </p:nvSpPr>
        <p:spPr>
          <a:xfrm>
            <a:off x="1215000" y="108000"/>
            <a:ext cx="900000" cy="540000"/>
          </a:xfrm>
          <a:prstGeom prst="rect">
            <a:avLst/>
          </a:prstGeom>
          <a:solidFill>
            <a:srgbClr val="FFFF00"/>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RM System, Process, &amp; Program</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695000" y="108000"/>
            <a:ext cx="9918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Applications &amp;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445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People &amp; Organizations</a:t>
            </a:r>
          </a:p>
        </p:txBody>
      </p:sp>
      <p:sp>
        <p:nvSpPr>
          <p:cNvPr id="13" name="TextBox 12">
            <a:extLst>
              <a:ext uri="{FF2B5EF4-FFF2-40B4-BE49-F238E27FC236}">
                <a16:creationId xmlns:a16="http://schemas.microsoft.com/office/drawing/2014/main" id="{00457A8C-8AD1-BC48-A393-2CA6461462C7}"/>
              </a:ext>
            </a:extLst>
          </p:cNvPr>
          <p:cNvSpPr txBox="1"/>
          <p:nvPr/>
        </p:nvSpPr>
        <p:spPr>
          <a:xfrm>
            <a:off x="2295000" y="108000"/>
            <a:ext cx="900000" cy="540000"/>
          </a:xfrm>
          <a:prstGeom prst="rect">
            <a:avLst/>
          </a:prstGeom>
          <a:solidFill>
            <a:srgbClr val="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Incident Investigation &amp; Analysis</a:t>
            </a:r>
          </a:p>
        </p:txBody>
      </p:sp>
      <p:sp>
        <p:nvSpPr>
          <p:cNvPr id="14" name="TextBox 13">
            <a:extLst>
              <a:ext uri="{FF2B5EF4-FFF2-40B4-BE49-F238E27FC236}">
                <a16:creationId xmlns:a16="http://schemas.microsoft.com/office/drawing/2014/main" id="{D7E14612-2C60-CA49-88DC-A40274E52BE8}"/>
              </a:ext>
            </a:extLst>
          </p:cNvPr>
          <p:cNvSpPr txBox="1"/>
          <p:nvPr/>
        </p:nvSpPr>
        <p:spPr>
          <a:xfrm>
            <a:off x="3375000" y="108000"/>
            <a:ext cx="810000" cy="540000"/>
          </a:xfrm>
          <a:prstGeom prst="rect">
            <a:avLst/>
          </a:prstGeom>
          <a:solidFill>
            <a:srgbClr val="FFFF00"/>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6615000" y="108000"/>
            <a:ext cx="810000" cy="540000"/>
          </a:xfrm>
          <a:prstGeom prst="rect">
            <a:avLst/>
          </a:prstGeom>
          <a:solidFill>
            <a:srgbClr val="FFFF00"/>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Leadership in RM</a:t>
            </a:r>
          </a:p>
        </p:txBody>
      </p:sp>
      <p:sp>
        <p:nvSpPr>
          <p:cNvPr id="23" name="TextBox 22">
            <a:extLst>
              <a:ext uri="{FF2B5EF4-FFF2-40B4-BE49-F238E27FC236}">
                <a16:creationId xmlns:a16="http://schemas.microsoft.com/office/drawing/2014/main" id="{E97011C2-9A0B-664B-83CB-DE2410B86B87}"/>
              </a:ext>
            </a:extLst>
          </p:cNvPr>
          <p:cNvSpPr txBox="1"/>
          <p:nvPr/>
        </p:nvSpPr>
        <p:spPr>
          <a:xfrm>
            <a:off x="553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RM as Applied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000" y="4320000"/>
            <a:ext cx="1800000" cy="1800000"/>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0313" y="4320000"/>
            <a:ext cx="2638887" cy="1800000"/>
          </a:xfrm>
          <a:prstGeom prst="rect">
            <a:avLst/>
          </a:prstGeom>
        </p:spPr>
      </p:pic>
      <p:cxnSp>
        <p:nvCxnSpPr>
          <p:cNvPr id="5" name="Straight Arrow Connector 4"/>
          <p:cNvCxnSpPr>
            <a:stCxn id="9" idx="3"/>
            <a:endCxn id="10" idx="1"/>
          </p:cNvCxnSpPr>
          <p:nvPr/>
        </p:nvCxnSpPr>
        <p:spPr>
          <a:xfrm>
            <a:off x="1126800" y="378000"/>
            <a:ext cx="882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0" idx="3"/>
            <a:endCxn id="13" idx="1"/>
          </p:cNvCxnSpPr>
          <p:nvPr/>
        </p:nvCxnSpPr>
        <p:spPr>
          <a:xfrm>
            <a:off x="211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3"/>
            <a:endCxn id="14" idx="1"/>
          </p:cNvCxnSpPr>
          <p:nvPr/>
        </p:nvCxnSpPr>
        <p:spPr>
          <a:xfrm>
            <a:off x="319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4" idx="3"/>
            <a:endCxn id="12" idx="1"/>
          </p:cNvCxnSpPr>
          <p:nvPr/>
        </p:nvCxnSpPr>
        <p:spPr>
          <a:xfrm>
            <a:off x="4185000" y="378000"/>
            <a:ext cx="27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12" idx="3"/>
            <a:endCxn id="23" idx="1"/>
          </p:cNvCxnSpPr>
          <p:nvPr/>
        </p:nvCxnSpPr>
        <p:spPr>
          <a:xfrm>
            <a:off x="535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3" idx="3"/>
            <a:endCxn id="15" idx="1"/>
          </p:cNvCxnSpPr>
          <p:nvPr/>
        </p:nvCxnSpPr>
        <p:spPr>
          <a:xfrm>
            <a:off x="643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15" idx="3"/>
            <a:endCxn id="11" idx="1"/>
          </p:cNvCxnSpPr>
          <p:nvPr/>
        </p:nvCxnSpPr>
        <p:spPr>
          <a:xfrm>
            <a:off x="7425000" y="378000"/>
            <a:ext cx="27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23615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purpose of the RMS element “Program Evaluation and Continuous Improvement” (PECI)</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significance of the PECI element in a Risk Management System.</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Apply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Formal Audit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b="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Special NOTE to Students: </a:t>
            </a:r>
          </a:p>
          <a:p>
            <a:pPr marL="0" indent="0" eaLnBrk="0" hangingPunct="0">
              <a:lnSpc>
                <a:spcPct val="100000"/>
              </a:lnSpc>
              <a:spcBef>
                <a:spcPts val="0"/>
              </a:spcBef>
              <a:buClr>
                <a:srgbClr val="000000"/>
              </a:buClr>
              <a:buSzPct val="100000"/>
              <a:buNone/>
            </a:pPr>
            <a:r>
              <a:rPr lang="en-US" altLang="en-US" b="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The c</a:t>
            </a:r>
            <a:r>
              <a:rPr lang="en-US" altLang="en-US" b="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ontent in </a:t>
            </a:r>
            <a:r>
              <a:rPr lang="en-US" altLang="en-US"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Topic #21</a:t>
            </a:r>
            <a:r>
              <a:rPr lang="en-US" altLang="en-US"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 Ch3.3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RMS Elements Part </a:t>
            </a:r>
            <a:r>
              <a:rPr lang="en-US" altLang="en-US"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2</a:t>
            </a:r>
            <a:r>
              <a:rPr lang="en-US" altLang="en-US" b="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 has been updated. Retrieve the latest version if you have down-loaded to your personal drive.  </a:t>
            </a:r>
            <a:endParaRPr lang="en-US" altLang="en-US" b="0" dirty="0">
              <a:solidFill>
                <a:srgbClr val="FF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fr-FR" sz="1200" i="1" kern="0" dirty="0" err="1" smtClean="0">
                <a:solidFill>
                  <a:srgbClr val="000000"/>
                </a:solidFill>
                <a:ea typeface="Times New Roman"/>
                <a:cs typeface="Arial" panose="020B0604020202020204" pitchFamily="34" charset="0"/>
                <a:sym typeface="Times New Roman"/>
              </a:rPr>
              <a:t>Chapter</a:t>
            </a:r>
            <a:r>
              <a:rPr lang="fr-FR" sz="1200" i="1" kern="0" dirty="0" smtClean="0">
                <a:solidFill>
                  <a:srgbClr val="000000"/>
                </a:solidFill>
                <a:ea typeface="Times New Roman"/>
                <a:cs typeface="Arial" panose="020B0604020202020204" pitchFamily="34" charset="0"/>
                <a:sym typeface="Times New Roman"/>
              </a:rPr>
              <a:t> 3.3: RME #6 PECI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name implies, PECI is the element that defines what management must evaluate in their risk management program in order to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determine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effectiveness of individual management system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elements/programs and improve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those elements/program</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PECI is essentially the program element that manages the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auditing</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all parts of the risk management program;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it is an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evaluation or audit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the organization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tenets of Program Evaluation and Continuous Improvement: </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proactive</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 to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continuously improve</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over risk management program.</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Some </a:t>
            </a:r>
            <a:r>
              <a:rPr lang="en-US" altLang="en-US" sz="14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content in the Textbook may refer to an audit as a “planned inspection at the organizational level</a:t>
            </a:r>
            <a:r>
              <a:rPr lang="en-US" altLang="en-US" sz="14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CA" sz="1200" i="1" kern="0" dirty="0" smtClean="0">
                <a:solidFill>
                  <a:srgbClr val="000000"/>
                </a:solidFill>
                <a:ea typeface="Times New Roman"/>
                <a:cs typeface="Arial" panose="020B0604020202020204" pitchFamily="34" charset="0"/>
                <a:sym typeface="Times New Roman"/>
              </a:rPr>
              <a:t>Chapter</a:t>
            </a:r>
            <a:r>
              <a:rPr lang="fr-FR" sz="1200" i="1" kern="0" dirty="0" smtClean="0">
                <a:solidFill>
                  <a:srgbClr val="000000"/>
                </a:solidFill>
                <a:ea typeface="Times New Roman"/>
                <a:cs typeface="Arial" panose="020B0604020202020204" pitchFamily="34" charset="0"/>
                <a:sym typeface="Times New Roman"/>
              </a:rPr>
              <a:t> </a:t>
            </a:r>
            <a:r>
              <a:rPr lang="fr-FR" sz="1200" i="1" kern="0" dirty="0" smtClean="0">
                <a:solidFill>
                  <a:srgbClr val="000000"/>
                </a:solidFill>
                <a:ea typeface="Times New Roman"/>
                <a:cs typeface="Arial" panose="020B0604020202020204" pitchFamily="34" charset="0"/>
                <a:sym typeface="Times New Roman"/>
              </a:rPr>
              <a:t>3.3: RME #6 PECI</a:t>
            </a:r>
            <a:endParaRPr lang="en-US" sz="1200" i="1" kern="0" dirty="0">
              <a:solidFill>
                <a:srgbClr val="000000"/>
              </a:solidFill>
              <a:ea typeface="Times New Roman"/>
              <a:cs typeface="Arial" panose="020B0604020202020204" pitchFamily="34" charset="0"/>
              <a:sym typeface="Times New Roman"/>
            </a:endParaRPr>
          </a:p>
        </p:txBody>
      </p:sp>
      <p:sp>
        <p:nvSpPr>
          <p:cNvPr id="2" name="TextBox 1"/>
          <p:cNvSpPr txBox="1"/>
          <p:nvPr/>
        </p:nvSpPr>
        <p:spPr>
          <a:xfrm>
            <a:off x="180000" y="4419600"/>
            <a:ext cx="8640000" cy="2031325"/>
          </a:xfrm>
          <a:prstGeom prst="rect">
            <a:avLst/>
          </a:prstGeom>
          <a:solidFill>
            <a:schemeClr val="tx1"/>
          </a:solidFill>
          <a:ln>
            <a:solidFill>
              <a:schemeClr val="tx1"/>
            </a:solidFill>
          </a:ln>
        </p:spPr>
        <p:txBody>
          <a:bodyPr wrap="square" rtlCol="0">
            <a:spAutoFit/>
          </a:bodyPr>
          <a:lstStyle/>
          <a:p>
            <a:pPr marL="360000" lvl="0" indent="-360000" eaLnBrk="0" hangingPunct="0">
              <a:lnSpc>
                <a:spcPct val="90000"/>
              </a:lnSpc>
              <a:spcBef>
                <a:spcPts val="0"/>
              </a:spcBef>
              <a:buSzPct val="100000"/>
              <a:buFont typeface="Wingdings" panose="05000000000000000000" pitchFamily="2" charset="2"/>
              <a:buChar char="Ø"/>
            </a:pPr>
            <a:r>
              <a:rPr lang="en-US" altLang="en-US" sz="20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Do </a:t>
            </a:r>
            <a:r>
              <a:rPr lang="en-US" altLang="en-US" sz="20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NOT confuse </a:t>
            </a:r>
            <a:r>
              <a:rPr lang="en-US" altLang="en-US" sz="2000" b="0" u="sng"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monitoring</a:t>
            </a:r>
            <a:r>
              <a:rPr lang="en-US" altLang="en-US" sz="20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2000" b="0" u="sng"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investigating</a:t>
            </a:r>
            <a:r>
              <a:rPr lang="en-US" altLang="en-US" sz="20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or </a:t>
            </a:r>
            <a:r>
              <a:rPr lang="en-US" altLang="en-US" sz="2000" b="0" u="sng"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inspecting</a:t>
            </a:r>
            <a:r>
              <a:rPr lang="en-US" altLang="en-US" sz="20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with </a:t>
            </a:r>
            <a:r>
              <a:rPr lang="en-US" altLang="en-US" sz="2000" b="0" u="sng"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evaluating (auditing(</a:t>
            </a:r>
            <a:r>
              <a:rPr lang="en-US" altLang="en-US" sz="20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0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720000" lvl="0" indent="-360000" eaLnBrk="0" hangingPunct="0">
              <a:lnSpc>
                <a:spcPct val="90000"/>
              </a:lnSpc>
              <a:spcBef>
                <a:spcPts val="0"/>
              </a:spcBef>
              <a:buSzPct val="100000"/>
              <a:buFont typeface="Wingdings" panose="05000000000000000000" pitchFamily="2" charset="2"/>
              <a:buChar char="Ø"/>
            </a:pPr>
            <a:r>
              <a:rPr lang="en-US" altLang="en-US" sz="20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Monitor </a:t>
            </a:r>
            <a:r>
              <a:rPr lang="en-US" altLang="en-US" sz="20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(performance) – </a:t>
            </a:r>
            <a:r>
              <a:rPr lang="en-US" altLang="en-US" sz="20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pertains to RME </a:t>
            </a:r>
            <a:r>
              <a:rPr lang="en-US" altLang="en-US" sz="20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#1 MLCA</a:t>
            </a:r>
          </a:p>
          <a:p>
            <a:pPr marL="720000" lvl="0" indent="-360000" eaLnBrk="0" hangingPunct="0">
              <a:lnSpc>
                <a:spcPct val="90000"/>
              </a:lnSpc>
              <a:spcBef>
                <a:spcPts val="0"/>
              </a:spcBef>
              <a:buSzPct val="100000"/>
              <a:buFont typeface="Wingdings" panose="05000000000000000000" pitchFamily="2" charset="2"/>
              <a:buChar char="Ø"/>
            </a:pPr>
            <a:r>
              <a:rPr lang="en-US" altLang="en-US" sz="20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Investigate </a:t>
            </a:r>
            <a:r>
              <a:rPr lang="en-US" altLang="en-US" sz="20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pertains to RME #5 IRIAA</a:t>
            </a:r>
          </a:p>
          <a:p>
            <a:pPr marL="720000" lvl="0" indent="-360000" eaLnBrk="0" hangingPunct="0">
              <a:lnSpc>
                <a:spcPct val="90000"/>
              </a:lnSpc>
              <a:spcBef>
                <a:spcPts val="0"/>
              </a:spcBef>
              <a:buSzPct val="100000"/>
              <a:buFont typeface="Wingdings" panose="05000000000000000000" pitchFamily="2" charset="2"/>
              <a:buChar char="Ø"/>
            </a:pPr>
            <a:r>
              <a:rPr lang="en-US" altLang="en-US" sz="20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Inspect – pertains to RME #7 DCSU and RME #8 OM</a:t>
            </a:r>
          </a:p>
          <a:p>
            <a:pPr marL="720000" lvl="0" indent="-360000" eaLnBrk="0" hangingPunct="0">
              <a:lnSpc>
                <a:spcPct val="90000"/>
              </a:lnSpc>
              <a:spcBef>
                <a:spcPts val="0"/>
              </a:spcBef>
              <a:buSzPct val="100000"/>
              <a:buFont typeface="Wingdings" panose="05000000000000000000" pitchFamily="2" charset="2"/>
              <a:buChar char="Ø"/>
            </a:pPr>
            <a:r>
              <a:rPr lang="en-US" altLang="en-US" sz="20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Refer to Topic #21 Chapter 3.3: The RM System &amp; </a:t>
            </a:r>
            <a:r>
              <a:rPr lang="en-US" altLang="en-US" sz="20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Elements</a:t>
            </a:r>
            <a:br>
              <a:rPr lang="en-US" altLang="en-US" sz="20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(and background slides in this PPT)</a:t>
            </a:r>
            <a:endParaRPr lang="en-US" sz="2000" dirty="0">
              <a:solidFill>
                <a:schemeClr val="bg1"/>
              </a:solidFill>
            </a:endParaRPr>
          </a:p>
        </p:txBody>
      </p:sp>
    </p:spTree>
    <p:extLst>
      <p:ext uri="{BB962C8B-B14F-4D97-AF65-F5344CB8AC3E}">
        <p14:creationId xmlns:p14="http://schemas.microsoft.com/office/powerpoint/2010/main" val="376878672"/>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44200"/>
            <a:ext cx="8640000" cy="5328000"/>
          </a:xfrm>
          <a:prstGeom prst="rect">
            <a:avLst/>
          </a:prstGeom>
          <a:solidFill>
            <a:schemeClr val="tx1"/>
          </a:solidFill>
          <a:ln w="9525">
            <a:solidFill>
              <a:schemeClr val="tx1"/>
            </a:solidFill>
            <a:miter lim="800000"/>
            <a:headEnd/>
            <a:tailEnd/>
          </a:ln>
        </p:spPr>
        <p:txBody>
          <a:bodyPr/>
          <a:lstStyle/>
          <a:p>
            <a:pPr marL="0" marR="0" lvl="0" indent="0" algn="l" defTabSz="914400" rtl="0" eaLnBrk="0" fontAlgn="base" latinLnBrk="0" hangingPunct="0">
              <a:lnSpc>
                <a:spcPct val="90000"/>
              </a:lnSpc>
              <a:spcBef>
                <a:spcPct val="0"/>
              </a:spcBef>
              <a:spcAft>
                <a:spcPct val="0"/>
              </a:spcAft>
              <a:buClrTx/>
              <a:buSzPct val="100000"/>
              <a:buFontTx/>
              <a:buNone/>
              <a:tabLst/>
              <a:defRPr/>
            </a:pPr>
            <a:r>
              <a:rPr kumimoji="0" lang="en-US" alt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Consider </a:t>
            </a:r>
            <a:r>
              <a:rPr kumimoji="0" lang="en-US" alt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the following </a:t>
            </a:r>
            <a:r>
              <a:rPr kumimoji="0" lang="en-US" altLang="en-US" sz="16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a:t>
            </a:r>
            <a: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Safety</a:t>
            </a:r>
            <a:r>
              <a:rPr kumimoji="0" lang="en-US" altLang="en-US" sz="16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Review”, a management activity</a:t>
            </a:r>
            <a:r>
              <a:rPr kumimoji="0" lang="en-US" alt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 </a:t>
            </a: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T</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echnical Safety </a:t>
            </a: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P</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rogram is about assessing and managing technical safety risks. </a:t>
            </a:r>
          </a:p>
          <a:p>
            <a:pPr marL="360000" marR="0" lvl="0" indent="-360000" algn="l" defTabSz="914400" rtl="0" eaLnBrk="0" fontAlgn="base" latinLnBrk="0" hangingPunct="0">
              <a:lnSpc>
                <a:spcPct val="90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The facility has implemented a Technical Safety Program to track leading indicators for technical safety performance, such as “the number of technical safety devices that are overdue for inspection or maintenance”, </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review,</a:t>
            </a:r>
            <a:r>
              <a:rPr kumimoji="0" lang="en-US" sz="16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and </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take action to address deviations.</a:t>
            </a:r>
          </a:p>
          <a:p>
            <a:pPr marL="360000" marR="0" lvl="0" indent="-360000" algn="l" defTabSz="914400" rtl="0" eaLnBrk="0" fontAlgn="base" latinLnBrk="0" hangingPunct="0">
              <a:lnSpc>
                <a:spcPct val="90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lvl="0" eaLnBrk="0" fontAlgn="base" hangingPunct="0">
              <a:lnSpc>
                <a:spcPct val="90000"/>
              </a:lnSpc>
              <a:spcBef>
                <a:spcPct val="0"/>
              </a:spcBef>
              <a:spcAft>
                <a:spcPct val="0"/>
              </a:spcAft>
              <a:buClrTx/>
              <a:buSzPct val="100000"/>
              <a:defRPr/>
            </a:pPr>
            <a:r>
              <a:rPr lang="en-US" altLang="en-US" sz="1600" b="1" kern="12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RME #1 Management Leadership, Commitment, and Accountability</a:t>
            </a:r>
            <a:r>
              <a:rPr lang="en-US" altLang="en-US" sz="1600" b="1" kern="12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600" b="1"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Safety (both technical and occupational) performance </a:t>
            </a: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can and should be </a:t>
            </a:r>
            <a:r>
              <a:rPr kumimoji="0" lang="en-US" sz="1600" b="0" i="0" u="sng"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monitored</a:t>
            </a: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by </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by measuring </a:t>
            </a: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and tracking leading </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indicators, </a:t>
            </a: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and taking appropriate actions in response to those leading </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indicators</a:t>
            </a:r>
            <a:r>
              <a:rPr lang="en-US" sz="1600" kern="12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endPar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buSzPct val="100000"/>
              <a:buFont typeface="Wingdings" panose="05000000000000000000" pitchFamily="2" charset="2"/>
              <a:buChar char="Ø"/>
              <a:defRPr/>
            </a:pP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Thus </a:t>
            </a: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 performance review such as "How well is our </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a:t>
            </a:r>
            <a:r>
              <a:rPr kumimoji="0" lang="en-US" sz="16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safety </a:t>
            </a: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program doing based on leading indicators?" is a program to review and take actions that should be set up under </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RME</a:t>
            </a:r>
            <a:r>
              <a:rPr kumimoji="0" lang="en-US" sz="16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#1</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it is after all a </a:t>
            </a:r>
            <a:r>
              <a:rPr 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“Management Safety Review”. </a:t>
            </a:r>
            <a:endPar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a:t>
            </a:r>
            <a:endParaRPr kumimoji="0" lang="en-CA" altLang="en-US" sz="1600" b="1"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The program under </a:t>
            </a:r>
            <a:r>
              <a:rPr lang="en-US" sz="1600" kern="12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this element is</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about </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evaluating </a:t>
            </a: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to see how </a:t>
            </a:r>
            <a:r>
              <a:rPr kumimoji="0" lang="en-US" sz="1600" b="0" i="0" u="sng"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effective your </a:t>
            </a:r>
            <a:r>
              <a:rPr kumimoji="0" lang="en-US" sz="1600" b="0" i="0" u="sng"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Safety Review Program</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is actually doing what is intended.</a:t>
            </a:r>
          </a:p>
          <a:p>
            <a:pPr marL="360000" lvl="0" indent="-360000" eaLnBrk="0" fontAlgn="base" hangingPunct="0">
              <a:lnSpc>
                <a:spcPct val="90000"/>
              </a:lnSpc>
              <a:spcBef>
                <a:spcPct val="0"/>
              </a:spcBef>
              <a:spcAft>
                <a:spcPct val="0"/>
              </a:spcAft>
              <a:buClrTx/>
              <a:buSzPct val="100000"/>
              <a:buFont typeface="Wingdings" panose="05000000000000000000" pitchFamily="2" charset="2"/>
              <a:buChar char="Ø"/>
              <a:defRPr/>
            </a:pP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In other words, </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“Are </a:t>
            </a: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you actually </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measuring</a:t>
            </a:r>
            <a:r>
              <a:rPr lang="en-US" sz="1600" kern="12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tracking, and routinely reviewing the leading indicators</a:t>
            </a:r>
            <a:r>
              <a:rPr lang="en-US" sz="1600" kern="12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and </a:t>
            </a: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taking appropriate actions in response to those leading indicators?”</a:t>
            </a:r>
          </a:p>
          <a:p>
            <a:pPr marL="360000" marR="0" lvl="0" indent="-360000" algn="l" defTabSz="914400" rtl="0" eaLnBrk="0" fontAlgn="base" latinLnBrk="0" hangingPunct="0">
              <a:lnSpc>
                <a:spcPct val="90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Such a question is part of the </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Evaluation Program </a:t>
            </a:r>
            <a:r>
              <a:rPr kumimoji="0" 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with intent for continuous improvement of the </a:t>
            </a:r>
            <a:r>
              <a:rPr lang="en-US" sz="1600" kern="12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Management</a:t>
            </a:r>
            <a:r>
              <a:rPr kumimoji="0" lang="en-US" sz="160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Safety </a:t>
            </a:r>
            <a:r>
              <a:rPr kumimoji="0" lang="en-US" sz="160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Program </a:t>
            </a:r>
            <a:r>
              <a:rPr kumimoji="0" 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(part of RME #1 MLCA).</a:t>
            </a:r>
            <a:endParaRPr kumimoji="0" lang="en-CA"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sym typeface="Arial"/>
              </a:rPr>
              <a:t>Example: Compare RME</a:t>
            </a:r>
            <a:r>
              <a:rPr kumimoji="0" lang="en-US" altLang="en-US" sz="2000" b="0" i="0" u="none" strike="noStrike" kern="1200" cap="none" spc="0" normalizeH="0" noProof="0" dirty="0" smtClean="0">
                <a:ln>
                  <a:noFill/>
                </a:ln>
                <a:solidFill>
                  <a:schemeClr val="bg1"/>
                </a:solidFill>
                <a:effectLst/>
                <a:uLnTx/>
                <a:uFillTx/>
                <a:latin typeface="Arial" panose="020B0604020202020204" pitchFamily="34" charset="0"/>
                <a:ea typeface="+mn-ea"/>
                <a:cs typeface="Arial" panose="020B0604020202020204" pitchFamily="34" charset="0"/>
                <a:sym typeface="Arial"/>
              </a:rPr>
              <a:t> #1 MLCA with</a:t>
            </a:r>
            <a:r>
              <a:rPr kumimoji="0" lang="en-US"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sym typeface="Arial"/>
              </a:rPr>
              <a:t> </a:t>
            </a:r>
            <a:r>
              <a:rPr kumimoji="0" lang="en-US" altLang="en-US" sz="20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sym typeface="Arial"/>
              </a:rPr>
              <a:t>RME #6) </a:t>
            </a:r>
            <a:r>
              <a:rPr kumimoji="0" lang="en-US"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sym typeface="Arial"/>
              </a:rPr>
              <a:t>PECI:</a:t>
            </a:r>
            <a:endParaRPr kumimoji="0" lang="en-US" altLang="en-US" sz="20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sym typeface="Arial"/>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98047790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Audit is a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best practice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It finds deficiencies and weaknesses in the risk management system and program – both content and implementation. </a:t>
            </a:r>
          </a:p>
          <a:p>
            <a:pPr marL="36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Driven by government regulations, industry association/corporate policies and standards.</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are </a:t>
            </a: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two types</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Audits:</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Internal</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audit i.e. by managers of their own facilities.</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External</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audit: By specially-trained auditors of a </a:t>
            </a:r>
            <a:b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“third-party” who examine the manager’s facility.</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It tests implementation at the organizational level: to see how well the RM program is effectively implemented. Examples:</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#4: MOC Process</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#5: Incident Reporting, Analysis, Investigation, and Action</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#9 EC&amp;T and #10 CC&amp;I - Training </a:t>
            </a:r>
            <a:endPar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1" indent="-360000" eaLnBrk="0" hangingPunct="0">
              <a:lnSpc>
                <a:spcPct val="90000"/>
              </a:lnSpc>
              <a:spcBef>
                <a:spcPts val="0"/>
              </a:spcBef>
              <a:buClr>
                <a:srgbClr val="000000"/>
              </a:buClr>
              <a:buSzPct val="100000"/>
              <a:buFont typeface="Wingdings" panose="05000000000000000000" pitchFamily="2" charset="2"/>
              <a:buChar char="Ø"/>
            </a:pPr>
            <a:endPar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Audits include </a:t>
            </a: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records</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(work previously executed)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US" altLang="en-US" sz="20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real work-in-progress</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(actual observation and interaction of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doing work).</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a:t>
            </a:r>
            <a:r>
              <a:rPr lang="en-US" altLang="en-US" sz="2400" b="0" dirty="0" smtClean="0">
                <a:solidFill>
                  <a:schemeClr val="accent2"/>
                </a:solidFill>
                <a:latin typeface="Arial" panose="020B0604020202020204" pitchFamily="34" charset="0"/>
                <a:ea typeface="+mj-ea"/>
                <a:cs typeface="Arial" panose="020B0604020202020204" pitchFamily="34" charset="0"/>
              </a:rPr>
              <a:t>Audit – A Best Practice: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fr-FR" sz="1200" i="1" kern="0" dirty="0" err="1" smtClean="0">
                <a:solidFill>
                  <a:srgbClr val="000000"/>
                </a:solidFill>
                <a:ea typeface="Times New Roman"/>
                <a:cs typeface="Arial" panose="020B0604020202020204" pitchFamily="34" charset="0"/>
                <a:sym typeface="Times New Roman"/>
              </a:rPr>
              <a:t>Chapter</a:t>
            </a:r>
            <a:r>
              <a:rPr lang="fr-FR" sz="1200" i="1" kern="0" dirty="0" smtClean="0">
                <a:solidFill>
                  <a:srgbClr val="000000"/>
                </a:solidFill>
                <a:ea typeface="Times New Roman"/>
                <a:cs typeface="Arial" panose="020B0604020202020204" pitchFamily="34" charset="0"/>
                <a:sym typeface="Times New Roman"/>
              </a:rPr>
              <a:t> 3.3: RME #6 PECI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453884568"/>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audit is a test at the organizational level.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audit is needed because: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It tests the effectiveness of the implementation of the risk management system and program at the organizational level: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see how well the RM program is effectively implemented by the people in the organization.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objective of the effective implementation of an RM Program is to improve safety performance, and reduce losses.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 RM Program may “be good on paper” but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will not deliver results (improved safety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if it is not effectively implemented. </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Why Audit the Organization?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fr-FR" sz="1200" i="1" kern="0" dirty="0" err="1" smtClean="0">
                <a:solidFill>
                  <a:srgbClr val="000000"/>
                </a:solidFill>
                <a:ea typeface="Times New Roman"/>
                <a:cs typeface="Arial" panose="020B0604020202020204" pitchFamily="34" charset="0"/>
                <a:sym typeface="Times New Roman"/>
              </a:rPr>
              <a:t>Chapter</a:t>
            </a:r>
            <a:r>
              <a:rPr lang="fr-FR" sz="1200" i="1" kern="0" dirty="0" smtClean="0">
                <a:solidFill>
                  <a:srgbClr val="000000"/>
                </a:solidFill>
                <a:ea typeface="Times New Roman"/>
                <a:cs typeface="Arial" panose="020B0604020202020204" pitchFamily="34" charset="0"/>
                <a:sym typeface="Times New Roman"/>
              </a:rPr>
              <a:t> 3.3: RME #6 PECI</a:t>
            </a:r>
            <a:endParaRPr lang="en-US" sz="1200" i="1" kern="0" dirty="0">
              <a:solidFill>
                <a:srgbClr val="000000"/>
              </a:solidFill>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6406819" y="3886200"/>
            <a:ext cx="2139881" cy="2145978"/>
          </a:xfrm>
          <a:prstGeom prst="rect">
            <a:avLst/>
          </a:prstGeom>
        </p:spPr>
      </p:pic>
    </p:spTree>
    <p:extLst>
      <p:ext uri="{BB962C8B-B14F-4D97-AF65-F5344CB8AC3E}">
        <p14:creationId xmlns:p14="http://schemas.microsoft.com/office/powerpoint/2010/main" val="3851479139"/>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Four Critical Steps from the MOC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 / Program:</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check that the MOC Process was working effectively, the Auditor creates the set of questions opposite every requirement listed in the MOC Process!</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Audit on the MOC </a:t>
            </a:r>
            <a:r>
              <a:rPr lang="en-US" altLang="en-US" sz="2400" b="0" dirty="0" smtClean="0">
                <a:solidFill>
                  <a:schemeClr val="accent2"/>
                </a:solidFill>
                <a:latin typeface="Arial" panose="020B0604020202020204" pitchFamily="34" charset="0"/>
                <a:ea typeface="+mj-ea"/>
                <a:cs typeface="Arial" panose="020B0604020202020204" pitchFamily="34" charset="0"/>
              </a:rPr>
              <a:t>Process / Program:</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fr-FR" sz="1200" i="1" kern="0" dirty="0" err="1" smtClean="0">
                <a:solidFill>
                  <a:srgbClr val="000000"/>
                </a:solidFill>
                <a:ea typeface="Times New Roman"/>
                <a:cs typeface="Arial" panose="020B0604020202020204" pitchFamily="34" charset="0"/>
                <a:sym typeface="Times New Roman"/>
              </a:rPr>
              <a:t>Chapter</a:t>
            </a:r>
            <a:r>
              <a:rPr lang="fr-FR" sz="1200" i="1" kern="0" dirty="0" smtClean="0">
                <a:solidFill>
                  <a:srgbClr val="000000"/>
                </a:solidFill>
                <a:ea typeface="Times New Roman"/>
                <a:cs typeface="Arial" panose="020B0604020202020204" pitchFamily="34" charset="0"/>
                <a:sym typeface="Times New Roman"/>
              </a:rPr>
              <a:t> 3.3: RME #6 PECI</a:t>
            </a:r>
            <a:endParaRPr lang="en-US" sz="1200" i="1" kern="0" dirty="0">
              <a:solidFill>
                <a:srgbClr val="000000"/>
              </a:solidFill>
              <a:ea typeface="Times New Roman"/>
              <a:cs typeface="Arial" panose="020B0604020202020204" pitchFamily="34" charset="0"/>
              <a:sym typeface="Times New Roman"/>
            </a:endParaRPr>
          </a:p>
        </p:txBody>
      </p:sp>
      <p:sp>
        <p:nvSpPr>
          <p:cNvPr id="7" name="Google Shape;335;p20"/>
          <p:cNvSpPr/>
          <p:nvPr/>
        </p:nvSpPr>
        <p:spPr>
          <a:xfrm>
            <a:off x="838199" y="1295400"/>
            <a:ext cx="7981801" cy="2971800"/>
          </a:xfrm>
          <a:prstGeom prst="rightArrow">
            <a:avLst>
              <a:gd name="adj1" fmla="val 76000"/>
              <a:gd name="adj2" fmla="val 50000"/>
            </a:avLst>
          </a:prstGeom>
          <a:solidFill>
            <a:schemeClr val="bg1">
              <a:lumMod val="85000"/>
            </a:schemeClr>
          </a:solidFill>
          <a:ln>
            <a:headEnd type="none" w="sm" len="sm"/>
            <a:tailEnd type="none" w="sm" len="sm"/>
          </a:ln>
        </p:spPr>
        <p:style>
          <a:lnRef idx="2">
            <a:schemeClr val="accent4"/>
          </a:lnRef>
          <a:fillRef idx="1">
            <a:schemeClr val="lt1"/>
          </a:fillRef>
          <a:effectRef idx="0">
            <a:schemeClr val="accent4"/>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37;p20"/>
          <p:cNvSpPr txBox="1"/>
          <p:nvPr/>
        </p:nvSpPr>
        <p:spPr>
          <a:xfrm>
            <a:off x="1229242" y="1975402"/>
            <a:ext cx="1440040" cy="1672994"/>
          </a:xfrm>
          <a:prstGeom prst="roundRect">
            <a:avLst/>
          </a:prstGeom>
          <a:gradFill flip="none" rotWithShape="1">
            <a:gsLst>
              <a:gs pos="0">
                <a:schemeClr val="accent5">
                  <a:lumMod val="89000"/>
                </a:schemeClr>
              </a:gs>
              <a:gs pos="50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spcFirstLastPara="1" wrap="square" lIns="36000" tIns="72000" rIns="36000" bIns="72000" anchor="ctr" anchorCtr="1">
            <a:noAutofit/>
          </a:bodyPr>
          <a:lstStyle>
            <a:defPPr>
              <a:defRPr lang="en-US"/>
            </a:defPPr>
            <a:lvl1pPr marL="0" lvl="0" indent="0">
              <a:spcBef>
                <a:spcPts val="0"/>
              </a:spcBef>
              <a:spcAft>
                <a:spcPts val="0"/>
              </a:spcAft>
              <a:buNone/>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pPr algn="ctr"/>
            <a:r>
              <a:rPr lang="en-US" sz="1400" dirty="0" smtClean="0">
                <a:solidFill>
                  <a:schemeClr val="tx2"/>
                </a:solidFill>
                <a:sym typeface="Arial"/>
              </a:rPr>
              <a:t>(1)</a:t>
            </a:r>
            <a:br>
              <a:rPr lang="en-US" sz="1400" dirty="0" smtClean="0">
                <a:solidFill>
                  <a:schemeClr val="tx2"/>
                </a:solidFill>
                <a:sym typeface="Arial"/>
              </a:rPr>
            </a:br>
            <a:r>
              <a:rPr lang="en-US" sz="1400" dirty="0" smtClean="0">
                <a:solidFill>
                  <a:schemeClr val="tx2"/>
                </a:solidFill>
                <a:sym typeface="Arial"/>
              </a:rPr>
              <a:t>Communicate </a:t>
            </a:r>
            <a:r>
              <a:rPr lang="en-US" sz="1400" dirty="0">
                <a:solidFill>
                  <a:schemeClr val="tx2"/>
                </a:solidFill>
                <a:sym typeface="Arial"/>
              </a:rPr>
              <a:t>the Proposed Change</a:t>
            </a:r>
            <a:endParaRPr sz="1400" dirty="0">
              <a:solidFill>
                <a:schemeClr val="tx2"/>
              </a:solidFill>
            </a:endParaRPr>
          </a:p>
        </p:txBody>
      </p:sp>
      <p:sp>
        <p:nvSpPr>
          <p:cNvPr id="11" name="Google Shape;339;p20"/>
          <p:cNvSpPr txBox="1"/>
          <p:nvPr/>
        </p:nvSpPr>
        <p:spPr>
          <a:xfrm>
            <a:off x="2904882" y="1975402"/>
            <a:ext cx="1440040" cy="1672994"/>
          </a:xfrm>
          <a:prstGeom prst="roundRect">
            <a:avLst/>
          </a:prstGeom>
          <a:gradFill flip="none" rotWithShape="1">
            <a:gsLst>
              <a:gs pos="0">
                <a:schemeClr val="accent5">
                  <a:lumMod val="89000"/>
                </a:schemeClr>
              </a:gs>
              <a:gs pos="50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spcFirstLastPara="1" wrap="square" lIns="36000" tIns="72000" rIns="36000" bIns="72000" anchor="ctr" anchorCtr="1">
            <a:noAutofit/>
          </a:bodyPr>
          <a:lstStyle>
            <a:defPPr>
              <a:defRPr lang="en-US"/>
            </a:defPPr>
            <a:lvl1pPr marL="0" lvl="0" indent="0" algn="ctr">
              <a:spcBef>
                <a:spcPts val="0"/>
              </a:spcBef>
              <a:spcAft>
                <a:spcPts val="0"/>
              </a:spcAft>
              <a:buNone/>
              <a:defRPr sz="1400">
                <a:solidFill>
                  <a:schemeClr val="tx2"/>
                </a:solidFill>
              </a:defRPr>
            </a:lvl1pPr>
          </a:lstStyle>
          <a:p>
            <a:r>
              <a:rPr lang="en-US" dirty="0" smtClean="0">
                <a:sym typeface="Arial"/>
              </a:rPr>
              <a:t>(2) </a:t>
            </a:r>
            <a:br>
              <a:rPr lang="en-US" dirty="0" smtClean="0">
                <a:sym typeface="Arial"/>
              </a:rPr>
            </a:br>
            <a:r>
              <a:rPr lang="en-US" dirty="0" smtClean="0">
                <a:sym typeface="Arial"/>
              </a:rPr>
              <a:t>Conduct </a:t>
            </a:r>
            <a:r>
              <a:rPr lang="en-US" dirty="0">
                <a:sym typeface="Arial"/>
              </a:rPr>
              <a:t>Appropriate </a:t>
            </a:r>
            <a:r>
              <a:rPr lang="en-US" dirty="0" smtClean="0">
                <a:sym typeface="Arial"/>
              </a:rPr>
              <a:t>Reviews &amp; </a:t>
            </a:r>
            <a:r>
              <a:rPr lang="en-US" dirty="0">
                <a:sym typeface="Arial"/>
              </a:rPr>
              <a:t>Risk Assessments</a:t>
            </a:r>
            <a:endParaRPr dirty="0"/>
          </a:p>
        </p:txBody>
      </p:sp>
      <p:sp>
        <p:nvSpPr>
          <p:cNvPr id="14" name="Google Shape;341;p20"/>
          <p:cNvSpPr txBox="1"/>
          <p:nvPr/>
        </p:nvSpPr>
        <p:spPr>
          <a:xfrm>
            <a:off x="4580521" y="1975402"/>
            <a:ext cx="1440040" cy="1672994"/>
          </a:xfrm>
          <a:prstGeom prst="roundRect">
            <a:avLst/>
          </a:prstGeom>
          <a:gradFill flip="none" rotWithShape="1">
            <a:gsLst>
              <a:gs pos="0">
                <a:schemeClr val="accent5">
                  <a:lumMod val="89000"/>
                </a:schemeClr>
              </a:gs>
              <a:gs pos="50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spcFirstLastPara="1" wrap="square" lIns="36000" tIns="72000" rIns="36000" bIns="72000" anchor="ctr" anchorCtr="1">
            <a:noAutofit/>
          </a:bodyPr>
          <a:lstStyle>
            <a:defPPr>
              <a:defRPr lang="en-US"/>
            </a:defPPr>
            <a:lvl1pPr marL="0" lvl="0" indent="0" algn="ctr">
              <a:spcBef>
                <a:spcPts val="0"/>
              </a:spcBef>
              <a:spcAft>
                <a:spcPts val="0"/>
              </a:spcAft>
              <a:buNone/>
              <a:defRPr sz="1400">
                <a:solidFill>
                  <a:schemeClr val="tx2"/>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dirty="0" smtClean="0">
                <a:sym typeface="Arial"/>
              </a:rPr>
              <a:t>(3) </a:t>
            </a:r>
            <a:br>
              <a:rPr lang="en-US" dirty="0" smtClean="0">
                <a:sym typeface="Arial"/>
              </a:rPr>
            </a:br>
            <a:r>
              <a:rPr lang="en-US" dirty="0" smtClean="0">
                <a:sym typeface="Arial"/>
              </a:rPr>
              <a:t>Seek </a:t>
            </a:r>
            <a:r>
              <a:rPr lang="en-US" dirty="0">
                <a:sym typeface="Arial"/>
              </a:rPr>
              <a:t>Final Approval</a:t>
            </a:r>
            <a:endParaRPr dirty="0"/>
          </a:p>
        </p:txBody>
      </p:sp>
      <p:sp>
        <p:nvSpPr>
          <p:cNvPr id="15" name="Google Shape;343;p20"/>
          <p:cNvSpPr txBox="1"/>
          <p:nvPr/>
        </p:nvSpPr>
        <p:spPr>
          <a:xfrm>
            <a:off x="6256160" y="1975402"/>
            <a:ext cx="1440040" cy="1672994"/>
          </a:xfrm>
          <a:prstGeom prst="roundRect">
            <a:avLst/>
          </a:prstGeom>
          <a:gradFill flip="none" rotWithShape="1">
            <a:gsLst>
              <a:gs pos="0">
                <a:schemeClr val="accent5">
                  <a:lumMod val="89000"/>
                </a:schemeClr>
              </a:gs>
              <a:gs pos="50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spcFirstLastPara="1" wrap="square" lIns="36000" tIns="72000" rIns="36000" bIns="72000" anchor="ctr" anchorCtr="1">
            <a:noAutofit/>
          </a:bodyPr>
          <a:lstStyle>
            <a:defPPr>
              <a:defRPr lang="en-US"/>
            </a:defPPr>
            <a:lvl1pPr marL="0" lvl="0" indent="0" algn="ctr">
              <a:spcBef>
                <a:spcPts val="0"/>
              </a:spcBef>
              <a:spcAft>
                <a:spcPts val="0"/>
              </a:spcAft>
              <a:buNone/>
              <a:defRPr sz="1400">
                <a:solidFill>
                  <a:schemeClr val="tx2"/>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dirty="0" smtClean="0">
                <a:sym typeface="Arial"/>
              </a:rPr>
              <a:t>(4) Communicate </a:t>
            </a:r>
            <a:r>
              <a:rPr lang="en-US" dirty="0">
                <a:sym typeface="Arial"/>
              </a:rPr>
              <a:t>&amp; Implement the Change</a:t>
            </a:r>
            <a:endParaRPr dirty="0"/>
          </a:p>
        </p:txBody>
      </p:sp>
    </p:spTree>
    <p:extLst>
      <p:ext uri="{BB962C8B-B14F-4D97-AF65-F5344CB8AC3E}">
        <p14:creationId xmlns:p14="http://schemas.microsoft.com/office/powerpoint/2010/main" val="4107006728"/>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lvl="0">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Audit on the MOC Process:</a:t>
            </a:r>
          </a:p>
        </p:txBody>
      </p:sp>
      <p:sp>
        <p:nvSpPr>
          <p:cNvPr id="2" name="Rectangle 1"/>
          <p:cNvSpPr/>
          <p:nvPr/>
        </p:nvSpPr>
        <p:spPr>
          <a:xfrm>
            <a:off x="180000" y="828000"/>
            <a:ext cx="8640000" cy="5328000"/>
          </a:xfrm>
          <a:prstGeom prst="rect">
            <a:avLst/>
          </a:prstGeom>
          <a:solidFill>
            <a:srgbClr val="000000"/>
          </a:solidFill>
          <a:ln>
            <a:solidFill>
              <a:srgbClr val="000000"/>
            </a:solidFill>
          </a:ln>
        </p:spPr>
        <p:txBody>
          <a:bodyPr wrap="square">
            <a:noAutofit/>
          </a:bodyPr>
          <a:lstStyle/>
          <a:p>
            <a:pPr marL="432000" lvl="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a:spcBef>
                <a:spcPts val="0"/>
              </a:spcBef>
              <a:spcAft>
                <a:spcPts val="0"/>
              </a:spcAft>
              <a:buFont typeface="Wingdings" panose="05000000000000000000" pitchFamily="2" charset="2"/>
              <a:buChar char="Ø"/>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kinds of questions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would you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ask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about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MOC Process?</a:t>
            </a:r>
          </a:p>
          <a:p>
            <a:pPr marL="432000" lvl="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a:spcBef>
                <a:spcPts val="0"/>
              </a:spcBef>
              <a:spcAft>
                <a:spcPts val="0"/>
              </a:spcAft>
              <a:buFont typeface="Wingdings" panose="05000000000000000000" pitchFamily="2" charset="2"/>
              <a:buChar char="Ø"/>
            </a:pPr>
            <a:endPar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fr-FR" sz="1200" b="1" i="1" u="none" strike="noStrike" kern="0" cap="none" spc="0" normalizeH="0" baseline="0" noProof="0" dirty="0" err="1" smtClean="0">
                <a:ln>
                  <a:noFill/>
                </a:ln>
                <a:solidFill>
                  <a:srgbClr val="000000"/>
                </a:solidFill>
                <a:effectLst/>
                <a:uLnTx/>
                <a:uFillTx/>
                <a:latin typeface="Arial" charset="0"/>
                <a:ea typeface="Times New Roman"/>
                <a:cs typeface="Arial" panose="020B0604020202020204" pitchFamily="34" charset="0"/>
                <a:sym typeface="Times New Roman"/>
              </a:rPr>
              <a:t>Chapter</a:t>
            </a:r>
            <a:r>
              <a:rPr kumimoji="0" lang="fr-FR"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 3.3: RME #6 PECI</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3" name="Picture 2"/>
          <p:cNvPicPr>
            <a:picLocks noChangeAspect="1"/>
          </p:cNvPicPr>
          <p:nvPr/>
        </p:nvPicPr>
        <p:blipFill>
          <a:blip r:embed="rId3"/>
          <a:stretch>
            <a:fillRect/>
          </a:stretch>
        </p:blipFill>
        <p:spPr>
          <a:xfrm>
            <a:off x="457200" y="1929900"/>
            <a:ext cx="8266244" cy="3124200"/>
          </a:xfrm>
          <a:prstGeom prst="rect">
            <a:avLst/>
          </a:prstGeom>
        </p:spPr>
      </p:pic>
    </p:spTree>
    <p:extLst>
      <p:ext uri="{BB962C8B-B14F-4D97-AF65-F5344CB8AC3E}">
        <p14:creationId xmlns:p14="http://schemas.microsoft.com/office/powerpoint/2010/main" val="2897380549"/>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lvl="0">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Audit on the MOC Process:</a:t>
            </a:r>
          </a:p>
        </p:txBody>
      </p:sp>
      <p:sp>
        <p:nvSpPr>
          <p:cNvPr id="2" name="Rectangle 1"/>
          <p:cNvSpPr/>
          <p:nvPr/>
        </p:nvSpPr>
        <p:spPr>
          <a:xfrm>
            <a:off x="180000" y="828000"/>
            <a:ext cx="8640000" cy="5328000"/>
          </a:xfrm>
          <a:prstGeom prst="rect">
            <a:avLst/>
          </a:prstGeom>
          <a:solidFill>
            <a:srgbClr val="000000"/>
          </a:solidFill>
          <a:ln>
            <a:solidFill>
              <a:srgbClr val="000000"/>
            </a:solidFill>
          </a:ln>
        </p:spPr>
        <p:txBody>
          <a:bodyPr wrap="square">
            <a:noAutofit/>
          </a:bodyPr>
          <a:lstStyle/>
          <a:p>
            <a:pPr marL="432000" lvl="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a:spcBef>
                <a:spcPts val="0"/>
              </a:spcBef>
              <a:spcAft>
                <a:spcPts val="0"/>
              </a:spcAft>
              <a:buFont typeface="Wingdings" panose="05000000000000000000" pitchFamily="2" charset="2"/>
              <a:buChar char="Ø"/>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kinds of questions would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r>
            <a:b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you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ask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about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MOC Process?</a:t>
            </a:r>
          </a:p>
          <a:p>
            <a:pPr marL="360000" lvl="0" indent="-360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a:spcBef>
                <a:spcPts val="0"/>
              </a:spcBef>
              <a:spcAft>
                <a:spcPts val="0"/>
              </a:spcAft>
              <a:buFont typeface="Wingdings" panose="05000000000000000000" pitchFamily="2" charset="2"/>
              <a:buChar char="Ø"/>
            </a:pPr>
            <a:endPar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a:spcBef>
                <a:spcPts val="0"/>
              </a:spcBef>
              <a:spcAft>
                <a:spcPts val="0"/>
              </a:spcAft>
              <a:buFont typeface="Wingdings" panose="05000000000000000000" pitchFamily="2" charset="2"/>
              <a:buChar char="Ø"/>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These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kinds of questions can be asked in an audit:</a:t>
            </a:r>
          </a:p>
          <a:p>
            <a:pPr marL="720000" lvl="1"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Were proposed changes communicated?</a:t>
            </a:r>
          </a:p>
          <a:p>
            <a:pPr marL="720000" lvl="1"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kinds of risk assessments were conducted for the scope of change? Appropriate? The right mix of stakeholders and SMEs? Did these result in revisions to the proposed change?</a:t>
            </a:r>
          </a:p>
          <a:p>
            <a:pPr marL="720000" lvl="1"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Was final approval granted? What is the evidence that confirms the final approval checked that the MOC process was fully applied for the change?</a:t>
            </a:r>
          </a:p>
          <a:p>
            <a:pPr marL="720000" lvl="1"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Was the change communicated prior to implementation? Were documents updated and training conducted prior to implementation? What evidence is there</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fr-FR" sz="1200" b="1" i="1" u="none" strike="noStrike" kern="0" cap="none" spc="0" normalizeH="0" baseline="0" noProof="0" dirty="0" err="1" smtClean="0">
                <a:ln>
                  <a:noFill/>
                </a:ln>
                <a:solidFill>
                  <a:srgbClr val="000000"/>
                </a:solidFill>
                <a:effectLst/>
                <a:uLnTx/>
                <a:uFillTx/>
                <a:latin typeface="Arial" charset="0"/>
                <a:ea typeface="Times New Roman"/>
                <a:cs typeface="Arial" panose="020B0604020202020204" pitchFamily="34" charset="0"/>
                <a:sym typeface="Times New Roman"/>
              </a:rPr>
              <a:t>Chapter</a:t>
            </a:r>
            <a:r>
              <a:rPr kumimoji="0" lang="fr-FR"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 3.3: RME #6 PECI</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3" name="Picture 2"/>
          <p:cNvPicPr>
            <a:picLocks noChangeAspect="1"/>
          </p:cNvPicPr>
          <p:nvPr/>
        </p:nvPicPr>
        <p:blipFill>
          <a:blip r:embed="rId3"/>
          <a:stretch>
            <a:fillRect/>
          </a:stretch>
        </p:blipFill>
        <p:spPr>
          <a:xfrm>
            <a:off x="4602133" y="990600"/>
            <a:ext cx="4008467" cy="1514987"/>
          </a:xfrm>
          <a:prstGeom prst="rect">
            <a:avLst/>
          </a:prstGeom>
        </p:spPr>
      </p:pic>
    </p:spTree>
    <p:extLst>
      <p:ext uri="{BB962C8B-B14F-4D97-AF65-F5344CB8AC3E}">
        <p14:creationId xmlns:p14="http://schemas.microsoft.com/office/powerpoint/2010/main" val="1012339931"/>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Procedure to audit the MOC Process can be done by looking at the records of previous MOC changes:</a:t>
            </a:r>
          </a:p>
          <a:p>
            <a:pPr marL="0" indent="0" eaLnBrk="0" hangingPunct="0">
              <a:lnSpc>
                <a:spcPct val="9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mj-lt"/>
              <a:buAutoNum type="arabicParen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Determine what evidence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check, and seek out that evidence. </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96000" eaLnBrk="0" hangingPunct="0">
              <a:lnSpc>
                <a:spcPct val="9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records can be the “paper-trail”, virtual or actual</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
                <a:srgbClr val="000000"/>
              </a:buClr>
              <a:buSzPct val="100000"/>
              <a:buFont typeface="+mj-lt"/>
              <a:buAutoNum type="arabicParen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Select a number of records from the implemented changes.</a:t>
            </a:r>
          </a:p>
          <a:p>
            <a:pPr marL="360000" indent="-360000" eaLnBrk="0" hangingPunct="0">
              <a:lnSpc>
                <a:spcPct val="90000"/>
              </a:lnSpc>
              <a:spcBef>
                <a:spcPts val="0"/>
              </a:spcBef>
              <a:buClr>
                <a:srgbClr val="000000"/>
              </a:buClr>
              <a:buSzPct val="100000"/>
              <a:buFont typeface="+mj-lt"/>
              <a:buAutoNum type="arabicParen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Check the recorded information in those records opposite the requirements of the MOC Process.</a:t>
            </a:r>
          </a:p>
          <a:p>
            <a:pPr marL="360000" indent="-360000" eaLnBrk="0" hangingPunct="0">
              <a:lnSpc>
                <a:spcPct val="90000"/>
              </a:lnSpc>
              <a:spcBef>
                <a:spcPts val="0"/>
              </a:spcBef>
              <a:buClr>
                <a:srgbClr val="000000"/>
              </a:buClr>
              <a:buSzPct val="100000"/>
              <a:buFont typeface="+mj-lt"/>
              <a:buAutoNum type="arabicParen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Interview persons who have been a part of the MOC. </a:t>
            </a:r>
          </a:p>
          <a:p>
            <a:pPr marL="720000" lvl="1" indent="-360000" eaLnBrk="0" hangingPunct="0">
              <a:lnSpc>
                <a:spcPct val="90000"/>
              </a:lnSpc>
              <a:spcBef>
                <a:spcPts val="0"/>
              </a:spcBef>
              <a:buClr>
                <a:srgbClr val="000000"/>
              </a:buClr>
              <a:buSzPct val="100000"/>
              <a:buFont typeface="+mj-lt"/>
              <a:buAutoNum type="alphaLcParenR"/>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Check that their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names should be on the records.</a:t>
            </a:r>
          </a:p>
          <a:p>
            <a:pPr marL="720000" lvl="1" indent="-360000" eaLnBrk="0" hangingPunct="0">
              <a:lnSpc>
                <a:spcPct val="9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Identify and record any deficiencies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e.g</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 step was missed, a person did not receive the required training prior to the person using the implemented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change, etc. </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57200" indent="-457200" eaLnBrk="0" hangingPunct="0">
              <a:lnSpc>
                <a:spcPct val="90000"/>
              </a:lnSpc>
              <a:spcBef>
                <a:spcPts val="0"/>
              </a:spcBef>
              <a:buClr>
                <a:srgbClr val="000000"/>
              </a:buClr>
              <a:buSzPct val="100000"/>
              <a:buFont typeface="+mj-lt"/>
              <a:buAutoNum type="arabicParen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Report findings, sometimes with recommendations, to the manager of the facility</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Audit </a:t>
            </a:r>
            <a:r>
              <a:rPr lang="en-US" altLang="en-US" sz="2400" b="0" dirty="0" smtClean="0">
                <a:solidFill>
                  <a:schemeClr val="accent2"/>
                </a:solidFill>
                <a:latin typeface="Arial" panose="020B0604020202020204" pitchFamily="34" charset="0"/>
                <a:ea typeface="+mj-ea"/>
                <a:cs typeface="Arial" panose="020B0604020202020204" pitchFamily="34" charset="0"/>
              </a:rPr>
              <a:t>Procedure on </a:t>
            </a:r>
            <a:r>
              <a:rPr lang="en-US" altLang="en-US" sz="2400" b="0" dirty="0">
                <a:solidFill>
                  <a:schemeClr val="accent2"/>
                </a:solidFill>
                <a:latin typeface="Arial" panose="020B0604020202020204" pitchFamily="34" charset="0"/>
                <a:ea typeface="+mj-ea"/>
                <a:cs typeface="Arial" panose="020B0604020202020204" pitchFamily="34" charset="0"/>
              </a:rPr>
              <a:t>the MOC </a:t>
            </a:r>
            <a:r>
              <a:rPr lang="en-US" altLang="en-US" sz="2400" b="0" dirty="0" smtClean="0">
                <a:solidFill>
                  <a:schemeClr val="accent2"/>
                </a:solidFill>
                <a:latin typeface="Arial" panose="020B0604020202020204" pitchFamily="34" charset="0"/>
                <a:ea typeface="+mj-ea"/>
                <a:cs typeface="Arial" panose="020B0604020202020204" pitchFamily="34" charset="0"/>
              </a:rPr>
              <a:t>Process - Records: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fr-FR" sz="1200" i="1" kern="0" dirty="0" err="1" smtClean="0">
                <a:solidFill>
                  <a:srgbClr val="000000"/>
                </a:solidFill>
                <a:ea typeface="Times New Roman"/>
                <a:cs typeface="Arial" panose="020B0604020202020204" pitchFamily="34" charset="0"/>
                <a:sym typeface="Times New Roman"/>
              </a:rPr>
              <a:t>Chapter</a:t>
            </a:r>
            <a:r>
              <a:rPr lang="fr-FR" sz="1200" i="1" kern="0" dirty="0" smtClean="0">
                <a:solidFill>
                  <a:srgbClr val="000000"/>
                </a:solidFill>
                <a:ea typeface="Times New Roman"/>
                <a:cs typeface="Arial" panose="020B0604020202020204" pitchFamily="34" charset="0"/>
                <a:sym typeface="Times New Roman"/>
              </a:rPr>
              <a:t> 3.3: RME #6 PECI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945546504"/>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lvl="0">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The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Audit on the II-RCA-MA Work Process:</a:t>
            </a:r>
          </a:p>
        </p:txBody>
      </p:sp>
      <p:sp>
        <p:nvSpPr>
          <p:cNvPr id="2" name="Rectangle 1"/>
          <p:cNvSpPr/>
          <p:nvPr/>
        </p:nvSpPr>
        <p:spPr>
          <a:xfrm>
            <a:off x="180000" y="828000"/>
            <a:ext cx="8640000" cy="5328000"/>
          </a:xfrm>
          <a:prstGeom prst="rect">
            <a:avLst/>
          </a:prstGeom>
          <a:solidFill>
            <a:srgbClr val="000000"/>
          </a:solidFill>
          <a:ln>
            <a:solidFill>
              <a:srgbClr val="000000"/>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Questions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that could be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posed in an Audit:</a:t>
            </a: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a:spcBef>
                <a:spcPts val="0"/>
              </a:spcBef>
              <a:spcAft>
                <a:spcPts val="0"/>
              </a:spcAft>
              <a:buFont typeface="Wingdings" panose="05000000000000000000" pitchFamily="2" charset="2"/>
              <a:buChar char="Ø"/>
            </a:pPr>
            <a:endPar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a:spcBef>
                <a:spcPts val="0"/>
              </a:spcBef>
              <a:spcAft>
                <a:spcPts val="0"/>
              </a:spcAft>
              <a:buFont typeface="Wingdings" panose="05000000000000000000" pitchFamily="2" charset="2"/>
              <a:buChar char="Ø"/>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Threshold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criteria for reporting?</a:t>
            </a:r>
          </a:p>
          <a:p>
            <a:pPr marL="432000" lvl="0" indent="-432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Threshold criteria for investigating?</a:t>
            </a:r>
          </a:p>
          <a:p>
            <a:pPr marL="432000" lvl="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Thoroughness (breadth and depth) </a:t>
            </a:r>
            <a:b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of the RCA? </a:t>
            </a:r>
          </a:p>
          <a:p>
            <a:pPr marL="432000" lvl="0" indent="-432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Latent causes identified and tested?</a:t>
            </a:r>
          </a:p>
          <a:p>
            <a:pPr marL="432000" lvl="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Were recommendations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“SMART”?</a:t>
            </a: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Were the recommendations </a:t>
            </a:r>
            <a:b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implemented? </a:t>
            </a:r>
            <a:endPar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a:spcBef>
                <a:spcPts val="0"/>
              </a:spcBef>
              <a:spcAft>
                <a:spcPts val="0"/>
              </a:spcAft>
              <a:buFont typeface="Wingdings" panose="05000000000000000000" pitchFamily="2" charset="2"/>
              <a:buChar char="Ø"/>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Did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recommendations address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r>
            <a:b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problem i.e</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 address the latent cause?</a:t>
            </a:r>
          </a:p>
          <a:p>
            <a:pPr marL="432000" lvl="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fr-FR" sz="1200" b="1" i="1" u="none" strike="noStrike" kern="0" cap="none" spc="0" normalizeH="0" baseline="0" noProof="0" dirty="0" err="1" smtClean="0">
                <a:ln>
                  <a:noFill/>
                </a:ln>
                <a:solidFill>
                  <a:srgbClr val="000000"/>
                </a:solidFill>
                <a:effectLst/>
                <a:uLnTx/>
                <a:uFillTx/>
                <a:latin typeface="Arial" charset="0"/>
                <a:ea typeface="Times New Roman"/>
                <a:cs typeface="Arial" panose="020B0604020202020204" pitchFamily="34" charset="0"/>
                <a:sym typeface="Times New Roman"/>
              </a:rPr>
              <a:t>Chapter</a:t>
            </a:r>
            <a:r>
              <a:rPr kumimoji="0" lang="fr-FR"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 3.3: RME #6 PECI</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pSp>
        <p:nvGrpSpPr>
          <p:cNvPr id="3" name="Group 2"/>
          <p:cNvGrpSpPr/>
          <p:nvPr/>
        </p:nvGrpSpPr>
        <p:grpSpPr>
          <a:xfrm>
            <a:off x="5478162" y="1447800"/>
            <a:ext cx="3207051" cy="3443417"/>
            <a:chOff x="5478162" y="1219200"/>
            <a:chExt cx="3207051" cy="3443417"/>
          </a:xfrm>
        </p:grpSpPr>
        <p:sp>
          <p:nvSpPr>
            <p:cNvPr id="18" name="Rectangle 17"/>
            <p:cNvSpPr/>
            <p:nvPr/>
          </p:nvSpPr>
          <p:spPr>
            <a:xfrm>
              <a:off x="5478162" y="1219200"/>
              <a:ext cx="3207051" cy="34434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9" name="AutoShape 11"/>
            <p:cNvCxnSpPr>
              <a:cxnSpLocks noChangeShapeType="1"/>
              <a:stCxn id="21" idx="2"/>
              <a:endCxn id="22" idx="0"/>
            </p:cNvCxnSpPr>
            <p:nvPr/>
          </p:nvCxnSpPr>
          <p:spPr bwMode="auto">
            <a:xfrm>
              <a:off x="7053969" y="1746569"/>
              <a:ext cx="0" cy="457200"/>
            </a:xfrm>
            <a:prstGeom prst="straightConnector1">
              <a:avLst/>
            </a:prstGeom>
            <a:noFill/>
            <a:ln w="31750" cap="sq">
              <a:solidFill>
                <a:srgbClr val="000000"/>
              </a:solidFill>
              <a:round/>
              <a:headEnd type="none" w="sm" len="sm"/>
              <a:tailEnd type="triangle" w="med" len="med"/>
            </a:ln>
            <a:extLst>
              <a:ext uri="{909E8E84-426E-40DD-AFC4-6F175D3DCCD1}">
                <a14:hiddenFill xmlns:a14="http://schemas.microsoft.com/office/drawing/2010/main">
                  <a:noFill/>
                </a14:hiddenFill>
              </a:ext>
            </a:extLst>
          </p:spPr>
        </p:cxnSp>
        <p:cxnSp>
          <p:nvCxnSpPr>
            <p:cNvPr id="20" name="AutoShape 14"/>
            <p:cNvCxnSpPr>
              <a:cxnSpLocks noChangeShapeType="1"/>
              <a:stCxn id="23" idx="2"/>
              <a:endCxn id="25" idx="0"/>
            </p:cNvCxnSpPr>
            <p:nvPr/>
          </p:nvCxnSpPr>
          <p:spPr bwMode="auto">
            <a:xfrm>
              <a:off x="7053969" y="3575369"/>
              <a:ext cx="0" cy="457200"/>
            </a:xfrm>
            <a:prstGeom prst="straightConnector1">
              <a:avLst/>
            </a:prstGeom>
            <a:noFill/>
            <a:ln w="31750" cap="sq">
              <a:solidFill>
                <a:srgbClr val="000000"/>
              </a:solidFill>
              <a:round/>
              <a:headEnd type="none" w="sm" len="sm"/>
              <a:tailEnd type="triangle" w="med" len="med"/>
            </a:ln>
            <a:extLst>
              <a:ext uri="{909E8E84-426E-40DD-AFC4-6F175D3DCCD1}">
                <a14:hiddenFill xmlns:a14="http://schemas.microsoft.com/office/drawing/2010/main">
                  <a:noFill/>
                </a14:hiddenFill>
              </a:ext>
            </a:extLst>
          </p:spPr>
        </p:cxnSp>
        <p:sp>
          <p:nvSpPr>
            <p:cNvPr id="21" name="AutoShape 2"/>
            <p:cNvSpPr>
              <a:spLocks noChangeArrowheads="1"/>
            </p:cNvSpPr>
            <p:nvPr/>
          </p:nvSpPr>
          <p:spPr bwMode="auto">
            <a:xfrm>
              <a:off x="5545209" y="1289369"/>
              <a:ext cx="3017520" cy="457200"/>
            </a:xfrm>
            <a:prstGeom prst="flowChartProcess">
              <a:avLst/>
            </a:prstGeom>
            <a:solidFill>
              <a:srgbClr val="FFFFFF"/>
            </a:solidFill>
            <a:ln w="12700" cap="sq">
              <a:solidFill>
                <a:srgbClr val="000000"/>
              </a:solidFill>
              <a:miter lim="800000"/>
              <a:headEnd type="none" w="sm" len="sm"/>
              <a:tailEnd type="none" w="sm" len="sm"/>
            </a:ln>
            <a:effectLst>
              <a:outerShdw dist="35921" dir="2700000" algn="ctr" rotWithShape="0">
                <a:schemeClr val="bg2"/>
              </a:outerShdw>
            </a:effectLst>
          </p:spPr>
          <p:txBody>
            <a:bodyPr anchor="ctr">
              <a:no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ClrTx/>
                <a:buSzTx/>
                <a:buFontTx/>
                <a:buNone/>
              </a:pPr>
              <a:r>
                <a:rPr lang="en-US" altLang="en-US" sz="1600" dirty="0">
                  <a:latin typeface="Arial" panose="020B0604020202020204" pitchFamily="34" charset="0"/>
                </a:rPr>
                <a:t>Incident Happens</a:t>
              </a:r>
            </a:p>
          </p:txBody>
        </p:sp>
        <p:sp>
          <p:nvSpPr>
            <p:cNvPr id="22" name="AutoShape 5"/>
            <p:cNvSpPr>
              <a:spLocks noChangeArrowheads="1"/>
            </p:cNvSpPr>
            <p:nvPr/>
          </p:nvSpPr>
          <p:spPr bwMode="auto">
            <a:xfrm>
              <a:off x="5545209" y="2203769"/>
              <a:ext cx="3017520" cy="457200"/>
            </a:xfrm>
            <a:prstGeom prst="flowChartProcess">
              <a:avLst/>
            </a:prstGeom>
            <a:solidFill>
              <a:srgbClr val="000000"/>
            </a:solidFill>
            <a:ln w="12700" cap="sq">
              <a:solidFill>
                <a:srgbClr val="000000"/>
              </a:solidFill>
              <a:miter lim="800000"/>
              <a:headEnd type="none" w="sm" len="sm"/>
              <a:tailEnd type="none" w="sm" len="sm"/>
            </a:ln>
            <a:effectLst>
              <a:outerShdw dist="35921" dir="2700000" algn="ctr" rotWithShape="0">
                <a:schemeClr val="bg2"/>
              </a:outerShdw>
            </a:effectLst>
          </p:spPr>
          <p:txBody>
            <a:bodyPr anchor="ctr">
              <a:no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ClrTx/>
                <a:buSzTx/>
                <a:buFontTx/>
                <a:buNone/>
              </a:pPr>
              <a:r>
                <a:rPr lang="en-US" altLang="en-US" sz="1600" dirty="0">
                  <a:solidFill>
                    <a:srgbClr val="FFFFFF"/>
                  </a:solidFill>
                  <a:latin typeface="Arial" panose="020B0604020202020204" pitchFamily="34" charset="0"/>
                </a:rPr>
                <a:t>Incident Investigation</a:t>
              </a:r>
            </a:p>
          </p:txBody>
        </p:sp>
        <p:sp>
          <p:nvSpPr>
            <p:cNvPr id="23" name="AutoShape 7"/>
            <p:cNvSpPr>
              <a:spLocks noChangeArrowheads="1"/>
            </p:cNvSpPr>
            <p:nvPr/>
          </p:nvSpPr>
          <p:spPr bwMode="auto">
            <a:xfrm>
              <a:off x="5545209" y="3118169"/>
              <a:ext cx="3017520" cy="457200"/>
            </a:xfrm>
            <a:prstGeom prst="flowChartProcess">
              <a:avLst/>
            </a:prstGeom>
            <a:solidFill>
              <a:srgbClr val="000000"/>
            </a:solidFill>
            <a:ln w="12700" cap="sq">
              <a:solidFill>
                <a:srgbClr val="000000"/>
              </a:solidFill>
              <a:miter lim="800000"/>
              <a:headEnd type="none" w="sm" len="sm"/>
              <a:tailEnd type="none" w="sm" len="sm"/>
            </a:ln>
            <a:effectLst>
              <a:outerShdw dist="35921" dir="2700000" algn="ctr" rotWithShape="0">
                <a:schemeClr val="bg2"/>
              </a:outerShdw>
            </a:effectLst>
          </p:spPr>
          <p:txBody>
            <a:bodyPr anchor="ctr">
              <a:no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ClrTx/>
                <a:buSzTx/>
                <a:buFontTx/>
                <a:buNone/>
              </a:pPr>
              <a:r>
                <a:rPr lang="en-US" altLang="en-US" sz="1600" dirty="0">
                  <a:solidFill>
                    <a:srgbClr val="FFFFFF"/>
                  </a:solidFill>
                  <a:latin typeface="Arial" panose="020B0604020202020204" pitchFamily="34" charset="0"/>
                </a:rPr>
                <a:t>Root Cause Analysis</a:t>
              </a:r>
            </a:p>
          </p:txBody>
        </p:sp>
        <p:cxnSp>
          <p:nvCxnSpPr>
            <p:cNvPr id="24" name="AutoShape 17"/>
            <p:cNvCxnSpPr>
              <a:cxnSpLocks noChangeShapeType="1"/>
              <a:stCxn id="25" idx="2"/>
            </p:cNvCxnSpPr>
            <p:nvPr/>
          </p:nvCxnSpPr>
          <p:spPr bwMode="auto">
            <a:xfrm flipV="1">
              <a:off x="7053969" y="4089049"/>
              <a:ext cx="0" cy="400720"/>
            </a:xfrm>
            <a:prstGeom prst="straightConnector1">
              <a:avLst/>
            </a:prstGeom>
            <a:noFill/>
            <a:ln w="31750" cap="sq">
              <a:solidFill>
                <a:srgbClr val="000000"/>
              </a:solidFill>
              <a:round/>
              <a:headEnd type="none" w="sm" len="sm"/>
              <a:tailEnd type="triangle" w="med" len="med"/>
            </a:ln>
            <a:extLst>
              <a:ext uri="{909E8E84-426E-40DD-AFC4-6F175D3DCCD1}">
                <a14:hiddenFill xmlns:a14="http://schemas.microsoft.com/office/drawing/2010/main">
                  <a:noFill/>
                </a14:hiddenFill>
              </a:ext>
            </a:extLst>
          </p:spPr>
        </p:cxnSp>
        <p:sp>
          <p:nvSpPr>
            <p:cNvPr id="25" name="AutoShape 8"/>
            <p:cNvSpPr>
              <a:spLocks noChangeArrowheads="1"/>
            </p:cNvSpPr>
            <p:nvPr/>
          </p:nvSpPr>
          <p:spPr bwMode="auto">
            <a:xfrm>
              <a:off x="5545209" y="4032569"/>
              <a:ext cx="3017520" cy="457200"/>
            </a:xfrm>
            <a:prstGeom prst="flowChartProcess">
              <a:avLst/>
            </a:prstGeom>
            <a:solidFill>
              <a:srgbClr val="000000"/>
            </a:solidFill>
            <a:ln w="12700" cap="sq">
              <a:solidFill>
                <a:srgbClr val="000000"/>
              </a:solidFill>
              <a:miter lim="800000"/>
              <a:headEnd type="none" w="sm" len="sm"/>
              <a:tailEnd type="none" w="sm" len="sm"/>
            </a:ln>
            <a:effectLst>
              <a:outerShdw dist="35921" dir="2700000" algn="ctr" rotWithShape="0">
                <a:schemeClr val="bg2"/>
              </a:outerShdw>
            </a:effectLst>
          </p:spPr>
          <p:txBody>
            <a:bodyPr anchor="ctr">
              <a:no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ClrTx/>
                <a:buSzTx/>
                <a:buFontTx/>
                <a:buNone/>
              </a:pPr>
              <a:r>
                <a:rPr lang="en-US" altLang="en-US" sz="1600" dirty="0">
                  <a:solidFill>
                    <a:srgbClr val="FFFFFF"/>
                  </a:solidFill>
                  <a:latin typeface="Arial" panose="020B0604020202020204" pitchFamily="34" charset="0"/>
                </a:rPr>
                <a:t>Manage Corrective Actions</a:t>
              </a:r>
            </a:p>
          </p:txBody>
        </p:sp>
        <p:cxnSp>
          <p:nvCxnSpPr>
            <p:cNvPr id="26" name="AutoShape 11"/>
            <p:cNvCxnSpPr>
              <a:cxnSpLocks noChangeShapeType="1"/>
              <a:stCxn id="22" idx="2"/>
              <a:endCxn id="23" idx="0"/>
            </p:cNvCxnSpPr>
            <p:nvPr/>
          </p:nvCxnSpPr>
          <p:spPr bwMode="auto">
            <a:xfrm>
              <a:off x="7053969" y="2660969"/>
              <a:ext cx="0" cy="457200"/>
            </a:xfrm>
            <a:prstGeom prst="straightConnector1">
              <a:avLst/>
            </a:prstGeom>
            <a:noFill/>
            <a:ln w="31750" cap="sq">
              <a:solidFill>
                <a:srgbClr val="000000"/>
              </a:solidFill>
              <a:round/>
              <a:headEnd type="none" w="sm" len="sm"/>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025195683"/>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 exhibit commitment to the RM program by working to ensure that the RM program is effective. </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Effective application of a PECI program ensures that all parts of the risk management program are effectively (and robustly) implemented. </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 this, leaders CHECK that their risk management program is effective, and when deficiencies are found (management system weaknesses), actions can be taken to correct.</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overall program and thus its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are on a continuous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cycle of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improvement!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PECI </a:t>
            </a:r>
            <a:r>
              <a:rPr lang="en-US" altLang="en-US" sz="2400" b="0" dirty="0">
                <a:solidFill>
                  <a:schemeClr val="accent2"/>
                </a:solidFill>
                <a:latin typeface="Arial" panose="020B0604020202020204" pitchFamily="34" charset="0"/>
                <a:ea typeface="+mj-ea"/>
                <a:cs typeface="Arial" panose="020B0604020202020204" pitchFamily="34" charset="0"/>
              </a:rPr>
              <a:t>&amp; Leadership in Risk </a:t>
            </a:r>
            <a:r>
              <a:rPr lang="en-US" altLang="en-US" sz="2400" b="0" dirty="0" smtClean="0">
                <a:solidFill>
                  <a:schemeClr val="accent2"/>
                </a:solidFill>
                <a:latin typeface="Arial" panose="020B0604020202020204" pitchFamily="34" charset="0"/>
                <a:ea typeface="+mj-ea"/>
                <a:cs typeface="Arial" panose="020B0604020202020204" pitchFamily="34" charset="0"/>
              </a:rPr>
              <a:t>Management: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fr-FR" sz="1200" i="1" kern="0" dirty="0" err="1" smtClean="0">
                <a:solidFill>
                  <a:srgbClr val="000000"/>
                </a:solidFill>
                <a:ea typeface="Times New Roman"/>
                <a:cs typeface="Arial" panose="020B0604020202020204" pitchFamily="34" charset="0"/>
                <a:sym typeface="Times New Roman"/>
              </a:rPr>
              <a:t>Chapter</a:t>
            </a:r>
            <a:r>
              <a:rPr lang="fr-FR" sz="1200" i="1" kern="0" dirty="0" smtClean="0">
                <a:solidFill>
                  <a:srgbClr val="000000"/>
                </a:solidFill>
                <a:ea typeface="Times New Roman"/>
                <a:cs typeface="Arial" panose="020B0604020202020204" pitchFamily="34" charset="0"/>
                <a:sym typeface="Times New Roman"/>
              </a:rPr>
              <a:t> 3.3: RME #6 PECI</a:t>
            </a:r>
            <a:endParaRPr lang="en-US" sz="1200" i="1" kern="0" dirty="0">
              <a:solidFill>
                <a:srgbClr val="000000"/>
              </a:solidFill>
              <a:ea typeface="Times New Roman"/>
              <a:cs typeface="Arial" panose="020B0604020202020204" pitchFamily="34" charset="0"/>
              <a:sym typeface="Times New Roman"/>
            </a:endParaRPr>
          </a:p>
        </p:txBody>
      </p:sp>
      <p:sp>
        <p:nvSpPr>
          <p:cNvPr id="10" name="TextBox 1"/>
          <p:cNvSpPr txBox="1">
            <a:spLocks noChangeArrowheads="1"/>
          </p:cNvSpPr>
          <p:nvPr/>
        </p:nvSpPr>
        <p:spPr bwMode="auto">
          <a:xfrm>
            <a:off x="2514600" y="3709987"/>
            <a:ext cx="6248400" cy="2462213"/>
          </a:xfrm>
          <a:prstGeom prst="rect">
            <a:avLst/>
          </a:prstGeom>
          <a:solidFill>
            <a:schemeClr val="bg1"/>
          </a:solidFill>
          <a:ln>
            <a:noFill/>
          </a:ln>
          <a:extLst/>
        </p:spPr>
        <p:txBody>
          <a:bodyPr wrap="square">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R="0">
              <a:spcBef>
                <a:spcPts val="0"/>
              </a:spcBef>
              <a:spcAft>
                <a:spcPts val="0"/>
              </a:spcAft>
              <a:buNone/>
            </a:pPr>
            <a:r>
              <a:rPr lang="en-US" sz="1400" b="1" u="sng" dirty="0">
                <a:latin typeface="Arial" panose="020B0604020202020204" pitchFamily="34" charset="0"/>
                <a:ea typeface="Times New Roman" panose="02020603050405020304" pitchFamily="18" charset="0"/>
                <a:cs typeface="Arial" panose="020B0604020202020204" pitchFamily="34" charset="0"/>
              </a:rPr>
              <a:t>ENGG404 Risk Management System and its 11 Elements:</a:t>
            </a:r>
            <a:endParaRPr lang="en-US" sz="1400" u="sng" dirty="0">
              <a:latin typeface="Arial" panose="020B0604020202020204" pitchFamily="34" charset="0"/>
              <a:ea typeface="Times New Roman" panose="02020603050405020304" pitchFamily="18" charset="0"/>
              <a:cs typeface="Arial" panose="020B0604020202020204" pitchFamily="34" charset="0"/>
            </a:endParaRPr>
          </a:p>
          <a:p>
            <a:pPr marL="342900" marR="0" lvl="0" indent="-342900">
              <a:spcBef>
                <a:spcPts val="0"/>
              </a:spcBef>
              <a:spcAft>
                <a:spcPts val="0"/>
              </a:spcAft>
              <a:buClrTx/>
              <a:buSzPct val="100000"/>
              <a:buFont typeface="+mj-lt"/>
              <a:buAutoNum type="arabicParenR"/>
            </a:pPr>
            <a:r>
              <a:rPr lang="en-US" sz="1600" dirty="0">
                <a:solidFill>
                  <a:srgbClr val="FF0000"/>
                </a:solidFill>
                <a:latin typeface="Arial" panose="020B0604020202020204" pitchFamily="34" charset="0"/>
                <a:ea typeface="Times New Roman" panose="02020603050405020304" pitchFamily="18" charset="0"/>
                <a:cs typeface="Arial" panose="020B0604020202020204" pitchFamily="34" charset="0"/>
              </a:rPr>
              <a:t>Management Leadership, Commitment and Accountability.</a:t>
            </a:r>
          </a:p>
          <a:p>
            <a:pPr marL="342900" marR="0" lvl="0" indent="-342900">
              <a:spcBef>
                <a:spcPts val="0"/>
              </a:spcBef>
              <a:spcAft>
                <a:spcPts val="0"/>
              </a:spcAft>
              <a:buClrTx/>
              <a:buSzPct val="100000"/>
              <a:buFont typeface="+mj-lt"/>
              <a:buAutoNum type="arabicParenR"/>
            </a:pPr>
            <a:r>
              <a:rPr lang="en-US" sz="1200" dirty="0">
                <a:latin typeface="Arial" panose="020B0604020202020204" pitchFamily="34" charset="0"/>
                <a:ea typeface="Times New Roman" panose="02020603050405020304" pitchFamily="18" charset="0"/>
                <a:cs typeface="Arial" panose="020B0604020202020204" pitchFamily="34" charset="0"/>
              </a:rPr>
              <a:t>Risk Assessment and Management of Risks.</a:t>
            </a:r>
          </a:p>
          <a:p>
            <a:pPr marL="342900" marR="0" lvl="0" indent="-342900">
              <a:spcBef>
                <a:spcPts val="0"/>
              </a:spcBef>
              <a:spcAft>
                <a:spcPts val="0"/>
              </a:spcAft>
              <a:buClrTx/>
              <a:buSzPct val="100000"/>
              <a:buFont typeface="+mj-lt"/>
              <a:buAutoNum type="arabicParenR"/>
            </a:pPr>
            <a:r>
              <a:rPr lang="en-US" sz="1200" dirty="0">
                <a:latin typeface="Arial" panose="020B0604020202020204" pitchFamily="34" charset="0"/>
                <a:ea typeface="Times New Roman" panose="02020603050405020304" pitchFamily="18" charset="0"/>
                <a:cs typeface="Arial" panose="020B0604020202020204" pitchFamily="34" charset="0"/>
              </a:rPr>
              <a:t>Community Awareness and Emergency Preparedness.</a:t>
            </a:r>
          </a:p>
          <a:p>
            <a:pPr marL="342900" marR="0" lvl="0" indent="-342900">
              <a:spcBef>
                <a:spcPts val="0"/>
              </a:spcBef>
              <a:spcAft>
                <a:spcPts val="0"/>
              </a:spcAft>
              <a:buClrTx/>
              <a:buSzPct val="100000"/>
              <a:buFont typeface="+mj-lt"/>
              <a:buAutoNum type="arabicParenR"/>
            </a:pPr>
            <a:r>
              <a:rPr lang="en-US" sz="1200" dirty="0">
                <a:latin typeface="Arial" panose="020B0604020202020204" pitchFamily="34" charset="0"/>
                <a:ea typeface="Times New Roman" panose="02020603050405020304" pitchFamily="18" charset="0"/>
                <a:cs typeface="Arial" panose="020B0604020202020204" pitchFamily="34" charset="0"/>
              </a:rPr>
              <a:t>Management of Change.</a:t>
            </a:r>
          </a:p>
          <a:p>
            <a:pPr marL="342900" marR="0" lvl="0" indent="-342900">
              <a:spcBef>
                <a:spcPts val="0"/>
              </a:spcBef>
              <a:spcAft>
                <a:spcPts val="0"/>
              </a:spcAft>
              <a:buClrTx/>
              <a:buSzPct val="100000"/>
              <a:buFont typeface="+mj-lt"/>
              <a:buAutoNum type="arabicParenR"/>
            </a:pPr>
            <a:r>
              <a:rPr lang="en-US" sz="1200" dirty="0">
                <a:latin typeface="Arial" panose="020B0604020202020204" pitchFamily="34" charset="0"/>
                <a:ea typeface="Times New Roman" panose="02020603050405020304" pitchFamily="18" charset="0"/>
                <a:cs typeface="Arial" panose="020B0604020202020204" pitchFamily="34" charset="0"/>
              </a:rPr>
              <a:t>Incident Reporting, Investigation, Analysis and Actions.</a:t>
            </a:r>
          </a:p>
          <a:p>
            <a:pPr marL="342900" marR="0" lvl="0" indent="-342900">
              <a:spcBef>
                <a:spcPts val="0"/>
              </a:spcBef>
              <a:spcAft>
                <a:spcPts val="0"/>
              </a:spcAft>
              <a:buClrTx/>
              <a:buSzPct val="100000"/>
              <a:buFont typeface="+mj-lt"/>
              <a:buAutoNum type="arabicParenR"/>
            </a:pPr>
            <a:r>
              <a:rPr lang="en-US" sz="1600" dirty="0">
                <a:solidFill>
                  <a:srgbClr val="FF0000"/>
                </a:solidFill>
                <a:latin typeface="Arial" panose="020B0604020202020204" pitchFamily="34" charset="0"/>
                <a:ea typeface="Times New Roman" panose="02020603050405020304" pitchFamily="18" charset="0"/>
                <a:cs typeface="Arial" panose="020B0604020202020204" pitchFamily="34" charset="0"/>
              </a:rPr>
              <a:t>Program Evaluation and Continuous Improvement. </a:t>
            </a:r>
          </a:p>
          <a:p>
            <a:pPr marL="342900" marR="0" lvl="0" indent="-342900">
              <a:spcBef>
                <a:spcPts val="0"/>
              </a:spcBef>
              <a:spcAft>
                <a:spcPts val="0"/>
              </a:spcAft>
              <a:buClrTx/>
              <a:buSzPct val="100000"/>
              <a:buFont typeface="+mj-lt"/>
              <a:buAutoNum type="arabicParenR"/>
            </a:pPr>
            <a:r>
              <a:rPr lang="en-US" sz="1200" dirty="0">
                <a:latin typeface="Arial" panose="020B0604020202020204" pitchFamily="34" charset="0"/>
                <a:ea typeface="Times New Roman" panose="02020603050405020304" pitchFamily="18" charset="0"/>
                <a:cs typeface="Arial" panose="020B0604020202020204" pitchFamily="34" charset="0"/>
              </a:rPr>
              <a:t>Design, Construction and Start-up.</a:t>
            </a:r>
          </a:p>
          <a:p>
            <a:pPr marL="342900" marR="0" lvl="0" indent="-342900">
              <a:spcBef>
                <a:spcPts val="0"/>
              </a:spcBef>
              <a:spcAft>
                <a:spcPts val="0"/>
              </a:spcAft>
              <a:buClrTx/>
              <a:buSzPct val="100000"/>
              <a:buFont typeface="+mj-lt"/>
              <a:buAutoNum type="arabicParenR"/>
            </a:pPr>
            <a:r>
              <a:rPr lang="en-US" sz="1200" dirty="0">
                <a:latin typeface="Arial" panose="020B0604020202020204" pitchFamily="34" charset="0"/>
                <a:ea typeface="Times New Roman" panose="02020603050405020304" pitchFamily="18" charset="0"/>
                <a:cs typeface="Arial" panose="020B0604020202020204" pitchFamily="34" charset="0"/>
              </a:rPr>
              <a:t>Operations and Maintenance.</a:t>
            </a:r>
          </a:p>
          <a:p>
            <a:pPr marL="342900" marR="0" lvl="0" indent="-342900">
              <a:spcBef>
                <a:spcPts val="0"/>
              </a:spcBef>
              <a:spcAft>
                <a:spcPts val="0"/>
              </a:spcAft>
              <a:buClrTx/>
              <a:buSzPct val="100000"/>
              <a:buFont typeface="+mj-lt"/>
              <a:buAutoNum type="arabicParenR"/>
            </a:pPr>
            <a:r>
              <a:rPr lang="en-US" sz="1200" dirty="0">
                <a:latin typeface="Arial" panose="020B0604020202020204" pitchFamily="34" charset="0"/>
                <a:ea typeface="Times New Roman" panose="02020603050405020304" pitchFamily="18" charset="0"/>
                <a:cs typeface="Arial" panose="020B0604020202020204" pitchFamily="34" charset="0"/>
              </a:rPr>
              <a:t>Employee Competency and Training.</a:t>
            </a:r>
          </a:p>
          <a:p>
            <a:pPr marL="342900" marR="0" lvl="0" indent="-342900">
              <a:spcBef>
                <a:spcPts val="0"/>
              </a:spcBef>
              <a:spcAft>
                <a:spcPts val="0"/>
              </a:spcAft>
              <a:buClrTx/>
              <a:buSzPct val="100000"/>
              <a:buFont typeface="+mj-lt"/>
              <a:buAutoNum type="arabicParenR"/>
            </a:pPr>
            <a:r>
              <a:rPr lang="en-US" sz="1200" dirty="0">
                <a:latin typeface="Arial" panose="020B0604020202020204" pitchFamily="34" charset="0"/>
                <a:ea typeface="Times New Roman" panose="02020603050405020304" pitchFamily="18" charset="0"/>
                <a:cs typeface="Arial" panose="020B0604020202020204" pitchFamily="34" charset="0"/>
              </a:rPr>
              <a:t>Contractor Competency and Integration.</a:t>
            </a:r>
          </a:p>
          <a:p>
            <a:pPr marL="342900" marR="0" lvl="0" indent="-342900">
              <a:spcBef>
                <a:spcPts val="0"/>
              </a:spcBef>
              <a:spcAft>
                <a:spcPts val="0"/>
              </a:spcAft>
              <a:buClrTx/>
              <a:buSzPct val="100000"/>
              <a:buFont typeface="+mj-lt"/>
              <a:buAutoNum type="arabicParenR"/>
            </a:pPr>
            <a:r>
              <a:rPr lang="en-US" sz="1200" dirty="0">
                <a:latin typeface="Arial" panose="020B0604020202020204" pitchFamily="34" charset="0"/>
                <a:ea typeface="Times New Roman" panose="02020603050405020304" pitchFamily="18" charset="0"/>
                <a:cs typeface="Arial" panose="020B0604020202020204" pitchFamily="34" charset="0"/>
              </a:rPr>
              <a:t>Operations and Facilities Information and Documentation.</a:t>
            </a:r>
          </a:p>
        </p:txBody>
      </p:sp>
      <p:sp>
        <p:nvSpPr>
          <p:cNvPr id="7" name="TextBox 1"/>
          <p:cNvSpPr txBox="1">
            <a:spLocks noChangeArrowheads="1"/>
          </p:cNvSpPr>
          <p:nvPr/>
        </p:nvSpPr>
        <p:spPr bwMode="auto">
          <a:xfrm>
            <a:off x="280416" y="3709987"/>
            <a:ext cx="2209800" cy="794802"/>
          </a:xfrm>
          <a:prstGeom prst="rightArrow">
            <a:avLst/>
          </a:prstGeom>
          <a:solidFill>
            <a:srgbClr val="FFFF00"/>
          </a:solidFill>
          <a:ln>
            <a:solidFill>
              <a:schemeClr val="tx1"/>
            </a:solidFill>
          </a:ln>
          <a:extLst/>
        </p:spPr>
        <p:txBody>
          <a:bodyPr wrap="square">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000" i="1" dirty="0">
                <a:latin typeface="Arial" panose="020B0604020202020204" pitchFamily="34" charset="0"/>
                <a:cs typeface="Arial" panose="020B0604020202020204" pitchFamily="34" charset="0"/>
              </a:rPr>
              <a:t>DRIVER</a:t>
            </a:r>
          </a:p>
        </p:txBody>
      </p:sp>
      <p:sp>
        <p:nvSpPr>
          <p:cNvPr id="11" name="TextBox 1"/>
          <p:cNvSpPr txBox="1">
            <a:spLocks noChangeArrowheads="1"/>
          </p:cNvSpPr>
          <p:nvPr/>
        </p:nvSpPr>
        <p:spPr bwMode="auto">
          <a:xfrm>
            <a:off x="304800" y="4691598"/>
            <a:ext cx="2209800" cy="794802"/>
          </a:xfrm>
          <a:prstGeom prst="rightArrow">
            <a:avLst/>
          </a:prstGeom>
          <a:solidFill>
            <a:srgbClr val="FFFF00"/>
          </a:solidFill>
          <a:ln>
            <a:solidFill>
              <a:schemeClr val="tx1"/>
            </a:solidFill>
          </a:ln>
          <a:extLst/>
        </p:spPr>
        <p:txBody>
          <a:bodyPr wrap="square">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000" i="1" dirty="0" smtClean="0">
                <a:latin typeface="Arial" panose="020B0604020202020204" pitchFamily="34" charset="0"/>
                <a:cs typeface="Arial" panose="020B0604020202020204" pitchFamily="34" charset="0"/>
              </a:rPr>
              <a:t>EVALUATION</a:t>
            </a:r>
            <a:endParaRPr lang="en-CA" altLang="en-US" sz="20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637002"/>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r>
              <a:rPr kumimoji="0" lang="en-US" altLang="en-US" sz="16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How #1 MLCA &amp; #6 PECI integrate with the “know-how / how-to” (operations) of risk management:</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en-US" sz="2400" b="0" i="0" u="none" strike="noStrike" kern="0" cap="none" spc="0" normalizeH="0" baseline="0" noProof="0" dirty="0" smtClean="0">
                <a:ln>
                  <a:noFill/>
                </a:ln>
                <a:solidFill>
                  <a:srgbClr val="333399"/>
                </a:solidFill>
                <a:effectLst/>
                <a:uLnTx/>
                <a:uFillTx/>
                <a:latin typeface="Arial" panose="020B0604020202020204" pitchFamily="34" charset="0"/>
                <a:ea typeface="+mj-ea"/>
                <a:cs typeface="Arial" panose="020B0604020202020204" pitchFamily="34" charset="0"/>
                <a:sym typeface="Arial"/>
              </a:rPr>
              <a:t>The APEGA Model – Driver, Evaluation, and Operations:</a:t>
            </a:r>
            <a:endParaRPr kumimoji="0" lang="en-US" altLang="en-US" sz="2400" b="0" i="0" u="none" strike="noStrike" kern="0" cap="none" spc="0" normalizeH="0" baseline="0" noProof="0" dirty="0">
              <a:ln>
                <a:noFill/>
              </a:ln>
              <a:solidFill>
                <a:srgbClr val="333399"/>
              </a:solidFill>
              <a:effectLst/>
              <a:uLnTx/>
              <a:uFillTx/>
              <a:latin typeface="Arial" panose="020B0604020202020204" pitchFamily="34" charset="0"/>
              <a:ea typeface="+mj-ea"/>
              <a:cs typeface="Arial" panose="020B0604020202020204" pitchFamily="34" charset="0"/>
              <a:sym typeface="Arial"/>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9AAC074-F6B9-4EA4-AE59-9F9DB0D8944F}" type="slidenum">
              <a:rPr kumimoji="0" lang="en-US" altLang="en-US" sz="1200" b="1" i="1"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auto" latinLnBrk="0" hangingPunct="1">
                <a:lnSpc>
                  <a:spcPct val="100000"/>
                </a:lnSpc>
                <a:spcBef>
                  <a:spcPct val="0"/>
                </a:spcBef>
                <a:spcAft>
                  <a:spcPts val="0"/>
                </a:spcAft>
                <a:buClrTx/>
                <a:buSzTx/>
                <a:buFontTx/>
                <a:buNone/>
                <a:tabLst/>
                <a:defRPr/>
              </a:pPr>
              <a:t>13</a:t>
            </a:fld>
            <a:endParaRPr kumimoji="0" lang="en-US" altLang="en-US" sz="1200" b="1" i="1"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
        <p:nvSpPr>
          <p:cNvPr id="3" name="Rectangle 2"/>
          <p:cNvSpPr/>
          <p:nvPr/>
        </p:nvSpPr>
        <p:spPr>
          <a:xfrm>
            <a:off x="251999" y="2497040"/>
            <a:ext cx="2304000" cy="2520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smtClean="0">
                <a:ln>
                  <a:noFill/>
                </a:ln>
                <a:solidFill>
                  <a:srgbClr val="000000"/>
                </a:solidFill>
                <a:effectLst/>
                <a:uLnTx/>
                <a:uFillTx/>
                <a:latin typeface="Arial"/>
                <a:ea typeface="+mn-ea"/>
                <a:cs typeface="+mn-cs"/>
                <a:sym typeface="Arial"/>
              </a:rPr>
              <a:t>#1 Management </a:t>
            </a:r>
            <a:br>
              <a:rPr kumimoji="0" lang="en-US" sz="1400" b="1" i="0" u="none" strike="noStrike" kern="0" cap="none" spc="0" normalizeH="0" baseline="0" noProof="0" dirty="0" smtClean="0">
                <a:ln>
                  <a:noFill/>
                </a:ln>
                <a:solidFill>
                  <a:srgbClr val="000000"/>
                </a:solidFill>
                <a:effectLst/>
                <a:uLnTx/>
                <a:uFillTx/>
                <a:latin typeface="Arial"/>
                <a:ea typeface="+mn-ea"/>
                <a:cs typeface="+mn-cs"/>
                <a:sym typeface="Arial"/>
              </a:rPr>
            </a:br>
            <a:r>
              <a:rPr kumimoji="0" lang="en-US" sz="1400" b="1" i="0" u="none" strike="noStrike" kern="0" cap="none" spc="0" normalizeH="0" baseline="0" noProof="0" dirty="0" smtClean="0">
                <a:ln>
                  <a:noFill/>
                </a:ln>
                <a:solidFill>
                  <a:srgbClr val="000000"/>
                </a:solidFill>
                <a:effectLst/>
                <a:uLnTx/>
                <a:uFillTx/>
                <a:latin typeface="Arial"/>
                <a:ea typeface="+mn-ea"/>
                <a:cs typeface="+mn-cs"/>
                <a:sym typeface="Arial"/>
              </a:rPr>
              <a:t>Leadership</a:t>
            </a:r>
            <a:r>
              <a:rPr kumimoji="0" lang="en-US" sz="1400" b="1" i="0" u="none" strike="noStrike" kern="0" cap="none" spc="0" normalizeH="0" baseline="0" noProof="0" dirty="0">
                <a:ln>
                  <a:noFill/>
                </a:ln>
                <a:solidFill>
                  <a:srgbClr val="000000"/>
                </a:solidFill>
                <a:effectLst/>
                <a:uLnTx/>
                <a:uFillTx/>
                <a:latin typeface="Arial"/>
                <a:ea typeface="+mn-ea"/>
                <a:cs typeface="+mn-cs"/>
                <a:sym typeface="Arial"/>
              </a:rPr>
              <a:t>, </a:t>
            </a:r>
            <a:r>
              <a:rPr kumimoji="0" lang="en-US" sz="1400" b="1" i="0" u="none" strike="noStrike" kern="0" cap="none" spc="0" normalizeH="0" baseline="0" noProof="0" dirty="0" smtClean="0">
                <a:ln>
                  <a:noFill/>
                </a:ln>
                <a:solidFill>
                  <a:srgbClr val="000000"/>
                </a:solidFill>
                <a:effectLst/>
                <a:uLnTx/>
                <a:uFillTx/>
                <a:latin typeface="Arial"/>
                <a:ea typeface="+mn-ea"/>
                <a:cs typeface="+mn-cs"/>
                <a:sym typeface="Arial"/>
              </a:rPr>
              <a:t/>
            </a:r>
            <a:br>
              <a:rPr kumimoji="0" lang="en-US" sz="1400" b="1" i="0" u="none" strike="noStrike" kern="0" cap="none" spc="0" normalizeH="0" baseline="0" noProof="0" dirty="0" smtClean="0">
                <a:ln>
                  <a:noFill/>
                </a:ln>
                <a:solidFill>
                  <a:srgbClr val="000000"/>
                </a:solidFill>
                <a:effectLst/>
                <a:uLnTx/>
                <a:uFillTx/>
                <a:latin typeface="Arial"/>
                <a:ea typeface="+mn-ea"/>
                <a:cs typeface="+mn-cs"/>
                <a:sym typeface="Arial"/>
              </a:rPr>
            </a:br>
            <a:r>
              <a:rPr kumimoji="0" lang="en-US" sz="1400" b="1" i="0" u="none" strike="noStrike" kern="0" cap="none" spc="0" normalizeH="0" baseline="0" noProof="0" dirty="0" smtClean="0">
                <a:ln>
                  <a:noFill/>
                </a:ln>
                <a:solidFill>
                  <a:srgbClr val="000000"/>
                </a:solidFill>
                <a:effectLst/>
                <a:uLnTx/>
                <a:uFillTx/>
                <a:latin typeface="Arial"/>
                <a:ea typeface="+mn-ea"/>
                <a:cs typeface="+mn-cs"/>
                <a:sym typeface="Arial"/>
              </a:rPr>
              <a:t>Commitment,</a:t>
            </a:r>
            <a:br>
              <a:rPr kumimoji="0" lang="en-US" sz="1400" b="1" i="0" u="none" strike="noStrike" kern="0" cap="none" spc="0" normalizeH="0" baseline="0" noProof="0" dirty="0" smtClean="0">
                <a:ln>
                  <a:noFill/>
                </a:ln>
                <a:solidFill>
                  <a:srgbClr val="000000"/>
                </a:solidFill>
                <a:effectLst/>
                <a:uLnTx/>
                <a:uFillTx/>
                <a:latin typeface="Arial"/>
                <a:ea typeface="+mn-ea"/>
                <a:cs typeface="+mn-cs"/>
                <a:sym typeface="Arial"/>
              </a:rPr>
            </a:br>
            <a:r>
              <a:rPr kumimoji="0" lang="en-US" sz="1400" b="1" i="0" u="none" strike="noStrike" kern="0" cap="none" spc="0" normalizeH="0" baseline="0" noProof="0" dirty="0" smtClean="0">
                <a:ln>
                  <a:noFill/>
                </a:ln>
                <a:solidFill>
                  <a:srgbClr val="000000"/>
                </a:solidFill>
                <a:effectLst/>
                <a:uLnTx/>
                <a:uFillTx/>
                <a:latin typeface="Arial"/>
                <a:ea typeface="+mn-ea"/>
                <a:cs typeface="+mn-cs"/>
                <a:sym typeface="Arial"/>
              </a:rPr>
              <a:t>and Accountability</a:t>
            </a:r>
            <a:endParaRPr kumimoji="0" lang="en-US" sz="1400" b="1" i="0" u="none" strike="noStrike" kern="0" cap="none" spc="0" normalizeH="0" baseline="0" noProof="0" dirty="0">
              <a:ln>
                <a:noFill/>
              </a:ln>
              <a:solidFill>
                <a:srgbClr val="000000"/>
              </a:solidFill>
              <a:effectLst/>
              <a:uLnTx/>
              <a:uFillTx/>
              <a:latin typeface="Arial"/>
              <a:ea typeface="+mn-ea"/>
              <a:cs typeface="+mn-cs"/>
              <a:sym typeface="Arial"/>
            </a:endParaRPr>
          </a:p>
        </p:txBody>
      </p:sp>
      <p:sp>
        <p:nvSpPr>
          <p:cNvPr id="10" name="Rectangle 9"/>
          <p:cNvSpPr/>
          <p:nvPr/>
        </p:nvSpPr>
        <p:spPr>
          <a:xfrm>
            <a:off x="6480000" y="2497040"/>
            <a:ext cx="2304000" cy="2520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smtClean="0">
                <a:ln>
                  <a:noFill/>
                </a:ln>
                <a:solidFill>
                  <a:srgbClr val="000000"/>
                </a:solidFill>
                <a:effectLst/>
                <a:uLnTx/>
                <a:uFillTx/>
                <a:latin typeface="Arial"/>
                <a:ea typeface="+mn-ea"/>
                <a:cs typeface="+mn-cs"/>
                <a:sym typeface="Arial"/>
              </a:rPr>
              <a:t>#6 Program </a:t>
            </a:r>
            <a:br>
              <a:rPr kumimoji="0" lang="en-US" sz="1400" b="1" i="0" u="none" strike="noStrike" kern="0" cap="none" spc="0" normalizeH="0" baseline="0" noProof="0" dirty="0" smtClean="0">
                <a:ln>
                  <a:noFill/>
                </a:ln>
                <a:solidFill>
                  <a:srgbClr val="000000"/>
                </a:solidFill>
                <a:effectLst/>
                <a:uLnTx/>
                <a:uFillTx/>
                <a:latin typeface="Arial"/>
                <a:ea typeface="+mn-ea"/>
                <a:cs typeface="+mn-cs"/>
                <a:sym typeface="Arial"/>
              </a:rPr>
            </a:br>
            <a:r>
              <a:rPr kumimoji="0" lang="en-US" sz="1400" b="1" i="0" u="none" strike="noStrike" kern="0" cap="none" spc="0" normalizeH="0" baseline="0" noProof="0" dirty="0" smtClean="0">
                <a:ln>
                  <a:noFill/>
                </a:ln>
                <a:solidFill>
                  <a:srgbClr val="000000"/>
                </a:solidFill>
                <a:effectLst/>
                <a:uLnTx/>
                <a:uFillTx/>
                <a:latin typeface="Arial"/>
                <a:ea typeface="+mn-ea"/>
                <a:cs typeface="+mn-cs"/>
                <a:sym typeface="Arial"/>
              </a:rPr>
              <a:t>Evaluation </a:t>
            </a:r>
            <a:br>
              <a:rPr kumimoji="0" lang="en-US" sz="1400" b="1" i="0" u="none" strike="noStrike" kern="0" cap="none" spc="0" normalizeH="0" baseline="0" noProof="0" dirty="0" smtClean="0">
                <a:ln>
                  <a:noFill/>
                </a:ln>
                <a:solidFill>
                  <a:srgbClr val="000000"/>
                </a:solidFill>
                <a:effectLst/>
                <a:uLnTx/>
                <a:uFillTx/>
                <a:latin typeface="Arial"/>
                <a:ea typeface="+mn-ea"/>
                <a:cs typeface="+mn-cs"/>
                <a:sym typeface="Arial"/>
              </a:rPr>
            </a:br>
            <a:r>
              <a:rPr kumimoji="0" lang="en-US" sz="1400" b="1" i="0" u="none" strike="noStrike" kern="0" cap="none" spc="0" normalizeH="0" baseline="0" noProof="0" dirty="0" smtClean="0">
                <a:ln>
                  <a:noFill/>
                </a:ln>
                <a:solidFill>
                  <a:srgbClr val="000000"/>
                </a:solidFill>
                <a:effectLst/>
                <a:uLnTx/>
                <a:uFillTx/>
                <a:latin typeface="Arial"/>
                <a:ea typeface="+mn-ea"/>
                <a:cs typeface="+mn-cs"/>
                <a:sym typeface="Arial"/>
              </a:rPr>
              <a:t>and </a:t>
            </a:r>
            <a:r>
              <a:rPr kumimoji="0" lang="en-US" sz="1400" b="1" i="0" u="none" strike="noStrike" kern="0" cap="none" spc="0" normalizeH="0" baseline="0" noProof="0" dirty="0">
                <a:ln>
                  <a:noFill/>
                </a:ln>
                <a:solidFill>
                  <a:srgbClr val="000000"/>
                </a:solidFill>
                <a:effectLst/>
                <a:uLnTx/>
                <a:uFillTx/>
                <a:latin typeface="Arial"/>
                <a:ea typeface="+mn-ea"/>
                <a:cs typeface="+mn-cs"/>
                <a:sym typeface="Arial"/>
              </a:rPr>
              <a:t>Continuous </a:t>
            </a:r>
            <a:r>
              <a:rPr kumimoji="0" lang="en-US" sz="1400" b="1" i="0" u="none" strike="noStrike" kern="0" cap="none" spc="0" normalizeH="0" baseline="0" noProof="0" dirty="0" smtClean="0">
                <a:ln>
                  <a:noFill/>
                </a:ln>
                <a:solidFill>
                  <a:srgbClr val="000000"/>
                </a:solidFill>
                <a:effectLst/>
                <a:uLnTx/>
                <a:uFillTx/>
                <a:latin typeface="Arial"/>
                <a:ea typeface="+mn-ea"/>
                <a:cs typeface="+mn-cs"/>
                <a:sym typeface="Arial"/>
              </a:rPr>
              <a:t>Improvement</a:t>
            </a:r>
            <a:endParaRPr kumimoji="0" lang="en-US" sz="1400" b="1" i="0" u="none" strike="noStrike" kern="0" cap="none" spc="0" normalizeH="0" baseline="0" noProof="0" dirty="0">
              <a:ln>
                <a:noFill/>
              </a:ln>
              <a:solidFill>
                <a:srgbClr val="000000"/>
              </a:solidFill>
              <a:effectLst/>
              <a:uLnTx/>
              <a:uFillTx/>
              <a:latin typeface="Arial"/>
              <a:ea typeface="+mn-ea"/>
              <a:cs typeface="+mn-cs"/>
              <a:sym typeface="Arial"/>
            </a:endParaRPr>
          </a:p>
        </p:txBody>
      </p:sp>
      <p:sp>
        <p:nvSpPr>
          <p:cNvPr id="2" name="Oval 1"/>
          <p:cNvSpPr/>
          <p:nvPr/>
        </p:nvSpPr>
        <p:spPr>
          <a:xfrm>
            <a:off x="2160000" y="1403960"/>
            <a:ext cx="4680000" cy="4680000"/>
          </a:xfrm>
          <a:prstGeom prst="ellipse">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#2 </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Risk </a:t>
            </a:r>
            <a:r>
              <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rPr>
              <a:t>Assessment and </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
            </a:r>
            <a:b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b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Management </a:t>
            </a:r>
            <a:r>
              <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rPr>
              <a:t>of </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Risks</a:t>
            </a: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#3</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 Community </a:t>
            </a:r>
            <a:r>
              <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rPr>
              <a:t>Awareness and Emergency </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Preparedness</a:t>
            </a: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#4 Management </a:t>
            </a:r>
            <a:r>
              <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rPr>
              <a:t>of </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Change</a:t>
            </a: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#5</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 Incident </a:t>
            </a:r>
            <a:r>
              <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rPr>
              <a:t>Reporting, Investigation, Analysis and </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Actions</a:t>
            </a: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#7</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 Design</a:t>
            </a:r>
            <a:r>
              <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rPr>
              <a:t>, Construction and </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Start-up</a:t>
            </a: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#8</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 Operations </a:t>
            </a:r>
            <a:r>
              <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rPr>
              <a:t>and </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Maintenance</a:t>
            </a: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#9</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 Employee </a:t>
            </a:r>
            <a:r>
              <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rPr>
              <a:t>Competency and </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Training</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#10 </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Contractor </a:t>
            </a:r>
            <a:r>
              <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rPr>
              <a:t>Competency and </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Integration</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#11 </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Operations </a:t>
            </a:r>
            <a:r>
              <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rPr>
              <a:t>and Facilities Information and </a:t>
            </a:r>
            <a:r>
              <a:rPr kumimoji="0" lang="en-US" sz="1400" b="0" i="0" u="none" strike="noStrike" kern="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sym typeface="Arial"/>
              </a:rPr>
              <a:t>Documentation</a:t>
            </a: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endParaRPr>
          </a:p>
        </p:txBody>
      </p:sp>
      <p:cxnSp>
        <p:nvCxnSpPr>
          <p:cNvPr id="5" name="Elbow Connector 4"/>
          <p:cNvCxnSpPr/>
          <p:nvPr/>
        </p:nvCxnSpPr>
        <p:spPr>
          <a:xfrm rot="10800000" flipV="1">
            <a:off x="4389121" y="4336900"/>
            <a:ext cx="3257680" cy="1464459"/>
          </a:xfrm>
          <a:prstGeom prst="bentConnector3">
            <a:avLst>
              <a:gd name="adj1" fmla="val -1148"/>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p:cNvCxnSpPr>
            <a:endCxn id="3" idx="2"/>
          </p:cNvCxnSpPr>
          <p:nvPr/>
        </p:nvCxnSpPr>
        <p:spPr>
          <a:xfrm rot="10800000">
            <a:off x="1404000" y="5017040"/>
            <a:ext cx="3096001" cy="784320"/>
          </a:xfrm>
          <a:prstGeom prst="bentConnector2">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flipV="1">
            <a:off x="1350721" y="2728903"/>
            <a:ext cx="1505960" cy="422160"/>
          </a:xfrm>
          <a:prstGeom prst="bentConnector3">
            <a:avLst>
              <a:gd name="adj1" fmla="val 1425"/>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a:off x="6393200" y="2728902"/>
            <a:ext cx="1256079" cy="441018"/>
          </a:xfrm>
          <a:prstGeom prst="bentConnector3">
            <a:avLst>
              <a:gd name="adj1" fmla="val 100150"/>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rot="10800000">
            <a:off x="6336001" y="4551681"/>
            <a:ext cx="1346807" cy="9"/>
          </a:xfrm>
          <a:prstGeom prst="bentConnector3">
            <a:avLst>
              <a:gd name="adj1" fmla="val 50000"/>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251999" y="2055668"/>
            <a:ext cx="23040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smtClean="0">
                <a:ln>
                  <a:noFill/>
                </a:ln>
                <a:solidFill>
                  <a:srgbClr val="000000"/>
                </a:solidFill>
                <a:effectLst/>
                <a:uLnTx/>
                <a:uFillTx/>
                <a:latin typeface="Arial"/>
                <a:cs typeface="Arial"/>
                <a:sym typeface="Arial"/>
              </a:rPr>
              <a:t>“</a:t>
            </a:r>
            <a:r>
              <a:rPr kumimoji="0" lang="en-US" sz="1800" b="1" i="0" u="sng" strike="noStrike" kern="0" cap="none" spc="0" normalizeH="0" baseline="0" noProof="0" dirty="0" smtClean="0">
                <a:ln>
                  <a:noFill/>
                </a:ln>
                <a:solidFill>
                  <a:srgbClr val="000000"/>
                </a:solidFill>
                <a:effectLst/>
                <a:uLnTx/>
                <a:uFillTx/>
                <a:latin typeface="Arial"/>
                <a:cs typeface="Arial"/>
                <a:sym typeface="Arial"/>
              </a:rPr>
              <a:t>DRIVER</a:t>
            </a:r>
            <a:r>
              <a:rPr kumimoji="0" lang="en-US" sz="1800" b="1" i="0" u="none" strike="noStrike" kern="0" cap="none" spc="0" normalizeH="0" baseline="0" noProof="0" dirty="0" smtClean="0">
                <a:ln>
                  <a:noFill/>
                </a:ln>
                <a:solidFill>
                  <a:srgbClr val="000000"/>
                </a:solidFill>
                <a:effectLst/>
                <a:uLnTx/>
                <a:uFillTx/>
                <a:latin typeface="Arial"/>
                <a:cs typeface="Arial"/>
                <a:sym typeface="Arial"/>
              </a:rPr>
              <a:t>”</a:t>
            </a:r>
            <a:endParaRPr kumimoji="0" lang="en-US" sz="1800" b="1" i="0" u="none" strike="noStrike" kern="0" cap="none" spc="0" normalizeH="0" baseline="0" noProof="0" dirty="0">
              <a:ln>
                <a:noFill/>
              </a:ln>
              <a:solidFill>
                <a:srgbClr val="000000"/>
              </a:solidFill>
              <a:effectLst/>
              <a:uLnTx/>
              <a:uFillTx/>
              <a:latin typeface="Arial"/>
              <a:cs typeface="Arial"/>
              <a:sym typeface="Arial"/>
            </a:endParaRPr>
          </a:p>
        </p:txBody>
      </p:sp>
      <p:sp>
        <p:nvSpPr>
          <p:cNvPr id="71" name="TextBox 70"/>
          <p:cNvSpPr txBox="1"/>
          <p:nvPr/>
        </p:nvSpPr>
        <p:spPr>
          <a:xfrm>
            <a:off x="6336000" y="2044942"/>
            <a:ext cx="23040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smtClean="0">
                <a:ln>
                  <a:noFill/>
                </a:ln>
                <a:solidFill>
                  <a:srgbClr val="000000"/>
                </a:solidFill>
                <a:effectLst/>
                <a:uLnTx/>
                <a:uFillTx/>
                <a:latin typeface="Arial"/>
                <a:cs typeface="Arial"/>
                <a:sym typeface="Arial"/>
              </a:rPr>
              <a:t>“</a:t>
            </a:r>
            <a:r>
              <a:rPr kumimoji="0" lang="en-US" sz="1800" b="1" i="0" u="sng" strike="noStrike" kern="0" cap="none" spc="0" normalizeH="0" baseline="0" noProof="0" dirty="0" smtClean="0">
                <a:ln>
                  <a:noFill/>
                </a:ln>
                <a:solidFill>
                  <a:srgbClr val="000000"/>
                </a:solidFill>
                <a:effectLst/>
                <a:uLnTx/>
                <a:uFillTx/>
                <a:latin typeface="Arial"/>
                <a:cs typeface="Arial"/>
                <a:sym typeface="Arial"/>
              </a:rPr>
              <a:t>EVALUATION</a:t>
            </a:r>
            <a:r>
              <a:rPr kumimoji="0" lang="en-US" sz="1800" b="1" i="0" u="none" strike="noStrike" kern="0" cap="none" spc="0" normalizeH="0" baseline="0" noProof="0" dirty="0" smtClean="0">
                <a:ln>
                  <a:noFill/>
                </a:ln>
                <a:solidFill>
                  <a:srgbClr val="000000"/>
                </a:solidFill>
                <a:effectLst/>
                <a:uLnTx/>
                <a:uFillTx/>
                <a:latin typeface="Arial"/>
                <a:cs typeface="Arial"/>
                <a:sym typeface="Arial"/>
              </a:rPr>
              <a:t>”</a:t>
            </a:r>
            <a:endParaRPr kumimoji="0" lang="en-US" sz="1800" b="1" i="0" u="none" strike="noStrike" kern="0" cap="none" spc="0" normalizeH="0" baseline="0" noProof="0" dirty="0">
              <a:ln>
                <a:noFill/>
              </a:ln>
              <a:solidFill>
                <a:srgbClr val="000000"/>
              </a:solidFill>
              <a:effectLst/>
              <a:uLnTx/>
              <a:uFillTx/>
              <a:latin typeface="Arial"/>
              <a:cs typeface="Arial"/>
              <a:sym typeface="Arial"/>
            </a:endParaRPr>
          </a:p>
        </p:txBody>
      </p:sp>
      <p:sp>
        <p:nvSpPr>
          <p:cNvPr id="72" name="TextBox 71"/>
          <p:cNvSpPr txBox="1"/>
          <p:nvPr/>
        </p:nvSpPr>
        <p:spPr>
          <a:xfrm>
            <a:off x="2926080" y="1976362"/>
            <a:ext cx="319943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smtClean="0">
                <a:ln>
                  <a:noFill/>
                </a:ln>
                <a:solidFill>
                  <a:srgbClr val="FFFFFF"/>
                </a:solidFill>
                <a:effectLst/>
                <a:uLnTx/>
                <a:uFillTx/>
                <a:latin typeface="Arial"/>
                <a:cs typeface="Arial"/>
                <a:sym typeface="Arial"/>
              </a:rPr>
              <a:t>“</a:t>
            </a:r>
            <a:r>
              <a:rPr kumimoji="0" lang="en-US" sz="1800" b="1" i="0" u="sng" strike="noStrike" kern="0" cap="none" spc="0" normalizeH="0" baseline="0" noProof="0" dirty="0" smtClean="0">
                <a:ln>
                  <a:noFill/>
                </a:ln>
                <a:solidFill>
                  <a:srgbClr val="FFFFFF"/>
                </a:solidFill>
                <a:effectLst/>
                <a:uLnTx/>
                <a:uFillTx/>
                <a:latin typeface="Arial"/>
                <a:cs typeface="Arial"/>
                <a:sym typeface="Arial"/>
              </a:rPr>
              <a:t>OPERATIONS</a:t>
            </a:r>
            <a:r>
              <a:rPr kumimoji="0" lang="en-US" sz="1800" b="1" i="0" u="none" strike="noStrike" kern="0" cap="none" spc="0" normalizeH="0" baseline="0" noProof="0" dirty="0" smtClean="0">
                <a:ln>
                  <a:noFill/>
                </a:ln>
                <a:solidFill>
                  <a:srgbClr val="FFFFFF"/>
                </a:solidFill>
                <a:effectLst/>
                <a:uLnTx/>
                <a:uFillTx/>
                <a:latin typeface="Arial"/>
                <a:cs typeface="Arial"/>
                <a:sym typeface="Arial"/>
              </a:rPr>
              <a:t>”</a:t>
            </a:r>
            <a:endParaRPr kumimoji="0" lang="en-US" sz="1800" b="1" i="0" u="none" strike="noStrike" kern="0" cap="none" spc="0" normalizeH="0" baseline="0" noProof="0" dirty="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211045122"/>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ExxonMobil OIMS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(Operations &amp; Integrity MS) and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its 11 Elements</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Compare Two Risk Management Systems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fr-FR" sz="1200" i="1" kern="0" dirty="0" err="1" smtClean="0">
                <a:solidFill>
                  <a:srgbClr val="000000"/>
                </a:solidFill>
                <a:ea typeface="Times New Roman"/>
                <a:cs typeface="Arial" panose="020B0604020202020204" pitchFamily="34" charset="0"/>
                <a:sym typeface="Times New Roman"/>
              </a:rPr>
              <a:t>Chapter</a:t>
            </a:r>
            <a:r>
              <a:rPr lang="fr-FR" sz="1200" i="1" kern="0" dirty="0" smtClean="0">
                <a:solidFill>
                  <a:srgbClr val="000000"/>
                </a:solidFill>
                <a:ea typeface="Times New Roman"/>
                <a:cs typeface="Arial" panose="020B0604020202020204" pitchFamily="34" charset="0"/>
                <a:sym typeface="Times New Roman"/>
              </a:rPr>
              <a:t> 3.3: RME #6 PECI</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3" y="1230312"/>
            <a:ext cx="8229600" cy="49418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7" name="TextBox 1"/>
          <p:cNvSpPr txBox="1">
            <a:spLocks noChangeArrowheads="1"/>
          </p:cNvSpPr>
          <p:nvPr/>
        </p:nvSpPr>
        <p:spPr bwMode="auto">
          <a:xfrm>
            <a:off x="1146173" y="2754312"/>
            <a:ext cx="1219200" cy="4000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000" i="1">
                <a:latin typeface="Arial" panose="020B0604020202020204" pitchFamily="34" charset="0"/>
                <a:cs typeface="Arial" panose="020B0604020202020204" pitchFamily="34" charset="0"/>
              </a:rPr>
              <a:t>DRIVER</a:t>
            </a:r>
          </a:p>
        </p:txBody>
      </p:sp>
      <p:sp>
        <p:nvSpPr>
          <p:cNvPr id="10" name="TextBox 8"/>
          <p:cNvSpPr txBox="1">
            <a:spLocks noChangeArrowheads="1"/>
          </p:cNvSpPr>
          <p:nvPr/>
        </p:nvSpPr>
        <p:spPr bwMode="auto">
          <a:xfrm>
            <a:off x="6327773" y="2754312"/>
            <a:ext cx="1981200" cy="4000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000" i="1">
                <a:latin typeface="Arial" panose="020B0604020202020204" pitchFamily="34" charset="0"/>
                <a:cs typeface="Arial" panose="020B0604020202020204" pitchFamily="34" charset="0"/>
              </a:rPr>
              <a:t>EVALUATION</a:t>
            </a:r>
          </a:p>
        </p:txBody>
      </p:sp>
      <p:sp>
        <p:nvSpPr>
          <p:cNvPr id="15" name="Rectangle 14"/>
          <p:cNvSpPr/>
          <p:nvPr/>
        </p:nvSpPr>
        <p:spPr>
          <a:xfrm>
            <a:off x="716682" y="2590800"/>
            <a:ext cx="2050473" cy="259498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6327773" y="2590800"/>
            <a:ext cx="2050473" cy="259498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2"/>
          <p:cNvSpPr>
            <a:spLocks noChangeArrowheads="1"/>
          </p:cNvSpPr>
          <p:nvPr/>
        </p:nvSpPr>
        <p:spPr bwMode="auto">
          <a:xfrm>
            <a:off x="6871469" y="4478542"/>
            <a:ext cx="1053595" cy="267267"/>
          </a:xfrm>
          <a:prstGeom prst="rect">
            <a:avLst/>
          </a:prstGeom>
          <a:solidFill>
            <a:schemeClr val="bg1">
              <a:alpha val="70000"/>
            </a:schemeClr>
          </a:solidFill>
        </p:spPr>
        <p:txBody>
          <a:bodyPr vert="horz" lIns="91440" tIns="45720" rIns="91440" bIns="45720" rtlCol="0" anchor="ctr">
            <a:normAutofit fontScale="92500" lnSpcReduction="10000"/>
          </a:bodyPr>
          <a:lstStyle/>
          <a:p>
            <a:pPr algn="ctr" defTabSz="914400">
              <a:lnSpc>
                <a:spcPct val="90000"/>
              </a:lnSpc>
              <a:spcBef>
                <a:spcPct val="0"/>
              </a:spcBef>
            </a:pPr>
            <a:r>
              <a:rPr lang="en-CA" altLang="en-US" sz="1400" i="1" dirty="0" smtClean="0">
                <a:latin typeface="Arial" panose="020B0604020202020204" pitchFamily="34" charset="0"/>
                <a:ea typeface="+mj-ea"/>
                <a:cs typeface="Arial" panose="020B0604020202020204" pitchFamily="34" charset="0"/>
              </a:rPr>
              <a:t>(aka PECI)</a:t>
            </a:r>
            <a:endParaRPr lang="en-US" altLang="en-US" sz="1400" i="1" dirty="0">
              <a:latin typeface="Arial" panose="020B0604020202020204" pitchFamily="34" charset="0"/>
              <a:ea typeface="+mj-ea"/>
              <a:cs typeface="Arial" panose="020B0604020202020204" pitchFamily="34" charset="0"/>
            </a:endParaRPr>
          </a:p>
        </p:txBody>
      </p:sp>
      <p:sp>
        <p:nvSpPr>
          <p:cNvPr id="18" name="Rectangle 2"/>
          <p:cNvSpPr>
            <a:spLocks noChangeArrowheads="1"/>
          </p:cNvSpPr>
          <p:nvPr/>
        </p:nvSpPr>
        <p:spPr bwMode="auto">
          <a:xfrm>
            <a:off x="381000" y="5846496"/>
            <a:ext cx="8232774" cy="267267"/>
          </a:xfrm>
          <a:prstGeom prst="rect">
            <a:avLst/>
          </a:prstGeom>
          <a:solidFill>
            <a:srgbClr val="FFFF00"/>
          </a:solidFill>
          <a:ln>
            <a:solidFill>
              <a:schemeClr val="tx1"/>
            </a:solidFill>
          </a:ln>
        </p:spPr>
        <p:txBody>
          <a:bodyPr vert="horz" lIns="91440" tIns="45720" rIns="91440" bIns="45720" rtlCol="0" anchor="ctr">
            <a:noAutofit/>
          </a:bodyPr>
          <a:lstStyle/>
          <a:p>
            <a:pPr algn="ctr" defTabSz="914400">
              <a:lnSpc>
                <a:spcPct val="90000"/>
              </a:lnSpc>
              <a:spcBef>
                <a:spcPct val="0"/>
              </a:spcBef>
            </a:pPr>
            <a:r>
              <a:rPr lang="en-CA" altLang="en-US" i="1" dirty="0" smtClean="0">
                <a:latin typeface="Arial" panose="020B0604020202020204" pitchFamily="34" charset="0"/>
                <a:ea typeface="+mj-ea"/>
                <a:cs typeface="Arial" panose="020B0604020202020204" pitchFamily="34" charset="0"/>
              </a:rPr>
              <a:t>The similarities to the APEGA Model are readily apparent.</a:t>
            </a:r>
            <a:endParaRPr lang="en-US" altLang="en-US" i="1" dirty="0">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99922544"/>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Program Evaluation and Continuous Improvement” (PECI)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the element and program that oversees 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Management Program as a whole i.e. PECI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evaluates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implementation of how well the RMP is working.</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is responsible for driving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program to evaluate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correct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deficiencies in the Risk Management Program.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Formal Audit Process – a test of the organization – is the means to implement PECI. </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Do NOT confuse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evaluating</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auditing)</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monitoring</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investigating</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or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inspecting</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Summary:</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CA" sz="1200" i="1" kern="0" dirty="0" smtClean="0">
                <a:solidFill>
                  <a:srgbClr val="000000"/>
                </a:solidFill>
                <a:ea typeface="Times New Roman"/>
                <a:cs typeface="Arial" panose="020B0604020202020204" pitchFamily="34" charset="0"/>
                <a:sym typeface="Times New Roman"/>
              </a:rPr>
              <a:t>Chapter</a:t>
            </a:r>
            <a:r>
              <a:rPr lang="fr-FR" sz="1200" i="1" kern="0" dirty="0" smtClean="0">
                <a:solidFill>
                  <a:srgbClr val="000000"/>
                </a:solidFill>
                <a:ea typeface="Times New Roman"/>
                <a:cs typeface="Arial" panose="020B0604020202020204" pitchFamily="34" charset="0"/>
                <a:sym typeface="Times New Roman"/>
              </a:rPr>
              <a:t> 3.3: RME #6 PECI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736449507"/>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Tx/>
              <a:buSzPct val="100000"/>
              <a:buNone/>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828000"/>
            <a:ext cx="8640000" cy="1079400"/>
          </a:xfrm>
          <a:prstGeom prst="rect">
            <a:avLst/>
          </a:prstGeom>
          <a:solidFill>
            <a:srgbClr val="0000FF"/>
          </a:solidFill>
          <a:ln>
            <a:solidFill>
              <a:srgbClr val="0000FF"/>
            </a:solidFill>
          </a:ln>
          <a:extLst/>
        </p:spPr>
        <p:txBody>
          <a:bodyPr anchor="ctr"/>
          <a:lstStyle/>
          <a:p>
            <a:r>
              <a:rPr lang="en-US" altLang="en-US" sz="2400" b="0" dirty="0" smtClean="0">
                <a:solidFill>
                  <a:srgbClr val="FFFFFF"/>
                </a:solidFill>
                <a:latin typeface="Arial" panose="020B0604020202020204" pitchFamily="34" charset="0"/>
                <a:cs typeface="Arial" panose="020B0604020202020204" pitchFamily="34" charset="0"/>
              </a:rPr>
              <a:t>Supplemental Slides from Topic </a:t>
            </a:r>
            <a:r>
              <a:rPr lang="en-US" altLang="en-US" sz="2400" b="0" dirty="0">
                <a:solidFill>
                  <a:srgbClr val="FFFFFF"/>
                </a:solidFill>
                <a:latin typeface="Arial" panose="020B0604020202020204" pitchFamily="34" charset="0"/>
                <a:cs typeface="Arial" panose="020B0604020202020204" pitchFamily="34" charset="0"/>
              </a:rPr>
              <a:t>#21 Chapter 3.3: The </a:t>
            </a:r>
            <a:r>
              <a:rPr lang="en-US" altLang="en-US" sz="2400" b="0" dirty="0" smtClean="0">
                <a:solidFill>
                  <a:srgbClr val="FFFFFF"/>
                </a:solidFill>
                <a:latin typeface="Arial" panose="020B0604020202020204" pitchFamily="34" charset="0"/>
                <a:cs typeface="Arial" panose="020B0604020202020204" pitchFamily="34" charset="0"/>
              </a:rPr>
              <a:t>Risk Management </a:t>
            </a:r>
            <a:r>
              <a:rPr lang="en-US" altLang="en-US" sz="2400" b="0" dirty="0">
                <a:solidFill>
                  <a:srgbClr val="FFFFFF"/>
                </a:solidFill>
                <a:latin typeface="Arial" panose="020B0604020202020204" pitchFamily="34" charset="0"/>
                <a:cs typeface="Arial" panose="020B0604020202020204" pitchFamily="34" charset="0"/>
              </a:rPr>
              <a:t>System </a:t>
            </a:r>
            <a:r>
              <a:rPr lang="en-US" altLang="en-US" sz="2400" b="0" dirty="0" smtClean="0">
                <a:solidFill>
                  <a:srgbClr val="FFFFFF"/>
                </a:solidFill>
                <a:latin typeface="Arial" panose="020B0604020202020204" pitchFamily="34" charset="0"/>
                <a:cs typeface="Arial" panose="020B0604020202020204" pitchFamily="34" charset="0"/>
              </a:rPr>
              <a:t>&amp; Its Elements</a:t>
            </a:r>
            <a:endParaRPr lang="en-US" altLang="en-US" sz="2400" b="0" kern="1200" dirty="0">
              <a:solidFill>
                <a:srgbClr val="FFFFFF"/>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5" name="Rectangle 2"/>
          <p:cNvSpPr>
            <a:spLocks noChangeArrowheads="1"/>
          </p:cNvSpPr>
          <p:nvPr/>
        </p:nvSpPr>
        <p:spPr bwMode="auto">
          <a:xfrm>
            <a:off x="180000" y="144300"/>
            <a:ext cx="8640000" cy="576000"/>
          </a:xfrm>
          <a:prstGeom prst="rect">
            <a:avLst/>
          </a:prstGeom>
          <a:solidFill>
            <a:srgbClr val="0000FF"/>
          </a:solidFill>
          <a:ln>
            <a:solidFill>
              <a:srgbClr val="0000FF"/>
            </a:solidFill>
          </a:ln>
          <a:extLst/>
        </p:spPr>
        <p:txBody>
          <a:bodyPr anchor="ctr"/>
          <a:lstStyle/>
          <a:p>
            <a:r>
              <a:rPr lang="en-US" altLang="en-US" sz="2400" dirty="0" smtClean="0">
                <a:solidFill>
                  <a:srgbClr val="FFFFFF"/>
                </a:solidFill>
                <a:latin typeface="Arial" panose="020B0604020202020204" pitchFamily="34" charset="0"/>
                <a:cs typeface="Arial" panose="020B0604020202020204" pitchFamily="34" charset="0"/>
              </a:rPr>
              <a:t>Additional Information:</a:t>
            </a:r>
            <a:endParaRPr lang="en-US" altLang="en-US" sz="2400" kern="1200"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2856910"/>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Continuous improvement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(proactive) is </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essential to ensure your program and organization are managing the residual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risks!</a:t>
            </a:r>
          </a:p>
          <a:p>
            <a:pPr marL="720000" indent="-360000" eaLnBrk="0" fontAlgn="base" hangingPunct="0">
              <a:lnSpc>
                <a:spcPct val="85000"/>
              </a:lnSpc>
              <a:spcBef>
                <a:spcPts val="0"/>
              </a:spcBef>
              <a:buClrTx/>
              <a:buSzPct val="100000"/>
              <a:buFont typeface="Wingdings" panose="05000000000000000000" pitchFamily="2" charset="2"/>
              <a:buChar char="Ø"/>
              <a:defRPr/>
            </a:pPr>
            <a:r>
              <a:rPr lang="en-US"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Continually checking each of the program elements, their standards (administrative controls), and the implementation of those standards </a:t>
            </a:r>
          </a:p>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Program </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evaluation works on all parts of the RMS Program:</a:t>
            </a:r>
          </a:p>
          <a:p>
            <a:pPr marL="72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Audits (internal, external) test implementation of the program at organization level to ensure it is effectively implemented</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t>
            </a: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85000"/>
              </a:lnSpc>
              <a:spcBef>
                <a:spcPts val="0"/>
              </a:spcBef>
              <a:buClr>
                <a:srgbClr val="000000"/>
              </a:buClr>
              <a:buSzPts val="1800"/>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 third party firm is hired to do an audit on the safe shut down of a plant. The auditors reviewed the procedures and observed work practices during the shut down. After the audit is completed, the managers at the company discussed the deficiencies found</a:t>
            </a:r>
            <a:r>
              <a:rPr kumimoji="0" lang="en-CA" sz="1600" b="0" i="1" u="none" strike="noStrike" kern="0" cap="none" spc="0" normalizeH="0" baseline="0" noProof="0" dirty="0" smtClean="0">
                <a:ln>
                  <a:noFill/>
                </a:ln>
                <a:solidFill>
                  <a:srgbClr val="000000"/>
                </a:solidFill>
                <a:effectLst/>
                <a:uLnTx/>
                <a:uFillTx/>
                <a:latin typeface="Arial"/>
                <a:sym typeface="Arial"/>
              </a:rPr>
              <a:t>, but did not develop </a:t>
            </a:r>
            <a:r>
              <a:rPr kumimoji="0" lang="en-CA" sz="1600" b="0" i="1" u="none" strike="noStrike" kern="0" cap="none" spc="0" normalizeH="0" baseline="0" noProof="0" dirty="0">
                <a:ln>
                  <a:noFill/>
                </a:ln>
                <a:solidFill>
                  <a:srgbClr val="000000"/>
                </a:solidFill>
                <a:effectLst/>
                <a:uLnTx/>
                <a:uFillTx/>
                <a:latin typeface="Arial"/>
                <a:sym typeface="Arial"/>
              </a:rPr>
              <a:t>corrective actions, and </a:t>
            </a:r>
            <a:r>
              <a:rPr lang="en-CA" sz="1600" i="1" dirty="0" smtClean="0">
                <a:solidFill>
                  <a:srgbClr val="000000"/>
                </a:solidFill>
                <a:latin typeface="Arial"/>
              </a:rPr>
              <a:t>did not </a:t>
            </a:r>
            <a:r>
              <a:rPr kumimoji="0" lang="en-CA" sz="1600" b="0" i="1" u="none" strike="noStrike" kern="0" cap="none" spc="0" normalizeH="0" baseline="0" noProof="0" dirty="0" smtClean="0">
                <a:ln>
                  <a:noFill/>
                </a:ln>
                <a:solidFill>
                  <a:srgbClr val="000000"/>
                </a:solidFill>
                <a:effectLst/>
                <a:uLnTx/>
                <a:uFillTx/>
                <a:latin typeface="Arial"/>
                <a:sym typeface="Arial"/>
              </a:rPr>
              <a:t>implement any actions to correct the deficiencies.</a:t>
            </a:r>
            <a:endParaRPr kumimoji="0" lang="en-CA" sz="16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85000"/>
              </a:lnSpc>
              <a:spcBef>
                <a:spcPts val="0"/>
              </a:spcBef>
              <a:buClr>
                <a:srgbClr val="000000"/>
              </a:buClr>
              <a:buSzPts val="1800"/>
              <a:buFont typeface="Arial"/>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85000"/>
              </a:lnSpc>
              <a:spcBef>
                <a:spcPts val="0"/>
              </a:spcBef>
              <a:buClr>
                <a:srgbClr val="000000"/>
              </a:buClr>
              <a:buSzPts val="1800"/>
              <a:buFont typeface="Noto Sans Symbols"/>
              <a:buNone/>
              <a:tabLst/>
              <a:defRPr/>
            </a:pPr>
            <a:r>
              <a:rPr kumimoji="0" lang="en-CA" sz="1600" b="1" i="1" u="none" strike="noStrike" kern="0" cap="none" spc="0" normalizeH="0" baseline="0" noProof="0" dirty="0">
                <a:ln>
                  <a:noFill/>
                </a:ln>
                <a:solidFill>
                  <a:srgbClr val="000099"/>
                </a:solidFill>
                <a:effectLst/>
                <a:uLnTx/>
                <a:uFillTx/>
                <a:latin typeface="Arial"/>
                <a:sym typeface="Arial"/>
              </a:rPr>
              <a:t>So What Does This Mean for your team project??</a:t>
            </a:r>
          </a:p>
          <a:p>
            <a:pPr marL="457200" marR="0" lvl="0" indent="-4572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management conduct audits to determine the effectiveness of their risk management program, such as comparing administrative controls with actual work practices?</a:t>
            </a:r>
          </a:p>
          <a:p>
            <a:pPr marL="457200" marR="0" lvl="0" indent="-4572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management supporting the audit follow-up i.e. take action to correct deficiencies?</a:t>
            </a:r>
          </a:p>
          <a:p>
            <a:pPr marL="457200" indent="-457200">
              <a:lnSpc>
                <a:spcPct val="85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an auditing program and its components e.g. schedule, details on what to audit, assignment and commitment to </a:t>
            </a:r>
            <a:r>
              <a:rPr kumimoji="0" lang="en-CA" sz="1600" b="1" i="1" u="none" strike="noStrike" kern="0" cap="none" spc="0" normalizeH="0" baseline="0" noProof="0" dirty="0" smtClean="0">
                <a:ln>
                  <a:noFill/>
                </a:ln>
                <a:solidFill>
                  <a:srgbClr val="000099"/>
                </a:solidFill>
                <a:effectLst/>
                <a:uLnTx/>
                <a:uFillTx/>
                <a:latin typeface="Arial"/>
                <a:sym typeface="Arial"/>
              </a:rPr>
              <a:t>audit.</a:t>
            </a:r>
            <a:endParaRPr lang="en-CA" sz="1600" b="1" i="1" dirty="0">
              <a:solidFill>
                <a:srgbClr val="FF0000"/>
              </a:solidFill>
              <a:latin typeface="Arial"/>
            </a:endParaRPr>
          </a:p>
          <a:p>
            <a:pPr marL="457200" indent="-457200">
              <a:lnSpc>
                <a:spcPct val="85000"/>
              </a:lnSpc>
              <a:spcBef>
                <a:spcPts val="0"/>
              </a:spcBef>
              <a:buClrTx/>
              <a:buSzPct val="100000"/>
              <a:buFont typeface="Noto Sans Symbols"/>
              <a:buChar char="⮚"/>
              <a:defRPr/>
            </a:pPr>
            <a:endParaRPr lang="en-US" sz="1600" b="1" i="1" dirty="0" smtClean="0">
              <a:solidFill>
                <a:srgbClr val="FF0000"/>
              </a:solidFill>
              <a:latin typeface="Arial"/>
            </a:endParaRPr>
          </a:p>
          <a:p>
            <a:pPr marL="457200" indent="-457200">
              <a:lnSpc>
                <a:spcPct val="85000"/>
              </a:lnSpc>
              <a:spcBef>
                <a:spcPts val="0"/>
              </a:spcBef>
              <a:buClrTx/>
              <a:buSzPct val="1000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a:t>
            </a:r>
            <a:r>
              <a:rPr lang="en-US" sz="1600" b="1" i="1" dirty="0" smtClean="0">
                <a:solidFill>
                  <a:srgbClr val="FF0000"/>
                </a:solidFill>
                <a:latin typeface="Arial"/>
              </a:rPr>
              <a:t>Evaluation Program </a:t>
            </a:r>
            <a:r>
              <a:rPr lang="en-US" sz="1600" b="1" i="1" dirty="0">
                <a:solidFill>
                  <a:srgbClr val="FF0000"/>
                </a:solidFill>
                <a:latin typeface="Arial"/>
              </a:rPr>
              <a:t>for shut down procedures </a:t>
            </a:r>
            <a:r>
              <a:rPr lang="en-US" sz="1600" b="1" i="1" dirty="0" smtClean="0">
                <a:solidFill>
                  <a:srgbClr val="FF0000"/>
                </a:solidFill>
                <a:latin typeface="Arial"/>
              </a:rPr>
              <a:t>did not include a process to develop, assign, and track the implementation of </a:t>
            </a:r>
            <a:r>
              <a:rPr lang="en-US" sz="1600" b="1" i="1" dirty="0">
                <a:solidFill>
                  <a:srgbClr val="FF0000"/>
                </a:solidFill>
                <a:latin typeface="Arial"/>
              </a:rPr>
              <a:t>corrective </a:t>
            </a:r>
            <a:r>
              <a:rPr lang="en-US" sz="1600" b="1" i="1" dirty="0" smtClean="0">
                <a:solidFill>
                  <a:srgbClr val="FF0000"/>
                </a:solidFill>
                <a:latin typeface="Arial"/>
              </a:rPr>
              <a:t>actions</a:t>
            </a:r>
            <a:r>
              <a:rPr lang="en-CA" sz="1600" b="1" i="1" dirty="0" smtClean="0">
                <a:solidFill>
                  <a:srgbClr val="FF0000"/>
                </a:solidFill>
                <a:latin typeface="Arial"/>
              </a:rPr>
              <a:t>.</a:t>
            </a:r>
            <a:endParaRPr lang="en-CA" sz="1600" b="1" i="1" dirty="0">
              <a:solidFill>
                <a:srgbClr val="FF0000"/>
              </a:solidFill>
              <a:latin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06961302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p>
            <a:pPr eaLnBrk="0" fontAlgn="base" hangingPunct="0">
              <a:lnSpc>
                <a:spcPct val="85000"/>
              </a:lnSpc>
              <a:buClrTx/>
              <a:buSzPct val="100000"/>
            </a:pP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Auditing can be easily confused with </a:t>
            </a:r>
            <a:r>
              <a:rPr lang="en-US" altLang="en-US" sz="1600" u="sng" kern="1200" dirty="0">
                <a:latin typeface="Arial" panose="020B0604020202020204" pitchFamily="34" charset="0"/>
                <a:ea typeface="ＭＳ Ｐゴシック" panose="020B0600070205080204" pitchFamily="34" charset="-128"/>
                <a:cs typeface="Arial" panose="020B0604020202020204" pitchFamily="34" charset="0"/>
              </a:rPr>
              <a:t>monitoring</a:t>
            </a: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 investigating, and inspecting. </a:t>
            </a:r>
          </a:p>
          <a:p>
            <a:pPr marL="360000" indent="-360000" eaLnBrk="0" fontAlgn="base" hangingPunct="0">
              <a:lnSpc>
                <a:spcPct val="85000"/>
              </a:lnSpc>
              <a:buClrTx/>
              <a:buSzPct val="100000"/>
              <a:buFont typeface="Wingdings" panose="05000000000000000000" pitchFamily="2" charset="2"/>
              <a:buChar char="Ø"/>
            </a:pP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lnSpc>
                <a:spcPct val="85000"/>
              </a:lnSpc>
              <a:buClrTx/>
              <a:buSzPct val="100000"/>
            </a:pP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RME #6 PECI is </a:t>
            </a:r>
            <a:r>
              <a:rPr lang="en-CA" sz="1600" kern="1200" dirty="0">
                <a:latin typeface="Arial" panose="020B0604020202020204" pitchFamily="34" charset="0"/>
                <a:ea typeface="ＭＳ Ｐゴシック" panose="020B0600070205080204" pitchFamily="34" charset="-128"/>
                <a:cs typeface="Arial" panose="020B0604020202020204" pitchFamily="34" charset="0"/>
              </a:rPr>
              <a:t>NOT about </a:t>
            </a:r>
            <a:r>
              <a:rPr lang="en-CA" sz="1600" b="0" u="sng" kern="1200" dirty="0">
                <a:latin typeface="Arial" panose="020B0604020202020204" pitchFamily="34" charset="0"/>
                <a:ea typeface="ＭＳ Ｐゴシック" panose="020B0600070205080204" pitchFamily="34" charset="-128"/>
                <a:cs typeface="Arial" panose="020B0604020202020204" pitchFamily="34" charset="0"/>
              </a:rPr>
              <a:t>monitoring performance</a:t>
            </a:r>
            <a:r>
              <a:rPr lang="en-CA" sz="1600" b="0" kern="1200" dirty="0">
                <a:latin typeface="Arial" panose="020B0604020202020204" pitchFamily="34" charset="0"/>
                <a:ea typeface="ＭＳ Ｐゴシック" panose="020B0600070205080204" pitchFamily="34" charset="-128"/>
                <a:cs typeface="Arial" panose="020B0604020202020204" pitchFamily="34" charset="0"/>
              </a:rPr>
              <a:t> </a:t>
            </a:r>
            <a:r>
              <a:rPr lang="en-CA" sz="1600" b="0" kern="1200" dirty="0" smtClean="0">
                <a:latin typeface="Arial" panose="020B0604020202020204" pitchFamily="34" charset="0"/>
                <a:ea typeface="ＭＳ Ｐゴシック" panose="020B0600070205080204" pitchFamily="34" charset="-128"/>
                <a:cs typeface="Arial" panose="020B0604020202020204" pitchFamily="34" charset="0"/>
              </a:rPr>
              <a:t>as </a:t>
            </a:r>
            <a:r>
              <a:rPr lang="en-CA" sz="1600" b="0" kern="1200" dirty="0">
                <a:latin typeface="Arial" panose="020B0604020202020204" pitchFamily="34" charset="0"/>
                <a:ea typeface="ＭＳ Ｐゴシック" panose="020B0600070205080204" pitchFamily="34" charset="-128"/>
                <a:cs typeface="Arial" panose="020B0604020202020204" pitchFamily="34" charset="0"/>
              </a:rPr>
              <a:t>measured and tracked by a particular program. </a:t>
            </a:r>
            <a:r>
              <a:rPr lang="en-US" altLang="en-US" sz="1600" b="0" kern="1200" dirty="0">
                <a:latin typeface="Arial" panose="020B0604020202020204" pitchFamily="34" charset="0"/>
                <a:ea typeface="ＭＳ Ｐゴシック" panose="020B0600070205080204" pitchFamily="34" charset="-128"/>
                <a:cs typeface="Arial" panose="020B0604020202020204" pitchFamily="34" charset="0"/>
              </a:rPr>
              <a:t>In this comparison, consider the following general work flow scenario specific to </a:t>
            </a:r>
            <a:r>
              <a:rPr lang="en-US" altLang="en-US" sz="1600" b="0" kern="1200" dirty="0" smtClean="0">
                <a:latin typeface="Arial" panose="020B0604020202020204" pitchFamily="34" charset="0"/>
                <a:ea typeface="ＭＳ Ｐゴシック" panose="020B0600070205080204" pitchFamily="34" charset="-128"/>
                <a:cs typeface="Arial" panose="020B0604020202020204" pitchFamily="34" charset="0"/>
              </a:rPr>
              <a:t>risk assessment:</a:t>
            </a:r>
          </a:p>
          <a:p>
            <a:pPr marL="360000" indent="-360000" eaLnBrk="0" fontAlgn="base" hangingPunct="0">
              <a:lnSpc>
                <a:spcPct val="85000"/>
              </a:lnSpc>
              <a:buClrTx/>
              <a:buSzPct val="100000"/>
              <a:buFont typeface="Wingdings" panose="05000000000000000000" pitchFamily="2" charset="2"/>
              <a:buChar char="Ø"/>
            </a:pP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A </a:t>
            </a:r>
            <a:r>
              <a:rPr lang="en-US" sz="1600" b="0" dirty="0">
                <a:latin typeface="Arial" panose="020B0604020202020204" pitchFamily="34" charset="0"/>
                <a:ea typeface="ＭＳ Ｐゴシック" panose="020B0600070205080204" pitchFamily="34" charset="-128"/>
                <a:cs typeface="Arial" panose="020B0604020202020204" pitchFamily="34" charset="0"/>
              </a:rPr>
              <a:t>T</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echnical Safety </a:t>
            </a:r>
            <a:r>
              <a:rPr lang="en-US" sz="1600" b="0" dirty="0">
                <a:latin typeface="Arial" panose="020B0604020202020204" pitchFamily="34" charset="0"/>
                <a:ea typeface="ＭＳ Ｐゴシック" panose="020B0600070205080204" pitchFamily="34" charset="-128"/>
                <a:cs typeface="Arial" panose="020B0604020202020204" pitchFamily="34" charset="0"/>
              </a:rPr>
              <a:t>P</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rogram is about assessing and managing technical safety risks. </a:t>
            </a:r>
          </a:p>
          <a:p>
            <a:pPr marL="360000" indent="-360000" eaLnBrk="0" fontAlgn="base" hangingPunct="0">
              <a:lnSpc>
                <a:spcPct val="85000"/>
              </a:lnSpc>
              <a:buClrTx/>
              <a:buSzPct val="100000"/>
              <a:buFont typeface="Wingdings" panose="05000000000000000000" pitchFamily="2" charset="2"/>
              <a:buChar char="Ø"/>
            </a:pP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The facility has implemented a Technical Safety Program to track leading indicators for technical safety performance, such as “the number of technical safety devices that are overdue for inspection or maintenance”, and take action to address deviations.</a:t>
            </a:r>
          </a:p>
          <a:p>
            <a:pPr marL="360000" indent="-360000" eaLnBrk="0" fontAlgn="base" hangingPunct="0">
              <a:lnSpc>
                <a:spcPct val="85000"/>
              </a:lnSpc>
              <a:buClrTx/>
              <a:buSzPct val="100000"/>
              <a:buFont typeface="Wingdings" panose="05000000000000000000" pitchFamily="2" charset="2"/>
              <a:buChar char="Ø"/>
            </a:pP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85000"/>
              </a:lnSpc>
              <a:buSzPct val="100000"/>
            </a:pPr>
            <a:r>
              <a:rPr lang="en-US" altLang="en-US" sz="1600" dirty="0" smtClean="0">
                <a:latin typeface="Arial" panose="020B0604020202020204" pitchFamily="34" charset="0"/>
                <a:ea typeface="ＭＳ Ｐゴシック" panose="020B0600070205080204" pitchFamily="34" charset="-128"/>
                <a:cs typeface="Arial" panose="020B0604020202020204" pitchFamily="34" charset="0"/>
              </a:rPr>
              <a:t>RME </a:t>
            </a:r>
            <a:r>
              <a:rPr lang="en-US" altLang="en-US" sz="1600" dirty="0">
                <a:latin typeface="Arial" panose="020B0604020202020204" pitchFamily="34" charset="0"/>
                <a:ea typeface="ＭＳ Ｐゴシック" panose="020B0600070205080204" pitchFamily="34" charset="-128"/>
                <a:cs typeface="Arial" panose="020B0604020202020204" pitchFamily="34" charset="0"/>
              </a:rPr>
              <a:t>#2 Risk Assessment and Management of Risks:</a:t>
            </a:r>
          </a:p>
          <a:p>
            <a:pPr marL="360000" indent="-360000" eaLnBrk="0" fontAlgn="base" hangingPunct="0">
              <a:lnSpc>
                <a:spcPct val="85000"/>
              </a:lnSpc>
              <a:buClrTx/>
              <a:buSzPct val="100000"/>
              <a:buFont typeface="Wingdings" panose="05000000000000000000" pitchFamily="2" charset="2"/>
              <a:buChar char="Ø"/>
            </a:pPr>
            <a:r>
              <a:rPr lang="en-US" sz="1600" b="0" dirty="0" smtClean="0">
                <a:latin typeface="Arial" panose="020B0604020202020204" pitchFamily="34" charset="0"/>
                <a:ea typeface="ＭＳ Ｐゴシック" panose="020B0600070205080204" pitchFamily="34" charset="-128"/>
                <a:cs typeface="Arial" panose="020B0604020202020204" pitchFamily="34" charset="0"/>
              </a:rPr>
              <a:t>T</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echnical safety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performance can and should be </a:t>
            </a:r>
            <a:r>
              <a:rPr lang="en-US" sz="1600" b="0" u="sng" kern="1200" dirty="0">
                <a:latin typeface="Arial" panose="020B0604020202020204" pitchFamily="34" charset="0"/>
                <a:ea typeface="ＭＳ Ｐゴシック" panose="020B0600070205080204" pitchFamily="34" charset="-128"/>
                <a:cs typeface="Arial" panose="020B0604020202020204" pitchFamily="34" charset="0"/>
              </a:rPr>
              <a:t>monitored</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 by measuring and tracking leading indicators, and taking appropriate actions in response to those leading indicators</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fontAlgn="base" hangingPunct="0">
              <a:lnSpc>
                <a:spcPct val="85000"/>
              </a:lnSpc>
              <a:buClrTx/>
              <a:buSzPct val="100000"/>
              <a:buFont typeface="Wingdings" panose="05000000000000000000" pitchFamily="2" charset="2"/>
              <a:buChar char="Ø"/>
            </a:pP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Thus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a performance review such as "How well is our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technical safety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program doing based on leading indicators?" is a program to review and take actions that should be set up under RME #2 - it is after all a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“technical safety review”. </a:t>
            </a:r>
            <a:endParaRPr 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lnSpc>
                <a:spcPct val="85000"/>
              </a:lnSpc>
              <a:buClrTx/>
              <a:buSzPct val="100000"/>
            </a:pP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RME #6 PECI:</a:t>
            </a:r>
            <a:endParaRPr lang="en-CA" altLang="en-US" sz="160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85000"/>
              </a:lnSpc>
              <a:buSzPct val="100000"/>
              <a:buFont typeface="Wingdings" panose="05000000000000000000" pitchFamily="2" charset="2"/>
              <a:buChar char="Ø"/>
            </a:pPr>
            <a:r>
              <a:rPr lang="en-US" sz="1600" b="0" dirty="0">
                <a:latin typeface="Arial" panose="020B0604020202020204" pitchFamily="34" charset="0"/>
                <a:ea typeface="ＭＳ Ｐゴシック" panose="020B0600070205080204" pitchFamily="34" charset="-128"/>
                <a:cs typeface="Arial" panose="020B0604020202020204" pitchFamily="34" charset="0"/>
              </a:rPr>
              <a:t>The program under this element </a:t>
            </a:r>
            <a:r>
              <a:rPr lang="en-US" sz="1600" b="0" dirty="0" smtClean="0">
                <a:latin typeface="Arial" panose="020B0604020202020204" pitchFamily="34" charset="0"/>
                <a:ea typeface="ＭＳ Ｐゴシック" panose="020B0600070205080204" pitchFamily="34" charset="-128"/>
                <a:cs typeface="Arial" panose="020B0604020202020204" pitchFamily="34" charset="0"/>
              </a:rPr>
              <a:t>is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about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auditing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to see how </a:t>
            </a:r>
            <a:r>
              <a:rPr lang="en-US" sz="1600" b="0" u="sng" kern="1200" dirty="0">
                <a:latin typeface="Arial" panose="020B0604020202020204" pitchFamily="34" charset="0"/>
                <a:ea typeface="ＭＳ Ｐゴシック" panose="020B0600070205080204" pitchFamily="34" charset="-128"/>
                <a:cs typeface="Arial" panose="020B0604020202020204" pitchFamily="34" charset="0"/>
              </a:rPr>
              <a:t>effective your </a:t>
            </a:r>
            <a:r>
              <a:rPr lang="en-US" sz="1600" b="0" u="sng" dirty="0">
                <a:latin typeface="Arial" panose="020B0604020202020204" pitchFamily="34" charset="0"/>
                <a:ea typeface="ＭＳ Ｐゴシック" panose="020B0600070205080204" pitchFamily="34" charset="-128"/>
                <a:cs typeface="Arial" panose="020B0604020202020204" pitchFamily="34" charset="0"/>
              </a:rPr>
              <a:t>T</a:t>
            </a:r>
            <a:r>
              <a:rPr lang="en-US" sz="1600" b="0" u="sng" kern="1200" dirty="0" smtClean="0">
                <a:latin typeface="Arial" panose="020B0604020202020204" pitchFamily="34" charset="0"/>
                <a:ea typeface="ＭＳ Ｐゴシック" panose="020B0600070205080204" pitchFamily="34" charset="-128"/>
                <a:cs typeface="Arial" panose="020B0604020202020204" pitchFamily="34" charset="0"/>
              </a:rPr>
              <a:t>echnical </a:t>
            </a:r>
            <a:r>
              <a:rPr lang="en-US" sz="1600" b="0" u="sng" dirty="0">
                <a:latin typeface="Arial" panose="020B0604020202020204" pitchFamily="34" charset="0"/>
                <a:ea typeface="ＭＳ Ｐゴシック" panose="020B0600070205080204" pitchFamily="34" charset="-128"/>
                <a:cs typeface="Arial" panose="020B0604020202020204" pitchFamily="34" charset="0"/>
              </a:rPr>
              <a:t>S</a:t>
            </a:r>
            <a:r>
              <a:rPr lang="en-US" sz="1600" b="0" u="sng" kern="1200" dirty="0" smtClean="0">
                <a:latin typeface="Arial" panose="020B0604020202020204" pitchFamily="34" charset="0"/>
                <a:ea typeface="ＭＳ Ｐゴシック" panose="020B0600070205080204" pitchFamily="34" charset="-128"/>
                <a:cs typeface="Arial" panose="020B0604020202020204" pitchFamily="34" charset="0"/>
              </a:rPr>
              <a:t>afety </a:t>
            </a:r>
            <a:r>
              <a:rPr lang="en-US" sz="1600" b="0" u="sng" dirty="0">
                <a:latin typeface="Arial" panose="020B0604020202020204" pitchFamily="34" charset="0"/>
                <a:ea typeface="ＭＳ Ｐゴシック" panose="020B0600070205080204" pitchFamily="34" charset="-128"/>
                <a:cs typeface="Arial" panose="020B0604020202020204" pitchFamily="34" charset="0"/>
              </a:rPr>
              <a:t>P</a:t>
            </a:r>
            <a:r>
              <a:rPr lang="en-US" sz="1600" b="0" u="sng" kern="1200" dirty="0" smtClean="0">
                <a:latin typeface="Arial" panose="020B0604020202020204" pitchFamily="34" charset="0"/>
                <a:ea typeface="ＭＳ Ｐゴシック" panose="020B0600070205080204" pitchFamily="34" charset="-128"/>
                <a:cs typeface="Arial" panose="020B0604020202020204" pitchFamily="34" charset="0"/>
              </a:rPr>
              <a:t>rogram</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is actually doing what is intended.</a:t>
            </a:r>
          </a:p>
          <a:p>
            <a:pPr marL="360000" indent="-360000" eaLnBrk="0" fontAlgn="base" hangingPunct="0">
              <a:lnSpc>
                <a:spcPct val="85000"/>
              </a:lnSpc>
              <a:buClrTx/>
              <a:buSzPct val="100000"/>
              <a:buFont typeface="Wingdings" panose="05000000000000000000" pitchFamily="2" charset="2"/>
              <a:buChar char="Ø"/>
            </a:pPr>
            <a:r>
              <a:rPr lang="en-US" sz="1600" b="0" kern="1200" dirty="0">
                <a:latin typeface="Arial" panose="020B0604020202020204" pitchFamily="34" charset="0"/>
                <a:ea typeface="ＭＳ Ｐゴシック" panose="020B0600070205080204" pitchFamily="34" charset="-128"/>
                <a:cs typeface="Arial" panose="020B0604020202020204" pitchFamily="34" charset="0"/>
              </a:rPr>
              <a:t>In other words, “are you actually measuring and tracking the leading indicators, and taking appropriate actions in response to those leading indicators?”</a:t>
            </a:r>
          </a:p>
          <a:p>
            <a:pPr marL="360000" indent="-360000" eaLnBrk="0" fontAlgn="base" hangingPunct="0">
              <a:lnSpc>
                <a:spcPct val="85000"/>
              </a:lnSpc>
              <a:buClrTx/>
              <a:buSzPct val="100000"/>
              <a:buFont typeface="Wingdings" panose="05000000000000000000" pitchFamily="2" charset="2"/>
              <a:buChar char="Ø"/>
            </a:pPr>
            <a:r>
              <a:rPr lang="en-US" sz="1600" b="0" kern="1200" dirty="0">
                <a:latin typeface="Arial" panose="020B0604020202020204" pitchFamily="34" charset="0"/>
                <a:ea typeface="ＭＳ Ｐゴシック" panose="020B0600070205080204" pitchFamily="34" charset="-128"/>
                <a:cs typeface="Arial" panose="020B0604020202020204" pitchFamily="34" charset="0"/>
              </a:rPr>
              <a:t>Such a question is part of the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Evaluation Program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with intent for continuous improvement of the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Technical Safety Program.</a:t>
            </a:r>
            <a:endParaRPr lang="en-CA" sz="1600" b="0" kern="120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27739755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762000"/>
            <a:ext cx="8640000" cy="5472000"/>
          </a:xfrm>
          <a:prstGeom prst="rect">
            <a:avLst/>
          </a:prstGeom>
          <a:solidFill>
            <a:srgbClr val="FFCCCC">
              <a:alpha val="69804"/>
            </a:srgbClr>
          </a:solidFill>
          <a:ln w="9525">
            <a:solidFill>
              <a:schemeClr val="tx1"/>
            </a:solidFill>
            <a:miter lim="800000"/>
            <a:headEnd/>
            <a:tailEnd/>
          </a:ln>
        </p:spPr>
        <p:txBody>
          <a:bodyPr/>
          <a:lstStyle/>
          <a:p>
            <a:pPr eaLnBrk="0" fontAlgn="base" hangingPunct="0">
              <a:lnSpc>
                <a:spcPct val="85000"/>
              </a:lnSpc>
              <a:buClrTx/>
              <a:buSzPct val="100000"/>
            </a:pP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Auditing can be easily confused with monitoring, </a:t>
            </a:r>
            <a:r>
              <a:rPr lang="en-US" altLang="en-US" sz="1600" u="sng" kern="1200" dirty="0">
                <a:latin typeface="Arial" panose="020B0604020202020204" pitchFamily="34" charset="0"/>
                <a:ea typeface="ＭＳ Ｐゴシック" panose="020B0600070205080204" pitchFamily="34" charset="-128"/>
                <a:cs typeface="Arial" panose="020B0604020202020204" pitchFamily="34" charset="0"/>
              </a:rPr>
              <a:t>investigating</a:t>
            </a: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 and inspecting. </a:t>
            </a:r>
          </a:p>
          <a:p>
            <a:pPr marL="360000" indent="-360000" eaLnBrk="0" fontAlgn="base" hangingPunct="0">
              <a:lnSpc>
                <a:spcPct val="85000"/>
              </a:lnSpc>
              <a:buClrTx/>
              <a:buSzPct val="100000"/>
              <a:buFont typeface="Wingdings" panose="05000000000000000000" pitchFamily="2" charset="2"/>
              <a:buChar char="Ø"/>
            </a:pP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lnSpc>
                <a:spcPct val="85000"/>
              </a:lnSpc>
              <a:buClrTx/>
              <a:buSzPct val="100000"/>
            </a:pP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RME #6 PECI is NOT about </a:t>
            </a:r>
            <a:r>
              <a:rPr lang="en-US" altLang="en-US" sz="1600" b="0" u="sng" kern="1200" dirty="0">
                <a:latin typeface="Arial" panose="020B0604020202020204" pitchFamily="34" charset="0"/>
                <a:ea typeface="ＭＳ Ｐゴシック" panose="020B0600070205080204" pitchFamily="34" charset="-128"/>
                <a:cs typeface="Arial" panose="020B0604020202020204" pitchFamily="34" charset="0"/>
              </a:rPr>
              <a:t>investigating loss incidents or near </a:t>
            </a:r>
            <a:r>
              <a:rPr lang="en-US" altLang="en-US" sz="1600" b="0" u="sng" kern="1200" dirty="0" smtClean="0">
                <a:latin typeface="Arial" panose="020B0604020202020204" pitchFamily="34" charset="0"/>
                <a:ea typeface="ＭＳ Ｐゴシック" panose="020B0600070205080204" pitchFamily="34" charset="-128"/>
                <a:cs typeface="Arial" panose="020B0604020202020204" pitchFamily="34" charset="0"/>
              </a:rPr>
              <a:t>misses</a:t>
            </a:r>
            <a:r>
              <a:rPr lang="en-US" altLang="en-US" sz="1600" b="0" kern="1200" dirty="0" smtClean="0">
                <a:latin typeface="Arial" panose="020B0604020202020204" pitchFamily="34" charset="0"/>
                <a:ea typeface="ＭＳ Ｐゴシック" panose="020B0600070205080204" pitchFamily="34" charset="-128"/>
                <a:cs typeface="Arial" panose="020B0604020202020204" pitchFamily="34" charset="0"/>
              </a:rPr>
              <a:t>. </a:t>
            </a:r>
            <a:r>
              <a:rPr lang="en-US" altLang="en-US" sz="1600" b="0" kern="1200" dirty="0">
                <a:latin typeface="Arial" panose="020B0604020202020204" pitchFamily="34" charset="0"/>
                <a:ea typeface="ＭＳ Ｐゴシック" panose="020B0600070205080204" pitchFamily="34" charset="-128"/>
                <a:cs typeface="Arial" panose="020B0604020202020204" pitchFamily="34" charset="0"/>
              </a:rPr>
              <a:t>Such investigations are conducted under RME #</a:t>
            </a:r>
            <a:r>
              <a:rPr lang="en-US" altLang="en-US" sz="1600" b="0" kern="1200" dirty="0" smtClean="0">
                <a:latin typeface="Arial" panose="020B0604020202020204" pitchFamily="34" charset="0"/>
                <a:ea typeface="ＭＳ Ｐゴシック" panose="020B0600070205080204" pitchFamily="34" charset="-128"/>
                <a:cs typeface="Arial" panose="020B0604020202020204" pitchFamily="34" charset="0"/>
              </a:rPr>
              <a:t>5 </a:t>
            </a:r>
            <a:r>
              <a:rPr lang="en-US" altLang="en-US" sz="1600" b="0" kern="1200" dirty="0">
                <a:latin typeface="Arial" panose="020B0604020202020204" pitchFamily="34" charset="0"/>
                <a:ea typeface="ＭＳ Ｐゴシック" panose="020B0600070205080204" pitchFamily="34" charset="-128"/>
                <a:cs typeface="Arial" panose="020B0604020202020204" pitchFamily="34" charset="0"/>
              </a:rPr>
              <a:t>Incident Reporting, Investigation, Analysis and Actions.</a:t>
            </a:r>
            <a:r>
              <a:rPr lang="en-CA" sz="1600" b="0" kern="1200" dirty="0" smtClean="0">
                <a:latin typeface="Arial" panose="020B0604020202020204" pitchFamily="34" charset="0"/>
                <a:ea typeface="ＭＳ Ｐゴシック" panose="020B0600070205080204" pitchFamily="34" charset="-128"/>
                <a:cs typeface="Arial" panose="020B0604020202020204" pitchFamily="34" charset="0"/>
              </a:rPr>
              <a:t> In this comparison, consider</a:t>
            </a:r>
            <a:r>
              <a:rPr lang="en-US" altLang="en-US" sz="1600" b="0" kern="1200" dirty="0" smtClean="0">
                <a:latin typeface="Arial" panose="020B0604020202020204" pitchFamily="34" charset="0"/>
                <a:ea typeface="ＭＳ Ｐゴシック" panose="020B0600070205080204" pitchFamily="34" charset="-128"/>
                <a:cs typeface="Arial" panose="020B0604020202020204" pitchFamily="34" charset="0"/>
              </a:rPr>
              <a:t> the following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scenario specific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to </a:t>
            </a:r>
            <a:r>
              <a:rPr lang="en-US" sz="1600" b="0" u="sng" kern="1200" dirty="0" smtClean="0">
                <a:latin typeface="Arial" panose="020B0604020202020204" pitchFamily="34" charset="0"/>
                <a:ea typeface="ＭＳ Ｐゴシック" panose="020B0600070205080204" pitchFamily="34" charset="-128"/>
                <a:cs typeface="Arial" panose="020B0604020202020204" pitchFamily="34" charset="0"/>
              </a:rPr>
              <a:t>investigations and actions</a:t>
            </a:r>
            <a:r>
              <a:rPr lang="en-US" altLang="en-US" sz="1600" b="0" kern="1200" dirty="0" smtClean="0">
                <a:latin typeface="Arial" panose="020B0604020202020204" pitchFamily="34" charset="0"/>
                <a:ea typeface="ＭＳ Ｐゴシック" panose="020B0600070205080204" pitchFamily="34" charset="-128"/>
                <a:cs typeface="Arial" panose="020B0604020202020204" pitchFamily="34" charset="0"/>
              </a:rPr>
              <a:t>:</a:t>
            </a: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b="0" kern="1200" dirty="0">
                <a:latin typeface="Arial" panose="020B0604020202020204" pitchFamily="34" charset="0"/>
                <a:ea typeface="ＭＳ Ｐゴシック" panose="020B0600070205080204" pitchFamily="34" charset="-128"/>
                <a:cs typeface="Arial" panose="020B0604020202020204" pitchFamily="34" charset="0"/>
              </a:rPr>
              <a:t>There is a </a:t>
            </a:r>
            <a:r>
              <a:rPr lang="en-US" sz="1600" b="0" u="sng" kern="1200" dirty="0">
                <a:latin typeface="Arial" panose="020B0604020202020204" pitchFamily="34" charset="0"/>
                <a:ea typeface="ＭＳ Ｐゴシック" panose="020B0600070205080204" pitchFamily="34" charset="-128"/>
                <a:cs typeface="Arial" panose="020B0604020202020204" pitchFamily="34" charset="0"/>
              </a:rPr>
              <a:t>difference between</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 the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“investigations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of a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loss incident"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and "auditing of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investigation reports“.</a:t>
            </a: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A loss incident occurs. An investigation is undertaken and completed, including a set of actions derived from the investigation. At some time after the investigation report has been completed and the actions have been implemented, any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manager / leader with some knowledge of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the IRIAA program checks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that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the investigation was thorough and the actions were effectively completed.</a:t>
            </a:r>
            <a:endParaRPr 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lnSpc>
                <a:spcPct val="85000"/>
              </a:lnSpc>
              <a:buClrTx/>
              <a:buSzPct val="100000"/>
            </a:pP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RME </a:t>
            </a:r>
            <a:r>
              <a:rPr lang="en-US" altLang="en-US" sz="1600" kern="1200" dirty="0" smtClean="0">
                <a:latin typeface="Arial" panose="020B0604020202020204" pitchFamily="34" charset="0"/>
                <a:ea typeface="ＭＳ Ｐゴシック" panose="020B0600070205080204" pitchFamily="34" charset="-128"/>
                <a:cs typeface="Arial" panose="020B0604020202020204" pitchFamily="34" charset="0"/>
              </a:rPr>
              <a:t>#</a:t>
            </a: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5 Incident Reporting, Investigation, Analysis and Actions:</a:t>
            </a:r>
          </a:p>
          <a:p>
            <a:pPr marL="360000" indent="-360000" eaLnBrk="0" fontAlgn="base" hangingPunct="0">
              <a:lnSpc>
                <a:spcPct val="85000"/>
              </a:lnSpc>
              <a:buClrTx/>
              <a:buSzPct val="100000"/>
              <a:buFont typeface="Wingdings" panose="05000000000000000000" pitchFamily="2" charset="2"/>
              <a:buChar char="Ø"/>
            </a:pP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The investigations and the management of actions (who is assigned to complete, tracking the status of actions) from those investigations are part of the IRIAA Program.</a:t>
            </a:r>
          </a:p>
          <a:p>
            <a:pPr marL="360000" indent="-360000" eaLnBrk="0" fontAlgn="base" hangingPunct="0">
              <a:lnSpc>
                <a:spcPct val="85000"/>
              </a:lnSpc>
              <a:buClrTx/>
              <a:buSzPct val="100000"/>
              <a:buFont typeface="Wingdings" panose="05000000000000000000" pitchFamily="2" charset="2"/>
              <a:buChar char="Ø"/>
            </a:pPr>
            <a:r>
              <a:rPr lang="en-US" sz="1600" b="0" dirty="0" smtClean="0">
                <a:latin typeface="Arial" panose="020B0604020202020204" pitchFamily="34" charset="0"/>
                <a:ea typeface="ＭＳ Ｐゴシック" panose="020B0600070205080204" pitchFamily="34" charset="-128"/>
                <a:cs typeface="Arial" panose="020B0604020202020204" pitchFamily="34" charset="0"/>
              </a:rPr>
              <a:t>The IRIAA Program should monitor which incidents are reported and investigated, the status of investigations, and the status of actions from those investigations. </a:t>
            </a:r>
            <a:endParaRPr lang="en-US" sz="1600" b="0" kern="1200" dirty="0" smtClean="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lnSpc>
                <a:spcPct val="85000"/>
              </a:lnSpc>
              <a:buClrTx/>
              <a:buSzPct val="100000"/>
            </a:pP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RME #6 PECI:</a:t>
            </a:r>
            <a:endParaRPr lang="en-CA" altLang="en-US" sz="160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85000"/>
              </a:lnSpc>
              <a:buSzPct val="100000"/>
              <a:buFont typeface="Wingdings" panose="05000000000000000000" pitchFamily="2" charset="2"/>
              <a:buChar char="Ø"/>
            </a:pPr>
            <a:r>
              <a:rPr lang="en-US" sz="1600" b="0" dirty="0">
                <a:latin typeface="Arial" panose="020B0604020202020204" pitchFamily="34" charset="0"/>
                <a:ea typeface="ＭＳ Ｐゴシック" panose="020B0600070205080204" pitchFamily="34" charset="-128"/>
                <a:cs typeface="Arial" panose="020B0604020202020204" pitchFamily="34" charset="0"/>
              </a:rPr>
              <a:t>The program under this element </a:t>
            </a:r>
            <a:r>
              <a:rPr lang="en-US" sz="1600" b="0" dirty="0" smtClean="0">
                <a:latin typeface="Arial" panose="020B0604020202020204" pitchFamily="34" charset="0"/>
                <a:ea typeface="ＭＳ Ｐゴシック" panose="020B0600070205080204" pitchFamily="34" charset="-128"/>
                <a:cs typeface="Arial" panose="020B0604020202020204" pitchFamily="34" charset="0"/>
              </a:rPr>
              <a:t>is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about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auditing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to see how </a:t>
            </a:r>
            <a:r>
              <a:rPr lang="en-US" sz="1600" b="0" u="sng" kern="1200" dirty="0">
                <a:latin typeface="Arial" panose="020B0604020202020204" pitchFamily="34" charset="0"/>
                <a:ea typeface="ＭＳ Ｐゴシック" panose="020B0600070205080204" pitchFamily="34" charset="-128"/>
                <a:cs typeface="Arial" panose="020B0604020202020204" pitchFamily="34" charset="0"/>
              </a:rPr>
              <a:t>effective your investigations and the management of actions </a:t>
            </a:r>
            <a:r>
              <a:rPr lang="en-US" sz="1600" b="0" u="sng" kern="1200" dirty="0" smtClean="0">
                <a:latin typeface="Arial" panose="020B0604020202020204" pitchFamily="34" charset="0"/>
                <a:ea typeface="ＭＳ Ｐゴシック" panose="020B0600070205080204" pitchFamily="34" charset="-128"/>
                <a:cs typeface="Arial" panose="020B0604020202020204" pitchFamily="34" charset="0"/>
              </a:rPr>
              <a:t>program</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is actually doing what is intended.</a:t>
            </a:r>
          </a:p>
          <a:p>
            <a:pPr marL="360000" indent="-360000" eaLnBrk="0" fontAlgn="base" hangingPunct="0">
              <a:lnSpc>
                <a:spcPct val="85000"/>
              </a:lnSpc>
              <a:buClrTx/>
              <a:buSzPct val="100000"/>
              <a:buFont typeface="Wingdings" panose="05000000000000000000" pitchFamily="2" charset="2"/>
              <a:buChar char="Ø"/>
            </a:pPr>
            <a:r>
              <a:rPr lang="en-US" sz="1600" b="0" kern="1200" dirty="0">
                <a:latin typeface="Arial" panose="020B0604020202020204" pitchFamily="34" charset="0"/>
                <a:ea typeface="ＭＳ Ｐゴシック" panose="020B0600070205080204" pitchFamily="34" charset="-128"/>
                <a:cs typeface="Arial" panose="020B0604020202020204" pitchFamily="34" charset="0"/>
              </a:rPr>
              <a:t>In other words, “are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your investigations being done correctly and thoroughly, and have any actions been effectively implemented?”</a:t>
            </a:r>
            <a:endParaRPr 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85000"/>
              </a:lnSpc>
              <a:buSzPct val="100000"/>
              <a:buFont typeface="Wingdings" panose="05000000000000000000" pitchFamily="2" charset="2"/>
              <a:buChar char="Ø"/>
            </a:pPr>
            <a:r>
              <a:rPr lang="en-US" sz="1600" b="0" kern="1200" dirty="0">
                <a:latin typeface="Arial" panose="020B0604020202020204" pitchFamily="34" charset="0"/>
                <a:ea typeface="ＭＳ Ｐゴシック" panose="020B0600070205080204" pitchFamily="34" charset="-128"/>
                <a:cs typeface="Arial" panose="020B0604020202020204" pitchFamily="34" charset="0"/>
              </a:rPr>
              <a:t>Such a question is part of the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Evaluation Program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with intent for continuous improvement of the </a:t>
            </a:r>
            <a:r>
              <a:rPr lang="en-US" sz="1600" b="0" dirty="0" smtClean="0">
                <a:latin typeface="Arial" panose="020B0604020202020204" pitchFamily="34" charset="0"/>
                <a:ea typeface="ＭＳ Ｐゴシック" panose="020B0600070205080204" pitchFamily="34" charset="-128"/>
                <a:cs typeface="Arial" panose="020B0604020202020204" pitchFamily="34" charset="0"/>
              </a:rPr>
              <a:t>IRIAA Program</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a:t>
            </a:r>
            <a:endParaRPr lang="en-CA" sz="1600" b="0" kern="120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05620902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p>
            <a:pPr eaLnBrk="0" fontAlgn="base" hangingPunct="0">
              <a:lnSpc>
                <a:spcPct val="85000"/>
              </a:lnSpc>
              <a:buClrTx/>
              <a:buSzPct val="100000"/>
            </a:pP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Auditing can be easily confused with monitoring, investigating, and </a:t>
            </a:r>
            <a:r>
              <a:rPr lang="en-US" altLang="en-US" sz="1600" u="sng" kern="1200" dirty="0">
                <a:latin typeface="Arial" panose="020B0604020202020204" pitchFamily="34" charset="0"/>
                <a:ea typeface="ＭＳ Ｐゴシック" panose="020B0600070205080204" pitchFamily="34" charset="-128"/>
                <a:cs typeface="Arial" panose="020B0604020202020204" pitchFamily="34" charset="0"/>
              </a:rPr>
              <a:t>inspecting</a:t>
            </a: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fontAlgn="base" hangingPunct="0">
              <a:lnSpc>
                <a:spcPct val="85000"/>
              </a:lnSpc>
              <a:buClrTx/>
              <a:buSzPct val="100000"/>
              <a:buFont typeface="Wingdings" panose="05000000000000000000" pitchFamily="2" charset="2"/>
              <a:buChar char="Ø"/>
            </a:pP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lnSpc>
                <a:spcPct val="85000"/>
              </a:lnSpc>
              <a:buClrTx/>
              <a:buSzPct val="100000"/>
            </a:pP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RME #6 PECI is NOT about </a:t>
            </a:r>
            <a:r>
              <a:rPr lang="en-US" altLang="en-US" sz="1600" b="0" u="sng" kern="1200" dirty="0">
                <a:latin typeface="Arial" panose="020B0604020202020204" pitchFamily="34" charset="0"/>
                <a:ea typeface="ＭＳ Ｐゴシック" panose="020B0600070205080204" pitchFamily="34" charset="-128"/>
                <a:cs typeface="Arial" panose="020B0604020202020204" pitchFamily="34" charset="0"/>
              </a:rPr>
              <a:t>inspecting work</a:t>
            </a:r>
            <a:r>
              <a:rPr lang="en-US" altLang="en-US" sz="1600" b="0" kern="1200" dirty="0">
                <a:latin typeface="Arial" panose="020B0604020202020204" pitchFamily="34" charset="0"/>
                <a:ea typeface="ＭＳ Ｐゴシック" panose="020B0600070205080204" pitchFamily="34" charset="-128"/>
                <a:cs typeface="Arial" panose="020B0604020202020204" pitchFamily="34" charset="0"/>
              </a:rPr>
              <a:t> i.e. a quality check, after the work has been done. Such inspections are part of the element under which the work was originally done</a:t>
            </a:r>
            <a:r>
              <a:rPr lang="en-US" altLang="en-US" sz="1600" b="0" kern="1200" dirty="0" smtClean="0">
                <a:latin typeface="Arial" panose="020B0604020202020204" pitchFamily="34" charset="0"/>
                <a:ea typeface="ＭＳ Ｐゴシック" panose="020B0600070205080204" pitchFamily="34" charset="-128"/>
                <a:cs typeface="Arial" panose="020B0604020202020204" pitchFamily="34" charset="0"/>
              </a:rPr>
              <a:t>.</a:t>
            </a:r>
            <a:r>
              <a:rPr lang="en-CA" sz="1600" b="0" kern="1200" dirty="0" smtClean="0">
                <a:latin typeface="Arial" panose="020B0604020202020204" pitchFamily="34" charset="0"/>
                <a:ea typeface="ＭＳ Ｐゴシック" panose="020B0600070205080204" pitchFamily="34" charset="-128"/>
                <a:cs typeface="Arial" panose="020B0604020202020204" pitchFamily="34" charset="0"/>
              </a:rPr>
              <a:t> In this comparison, consider</a:t>
            </a:r>
            <a:r>
              <a:rPr lang="en-US" altLang="en-US" sz="1600" b="0" kern="1200" dirty="0" smtClean="0">
                <a:latin typeface="Arial" panose="020B0604020202020204" pitchFamily="34" charset="0"/>
                <a:ea typeface="ＭＳ Ｐゴシック" panose="020B0600070205080204" pitchFamily="34" charset="-128"/>
                <a:cs typeface="Arial" panose="020B0604020202020204" pitchFamily="34" charset="0"/>
              </a:rPr>
              <a:t> the following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general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work flow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scenario specific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to </a:t>
            </a:r>
            <a:r>
              <a:rPr lang="en-US" sz="1600" b="0" u="sng" kern="1200" dirty="0" smtClean="0">
                <a:latin typeface="Arial" panose="020B0604020202020204" pitchFamily="34" charset="0"/>
                <a:ea typeface="ＭＳ Ｐゴシック" panose="020B0600070205080204" pitchFamily="34" charset="-128"/>
                <a:cs typeface="Arial" panose="020B0604020202020204" pitchFamily="34" charset="0"/>
              </a:rPr>
              <a:t>construction</a:t>
            </a:r>
            <a:r>
              <a:rPr lang="en-US" altLang="en-US" sz="1600" b="0" kern="1200" dirty="0" smtClean="0">
                <a:latin typeface="Arial" panose="020B0604020202020204" pitchFamily="34" charset="0"/>
                <a:ea typeface="ＭＳ Ｐゴシック" panose="020B0600070205080204" pitchFamily="34" charset="-128"/>
                <a:cs typeface="Arial" panose="020B0604020202020204" pitchFamily="34" charset="0"/>
              </a:rPr>
              <a:t>:</a:t>
            </a: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b="0" kern="1200" dirty="0">
                <a:latin typeface="Arial" panose="020B0604020202020204" pitchFamily="34" charset="0"/>
                <a:ea typeface="ＭＳ Ｐゴシック" panose="020B0600070205080204" pitchFamily="34" charset="-128"/>
                <a:cs typeface="Arial" panose="020B0604020202020204" pitchFamily="34" charset="0"/>
              </a:rPr>
              <a:t>There is a </a:t>
            </a:r>
            <a:r>
              <a:rPr lang="en-US" sz="1600" b="0" u="sng" kern="1200" dirty="0">
                <a:latin typeface="Arial" panose="020B0604020202020204" pitchFamily="34" charset="0"/>
                <a:ea typeface="ＭＳ Ｐゴシック" panose="020B0600070205080204" pitchFamily="34" charset="-128"/>
                <a:cs typeface="Arial" panose="020B0604020202020204" pitchFamily="34" charset="0"/>
              </a:rPr>
              <a:t>difference between</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 the "inspection of an installation after construction" and "auditing of inspections of installations after construction“.</a:t>
            </a: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The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first electrician installs the electrical system; a second worker, which is usually another electrician, inspects the work of the first electrician to detect any defects in that work and initiate corrections if needed; a third worker, which could be any manager / leader with some knowledge of electrical work, checks that the inspections of the second worker were done correctly.</a:t>
            </a:r>
          </a:p>
          <a:p>
            <a:pPr marL="360000" indent="-360000" eaLnBrk="0" fontAlgn="base" hangingPunct="0">
              <a:lnSpc>
                <a:spcPct val="85000"/>
              </a:lnSpc>
              <a:buClrTx/>
              <a:buSzPct val="100000"/>
              <a:buFont typeface="Wingdings" panose="05000000000000000000" pitchFamily="2" charset="2"/>
              <a:buChar char="Ø"/>
            </a:pP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lnSpc>
                <a:spcPct val="85000"/>
              </a:lnSpc>
              <a:buClrTx/>
              <a:buSzPct val="100000"/>
            </a:pP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RME </a:t>
            </a:r>
            <a:r>
              <a:rPr lang="en-US" altLang="en-US" sz="1600" kern="1200" dirty="0" smtClean="0">
                <a:latin typeface="Arial" panose="020B0604020202020204" pitchFamily="34" charset="0"/>
                <a:ea typeface="ＭＳ Ｐゴシック" panose="020B0600070205080204" pitchFamily="34" charset="-128"/>
                <a:cs typeface="Arial" panose="020B0604020202020204" pitchFamily="34" charset="0"/>
              </a:rPr>
              <a:t>#7 Design, Construction, and Start-up:</a:t>
            </a:r>
            <a:endParaRPr lang="en-US" altLang="en-US" sz="160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Both the installation and </a:t>
            </a:r>
            <a:r>
              <a:rPr lang="en-US" sz="1600" b="0" u="sng" kern="1200" dirty="0" smtClean="0">
                <a:latin typeface="Arial" panose="020B0604020202020204" pitchFamily="34" charset="0"/>
                <a:ea typeface="ＭＳ Ｐゴシック" panose="020B0600070205080204" pitchFamily="34" charset="-128"/>
                <a:cs typeface="Arial" panose="020B0604020202020204" pitchFamily="34" charset="0"/>
              </a:rPr>
              <a:t>inspection of the installation</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 are part of the Construction Program.</a:t>
            </a:r>
          </a:p>
          <a:p>
            <a:pPr marL="360000" indent="-360000" eaLnBrk="0" fontAlgn="base" hangingPunct="0">
              <a:lnSpc>
                <a:spcPct val="85000"/>
              </a:lnSpc>
              <a:buClrTx/>
              <a:buSzPct val="100000"/>
              <a:buFont typeface="Wingdings" panose="05000000000000000000" pitchFamily="2" charset="2"/>
              <a:buChar char="Ø"/>
            </a:pP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Inspection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of an installation after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construction asks “was it installed per design?”</a:t>
            </a:r>
            <a:endParaRPr 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lnSpc>
                <a:spcPct val="85000"/>
              </a:lnSpc>
              <a:buClrTx/>
              <a:buSzPct val="100000"/>
            </a:pP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RME #6 PECI:</a:t>
            </a:r>
            <a:endParaRPr lang="en-CA" altLang="en-US" sz="160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85000"/>
              </a:lnSpc>
              <a:buSzPct val="100000"/>
              <a:buFont typeface="Wingdings" panose="05000000000000000000" pitchFamily="2" charset="2"/>
              <a:buChar char="Ø"/>
            </a:pPr>
            <a:r>
              <a:rPr lang="en-US" sz="1600" b="0" dirty="0">
                <a:latin typeface="Arial" panose="020B0604020202020204" pitchFamily="34" charset="0"/>
                <a:ea typeface="ＭＳ Ｐゴシック" panose="020B0600070205080204" pitchFamily="34" charset="-128"/>
                <a:cs typeface="Arial" panose="020B0604020202020204" pitchFamily="34" charset="0"/>
              </a:rPr>
              <a:t>The program under this element </a:t>
            </a:r>
            <a:r>
              <a:rPr lang="en-US" sz="1600" b="0" dirty="0" smtClean="0">
                <a:latin typeface="Arial" panose="020B0604020202020204" pitchFamily="34" charset="0"/>
                <a:ea typeface="ＭＳ Ｐゴシック" panose="020B0600070205080204" pitchFamily="34" charset="-128"/>
                <a:cs typeface="Arial" panose="020B0604020202020204" pitchFamily="34" charset="0"/>
              </a:rPr>
              <a:t>is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about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auditing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to see how </a:t>
            </a:r>
            <a:r>
              <a:rPr lang="en-US" sz="1600" b="0" u="sng" kern="1200" dirty="0">
                <a:latin typeface="Arial" panose="020B0604020202020204" pitchFamily="34" charset="0"/>
                <a:ea typeface="ＭＳ Ｐゴシック" panose="020B0600070205080204" pitchFamily="34" charset="-128"/>
                <a:cs typeface="Arial" panose="020B0604020202020204" pitchFamily="34" charset="0"/>
              </a:rPr>
              <a:t>effective your </a:t>
            </a:r>
            <a:r>
              <a:rPr lang="en-US" sz="1600" b="0" u="sng" kern="1200" dirty="0" smtClean="0">
                <a:latin typeface="Arial" panose="020B0604020202020204" pitchFamily="34" charset="0"/>
                <a:ea typeface="ＭＳ Ｐゴシック" panose="020B0600070205080204" pitchFamily="34" charset="-128"/>
                <a:cs typeface="Arial" panose="020B0604020202020204" pitchFamily="34" charset="0"/>
              </a:rPr>
              <a:t>construction </a:t>
            </a:r>
            <a:r>
              <a:rPr lang="en-US" sz="1600" b="0" u="sng" kern="1200" dirty="0">
                <a:latin typeface="Arial" panose="020B0604020202020204" pitchFamily="34" charset="0"/>
                <a:ea typeface="ＭＳ Ｐゴシック" panose="020B0600070205080204" pitchFamily="34" charset="-128"/>
                <a:cs typeface="Arial" panose="020B0604020202020204" pitchFamily="34" charset="0"/>
              </a:rPr>
              <a:t>program</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 is actually doing what is intended.</a:t>
            </a:r>
          </a:p>
          <a:p>
            <a:pPr marL="360000" indent="-360000" eaLnBrk="0" fontAlgn="base" hangingPunct="0">
              <a:lnSpc>
                <a:spcPct val="85000"/>
              </a:lnSpc>
              <a:buClrTx/>
              <a:buSzPct val="100000"/>
              <a:buFont typeface="Wingdings" panose="05000000000000000000" pitchFamily="2" charset="2"/>
              <a:buChar char="Ø"/>
            </a:pPr>
            <a:r>
              <a:rPr lang="en-US" sz="1600" b="0" kern="1200" dirty="0">
                <a:latin typeface="Arial" panose="020B0604020202020204" pitchFamily="34" charset="0"/>
                <a:ea typeface="ＭＳ Ｐゴシック" panose="020B0600070205080204" pitchFamily="34" charset="-128"/>
                <a:cs typeface="Arial" panose="020B0604020202020204" pitchFamily="34" charset="0"/>
              </a:rPr>
              <a:t>In other words, “are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your inspections being done correctly and thoroughly, and have any installation deviations from design been corrected?”</a:t>
            </a:r>
            <a:endParaRPr 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b="0" kern="1200" dirty="0">
                <a:latin typeface="Arial" panose="020B0604020202020204" pitchFamily="34" charset="0"/>
                <a:ea typeface="ＭＳ Ｐゴシック" panose="020B0600070205080204" pitchFamily="34" charset="-128"/>
                <a:cs typeface="Arial" panose="020B0604020202020204" pitchFamily="34" charset="0"/>
              </a:rPr>
              <a:t>Such a question is part of the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Evaluation Program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with intent for continuous improvement of the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Construction Program.</a:t>
            </a:r>
            <a:endParaRPr lang="en-CA" sz="1600" b="0" kern="120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3257073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p>
            <a:pPr eaLnBrk="0" fontAlgn="base" hangingPunct="0">
              <a:lnSpc>
                <a:spcPct val="85000"/>
              </a:lnSpc>
              <a:buClrTx/>
              <a:buSzPct val="100000"/>
            </a:pP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Auditing can be easily confused with monitoring, investigating, and </a:t>
            </a:r>
            <a:r>
              <a:rPr lang="en-US" altLang="en-US" sz="1600" u="sng" kern="1200" dirty="0">
                <a:latin typeface="Arial" panose="020B0604020202020204" pitchFamily="34" charset="0"/>
                <a:ea typeface="ＭＳ Ｐゴシック" panose="020B0600070205080204" pitchFamily="34" charset="-128"/>
                <a:cs typeface="Arial" panose="020B0604020202020204" pitchFamily="34" charset="0"/>
              </a:rPr>
              <a:t>inspecting</a:t>
            </a: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fontAlgn="base" hangingPunct="0">
              <a:lnSpc>
                <a:spcPct val="85000"/>
              </a:lnSpc>
              <a:buClrTx/>
              <a:buSzPct val="100000"/>
              <a:buFont typeface="Wingdings" panose="05000000000000000000" pitchFamily="2" charset="2"/>
              <a:buChar char="Ø"/>
            </a:pP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lnSpc>
                <a:spcPct val="85000"/>
              </a:lnSpc>
              <a:buClrTx/>
              <a:buSzPct val="100000"/>
            </a:pP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RME #6 PECI is NOT about </a:t>
            </a:r>
            <a:r>
              <a:rPr lang="en-US" altLang="en-US" sz="1600" b="0" u="sng" kern="1200" dirty="0">
                <a:latin typeface="Arial" panose="020B0604020202020204" pitchFamily="34" charset="0"/>
                <a:ea typeface="ＭＳ Ｐゴシック" panose="020B0600070205080204" pitchFamily="34" charset="-128"/>
                <a:cs typeface="Arial" panose="020B0604020202020204" pitchFamily="34" charset="0"/>
              </a:rPr>
              <a:t>inspecting work</a:t>
            </a:r>
            <a:r>
              <a:rPr lang="en-US" altLang="en-US" sz="1600" b="0" kern="1200" dirty="0">
                <a:latin typeface="Arial" panose="020B0604020202020204" pitchFamily="34" charset="0"/>
                <a:ea typeface="ＭＳ Ｐゴシック" panose="020B0600070205080204" pitchFamily="34" charset="-128"/>
                <a:cs typeface="Arial" panose="020B0604020202020204" pitchFamily="34" charset="0"/>
              </a:rPr>
              <a:t> i.e. a quality check, after the work has been done. Such inspections are part of the element under which the work was originally done</a:t>
            </a:r>
            <a:r>
              <a:rPr lang="en-US" altLang="en-US" sz="1600" b="0" kern="1200" dirty="0" smtClean="0">
                <a:latin typeface="Arial" panose="020B0604020202020204" pitchFamily="34" charset="0"/>
                <a:ea typeface="ＭＳ Ｐゴシック" panose="020B0600070205080204" pitchFamily="34" charset="-128"/>
                <a:cs typeface="Arial" panose="020B0604020202020204" pitchFamily="34" charset="0"/>
              </a:rPr>
              <a:t>.</a:t>
            </a:r>
            <a:r>
              <a:rPr lang="en-CA" sz="1600" b="0" kern="1200" dirty="0" smtClean="0">
                <a:latin typeface="Arial" panose="020B0604020202020204" pitchFamily="34" charset="0"/>
                <a:ea typeface="ＭＳ Ｐゴシック" panose="020B0600070205080204" pitchFamily="34" charset="-128"/>
                <a:cs typeface="Arial" panose="020B0604020202020204" pitchFamily="34" charset="0"/>
              </a:rPr>
              <a:t> In this comparison, consider</a:t>
            </a:r>
            <a:r>
              <a:rPr lang="en-US" altLang="en-US" sz="1600" b="0" kern="1200" dirty="0" smtClean="0">
                <a:latin typeface="Arial" panose="020B0604020202020204" pitchFamily="34" charset="0"/>
                <a:ea typeface="ＭＳ Ｐゴシック" panose="020B0600070205080204" pitchFamily="34" charset="-128"/>
                <a:cs typeface="Arial" panose="020B0604020202020204" pitchFamily="34" charset="0"/>
              </a:rPr>
              <a:t> the following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general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work flow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scenario specific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to </a:t>
            </a:r>
            <a:r>
              <a:rPr lang="en-US" sz="1600" b="0" u="sng" kern="1200" dirty="0" smtClean="0">
                <a:latin typeface="Arial" panose="020B0604020202020204" pitchFamily="34" charset="0"/>
                <a:ea typeface="ＭＳ Ｐゴシック" panose="020B0600070205080204" pitchFamily="34" charset="-128"/>
                <a:cs typeface="Arial" panose="020B0604020202020204" pitchFamily="34" charset="0"/>
              </a:rPr>
              <a:t>maintenance</a:t>
            </a:r>
            <a:r>
              <a:rPr lang="en-US" altLang="en-US" sz="1600" b="0" kern="1200" dirty="0" smtClean="0">
                <a:latin typeface="Arial" panose="020B0604020202020204" pitchFamily="34" charset="0"/>
                <a:ea typeface="ＭＳ Ｐゴシック" panose="020B0600070205080204" pitchFamily="34" charset="-128"/>
                <a:cs typeface="Arial" panose="020B0604020202020204" pitchFamily="34" charset="0"/>
              </a:rPr>
              <a:t>:</a:t>
            </a: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b="0" kern="1200" dirty="0">
                <a:latin typeface="Arial" panose="020B0604020202020204" pitchFamily="34" charset="0"/>
                <a:ea typeface="ＭＳ Ｐゴシック" panose="020B0600070205080204" pitchFamily="34" charset="-128"/>
                <a:cs typeface="Arial" panose="020B0604020202020204" pitchFamily="34" charset="0"/>
              </a:rPr>
              <a:t>There is a </a:t>
            </a:r>
            <a:r>
              <a:rPr lang="en-US" sz="1600" b="0" u="sng" kern="1200" dirty="0">
                <a:latin typeface="Arial" panose="020B0604020202020204" pitchFamily="34" charset="0"/>
                <a:ea typeface="ＭＳ Ｐゴシック" panose="020B0600070205080204" pitchFamily="34" charset="-128"/>
                <a:cs typeface="Arial" panose="020B0604020202020204" pitchFamily="34" charset="0"/>
              </a:rPr>
              <a:t>difference between</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 the "inspection of a repair after maintenance" and "auditing of inspections of repairs after maintenance“.</a:t>
            </a: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The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first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millwright repairs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the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compressor;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a second worker, which is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usually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another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millwright,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inspects the work of the first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millwright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to detect any defects in that work and initiate corrections if needed; a third worker, which could be any manager / leader with some knowledge of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mechanical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work, checks that the inspections of the second worker were done correctly.</a:t>
            </a:r>
          </a:p>
          <a:p>
            <a:pPr marL="360000" indent="-360000" eaLnBrk="0" fontAlgn="base" hangingPunct="0">
              <a:lnSpc>
                <a:spcPct val="85000"/>
              </a:lnSpc>
              <a:buClrTx/>
              <a:buSzPct val="100000"/>
              <a:buFont typeface="Wingdings" panose="05000000000000000000" pitchFamily="2" charset="2"/>
              <a:buChar char="Ø"/>
            </a:pP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lnSpc>
                <a:spcPct val="85000"/>
              </a:lnSpc>
              <a:buClrTx/>
              <a:buSzPct val="100000"/>
            </a:pP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RME </a:t>
            </a:r>
            <a:r>
              <a:rPr lang="en-US" altLang="en-US" sz="1600" kern="1200" dirty="0" smtClean="0">
                <a:latin typeface="Arial" panose="020B0604020202020204" pitchFamily="34" charset="0"/>
                <a:ea typeface="ＭＳ Ｐゴシック" panose="020B0600070205080204" pitchFamily="34" charset="-128"/>
                <a:cs typeface="Arial" panose="020B0604020202020204" pitchFamily="34" charset="0"/>
              </a:rPr>
              <a:t>#8 Operations and Maintenance:</a:t>
            </a:r>
            <a:endParaRPr lang="en-US" altLang="en-US" sz="160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Both the repair and </a:t>
            </a:r>
            <a:r>
              <a:rPr lang="en-US" sz="1600" b="0" u="sng" kern="1200" dirty="0" smtClean="0">
                <a:latin typeface="Arial" panose="020B0604020202020204" pitchFamily="34" charset="0"/>
                <a:ea typeface="ＭＳ Ｐゴシック" panose="020B0600070205080204" pitchFamily="34" charset="-128"/>
                <a:cs typeface="Arial" panose="020B0604020202020204" pitchFamily="34" charset="0"/>
              </a:rPr>
              <a:t>inspection of the repair</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 are part of the Maintenance Program.</a:t>
            </a:r>
          </a:p>
          <a:p>
            <a:pPr marL="360000" indent="-360000" eaLnBrk="0" fontAlgn="base" hangingPunct="0">
              <a:lnSpc>
                <a:spcPct val="85000"/>
              </a:lnSpc>
              <a:buClrTx/>
              <a:buSzPct val="100000"/>
              <a:buFont typeface="Wingdings" panose="05000000000000000000" pitchFamily="2" charset="2"/>
              <a:buChar char="Ø"/>
            </a:pP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Inspection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of an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repair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after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maintenance asks “was it repaired per manufacturer’s specifications?”</a:t>
            </a:r>
            <a:endParaRPr 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endParaRPr lang="en-US" alt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lnSpc>
                <a:spcPct val="85000"/>
              </a:lnSpc>
              <a:buClrTx/>
              <a:buSzPct val="100000"/>
            </a:pP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RME #6 PECI:</a:t>
            </a:r>
            <a:endParaRPr lang="en-CA" altLang="en-US" sz="160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85000"/>
              </a:lnSpc>
              <a:buSzPct val="100000"/>
              <a:buFont typeface="Wingdings" panose="05000000000000000000" pitchFamily="2" charset="2"/>
              <a:buChar char="Ø"/>
            </a:pPr>
            <a:r>
              <a:rPr lang="en-US" sz="1600" b="0" dirty="0">
                <a:latin typeface="Arial" panose="020B0604020202020204" pitchFamily="34" charset="0"/>
                <a:ea typeface="ＭＳ Ｐゴシック" panose="020B0600070205080204" pitchFamily="34" charset="-128"/>
                <a:cs typeface="Arial" panose="020B0604020202020204" pitchFamily="34" charset="0"/>
              </a:rPr>
              <a:t>The program under this element </a:t>
            </a:r>
            <a:r>
              <a:rPr lang="en-US" sz="1600" b="0" dirty="0" smtClean="0">
                <a:latin typeface="Arial" panose="020B0604020202020204" pitchFamily="34" charset="0"/>
                <a:ea typeface="ＭＳ Ｐゴシック" panose="020B0600070205080204" pitchFamily="34" charset="-128"/>
                <a:cs typeface="Arial" panose="020B0604020202020204" pitchFamily="34" charset="0"/>
              </a:rPr>
              <a:t>is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about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auditing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to see how </a:t>
            </a:r>
            <a:r>
              <a:rPr lang="en-US" sz="1600" b="0" u="sng" kern="1200" dirty="0">
                <a:latin typeface="Arial" panose="020B0604020202020204" pitchFamily="34" charset="0"/>
                <a:ea typeface="ＭＳ Ｐゴシック" panose="020B0600070205080204" pitchFamily="34" charset="-128"/>
                <a:cs typeface="Arial" panose="020B0604020202020204" pitchFamily="34" charset="0"/>
              </a:rPr>
              <a:t>effective your </a:t>
            </a:r>
            <a:r>
              <a:rPr lang="en-US" sz="1600" b="0" u="sng" kern="1200" dirty="0" smtClean="0">
                <a:latin typeface="Arial" panose="020B0604020202020204" pitchFamily="34" charset="0"/>
                <a:ea typeface="ＭＳ Ｐゴシック" panose="020B0600070205080204" pitchFamily="34" charset="-128"/>
                <a:cs typeface="Arial" panose="020B0604020202020204" pitchFamily="34" charset="0"/>
              </a:rPr>
              <a:t>Maintenance Program</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 is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actually doing what is intended.</a:t>
            </a:r>
          </a:p>
          <a:p>
            <a:pPr marL="360000" indent="-360000" eaLnBrk="0" fontAlgn="base" hangingPunct="0">
              <a:lnSpc>
                <a:spcPct val="85000"/>
              </a:lnSpc>
              <a:buClrTx/>
              <a:buSzPct val="100000"/>
              <a:buFont typeface="Wingdings" panose="05000000000000000000" pitchFamily="2" charset="2"/>
              <a:buChar char="Ø"/>
            </a:pPr>
            <a:r>
              <a:rPr lang="en-US" sz="1600" b="0" kern="1200" dirty="0">
                <a:latin typeface="Arial" panose="020B0604020202020204" pitchFamily="34" charset="0"/>
                <a:ea typeface="ＭＳ Ｐゴシック" panose="020B0600070205080204" pitchFamily="34" charset="-128"/>
                <a:cs typeface="Arial" panose="020B0604020202020204" pitchFamily="34" charset="0"/>
              </a:rPr>
              <a:t>In other words, “are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your inspections being done correctly and thoroughly, and have any repair/maintenance deviations from manufacturer's specifications been corrected?”</a:t>
            </a:r>
            <a:endParaRPr lang="en-US" sz="1600" b="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b="0" kern="1200" dirty="0">
                <a:latin typeface="Arial" panose="020B0604020202020204" pitchFamily="34" charset="0"/>
                <a:ea typeface="ＭＳ Ｐゴシック" panose="020B0600070205080204" pitchFamily="34" charset="-128"/>
                <a:cs typeface="Arial" panose="020B0604020202020204" pitchFamily="34" charset="0"/>
              </a:rPr>
              <a:t>Such a question is part of the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Evaluation Program </a:t>
            </a:r>
            <a:r>
              <a:rPr lang="en-US" sz="1600" b="0" kern="1200" dirty="0">
                <a:latin typeface="Arial" panose="020B0604020202020204" pitchFamily="34" charset="0"/>
                <a:ea typeface="ＭＳ Ｐゴシック" panose="020B0600070205080204" pitchFamily="34" charset="-128"/>
                <a:cs typeface="Arial" panose="020B0604020202020204" pitchFamily="34" charset="0"/>
              </a:rPr>
              <a:t>with intent for continuous improvement of the </a:t>
            </a:r>
            <a:r>
              <a:rPr lang="en-US" sz="1600" b="0" kern="1200" dirty="0" smtClean="0">
                <a:latin typeface="Arial" panose="020B0604020202020204" pitchFamily="34" charset="0"/>
                <a:ea typeface="ＭＳ Ｐゴシック" panose="020B0600070205080204" pitchFamily="34" charset="-128"/>
                <a:cs typeface="Arial" panose="020B0604020202020204" pitchFamily="34" charset="0"/>
              </a:rPr>
              <a:t>Maintenance Program.</a:t>
            </a:r>
            <a:endParaRPr lang="en-CA" sz="1600" b="0" kern="120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056440334"/>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69284</TotalTime>
  <Words>2925</Words>
  <Application>Microsoft Office PowerPoint</Application>
  <PresentationFormat>On-screen Show (4:3)</PresentationFormat>
  <Paragraphs>334</Paragraphs>
  <Slides>21</Slides>
  <Notes>21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21</vt:i4>
      </vt:variant>
    </vt:vector>
  </HeadingPairs>
  <TitlesOfParts>
    <vt:vector size="29" baseType="lpstr">
      <vt:lpstr>ＭＳ Ｐゴシック</vt:lpstr>
      <vt:lpstr>Arial</vt:lpstr>
      <vt:lpstr>Calibri</vt:lpstr>
      <vt:lpstr>Noto Sans Symbols</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1951</cp:revision>
  <cp:lastPrinted>2018-12-17T22:21:47Z</cp:lastPrinted>
  <dcterms:created xsi:type="dcterms:W3CDTF">2007-03-28T16:18:47Z</dcterms:created>
  <dcterms:modified xsi:type="dcterms:W3CDTF">2022-02-18T19:29:34Z</dcterms:modified>
</cp:coreProperties>
</file>